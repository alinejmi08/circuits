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60" r:id="rId4"/>
    <p:sldId id="521" r:id="rId5"/>
    <p:sldId id="538" r:id="rId6"/>
    <p:sldId id="530" r:id="rId7"/>
    <p:sldId id="536" r:id="rId8"/>
    <p:sldId id="529" r:id="rId9"/>
    <p:sldId id="573" r:id="rId10"/>
    <p:sldId id="571" r:id="rId11"/>
    <p:sldId id="572" r:id="rId12"/>
    <p:sldId id="531" r:id="rId13"/>
    <p:sldId id="532" r:id="rId14"/>
    <p:sldId id="533" r:id="rId15"/>
    <p:sldId id="534" r:id="rId16"/>
    <p:sldId id="574" r:id="rId17"/>
    <p:sldId id="522" r:id="rId18"/>
    <p:sldId id="523" r:id="rId19"/>
    <p:sldId id="524" r:id="rId20"/>
    <p:sldId id="525" r:id="rId21"/>
    <p:sldId id="569" r:id="rId22"/>
    <p:sldId id="568" r:id="rId23"/>
    <p:sldId id="570" r:id="rId24"/>
    <p:sldId id="537" r:id="rId25"/>
    <p:sldId id="575" r:id="rId26"/>
    <p:sldId id="576" r:id="rId27"/>
    <p:sldId id="539" r:id="rId28"/>
    <p:sldId id="540" r:id="rId29"/>
    <p:sldId id="541" r:id="rId30"/>
    <p:sldId id="542" r:id="rId31"/>
    <p:sldId id="543" r:id="rId32"/>
    <p:sldId id="544" r:id="rId33"/>
    <p:sldId id="545" r:id="rId34"/>
    <p:sldId id="546" r:id="rId35"/>
    <p:sldId id="547" r:id="rId36"/>
    <p:sldId id="548" r:id="rId37"/>
    <p:sldId id="549" r:id="rId38"/>
    <p:sldId id="550" r:id="rId39"/>
    <p:sldId id="552" r:id="rId40"/>
    <p:sldId id="553" r:id="rId41"/>
    <p:sldId id="554" r:id="rId42"/>
    <p:sldId id="555" r:id="rId43"/>
    <p:sldId id="556" r:id="rId44"/>
    <p:sldId id="557" r:id="rId45"/>
    <p:sldId id="558" r:id="rId46"/>
    <p:sldId id="559" r:id="rId47"/>
    <p:sldId id="560" r:id="rId48"/>
    <p:sldId id="561" r:id="rId49"/>
    <p:sldId id="562" r:id="rId50"/>
    <p:sldId id="578" r:id="rId51"/>
    <p:sldId id="580" r:id="rId52"/>
    <p:sldId id="581" r:id="rId53"/>
    <p:sldId id="583" r:id="rId54"/>
    <p:sldId id="584" r:id="rId55"/>
    <p:sldId id="585" r:id="rId56"/>
    <p:sldId id="586" r:id="rId57"/>
    <p:sldId id="587" r:id="rId58"/>
    <p:sldId id="588" r:id="rId59"/>
    <p:sldId id="589" r:id="rId60"/>
    <p:sldId id="590" r:id="rId61"/>
    <p:sldId id="591" r:id="rId62"/>
    <p:sldId id="592" r:id="rId63"/>
    <p:sldId id="593" r:id="rId64"/>
    <p:sldId id="563" r:id="rId65"/>
    <p:sldId id="489" r:id="rId66"/>
    <p:sldId id="594" r:id="rId67"/>
    <p:sldId id="566" r:id="rId68"/>
    <p:sldId id="565" r:id="rId69"/>
    <p:sldId id="567" r:id="rId70"/>
  </p:sldIdLst>
  <p:sldSz cx="9144000" cy="5143500" type="screen16x9"/>
  <p:notesSz cx="9144000" cy="51435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houssain elhajjami" initials="le" lastIdx="1" clrIdx="0">
    <p:extLst>
      <p:ext uri="{19B8F6BF-5375-455C-9EA6-DF929625EA0E}">
        <p15:presenceInfo xmlns:p15="http://schemas.microsoft.com/office/powerpoint/2012/main" userId="lhoussain elhajjam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0000FF"/>
    <a:srgbClr val="00FFFF"/>
    <a:srgbClr val="FF9966"/>
    <a:srgbClr val="CC00CC"/>
    <a:srgbClr val="00FF00"/>
    <a:srgbClr val="FF9900"/>
    <a:srgbClr val="00CC99"/>
    <a:srgbClr val="8064A2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80751" autoAdjust="0"/>
  </p:normalViewPr>
  <p:slideViewPr>
    <p:cSldViewPr>
      <p:cViewPr varScale="1">
        <p:scale>
          <a:sx n="91" d="100"/>
          <a:sy n="91" d="100"/>
        </p:scale>
        <p:origin x="1229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55BB1-077F-4953-B445-56E73AFDDD27}" type="datetimeFigureOut">
              <a:rPr lang="fr-FR" smtClean="0"/>
              <a:t>04/12/2024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A7ADD1-564E-426F-A644-664AEAE7088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093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9590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0695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b="1" i="0" dirty="0">
                <a:solidFill>
                  <a:srgbClr val="424242"/>
                </a:solidFill>
                <a:effectLst/>
                <a:highlight>
                  <a:srgbClr val="FFFF00"/>
                </a:highlight>
                <a:latin typeface="Verdana" panose="020B0604030504040204" pitchFamily="34" charset="0"/>
              </a:rPr>
              <a:t>La Mutuelle Générale de l’Education Nationale</a:t>
            </a:r>
            <a:endParaRPr lang="fr-FR" b="0" i="0" dirty="0">
              <a:solidFill>
                <a:srgbClr val="424242"/>
              </a:solidFill>
              <a:effectLst/>
              <a:highlight>
                <a:srgbClr val="FFFF00"/>
              </a:highlight>
              <a:latin typeface="Verdana" panose="020B0604030504040204" pitchFamily="34" charset="0"/>
            </a:endParaRPr>
          </a:p>
          <a:p>
            <a:br>
              <a:rPr lang="fr-FR" b="0" i="0" dirty="0">
                <a:solidFill>
                  <a:srgbClr val="424242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148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b="1" i="0" dirty="0">
                <a:solidFill>
                  <a:srgbClr val="424242"/>
                </a:solidFill>
                <a:effectLst/>
                <a:highlight>
                  <a:srgbClr val="FFFF00"/>
                </a:highlight>
                <a:latin typeface="Verdana" panose="020B0604030504040204" pitchFamily="34" charset="0"/>
              </a:rPr>
              <a:t>La Mutuelle Générale de l’Education Nationale</a:t>
            </a:r>
            <a:endParaRPr lang="fr-FR" b="0" i="0" dirty="0">
              <a:solidFill>
                <a:srgbClr val="424242"/>
              </a:solidFill>
              <a:effectLst/>
              <a:highlight>
                <a:srgbClr val="FFFF00"/>
              </a:highlight>
              <a:latin typeface="Verdana" panose="020B0604030504040204" pitchFamily="34" charset="0"/>
            </a:endParaRPr>
          </a:p>
          <a:p>
            <a:br>
              <a:rPr lang="fr-FR" b="0" i="0" dirty="0">
                <a:solidFill>
                  <a:srgbClr val="424242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9413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b="1" i="0" dirty="0">
                <a:solidFill>
                  <a:srgbClr val="424242"/>
                </a:solidFill>
                <a:effectLst/>
                <a:highlight>
                  <a:srgbClr val="FFFF00"/>
                </a:highlight>
                <a:latin typeface="Verdana" panose="020B0604030504040204" pitchFamily="34" charset="0"/>
              </a:rPr>
              <a:t>La Mutuelle Générale de l’Education Nationale</a:t>
            </a:r>
            <a:endParaRPr lang="fr-FR" b="0" i="0" dirty="0">
              <a:solidFill>
                <a:srgbClr val="424242"/>
              </a:solidFill>
              <a:effectLst/>
              <a:highlight>
                <a:srgbClr val="FFFF00"/>
              </a:highlight>
              <a:latin typeface="Verdana" panose="020B0604030504040204" pitchFamily="34" charset="0"/>
            </a:endParaRPr>
          </a:p>
          <a:p>
            <a:br>
              <a:rPr lang="fr-FR" b="0" i="0" dirty="0">
                <a:solidFill>
                  <a:srgbClr val="424242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8183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Zij</a:t>
            </a:r>
            <a:r>
              <a:rPr lang="fr-FR" dirty="0"/>
              <a:t> sont des impédances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5517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b="1" i="0" dirty="0">
                <a:solidFill>
                  <a:srgbClr val="424242"/>
                </a:solidFill>
                <a:effectLst/>
                <a:highlight>
                  <a:srgbClr val="FFFF00"/>
                </a:highlight>
                <a:latin typeface="Verdana" panose="020B0604030504040204" pitchFamily="34" charset="0"/>
              </a:rPr>
              <a:t>La Mutuelle Générale de l’Education Nationale</a:t>
            </a:r>
            <a:endParaRPr lang="fr-FR" b="0" i="0" dirty="0">
              <a:solidFill>
                <a:srgbClr val="424242"/>
              </a:solidFill>
              <a:effectLst/>
              <a:highlight>
                <a:srgbClr val="FFFF00"/>
              </a:highlight>
              <a:latin typeface="Verdana" panose="020B0604030504040204" pitchFamily="34" charset="0"/>
            </a:endParaRPr>
          </a:p>
          <a:p>
            <a:br>
              <a:rPr lang="fr-FR" b="0" i="0" dirty="0">
                <a:solidFill>
                  <a:srgbClr val="424242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989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b="1" i="0" dirty="0">
                <a:solidFill>
                  <a:srgbClr val="424242"/>
                </a:solidFill>
                <a:effectLst/>
                <a:highlight>
                  <a:srgbClr val="FFFF00"/>
                </a:highlight>
                <a:latin typeface="Verdana" panose="020B0604030504040204" pitchFamily="34" charset="0"/>
              </a:rPr>
              <a:t>La Mutuelle Générale de l’Education Nationale</a:t>
            </a:r>
            <a:endParaRPr lang="fr-FR" b="0" i="0" dirty="0">
              <a:solidFill>
                <a:srgbClr val="424242"/>
              </a:solidFill>
              <a:effectLst/>
              <a:highlight>
                <a:srgbClr val="FFFF00"/>
              </a:highlight>
              <a:latin typeface="Verdana" panose="020B0604030504040204" pitchFamily="34" charset="0"/>
            </a:endParaRPr>
          </a:p>
          <a:p>
            <a:br>
              <a:rPr lang="fr-FR" b="0" i="0" dirty="0">
                <a:solidFill>
                  <a:srgbClr val="424242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4446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b="1" i="0" dirty="0">
                <a:solidFill>
                  <a:srgbClr val="424242"/>
                </a:solidFill>
                <a:effectLst/>
                <a:highlight>
                  <a:srgbClr val="FFFF00"/>
                </a:highlight>
                <a:latin typeface="Verdana" panose="020B0604030504040204" pitchFamily="34" charset="0"/>
              </a:rPr>
              <a:t>La Mutuelle Générale de l’Education Nationale</a:t>
            </a:r>
            <a:endParaRPr lang="fr-FR" b="0" i="0" dirty="0">
              <a:solidFill>
                <a:srgbClr val="424242"/>
              </a:solidFill>
              <a:effectLst/>
              <a:highlight>
                <a:srgbClr val="FFFF00"/>
              </a:highlight>
              <a:latin typeface="Verdana" panose="020B0604030504040204" pitchFamily="34" charset="0"/>
            </a:endParaRPr>
          </a:p>
          <a:p>
            <a:br>
              <a:rPr lang="fr-FR" b="0" i="0" dirty="0">
                <a:solidFill>
                  <a:srgbClr val="424242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0658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Zij</a:t>
            </a:r>
            <a:r>
              <a:rPr lang="fr-FR" dirty="0"/>
              <a:t> sont des impédances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6274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Zij</a:t>
            </a:r>
            <a:r>
              <a:rPr lang="fr-FR" dirty="0"/>
              <a:t> sont des impédances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583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Zij</a:t>
            </a:r>
            <a:r>
              <a:rPr lang="fr-FR" dirty="0"/>
              <a:t> sont des impédances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91424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Zij</a:t>
            </a:r>
            <a:r>
              <a:rPr lang="fr-FR" dirty="0"/>
              <a:t> sont des impédances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26237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Zij</a:t>
            </a:r>
            <a:r>
              <a:rPr lang="fr-FR" dirty="0"/>
              <a:t> sont des impédances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4403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3278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3510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8619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26147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38257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74860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7139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51651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83196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93330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11594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32135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3380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1501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03915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42484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dirty="0">
                <a:latin typeface="Bookman Old Style" panose="02050604050505020204" pitchFamily="18" charset="0"/>
              </a:rPr>
              <a:t>Il s’agit d’une </a:t>
            </a:r>
            <a:r>
              <a:rPr lang="fr-FR" sz="1200" b="1" dirty="0">
                <a:latin typeface="Bookman Old Style" panose="02050604050505020204" pitchFamily="18" charset="0"/>
              </a:rPr>
              <a:t>pente -1 </a:t>
            </a:r>
            <a:br>
              <a:rPr lang="fr-FR" sz="1200" dirty="0">
                <a:latin typeface="Bookman Old Style" panose="02050604050505020204" pitchFamily="18" charset="0"/>
              </a:rPr>
            </a:br>
            <a:br>
              <a:rPr lang="fr-FR" sz="1200" dirty="0">
                <a:latin typeface="Bookman Old Style" panose="02050604050505020204" pitchFamily="18" charset="0"/>
              </a:rPr>
            </a:br>
            <a:endParaRPr lang="fr-FR" sz="1200" dirty="0">
              <a:latin typeface="Bookman Old Style" panose="020506040505050202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12490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97921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0866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89207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62495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01755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699366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41401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374107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2123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084309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60252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411525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17227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83977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76735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1216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544829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038037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34443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137717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37107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335284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12837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184591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06577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59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968201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63052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647620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564993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001766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244307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705419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60858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901441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851590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69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6952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4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4F82B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4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4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4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4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48777" y="1521459"/>
            <a:ext cx="5846444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2370" y="819403"/>
            <a:ext cx="8539258" cy="3155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4F82B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46282" y="4824469"/>
            <a:ext cx="41592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4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22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23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4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7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0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30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30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6.png"/><Relationship Id="rId4" Type="http://schemas.openxmlformats.org/officeDocument/2006/relationships/image" Target="../media/image6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66.png"/><Relationship Id="rId4" Type="http://schemas.openxmlformats.org/officeDocument/2006/relationships/image" Target="../media/image7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73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73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73.png"/><Relationship Id="rId3" Type="http://schemas.openxmlformats.org/officeDocument/2006/relationships/image" Target="../media/image103.png"/><Relationship Id="rId7" Type="http://schemas.openxmlformats.org/officeDocument/2006/relationships/image" Target="../media/image60.png"/><Relationship Id="rId12" Type="http://schemas.openxmlformats.org/officeDocument/2006/relationships/image" Target="../media/image10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106.png"/><Relationship Id="rId4" Type="http://schemas.openxmlformats.org/officeDocument/2006/relationships/image" Target="../media/image57.png"/><Relationship Id="rId9" Type="http://schemas.openxmlformats.org/officeDocument/2006/relationships/image" Target="../media/image10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7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0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0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0.png"/><Relationship Id="rId7" Type="http://schemas.openxmlformats.org/officeDocument/2006/relationships/image" Target="../media/image118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0.png"/><Relationship Id="rId5" Type="http://schemas.openxmlformats.org/officeDocument/2006/relationships/image" Target="../media/image164.png"/><Relationship Id="rId4" Type="http://schemas.openxmlformats.org/officeDocument/2006/relationships/image" Target="../media/image115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0.png"/><Relationship Id="rId5" Type="http://schemas.openxmlformats.org/officeDocument/2006/relationships/image" Target="../media/image1200.png"/><Relationship Id="rId4" Type="http://schemas.openxmlformats.org/officeDocument/2006/relationships/image" Target="../media/image16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7" Type="http://schemas.openxmlformats.org/officeDocument/2006/relationships/image" Target="../media/image125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0.png"/><Relationship Id="rId5" Type="http://schemas.openxmlformats.org/officeDocument/2006/relationships/image" Target="../media/image1230.png"/><Relationship Id="rId4" Type="http://schemas.openxmlformats.org/officeDocument/2006/relationships/image" Target="../media/image12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-11655" y="485775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1"/>
                </a:lnTo>
              </a:path>
            </a:pathLst>
          </a:custGeom>
          <a:ln w="254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6" name="object 6"/>
          <p:cNvGrpSpPr/>
          <p:nvPr/>
        </p:nvGrpSpPr>
        <p:grpSpPr>
          <a:xfrm>
            <a:off x="20881" y="1140531"/>
            <a:ext cx="9123119" cy="3285520"/>
            <a:chOff x="-44576" y="1100670"/>
            <a:chExt cx="9123119" cy="3285520"/>
          </a:xfrm>
        </p:grpSpPr>
        <p:sp>
          <p:nvSpPr>
            <p:cNvPr id="7" name="object 7"/>
            <p:cNvSpPr/>
            <p:nvPr/>
          </p:nvSpPr>
          <p:spPr>
            <a:xfrm>
              <a:off x="3063823" y="1100670"/>
              <a:ext cx="6014720" cy="72390"/>
            </a:xfrm>
            <a:custGeom>
              <a:avLst/>
              <a:gdLst/>
              <a:ahLst/>
              <a:cxnLst/>
              <a:rect l="l" t="t" r="r" b="b"/>
              <a:pathLst>
                <a:path w="6014720" h="72390">
                  <a:moveTo>
                    <a:pt x="5978231" y="0"/>
                  </a:moveTo>
                  <a:lnTo>
                    <a:pt x="35996" y="0"/>
                  </a:lnTo>
                  <a:lnTo>
                    <a:pt x="21985" y="2829"/>
                  </a:lnTo>
                  <a:lnTo>
                    <a:pt x="10543" y="10544"/>
                  </a:lnTo>
                  <a:lnTo>
                    <a:pt x="2828" y="21987"/>
                  </a:lnTo>
                  <a:lnTo>
                    <a:pt x="0" y="36000"/>
                  </a:lnTo>
                  <a:lnTo>
                    <a:pt x="2828" y="50013"/>
                  </a:lnTo>
                  <a:lnTo>
                    <a:pt x="10543" y="61456"/>
                  </a:lnTo>
                  <a:lnTo>
                    <a:pt x="21985" y="69171"/>
                  </a:lnTo>
                  <a:lnTo>
                    <a:pt x="35996" y="72000"/>
                  </a:lnTo>
                  <a:lnTo>
                    <a:pt x="5978231" y="72000"/>
                  </a:lnTo>
                  <a:lnTo>
                    <a:pt x="5992243" y="69171"/>
                  </a:lnTo>
                  <a:lnTo>
                    <a:pt x="6003685" y="61456"/>
                  </a:lnTo>
                  <a:lnTo>
                    <a:pt x="6011399" y="50013"/>
                  </a:lnTo>
                  <a:lnTo>
                    <a:pt x="6014228" y="36000"/>
                  </a:lnTo>
                  <a:lnTo>
                    <a:pt x="6011399" y="21987"/>
                  </a:lnTo>
                  <a:lnTo>
                    <a:pt x="6003685" y="10544"/>
                  </a:lnTo>
                  <a:lnTo>
                    <a:pt x="5992243" y="2829"/>
                  </a:lnTo>
                  <a:lnTo>
                    <a:pt x="5978231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77943" y="4060054"/>
              <a:ext cx="326136" cy="32613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14297" y="4171433"/>
              <a:ext cx="6652895" cy="83185"/>
            </a:xfrm>
            <a:custGeom>
              <a:avLst/>
              <a:gdLst/>
              <a:ahLst/>
              <a:cxnLst/>
              <a:rect l="l" t="t" r="r" b="b"/>
              <a:pathLst>
                <a:path w="6652895" h="83185">
                  <a:moveTo>
                    <a:pt x="3013265" y="46761"/>
                  </a:moveTo>
                  <a:lnTo>
                    <a:pt x="3010433" y="32753"/>
                  </a:lnTo>
                  <a:lnTo>
                    <a:pt x="3002724" y="21310"/>
                  </a:lnTo>
                  <a:lnTo>
                    <a:pt x="2991281" y="13589"/>
                  </a:lnTo>
                  <a:lnTo>
                    <a:pt x="2977261" y="10756"/>
                  </a:lnTo>
                  <a:lnTo>
                    <a:pt x="36004" y="10756"/>
                  </a:lnTo>
                  <a:lnTo>
                    <a:pt x="21996" y="13589"/>
                  </a:lnTo>
                  <a:lnTo>
                    <a:pt x="10553" y="21310"/>
                  </a:lnTo>
                  <a:lnTo>
                    <a:pt x="2832" y="32753"/>
                  </a:lnTo>
                  <a:lnTo>
                    <a:pt x="0" y="46761"/>
                  </a:lnTo>
                  <a:lnTo>
                    <a:pt x="2832" y="60769"/>
                  </a:lnTo>
                  <a:lnTo>
                    <a:pt x="10553" y="72224"/>
                  </a:lnTo>
                  <a:lnTo>
                    <a:pt x="21996" y="79933"/>
                  </a:lnTo>
                  <a:lnTo>
                    <a:pt x="36004" y="82765"/>
                  </a:lnTo>
                  <a:lnTo>
                    <a:pt x="2977261" y="82765"/>
                  </a:lnTo>
                  <a:lnTo>
                    <a:pt x="2991269" y="79933"/>
                  </a:lnTo>
                  <a:lnTo>
                    <a:pt x="3002711" y="72224"/>
                  </a:lnTo>
                  <a:lnTo>
                    <a:pt x="3010433" y="60782"/>
                  </a:lnTo>
                  <a:lnTo>
                    <a:pt x="3013265" y="46761"/>
                  </a:lnTo>
                  <a:close/>
                </a:path>
                <a:path w="6652895" h="83185">
                  <a:moveTo>
                    <a:pt x="6652679" y="36004"/>
                  </a:moveTo>
                  <a:lnTo>
                    <a:pt x="6649847" y="21983"/>
                  </a:lnTo>
                  <a:lnTo>
                    <a:pt x="6642138" y="10541"/>
                  </a:lnTo>
                  <a:lnTo>
                    <a:pt x="6630695" y="2832"/>
                  </a:lnTo>
                  <a:lnTo>
                    <a:pt x="6616674" y="0"/>
                  </a:lnTo>
                  <a:lnTo>
                    <a:pt x="3675418" y="0"/>
                  </a:lnTo>
                  <a:lnTo>
                    <a:pt x="3661410" y="2832"/>
                  </a:lnTo>
                  <a:lnTo>
                    <a:pt x="3649967" y="10541"/>
                  </a:lnTo>
                  <a:lnTo>
                    <a:pt x="3642245" y="21983"/>
                  </a:lnTo>
                  <a:lnTo>
                    <a:pt x="3639413" y="36004"/>
                  </a:lnTo>
                  <a:lnTo>
                    <a:pt x="3642245" y="50012"/>
                  </a:lnTo>
                  <a:lnTo>
                    <a:pt x="3649967" y="61455"/>
                  </a:lnTo>
                  <a:lnTo>
                    <a:pt x="3661410" y="69176"/>
                  </a:lnTo>
                  <a:lnTo>
                    <a:pt x="3675418" y="71996"/>
                  </a:lnTo>
                  <a:lnTo>
                    <a:pt x="6616674" y="72009"/>
                  </a:lnTo>
                  <a:lnTo>
                    <a:pt x="6630695" y="69176"/>
                  </a:lnTo>
                  <a:lnTo>
                    <a:pt x="6642138" y="61455"/>
                  </a:lnTo>
                  <a:lnTo>
                    <a:pt x="6649847" y="50012"/>
                  </a:lnTo>
                  <a:lnTo>
                    <a:pt x="6652679" y="36004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2168" y="3642513"/>
              <a:ext cx="6014720" cy="72390"/>
            </a:xfrm>
            <a:custGeom>
              <a:avLst/>
              <a:gdLst/>
              <a:ahLst/>
              <a:cxnLst/>
              <a:rect l="l" t="t" r="r" b="b"/>
              <a:pathLst>
                <a:path w="6014720" h="72389">
                  <a:moveTo>
                    <a:pt x="5978231" y="0"/>
                  </a:moveTo>
                  <a:lnTo>
                    <a:pt x="35996" y="0"/>
                  </a:lnTo>
                  <a:lnTo>
                    <a:pt x="21985" y="2829"/>
                  </a:lnTo>
                  <a:lnTo>
                    <a:pt x="10543" y="10544"/>
                  </a:lnTo>
                  <a:lnTo>
                    <a:pt x="2828" y="21986"/>
                  </a:lnTo>
                  <a:lnTo>
                    <a:pt x="0" y="35999"/>
                  </a:lnTo>
                  <a:lnTo>
                    <a:pt x="2828" y="50012"/>
                  </a:lnTo>
                  <a:lnTo>
                    <a:pt x="10543" y="61455"/>
                  </a:lnTo>
                  <a:lnTo>
                    <a:pt x="21985" y="69171"/>
                  </a:lnTo>
                  <a:lnTo>
                    <a:pt x="35996" y="72000"/>
                  </a:lnTo>
                  <a:lnTo>
                    <a:pt x="5978231" y="72000"/>
                  </a:lnTo>
                  <a:lnTo>
                    <a:pt x="5992243" y="69171"/>
                  </a:lnTo>
                  <a:lnTo>
                    <a:pt x="6003685" y="61455"/>
                  </a:lnTo>
                  <a:lnTo>
                    <a:pt x="6011399" y="50012"/>
                  </a:lnTo>
                  <a:lnTo>
                    <a:pt x="6014228" y="35999"/>
                  </a:lnTo>
                  <a:lnTo>
                    <a:pt x="6011399" y="21986"/>
                  </a:lnTo>
                  <a:lnTo>
                    <a:pt x="6003685" y="10544"/>
                  </a:lnTo>
                  <a:lnTo>
                    <a:pt x="5992243" y="2829"/>
                  </a:lnTo>
                  <a:lnTo>
                    <a:pt x="5978231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637AACC0-9889-C865-E520-5EA6CBFCB6BF}"/>
                </a:ext>
              </a:extLst>
            </p:cNvPr>
            <p:cNvSpPr/>
            <p:nvPr/>
          </p:nvSpPr>
          <p:spPr>
            <a:xfrm>
              <a:off x="-44576" y="2778617"/>
              <a:ext cx="6014720" cy="72390"/>
            </a:xfrm>
            <a:custGeom>
              <a:avLst/>
              <a:gdLst/>
              <a:ahLst/>
              <a:cxnLst/>
              <a:rect l="l" t="t" r="r" b="b"/>
              <a:pathLst>
                <a:path w="6014720" h="72390">
                  <a:moveTo>
                    <a:pt x="5978231" y="0"/>
                  </a:moveTo>
                  <a:lnTo>
                    <a:pt x="35996" y="0"/>
                  </a:lnTo>
                  <a:lnTo>
                    <a:pt x="21985" y="2829"/>
                  </a:lnTo>
                  <a:lnTo>
                    <a:pt x="10543" y="10544"/>
                  </a:lnTo>
                  <a:lnTo>
                    <a:pt x="2828" y="21987"/>
                  </a:lnTo>
                  <a:lnTo>
                    <a:pt x="0" y="36000"/>
                  </a:lnTo>
                  <a:lnTo>
                    <a:pt x="2828" y="50013"/>
                  </a:lnTo>
                  <a:lnTo>
                    <a:pt x="10543" y="61456"/>
                  </a:lnTo>
                  <a:lnTo>
                    <a:pt x="21985" y="69171"/>
                  </a:lnTo>
                  <a:lnTo>
                    <a:pt x="35996" y="72000"/>
                  </a:lnTo>
                  <a:lnTo>
                    <a:pt x="5978231" y="72000"/>
                  </a:lnTo>
                  <a:lnTo>
                    <a:pt x="5992243" y="69171"/>
                  </a:lnTo>
                  <a:lnTo>
                    <a:pt x="6003685" y="61456"/>
                  </a:lnTo>
                  <a:lnTo>
                    <a:pt x="6011399" y="50013"/>
                  </a:lnTo>
                  <a:lnTo>
                    <a:pt x="6014228" y="36000"/>
                  </a:lnTo>
                  <a:lnTo>
                    <a:pt x="6011399" y="21987"/>
                  </a:lnTo>
                  <a:lnTo>
                    <a:pt x="6003685" y="10544"/>
                  </a:lnTo>
                  <a:lnTo>
                    <a:pt x="5992243" y="2829"/>
                  </a:lnTo>
                  <a:lnTo>
                    <a:pt x="5978231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79754" y="3116920"/>
            <a:ext cx="7239000" cy="351378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fr-FR" sz="2200" b="1" dirty="0">
                <a:latin typeface="Bookman Old Style" panose="02050604050505020204" pitchFamily="18" charset="0"/>
                <a:ea typeface="+mj-ea"/>
                <a:cs typeface="Arial"/>
              </a:rPr>
              <a:t>CIRCUITS ELECTRIQUES ET ELECTRONIQUES</a:t>
            </a:r>
            <a:endParaRPr sz="2200" b="1" dirty="0">
              <a:latin typeface="Bookman Old Style" panose="02050604050505020204" pitchFamily="18" charset="0"/>
              <a:ea typeface="+mj-ea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97425" y="4452465"/>
            <a:ext cx="6746774" cy="684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fr-FR" sz="1400" b="1" spc="-5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fr-FR" sz="1400" b="1" spc="-5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400" b="1" spc="-5" dirty="0">
                <a:solidFill>
                  <a:schemeClr val="bg1"/>
                </a:solidFill>
                <a:latin typeface="Bookman Old Style" panose="02050604050505020204" pitchFamily="18" charset="0"/>
                <a:cs typeface="Arial"/>
              </a:rPr>
              <a:t>                                                           </a:t>
            </a:r>
            <a:r>
              <a:rPr sz="1400" b="1" spc="-5" dirty="0" err="1">
                <a:latin typeface="Bookman Old Style" panose="02050604050505020204" pitchFamily="18" charset="0"/>
                <a:cs typeface="Calibri"/>
              </a:rPr>
              <a:t>Année</a:t>
            </a:r>
            <a:r>
              <a:rPr sz="1400" b="1" spc="-10" dirty="0">
                <a:latin typeface="Bookman Old Style" panose="02050604050505020204" pitchFamily="18" charset="0"/>
                <a:cs typeface="Calibri"/>
              </a:rPr>
              <a:t> universitaire:</a:t>
            </a:r>
            <a:r>
              <a:rPr sz="1400" b="1" spc="310" dirty="0">
                <a:latin typeface="Bookman Old Style" panose="02050604050505020204" pitchFamily="18" charset="0"/>
                <a:cs typeface="Calibri"/>
              </a:rPr>
              <a:t> </a:t>
            </a:r>
            <a:r>
              <a:rPr sz="1400" b="1" spc="-5" dirty="0">
                <a:latin typeface="Bookman Old Style" panose="02050604050505020204" pitchFamily="18" charset="0"/>
                <a:cs typeface="Calibri"/>
              </a:rPr>
              <a:t>202</a:t>
            </a:r>
            <a:r>
              <a:rPr lang="fr-FR" sz="1400" b="1" spc="-5" dirty="0">
                <a:latin typeface="Bookman Old Style" panose="02050604050505020204" pitchFamily="18" charset="0"/>
                <a:cs typeface="Calibri"/>
              </a:rPr>
              <a:t>4</a:t>
            </a:r>
            <a:r>
              <a:rPr sz="1400" b="1" spc="-5" dirty="0">
                <a:latin typeface="Bookman Old Style" panose="02050604050505020204" pitchFamily="18" charset="0"/>
                <a:cs typeface="Calibri"/>
              </a:rPr>
              <a:t>/202</a:t>
            </a:r>
            <a:r>
              <a:rPr lang="fr-FR" sz="1400" b="1" spc="-5" dirty="0">
                <a:latin typeface="Bookman Old Style" panose="02050604050505020204" pitchFamily="18" charset="0"/>
                <a:cs typeface="Calibri"/>
              </a:rPr>
              <a:t>5</a:t>
            </a:r>
            <a:endParaRPr sz="1400" dirty="0">
              <a:latin typeface="Bookman Old Style" panose="02050604050505020204" pitchFamily="18" charset="0"/>
              <a:cs typeface="Calibri"/>
            </a:endParaRPr>
          </a:p>
        </p:txBody>
      </p:sp>
      <p:sp>
        <p:nvSpPr>
          <p:cNvPr id="21" name="object 17"/>
          <p:cNvSpPr/>
          <p:nvPr/>
        </p:nvSpPr>
        <p:spPr>
          <a:xfrm>
            <a:off x="6629400" y="338955"/>
            <a:ext cx="2481438" cy="93344"/>
          </a:xfrm>
          <a:custGeom>
            <a:avLst/>
            <a:gdLst/>
            <a:ahLst/>
            <a:cxnLst/>
            <a:rect l="l" t="t" r="r" b="b"/>
            <a:pathLst>
              <a:path w="2707640" h="93345">
                <a:moveTo>
                  <a:pt x="2660455" y="0"/>
                </a:moveTo>
                <a:lnTo>
                  <a:pt x="46624" y="0"/>
                </a:lnTo>
                <a:lnTo>
                  <a:pt x="28476" y="3664"/>
                </a:lnTo>
                <a:lnTo>
                  <a:pt x="13656" y="13656"/>
                </a:lnTo>
                <a:lnTo>
                  <a:pt x="3664" y="28476"/>
                </a:lnTo>
                <a:lnTo>
                  <a:pt x="0" y="46622"/>
                </a:lnTo>
                <a:lnTo>
                  <a:pt x="3664" y="64771"/>
                </a:lnTo>
                <a:lnTo>
                  <a:pt x="13656" y="79592"/>
                </a:lnTo>
                <a:lnTo>
                  <a:pt x="28476" y="89584"/>
                </a:lnTo>
                <a:lnTo>
                  <a:pt x="46624" y="93248"/>
                </a:lnTo>
                <a:lnTo>
                  <a:pt x="2660451" y="93252"/>
                </a:lnTo>
                <a:lnTo>
                  <a:pt x="2678600" y="89588"/>
                </a:lnTo>
                <a:lnTo>
                  <a:pt x="2693420" y="79595"/>
                </a:lnTo>
                <a:lnTo>
                  <a:pt x="2703413" y="64774"/>
                </a:lnTo>
                <a:lnTo>
                  <a:pt x="2707079" y="46625"/>
                </a:lnTo>
                <a:lnTo>
                  <a:pt x="2703415" y="28476"/>
                </a:lnTo>
                <a:lnTo>
                  <a:pt x="2693424" y="13656"/>
                </a:lnTo>
                <a:lnTo>
                  <a:pt x="2678603" y="3664"/>
                </a:lnTo>
                <a:lnTo>
                  <a:pt x="2660455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8" name="Imag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778" y="4469"/>
            <a:ext cx="3700570" cy="867770"/>
          </a:xfrm>
          <a:prstGeom prst="rect">
            <a:avLst/>
          </a:prstGeom>
        </p:spPr>
      </p:pic>
      <p:sp>
        <p:nvSpPr>
          <p:cNvPr id="29" name="object 17"/>
          <p:cNvSpPr/>
          <p:nvPr/>
        </p:nvSpPr>
        <p:spPr>
          <a:xfrm>
            <a:off x="33162" y="338955"/>
            <a:ext cx="2481438" cy="93344"/>
          </a:xfrm>
          <a:custGeom>
            <a:avLst/>
            <a:gdLst/>
            <a:ahLst/>
            <a:cxnLst/>
            <a:rect l="l" t="t" r="r" b="b"/>
            <a:pathLst>
              <a:path w="2707640" h="93345">
                <a:moveTo>
                  <a:pt x="2660455" y="0"/>
                </a:moveTo>
                <a:lnTo>
                  <a:pt x="46624" y="0"/>
                </a:lnTo>
                <a:lnTo>
                  <a:pt x="28476" y="3664"/>
                </a:lnTo>
                <a:lnTo>
                  <a:pt x="13656" y="13656"/>
                </a:lnTo>
                <a:lnTo>
                  <a:pt x="3664" y="28476"/>
                </a:lnTo>
                <a:lnTo>
                  <a:pt x="0" y="46622"/>
                </a:lnTo>
                <a:lnTo>
                  <a:pt x="3664" y="64771"/>
                </a:lnTo>
                <a:lnTo>
                  <a:pt x="13656" y="79592"/>
                </a:lnTo>
                <a:lnTo>
                  <a:pt x="28476" y="89584"/>
                </a:lnTo>
                <a:lnTo>
                  <a:pt x="46624" y="93248"/>
                </a:lnTo>
                <a:lnTo>
                  <a:pt x="2660451" y="93252"/>
                </a:lnTo>
                <a:lnTo>
                  <a:pt x="2678600" y="89588"/>
                </a:lnTo>
                <a:lnTo>
                  <a:pt x="2693420" y="79595"/>
                </a:lnTo>
                <a:lnTo>
                  <a:pt x="2703413" y="64774"/>
                </a:lnTo>
                <a:lnTo>
                  <a:pt x="2707079" y="46625"/>
                </a:lnTo>
                <a:lnTo>
                  <a:pt x="2703415" y="28476"/>
                </a:lnTo>
                <a:lnTo>
                  <a:pt x="2693424" y="13656"/>
                </a:lnTo>
                <a:lnTo>
                  <a:pt x="2678603" y="3664"/>
                </a:lnTo>
                <a:lnTo>
                  <a:pt x="2660455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F5B5D0-6D27-C0B7-6123-6808C4258A70}"/>
              </a:ext>
            </a:extLst>
          </p:cNvPr>
          <p:cNvSpPr txBox="1"/>
          <p:nvPr/>
        </p:nvSpPr>
        <p:spPr>
          <a:xfrm>
            <a:off x="3365802" y="4324699"/>
            <a:ext cx="260746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latin typeface="Bookman Old Style" panose="02050604050505020204" pitchFamily="18" charset="0"/>
                <a:cs typeface="Arial"/>
              </a:rPr>
              <a:t>Pr.</a:t>
            </a:r>
            <a:r>
              <a:rPr lang="fr-FR" sz="1800" b="1" spc="-35" dirty="0">
                <a:latin typeface="Bookman Old Style" panose="02050604050505020204" pitchFamily="18" charset="0"/>
                <a:cs typeface="Arial"/>
              </a:rPr>
              <a:t> </a:t>
            </a:r>
            <a:r>
              <a:rPr lang="fr-FR" sz="1800" b="1" spc="-5" dirty="0">
                <a:latin typeface="Bookman Old Style" panose="02050604050505020204" pitchFamily="18" charset="0"/>
                <a:cs typeface="Arial"/>
              </a:rPr>
              <a:t>L. EL HAJJAMI</a:t>
            </a:r>
          </a:p>
          <a:p>
            <a:r>
              <a:rPr lang="fr-FR" sz="1000" b="1" spc="-5" dirty="0">
                <a:latin typeface="Bookman Old Style" panose="02050604050505020204" pitchFamily="18" charset="0"/>
                <a:cs typeface="Arial"/>
              </a:rPr>
              <a:t>      l.elhajjami@usms.ac.ma</a:t>
            </a:r>
            <a:endParaRPr lang="fr-FR" sz="1000" b="1" dirty="0">
              <a:latin typeface="Bookman Old Style" panose="02050604050505020204" pitchFamily="18" charset="0"/>
              <a:cs typeface="Arial"/>
            </a:endParaRPr>
          </a:p>
          <a:p>
            <a:endParaRPr lang="fr-F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B76610-C08F-972D-F25A-69D8D7B02FE0}"/>
              </a:ext>
            </a:extLst>
          </p:cNvPr>
          <p:cNvSpPr txBox="1"/>
          <p:nvPr/>
        </p:nvSpPr>
        <p:spPr>
          <a:xfrm>
            <a:off x="1227455" y="1243967"/>
            <a:ext cx="670559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u="sng" dirty="0">
                <a:latin typeface="Bookman Old Style" panose="02050604050505020204" pitchFamily="18" charset="0"/>
                <a:ea typeface="+mj-ea"/>
                <a:cs typeface="Arial"/>
              </a:rPr>
              <a:t>DEUST :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fr-FR" sz="1200" b="1" dirty="0">
                <a:latin typeface="Bookman Old Style" panose="02050604050505020204" pitchFamily="18" charset="0"/>
                <a:ea typeface="+mj-ea"/>
                <a:cs typeface="Arial"/>
              </a:rPr>
              <a:t>Génie Electrique et Systèmes Embarqués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fr-FR" sz="1200" dirty="0">
                <a:latin typeface="Bookman Old Style" panose="02050604050505020204" pitchFamily="18" charset="0"/>
                <a:ea typeface="+mj-ea"/>
                <a:cs typeface="Arial"/>
              </a:rPr>
              <a:t>Génie Physique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fr-FR" sz="1200" b="1" dirty="0">
                <a:latin typeface="Bookman Old Style" panose="02050604050505020204" pitchFamily="18" charset="0"/>
                <a:ea typeface="+mj-ea"/>
                <a:cs typeface="Arial"/>
              </a:rPr>
              <a:t>Génie Mécanique et Systèmes Industriels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fr-FR" sz="1200" dirty="0">
                <a:latin typeface="Bookman Old Style" panose="02050604050505020204" pitchFamily="18" charset="0"/>
                <a:ea typeface="+mj-ea"/>
                <a:cs typeface="Arial"/>
              </a:rPr>
              <a:t>Génie Informatique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fr-FR" sz="1200" b="1" dirty="0">
                <a:latin typeface="Bookman Old Style" panose="02050604050505020204" pitchFamily="18" charset="0"/>
                <a:ea typeface="+mj-ea"/>
                <a:cs typeface="Arial"/>
              </a:rPr>
              <a:t>Génie Chimique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fr-FR" sz="1200" dirty="0">
                <a:latin typeface="Bookman Old Style" panose="02050604050505020204" pitchFamily="18" charset="0"/>
                <a:ea typeface="+mj-ea"/>
                <a:cs typeface="Arial"/>
              </a:rPr>
              <a:t>Mathématiques et Sciences des Données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83271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1"/>
                </a:lnTo>
              </a:path>
            </a:pathLst>
          </a:custGeom>
          <a:ln w="254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0497" y="172196"/>
            <a:ext cx="93414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Bookman Old Style" panose="02050604050505020204" pitchFamily="18" charset="0"/>
                <a:cs typeface="Arial" panose="020B0604020202020204" pitchFamily="34" charset="0"/>
              </a:rPr>
              <a:t>Pl</a:t>
            </a:r>
            <a:r>
              <a:rPr spc="5" dirty="0">
                <a:latin typeface="Bookman Old Style" panose="02050604050505020204" pitchFamily="18" charset="0"/>
                <a:cs typeface="Arial" panose="020B0604020202020204" pitchFamily="34" charset="0"/>
              </a:rPr>
              <a:t>a</a:t>
            </a:r>
            <a:r>
              <a:rPr dirty="0">
                <a:latin typeface="Bookman Old Style" panose="02050604050505020204" pitchFamily="18" charset="0"/>
                <a:cs typeface="Arial" panose="020B0604020202020204" pitchFamily="34" charset="0"/>
              </a:rPr>
              <a:t>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875130" y="356345"/>
            <a:ext cx="7149465" cy="156845"/>
            <a:chOff x="1875130" y="356345"/>
            <a:chExt cx="7149465" cy="156845"/>
          </a:xfrm>
          <a:solidFill>
            <a:srgbClr val="00FF00"/>
          </a:solidFill>
        </p:grpSpPr>
        <p:sp>
          <p:nvSpPr>
            <p:cNvPr id="5" name="object 5"/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2778" y="356345"/>
            <a:ext cx="697230" cy="156845"/>
            <a:chOff x="82778" y="356345"/>
            <a:chExt cx="697230" cy="156845"/>
          </a:xfrm>
          <a:solidFill>
            <a:srgbClr val="00FF00"/>
          </a:solidFill>
        </p:grpSpPr>
        <p:sp>
          <p:nvSpPr>
            <p:cNvPr id="8" name="object 8"/>
            <p:cNvSpPr/>
            <p:nvPr/>
          </p:nvSpPr>
          <p:spPr>
            <a:xfrm>
              <a:off x="89128" y="362695"/>
              <a:ext cx="684530" cy="144145"/>
            </a:xfrm>
            <a:custGeom>
              <a:avLst/>
              <a:gdLst/>
              <a:ahLst/>
              <a:cxnLst/>
              <a:rect l="l" t="t" r="r" b="b"/>
              <a:pathLst>
                <a:path w="684530" h="144145">
                  <a:moveTo>
                    <a:pt x="611999" y="0"/>
                  </a:moveTo>
                  <a:lnTo>
                    <a:pt x="72000" y="0"/>
                  </a:lnTo>
                  <a:lnTo>
                    <a:pt x="43974" y="5658"/>
                  </a:lnTo>
                  <a:lnTo>
                    <a:pt x="21088" y="21088"/>
                  </a:lnTo>
                  <a:lnTo>
                    <a:pt x="5658" y="43974"/>
                  </a:lnTo>
                  <a:lnTo>
                    <a:pt x="0" y="71998"/>
                  </a:lnTo>
                  <a:lnTo>
                    <a:pt x="5658" y="100024"/>
                  </a:lnTo>
                  <a:lnTo>
                    <a:pt x="21088" y="122910"/>
                  </a:lnTo>
                  <a:lnTo>
                    <a:pt x="43974" y="138340"/>
                  </a:lnTo>
                  <a:lnTo>
                    <a:pt x="72000" y="143998"/>
                  </a:lnTo>
                  <a:lnTo>
                    <a:pt x="611998" y="144000"/>
                  </a:lnTo>
                  <a:lnTo>
                    <a:pt x="640024" y="138342"/>
                  </a:lnTo>
                  <a:lnTo>
                    <a:pt x="662910" y="122912"/>
                  </a:lnTo>
                  <a:lnTo>
                    <a:pt x="678340" y="100025"/>
                  </a:lnTo>
                  <a:lnTo>
                    <a:pt x="683999" y="72000"/>
                  </a:lnTo>
                  <a:lnTo>
                    <a:pt x="678341" y="43974"/>
                  </a:lnTo>
                  <a:lnTo>
                    <a:pt x="662911" y="21088"/>
                  </a:lnTo>
                  <a:lnTo>
                    <a:pt x="640025" y="5658"/>
                  </a:lnTo>
                  <a:lnTo>
                    <a:pt x="61199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89128" y="362695"/>
              <a:ext cx="684530" cy="144145"/>
            </a:xfrm>
            <a:custGeom>
              <a:avLst/>
              <a:gdLst/>
              <a:ahLst/>
              <a:cxnLst/>
              <a:rect l="l" t="t" r="r" b="b"/>
              <a:pathLst>
                <a:path w="684530" h="144145">
                  <a:moveTo>
                    <a:pt x="0" y="72000"/>
                  </a:moveTo>
                  <a:lnTo>
                    <a:pt x="5658" y="43974"/>
                  </a:lnTo>
                  <a:lnTo>
                    <a:pt x="21088" y="21088"/>
                  </a:lnTo>
                  <a:lnTo>
                    <a:pt x="43974" y="5658"/>
                  </a:lnTo>
                  <a:lnTo>
                    <a:pt x="72000" y="0"/>
                  </a:lnTo>
                  <a:lnTo>
                    <a:pt x="611999" y="0"/>
                  </a:lnTo>
                  <a:lnTo>
                    <a:pt x="640025" y="5658"/>
                  </a:lnTo>
                  <a:lnTo>
                    <a:pt x="662911" y="21088"/>
                  </a:lnTo>
                  <a:lnTo>
                    <a:pt x="678341" y="43974"/>
                  </a:lnTo>
                  <a:lnTo>
                    <a:pt x="683999" y="72000"/>
                  </a:lnTo>
                  <a:lnTo>
                    <a:pt x="678340" y="100026"/>
                  </a:lnTo>
                  <a:lnTo>
                    <a:pt x="662910" y="122912"/>
                  </a:lnTo>
                  <a:lnTo>
                    <a:pt x="640024" y="138342"/>
                  </a:lnTo>
                  <a:lnTo>
                    <a:pt x="611998" y="144000"/>
                  </a:lnTo>
                  <a:lnTo>
                    <a:pt x="72000" y="144000"/>
                  </a:lnTo>
                  <a:lnTo>
                    <a:pt x="43974" y="138341"/>
                  </a:lnTo>
                  <a:lnTo>
                    <a:pt x="21088" y="122911"/>
                  </a:lnTo>
                  <a:lnTo>
                    <a:pt x="5658" y="100025"/>
                  </a:lnTo>
                  <a:lnTo>
                    <a:pt x="0" y="71999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23284" y="888851"/>
            <a:ext cx="82455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4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</a:rPr>
              <a:t>Chapitre 1 : </a:t>
            </a:r>
            <a:r>
              <a:rPr lang="fr-FR" sz="20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</a:rPr>
              <a:t>Électrocinétique</a:t>
            </a:r>
            <a:endParaRPr sz="2000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4323" y="721958"/>
            <a:ext cx="500380" cy="802640"/>
            <a:chOff x="482739" y="1033930"/>
            <a:chExt cx="500380" cy="802640"/>
          </a:xfrm>
          <a:solidFill>
            <a:schemeClr val="tx2">
              <a:lumMod val="50000"/>
            </a:schemeClr>
          </a:solidFill>
        </p:grpSpPr>
        <p:sp>
          <p:nvSpPr>
            <p:cNvPr id="12" name="object 12"/>
            <p:cNvSpPr/>
            <p:nvPr/>
          </p:nvSpPr>
          <p:spPr>
            <a:xfrm>
              <a:off x="491437" y="1072565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8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5"/>
                  </a:lnTo>
                  <a:lnTo>
                    <a:pt x="484086" y="375261"/>
                  </a:lnTo>
                  <a:lnTo>
                    <a:pt x="486466" y="362779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491437" y="1072565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74949" y="38879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9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6"/>
                  </a:lnTo>
                  <a:lnTo>
                    <a:pt x="484086" y="375261"/>
                  </a:lnTo>
                  <a:lnTo>
                    <a:pt x="486466" y="362778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</a:path>
              </a:pathLst>
            </a:custGeom>
            <a:grpFill/>
            <a:ln w="9525">
              <a:solidFill>
                <a:srgbClr val="25406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87501" y="1038692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77462" y="0"/>
                  </a:moveTo>
                  <a:lnTo>
                    <a:pt x="25988" y="22240"/>
                  </a:lnTo>
                  <a:lnTo>
                    <a:pt x="1880" y="72863"/>
                  </a:lnTo>
                  <a:lnTo>
                    <a:pt x="0" y="105919"/>
                  </a:lnTo>
                  <a:lnTo>
                    <a:pt x="3709" y="143282"/>
                  </a:lnTo>
                  <a:lnTo>
                    <a:pt x="12116" y="184309"/>
                  </a:lnTo>
                  <a:lnTo>
                    <a:pt x="24326" y="228357"/>
                  </a:lnTo>
                  <a:lnTo>
                    <a:pt x="39446" y="274785"/>
                  </a:lnTo>
                  <a:lnTo>
                    <a:pt x="56582" y="322948"/>
                  </a:lnTo>
                  <a:lnTo>
                    <a:pt x="93332" y="421916"/>
                  </a:lnTo>
                  <a:lnTo>
                    <a:pt x="111157" y="471434"/>
                  </a:lnTo>
                  <a:lnTo>
                    <a:pt x="127425" y="520119"/>
                  </a:lnTo>
                  <a:lnTo>
                    <a:pt x="141242" y="567328"/>
                  </a:lnTo>
                  <a:lnTo>
                    <a:pt x="151715" y="612419"/>
                  </a:lnTo>
                  <a:lnTo>
                    <a:pt x="157950" y="654749"/>
                  </a:lnTo>
                  <a:lnTo>
                    <a:pt x="159054" y="693675"/>
                  </a:lnTo>
                  <a:lnTo>
                    <a:pt x="154133" y="728556"/>
                  </a:lnTo>
                  <a:lnTo>
                    <a:pt x="142294" y="758748"/>
                  </a:lnTo>
                  <a:lnTo>
                    <a:pt x="480882" y="419753"/>
                  </a:lnTo>
                  <a:lnTo>
                    <a:pt x="488022" y="408832"/>
                  </a:lnTo>
                  <a:lnTo>
                    <a:pt x="490402" y="396220"/>
                  </a:lnTo>
                  <a:lnTo>
                    <a:pt x="488022" y="383553"/>
                  </a:lnTo>
                  <a:lnTo>
                    <a:pt x="480882" y="372465"/>
                  </a:lnTo>
                  <a:lnTo>
                    <a:pt x="127830" y="18988"/>
                  </a:lnTo>
                  <a:lnTo>
                    <a:pt x="104569" y="4202"/>
                  </a:lnTo>
                  <a:lnTo>
                    <a:pt x="7746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487501" y="1038692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142294" y="758749"/>
                  </a:moveTo>
                  <a:lnTo>
                    <a:pt x="154133" y="728556"/>
                  </a:lnTo>
                  <a:lnTo>
                    <a:pt x="159054" y="693676"/>
                  </a:lnTo>
                  <a:lnTo>
                    <a:pt x="157950" y="654749"/>
                  </a:lnTo>
                  <a:lnTo>
                    <a:pt x="151715" y="612420"/>
                  </a:lnTo>
                  <a:lnTo>
                    <a:pt x="141242" y="567329"/>
                  </a:lnTo>
                  <a:lnTo>
                    <a:pt x="127425" y="520120"/>
                  </a:lnTo>
                  <a:lnTo>
                    <a:pt x="111157" y="471435"/>
                  </a:lnTo>
                  <a:lnTo>
                    <a:pt x="93332" y="421916"/>
                  </a:lnTo>
                  <a:lnTo>
                    <a:pt x="74842" y="372207"/>
                  </a:lnTo>
                  <a:lnTo>
                    <a:pt x="56582" y="322949"/>
                  </a:lnTo>
                  <a:lnTo>
                    <a:pt x="39446" y="274785"/>
                  </a:lnTo>
                  <a:lnTo>
                    <a:pt x="24326" y="228358"/>
                  </a:lnTo>
                  <a:lnTo>
                    <a:pt x="12116" y="184310"/>
                  </a:lnTo>
                  <a:lnTo>
                    <a:pt x="3709" y="143283"/>
                  </a:lnTo>
                  <a:lnTo>
                    <a:pt x="0" y="105920"/>
                  </a:lnTo>
                  <a:lnTo>
                    <a:pt x="1880" y="72863"/>
                  </a:lnTo>
                  <a:lnTo>
                    <a:pt x="10245" y="44756"/>
                  </a:lnTo>
                  <a:lnTo>
                    <a:pt x="25988" y="22240"/>
                  </a:lnTo>
                  <a:lnTo>
                    <a:pt x="50078" y="6104"/>
                  </a:lnTo>
                  <a:lnTo>
                    <a:pt x="77462" y="0"/>
                  </a:lnTo>
                  <a:lnTo>
                    <a:pt x="104569" y="4202"/>
                  </a:lnTo>
                  <a:lnTo>
                    <a:pt x="127830" y="18989"/>
                  </a:lnTo>
                  <a:lnTo>
                    <a:pt x="480882" y="372466"/>
                  </a:lnTo>
                  <a:lnTo>
                    <a:pt x="488022" y="383553"/>
                  </a:lnTo>
                  <a:lnTo>
                    <a:pt x="490402" y="396220"/>
                  </a:lnTo>
                  <a:lnTo>
                    <a:pt x="488022" y="408832"/>
                  </a:lnTo>
                  <a:lnTo>
                    <a:pt x="480882" y="419753"/>
                  </a:lnTo>
                  <a:lnTo>
                    <a:pt x="142294" y="758749"/>
                  </a:lnTo>
                  <a:close/>
                </a:path>
              </a:pathLst>
            </a:custGeom>
            <a:grpFill/>
            <a:ln w="9525">
              <a:solidFill>
                <a:srgbClr val="25406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06125" y="846775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endParaRPr sz="2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76190" y="1751328"/>
            <a:ext cx="500380" cy="802640"/>
            <a:chOff x="458377" y="2058221"/>
            <a:chExt cx="500380" cy="802640"/>
          </a:xfrm>
          <a:solidFill>
            <a:srgbClr val="0000FF"/>
          </a:solidFill>
        </p:grpSpPr>
        <p:sp>
          <p:nvSpPr>
            <p:cNvPr id="18" name="object 18"/>
            <p:cNvSpPr/>
            <p:nvPr/>
          </p:nvSpPr>
          <p:spPr>
            <a:xfrm>
              <a:off x="467075" y="2096858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9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5"/>
                  </a:lnTo>
                  <a:lnTo>
                    <a:pt x="484086" y="375261"/>
                  </a:lnTo>
                  <a:lnTo>
                    <a:pt x="486466" y="362779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467075" y="2096858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74949" y="38879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9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6"/>
                  </a:lnTo>
                  <a:lnTo>
                    <a:pt x="484086" y="375261"/>
                  </a:lnTo>
                  <a:lnTo>
                    <a:pt x="486466" y="362778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</a:path>
              </a:pathLst>
            </a:custGeom>
            <a:grpFill/>
            <a:ln w="9525">
              <a:solidFill>
                <a:srgbClr val="403152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20"/>
            <p:cNvSpPr/>
            <p:nvPr/>
          </p:nvSpPr>
          <p:spPr>
            <a:xfrm>
              <a:off x="463139" y="2062984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77462" y="0"/>
                  </a:moveTo>
                  <a:lnTo>
                    <a:pt x="25988" y="22239"/>
                  </a:lnTo>
                  <a:lnTo>
                    <a:pt x="1880" y="72863"/>
                  </a:lnTo>
                  <a:lnTo>
                    <a:pt x="0" y="105920"/>
                  </a:lnTo>
                  <a:lnTo>
                    <a:pt x="3709" y="143283"/>
                  </a:lnTo>
                  <a:lnTo>
                    <a:pt x="12116" y="184310"/>
                  </a:lnTo>
                  <a:lnTo>
                    <a:pt x="24326" y="228358"/>
                  </a:lnTo>
                  <a:lnTo>
                    <a:pt x="39446" y="274786"/>
                  </a:lnTo>
                  <a:lnTo>
                    <a:pt x="56583" y="322949"/>
                  </a:lnTo>
                  <a:lnTo>
                    <a:pt x="93332" y="421917"/>
                  </a:lnTo>
                  <a:lnTo>
                    <a:pt x="111157" y="471435"/>
                  </a:lnTo>
                  <a:lnTo>
                    <a:pt x="127425" y="520120"/>
                  </a:lnTo>
                  <a:lnTo>
                    <a:pt x="141242" y="567329"/>
                  </a:lnTo>
                  <a:lnTo>
                    <a:pt x="151715" y="612420"/>
                  </a:lnTo>
                  <a:lnTo>
                    <a:pt x="157950" y="654750"/>
                  </a:lnTo>
                  <a:lnTo>
                    <a:pt x="159054" y="693676"/>
                  </a:lnTo>
                  <a:lnTo>
                    <a:pt x="154133" y="728557"/>
                  </a:lnTo>
                  <a:lnTo>
                    <a:pt x="142294" y="758749"/>
                  </a:lnTo>
                  <a:lnTo>
                    <a:pt x="480882" y="419753"/>
                  </a:lnTo>
                  <a:lnTo>
                    <a:pt x="488022" y="408832"/>
                  </a:lnTo>
                  <a:lnTo>
                    <a:pt x="490402" y="396221"/>
                  </a:lnTo>
                  <a:lnTo>
                    <a:pt x="488022" y="383554"/>
                  </a:lnTo>
                  <a:lnTo>
                    <a:pt x="480882" y="372466"/>
                  </a:lnTo>
                  <a:lnTo>
                    <a:pt x="127830" y="18989"/>
                  </a:lnTo>
                  <a:lnTo>
                    <a:pt x="104569" y="4202"/>
                  </a:lnTo>
                  <a:lnTo>
                    <a:pt x="7746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463139" y="2062984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142294" y="758749"/>
                  </a:moveTo>
                  <a:lnTo>
                    <a:pt x="154133" y="728556"/>
                  </a:lnTo>
                  <a:lnTo>
                    <a:pt x="159054" y="693676"/>
                  </a:lnTo>
                  <a:lnTo>
                    <a:pt x="157950" y="654749"/>
                  </a:lnTo>
                  <a:lnTo>
                    <a:pt x="151715" y="612420"/>
                  </a:lnTo>
                  <a:lnTo>
                    <a:pt x="141242" y="567329"/>
                  </a:lnTo>
                  <a:lnTo>
                    <a:pt x="127425" y="520120"/>
                  </a:lnTo>
                  <a:lnTo>
                    <a:pt x="111157" y="471435"/>
                  </a:lnTo>
                  <a:lnTo>
                    <a:pt x="93332" y="421916"/>
                  </a:lnTo>
                  <a:lnTo>
                    <a:pt x="74842" y="372207"/>
                  </a:lnTo>
                  <a:lnTo>
                    <a:pt x="56582" y="322949"/>
                  </a:lnTo>
                  <a:lnTo>
                    <a:pt x="39446" y="274785"/>
                  </a:lnTo>
                  <a:lnTo>
                    <a:pt x="24326" y="228358"/>
                  </a:lnTo>
                  <a:lnTo>
                    <a:pt x="12116" y="184310"/>
                  </a:lnTo>
                  <a:lnTo>
                    <a:pt x="3709" y="143283"/>
                  </a:lnTo>
                  <a:lnTo>
                    <a:pt x="0" y="105920"/>
                  </a:lnTo>
                  <a:lnTo>
                    <a:pt x="1880" y="72863"/>
                  </a:lnTo>
                  <a:lnTo>
                    <a:pt x="10245" y="44756"/>
                  </a:lnTo>
                  <a:lnTo>
                    <a:pt x="25988" y="22240"/>
                  </a:lnTo>
                  <a:lnTo>
                    <a:pt x="50078" y="6104"/>
                  </a:lnTo>
                  <a:lnTo>
                    <a:pt x="77462" y="0"/>
                  </a:lnTo>
                  <a:lnTo>
                    <a:pt x="104569" y="4202"/>
                  </a:lnTo>
                  <a:lnTo>
                    <a:pt x="127830" y="18989"/>
                  </a:lnTo>
                  <a:lnTo>
                    <a:pt x="480882" y="372466"/>
                  </a:lnTo>
                  <a:lnTo>
                    <a:pt x="488022" y="383553"/>
                  </a:lnTo>
                  <a:lnTo>
                    <a:pt x="490402" y="396220"/>
                  </a:lnTo>
                  <a:lnTo>
                    <a:pt x="488022" y="408832"/>
                  </a:lnTo>
                  <a:lnTo>
                    <a:pt x="480882" y="419753"/>
                  </a:lnTo>
                  <a:lnTo>
                    <a:pt x="142294" y="758749"/>
                  </a:lnTo>
                  <a:close/>
                </a:path>
              </a:pathLst>
            </a:custGeom>
            <a:grpFill/>
            <a:ln w="9525">
              <a:solidFill>
                <a:srgbClr val="403152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2752" y="1872244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chemeClr val="bg1"/>
                </a:solidFill>
                <a:latin typeface="Arial"/>
                <a:cs typeface="Arial"/>
              </a:rPr>
              <a:t>2</a:t>
            </a:r>
            <a:endParaRPr sz="2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4486" y="2810728"/>
            <a:ext cx="500380" cy="802640"/>
            <a:chOff x="482739" y="3001513"/>
            <a:chExt cx="500380" cy="802640"/>
          </a:xfrm>
          <a:solidFill>
            <a:schemeClr val="accent2"/>
          </a:solidFill>
        </p:grpSpPr>
        <p:sp>
          <p:nvSpPr>
            <p:cNvPr id="26" name="object 26"/>
            <p:cNvSpPr/>
            <p:nvPr/>
          </p:nvSpPr>
          <p:spPr>
            <a:xfrm>
              <a:off x="491437" y="3040150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8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5"/>
                  </a:lnTo>
                  <a:lnTo>
                    <a:pt x="484086" y="375261"/>
                  </a:lnTo>
                  <a:lnTo>
                    <a:pt x="486466" y="362779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27"/>
            <p:cNvSpPr/>
            <p:nvPr/>
          </p:nvSpPr>
          <p:spPr>
            <a:xfrm>
              <a:off x="491437" y="3040150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74949" y="38879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9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6"/>
                  </a:lnTo>
                  <a:lnTo>
                    <a:pt x="484086" y="375261"/>
                  </a:lnTo>
                  <a:lnTo>
                    <a:pt x="486466" y="362778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</a:path>
              </a:pathLst>
            </a:custGeom>
            <a:grpFill/>
            <a:ln w="9525">
              <a:solidFill>
                <a:srgbClr val="215968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28"/>
            <p:cNvSpPr/>
            <p:nvPr/>
          </p:nvSpPr>
          <p:spPr>
            <a:xfrm>
              <a:off x="487501" y="3006275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77462" y="0"/>
                  </a:moveTo>
                  <a:lnTo>
                    <a:pt x="25988" y="22240"/>
                  </a:lnTo>
                  <a:lnTo>
                    <a:pt x="1880" y="72863"/>
                  </a:lnTo>
                  <a:lnTo>
                    <a:pt x="0" y="105920"/>
                  </a:lnTo>
                  <a:lnTo>
                    <a:pt x="3709" y="143283"/>
                  </a:lnTo>
                  <a:lnTo>
                    <a:pt x="12116" y="184310"/>
                  </a:lnTo>
                  <a:lnTo>
                    <a:pt x="24326" y="228358"/>
                  </a:lnTo>
                  <a:lnTo>
                    <a:pt x="39446" y="274786"/>
                  </a:lnTo>
                  <a:lnTo>
                    <a:pt x="56582" y="322949"/>
                  </a:lnTo>
                  <a:lnTo>
                    <a:pt x="93332" y="421917"/>
                  </a:lnTo>
                  <a:lnTo>
                    <a:pt x="111157" y="471435"/>
                  </a:lnTo>
                  <a:lnTo>
                    <a:pt x="127425" y="520120"/>
                  </a:lnTo>
                  <a:lnTo>
                    <a:pt x="141242" y="567329"/>
                  </a:lnTo>
                  <a:lnTo>
                    <a:pt x="151715" y="612420"/>
                  </a:lnTo>
                  <a:lnTo>
                    <a:pt x="157950" y="654749"/>
                  </a:lnTo>
                  <a:lnTo>
                    <a:pt x="159054" y="693676"/>
                  </a:lnTo>
                  <a:lnTo>
                    <a:pt x="154133" y="728556"/>
                  </a:lnTo>
                  <a:lnTo>
                    <a:pt x="142294" y="758748"/>
                  </a:lnTo>
                  <a:lnTo>
                    <a:pt x="480882" y="419753"/>
                  </a:lnTo>
                  <a:lnTo>
                    <a:pt x="488022" y="408832"/>
                  </a:lnTo>
                  <a:lnTo>
                    <a:pt x="490402" y="396220"/>
                  </a:lnTo>
                  <a:lnTo>
                    <a:pt x="488022" y="383554"/>
                  </a:lnTo>
                  <a:lnTo>
                    <a:pt x="480882" y="372466"/>
                  </a:lnTo>
                  <a:lnTo>
                    <a:pt x="127830" y="18988"/>
                  </a:lnTo>
                  <a:lnTo>
                    <a:pt x="104569" y="4202"/>
                  </a:lnTo>
                  <a:lnTo>
                    <a:pt x="7746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487501" y="3006275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142294" y="758749"/>
                  </a:moveTo>
                  <a:lnTo>
                    <a:pt x="154133" y="728556"/>
                  </a:lnTo>
                  <a:lnTo>
                    <a:pt x="159054" y="693676"/>
                  </a:lnTo>
                  <a:lnTo>
                    <a:pt x="157950" y="654749"/>
                  </a:lnTo>
                  <a:lnTo>
                    <a:pt x="151715" y="612420"/>
                  </a:lnTo>
                  <a:lnTo>
                    <a:pt x="141242" y="567329"/>
                  </a:lnTo>
                  <a:lnTo>
                    <a:pt x="127425" y="520120"/>
                  </a:lnTo>
                  <a:lnTo>
                    <a:pt x="111157" y="471435"/>
                  </a:lnTo>
                  <a:lnTo>
                    <a:pt x="93332" y="421916"/>
                  </a:lnTo>
                  <a:lnTo>
                    <a:pt x="74842" y="372207"/>
                  </a:lnTo>
                  <a:lnTo>
                    <a:pt x="56582" y="322949"/>
                  </a:lnTo>
                  <a:lnTo>
                    <a:pt x="39446" y="274785"/>
                  </a:lnTo>
                  <a:lnTo>
                    <a:pt x="24326" y="228358"/>
                  </a:lnTo>
                  <a:lnTo>
                    <a:pt x="12116" y="184310"/>
                  </a:lnTo>
                  <a:lnTo>
                    <a:pt x="3709" y="143283"/>
                  </a:lnTo>
                  <a:lnTo>
                    <a:pt x="0" y="105920"/>
                  </a:lnTo>
                  <a:lnTo>
                    <a:pt x="1880" y="72863"/>
                  </a:lnTo>
                  <a:lnTo>
                    <a:pt x="10245" y="44756"/>
                  </a:lnTo>
                  <a:lnTo>
                    <a:pt x="25988" y="22240"/>
                  </a:lnTo>
                  <a:lnTo>
                    <a:pt x="50078" y="6104"/>
                  </a:lnTo>
                  <a:lnTo>
                    <a:pt x="77462" y="0"/>
                  </a:lnTo>
                  <a:lnTo>
                    <a:pt x="104569" y="4202"/>
                  </a:lnTo>
                  <a:lnTo>
                    <a:pt x="127830" y="18989"/>
                  </a:lnTo>
                  <a:lnTo>
                    <a:pt x="480882" y="372466"/>
                  </a:lnTo>
                  <a:lnTo>
                    <a:pt x="488022" y="383553"/>
                  </a:lnTo>
                  <a:lnTo>
                    <a:pt x="490402" y="396220"/>
                  </a:lnTo>
                  <a:lnTo>
                    <a:pt x="488022" y="408832"/>
                  </a:lnTo>
                  <a:lnTo>
                    <a:pt x="480882" y="419753"/>
                  </a:lnTo>
                  <a:lnTo>
                    <a:pt x="142294" y="758749"/>
                  </a:lnTo>
                  <a:close/>
                </a:path>
              </a:pathLst>
            </a:custGeom>
            <a:grpFill/>
            <a:ln w="9525">
              <a:solidFill>
                <a:srgbClr val="25406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12752" y="2967159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chemeClr val="bg1"/>
                </a:solidFill>
                <a:latin typeface="Arial"/>
                <a:cs typeface="Arial"/>
              </a:rPr>
              <a:t>3</a:t>
            </a:r>
            <a:endParaRPr sz="2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59321" y="3817654"/>
            <a:ext cx="500380" cy="802640"/>
            <a:chOff x="482739" y="3962348"/>
            <a:chExt cx="500380" cy="802640"/>
          </a:xfrm>
          <a:solidFill>
            <a:srgbClr val="92D050"/>
          </a:solidFill>
        </p:grpSpPr>
        <p:sp>
          <p:nvSpPr>
            <p:cNvPr id="33" name="object 33"/>
            <p:cNvSpPr/>
            <p:nvPr/>
          </p:nvSpPr>
          <p:spPr>
            <a:xfrm>
              <a:off x="491437" y="4000985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2"/>
                  </a:lnTo>
                  <a:lnTo>
                    <a:pt x="45876" y="753137"/>
                  </a:lnTo>
                  <a:lnTo>
                    <a:pt x="73288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6"/>
                  </a:lnTo>
                  <a:lnTo>
                    <a:pt x="484086" y="375261"/>
                  </a:lnTo>
                  <a:lnTo>
                    <a:pt x="486466" y="362778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4" name="object 34"/>
            <p:cNvSpPr/>
            <p:nvPr/>
          </p:nvSpPr>
          <p:spPr>
            <a:xfrm>
              <a:off x="491437" y="4000985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74949" y="38879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9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6"/>
                  </a:lnTo>
                  <a:lnTo>
                    <a:pt x="484086" y="375261"/>
                  </a:lnTo>
                  <a:lnTo>
                    <a:pt x="486466" y="362778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</a:path>
              </a:pathLst>
            </a:custGeom>
            <a:solidFill>
              <a:srgbClr val="CC00CC"/>
            </a:solidFill>
            <a:ln w="9525">
              <a:solidFill>
                <a:srgbClr val="4F6228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5" name="object 35"/>
            <p:cNvSpPr/>
            <p:nvPr/>
          </p:nvSpPr>
          <p:spPr>
            <a:xfrm>
              <a:off x="487501" y="3967110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77462" y="0"/>
                  </a:moveTo>
                  <a:lnTo>
                    <a:pt x="25988" y="22240"/>
                  </a:lnTo>
                  <a:lnTo>
                    <a:pt x="1880" y="72863"/>
                  </a:lnTo>
                  <a:lnTo>
                    <a:pt x="0" y="105920"/>
                  </a:lnTo>
                  <a:lnTo>
                    <a:pt x="3709" y="143283"/>
                  </a:lnTo>
                  <a:lnTo>
                    <a:pt x="12116" y="184310"/>
                  </a:lnTo>
                  <a:lnTo>
                    <a:pt x="24326" y="228358"/>
                  </a:lnTo>
                  <a:lnTo>
                    <a:pt x="39446" y="274785"/>
                  </a:lnTo>
                  <a:lnTo>
                    <a:pt x="56582" y="322949"/>
                  </a:lnTo>
                  <a:lnTo>
                    <a:pt x="93332" y="421916"/>
                  </a:lnTo>
                  <a:lnTo>
                    <a:pt x="111157" y="471435"/>
                  </a:lnTo>
                  <a:lnTo>
                    <a:pt x="127425" y="520120"/>
                  </a:lnTo>
                  <a:lnTo>
                    <a:pt x="141242" y="567329"/>
                  </a:lnTo>
                  <a:lnTo>
                    <a:pt x="151715" y="612420"/>
                  </a:lnTo>
                  <a:lnTo>
                    <a:pt x="157950" y="654749"/>
                  </a:lnTo>
                  <a:lnTo>
                    <a:pt x="159054" y="693676"/>
                  </a:lnTo>
                  <a:lnTo>
                    <a:pt x="154133" y="728556"/>
                  </a:lnTo>
                  <a:lnTo>
                    <a:pt x="142294" y="758748"/>
                  </a:lnTo>
                  <a:lnTo>
                    <a:pt x="480882" y="419753"/>
                  </a:lnTo>
                  <a:lnTo>
                    <a:pt x="488022" y="408832"/>
                  </a:lnTo>
                  <a:lnTo>
                    <a:pt x="490402" y="396220"/>
                  </a:lnTo>
                  <a:lnTo>
                    <a:pt x="488022" y="383553"/>
                  </a:lnTo>
                  <a:lnTo>
                    <a:pt x="480882" y="372466"/>
                  </a:lnTo>
                  <a:lnTo>
                    <a:pt x="127830" y="18989"/>
                  </a:lnTo>
                  <a:lnTo>
                    <a:pt x="104569" y="4202"/>
                  </a:lnTo>
                  <a:lnTo>
                    <a:pt x="77462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6" name="object 36"/>
            <p:cNvSpPr/>
            <p:nvPr/>
          </p:nvSpPr>
          <p:spPr>
            <a:xfrm>
              <a:off x="487501" y="3967110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142294" y="758749"/>
                  </a:moveTo>
                  <a:lnTo>
                    <a:pt x="154133" y="728556"/>
                  </a:lnTo>
                  <a:lnTo>
                    <a:pt x="159054" y="693676"/>
                  </a:lnTo>
                  <a:lnTo>
                    <a:pt x="157950" y="654749"/>
                  </a:lnTo>
                  <a:lnTo>
                    <a:pt x="151715" y="612420"/>
                  </a:lnTo>
                  <a:lnTo>
                    <a:pt x="141242" y="567329"/>
                  </a:lnTo>
                  <a:lnTo>
                    <a:pt x="127425" y="520120"/>
                  </a:lnTo>
                  <a:lnTo>
                    <a:pt x="111157" y="471435"/>
                  </a:lnTo>
                  <a:lnTo>
                    <a:pt x="93332" y="421916"/>
                  </a:lnTo>
                  <a:lnTo>
                    <a:pt x="74842" y="372207"/>
                  </a:lnTo>
                  <a:lnTo>
                    <a:pt x="56582" y="322949"/>
                  </a:lnTo>
                  <a:lnTo>
                    <a:pt x="39446" y="274785"/>
                  </a:lnTo>
                  <a:lnTo>
                    <a:pt x="24326" y="228358"/>
                  </a:lnTo>
                  <a:lnTo>
                    <a:pt x="12116" y="184310"/>
                  </a:lnTo>
                  <a:lnTo>
                    <a:pt x="3709" y="143283"/>
                  </a:lnTo>
                  <a:lnTo>
                    <a:pt x="0" y="105920"/>
                  </a:lnTo>
                  <a:lnTo>
                    <a:pt x="1880" y="72863"/>
                  </a:lnTo>
                  <a:lnTo>
                    <a:pt x="10245" y="44756"/>
                  </a:lnTo>
                  <a:lnTo>
                    <a:pt x="25988" y="22240"/>
                  </a:lnTo>
                  <a:lnTo>
                    <a:pt x="50078" y="6104"/>
                  </a:lnTo>
                  <a:lnTo>
                    <a:pt x="77462" y="0"/>
                  </a:lnTo>
                  <a:lnTo>
                    <a:pt x="104569" y="4202"/>
                  </a:lnTo>
                  <a:lnTo>
                    <a:pt x="127830" y="18989"/>
                  </a:lnTo>
                  <a:lnTo>
                    <a:pt x="480882" y="372466"/>
                  </a:lnTo>
                  <a:lnTo>
                    <a:pt x="488022" y="383553"/>
                  </a:lnTo>
                  <a:lnTo>
                    <a:pt x="490402" y="396220"/>
                  </a:lnTo>
                  <a:lnTo>
                    <a:pt x="488022" y="408832"/>
                  </a:lnTo>
                  <a:lnTo>
                    <a:pt x="480882" y="419753"/>
                  </a:lnTo>
                  <a:lnTo>
                    <a:pt x="142294" y="758749"/>
                  </a:lnTo>
                  <a:close/>
                </a:path>
              </a:pathLst>
            </a:custGeom>
            <a:solidFill>
              <a:srgbClr val="CC00CC"/>
            </a:solidFill>
            <a:ln w="9525">
              <a:solidFill>
                <a:srgbClr val="25406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97750" y="3960197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chemeClr val="bg1"/>
                </a:solidFill>
                <a:latin typeface="Arial"/>
                <a:cs typeface="Arial"/>
              </a:rPr>
              <a:t>4</a:t>
            </a:r>
            <a:endParaRPr sz="2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894655" y="4851687"/>
            <a:ext cx="2457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7" name="object 10"/>
          <p:cNvSpPr txBox="1"/>
          <p:nvPr/>
        </p:nvSpPr>
        <p:spPr>
          <a:xfrm>
            <a:off x="1053314" y="1888340"/>
            <a:ext cx="74810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4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Chapitre 2 : </a:t>
            </a:r>
            <a:r>
              <a:rPr lang="fr-FR" sz="20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Quadripôles</a:t>
            </a:r>
            <a:endParaRPr sz="2000" b="1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8" name="object 10"/>
          <p:cNvSpPr txBox="1"/>
          <p:nvPr/>
        </p:nvSpPr>
        <p:spPr>
          <a:xfrm>
            <a:off x="1048448" y="2975243"/>
            <a:ext cx="878135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4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Chapitre 3 : </a:t>
            </a:r>
            <a:r>
              <a:rPr lang="fr-FR" sz="20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2000" b="1" dirty="0">
              <a:solidFill>
                <a:schemeClr val="accent6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49" name="object 10"/>
          <p:cNvSpPr txBox="1"/>
          <p:nvPr/>
        </p:nvSpPr>
        <p:spPr>
          <a:xfrm>
            <a:off x="1023284" y="3992043"/>
            <a:ext cx="8077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sz="24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Chapitre 4 : Composants Electroniques de base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22" grpId="0"/>
      <p:bldP spid="30" grpId="0"/>
      <p:bldP spid="37" grpId="0"/>
      <p:bldP spid="47" grpId="0"/>
      <p:bldP spid="48" grpId="0"/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78155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1"/>
                </a:lnTo>
              </a:path>
            </a:pathLst>
          </a:custGeom>
          <a:ln w="254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4657" y="137667"/>
            <a:ext cx="96647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Bookman Old Style" panose="02050604050505020204" pitchFamily="18" charset="0"/>
              </a:rPr>
              <a:t>Pl</a:t>
            </a:r>
            <a:r>
              <a:rPr spc="5" dirty="0">
                <a:latin typeface="Bookman Old Style" panose="02050604050505020204" pitchFamily="18" charset="0"/>
              </a:rPr>
              <a:t>a</a:t>
            </a:r>
            <a:r>
              <a:rPr dirty="0">
                <a:latin typeface="Bookman Old Style" panose="02050604050505020204" pitchFamily="18" charset="0"/>
              </a:rPr>
              <a:t>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854779" y="356344"/>
            <a:ext cx="7149465" cy="156845"/>
            <a:chOff x="1875130" y="356345"/>
            <a:chExt cx="7149465" cy="156845"/>
          </a:xfrm>
          <a:solidFill>
            <a:schemeClr val="accent6">
              <a:lumMod val="75000"/>
            </a:schemeClr>
          </a:solidFill>
        </p:grpSpPr>
        <p:sp>
          <p:nvSpPr>
            <p:cNvPr id="5" name="object 5"/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2778" y="356345"/>
            <a:ext cx="697230" cy="156845"/>
            <a:chOff x="82778" y="356345"/>
            <a:chExt cx="697230" cy="156845"/>
          </a:xfrm>
          <a:solidFill>
            <a:schemeClr val="accent6">
              <a:lumMod val="75000"/>
            </a:schemeClr>
          </a:solidFill>
        </p:grpSpPr>
        <p:sp>
          <p:nvSpPr>
            <p:cNvPr id="8" name="object 8"/>
            <p:cNvSpPr/>
            <p:nvPr/>
          </p:nvSpPr>
          <p:spPr>
            <a:xfrm>
              <a:off x="89128" y="362695"/>
              <a:ext cx="684530" cy="144145"/>
            </a:xfrm>
            <a:custGeom>
              <a:avLst/>
              <a:gdLst/>
              <a:ahLst/>
              <a:cxnLst/>
              <a:rect l="l" t="t" r="r" b="b"/>
              <a:pathLst>
                <a:path w="684530" h="144145">
                  <a:moveTo>
                    <a:pt x="611999" y="0"/>
                  </a:moveTo>
                  <a:lnTo>
                    <a:pt x="72000" y="0"/>
                  </a:lnTo>
                  <a:lnTo>
                    <a:pt x="43974" y="5658"/>
                  </a:lnTo>
                  <a:lnTo>
                    <a:pt x="21088" y="21088"/>
                  </a:lnTo>
                  <a:lnTo>
                    <a:pt x="5658" y="43974"/>
                  </a:lnTo>
                  <a:lnTo>
                    <a:pt x="0" y="71998"/>
                  </a:lnTo>
                  <a:lnTo>
                    <a:pt x="5658" y="100024"/>
                  </a:lnTo>
                  <a:lnTo>
                    <a:pt x="21088" y="122910"/>
                  </a:lnTo>
                  <a:lnTo>
                    <a:pt x="43974" y="138340"/>
                  </a:lnTo>
                  <a:lnTo>
                    <a:pt x="72000" y="143998"/>
                  </a:lnTo>
                  <a:lnTo>
                    <a:pt x="611998" y="144000"/>
                  </a:lnTo>
                  <a:lnTo>
                    <a:pt x="640024" y="138342"/>
                  </a:lnTo>
                  <a:lnTo>
                    <a:pt x="662910" y="122912"/>
                  </a:lnTo>
                  <a:lnTo>
                    <a:pt x="678340" y="100025"/>
                  </a:lnTo>
                  <a:lnTo>
                    <a:pt x="683999" y="72000"/>
                  </a:lnTo>
                  <a:lnTo>
                    <a:pt x="678341" y="43974"/>
                  </a:lnTo>
                  <a:lnTo>
                    <a:pt x="662911" y="21088"/>
                  </a:lnTo>
                  <a:lnTo>
                    <a:pt x="640025" y="5658"/>
                  </a:lnTo>
                  <a:lnTo>
                    <a:pt x="61199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128" y="362695"/>
              <a:ext cx="684530" cy="144145"/>
            </a:xfrm>
            <a:custGeom>
              <a:avLst/>
              <a:gdLst/>
              <a:ahLst/>
              <a:cxnLst/>
              <a:rect l="l" t="t" r="r" b="b"/>
              <a:pathLst>
                <a:path w="684530" h="144145">
                  <a:moveTo>
                    <a:pt x="0" y="72000"/>
                  </a:moveTo>
                  <a:lnTo>
                    <a:pt x="5658" y="43974"/>
                  </a:lnTo>
                  <a:lnTo>
                    <a:pt x="21088" y="21088"/>
                  </a:lnTo>
                  <a:lnTo>
                    <a:pt x="43974" y="5658"/>
                  </a:lnTo>
                  <a:lnTo>
                    <a:pt x="72000" y="0"/>
                  </a:lnTo>
                  <a:lnTo>
                    <a:pt x="611999" y="0"/>
                  </a:lnTo>
                  <a:lnTo>
                    <a:pt x="640025" y="5658"/>
                  </a:lnTo>
                  <a:lnTo>
                    <a:pt x="662911" y="21088"/>
                  </a:lnTo>
                  <a:lnTo>
                    <a:pt x="678341" y="43974"/>
                  </a:lnTo>
                  <a:lnTo>
                    <a:pt x="683999" y="72000"/>
                  </a:lnTo>
                  <a:lnTo>
                    <a:pt x="678340" y="100026"/>
                  </a:lnTo>
                  <a:lnTo>
                    <a:pt x="662910" y="122912"/>
                  </a:lnTo>
                  <a:lnTo>
                    <a:pt x="640024" y="138342"/>
                  </a:lnTo>
                  <a:lnTo>
                    <a:pt x="611998" y="144000"/>
                  </a:lnTo>
                  <a:lnTo>
                    <a:pt x="72000" y="144000"/>
                  </a:lnTo>
                  <a:lnTo>
                    <a:pt x="43974" y="138341"/>
                  </a:lnTo>
                  <a:lnTo>
                    <a:pt x="21088" y="122911"/>
                  </a:lnTo>
                  <a:lnTo>
                    <a:pt x="5658" y="100025"/>
                  </a:lnTo>
                  <a:lnTo>
                    <a:pt x="0" y="71999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46881" y="1509049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894655" y="4851687"/>
            <a:ext cx="2457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868BE146-27EA-FE43-C50C-5A003F633563}"/>
              </a:ext>
            </a:extLst>
          </p:cNvPr>
          <p:cNvSpPr txBox="1"/>
          <p:nvPr/>
        </p:nvSpPr>
        <p:spPr>
          <a:xfrm>
            <a:off x="1905000" y="1065338"/>
            <a:ext cx="62484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0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Chapitre 3 : Filtres Passifs</a:t>
            </a:r>
            <a:endParaRPr sz="2000" dirty="0">
              <a:solidFill>
                <a:srgbClr val="0000FF"/>
              </a:solidFill>
              <a:latin typeface="Bookman Old Style" panose="02050604050505020204" pitchFamily="18" charset="0"/>
              <a:cs typeface="Calibri"/>
            </a:endParaRPr>
          </a:p>
        </p:txBody>
      </p:sp>
      <p:grpSp>
        <p:nvGrpSpPr>
          <p:cNvPr id="18" name="object 11">
            <a:extLst>
              <a:ext uri="{FF2B5EF4-FFF2-40B4-BE49-F238E27FC236}">
                <a16:creationId xmlns:a16="http://schemas.microsoft.com/office/drawing/2014/main" id="{4C0FFD69-3304-CBE2-A2A2-FFDCF696975D}"/>
              </a:ext>
            </a:extLst>
          </p:cNvPr>
          <p:cNvGrpSpPr/>
          <p:nvPr/>
        </p:nvGrpSpPr>
        <p:grpSpPr>
          <a:xfrm>
            <a:off x="1128513" y="884640"/>
            <a:ext cx="500380" cy="802640"/>
            <a:chOff x="482739" y="1033930"/>
            <a:chExt cx="500380" cy="802640"/>
          </a:xfrm>
          <a:solidFill>
            <a:schemeClr val="accent6">
              <a:lumMod val="75000"/>
            </a:schemeClr>
          </a:solidFill>
        </p:grpSpPr>
        <p:sp>
          <p:nvSpPr>
            <p:cNvPr id="19" name="object 12">
              <a:extLst>
                <a:ext uri="{FF2B5EF4-FFF2-40B4-BE49-F238E27FC236}">
                  <a16:creationId xmlns:a16="http://schemas.microsoft.com/office/drawing/2014/main" id="{A7FFF4D5-AC81-E6D7-6415-EC40705A2549}"/>
                </a:ext>
              </a:extLst>
            </p:cNvPr>
            <p:cNvSpPr/>
            <p:nvPr/>
          </p:nvSpPr>
          <p:spPr>
            <a:xfrm>
              <a:off x="491437" y="1072565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8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5"/>
                  </a:lnTo>
                  <a:lnTo>
                    <a:pt x="484086" y="375261"/>
                  </a:lnTo>
                  <a:lnTo>
                    <a:pt x="486466" y="362779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8095066D-595C-6F7E-0B0D-60571A5F1785}"/>
                </a:ext>
              </a:extLst>
            </p:cNvPr>
            <p:cNvSpPr/>
            <p:nvPr/>
          </p:nvSpPr>
          <p:spPr>
            <a:xfrm>
              <a:off x="491437" y="1072565"/>
              <a:ext cx="487045" cy="759460"/>
            </a:xfrm>
            <a:custGeom>
              <a:avLst/>
              <a:gdLst/>
              <a:ahLst/>
              <a:cxnLst/>
              <a:rect l="l" t="t" r="r" b="b"/>
              <a:pathLst>
                <a:path w="487044" h="759460">
                  <a:moveTo>
                    <a:pt x="138049" y="0"/>
                  </a:moveTo>
                  <a:lnTo>
                    <a:pt x="149948" y="30211"/>
                  </a:lnTo>
                  <a:lnTo>
                    <a:pt x="155121" y="65214"/>
                  </a:lnTo>
                  <a:lnTo>
                    <a:pt x="154425" y="104347"/>
                  </a:lnTo>
                  <a:lnTo>
                    <a:pt x="148716" y="146947"/>
                  </a:lnTo>
                  <a:lnTo>
                    <a:pt x="138850" y="192353"/>
                  </a:lnTo>
                  <a:lnTo>
                    <a:pt x="125683" y="239903"/>
                  </a:lnTo>
                  <a:lnTo>
                    <a:pt x="110074" y="288935"/>
                  </a:lnTo>
                  <a:lnTo>
                    <a:pt x="92877" y="338787"/>
                  </a:lnTo>
                  <a:lnTo>
                    <a:pt x="74949" y="388797"/>
                  </a:lnTo>
                  <a:lnTo>
                    <a:pt x="57147" y="438303"/>
                  </a:lnTo>
                  <a:lnTo>
                    <a:pt x="40327" y="486644"/>
                  </a:lnTo>
                  <a:lnTo>
                    <a:pt x="25346" y="533157"/>
                  </a:lnTo>
                  <a:lnTo>
                    <a:pt x="13060" y="577181"/>
                  </a:lnTo>
                  <a:lnTo>
                    <a:pt x="4326" y="618053"/>
                  </a:lnTo>
                  <a:lnTo>
                    <a:pt x="0" y="655113"/>
                  </a:lnTo>
                  <a:lnTo>
                    <a:pt x="938" y="687697"/>
                  </a:lnTo>
                  <a:lnTo>
                    <a:pt x="7997" y="715144"/>
                  </a:lnTo>
                  <a:lnTo>
                    <a:pt x="22033" y="736793"/>
                  </a:lnTo>
                  <a:lnTo>
                    <a:pt x="45876" y="753137"/>
                  </a:lnTo>
                  <a:lnTo>
                    <a:pt x="73289" y="759115"/>
                  </a:lnTo>
                  <a:lnTo>
                    <a:pt x="100535" y="754671"/>
                  </a:lnTo>
                  <a:lnTo>
                    <a:pt x="123879" y="739749"/>
                  </a:lnTo>
                  <a:lnTo>
                    <a:pt x="476946" y="386136"/>
                  </a:lnTo>
                  <a:lnTo>
                    <a:pt x="484086" y="375261"/>
                  </a:lnTo>
                  <a:lnTo>
                    <a:pt x="486466" y="362778"/>
                  </a:lnTo>
                  <a:lnTo>
                    <a:pt x="484086" y="350296"/>
                  </a:lnTo>
                  <a:lnTo>
                    <a:pt x="476946" y="339421"/>
                  </a:lnTo>
                  <a:lnTo>
                    <a:pt x="138049" y="0"/>
                  </a:lnTo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BC4EB03B-CEE7-5557-90F4-17FE1E0CFC97}"/>
                </a:ext>
              </a:extLst>
            </p:cNvPr>
            <p:cNvSpPr/>
            <p:nvPr/>
          </p:nvSpPr>
          <p:spPr>
            <a:xfrm>
              <a:off x="487501" y="1038692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77462" y="0"/>
                  </a:moveTo>
                  <a:lnTo>
                    <a:pt x="25988" y="22240"/>
                  </a:lnTo>
                  <a:lnTo>
                    <a:pt x="1880" y="72863"/>
                  </a:lnTo>
                  <a:lnTo>
                    <a:pt x="0" y="105919"/>
                  </a:lnTo>
                  <a:lnTo>
                    <a:pt x="3709" y="143282"/>
                  </a:lnTo>
                  <a:lnTo>
                    <a:pt x="12116" y="184309"/>
                  </a:lnTo>
                  <a:lnTo>
                    <a:pt x="24326" y="228357"/>
                  </a:lnTo>
                  <a:lnTo>
                    <a:pt x="39446" y="274785"/>
                  </a:lnTo>
                  <a:lnTo>
                    <a:pt x="56582" y="322948"/>
                  </a:lnTo>
                  <a:lnTo>
                    <a:pt x="93332" y="421916"/>
                  </a:lnTo>
                  <a:lnTo>
                    <a:pt x="111157" y="471434"/>
                  </a:lnTo>
                  <a:lnTo>
                    <a:pt x="127425" y="520119"/>
                  </a:lnTo>
                  <a:lnTo>
                    <a:pt x="141242" y="567328"/>
                  </a:lnTo>
                  <a:lnTo>
                    <a:pt x="151715" y="612419"/>
                  </a:lnTo>
                  <a:lnTo>
                    <a:pt x="157950" y="654749"/>
                  </a:lnTo>
                  <a:lnTo>
                    <a:pt x="159054" y="693675"/>
                  </a:lnTo>
                  <a:lnTo>
                    <a:pt x="154133" y="728556"/>
                  </a:lnTo>
                  <a:lnTo>
                    <a:pt x="142294" y="758748"/>
                  </a:lnTo>
                  <a:lnTo>
                    <a:pt x="480882" y="419753"/>
                  </a:lnTo>
                  <a:lnTo>
                    <a:pt x="488022" y="408832"/>
                  </a:lnTo>
                  <a:lnTo>
                    <a:pt x="490402" y="396220"/>
                  </a:lnTo>
                  <a:lnTo>
                    <a:pt x="488022" y="383553"/>
                  </a:lnTo>
                  <a:lnTo>
                    <a:pt x="480882" y="372465"/>
                  </a:lnTo>
                  <a:lnTo>
                    <a:pt x="127830" y="18988"/>
                  </a:lnTo>
                  <a:lnTo>
                    <a:pt x="104569" y="4202"/>
                  </a:lnTo>
                  <a:lnTo>
                    <a:pt x="77462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5">
              <a:extLst>
                <a:ext uri="{FF2B5EF4-FFF2-40B4-BE49-F238E27FC236}">
                  <a16:creationId xmlns:a16="http://schemas.microsoft.com/office/drawing/2014/main" id="{6E5B9C91-1EE7-171E-A074-7186C46C6704}"/>
                </a:ext>
              </a:extLst>
            </p:cNvPr>
            <p:cNvSpPr/>
            <p:nvPr/>
          </p:nvSpPr>
          <p:spPr>
            <a:xfrm>
              <a:off x="487501" y="1038692"/>
              <a:ext cx="490855" cy="758825"/>
            </a:xfrm>
            <a:custGeom>
              <a:avLst/>
              <a:gdLst/>
              <a:ahLst/>
              <a:cxnLst/>
              <a:rect l="l" t="t" r="r" b="b"/>
              <a:pathLst>
                <a:path w="490855" h="758825">
                  <a:moveTo>
                    <a:pt x="142294" y="758749"/>
                  </a:moveTo>
                  <a:lnTo>
                    <a:pt x="154133" y="728556"/>
                  </a:lnTo>
                  <a:lnTo>
                    <a:pt x="159054" y="693676"/>
                  </a:lnTo>
                  <a:lnTo>
                    <a:pt x="157950" y="654749"/>
                  </a:lnTo>
                  <a:lnTo>
                    <a:pt x="151715" y="612420"/>
                  </a:lnTo>
                  <a:lnTo>
                    <a:pt x="141242" y="567329"/>
                  </a:lnTo>
                  <a:lnTo>
                    <a:pt x="127425" y="520120"/>
                  </a:lnTo>
                  <a:lnTo>
                    <a:pt x="111157" y="471435"/>
                  </a:lnTo>
                  <a:lnTo>
                    <a:pt x="93332" y="421916"/>
                  </a:lnTo>
                  <a:lnTo>
                    <a:pt x="74842" y="372207"/>
                  </a:lnTo>
                  <a:lnTo>
                    <a:pt x="56582" y="322949"/>
                  </a:lnTo>
                  <a:lnTo>
                    <a:pt x="39446" y="274785"/>
                  </a:lnTo>
                  <a:lnTo>
                    <a:pt x="24326" y="228358"/>
                  </a:lnTo>
                  <a:lnTo>
                    <a:pt x="12116" y="184310"/>
                  </a:lnTo>
                  <a:lnTo>
                    <a:pt x="3709" y="143283"/>
                  </a:lnTo>
                  <a:lnTo>
                    <a:pt x="0" y="105920"/>
                  </a:lnTo>
                  <a:lnTo>
                    <a:pt x="1880" y="72863"/>
                  </a:lnTo>
                  <a:lnTo>
                    <a:pt x="10245" y="44756"/>
                  </a:lnTo>
                  <a:lnTo>
                    <a:pt x="25988" y="22240"/>
                  </a:lnTo>
                  <a:lnTo>
                    <a:pt x="50078" y="6104"/>
                  </a:lnTo>
                  <a:lnTo>
                    <a:pt x="77462" y="0"/>
                  </a:lnTo>
                  <a:lnTo>
                    <a:pt x="104569" y="4202"/>
                  </a:lnTo>
                  <a:lnTo>
                    <a:pt x="127830" y="18989"/>
                  </a:lnTo>
                  <a:lnTo>
                    <a:pt x="480882" y="372466"/>
                  </a:lnTo>
                  <a:lnTo>
                    <a:pt x="488022" y="383553"/>
                  </a:lnTo>
                  <a:lnTo>
                    <a:pt x="490402" y="396220"/>
                  </a:lnTo>
                  <a:lnTo>
                    <a:pt x="488022" y="408832"/>
                  </a:lnTo>
                  <a:lnTo>
                    <a:pt x="480882" y="419753"/>
                  </a:lnTo>
                  <a:lnTo>
                    <a:pt x="142294" y="758749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16">
            <a:extLst>
              <a:ext uri="{FF2B5EF4-FFF2-40B4-BE49-F238E27FC236}">
                <a16:creationId xmlns:a16="http://schemas.microsoft.com/office/drawing/2014/main" id="{2660D9D2-E990-F002-5923-B43CDEFE0473}"/>
              </a:ext>
            </a:extLst>
          </p:cNvPr>
          <p:cNvSpPr txBox="1"/>
          <p:nvPr/>
        </p:nvSpPr>
        <p:spPr>
          <a:xfrm>
            <a:off x="1260315" y="1009457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chemeClr val="bg1"/>
                </a:solidFill>
                <a:latin typeface="Arial"/>
                <a:cs typeface="Arial"/>
              </a:rPr>
              <a:t>3</a:t>
            </a:r>
            <a:endParaRPr sz="2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6" name="ZoneTexte 22">
            <a:extLst>
              <a:ext uri="{FF2B5EF4-FFF2-40B4-BE49-F238E27FC236}">
                <a16:creationId xmlns:a16="http://schemas.microsoft.com/office/drawing/2014/main" id="{63D39554-BCBC-8BC3-E6FB-ECFC52B95347}"/>
              </a:ext>
            </a:extLst>
          </p:cNvPr>
          <p:cNvSpPr txBox="1"/>
          <p:nvPr/>
        </p:nvSpPr>
        <p:spPr>
          <a:xfrm>
            <a:off x="1624130" y="1570606"/>
            <a:ext cx="62834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latin typeface="Bookman Old Style" panose="02050604050505020204" pitchFamily="18" charset="0"/>
              </a:rPr>
              <a:t>Introduction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latin typeface="Bookman Old Style" panose="02050604050505020204" pitchFamily="18" charset="0"/>
              </a:rPr>
              <a:t>Notion de fonction de transfert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latin typeface="Bookman Old Style" panose="02050604050505020204" pitchFamily="18" charset="0"/>
              </a:rPr>
              <a:t>Diagramme de Bode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latin typeface="Bookman Old Style" panose="02050604050505020204" pitchFamily="18" charset="0"/>
              </a:rPr>
              <a:t>Principaux types de filtres passifs</a:t>
            </a:r>
          </a:p>
        </p:txBody>
      </p:sp>
    </p:spTree>
    <p:extLst>
      <p:ext uri="{BB962C8B-B14F-4D97-AF65-F5344CB8AC3E}">
        <p14:creationId xmlns:p14="http://schemas.microsoft.com/office/powerpoint/2010/main" val="89713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631211" y="4824469"/>
            <a:ext cx="2457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2101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93065" lvl="1" indent="-3810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Introduction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B077F48-679D-86C4-FD3C-E4A3B1D22088}"/>
              </a:ext>
            </a:extLst>
          </p:cNvPr>
          <p:cNvSpPr txBox="1"/>
          <p:nvPr/>
        </p:nvSpPr>
        <p:spPr>
          <a:xfrm>
            <a:off x="341174" y="968249"/>
            <a:ext cx="86695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dirty="0">
                <a:latin typeface="Bookman Old Style" panose="02050604050505020204" pitchFamily="18" charset="0"/>
              </a:rPr>
              <a:t>Avant d'aborder les </a:t>
            </a:r>
            <a:r>
              <a:rPr lang="fr-FR" b="1" dirty="0">
                <a:latin typeface="Bookman Old Style" panose="02050604050505020204" pitchFamily="18" charset="0"/>
              </a:rPr>
              <a:t>filtres</a:t>
            </a:r>
            <a:r>
              <a:rPr lang="fr-FR" dirty="0">
                <a:latin typeface="Bookman Old Style" panose="02050604050505020204" pitchFamily="18" charset="0"/>
              </a:rPr>
              <a:t>, il est essentiel de définir la </a:t>
            </a:r>
            <a:r>
              <a:rPr lang="fr-FR" b="1" dirty="0">
                <a:latin typeface="Bookman Old Style" panose="02050604050505020204" pitchFamily="18" charset="0"/>
              </a:rPr>
              <a:t>fonction de transfert </a:t>
            </a:r>
            <a:r>
              <a:rPr lang="fr-FR" dirty="0">
                <a:latin typeface="Bookman Old Style" panose="02050604050505020204" pitchFamily="18" charset="0"/>
              </a:rPr>
              <a:t>et le </a:t>
            </a:r>
            <a:r>
              <a:rPr lang="fr-FR" b="1" dirty="0">
                <a:latin typeface="Bookman Old Style" panose="02050604050505020204" pitchFamily="18" charset="0"/>
              </a:rPr>
              <a:t>diagramme de Bode</a:t>
            </a:r>
            <a:r>
              <a:rPr lang="fr-FR" dirty="0">
                <a:latin typeface="Bookman Old Style" panose="02050604050505020204" pitchFamily="18" charset="0"/>
              </a:rPr>
              <a:t>. Ces concepts fondamentaux fourniront une base solide pour comprendre le fonctionnement des filtres par la suite.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46D0DC2-2E69-3F3A-BCC5-490786037CCC}"/>
              </a:ext>
            </a:extLst>
          </p:cNvPr>
          <p:cNvSpPr/>
          <p:nvPr/>
        </p:nvSpPr>
        <p:spPr>
          <a:xfrm>
            <a:off x="1716811" y="2564466"/>
            <a:ext cx="1870744" cy="949610"/>
          </a:xfrm>
          <a:prstGeom prst="roundRect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93E13F-995B-9AF8-D0B8-795D83D89B04}"/>
              </a:ext>
            </a:extLst>
          </p:cNvPr>
          <p:cNvSpPr txBox="1"/>
          <p:nvPr/>
        </p:nvSpPr>
        <p:spPr>
          <a:xfrm>
            <a:off x="1774835" y="2698102"/>
            <a:ext cx="1754697" cy="644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Bookman Old Style" panose="02050604050505020204" pitchFamily="18" charset="0"/>
              </a:rPr>
              <a:t>Fonction de Transfert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69053B8-3BB2-3BE4-E449-A96D242B3882}"/>
              </a:ext>
            </a:extLst>
          </p:cNvPr>
          <p:cNvSpPr/>
          <p:nvPr/>
        </p:nvSpPr>
        <p:spPr>
          <a:xfrm>
            <a:off x="3545611" y="3967648"/>
            <a:ext cx="2042470" cy="844762"/>
          </a:xfrm>
          <a:prstGeom prst="roundRect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381724-4716-2592-B0FF-178E49C1E6D8}"/>
              </a:ext>
            </a:extLst>
          </p:cNvPr>
          <p:cNvSpPr txBox="1"/>
          <p:nvPr/>
        </p:nvSpPr>
        <p:spPr>
          <a:xfrm>
            <a:off x="3698011" y="4168336"/>
            <a:ext cx="1754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Bookman Old Style" panose="02050604050505020204" pitchFamily="18" charset="0"/>
              </a:rPr>
              <a:t>Filtres 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634F564-6043-FE94-AAA8-43D08FD98750}"/>
              </a:ext>
            </a:extLst>
          </p:cNvPr>
          <p:cNvSpPr/>
          <p:nvPr/>
        </p:nvSpPr>
        <p:spPr>
          <a:xfrm>
            <a:off x="5604859" y="2564466"/>
            <a:ext cx="1870744" cy="949610"/>
          </a:xfrm>
          <a:prstGeom prst="roundRect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206476-4C6B-1577-5F96-6B9C9FF06F73}"/>
              </a:ext>
            </a:extLst>
          </p:cNvPr>
          <p:cNvSpPr txBox="1"/>
          <p:nvPr/>
        </p:nvSpPr>
        <p:spPr>
          <a:xfrm>
            <a:off x="5680359" y="2734101"/>
            <a:ext cx="1754697" cy="644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Bookman Old Style" panose="02050604050505020204" pitchFamily="18" charset="0"/>
              </a:rPr>
              <a:t>Diagramme de Bode</a:t>
            </a:r>
          </a:p>
        </p:txBody>
      </p:sp>
      <p:sp>
        <p:nvSpPr>
          <p:cNvPr id="31" name="Arrow: Left-Up 30">
            <a:extLst>
              <a:ext uri="{FF2B5EF4-FFF2-40B4-BE49-F238E27FC236}">
                <a16:creationId xmlns:a16="http://schemas.microsoft.com/office/drawing/2014/main" id="{8A671FFD-CC9B-4CB2-804E-102B8D7D3C00}"/>
              </a:ext>
            </a:extLst>
          </p:cNvPr>
          <p:cNvSpPr/>
          <p:nvPr/>
        </p:nvSpPr>
        <p:spPr>
          <a:xfrm>
            <a:off x="5907811" y="3740417"/>
            <a:ext cx="556825" cy="546268"/>
          </a:xfrm>
          <a:prstGeom prst="left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Arrow: Left-Right-Up 32">
            <a:extLst>
              <a:ext uri="{FF2B5EF4-FFF2-40B4-BE49-F238E27FC236}">
                <a16:creationId xmlns:a16="http://schemas.microsoft.com/office/drawing/2014/main" id="{F8DD77FD-E2A0-7246-5F90-E338E843E644}"/>
              </a:ext>
            </a:extLst>
          </p:cNvPr>
          <p:cNvSpPr/>
          <p:nvPr/>
        </p:nvSpPr>
        <p:spPr>
          <a:xfrm rot="10800000">
            <a:off x="4062807" y="2826317"/>
            <a:ext cx="1066800" cy="814229"/>
          </a:xfrm>
          <a:prstGeom prst="leftRight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Arrow: Left-Up 33">
            <a:extLst>
              <a:ext uri="{FF2B5EF4-FFF2-40B4-BE49-F238E27FC236}">
                <a16:creationId xmlns:a16="http://schemas.microsoft.com/office/drawing/2014/main" id="{115E0281-A053-227C-7B9D-904D0FC19283}"/>
              </a:ext>
            </a:extLst>
          </p:cNvPr>
          <p:cNvSpPr/>
          <p:nvPr/>
        </p:nvSpPr>
        <p:spPr>
          <a:xfrm rot="5400000">
            <a:off x="2674335" y="3652991"/>
            <a:ext cx="556825" cy="546268"/>
          </a:xfrm>
          <a:prstGeom prst="left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7389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498049" y="4824173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3043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2.</a:t>
            </a:r>
            <a:r>
              <a:rPr lang="fr-FR" dirty="0"/>
              <a:t> </a:t>
            </a: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Fonction de transfert</a:t>
            </a: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9B7F2608-BFC5-DAEB-3B66-DD834CA101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13" name="object 6">
            <a:extLst>
              <a:ext uri="{FF2B5EF4-FFF2-40B4-BE49-F238E27FC236}">
                <a16:creationId xmlns:a16="http://schemas.microsoft.com/office/drawing/2014/main" id="{D4A363AF-9F7A-B0CC-9DB7-3DCA63A857EA}"/>
              </a:ext>
            </a:extLst>
          </p:cNvPr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8B182422-A024-F818-4642-344B878E563D}"/>
                </a:ext>
              </a:extLst>
            </p:cNvPr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8">
              <a:extLst>
                <a:ext uri="{FF2B5EF4-FFF2-40B4-BE49-F238E27FC236}">
                  <a16:creationId xmlns:a16="http://schemas.microsoft.com/office/drawing/2014/main" id="{5195100A-9B2D-66CF-96CF-A563AD360835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9">
              <a:extLst>
                <a:ext uri="{FF2B5EF4-FFF2-40B4-BE49-F238E27FC236}">
                  <a16:creationId xmlns:a16="http://schemas.microsoft.com/office/drawing/2014/main" id="{02A0C782-D449-C5FA-30B2-178EBD49EB16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0">
            <a:extLst>
              <a:ext uri="{FF2B5EF4-FFF2-40B4-BE49-F238E27FC236}">
                <a16:creationId xmlns:a16="http://schemas.microsoft.com/office/drawing/2014/main" id="{1429BCD9-219D-FD00-7B78-7B2B289706F4}"/>
              </a:ext>
            </a:extLst>
          </p:cNvPr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25" name="object 4">
            <a:extLst>
              <a:ext uri="{FF2B5EF4-FFF2-40B4-BE49-F238E27FC236}">
                <a16:creationId xmlns:a16="http://schemas.microsoft.com/office/drawing/2014/main" id="{6E023D1E-AC77-0C26-A30C-B8F1E0F3D075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26" name="object 5">
              <a:extLst>
                <a:ext uri="{FF2B5EF4-FFF2-40B4-BE49-F238E27FC236}">
                  <a16:creationId xmlns:a16="http://schemas.microsoft.com/office/drawing/2014/main" id="{DD1194F6-82CE-86E6-9CF8-116D781E6FED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6">
              <a:extLst>
                <a:ext uri="{FF2B5EF4-FFF2-40B4-BE49-F238E27FC236}">
                  <a16:creationId xmlns:a16="http://schemas.microsoft.com/office/drawing/2014/main" id="{33A8FD56-644A-B677-633F-5BB19DB9731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Rectangle à coins arrondis 9">
            <a:extLst>
              <a:ext uri="{FF2B5EF4-FFF2-40B4-BE49-F238E27FC236}">
                <a16:creationId xmlns:a16="http://schemas.microsoft.com/office/drawing/2014/main" id="{4443D1C3-3D29-2F4B-27DD-4546B6EC56C7}"/>
              </a:ext>
            </a:extLst>
          </p:cNvPr>
          <p:cNvSpPr/>
          <p:nvPr/>
        </p:nvSpPr>
        <p:spPr>
          <a:xfrm>
            <a:off x="365775" y="1200150"/>
            <a:ext cx="8703430" cy="80530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9C48A-DE73-7A25-EE69-376B95771AE3}"/>
              </a:ext>
            </a:extLst>
          </p:cNvPr>
          <p:cNvSpPr txBox="1"/>
          <p:nvPr/>
        </p:nvSpPr>
        <p:spPr>
          <a:xfrm>
            <a:off x="413434" y="1278670"/>
            <a:ext cx="8620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</a:rPr>
              <a:t>La </a:t>
            </a:r>
            <a:r>
              <a:rPr lang="fr-FR" b="1" dirty="0">
                <a:latin typeface="Bookman Old Style" panose="02050604050505020204" pitchFamily="18" charset="0"/>
              </a:rPr>
              <a:t>fonction de transfert </a:t>
            </a:r>
            <a:r>
              <a:rPr lang="fr-FR" dirty="0">
                <a:latin typeface="Bookman Old Style" panose="02050604050505020204" pitchFamily="18" charset="0"/>
              </a:rPr>
              <a:t>ou</a:t>
            </a:r>
            <a:r>
              <a:rPr lang="fr-FR" b="1" dirty="0">
                <a:latin typeface="Bookman Old Style" panose="02050604050505020204" pitchFamily="18" charset="0"/>
              </a:rPr>
              <a:t> Transmittance d’un filtre </a:t>
            </a:r>
            <a:r>
              <a:rPr lang="fr-FR" dirty="0">
                <a:latin typeface="Bookman Old Style" panose="02050604050505020204" pitchFamily="18" charset="0"/>
              </a:rPr>
              <a:t>est le modèle mathématique de la relation entre </a:t>
            </a:r>
            <a:r>
              <a:rPr lang="fr-FR" b="1" dirty="0">
                <a:latin typeface="Bookman Old Style" panose="02050604050505020204" pitchFamily="18" charset="0"/>
              </a:rPr>
              <a:t>l'entrée</a:t>
            </a:r>
            <a:r>
              <a:rPr lang="fr-FR" dirty="0">
                <a:latin typeface="Bookman Old Style" panose="02050604050505020204" pitchFamily="18" charset="0"/>
              </a:rPr>
              <a:t> et la </a:t>
            </a:r>
            <a:r>
              <a:rPr lang="fr-FR" b="1" dirty="0">
                <a:latin typeface="Bookman Old Style" panose="02050604050505020204" pitchFamily="18" charset="0"/>
              </a:rPr>
              <a:t>sortie</a:t>
            </a:r>
            <a:r>
              <a:rPr lang="fr-FR" dirty="0">
                <a:latin typeface="Bookman Old Style" panose="02050604050505020204" pitchFamily="18" charset="0"/>
              </a:rPr>
              <a:t> de ce  </a:t>
            </a:r>
            <a:r>
              <a:rPr lang="fr-FR" b="1" spc="-5" dirty="0">
                <a:latin typeface="Bookman Old Style" panose="02050604050505020204" pitchFamily="18" charset="0"/>
                <a:cs typeface="Arial"/>
              </a:rPr>
              <a:t>filtre.</a:t>
            </a:r>
          </a:p>
          <a:p>
            <a:pPr algn="just"/>
            <a:endParaRPr lang="fr-FR" b="1" spc="-5" dirty="0">
              <a:latin typeface="Bookman Old Style" panose="02050604050505020204" pitchFamily="18" charset="0"/>
              <a:cs typeface="Arial"/>
            </a:endParaRPr>
          </a:p>
          <a:p>
            <a:pPr algn="just"/>
            <a:endParaRPr lang="fr-FR" b="1" dirty="0"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2C08B-D341-E4DE-FF66-062E7B04E9E1}"/>
              </a:ext>
            </a:extLst>
          </p:cNvPr>
          <p:cNvSpPr txBox="1"/>
          <p:nvPr/>
        </p:nvSpPr>
        <p:spPr>
          <a:xfrm>
            <a:off x="550646" y="3827604"/>
            <a:ext cx="79217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latin typeface="Bookman Old Style" panose="02050604050505020204" pitchFamily="18" charset="0"/>
              </a:rPr>
              <a:t>H(j ω ) = Vs ( j ω )/ Ve ( j ω ) </a:t>
            </a:r>
          </a:p>
          <a:p>
            <a:endParaRPr lang="fr-FR" sz="1600" b="1" dirty="0">
              <a:latin typeface="Bookman Old Style" panose="02050604050505020204" pitchFamily="18" charset="0"/>
            </a:endParaRPr>
          </a:p>
          <a:p>
            <a:r>
              <a:rPr lang="fr-FR" sz="1600" b="1" dirty="0">
                <a:latin typeface="Bookman Old Style" panose="02050604050505020204" pitchFamily="18" charset="0"/>
              </a:rPr>
              <a:t>Vs ( j ω ): </a:t>
            </a:r>
            <a:r>
              <a:rPr lang="fr-FR" sz="1600" dirty="0">
                <a:latin typeface="Bookman Old Style" panose="02050604050505020204" pitchFamily="18" charset="0"/>
              </a:rPr>
              <a:t>est le signal </a:t>
            </a:r>
            <a:r>
              <a:rPr lang="fr-FR" sz="1600" b="1" dirty="0">
                <a:latin typeface="Bookman Old Style" panose="02050604050505020204" pitchFamily="18" charset="0"/>
              </a:rPr>
              <a:t>en sortie du filtre </a:t>
            </a:r>
          </a:p>
          <a:p>
            <a:endParaRPr lang="fr-FR" sz="1600" b="1" dirty="0">
              <a:latin typeface="Bookman Old Style" panose="02050604050505020204" pitchFamily="18" charset="0"/>
            </a:endParaRPr>
          </a:p>
          <a:p>
            <a:r>
              <a:rPr lang="fr-FR" sz="1600" b="1" dirty="0">
                <a:latin typeface="Bookman Old Style" panose="02050604050505020204" pitchFamily="18" charset="0"/>
              </a:rPr>
              <a:t>Ve ( j ω ): </a:t>
            </a:r>
            <a:r>
              <a:rPr lang="fr-FR" sz="1600" dirty="0">
                <a:latin typeface="Bookman Old Style" panose="02050604050505020204" pitchFamily="18" charset="0"/>
              </a:rPr>
              <a:t>est le signal à </a:t>
            </a:r>
            <a:r>
              <a:rPr lang="fr-FR" sz="1600" b="1" dirty="0">
                <a:latin typeface="Bookman Old Style" panose="02050604050505020204" pitchFamily="18" charset="0"/>
              </a:rPr>
              <a:t>l’entrée du filtre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3862C5-D476-DA3E-F1F7-CAB34561B3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005451"/>
            <a:ext cx="5638800" cy="182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808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à coins arrondis 6">
            <a:extLst>
              <a:ext uri="{FF2B5EF4-FFF2-40B4-BE49-F238E27FC236}">
                <a16:creationId xmlns:a16="http://schemas.microsoft.com/office/drawing/2014/main" id="{C965352E-90B5-6684-09C5-2F45021841C6}"/>
              </a:ext>
            </a:extLst>
          </p:cNvPr>
          <p:cNvSpPr/>
          <p:nvPr/>
        </p:nvSpPr>
        <p:spPr>
          <a:xfrm>
            <a:off x="2590800" y="2412730"/>
            <a:ext cx="3429000" cy="61622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sp>
        <p:nvSpPr>
          <p:cNvPr id="46" name="object 46"/>
          <p:cNvSpPr txBox="1"/>
          <p:nvPr/>
        </p:nvSpPr>
        <p:spPr>
          <a:xfrm>
            <a:off x="8498049" y="4824173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3043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2.</a:t>
            </a:r>
            <a:r>
              <a:rPr lang="fr-FR" dirty="0"/>
              <a:t> </a:t>
            </a: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Fonction de transfert</a:t>
            </a: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9B7F2608-BFC5-DAEB-3B66-DD834CA101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13" name="object 6">
            <a:extLst>
              <a:ext uri="{FF2B5EF4-FFF2-40B4-BE49-F238E27FC236}">
                <a16:creationId xmlns:a16="http://schemas.microsoft.com/office/drawing/2014/main" id="{D4A363AF-9F7A-B0CC-9DB7-3DCA63A857EA}"/>
              </a:ext>
            </a:extLst>
          </p:cNvPr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8B182422-A024-F818-4642-344B878E563D}"/>
                </a:ext>
              </a:extLst>
            </p:cNvPr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8">
              <a:extLst>
                <a:ext uri="{FF2B5EF4-FFF2-40B4-BE49-F238E27FC236}">
                  <a16:creationId xmlns:a16="http://schemas.microsoft.com/office/drawing/2014/main" id="{5195100A-9B2D-66CF-96CF-A563AD360835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9">
              <a:extLst>
                <a:ext uri="{FF2B5EF4-FFF2-40B4-BE49-F238E27FC236}">
                  <a16:creationId xmlns:a16="http://schemas.microsoft.com/office/drawing/2014/main" id="{02A0C782-D449-C5FA-30B2-178EBD49EB16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0">
            <a:extLst>
              <a:ext uri="{FF2B5EF4-FFF2-40B4-BE49-F238E27FC236}">
                <a16:creationId xmlns:a16="http://schemas.microsoft.com/office/drawing/2014/main" id="{1429BCD9-219D-FD00-7B78-7B2B289706F4}"/>
              </a:ext>
            </a:extLst>
          </p:cNvPr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25" name="object 4">
            <a:extLst>
              <a:ext uri="{FF2B5EF4-FFF2-40B4-BE49-F238E27FC236}">
                <a16:creationId xmlns:a16="http://schemas.microsoft.com/office/drawing/2014/main" id="{6E023D1E-AC77-0C26-A30C-B8F1E0F3D075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26" name="object 5">
              <a:extLst>
                <a:ext uri="{FF2B5EF4-FFF2-40B4-BE49-F238E27FC236}">
                  <a16:creationId xmlns:a16="http://schemas.microsoft.com/office/drawing/2014/main" id="{DD1194F6-82CE-86E6-9CF8-116D781E6FED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6">
              <a:extLst>
                <a:ext uri="{FF2B5EF4-FFF2-40B4-BE49-F238E27FC236}">
                  <a16:creationId xmlns:a16="http://schemas.microsoft.com/office/drawing/2014/main" id="{33A8FD56-644A-B677-633F-5BB19DB9731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Rectangle à coins arrondis 9">
            <a:extLst>
              <a:ext uri="{FF2B5EF4-FFF2-40B4-BE49-F238E27FC236}">
                <a16:creationId xmlns:a16="http://schemas.microsoft.com/office/drawing/2014/main" id="{4443D1C3-3D29-2F4B-27DD-4546B6EC56C7}"/>
              </a:ext>
            </a:extLst>
          </p:cNvPr>
          <p:cNvSpPr/>
          <p:nvPr/>
        </p:nvSpPr>
        <p:spPr>
          <a:xfrm>
            <a:off x="365776" y="1200150"/>
            <a:ext cx="8620378" cy="93180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9C48A-DE73-7A25-EE69-376B95771AE3}"/>
              </a:ext>
            </a:extLst>
          </p:cNvPr>
          <p:cNvSpPr txBox="1"/>
          <p:nvPr/>
        </p:nvSpPr>
        <p:spPr>
          <a:xfrm>
            <a:off x="422878" y="1069673"/>
            <a:ext cx="8620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fr-FR" b="1" spc="-5" dirty="0">
              <a:latin typeface="Bookman Old Style" panose="02050604050505020204" pitchFamily="18" charset="0"/>
              <a:cs typeface="Arial"/>
            </a:endParaRP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La </a:t>
            </a:r>
            <a:r>
              <a:rPr lang="fr-FR" b="1" dirty="0">
                <a:latin typeface="Bookman Old Style" panose="02050604050505020204" pitchFamily="18" charset="0"/>
              </a:rPr>
              <a:t>fonction de transfert </a:t>
            </a:r>
            <a:r>
              <a:rPr lang="fr-FR" dirty="0">
                <a:latin typeface="Bookman Old Style" panose="02050604050505020204" pitchFamily="18" charset="0"/>
              </a:rPr>
              <a:t>d’un </a:t>
            </a:r>
            <a:r>
              <a:rPr lang="fr-FR" b="1" dirty="0">
                <a:latin typeface="Bookman Old Style" panose="02050604050505020204" pitchFamily="18" charset="0"/>
              </a:rPr>
              <a:t>filtre</a:t>
            </a:r>
            <a:r>
              <a:rPr lang="fr-FR" dirty="0">
                <a:latin typeface="Bookman Old Style" panose="02050604050505020204" pitchFamily="18" charset="0"/>
              </a:rPr>
              <a:t> s’écrit avec les </a:t>
            </a:r>
            <a:r>
              <a:rPr lang="fr-FR" b="1" dirty="0">
                <a:latin typeface="Bookman Old Style" panose="02050604050505020204" pitchFamily="18" charset="0"/>
              </a:rPr>
              <a:t>notations complexes</a:t>
            </a:r>
            <a:r>
              <a:rPr lang="fr-FR" dirty="0">
                <a:latin typeface="Bookman Old Style" panose="02050604050505020204" pitchFamily="18" charset="0"/>
              </a:rPr>
              <a:t> </a:t>
            </a:r>
            <a:r>
              <a:rPr lang="fr-FR" b="1" dirty="0">
                <a:latin typeface="Bookman Old Style" panose="02050604050505020204" pitchFamily="18" charset="0"/>
              </a:rPr>
              <a:t>(</a:t>
            </a:r>
            <a:r>
              <a:rPr lang="fr-FR" b="1" dirty="0" err="1">
                <a:latin typeface="Bookman Old Style" panose="02050604050505020204" pitchFamily="18" charset="0"/>
              </a:rPr>
              <a:t>j</a:t>
            </a:r>
            <a:r>
              <a:rPr lang="fr-FR" b="1" i="1" dirty="0" err="1">
                <a:latin typeface="Bookman Old Style" panose="02050604050505020204" pitchFamily="18" charset="0"/>
              </a:rPr>
              <a:t>w</a:t>
            </a:r>
            <a:r>
              <a:rPr lang="fr-FR" b="1" dirty="0">
                <a:latin typeface="Bookman Old Style" panose="02050604050505020204" pitchFamily="18" charset="0"/>
              </a:rPr>
              <a:t>) </a:t>
            </a:r>
            <a:r>
              <a:rPr lang="fr-FR" dirty="0">
                <a:latin typeface="Bookman Old Style" panose="02050604050505020204" pitchFamily="18" charset="0"/>
              </a:rPr>
              <a:t>ou de </a:t>
            </a:r>
            <a:r>
              <a:rPr lang="fr-FR" b="1" dirty="0">
                <a:latin typeface="Bookman Old Style" panose="02050604050505020204" pitchFamily="18" charset="0"/>
              </a:rPr>
              <a:t>Laplace</a:t>
            </a:r>
            <a:r>
              <a:rPr lang="fr-FR" dirty="0">
                <a:latin typeface="Bookman Old Style" panose="02050604050505020204" pitchFamily="18" charset="0"/>
              </a:rPr>
              <a:t> (</a:t>
            </a:r>
            <a:r>
              <a:rPr lang="fr-FR" b="1" dirty="0">
                <a:latin typeface="Bookman Old Style" panose="02050604050505020204" pitchFamily="18" charset="0"/>
              </a:rPr>
              <a:t>p</a:t>
            </a:r>
            <a:r>
              <a:rPr lang="fr-FR" dirty="0">
                <a:latin typeface="Bookman Old Style" panose="02050604050505020204" pitchFamily="18" charset="0"/>
              </a:rPr>
              <a:t>), comme le rapport de deux polynômes : </a:t>
            </a:r>
          </a:p>
          <a:p>
            <a:pPr algn="just"/>
            <a:endParaRPr lang="fr-FR" b="1" dirty="0">
              <a:latin typeface="Bookman Old Style" panose="02050604050505020204" pitchFamily="18" charset="0"/>
            </a:endParaRPr>
          </a:p>
        </p:txBody>
      </p:sp>
      <p:sp>
        <p:nvSpPr>
          <p:cNvPr id="36" name="Rectangle à coins arrondis 6">
            <a:extLst>
              <a:ext uri="{FF2B5EF4-FFF2-40B4-BE49-F238E27FC236}">
                <a16:creationId xmlns:a16="http://schemas.microsoft.com/office/drawing/2014/main" id="{44535353-C4CF-93AA-503F-DEA8C78DCFA1}"/>
              </a:ext>
            </a:extLst>
          </p:cNvPr>
          <p:cNvSpPr/>
          <p:nvPr/>
        </p:nvSpPr>
        <p:spPr>
          <a:xfrm>
            <a:off x="2133600" y="3409950"/>
            <a:ext cx="4500594" cy="100013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graphicFrame>
        <p:nvGraphicFramePr>
          <p:cNvPr id="37" name="Object 1">
            <a:extLst>
              <a:ext uri="{FF2B5EF4-FFF2-40B4-BE49-F238E27FC236}">
                <a16:creationId xmlns:a16="http://schemas.microsoft.com/office/drawing/2014/main" id="{86C5FDEC-3AF9-D760-9ED8-42B0F2344F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609539"/>
              </p:ext>
            </p:extLst>
          </p:nvPr>
        </p:nvGraphicFramePr>
        <p:xfrm>
          <a:off x="2347914" y="3481388"/>
          <a:ext cx="4103532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49500" imgH="406400" progId="">
                  <p:embed/>
                </p:oleObj>
              </mc:Choice>
              <mc:Fallback>
                <p:oleObj r:id="rId3" imgW="2349500" imgH="406400" progId="">
                  <p:embed/>
                  <p:pic>
                    <p:nvPicPr>
                      <p:cNvPr id="204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7914" y="3481388"/>
                        <a:ext cx="4103532" cy="71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0BFCBAE2-9C7E-7FF9-CF24-0AA553FA7199}"/>
              </a:ext>
            </a:extLst>
          </p:cNvPr>
          <p:cNvSpPr txBox="1"/>
          <p:nvPr/>
        </p:nvSpPr>
        <p:spPr>
          <a:xfrm>
            <a:off x="2696955" y="251308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latin typeface="Bookman Old Style" panose="02050604050505020204" pitchFamily="18" charset="0"/>
              </a:rPr>
              <a:t>H(j ω ) = Vs ( j ω )/Ve ( j ω ) </a:t>
            </a:r>
          </a:p>
        </p:txBody>
      </p:sp>
    </p:spTree>
    <p:extLst>
      <p:ext uri="{BB962C8B-B14F-4D97-AF65-F5344CB8AC3E}">
        <p14:creationId xmlns:p14="http://schemas.microsoft.com/office/powerpoint/2010/main" val="617357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498049" y="4824173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7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3043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2.</a:t>
            </a:r>
            <a:r>
              <a:rPr lang="fr-FR" dirty="0"/>
              <a:t> </a:t>
            </a: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Fonction de transfert</a:t>
            </a: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9B7F2608-BFC5-DAEB-3B66-DD834CA101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13" name="object 6">
            <a:extLst>
              <a:ext uri="{FF2B5EF4-FFF2-40B4-BE49-F238E27FC236}">
                <a16:creationId xmlns:a16="http://schemas.microsoft.com/office/drawing/2014/main" id="{D4A363AF-9F7A-B0CC-9DB7-3DCA63A857EA}"/>
              </a:ext>
            </a:extLst>
          </p:cNvPr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8B182422-A024-F818-4642-344B878E563D}"/>
                </a:ext>
              </a:extLst>
            </p:cNvPr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8">
              <a:extLst>
                <a:ext uri="{FF2B5EF4-FFF2-40B4-BE49-F238E27FC236}">
                  <a16:creationId xmlns:a16="http://schemas.microsoft.com/office/drawing/2014/main" id="{5195100A-9B2D-66CF-96CF-A563AD360835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9">
              <a:extLst>
                <a:ext uri="{FF2B5EF4-FFF2-40B4-BE49-F238E27FC236}">
                  <a16:creationId xmlns:a16="http://schemas.microsoft.com/office/drawing/2014/main" id="{02A0C782-D449-C5FA-30B2-178EBD49EB16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0">
            <a:extLst>
              <a:ext uri="{FF2B5EF4-FFF2-40B4-BE49-F238E27FC236}">
                <a16:creationId xmlns:a16="http://schemas.microsoft.com/office/drawing/2014/main" id="{1429BCD9-219D-FD00-7B78-7B2B289706F4}"/>
              </a:ext>
            </a:extLst>
          </p:cNvPr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25" name="object 4">
            <a:extLst>
              <a:ext uri="{FF2B5EF4-FFF2-40B4-BE49-F238E27FC236}">
                <a16:creationId xmlns:a16="http://schemas.microsoft.com/office/drawing/2014/main" id="{6E023D1E-AC77-0C26-A30C-B8F1E0F3D075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26" name="object 5">
              <a:extLst>
                <a:ext uri="{FF2B5EF4-FFF2-40B4-BE49-F238E27FC236}">
                  <a16:creationId xmlns:a16="http://schemas.microsoft.com/office/drawing/2014/main" id="{DD1194F6-82CE-86E6-9CF8-116D781E6FED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6">
              <a:extLst>
                <a:ext uri="{FF2B5EF4-FFF2-40B4-BE49-F238E27FC236}">
                  <a16:creationId xmlns:a16="http://schemas.microsoft.com/office/drawing/2014/main" id="{33A8FD56-644A-B677-633F-5BB19DB9731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Rectangle à coins arrondis 9">
            <a:extLst>
              <a:ext uri="{FF2B5EF4-FFF2-40B4-BE49-F238E27FC236}">
                <a16:creationId xmlns:a16="http://schemas.microsoft.com/office/drawing/2014/main" id="{4443D1C3-3D29-2F4B-27DD-4546B6EC56C7}"/>
              </a:ext>
            </a:extLst>
          </p:cNvPr>
          <p:cNvSpPr/>
          <p:nvPr/>
        </p:nvSpPr>
        <p:spPr>
          <a:xfrm>
            <a:off x="365775" y="1037652"/>
            <a:ext cx="8677481" cy="30252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9C48A-DE73-7A25-EE69-376B95771AE3}"/>
              </a:ext>
            </a:extLst>
          </p:cNvPr>
          <p:cNvSpPr txBox="1"/>
          <p:nvPr/>
        </p:nvSpPr>
        <p:spPr>
          <a:xfrm>
            <a:off x="436616" y="1211193"/>
            <a:ext cx="8318539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1600" dirty="0">
                <a:latin typeface="Bookman Old Style" panose="02050604050505020204" pitchFamily="18" charset="0"/>
              </a:rPr>
              <a:t>Pour tout </a:t>
            </a:r>
            <a:r>
              <a:rPr lang="fr-FR" sz="1600" b="1" dirty="0">
                <a:latin typeface="Bookman Old Style" panose="02050604050505020204" pitchFamily="18" charset="0"/>
              </a:rPr>
              <a:t>système réel</a:t>
            </a:r>
            <a:r>
              <a:rPr lang="fr-FR" sz="1600" dirty="0">
                <a:latin typeface="Bookman Old Style" panose="02050604050505020204" pitchFamily="18" charset="0"/>
              </a:rPr>
              <a:t>, le </a:t>
            </a:r>
            <a:r>
              <a:rPr lang="fr-FR" sz="1600" b="1" dirty="0">
                <a:latin typeface="Bookman Old Style" panose="02050604050505020204" pitchFamily="18" charset="0"/>
              </a:rPr>
              <a:t>degré du dénominateur</a:t>
            </a:r>
            <a:r>
              <a:rPr lang="fr-FR" sz="1600" dirty="0">
                <a:latin typeface="Bookman Old Style" panose="02050604050505020204" pitchFamily="18" charset="0"/>
              </a:rPr>
              <a:t> </a:t>
            </a:r>
            <a:r>
              <a:rPr lang="fr-FR" sz="1600" b="1" dirty="0"/>
              <a:t>(</a:t>
            </a:r>
            <a:r>
              <a:rPr lang="fr-FR" sz="1600" b="1" dirty="0">
                <a:latin typeface="Symbol" pitchFamily="18" charset="2"/>
              </a:rPr>
              <a:t>b</a:t>
            </a:r>
            <a:r>
              <a:rPr lang="fr-FR" sz="1600" b="1" dirty="0"/>
              <a:t>) </a:t>
            </a:r>
            <a:r>
              <a:rPr lang="fr-FR" sz="1600" dirty="0">
                <a:latin typeface="Bookman Old Style" panose="02050604050505020204" pitchFamily="18" charset="0"/>
              </a:rPr>
              <a:t>doit être supérieur ou égal au degré du numérateur </a:t>
            </a:r>
            <a:r>
              <a:rPr lang="fr-FR" sz="1600" b="1" dirty="0"/>
              <a:t>(</a:t>
            </a:r>
            <a:r>
              <a:rPr lang="fr-FR" sz="1600" b="1" dirty="0">
                <a:latin typeface="Symbol" pitchFamily="18" charset="2"/>
              </a:rPr>
              <a:t>a</a:t>
            </a:r>
            <a:r>
              <a:rPr lang="fr-FR" sz="1600" b="1" dirty="0"/>
              <a:t>) : </a:t>
            </a:r>
            <a:r>
              <a:rPr lang="fr-FR" sz="1600" b="1" dirty="0">
                <a:latin typeface="Symbol" pitchFamily="18" charset="2"/>
              </a:rPr>
              <a:t>b</a:t>
            </a:r>
            <a:r>
              <a:rPr lang="fr-FR" sz="1600" b="1" dirty="0"/>
              <a:t> ≥ </a:t>
            </a:r>
            <a:r>
              <a:rPr lang="fr-FR" sz="1600" b="1" dirty="0">
                <a:latin typeface="Symbol" pitchFamily="18" charset="2"/>
              </a:rPr>
              <a:t>a </a:t>
            </a:r>
          </a:p>
          <a:p>
            <a:pPr algn="just"/>
            <a:endParaRPr lang="fr-FR" sz="1600" b="1" dirty="0">
              <a:latin typeface="Symbol" pitchFamily="18" charset="2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1600" dirty="0">
                <a:latin typeface="Bookman Old Style" panose="02050604050505020204" pitchFamily="18" charset="0"/>
              </a:rPr>
              <a:t>Pour qu’un </a:t>
            </a:r>
            <a:r>
              <a:rPr lang="fr-FR" sz="1600" b="1" dirty="0">
                <a:latin typeface="Bookman Old Style" panose="02050604050505020204" pitchFamily="18" charset="0"/>
              </a:rPr>
              <a:t>filtre</a:t>
            </a:r>
            <a:r>
              <a:rPr lang="fr-FR" sz="1600" dirty="0">
                <a:latin typeface="Bookman Old Style" panose="02050604050505020204" pitchFamily="18" charset="0"/>
              </a:rPr>
              <a:t> soit stable, il faut que </a:t>
            </a:r>
            <a:r>
              <a:rPr lang="fr-FR" sz="1600" b="1" dirty="0">
                <a:latin typeface="Bookman Old Style" panose="02050604050505020204" pitchFamily="18" charset="0"/>
              </a:rPr>
              <a:t>tous les pôles de la fonction de transfert</a:t>
            </a:r>
            <a:r>
              <a:rPr lang="fr-FR" sz="1600" dirty="0">
                <a:latin typeface="Bookman Old Style" panose="02050604050505020204" pitchFamily="18" charset="0"/>
              </a:rPr>
              <a:t> soient à </a:t>
            </a:r>
            <a:r>
              <a:rPr lang="fr-FR" sz="1600" b="1" dirty="0">
                <a:latin typeface="Bookman Old Style" panose="02050604050505020204" pitchFamily="18" charset="0"/>
              </a:rPr>
              <a:t>parties réelles négatives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1600" b="1" dirty="0">
                <a:latin typeface="Bookman Old Style" panose="02050604050505020204" pitchFamily="18" charset="0"/>
              </a:rPr>
              <a:t>L’ordre d’un filtre </a:t>
            </a:r>
            <a:r>
              <a:rPr lang="fr-FR" sz="1600" dirty="0">
                <a:latin typeface="Bookman Old Style" panose="02050604050505020204" pitchFamily="18" charset="0"/>
              </a:rPr>
              <a:t>est donné par le </a:t>
            </a:r>
            <a:r>
              <a:rPr lang="fr-FR" sz="1600" b="1" dirty="0">
                <a:latin typeface="Bookman Old Style" panose="02050604050505020204" pitchFamily="18" charset="0"/>
              </a:rPr>
              <a:t>degré du polynôme du dénominateur</a:t>
            </a:r>
            <a:r>
              <a:rPr lang="fr-FR" sz="1600" dirty="0">
                <a:latin typeface="Bookman Old Style" panose="02050604050505020204" pitchFamily="18" charset="0"/>
              </a:rPr>
              <a:t> </a:t>
            </a:r>
            <a:r>
              <a:rPr lang="fr-FR" sz="1600" b="1" dirty="0"/>
              <a:t>(</a:t>
            </a:r>
            <a:r>
              <a:rPr lang="fr-FR" sz="1600" b="1" dirty="0">
                <a:latin typeface="Symbol" pitchFamily="18" charset="2"/>
              </a:rPr>
              <a:t>b</a:t>
            </a:r>
            <a:r>
              <a:rPr lang="fr-FR" sz="1600" b="1" dirty="0"/>
              <a:t>) </a:t>
            </a:r>
            <a:r>
              <a:rPr lang="fr-FR" sz="1600" dirty="0">
                <a:latin typeface="Bookman Old Style" panose="02050604050505020204" pitchFamily="18" charset="0"/>
              </a:rPr>
              <a:t>de la fonction de transfert.</a:t>
            </a: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1600" dirty="0">
                <a:latin typeface="Bookman Old Style" panose="02050604050505020204" pitchFamily="18" charset="0"/>
              </a:rPr>
              <a:t>Toutes les </a:t>
            </a:r>
            <a:r>
              <a:rPr lang="fr-FR" sz="1600" b="1" dirty="0">
                <a:latin typeface="Bookman Old Style" panose="02050604050505020204" pitchFamily="18" charset="0"/>
              </a:rPr>
              <a:t>fonctions de transfert </a:t>
            </a:r>
            <a:r>
              <a:rPr lang="fr-FR" sz="1600" dirty="0">
                <a:latin typeface="Bookman Old Style" panose="02050604050505020204" pitchFamily="18" charset="0"/>
              </a:rPr>
              <a:t>peuvent être décomposées comme </a:t>
            </a:r>
            <a:r>
              <a:rPr lang="fr-FR" sz="1600" b="1" dirty="0">
                <a:latin typeface="Bookman Old Style" panose="02050604050505020204" pitchFamily="18" charset="0"/>
              </a:rPr>
              <a:t>le produit de fonctions de transfert</a:t>
            </a:r>
            <a:r>
              <a:rPr lang="fr-FR" sz="1600" dirty="0">
                <a:latin typeface="Bookman Old Style" panose="02050604050505020204" pitchFamily="18" charset="0"/>
              </a:rPr>
              <a:t> du premier et du deuxième ordre.</a:t>
            </a:r>
          </a:p>
          <a:p>
            <a:pPr algn="just"/>
            <a:endParaRPr lang="fr-FR" spc="-5" dirty="0">
              <a:latin typeface="Bookman Old Style" panose="02050604050505020204" pitchFamily="18" charset="0"/>
              <a:cs typeface="Arial"/>
            </a:endParaRP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3" name="Object 1">
            <a:extLst>
              <a:ext uri="{FF2B5EF4-FFF2-40B4-BE49-F238E27FC236}">
                <a16:creationId xmlns:a16="http://schemas.microsoft.com/office/drawing/2014/main" id="{4E7663AC-1CB2-0E03-1822-CE637DFCCA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460383"/>
              </p:ext>
            </p:extLst>
          </p:nvPr>
        </p:nvGraphicFramePr>
        <p:xfrm>
          <a:off x="2438400" y="4286057"/>
          <a:ext cx="4103532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49500" imgH="406400" progId="">
                  <p:embed/>
                </p:oleObj>
              </mc:Choice>
              <mc:Fallback>
                <p:oleObj r:id="rId3" imgW="2349500" imgH="406400" progId="">
                  <p:embed/>
                  <p:pic>
                    <p:nvPicPr>
                      <p:cNvPr id="37" name="Object 1">
                        <a:extLst>
                          <a:ext uri="{FF2B5EF4-FFF2-40B4-BE49-F238E27FC236}">
                            <a16:creationId xmlns:a16="http://schemas.microsoft.com/office/drawing/2014/main" id="{86C5FDEC-3AF9-D760-9ED8-42B0F2344F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286057"/>
                        <a:ext cx="4103532" cy="71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2782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498049" y="4824173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8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31ABC2-D2DB-2FB8-1209-FF8441293BA7}"/>
              </a:ext>
            </a:extLst>
          </p:cNvPr>
          <p:cNvSpPr txBox="1"/>
          <p:nvPr/>
        </p:nvSpPr>
        <p:spPr>
          <a:xfrm>
            <a:off x="388526" y="1025603"/>
            <a:ext cx="86918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>
                <a:latin typeface="Bookman Old Style" panose="02050604050505020204" pitchFamily="18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fr-FR" sz="1600" b="1" dirty="0"/>
              <a:t>Trois solutions </a:t>
            </a:r>
            <a:r>
              <a:rPr lang="fr-FR" sz="1600" dirty="0"/>
              <a:t>sont utilisées en pratique pour représenter ce nombre complexe graphiquement.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166A5-6847-9C77-7A96-043A27196E0B}"/>
              </a:ext>
            </a:extLst>
          </p:cNvPr>
          <p:cNvSpPr txBox="1"/>
          <p:nvPr/>
        </p:nvSpPr>
        <p:spPr>
          <a:xfrm>
            <a:off x="847204" y="3823086"/>
            <a:ext cx="80087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1600" b="1" dirty="0">
                <a:latin typeface="Bookman Old Style" panose="02050604050505020204" pitchFamily="18" charset="0"/>
              </a:rPr>
              <a:t>Module en décibels</a:t>
            </a:r>
            <a:r>
              <a:rPr lang="fr-FR" sz="1600" dirty="0">
                <a:latin typeface="Bookman Old Style" panose="02050604050505020204" pitchFamily="18" charset="0"/>
              </a:rPr>
              <a:t> en fonction de </a:t>
            </a:r>
            <a:r>
              <a:rPr lang="fr-FR" sz="1600" b="1" dirty="0">
                <a:latin typeface="Bookman Old Style" panose="02050604050505020204" pitchFamily="18" charset="0"/>
              </a:rPr>
              <a:t>la fréquence </a:t>
            </a:r>
            <a:r>
              <a:rPr lang="fr-FR" sz="1600" dirty="0">
                <a:latin typeface="Bookman Old Style" panose="02050604050505020204" pitchFamily="18" charset="0"/>
              </a:rPr>
              <a:t>et </a:t>
            </a:r>
            <a:r>
              <a:rPr lang="fr-FR" sz="1600" b="1" dirty="0">
                <a:latin typeface="Bookman Old Style" panose="02050604050505020204" pitchFamily="18" charset="0"/>
              </a:rPr>
              <a:t>phase</a:t>
            </a:r>
            <a:r>
              <a:rPr lang="fr-FR" sz="1600" dirty="0">
                <a:latin typeface="Bookman Old Style" panose="02050604050505020204" pitchFamily="18" charset="0"/>
              </a:rPr>
              <a:t> en fonction de la fréquence sur une échelle de </a:t>
            </a:r>
            <a:r>
              <a:rPr lang="fr-FR" sz="1600" b="1" dirty="0">
                <a:latin typeface="Bookman Old Style" panose="02050604050505020204" pitchFamily="18" charset="0"/>
              </a:rPr>
              <a:t>fréquence logarithmique </a:t>
            </a:r>
            <a:r>
              <a:rPr lang="fr-FR" sz="1600" dirty="0">
                <a:latin typeface="Bookman Old Style" panose="02050604050505020204" pitchFamily="18" charset="0"/>
              </a:rPr>
              <a:t>: </a:t>
            </a:r>
          </a:p>
          <a:p>
            <a:pPr algn="just"/>
            <a:r>
              <a:rPr lang="fr-FR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                        Diagrammes de Bode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01559B-1D86-3CFD-93F6-7FB30C02043F}"/>
              </a:ext>
            </a:extLst>
          </p:cNvPr>
          <p:cNvSpPr txBox="1"/>
          <p:nvPr/>
        </p:nvSpPr>
        <p:spPr>
          <a:xfrm>
            <a:off x="850000" y="1941225"/>
            <a:ext cx="80681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fr-FR" sz="1600" b="1" dirty="0">
                <a:latin typeface="Bookman Old Style" panose="02050604050505020204" pitchFamily="18" charset="0"/>
              </a:rPr>
              <a:t>Partie imaginaire </a:t>
            </a:r>
            <a:r>
              <a:rPr lang="fr-FR" sz="1600" dirty="0">
                <a:latin typeface="Bookman Old Style" panose="02050604050505020204" pitchFamily="18" charset="0"/>
              </a:rPr>
              <a:t>en fonction de la </a:t>
            </a:r>
            <a:r>
              <a:rPr lang="fr-FR" sz="1600" b="1" dirty="0">
                <a:latin typeface="Bookman Old Style" panose="02050604050505020204" pitchFamily="18" charset="0"/>
              </a:rPr>
              <a:t>partie réelle </a:t>
            </a:r>
            <a:r>
              <a:rPr lang="fr-FR" sz="1600" dirty="0">
                <a:latin typeface="Bookman Old Style" panose="02050604050505020204" pitchFamily="18" charset="0"/>
              </a:rPr>
              <a:t>avec paramétrage en fréquence :     </a:t>
            </a:r>
            <a:r>
              <a:rPr lang="fr-FR" sz="1600" b="1" dirty="0">
                <a:latin typeface="Bookman Old Style" panose="02050604050505020204" pitchFamily="18" charset="0"/>
              </a:rPr>
              <a:t>Plan de </a:t>
            </a:r>
            <a:r>
              <a:rPr lang="fr-FR" sz="1600" b="1" dirty="0" err="1">
                <a:latin typeface="Bookman Old Style" panose="02050604050505020204" pitchFamily="18" charset="0"/>
              </a:rPr>
              <a:t>Nyquist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AB5EAD-4825-9939-0BD1-B5582A9FB23F}"/>
              </a:ext>
            </a:extLst>
          </p:cNvPr>
          <p:cNvSpPr txBox="1"/>
          <p:nvPr/>
        </p:nvSpPr>
        <p:spPr>
          <a:xfrm>
            <a:off x="858389" y="2844942"/>
            <a:ext cx="8222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fr-FR" sz="1600" b="1" dirty="0">
                <a:latin typeface="Bookman Old Style" panose="02050604050505020204" pitchFamily="18" charset="0"/>
              </a:rPr>
              <a:t>Module </a:t>
            </a:r>
            <a:r>
              <a:rPr lang="fr-FR" sz="1600" dirty="0">
                <a:latin typeface="Bookman Old Style" panose="02050604050505020204" pitchFamily="18" charset="0"/>
              </a:rPr>
              <a:t>en fonction de </a:t>
            </a:r>
            <a:r>
              <a:rPr lang="fr-FR" sz="1600" b="1" dirty="0">
                <a:latin typeface="Bookman Old Style" panose="02050604050505020204" pitchFamily="18" charset="0"/>
              </a:rPr>
              <a:t>la phase </a:t>
            </a:r>
            <a:r>
              <a:rPr lang="fr-FR" sz="1600" dirty="0">
                <a:latin typeface="Bookman Old Style" panose="02050604050505020204" pitchFamily="18" charset="0"/>
              </a:rPr>
              <a:t>avec paramétrage en fréquence : </a:t>
            </a:r>
          </a:p>
          <a:p>
            <a:pPr algn="just">
              <a:spcAft>
                <a:spcPts val="1200"/>
              </a:spcAft>
            </a:pPr>
            <a:r>
              <a:rPr lang="fr-FR" sz="1600" b="1" dirty="0">
                <a:latin typeface="Bookman Old Style" panose="02050604050505020204" pitchFamily="18" charset="0"/>
              </a:rPr>
              <a:t>                          Plan de Black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370F4D0E-B3F6-67E6-651E-CC73E8B5D8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12" name="object 6">
            <a:extLst>
              <a:ext uri="{FF2B5EF4-FFF2-40B4-BE49-F238E27FC236}">
                <a16:creationId xmlns:a16="http://schemas.microsoft.com/office/drawing/2014/main" id="{EE077923-38FA-2F3B-8B71-00497DE9AC94}"/>
              </a:ext>
            </a:extLst>
          </p:cNvPr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33CED4EA-877F-3F58-0FE8-82490931C195}"/>
                </a:ext>
              </a:extLst>
            </p:cNvPr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8">
              <a:extLst>
                <a:ext uri="{FF2B5EF4-FFF2-40B4-BE49-F238E27FC236}">
                  <a16:creationId xmlns:a16="http://schemas.microsoft.com/office/drawing/2014/main" id="{9FA4A5A8-699F-EF31-CA84-AD86D18F03AF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9">
              <a:extLst>
                <a:ext uri="{FF2B5EF4-FFF2-40B4-BE49-F238E27FC236}">
                  <a16:creationId xmlns:a16="http://schemas.microsoft.com/office/drawing/2014/main" id="{3714A726-A4D5-B283-1A83-65A477D54C73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10">
            <a:extLst>
              <a:ext uri="{FF2B5EF4-FFF2-40B4-BE49-F238E27FC236}">
                <a16:creationId xmlns:a16="http://schemas.microsoft.com/office/drawing/2014/main" id="{B04467E1-FE2C-E05F-E328-1F0DA13EE528}"/>
              </a:ext>
            </a:extLst>
          </p:cNvPr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24" name="object 4">
            <a:extLst>
              <a:ext uri="{FF2B5EF4-FFF2-40B4-BE49-F238E27FC236}">
                <a16:creationId xmlns:a16="http://schemas.microsoft.com/office/drawing/2014/main" id="{2164D426-C1CA-22A0-C322-9B0A64B05744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7C3EB2FE-A13D-1AF3-CF2E-3663FFD5DDAB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6">
              <a:extLst>
                <a:ext uri="{FF2B5EF4-FFF2-40B4-BE49-F238E27FC236}">
                  <a16:creationId xmlns:a16="http://schemas.microsoft.com/office/drawing/2014/main" id="{852B290E-E1A3-E6D4-92F6-732BDB26E13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3E6609BE-232E-13DB-4C25-B97AF9734730}"/>
              </a:ext>
            </a:extLst>
          </p:cNvPr>
          <p:cNvSpPr/>
          <p:nvPr/>
        </p:nvSpPr>
        <p:spPr>
          <a:xfrm>
            <a:off x="570221" y="515383"/>
            <a:ext cx="3043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2.</a:t>
            </a:r>
            <a:r>
              <a:rPr lang="fr-FR" dirty="0"/>
              <a:t> </a:t>
            </a: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Fonction de transfert</a:t>
            </a:r>
          </a:p>
        </p:txBody>
      </p:sp>
    </p:spTree>
    <p:extLst>
      <p:ext uri="{BB962C8B-B14F-4D97-AF65-F5344CB8AC3E}">
        <p14:creationId xmlns:p14="http://schemas.microsoft.com/office/powerpoint/2010/main" val="2003768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498049" y="4824173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9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2868093" cy="6283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3.</a:t>
            </a:r>
            <a:r>
              <a:rPr lang="fr-FR" dirty="0"/>
              <a:t> </a:t>
            </a: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Diagramme de Bode</a:t>
            </a:r>
          </a:p>
          <a:p>
            <a:pPr marL="0" lvl="1"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chemeClr val="accent5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</a:t>
            </a: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9B7F2608-BFC5-DAEB-3B66-DD834CA101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13" name="object 6">
            <a:extLst>
              <a:ext uri="{FF2B5EF4-FFF2-40B4-BE49-F238E27FC236}">
                <a16:creationId xmlns:a16="http://schemas.microsoft.com/office/drawing/2014/main" id="{D4A363AF-9F7A-B0CC-9DB7-3DCA63A857EA}"/>
              </a:ext>
            </a:extLst>
          </p:cNvPr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8B182422-A024-F818-4642-344B878E563D}"/>
                </a:ext>
              </a:extLst>
            </p:cNvPr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8">
              <a:extLst>
                <a:ext uri="{FF2B5EF4-FFF2-40B4-BE49-F238E27FC236}">
                  <a16:creationId xmlns:a16="http://schemas.microsoft.com/office/drawing/2014/main" id="{5195100A-9B2D-66CF-96CF-A563AD360835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9">
              <a:extLst>
                <a:ext uri="{FF2B5EF4-FFF2-40B4-BE49-F238E27FC236}">
                  <a16:creationId xmlns:a16="http://schemas.microsoft.com/office/drawing/2014/main" id="{02A0C782-D449-C5FA-30B2-178EBD49EB16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0">
            <a:extLst>
              <a:ext uri="{FF2B5EF4-FFF2-40B4-BE49-F238E27FC236}">
                <a16:creationId xmlns:a16="http://schemas.microsoft.com/office/drawing/2014/main" id="{1429BCD9-219D-FD00-7B78-7B2B289706F4}"/>
              </a:ext>
            </a:extLst>
          </p:cNvPr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25" name="object 4">
            <a:extLst>
              <a:ext uri="{FF2B5EF4-FFF2-40B4-BE49-F238E27FC236}">
                <a16:creationId xmlns:a16="http://schemas.microsoft.com/office/drawing/2014/main" id="{6E023D1E-AC77-0C26-A30C-B8F1E0F3D075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26" name="object 5">
              <a:extLst>
                <a:ext uri="{FF2B5EF4-FFF2-40B4-BE49-F238E27FC236}">
                  <a16:creationId xmlns:a16="http://schemas.microsoft.com/office/drawing/2014/main" id="{DD1194F6-82CE-86E6-9CF8-116D781E6FED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6">
              <a:extLst>
                <a:ext uri="{FF2B5EF4-FFF2-40B4-BE49-F238E27FC236}">
                  <a16:creationId xmlns:a16="http://schemas.microsoft.com/office/drawing/2014/main" id="{33A8FD56-644A-B677-633F-5BB19DB9731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70C70D2-3FCE-4DFC-9057-BCF659788D5E}"/>
              </a:ext>
            </a:extLst>
          </p:cNvPr>
          <p:cNvSpPr txBox="1"/>
          <p:nvPr/>
        </p:nvSpPr>
        <p:spPr>
          <a:xfrm>
            <a:off x="452136" y="1246086"/>
            <a:ext cx="84632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800" dirty="0">
                <a:latin typeface="Bookman Old Style" panose="02050604050505020204" pitchFamily="18" charset="0"/>
              </a:rPr>
              <a:t>Dans cette partie, nous décrivons la représentation par les </a:t>
            </a:r>
            <a:r>
              <a:rPr lang="fr-FR" sz="1800" b="1" dirty="0">
                <a:latin typeface="Bookman Old Style" panose="02050604050505020204" pitchFamily="18" charset="0"/>
              </a:rPr>
              <a:t>diagrammes de Bode</a:t>
            </a:r>
            <a:r>
              <a:rPr lang="fr-FR" sz="1800" dirty="0">
                <a:latin typeface="Bookman Old Style" panose="02050604050505020204" pitchFamily="18" charset="0"/>
              </a:rPr>
              <a:t>.</a:t>
            </a:r>
          </a:p>
          <a:p>
            <a:pPr algn="just"/>
            <a:endParaRPr lang="fr-FR" sz="1800" dirty="0">
              <a:latin typeface="Bookman Old Style" panose="02050604050505020204" pitchFamily="18" charset="0"/>
            </a:endParaRPr>
          </a:p>
          <a:p>
            <a:pPr algn="just"/>
            <a:r>
              <a:rPr lang="fr-FR" sz="1800" dirty="0">
                <a:latin typeface="Bookman Old Style" panose="02050604050505020204" pitchFamily="18" charset="0"/>
              </a:rPr>
              <a:t>Pour la suite, on notera: </a:t>
            </a:r>
          </a:p>
          <a:p>
            <a:pPr algn="just"/>
            <a:endParaRPr lang="fr-FR" sz="1800" dirty="0">
              <a:latin typeface="Bookman Old Style" panose="02050604050505020204" pitchFamily="18" charset="0"/>
            </a:endParaRPr>
          </a:p>
          <a:p>
            <a:pPr algn="just"/>
            <a:r>
              <a:rPr lang="fr-FR" sz="1800" dirty="0">
                <a:latin typeface="Bookman Old Style" panose="02050604050505020204" pitchFamily="18" charset="0"/>
              </a:rPr>
              <a:t> </a:t>
            </a:r>
            <a:r>
              <a:rPr lang="fr-FR" sz="1800" b="1" dirty="0">
                <a:latin typeface="Bookman Old Style" panose="02050604050505020204" pitchFamily="18" charset="0"/>
              </a:rPr>
              <a:t>H: </a:t>
            </a:r>
            <a:r>
              <a:rPr lang="fr-FR" b="1" dirty="0">
                <a:latin typeface="Bookman Old Style" panose="02050604050505020204" pitchFamily="18" charset="0"/>
              </a:rPr>
              <a:t> </a:t>
            </a:r>
            <a:r>
              <a:rPr lang="fr-FR" sz="1800" dirty="0">
                <a:latin typeface="Bookman Old Style" panose="02050604050505020204" pitchFamily="18" charset="0"/>
              </a:rPr>
              <a:t>le </a:t>
            </a:r>
            <a:r>
              <a:rPr lang="fr-FR" sz="1800" b="1" dirty="0">
                <a:latin typeface="Bookman Old Style" panose="02050604050505020204" pitchFamily="18" charset="0"/>
              </a:rPr>
              <a:t>module linéaire; </a:t>
            </a:r>
            <a:r>
              <a:rPr lang="fr-FR" sz="1800" dirty="0">
                <a:latin typeface="Bookman Old Style" panose="02050604050505020204" pitchFamily="18" charset="0"/>
              </a:rPr>
              <a:t>Le module de la fonction de transfert s’exprime comme le rapport du module de la tension de sortie sur le module de la tension d’entrée du système considéré</a:t>
            </a:r>
            <a:endParaRPr lang="fr-FR" sz="1800" b="1" dirty="0">
              <a:latin typeface="Bookman Old Style" panose="02050604050505020204" pitchFamily="18" charset="0"/>
            </a:endParaRPr>
          </a:p>
          <a:p>
            <a:pPr algn="just"/>
            <a:endParaRPr lang="fr-FR" sz="1800" b="1" dirty="0">
              <a:latin typeface="Bookman Old Style" panose="02050604050505020204" pitchFamily="18" charset="0"/>
            </a:endParaRPr>
          </a:p>
          <a:p>
            <a:pPr algn="just"/>
            <a:r>
              <a:rPr lang="fr-FR" sz="1800" dirty="0">
                <a:latin typeface="Bookman Old Style" panose="02050604050505020204" pitchFamily="18" charset="0"/>
              </a:rPr>
              <a:t> </a:t>
            </a:r>
            <a:r>
              <a:rPr lang="fr-FR" sz="1800" b="1" dirty="0" err="1">
                <a:latin typeface="Bookman Old Style" panose="02050604050505020204" pitchFamily="18" charset="0"/>
              </a:rPr>
              <a:t>H</a:t>
            </a:r>
            <a:r>
              <a:rPr lang="fr-FR" sz="1800" b="1" i="1" baseline="-25000" dirty="0" err="1">
                <a:latin typeface="Bookman Old Style" panose="02050604050505020204" pitchFamily="18" charset="0"/>
              </a:rPr>
              <a:t>dB</a:t>
            </a:r>
            <a:r>
              <a:rPr lang="fr-FR" sz="1800" b="1" dirty="0">
                <a:latin typeface="Bookman Old Style" panose="02050604050505020204" pitchFamily="18" charset="0"/>
              </a:rPr>
              <a:t> </a:t>
            </a:r>
            <a:r>
              <a:rPr lang="fr-FR" b="1" dirty="0">
                <a:latin typeface="Bookman Old Style" panose="02050604050505020204" pitchFamily="18" charset="0"/>
              </a:rPr>
              <a:t>: </a:t>
            </a:r>
            <a:r>
              <a:rPr lang="fr-FR" sz="1800" dirty="0">
                <a:latin typeface="Bookman Old Style" panose="02050604050505020204" pitchFamily="18" charset="0"/>
              </a:rPr>
              <a:t>le </a:t>
            </a:r>
            <a:r>
              <a:rPr lang="fr-FR" sz="1800" b="1" dirty="0">
                <a:latin typeface="Bookman Old Style" panose="02050604050505020204" pitchFamily="18" charset="0"/>
              </a:rPr>
              <a:t>module en décibels</a:t>
            </a:r>
            <a:r>
              <a:rPr lang="fr-FR" sz="1800" dirty="0">
                <a:latin typeface="Bookman Old Style" panose="02050604050505020204" pitchFamily="18" charset="0"/>
              </a:rPr>
              <a:t> </a:t>
            </a:r>
          </a:p>
          <a:p>
            <a:pPr algn="just"/>
            <a:endParaRPr lang="fr-FR" sz="1800" dirty="0">
              <a:latin typeface="Bookman Old Style" panose="02050604050505020204" pitchFamily="18" charset="0"/>
            </a:endParaRPr>
          </a:p>
          <a:p>
            <a:pPr algn="just"/>
            <a:r>
              <a:rPr lang="fr-FR" sz="1800" dirty="0">
                <a:latin typeface="Bookman Old Style" panose="02050604050505020204" pitchFamily="18" charset="0"/>
              </a:rPr>
              <a:t> </a:t>
            </a:r>
            <a:r>
              <a:rPr lang="fr-FR" b="1" i="1" dirty="0">
                <a:latin typeface="Symbol" pitchFamily="18" charset="2"/>
              </a:rPr>
              <a:t>j</a:t>
            </a:r>
            <a:r>
              <a:rPr lang="fr-FR" sz="1800" b="1" i="1" dirty="0">
                <a:solidFill>
                  <a:srgbClr val="FF0000"/>
                </a:solidFill>
                <a:latin typeface="Symbol" pitchFamily="18" charset="2"/>
              </a:rPr>
              <a:t> </a:t>
            </a:r>
            <a:r>
              <a:rPr lang="fr-FR" sz="1800" b="1" dirty="0">
                <a:latin typeface="Symbol" pitchFamily="18" charset="2"/>
              </a:rPr>
              <a:t>:</a:t>
            </a:r>
            <a:r>
              <a:rPr lang="fr-FR" sz="1800" b="1" i="1" dirty="0">
                <a:solidFill>
                  <a:srgbClr val="FF0000"/>
                </a:solidFill>
                <a:latin typeface="Symbol" pitchFamily="18" charset="2"/>
              </a:rPr>
              <a:t> </a:t>
            </a:r>
            <a:r>
              <a:rPr lang="fr-FR" sz="1800" dirty="0">
                <a:latin typeface="Bookman Old Style" panose="02050604050505020204" pitchFamily="18" charset="0"/>
              </a:rPr>
              <a:t>la </a:t>
            </a:r>
            <a:r>
              <a:rPr lang="fr-FR" sz="1800" b="1" dirty="0">
                <a:latin typeface="Bookman Old Style" panose="02050604050505020204" pitchFamily="18" charset="0"/>
              </a:rPr>
              <a:t>phase d</a:t>
            </a:r>
            <a:r>
              <a:rPr lang="fr-FR" sz="1800" dirty="0">
                <a:latin typeface="Bookman Old Style" panose="02050604050505020204" pitchFamily="18" charset="0"/>
              </a:rPr>
              <a:t>e la fonction de transfert.</a:t>
            </a:r>
          </a:p>
        </p:txBody>
      </p:sp>
    </p:spTree>
    <p:extLst>
      <p:ext uri="{BB962C8B-B14F-4D97-AF65-F5344CB8AC3E}">
        <p14:creationId xmlns:p14="http://schemas.microsoft.com/office/powerpoint/2010/main" val="12862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498049" y="4824173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10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2868093" cy="8874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3.</a:t>
            </a:r>
            <a:r>
              <a:rPr lang="fr-FR" dirty="0"/>
              <a:t> </a:t>
            </a: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Diagramme de Bode</a:t>
            </a:r>
          </a:p>
          <a:p>
            <a:pPr marL="0" lvl="1"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rPr>
              <a:t>3.1 Décibel</a:t>
            </a:r>
          </a:p>
          <a:p>
            <a:pPr marL="0" lvl="1"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chemeClr val="accent5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287E6E-B5E9-5913-7062-D94131E1EB81}"/>
              </a:ext>
            </a:extLst>
          </p:cNvPr>
          <p:cNvSpPr/>
          <p:nvPr/>
        </p:nvSpPr>
        <p:spPr>
          <a:xfrm>
            <a:off x="526510" y="1184874"/>
            <a:ext cx="849645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En </a:t>
            </a:r>
            <a:r>
              <a:rPr lang="fr-FR" sz="1600" b="1" dirty="0">
                <a:latin typeface="Bookman Old Style" panose="02050604050505020204" pitchFamily="18" charset="0"/>
              </a:rPr>
              <a:t>acoustique physiologique</a:t>
            </a:r>
            <a:r>
              <a:rPr lang="fr-FR" sz="1600" dirty="0">
                <a:latin typeface="Bookman Old Style" panose="02050604050505020204" pitchFamily="18" charset="0"/>
              </a:rPr>
              <a:t>, la </a:t>
            </a:r>
            <a:r>
              <a:rPr lang="fr-FR" sz="1600" b="1" dirty="0">
                <a:latin typeface="Bookman Old Style" panose="02050604050505020204" pitchFamily="18" charset="0"/>
              </a:rPr>
              <a:t>sensation</a:t>
            </a:r>
            <a:r>
              <a:rPr lang="fr-FR" sz="1600" dirty="0">
                <a:latin typeface="Bookman Old Style" panose="02050604050505020204" pitchFamily="18" charset="0"/>
              </a:rPr>
              <a:t> est </a:t>
            </a:r>
            <a:r>
              <a:rPr lang="fr-FR" sz="1600" b="1" dirty="0">
                <a:latin typeface="Bookman Old Style" panose="02050604050505020204" pitchFamily="18" charset="0"/>
              </a:rPr>
              <a:t>proportionnelle</a:t>
            </a:r>
            <a:r>
              <a:rPr lang="fr-FR" sz="1600" dirty="0">
                <a:latin typeface="Bookman Old Style" panose="02050604050505020204" pitchFamily="18" charset="0"/>
              </a:rPr>
              <a:t> au </a:t>
            </a:r>
            <a:r>
              <a:rPr lang="fr-FR" sz="1600" b="1" dirty="0">
                <a:latin typeface="Bookman Old Style" panose="02050604050505020204" pitchFamily="18" charset="0"/>
              </a:rPr>
              <a:t>logarithme</a:t>
            </a:r>
            <a:r>
              <a:rPr lang="fr-FR" sz="1600" dirty="0">
                <a:latin typeface="Bookman Old Style" panose="02050604050505020204" pitchFamily="18" charset="0"/>
              </a:rPr>
              <a:t> de la </a:t>
            </a:r>
            <a:r>
              <a:rPr lang="fr-FR" sz="1600" b="1" dirty="0">
                <a:latin typeface="Bookman Old Style" panose="02050604050505020204" pitchFamily="18" charset="0"/>
              </a:rPr>
              <a:t>pression acoustique</a:t>
            </a:r>
            <a:r>
              <a:rPr lang="fr-FR" sz="1600" dirty="0">
                <a:latin typeface="Bookman Old Style" panose="02050604050505020204" pitchFamily="18" charset="0"/>
              </a:rPr>
              <a:t>. Cela conduit à la définition </a:t>
            </a:r>
            <a:r>
              <a:rPr lang="fr-FR" sz="1600" b="1" dirty="0">
                <a:latin typeface="Bookman Old Style" panose="02050604050505020204" pitchFamily="18" charset="0"/>
              </a:rPr>
              <a:t>d'échelles logarithmiques </a:t>
            </a:r>
            <a:r>
              <a:rPr lang="fr-FR" sz="1600" dirty="0">
                <a:latin typeface="Bookman Old Style" panose="02050604050505020204" pitchFamily="18" charset="0"/>
              </a:rPr>
              <a:t>pour mesurer les gains : les gains en décibels sont définis par : </a:t>
            </a:r>
          </a:p>
        </p:txBody>
      </p:sp>
      <p:graphicFrame>
        <p:nvGraphicFramePr>
          <p:cNvPr id="22" name="Object 14">
            <a:extLst>
              <a:ext uri="{FF2B5EF4-FFF2-40B4-BE49-F238E27FC236}">
                <a16:creationId xmlns:a16="http://schemas.microsoft.com/office/drawing/2014/main" id="{8E86DFC9-C551-C42A-E840-00785A3C38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359196"/>
              </p:ext>
            </p:extLst>
          </p:nvPr>
        </p:nvGraphicFramePr>
        <p:xfrm>
          <a:off x="3745223" y="2401023"/>
          <a:ext cx="1752624" cy="36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14400" imgH="190500" progId="">
                  <p:embed/>
                </p:oleObj>
              </mc:Choice>
              <mc:Fallback>
                <p:oleObj r:id="rId3" imgW="914400" imgH="190500" progId="">
                  <p:embed/>
                  <p:pic>
                    <p:nvPicPr>
                      <p:cNvPr id="22" name="Object 14">
                        <a:extLst>
                          <a:ext uri="{FF2B5EF4-FFF2-40B4-BE49-F238E27FC236}">
                            <a16:creationId xmlns:a16="http://schemas.microsoft.com/office/drawing/2014/main" id="{8E86DFC9-C551-C42A-E840-00785A3C38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5223" y="2401023"/>
                        <a:ext cx="1752624" cy="3651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6">
            <a:extLst>
              <a:ext uri="{FF2B5EF4-FFF2-40B4-BE49-F238E27FC236}">
                <a16:creationId xmlns:a16="http://schemas.microsoft.com/office/drawing/2014/main" id="{8D422F87-D63F-32D7-28DA-C2B2E6AAA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036220"/>
              </p:ext>
            </p:extLst>
          </p:nvPr>
        </p:nvGraphicFramePr>
        <p:xfrm>
          <a:off x="3740696" y="2653483"/>
          <a:ext cx="3276000" cy="801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28800" imgH="444500" progId="">
                  <p:embed/>
                </p:oleObj>
              </mc:Choice>
              <mc:Fallback>
                <p:oleObj r:id="rId5" imgW="1828800" imgH="444500" progId="">
                  <p:embed/>
                  <p:pic>
                    <p:nvPicPr>
                      <p:cNvPr id="27" name="Object 16">
                        <a:extLst>
                          <a:ext uri="{FF2B5EF4-FFF2-40B4-BE49-F238E27FC236}">
                            <a16:creationId xmlns:a16="http://schemas.microsoft.com/office/drawing/2014/main" id="{8D422F87-D63F-32D7-28DA-C2B2E6AAAE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0696" y="2653483"/>
                        <a:ext cx="3276000" cy="8019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object 2">
            <a:extLst>
              <a:ext uri="{FF2B5EF4-FFF2-40B4-BE49-F238E27FC236}">
                <a16:creationId xmlns:a16="http://schemas.microsoft.com/office/drawing/2014/main" id="{9B7F2608-BFC5-DAEB-3B66-DD834CA101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13" name="object 6">
            <a:extLst>
              <a:ext uri="{FF2B5EF4-FFF2-40B4-BE49-F238E27FC236}">
                <a16:creationId xmlns:a16="http://schemas.microsoft.com/office/drawing/2014/main" id="{D4A363AF-9F7A-B0CC-9DB7-3DCA63A857EA}"/>
              </a:ext>
            </a:extLst>
          </p:cNvPr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8B182422-A024-F818-4642-344B878E563D}"/>
                </a:ext>
              </a:extLst>
            </p:cNvPr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8">
              <a:extLst>
                <a:ext uri="{FF2B5EF4-FFF2-40B4-BE49-F238E27FC236}">
                  <a16:creationId xmlns:a16="http://schemas.microsoft.com/office/drawing/2014/main" id="{5195100A-9B2D-66CF-96CF-A563AD360835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9">
              <a:extLst>
                <a:ext uri="{FF2B5EF4-FFF2-40B4-BE49-F238E27FC236}">
                  <a16:creationId xmlns:a16="http://schemas.microsoft.com/office/drawing/2014/main" id="{02A0C782-D449-C5FA-30B2-178EBD49EB16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0">
            <a:extLst>
              <a:ext uri="{FF2B5EF4-FFF2-40B4-BE49-F238E27FC236}">
                <a16:creationId xmlns:a16="http://schemas.microsoft.com/office/drawing/2014/main" id="{1429BCD9-219D-FD00-7B78-7B2B289706F4}"/>
              </a:ext>
            </a:extLst>
          </p:cNvPr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25" name="object 4">
            <a:extLst>
              <a:ext uri="{FF2B5EF4-FFF2-40B4-BE49-F238E27FC236}">
                <a16:creationId xmlns:a16="http://schemas.microsoft.com/office/drawing/2014/main" id="{6E023D1E-AC77-0C26-A30C-B8F1E0F3D075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26" name="object 5">
              <a:extLst>
                <a:ext uri="{FF2B5EF4-FFF2-40B4-BE49-F238E27FC236}">
                  <a16:creationId xmlns:a16="http://schemas.microsoft.com/office/drawing/2014/main" id="{DD1194F6-82CE-86E6-9CF8-116D781E6FED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6">
              <a:extLst>
                <a:ext uri="{FF2B5EF4-FFF2-40B4-BE49-F238E27FC236}">
                  <a16:creationId xmlns:a16="http://schemas.microsoft.com/office/drawing/2014/main" id="{33A8FD56-644A-B677-633F-5BB19DB9731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B0567BC-1AD7-B910-C22D-555E42E00501}"/>
              </a:ext>
            </a:extLst>
          </p:cNvPr>
          <p:cNvSpPr txBox="1"/>
          <p:nvPr/>
        </p:nvSpPr>
        <p:spPr>
          <a:xfrm>
            <a:off x="217641" y="3455427"/>
            <a:ext cx="8805319" cy="1330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600" b="1" dirty="0">
                <a:latin typeface="Bookman Old Style" panose="02050604050505020204" pitchFamily="18" charset="0"/>
              </a:rPr>
              <a:t>P</a:t>
            </a:r>
            <a:r>
              <a:rPr lang="fr-FR" sz="1600" i="1" dirty="0">
                <a:latin typeface="Bookman Old Style" panose="02050604050505020204" pitchFamily="18" charset="0"/>
              </a:rPr>
              <a:t> </a:t>
            </a:r>
            <a:r>
              <a:rPr lang="fr-FR" sz="1600" dirty="0">
                <a:latin typeface="Bookman Old Style" panose="02050604050505020204" pitchFamily="18" charset="0"/>
              </a:rPr>
              <a:t>est une </a:t>
            </a:r>
            <a:r>
              <a:rPr lang="fr-FR" sz="1600" b="1" dirty="0">
                <a:latin typeface="Bookman Old Style" panose="02050604050505020204" pitchFamily="18" charset="0"/>
              </a:rPr>
              <a:t>puissance</a:t>
            </a:r>
            <a:r>
              <a:rPr lang="fr-FR" sz="1600" dirty="0">
                <a:latin typeface="Bookman Old Style" panose="02050604050505020204" pitchFamily="18" charset="0"/>
              </a:rPr>
              <a:t> exprimée en Watts sur une échelle linéaire, et "</a:t>
            </a:r>
            <a:r>
              <a:rPr lang="fr-FR" sz="1600" b="1" dirty="0">
                <a:latin typeface="Bookman Old Style" panose="02050604050505020204" pitchFamily="18" charset="0"/>
              </a:rPr>
              <a:t>log</a:t>
            </a:r>
            <a:r>
              <a:rPr lang="fr-FR" sz="1600" dirty="0">
                <a:latin typeface="Bookman Old Style" panose="02050604050505020204" pitchFamily="18" charset="0"/>
              </a:rPr>
              <a:t>" pour signifier le </a:t>
            </a:r>
            <a:r>
              <a:rPr lang="fr-FR" sz="1600" b="1" dirty="0">
                <a:latin typeface="Bookman Old Style" panose="02050604050505020204" pitchFamily="18" charset="0"/>
              </a:rPr>
              <a:t>logarithme</a:t>
            </a:r>
            <a:r>
              <a:rPr lang="fr-FR" sz="1600" dirty="0">
                <a:latin typeface="Bookman Old Style" panose="02050604050505020204" pitchFamily="18" charset="0"/>
              </a:rPr>
              <a:t> en base </a:t>
            </a:r>
            <a:r>
              <a:rPr lang="fr-FR" sz="1600" b="1" dirty="0">
                <a:latin typeface="Bookman Old Style" panose="02050604050505020204" pitchFamily="18" charset="0"/>
              </a:rPr>
              <a:t>10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  <a:p>
            <a:pPr algn="just"/>
            <a:endParaRPr lang="fr-FR" sz="1600" i="1" dirty="0">
              <a:latin typeface="Bookman Old Style" panose="02050604050505020204" pitchFamily="18" charset="0"/>
            </a:endParaRPr>
          </a:p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Pour les tensions, le facteur devant le </a:t>
            </a:r>
            <a:r>
              <a:rPr lang="fr-FR" sz="1600" b="1" i="1" dirty="0">
                <a:latin typeface="Bookman Old Style" panose="02050604050505020204" pitchFamily="18" charset="0"/>
              </a:rPr>
              <a:t>log</a:t>
            </a:r>
            <a:r>
              <a:rPr lang="fr-FR" sz="1600" b="1" dirty="0">
                <a:latin typeface="Bookman Old Style" panose="02050604050505020204" pitchFamily="18" charset="0"/>
              </a:rPr>
              <a:t> </a:t>
            </a:r>
            <a:r>
              <a:rPr lang="fr-FR" sz="1600" dirty="0">
                <a:latin typeface="Bookman Old Style" panose="02050604050505020204" pitchFamily="18" charset="0"/>
              </a:rPr>
              <a:t>est </a:t>
            </a:r>
            <a:r>
              <a:rPr lang="fr-FR" sz="1600" b="1" dirty="0">
                <a:latin typeface="Bookman Old Style" panose="02050604050505020204" pitchFamily="18" charset="0"/>
              </a:rPr>
              <a:t>20</a:t>
            </a:r>
            <a:r>
              <a:rPr lang="fr-FR" sz="1600" dirty="0">
                <a:latin typeface="Bookman Old Style" panose="02050604050505020204" pitchFamily="18" charset="0"/>
              </a:rPr>
              <a:t> du fait que la puissance est </a:t>
            </a:r>
            <a:r>
              <a:rPr lang="fr-FR" sz="1600" b="1" dirty="0">
                <a:latin typeface="Bookman Old Style" panose="02050604050505020204" pitchFamily="18" charset="0"/>
              </a:rPr>
              <a:t>proportionnelle</a:t>
            </a:r>
            <a:r>
              <a:rPr lang="fr-FR" sz="1600" dirty="0">
                <a:latin typeface="Bookman Old Style" panose="02050604050505020204" pitchFamily="18" charset="0"/>
              </a:rPr>
              <a:t> </a:t>
            </a:r>
            <a:r>
              <a:rPr lang="fr-FR" sz="1600" b="1" dirty="0">
                <a:latin typeface="Bookman Old Style" panose="02050604050505020204" pitchFamily="18" charset="0"/>
              </a:rPr>
              <a:t>au carré de la tension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7410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498049" y="4824173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11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2868093" cy="8874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3.</a:t>
            </a:r>
            <a:r>
              <a:rPr lang="fr-FR" dirty="0"/>
              <a:t> </a:t>
            </a: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Diagramme de Bode</a:t>
            </a:r>
          </a:p>
          <a:p>
            <a:pPr marL="0" lvl="1"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rPr>
              <a:t>3.1 Décibel</a:t>
            </a:r>
          </a:p>
          <a:p>
            <a:pPr marL="0" lvl="1">
              <a:spcBef>
                <a:spcPts val="100"/>
              </a:spcBef>
              <a:tabLst>
                <a:tab pos="393700" algn="l"/>
              </a:tabLst>
            </a:pPr>
            <a:r>
              <a:rPr lang="fr-FR" sz="1600" b="1" spc="-5" dirty="0">
                <a:solidFill>
                  <a:schemeClr val="accent5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</a:t>
            </a: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9B7F2608-BFC5-DAEB-3B66-DD834CA101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13" name="object 6">
            <a:extLst>
              <a:ext uri="{FF2B5EF4-FFF2-40B4-BE49-F238E27FC236}">
                <a16:creationId xmlns:a16="http://schemas.microsoft.com/office/drawing/2014/main" id="{D4A363AF-9F7A-B0CC-9DB7-3DCA63A857EA}"/>
              </a:ext>
            </a:extLst>
          </p:cNvPr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8B182422-A024-F818-4642-344B878E563D}"/>
                </a:ext>
              </a:extLst>
            </p:cNvPr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8">
              <a:extLst>
                <a:ext uri="{FF2B5EF4-FFF2-40B4-BE49-F238E27FC236}">
                  <a16:creationId xmlns:a16="http://schemas.microsoft.com/office/drawing/2014/main" id="{5195100A-9B2D-66CF-96CF-A563AD360835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9">
              <a:extLst>
                <a:ext uri="{FF2B5EF4-FFF2-40B4-BE49-F238E27FC236}">
                  <a16:creationId xmlns:a16="http://schemas.microsoft.com/office/drawing/2014/main" id="{02A0C782-D449-C5FA-30B2-178EBD49EB16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0">
            <a:extLst>
              <a:ext uri="{FF2B5EF4-FFF2-40B4-BE49-F238E27FC236}">
                <a16:creationId xmlns:a16="http://schemas.microsoft.com/office/drawing/2014/main" id="{1429BCD9-219D-FD00-7B78-7B2B289706F4}"/>
              </a:ext>
            </a:extLst>
          </p:cNvPr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25" name="object 4">
            <a:extLst>
              <a:ext uri="{FF2B5EF4-FFF2-40B4-BE49-F238E27FC236}">
                <a16:creationId xmlns:a16="http://schemas.microsoft.com/office/drawing/2014/main" id="{6E023D1E-AC77-0C26-A30C-B8F1E0F3D075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26" name="object 5">
              <a:extLst>
                <a:ext uri="{FF2B5EF4-FFF2-40B4-BE49-F238E27FC236}">
                  <a16:creationId xmlns:a16="http://schemas.microsoft.com/office/drawing/2014/main" id="{DD1194F6-82CE-86E6-9CF8-116D781E6FED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6">
              <a:extLst>
                <a:ext uri="{FF2B5EF4-FFF2-40B4-BE49-F238E27FC236}">
                  <a16:creationId xmlns:a16="http://schemas.microsoft.com/office/drawing/2014/main" id="{33A8FD56-644A-B677-633F-5BB19DB9731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FE130D3-7272-311C-5F6E-4912DB9D0A87}"/>
              </a:ext>
            </a:extLst>
          </p:cNvPr>
          <p:cNvSpPr txBox="1"/>
          <p:nvPr/>
        </p:nvSpPr>
        <p:spPr>
          <a:xfrm>
            <a:off x="550646" y="105656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latin typeface="Bookman Old Style" panose="02050604050505020204" pitchFamily="18" charset="0"/>
              </a:rPr>
              <a:t>Valeurs remarquables: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8B3576-06B0-1149-BB70-9A0ED868FBF6}"/>
                  </a:ext>
                </a:extLst>
              </p:cNvPr>
              <p:cNvSpPr txBox="1"/>
              <p:nvPr/>
            </p:nvSpPr>
            <p:spPr>
              <a:xfrm>
                <a:off x="550646" y="1374394"/>
                <a:ext cx="8567699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sz="1600" dirty="0">
                    <a:latin typeface="Bookman Old Style" panose="02050604050505020204" pitchFamily="18" charset="0"/>
                  </a:rPr>
                  <a:t>Soit G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un gain en puissance 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égal à 2. Le gain G' correspondant en décibels est : </a:t>
                </a:r>
              </a:p>
              <a:p>
                <a:pPr algn="just"/>
                <a:r>
                  <a:rPr lang="fr-FR" sz="1600" dirty="0">
                    <a:latin typeface="Bookman Old Style" panose="02050604050505020204" pitchFamily="18" charset="0"/>
                  </a:rPr>
                  <a:t>G' = 10.Log10(2) = 3,01 dB≈ 3 dB.</a:t>
                </a:r>
              </a:p>
              <a:p>
                <a:pPr algn="just"/>
                <a:endParaRPr lang="fr-FR" sz="1600" dirty="0">
                  <a:latin typeface="Bookman Old Style" panose="02050604050505020204" pitchFamily="18" charset="0"/>
                </a:endParaRPr>
              </a:p>
              <a:p>
                <a:pPr algn="just"/>
                <a:r>
                  <a:rPr lang="fr-FR" sz="1600" dirty="0">
                    <a:latin typeface="Bookman Old Style" panose="02050604050505020204" pitchFamily="18" charset="0"/>
                  </a:rPr>
                  <a:t>Si G = 4, G' = 6,02=6 dB</a:t>
                </a:r>
              </a:p>
              <a:p>
                <a:pPr algn="just"/>
                <a:r>
                  <a:rPr lang="fr-FR" sz="1600" dirty="0">
                    <a:latin typeface="Bookman Old Style" panose="02050604050505020204" pitchFamily="18" charset="0"/>
                  </a:rPr>
                  <a:t>Si G = 1⁄2, G’ = - 3 dB</a:t>
                </a:r>
              </a:p>
              <a:p>
                <a:pPr algn="just"/>
                <a:endParaRPr lang="fr-FR" sz="1600" dirty="0">
                  <a:latin typeface="Bookman Old Style" panose="02050604050505020204" pitchFamily="18" charset="0"/>
                </a:endParaRPr>
              </a:p>
              <a:p>
                <a:pPr algn="just"/>
                <a:r>
                  <a:rPr lang="fr-FR" sz="1600" b="1" dirty="0">
                    <a:latin typeface="Bookman Old Style" panose="02050604050505020204" pitchFamily="18" charset="0"/>
                  </a:rPr>
                  <a:t>Une multiplication du gain par 2 correspond à une augmentation de 3 dB. </a:t>
                </a:r>
              </a:p>
              <a:p>
                <a:pPr algn="just"/>
                <a:r>
                  <a:rPr lang="fr-FR" sz="1600" b="1" dirty="0">
                    <a:latin typeface="Bookman Old Style" panose="02050604050505020204" pitchFamily="18" charset="0"/>
                  </a:rPr>
                  <a:t>Une division du gain par 2 correspond à une diminution de 3 dB.</a:t>
                </a:r>
              </a:p>
              <a:p>
                <a:pPr algn="just"/>
                <a:endParaRPr lang="fr-FR" sz="1500" dirty="0">
                  <a:latin typeface="Bookman Old Style" panose="02050604050505020204" pitchFamily="18" charset="0"/>
                </a:endParaRPr>
              </a:p>
              <a:p>
                <a:pPr algn="just"/>
                <a:r>
                  <a:rPr lang="fr-FR" sz="1600" dirty="0">
                    <a:latin typeface="Bookman Old Style" panose="02050604050505020204" pitchFamily="18" charset="0"/>
                  </a:rPr>
                  <a:t>Soit G un gain en puissance égal à 10 donc G' = 10.Log10(10) = 10 dB.</a:t>
                </a:r>
              </a:p>
              <a:p>
                <a:pPr algn="just"/>
                <a:endParaRPr lang="fr-FR" sz="1600" dirty="0">
                  <a:latin typeface="Bookman Old Style" panose="02050604050505020204" pitchFamily="18" charset="0"/>
                </a:endParaRPr>
              </a:p>
              <a:p>
                <a:pPr algn="just"/>
                <a:r>
                  <a:rPr lang="fr-FR" sz="1600" dirty="0">
                    <a:latin typeface="Bookman Old Style" panose="02050604050505020204" pitchFamily="18" charset="0"/>
                  </a:rPr>
                  <a:t>Si G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sz="160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fr-FR" sz="1600" dirty="0">
                    <a:latin typeface="Bookman Old Style" panose="02050604050505020204" pitchFamily="18" charset="0"/>
                  </a:rPr>
                  <a:t> , G' = 60 dB.</a:t>
                </a:r>
              </a:p>
              <a:p>
                <a:pPr algn="just"/>
                <a:r>
                  <a:rPr lang="fr-FR" sz="1600" dirty="0">
                    <a:latin typeface="Bookman Old Style" panose="02050604050505020204" pitchFamily="18" charset="0"/>
                  </a:rPr>
                  <a:t>Si G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sz="1600" b="0" i="1" dirty="0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fr-FR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600" dirty="0">
                    <a:latin typeface="Bookman Old Style" panose="02050604050505020204" pitchFamily="18" charset="0"/>
                  </a:rPr>
                  <a:t>G' = - 30 dB.</a:t>
                </a:r>
              </a:p>
              <a:p>
                <a:pPr algn="just"/>
                <a:endParaRPr lang="fr-FR" sz="1600" dirty="0">
                  <a:latin typeface="Bookman Old Style" panose="02050604050505020204" pitchFamily="18" charset="0"/>
                </a:endParaRPr>
              </a:p>
              <a:p>
                <a:pPr algn="just"/>
                <a:r>
                  <a:rPr lang="fr-FR" sz="1600" b="1" dirty="0">
                    <a:latin typeface="Bookman Old Style" panose="02050604050505020204" pitchFamily="18" charset="0"/>
                  </a:rPr>
                  <a:t>Pour les tensions, une multiplication du gain par 2 correspond à + 6 dB.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8B3576-06B0-1149-BB70-9A0ED868F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46" y="1374394"/>
                <a:ext cx="8567699" cy="3785652"/>
              </a:xfrm>
              <a:prstGeom prst="rect">
                <a:avLst/>
              </a:prstGeom>
              <a:blipFill>
                <a:blip r:embed="rId3"/>
                <a:stretch>
                  <a:fillRect l="-356" t="-483" b="-8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8503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498049" y="4824173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12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2868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3.</a:t>
            </a:r>
            <a:r>
              <a:rPr lang="fr-FR" dirty="0"/>
              <a:t> </a:t>
            </a: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Diagramme de Bode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5ADE6F-5C78-13E2-4140-8C5F6744A6B9}"/>
              </a:ext>
            </a:extLst>
          </p:cNvPr>
          <p:cNvSpPr/>
          <p:nvPr/>
        </p:nvSpPr>
        <p:spPr>
          <a:xfrm>
            <a:off x="339776" y="1056512"/>
            <a:ext cx="29963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Bookman Old Style" panose="02050604050505020204" pitchFamily="18" charset="0"/>
              </a:rPr>
              <a:t>Prenons l’exemple du circuit </a:t>
            </a:r>
            <a:r>
              <a:rPr lang="fr-FR" sz="1400" b="1" dirty="0">
                <a:latin typeface="Bookman Old Style" panose="02050604050505020204" pitchFamily="18" charset="0"/>
              </a:rPr>
              <a:t>RC</a:t>
            </a:r>
          </a:p>
        </p:txBody>
      </p:sp>
      <p:grpSp>
        <p:nvGrpSpPr>
          <p:cNvPr id="13" name="Group 2">
            <a:extLst>
              <a:ext uri="{FF2B5EF4-FFF2-40B4-BE49-F238E27FC236}">
                <a16:creationId xmlns:a16="http://schemas.microsoft.com/office/drawing/2014/main" id="{6832E280-A605-B861-DA6F-E74BCA197EDD}"/>
              </a:ext>
            </a:extLst>
          </p:cNvPr>
          <p:cNvGrpSpPr>
            <a:grpSpLocks/>
          </p:cNvGrpSpPr>
          <p:nvPr/>
        </p:nvGrpSpPr>
        <p:grpSpPr bwMode="auto">
          <a:xfrm>
            <a:off x="6039746" y="971550"/>
            <a:ext cx="2994066" cy="1460520"/>
            <a:chOff x="6465" y="9360"/>
            <a:chExt cx="3720" cy="1800"/>
          </a:xfrm>
        </p:grpSpPr>
        <p:sp>
          <p:nvSpPr>
            <p:cNvPr id="16" name="Text Box 3">
              <a:extLst>
                <a:ext uri="{FF2B5EF4-FFF2-40B4-BE49-F238E27FC236}">
                  <a16:creationId xmlns:a16="http://schemas.microsoft.com/office/drawing/2014/main" id="{12F0E732-01A6-FF00-0891-707B81F795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5" y="10305"/>
              <a:ext cx="570" cy="39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400" i="0" u="none" strike="noStrike" cap="none" normalizeH="0" baseline="0">
                  <a:ln>
                    <a:noFill/>
                  </a:ln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v</a:t>
              </a:r>
              <a:r>
                <a:rPr kumimoji="0" lang="fr-FR" sz="1400" i="0" u="none" strike="noStrike" cap="none" normalizeH="0" baseline="-25000">
                  <a:ln>
                    <a:noFill/>
                  </a:ln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e</a:t>
              </a:r>
              <a:endParaRPr kumimoji="0" lang="fr-FR" sz="1400" i="0" u="none" strike="noStrike" cap="none" normalizeH="0" baseline="0">
                <a:ln>
                  <a:noFill/>
                </a:ln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17" name="Text Box 4">
              <a:extLst>
                <a:ext uri="{FF2B5EF4-FFF2-40B4-BE49-F238E27FC236}">
                  <a16:creationId xmlns:a16="http://schemas.microsoft.com/office/drawing/2014/main" id="{2BB69597-AF42-767C-004A-1F6E6238D7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15" y="10305"/>
              <a:ext cx="570" cy="39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400" i="0" u="none" strike="noStrike" cap="none" normalizeH="0" baseline="0">
                  <a:ln>
                    <a:noFill/>
                  </a:ln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v</a:t>
              </a:r>
              <a:r>
                <a:rPr kumimoji="0" lang="fr-FR" sz="1400" i="0" u="none" strike="noStrike" cap="none" normalizeH="0" baseline="-25000">
                  <a:ln>
                    <a:noFill/>
                  </a:ln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s</a:t>
              </a:r>
              <a:endParaRPr kumimoji="0" lang="fr-FR" sz="1400" i="0" u="none" strike="noStrike" cap="none" normalizeH="0" baseline="0">
                <a:ln>
                  <a:noFill/>
                </a:ln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0" name="Text Box 5">
              <a:extLst>
                <a:ext uri="{FF2B5EF4-FFF2-40B4-BE49-F238E27FC236}">
                  <a16:creationId xmlns:a16="http://schemas.microsoft.com/office/drawing/2014/main" id="{84360A90-45B1-ADE4-2EE9-7150FB36E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0" y="10140"/>
              <a:ext cx="570" cy="39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400" i="0" u="none" strike="noStrike" cap="none" normalizeH="0" baseline="0">
                  <a:ln>
                    <a:noFill/>
                  </a:ln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C</a:t>
              </a:r>
              <a:endParaRPr kumimoji="0" lang="fr-FR" sz="1400" i="0" u="none" strike="noStrike" cap="none" normalizeH="0" baseline="0">
                <a:ln>
                  <a:noFill/>
                </a:ln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sp>
          <p:nvSpPr>
            <p:cNvPr id="24" name="Text Box 6">
              <a:extLst>
                <a:ext uri="{FF2B5EF4-FFF2-40B4-BE49-F238E27FC236}">
                  <a16:creationId xmlns:a16="http://schemas.microsoft.com/office/drawing/2014/main" id="{88F3E211-751A-1E6F-6618-422D92E904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0" y="9360"/>
              <a:ext cx="570" cy="39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fr-FR" sz="1400" i="0" u="none" strike="noStrike" cap="none" normalizeH="0" baseline="0">
                  <a:ln>
                    <a:noFill/>
                  </a:ln>
                  <a:effectLst/>
                  <a:latin typeface="Bookman Old Style" panose="02050604050505020204" pitchFamily="18" charset="0"/>
                  <a:ea typeface="Arial" pitchFamily="34" charset="0"/>
                  <a:cs typeface="Arial" pitchFamily="34" charset="0"/>
                </a:rPr>
                <a:t>R</a:t>
              </a:r>
              <a:endParaRPr kumimoji="0" lang="fr-FR" sz="1400" i="0" u="none" strike="noStrike" cap="none" normalizeH="0" baseline="0">
                <a:ln>
                  <a:noFill/>
                </a:ln>
                <a:effectLst/>
                <a:latin typeface="Bookman Old Style" panose="02050604050505020204" pitchFamily="18" charset="0"/>
                <a:cs typeface="Arial" pitchFamily="34" charset="0"/>
              </a:endParaRPr>
            </a:p>
          </p:txBody>
        </p:sp>
        <p:cxnSp>
          <p:nvCxnSpPr>
            <p:cNvPr id="25" name="AutoShape 7">
              <a:extLst>
                <a:ext uri="{FF2B5EF4-FFF2-40B4-BE49-F238E27FC236}">
                  <a16:creationId xmlns:a16="http://schemas.microsoft.com/office/drawing/2014/main" id="{100E13EE-F643-6176-DB18-37F1E367AE8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00" y="9795"/>
              <a:ext cx="2625" cy="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6" name="AutoShape 8">
              <a:extLst>
                <a:ext uri="{FF2B5EF4-FFF2-40B4-BE49-F238E27FC236}">
                  <a16:creationId xmlns:a16="http://schemas.microsoft.com/office/drawing/2014/main" id="{DB11A953-C99B-C653-11CF-2E2E496F42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00" y="11160"/>
              <a:ext cx="2625" cy="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28" name="Rectangle 9">
              <a:extLst>
                <a:ext uri="{FF2B5EF4-FFF2-40B4-BE49-F238E27FC236}">
                  <a16:creationId xmlns:a16="http://schemas.microsoft.com/office/drawing/2014/main" id="{2CF06D07-CAAA-0283-A47C-E50742CAD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0" y="9720"/>
              <a:ext cx="690" cy="143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400">
                <a:solidFill>
                  <a:schemeClr val="tx1"/>
                </a:solidFill>
                <a:latin typeface="Bookman Old Style" panose="02050604050505020204" pitchFamily="18" charset="0"/>
              </a:endParaRPr>
            </a:p>
          </p:txBody>
        </p:sp>
        <p:cxnSp>
          <p:nvCxnSpPr>
            <p:cNvPr id="29" name="AutoShape 10">
              <a:extLst>
                <a:ext uri="{FF2B5EF4-FFF2-40B4-BE49-F238E27FC236}">
                  <a16:creationId xmlns:a16="http://schemas.microsoft.com/office/drawing/2014/main" id="{FAB70393-9B0B-3FB0-8532-249D214A03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000" y="9795"/>
              <a:ext cx="1" cy="645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0" name="AutoShape 11">
              <a:extLst>
                <a:ext uri="{FF2B5EF4-FFF2-40B4-BE49-F238E27FC236}">
                  <a16:creationId xmlns:a16="http://schemas.microsoft.com/office/drawing/2014/main" id="{08496F49-3513-785B-74B1-F1885AFA34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000" y="10530"/>
              <a:ext cx="1" cy="63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1" name="AutoShape 12">
              <a:extLst>
                <a:ext uri="{FF2B5EF4-FFF2-40B4-BE49-F238E27FC236}">
                  <a16:creationId xmlns:a16="http://schemas.microsoft.com/office/drawing/2014/main" id="{76A0FAB4-1B73-D647-8C1E-A5FEF0C5BA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35" y="10440"/>
              <a:ext cx="315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2" name="AutoShape 13">
              <a:extLst>
                <a:ext uri="{FF2B5EF4-FFF2-40B4-BE49-F238E27FC236}">
                  <a16:creationId xmlns:a16="http://schemas.microsoft.com/office/drawing/2014/main" id="{64670BDF-08F1-1483-42BF-0443A15AC5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35" y="10530"/>
              <a:ext cx="315" cy="0"/>
            </a:xfrm>
            <a:prstGeom prst="straightConnector1">
              <a:avLst/>
            </a:prstGeom>
            <a:ln>
              <a:headEnd/>
              <a:tailEnd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3" name="AutoShape 14">
              <a:extLst>
                <a:ext uri="{FF2B5EF4-FFF2-40B4-BE49-F238E27FC236}">
                  <a16:creationId xmlns:a16="http://schemas.microsoft.com/office/drawing/2014/main" id="{48FB266A-2FDD-A7E8-9838-82B6BF0BE2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919" y="9945"/>
              <a:ext cx="0" cy="1095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arrow" w="med" len="med"/>
            </a:ln>
          </p:spPr>
        </p:cxnSp>
        <p:cxnSp>
          <p:nvCxnSpPr>
            <p:cNvPr id="34" name="AutoShape 15">
              <a:extLst>
                <a:ext uri="{FF2B5EF4-FFF2-40B4-BE49-F238E27FC236}">
                  <a16:creationId xmlns:a16="http://schemas.microsoft.com/office/drawing/2014/main" id="{4804A835-C128-050B-F764-51C252B240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595" y="9960"/>
              <a:ext cx="0" cy="1095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arrow" w="med" len="med"/>
            </a:ln>
          </p:spPr>
        </p:cxnSp>
      </p:grpSp>
      <p:graphicFrame>
        <p:nvGraphicFramePr>
          <p:cNvPr id="35" name="Object 16">
            <a:extLst>
              <a:ext uri="{FF2B5EF4-FFF2-40B4-BE49-F238E27FC236}">
                <a16:creationId xmlns:a16="http://schemas.microsoft.com/office/drawing/2014/main" id="{C40213BC-5264-2227-BA69-B40A95B35B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0285"/>
              </p:ext>
            </p:extLst>
          </p:nvPr>
        </p:nvGraphicFramePr>
        <p:xfrm>
          <a:off x="472547" y="1454107"/>
          <a:ext cx="2227293" cy="8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97950" imgH="545863" progId="">
                  <p:embed/>
                </p:oleObj>
              </mc:Choice>
              <mc:Fallback>
                <p:oleObj r:id="rId3" imgW="1497950" imgH="545863" progId="">
                  <p:embed/>
                  <p:pic>
                    <p:nvPicPr>
                      <p:cNvPr id="35" name="Object 16">
                        <a:extLst>
                          <a:ext uri="{FF2B5EF4-FFF2-40B4-BE49-F238E27FC236}">
                            <a16:creationId xmlns:a16="http://schemas.microsoft.com/office/drawing/2014/main" id="{C40213BC-5264-2227-BA69-B40A95B35B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547" y="1454107"/>
                        <a:ext cx="2227293" cy="8086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EB41C52B-344E-CE80-C641-25DCAAFB33A0}"/>
              </a:ext>
            </a:extLst>
          </p:cNvPr>
          <p:cNvSpPr/>
          <p:nvPr/>
        </p:nvSpPr>
        <p:spPr>
          <a:xfrm>
            <a:off x="2778086" y="1527935"/>
            <a:ext cx="22252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Bookman Old Style" panose="02050604050505020204" pitchFamily="18" charset="0"/>
              </a:rPr>
              <a:t>où </a:t>
            </a:r>
            <a:r>
              <a:rPr lang="fr-FR" sz="1400" i="1" dirty="0">
                <a:latin typeface="Bookman Old Style" panose="02050604050505020204" pitchFamily="18" charset="0"/>
              </a:rPr>
              <a:t>t</a:t>
            </a:r>
            <a:r>
              <a:rPr lang="fr-FR" sz="1400" dirty="0">
                <a:latin typeface="Bookman Old Style" panose="02050604050505020204" pitchFamily="18" charset="0"/>
              </a:rPr>
              <a:t> = RC et </a:t>
            </a:r>
            <a:r>
              <a:rPr lang="fr-FR" sz="1400" i="1" dirty="0">
                <a:latin typeface="Bookman Old Style" panose="02050604050505020204" pitchFamily="18" charset="0"/>
              </a:rPr>
              <a:t>w</a:t>
            </a:r>
            <a:r>
              <a:rPr lang="fr-FR" sz="1400" baseline="-25000" dirty="0">
                <a:latin typeface="Bookman Old Style" panose="02050604050505020204" pitchFamily="18" charset="0"/>
              </a:rPr>
              <a:t>0</a:t>
            </a:r>
            <a:r>
              <a:rPr lang="fr-FR" sz="1400" dirty="0">
                <a:latin typeface="Bookman Old Style" panose="02050604050505020204" pitchFamily="18" charset="0"/>
              </a:rPr>
              <a:t> = 1/RC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111D2ED-7C99-61E0-CC0E-8BD80EC9CE69}"/>
              </a:ext>
            </a:extLst>
          </p:cNvPr>
          <p:cNvSpPr/>
          <p:nvPr/>
        </p:nvSpPr>
        <p:spPr>
          <a:xfrm>
            <a:off x="354619" y="2294655"/>
            <a:ext cx="17107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Bookman Old Style" panose="02050604050505020204" pitchFamily="18" charset="0"/>
              </a:rPr>
              <a:t>Le </a:t>
            </a:r>
            <a:r>
              <a:rPr lang="fr-FR" sz="1400" b="1" dirty="0">
                <a:latin typeface="Bookman Old Style" panose="02050604050505020204" pitchFamily="18" charset="0"/>
              </a:rPr>
              <a:t>module</a:t>
            </a:r>
            <a:r>
              <a:rPr lang="fr-FR" sz="1400" dirty="0">
                <a:latin typeface="Bookman Old Style" panose="02050604050505020204" pitchFamily="18" charset="0"/>
              </a:rPr>
              <a:t> de </a:t>
            </a:r>
            <a:r>
              <a:rPr lang="fr-FR" sz="1400" b="1" dirty="0">
                <a:latin typeface="Bookman Old Style" panose="02050604050505020204" pitchFamily="18" charset="0"/>
              </a:rPr>
              <a:t>H</a:t>
            </a:r>
            <a:r>
              <a:rPr lang="fr-FR" sz="1400" dirty="0">
                <a:latin typeface="Bookman Old Style" panose="02050604050505020204" pitchFamily="18" charset="0"/>
              </a:rPr>
              <a:t>: </a:t>
            </a:r>
          </a:p>
        </p:txBody>
      </p:sp>
      <p:graphicFrame>
        <p:nvGraphicFramePr>
          <p:cNvPr id="38" name="Object 18">
            <a:extLst>
              <a:ext uri="{FF2B5EF4-FFF2-40B4-BE49-F238E27FC236}">
                <a16:creationId xmlns:a16="http://schemas.microsoft.com/office/drawing/2014/main" id="{5A30D884-797C-F9FA-3D4A-4D7BAE5A5F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03353"/>
              </p:ext>
            </p:extLst>
          </p:nvPr>
        </p:nvGraphicFramePr>
        <p:xfrm>
          <a:off x="3018811" y="2116583"/>
          <a:ext cx="1350981" cy="959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52500" imgH="673100" progId="">
                  <p:embed/>
                </p:oleObj>
              </mc:Choice>
              <mc:Fallback>
                <p:oleObj r:id="rId5" imgW="952500" imgH="673100" progId="">
                  <p:embed/>
                  <p:pic>
                    <p:nvPicPr>
                      <p:cNvPr id="38" name="Object 18">
                        <a:extLst>
                          <a:ext uri="{FF2B5EF4-FFF2-40B4-BE49-F238E27FC236}">
                            <a16:creationId xmlns:a16="http://schemas.microsoft.com/office/drawing/2014/main" id="{5A30D884-797C-F9FA-3D4A-4D7BAE5A5F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8811" y="2116583"/>
                        <a:ext cx="1350981" cy="9591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41E8B1DA-951F-E299-D558-C5900EED6EF3}"/>
              </a:ext>
            </a:extLst>
          </p:cNvPr>
          <p:cNvSpPr/>
          <p:nvPr/>
        </p:nvSpPr>
        <p:spPr>
          <a:xfrm>
            <a:off x="402712" y="3110250"/>
            <a:ext cx="11865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Bookman Old Style" panose="02050604050505020204" pitchFamily="18" charset="0"/>
              </a:rPr>
              <a:t>En posant:</a:t>
            </a:r>
          </a:p>
        </p:txBody>
      </p:sp>
      <p:graphicFrame>
        <p:nvGraphicFramePr>
          <p:cNvPr id="40" name="Object 20">
            <a:extLst>
              <a:ext uri="{FF2B5EF4-FFF2-40B4-BE49-F238E27FC236}">
                <a16:creationId xmlns:a16="http://schemas.microsoft.com/office/drawing/2014/main" id="{9030952E-DB8E-D8C1-F523-A9C9726F5B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764652"/>
              </p:ext>
            </p:extLst>
          </p:nvPr>
        </p:nvGraphicFramePr>
        <p:xfrm>
          <a:off x="1717179" y="3037224"/>
          <a:ext cx="642629" cy="584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418918" imgH="380835" progId="">
                  <p:embed/>
                </p:oleObj>
              </mc:Choice>
              <mc:Fallback>
                <p:oleObj r:id="rId7" imgW="418918" imgH="380835" progId="">
                  <p:embed/>
                  <p:pic>
                    <p:nvPicPr>
                      <p:cNvPr id="40" name="Object 20">
                        <a:extLst>
                          <a:ext uri="{FF2B5EF4-FFF2-40B4-BE49-F238E27FC236}">
                            <a16:creationId xmlns:a16="http://schemas.microsoft.com/office/drawing/2014/main" id="{9030952E-DB8E-D8C1-F523-A9C9726F5B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179" y="3037224"/>
                        <a:ext cx="642629" cy="5842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5206AA69-10F0-ED94-5826-0B5D3AAA0328}"/>
              </a:ext>
            </a:extLst>
          </p:cNvPr>
          <p:cNvSpPr/>
          <p:nvPr/>
        </p:nvSpPr>
        <p:spPr>
          <a:xfrm>
            <a:off x="2483953" y="3073737"/>
            <a:ext cx="1366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Bookman Old Style" panose="02050604050505020204" pitchFamily="18" charset="0"/>
              </a:rPr>
              <a:t>, on obtient : </a:t>
            </a:r>
          </a:p>
        </p:txBody>
      </p:sp>
      <p:graphicFrame>
        <p:nvGraphicFramePr>
          <p:cNvPr id="42" name="Object 22">
            <a:extLst>
              <a:ext uri="{FF2B5EF4-FFF2-40B4-BE49-F238E27FC236}">
                <a16:creationId xmlns:a16="http://schemas.microsoft.com/office/drawing/2014/main" id="{AD537C14-1A0B-BC0D-9B57-99B9AE139F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9723474"/>
              </p:ext>
            </p:extLst>
          </p:nvPr>
        </p:nvGraphicFramePr>
        <p:xfrm>
          <a:off x="4090524" y="3000711"/>
          <a:ext cx="1058877" cy="599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723586" imgH="406224" progId="">
                  <p:embed/>
                </p:oleObj>
              </mc:Choice>
              <mc:Fallback>
                <p:oleObj r:id="rId9" imgW="723586" imgH="406224" progId="">
                  <p:embed/>
                  <p:pic>
                    <p:nvPicPr>
                      <p:cNvPr id="42" name="Object 22">
                        <a:extLst>
                          <a:ext uri="{FF2B5EF4-FFF2-40B4-BE49-F238E27FC236}">
                            <a16:creationId xmlns:a16="http://schemas.microsoft.com/office/drawing/2014/main" id="{AD537C14-1A0B-BC0D-9B57-99B9AE139F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524" y="3000711"/>
                        <a:ext cx="1058877" cy="5991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2866D3CD-56A7-BD5C-F34E-B5E15DEFD2F2}"/>
              </a:ext>
            </a:extLst>
          </p:cNvPr>
          <p:cNvSpPr/>
          <p:nvPr/>
        </p:nvSpPr>
        <p:spPr>
          <a:xfrm>
            <a:off x="354619" y="3670095"/>
            <a:ext cx="850752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1400" dirty="0">
                <a:latin typeface="Bookman Old Style" panose="02050604050505020204" pitchFamily="18" charset="0"/>
              </a:rPr>
              <a:t>Si l'on représente </a:t>
            </a:r>
            <a:r>
              <a:rPr lang="fr-FR" sz="1400" b="1" dirty="0">
                <a:latin typeface="Bookman Old Style" panose="02050604050505020204" pitchFamily="18" charset="0"/>
              </a:rPr>
              <a:t>|H|</a:t>
            </a:r>
            <a:r>
              <a:rPr lang="fr-FR" sz="1400" dirty="0">
                <a:latin typeface="Bookman Old Style" panose="02050604050505020204" pitchFamily="18" charset="0"/>
              </a:rPr>
              <a:t> sur une </a:t>
            </a:r>
            <a:r>
              <a:rPr lang="fr-FR" sz="1400" b="1" dirty="0">
                <a:latin typeface="Bookman Old Style" panose="02050604050505020204" pitchFamily="18" charset="0"/>
              </a:rPr>
              <a:t>échelle linéaire</a:t>
            </a:r>
            <a:r>
              <a:rPr lang="fr-FR" sz="1400" dirty="0">
                <a:latin typeface="Bookman Old Style" panose="02050604050505020204" pitchFamily="18" charset="0"/>
              </a:rPr>
              <a:t>, on obtient une courbe ne représentant pas d'asymptote lorsque </a:t>
            </a:r>
            <a:r>
              <a:rPr lang="fr-FR" sz="1400" b="1" dirty="0">
                <a:latin typeface="Bookman Old Style" panose="02050604050505020204" pitchFamily="18" charset="0"/>
              </a:rPr>
              <a:t>x&lt;&lt;1 </a:t>
            </a:r>
            <a:r>
              <a:rPr lang="fr-FR" sz="1400" dirty="0">
                <a:latin typeface="Bookman Old Style" panose="02050604050505020204" pitchFamily="18" charset="0"/>
              </a:rPr>
              <a:t>ou </a:t>
            </a:r>
            <a:r>
              <a:rPr lang="fr-FR" sz="1400" b="1" dirty="0">
                <a:latin typeface="Bookman Old Style" panose="02050604050505020204" pitchFamily="18" charset="0"/>
              </a:rPr>
              <a:t>x&gt;&gt;1</a:t>
            </a:r>
            <a:r>
              <a:rPr lang="fr-FR" sz="1400" dirty="0">
                <a:latin typeface="Bookman Old Style" panose="02050604050505020204" pitchFamily="18" charset="0"/>
              </a:rPr>
              <a:t>. Le tracé de </a:t>
            </a:r>
            <a:r>
              <a:rPr lang="fr-FR" sz="1400" b="1" dirty="0">
                <a:latin typeface="Bookman Old Style" panose="02050604050505020204" pitchFamily="18" charset="0"/>
              </a:rPr>
              <a:t>H</a:t>
            </a:r>
            <a:r>
              <a:rPr lang="fr-FR" sz="1400" dirty="0">
                <a:latin typeface="Bookman Old Style" panose="02050604050505020204" pitchFamily="18" charset="0"/>
              </a:rPr>
              <a:t> nécessite donc le calcul d'un grand nombre de points.</a:t>
            </a:r>
          </a:p>
          <a:p>
            <a:pPr algn="just"/>
            <a:r>
              <a:rPr lang="fr-FR" sz="1400" dirty="0">
                <a:latin typeface="Bookman Old Style" panose="02050604050505020204" pitchFamily="18" charset="0"/>
              </a:rPr>
              <a:t>Le tracé en </a:t>
            </a:r>
            <a:r>
              <a:rPr lang="fr-FR" sz="1400" b="1" dirty="0">
                <a:latin typeface="Bookman Old Style" panose="02050604050505020204" pitchFamily="18" charset="0"/>
              </a:rPr>
              <a:t>échelle linéaire </a:t>
            </a:r>
            <a:r>
              <a:rPr lang="fr-FR" sz="1400" dirty="0">
                <a:latin typeface="Bookman Old Style" panose="02050604050505020204" pitchFamily="18" charset="0"/>
              </a:rPr>
              <a:t>est long et </a:t>
            </a:r>
            <a:r>
              <a:rPr lang="fr-FR" sz="1400" b="1" dirty="0">
                <a:latin typeface="Bookman Old Style" panose="02050604050505020204" pitchFamily="18" charset="0"/>
              </a:rPr>
              <a:t>fastidieux</a:t>
            </a:r>
            <a:r>
              <a:rPr lang="fr-FR" sz="1400" dirty="0">
                <a:latin typeface="Bookman Old Style" panose="02050604050505020204" pitchFamily="18" charset="0"/>
              </a:rPr>
              <a:t>. Il ne permet pas de dégager des informations de façon rapide sur le système (Fréquence de coupure, Bande passante, …)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0782503A-F5CA-1D95-4B03-46C7838A67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11" name="object 6">
            <a:extLst>
              <a:ext uri="{FF2B5EF4-FFF2-40B4-BE49-F238E27FC236}">
                <a16:creationId xmlns:a16="http://schemas.microsoft.com/office/drawing/2014/main" id="{20220904-495D-2D3D-BA3A-222502948128}"/>
              </a:ext>
            </a:extLst>
          </p:cNvPr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21" name="object 7">
              <a:extLst>
                <a:ext uri="{FF2B5EF4-FFF2-40B4-BE49-F238E27FC236}">
                  <a16:creationId xmlns:a16="http://schemas.microsoft.com/office/drawing/2014/main" id="{101787D5-4EF6-7F4C-E741-5664FBF1F97C}"/>
                </a:ext>
              </a:extLst>
            </p:cNvPr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8">
              <a:extLst>
                <a:ext uri="{FF2B5EF4-FFF2-40B4-BE49-F238E27FC236}">
                  <a16:creationId xmlns:a16="http://schemas.microsoft.com/office/drawing/2014/main" id="{13EE77C3-9569-4465-B47E-BD7E9896547D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9">
              <a:extLst>
                <a:ext uri="{FF2B5EF4-FFF2-40B4-BE49-F238E27FC236}">
                  <a16:creationId xmlns:a16="http://schemas.microsoft.com/office/drawing/2014/main" id="{2FE69056-327F-E8EB-5F31-E2B88D4276B1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10">
            <a:extLst>
              <a:ext uri="{FF2B5EF4-FFF2-40B4-BE49-F238E27FC236}">
                <a16:creationId xmlns:a16="http://schemas.microsoft.com/office/drawing/2014/main" id="{6B9053FB-F505-6FF7-9BDC-8C4E930522ED}"/>
              </a:ext>
            </a:extLst>
          </p:cNvPr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44" name="object 4">
            <a:extLst>
              <a:ext uri="{FF2B5EF4-FFF2-40B4-BE49-F238E27FC236}">
                <a16:creationId xmlns:a16="http://schemas.microsoft.com/office/drawing/2014/main" id="{ABF8DF1C-3CC7-F54E-E506-2BB78E83A940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45" name="object 5">
              <a:extLst>
                <a:ext uri="{FF2B5EF4-FFF2-40B4-BE49-F238E27FC236}">
                  <a16:creationId xmlns:a16="http://schemas.microsoft.com/office/drawing/2014/main" id="{3602F72B-079A-B82E-C98F-7E707E720C4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6">
              <a:extLst>
                <a:ext uri="{FF2B5EF4-FFF2-40B4-BE49-F238E27FC236}">
                  <a16:creationId xmlns:a16="http://schemas.microsoft.com/office/drawing/2014/main" id="{A9D27B3A-BD78-C30F-94BC-4992AC429FA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53902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498049" y="4824173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13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F4C5B1-2BBE-0136-2515-89091E999E2B}"/>
              </a:ext>
            </a:extLst>
          </p:cNvPr>
          <p:cNvSpPr txBox="1"/>
          <p:nvPr/>
        </p:nvSpPr>
        <p:spPr>
          <a:xfrm>
            <a:off x="596574" y="89227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2pPr marL="285750" lvl="1" indent="-285750"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393700" algn="l"/>
              </a:tabLst>
              <a:defRPr sz="1600" b="1" spc="-5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defRPr>
            </a:lvl2pPr>
          </a:lstStyle>
          <a:p>
            <a:r>
              <a:rPr lang="fr-FR" sz="1600" b="1" spc="-5" dirty="0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rPr>
              <a:t>3.2 Echelle logarithmique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C1CF37-EA9B-CC92-6835-B610CDAF9D11}"/>
              </a:ext>
            </a:extLst>
          </p:cNvPr>
          <p:cNvSpPr/>
          <p:nvPr/>
        </p:nvSpPr>
        <p:spPr>
          <a:xfrm>
            <a:off x="550646" y="1384974"/>
            <a:ext cx="8440954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r-FR" sz="1600" dirty="0">
                <a:latin typeface="Bookman Old Style" panose="02050604050505020204" pitchFamily="18" charset="0"/>
              </a:rPr>
              <a:t> L'échelle des </a:t>
            </a:r>
            <a:r>
              <a:rPr lang="fr-FR" sz="1600" b="1" dirty="0">
                <a:latin typeface="Bookman Old Style" panose="02050604050505020204" pitchFamily="18" charset="0"/>
              </a:rPr>
              <a:t>fréquences</a:t>
            </a:r>
            <a:r>
              <a:rPr lang="fr-FR" sz="1600" dirty="0">
                <a:latin typeface="Bookman Old Style" panose="02050604050505020204" pitchFamily="18" charset="0"/>
              </a:rPr>
              <a:t> est </a:t>
            </a:r>
            <a:r>
              <a:rPr lang="fr-FR" sz="1600" b="1" dirty="0">
                <a:latin typeface="Bookman Old Style" panose="02050604050505020204" pitchFamily="18" charset="0"/>
              </a:rPr>
              <a:t>logarithmique</a:t>
            </a:r>
            <a:r>
              <a:rPr lang="fr-FR" sz="1600" dirty="0">
                <a:latin typeface="Bookman Old Style" panose="02050604050505020204" pitchFamily="18" charset="0"/>
              </a:rPr>
              <a:t>. On fait correspondre x à log (x). On peut indifféremment utiliser le log népérien ou en base 10.</a:t>
            </a:r>
          </a:p>
          <a:p>
            <a:pPr algn="just">
              <a:spcAft>
                <a:spcPts val="1200"/>
              </a:spcAft>
            </a:pPr>
            <a:endParaRPr lang="fr-FR" sz="1600" dirty="0">
              <a:latin typeface="Bookman Old Style" panose="02050604050505020204" pitchFamily="18" charset="0"/>
            </a:endParaRPr>
          </a:p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r-FR" sz="1600" dirty="0">
                <a:latin typeface="Bookman Old Style" panose="02050604050505020204" pitchFamily="18" charset="0"/>
              </a:rPr>
              <a:t>   Trois points importants sont à retenir lorsque l'on utilise une échelle logarithmique:</a:t>
            </a:r>
          </a:p>
          <a:p>
            <a:pPr algn="just">
              <a:spcAft>
                <a:spcPts val="1200"/>
              </a:spcAft>
            </a:pPr>
            <a:r>
              <a:rPr lang="fr-FR" sz="1600" dirty="0">
                <a:latin typeface="Bookman Old Style" panose="02050604050505020204" pitchFamily="18" charset="0"/>
              </a:rPr>
              <a:t>         Une </a:t>
            </a:r>
            <a:r>
              <a:rPr lang="fr-FR" sz="1600" b="1" dirty="0">
                <a:latin typeface="Bookman Old Style" panose="02050604050505020204" pitchFamily="18" charset="0"/>
              </a:rPr>
              <a:t>multiplication de la fréquence </a:t>
            </a:r>
            <a:r>
              <a:rPr lang="fr-FR" sz="1600" dirty="0">
                <a:latin typeface="Bookman Old Style" panose="02050604050505020204" pitchFamily="18" charset="0"/>
              </a:rPr>
              <a:t>par un </a:t>
            </a:r>
            <a:r>
              <a:rPr lang="fr-FR" sz="1600" b="1" dirty="0">
                <a:latin typeface="Bookman Old Style" panose="02050604050505020204" pitchFamily="18" charset="0"/>
              </a:rPr>
              <a:t>facteur constant </a:t>
            </a:r>
            <a:r>
              <a:rPr lang="fr-FR" sz="1600" dirty="0">
                <a:latin typeface="Bookman Old Style" panose="02050604050505020204" pitchFamily="18" charset="0"/>
              </a:rPr>
              <a:t>se traduit par un </a:t>
            </a:r>
            <a:r>
              <a:rPr lang="fr-FR" sz="1600" b="1" dirty="0">
                <a:latin typeface="Bookman Old Style" panose="02050604050505020204" pitchFamily="18" charset="0"/>
              </a:rPr>
              <a:t>décalage géométrique </a:t>
            </a:r>
            <a:r>
              <a:rPr lang="fr-FR" sz="1600" dirty="0">
                <a:latin typeface="Bookman Old Style" panose="02050604050505020204" pitchFamily="18" charset="0"/>
              </a:rPr>
              <a:t>constant sur l'axe des fréquences.</a:t>
            </a:r>
          </a:p>
          <a:p>
            <a:pPr algn="just">
              <a:spcAft>
                <a:spcPts val="1200"/>
              </a:spcAft>
            </a:pPr>
            <a:r>
              <a:rPr lang="fr-FR" sz="1600" dirty="0">
                <a:latin typeface="Bookman Old Style" panose="02050604050505020204" pitchFamily="18" charset="0"/>
              </a:rPr>
              <a:t>         </a:t>
            </a:r>
            <a:r>
              <a:rPr lang="fr-FR" sz="1600" b="1" dirty="0">
                <a:latin typeface="Bookman Old Style" panose="02050604050505020204" pitchFamily="18" charset="0"/>
              </a:rPr>
              <a:t>L'échelle ne peut pas démarrer du point 0 </a:t>
            </a:r>
            <a:r>
              <a:rPr lang="fr-FR" sz="1600" dirty="0">
                <a:latin typeface="Bookman Old Style" panose="02050604050505020204" pitchFamily="18" charset="0"/>
              </a:rPr>
              <a:t>(fréquence nulle) </a:t>
            </a:r>
            <a:r>
              <a:rPr lang="fr-FR" sz="1600" b="1" dirty="0">
                <a:latin typeface="Bookman Old Style" panose="02050604050505020204" pitchFamily="18" charset="0"/>
              </a:rPr>
              <a:t>du fait que log (0) = – </a:t>
            </a:r>
            <a:r>
              <a:rPr lang="fr-FR" sz="1600" b="1" dirty="0">
                <a:latin typeface="Bookman Old Style" panose="02050604050505020204" pitchFamily="18" charset="0"/>
                <a:sym typeface="Symbol"/>
              </a:rPr>
              <a:t>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  <a:p>
            <a:pPr algn="just">
              <a:spcAft>
                <a:spcPts val="1200"/>
              </a:spcAft>
            </a:pPr>
            <a:r>
              <a:rPr lang="fr-FR" sz="1600" dirty="0">
                <a:latin typeface="Bookman Old Style" panose="02050604050505020204" pitchFamily="18" charset="0"/>
              </a:rPr>
              <a:t>         Une </a:t>
            </a:r>
            <a:r>
              <a:rPr lang="fr-FR" sz="1600" b="1" dirty="0">
                <a:latin typeface="Bookman Old Style" panose="02050604050505020204" pitchFamily="18" charset="0"/>
              </a:rPr>
              <a:t>octave</a:t>
            </a:r>
            <a:r>
              <a:rPr lang="fr-FR" sz="1600" dirty="0">
                <a:latin typeface="Bookman Old Style" panose="02050604050505020204" pitchFamily="18" charset="0"/>
              </a:rPr>
              <a:t> et une </a:t>
            </a:r>
            <a:r>
              <a:rPr lang="fr-FR" sz="1600" b="1" dirty="0">
                <a:latin typeface="Bookman Old Style" panose="02050604050505020204" pitchFamily="18" charset="0"/>
              </a:rPr>
              <a:t>décade</a:t>
            </a:r>
            <a:r>
              <a:rPr lang="fr-FR" sz="1600" dirty="0">
                <a:latin typeface="Bookman Old Style" panose="02050604050505020204" pitchFamily="18" charset="0"/>
              </a:rPr>
              <a:t> correspond respectivement à une </a:t>
            </a:r>
            <a:r>
              <a:rPr lang="fr-FR" sz="1600" b="1" dirty="0">
                <a:latin typeface="Bookman Old Style" panose="02050604050505020204" pitchFamily="18" charset="0"/>
              </a:rPr>
              <a:t>multiplication par un facteur 2 </a:t>
            </a:r>
            <a:r>
              <a:rPr lang="fr-FR" sz="1600" dirty="0">
                <a:latin typeface="Bookman Old Style" panose="02050604050505020204" pitchFamily="18" charset="0"/>
              </a:rPr>
              <a:t>et </a:t>
            </a:r>
            <a:r>
              <a:rPr lang="fr-FR" sz="1600" b="1" dirty="0">
                <a:latin typeface="Bookman Old Style" panose="02050604050505020204" pitchFamily="18" charset="0"/>
              </a:rPr>
              <a:t>10 de la fréquence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44CE9DF-F307-8914-5673-5914493B119D}"/>
              </a:ext>
            </a:extLst>
          </p:cNvPr>
          <p:cNvSpPr/>
          <p:nvPr/>
        </p:nvSpPr>
        <p:spPr>
          <a:xfrm>
            <a:off x="838200" y="3180936"/>
            <a:ext cx="228600" cy="152400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E191F06-6D5B-5291-6057-39E77CE5F5EF}"/>
              </a:ext>
            </a:extLst>
          </p:cNvPr>
          <p:cNvSpPr/>
          <p:nvPr/>
        </p:nvSpPr>
        <p:spPr>
          <a:xfrm>
            <a:off x="838200" y="3791365"/>
            <a:ext cx="228600" cy="152400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B683C4D-6BBF-AB27-E83E-23D89B82ECB0}"/>
              </a:ext>
            </a:extLst>
          </p:cNvPr>
          <p:cNvSpPr/>
          <p:nvPr/>
        </p:nvSpPr>
        <p:spPr>
          <a:xfrm>
            <a:off x="838200" y="4433990"/>
            <a:ext cx="228600" cy="152400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5EDEBE52-9470-7372-23CD-9042140B22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16" name="object 6">
            <a:extLst>
              <a:ext uri="{FF2B5EF4-FFF2-40B4-BE49-F238E27FC236}">
                <a16:creationId xmlns:a16="http://schemas.microsoft.com/office/drawing/2014/main" id="{B1578954-9000-3D64-6A24-3C726425863C}"/>
              </a:ext>
            </a:extLst>
          </p:cNvPr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33F703C2-9B8B-30F8-9888-9FBF60884A23}"/>
                </a:ext>
              </a:extLst>
            </p:cNvPr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8">
              <a:extLst>
                <a:ext uri="{FF2B5EF4-FFF2-40B4-BE49-F238E27FC236}">
                  <a16:creationId xmlns:a16="http://schemas.microsoft.com/office/drawing/2014/main" id="{1A746990-AD3B-FBCE-6E62-E2F305E1BAF3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9">
              <a:extLst>
                <a:ext uri="{FF2B5EF4-FFF2-40B4-BE49-F238E27FC236}">
                  <a16:creationId xmlns:a16="http://schemas.microsoft.com/office/drawing/2014/main" id="{4DE91610-159A-FC4F-A7C3-4DCD29265CDA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0">
            <a:extLst>
              <a:ext uri="{FF2B5EF4-FFF2-40B4-BE49-F238E27FC236}">
                <a16:creationId xmlns:a16="http://schemas.microsoft.com/office/drawing/2014/main" id="{958E7B68-3FF9-7299-2FDB-7F550FEE7300}"/>
              </a:ext>
            </a:extLst>
          </p:cNvPr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25" name="object 4">
            <a:extLst>
              <a:ext uri="{FF2B5EF4-FFF2-40B4-BE49-F238E27FC236}">
                <a16:creationId xmlns:a16="http://schemas.microsoft.com/office/drawing/2014/main" id="{56257E5D-73E5-823F-5BA8-5390274E142B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26" name="object 5">
              <a:extLst>
                <a:ext uri="{FF2B5EF4-FFF2-40B4-BE49-F238E27FC236}">
                  <a16:creationId xmlns:a16="http://schemas.microsoft.com/office/drawing/2014/main" id="{B537C8FB-397D-FB86-8A7C-9F638A65AE37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6">
              <a:extLst>
                <a:ext uri="{FF2B5EF4-FFF2-40B4-BE49-F238E27FC236}">
                  <a16:creationId xmlns:a16="http://schemas.microsoft.com/office/drawing/2014/main" id="{333C8C7F-3301-1D01-09F6-8DCB879E8575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FDECC909-CF99-989A-D44E-1DC312FFA49C}"/>
              </a:ext>
            </a:extLst>
          </p:cNvPr>
          <p:cNvSpPr/>
          <p:nvPr/>
        </p:nvSpPr>
        <p:spPr>
          <a:xfrm>
            <a:off x="550646" y="557613"/>
            <a:ext cx="2868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3.</a:t>
            </a:r>
            <a:r>
              <a:rPr lang="fr-FR" dirty="0"/>
              <a:t> </a:t>
            </a: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Diagramme de Bode</a:t>
            </a:r>
          </a:p>
        </p:txBody>
      </p:sp>
    </p:spTree>
    <p:extLst>
      <p:ext uri="{BB962C8B-B14F-4D97-AF65-F5344CB8AC3E}">
        <p14:creationId xmlns:p14="http://schemas.microsoft.com/office/powerpoint/2010/main" val="728174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498049" y="4824173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14</a:t>
            </a:fld>
            <a:endParaRPr sz="2400" dirty="0">
              <a:latin typeface="Arial"/>
              <a:cs typeface="Arial"/>
            </a:endParaRPr>
          </a:p>
        </p:txBody>
      </p:sp>
      <p:grpSp>
        <p:nvGrpSpPr>
          <p:cNvPr id="86" name="Group 8">
            <a:extLst>
              <a:ext uri="{FF2B5EF4-FFF2-40B4-BE49-F238E27FC236}">
                <a16:creationId xmlns:a16="http://schemas.microsoft.com/office/drawing/2014/main" id="{98B8A1EA-5C8A-F158-44A3-C4A2C017B8DA}"/>
              </a:ext>
            </a:extLst>
          </p:cNvPr>
          <p:cNvGrpSpPr>
            <a:grpSpLocks/>
          </p:cNvGrpSpPr>
          <p:nvPr/>
        </p:nvGrpSpPr>
        <p:grpSpPr bwMode="auto">
          <a:xfrm>
            <a:off x="2197100" y="1461134"/>
            <a:ext cx="6011862" cy="1014412"/>
            <a:chOff x="821" y="11897"/>
            <a:chExt cx="4086" cy="690"/>
          </a:xfrm>
        </p:grpSpPr>
        <p:sp>
          <p:nvSpPr>
            <p:cNvPr id="87" name="Text Box 9">
              <a:extLst>
                <a:ext uri="{FF2B5EF4-FFF2-40B4-BE49-F238E27FC236}">
                  <a16:creationId xmlns:a16="http://schemas.microsoft.com/office/drawing/2014/main" id="{35BC3567-CCFA-486D-E59C-13CA54F35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" y="12059"/>
              <a:ext cx="240" cy="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fr-FR" sz="1400" b="1" dirty="0">
                  <a:latin typeface="Bookman Old Style" panose="02050604050505020204" pitchFamily="18" charset="0"/>
                </a:rPr>
                <a:t>lin</a:t>
              </a:r>
            </a:p>
          </p:txBody>
        </p:sp>
        <p:grpSp>
          <p:nvGrpSpPr>
            <p:cNvPr id="88" name="Group 10">
              <a:extLst>
                <a:ext uri="{FF2B5EF4-FFF2-40B4-BE49-F238E27FC236}">
                  <a16:creationId xmlns:a16="http://schemas.microsoft.com/office/drawing/2014/main" id="{24AFE745-2C56-3F66-A49C-55F98C6FF8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2107"/>
              <a:ext cx="4056" cy="480"/>
              <a:chOff x="983" y="11141"/>
              <a:chExt cx="4056" cy="480"/>
            </a:xfrm>
          </p:grpSpPr>
          <p:sp>
            <p:nvSpPr>
              <p:cNvPr id="92" name="Line 11">
                <a:extLst>
                  <a:ext uri="{FF2B5EF4-FFF2-40B4-BE49-F238E27FC236}">
                    <a16:creationId xmlns:a16="http://schemas.microsoft.com/office/drawing/2014/main" id="{9788A5E4-0B8C-5240-5E2C-DC853EC9AD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3" y="11387"/>
                <a:ext cx="405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sm"/>
              </a:ln>
            </p:spPr>
            <p:txBody>
              <a:bodyPr/>
              <a:lstStyle/>
              <a:p>
                <a:endParaRPr lang="fr-FR" sz="14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93" name="Line 12">
                <a:extLst>
                  <a:ext uri="{FF2B5EF4-FFF2-40B4-BE49-F238E27FC236}">
                    <a16:creationId xmlns:a16="http://schemas.microsoft.com/office/drawing/2014/main" id="{CDC23227-9C32-33C6-5023-CFF7DE4235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73" y="11201"/>
                <a:ext cx="0" cy="4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 sz="14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94" name="Line 13">
                <a:extLst>
                  <a:ext uri="{FF2B5EF4-FFF2-40B4-BE49-F238E27FC236}">
                    <a16:creationId xmlns:a16="http://schemas.microsoft.com/office/drawing/2014/main" id="{5A2B3708-7064-BA9E-E62C-CB3444851C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9" y="11207"/>
                <a:ext cx="0" cy="4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 sz="14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95" name="Line 14">
                <a:extLst>
                  <a:ext uri="{FF2B5EF4-FFF2-40B4-BE49-F238E27FC236}">
                    <a16:creationId xmlns:a16="http://schemas.microsoft.com/office/drawing/2014/main" id="{8D22A8AC-6160-4A5A-69B9-A12A59FD2B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9" y="11141"/>
                <a:ext cx="0" cy="4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 sz="14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96" name="Line 15">
                <a:extLst>
                  <a:ext uri="{FF2B5EF4-FFF2-40B4-BE49-F238E27FC236}">
                    <a16:creationId xmlns:a16="http://schemas.microsoft.com/office/drawing/2014/main" id="{189A4E52-18D9-DDF1-7DED-4C25A87F8C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7" y="11249"/>
                <a:ext cx="0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 sz="14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97" name="Line 16">
                <a:extLst>
                  <a:ext uri="{FF2B5EF4-FFF2-40B4-BE49-F238E27FC236}">
                    <a16:creationId xmlns:a16="http://schemas.microsoft.com/office/drawing/2014/main" id="{8B5C5550-3AD0-6731-9D06-ACD749A40A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9" y="11249"/>
                <a:ext cx="0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 sz="14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98" name="Line 17">
                <a:extLst>
                  <a:ext uri="{FF2B5EF4-FFF2-40B4-BE49-F238E27FC236}">
                    <a16:creationId xmlns:a16="http://schemas.microsoft.com/office/drawing/2014/main" id="{975EF50C-33A4-D8C7-0067-575B439387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1" y="11249"/>
                <a:ext cx="0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 sz="14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99" name="Line 18">
                <a:extLst>
                  <a:ext uri="{FF2B5EF4-FFF2-40B4-BE49-F238E27FC236}">
                    <a16:creationId xmlns:a16="http://schemas.microsoft.com/office/drawing/2014/main" id="{037D604D-D25B-5AD3-46EB-917B50AF0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7" y="11249"/>
                <a:ext cx="0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 sz="14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100" name="Line 19">
                <a:extLst>
                  <a:ext uri="{FF2B5EF4-FFF2-40B4-BE49-F238E27FC236}">
                    <a16:creationId xmlns:a16="http://schemas.microsoft.com/office/drawing/2014/main" id="{D92FF7FB-9901-3425-6E1F-8BEB19C53D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7" y="11231"/>
                <a:ext cx="0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 sz="14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101" name="Line 20">
                <a:extLst>
                  <a:ext uri="{FF2B5EF4-FFF2-40B4-BE49-F238E27FC236}">
                    <a16:creationId xmlns:a16="http://schemas.microsoft.com/office/drawing/2014/main" id="{9357CA56-30BE-87EA-03ED-198901DED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9" y="11231"/>
                <a:ext cx="0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 sz="14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102" name="Line 21">
                <a:extLst>
                  <a:ext uri="{FF2B5EF4-FFF2-40B4-BE49-F238E27FC236}">
                    <a16:creationId xmlns:a16="http://schemas.microsoft.com/office/drawing/2014/main" id="{C48BB52D-E71B-F0B5-1AF3-230A789386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1" y="11231"/>
                <a:ext cx="0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 sz="14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103" name="Line 22">
                <a:extLst>
                  <a:ext uri="{FF2B5EF4-FFF2-40B4-BE49-F238E27FC236}">
                    <a16:creationId xmlns:a16="http://schemas.microsoft.com/office/drawing/2014/main" id="{C36FE496-70CC-A505-B982-5C24417A1F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7" y="11231"/>
                <a:ext cx="0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 sz="1400"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89" name="Text Box 23">
              <a:extLst>
                <a:ext uri="{FF2B5EF4-FFF2-40B4-BE49-F238E27FC236}">
                  <a16:creationId xmlns:a16="http://schemas.microsoft.com/office/drawing/2014/main" id="{518E6A42-6828-C290-5A5F-E3725080D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9" y="11915"/>
              <a:ext cx="120" cy="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fr-FR" sz="1400" b="1">
                  <a:latin typeface="Bookman Old Style" panose="02050604050505020204" pitchFamily="18" charset="0"/>
                </a:rPr>
                <a:t>0</a:t>
              </a:r>
              <a:endParaRPr lang="fr-FR" sz="1400">
                <a:latin typeface="Bookman Old Style" panose="02050604050505020204" pitchFamily="18" charset="0"/>
              </a:endParaRPr>
            </a:p>
          </p:txBody>
        </p:sp>
        <p:sp>
          <p:nvSpPr>
            <p:cNvPr id="90" name="Text Box 24">
              <a:extLst>
                <a:ext uri="{FF2B5EF4-FFF2-40B4-BE49-F238E27FC236}">
                  <a16:creationId xmlns:a16="http://schemas.microsoft.com/office/drawing/2014/main" id="{F0D7E47A-E8F2-5F6C-336B-1AD147FA84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11897"/>
              <a:ext cx="234" cy="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fr-FR" sz="1400" b="1">
                  <a:latin typeface="Bookman Old Style" panose="02050604050505020204" pitchFamily="18" charset="0"/>
                </a:rPr>
                <a:t>0,5</a:t>
              </a:r>
              <a:endParaRPr lang="fr-FR" sz="1400">
                <a:latin typeface="Bookman Old Style" panose="02050604050505020204" pitchFamily="18" charset="0"/>
              </a:endParaRPr>
            </a:p>
          </p:txBody>
        </p:sp>
        <p:sp>
          <p:nvSpPr>
            <p:cNvPr id="91" name="Text Box 25">
              <a:extLst>
                <a:ext uri="{FF2B5EF4-FFF2-40B4-BE49-F238E27FC236}">
                  <a16:creationId xmlns:a16="http://schemas.microsoft.com/office/drawing/2014/main" id="{234A8288-4029-2FEF-DE4C-4517D28B7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7" y="11903"/>
              <a:ext cx="120" cy="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fr-FR" sz="1400" b="1">
                  <a:latin typeface="Bookman Old Style" panose="02050604050505020204" pitchFamily="18" charset="0"/>
                </a:rPr>
                <a:t>1</a:t>
              </a:r>
              <a:endParaRPr lang="fr-FR" sz="1400">
                <a:latin typeface="Bookman Old Style" panose="02050604050505020204" pitchFamily="18" charset="0"/>
              </a:endParaRPr>
            </a:p>
          </p:txBody>
        </p:sp>
      </p:grpSp>
      <p:sp>
        <p:nvSpPr>
          <p:cNvPr id="104" name="Text Box 61">
            <a:extLst>
              <a:ext uri="{FF2B5EF4-FFF2-40B4-BE49-F238E27FC236}">
                <a16:creationId xmlns:a16="http://schemas.microsoft.com/office/drawing/2014/main" id="{E4E57330-9318-5D58-23F1-46B351553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950" y="1868747"/>
            <a:ext cx="16807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 b="1" dirty="0">
                <a:latin typeface="Bookman Old Style" panose="02050604050505020204" pitchFamily="18" charset="0"/>
              </a:rPr>
              <a:t>Échelle linéaire</a:t>
            </a:r>
          </a:p>
        </p:txBody>
      </p:sp>
      <p:grpSp>
        <p:nvGrpSpPr>
          <p:cNvPr id="105" name="Group 73">
            <a:extLst>
              <a:ext uri="{FF2B5EF4-FFF2-40B4-BE49-F238E27FC236}">
                <a16:creationId xmlns:a16="http://schemas.microsoft.com/office/drawing/2014/main" id="{5CE47E73-E8BF-7D65-0688-E06364397663}"/>
              </a:ext>
            </a:extLst>
          </p:cNvPr>
          <p:cNvGrpSpPr>
            <a:grpSpLocks/>
          </p:cNvGrpSpPr>
          <p:nvPr/>
        </p:nvGrpSpPr>
        <p:grpSpPr bwMode="auto">
          <a:xfrm>
            <a:off x="2197100" y="3965414"/>
            <a:ext cx="6153150" cy="706437"/>
            <a:chOff x="1272" y="3005"/>
            <a:chExt cx="3876" cy="445"/>
          </a:xfrm>
        </p:grpSpPr>
        <p:sp>
          <p:nvSpPr>
            <p:cNvPr id="106" name="Text Box 27">
              <a:extLst>
                <a:ext uri="{FF2B5EF4-FFF2-40B4-BE49-F238E27FC236}">
                  <a16:creationId xmlns:a16="http://schemas.microsoft.com/office/drawing/2014/main" id="{FC2A9994-868D-CB4D-0E66-B0DB644851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3" y="3005"/>
              <a:ext cx="245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fr-FR" sz="1600" b="1" dirty="0">
                  <a:latin typeface="Bookman Old Style" panose="02050604050505020204" pitchFamily="18" charset="0"/>
                </a:rPr>
                <a:t>log</a:t>
              </a:r>
            </a:p>
          </p:txBody>
        </p:sp>
        <p:sp>
          <p:nvSpPr>
            <p:cNvPr id="107" name="Line 28">
              <a:extLst>
                <a:ext uri="{FF2B5EF4-FFF2-40B4-BE49-F238E27FC236}">
                  <a16:creationId xmlns:a16="http://schemas.microsoft.com/office/drawing/2014/main" id="{8ECF7394-1094-6FF3-1191-1091EA98E5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2" y="3233"/>
              <a:ext cx="375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8" name="Line 30">
              <a:extLst>
                <a:ext uri="{FF2B5EF4-FFF2-40B4-BE49-F238E27FC236}">
                  <a16:creationId xmlns:a16="http://schemas.microsoft.com/office/drawing/2014/main" id="{90EC0679-AA10-A8CE-7106-F632FEEE3E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8" y="3066"/>
              <a:ext cx="0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09" name="Line 32">
            <a:extLst>
              <a:ext uri="{FF2B5EF4-FFF2-40B4-BE49-F238E27FC236}">
                <a16:creationId xmlns:a16="http://schemas.microsoft.com/office/drawing/2014/main" id="{319F097B-6504-E525-F879-289B891DAC6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8225" y="4106701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0" name="Text Box 45">
            <a:extLst>
              <a:ext uri="{FF2B5EF4-FFF2-40B4-BE49-F238E27FC236}">
                <a16:creationId xmlns:a16="http://schemas.microsoft.com/office/drawing/2014/main" id="{A2C6DC7E-C948-20B5-8278-588411493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1638" y="3736814"/>
            <a:ext cx="177800" cy="26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fr-FR" sz="1600" b="1">
                <a:latin typeface="Arial" charset="0"/>
              </a:rPr>
              <a:t>7</a:t>
            </a:r>
            <a:endParaRPr lang="fr-FR" sz="1600">
              <a:latin typeface="Arial" charset="0"/>
            </a:endParaRPr>
          </a:p>
        </p:txBody>
      </p:sp>
      <p:sp>
        <p:nvSpPr>
          <p:cNvPr id="111" name="Text Box 47">
            <a:extLst>
              <a:ext uri="{FF2B5EF4-FFF2-40B4-BE49-F238E27FC236}">
                <a16:creationId xmlns:a16="http://schemas.microsoft.com/office/drawing/2014/main" id="{189EB575-51BB-93CF-DA91-B1E811D87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6788" y="3727289"/>
            <a:ext cx="177800" cy="26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fr-FR" sz="1600" b="1">
                <a:latin typeface="Arial" charset="0"/>
              </a:rPr>
              <a:t>9</a:t>
            </a:r>
            <a:endParaRPr lang="fr-FR" sz="1600">
              <a:latin typeface="Arial" charset="0"/>
            </a:endParaRPr>
          </a:p>
        </p:txBody>
      </p:sp>
      <p:grpSp>
        <p:nvGrpSpPr>
          <p:cNvPr id="112" name="Group 69">
            <a:extLst>
              <a:ext uri="{FF2B5EF4-FFF2-40B4-BE49-F238E27FC236}">
                <a16:creationId xmlns:a16="http://schemas.microsoft.com/office/drawing/2014/main" id="{967B5CBA-EA6F-42A6-CDBC-EB3DA9990287}"/>
              </a:ext>
            </a:extLst>
          </p:cNvPr>
          <p:cNvGrpSpPr>
            <a:grpSpLocks/>
          </p:cNvGrpSpPr>
          <p:nvPr/>
        </p:nvGrpSpPr>
        <p:grpSpPr bwMode="auto">
          <a:xfrm>
            <a:off x="2697163" y="3860639"/>
            <a:ext cx="5322887" cy="282575"/>
            <a:chOff x="1472" y="2855"/>
            <a:chExt cx="3353" cy="178"/>
          </a:xfrm>
        </p:grpSpPr>
        <p:sp>
          <p:nvSpPr>
            <p:cNvPr id="113" name="Text Box 39">
              <a:extLst>
                <a:ext uri="{FF2B5EF4-FFF2-40B4-BE49-F238E27FC236}">
                  <a16:creationId xmlns:a16="http://schemas.microsoft.com/office/drawing/2014/main" id="{F7063414-0FD0-9A26-4970-457805E74B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2" y="2866"/>
              <a:ext cx="111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fr-FR" sz="1600" b="1">
                  <a:latin typeface="Arial" charset="0"/>
                </a:rPr>
                <a:t>1</a:t>
              </a:r>
              <a:endParaRPr lang="fr-FR" sz="1600">
                <a:latin typeface="Arial" charset="0"/>
              </a:endParaRPr>
            </a:p>
          </p:txBody>
        </p:sp>
        <p:sp>
          <p:nvSpPr>
            <p:cNvPr id="114" name="Text Box 48">
              <a:extLst>
                <a:ext uri="{FF2B5EF4-FFF2-40B4-BE49-F238E27FC236}">
                  <a16:creationId xmlns:a16="http://schemas.microsoft.com/office/drawing/2014/main" id="{3714D657-E090-3C13-6A1A-55CC1C7E5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" y="2855"/>
              <a:ext cx="200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fr-FR" sz="1600" b="1">
                  <a:latin typeface="Arial" charset="0"/>
                </a:rPr>
                <a:t>10</a:t>
              </a:r>
              <a:endParaRPr lang="fr-FR" sz="1600">
                <a:latin typeface="Arial" charset="0"/>
              </a:endParaRPr>
            </a:p>
          </p:txBody>
        </p:sp>
      </p:grpSp>
      <p:grpSp>
        <p:nvGrpSpPr>
          <p:cNvPr id="115" name="Group 72">
            <a:extLst>
              <a:ext uri="{FF2B5EF4-FFF2-40B4-BE49-F238E27FC236}">
                <a16:creationId xmlns:a16="http://schemas.microsoft.com/office/drawing/2014/main" id="{129149C9-CD23-E0DF-604E-66A710C3E92B}"/>
              </a:ext>
            </a:extLst>
          </p:cNvPr>
          <p:cNvGrpSpPr>
            <a:grpSpLocks/>
          </p:cNvGrpSpPr>
          <p:nvPr/>
        </p:nvGrpSpPr>
        <p:grpSpPr bwMode="auto">
          <a:xfrm>
            <a:off x="2603500" y="2685889"/>
            <a:ext cx="5013325" cy="2278063"/>
            <a:chOff x="1528" y="2199"/>
            <a:chExt cx="3158" cy="1435"/>
          </a:xfrm>
        </p:grpSpPr>
        <p:sp>
          <p:nvSpPr>
            <p:cNvPr id="116" name="Line 7">
              <a:extLst>
                <a:ext uri="{FF2B5EF4-FFF2-40B4-BE49-F238E27FC236}">
                  <a16:creationId xmlns:a16="http://schemas.microsoft.com/office/drawing/2014/main" id="{DADC1A49-05D7-E39F-B24A-92C28C3BE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6" y="2210"/>
              <a:ext cx="0" cy="1424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117" name="Group 64">
              <a:extLst>
                <a:ext uri="{FF2B5EF4-FFF2-40B4-BE49-F238E27FC236}">
                  <a16:creationId xmlns:a16="http://schemas.microsoft.com/office/drawing/2014/main" id="{991654E4-27C6-2F05-D686-C74C027864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8" y="2199"/>
              <a:ext cx="3153" cy="790"/>
              <a:chOff x="1528" y="2199"/>
              <a:chExt cx="3153" cy="790"/>
            </a:xfrm>
          </p:grpSpPr>
          <p:sp>
            <p:nvSpPr>
              <p:cNvPr id="118" name="Line 5">
                <a:extLst>
                  <a:ext uri="{FF2B5EF4-FFF2-40B4-BE49-F238E27FC236}">
                    <a16:creationId xmlns:a16="http://schemas.microsoft.com/office/drawing/2014/main" id="{C8FFA1EC-CD69-BE96-0CFF-077E4F99C3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8" y="2199"/>
                <a:ext cx="0" cy="79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9" name="Line 6">
                <a:extLst>
                  <a:ext uri="{FF2B5EF4-FFF2-40B4-BE49-F238E27FC236}">
                    <a16:creationId xmlns:a16="http://schemas.microsoft.com/office/drawing/2014/main" id="{051F9408-B5D6-ECFC-0798-BA79856DCB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8" y="2399"/>
                <a:ext cx="315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stealth" w="sm" len="sm"/>
                <a:tailEnd type="stealth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0" name="Text Box 49">
                <a:extLst>
                  <a:ext uri="{FF2B5EF4-FFF2-40B4-BE49-F238E27FC236}">
                    <a16:creationId xmlns:a16="http://schemas.microsoft.com/office/drawing/2014/main" id="{7A9E0F0F-BB18-5C80-E256-046B5147E2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2234"/>
                <a:ext cx="879" cy="1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fr-FR" sz="1600" b="1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une décade</a:t>
                </a:r>
              </a:p>
            </p:txBody>
          </p:sp>
        </p:grpSp>
      </p:grpSp>
      <p:grpSp>
        <p:nvGrpSpPr>
          <p:cNvPr id="121" name="Group 65">
            <a:extLst>
              <a:ext uri="{FF2B5EF4-FFF2-40B4-BE49-F238E27FC236}">
                <a16:creationId xmlns:a16="http://schemas.microsoft.com/office/drawing/2014/main" id="{DBC477D4-70E1-5D7C-EEB1-9BF1959D5F5D}"/>
              </a:ext>
            </a:extLst>
          </p:cNvPr>
          <p:cNvGrpSpPr>
            <a:grpSpLocks/>
          </p:cNvGrpSpPr>
          <p:nvPr/>
        </p:nvGrpSpPr>
        <p:grpSpPr bwMode="auto">
          <a:xfrm>
            <a:off x="2611438" y="3258978"/>
            <a:ext cx="1598612" cy="1233488"/>
            <a:chOff x="1533" y="2562"/>
            <a:chExt cx="1007" cy="777"/>
          </a:xfrm>
        </p:grpSpPr>
        <p:sp>
          <p:nvSpPr>
            <p:cNvPr id="122" name="Line 33">
              <a:extLst>
                <a:ext uri="{FF2B5EF4-FFF2-40B4-BE49-F238E27FC236}">
                  <a16:creationId xmlns:a16="http://schemas.microsoft.com/office/drawing/2014/main" id="{779A5980-668E-019E-1401-55B7232B1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9" y="3100"/>
              <a:ext cx="0" cy="2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3" name="Text Box 40">
              <a:extLst>
                <a:ext uri="{FF2B5EF4-FFF2-40B4-BE49-F238E27FC236}">
                  <a16:creationId xmlns:a16="http://schemas.microsoft.com/office/drawing/2014/main" id="{8DDF4EE4-94D6-562C-677D-AA9BCBA1F5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9" y="2861"/>
              <a:ext cx="111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fr-FR" sz="1600" b="1">
                  <a:latin typeface="Arial" charset="0"/>
                </a:rPr>
                <a:t>2</a:t>
              </a:r>
              <a:endParaRPr lang="fr-FR" sz="1600">
                <a:latin typeface="Arial" charset="0"/>
              </a:endParaRPr>
            </a:p>
          </p:txBody>
        </p:sp>
        <p:sp>
          <p:nvSpPr>
            <p:cNvPr id="124" name="Text Box 50">
              <a:extLst>
                <a:ext uri="{FF2B5EF4-FFF2-40B4-BE49-F238E27FC236}">
                  <a16:creationId xmlns:a16="http://schemas.microsoft.com/office/drawing/2014/main" id="{35F48909-56B2-197A-A294-3F1D6B319E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4" y="2562"/>
              <a:ext cx="879" cy="1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fr-FR" sz="1600" b="1" dirty="0">
                  <a:solidFill>
                    <a:srgbClr val="FF0000"/>
                  </a:solidFill>
                  <a:latin typeface="Bookman Old Style" panose="02050604050505020204" pitchFamily="18" charset="0"/>
                </a:rPr>
                <a:t>une octave</a:t>
              </a:r>
            </a:p>
          </p:txBody>
        </p:sp>
        <p:sp>
          <p:nvSpPr>
            <p:cNvPr id="125" name="Line 51">
              <a:extLst>
                <a:ext uri="{FF2B5EF4-FFF2-40B4-BE49-F238E27FC236}">
                  <a16:creationId xmlns:a16="http://schemas.microsoft.com/office/drawing/2014/main" id="{772EBCD5-EC25-FBCC-6504-61CF91E83C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3" y="2777"/>
              <a:ext cx="9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sm"/>
              <a:tailEnd type="stealth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6" name="Group 66">
            <a:extLst>
              <a:ext uri="{FF2B5EF4-FFF2-40B4-BE49-F238E27FC236}">
                <a16:creationId xmlns:a16="http://schemas.microsoft.com/office/drawing/2014/main" id="{D0B55D8D-4313-4DA7-F8BE-DAF14B9CA650}"/>
              </a:ext>
            </a:extLst>
          </p:cNvPr>
          <p:cNvGrpSpPr>
            <a:grpSpLocks/>
          </p:cNvGrpSpPr>
          <p:nvPr/>
        </p:nvGrpSpPr>
        <p:grpSpPr bwMode="auto">
          <a:xfrm>
            <a:off x="4103688" y="3592351"/>
            <a:ext cx="1581150" cy="874713"/>
            <a:chOff x="2473" y="2783"/>
            <a:chExt cx="996" cy="551"/>
          </a:xfrm>
        </p:grpSpPr>
        <p:sp>
          <p:nvSpPr>
            <p:cNvPr id="127" name="Line 35">
              <a:extLst>
                <a:ext uri="{FF2B5EF4-FFF2-40B4-BE49-F238E27FC236}">
                  <a16:creationId xmlns:a16="http://schemas.microsoft.com/office/drawing/2014/main" id="{567E0F94-A189-516F-DD20-8D9D149E80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3094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8" name="Text Box 42">
              <a:extLst>
                <a:ext uri="{FF2B5EF4-FFF2-40B4-BE49-F238E27FC236}">
                  <a16:creationId xmlns:a16="http://schemas.microsoft.com/office/drawing/2014/main" id="{C9511427-8827-EEB2-9393-5B08322C70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7" y="2855"/>
              <a:ext cx="112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fr-FR" sz="1600" b="1">
                  <a:latin typeface="Arial" charset="0"/>
                </a:rPr>
                <a:t>4</a:t>
              </a:r>
              <a:endParaRPr lang="fr-FR" sz="1600">
                <a:latin typeface="Arial" charset="0"/>
              </a:endParaRPr>
            </a:p>
          </p:txBody>
        </p:sp>
        <p:sp>
          <p:nvSpPr>
            <p:cNvPr id="129" name="Line 52">
              <a:extLst>
                <a:ext uri="{FF2B5EF4-FFF2-40B4-BE49-F238E27FC236}">
                  <a16:creationId xmlns:a16="http://schemas.microsoft.com/office/drawing/2014/main" id="{35325567-466B-B394-688D-A1C1FE2246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" y="2783"/>
              <a:ext cx="9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sm"/>
              <a:tailEnd type="stealth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30" name="Group 67">
            <a:extLst>
              <a:ext uri="{FF2B5EF4-FFF2-40B4-BE49-F238E27FC236}">
                <a16:creationId xmlns:a16="http://schemas.microsoft.com/office/drawing/2014/main" id="{99D9155D-4961-761E-1CB9-41F516862218}"/>
              </a:ext>
            </a:extLst>
          </p:cNvPr>
          <p:cNvGrpSpPr>
            <a:grpSpLocks/>
          </p:cNvGrpSpPr>
          <p:nvPr/>
        </p:nvGrpSpPr>
        <p:grpSpPr bwMode="auto">
          <a:xfrm>
            <a:off x="5595938" y="3592351"/>
            <a:ext cx="1624012" cy="874713"/>
            <a:chOff x="3413" y="2783"/>
            <a:chExt cx="1023" cy="551"/>
          </a:xfrm>
        </p:grpSpPr>
        <p:sp>
          <p:nvSpPr>
            <p:cNvPr id="131" name="Line 38">
              <a:extLst>
                <a:ext uri="{FF2B5EF4-FFF2-40B4-BE49-F238E27FC236}">
                  <a16:creationId xmlns:a16="http://schemas.microsoft.com/office/drawing/2014/main" id="{437006C1-79B6-230C-5598-A768368F38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5" y="3094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2" name="Text Box 46">
              <a:extLst>
                <a:ext uri="{FF2B5EF4-FFF2-40B4-BE49-F238E27FC236}">
                  <a16:creationId xmlns:a16="http://schemas.microsoft.com/office/drawing/2014/main" id="{140898FE-6819-3E28-4128-269383E8C4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5" y="2855"/>
              <a:ext cx="111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fr-FR" sz="1600" b="1">
                  <a:latin typeface="Arial" charset="0"/>
                </a:rPr>
                <a:t>8</a:t>
              </a:r>
              <a:endParaRPr lang="fr-FR" sz="1600">
                <a:latin typeface="Arial" charset="0"/>
              </a:endParaRPr>
            </a:p>
          </p:txBody>
        </p:sp>
        <p:sp>
          <p:nvSpPr>
            <p:cNvPr id="133" name="Line 53">
              <a:extLst>
                <a:ext uri="{FF2B5EF4-FFF2-40B4-BE49-F238E27FC236}">
                  <a16:creationId xmlns:a16="http://schemas.microsoft.com/office/drawing/2014/main" id="{8B34DCC1-D406-059B-514E-093D952482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3" y="2783"/>
              <a:ext cx="9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sm"/>
              <a:tailEnd type="stealth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34" name="Group 70">
            <a:extLst>
              <a:ext uri="{FF2B5EF4-FFF2-40B4-BE49-F238E27FC236}">
                <a16:creationId xmlns:a16="http://schemas.microsoft.com/office/drawing/2014/main" id="{4498ACB5-6D2D-A385-8B41-FD4980E79839}"/>
              </a:ext>
            </a:extLst>
          </p:cNvPr>
          <p:cNvGrpSpPr>
            <a:grpSpLocks/>
          </p:cNvGrpSpPr>
          <p:nvPr/>
        </p:nvGrpSpPr>
        <p:grpSpPr bwMode="auto">
          <a:xfrm>
            <a:off x="4906963" y="3736814"/>
            <a:ext cx="1685925" cy="1014412"/>
            <a:chOff x="2979" y="2861"/>
            <a:chExt cx="1062" cy="639"/>
          </a:xfrm>
        </p:grpSpPr>
        <p:sp>
          <p:nvSpPr>
            <p:cNvPr id="135" name="Line 34">
              <a:extLst>
                <a:ext uri="{FF2B5EF4-FFF2-40B4-BE49-F238E27FC236}">
                  <a16:creationId xmlns:a16="http://schemas.microsoft.com/office/drawing/2014/main" id="{9814C436-793A-3788-272B-7FB17815D4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9" y="3094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6" name="Line 37">
              <a:extLst>
                <a:ext uri="{FF2B5EF4-FFF2-40B4-BE49-F238E27FC236}">
                  <a16:creationId xmlns:a16="http://schemas.microsoft.com/office/drawing/2014/main" id="{43F701CE-FF14-FFB5-F614-D9B23FF0B1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" y="3089"/>
              <a:ext cx="0" cy="2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7" name="Text Box 41">
              <a:extLst>
                <a:ext uri="{FF2B5EF4-FFF2-40B4-BE49-F238E27FC236}">
                  <a16:creationId xmlns:a16="http://schemas.microsoft.com/office/drawing/2014/main" id="{0631D230-ECB2-F6DD-6115-D95496A58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9" y="2861"/>
              <a:ext cx="111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fr-FR" sz="1600" b="1">
                  <a:latin typeface="Arial" charset="0"/>
                </a:rPr>
                <a:t>3</a:t>
              </a:r>
              <a:endParaRPr lang="fr-FR" sz="1600">
                <a:latin typeface="Arial" charset="0"/>
              </a:endParaRPr>
            </a:p>
          </p:txBody>
        </p:sp>
        <p:sp>
          <p:nvSpPr>
            <p:cNvPr id="138" name="Text Box 44">
              <a:extLst>
                <a:ext uri="{FF2B5EF4-FFF2-40B4-BE49-F238E27FC236}">
                  <a16:creationId xmlns:a16="http://schemas.microsoft.com/office/drawing/2014/main" id="{EAB86CAB-737A-1D01-5D6B-B70EDBDBF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" y="2861"/>
              <a:ext cx="111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fr-FR" sz="1600" b="1">
                  <a:latin typeface="Arial" charset="0"/>
                </a:rPr>
                <a:t>6</a:t>
              </a:r>
              <a:endParaRPr lang="fr-FR" sz="1600">
                <a:latin typeface="Arial" charset="0"/>
              </a:endParaRPr>
            </a:p>
          </p:txBody>
        </p:sp>
        <p:sp>
          <p:nvSpPr>
            <p:cNvPr id="139" name="Line 55">
              <a:extLst>
                <a:ext uri="{FF2B5EF4-FFF2-40B4-BE49-F238E27FC236}">
                  <a16:creationId xmlns:a16="http://schemas.microsoft.com/office/drawing/2014/main" id="{2F4CE2C2-D219-7918-D828-6033E2CEA4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9" y="3400"/>
              <a:ext cx="9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sm"/>
              <a:tailEnd type="stealth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0" name="Line 56">
              <a:extLst>
                <a:ext uri="{FF2B5EF4-FFF2-40B4-BE49-F238E27FC236}">
                  <a16:creationId xmlns:a16="http://schemas.microsoft.com/office/drawing/2014/main" id="{6122643F-248F-B44B-4CB8-ACF883A006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" y="3317"/>
              <a:ext cx="0" cy="183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1" name="Line 57">
              <a:extLst>
                <a:ext uri="{FF2B5EF4-FFF2-40B4-BE49-F238E27FC236}">
                  <a16:creationId xmlns:a16="http://schemas.microsoft.com/office/drawing/2014/main" id="{F7E56A0E-F255-DAE5-42BF-19AEFD345E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9" y="3261"/>
              <a:ext cx="0" cy="184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2" name="Group 71">
            <a:extLst>
              <a:ext uri="{FF2B5EF4-FFF2-40B4-BE49-F238E27FC236}">
                <a16:creationId xmlns:a16="http://schemas.microsoft.com/office/drawing/2014/main" id="{805B39CB-D32D-F80E-0FE6-C649C3AF1915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3744751"/>
            <a:ext cx="1589088" cy="1182688"/>
            <a:chOff x="3680" y="2866"/>
            <a:chExt cx="1001" cy="745"/>
          </a:xfrm>
        </p:grpSpPr>
        <p:grpSp>
          <p:nvGrpSpPr>
            <p:cNvPr id="143" name="Group 68">
              <a:extLst>
                <a:ext uri="{FF2B5EF4-FFF2-40B4-BE49-F238E27FC236}">
                  <a16:creationId xmlns:a16="http://schemas.microsoft.com/office/drawing/2014/main" id="{211968B5-A214-6731-02CA-262E9A1641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0" y="2866"/>
              <a:ext cx="1001" cy="667"/>
              <a:chOff x="3680" y="2866"/>
              <a:chExt cx="1001" cy="667"/>
            </a:xfrm>
          </p:grpSpPr>
          <p:sp>
            <p:nvSpPr>
              <p:cNvPr id="145" name="Line 36">
                <a:extLst>
                  <a:ext uri="{FF2B5EF4-FFF2-40B4-BE49-F238E27FC236}">
                    <a16:creationId xmlns:a16="http://schemas.microsoft.com/office/drawing/2014/main" id="{D8AC14E3-F987-92B1-3451-C86D8713A1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0" y="3089"/>
                <a:ext cx="0" cy="23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6" name="Text Box 43">
                <a:extLst>
                  <a:ext uri="{FF2B5EF4-FFF2-40B4-BE49-F238E27FC236}">
                    <a16:creationId xmlns:a16="http://schemas.microsoft.com/office/drawing/2014/main" id="{34425085-698D-138F-9FC7-EBE9A4E612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80" y="2866"/>
                <a:ext cx="111" cy="1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fr-FR" sz="1600" b="1">
                    <a:latin typeface="Arial" charset="0"/>
                  </a:rPr>
                  <a:t>5</a:t>
                </a:r>
                <a:endParaRPr lang="fr-FR" sz="1600">
                  <a:latin typeface="Arial" charset="0"/>
                </a:endParaRPr>
              </a:p>
            </p:txBody>
          </p:sp>
          <p:sp>
            <p:nvSpPr>
              <p:cNvPr id="147" name="Line 54">
                <a:extLst>
                  <a:ext uri="{FF2B5EF4-FFF2-40B4-BE49-F238E27FC236}">
                    <a16:creationId xmlns:a16="http://schemas.microsoft.com/office/drawing/2014/main" id="{3DE54F20-7829-EF98-259B-58060C53A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1" y="3533"/>
                <a:ext cx="9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stealth" w="sm" len="sm"/>
                <a:tailEnd type="stealth" w="sm" len="sm"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44" name="Line 58">
              <a:extLst>
                <a:ext uri="{FF2B5EF4-FFF2-40B4-BE49-F238E27FC236}">
                  <a16:creationId xmlns:a16="http://schemas.microsoft.com/office/drawing/2014/main" id="{015BD045-A2A4-4721-F1D9-0C4C9C979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0" y="3322"/>
              <a:ext cx="0" cy="28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48" name="Text Box 74">
            <a:extLst>
              <a:ext uri="{FF2B5EF4-FFF2-40B4-BE49-F238E27FC236}">
                <a16:creationId xmlns:a16="http://schemas.microsoft.com/office/drawing/2014/main" id="{E00EEEB5-8765-5F2A-3FC7-34E4B85EF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39" y="3012057"/>
            <a:ext cx="224447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 b="1" dirty="0">
                <a:latin typeface="Bookman Old Style" panose="02050604050505020204" pitchFamily="18" charset="0"/>
              </a:rPr>
              <a:t>Échelle logarithmique</a:t>
            </a:r>
          </a:p>
        </p:txBody>
      </p:sp>
      <p:sp>
        <p:nvSpPr>
          <p:cNvPr id="149" name="Line 31">
            <a:extLst>
              <a:ext uri="{FF2B5EF4-FFF2-40B4-BE49-F238E27FC236}">
                <a16:creationId xmlns:a16="http://schemas.microsoft.com/office/drawing/2014/main" id="{F339C2A3-1C02-AA61-8B66-88E593E738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2600" y="4098764"/>
            <a:ext cx="0" cy="3794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84AC30AF-1FCA-35F7-2A9F-22B943DA93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12" name="object 6">
            <a:extLst>
              <a:ext uri="{FF2B5EF4-FFF2-40B4-BE49-F238E27FC236}">
                <a16:creationId xmlns:a16="http://schemas.microsoft.com/office/drawing/2014/main" id="{FB796C62-1165-9497-D9EF-5EA71C4CA526}"/>
              </a:ext>
            </a:extLst>
          </p:cNvPr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13" name="object 7">
              <a:extLst>
                <a:ext uri="{FF2B5EF4-FFF2-40B4-BE49-F238E27FC236}">
                  <a16:creationId xmlns:a16="http://schemas.microsoft.com/office/drawing/2014/main" id="{326C57E3-031B-1894-3F9E-C013922C71F9}"/>
                </a:ext>
              </a:extLst>
            </p:cNvPr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8">
              <a:extLst>
                <a:ext uri="{FF2B5EF4-FFF2-40B4-BE49-F238E27FC236}">
                  <a16:creationId xmlns:a16="http://schemas.microsoft.com/office/drawing/2014/main" id="{77AB5438-D85F-B1C7-C250-771278DBB070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9">
              <a:extLst>
                <a:ext uri="{FF2B5EF4-FFF2-40B4-BE49-F238E27FC236}">
                  <a16:creationId xmlns:a16="http://schemas.microsoft.com/office/drawing/2014/main" id="{1E023211-79FF-D70B-F260-938486C18B16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10">
            <a:extLst>
              <a:ext uri="{FF2B5EF4-FFF2-40B4-BE49-F238E27FC236}">
                <a16:creationId xmlns:a16="http://schemas.microsoft.com/office/drawing/2014/main" id="{FF3FD014-C92B-B218-400D-A768BC8D50FE}"/>
              </a:ext>
            </a:extLst>
          </p:cNvPr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A73860E6-9138-625B-1B6E-B6C3047994F3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50A8F361-95CD-43FF-1801-98B4A821C4C7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30C0ABF9-8DA1-07DA-66A7-08D85596558B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843A4DF-EF7C-732F-E694-7CF5399EFBF5}"/>
              </a:ext>
            </a:extLst>
          </p:cNvPr>
          <p:cNvSpPr txBox="1"/>
          <p:nvPr/>
        </p:nvSpPr>
        <p:spPr>
          <a:xfrm>
            <a:off x="596574" y="89227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2pPr marL="285750" lvl="1" indent="-285750"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393700" algn="l"/>
              </a:tabLst>
              <a:defRPr sz="1600" b="1" spc="-5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defRPr>
            </a:lvl2pPr>
          </a:lstStyle>
          <a:p>
            <a:r>
              <a:rPr lang="fr-FR" sz="1600" b="1" spc="-5" dirty="0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rPr>
              <a:t>3.2 Echelle logarithmique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299716-F574-A23F-75D0-9632B59D82C4}"/>
              </a:ext>
            </a:extLst>
          </p:cNvPr>
          <p:cNvSpPr/>
          <p:nvPr/>
        </p:nvSpPr>
        <p:spPr>
          <a:xfrm>
            <a:off x="550646" y="557613"/>
            <a:ext cx="2868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3.</a:t>
            </a:r>
            <a:r>
              <a:rPr lang="fr-FR" dirty="0"/>
              <a:t> </a:t>
            </a: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Diagramme de Bode</a:t>
            </a:r>
          </a:p>
        </p:txBody>
      </p:sp>
    </p:spTree>
    <p:extLst>
      <p:ext uri="{BB962C8B-B14F-4D97-AF65-F5344CB8AC3E}">
        <p14:creationId xmlns:p14="http://schemas.microsoft.com/office/powerpoint/2010/main" val="328903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9" grpId="0" animBg="1"/>
      <p:bldP spid="110" grpId="0"/>
      <p:bldP spid="111" grpId="0"/>
      <p:bldP spid="148" grpId="0"/>
      <p:bldP spid="14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498049" y="4824173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15</a:t>
            </a:fld>
            <a:endParaRPr sz="2400" dirty="0">
              <a:latin typeface="Arial"/>
              <a:cs typeface="Arial"/>
            </a:endParaRP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734A4593-15A8-5921-840B-143FB0E75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27" y="2647950"/>
            <a:ext cx="8458399" cy="1772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bject 2">
            <a:extLst>
              <a:ext uri="{FF2B5EF4-FFF2-40B4-BE49-F238E27FC236}">
                <a16:creationId xmlns:a16="http://schemas.microsoft.com/office/drawing/2014/main" id="{39F86989-50E1-52F6-95CE-3657FB3E2338}"/>
              </a:ext>
            </a:extLst>
          </p:cNvPr>
          <p:cNvSpPr txBox="1">
            <a:spLocks/>
          </p:cNvSpPr>
          <p:nvPr/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fr-FR" sz="1800" ker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lang="fr-FR" sz="1800" kern="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13" name="object 6">
            <a:extLst>
              <a:ext uri="{FF2B5EF4-FFF2-40B4-BE49-F238E27FC236}">
                <a16:creationId xmlns:a16="http://schemas.microsoft.com/office/drawing/2014/main" id="{07DBD48F-E788-57C7-4267-91C6996CED50}"/>
              </a:ext>
            </a:extLst>
          </p:cNvPr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6E2DF5BC-EFCF-F8D9-4151-D79633064BEC}"/>
                </a:ext>
              </a:extLst>
            </p:cNvPr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8">
              <a:extLst>
                <a:ext uri="{FF2B5EF4-FFF2-40B4-BE49-F238E27FC236}">
                  <a16:creationId xmlns:a16="http://schemas.microsoft.com/office/drawing/2014/main" id="{3ED47088-47FB-6276-9721-EC72E35E3F87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9">
              <a:extLst>
                <a:ext uri="{FF2B5EF4-FFF2-40B4-BE49-F238E27FC236}">
                  <a16:creationId xmlns:a16="http://schemas.microsoft.com/office/drawing/2014/main" id="{D99A0490-8C61-61B3-8324-0F29823470FE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10">
            <a:extLst>
              <a:ext uri="{FF2B5EF4-FFF2-40B4-BE49-F238E27FC236}">
                <a16:creationId xmlns:a16="http://schemas.microsoft.com/office/drawing/2014/main" id="{00341949-7DFB-301C-DC63-E70D36DDCBAB}"/>
              </a:ext>
            </a:extLst>
          </p:cNvPr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22" name="object 4">
            <a:extLst>
              <a:ext uri="{FF2B5EF4-FFF2-40B4-BE49-F238E27FC236}">
                <a16:creationId xmlns:a16="http://schemas.microsoft.com/office/drawing/2014/main" id="{18548EC1-9B47-2203-148C-84211C277088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23" name="object 5">
              <a:extLst>
                <a:ext uri="{FF2B5EF4-FFF2-40B4-BE49-F238E27FC236}">
                  <a16:creationId xmlns:a16="http://schemas.microsoft.com/office/drawing/2014/main" id="{5E943126-1146-0B18-9C48-7C0C64D7F318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6">
              <a:extLst>
                <a:ext uri="{FF2B5EF4-FFF2-40B4-BE49-F238E27FC236}">
                  <a16:creationId xmlns:a16="http://schemas.microsoft.com/office/drawing/2014/main" id="{3C95B48E-A28D-CEBD-2FB3-F81503E7952F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C00DA54-A8E3-6379-08AB-29F558F43CF1}"/>
              </a:ext>
            </a:extLst>
          </p:cNvPr>
          <p:cNvSpPr txBox="1"/>
          <p:nvPr/>
        </p:nvSpPr>
        <p:spPr>
          <a:xfrm>
            <a:off x="596574" y="89227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2pPr marL="285750" lvl="1" indent="-285750"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393700" algn="l"/>
              </a:tabLst>
              <a:defRPr sz="1600" b="1" spc="-5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defRPr>
            </a:lvl2pPr>
          </a:lstStyle>
          <a:p>
            <a:r>
              <a:rPr lang="fr-FR" sz="1600" b="1" spc="-5" dirty="0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rPr>
              <a:t>3.2 Echelle logarithmique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4479B9-5039-8919-FD9A-C65F522DC301}"/>
              </a:ext>
            </a:extLst>
          </p:cNvPr>
          <p:cNvSpPr/>
          <p:nvPr/>
        </p:nvSpPr>
        <p:spPr>
          <a:xfrm>
            <a:off x="550646" y="557613"/>
            <a:ext cx="2868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3.</a:t>
            </a:r>
            <a:r>
              <a:rPr lang="fr-FR" dirty="0"/>
              <a:t> </a:t>
            </a: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Diagramme de Bode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B57B18-DEB5-CC06-50ED-5FA4627E9CAA}"/>
              </a:ext>
            </a:extLst>
          </p:cNvPr>
          <p:cNvSpPr txBox="1"/>
          <p:nvPr/>
        </p:nvSpPr>
        <p:spPr>
          <a:xfrm>
            <a:off x="552622" y="1358540"/>
            <a:ext cx="83627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La gamme des fréquences appliquées aux circuits électriques étant très large, lors du </a:t>
            </a:r>
            <a:r>
              <a:rPr lang="fr-FR" sz="1600" dirty="0" err="1">
                <a:latin typeface="Bookman Old Style" panose="02050604050505020204" pitchFamily="18" charset="0"/>
              </a:rPr>
              <a:t>traçé</a:t>
            </a:r>
            <a:r>
              <a:rPr lang="fr-FR" sz="1600" dirty="0">
                <a:latin typeface="Bookman Old Style" panose="02050604050505020204" pitchFamily="18" charset="0"/>
              </a:rPr>
              <a:t> des fonctions de transfert, c’est pour cela on utilise des </a:t>
            </a:r>
            <a:r>
              <a:rPr lang="fr-FR" sz="1600" b="1" dirty="0">
                <a:latin typeface="Bookman Old Style" panose="02050604050505020204" pitchFamily="18" charset="0"/>
              </a:rPr>
              <a:t>échelles logarithmiques. </a:t>
            </a:r>
            <a:r>
              <a:rPr lang="fr-FR" sz="1600" dirty="0">
                <a:latin typeface="Bookman Old Style" panose="02050604050505020204" pitchFamily="18" charset="0"/>
              </a:rPr>
              <a:t>Ce type de représentation permet donc de faire une compression des données en préservant la représentation des faibles valeurs</a:t>
            </a:r>
          </a:p>
        </p:txBody>
      </p:sp>
    </p:spTree>
    <p:extLst>
      <p:ext uri="{BB962C8B-B14F-4D97-AF65-F5344CB8AC3E}">
        <p14:creationId xmlns:p14="http://schemas.microsoft.com/office/powerpoint/2010/main" val="234211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498049" y="4824173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16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39F86989-50E1-52F6-95CE-3657FB3E2338}"/>
              </a:ext>
            </a:extLst>
          </p:cNvPr>
          <p:cNvSpPr txBox="1">
            <a:spLocks/>
          </p:cNvSpPr>
          <p:nvPr/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fr-FR" sz="1800" ker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lang="fr-FR" sz="1800" kern="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13" name="object 6">
            <a:extLst>
              <a:ext uri="{FF2B5EF4-FFF2-40B4-BE49-F238E27FC236}">
                <a16:creationId xmlns:a16="http://schemas.microsoft.com/office/drawing/2014/main" id="{07DBD48F-E788-57C7-4267-91C6996CED50}"/>
              </a:ext>
            </a:extLst>
          </p:cNvPr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6E2DF5BC-EFCF-F8D9-4151-D79633064BEC}"/>
                </a:ext>
              </a:extLst>
            </p:cNvPr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8">
              <a:extLst>
                <a:ext uri="{FF2B5EF4-FFF2-40B4-BE49-F238E27FC236}">
                  <a16:creationId xmlns:a16="http://schemas.microsoft.com/office/drawing/2014/main" id="{3ED47088-47FB-6276-9721-EC72E35E3F87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9">
              <a:extLst>
                <a:ext uri="{FF2B5EF4-FFF2-40B4-BE49-F238E27FC236}">
                  <a16:creationId xmlns:a16="http://schemas.microsoft.com/office/drawing/2014/main" id="{D99A0490-8C61-61B3-8324-0F29823470FE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10">
            <a:extLst>
              <a:ext uri="{FF2B5EF4-FFF2-40B4-BE49-F238E27FC236}">
                <a16:creationId xmlns:a16="http://schemas.microsoft.com/office/drawing/2014/main" id="{00341949-7DFB-301C-DC63-E70D36DDCBAB}"/>
              </a:ext>
            </a:extLst>
          </p:cNvPr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22" name="object 4">
            <a:extLst>
              <a:ext uri="{FF2B5EF4-FFF2-40B4-BE49-F238E27FC236}">
                <a16:creationId xmlns:a16="http://schemas.microsoft.com/office/drawing/2014/main" id="{18548EC1-9B47-2203-148C-84211C277088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23" name="object 5">
              <a:extLst>
                <a:ext uri="{FF2B5EF4-FFF2-40B4-BE49-F238E27FC236}">
                  <a16:creationId xmlns:a16="http://schemas.microsoft.com/office/drawing/2014/main" id="{5E943126-1146-0B18-9C48-7C0C64D7F318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6">
              <a:extLst>
                <a:ext uri="{FF2B5EF4-FFF2-40B4-BE49-F238E27FC236}">
                  <a16:creationId xmlns:a16="http://schemas.microsoft.com/office/drawing/2014/main" id="{3C95B48E-A28D-CEBD-2FB3-F81503E7952F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C00DA54-A8E3-6379-08AB-29F558F43CF1}"/>
              </a:ext>
            </a:extLst>
          </p:cNvPr>
          <p:cNvSpPr txBox="1"/>
          <p:nvPr/>
        </p:nvSpPr>
        <p:spPr>
          <a:xfrm>
            <a:off x="596574" y="89227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2pPr marL="285750" lvl="1" indent="-285750"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393700" algn="l"/>
              </a:tabLst>
              <a:defRPr sz="1600" b="1" spc="-5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defRPr>
            </a:lvl2pPr>
          </a:lstStyle>
          <a:p>
            <a:r>
              <a:rPr lang="fr-FR" sz="1600" b="1" spc="-5" dirty="0">
                <a:solidFill>
                  <a:srgbClr val="0000FF"/>
                </a:solidFill>
                <a:latin typeface="Bookman Old Style" panose="02050604050505020204" pitchFamily="18" charset="0"/>
                <a:cs typeface="Arial"/>
              </a:rPr>
              <a:t>3.3 fréquence de coupure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4479B9-5039-8919-FD9A-C65F522DC301}"/>
              </a:ext>
            </a:extLst>
          </p:cNvPr>
          <p:cNvSpPr/>
          <p:nvPr/>
        </p:nvSpPr>
        <p:spPr>
          <a:xfrm>
            <a:off x="550646" y="557613"/>
            <a:ext cx="2868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3.</a:t>
            </a:r>
            <a:r>
              <a:rPr lang="fr-FR" dirty="0"/>
              <a:t> </a:t>
            </a: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Diagramme de Bode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EAFB2B-EC86-6E6F-4982-57B7B696DC0B}"/>
                  </a:ext>
                </a:extLst>
              </p:cNvPr>
              <p:cNvSpPr txBox="1"/>
              <p:nvPr/>
            </p:nvSpPr>
            <p:spPr>
              <a:xfrm>
                <a:off x="452136" y="1505148"/>
                <a:ext cx="8591120" cy="32746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dirty="0">
                    <a:latin typeface="Bookman Old Style" panose="02050604050505020204" pitchFamily="18" charset="0"/>
                  </a:rPr>
                  <a:t>On définit la </a:t>
                </a:r>
                <a:r>
                  <a:rPr lang="fr-FR" b="1" dirty="0">
                    <a:latin typeface="Bookman Old Style" panose="02050604050505020204" pitchFamily="18" charset="0"/>
                  </a:rPr>
                  <a:t>fréquence de coupure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fr-FR" b="1" i="1" dirty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fr-FR" b="1" dirty="0">
                    <a:latin typeface="Bookman Old Style" panose="0205060405050502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b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fr-FR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fr-FR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fr-FR" b="1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fr-FR" b="1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fr-FR" b="1" dirty="0">
                    <a:latin typeface="Bookman Old Style" panose="02050604050505020204" pitchFamily="18" charset="0"/>
                  </a:rPr>
                  <a:t>  </a:t>
                </a:r>
                <a:r>
                  <a:rPr lang="fr-FR" dirty="0">
                    <a:latin typeface="Bookman Old Style" panose="02050604050505020204" pitchFamily="18" charset="0"/>
                  </a:rPr>
                  <a:t>d'un système comme étant celle pour laquelle le </a:t>
                </a:r>
                <a:r>
                  <a:rPr lang="fr-FR" b="1" dirty="0">
                    <a:latin typeface="Bookman Old Style" panose="02050604050505020204" pitchFamily="18" charset="0"/>
                  </a:rPr>
                  <a:t>gain maximum en tension</a:t>
                </a:r>
                <a:r>
                  <a:rPr lang="fr-FR" dirty="0">
                    <a:latin typeface="Bookman Old Style" panose="02050604050505020204" pitchFamily="18" charset="0"/>
                  </a:rPr>
                  <a:t> est divisé par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fr-FR" b="1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fr-FR" dirty="0">
                    <a:latin typeface="Bookman Old Style" panose="02050604050505020204" pitchFamily="18" charset="0"/>
                  </a:rPr>
                  <a:t>.</a:t>
                </a:r>
              </a:p>
              <a:p>
                <a:pPr algn="just"/>
                <a:endParaRPr lang="fr-FR" dirty="0">
                  <a:latin typeface="Bookman Old Style" panose="02050604050505020204" pitchFamily="18" charset="0"/>
                </a:endParaRPr>
              </a:p>
              <a:p>
                <a:pPr algn="ctr"/>
                <a:r>
                  <a:rPr lang="fr-FR" b="1" dirty="0">
                    <a:latin typeface="Bookman Old Style" panose="02050604050505020204" pitchFamily="18" charset="0"/>
                  </a:rPr>
                  <a:t>G(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𝛚</m:t>
                        </m:r>
                      </m:e>
                      <m:sub>
                        <m:r>
                          <a:rPr lang="fr-FR" b="1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𝐜</m:t>
                        </m:r>
                      </m:sub>
                    </m:sSub>
                  </m:oMath>
                </a14:m>
                <a:r>
                  <a:rPr lang="fr-FR" b="1" dirty="0">
                    <a:latin typeface="Bookman Old Style" panose="02050604050505020204" pitchFamily="18" charset="0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0" dirty="0" smtClean="0">
                                <a:latin typeface="Cambria Math" panose="02040503050406030204" pitchFamily="18" charset="0"/>
                              </a:rPr>
                              <m:t>𝐆</m:t>
                            </m:r>
                          </m:e>
                          <m:sub>
                            <m:r>
                              <a:rPr lang="fr-FR" b="1" i="0" dirty="0" smtClean="0">
                                <a:latin typeface="Cambria Math" panose="02040503050406030204" pitchFamily="18" charset="0"/>
                              </a:rPr>
                              <m:t>𝐌𝐚𝐱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fr-FR" b="1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b="1" i="0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endParaRPr lang="fr-FR" b="1" dirty="0">
                  <a:latin typeface="Bookman Old Style" panose="02050604050505020204" pitchFamily="18" charset="0"/>
                </a:endParaRPr>
              </a:p>
              <a:p>
                <a:pPr algn="just"/>
                <a:endParaRPr lang="fr-FR" dirty="0">
                  <a:latin typeface="Bookman Old Style" panose="02050604050505020204" pitchFamily="18" charset="0"/>
                </a:endParaRPr>
              </a:p>
              <a:p>
                <a:pPr algn="just"/>
                <a:r>
                  <a:rPr lang="fr-FR" dirty="0">
                    <a:latin typeface="Bookman Old Style" panose="02050604050505020204" pitchFamily="18" charset="0"/>
                  </a:rPr>
                  <a:t>Or </a:t>
                </a:r>
                <a:r>
                  <a:rPr lang="fr-FR" b="1" dirty="0">
                    <a:latin typeface="Bookman Old Style" panose="02050604050505020204" pitchFamily="18" charset="0"/>
                  </a:rPr>
                  <a:t>Log(√2) = 0,1505 ≈ 3/20</a:t>
                </a:r>
                <a:r>
                  <a:rPr lang="fr-FR" dirty="0">
                    <a:latin typeface="Bookman Old Style" panose="02050604050505020204" pitchFamily="18" charset="0"/>
                  </a:rPr>
                  <a:t>. </a:t>
                </a:r>
              </a:p>
              <a:p>
                <a:pPr algn="just"/>
                <a:endParaRPr lang="fr-FR" dirty="0">
                  <a:latin typeface="Bookman Old Style" panose="02050604050505020204" pitchFamily="18" charset="0"/>
                </a:endParaRPr>
              </a:p>
              <a:p>
                <a:pPr algn="just"/>
                <a:r>
                  <a:rPr lang="fr-FR" dirty="0">
                    <a:latin typeface="Bookman Old Style" panose="02050604050505020204" pitchFamily="18" charset="0"/>
                  </a:rPr>
                  <a:t>On peut donc aussi définir la fréquence de coupure comme la fréquence qui correspond à une </a:t>
                </a:r>
                <a:r>
                  <a:rPr lang="fr-FR" b="1" dirty="0">
                    <a:latin typeface="Bookman Old Style" panose="02050604050505020204" pitchFamily="18" charset="0"/>
                  </a:rPr>
                  <a:t>diminution de 3 dB du gain maximum</a:t>
                </a:r>
                <a:r>
                  <a:rPr lang="fr-FR" dirty="0">
                    <a:latin typeface="Bookman Old Style" panose="02050604050505020204" pitchFamily="18" charset="0"/>
                  </a:rPr>
                  <a:t>.</a:t>
                </a:r>
              </a:p>
              <a:p>
                <a:pPr algn="just"/>
                <a:endParaRPr lang="fr-FR" dirty="0">
                  <a:latin typeface="Bookman Old Style" panose="0205060405050502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dirty="0" smtClean="0">
                          <a:latin typeface="Cambria Math" panose="02040503050406030204" pitchFamily="18" charset="0"/>
                        </a:rPr>
                        <m:t>𝐆</m:t>
                      </m:r>
                      <m:r>
                        <a:rPr lang="fr-FR" b="1" i="0" dirty="0">
                          <a:latin typeface="Cambria Math" panose="02040503050406030204" pitchFamily="18" charset="0"/>
                        </a:rPr>
                        <m:t>′(</m:t>
                      </m:r>
                      <m:sSub>
                        <m:sSubPr>
                          <m:ctrlPr>
                            <a:rPr lang="fr-FR" b="1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𝛚</m:t>
                          </m:r>
                        </m:e>
                        <m:sub>
                          <m:r>
                            <a:rPr lang="fr-FR" b="1" i="0" dirty="0" err="1">
                              <a:latin typeface="Cambria Math" panose="02040503050406030204" pitchFamily="18" charset="0"/>
                            </a:rPr>
                            <m:t>𝐜</m:t>
                          </m:r>
                        </m:sub>
                      </m:sSub>
                      <m:r>
                        <a:rPr lang="fr-FR" b="1" i="0" dirty="0">
                          <a:latin typeface="Cambria Math" panose="02040503050406030204" pitchFamily="18" charset="0"/>
                        </a:rPr>
                        <m:t>) = </m:t>
                      </m:r>
                      <m:sSubSup>
                        <m:sSubSupPr>
                          <m:ctrlPr>
                            <a:rPr lang="fr-FR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1" i="0" dirty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b>
                          <m:r>
                            <a:rPr lang="fr-FR" b="1" i="0" dirty="0">
                              <a:latin typeface="Cambria Math" panose="02040503050406030204" pitchFamily="18" charset="0"/>
                            </a:rPr>
                            <m:t>𝐌𝐚𝐱</m:t>
                          </m:r>
                        </m:sub>
                        <m:sup>
                          <m:r>
                            <a:rPr lang="fr-FR" b="1" i="0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fr-FR" b="1" i="0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0" dirty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b="1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0" dirty="0">
                          <a:latin typeface="Cambria Math" panose="02040503050406030204" pitchFamily="18" charset="0"/>
                        </a:rPr>
                        <m:t>𝐝𝐁</m:t>
                      </m:r>
                    </m:oMath>
                  </m:oMathPara>
                </a14:m>
                <a:endParaRPr lang="fr-FR" b="1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EAFB2B-EC86-6E6F-4982-57B7B696D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36" y="1505148"/>
                <a:ext cx="8591120" cy="3274614"/>
              </a:xfrm>
              <a:prstGeom prst="rect">
                <a:avLst/>
              </a:prstGeom>
              <a:blipFill>
                <a:blip r:embed="rId3"/>
                <a:stretch>
                  <a:fillRect l="-568" t="-1117" r="-639" b="-14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810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object 11">
            <a:extLst>
              <a:ext uri="{FF2B5EF4-FFF2-40B4-BE49-F238E27FC236}">
                <a16:creationId xmlns:a16="http://schemas.microsoft.com/office/drawing/2014/main" id="{50CDA141-A8F8-7B44-1017-207547E2D457}"/>
              </a:ext>
            </a:extLst>
          </p:cNvPr>
          <p:cNvGrpSpPr/>
          <p:nvPr/>
        </p:nvGrpSpPr>
        <p:grpSpPr>
          <a:xfrm>
            <a:off x="309602" y="2395789"/>
            <a:ext cx="8700098" cy="2100131"/>
            <a:chOff x="695200" y="1293934"/>
            <a:chExt cx="8225156" cy="690246"/>
          </a:xfrm>
        </p:grpSpPr>
        <p:sp>
          <p:nvSpPr>
            <p:cNvPr id="30" name="object 12">
              <a:extLst>
                <a:ext uri="{FF2B5EF4-FFF2-40B4-BE49-F238E27FC236}">
                  <a16:creationId xmlns:a16="http://schemas.microsoft.com/office/drawing/2014/main" id="{22998063-7A56-6BF6-E3B1-0AE9F827542B}"/>
                </a:ext>
              </a:extLst>
            </p:cNvPr>
            <p:cNvSpPr/>
            <p:nvPr/>
          </p:nvSpPr>
          <p:spPr>
            <a:xfrm>
              <a:off x="695200" y="1293935"/>
              <a:ext cx="8225156" cy="690245"/>
            </a:xfrm>
            <a:custGeom>
              <a:avLst/>
              <a:gdLst/>
              <a:ahLst/>
              <a:cxnLst/>
              <a:rect l="l" t="t" r="r" b="b"/>
              <a:pathLst>
                <a:path w="8225155" h="690244">
                  <a:moveTo>
                    <a:pt x="8097059" y="0"/>
                  </a:moveTo>
                  <a:lnTo>
                    <a:pt x="127926" y="0"/>
                  </a:lnTo>
                  <a:lnTo>
                    <a:pt x="78131" y="10053"/>
                  </a:lnTo>
                  <a:lnTo>
                    <a:pt x="37468" y="37468"/>
                  </a:lnTo>
                  <a:lnTo>
                    <a:pt x="10053" y="78131"/>
                  </a:lnTo>
                  <a:lnTo>
                    <a:pt x="0" y="127927"/>
                  </a:lnTo>
                  <a:lnTo>
                    <a:pt x="0" y="561920"/>
                  </a:lnTo>
                  <a:lnTo>
                    <a:pt x="10053" y="611715"/>
                  </a:lnTo>
                  <a:lnTo>
                    <a:pt x="37468" y="652379"/>
                  </a:lnTo>
                  <a:lnTo>
                    <a:pt x="78131" y="679795"/>
                  </a:lnTo>
                  <a:lnTo>
                    <a:pt x="127926" y="689848"/>
                  </a:lnTo>
                  <a:lnTo>
                    <a:pt x="8097059" y="689848"/>
                  </a:lnTo>
                  <a:lnTo>
                    <a:pt x="8146853" y="679795"/>
                  </a:lnTo>
                  <a:lnTo>
                    <a:pt x="8187516" y="652379"/>
                  </a:lnTo>
                  <a:lnTo>
                    <a:pt x="8214932" y="611715"/>
                  </a:lnTo>
                  <a:lnTo>
                    <a:pt x="8224985" y="561920"/>
                  </a:lnTo>
                  <a:lnTo>
                    <a:pt x="8224985" y="127927"/>
                  </a:lnTo>
                  <a:lnTo>
                    <a:pt x="8214932" y="78131"/>
                  </a:lnTo>
                  <a:lnTo>
                    <a:pt x="8187516" y="37468"/>
                  </a:lnTo>
                  <a:lnTo>
                    <a:pt x="8146853" y="10053"/>
                  </a:lnTo>
                  <a:lnTo>
                    <a:pt x="8097059" y="0"/>
                  </a:lnTo>
                  <a:close/>
                </a:path>
              </a:pathLst>
            </a:custGeom>
            <a:solidFill>
              <a:srgbClr val="F2F2F2">
                <a:alpha val="7411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2" name="object 13">
              <a:extLst>
                <a:ext uri="{FF2B5EF4-FFF2-40B4-BE49-F238E27FC236}">
                  <a16:creationId xmlns:a16="http://schemas.microsoft.com/office/drawing/2014/main" id="{8636E522-252E-ACBA-1E9C-79643AAD72FC}"/>
                </a:ext>
              </a:extLst>
            </p:cNvPr>
            <p:cNvSpPr/>
            <p:nvPr/>
          </p:nvSpPr>
          <p:spPr>
            <a:xfrm>
              <a:off x="695200" y="1293934"/>
              <a:ext cx="8225155" cy="690245"/>
            </a:xfrm>
            <a:custGeom>
              <a:avLst/>
              <a:gdLst/>
              <a:ahLst/>
              <a:cxnLst/>
              <a:rect l="l" t="t" r="r" b="b"/>
              <a:pathLst>
                <a:path w="8225155" h="690244">
                  <a:moveTo>
                    <a:pt x="0" y="127927"/>
                  </a:moveTo>
                  <a:lnTo>
                    <a:pt x="10053" y="78132"/>
                  </a:lnTo>
                  <a:lnTo>
                    <a:pt x="37468" y="37469"/>
                  </a:lnTo>
                  <a:lnTo>
                    <a:pt x="78131" y="10053"/>
                  </a:lnTo>
                  <a:lnTo>
                    <a:pt x="127926" y="0"/>
                  </a:lnTo>
                  <a:lnTo>
                    <a:pt x="8097060" y="0"/>
                  </a:lnTo>
                  <a:lnTo>
                    <a:pt x="8146854" y="10053"/>
                  </a:lnTo>
                  <a:lnTo>
                    <a:pt x="8187517" y="37469"/>
                  </a:lnTo>
                  <a:lnTo>
                    <a:pt x="8214932" y="78132"/>
                  </a:lnTo>
                  <a:lnTo>
                    <a:pt x="8224986" y="127927"/>
                  </a:lnTo>
                  <a:lnTo>
                    <a:pt x="8224986" y="561921"/>
                  </a:lnTo>
                  <a:lnTo>
                    <a:pt x="8214932" y="611716"/>
                  </a:lnTo>
                  <a:lnTo>
                    <a:pt x="8187517" y="652379"/>
                  </a:lnTo>
                  <a:lnTo>
                    <a:pt x="8146854" y="679795"/>
                  </a:lnTo>
                  <a:lnTo>
                    <a:pt x="8097060" y="689849"/>
                  </a:lnTo>
                  <a:lnTo>
                    <a:pt x="127926" y="689849"/>
                  </a:lnTo>
                  <a:lnTo>
                    <a:pt x="78131" y="679795"/>
                  </a:lnTo>
                  <a:lnTo>
                    <a:pt x="37468" y="652379"/>
                  </a:lnTo>
                  <a:lnTo>
                    <a:pt x="10053" y="611716"/>
                  </a:lnTo>
                  <a:lnTo>
                    <a:pt x="0" y="561921"/>
                  </a:lnTo>
                  <a:lnTo>
                    <a:pt x="0" y="127927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0" y="4824469"/>
            <a:ext cx="494957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17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0646" y="557613"/>
            <a:ext cx="1285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Filtres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D9F9832-C8C1-D611-F93A-35E1C7EE735E}"/>
              </a:ext>
            </a:extLst>
          </p:cNvPr>
          <p:cNvSpPr txBox="1"/>
          <p:nvPr/>
        </p:nvSpPr>
        <p:spPr>
          <a:xfrm>
            <a:off x="579097" y="84614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4.1 Définitions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1C5BEE-2751-FF78-4870-FB27833B4E35}"/>
              </a:ext>
            </a:extLst>
          </p:cNvPr>
          <p:cNvSpPr txBox="1"/>
          <p:nvPr/>
        </p:nvSpPr>
        <p:spPr>
          <a:xfrm>
            <a:off x="428321" y="2568423"/>
            <a:ext cx="8488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800" dirty="0">
                <a:latin typeface="Bookman Old Style" panose="02050604050505020204" pitchFamily="18" charset="0"/>
              </a:rPr>
              <a:t>Un </a:t>
            </a:r>
            <a:r>
              <a:rPr lang="fr-FR" sz="1800" b="1" dirty="0">
                <a:latin typeface="Bookman Old Style" panose="02050604050505020204" pitchFamily="18" charset="0"/>
              </a:rPr>
              <a:t>filtre</a:t>
            </a:r>
            <a:r>
              <a:rPr lang="fr-FR" sz="1800" dirty="0">
                <a:latin typeface="Bookman Old Style" panose="02050604050505020204" pitchFamily="18" charset="0"/>
              </a:rPr>
              <a:t> est </a:t>
            </a:r>
            <a:r>
              <a:rPr lang="fr-FR" sz="1800" b="1" dirty="0">
                <a:latin typeface="Bookman Old Style" panose="02050604050505020204" pitchFamily="18" charset="0"/>
              </a:rPr>
              <a:t>un système linéaire invariant </a:t>
            </a:r>
            <a:r>
              <a:rPr lang="fr-FR" sz="1800" dirty="0">
                <a:latin typeface="Bookman Old Style" panose="02050604050505020204" pitchFamily="18" charset="0"/>
              </a:rPr>
              <a:t>dans le </a:t>
            </a:r>
            <a:r>
              <a:rPr lang="fr-FR" sz="1800" b="1" dirty="0">
                <a:latin typeface="Bookman Old Style" panose="02050604050505020204" pitchFamily="18" charset="0"/>
              </a:rPr>
              <a:t>temps</a:t>
            </a:r>
            <a:r>
              <a:rPr lang="fr-FR" sz="1800" dirty="0">
                <a:latin typeface="Bookman Old Style" panose="02050604050505020204" pitchFamily="18" charset="0"/>
              </a:rPr>
              <a:t> permettant de </a:t>
            </a:r>
            <a:r>
              <a:rPr lang="fr-FR" sz="1800" b="1" dirty="0">
                <a:latin typeface="Bookman Old Style" panose="02050604050505020204" pitchFamily="18" charset="0"/>
              </a:rPr>
              <a:t>diviser le spectre </a:t>
            </a:r>
            <a:r>
              <a:rPr lang="fr-FR" sz="1800" dirty="0">
                <a:latin typeface="Bookman Old Style" panose="02050604050505020204" pitchFamily="18" charset="0"/>
              </a:rPr>
              <a:t>(espace fréquentiel) afin de </a:t>
            </a:r>
            <a:r>
              <a:rPr lang="fr-FR" sz="1800" b="1" dirty="0">
                <a:latin typeface="Bookman Old Style" panose="02050604050505020204" pitchFamily="18" charset="0"/>
              </a:rPr>
              <a:t>conserver</a:t>
            </a:r>
            <a:r>
              <a:rPr lang="fr-FR" sz="1800" dirty="0">
                <a:latin typeface="Bookman Old Style" panose="02050604050505020204" pitchFamily="18" charset="0"/>
              </a:rPr>
              <a:t> une ou plusieurs parties (bande) de ce spectre. </a:t>
            </a:r>
          </a:p>
          <a:p>
            <a:pPr algn="just"/>
            <a:r>
              <a:rPr lang="fr-FR" sz="1800" dirty="0">
                <a:latin typeface="Bookman Old Style" panose="02050604050505020204" pitchFamily="18" charset="0"/>
              </a:rPr>
              <a:t>Le </a:t>
            </a:r>
            <a:r>
              <a:rPr lang="fr-FR" sz="1800" b="1" dirty="0">
                <a:latin typeface="Bookman Old Style" panose="02050604050505020204" pitchFamily="18" charset="0"/>
              </a:rPr>
              <a:t>filtre idéal </a:t>
            </a:r>
            <a:r>
              <a:rPr lang="fr-FR" sz="1800" dirty="0">
                <a:latin typeface="Bookman Old Style" panose="02050604050505020204" pitchFamily="18" charset="0"/>
              </a:rPr>
              <a:t>permet de transmettre sans distorsion une partie du spectre (bande passante) et bloque toutes les autres parties (bande coupée), avec un passage abrupt (discontinuité) entre ces deux parties.</a:t>
            </a:r>
          </a:p>
        </p:txBody>
      </p:sp>
      <p:grpSp>
        <p:nvGrpSpPr>
          <p:cNvPr id="22" name="object 11">
            <a:extLst>
              <a:ext uri="{FF2B5EF4-FFF2-40B4-BE49-F238E27FC236}">
                <a16:creationId xmlns:a16="http://schemas.microsoft.com/office/drawing/2014/main" id="{EC4701C1-569F-8CAC-FF9E-28C8A9DF22F0}"/>
              </a:ext>
            </a:extLst>
          </p:cNvPr>
          <p:cNvGrpSpPr/>
          <p:nvPr/>
        </p:nvGrpSpPr>
        <p:grpSpPr>
          <a:xfrm>
            <a:off x="289597" y="1393990"/>
            <a:ext cx="8700097" cy="650024"/>
            <a:chOff x="695200" y="1293934"/>
            <a:chExt cx="8225156" cy="690246"/>
          </a:xfrm>
        </p:grpSpPr>
        <p:sp>
          <p:nvSpPr>
            <p:cNvPr id="25" name="object 12">
              <a:extLst>
                <a:ext uri="{FF2B5EF4-FFF2-40B4-BE49-F238E27FC236}">
                  <a16:creationId xmlns:a16="http://schemas.microsoft.com/office/drawing/2014/main" id="{95FA0FE9-D15B-3280-1C61-FCB2256FA468}"/>
                </a:ext>
              </a:extLst>
            </p:cNvPr>
            <p:cNvSpPr/>
            <p:nvPr/>
          </p:nvSpPr>
          <p:spPr>
            <a:xfrm>
              <a:off x="695200" y="1293935"/>
              <a:ext cx="8225156" cy="690245"/>
            </a:xfrm>
            <a:custGeom>
              <a:avLst/>
              <a:gdLst/>
              <a:ahLst/>
              <a:cxnLst/>
              <a:rect l="l" t="t" r="r" b="b"/>
              <a:pathLst>
                <a:path w="8225155" h="690244">
                  <a:moveTo>
                    <a:pt x="8097059" y="0"/>
                  </a:moveTo>
                  <a:lnTo>
                    <a:pt x="127926" y="0"/>
                  </a:lnTo>
                  <a:lnTo>
                    <a:pt x="78131" y="10053"/>
                  </a:lnTo>
                  <a:lnTo>
                    <a:pt x="37468" y="37468"/>
                  </a:lnTo>
                  <a:lnTo>
                    <a:pt x="10053" y="78131"/>
                  </a:lnTo>
                  <a:lnTo>
                    <a:pt x="0" y="127927"/>
                  </a:lnTo>
                  <a:lnTo>
                    <a:pt x="0" y="561920"/>
                  </a:lnTo>
                  <a:lnTo>
                    <a:pt x="10053" y="611715"/>
                  </a:lnTo>
                  <a:lnTo>
                    <a:pt x="37468" y="652379"/>
                  </a:lnTo>
                  <a:lnTo>
                    <a:pt x="78131" y="679795"/>
                  </a:lnTo>
                  <a:lnTo>
                    <a:pt x="127926" y="689848"/>
                  </a:lnTo>
                  <a:lnTo>
                    <a:pt x="8097059" y="689848"/>
                  </a:lnTo>
                  <a:lnTo>
                    <a:pt x="8146853" y="679795"/>
                  </a:lnTo>
                  <a:lnTo>
                    <a:pt x="8187516" y="652379"/>
                  </a:lnTo>
                  <a:lnTo>
                    <a:pt x="8214932" y="611715"/>
                  </a:lnTo>
                  <a:lnTo>
                    <a:pt x="8224985" y="561920"/>
                  </a:lnTo>
                  <a:lnTo>
                    <a:pt x="8224985" y="127927"/>
                  </a:lnTo>
                  <a:lnTo>
                    <a:pt x="8214932" y="78131"/>
                  </a:lnTo>
                  <a:lnTo>
                    <a:pt x="8187516" y="37468"/>
                  </a:lnTo>
                  <a:lnTo>
                    <a:pt x="8146853" y="10053"/>
                  </a:lnTo>
                  <a:lnTo>
                    <a:pt x="8097059" y="0"/>
                  </a:lnTo>
                  <a:close/>
                </a:path>
              </a:pathLst>
            </a:custGeom>
            <a:solidFill>
              <a:srgbClr val="F2F2F2">
                <a:alpha val="7411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object 13">
              <a:extLst>
                <a:ext uri="{FF2B5EF4-FFF2-40B4-BE49-F238E27FC236}">
                  <a16:creationId xmlns:a16="http://schemas.microsoft.com/office/drawing/2014/main" id="{F7FD5D5C-C251-B9AA-26BE-F8E80567DA4E}"/>
                </a:ext>
              </a:extLst>
            </p:cNvPr>
            <p:cNvSpPr/>
            <p:nvPr/>
          </p:nvSpPr>
          <p:spPr>
            <a:xfrm>
              <a:off x="695200" y="1293934"/>
              <a:ext cx="8225155" cy="690245"/>
            </a:xfrm>
            <a:custGeom>
              <a:avLst/>
              <a:gdLst/>
              <a:ahLst/>
              <a:cxnLst/>
              <a:rect l="l" t="t" r="r" b="b"/>
              <a:pathLst>
                <a:path w="8225155" h="690244">
                  <a:moveTo>
                    <a:pt x="0" y="127927"/>
                  </a:moveTo>
                  <a:lnTo>
                    <a:pt x="10053" y="78132"/>
                  </a:lnTo>
                  <a:lnTo>
                    <a:pt x="37468" y="37469"/>
                  </a:lnTo>
                  <a:lnTo>
                    <a:pt x="78131" y="10053"/>
                  </a:lnTo>
                  <a:lnTo>
                    <a:pt x="127926" y="0"/>
                  </a:lnTo>
                  <a:lnTo>
                    <a:pt x="8097060" y="0"/>
                  </a:lnTo>
                  <a:lnTo>
                    <a:pt x="8146854" y="10053"/>
                  </a:lnTo>
                  <a:lnTo>
                    <a:pt x="8187517" y="37469"/>
                  </a:lnTo>
                  <a:lnTo>
                    <a:pt x="8214932" y="78132"/>
                  </a:lnTo>
                  <a:lnTo>
                    <a:pt x="8224986" y="127927"/>
                  </a:lnTo>
                  <a:lnTo>
                    <a:pt x="8224986" y="561921"/>
                  </a:lnTo>
                  <a:lnTo>
                    <a:pt x="8214932" y="611716"/>
                  </a:lnTo>
                  <a:lnTo>
                    <a:pt x="8187517" y="652379"/>
                  </a:lnTo>
                  <a:lnTo>
                    <a:pt x="8146854" y="679795"/>
                  </a:lnTo>
                  <a:lnTo>
                    <a:pt x="8097060" y="689849"/>
                  </a:lnTo>
                  <a:lnTo>
                    <a:pt x="127926" y="689849"/>
                  </a:lnTo>
                  <a:lnTo>
                    <a:pt x="78131" y="679795"/>
                  </a:lnTo>
                  <a:lnTo>
                    <a:pt x="37468" y="652379"/>
                  </a:lnTo>
                  <a:lnTo>
                    <a:pt x="10053" y="611716"/>
                  </a:lnTo>
                  <a:lnTo>
                    <a:pt x="0" y="561921"/>
                  </a:lnTo>
                  <a:lnTo>
                    <a:pt x="0" y="127927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52EFC0FC-9B52-5648-ECC8-2BEBBA20900A}"/>
              </a:ext>
            </a:extLst>
          </p:cNvPr>
          <p:cNvSpPr txBox="1"/>
          <p:nvPr/>
        </p:nvSpPr>
        <p:spPr>
          <a:xfrm>
            <a:off x="435782" y="1482465"/>
            <a:ext cx="84137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La fonction </a:t>
            </a:r>
            <a:r>
              <a:rPr lang="fr-FR" sz="1600" b="1" dirty="0">
                <a:latin typeface="Bookman Old Style" panose="02050604050505020204" pitchFamily="18" charset="0"/>
              </a:rPr>
              <a:t>filtrage</a:t>
            </a:r>
            <a:r>
              <a:rPr lang="fr-FR" sz="1600" dirty="0">
                <a:latin typeface="Bookman Old Style" panose="02050604050505020204" pitchFamily="18" charset="0"/>
              </a:rPr>
              <a:t> permet de </a:t>
            </a:r>
            <a:r>
              <a:rPr lang="fr-FR" sz="1600" b="1" dirty="0">
                <a:latin typeface="Bookman Old Style" panose="02050604050505020204" pitchFamily="18" charset="0"/>
              </a:rPr>
              <a:t>supprimer</a:t>
            </a:r>
            <a:r>
              <a:rPr lang="fr-FR" sz="1600" dirty="0">
                <a:latin typeface="Bookman Old Style" panose="02050604050505020204" pitchFamily="18" charset="0"/>
              </a:rPr>
              <a:t> des signaux </a:t>
            </a:r>
            <a:r>
              <a:rPr lang="fr-FR" sz="1600" b="1" dirty="0">
                <a:latin typeface="Bookman Old Style" panose="02050604050505020204" pitchFamily="18" charset="0"/>
              </a:rPr>
              <a:t>de fréquence non désirée</a:t>
            </a:r>
            <a:r>
              <a:rPr lang="fr-FR" sz="1600" dirty="0">
                <a:latin typeface="Bookman Old Style" panose="02050604050505020204" pitchFamily="18" charset="0"/>
              </a:rPr>
              <a:t>.</a:t>
            </a: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456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458201" y="4824469"/>
            <a:ext cx="4187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18</a:t>
            </a:fld>
            <a:endParaRPr sz="2400" dirty="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CD80360-B833-80D8-365C-0D1D27BB421D}"/>
              </a:ext>
            </a:extLst>
          </p:cNvPr>
          <p:cNvSpPr txBox="1"/>
          <p:nvPr/>
        </p:nvSpPr>
        <p:spPr>
          <a:xfrm>
            <a:off x="452136" y="1394413"/>
            <a:ext cx="86918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latin typeface="Bookman Old Style" panose="02050604050505020204" pitchFamily="18" charset="0"/>
              </a:rPr>
              <a:t>Ils existe deux types de filtres : </a:t>
            </a:r>
          </a:p>
          <a:p>
            <a:endParaRPr lang="fr-FR" dirty="0">
              <a:latin typeface="Bookman Old Style" panose="02050604050505020204" pitchFamily="18" charset="0"/>
            </a:endParaRP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           </a:t>
            </a:r>
            <a:r>
              <a:rPr lang="fr-FR" b="1" dirty="0">
                <a:latin typeface="Bookman Old Style" panose="02050604050505020204" pitchFamily="18" charset="0"/>
              </a:rPr>
              <a:t>Filtres passifs : </a:t>
            </a:r>
            <a:r>
              <a:rPr lang="fr-FR" dirty="0">
                <a:latin typeface="Bookman Old Style" panose="02050604050505020204" pitchFamily="18" charset="0"/>
              </a:rPr>
              <a:t>Ils ne sont composés que d’éléments passifs</a:t>
            </a: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                                    ( </a:t>
            </a:r>
            <a:r>
              <a:rPr lang="fr-FR" b="1" dirty="0">
                <a:latin typeface="Bookman Old Style" panose="02050604050505020204" pitchFamily="18" charset="0"/>
              </a:rPr>
              <a:t>résistances, condensateurs, bobines </a:t>
            </a:r>
            <a:r>
              <a:rPr lang="fr-FR" dirty="0">
                <a:latin typeface="Bookman Old Style" panose="02050604050505020204" pitchFamily="18" charset="0"/>
              </a:rPr>
              <a:t>). </a:t>
            </a:r>
          </a:p>
          <a:p>
            <a:endParaRPr lang="fr-FR" dirty="0">
              <a:latin typeface="Bookman Old Style" panose="02050604050505020204" pitchFamily="18" charset="0"/>
            </a:endParaRP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           </a:t>
            </a:r>
            <a:r>
              <a:rPr lang="fr-FR" b="1" dirty="0">
                <a:latin typeface="Bookman Old Style" panose="02050604050505020204" pitchFamily="18" charset="0"/>
              </a:rPr>
              <a:t>Filtres actifs :  </a:t>
            </a:r>
            <a:r>
              <a:rPr lang="fr-FR" dirty="0">
                <a:latin typeface="Bookman Old Style" panose="02050604050505020204" pitchFamily="18" charset="0"/>
              </a:rPr>
              <a:t>Il y a en plus une amplification du signal d’entrée par un élément actif ( </a:t>
            </a:r>
            <a:r>
              <a:rPr lang="fr-FR" b="1" dirty="0">
                <a:latin typeface="Bookman Old Style" panose="02050604050505020204" pitchFamily="18" charset="0"/>
              </a:rPr>
              <a:t>AOP, Transistor </a:t>
            </a:r>
            <a:r>
              <a:rPr lang="fr-FR" dirty="0">
                <a:latin typeface="Bookman Old Style" panose="02050604050505020204" pitchFamily="18" charset="0"/>
              </a:rPr>
              <a:t>).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957E8B6-E819-1A81-533B-055BD4D537B3}"/>
              </a:ext>
            </a:extLst>
          </p:cNvPr>
          <p:cNvSpPr/>
          <p:nvPr/>
        </p:nvSpPr>
        <p:spPr>
          <a:xfrm>
            <a:off x="1026253" y="2028513"/>
            <a:ext cx="220804" cy="236241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617B15C-D907-4F39-20FB-6FBCCFD02741}"/>
              </a:ext>
            </a:extLst>
          </p:cNvPr>
          <p:cNvSpPr/>
          <p:nvPr/>
        </p:nvSpPr>
        <p:spPr>
          <a:xfrm>
            <a:off x="1026253" y="2833119"/>
            <a:ext cx="220804" cy="236241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29A0DE-7D0A-4702-843E-A3C98739DA18}"/>
              </a:ext>
            </a:extLst>
          </p:cNvPr>
          <p:cNvSpPr/>
          <p:nvPr/>
        </p:nvSpPr>
        <p:spPr>
          <a:xfrm>
            <a:off x="550646" y="557613"/>
            <a:ext cx="1285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Filtres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19EE23-EA66-DDA7-143D-1EC57C8D4962}"/>
              </a:ext>
            </a:extLst>
          </p:cNvPr>
          <p:cNvSpPr txBox="1"/>
          <p:nvPr/>
        </p:nvSpPr>
        <p:spPr>
          <a:xfrm>
            <a:off x="579097" y="84614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4.1 Définitions</a:t>
            </a:r>
          </a:p>
        </p:txBody>
      </p:sp>
    </p:spTree>
    <p:extLst>
      <p:ext uri="{BB962C8B-B14F-4D97-AF65-F5344CB8AC3E}">
        <p14:creationId xmlns:p14="http://schemas.microsoft.com/office/powerpoint/2010/main" val="2296645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19</a:t>
            </a:fld>
            <a:endParaRPr sz="2400" dirty="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86C413-334E-AB21-B042-FED40BA01E31}"/>
                  </a:ext>
                </a:extLst>
              </p:cNvPr>
              <p:cNvSpPr txBox="1"/>
              <p:nvPr/>
            </p:nvSpPr>
            <p:spPr>
              <a:xfrm>
                <a:off x="545053" y="1241287"/>
                <a:ext cx="8456113" cy="3693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>
                    <a:latin typeface="Bookman Old Style" panose="02050604050505020204" pitchFamily="18" charset="0"/>
                  </a:rPr>
                  <a:t>Comportement des impédances aux fréquences limites:</a:t>
                </a:r>
              </a:p>
              <a:p>
                <a:endParaRPr lang="fr-FR" dirty="0">
                  <a:latin typeface="Bookman Old Style" panose="02050604050505020204" pitchFamily="18" charset="0"/>
                </a:endParaRPr>
              </a:p>
              <a:p>
                <a:r>
                  <a:rPr lang="fr-FR" b="1" u="sng" dirty="0">
                    <a:latin typeface="Bookman Old Style" panose="02050604050505020204" pitchFamily="18" charset="0"/>
                  </a:rPr>
                  <a:t>Basses Fréquences </a:t>
                </a:r>
              </a:p>
              <a:p>
                <a:endParaRPr lang="fr-FR" b="1" u="sng" dirty="0">
                  <a:latin typeface="Bookman Old Style" panose="0205060405050502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0" dirty="0" smtClean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fr-FR" b="1" i="0" dirty="0" smtClean="0">
                            <a:latin typeface="Cambria Math" panose="02040503050406030204" pitchFamily="18" charset="0"/>
                          </a:rPr>
                          <m:t>𝐋</m:t>
                        </m:r>
                      </m:sub>
                    </m:sSub>
                    <m:r>
                      <a:rPr lang="fr-FR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0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fr-FR" b="1" i="0" dirty="0" err="1">
                        <a:latin typeface="Cambria Math" panose="02040503050406030204" pitchFamily="18" charset="0"/>
                      </a:rPr>
                      <m:t>𝐣𝐋</m:t>
                    </m:r>
                    <m:r>
                      <a:rPr lang="el-GR" b="1" i="0" dirty="0">
                        <a:latin typeface="Cambria Math" panose="02040503050406030204" pitchFamily="18" charset="0"/>
                      </a:rPr>
                      <m:t>𝛚</m:t>
                    </m:r>
                    <m:r>
                      <a:rPr lang="el-GR" b="1" i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dirty="0">
                    <a:latin typeface="Bookman Old Style" panose="02050604050505020204" pitchFamily="18" charset="0"/>
                  </a:rPr>
                  <a:t>: </a:t>
                </a:r>
                <a:r>
                  <a:rPr lang="fr-FR" dirty="0">
                    <a:latin typeface="Bookman Old Style" panose="02050604050505020204" pitchFamily="18" charset="0"/>
                  </a:rPr>
                  <a:t>tend vers 0 (</a:t>
                </a:r>
                <a:r>
                  <a:rPr lang="fr-FR" b="1" dirty="0">
                    <a:latin typeface="Bookman Old Style" panose="02050604050505020204" pitchFamily="18" charset="0"/>
                  </a:rPr>
                  <a:t>circuit fermé</a:t>
                </a:r>
                <a:r>
                  <a:rPr lang="fr-FR" dirty="0">
                    <a:latin typeface="Bookman Old Style" panose="02050604050505020204" pitchFamily="18" charset="0"/>
                  </a:rPr>
                  <a:t>) </a:t>
                </a:r>
              </a:p>
              <a:p>
                <a:endParaRPr lang="fr-FR" dirty="0">
                  <a:latin typeface="Bookman Old Style" panose="0205060405050502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0" dirty="0" smtClean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fr-FR" b="1" i="0" dirty="0" smtClean="0">
                            <a:latin typeface="Cambria Math" panose="02040503050406030204" pitchFamily="18" charset="0"/>
                          </a:rPr>
                          <m:t>𝐂</m:t>
                        </m:r>
                      </m:sub>
                    </m:sSub>
                    <m:r>
                      <a:rPr lang="fr-FR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0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fr-FR" b="1" i="0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fr-FR" b="1" i="0" dirty="0">
                        <a:latin typeface="Cambria Math" panose="02040503050406030204" pitchFamily="18" charset="0"/>
                      </a:rPr>
                      <m:t>/ </m:t>
                    </m:r>
                    <m:r>
                      <a:rPr lang="fr-FR" b="1" i="0" dirty="0" err="1" smtClean="0">
                        <a:latin typeface="Cambria Math" panose="02040503050406030204" pitchFamily="18" charset="0"/>
                      </a:rPr>
                      <m:t>𝐣𝐂</m:t>
                    </m:r>
                    <m:r>
                      <a:rPr lang="el-GR" b="1" i="0" dirty="0" smtClean="0">
                        <a:latin typeface="Cambria Math" panose="02040503050406030204" pitchFamily="18" charset="0"/>
                      </a:rPr>
                      <m:t>𝛚</m:t>
                    </m:r>
                    <m:r>
                      <a:rPr lang="el-GR" b="1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dirty="0">
                    <a:latin typeface="Bookman Old Style" panose="02050604050505020204" pitchFamily="18" charset="0"/>
                  </a:rPr>
                  <a:t>: </a:t>
                </a:r>
                <a:r>
                  <a:rPr lang="fr-FR" dirty="0">
                    <a:latin typeface="Bookman Old Style" panose="02050604050505020204" pitchFamily="18" charset="0"/>
                  </a:rPr>
                  <a:t>tend vers ∝ ( </a:t>
                </a:r>
                <a:r>
                  <a:rPr lang="fr-FR" b="1" dirty="0">
                    <a:latin typeface="Bookman Old Style" panose="02050604050505020204" pitchFamily="18" charset="0"/>
                  </a:rPr>
                  <a:t>circuit ouvert</a:t>
                </a:r>
                <a:r>
                  <a:rPr lang="fr-FR" dirty="0">
                    <a:latin typeface="Bookman Old Style" panose="02050604050505020204" pitchFamily="18" charset="0"/>
                  </a:rPr>
                  <a:t>) </a:t>
                </a:r>
              </a:p>
              <a:p>
                <a:endParaRPr lang="fr-FR" dirty="0">
                  <a:latin typeface="Bookman Old Style" panose="02050604050505020204" pitchFamily="18" charset="0"/>
                </a:endParaRPr>
              </a:p>
              <a:p>
                <a:r>
                  <a:rPr lang="fr-FR" b="1" u="sng" dirty="0">
                    <a:latin typeface="Bookman Old Style" panose="02050604050505020204" pitchFamily="18" charset="0"/>
                  </a:rPr>
                  <a:t>Hautes Fréquences</a:t>
                </a:r>
              </a:p>
              <a:p>
                <a:endParaRPr lang="fr-FR" dirty="0">
                  <a:latin typeface="Bookman Old Style" panose="02050604050505020204" pitchFamily="18" charset="0"/>
                </a:endParaRPr>
              </a:p>
              <a:p>
                <a:r>
                  <a:rPr lang="fr-FR" dirty="0">
                    <a:latin typeface="Bookman Old Style" panose="0205060405050502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0" dirty="0" smtClean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fr-FR" b="1" i="0" dirty="0" smtClean="0">
                            <a:latin typeface="Cambria Math" panose="02040503050406030204" pitchFamily="18" charset="0"/>
                          </a:rPr>
                          <m:t>𝐋</m:t>
                        </m:r>
                      </m:sub>
                    </m:sSub>
                    <m:r>
                      <a:rPr lang="fr-FR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0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fr-FR" b="1" i="0" dirty="0" err="1">
                        <a:latin typeface="Cambria Math" panose="02040503050406030204" pitchFamily="18" charset="0"/>
                      </a:rPr>
                      <m:t>𝐣𝐋</m:t>
                    </m:r>
                    <m:r>
                      <a:rPr lang="el-GR" b="1" i="0" dirty="0">
                        <a:latin typeface="Cambria Math" panose="02040503050406030204" pitchFamily="18" charset="0"/>
                      </a:rPr>
                      <m:t>𝛚</m:t>
                    </m:r>
                  </m:oMath>
                </a14:m>
                <a:r>
                  <a:rPr lang="el-GR" dirty="0">
                    <a:latin typeface="Bookman Old Style" panose="02050604050505020204" pitchFamily="18" charset="0"/>
                  </a:rPr>
                  <a:t> : </a:t>
                </a:r>
                <a:r>
                  <a:rPr lang="fr-FR" dirty="0">
                    <a:latin typeface="Bookman Old Style" panose="02050604050505020204" pitchFamily="18" charset="0"/>
                  </a:rPr>
                  <a:t>tend vers ∝ (</a:t>
                </a:r>
                <a:r>
                  <a:rPr lang="fr-FR" b="1" dirty="0">
                    <a:latin typeface="Bookman Old Style" panose="02050604050505020204" pitchFamily="18" charset="0"/>
                  </a:rPr>
                  <a:t>circuit ouvert</a:t>
                </a:r>
                <a:r>
                  <a:rPr lang="fr-FR" dirty="0">
                    <a:latin typeface="Bookman Old Style" panose="02050604050505020204" pitchFamily="18" charset="0"/>
                  </a:rPr>
                  <a:t>)</a:t>
                </a:r>
              </a:p>
              <a:p>
                <a:endParaRPr lang="fr-FR" dirty="0">
                  <a:latin typeface="Bookman Old Style" panose="02050604050505020204" pitchFamily="18" charset="0"/>
                </a:endParaRPr>
              </a:p>
              <a:p>
                <a:r>
                  <a:rPr lang="fr-FR" dirty="0">
                    <a:latin typeface="Bookman Old Style" panose="0205060405050502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0" dirty="0" smtClean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fr-FR" b="1" i="0" dirty="0" smtClean="0">
                            <a:latin typeface="Cambria Math" panose="02040503050406030204" pitchFamily="18" charset="0"/>
                          </a:rPr>
                          <m:t>𝐂</m:t>
                        </m:r>
                      </m:sub>
                    </m:sSub>
                    <m:r>
                      <a:rPr lang="fr-FR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0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fr-FR" b="1" i="0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fr-FR" b="1" i="0" dirty="0">
                        <a:latin typeface="Cambria Math" panose="02040503050406030204" pitchFamily="18" charset="0"/>
                      </a:rPr>
                      <m:t>/ </m:t>
                    </m:r>
                    <m:r>
                      <a:rPr lang="fr-FR" b="1" i="0" dirty="0" err="1" smtClean="0">
                        <a:latin typeface="Cambria Math" panose="02040503050406030204" pitchFamily="18" charset="0"/>
                      </a:rPr>
                      <m:t>𝐣𝐂</m:t>
                    </m:r>
                    <m:r>
                      <a:rPr lang="el-GR" b="1" i="0" dirty="0" smtClean="0">
                        <a:latin typeface="Cambria Math" panose="02040503050406030204" pitchFamily="18" charset="0"/>
                      </a:rPr>
                      <m:t>𝛚</m:t>
                    </m:r>
                    <m:r>
                      <a:rPr lang="el-GR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dirty="0">
                    <a:latin typeface="Bookman Old Style" panose="02050604050505020204" pitchFamily="18" charset="0"/>
                  </a:rPr>
                  <a:t>: </a:t>
                </a:r>
                <a:r>
                  <a:rPr lang="fr-FR" dirty="0">
                    <a:latin typeface="Bookman Old Style" panose="02050604050505020204" pitchFamily="18" charset="0"/>
                  </a:rPr>
                  <a:t>tend vers 0 ( </a:t>
                </a:r>
                <a:r>
                  <a:rPr lang="fr-FR" b="1" dirty="0">
                    <a:latin typeface="Bookman Old Style" panose="02050604050505020204" pitchFamily="18" charset="0"/>
                  </a:rPr>
                  <a:t>circuit fermé </a:t>
                </a:r>
                <a:r>
                  <a:rPr lang="fr-FR" dirty="0">
                    <a:latin typeface="Bookman Old Style" panose="02050604050505020204" pitchFamily="18" charset="0"/>
                  </a:rPr>
                  <a:t>)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86C413-334E-AB21-B042-FED40BA01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53" y="1241287"/>
                <a:ext cx="8456113" cy="3693319"/>
              </a:xfrm>
              <a:prstGeom prst="rect">
                <a:avLst/>
              </a:prstGeom>
              <a:blipFill>
                <a:blip r:embed="rId3"/>
                <a:stretch>
                  <a:fillRect l="-576" t="-826" b="-198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E9CAD6DD-BE99-ED93-4BFC-59263D4CAABA}"/>
              </a:ext>
            </a:extLst>
          </p:cNvPr>
          <p:cNvSpPr/>
          <p:nvPr/>
        </p:nvSpPr>
        <p:spPr>
          <a:xfrm>
            <a:off x="550646" y="557613"/>
            <a:ext cx="1285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Filtres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2C8501-48FF-979F-A8F5-827D73EA3200}"/>
              </a:ext>
            </a:extLst>
          </p:cNvPr>
          <p:cNvSpPr txBox="1"/>
          <p:nvPr/>
        </p:nvSpPr>
        <p:spPr>
          <a:xfrm>
            <a:off x="579097" y="84614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4.1 Définitions</a:t>
            </a:r>
          </a:p>
        </p:txBody>
      </p:sp>
    </p:spTree>
    <p:extLst>
      <p:ext uri="{BB962C8B-B14F-4D97-AF65-F5344CB8AC3E}">
        <p14:creationId xmlns:p14="http://schemas.microsoft.com/office/powerpoint/2010/main" val="4284177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20</a:t>
            </a:fld>
            <a:endParaRPr sz="2400" dirty="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186C413-334E-AB21-B042-FED40BA01E31}"/>
              </a:ext>
            </a:extLst>
          </p:cNvPr>
          <p:cNvSpPr txBox="1"/>
          <p:nvPr/>
        </p:nvSpPr>
        <p:spPr>
          <a:xfrm>
            <a:off x="452136" y="1184696"/>
            <a:ext cx="861157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Qu’ils soient </a:t>
            </a:r>
            <a:r>
              <a:rPr lang="fr-FR" sz="1600" b="1" dirty="0">
                <a:latin typeface="Bookman Old Style" panose="02050604050505020204" pitchFamily="18" charset="0"/>
              </a:rPr>
              <a:t>actifs</a:t>
            </a:r>
            <a:r>
              <a:rPr lang="fr-FR" sz="1600" dirty="0">
                <a:latin typeface="Bookman Old Style" panose="02050604050505020204" pitchFamily="18" charset="0"/>
              </a:rPr>
              <a:t> ou </a:t>
            </a:r>
            <a:r>
              <a:rPr lang="fr-FR" sz="1600" b="1" dirty="0">
                <a:latin typeface="Bookman Old Style" panose="02050604050505020204" pitchFamily="18" charset="0"/>
              </a:rPr>
              <a:t>passifs</a:t>
            </a:r>
            <a:r>
              <a:rPr lang="fr-FR" sz="1600" dirty="0">
                <a:latin typeface="Bookman Old Style" panose="02050604050505020204" pitchFamily="18" charset="0"/>
              </a:rPr>
              <a:t>, les filtres laissent ou ne laissent pas passer certaines fréquences. Ainsi on distingue </a:t>
            </a:r>
            <a:r>
              <a:rPr lang="fr-FR" sz="1600" b="1" dirty="0">
                <a:latin typeface="Bookman Old Style" panose="02050604050505020204" pitchFamily="18" charset="0"/>
              </a:rPr>
              <a:t>5 sortes de filtres </a:t>
            </a:r>
            <a:r>
              <a:rPr lang="fr-FR" sz="1600" dirty="0">
                <a:latin typeface="Bookman Old Style" panose="02050604050505020204" pitchFamily="18" charset="0"/>
              </a:rPr>
              <a:t>: </a:t>
            </a: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algn="just"/>
            <a:r>
              <a:rPr lang="fr-FR" sz="1600" b="1" dirty="0">
                <a:latin typeface="Bookman Old Style" panose="02050604050505020204" pitchFamily="18" charset="0"/>
              </a:rPr>
              <a:t>Filtres Passe-Bas : </a:t>
            </a:r>
            <a:r>
              <a:rPr lang="fr-FR" sz="1600" dirty="0">
                <a:latin typeface="Bookman Old Style" panose="02050604050505020204" pitchFamily="18" charset="0"/>
              </a:rPr>
              <a:t>ne laissent passer que les fréquences basses </a:t>
            </a: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algn="just"/>
            <a:r>
              <a:rPr lang="fr-FR" sz="1600" b="1" dirty="0">
                <a:latin typeface="Bookman Old Style" panose="02050604050505020204" pitchFamily="18" charset="0"/>
              </a:rPr>
              <a:t>Filtres Passe-Haut : </a:t>
            </a:r>
            <a:r>
              <a:rPr lang="fr-FR" sz="1600" dirty="0">
                <a:latin typeface="Bookman Old Style" panose="02050604050505020204" pitchFamily="18" charset="0"/>
              </a:rPr>
              <a:t>ne laissent passer que les fréquences hautes </a:t>
            </a: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algn="just"/>
            <a:r>
              <a:rPr lang="fr-FR" sz="1600" b="1" dirty="0">
                <a:latin typeface="Bookman Old Style" panose="02050604050505020204" pitchFamily="18" charset="0"/>
              </a:rPr>
              <a:t>Filtres Passe-Bande : </a:t>
            </a:r>
            <a:r>
              <a:rPr lang="fr-FR" sz="1600" dirty="0">
                <a:latin typeface="Bookman Old Style" panose="02050604050505020204" pitchFamily="18" charset="0"/>
              </a:rPr>
              <a:t>ne laissent passer qu’une plage de fréquences</a:t>
            </a:r>
          </a:p>
          <a:p>
            <a:pPr algn="just"/>
            <a:r>
              <a:rPr lang="fr-FR" sz="1600" dirty="0">
                <a:latin typeface="Bookman Old Style" panose="02050604050505020204" pitchFamily="18" charset="0"/>
              </a:rPr>
              <a:t> </a:t>
            </a:r>
          </a:p>
          <a:p>
            <a:pPr algn="just"/>
            <a:r>
              <a:rPr lang="fr-FR" sz="1600" b="1" dirty="0">
                <a:latin typeface="Bookman Old Style" panose="02050604050505020204" pitchFamily="18" charset="0"/>
              </a:rPr>
              <a:t>Filtres Coupe-Bande : </a:t>
            </a:r>
            <a:r>
              <a:rPr lang="fr-FR" sz="1600" dirty="0">
                <a:latin typeface="Bookman Old Style" panose="02050604050505020204" pitchFamily="18" charset="0"/>
              </a:rPr>
              <a:t>ne laissent pas passer une plage de fréquences</a:t>
            </a:r>
          </a:p>
          <a:p>
            <a:pPr algn="just"/>
            <a:endParaRPr lang="fr-FR" sz="1600" dirty="0">
              <a:latin typeface="Bookman Old Style" panose="02050604050505020204" pitchFamily="18" charset="0"/>
            </a:endParaRPr>
          </a:p>
          <a:p>
            <a:pPr algn="just"/>
            <a:r>
              <a:rPr lang="fr-FR" sz="1600" b="1" dirty="0">
                <a:latin typeface="Bookman Old Style" panose="02050604050505020204" pitchFamily="18" charset="0"/>
              </a:rPr>
              <a:t>Filtres Passe-Tout: </a:t>
            </a:r>
            <a:r>
              <a:rPr lang="fr-FR" sz="1600" dirty="0">
                <a:latin typeface="Bookman Old Style" panose="02050604050505020204" pitchFamily="18" charset="0"/>
              </a:rPr>
              <a:t>est un type de filtre qui laisse passer toutes les fréquences avec la même amplitude, sans les atténuer. Cependant, il modifie la phase du signal en fonction de la fréquence.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12880D-146E-0E95-BB2D-F0451D2AA97C}"/>
              </a:ext>
            </a:extLst>
          </p:cNvPr>
          <p:cNvSpPr/>
          <p:nvPr/>
        </p:nvSpPr>
        <p:spPr>
          <a:xfrm>
            <a:off x="550646" y="557613"/>
            <a:ext cx="1285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Filtres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6AE106-E4A8-B232-050D-E36900DBC3CF}"/>
              </a:ext>
            </a:extLst>
          </p:cNvPr>
          <p:cNvSpPr txBox="1"/>
          <p:nvPr/>
        </p:nvSpPr>
        <p:spPr>
          <a:xfrm>
            <a:off x="579097" y="84614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4.2 Types des filtres</a:t>
            </a:r>
          </a:p>
        </p:txBody>
      </p:sp>
    </p:spTree>
    <p:extLst>
      <p:ext uri="{BB962C8B-B14F-4D97-AF65-F5344CB8AC3E}">
        <p14:creationId xmlns:p14="http://schemas.microsoft.com/office/powerpoint/2010/main" val="4183318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21</a:t>
            </a:fld>
            <a:endParaRPr sz="2400" dirty="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112880D-146E-0E95-BB2D-F0451D2AA97C}"/>
              </a:ext>
            </a:extLst>
          </p:cNvPr>
          <p:cNvSpPr/>
          <p:nvPr/>
        </p:nvSpPr>
        <p:spPr>
          <a:xfrm>
            <a:off x="550646" y="557613"/>
            <a:ext cx="1285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Filtres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6AE106-E4A8-B232-050D-E36900DBC3CF}"/>
              </a:ext>
            </a:extLst>
          </p:cNvPr>
          <p:cNvSpPr txBox="1"/>
          <p:nvPr/>
        </p:nvSpPr>
        <p:spPr>
          <a:xfrm>
            <a:off x="579097" y="84614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4.2 Types des filtres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313786-D66F-B307-00EE-85A010659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38350"/>
            <a:ext cx="3787468" cy="21109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59B73E7-C333-8109-7212-BFC2BA02E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145" y="2172385"/>
            <a:ext cx="3635055" cy="19661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A878BC-02E0-64DA-D73E-32B3E98C0B6D}"/>
              </a:ext>
            </a:extLst>
          </p:cNvPr>
          <p:cNvSpPr txBox="1"/>
          <p:nvPr/>
        </p:nvSpPr>
        <p:spPr>
          <a:xfrm>
            <a:off x="990600" y="149135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latin typeface="Bookman Old Style" panose="02050604050505020204" pitchFamily="18" charset="0"/>
              </a:rPr>
              <a:t>Filtres Passe-Bas </a:t>
            </a:r>
            <a:endParaRPr lang="fr-F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007946-C600-1842-C463-22EBCB03FABE}"/>
              </a:ext>
            </a:extLst>
          </p:cNvPr>
          <p:cNvSpPr txBox="1"/>
          <p:nvPr/>
        </p:nvSpPr>
        <p:spPr>
          <a:xfrm>
            <a:off x="5334000" y="149135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latin typeface="Bookman Old Style" panose="02050604050505020204" pitchFamily="18" charset="0"/>
              </a:rPr>
              <a:t>Filtres Passe-Haut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9487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22</a:t>
            </a:fld>
            <a:endParaRPr sz="2400" dirty="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112880D-146E-0E95-BB2D-F0451D2AA97C}"/>
              </a:ext>
            </a:extLst>
          </p:cNvPr>
          <p:cNvSpPr/>
          <p:nvPr/>
        </p:nvSpPr>
        <p:spPr>
          <a:xfrm>
            <a:off x="550646" y="557613"/>
            <a:ext cx="1285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Filtres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6AE106-E4A8-B232-050D-E36900DBC3CF}"/>
              </a:ext>
            </a:extLst>
          </p:cNvPr>
          <p:cNvSpPr txBox="1"/>
          <p:nvPr/>
        </p:nvSpPr>
        <p:spPr>
          <a:xfrm>
            <a:off x="579097" y="84614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4.2 Types des filtres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DA272F-2E29-2AF0-C383-437844FE3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23" y="2387084"/>
            <a:ext cx="3732196" cy="20270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E4182BD-56A0-909C-7AD4-4AA30F0A9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2316261"/>
            <a:ext cx="3558848" cy="202709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4956361-A6F9-640D-26D4-3B5B6DBC7B6E}"/>
              </a:ext>
            </a:extLst>
          </p:cNvPr>
          <p:cNvSpPr txBox="1"/>
          <p:nvPr/>
        </p:nvSpPr>
        <p:spPr>
          <a:xfrm>
            <a:off x="914400" y="169672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latin typeface="Bookman Old Style" panose="02050604050505020204" pitchFamily="18" charset="0"/>
              </a:rPr>
              <a:t>Filtres Passe-Bande </a:t>
            </a:r>
            <a:endParaRPr lang="fr-FR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E2AFD2-D8CE-CE98-3E0A-DEB00F93E6E2}"/>
              </a:ext>
            </a:extLst>
          </p:cNvPr>
          <p:cNvSpPr txBox="1"/>
          <p:nvPr/>
        </p:nvSpPr>
        <p:spPr>
          <a:xfrm>
            <a:off x="5029200" y="17428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800" b="1" dirty="0">
                <a:latin typeface="Bookman Old Style" panose="02050604050505020204" pitchFamily="18" charset="0"/>
              </a:rPr>
              <a:t>Filtres Coupe-Bande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3909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670524" y="4893685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23</a:t>
            </a:fld>
            <a:endParaRPr sz="2400" dirty="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112880D-146E-0E95-BB2D-F0451D2AA97C}"/>
              </a:ext>
            </a:extLst>
          </p:cNvPr>
          <p:cNvSpPr/>
          <p:nvPr/>
        </p:nvSpPr>
        <p:spPr>
          <a:xfrm>
            <a:off x="550646" y="557613"/>
            <a:ext cx="1285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Filtres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6AE106-E4A8-B232-050D-E36900DBC3CF}"/>
              </a:ext>
            </a:extLst>
          </p:cNvPr>
          <p:cNvSpPr txBox="1"/>
          <p:nvPr/>
        </p:nvSpPr>
        <p:spPr>
          <a:xfrm>
            <a:off x="579097" y="84614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CC00CC"/>
                </a:solidFill>
                <a:latin typeface="Bookman Old Style" panose="02050604050505020204" pitchFamily="18" charset="0"/>
              </a:rPr>
              <a:t>4.2 Types des filtres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C4C635-F27E-B139-6847-DC94D89F3694}"/>
              </a:ext>
            </a:extLst>
          </p:cNvPr>
          <p:cNvSpPr txBox="1"/>
          <p:nvPr/>
        </p:nvSpPr>
        <p:spPr>
          <a:xfrm>
            <a:off x="452136" y="1052891"/>
            <a:ext cx="85725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u="sng" dirty="0">
                <a:highlight>
                  <a:srgbClr val="FFFF00"/>
                </a:highlight>
                <a:latin typeface="Bookman Old Style" panose="02050604050505020204" pitchFamily="18" charset="0"/>
              </a:rPr>
              <a:t>Filtre du premier ordre </a:t>
            </a: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Un filtre est dit du </a:t>
            </a:r>
            <a:r>
              <a:rPr lang="fr-FR" b="1" dirty="0">
                <a:latin typeface="Bookman Old Style" panose="02050604050505020204" pitchFamily="18" charset="0"/>
              </a:rPr>
              <a:t>premier ordre</a:t>
            </a:r>
            <a:r>
              <a:rPr lang="fr-FR" dirty="0">
                <a:latin typeface="Bookman Old Style" panose="02050604050505020204" pitchFamily="18" charset="0"/>
              </a:rPr>
              <a:t> </a:t>
            </a:r>
            <a:r>
              <a:rPr lang="fr-FR" b="1" dirty="0">
                <a:latin typeface="Bookman Old Style" panose="02050604050505020204" pitchFamily="18" charset="0"/>
              </a:rPr>
              <a:t>si</a:t>
            </a:r>
            <a:r>
              <a:rPr lang="fr-FR" dirty="0">
                <a:latin typeface="Bookman Old Style" panose="02050604050505020204" pitchFamily="18" charset="0"/>
              </a:rPr>
              <a:t> sa </a:t>
            </a:r>
            <a:r>
              <a:rPr lang="fr-FR" b="1" dirty="0">
                <a:latin typeface="Bookman Old Style" panose="02050604050505020204" pitchFamily="18" charset="0"/>
              </a:rPr>
              <a:t>fonction de transfert</a:t>
            </a:r>
            <a:r>
              <a:rPr lang="fr-FR" dirty="0">
                <a:latin typeface="Bookman Old Style" panose="02050604050505020204" pitchFamily="18" charset="0"/>
              </a:rPr>
              <a:t> ne contient que des constantes et la </a:t>
            </a:r>
            <a:r>
              <a:rPr lang="fr-FR" b="1" dirty="0">
                <a:latin typeface="Bookman Old Style" panose="02050604050505020204" pitchFamily="18" charset="0"/>
              </a:rPr>
              <a:t>première puissance</a:t>
            </a:r>
            <a:r>
              <a:rPr lang="fr-FR" dirty="0">
                <a:latin typeface="Bookman Old Style" panose="02050604050505020204" pitchFamily="18" charset="0"/>
              </a:rPr>
              <a:t> de </a:t>
            </a:r>
            <a:r>
              <a:rPr lang="fr-FR" b="1" dirty="0" err="1">
                <a:latin typeface="Bookman Old Style" panose="02050604050505020204" pitchFamily="18" charset="0"/>
              </a:rPr>
              <a:t>jω</a:t>
            </a:r>
            <a:r>
              <a:rPr lang="fr-FR" b="1" dirty="0"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On distingue entre :</a:t>
            </a:r>
            <a:r>
              <a:rPr lang="fr-FR" b="1" dirty="0">
                <a:latin typeface="Bookman Old Style" panose="02050604050505020204" pitchFamily="18" charset="0"/>
              </a:rPr>
              <a:t> </a:t>
            </a: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algn="just"/>
            <a:endParaRPr lang="fr-FR" dirty="0">
              <a:latin typeface="Bookman Old Style" panose="02050604050505020204" pitchFamily="18" charset="0"/>
            </a:endParaRPr>
          </a:p>
          <a:p>
            <a:pPr algn="ctr"/>
            <a:r>
              <a:rPr lang="fr-FR" b="1" u="sng" dirty="0">
                <a:highlight>
                  <a:srgbClr val="FFFF00"/>
                </a:highlight>
                <a:latin typeface="Bookman Old Style" panose="02050604050505020204" pitchFamily="18" charset="0"/>
              </a:rPr>
              <a:t>Filtre du second ordre </a:t>
            </a:r>
          </a:p>
          <a:p>
            <a:pPr algn="ctr"/>
            <a:endParaRPr lang="fr-FR" b="1" u="sng" dirty="0">
              <a:highlight>
                <a:srgbClr val="FFFF00"/>
              </a:highlight>
              <a:latin typeface="Bookman Old Style" panose="02050604050505020204" pitchFamily="18" charset="0"/>
            </a:endParaRP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Un filtre est dit du </a:t>
            </a:r>
            <a:r>
              <a:rPr lang="fr-FR" b="1" dirty="0">
                <a:latin typeface="Bookman Old Style" panose="02050604050505020204" pitchFamily="18" charset="0"/>
              </a:rPr>
              <a:t>second ordre si</a:t>
            </a:r>
            <a:r>
              <a:rPr lang="fr-FR" dirty="0">
                <a:latin typeface="Bookman Old Style" panose="02050604050505020204" pitchFamily="18" charset="0"/>
              </a:rPr>
              <a:t> sa </a:t>
            </a:r>
            <a:r>
              <a:rPr lang="fr-FR" b="1" dirty="0">
                <a:latin typeface="Bookman Old Style" panose="02050604050505020204" pitchFamily="18" charset="0"/>
              </a:rPr>
              <a:t>fonction de transfert </a:t>
            </a:r>
            <a:r>
              <a:rPr lang="fr-FR" dirty="0">
                <a:latin typeface="Bookman Old Style" panose="02050604050505020204" pitchFamily="18" charset="0"/>
              </a:rPr>
              <a:t>contient un polynôme de </a:t>
            </a:r>
            <a:r>
              <a:rPr lang="fr-FR" b="1" dirty="0">
                <a:latin typeface="Bookman Old Style" panose="02050604050505020204" pitchFamily="18" charset="0"/>
              </a:rPr>
              <a:t>second degré </a:t>
            </a:r>
            <a:r>
              <a:rPr lang="fr-FR" dirty="0">
                <a:latin typeface="Bookman Old Style" panose="02050604050505020204" pitchFamily="18" charset="0"/>
              </a:rPr>
              <a:t>de la variable </a:t>
            </a:r>
            <a:r>
              <a:rPr lang="fr-FR" b="1" dirty="0" err="1">
                <a:latin typeface="Bookman Old Style" panose="02050604050505020204" pitchFamily="18" charset="0"/>
              </a:rPr>
              <a:t>jω</a:t>
            </a:r>
            <a:r>
              <a:rPr lang="fr-FR" dirty="0">
                <a:latin typeface="Bookman Old Style" panose="02050604050505020204" pitchFamily="18" charset="0"/>
              </a:rPr>
              <a:t>. </a:t>
            </a:r>
          </a:p>
          <a:p>
            <a:pPr algn="just"/>
            <a:r>
              <a:rPr lang="fr-FR" dirty="0">
                <a:latin typeface="Bookman Old Style" panose="02050604050505020204" pitchFamily="18" charset="0"/>
              </a:rPr>
              <a:t>On trouve </a:t>
            </a:r>
            <a:r>
              <a:rPr lang="fr-FR" b="1" dirty="0">
                <a:latin typeface="Bookman Old Style" panose="02050604050505020204" pitchFamily="18" charset="0"/>
              </a:rPr>
              <a:t>trois types </a:t>
            </a:r>
            <a:r>
              <a:rPr lang="fr-FR" dirty="0">
                <a:latin typeface="Bookman Old Style" panose="02050604050505020204" pitchFamily="18" charset="0"/>
              </a:rPr>
              <a:t>fondamentales: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32E313-568F-1E08-E9BE-F789C57D6A19}"/>
              </a:ext>
            </a:extLst>
          </p:cNvPr>
          <p:cNvSpPr txBox="1"/>
          <p:nvPr/>
        </p:nvSpPr>
        <p:spPr>
          <a:xfrm>
            <a:off x="4764995" y="4179297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 dirty="0">
                <a:latin typeface="Bookman Old Style" panose="02050604050505020204" pitchFamily="18" charset="0"/>
              </a:rPr>
              <a:t>Filtre </a:t>
            </a:r>
            <a:r>
              <a:rPr lang="fr-FR" sz="1600" b="1" dirty="0">
                <a:latin typeface="Bookman Old Style" panose="02050604050505020204" pitchFamily="18" charset="0"/>
              </a:rPr>
              <a:t>passe-bas du second ordre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 dirty="0">
                <a:latin typeface="Bookman Old Style" panose="02050604050505020204" pitchFamily="18" charset="0"/>
              </a:rPr>
              <a:t>Filtre </a:t>
            </a:r>
            <a:r>
              <a:rPr lang="fr-FR" sz="1600" b="1" dirty="0">
                <a:latin typeface="Bookman Old Style" panose="02050604050505020204" pitchFamily="18" charset="0"/>
              </a:rPr>
              <a:t>passe-haut du second ordre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 dirty="0">
                <a:latin typeface="Bookman Old Style" panose="02050604050505020204" pitchFamily="18" charset="0"/>
              </a:rPr>
              <a:t>Filtre </a:t>
            </a:r>
            <a:r>
              <a:rPr lang="fr-FR" sz="1600" b="1" dirty="0">
                <a:latin typeface="Bookman Old Style" panose="02050604050505020204" pitchFamily="18" charset="0"/>
              </a:rPr>
              <a:t>passe-bande du second ordre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7D9FBC-01A1-00A0-0EE5-F14AF1871279}"/>
              </a:ext>
            </a:extLst>
          </p:cNvPr>
          <p:cNvSpPr txBox="1"/>
          <p:nvPr/>
        </p:nvSpPr>
        <p:spPr>
          <a:xfrm>
            <a:off x="4593480" y="2335417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 dirty="0">
                <a:latin typeface="Bookman Old Style" panose="02050604050505020204" pitchFamily="18" charset="0"/>
              </a:rPr>
              <a:t>Filtre </a:t>
            </a:r>
            <a:r>
              <a:rPr lang="fr-FR" sz="1600" b="1" dirty="0">
                <a:latin typeface="Bookman Old Style" panose="02050604050505020204" pitchFamily="18" charset="0"/>
              </a:rPr>
              <a:t>passe-bas du premier ordre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 dirty="0">
                <a:latin typeface="Bookman Old Style" panose="02050604050505020204" pitchFamily="18" charset="0"/>
              </a:rPr>
              <a:t>Filtre </a:t>
            </a:r>
            <a:r>
              <a:rPr lang="fr-FR" sz="1600" b="1" dirty="0">
                <a:latin typeface="Bookman Old Style" panose="02050604050505020204" pitchFamily="18" charset="0"/>
              </a:rPr>
              <a:t>passe-haut du premier ordre</a:t>
            </a:r>
          </a:p>
        </p:txBody>
      </p:sp>
    </p:spTree>
    <p:extLst>
      <p:ext uri="{BB962C8B-B14F-4D97-AF65-F5344CB8AC3E}">
        <p14:creationId xmlns:p14="http://schemas.microsoft.com/office/powerpoint/2010/main" val="3943839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24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5800" y="465192"/>
            <a:ext cx="1285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Filtres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304245" y="86342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passe-bas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2F6426-5891-2AAB-C7E9-6F6076426027}"/>
              </a:ext>
            </a:extLst>
          </p:cNvPr>
          <p:cNvSpPr/>
          <p:nvPr/>
        </p:nvSpPr>
        <p:spPr>
          <a:xfrm>
            <a:off x="1661156" y="1209280"/>
            <a:ext cx="1369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1</a:t>
            </a:r>
            <a:r>
              <a:rPr lang="fr-FR" b="1" baseline="30000" dirty="0">
                <a:highlight>
                  <a:srgbClr val="00FF00"/>
                </a:highlight>
                <a:latin typeface="Bookman Old Style" panose="02050604050505020204" pitchFamily="18" charset="0"/>
              </a:rPr>
              <a:t>er</a:t>
            </a:r>
            <a:r>
              <a:rPr lang="fr-FR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 ordre :</a:t>
            </a:r>
          </a:p>
        </p:txBody>
      </p:sp>
      <p:graphicFrame>
        <p:nvGraphicFramePr>
          <p:cNvPr id="11" name="Object 1">
            <a:extLst>
              <a:ext uri="{FF2B5EF4-FFF2-40B4-BE49-F238E27FC236}">
                <a16:creationId xmlns:a16="http://schemas.microsoft.com/office/drawing/2014/main" id="{28543901-FA11-598B-4849-AA9F68E3D9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15382"/>
              </p:ext>
            </p:extLst>
          </p:nvPr>
        </p:nvGraphicFramePr>
        <p:xfrm>
          <a:off x="1643035" y="1657756"/>
          <a:ext cx="1357322" cy="805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3" imgW="914003" imgH="545863" progId="Equation.3">
                  <p:embed/>
                </p:oleObj>
              </mc:Choice>
              <mc:Fallback>
                <p:oleObj name="Équation" r:id="rId3" imgW="914003" imgH="545863" progId="Equation.3">
                  <p:embed/>
                  <p:pic>
                    <p:nvPicPr>
                      <p:cNvPr id="1740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35" y="1657756"/>
                        <a:ext cx="1357322" cy="8059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CA28B8AE-4BBB-5EE0-7D63-775753CAB13D}"/>
              </a:ext>
            </a:extLst>
          </p:cNvPr>
          <p:cNvSpPr/>
          <p:nvPr/>
        </p:nvSpPr>
        <p:spPr>
          <a:xfrm>
            <a:off x="5919228" y="1276860"/>
            <a:ext cx="1598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2</a:t>
            </a:r>
            <a:r>
              <a:rPr lang="fr-FR" b="1" baseline="30000" dirty="0">
                <a:highlight>
                  <a:srgbClr val="00FF00"/>
                </a:highlight>
                <a:latin typeface="Bookman Old Style" panose="02050604050505020204" pitchFamily="18" charset="0"/>
              </a:rPr>
              <a:t>ième</a:t>
            </a:r>
            <a:r>
              <a:rPr lang="fr-FR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 ordre: </a:t>
            </a:r>
          </a:p>
        </p:txBody>
      </p:sp>
      <p:graphicFrame>
        <p:nvGraphicFramePr>
          <p:cNvPr id="17" name="Object 7">
            <a:extLst>
              <a:ext uri="{FF2B5EF4-FFF2-40B4-BE49-F238E27FC236}">
                <a16:creationId xmlns:a16="http://schemas.microsoft.com/office/drawing/2014/main" id="{17F413BF-C03F-6A48-31EB-320DA3CE2D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550760"/>
              </p:ext>
            </p:extLst>
          </p:nvPr>
        </p:nvGraphicFramePr>
        <p:xfrm>
          <a:off x="5532506" y="1714494"/>
          <a:ext cx="2228866" cy="857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5" imgW="1612900" imgH="622300" progId="Equation.3">
                  <p:embed/>
                </p:oleObj>
              </mc:Choice>
              <mc:Fallback>
                <p:oleObj name="Équation" r:id="rId5" imgW="1612900" imgH="622300" progId="Equation.3">
                  <p:embed/>
                  <p:pic>
                    <p:nvPicPr>
                      <p:cNvPr id="174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2506" y="1714494"/>
                        <a:ext cx="2228866" cy="8572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">
            <a:extLst>
              <a:ext uri="{FF2B5EF4-FFF2-40B4-BE49-F238E27FC236}">
                <a16:creationId xmlns:a16="http://schemas.microsoft.com/office/drawing/2014/main" id="{695359A5-5060-65F4-91B6-98BC7DD8E5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449325"/>
              </p:ext>
            </p:extLst>
          </p:nvPr>
        </p:nvGraphicFramePr>
        <p:xfrm>
          <a:off x="1484060" y="2668647"/>
          <a:ext cx="1746709" cy="1000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7" imgW="1180588" imgH="672808" progId="Equation.3">
                  <p:embed/>
                </p:oleObj>
              </mc:Choice>
              <mc:Fallback>
                <p:oleObj name="Équation" r:id="rId7" imgW="1180588" imgH="672808" progId="Equation.3">
                  <p:embed/>
                  <p:pic>
                    <p:nvPicPr>
                      <p:cNvPr id="174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060" y="2668647"/>
                        <a:ext cx="1746709" cy="10001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2FBDD12E-F1E3-4989-13A9-6B7B4A6427BE}"/>
              </a:ext>
            </a:extLst>
          </p:cNvPr>
          <p:cNvSpPr/>
          <p:nvPr/>
        </p:nvSpPr>
        <p:spPr>
          <a:xfrm>
            <a:off x="667051" y="2299315"/>
            <a:ext cx="1213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Module :</a:t>
            </a:r>
          </a:p>
        </p:txBody>
      </p:sp>
      <p:graphicFrame>
        <p:nvGraphicFramePr>
          <p:cNvPr id="22" name="Object 9">
            <a:extLst>
              <a:ext uri="{FF2B5EF4-FFF2-40B4-BE49-F238E27FC236}">
                <a16:creationId xmlns:a16="http://schemas.microsoft.com/office/drawing/2014/main" id="{1F02CA21-E0AF-7D5A-4226-BBC48FAEBE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762397"/>
              </p:ext>
            </p:extLst>
          </p:nvPr>
        </p:nvGraphicFramePr>
        <p:xfrm>
          <a:off x="5180227" y="2632928"/>
          <a:ext cx="2933423" cy="1071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9" imgW="2082800" imgH="762000" progId="Equation.3">
                  <p:embed/>
                </p:oleObj>
              </mc:Choice>
              <mc:Fallback>
                <p:oleObj name="Équation" r:id="rId9" imgW="2082800" imgH="762000" progId="Equation.3">
                  <p:embed/>
                  <p:pic>
                    <p:nvPicPr>
                      <p:cNvPr id="174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0227" y="2632928"/>
                        <a:ext cx="2933423" cy="10715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">
            <a:extLst>
              <a:ext uri="{FF2B5EF4-FFF2-40B4-BE49-F238E27FC236}">
                <a16:creationId xmlns:a16="http://schemas.microsoft.com/office/drawing/2014/main" id="{33F57D0C-6CB2-F64B-4FAB-66A2F0AA91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447097"/>
              </p:ext>
            </p:extLst>
          </p:nvPr>
        </p:nvGraphicFramePr>
        <p:xfrm>
          <a:off x="1833556" y="3866719"/>
          <a:ext cx="1285884" cy="605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11" imgW="812447" imgH="380835" progId="Equation.3">
                  <p:embed/>
                </p:oleObj>
              </mc:Choice>
              <mc:Fallback>
                <p:oleObj name="Équation" r:id="rId11" imgW="812447" imgH="380835" progId="Equation.3">
                  <p:embed/>
                  <p:pic>
                    <p:nvPicPr>
                      <p:cNvPr id="174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556" y="3866719"/>
                        <a:ext cx="1285884" cy="6051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717B842F-4DF4-9B8A-55D1-0F5082856204}"/>
              </a:ext>
            </a:extLst>
          </p:cNvPr>
          <p:cNvSpPr/>
          <p:nvPr/>
        </p:nvSpPr>
        <p:spPr>
          <a:xfrm>
            <a:off x="714339" y="3582338"/>
            <a:ext cx="1119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Phase : </a:t>
            </a:r>
          </a:p>
        </p:txBody>
      </p:sp>
      <p:graphicFrame>
        <p:nvGraphicFramePr>
          <p:cNvPr id="25" name="Object 11">
            <a:extLst>
              <a:ext uri="{FF2B5EF4-FFF2-40B4-BE49-F238E27FC236}">
                <a16:creationId xmlns:a16="http://schemas.microsoft.com/office/drawing/2014/main" id="{BC8AF662-A4B0-1E54-EA2E-04E1F7C1FA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820131"/>
              </p:ext>
            </p:extLst>
          </p:nvPr>
        </p:nvGraphicFramePr>
        <p:xfrm>
          <a:off x="5774439" y="3847809"/>
          <a:ext cx="1944508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13" imgW="1180588" imgH="393529" progId="Equation.3">
                  <p:embed/>
                </p:oleObj>
              </mc:Choice>
              <mc:Fallback>
                <p:oleObj name="Équation" r:id="rId13" imgW="1180588" imgH="393529" progId="Equation.3">
                  <p:embed/>
                  <p:pic>
                    <p:nvPicPr>
                      <p:cNvPr id="1741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4439" y="3847809"/>
                        <a:ext cx="1944508" cy="6429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514426EB-EF58-15A6-1448-3B331E3817AB}"/>
              </a:ext>
            </a:extLst>
          </p:cNvPr>
          <p:cNvSpPr txBox="1"/>
          <p:nvPr/>
        </p:nvSpPr>
        <p:spPr>
          <a:xfrm>
            <a:off x="1643035" y="4527374"/>
            <a:ext cx="58190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m</a:t>
            </a:r>
            <a:r>
              <a:rPr lang="fr-FR" sz="1500" dirty="0">
                <a:latin typeface="Bookman Old Style" panose="02050604050505020204" pitchFamily="18" charset="0"/>
              </a:rPr>
              <a:t> est le </a:t>
            </a:r>
            <a:r>
              <a:rPr lang="fr-FR" sz="1500" b="1" dirty="0">
                <a:latin typeface="Bookman Old Style" panose="02050604050505020204" pitchFamily="18" charset="0"/>
              </a:rPr>
              <a:t>coefficient d’amortissement,</a:t>
            </a:r>
          </a:p>
          <a:p>
            <a:pPr algn="ctr"/>
            <a:r>
              <a:rPr lang="fr-FR" sz="1500" dirty="0">
                <a:latin typeface="Bookman Old Style" panose="02050604050505020204" pitchFamily="18" charset="0"/>
              </a:rPr>
              <a:t>Le </a:t>
            </a:r>
            <a:r>
              <a:rPr lang="fr-FR" sz="1500" b="1" dirty="0">
                <a:latin typeface="Bookman Old Style" panose="02050604050505020204" pitchFamily="18" charset="0"/>
              </a:rPr>
              <a:t>facteur de qualité</a:t>
            </a:r>
            <a:r>
              <a:rPr lang="fr-FR" sz="1500" dirty="0">
                <a:latin typeface="Bookman Old Style" panose="02050604050505020204" pitchFamily="18" charset="0"/>
              </a:rPr>
              <a:t> est noté </a:t>
            </a:r>
            <a:r>
              <a:rPr lang="fr-FR" sz="1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Q</a:t>
            </a:r>
            <a:r>
              <a:rPr lang="fr-FR" sz="1500" dirty="0">
                <a:latin typeface="Bookman Old Style" panose="02050604050505020204" pitchFamily="18" charset="0"/>
              </a:rPr>
              <a:t> et défini par </a:t>
            </a:r>
            <a:r>
              <a:rPr lang="fr-FR" sz="1500" b="1" dirty="0">
                <a:latin typeface="Bookman Old Style" panose="02050604050505020204" pitchFamily="18" charset="0"/>
              </a:rPr>
              <a:t>Q = 1/2m</a:t>
            </a:r>
          </a:p>
        </p:txBody>
      </p:sp>
    </p:spTree>
    <p:extLst>
      <p:ext uri="{BB962C8B-B14F-4D97-AF65-F5344CB8AC3E}">
        <p14:creationId xmlns:p14="http://schemas.microsoft.com/office/powerpoint/2010/main" val="9964791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25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5800" y="465192"/>
            <a:ext cx="1285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Filtres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775E22CE-18DE-D18B-17D0-6E7EE7BA0EAC}"/>
              </a:ext>
            </a:extLst>
          </p:cNvPr>
          <p:cNvSpPr txBox="1"/>
          <p:nvPr/>
        </p:nvSpPr>
        <p:spPr>
          <a:xfrm>
            <a:off x="3276600" y="63779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passe-haut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391446-528B-AAB4-5976-D6EC7D4A81B1}"/>
              </a:ext>
            </a:extLst>
          </p:cNvPr>
          <p:cNvSpPr/>
          <p:nvPr/>
        </p:nvSpPr>
        <p:spPr>
          <a:xfrm>
            <a:off x="789680" y="1187374"/>
            <a:ext cx="1369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1</a:t>
            </a:r>
            <a:r>
              <a:rPr lang="fr-FR" b="1" baseline="30000" dirty="0">
                <a:highlight>
                  <a:srgbClr val="00FF00"/>
                </a:highlight>
                <a:latin typeface="Bookman Old Style" panose="02050604050505020204" pitchFamily="18" charset="0"/>
              </a:rPr>
              <a:t>er</a:t>
            </a:r>
            <a:r>
              <a:rPr lang="fr-FR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 ordre :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6BA0AD-F2CD-03DD-C756-73D3DBCC26A1}"/>
              </a:ext>
            </a:extLst>
          </p:cNvPr>
          <p:cNvSpPr/>
          <p:nvPr/>
        </p:nvSpPr>
        <p:spPr>
          <a:xfrm>
            <a:off x="6120431" y="1007128"/>
            <a:ext cx="1598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2</a:t>
            </a:r>
            <a:r>
              <a:rPr lang="fr-FR" b="1" baseline="30000" dirty="0">
                <a:highlight>
                  <a:srgbClr val="00FF00"/>
                </a:highlight>
                <a:latin typeface="Bookman Old Style" panose="02050604050505020204" pitchFamily="18" charset="0"/>
              </a:rPr>
              <a:t>ième</a:t>
            </a:r>
            <a:r>
              <a:rPr lang="fr-FR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 ordre: </a:t>
            </a:r>
          </a:p>
        </p:txBody>
      </p:sp>
      <p:graphicFrame>
        <p:nvGraphicFramePr>
          <p:cNvPr id="32" name="Object 1">
            <a:extLst>
              <a:ext uri="{FF2B5EF4-FFF2-40B4-BE49-F238E27FC236}">
                <a16:creationId xmlns:a16="http://schemas.microsoft.com/office/drawing/2014/main" id="{E9A0A1A2-C7A4-9CAD-3464-F9E1158879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443941"/>
              </p:ext>
            </p:extLst>
          </p:nvPr>
        </p:nvGraphicFramePr>
        <p:xfrm>
          <a:off x="867104" y="1556706"/>
          <a:ext cx="1214438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3" imgW="914400" imgH="723900" progId="Equation.3">
                  <p:embed/>
                </p:oleObj>
              </mc:Choice>
              <mc:Fallback>
                <p:oleObj name="Équation" r:id="rId3" imgW="914400" imgH="723900" progId="Equation.3">
                  <p:embed/>
                  <p:pic>
                    <p:nvPicPr>
                      <p:cNvPr id="3" name="Object 1">
                        <a:extLst>
                          <a:ext uri="{FF2B5EF4-FFF2-40B4-BE49-F238E27FC236}">
                            <a16:creationId xmlns:a16="http://schemas.microsoft.com/office/drawing/2014/main" id="{21049DEE-DB5D-23E9-371A-8D227FAB1A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104" y="1556706"/>
                        <a:ext cx="1214438" cy="960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">
            <a:extLst>
              <a:ext uri="{FF2B5EF4-FFF2-40B4-BE49-F238E27FC236}">
                <a16:creationId xmlns:a16="http://schemas.microsoft.com/office/drawing/2014/main" id="{2E48AE3B-5C7C-B9D2-DCAD-BEA39C6723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7255173"/>
              </p:ext>
            </p:extLst>
          </p:nvPr>
        </p:nvGraphicFramePr>
        <p:xfrm>
          <a:off x="5776898" y="1433311"/>
          <a:ext cx="2071702" cy="1127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5" imgW="1612900" imgH="876300" progId="Equation.3">
                  <p:embed/>
                </p:oleObj>
              </mc:Choice>
              <mc:Fallback>
                <p:oleObj name="Équation" r:id="rId5" imgW="1612900" imgH="876300" progId="Equation.3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DADA8B5E-35AF-E386-0866-77B4E86F36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6898" y="1433311"/>
                        <a:ext cx="2071702" cy="11277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B3163CED-412D-8986-C55A-B2E519C4C3F6}"/>
              </a:ext>
            </a:extLst>
          </p:cNvPr>
          <p:cNvSpPr txBox="1"/>
          <p:nvPr/>
        </p:nvSpPr>
        <p:spPr>
          <a:xfrm>
            <a:off x="3332149" y="245255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959E79-B2A2-BEE9-C812-D3B2E2E0966C}"/>
              </a:ext>
            </a:extLst>
          </p:cNvPr>
          <p:cNvSpPr/>
          <p:nvPr/>
        </p:nvSpPr>
        <p:spPr>
          <a:xfrm>
            <a:off x="3886200" y="2993248"/>
            <a:ext cx="1598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2</a:t>
            </a:r>
            <a:r>
              <a:rPr lang="fr-FR" b="1" baseline="30000" dirty="0">
                <a:highlight>
                  <a:srgbClr val="00FF00"/>
                </a:highlight>
                <a:latin typeface="Bookman Old Style" panose="02050604050505020204" pitchFamily="18" charset="0"/>
              </a:rPr>
              <a:t>ième</a:t>
            </a:r>
            <a:r>
              <a:rPr lang="fr-FR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 ordre: </a:t>
            </a:r>
          </a:p>
        </p:txBody>
      </p:sp>
      <p:graphicFrame>
        <p:nvGraphicFramePr>
          <p:cNvPr id="36" name="Object 1">
            <a:extLst>
              <a:ext uri="{FF2B5EF4-FFF2-40B4-BE49-F238E27FC236}">
                <a16:creationId xmlns:a16="http://schemas.microsoft.com/office/drawing/2014/main" id="{8516DAFE-9EE4-F304-502F-42BF57F185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437681"/>
              </p:ext>
            </p:extLst>
          </p:nvPr>
        </p:nvGraphicFramePr>
        <p:xfrm>
          <a:off x="3422188" y="3638550"/>
          <a:ext cx="2299623" cy="1143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7" imgW="1612900" imgH="800100" progId="Equation.3">
                  <p:embed/>
                </p:oleObj>
              </mc:Choice>
              <mc:Fallback>
                <p:oleObj name="Équation" r:id="rId7" imgW="1612900" imgH="800100" progId="Equation.3">
                  <p:embed/>
                  <p:pic>
                    <p:nvPicPr>
                      <p:cNvPr id="2048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2188" y="3638550"/>
                        <a:ext cx="2299623" cy="11430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0623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26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5800" y="465192"/>
            <a:ext cx="1285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4. Filtres</a:t>
            </a: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B3163CED-412D-8986-C55A-B2E519C4C3F6}"/>
              </a:ext>
            </a:extLst>
          </p:cNvPr>
          <p:cNvSpPr txBox="1"/>
          <p:nvPr/>
        </p:nvSpPr>
        <p:spPr>
          <a:xfrm>
            <a:off x="3455501" y="86998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coupe-bande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959E79-B2A2-BEE9-C812-D3B2E2E0966C}"/>
              </a:ext>
            </a:extLst>
          </p:cNvPr>
          <p:cNvSpPr/>
          <p:nvPr/>
        </p:nvSpPr>
        <p:spPr>
          <a:xfrm>
            <a:off x="3772741" y="1458191"/>
            <a:ext cx="1598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2</a:t>
            </a:r>
            <a:r>
              <a:rPr lang="fr-FR" b="1" baseline="30000" dirty="0">
                <a:highlight>
                  <a:srgbClr val="00FF00"/>
                </a:highlight>
                <a:latin typeface="Bookman Old Style" panose="02050604050505020204" pitchFamily="18" charset="0"/>
              </a:rPr>
              <a:t>ième</a:t>
            </a:r>
            <a:r>
              <a:rPr lang="fr-FR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 ordre: </a:t>
            </a:r>
          </a:p>
        </p:txBody>
      </p:sp>
      <p:graphicFrame>
        <p:nvGraphicFramePr>
          <p:cNvPr id="3" name="Object 1">
            <a:extLst>
              <a:ext uri="{FF2B5EF4-FFF2-40B4-BE49-F238E27FC236}">
                <a16:creationId xmlns:a16="http://schemas.microsoft.com/office/drawing/2014/main" id="{E6C5004A-BB48-E2BC-7213-E3CE5BF9F9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063662"/>
              </p:ext>
            </p:extLst>
          </p:nvPr>
        </p:nvGraphicFramePr>
        <p:xfrm>
          <a:off x="3281494" y="1844286"/>
          <a:ext cx="2362113" cy="1285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3" imgW="1612900" imgH="876300" progId="Equation.3">
                  <p:embed/>
                </p:oleObj>
              </mc:Choice>
              <mc:Fallback>
                <p:oleObj name="Équation" r:id="rId3" imgW="1612900" imgH="876300" progId="Equation.3">
                  <p:embed/>
                  <p:pic>
                    <p:nvPicPr>
                      <p:cNvPr id="2150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1494" y="1844286"/>
                        <a:ext cx="2362113" cy="12858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1A35018-747A-ED87-6FA0-2ED979A2DBC1}"/>
              </a:ext>
            </a:extLst>
          </p:cNvPr>
          <p:cNvSpPr/>
          <p:nvPr/>
        </p:nvSpPr>
        <p:spPr>
          <a:xfrm>
            <a:off x="1081268" y="3492189"/>
            <a:ext cx="1369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1</a:t>
            </a:r>
            <a:r>
              <a:rPr lang="fr-FR" b="1" baseline="30000" dirty="0">
                <a:highlight>
                  <a:srgbClr val="00FF00"/>
                </a:highlight>
                <a:latin typeface="Bookman Old Style" panose="02050604050505020204" pitchFamily="18" charset="0"/>
              </a:rPr>
              <a:t>er</a:t>
            </a:r>
            <a:r>
              <a:rPr lang="fr-FR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 ordre 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B94B7E-0A25-4348-A250-CE2DC6434051}"/>
              </a:ext>
            </a:extLst>
          </p:cNvPr>
          <p:cNvSpPr/>
          <p:nvPr/>
        </p:nvSpPr>
        <p:spPr>
          <a:xfrm>
            <a:off x="6464916" y="3499502"/>
            <a:ext cx="1598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2</a:t>
            </a:r>
            <a:r>
              <a:rPr lang="fr-FR" b="1" baseline="30000" dirty="0">
                <a:highlight>
                  <a:srgbClr val="00FF00"/>
                </a:highlight>
                <a:latin typeface="Bookman Old Style" panose="02050604050505020204" pitchFamily="18" charset="0"/>
              </a:rPr>
              <a:t>ième</a:t>
            </a:r>
            <a:r>
              <a:rPr lang="fr-FR" b="1" dirty="0">
                <a:highlight>
                  <a:srgbClr val="00FF00"/>
                </a:highlight>
                <a:latin typeface="Bookman Old Style" panose="02050604050505020204" pitchFamily="18" charset="0"/>
              </a:rPr>
              <a:t> ordre: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6E12E4-C247-693F-A414-00E5E2479F87}"/>
              </a:ext>
            </a:extLst>
          </p:cNvPr>
          <p:cNvSpPr txBox="1"/>
          <p:nvPr/>
        </p:nvSpPr>
        <p:spPr>
          <a:xfrm>
            <a:off x="3455501" y="3130170"/>
            <a:ext cx="31644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</a:t>
            </a:r>
            <a:r>
              <a:rPr lang="fr-FR" b="1" u="sng" dirty="0" err="1">
                <a:highlight>
                  <a:srgbClr val="00FFFF"/>
                </a:highlight>
                <a:latin typeface="Bookman Old Style" panose="02050604050505020204" pitchFamily="18" charset="0"/>
              </a:rPr>
              <a:t>p</a:t>
            </a:r>
            <a:r>
              <a:rPr lang="fr-FR" sz="1800" b="1" u="sng" dirty="0" err="1">
                <a:highlight>
                  <a:srgbClr val="00FFFF"/>
                </a:highlight>
                <a:latin typeface="Bookman Old Style" panose="02050604050505020204" pitchFamily="18" charset="0"/>
              </a:rPr>
              <a:t>asse-tout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graphicFrame>
        <p:nvGraphicFramePr>
          <p:cNvPr id="12" name="Object 1">
            <a:extLst>
              <a:ext uri="{FF2B5EF4-FFF2-40B4-BE49-F238E27FC236}">
                <a16:creationId xmlns:a16="http://schemas.microsoft.com/office/drawing/2014/main" id="{FBE60108-DF2B-F1C9-EE8B-AAC8EDDB52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24673"/>
              </p:ext>
            </p:extLst>
          </p:nvPr>
        </p:nvGraphicFramePr>
        <p:xfrm>
          <a:off x="1041740" y="4056250"/>
          <a:ext cx="1285884" cy="10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5" imgW="901309" imgH="723586" progId="Equation.3">
                  <p:embed/>
                </p:oleObj>
              </mc:Choice>
              <mc:Fallback>
                <p:oleObj name="Équation" r:id="rId5" imgW="901309" imgH="723586" progId="Equation.3">
                  <p:embed/>
                  <p:pic>
                    <p:nvPicPr>
                      <p:cNvPr id="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740" y="4056250"/>
                        <a:ext cx="1285884" cy="102870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1469FFB7-6EFB-45AB-BDDD-D627DD1F4F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429648"/>
              </p:ext>
            </p:extLst>
          </p:nvPr>
        </p:nvGraphicFramePr>
        <p:xfrm>
          <a:off x="6219725" y="3835349"/>
          <a:ext cx="2099656" cy="1143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7" imgW="1612900" imgH="876300" progId="Equation.3">
                  <p:embed/>
                </p:oleObj>
              </mc:Choice>
              <mc:Fallback>
                <p:oleObj name="Équation" r:id="rId7" imgW="1612900" imgH="8763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9725" y="3835349"/>
                        <a:ext cx="2099656" cy="11430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6360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27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392113" y="9999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passe-bas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8CB826-362A-C049-8A9E-657C847C3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955" y="1391032"/>
            <a:ext cx="3627645" cy="1983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53A64EA-D15B-4851-4EB4-5AD44AEAF765}"/>
                  </a:ext>
                </a:extLst>
              </p:cNvPr>
              <p:cNvSpPr txBox="1"/>
              <p:nvPr/>
            </p:nvSpPr>
            <p:spPr>
              <a:xfrm>
                <a:off x="517788" y="3648132"/>
                <a:ext cx="8016611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latin typeface="Bookman Old Style" panose="02050604050505020204" pitchFamily="18" charset="0"/>
                  </a:rPr>
                  <a:t>Fonction de Transfert :               </a:t>
                </a:r>
                <a14:m>
                  <m:oMath xmlns:m="http://schemas.openxmlformats.org/officeDocument/2006/math">
                    <m:r>
                      <a:rPr lang="fr-FR" b="1" i="0" smtClean="0">
                        <a:latin typeface="Cambria Math" panose="02040503050406030204" pitchFamily="18" charset="0"/>
                      </a:rPr>
                      <m:t>𝐇</m:t>
                    </m:r>
                    <m:r>
                      <a:rPr lang="fr-FR" b="1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sub>
                        </m:sSub>
                      </m:den>
                    </m:f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53A64EA-D15B-4851-4EB4-5AD44AEAF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88" y="3648132"/>
                <a:ext cx="8016611" cy="525208"/>
              </a:xfrm>
              <a:prstGeom prst="rect">
                <a:avLst/>
              </a:prstGeom>
              <a:blipFill>
                <a:blip r:embed="rId4"/>
                <a:stretch>
                  <a:fillRect l="-6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CEE3ACC9-40AF-9EC2-8746-D4E752332E66}"/>
              </a:ext>
            </a:extLst>
          </p:cNvPr>
          <p:cNvSpPr txBox="1"/>
          <p:nvPr/>
        </p:nvSpPr>
        <p:spPr>
          <a:xfrm>
            <a:off x="481693" y="427762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latin typeface="Bookman Old Style" panose="02050604050505020204" pitchFamily="18" charset="0"/>
              </a:rPr>
              <a:t>Diviseur de tension donne : </a:t>
            </a:r>
            <a:endParaRPr lang="fr-FR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015F85-B5C5-B868-8B30-C74B97C0CEFA}"/>
                  </a:ext>
                </a:extLst>
              </p:cNvPr>
              <p:cNvSpPr txBox="1"/>
              <p:nvPr/>
            </p:nvSpPr>
            <p:spPr>
              <a:xfrm>
                <a:off x="4114800" y="4164294"/>
                <a:ext cx="1563313" cy="565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015F85-B5C5-B868-8B30-C74B97C0C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164294"/>
                <a:ext cx="1563313" cy="5652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2BE70DFC-F197-A9AF-B3E5-774643C9040C}"/>
              </a:ext>
            </a:extLst>
          </p:cNvPr>
          <p:cNvSpPr/>
          <p:nvPr/>
        </p:nvSpPr>
        <p:spPr>
          <a:xfrm>
            <a:off x="555800" y="465192"/>
            <a:ext cx="4413068" cy="6591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</a:t>
            </a:r>
          </a:p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451330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28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276600" y="87268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passe-bas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8CB826-362A-C049-8A9E-657C847C3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28" y="1475227"/>
            <a:ext cx="2438110" cy="13331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030EA8-22BC-00AD-4F22-702401911219}"/>
                  </a:ext>
                </a:extLst>
              </p:cNvPr>
              <p:cNvSpPr txBox="1"/>
              <p:nvPr/>
            </p:nvSpPr>
            <p:spPr>
              <a:xfrm>
                <a:off x="2362200" y="1914198"/>
                <a:ext cx="4572000" cy="657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sub>
                          </m:sSub>
                        </m:den>
                      </m:f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030EA8-22BC-00AD-4F22-702401911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914198"/>
                <a:ext cx="4572000" cy="6575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2AD99AE-6C0D-6216-A7AF-79AD202F2737}"/>
              </a:ext>
            </a:extLst>
          </p:cNvPr>
          <p:cNvSpPr txBox="1"/>
          <p:nvPr/>
        </p:nvSpPr>
        <p:spPr>
          <a:xfrm>
            <a:off x="3124200" y="1442434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Fonction de Transfert </a:t>
            </a:r>
            <a:endParaRPr lang="fr-FR" sz="1600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DF1C8C-6A86-07AE-A3B6-95894EB3D65F}"/>
                  </a:ext>
                </a:extLst>
              </p:cNvPr>
              <p:cNvSpPr txBox="1"/>
              <p:nvPr/>
            </p:nvSpPr>
            <p:spPr>
              <a:xfrm>
                <a:off x="2503469" y="2808345"/>
                <a:ext cx="4572000" cy="11137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el-GR" b="1" i="0" smtClean="0">
                              <a:latin typeface="Cambria Math" panose="02040503050406030204" pitchFamily="18" charset="0"/>
                            </a:rPr>
                            <m:t>𝛚</m:t>
                          </m:r>
                        </m:e>
                      </m:d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𝐣𝐂</m:t>
                              </m:r>
                              <m:r>
                                <a:rPr lang="el-GR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den>
                          </m:f>
                        </m:num>
                        <m:den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𝐑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𝐣𝐂</m:t>
                              </m:r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den>
                          </m:f>
                        </m:den>
                      </m:f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𝒋𝑹𝑪</m:t>
                          </m:r>
                          <m:r>
                            <a:rPr lang="el-GR" b="1">
                              <a:latin typeface="Cambria Math" panose="02040503050406030204" pitchFamily="18" charset="0"/>
                            </a:rPr>
                            <m:t>𝛚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DF1C8C-6A86-07AE-A3B6-95894EB3D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469" y="2808345"/>
                <a:ext cx="4572000" cy="11137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D67DC5-3161-1344-94D6-3F8EC7F68514}"/>
                  </a:ext>
                </a:extLst>
              </p:cNvPr>
              <p:cNvSpPr txBox="1"/>
              <p:nvPr/>
            </p:nvSpPr>
            <p:spPr>
              <a:xfrm>
                <a:off x="2286000" y="4032014"/>
                <a:ext cx="4572000" cy="8398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el-GR" b="1" i="0" smtClean="0">
                              <a:latin typeface="Cambria Math" panose="02040503050406030204" pitchFamily="18" charset="0"/>
                            </a:rPr>
                            <m:t>𝛚</m:t>
                          </m:r>
                        </m:e>
                      </m:d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num>
                        <m:den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f>
                            <m:f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D67DC5-3161-1344-94D6-3F8EC7F68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4032014"/>
                <a:ext cx="4572000" cy="8398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E6AA9A8-E5AB-8276-6C16-0DBB4394DCF0}"/>
                  </a:ext>
                </a:extLst>
              </p:cNvPr>
              <p:cNvSpPr txBox="1"/>
              <p:nvPr/>
            </p:nvSpPr>
            <p:spPr>
              <a:xfrm>
                <a:off x="5347284" y="4099693"/>
                <a:ext cx="4572000" cy="5259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500" b="1" i="1" smtClean="0">
                          <a:latin typeface="Cambria Math" panose="02040503050406030204" pitchFamily="18" charset="0"/>
                        </a:rPr>
                        <m:t>𝑨𝒗𝒆𝒄</m:t>
                      </m:r>
                      <m:r>
                        <a:rPr lang="fr-FR" sz="15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5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fr-FR" sz="15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5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5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500" b="1" i="1" smtClean="0">
                          <a:latin typeface="Cambria Math" panose="02040503050406030204" pitchFamily="18" charset="0"/>
                        </a:rPr>
                        <m:t>𝒆𝒕</m:t>
                      </m:r>
                      <m:r>
                        <a:rPr lang="fr-FR" sz="1500" b="1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sz="1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500" b="1">
                              <a:latin typeface="Cambria Math" panose="02040503050406030204" pitchFamily="18" charset="0"/>
                            </a:rPr>
                            <m:t>𝛚</m:t>
                          </m:r>
                        </m:e>
                        <m:sub>
                          <m:r>
                            <a:rPr lang="fr-FR" sz="1500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sz="15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5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5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500" b="1" i="1" smtClean="0">
                              <a:latin typeface="Cambria Math" panose="02040503050406030204" pitchFamily="18" charset="0"/>
                            </a:rPr>
                            <m:t>𝑹𝑪</m:t>
                          </m:r>
                        </m:den>
                      </m:f>
                    </m:oMath>
                  </m:oMathPara>
                </a14:m>
                <a:endParaRPr lang="fr-FR" sz="15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E6AA9A8-E5AB-8276-6C16-0DBB4394D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284" y="4099693"/>
                <a:ext cx="4572000" cy="525978"/>
              </a:xfrm>
              <a:prstGeom prst="rect">
                <a:avLst/>
              </a:prstGeom>
              <a:blipFill>
                <a:blip r:embed="rId7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DB8DD38A-2998-D03C-2809-0B8AECD96D5C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2666205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29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312238" y="83895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passe-bas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8CB826-362A-C049-8A9E-657C847C3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23" y="1761471"/>
            <a:ext cx="2438110" cy="13331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2AD99AE-6C0D-6216-A7AF-79AD202F2737}"/>
              </a:ext>
            </a:extLst>
          </p:cNvPr>
          <p:cNvSpPr txBox="1"/>
          <p:nvPr/>
        </p:nvSpPr>
        <p:spPr>
          <a:xfrm>
            <a:off x="3061284" y="148289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Module de Fonction de Transfert </a:t>
            </a:r>
            <a:endParaRPr lang="fr-FR" sz="1600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D67DC5-3161-1344-94D6-3F8EC7F68514}"/>
                  </a:ext>
                </a:extLst>
              </p:cNvPr>
              <p:cNvSpPr txBox="1"/>
              <p:nvPr/>
            </p:nvSpPr>
            <p:spPr>
              <a:xfrm>
                <a:off x="2895600" y="1966263"/>
                <a:ext cx="4572000" cy="12109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  <m:d>
                            <m:d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  <m:r>
                                <a:rPr lang="el-GR" b="1" i="0" smtClean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</m:d>
                        </m:e>
                      </m:d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num>
                            <m:den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  <m:f>
                                <m:fPr>
                                  <m:ctrlP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b="1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b>
                                      <m:r>
                                        <a:rPr lang="fr-FR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</m:den>
                          </m:f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fr-F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l-GR" b="1">
                                              <a:latin typeface="Cambria Math" panose="02040503050406030204" pitchFamily="18" charset="0"/>
                                            </a:rPr>
                                            <m:t>𝛚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l-GR" b="1">
                                                  <a:latin typeface="Cambria Math" panose="02040503050406030204" pitchFamily="18" charset="0"/>
                                                </a:rPr>
                                                <m:t>𝛚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D67DC5-3161-1344-94D6-3F8EC7F68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1966263"/>
                <a:ext cx="4572000" cy="12109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E6AA9A8-E5AB-8276-6C16-0DBB4394DCF0}"/>
                  </a:ext>
                </a:extLst>
              </p:cNvPr>
              <p:cNvSpPr txBox="1"/>
              <p:nvPr/>
            </p:nvSpPr>
            <p:spPr>
              <a:xfrm>
                <a:off x="5791200" y="1994669"/>
                <a:ext cx="4572000" cy="497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𝑨𝒗𝒆𝒄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𝒆𝒕</m:t>
                      </m:r>
                      <m:r>
                        <a:rPr lang="fr-FR" sz="1400" b="1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400" b="1">
                              <a:latin typeface="Cambria Math" panose="02040503050406030204" pitchFamily="18" charset="0"/>
                            </a:rPr>
                            <m:t>𝛚</m:t>
                          </m:r>
                        </m:e>
                        <m:sub>
                          <m:r>
                            <a:rPr lang="fr-FR" sz="1400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sz="14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𝑹𝑪</m:t>
                          </m:r>
                        </m:den>
                      </m:f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E6AA9A8-E5AB-8276-6C16-0DBB4394D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1994669"/>
                <a:ext cx="4572000" cy="497059"/>
              </a:xfrm>
              <a:prstGeom prst="rect">
                <a:avLst/>
              </a:prstGeom>
              <a:blipFill>
                <a:blip r:embed="rId5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9B1E0EE-10BE-06BF-B3CC-B7236C8A38E3}"/>
              </a:ext>
            </a:extLst>
          </p:cNvPr>
          <p:cNvSpPr txBox="1"/>
          <p:nvPr/>
        </p:nvSpPr>
        <p:spPr>
          <a:xfrm>
            <a:off x="2281106" y="3036534"/>
            <a:ext cx="51802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400" b="1" u="sng">
                <a:latin typeface="Bookman Old Style" panose="02050604050505020204" pitchFamily="18" charset="0"/>
              </a:defRPr>
            </a:lvl1pPr>
          </a:lstStyle>
          <a:p>
            <a:pPr algn="ctr"/>
            <a:r>
              <a:rPr lang="fr-FR" sz="1600" dirty="0">
                <a:solidFill>
                  <a:srgbClr val="FF0000"/>
                </a:solidFill>
              </a:rPr>
              <a:t>Phase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2DF72B3-7120-1066-D6A0-92DB2248CC45}"/>
                  </a:ext>
                </a:extLst>
              </p:cNvPr>
              <p:cNvSpPr txBox="1"/>
              <p:nvPr/>
            </p:nvSpPr>
            <p:spPr>
              <a:xfrm>
                <a:off x="2430014" y="3304814"/>
                <a:ext cx="5180202" cy="9228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b="1" i="1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𝐚𝐫𝐠</m:t>
                      </m:r>
                      <m:d>
                        <m:d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  <m:d>
                            <m:dPr>
                              <m:ctrlP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1" i="0" smtClean="0"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  <m:r>
                                <a:rPr lang="el-GR" sz="2000" b="1" i="0" smtClean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</m:d>
                        </m:e>
                      </m:d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1" i="0" smtClean="0">
                          <a:latin typeface="Cambria Math" panose="02040503050406030204" pitchFamily="18" charset="0"/>
                        </a:rPr>
                        <m:t>𝐚𝐫𝐠</m:t>
                      </m:r>
                      <m:d>
                        <m:d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num>
                            <m:den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2000" b="1" i="0" smtClean="0"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  <m:f>
                                <m:fPr>
                                  <m:ctrlPr>
                                    <a:rPr lang="fr-FR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sz="2000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b="1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b>
                                      <m:r>
                                        <a:rPr lang="fr-FR" sz="20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</m:den>
                          </m:f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2DF72B3-7120-1066-D6A0-92DB2248C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014" y="3304814"/>
                <a:ext cx="5180202" cy="9228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49D7A9D-B76F-5DAF-4FA3-417DCD64D72C}"/>
                  </a:ext>
                </a:extLst>
              </p:cNvPr>
              <p:cNvSpPr txBox="1"/>
              <p:nvPr/>
            </p:nvSpPr>
            <p:spPr>
              <a:xfrm>
                <a:off x="1949742" y="4152929"/>
                <a:ext cx="6795084" cy="8706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800" b="1" i="1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fr-FR" sz="18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800" b="1" i="0" smtClean="0">
                          <a:latin typeface="Cambria Math" panose="02040503050406030204" pitchFamily="18" charset="0"/>
                        </a:rPr>
                        <m:t>𝐚𝐫𝐠</m:t>
                      </m:r>
                      <m:d>
                        <m:dPr>
                          <m:ctrlPr>
                            <a:rPr lang="fr-FR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8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fr-FR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𝒂𝒓𝒈</m:t>
                      </m:r>
                      <m:d>
                        <m:d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𝐣</m:t>
                          </m:r>
                          <m:f>
                            <m:f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sz="1800" b="1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fr-FR" sz="18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fr-FR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800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e>
                            <m:sup>
                              <m:r>
                                <a:rPr lang="fr-FR" sz="1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b="1" i="1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b="1" i="1">
                                          <a:latin typeface="Cambria Math" panose="02040503050406030204" pitchFamily="18" charset="0"/>
                                        </a:rPr>
                                        <m:t>𝝎</m:t>
                                      </m:r>
                                    </m:e>
                                    <m:sub>
                                      <m: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</m:num>
                            <m:den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func>
                      <m:r>
                        <a:rPr lang="fr-FR" sz="1800" b="1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𝒕𝒂𝒏</m:t>
                          </m:r>
                        </m:e>
                        <m:sup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𝝎</m:t>
                          </m:r>
                        </m:num>
                        <m:den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1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49D7A9D-B76F-5DAF-4FA3-417DCD64D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742" y="4152929"/>
                <a:ext cx="6795084" cy="8706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5090B26E-7CBD-B65E-AC0E-305C04E23D46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10393599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30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429000" y="8385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passe-bas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8CB826-362A-C049-8A9E-657C847C3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3" y="1494690"/>
            <a:ext cx="2438110" cy="13331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43773-E526-0507-5D6B-84352BD9EB25}"/>
                  </a:ext>
                </a:extLst>
              </p:cNvPr>
              <p:cNvSpPr txBox="1"/>
              <p:nvPr/>
            </p:nvSpPr>
            <p:spPr>
              <a:xfrm>
                <a:off x="3200400" y="138957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800" b="1" u="sng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Gain </a:t>
                </a:r>
                <a:r>
                  <a:rPr lang="fr-FR" b="1" u="sng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en décibel (dB)</a:t>
                </a:r>
                <a:r>
                  <a:rPr lang="fr-FR" sz="1800" b="1" i="1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fr-FR" sz="1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𝐝𝐁</m:t>
                        </m:r>
                      </m:sub>
                    </m:sSub>
                  </m:oMath>
                </a14:m>
                <a:endParaRPr lang="fr-FR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43773-E526-0507-5D6B-84352BD9E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1389570"/>
                <a:ext cx="4572000" cy="369332"/>
              </a:xfrm>
              <a:prstGeom prst="rect">
                <a:avLst/>
              </a:prstGeom>
              <a:blipFill>
                <a:blip r:embed="rId4"/>
                <a:stretch>
                  <a:fillRect l="-1067" t="-11475" b="-229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3ACEA72-7940-5D26-8D41-6F9031B01409}"/>
                  </a:ext>
                </a:extLst>
              </p:cNvPr>
              <p:cNvSpPr txBox="1"/>
              <p:nvPr/>
            </p:nvSpPr>
            <p:spPr>
              <a:xfrm>
                <a:off x="2438400" y="257175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𝐝𝐁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𝟐𝟎</m:t>
                      </m:r>
                      <m:func>
                        <m:func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  <m:d>
                                <m:d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1"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3ACEA72-7940-5D26-8D41-6F9031B01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2571750"/>
                <a:ext cx="4572000" cy="369332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7726145-C500-FF59-5264-521CBC0377A7}"/>
                  </a:ext>
                </a:extLst>
              </p:cNvPr>
              <p:cNvSpPr txBox="1"/>
              <p:nvPr/>
            </p:nvSpPr>
            <p:spPr>
              <a:xfrm>
                <a:off x="694187" y="3384599"/>
                <a:ext cx="7755626" cy="1393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𝐝𝐁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𝟐𝟎</m:t>
                      </m:r>
                      <m:func>
                        <m:func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fr-F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fr-FR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l-GR" b="1">
                                                      <a:latin typeface="Cambria Math" panose="02040503050406030204" pitchFamily="18" charset="0"/>
                                                    </a:rPr>
                                                    <m:t>𝛚</m:t>
                                                  </m:r>
                                                </m:num>
                                                <m:den>
                                                  <m:sSub>
                                                    <m:sSubPr>
                                                      <m:ctrlPr>
                                                        <a:rPr lang="fr-FR" b="1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l-GR" b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𝛚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fr-FR" b="1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sub>
                                                  </m:sSub>
                                                </m:den>
                                              </m:f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fr-FR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</m:e>
                          </m:d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𝟐𝟎𝐥𝐨𝐠</m:t>
                          </m:r>
                          <m:d>
                            <m:d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</m:d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𝐥𝐨𝐠</m:t>
                          </m:r>
                          <m:d>
                            <m:d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fr-F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l-GR" b="1">
                                                  <a:latin typeface="Cambria Math" panose="02040503050406030204" pitchFamily="18" charset="0"/>
                                                </a:rPr>
                                                <m:t>𝛚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fr-FR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l-GR" b="1">
                                                      <a:latin typeface="Cambria Math" panose="02040503050406030204" pitchFamily="18" charset="0"/>
                                                    </a:rPr>
                                                    <m:t>𝛚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fr-FR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𝟎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d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7726145-C500-FF59-5264-521CBC037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187" y="3384599"/>
                <a:ext cx="7755626" cy="13931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ED610936-9D58-3313-DF5D-ED714A46EC39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9250622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31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346221" y="85531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passe-bas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8CB826-362A-C049-8A9E-657C847C3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13" y="1371158"/>
            <a:ext cx="2438110" cy="13331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E43773-E526-0507-5D6B-84352BD9EB25}"/>
              </a:ext>
            </a:extLst>
          </p:cNvPr>
          <p:cNvSpPr txBox="1"/>
          <p:nvPr/>
        </p:nvSpPr>
        <p:spPr>
          <a:xfrm>
            <a:off x="2814885" y="136082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Diagramme de Bode pour le gain</a:t>
            </a:r>
            <a:endParaRPr lang="fr-FR" sz="18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914650-9E80-C79A-3A6E-742615A33E88}"/>
              </a:ext>
            </a:extLst>
          </p:cNvPr>
          <p:cNvSpPr txBox="1"/>
          <p:nvPr/>
        </p:nvSpPr>
        <p:spPr>
          <a:xfrm>
            <a:off x="3887470" y="1925419"/>
            <a:ext cx="2438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  <a:t>A</a:t>
            </a:r>
            <a:r>
              <a:rPr lang="fr-FR" sz="1800" b="1" i="0" u="sng">
                <a:solidFill>
                  <a:srgbClr val="0000FF"/>
                </a:solidFill>
                <a:effectLst/>
                <a:latin typeface="Bookman Old Style" panose="02050604050505020204" pitchFamily="18" charset="0"/>
              </a:rPr>
              <a:t>symptotes</a:t>
            </a:r>
            <a: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  <a:t> </a:t>
            </a:r>
            <a:b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</a:br>
            <a:endParaRPr lang="fr-FR" b="1" u="sng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0BA8C4-4133-AD7B-64D7-0A4951AD22FF}"/>
              </a:ext>
            </a:extLst>
          </p:cNvPr>
          <p:cNvSpPr txBox="1"/>
          <p:nvPr/>
        </p:nvSpPr>
        <p:spPr>
          <a:xfrm>
            <a:off x="339776" y="4122914"/>
            <a:ext cx="30064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u="sng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En basse fréquence :</a:t>
            </a:r>
            <a:br>
              <a:rPr lang="fr-FR" sz="1600" b="1" u="sng" dirty="0">
                <a:latin typeface="Bookman Old Style" panose="02050604050505020204" pitchFamily="18" charset="0"/>
              </a:rPr>
            </a:br>
            <a:endParaRPr lang="fr-FR" sz="1600" b="1" u="sng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7E49477-2865-A13B-4774-DE79AED68D76}"/>
                  </a:ext>
                </a:extLst>
              </p:cNvPr>
              <p:cNvSpPr txBox="1"/>
              <p:nvPr/>
            </p:nvSpPr>
            <p:spPr>
              <a:xfrm>
                <a:off x="2687511" y="3176155"/>
                <a:ext cx="4572000" cy="1000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𝐝𝐁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fr-FR" b="1">
                          <a:latin typeface="Cambria Math" panose="02040503050406030204" pitchFamily="18" charset="0"/>
                        </a:rPr>
                        <m:t>𝐥𝐨𝐠</m:t>
                      </m:r>
                      <m:d>
                        <m:d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fr-F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l-GR" b="1">
                                              <a:latin typeface="Cambria Math" panose="02040503050406030204" pitchFamily="18" charset="0"/>
                                            </a:rPr>
                                            <m:t>𝛚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l-GR" b="1">
                                                  <a:latin typeface="Cambria Math" panose="02040503050406030204" pitchFamily="18" charset="0"/>
                                                </a:rPr>
                                                <m:t>𝛚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7E49477-2865-A13B-4774-DE79AED68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11" y="3176155"/>
                <a:ext cx="4572000" cy="10007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87C9B3-B23C-CD20-6096-3732BF4E4F67}"/>
                  </a:ext>
                </a:extLst>
              </p:cNvPr>
              <p:cNvSpPr txBox="1"/>
              <p:nvPr/>
            </p:nvSpPr>
            <p:spPr>
              <a:xfrm>
                <a:off x="5829901" y="2559312"/>
                <a:ext cx="4572000" cy="497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𝑨𝒗𝒆𝒄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fr-FR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𝒆𝒕</m:t>
                      </m:r>
                      <m:r>
                        <a:rPr lang="fr-FR" sz="1400" b="1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400" b="1">
                              <a:latin typeface="Cambria Math" panose="02040503050406030204" pitchFamily="18" charset="0"/>
                            </a:rPr>
                            <m:t>𝛚</m:t>
                          </m:r>
                        </m:e>
                        <m:sub>
                          <m:r>
                            <a:rPr lang="fr-FR" sz="1400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sz="14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𝑹𝑪</m:t>
                          </m:r>
                        </m:den>
                      </m:f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87C9B3-B23C-CD20-6096-3732BF4E4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901" y="2559312"/>
                <a:ext cx="4572000" cy="497059"/>
              </a:xfrm>
              <a:prstGeom prst="rect">
                <a:avLst/>
              </a:prstGeom>
              <a:blipFill>
                <a:blip r:embed="rId5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ED952-AAFB-6086-A71D-6D79B92FCBBC}"/>
                  </a:ext>
                </a:extLst>
              </p:cNvPr>
              <p:cNvSpPr txBox="1"/>
              <p:nvPr/>
            </p:nvSpPr>
            <p:spPr>
              <a:xfrm>
                <a:off x="2438400" y="2335449"/>
                <a:ext cx="5201174" cy="1000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𝐝𝐁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𝟐𝟎𝐥𝐨𝐠</m:t>
                      </m:r>
                      <m:d>
                        <m:dPr>
                          <m:ctrlPr>
                            <a:rPr lang="fr-FR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</m:d>
                      <m:r>
                        <a:rPr lang="fr-FR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fr-FR" b="1">
                          <a:latin typeface="Cambria Math" panose="02040503050406030204" pitchFamily="18" charset="0"/>
                        </a:rPr>
                        <m:t>𝐥𝐨𝐠</m:t>
                      </m:r>
                      <m:d>
                        <m:d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fr-F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l-GR" b="1">
                                              <a:latin typeface="Cambria Math" panose="02040503050406030204" pitchFamily="18" charset="0"/>
                                            </a:rPr>
                                            <m:t>𝛚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l-GR" b="1">
                                                  <a:latin typeface="Cambria Math" panose="02040503050406030204" pitchFamily="18" charset="0"/>
                                                </a:rPr>
                                                <m:t>𝛚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ED952-AAFB-6086-A71D-6D79B92FC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2335449"/>
                <a:ext cx="5201174" cy="10007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B98030D-AE28-28E4-7EA5-58DAF7BB0CD8}"/>
                  </a:ext>
                </a:extLst>
              </p:cNvPr>
              <p:cNvSpPr txBox="1"/>
              <p:nvPr/>
            </p:nvSpPr>
            <p:spPr>
              <a:xfrm>
                <a:off x="3550845" y="4293209"/>
                <a:ext cx="15500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𝐝𝐨𝐧𝐜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B98030D-AE28-28E4-7EA5-58DAF7BB0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845" y="4293209"/>
                <a:ext cx="1550040" cy="276999"/>
              </a:xfrm>
              <a:prstGeom prst="rect">
                <a:avLst/>
              </a:prstGeom>
              <a:blipFill>
                <a:blip r:embed="rId7"/>
                <a:stretch>
                  <a:fillRect l="-1961" b="-152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9272F2B-E593-01DC-A698-D778676E7FFA}"/>
                  </a:ext>
                </a:extLst>
              </p:cNvPr>
              <p:cNvSpPr txBox="1"/>
              <p:nvPr/>
            </p:nvSpPr>
            <p:spPr>
              <a:xfrm>
                <a:off x="5100885" y="4057142"/>
                <a:ext cx="1196033" cy="6840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b="1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b>
                                      <m: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9272F2B-E593-01DC-A698-D778676E7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885" y="4057142"/>
                <a:ext cx="1196033" cy="6840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79ACF3-E0D1-49AC-A79A-F69A686E812A}"/>
                  </a:ext>
                </a:extLst>
              </p:cNvPr>
              <p:cNvSpPr txBox="1"/>
              <p:nvPr/>
            </p:nvSpPr>
            <p:spPr>
              <a:xfrm>
                <a:off x="2286000" y="4782170"/>
                <a:ext cx="52011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𝐝𝐁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fr-FR" b="1">
                          <a:latin typeface="Cambria Math" panose="02040503050406030204" pitchFamily="18" charset="0"/>
                        </a:rPr>
                        <m:t>𝐥𝐨𝐠</m:t>
                      </m:r>
                      <m:d>
                        <m:d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79ACF3-E0D1-49AC-A79A-F69A686E8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4782170"/>
                <a:ext cx="5201174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20E8A323-1545-406A-12B6-BDBEF1586CEF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17459487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32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395444" y="83526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passe-bas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8CB826-362A-C049-8A9E-657C847C3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13" y="1371158"/>
            <a:ext cx="2438110" cy="13331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E43773-E526-0507-5D6B-84352BD9EB25}"/>
              </a:ext>
            </a:extLst>
          </p:cNvPr>
          <p:cNvSpPr txBox="1"/>
          <p:nvPr/>
        </p:nvSpPr>
        <p:spPr>
          <a:xfrm>
            <a:off x="2819400" y="14093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Diagramme de Bode pour le gain</a:t>
            </a:r>
            <a:endParaRPr lang="fr-FR" sz="18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914650-9E80-C79A-3A6E-742615A33E88}"/>
              </a:ext>
            </a:extLst>
          </p:cNvPr>
          <p:cNvSpPr txBox="1"/>
          <p:nvPr/>
        </p:nvSpPr>
        <p:spPr>
          <a:xfrm>
            <a:off x="3887470" y="1925419"/>
            <a:ext cx="2438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  <a:t>A</a:t>
            </a:r>
            <a:r>
              <a:rPr lang="fr-FR" sz="1800" b="1" i="0" u="sng">
                <a:solidFill>
                  <a:srgbClr val="0000FF"/>
                </a:solidFill>
                <a:effectLst/>
                <a:latin typeface="Bookman Old Style" panose="02050604050505020204" pitchFamily="18" charset="0"/>
              </a:rPr>
              <a:t>symptotes</a:t>
            </a:r>
            <a: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  <a:t> </a:t>
            </a:r>
            <a:b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</a:br>
            <a:endParaRPr lang="fr-FR" b="1" u="sng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0BA8C4-4133-AD7B-64D7-0A4951AD22FF}"/>
              </a:ext>
            </a:extLst>
          </p:cNvPr>
          <p:cNvSpPr txBox="1"/>
          <p:nvPr/>
        </p:nvSpPr>
        <p:spPr>
          <a:xfrm>
            <a:off x="339776" y="2815585"/>
            <a:ext cx="30064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u="sng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En basse fréquence :</a:t>
            </a:r>
            <a:br>
              <a:rPr lang="fr-FR" sz="1600" b="1" u="sng" dirty="0">
                <a:latin typeface="Bookman Old Style" panose="02050604050505020204" pitchFamily="18" charset="0"/>
              </a:rPr>
            </a:br>
            <a:endParaRPr lang="fr-FR" sz="1600" b="1" u="sng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B98030D-AE28-28E4-7EA5-58DAF7BB0CD8}"/>
                  </a:ext>
                </a:extLst>
              </p:cNvPr>
              <p:cNvSpPr txBox="1"/>
              <p:nvPr/>
            </p:nvSpPr>
            <p:spPr>
              <a:xfrm>
                <a:off x="3395444" y="2886880"/>
                <a:ext cx="15500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𝐝𝐨𝐧𝐜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B98030D-AE28-28E4-7EA5-58DAF7BB0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444" y="2886880"/>
                <a:ext cx="1550040" cy="276999"/>
              </a:xfrm>
              <a:prstGeom prst="rect">
                <a:avLst/>
              </a:prstGeom>
              <a:blipFill>
                <a:blip r:embed="rId4"/>
                <a:stretch>
                  <a:fillRect l="-1969" t="-2222" b="-17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9272F2B-E593-01DC-A698-D778676E7FFA}"/>
                  </a:ext>
                </a:extLst>
              </p:cNvPr>
              <p:cNvSpPr txBox="1"/>
              <p:nvPr/>
            </p:nvSpPr>
            <p:spPr>
              <a:xfrm>
                <a:off x="4945484" y="2650813"/>
                <a:ext cx="1196033" cy="6840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b="1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b>
                                      <m: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9272F2B-E593-01DC-A698-D778676E7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484" y="2650813"/>
                <a:ext cx="1196033" cy="6840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79ACF3-E0D1-49AC-A79A-F69A686E812A}"/>
                  </a:ext>
                </a:extLst>
              </p:cNvPr>
              <p:cNvSpPr txBox="1"/>
              <p:nvPr/>
            </p:nvSpPr>
            <p:spPr>
              <a:xfrm>
                <a:off x="2189527" y="3530824"/>
                <a:ext cx="52011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𝐝𝐁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fr-FR" b="1">
                          <a:latin typeface="Cambria Math" panose="02040503050406030204" pitchFamily="18" charset="0"/>
                        </a:rPr>
                        <m:t>𝐥𝐨𝐠</m:t>
                      </m:r>
                      <m:d>
                        <m:d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79ACF3-E0D1-49AC-A79A-F69A686E8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527" y="3530824"/>
                <a:ext cx="5201174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3DC66A-5015-00A0-18C4-04D22E76AC64}"/>
                  </a:ext>
                </a:extLst>
              </p:cNvPr>
              <p:cNvSpPr txBox="1"/>
              <p:nvPr/>
            </p:nvSpPr>
            <p:spPr>
              <a:xfrm>
                <a:off x="419279" y="4124424"/>
                <a:ext cx="899666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fr-FR" sz="1600" b="1" i="0" smtClean="0">
                            <a:latin typeface="Cambria Math" panose="02040503050406030204" pitchFamily="18" charset="0"/>
                          </a:rPr>
                          <m:t>𝐝𝐁</m:t>
                        </m:r>
                      </m:sub>
                    </m:sSub>
                  </m:oMath>
                </a14:m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→ 0 </a:t>
                </a:r>
                <a:r>
                  <a:rPr lang="fr-FR" sz="18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qui </a:t>
                </a:r>
                <a:r>
                  <a:rPr lang="fr-FR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représente une </a:t>
                </a:r>
                <a:r>
                  <a:rPr lang="fr-FR" b="1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asymptote</a:t>
                </a:r>
                <a:r>
                  <a:rPr lang="fr-FR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 sous forme d’ </a:t>
                </a:r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une droite horizontale </a:t>
                </a:r>
                <a:r>
                  <a:rPr lang="fr-FR" sz="18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de </a:t>
                </a:r>
                <a:r>
                  <a:rPr lang="fr-FR" sz="18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pente nulle </a:t>
                </a:r>
                <a:r>
                  <a:rPr lang="fr-FR" sz="18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qui coïncide avec </a:t>
                </a:r>
                <a:r>
                  <a:rPr lang="fr-FR" sz="18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l’axe des abscisses</a:t>
                </a:r>
                <a:r>
                  <a:rPr lang="fr-FR" sz="18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.</a:t>
                </a:r>
                <a:r>
                  <a:rPr lang="fr-FR" dirty="0">
                    <a:latin typeface="Bookman Old Style" panose="02050604050505020204" pitchFamily="18" charset="0"/>
                  </a:rPr>
                  <a:t> </a:t>
                </a:r>
                <a:br>
                  <a:rPr lang="fr-FR" dirty="0">
                    <a:latin typeface="Bookman Old Style" panose="02050604050505020204" pitchFamily="18" charset="0"/>
                  </a:rPr>
                </a:br>
                <a:endParaRPr lang="fr-FR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3DC66A-5015-00A0-18C4-04D22E76A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79" y="4124424"/>
                <a:ext cx="8996664" cy="923330"/>
              </a:xfrm>
              <a:prstGeom prst="rect">
                <a:avLst/>
              </a:prstGeom>
              <a:blipFill>
                <a:blip r:embed="rId7"/>
                <a:stretch>
                  <a:fillRect l="-610" t="-397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2D9C228B-63F7-1AB3-56D0-045C5F5BDBA4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17253286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33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429000" y="79622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passe-bas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8CB826-362A-C049-8A9E-657C847C3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16" y="1102900"/>
            <a:ext cx="2438110" cy="13331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E43773-E526-0507-5D6B-84352BD9EB25}"/>
              </a:ext>
            </a:extLst>
          </p:cNvPr>
          <p:cNvSpPr txBox="1"/>
          <p:nvPr/>
        </p:nvSpPr>
        <p:spPr>
          <a:xfrm>
            <a:off x="2819400" y="14093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Diagramme de Bode pour le gain</a:t>
            </a:r>
            <a:endParaRPr lang="fr-FR" sz="18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914650-9E80-C79A-3A6E-742615A33E88}"/>
              </a:ext>
            </a:extLst>
          </p:cNvPr>
          <p:cNvSpPr txBox="1"/>
          <p:nvPr/>
        </p:nvSpPr>
        <p:spPr>
          <a:xfrm>
            <a:off x="3887470" y="1925419"/>
            <a:ext cx="2438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  <a:t>A</a:t>
            </a:r>
            <a:r>
              <a:rPr lang="fr-FR" sz="1800" b="1" i="0" u="sng">
                <a:solidFill>
                  <a:srgbClr val="0000FF"/>
                </a:solidFill>
                <a:effectLst/>
                <a:latin typeface="Bookman Old Style" panose="02050604050505020204" pitchFamily="18" charset="0"/>
              </a:rPr>
              <a:t>symptotes</a:t>
            </a:r>
            <a: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  <a:t> </a:t>
            </a:r>
            <a:b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</a:br>
            <a:endParaRPr lang="fr-FR" b="1" u="sng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0BA8C4-4133-AD7B-64D7-0A4951AD22FF}"/>
              </a:ext>
            </a:extLst>
          </p:cNvPr>
          <p:cNvSpPr txBox="1"/>
          <p:nvPr/>
        </p:nvSpPr>
        <p:spPr>
          <a:xfrm>
            <a:off x="223844" y="2616692"/>
            <a:ext cx="30064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u="sng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En haute fréquence :</a:t>
            </a:r>
            <a:br>
              <a:rPr lang="fr-FR" sz="1600" b="1" u="sng" dirty="0">
                <a:latin typeface="Bookman Old Style" panose="02050604050505020204" pitchFamily="18" charset="0"/>
              </a:rPr>
            </a:br>
            <a:endParaRPr lang="fr-FR" sz="1600" b="1" u="sng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B98030D-AE28-28E4-7EA5-58DAF7BB0CD8}"/>
                  </a:ext>
                </a:extLst>
              </p:cNvPr>
              <p:cNvSpPr txBox="1"/>
              <p:nvPr/>
            </p:nvSpPr>
            <p:spPr>
              <a:xfrm>
                <a:off x="3337133" y="2660489"/>
                <a:ext cx="15500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el-GR" b="1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𝐝𝐨𝐧𝐜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B98030D-AE28-28E4-7EA5-58DAF7BB0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7133" y="2660489"/>
                <a:ext cx="1550040" cy="276999"/>
              </a:xfrm>
              <a:prstGeom prst="rect">
                <a:avLst/>
              </a:prstGeom>
              <a:blipFill>
                <a:blip r:embed="rId4"/>
                <a:stretch>
                  <a:fillRect l="-1961" b="-152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9272F2B-E593-01DC-A698-D778676E7FFA}"/>
                  </a:ext>
                </a:extLst>
              </p:cNvPr>
              <p:cNvSpPr txBox="1"/>
              <p:nvPr/>
            </p:nvSpPr>
            <p:spPr>
              <a:xfrm>
                <a:off x="4887173" y="2424422"/>
                <a:ext cx="1196033" cy="6840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≪</m:t>
                      </m:r>
                      <m:sSup>
                        <m:sSup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b="1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b>
                                      <m: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9272F2B-E593-01DC-A698-D778676E7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173" y="2424422"/>
                <a:ext cx="1196033" cy="6840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79ACF3-E0D1-49AC-A79A-F69A686E812A}"/>
                  </a:ext>
                </a:extLst>
              </p:cNvPr>
              <p:cNvSpPr txBox="1"/>
              <p:nvPr/>
            </p:nvSpPr>
            <p:spPr>
              <a:xfrm>
                <a:off x="1096208" y="3031783"/>
                <a:ext cx="7794032" cy="1000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𝐝𝐁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fr-FR" b="1">
                          <a:latin typeface="Cambria Math" panose="02040503050406030204" pitchFamily="18" charset="0"/>
                        </a:rPr>
                        <m:t>𝐥𝐨𝐠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fr-F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l-GR" b="1">
                                              <a:latin typeface="Cambria Math" panose="02040503050406030204" pitchFamily="18" charset="0"/>
                                            </a:rPr>
                                            <m:t>𝛚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l-GR" b="1">
                                                  <a:latin typeface="Cambria Math" panose="02040503050406030204" pitchFamily="18" charset="0"/>
                                                </a:rPr>
                                                <m:t>𝛚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𝟐𝟎𝐥𝐨𝐠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𝐥𝐨𝐠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b="1">
                              <a:latin typeface="Cambria Math" panose="02040503050406030204" pitchFamily="18" charset="0"/>
                            </a:rPr>
                            <m:t>𝛚</m:t>
                          </m:r>
                        </m:e>
                      </m:d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𝟐𝟎𝐥𝐨𝐠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79ACF3-E0D1-49AC-A79A-F69A686E8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208" y="3031783"/>
                <a:ext cx="7794032" cy="10007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3DC66A-5015-00A0-18C4-04D22E76AC64}"/>
                  </a:ext>
                </a:extLst>
              </p:cNvPr>
              <p:cNvSpPr txBox="1"/>
              <p:nvPr/>
            </p:nvSpPr>
            <p:spPr>
              <a:xfrm>
                <a:off x="237011" y="3929248"/>
                <a:ext cx="8880424" cy="977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fr-FR" sz="1600" b="1" i="0" smtClean="0">
                            <a:latin typeface="Cambria Math" panose="02040503050406030204" pitchFamily="18" charset="0"/>
                          </a:rPr>
                          <m:t>𝐝𝐁</m:t>
                        </m:r>
                      </m:sub>
                    </m:sSub>
                  </m:oMath>
                </a14:m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→ </a:t>
                </a:r>
                <a14:m>
                  <m:oMath xmlns:m="http://schemas.openxmlformats.org/officeDocument/2006/math">
                    <m:r>
                      <a:rPr lang="fr-FR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sz="1600" b="1">
                        <a:latin typeface="Cambria Math" panose="02040503050406030204" pitchFamily="18" charset="0"/>
                      </a:rPr>
                      <m:t>𝟐𝟎𝐥𝐨𝐠</m:t>
                    </m:r>
                    <m:d>
                      <m:dPr>
                        <m:ctrlPr>
                          <a:rPr lang="fr-FR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sz="16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l-GR" sz="1600" b="1">
                                <a:latin typeface="Cambria Math" panose="02040503050406030204" pitchFamily="18" charset="0"/>
                              </a:rPr>
                              <m:t>𝛚</m:t>
                            </m:r>
                          </m:num>
                          <m:den>
                            <m:sSub>
                              <m:sSubPr>
                                <m:ctrlPr>
                                  <a:rPr lang="fr-FR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sz="1600" b="1">
                                    <a:latin typeface="Cambria Math" panose="02040503050406030204" pitchFamily="18" charset="0"/>
                                  </a:rPr>
                                  <m:t>𝛚</m:t>
                                </m:r>
                              </m:e>
                              <m:sub>
                                <m:r>
                                  <a:rPr lang="fr-FR" sz="16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qui représente </a:t>
                </a:r>
                <a:r>
                  <a:rPr lang="fr-FR" sz="1600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une </a:t>
                </a:r>
                <a:r>
                  <a:rPr lang="fr-FR" sz="1600" b="1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asymptote</a:t>
                </a:r>
                <a:r>
                  <a:rPr lang="fr-FR" sz="1600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 sous forme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une droite de pente -20 dB/décade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, soit une diminution de </a:t>
                </a:r>
                <a:r>
                  <a:rPr lang="fr-FR" sz="1600" b="1" dirty="0">
                    <a:latin typeface="Bookman Old Style" panose="02050604050505020204" pitchFamily="18" charset="0"/>
                  </a:rPr>
                  <a:t>-20 dB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 lorsque la pulsion varie dans un rapport égal à une décade.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3DC66A-5015-00A0-18C4-04D22E76A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11" y="3929248"/>
                <a:ext cx="8880424" cy="977319"/>
              </a:xfrm>
              <a:prstGeom prst="rect">
                <a:avLst/>
              </a:prstGeom>
              <a:blipFill>
                <a:blip r:embed="rId7"/>
                <a:stretch>
                  <a:fillRect l="-412" r="-343" b="-7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C8DAD5B-1947-542B-54D8-AB41B314D042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11332168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34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429000" y="77839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passe-bas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8CB826-362A-C049-8A9E-657C847C3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16" y="1102900"/>
            <a:ext cx="2438110" cy="13331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E43773-E526-0507-5D6B-84352BD9EB25}"/>
              </a:ext>
            </a:extLst>
          </p:cNvPr>
          <p:cNvSpPr txBox="1"/>
          <p:nvPr/>
        </p:nvSpPr>
        <p:spPr>
          <a:xfrm>
            <a:off x="2819400" y="14093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Diagramme de Bode pour le </a:t>
            </a:r>
            <a:r>
              <a:rPr lang="fr-FR" b="1" u="sng" dirty="0">
                <a:latin typeface="Bookman Old Style" panose="02050604050505020204" pitchFamily="18" charset="0"/>
              </a:rPr>
              <a:t>gain</a:t>
            </a:r>
            <a:endParaRPr lang="fr-FR" sz="1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914650-9E80-C79A-3A6E-742615A33E88}"/>
              </a:ext>
            </a:extLst>
          </p:cNvPr>
          <p:cNvSpPr txBox="1"/>
          <p:nvPr/>
        </p:nvSpPr>
        <p:spPr>
          <a:xfrm>
            <a:off x="3887470" y="1925419"/>
            <a:ext cx="2438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  <a:t>A</a:t>
            </a:r>
            <a:r>
              <a:rPr lang="fr-FR" sz="1800" b="1" i="0" u="sng">
                <a:solidFill>
                  <a:srgbClr val="0000FF"/>
                </a:solidFill>
                <a:effectLst/>
                <a:latin typeface="Bookman Old Style" panose="02050604050505020204" pitchFamily="18" charset="0"/>
              </a:rPr>
              <a:t>symptotes</a:t>
            </a:r>
            <a: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  <a:t> </a:t>
            </a:r>
            <a:b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</a:br>
            <a:endParaRPr lang="fr-FR" b="1" u="sng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0BA8C4-4133-AD7B-64D7-0A4951AD22FF}"/>
                  </a:ext>
                </a:extLst>
              </p:cNvPr>
              <p:cNvSpPr txBox="1"/>
              <p:nvPr/>
            </p:nvSpPr>
            <p:spPr>
              <a:xfrm>
                <a:off x="228616" y="2888742"/>
                <a:ext cx="300644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600" b="1" u="sng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Pour</a:t>
                </a:r>
                <a:r>
                  <a:rPr lang="fr-FR" sz="1600" b="1" i="0" u="sng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600" b="1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fr-F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1600" b="1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fr-FR" sz="16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:</a:t>
                </a:r>
                <a:br>
                  <a:rPr lang="fr-FR" sz="1600" b="1" u="sng" dirty="0">
                    <a:latin typeface="Bookman Old Style" panose="02050604050505020204" pitchFamily="18" charset="0"/>
                  </a:rPr>
                </a:br>
                <a:endParaRPr lang="fr-FR" sz="1600" b="1" u="sng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0BA8C4-4133-AD7B-64D7-0A4951AD2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16" y="2888742"/>
                <a:ext cx="3006445" cy="584775"/>
              </a:xfrm>
              <a:prstGeom prst="rect">
                <a:avLst/>
              </a:prstGeom>
              <a:blipFill>
                <a:blip r:embed="rId4"/>
                <a:stretch>
                  <a:fillRect l="-1217" t="-31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883083-91BA-5FE6-ADFA-241E0AA505C6}"/>
                  </a:ext>
                </a:extLst>
              </p:cNvPr>
              <p:cNvSpPr txBox="1"/>
              <p:nvPr/>
            </p:nvSpPr>
            <p:spPr>
              <a:xfrm>
                <a:off x="2172750" y="2523800"/>
                <a:ext cx="6172200" cy="1000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𝐝𝐁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fr-FR" b="1">
                          <a:latin typeface="Cambria Math" panose="02040503050406030204" pitchFamily="18" charset="0"/>
                        </a:rPr>
                        <m:t>𝐥𝐨𝐠</m:t>
                      </m:r>
                      <m:d>
                        <m:d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fr-F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l-GR" b="1">
                                              <a:latin typeface="Cambria Math" panose="02040503050406030204" pitchFamily="18" charset="0"/>
                                            </a:rPr>
                                            <m:t>𝛚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l-GR" b="1">
                                                  <a:latin typeface="Cambria Math" panose="02040503050406030204" pitchFamily="18" charset="0"/>
                                                </a:rPr>
                                                <m:t>𝛚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𝐥𝐨𝐠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883083-91BA-5FE6-ADFA-241E0AA50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750" y="2523800"/>
                <a:ext cx="6172200" cy="10007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9D1BBCC-65F3-747A-F563-3F959582E933}"/>
                  </a:ext>
                </a:extLst>
              </p:cNvPr>
              <p:cNvSpPr txBox="1"/>
              <p:nvPr/>
            </p:nvSpPr>
            <p:spPr>
              <a:xfrm>
                <a:off x="381000" y="3733979"/>
                <a:ext cx="8382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fr-FR" sz="1800" b="1" i="0" smtClean="0">
                            <a:latin typeface="Cambria Math" panose="02040503050406030204" pitchFamily="18" charset="0"/>
                          </a:rPr>
                          <m:t>𝐝𝐁</m:t>
                        </m:r>
                      </m:sub>
                    </m:sSub>
                  </m:oMath>
                </a14:m>
                <a:r>
                  <a:rPr lang="fr-FR" sz="18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= -3dB </a:t>
                </a:r>
                <a:r>
                  <a:rPr lang="fr-FR" sz="18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qui correspond à une </a:t>
                </a:r>
                <a:r>
                  <a:rPr lang="fr-FR" sz="18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diminution</a:t>
                </a:r>
                <a:r>
                  <a:rPr lang="fr-FR" sz="18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de </a:t>
                </a:r>
                <a:r>
                  <a:rPr lang="fr-FR" sz="18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3dB</a:t>
                </a:r>
                <a:r>
                  <a:rPr lang="fr-FR" sz="18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du </a:t>
                </a:r>
                <a:r>
                  <a:rPr lang="fr-FR" sz="18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gain maximum</a:t>
                </a:r>
                <a:r>
                  <a:rPr lang="fr-FR" b="1" dirty="0">
                    <a:latin typeface="Bookman Old Style" panose="02050604050505020204" pitchFamily="18" charset="0"/>
                  </a:rPr>
                  <a:t> </a:t>
                </a:r>
                <a:br>
                  <a:rPr lang="fr-FR" dirty="0">
                    <a:latin typeface="Bookman Old Style" panose="02050604050505020204" pitchFamily="18" charset="0"/>
                  </a:rPr>
                </a:br>
                <a:endParaRPr lang="fr-FR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9D1BBCC-65F3-747A-F563-3F959582E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733979"/>
                <a:ext cx="8382000" cy="646331"/>
              </a:xfrm>
              <a:prstGeom prst="rect">
                <a:avLst/>
              </a:prstGeom>
              <a:blipFill>
                <a:blip r:embed="rId6"/>
                <a:stretch>
                  <a:fillRect t="-5660" r="-5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B16C4F2B-B68E-0ACC-A697-0B43F974F64B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15355820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35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417115" y="86240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passe-bas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8CB826-362A-C049-8A9E-657C847C3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28" y="985009"/>
            <a:ext cx="2438110" cy="13331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E43773-E526-0507-5D6B-84352BD9EB25}"/>
              </a:ext>
            </a:extLst>
          </p:cNvPr>
          <p:cNvSpPr txBox="1"/>
          <p:nvPr/>
        </p:nvSpPr>
        <p:spPr>
          <a:xfrm>
            <a:off x="2819400" y="14093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Diagramme de Bode pour la </a:t>
            </a:r>
            <a:r>
              <a:rPr lang="fr-FR" b="1" u="sng" dirty="0">
                <a:latin typeface="Bookman Old Style" panose="02050604050505020204" pitchFamily="18" charset="0"/>
              </a:rPr>
              <a:t>phase</a:t>
            </a:r>
            <a:endParaRPr lang="fr-FR" sz="1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914650-9E80-C79A-3A6E-742615A33E88}"/>
              </a:ext>
            </a:extLst>
          </p:cNvPr>
          <p:cNvSpPr txBox="1"/>
          <p:nvPr/>
        </p:nvSpPr>
        <p:spPr>
          <a:xfrm>
            <a:off x="3886345" y="1781538"/>
            <a:ext cx="2438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0000FF"/>
                </a:solidFill>
                <a:latin typeface="Bookman Old Style" panose="02050604050505020204" pitchFamily="18" charset="0"/>
              </a:rPr>
              <a:t>A</a:t>
            </a:r>
            <a:r>
              <a:rPr lang="fr-FR" sz="1800" b="1" i="0" u="sng" dirty="0">
                <a:solidFill>
                  <a:srgbClr val="0000FF"/>
                </a:solidFill>
                <a:effectLst/>
                <a:latin typeface="Bookman Old Style" panose="02050604050505020204" pitchFamily="18" charset="0"/>
              </a:rPr>
              <a:t>symptotes</a:t>
            </a:r>
            <a:r>
              <a:rPr lang="fr-FR" b="1" u="sng" dirty="0">
                <a:solidFill>
                  <a:srgbClr val="0000FF"/>
                </a:solidFill>
                <a:latin typeface="Bookman Old Style" panose="02050604050505020204" pitchFamily="18" charset="0"/>
              </a:rPr>
              <a:t> </a:t>
            </a:r>
            <a:br>
              <a:rPr lang="fr-FR" b="1" u="sng" dirty="0">
                <a:solidFill>
                  <a:srgbClr val="0000FF"/>
                </a:solidFill>
                <a:latin typeface="Bookman Old Style" panose="02050604050505020204" pitchFamily="18" charset="0"/>
              </a:rPr>
            </a:br>
            <a:endParaRPr lang="fr-FR" b="1" u="sng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E7B0A1-ADB2-8F00-7CE0-D2281AACCF7B}"/>
              </a:ext>
            </a:extLst>
          </p:cNvPr>
          <p:cNvSpPr txBox="1"/>
          <p:nvPr/>
        </p:nvSpPr>
        <p:spPr>
          <a:xfrm>
            <a:off x="417661" y="2477088"/>
            <a:ext cx="30064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u="sng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En basse fréquence :</a:t>
            </a:r>
            <a:br>
              <a:rPr lang="fr-FR" sz="1600" b="1" u="sng" dirty="0">
                <a:latin typeface="Bookman Old Style" panose="02050604050505020204" pitchFamily="18" charset="0"/>
              </a:rPr>
            </a:br>
            <a:endParaRPr lang="fr-FR" sz="1600" b="1" u="sng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DAAFF9F-2952-2B9A-955F-9F674A3FD081}"/>
                  </a:ext>
                </a:extLst>
              </p:cNvPr>
              <p:cNvSpPr txBox="1"/>
              <p:nvPr/>
            </p:nvSpPr>
            <p:spPr>
              <a:xfrm>
                <a:off x="1696600" y="2901264"/>
                <a:ext cx="4572000" cy="6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800" b="1" i="1" smtClean="0"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fr-FR" sz="1800" b="1" i="0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e>
                        <m:sup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b="1" i="0">
                              <a:latin typeface="Cambria Math" panose="02040503050406030204" pitchFamily="18" charset="0"/>
                            </a:rPr>
                            <m:t>𝛚</m:t>
                          </m:r>
                        </m:num>
                        <m:den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b>
                              <m:r>
                                <a:rPr lang="fr-FR" b="1" i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DAAFF9F-2952-2B9A-955F-9F674A3FD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600" y="2901264"/>
                <a:ext cx="4572000" cy="6173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65706D4-4C6F-9E92-9E83-ECA87D9F3141}"/>
                  </a:ext>
                </a:extLst>
              </p:cNvPr>
              <p:cNvSpPr txBox="1"/>
              <p:nvPr/>
            </p:nvSpPr>
            <p:spPr>
              <a:xfrm>
                <a:off x="3418513" y="2519857"/>
                <a:ext cx="15500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𝐝𝐨𝐧𝐜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65706D4-4C6F-9E92-9E83-ECA87D9F3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513" y="2519857"/>
                <a:ext cx="1550040" cy="276999"/>
              </a:xfrm>
              <a:prstGeom prst="rect">
                <a:avLst/>
              </a:prstGeom>
              <a:blipFill>
                <a:blip r:embed="rId5"/>
                <a:stretch>
                  <a:fillRect l="-1969" b="-152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AB60AA-7349-0657-2502-713D4D837285}"/>
                  </a:ext>
                </a:extLst>
              </p:cNvPr>
              <p:cNvSpPr txBox="1"/>
              <p:nvPr/>
            </p:nvSpPr>
            <p:spPr>
              <a:xfrm>
                <a:off x="5049400" y="2410235"/>
                <a:ext cx="820673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b="1">
                              <a:latin typeface="Cambria Math" panose="02040503050406030204" pitchFamily="18" charset="0"/>
                            </a:rPr>
                            <m:t>𝛚</m:t>
                          </m:r>
                        </m:num>
                        <m:den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AB60AA-7349-0657-2502-713D4D837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400" y="2410235"/>
                <a:ext cx="820673" cy="5250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86F7B6F-5507-7796-81E6-278423F6542F}"/>
                  </a:ext>
                </a:extLst>
              </p:cNvPr>
              <p:cNvSpPr txBox="1"/>
              <p:nvPr/>
            </p:nvSpPr>
            <p:spPr>
              <a:xfrm>
                <a:off x="5049400" y="2943300"/>
                <a:ext cx="4572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l-GR" b="1" i="1">
                        <a:latin typeface="Cambria Math" panose="02040503050406030204" pitchFamily="18" charset="0"/>
                      </a:rPr>
                      <m:t>𝝎</m:t>
                    </m:r>
                  </m:oMath>
                </a14:m>
                <a:r>
                  <a:rPr lang="el-GR" sz="18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→ </a:t>
                </a:r>
                <a:r>
                  <a:rPr lang="el-GR" sz="1800" b="1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</a:t>
                </a:r>
                <a:r>
                  <a:rPr lang="el-GR" sz="18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⇒ </a:t>
                </a:r>
                <a14:m>
                  <m:oMath xmlns:m="http://schemas.openxmlformats.org/officeDocument/2006/math">
                    <m:r>
                      <a:rPr lang="el-GR" sz="1800" b="1" i="1" smtClean="0"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l-GR" sz="18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→ </a:t>
                </a:r>
                <a:r>
                  <a:rPr lang="el-GR" sz="1800" b="1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</a:t>
                </a:r>
                <a:r>
                  <a:rPr lang="el-GR" b="1" dirty="0">
                    <a:latin typeface="Bookman Old Style" panose="02050604050505020204" pitchFamily="18" charset="0"/>
                  </a:rPr>
                  <a:t> </a:t>
                </a:r>
                <a:br>
                  <a:rPr lang="el-GR" b="1" dirty="0">
                    <a:latin typeface="Bookman Old Style" panose="02050604050505020204" pitchFamily="18" charset="0"/>
                  </a:rPr>
                </a:br>
                <a:endParaRPr lang="fr-FR" b="1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86F7B6F-5507-7796-81E6-278423F65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400" y="2943300"/>
                <a:ext cx="4572000" cy="646331"/>
              </a:xfrm>
              <a:prstGeom prst="rect">
                <a:avLst/>
              </a:prstGeom>
              <a:blipFill>
                <a:blip r:embed="rId7"/>
                <a:stretch>
                  <a:fillRect t="-66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F65B351B-F39D-6D54-C3FF-CD8CCB0A6A78}"/>
              </a:ext>
            </a:extLst>
          </p:cNvPr>
          <p:cNvSpPr txBox="1"/>
          <p:nvPr/>
        </p:nvSpPr>
        <p:spPr>
          <a:xfrm>
            <a:off x="432135" y="3593121"/>
            <a:ext cx="30064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u="sng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En haute fréquence :</a:t>
            </a:r>
            <a:br>
              <a:rPr lang="fr-FR" sz="1600" b="1" u="sng" dirty="0">
                <a:latin typeface="Bookman Old Style" panose="02050604050505020204" pitchFamily="18" charset="0"/>
              </a:rPr>
            </a:br>
            <a:endParaRPr lang="fr-FR" sz="1600" b="1" u="sng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A46B4E-A187-B131-D75B-0FA5B53F4F53}"/>
                  </a:ext>
                </a:extLst>
              </p:cNvPr>
              <p:cNvSpPr txBox="1"/>
              <p:nvPr/>
            </p:nvSpPr>
            <p:spPr>
              <a:xfrm>
                <a:off x="1825915" y="3592627"/>
                <a:ext cx="48152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el-GR" b="1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𝐝𝐨𝐧𝐜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A46B4E-A187-B131-D75B-0FA5B53F4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915" y="3592627"/>
                <a:ext cx="481528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D3DA5AE-E23C-FA80-9A82-03C58FCD180F}"/>
                  </a:ext>
                </a:extLst>
              </p:cNvPr>
              <p:cNvSpPr txBox="1"/>
              <p:nvPr/>
            </p:nvSpPr>
            <p:spPr>
              <a:xfrm>
                <a:off x="3651464" y="3447021"/>
                <a:ext cx="3926136" cy="6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≪</m:t>
                      </m:r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b="1">
                              <a:latin typeface="Cambria Math" panose="02040503050406030204" pitchFamily="18" charset="0"/>
                            </a:rPr>
                            <m:t>𝛚</m:t>
                          </m:r>
                        </m:num>
                        <m:den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D3DA5AE-E23C-FA80-9A82-03C58FCD1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464" y="3447021"/>
                <a:ext cx="3926136" cy="6173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95C22BB-4D5E-60AA-41E1-B00248EC136F}"/>
                  </a:ext>
                </a:extLst>
              </p:cNvPr>
              <p:cNvSpPr txBox="1"/>
              <p:nvPr/>
            </p:nvSpPr>
            <p:spPr>
              <a:xfrm>
                <a:off x="4910445" y="4037072"/>
                <a:ext cx="48152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>
                  <a:defRPr b="1" i="1">
                    <a:latin typeface="Cambria Math" panose="02040503050406030204" pitchFamily="18" charset="0"/>
                  </a:defRPr>
                </a:lvl1pPr>
              </a:lstStyle>
              <a:p>
                <a:r>
                  <a:rPr lang="fr-FR" i="0" dirty="0"/>
                  <a:t>; </a:t>
                </a:r>
                <a14:m>
                  <m:oMath xmlns:m="http://schemas.openxmlformats.org/officeDocument/2006/math">
                    <m:r>
                      <a:rPr lang="el-GR" i="0">
                        <a:latin typeface="Cambria Math" panose="02040503050406030204" pitchFamily="18" charset="0"/>
                      </a:rPr>
                      <m:t>𝛚</m:t>
                    </m:r>
                  </m:oMath>
                </a14:m>
                <a:r>
                  <a:rPr lang="el-GR" i="0" dirty="0"/>
                  <a:t> → ∞ </a:t>
                </a:r>
                <a:r>
                  <a:rPr lang="fr-FR" i="0" dirty="0"/>
                  <a:t> </a:t>
                </a:r>
                <a:r>
                  <a:rPr lang="el-GR" i="0" dirty="0"/>
                  <a:t>⇒ </a:t>
                </a:r>
                <a14:m>
                  <m:oMath xmlns:m="http://schemas.openxmlformats.org/officeDocument/2006/math">
                    <m:r>
                      <a:rPr lang="el-GR" i="0" smtClean="0">
                        <a:latin typeface="Cambria Math" panose="02040503050406030204" pitchFamily="18" charset="0"/>
                      </a:rPr>
                      <m:t>𝛗</m:t>
                    </m:r>
                  </m:oMath>
                </a14:m>
                <a:r>
                  <a:rPr lang="el-GR" i="0" dirty="0"/>
                  <a:t> → </a:t>
                </a:r>
                <a:r>
                  <a:rPr lang="fr-FR" i="0" dirty="0"/>
                  <a:t>-</a:t>
                </a:r>
                <a:r>
                  <a:rPr lang="el-GR" i="0" dirty="0"/>
                  <a:t>π</a:t>
                </a:r>
                <a:r>
                  <a:rPr lang="fr-FR" i="0" dirty="0"/>
                  <a:t>/2  </a:t>
                </a:r>
                <a:r>
                  <a:rPr lang="el-GR" sz="1500" i="0" dirty="0"/>
                  <a:t>(</a:t>
                </a:r>
                <a:r>
                  <a:rPr lang="fr-FR" sz="1500" i="0" dirty="0"/>
                  <a:t>ou 90°) </a:t>
                </a:r>
                <a:br>
                  <a:rPr lang="fr-FR" i="0" dirty="0"/>
                </a:br>
                <a:endParaRPr lang="fr-FR" i="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95C22BB-4D5E-60AA-41E1-B00248EC1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445" y="4037072"/>
                <a:ext cx="4815280" cy="646331"/>
              </a:xfrm>
              <a:prstGeom prst="rect">
                <a:avLst/>
              </a:prstGeom>
              <a:blipFill>
                <a:blip r:embed="rId10"/>
                <a:stretch>
                  <a:fillRect l="-1141" t="-566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2AC3F4E-12D8-6461-9EE1-C617CEA0A37C}"/>
                  </a:ext>
                </a:extLst>
              </p:cNvPr>
              <p:cNvSpPr txBox="1"/>
              <p:nvPr/>
            </p:nvSpPr>
            <p:spPr>
              <a:xfrm>
                <a:off x="1510116" y="3981957"/>
                <a:ext cx="4572000" cy="6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800" b="1" i="1" smtClean="0"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fr-FR" sz="1800" b="1" i="0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e>
                        <m:sup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b="1" i="0">
                              <a:latin typeface="Cambria Math" panose="02040503050406030204" pitchFamily="18" charset="0"/>
                            </a:rPr>
                            <m:t>𝛚</m:t>
                          </m:r>
                        </m:num>
                        <m:den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b>
                              <m:r>
                                <a:rPr lang="fr-FR" b="1" i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2AC3F4E-12D8-6461-9EE1-C617CEA0A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116" y="3981957"/>
                <a:ext cx="4572000" cy="61734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A194CE0-6AB8-2767-3F79-03160E57791B}"/>
                  </a:ext>
                </a:extLst>
              </p:cNvPr>
              <p:cNvSpPr txBox="1"/>
              <p:nvPr/>
            </p:nvSpPr>
            <p:spPr>
              <a:xfrm>
                <a:off x="499390" y="4432542"/>
                <a:ext cx="300644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600" b="1" u="sng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Pour</a:t>
                </a:r>
                <a:r>
                  <a:rPr lang="fr-FR" sz="1600" b="1" i="0" u="sng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600" b="1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fr-F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1600" b="1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fr-FR" sz="16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:</a:t>
                </a:r>
                <a:br>
                  <a:rPr lang="fr-FR" sz="1600" b="1" u="sng" dirty="0">
                    <a:latin typeface="Bookman Old Style" panose="02050604050505020204" pitchFamily="18" charset="0"/>
                  </a:rPr>
                </a:br>
                <a:endParaRPr lang="fr-FR" sz="1600" b="1" u="sng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A194CE0-6AB8-2767-3F79-03160E577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90" y="4432542"/>
                <a:ext cx="3006445" cy="584775"/>
              </a:xfrm>
              <a:prstGeom prst="rect">
                <a:avLst/>
              </a:prstGeom>
              <a:blipFill>
                <a:blip r:embed="rId12"/>
                <a:stretch>
                  <a:fillRect l="-1217" t="-31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E788D0F-A895-1446-2265-5D5CEB98E703}"/>
                  </a:ext>
                </a:extLst>
              </p:cNvPr>
              <p:cNvSpPr txBox="1"/>
              <p:nvPr/>
            </p:nvSpPr>
            <p:spPr>
              <a:xfrm>
                <a:off x="3651406" y="4724929"/>
                <a:ext cx="486142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sz="1800" b="1" i="1" smtClean="0">
                        <a:latin typeface="Cambria Math" panose="02040503050406030204" pitchFamily="18" charset="0"/>
                      </a:rPr>
                      <m:t>𝝋</m:t>
                    </m:r>
                    <m:r>
                      <a:rPr lang="fr-FR" sz="18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fr-FR" b="1" dirty="0">
                        <a:latin typeface="Bookman Old Style" panose="0205060405050502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l-GR" b="1" dirty="0"/>
                      <m:t>π</m:t>
                    </m:r>
                    <m:r>
                      <m:rPr>
                        <m:nor/>
                      </m:rPr>
                      <a:rPr lang="fr-FR" b="1" dirty="0"/>
                      <m:t>/</m:t>
                    </m:r>
                    <m:r>
                      <m:rPr>
                        <m:nor/>
                      </m:rPr>
                      <a:rPr lang="fr-FR" b="1" i="0" dirty="0" smtClean="0"/>
                      <m:t>4</m:t>
                    </m:r>
                  </m:oMath>
                </a14:m>
                <a:r>
                  <a:rPr lang="fr-FR" sz="1500" b="1" dirty="0">
                    <a:latin typeface="Cambria Math" panose="02040503050406030204" pitchFamily="18" charset="0"/>
                  </a:rPr>
                  <a:t> </a:t>
                </a:r>
                <a:r>
                  <a:rPr lang="el-GR" sz="1500" b="1" dirty="0">
                    <a:latin typeface="Cambria Math" panose="02040503050406030204" pitchFamily="18" charset="0"/>
                  </a:rPr>
                  <a:t>(</a:t>
                </a:r>
                <a:r>
                  <a:rPr lang="fr-FR" sz="1500" b="1" dirty="0">
                    <a:latin typeface="Cambria Math" panose="02040503050406030204" pitchFamily="18" charset="0"/>
                  </a:rPr>
                  <a:t>ou -45°) </a:t>
                </a:r>
                <a:br>
                  <a:rPr lang="fr-FR" dirty="0"/>
                </a:br>
                <a:endParaRPr lang="fr-FR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E788D0F-A895-1446-2265-5D5CEB98E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406" y="4724929"/>
                <a:ext cx="4861420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50EEED84-1B89-D7B6-19B9-ECAC0DEDB2D4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1662909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36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657600" y="77329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passe-bas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8CB826-362A-C049-8A9E-657C847C3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51" y="1069579"/>
            <a:ext cx="2438110" cy="13331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E43773-E526-0507-5D6B-84352BD9EB25}"/>
              </a:ext>
            </a:extLst>
          </p:cNvPr>
          <p:cNvSpPr txBox="1"/>
          <p:nvPr/>
        </p:nvSpPr>
        <p:spPr>
          <a:xfrm>
            <a:off x="2276929" y="1103310"/>
            <a:ext cx="6105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Diagramme de Bode pour le </a:t>
            </a:r>
            <a:r>
              <a:rPr lang="fr-FR" b="1" u="sng" dirty="0">
                <a:latin typeface="Bookman Old Style" panose="02050604050505020204" pitchFamily="18" charset="0"/>
              </a:rPr>
              <a:t>gain</a:t>
            </a:r>
            <a:r>
              <a:rPr lang="fr-FR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 et la </a:t>
            </a:r>
            <a:r>
              <a:rPr lang="fr-FR" b="1" u="sng" dirty="0">
                <a:latin typeface="Bookman Old Style" panose="02050604050505020204" pitchFamily="18" charset="0"/>
              </a:rPr>
              <a:t>phase</a:t>
            </a:r>
            <a:endParaRPr lang="fr-FR" sz="18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BF552C5-FDA8-F67C-AFC7-546B25B7F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0937" y="1506373"/>
            <a:ext cx="4267200" cy="36194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0A1CC7D-356F-9C72-DAC4-C0F09E1A99D1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32667958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37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657600" y="77329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passe-bas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8CB826-362A-C049-8A9E-657C847C3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51" y="1069579"/>
            <a:ext cx="2438110" cy="13331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43773-E526-0507-5D6B-84352BD9EB25}"/>
                  </a:ext>
                </a:extLst>
              </p:cNvPr>
              <p:cNvSpPr txBox="1"/>
              <p:nvPr/>
            </p:nvSpPr>
            <p:spPr>
              <a:xfrm>
                <a:off x="2678423" y="1147882"/>
                <a:ext cx="61050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u="sng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Calcule de la fréquence de coupure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lang="fr-FR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43773-E526-0507-5D6B-84352BD9E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423" y="1147882"/>
                <a:ext cx="6105072" cy="369332"/>
              </a:xfrm>
              <a:prstGeom prst="rect">
                <a:avLst/>
              </a:prstGeom>
              <a:blipFill>
                <a:blip r:embed="rId4"/>
                <a:stretch>
                  <a:fillRect l="-798" t="-9836" b="-229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EBF552C5-FDA8-F67C-AFC7-546B25B7F0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9584" y="1755500"/>
            <a:ext cx="3354416" cy="28452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376674-3771-8FD0-FAD0-0EDCA5B12A07}"/>
                  </a:ext>
                </a:extLst>
              </p:cNvPr>
              <p:cNvSpPr txBox="1"/>
              <p:nvPr/>
            </p:nvSpPr>
            <p:spPr>
              <a:xfrm>
                <a:off x="228616" y="2640983"/>
                <a:ext cx="5538597" cy="1197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La </a:t>
                </a:r>
                <a:r>
                  <a:rPr lang="fr-FR" b="1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fréquence de coupure</a:t>
                </a:r>
                <a:r>
                  <a:rPr lang="fr-FR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fr-F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 est la fréquence à laquelle l’amplitude de sortie est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r>
                  <a:rPr lang="fr-FR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 </a:t>
                </a:r>
                <a:r>
                  <a:rPr lang="fr-FR" b="1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de la valeur maximale </a:t>
                </a:r>
                <a:r>
                  <a:rPr lang="fr-FR" dirty="0"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:</a:t>
                </a:r>
                <a:r>
                  <a:rPr lang="fr-FR" b="1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1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fr-FR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b="1" i="0" smtClean="0"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</m:d>
                          </m:e>
                          <m:sub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fr-FR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endParaRPr lang="fr-FR" b="1" dirty="0">
                  <a:solidFill>
                    <a:schemeClr val="tx1"/>
                  </a:solidFill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376674-3771-8FD0-FAD0-0EDCA5B12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16" y="2640983"/>
                <a:ext cx="5538597" cy="1197828"/>
              </a:xfrm>
              <a:prstGeom prst="rect">
                <a:avLst/>
              </a:prstGeom>
              <a:blipFill>
                <a:blip r:embed="rId6"/>
                <a:stretch>
                  <a:fillRect l="-991" t="-3046" r="-881" b="-20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CA8D28B-ECF3-AC91-2497-43FAE3297A32}"/>
              </a:ext>
            </a:extLst>
          </p:cNvPr>
          <p:cNvSpPr txBox="1"/>
          <p:nvPr/>
        </p:nvSpPr>
        <p:spPr>
          <a:xfrm>
            <a:off x="257278" y="3990675"/>
            <a:ext cx="4576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Bookman Old Style" panose="02050604050505020204" pitchFamily="18" charset="0"/>
              </a:rPr>
              <a:t>Rappelons 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88CCA32-E16A-0195-C5F8-839C6A74B719}"/>
                  </a:ext>
                </a:extLst>
              </p:cNvPr>
              <p:cNvSpPr txBox="1"/>
              <p:nvPr/>
            </p:nvSpPr>
            <p:spPr>
              <a:xfrm>
                <a:off x="735334" y="4455505"/>
                <a:ext cx="4576194" cy="6796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1" i="0" smtClean="0">
                                      <a:latin typeface="Cambria Math" panose="02040503050406030204" pitchFamily="18" charset="0"/>
                                    </a:rPr>
                                    <m:t>𝐇</m:t>
                                  </m:r>
                                </m:e>
                              </m:d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88CCA32-E16A-0195-C5F8-839C6A74B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34" y="4455505"/>
                <a:ext cx="4576194" cy="6796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F373EB2-B3E2-F21E-FECA-5609972D33B4}"/>
                  </a:ext>
                </a:extLst>
              </p:cNvPr>
              <p:cNvSpPr txBox="1"/>
              <p:nvPr/>
            </p:nvSpPr>
            <p:spPr>
              <a:xfrm>
                <a:off x="1981200" y="4006782"/>
                <a:ext cx="18989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F373EB2-B3E2-F21E-FECA-5609972D3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4006782"/>
                <a:ext cx="1898933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78954605-E374-3416-FD71-E0E32AA0CC93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23573510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38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657600" y="77329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passe-bas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8CB826-362A-C049-8A9E-657C847C3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51" y="1069579"/>
            <a:ext cx="2438110" cy="13331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43773-E526-0507-5D6B-84352BD9EB25}"/>
                  </a:ext>
                </a:extLst>
              </p:cNvPr>
              <p:cNvSpPr txBox="1"/>
              <p:nvPr/>
            </p:nvSpPr>
            <p:spPr>
              <a:xfrm>
                <a:off x="2678423" y="1147882"/>
                <a:ext cx="61050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u="sng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Calcule de la fréquence de coupure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fr-F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lang="fr-FR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43773-E526-0507-5D6B-84352BD9E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423" y="1147882"/>
                <a:ext cx="6105072" cy="369332"/>
              </a:xfrm>
              <a:prstGeom prst="rect">
                <a:avLst/>
              </a:prstGeom>
              <a:blipFill>
                <a:blip r:embed="rId4"/>
                <a:stretch>
                  <a:fillRect l="-798" t="-9836" b="-229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EBF552C5-FDA8-F67C-AFC7-546B25B7F0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230" y="1765245"/>
            <a:ext cx="3354416" cy="28452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538DD1-46E9-6E3B-DAD0-8C8AEBC2933D}"/>
                  </a:ext>
                </a:extLst>
              </p:cNvPr>
              <p:cNvSpPr txBox="1"/>
              <p:nvPr/>
            </p:nvSpPr>
            <p:spPr>
              <a:xfrm>
                <a:off x="11884" y="2395797"/>
                <a:ext cx="6400800" cy="2402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Le module est maximal pour </a:t>
                </a:r>
                <a14:m>
                  <m:oMath xmlns:m="http://schemas.openxmlformats.org/officeDocument/2006/math">
                    <m:r>
                      <a:rPr lang="fr-FR" sz="1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𝑷𝒐𝒖𝒓</m:t>
                    </m:r>
                    <m:r>
                      <a:rPr lang="fr-FR" sz="1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fr-FR" sz="1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𝒍𝒆𝒔</m:t>
                    </m:r>
                    <m:r>
                      <a:rPr lang="fr-FR" sz="1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fr-FR" sz="1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𝒃𝒂𝒔𝒔𝒆𝒔</m:t>
                    </m:r>
                    <m:r>
                      <a:rPr lang="fr-FR" sz="1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fr-FR" sz="1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𝒇𝒓</m:t>
                    </m:r>
                    <m:r>
                      <a:rPr lang="fr-FR" sz="1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é</m:t>
                    </m:r>
                    <m:r>
                      <a:rPr lang="fr-FR" sz="1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𝒒𝒖𝒆𝒏𝒄𝒆𝒔</m:t>
                    </m:r>
                    <m:r>
                      <a:rPr lang="fr-FR" sz="1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(</m:t>
                    </m:r>
                    <m:r>
                      <a:rPr lang="fr-FR" sz="1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𝒇</m:t>
                    </m:r>
                    <m:r>
                      <a:rPr lang="fr-FR" sz="1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→</m:t>
                    </m:r>
                    <m:r>
                      <a:rPr lang="fr-FR" sz="1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𝟎</m:t>
                    </m:r>
                    <m:r>
                      <a:rPr lang="fr-FR" sz="1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 </m:t>
                    </m:r>
                  </m:oMath>
                </a14:m>
                <a:endParaRPr lang="fr-FR" sz="1400" b="1" dirty="0">
                  <a:solidFill>
                    <a:srgbClr val="000000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</a:endParaRPr>
              </a:p>
              <a:p>
                <a:r>
                  <a:rPr lang="fr-FR" sz="14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et vaut 1</a:t>
                </a:r>
                <a:endPara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fr-FR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FR" sz="16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𝑯</m:t>
                        </m:r>
                      </m:e>
                    </m:d>
                    <m:d>
                      <m:dPr>
                        <m:ctrlPr>
                          <a:rPr lang="fr-FR" sz="16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𝒄</m:t>
                            </m:r>
                          </m:sub>
                        </m:sSub>
                      </m:e>
                    </m:d>
                    <m:r>
                      <a:rPr lang="fr-FR" sz="16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fr-FR" sz="16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𝒎𝒂𝒙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r>
                  <a:rPr lang="fr-FR" sz="16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 </a:t>
                </a:r>
                <a:r>
                  <a:rPr lang="fr-FR" sz="14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implique</a:t>
                </a:r>
                <a:r>
                  <a:rPr lang="fr-FR" sz="16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fr-FR" sz="16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fr-FR" sz="16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fr-FR" sz="1600" b="1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fr-FR" sz="1600" b="1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1600" b="1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𝒇</m:t>
                                            </m:r>
                                          </m:e>
                                          <m:sub>
                                            <m:r>
                                              <a:rPr lang="fr-FR" sz="1600" b="1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𝟎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fr-FR" sz="1600" b="1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1600" b="1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𝒇</m:t>
                                            </m:r>
                                          </m:e>
                                          <m:sub>
                                            <m:r>
                                              <a:rPr lang="fr-FR" sz="1600" b="1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𝒄</m:t>
                                            </m:r>
                                          </m:sub>
                                        </m:sSub>
                                        <m:r>
                                          <a:rPr lang="fr-FR" sz="1600" b="1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fr-FR" sz="16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fr-FR" sz="16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fr-FR" sz="16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fr-FR" sz="16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6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r>
                  <a:rPr lang="fr-FR" sz="16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fr-FR" sz="16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𝟏</m:t>
                    </m:r>
                    <m:r>
                      <a:rPr lang="fr-FR" sz="16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fr-F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6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6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6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sz="16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6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  <m:r>
                                  <a:rPr lang="fr-FR" sz="16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 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fr-F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𝟐</m:t>
                        </m:r>
                        <m:r>
                          <a:rPr lang="fr-F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</m:sup>
                    </m:sSup>
                    <m:r>
                      <a:rPr lang="fr-FR" sz="16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fr-FR" sz="16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fr-FR" sz="16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</a:t>
                </a:r>
                <a:endPara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fr-FR" sz="1400" b="1" dirty="0"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Ce qui donne</a:t>
                </a:r>
                <a:endParaRPr lang="fr-FR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fr-F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𝒄</m:t>
                          </m:r>
                        </m:sub>
                      </m:sSub>
                      <m:r>
                        <a:rPr lang="fr-FR" sz="16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fr-F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sz="16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fr-F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6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𝟐</m:t>
                          </m:r>
                          <m:r>
                            <a:rPr lang="fr-FR" sz="16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𝝅</m:t>
                          </m:r>
                          <m:r>
                            <a:rPr lang="fr-FR" sz="16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𝑹𝑪</m:t>
                          </m:r>
                        </m:den>
                      </m:f>
                    </m:oMath>
                  </m:oMathPara>
                </a14:m>
                <a:endPara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538DD1-46E9-6E3B-DAD0-8C8AEBC29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4" y="2395797"/>
                <a:ext cx="6400800" cy="2402453"/>
              </a:xfrm>
              <a:prstGeom prst="rect">
                <a:avLst/>
              </a:prstGeom>
              <a:blipFill>
                <a:blip r:embed="rId6"/>
                <a:stretch>
                  <a:fillRect l="-286" t="-5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7D21C87F-B3F2-EA01-44DE-B07AA08341D4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20192124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39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392113" y="9999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passe-haut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53A64EA-D15B-4851-4EB4-5AD44AEAF765}"/>
                  </a:ext>
                </a:extLst>
              </p:cNvPr>
              <p:cNvSpPr txBox="1"/>
              <p:nvPr/>
            </p:nvSpPr>
            <p:spPr>
              <a:xfrm>
                <a:off x="517788" y="3648132"/>
                <a:ext cx="8016611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latin typeface="Bookman Old Style" panose="02050604050505020204" pitchFamily="18" charset="0"/>
                  </a:rPr>
                  <a:t>Fonction de Transfert :               </a:t>
                </a:r>
                <a14:m>
                  <m:oMath xmlns:m="http://schemas.openxmlformats.org/officeDocument/2006/math">
                    <m:r>
                      <a:rPr lang="fr-FR" b="1" i="0" smtClean="0">
                        <a:latin typeface="Cambria Math" panose="02040503050406030204" pitchFamily="18" charset="0"/>
                      </a:rPr>
                      <m:t>𝐇</m:t>
                    </m:r>
                    <m:r>
                      <a:rPr lang="fr-FR" b="1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sub>
                        </m:sSub>
                      </m:den>
                    </m:f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53A64EA-D15B-4851-4EB4-5AD44AEAF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88" y="3648132"/>
                <a:ext cx="8016611" cy="525208"/>
              </a:xfrm>
              <a:prstGeom prst="rect">
                <a:avLst/>
              </a:prstGeom>
              <a:blipFill>
                <a:blip r:embed="rId3"/>
                <a:stretch>
                  <a:fillRect l="-6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CEE3ACC9-40AF-9EC2-8746-D4E752332E66}"/>
              </a:ext>
            </a:extLst>
          </p:cNvPr>
          <p:cNvSpPr txBox="1"/>
          <p:nvPr/>
        </p:nvSpPr>
        <p:spPr>
          <a:xfrm>
            <a:off x="481693" y="427762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latin typeface="Bookman Old Style" panose="02050604050505020204" pitchFamily="18" charset="0"/>
              </a:rPr>
              <a:t>Diviseur de tension donne : </a:t>
            </a:r>
            <a:endParaRPr lang="fr-FR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015F85-B5C5-B868-8B30-C74B97C0CEFA}"/>
                  </a:ext>
                </a:extLst>
              </p:cNvPr>
              <p:cNvSpPr txBox="1"/>
              <p:nvPr/>
            </p:nvSpPr>
            <p:spPr>
              <a:xfrm>
                <a:off x="4114800" y="4164294"/>
                <a:ext cx="1563313" cy="565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num>
                        <m:den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015F85-B5C5-B868-8B30-C74B97C0C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164294"/>
                <a:ext cx="1563313" cy="5652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F2C7B45-0FA2-7F90-B4CE-D763CFC6DE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202" y="1695204"/>
            <a:ext cx="3017782" cy="16232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72BDA05-4A0D-3243-8F82-81795290A41B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11418368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40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498921" y="88722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passe-haut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030EA8-22BC-00AD-4F22-702401911219}"/>
                  </a:ext>
                </a:extLst>
              </p:cNvPr>
              <p:cNvSpPr txBox="1"/>
              <p:nvPr/>
            </p:nvSpPr>
            <p:spPr>
              <a:xfrm>
                <a:off x="2362200" y="1914198"/>
                <a:ext cx="4572000" cy="657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𝐇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sub>
                          </m:sSub>
                        </m:den>
                      </m:f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num>
                        <m:den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030EA8-22BC-00AD-4F22-702401911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914198"/>
                <a:ext cx="4572000" cy="6575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2AD99AE-6C0D-6216-A7AF-79AD202F2737}"/>
              </a:ext>
            </a:extLst>
          </p:cNvPr>
          <p:cNvSpPr txBox="1"/>
          <p:nvPr/>
        </p:nvSpPr>
        <p:spPr>
          <a:xfrm>
            <a:off x="3505835" y="145954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Fonction de Transfert </a:t>
            </a:r>
            <a:endParaRPr lang="fr-FR" sz="1400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DF1C8C-6A86-07AE-A3B6-95894EB3D65F}"/>
                  </a:ext>
                </a:extLst>
              </p:cNvPr>
              <p:cNvSpPr txBox="1"/>
              <p:nvPr/>
            </p:nvSpPr>
            <p:spPr>
              <a:xfrm>
                <a:off x="2503469" y="2808345"/>
                <a:ext cx="4572000" cy="884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el-GR" b="1" i="0" smtClean="0">
                              <a:latin typeface="Cambria Math" panose="02040503050406030204" pitchFamily="18" charset="0"/>
                            </a:rPr>
                            <m:t>𝛚</m:t>
                          </m:r>
                        </m:e>
                      </m:d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num>
                        <m:den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𝐑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𝐣𝐂</m:t>
                              </m:r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den>
                          </m:f>
                        </m:den>
                      </m:f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𝐑</m:t>
                          </m:r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𝐂</m:t>
                          </m:r>
                          <m:r>
                            <a:rPr lang="el-GR" b="1">
                              <a:latin typeface="Cambria Math" panose="02040503050406030204" pitchFamily="18" charset="0"/>
                            </a:rPr>
                            <m:t>𝛚</m:t>
                          </m:r>
                        </m:num>
                        <m:den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𝒋𝑹𝑪</m:t>
                          </m:r>
                          <m:r>
                            <a:rPr lang="el-GR" b="1">
                              <a:latin typeface="Cambria Math" panose="02040503050406030204" pitchFamily="18" charset="0"/>
                            </a:rPr>
                            <m:t>𝛚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DF1C8C-6A86-07AE-A3B6-95894EB3D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469" y="2808345"/>
                <a:ext cx="4572000" cy="8844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D67DC5-3161-1344-94D6-3F8EC7F68514}"/>
                  </a:ext>
                </a:extLst>
              </p:cNvPr>
              <p:cNvSpPr txBox="1"/>
              <p:nvPr/>
            </p:nvSpPr>
            <p:spPr>
              <a:xfrm>
                <a:off x="2481799" y="4007928"/>
                <a:ext cx="4572000" cy="1026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el-GR" b="1" i="0" smtClean="0">
                              <a:latin typeface="Cambria Math" panose="02040503050406030204" pitchFamily="18" charset="0"/>
                            </a:rPr>
                            <m:t>𝛚</m:t>
                          </m:r>
                        </m:e>
                      </m:d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𝐀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𝐣</m:t>
                          </m:r>
                          <m:f>
                            <m:f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f>
                            <m:f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D67DC5-3161-1344-94D6-3F8EC7F68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799" y="4007928"/>
                <a:ext cx="4572000" cy="10266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E6AA9A8-E5AB-8276-6C16-0DBB4394DCF0}"/>
                  </a:ext>
                </a:extLst>
              </p:cNvPr>
              <p:cNvSpPr txBox="1"/>
              <p:nvPr/>
            </p:nvSpPr>
            <p:spPr>
              <a:xfrm>
                <a:off x="5347284" y="4099693"/>
                <a:ext cx="4572000" cy="5259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500" b="1" i="1" smtClean="0">
                          <a:latin typeface="Cambria Math" panose="02040503050406030204" pitchFamily="18" charset="0"/>
                        </a:rPr>
                        <m:t>𝑨𝒗𝒆𝒄</m:t>
                      </m:r>
                      <m:r>
                        <a:rPr lang="fr-FR" sz="15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500" b="1" i="0" smtClean="0"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fr-FR" sz="15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500" b="1" i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5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500" b="1" i="1" smtClean="0">
                          <a:latin typeface="Cambria Math" panose="02040503050406030204" pitchFamily="18" charset="0"/>
                        </a:rPr>
                        <m:t>𝒆𝒕</m:t>
                      </m:r>
                      <m:r>
                        <a:rPr lang="fr-FR" sz="1500" b="1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sz="1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500" b="1">
                              <a:latin typeface="Cambria Math" panose="02040503050406030204" pitchFamily="18" charset="0"/>
                            </a:rPr>
                            <m:t>𝛚</m:t>
                          </m:r>
                        </m:e>
                        <m:sub>
                          <m:r>
                            <a:rPr lang="fr-FR" sz="1500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sz="15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5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5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500" b="1" i="1" smtClean="0">
                              <a:latin typeface="Cambria Math" panose="02040503050406030204" pitchFamily="18" charset="0"/>
                            </a:rPr>
                            <m:t>𝑹𝑪</m:t>
                          </m:r>
                        </m:den>
                      </m:f>
                    </m:oMath>
                  </m:oMathPara>
                </a14:m>
                <a:endParaRPr lang="fr-FR" sz="15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E6AA9A8-E5AB-8276-6C16-0DBB4394D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284" y="4099693"/>
                <a:ext cx="4572000" cy="525978"/>
              </a:xfrm>
              <a:prstGeom prst="rect">
                <a:avLst/>
              </a:prstGeom>
              <a:blipFill>
                <a:blip r:embed="rId6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03015FA-BBDE-5D89-C4F7-C5C66DFAA0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18" y="1291070"/>
            <a:ext cx="3017782" cy="16232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4B2439D-8DEC-A281-2F76-3A3F2F987F7A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15552523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25244" y="4805441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41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517719" y="92262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passe-haut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AD99AE-6C0D-6216-A7AF-79AD202F2737}"/>
              </a:ext>
            </a:extLst>
          </p:cNvPr>
          <p:cNvSpPr txBox="1"/>
          <p:nvPr/>
        </p:nvSpPr>
        <p:spPr>
          <a:xfrm>
            <a:off x="2740021" y="132545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Module de Fonction de Transfert </a:t>
            </a:r>
            <a:endParaRPr lang="fr-FR" sz="1600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D67DC5-3161-1344-94D6-3F8EC7F68514}"/>
                  </a:ext>
                </a:extLst>
              </p:cNvPr>
              <p:cNvSpPr txBox="1"/>
              <p:nvPr/>
            </p:nvSpPr>
            <p:spPr>
              <a:xfrm>
                <a:off x="2696955" y="1602164"/>
                <a:ext cx="4572000" cy="1768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  <m:d>
                            <m:d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  <m:r>
                                <a:rPr lang="el-GR" b="1" i="0" smtClean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</m:d>
                        </m:e>
                      </m:d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𝐀</m:t>
                          </m:r>
                          <m:f>
                            <m:f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  <m:f>
                                <m:f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b="1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b>
                                      <m: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</m:num>
                            <m:den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  <m:f>
                                <m:f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b="1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b>
                                      <m: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</m:den>
                          </m:f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|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fr-F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l-GR" b="1">
                                              <a:latin typeface="Cambria Math" panose="02040503050406030204" pitchFamily="18" charset="0"/>
                                            </a:rPr>
                                            <m:t>𝛚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l-GR" b="1">
                                                  <a:latin typeface="Cambria Math" panose="02040503050406030204" pitchFamily="18" charset="0"/>
                                                </a:rPr>
                                                <m:t>𝛚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fr-F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l-GR" b="1">
                                              <a:latin typeface="Cambria Math" panose="02040503050406030204" pitchFamily="18" charset="0"/>
                                            </a:rPr>
                                            <m:t>𝛚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l-GR" b="1">
                                                  <a:latin typeface="Cambria Math" panose="02040503050406030204" pitchFamily="18" charset="0"/>
                                                </a:rPr>
                                                <m:t>𝛚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D67DC5-3161-1344-94D6-3F8EC7F68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955" y="1602164"/>
                <a:ext cx="4572000" cy="17688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E6AA9A8-E5AB-8276-6C16-0DBB4394DCF0}"/>
                  </a:ext>
                </a:extLst>
              </p:cNvPr>
              <p:cNvSpPr txBox="1"/>
              <p:nvPr/>
            </p:nvSpPr>
            <p:spPr>
              <a:xfrm>
                <a:off x="7010400" y="2218125"/>
                <a:ext cx="2209800" cy="497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𝑨𝒗𝒆𝒄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𝒆𝒕</m:t>
                      </m:r>
                      <m:r>
                        <a:rPr lang="fr-FR" sz="1400" b="1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400" b="1">
                              <a:latin typeface="Cambria Math" panose="02040503050406030204" pitchFamily="18" charset="0"/>
                            </a:rPr>
                            <m:t>𝛚</m:t>
                          </m:r>
                        </m:e>
                        <m:sub>
                          <m:r>
                            <a:rPr lang="fr-FR" sz="1400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sz="14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𝑹𝑪</m:t>
                          </m:r>
                        </m:den>
                      </m:f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E6AA9A8-E5AB-8276-6C16-0DBB4394D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2218125"/>
                <a:ext cx="2209800" cy="497059"/>
              </a:xfrm>
              <a:prstGeom prst="rect">
                <a:avLst/>
              </a:prstGeom>
              <a:blipFill>
                <a:blip r:embed="rId4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9B1E0EE-10BE-06BF-B3CC-B7236C8A38E3}"/>
              </a:ext>
            </a:extLst>
          </p:cNvPr>
          <p:cNvSpPr txBox="1"/>
          <p:nvPr/>
        </p:nvSpPr>
        <p:spPr>
          <a:xfrm>
            <a:off x="2209800" y="3182431"/>
            <a:ext cx="51802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400" b="1" u="sng">
                <a:latin typeface="Bookman Old Style" panose="02050604050505020204" pitchFamily="18" charset="0"/>
              </a:defRPr>
            </a:lvl1pPr>
          </a:lstStyle>
          <a:p>
            <a:pPr algn="ctr"/>
            <a:r>
              <a:rPr lang="fr-FR" sz="1600" dirty="0">
                <a:solidFill>
                  <a:srgbClr val="FF0000"/>
                </a:solidFill>
              </a:rPr>
              <a:t>Phase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2DF72B3-7120-1066-D6A0-92DB2248CC45}"/>
                  </a:ext>
                </a:extLst>
              </p:cNvPr>
              <p:cNvSpPr txBox="1"/>
              <p:nvPr/>
            </p:nvSpPr>
            <p:spPr>
              <a:xfrm>
                <a:off x="2286000" y="3371144"/>
                <a:ext cx="5180202" cy="1026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1" i="1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𝐚𝐫𝐠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  <m:d>
                            <m:d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  <m:r>
                                <a:rPr lang="el-GR" b="1" i="0" smtClean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</m:d>
                        </m:e>
                      </m:d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𝐚𝐫𝐠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f>
                            <m:f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  <m:f>
                                <m:f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b="1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b>
                                      <m: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</m:num>
                            <m:den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  <m:f>
                                <m:fPr>
                                  <m:ctrlP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b="1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b>
                                      <m:r>
                                        <a:rPr lang="fr-FR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</m:den>
                          </m:f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2DF72B3-7120-1066-D6A0-92DB2248C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371144"/>
                <a:ext cx="5180202" cy="10266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49D7A9D-B76F-5DAF-4FA3-417DCD64D72C}"/>
                  </a:ext>
                </a:extLst>
              </p:cNvPr>
              <p:cNvSpPr txBox="1"/>
              <p:nvPr/>
            </p:nvSpPr>
            <p:spPr>
              <a:xfrm>
                <a:off x="500312" y="4335935"/>
                <a:ext cx="8609914" cy="7841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600" b="1" i="1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fr-FR" sz="16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b="1" i="0" smtClean="0">
                          <a:latin typeface="Cambria Math" panose="02040503050406030204" pitchFamily="18" charset="0"/>
                        </a:rPr>
                        <m:t>𝐚𝐫𝐠</m:t>
                      </m:r>
                      <m:d>
                        <m:dPr>
                          <m:ctrlPr>
                            <a:rPr lang="fr-FR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1600" b="1" i="0" smtClean="0">
                          <a:latin typeface="Cambria Math" panose="02040503050406030204" pitchFamily="18" charset="0"/>
                        </a:rPr>
                        <m:t>𝐚𝐫𝐠</m:t>
                      </m:r>
                      <m:d>
                        <m:dPr>
                          <m:ctrlPr>
                            <a:rPr lang="fr-FR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1">
                              <a:latin typeface="Cambria Math" panose="02040503050406030204" pitchFamily="18" charset="0"/>
                            </a:rPr>
                            <m:t>𝐣</m:t>
                          </m:r>
                          <m:f>
                            <m:fPr>
                              <m:ctrlPr>
                                <a:rPr lang="fr-FR" sz="16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l-GR" sz="1600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600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fr-FR" sz="16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600" b="1" i="1">
                          <a:latin typeface="Cambria Math" panose="02040503050406030204" pitchFamily="18" charset="0"/>
                        </a:rPr>
                        <m:t>𝒂𝒓𝒈</m:t>
                      </m:r>
                      <m:d>
                        <m:dPr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1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1600" b="1">
                              <a:latin typeface="Cambria Math" panose="02040503050406030204" pitchFamily="18" charset="0"/>
                            </a:rPr>
                            <m:t>𝐣</m:t>
                          </m:r>
                          <m:f>
                            <m:fPr>
                              <m:ctrlPr>
                                <a:rPr lang="fr-FR" sz="16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l-GR" sz="1600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600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fr-FR" sz="16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sz="1600" b="1" i="1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fr-FR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sz="16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fr-FR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sz="1600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1600" b="1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b>
                                      <m:r>
                                        <a:rPr lang="fr-FR" sz="16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</m:num>
                            <m:den>
                              <m: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func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sz="1600" b="1" i="1"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fr-FR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1600">
                              <a:latin typeface="Cambria Math" panose="02040503050406030204" pitchFamily="18" charset="0"/>
                            </a:rPr>
                            <m:t>tan</m:t>
                          </m:r>
                        </m:e>
                        <m:sup>
                          <m:r>
                            <a:rPr lang="fr-FR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f>
                        <m:fPr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sz="1600" b="1">
                              <a:latin typeface="Cambria Math" panose="02040503050406030204" pitchFamily="18" charset="0"/>
                            </a:rPr>
                            <m:t>𝛚</m:t>
                          </m:r>
                        </m:num>
                        <m:den>
                          <m:sSub>
                            <m:sSubPr>
                              <m:ctrlPr>
                                <a:rPr lang="fr-FR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600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b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49D7A9D-B76F-5DAF-4FA3-417DCD64D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2" y="4335935"/>
                <a:ext cx="8609914" cy="7841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B6CA29B-DEB6-7C0E-AC46-CB2D13A0B1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39" y="1509636"/>
            <a:ext cx="2636782" cy="14182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F25AD7-616D-138F-1FAF-1CA70DC1DCCC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14795968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25244" y="4805441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42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517719" y="92262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passe-haut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6CA29B-DEB6-7C0E-AC46-CB2D13A0B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9" y="1509636"/>
            <a:ext cx="2636782" cy="14182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0A8D65-CFCE-4740-F9CD-B89ACCA40D8E}"/>
                  </a:ext>
                </a:extLst>
              </p:cNvPr>
              <p:cNvSpPr txBox="1"/>
              <p:nvPr/>
            </p:nvSpPr>
            <p:spPr>
              <a:xfrm>
                <a:off x="3200400" y="138957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800" b="1" u="sng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Gain </a:t>
                </a:r>
                <a:r>
                  <a:rPr lang="fr-FR" b="1" u="sng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en décibel (dB)</a:t>
                </a:r>
                <a:r>
                  <a:rPr lang="fr-FR" sz="1800" b="1" i="1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fr-FR" sz="1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𝐝𝐁</m:t>
                        </m:r>
                      </m:sub>
                    </m:sSub>
                  </m:oMath>
                </a14:m>
                <a:endParaRPr lang="fr-FR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0A8D65-CFCE-4740-F9CD-B89ACCA40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1389570"/>
                <a:ext cx="4572000" cy="369332"/>
              </a:xfrm>
              <a:prstGeom prst="rect">
                <a:avLst/>
              </a:prstGeom>
              <a:blipFill>
                <a:blip r:embed="rId4"/>
                <a:stretch>
                  <a:fillRect l="-1067" t="-11475" b="-229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7EFF7C-7CB0-DD7D-6FD8-72BFE58DA764}"/>
                  </a:ext>
                </a:extLst>
              </p:cNvPr>
              <p:cNvSpPr txBox="1"/>
              <p:nvPr/>
            </p:nvSpPr>
            <p:spPr>
              <a:xfrm>
                <a:off x="2438400" y="257175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𝐝𝐁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𝟐𝟎</m:t>
                      </m:r>
                      <m:func>
                        <m:func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  <m:d>
                                <m:d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1"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7EFF7C-7CB0-DD7D-6FD8-72BFE58DA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2571750"/>
                <a:ext cx="4572000" cy="369332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3BE7F9-DCA1-A2D1-3C5A-B97636AC6236}"/>
                  </a:ext>
                </a:extLst>
              </p:cNvPr>
              <p:cNvSpPr txBox="1"/>
              <p:nvPr/>
            </p:nvSpPr>
            <p:spPr>
              <a:xfrm>
                <a:off x="194361" y="3466070"/>
                <a:ext cx="9220200" cy="14073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𝐝𝐁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𝟐𝟎</m:t>
                      </m:r>
                      <m:func>
                        <m:func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f>
                                    <m:f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l-GR" b="1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fr-F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l-GR" b="1">
                                              <a:latin typeface="Cambria Math" panose="02040503050406030204" pitchFamily="18" charset="0"/>
                                            </a:rPr>
                                            <m:t>𝛚</m:t>
                                          </m:r>
                                        </m:e>
                                        <m:sub>
                                          <m:r>
                                            <a:rPr lang="fr-FR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den>
                                  </m:f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fr-F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fr-FR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l-GR" b="1">
                                                      <a:latin typeface="Cambria Math" panose="02040503050406030204" pitchFamily="18" charset="0"/>
                                                    </a:rPr>
                                                    <m:t>𝛚</m:t>
                                                  </m:r>
                                                </m:num>
                                                <m:den>
                                                  <m:sSub>
                                                    <m:sSubPr>
                                                      <m:ctrlPr>
                                                        <a:rPr lang="fr-FR" b="1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l-GR" b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𝛚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fr-FR" b="1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sub>
                                                  </m:sSub>
                                                </m:den>
                                              </m:f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fr-FR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</m:e>
                          </m:d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𝟐𝟎𝐥𝐨𝐠</m:t>
                          </m:r>
                          <m:d>
                            <m:d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</m:d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𝟐𝟎𝐥𝐨𝐠</m:t>
                          </m:r>
                          <m:d>
                            <m:d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b="1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b>
                                      <m: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𝟐𝟎𝐥𝐨𝐠</m:t>
                          </m:r>
                          <m:d>
                            <m:d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fr-F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l-GR" b="1">
                                                  <a:latin typeface="Cambria Math" panose="02040503050406030204" pitchFamily="18" charset="0"/>
                                                </a:rPr>
                                                <m:t>𝛚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fr-FR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l-GR" b="1">
                                                      <a:latin typeface="Cambria Math" panose="02040503050406030204" pitchFamily="18" charset="0"/>
                                                    </a:rPr>
                                                    <m:t>𝛚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fr-FR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𝟎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d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3BE7F9-DCA1-A2D1-3C5A-B97636AC6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61" y="3466070"/>
                <a:ext cx="9220200" cy="14073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8015D60B-2F2D-3B5D-2110-E15501FA3F7A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6994385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25244" y="4805441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43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517719" y="92262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passe-haut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6CA29B-DEB6-7C0E-AC46-CB2D13A0B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9" y="1460071"/>
            <a:ext cx="2636782" cy="14182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427E76-8023-4F8A-D1CE-30CE358FBEB5}"/>
              </a:ext>
            </a:extLst>
          </p:cNvPr>
          <p:cNvSpPr txBox="1"/>
          <p:nvPr/>
        </p:nvSpPr>
        <p:spPr>
          <a:xfrm>
            <a:off x="3887470" y="1925419"/>
            <a:ext cx="2438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0000FF"/>
                </a:solidFill>
                <a:latin typeface="Bookman Old Style" panose="02050604050505020204" pitchFamily="18" charset="0"/>
              </a:rPr>
              <a:t>A</a:t>
            </a:r>
            <a:r>
              <a:rPr lang="fr-FR" sz="1800" b="1" i="0" u="sng" dirty="0">
                <a:solidFill>
                  <a:srgbClr val="0000FF"/>
                </a:solidFill>
                <a:effectLst/>
                <a:latin typeface="Bookman Old Style" panose="02050604050505020204" pitchFamily="18" charset="0"/>
              </a:rPr>
              <a:t>symptotes</a:t>
            </a:r>
            <a:r>
              <a:rPr lang="fr-FR" b="1" u="sng" dirty="0">
                <a:solidFill>
                  <a:srgbClr val="0000FF"/>
                </a:solidFill>
                <a:latin typeface="Bookman Old Style" panose="02050604050505020204" pitchFamily="18" charset="0"/>
              </a:rPr>
              <a:t> </a:t>
            </a:r>
            <a:br>
              <a:rPr lang="fr-FR" b="1" u="sng" dirty="0">
                <a:solidFill>
                  <a:srgbClr val="0000FF"/>
                </a:solidFill>
                <a:latin typeface="Bookman Old Style" panose="02050604050505020204" pitchFamily="18" charset="0"/>
              </a:rPr>
            </a:br>
            <a:endParaRPr lang="fr-FR" b="1" u="sng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645D67-647A-8B3D-9D5C-D64B39C40305}"/>
                  </a:ext>
                </a:extLst>
              </p:cNvPr>
              <p:cNvSpPr txBox="1"/>
              <p:nvPr/>
            </p:nvSpPr>
            <p:spPr>
              <a:xfrm>
                <a:off x="2362200" y="4029998"/>
                <a:ext cx="4572000" cy="1000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𝐝𝐁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>
                          <a:latin typeface="Cambria Math" panose="02040503050406030204" pitchFamily="18" charset="0"/>
                        </a:rPr>
                        <m:t>𝟐𝟎𝐥𝐨𝐠</m:t>
                      </m:r>
                      <m:d>
                        <m:d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fr-FR" b="1">
                          <a:latin typeface="Cambria Math" panose="02040503050406030204" pitchFamily="18" charset="0"/>
                        </a:rPr>
                        <m:t>𝐥𝐨𝐠</m:t>
                      </m:r>
                      <m:d>
                        <m:d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fr-F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l-GR" b="1">
                                              <a:latin typeface="Cambria Math" panose="02040503050406030204" pitchFamily="18" charset="0"/>
                                            </a:rPr>
                                            <m:t>𝛚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l-GR" b="1">
                                                  <a:latin typeface="Cambria Math" panose="02040503050406030204" pitchFamily="18" charset="0"/>
                                                </a:rPr>
                                                <m:t>𝛚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645D67-647A-8B3D-9D5C-D64B39C40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4029998"/>
                <a:ext cx="4572000" cy="10007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C1A4C68-5097-91D8-29CD-BCE47391BACC}"/>
                  </a:ext>
                </a:extLst>
              </p:cNvPr>
              <p:cNvSpPr txBox="1"/>
              <p:nvPr/>
            </p:nvSpPr>
            <p:spPr>
              <a:xfrm>
                <a:off x="5788564" y="3026019"/>
                <a:ext cx="4572000" cy="497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𝑨𝒗𝒆𝒄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fr-FR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𝒆𝒕</m:t>
                      </m:r>
                      <m:r>
                        <a:rPr lang="fr-FR" sz="1400" b="1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400" b="1">
                              <a:latin typeface="Cambria Math" panose="02040503050406030204" pitchFamily="18" charset="0"/>
                            </a:rPr>
                            <m:t>𝛚</m:t>
                          </m:r>
                        </m:e>
                        <m:sub>
                          <m:r>
                            <a:rPr lang="fr-FR" sz="1400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sz="14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𝑹𝑪</m:t>
                          </m:r>
                        </m:den>
                      </m:f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C1A4C68-5097-91D8-29CD-BCE47391B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8564" y="3026019"/>
                <a:ext cx="4572000" cy="497059"/>
              </a:xfrm>
              <a:prstGeom prst="rect">
                <a:avLst/>
              </a:prstGeom>
              <a:blipFill>
                <a:blip r:embed="rId5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9649AB1-3723-CB32-460A-57FE05D7C53E}"/>
                  </a:ext>
                </a:extLst>
              </p:cNvPr>
              <p:cNvSpPr txBox="1"/>
              <p:nvPr/>
            </p:nvSpPr>
            <p:spPr>
              <a:xfrm>
                <a:off x="914400" y="2788573"/>
                <a:ext cx="6572774" cy="1000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𝐝𝐁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𝟐𝟎𝐥𝐨𝐠</m:t>
                      </m:r>
                      <m:d>
                        <m:dPr>
                          <m:ctrlPr>
                            <a:rPr lang="fr-FR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</m:d>
                      <m:r>
                        <a:rPr lang="fr-FR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1">
                          <a:latin typeface="Cambria Math" panose="02040503050406030204" pitchFamily="18" charset="0"/>
                        </a:rPr>
                        <m:t>𝟐𝟎𝐥𝐨𝐠</m:t>
                      </m:r>
                      <m:d>
                        <m:d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fr-FR" b="1">
                          <a:latin typeface="Cambria Math" panose="02040503050406030204" pitchFamily="18" charset="0"/>
                        </a:rPr>
                        <m:t>𝐥𝐨𝐠</m:t>
                      </m:r>
                      <m:d>
                        <m:d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fr-F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l-GR" b="1">
                                              <a:latin typeface="Cambria Math" panose="02040503050406030204" pitchFamily="18" charset="0"/>
                                            </a:rPr>
                                            <m:t>𝛚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l-GR" b="1">
                                                  <a:latin typeface="Cambria Math" panose="02040503050406030204" pitchFamily="18" charset="0"/>
                                                </a:rPr>
                                                <m:t>𝛚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9649AB1-3723-CB32-460A-57FE05D7C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788573"/>
                <a:ext cx="6572774" cy="10007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E57C6546-7CD3-F794-B46D-54FE3585CB25}"/>
              </a:ext>
            </a:extLst>
          </p:cNvPr>
          <p:cNvSpPr txBox="1"/>
          <p:nvPr/>
        </p:nvSpPr>
        <p:spPr>
          <a:xfrm>
            <a:off x="2814885" y="136082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Diagramme de Bode pour le gain</a:t>
            </a:r>
            <a:endParaRPr lang="fr-FR" sz="1800" b="1" dirty="0">
              <a:solidFill>
                <a:srgbClr val="FF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541EE3-F50E-557D-F61E-53AF2AA06705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14296019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25244" y="4805441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44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517719" y="92262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passe-haut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6CA29B-DEB6-7C0E-AC46-CB2D13A0B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9" y="1460071"/>
            <a:ext cx="2636782" cy="14182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427E76-8023-4F8A-D1CE-30CE358FBEB5}"/>
              </a:ext>
            </a:extLst>
          </p:cNvPr>
          <p:cNvSpPr txBox="1"/>
          <p:nvPr/>
        </p:nvSpPr>
        <p:spPr>
          <a:xfrm>
            <a:off x="3887470" y="1925419"/>
            <a:ext cx="2438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  <a:t>A</a:t>
            </a:r>
            <a:r>
              <a:rPr lang="fr-FR" sz="1800" b="1" i="0" u="sng">
                <a:solidFill>
                  <a:srgbClr val="0000FF"/>
                </a:solidFill>
                <a:effectLst/>
                <a:latin typeface="Bookman Old Style" panose="02050604050505020204" pitchFamily="18" charset="0"/>
              </a:rPr>
              <a:t>symptotes</a:t>
            </a:r>
            <a: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  <a:t> </a:t>
            </a:r>
            <a:b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</a:br>
            <a:endParaRPr lang="fr-FR" b="1" u="sng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7C6546-7CD3-F794-B46D-54FE3585CB25}"/>
              </a:ext>
            </a:extLst>
          </p:cNvPr>
          <p:cNvSpPr txBox="1"/>
          <p:nvPr/>
        </p:nvSpPr>
        <p:spPr>
          <a:xfrm>
            <a:off x="2814885" y="136082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Diagramme de Bode pour le gain</a:t>
            </a:r>
            <a:endParaRPr lang="fr-FR" sz="1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9DEEE1-DEB7-2AF6-D884-E37FBB8764AE}"/>
              </a:ext>
            </a:extLst>
          </p:cNvPr>
          <p:cNvSpPr txBox="1"/>
          <p:nvPr/>
        </p:nvSpPr>
        <p:spPr>
          <a:xfrm>
            <a:off x="452136" y="2971201"/>
            <a:ext cx="30064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u="sng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En basse fréquence :</a:t>
            </a:r>
            <a:br>
              <a:rPr lang="fr-FR" sz="1600" b="1" u="sng" dirty="0">
                <a:latin typeface="Bookman Old Style" panose="02050604050505020204" pitchFamily="18" charset="0"/>
              </a:rPr>
            </a:br>
            <a:endParaRPr lang="fr-FR" sz="1600" b="1" u="sng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65E002C-48B5-D03C-E4BA-62D3116FC964}"/>
                  </a:ext>
                </a:extLst>
              </p:cNvPr>
              <p:cNvSpPr txBox="1"/>
              <p:nvPr/>
            </p:nvSpPr>
            <p:spPr>
              <a:xfrm>
                <a:off x="3663205" y="3141496"/>
                <a:ext cx="15500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𝐝𝐨𝐧𝐜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65E002C-48B5-D03C-E4BA-62D3116FC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205" y="3141496"/>
                <a:ext cx="1550040" cy="276999"/>
              </a:xfrm>
              <a:prstGeom prst="rect">
                <a:avLst/>
              </a:prstGeom>
              <a:blipFill>
                <a:blip r:embed="rId4"/>
                <a:stretch>
                  <a:fillRect l="-1969" b="-152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0765B2-5BAA-05D5-E559-29E78DA52DEE}"/>
                  </a:ext>
                </a:extLst>
              </p:cNvPr>
              <p:cNvSpPr txBox="1"/>
              <p:nvPr/>
            </p:nvSpPr>
            <p:spPr>
              <a:xfrm>
                <a:off x="5213245" y="2905429"/>
                <a:ext cx="1196033" cy="6840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b="1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b>
                                      <m: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0765B2-5BAA-05D5-E559-29E78DA52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3245" y="2905429"/>
                <a:ext cx="1196033" cy="6840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FD84CF4-2DFE-DE02-8B37-E36F6AFF82D4}"/>
                  </a:ext>
                </a:extLst>
              </p:cNvPr>
              <p:cNvSpPr txBox="1"/>
              <p:nvPr/>
            </p:nvSpPr>
            <p:spPr>
              <a:xfrm>
                <a:off x="5881121" y="3747022"/>
                <a:ext cx="6745640" cy="533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𝐝𝐁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1">
                        <a:latin typeface="Cambria Math" panose="02040503050406030204" pitchFamily="18" charset="0"/>
                      </a:rPr>
                      <m:t>𝟐𝟎𝐥𝐨𝐠</m:t>
                    </m:r>
                    <m:d>
                      <m:d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l-GR" b="1">
                                <a:latin typeface="Cambria Math" panose="02040503050406030204" pitchFamily="18" charset="0"/>
                              </a:rPr>
                              <m:t>𝛚</m:t>
                            </m:r>
                          </m:num>
                          <m:den>
                            <m:sSub>
                              <m:sSubPr>
                                <m:ctrlPr>
                                  <a:rPr lang="fr-F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b="1">
                                    <a:latin typeface="Cambria Math" panose="02040503050406030204" pitchFamily="18" charset="0"/>
                                  </a:rPr>
                                  <m:t>𝛚</m:t>
                                </m:r>
                              </m:e>
                              <m:sub>
                                <m:r>
                                  <a:rPr lang="fr-FR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nor/>
                      </m:rPr>
                      <a:rPr lang="fr-FR" b="1" dirty="0">
                        <a:solidFill>
                          <a:srgbClr val="000000"/>
                        </a:solidFill>
                        <a:latin typeface="Bookman Old Style" panose="02050604050505020204" pitchFamily="18" charset="0"/>
                      </a:rPr>
                      <m:t>→</m:t>
                    </m:r>
                  </m:oMath>
                </a14:m>
                <a:r>
                  <a:rPr lang="fr-FR" sz="2000" b="1" dirty="0"/>
                  <a:t>-∞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FD84CF4-2DFE-DE02-8B37-E36F6AFF8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21" y="3747022"/>
                <a:ext cx="6745640" cy="533864"/>
              </a:xfrm>
              <a:prstGeom prst="rect">
                <a:avLst/>
              </a:prstGeom>
              <a:blipFill>
                <a:blip r:embed="rId6"/>
                <a:stretch>
                  <a:fillRect b="-459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9D8F9F-13D5-BF5A-011D-B13291559F1A}"/>
                  </a:ext>
                </a:extLst>
              </p:cNvPr>
              <p:cNvSpPr txBox="1"/>
              <p:nvPr/>
            </p:nvSpPr>
            <p:spPr>
              <a:xfrm>
                <a:off x="1722291" y="3785173"/>
                <a:ext cx="3881828" cy="4957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</m:d>
                    <m:r>
                      <a:rPr lang="fr-F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𝑨</m:t>
                    </m:r>
                    <m:f>
                      <m:f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b="1">
                            <a:latin typeface="Cambria Math" panose="02040503050406030204" pitchFamily="18" charset="0"/>
                          </a:rPr>
                          <m:t>𝛚</m:t>
                        </m:r>
                      </m:num>
                      <m:den>
                        <m:sSub>
                          <m:sSubPr>
                            <m:ctrlPr>
                              <a:rPr lang="fr-F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1">
                                <a:latin typeface="Cambria Math" panose="02040503050406030204" pitchFamily="18" charset="0"/>
                              </a:rPr>
                              <m:t>𝛚</m:t>
                            </m:r>
                          </m:e>
                          <m:sub>
                            <m:r>
                              <a:rPr lang="fr-FR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fr-FR" b="1" dirty="0">
                        <a:solidFill>
                          <a:srgbClr val="000000"/>
                        </a:solidFill>
                        <a:latin typeface="Bookman Old Style" panose="02050604050505020204" pitchFamily="18" charset="0"/>
                      </a:rPr>
                      <m:t>→</m:t>
                    </m:r>
                  </m:oMath>
                </a14:m>
                <a:r>
                  <a:rPr lang="fr-FR" sz="2000" b="1" dirty="0"/>
                  <a:t> 0            </a:t>
                </a:r>
                <a:r>
                  <a:rPr lang="fr-FR" sz="2000" b="1" dirty="0">
                    <a:latin typeface="Bookman Old Style" panose="02050604050505020204" pitchFamily="18" charset="0"/>
                  </a:rPr>
                  <a:t>donc</a:t>
                </a:r>
                <a:endParaRPr lang="fr-FR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9D8F9F-13D5-BF5A-011D-B13291559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291" y="3785173"/>
                <a:ext cx="3881828" cy="495713"/>
              </a:xfrm>
              <a:prstGeom prst="rect">
                <a:avLst/>
              </a:prstGeom>
              <a:blipFill>
                <a:blip r:embed="rId7"/>
                <a:stretch>
                  <a:fillRect t="-6173" b="-49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022AD8E-A713-3E8B-EF86-B6B2A2873053}"/>
                  </a:ext>
                </a:extLst>
              </p:cNvPr>
              <p:cNvSpPr txBox="1"/>
              <p:nvPr/>
            </p:nvSpPr>
            <p:spPr>
              <a:xfrm>
                <a:off x="274395" y="4301876"/>
                <a:ext cx="899666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fr-FR" sz="1600" b="1" i="0" smtClean="0">
                            <a:latin typeface="Cambria Math" panose="02040503050406030204" pitchFamily="18" charset="0"/>
                          </a:rPr>
                          <m:t>𝐝𝐁</m:t>
                        </m:r>
                      </m:sub>
                    </m:sSub>
                  </m:oMath>
                </a14:m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→ </a:t>
                </a:r>
                <a:r>
                  <a:rPr lang="fr-FR" sz="1600" b="1" dirty="0"/>
                  <a:t>-∞</a:t>
                </a:r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</a:t>
                </a:r>
                <a:r>
                  <a:rPr lang="fr-FR" sz="18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qui </a:t>
                </a:r>
                <a:r>
                  <a:rPr lang="fr-FR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représente une </a:t>
                </a:r>
                <a:r>
                  <a:rPr lang="fr-FR" b="1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asymptote</a:t>
                </a:r>
                <a:r>
                  <a:rPr lang="fr-FR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 sous forme d’ </a:t>
                </a:r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une droite </a:t>
                </a:r>
                <a:r>
                  <a:rPr lang="fr-FR" sz="18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de </a:t>
                </a:r>
                <a:r>
                  <a:rPr lang="fr-FR" b="1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pente +20dB/</a:t>
                </a:r>
                <a:r>
                  <a:rPr lang="fr-FR" b="1" dirty="0" err="1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decade</a:t>
                </a:r>
                <a:endParaRPr lang="fr-FR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022AD8E-A713-3E8B-EF86-B6B2A2873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95" y="4301876"/>
                <a:ext cx="8996664" cy="646331"/>
              </a:xfrm>
              <a:prstGeom prst="rect">
                <a:avLst/>
              </a:prstGeom>
              <a:blipFill>
                <a:blip r:embed="rId8"/>
                <a:stretch>
                  <a:fillRect l="-542" t="-5660" b="-141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988C8364-E59E-0AD2-5F01-5A6B35661E6A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19029307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25244" y="4805441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45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517719" y="92262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passe-haut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6CA29B-DEB6-7C0E-AC46-CB2D13A0B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9" y="1163377"/>
            <a:ext cx="2636782" cy="14182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427E76-8023-4F8A-D1CE-30CE358FBEB5}"/>
              </a:ext>
            </a:extLst>
          </p:cNvPr>
          <p:cNvSpPr txBox="1"/>
          <p:nvPr/>
        </p:nvSpPr>
        <p:spPr>
          <a:xfrm>
            <a:off x="3887470" y="1925419"/>
            <a:ext cx="2438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  <a:t>A</a:t>
            </a:r>
            <a:r>
              <a:rPr lang="fr-FR" sz="1800" b="1" i="0" u="sng">
                <a:solidFill>
                  <a:srgbClr val="0000FF"/>
                </a:solidFill>
                <a:effectLst/>
                <a:latin typeface="Bookman Old Style" panose="02050604050505020204" pitchFamily="18" charset="0"/>
              </a:rPr>
              <a:t>symptotes</a:t>
            </a:r>
            <a: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  <a:t> </a:t>
            </a:r>
            <a:b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</a:br>
            <a:endParaRPr lang="fr-FR" b="1" u="sng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7C6546-7CD3-F794-B46D-54FE3585CB25}"/>
              </a:ext>
            </a:extLst>
          </p:cNvPr>
          <p:cNvSpPr txBox="1"/>
          <p:nvPr/>
        </p:nvSpPr>
        <p:spPr>
          <a:xfrm>
            <a:off x="2814885" y="136082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Diagramme de Bode pour le gain</a:t>
            </a:r>
            <a:endParaRPr lang="fr-FR" sz="1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9DEEE1-DEB7-2AF6-D884-E37FBB8764AE}"/>
              </a:ext>
            </a:extLst>
          </p:cNvPr>
          <p:cNvSpPr txBox="1"/>
          <p:nvPr/>
        </p:nvSpPr>
        <p:spPr>
          <a:xfrm>
            <a:off x="425614" y="2749331"/>
            <a:ext cx="30064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u="sng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En haute fréquence :</a:t>
            </a:r>
            <a:br>
              <a:rPr lang="fr-FR" sz="1600" b="1" u="sng" dirty="0">
                <a:latin typeface="Bookman Old Style" panose="02050604050505020204" pitchFamily="18" charset="0"/>
              </a:rPr>
            </a:br>
            <a:endParaRPr lang="fr-FR" sz="1600" b="1" u="sng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05E0B16-666C-5A0C-6E05-6A91D0EFCE8C}"/>
                  </a:ext>
                </a:extLst>
              </p:cNvPr>
              <p:cNvSpPr txBox="1"/>
              <p:nvPr/>
            </p:nvSpPr>
            <p:spPr>
              <a:xfrm>
                <a:off x="3407591" y="2764955"/>
                <a:ext cx="14987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el-GR" b="1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𝐝𝐨𝐧𝐜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05E0B16-666C-5A0C-6E05-6A91D0EFC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591" y="2764955"/>
                <a:ext cx="1498744" cy="276999"/>
              </a:xfrm>
              <a:prstGeom prst="rect">
                <a:avLst/>
              </a:prstGeom>
              <a:blipFill>
                <a:blip r:embed="rId4"/>
                <a:stretch>
                  <a:fillRect l="-2033" t="-2222" b="-17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1BED867-A125-A77E-9B67-86D4B81156E0}"/>
                  </a:ext>
                </a:extLst>
              </p:cNvPr>
              <p:cNvSpPr txBox="1"/>
              <p:nvPr/>
            </p:nvSpPr>
            <p:spPr>
              <a:xfrm>
                <a:off x="4957631" y="2528888"/>
                <a:ext cx="1196033" cy="6840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≪</m:t>
                      </m:r>
                      <m:sSup>
                        <m:sSup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b="1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b>
                                      <m: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1BED867-A125-A77E-9B67-86D4B8115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631" y="2528888"/>
                <a:ext cx="1196033" cy="6840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BF91EA1-340E-0DB2-9A77-B59473B3AF21}"/>
                  </a:ext>
                </a:extLst>
              </p:cNvPr>
              <p:cNvSpPr txBox="1"/>
              <p:nvPr/>
            </p:nvSpPr>
            <p:spPr>
              <a:xfrm>
                <a:off x="685800" y="3111356"/>
                <a:ext cx="4647500" cy="13962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</m:d>
                      <m:r>
                        <a:rPr lang="fr-FR" sz="1400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</m:d>
                      <m:f>
                        <m:f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fr-FR" sz="1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fr-FR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sz="1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fr-FR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l-GR" sz="1400" b="1">
                                              <a:latin typeface="Cambria Math" panose="02040503050406030204" pitchFamily="18" charset="0"/>
                                            </a:rPr>
                                            <m:t>𝛚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fr-FR" sz="14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l-GR" sz="1400" b="1">
                                                  <a:latin typeface="Cambria Math" panose="02040503050406030204" pitchFamily="18" charset="0"/>
                                                </a:rPr>
                                                <m:t>𝛚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fr-FR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FR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fr-FR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sz="1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fr-FR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l-GR" sz="1400" b="1">
                                              <a:latin typeface="Cambria Math" panose="02040503050406030204" pitchFamily="18" charset="0"/>
                                            </a:rPr>
                                            <m:t>𝛚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fr-FR" sz="14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l-GR" sz="1400" b="1">
                                                  <a:latin typeface="Cambria Math" panose="02040503050406030204" pitchFamily="18" charset="0"/>
                                                </a:rPr>
                                                <m:t>𝛚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fr-FR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</m:d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BF91EA1-340E-0DB2-9A77-B59473B3A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111356"/>
                <a:ext cx="4647500" cy="13962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C3E583D-B06C-7050-71CD-1D217B92F110}"/>
                  </a:ext>
                </a:extLst>
              </p:cNvPr>
              <p:cNvSpPr txBox="1"/>
              <p:nvPr/>
            </p:nvSpPr>
            <p:spPr>
              <a:xfrm>
                <a:off x="5337494" y="3539733"/>
                <a:ext cx="47607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𝐝𝐁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nor/>
                      </m:rPr>
                      <a:rPr lang="fr-FR" b="1" dirty="0">
                        <a:solidFill>
                          <a:srgbClr val="000000"/>
                        </a:solidFill>
                        <a:latin typeface="Bookman Old Style" panose="02050604050505020204" pitchFamily="18" charset="0"/>
                      </a:rPr>
                      <m:t>→</m:t>
                    </m:r>
                  </m:oMath>
                </a14:m>
                <a:r>
                  <a:rPr lang="fr-FR" b="1" dirty="0"/>
                  <a:t>  0</a:t>
                </a:r>
                <a:endParaRPr lang="fr-FR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C3E583D-B06C-7050-71CD-1D217B92F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494" y="3539733"/>
                <a:ext cx="4760752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5DA1D4E-B774-FDF3-017B-C19966487D7B}"/>
                  </a:ext>
                </a:extLst>
              </p:cNvPr>
              <p:cNvSpPr txBox="1"/>
              <p:nvPr/>
            </p:nvSpPr>
            <p:spPr>
              <a:xfrm>
                <a:off x="230014" y="4456296"/>
                <a:ext cx="899666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fr-FR" sz="1600" b="1" i="0" smtClean="0">
                            <a:latin typeface="Cambria Math" panose="02040503050406030204" pitchFamily="18" charset="0"/>
                          </a:rPr>
                          <m:t>𝐝𝐁</m:t>
                        </m:r>
                      </m:sub>
                    </m:sSub>
                  </m:oMath>
                </a14:m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→ 0 </a:t>
                </a:r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qui </a:t>
                </a:r>
                <a:r>
                  <a:rPr lang="fr-FR" sz="1600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représente une </a:t>
                </a:r>
                <a:r>
                  <a:rPr lang="fr-FR" sz="1600" b="1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asymptote</a:t>
                </a:r>
                <a:r>
                  <a:rPr lang="fr-FR" sz="1600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 sous forme d’ </a:t>
                </a:r>
                <a:r>
                  <a:rPr lang="fr-FR" sz="16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une droite horizontale </a:t>
                </a:r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de </a:t>
                </a:r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pente nulle </a:t>
                </a:r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qui coïncide avec </a:t>
                </a:r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l’axe des abscisses</a:t>
                </a:r>
                <a:r>
                  <a:rPr lang="fr-FR" sz="1600" b="0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.</a:t>
                </a:r>
                <a:r>
                  <a:rPr lang="fr-FR" sz="1600" dirty="0">
                    <a:latin typeface="Bookman Old Style" panose="02050604050505020204" pitchFamily="18" charset="0"/>
                  </a:rPr>
                  <a:t> </a:t>
                </a:r>
                <a:br>
                  <a:rPr lang="fr-FR" sz="1600" dirty="0">
                    <a:latin typeface="Bookman Old Style" panose="02050604050505020204" pitchFamily="18" charset="0"/>
                  </a:rPr>
                </a:br>
                <a:endParaRPr lang="fr-FR" sz="16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5DA1D4E-B774-FDF3-017B-C19966487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14" y="4456296"/>
                <a:ext cx="8996664" cy="830997"/>
              </a:xfrm>
              <a:prstGeom prst="rect">
                <a:avLst/>
              </a:prstGeom>
              <a:blipFill>
                <a:blip r:embed="rId8"/>
                <a:stretch>
                  <a:fillRect l="-407" t="-2206" r="-2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4E0965C7-A038-C98D-5BA2-08381E9C24C4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11888381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25244" y="4805441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46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517719" y="92262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passe-haut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6CA29B-DEB6-7C0E-AC46-CB2D13A0B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9" y="1163377"/>
            <a:ext cx="2636782" cy="14182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427E76-8023-4F8A-D1CE-30CE358FBEB5}"/>
              </a:ext>
            </a:extLst>
          </p:cNvPr>
          <p:cNvSpPr txBox="1"/>
          <p:nvPr/>
        </p:nvSpPr>
        <p:spPr>
          <a:xfrm>
            <a:off x="3887470" y="1925419"/>
            <a:ext cx="2438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  <a:t>A</a:t>
            </a:r>
            <a:r>
              <a:rPr lang="fr-FR" sz="1800" b="1" i="0" u="sng">
                <a:solidFill>
                  <a:srgbClr val="0000FF"/>
                </a:solidFill>
                <a:effectLst/>
                <a:latin typeface="Bookman Old Style" panose="02050604050505020204" pitchFamily="18" charset="0"/>
              </a:rPr>
              <a:t>symptotes</a:t>
            </a:r>
            <a: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  <a:t> </a:t>
            </a:r>
            <a:br>
              <a:rPr lang="fr-FR" b="1" u="sng">
                <a:solidFill>
                  <a:srgbClr val="0000FF"/>
                </a:solidFill>
                <a:latin typeface="Bookman Old Style" panose="02050604050505020204" pitchFamily="18" charset="0"/>
              </a:rPr>
            </a:br>
            <a:endParaRPr lang="fr-FR" b="1" u="sng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7C6546-7CD3-F794-B46D-54FE3585CB25}"/>
              </a:ext>
            </a:extLst>
          </p:cNvPr>
          <p:cNvSpPr txBox="1"/>
          <p:nvPr/>
        </p:nvSpPr>
        <p:spPr>
          <a:xfrm>
            <a:off x="2814885" y="136082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Diagramme de Bode pour le gain</a:t>
            </a:r>
            <a:endParaRPr lang="fr-FR" sz="1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EB7A72-6ADF-B452-7960-AD144B17C809}"/>
                  </a:ext>
                </a:extLst>
              </p:cNvPr>
              <p:cNvSpPr txBox="1"/>
              <p:nvPr/>
            </p:nvSpPr>
            <p:spPr>
              <a:xfrm>
                <a:off x="255181" y="3067742"/>
                <a:ext cx="300644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600" b="1" u="sng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Pour</a:t>
                </a:r>
                <a:r>
                  <a:rPr lang="fr-FR" sz="1600" b="1" i="0" u="sng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600" b="1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fr-F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1600" b="1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fr-FR" sz="16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:</a:t>
                </a:r>
                <a:br>
                  <a:rPr lang="fr-FR" sz="1600" b="1" u="sng" dirty="0">
                    <a:latin typeface="Bookman Old Style" panose="02050604050505020204" pitchFamily="18" charset="0"/>
                  </a:rPr>
                </a:br>
                <a:endParaRPr lang="fr-FR" sz="1600" b="1" u="sng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EB7A72-6ADF-B452-7960-AD144B17C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81" y="3067742"/>
                <a:ext cx="3006445" cy="584775"/>
              </a:xfrm>
              <a:prstGeom prst="rect">
                <a:avLst/>
              </a:prstGeom>
              <a:blipFill>
                <a:blip r:embed="rId4"/>
                <a:stretch>
                  <a:fillRect l="-1217" t="-31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DE75E7-3242-BF50-BFC3-AE59DB700AC6}"/>
                  </a:ext>
                </a:extLst>
              </p:cNvPr>
              <p:cNvSpPr txBox="1"/>
              <p:nvPr/>
            </p:nvSpPr>
            <p:spPr>
              <a:xfrm>
                <a:off x="2541165" y="2694164"/>
                <a:ext cx="4572000" cy="1000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𝐝𝐁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>
                          <a:latin typeface="Cambria Math" panose="02040503050406030204" pitchFamily="18" charset="0"/>
                        </a:rPr>
                        <m:t>𝟐𝟎𝐥𝐨𝐠</m:t>
                      </m:r>
                      <m:d>
                        <m:d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fr-FR" b="1">
                          <a:latin typeface="Cambria Math" panose="02040503050406030204" pitchFamily="18" charset="0"/>
                        </a:rPr>
                        <m:t>𝐥𝐨𝐠</m:t>
                      </m:r>
                      <m:d>
                        <m:d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fr-F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l-GR" b="1">
                                              <a:latin typeface="Cambria Math" panose="02040503050406030204" pitchFamily="18" charset="0"/>
                                            </a:rPr>
                                            <m:t>𝛚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l-GR" b="1">
                                                  <a:latin typeface="Cambria Math" panose="02040503050406030204" pitchFamily="18" charset="0"/>
                                                </a:rPr>
                                                <m:t>𝛚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1" i="1"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DE75E7-3242-BF50-BFC3-AE59DB700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165" y="2694164"/>
                <a:ext cx="4572000" cy="10007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A23133-C298-A55E-B6FD-0DA14461DE86}"/>
                  </a:ext>
                </a:extLst>
              </p:cNvPr>
              <p:cNvSpPr txBox="1"/>
              <p:nvPr/>
            </p:nvSpPr>
            <p:spPr>
              <a:xfrm>
                <a:off x="4244173" y="3998568"/>
                <a:ext cx="4647500" cy="424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𝐝𝐁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>
                          <a:latin typeface="Cambria Math" panose="02040503050406030204" pitchFamily="18" charset="0"/>
                        </a:rPr>
                        <m:t>𝟐𝟎𝐥𝐨𝐠</m:t>
                      </m:r>
                      <m:d>
                        <m:d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𝟑𝐝𝐁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A23133-C298-A55E-B6FD-0DA14461D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173" y="3998568"/>
                <a:ext cx="4647500" cy="424219"/>
              </a:xfrm>
              <a:prstGeom prst="rect">
                <a:avLst/>
              </a:prstGeom>
              <a:blipFill>
                <a:blip r:embed="rId6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CDCBD1A-7440-7BC1-09A2-84E9C58A73E6}"/>
                  </a:ext>
                </a:extLst>
              </p:cNvPr>
              <p:cNvSpPr txBox="1"/>
              <p:nvPr/>
            </p:nvSpPr>
            <p:spPr>
              <a:xfrm>
                <a:off x="808839" y="3958697"/>
                <a:ext cx="4647500" cy="664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fr-FR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8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</m:d>
                      <m:r>
                        <a:rPr lang="fr-FR" sz="18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CDCBD1A-7440-7BC1-09A2-84E9C58A7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39" y="3958697"/>
                <a:ext cx="4647500" cy="6646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D4753BE0-3E3B-E6A4-6BD5-A5455E2B7C24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19970539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47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429000" y="77839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passe-haut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43773-E526-0507-5D6B-84352BD9EB25}"/>
              </a:ext>
            </a:extLst>
          </p:cNvPr>
          <p:cNvSpPr txBox="1"/>
          <p:nvPr/>
        </p:nvSpPr>
        <p:spPr>
          <a:xfrm>
            <a:off x="2819400" y="14093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Diagramme de Bode pour la </a:t>
            </a:r>
            <a:r>
              <a:rPr lang="fr-FR" b="1" u="sng" dirty="0">
                <a:latin typeface="Bookman Old Style" panose="02050604050505020204" pitchFamily="18" charset="0"/>
              </a:rPr>
              <a:t>phase</a:t>
            </a:r>
            <a:endParaRPr lang="fr-FR" sz="1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914650-9E80-C79A-3A6E-742615A33E88}"/>
              </a:ext>
            </a:extLst>
          </p:cNvPr>
          <p:cNvSpPr txBox="1"/>
          <p:nvPr/>
        </p:nvSpPr>
        <p:spPr>
          <a:xfrm>
            <a:off x="3886345" y="1781538"/>
            <a:ext cx="2438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0000FF"/>
                </a:solidFill>
                <a:latin typeface="Bookman Old Style" panose="02050604050505020204" pitchFamily="18" charset="0"/>
              </a:rPr>
              <a:t>A</a:t>
            </a:r>
            <a:r>
              <a:rPr lang="fr-FR" sz="1800" b="1" i="0" u="sng" dirty="0">
                <a:solidFill>
                  <a:srgbClr val="0000FF"/>
                </a:solidFill>
                <a:effectLst/>
                <a:latin typeface="Bookman Old Style" panose="02050604050505020204" pitchFamily="18" charset="0"/>
              </a:rPr>
              <a:t>symptotes</a:t>
            </a:r>
            <a:r>
              <a:rPr lang="fr-FR" b="1" u="sng" dirty="0">
                <a:solidFill>
                  <a:srgbClr val="0000FF"/>
                </a:solidFill>
                <a:latin typeface="Bookman Old Style" panose="02050604050505020204" pitchFamily="18" charset="0"/>
              </a:rPr>
              <a:t> </a:t>
            </a:r>
            <a:br>
              <a:rPr lang="fr-FR" b="1" u="sng" dirty="0">
                <a:solidFill>
                  <a:srgbClr val="0000FF"/>
                </a:solidFill>
                <a:latin typeface="Bookman Old Style" panose="02050604050505020204" pitchFamily="18" charset="0"/>
              </a:rPr>
            </a:br>
            <a:endParaRPr lang="fr-FR" b="1" u="sng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E7B0A1-ADB2-8F00-7CE0-D2281AACCF7B}"/>
              </a:ext>
            </a:extLst>
          </p:cNvPr>
          <p:cNvSpPr txBox="1"/>
          <p:nvPr/>
        </p:nvSpPr>
        <p:spPr>
          <a:xfrm>
            <a:off x="417661" y="2477088"/>
            <a:ext cx="30064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u="sng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En basse fréquence :</a:t>
            </a:r>
            <a:br>
              <a:rPr lang="fr-FR" sz="1600" b="1" u="sng" dirty="0">
                <a:latin typeface="Bookman Old Style" panose="02050604050505020204" pitchFamily="18" charset="0"/>
              </a:rPr>
            </a:br>
            <a:endParaRPr lang="fr-FR" sz="1600" b="1" u="sng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DAAFF9F-2952-2B9A-955F-9F674A3FD081}"/>
                  </a:ext>
                </a:extLst>
              </p:cNvPr>
              <p:cNvSpPr txBox="1"/>
              <p:nvPr/>
            </p:nvSpPr>
            <p:spPr>
              <a:xfrm>
                <a:off x="1639123" y="2859202"/>
                <a:ext cx="4572000" cy="6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800" b="1" i="1" smtClean="0"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fr-FR" sz="18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b="1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e>
                        <m:sup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b="1">
                              <a:latin typeface="Cambria Math" panose="02040503050406030204" pitchFamily="18" charset="0"/>
                            </a:rPr>
                            <m:t>𝛚</m:t>
                          </m:r>
                        </m:num>
                        <m:den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DAAFF9F-2952-2B9A-955F-9F674A3FD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123" y="2859202"/>
                <a:ext cx="4572000" cy="6173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65706D4-4C6F-9E92-9E83-ECA87D9F3141}"/>
                  </a:ext>
                </a:extLst>
              </p:cNvPr>
              <p:cNvSpPr txBox="1"/>
              <p:nvPr/>
            </p:nvSpPr>
            <p:spPr>
              <a:xfrm>
                <a:off x="3418513" y="2519857"/>
                <a:ext cx="15500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𝐝𝐨𝐧𝐜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65706D4-4C6F-9E92-9E83-ECA87D9F3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513" y="2519857"/>
                <a:ext cx="1550040" cy="276999"/>
              </a:xfrm>
              <a:prstGeom prst="rect">
                <a:avLst/>
              </a:prstGeom>
              <a:blipFill>
                <a:blip r:embed="rId4"/>
                <a:stretch>
                  <a:fillRect l="-1969" b="-152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AB60AA-7349-0657-2502-713D4D837285}"/>
                  </a:ext>
                </a:extLst>
              </p:cNvPr>
              <p:cNvSpPr txBox="1"/>
              <p:nvPr/>
            </p:nvSpPr>
            <p:spPr>
              <a:xfrm>
                <a:off x="5049400" y="2410235"/>
                <a:ext cx="820673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b="1">
                              <a:latin typeface="Cambria Math" panose="02040503050406030204" pitchFamily="18" charset="0"/>
                            </a:rPr>
                            <m:t>𝛚</m:t>
                          </m:r>
                        </m:num>
                        <m:den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AB60AA-7349-0657-2502-713D4D837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400" y="2410235"/>
                <a:ext cx="820673" cy="5250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86F7B6F-5507-7796-81E6-278423F6542F}"/>
                  </a:ext>
                </a:extLst>
              </p:cNvPr>
              <p:cNvSpPr txBox="1"/>
              <p:nvPr/>
            </p:nvSpPr>
            <p:spPr>
              <a:xfrm>
                <a:off x="5049400" y="2943300"/>
                <a:ext cx="4572000" cy="459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l-GR" b="1" i="1">
                        <a:latin typeface="Cambria Math" panose="02040503050406030204" pitchFamily="18" charset="0"/>
                      </a:rPr>
                      <m:t>𝝎</m:t>
                    </m:r>
                  </m:oMath>
                </a14:m>
                <a:r>
                  <a:rPr lang="el-GR" sz="18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→ </a:t>
                </a:r>
                <a:r>
                  <a:rPr lang="el-GR" sz="1800" b="1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</a:t>
                </a:r>
                <a:r>
                  <a:rPr lang="el-GR" sz="18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⇒ </a:t>
                </a:r>
                <a14:m>
                  <m:oMath xmlns:m="http://schemas.openxmlformats.org/officeDocument/2006/math">
                    <m:r>
                      <a:rPr lang="el-GR" sz="1800" b="1" i="1" smtClean="0"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l-GR" sz="18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b="1" i="1">
                            <a:latin typeface="Cambria Math" panose="02040503050406030204" pitchFamily="18" charset="0"/>
                          </a:rPr>
                          <m:t>𝝅</m:t>
                        </m:r>
                      </m:num>
                      <m:den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fr-FR" b="1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86F7B6F-5507-7796-81E6-278423F65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400" y="2943300"/>
                <a:ext cx="4572000" cy="459741"/>
              </a:xfrm>
              <a:prstGeom prst="rect">
                <a:avLst/>
              </a:prstGeom>
              <a:blipFill>
                <a:blip r:embed="rId6"/>
                <a:stretch>
                  <a:fillRect t="-2667" b="-8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F65B351B-F39D-6D54-C3FF-CD8CCB0A6A78}"/>
              </a:ext>
            </a:extLst>
          </p:cNvPr>
          <p:cNvSpPr txBox="1"/>
          <p:nvPr/>
        </p:nvSpPr>
        <p:spPr>
          <a:xfrm>
            <a:off x="432135" y="3593121"/>
            <a:ext cx="30064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u="sng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En haute fréquence :</a:t>
            </a:r>
            <a:br>
              <a:rPr lang="fr-FR" sz="1600" b="1" u="sng" dirty="0">
                <a:latin typeface="Bookman Old Style" panose="02050604050505020204" pitchFamily="18" charset="0"/>
              </a:rPr>
            </a:br>
            <a:endParaRPr lang="fr-FR" sz="1600" b="1" u="sng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A46B4E-A187-B131-D75B-0FA5B53F4F53}"/>
                  </a:ext>
                </a:extLst>
              </p:cNvPr>
              <p:cNvSpPr txBox="1"/>
              <p:nvPr/>
            </p:nvSpPr>
            <p:spPr>
              <a:xfrm>
                <a:off x="1825915" y="3592627"/>
                <a:ext cx="48152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el-GR" b="1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𝐝𝐨𝐧𝐜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A46B4E-A187-B131-D75B-0FA5B53F4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915" y="3592627"/>
                <a:ext cx="481528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D3DA5AE-E23C-FA80-9A82-03C58FCD180F}"/>
                  </a:ext>
                </a:extLst>
              </p:cNvPr>
              <p:cNvSpPr txBox="1"/>
              <p:nvPr/>
            </p:nvSpPr>
            <p:spPr>
              <a:xfrm>
                <a:off x="3651464" y="3447021"/>
                <a:ext cx="3926136" cy="6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≪</m:t>
                      </m:r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b="1">
                              <a:latin typeface="Cambria Math" panose="02040503050406030204" pitchFamily="18" charset="0"/>
                            </a:rPr>
                            <m:t>𝛚</m:t>
                          </m:r>
                        </m:num>
                        <m:den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D3DA5AE-E23C-FA80-9A82-03C58FCD1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464" y="3447021"/>
                <a:ext cx="3926136" cy="6173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95C22BB-4D5E-60AA-41E1-B00248EC136F}"/>
                  </a:ext>
                </a:extLst>
              </p:cNvPr>
              <p:cNvSpPr txBox="1"/>
              <p:nvPr/>
            </p:nvSpPr>
            <p:spPr>
              <a:xfrm>
                <a:off x="5081631" y="4089521"/>
                <a:ext cx="4815280" cy="459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>
                  <a:defRPr b="1" i="1">
                    <a:latin typeface="Cambria Math" panose="02040503050406030204" pitchFamily="18" charset="0"/>
                  </a:defRPr>
                </a:lvl1pPr>
              </a:lstStyle>
              <a:p>
                <a:r>
                  <a:rPr lang="fr-FR" i="0" dirty="0"/>
                  <a:t>; </a:t>
                </a:r>
                <a14:m>
                  <m:oMath xmlns:m="http://schemas.openxmlformats.org/officeDocument/2006/math">
                    <m:r>
                      <a:rPr lang="el-GR" i="0">
                        <a:latin typeface="Cambria Math" panose="02040503050406030204" pitchFamily="18" charset="0"/>
                      </a:rPr>
                      <m:t>𝛚</m:t>
                    </m:r>
                  </m:oMath>
                </a14:m>
                <a:r>
                  <a:rPr lang="el-GR" i="0" dirty="0"/>
                  <a:t> → ∞ </a:t>
                </a:r>
                <a:r>
                  <a:rPr lang="fr-FR" i="0" dirty="0"/>
                  <a:t> </a:t>
                </a:r>
                <a:r>
                  <a:rPr lang="el-GR" i="0" dirty="0"/>
                  <a:t>⇒ </a:t>
                </a:r>
                <a14:m>
                  <m:oMath xmlns:m="http://schemas.openxmlformats.org/officeDocument/2006/math">
                    <m:r>
                      <a:rPr lang="el-GR" i="0" smtClean="0">
                        <a:latin typeface="Cambria Math" panose="02040503050406030204" pitchFamily="18" charset="0"/>
                      </a:rPr>
                      <m:t>𝛗</m:t>
                    </m:r>
                  </m:oMath>
                </a14:m>
                <a:r>
                  <a:rPr lang="el-GR" i="0" dirty="0"/>
                  <a:t> </a:t>
                </a:r>
                <a:r>
                  <a:rPr lang="fr-FR" i="0" dirty="0"/>
                  <a:t>=</a:t>
                </a:r>
                <a:r>
                  <a:rPr lang="el-GR" i="0" dirty="0"/>
                  <a:t> </a:t>
                </a:r>
                <a:r>
                  <a:rPr lang="fr-FR" i="0" dirty="0"/>
                  <a:t>-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b="1" i="1">
                            <a:latin typeface="Cambria Math" panose="02040503050406030204" pitchFamily="18" charset="0"/>
                          </a:rPr>
                          <m:t>𝝅</m:t>
                        </m:r>
                      </m:num>
                      <m:den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fr-FR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i="0" dirty="0"/>
                  <a:t>+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b="1" i="1">
                            <a:latin typeface="Cambria Math" panose="02040503050406030204" pitchFamily="18" charset="0"/>
                          </a:rPr>
                          <m:t>𝝅</m:t>
                        </m:r>
                      </m:num>
                      <m:den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l-GR" i="0" dirty="0"/>
                      <m:t>→</m:t>
                    </m:r>
                  </m:oMath>
                </a14:m>
                <a:r>
                  <a:rPr lang="fr-FR" i="0" dirty="0"/>
                  <a:t>0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95C22BB-4D5E-60AA-41E1-B00248EC1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631" y="4089521"/>
                <a:ext cx="4815280" cy="459741"/>
              </a:xfrm>
              <a:prstGeom prst="rect">
                <a:avLst/>
              </a:prstGeom>
              <a:blipFill>
                <a:blip r:embed="rId9"/>
                <a:stretch>
                  <a:fillRect l="-1139" t="-2667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2AC3F4E-12D8-6461-9EE1-C617CEA0A37C}"/>
                  </a:ext>
                </a:extLst>
              </p:cNvPr>
              <p:cNvSpPr txBox="1"/>
              <p:nvPr/>
            </p:nvSpPr>
            <p:spPr>
              <a:xfrm>
                <a:off x="1510116" y="3981957"/>
                <a:ext cx="4572000" cy="6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fr-FR" b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b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𝐭𝐚𝐧</m:t>
                          </m:r>
                        </m:e>
                        <m:sup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b="1">
                              <a:latin typeface="Cambria Math" panose="02040503050406030204" pitchFamily="18" charset="0"/>
                            </a:rPr>
                            <m:t>𝛚</m:t>
                          </m:r>
                        </m:num>
                        <m:den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2AC3F4E-12D8-6461-9EE1-C617CEA0A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116" y="3981957"/>
                <a:ext cx="4572000" cy="61734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A194CE0-6AB8-2767-3F79-03160E57791B}"/>
                  </a:ext>
                </a:extLst>
              </p:cNvPr>
              <p:cNvSpPr txBox="1"/>
              <p:nvPr/>
            </p:nvSpPr>
            <p:spPr>
              <a:xfrm>
                <a:off x="499390" y="4432542"/>
                <a:ext cx="300644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600" b="1" u="sng" dirty="0">
                    <a:solidFill>
                      <a:srgbClr val="000000"/>
                    </a:solidFill>
                    <a:latin typeface="Bookman Old Style" panose="02050604050505020204" pitchFamily="18" charset="0"/>
                  </a:rPr>
                  <a:t>Pour</a:t>
                </a:r>
                <a:r>
                  <a:rPr lang="fr-FR" sz="1600" b="1" i="0" u="sng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600" b="1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fr-F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1600" b="1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fr-FR" sz="16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600" b="1" i="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</a:rPr>
                  <a:t>:</a:t>
                </a:r>
                <a:br>
                  <a:rPr lang="fr-FR" sz="1600" b="1" u="sng" dirty="0">
                    <a:latin typeface="Bookman Old Style" panose="02050604050505020204" pitchFamily="18" charset="0"/>
                  </a:rPr>
                </a:br>
                <a:endParaRPr lang="fr-FR" sz="1600" b="1" u="sng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A194CE0-6AB8-2767-3F79-03160E577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90" y="4432542"/>
                <a:ext cx="3006445" cy="584775"/>
              </a:xfrm>
              <a:prstGeom prst="rect">
                <a:avLst/>
              </a:prstGeom>
              <a:blipFill>
                <a:blip r:embed="rId11"/>
                <a:stretch>
                  <a:fillRect l="-1217" t="-31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E788D0F-A895-1446-2265-5D5CEB98E703}"/>
                  </a:ext>
                </a:extLst>
              </p:cNvPr>
              <p:cNvSpPr txBox="1"/>
              <p:nvPr/>
            </p:nvSpPr>
            <p:spPr>
              <a:xfrm>
                <a:off x="2085851" y="4605560"/>
                <a:ext cx="4861420" cy="5630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800" b="1" i="1" smtClean="0"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fr-FR" sz="18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br>
                  <a:rPr lang="fr-FR" b="1" dirty="0"/>
                </a:br>
                <a:endParaRPr lang="fr-FR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E788D0F-A895-1446-2265-5D5CEB98E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5851" y="4605560"/>
                <a:ext cx="4861420" cy="56303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2F356246-B4C7-457A-2DB8-9E17248259A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173" y="1022921"/>
            <a:ext cx="2636782" cy="141826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612049C-A6F2-3C71-9CEE-6CB93C80D944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28779558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48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429000" y="77839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passe-haut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25534E5-7840-9CBA-790F-167AED30D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454325"/>
            <a:ext cx="4114959" cy="36596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543C269-51D3-5F38-F455-D23E0A1BA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907" y="1142076"/>
            <a:ext cx="2437280" cy="131096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0F4A904-A73F-1302-6505-AF2EAD307303}"/>
              </a:ext>
            </a:extLst>
          </p:cNvPr>
          <p:cNvSpPr txBox="1"/>
          <p:nvPr/>
        </p:nvSpPr>
        <p:spPr>
          <a:xfrm>
            <a:off x="2276929" y="1103310"/>
            <a:ext cx="6105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Diagramme de Bode pour le </a:t>
            </a:r>
            <a:r>
              <a:rPr lang="fr-FR" b="1" u="sng" dirty="0">
                <a:latin typeface="Bookman Old Style" panose="02050604050505020204" pitchFamily="18" charset="0"/>
              </a:rPr>
              <a:t>gain</a:t>
            </a:r>
            <a:r>
              <a:rPr lang="fr-FR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 et la </a:t>
            </a:r>
            <a:r>
              <a:rPr lang="fr-FR" b="1" u="sng" dirty="0">
                <a:latin typeface="Bookman Old Style" panose="02050604050505020204" pitchFamily="18" charset="0"/>
              </a:rPr>
              <a:t>phase</a:t>
            </a:r>
            <a:endParaRPr lang="fr-FR" sz="1800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78188F-66FE-558E-2117-3D01755C6127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30198772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49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429000" y="77839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passe-haut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25534E5-7840-9CBA-790F-167AED30D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046" y="1581150"/>
            <a:ext cx="2986766" cy="26562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543C269-51D3-5F38-F455-D23E0A1BA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236" y="1025174"/>
            <a:ext cx="2437280" cy="13109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256DD4-E306-6141-3D88-53BB65EA0F8F}"/>
                  </a:ext>
                </a:extLst>
              </p:cNvPr>
              <p:cNvSpPr txBox="1"/>
              <p:nvPr/>
            </p:nvSpPr>
            <p:spPr>
              <a:xfrm>
                <a:off x="2524407" y="1162140"/>
                <a:ext cx="61050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u="sng" dirty="0">
                    <a:solidFill>
                      <a:srgbClr val="FF0000"/>
                    </a:solidFill>
                    <a:latin typeface="Bookman Old Style" panose="02050604050505020204" pitchFamily="18" charset="0"/>
                  </a:rPr>
                  <a:t>Calcule de la fréquence de coupure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fr-F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lang="fr-FR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256DD4-E306-6141-3D88-53BB65EA0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407" y="1162140"/>
                <a:ext cx="6105072" cy="369332"/>
              </a:xfrm>
              <a:prstGeom prst="rect">
                <a:avLst/>
              </a:prstGeom>
              <a:blipFill>
                <a:blip r:embed="rId5"/>
                <a:stretch>
                  <a:fillRect l="-798" t="-11667" b="-2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7DEB9C-3EC3-2405-AC6E-8411810BC48D}"/>
                  </a:ext>
                </a:extLst>
              </p:cNvPr>
              <p:cNvSpPr txBox="1"/>
              <p:nvPr/>
            </p:nvSpPr>
            <p:spPr>
              <a:xfrm>
                <a:off x="260075" y="2402697"/>
                <a:ext cx="6400800" cy="24640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6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Le module est maximal pour </a:t>
                </a:r>
                <a14:m>
                  <m:oMath xmlns:m="http://schemas.openxmlformats.org/officeDocument/2006/math">
                    <m:r>
                      <a:rPr lang="fr-FR" sz="16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𝒇</m:t>
                    </m:r>
                    <m:r>
                      <a:rPr lang="fr-FR" sz="16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−&gt;</m:t>
                    </m:r>
                  </m:oMath>
                </a14:m>
                <a:r>
                  <a:rPr lang="fr-FR" sz="16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∞ et vaut 1</a:t>
                </a:r>
                <a:endPara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fr-FR" sz="16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 </a:t>
                </a:r>
                <a:endPara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fr-FR" sz="16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FR" sz="16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𝑯</m:t>
                        </m:r>
                      </m:e>
                    </m:d>
                    <m:d>
                      <m:dPr>
                        <m:ctrlPr>
                          <a:rPr lang="fr-FR" sz="16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𝒄</m:t>
                            </m:r>
                          </m:sub>
                        </m:sSub>
                      </m:e>
                    </m:d>
                    <m:r>
                      <a:rPr lang="fr-FR" sz="16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fr-FR" sz="16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𝒎𝒂𝒙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r>
                  <a:rPr lang="fr-FR" sz="16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 implique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fr-FR" sz="16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fr-FR" sz="16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fr-FR" sz="1600" b="1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fr-FR" sz="1600" b="1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1600" b="1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𝒇</m:t>
                                            </m:r>
                                          </m:e>
                                          <m:sub>
                                            <m:r>
                                              <a:rPr lang="fr-FR" sz="1600" b="1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𝟎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fr-FR" sz="1600" b="1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1600" b="1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𝒇</m:t>
                                            </m:r>
                                          </m:e>
                                          <m:sub>
                                            <m:r>
                                              <a:rPr lang="fr-FR" sz="1600" b="1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𝒄</m:t>
                                            </m:r>
                                          </m:sub>
                                        </m:sSub>
                                        <m:r>
                                          <a:rPr lang="fr-FR" sz="1600" b="1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fr-FR" sz="16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fr-FR" sz="16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fr-FR" sz="16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fr-FR" sz="16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6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r>
                  <a:rPr lang="fr-FR" sz="16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fr-FR" sz="16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𝟏</m:t>
                    </m:r>
                    <m:r>
                      <a:rPr lang="fr-FR" sz="16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fr-F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6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6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6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sz="16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6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  <m:r>
                                  <a:rPr lang="fr-FR" sz="16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 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fr-F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𝟐</m:t>
                        </m:r>
                        <m:r>
                          <a:rPr lang="fr-F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</m:sup>
                    </m:sSup>
                    <m:r>
                      <a:rPr lang="fr-FR" sz="16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fr-FR" sz="16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fr-FR" sz="16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</a:t>
                </a:r>
                <a:endPara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fr-FR" sz="1600" b="1" dirty="0"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Ce qui donne</a:t>
                </a:r>
                <a:endPara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fr-F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𝒄</m:t>
                          </m:r>
                        </m:sub>
                      </m:sSub>
                      <m:r>
                        <a:rPr lang="fr-FR" sz="16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fr-F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sz="16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fr-F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6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𝟐</m:t>
                          </m:r>
                          <m:r>
                            <a:rPr lang="fr-FR" sz="16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𝝅</m:t>
                          </m:r>
                          <m:r>
                            <a:rPr lang="fr-FR" sz="16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𝑹𝑪</m:t>
                          </m:r>
                        </m:den>
                      </m:f>
                    </m:oMath>
                  </m:oMathPara>
                </a14:m>
                <a:endPara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7DEB9C-3EC3-2405-AC6E-8411810BC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75" y="2402697"/>
                <a:ext cx="6400800" cy="2464008"/>
              </a:xfrm>
              <a:prstGeom prst="rect">
                <a:avLst/>
              </a:prstGeom>
              <a:blipFill>
                <a:blip r:embed="rId6"/>
                <a:stretch>
                  <a:fillRect l="-571" t="-7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80034851-9178-90C6-E41C-7422575A3942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38302999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50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276600" y="806483"/>
            <a:ext cx="272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B48B2F-D168-7853-00B4-E60DA3A2E771}"/>
                  </a:ext>
                </a:extLst>
              </p:cNvPr>
              <p:cNvSpPr txBox="1"/>
              <p:nvPr/>
            </p:nvSpPr>
            <p:spPr>
              <a:xfrm>
                <a:off x="632411" y="2864380"/>
                <a:ext cx="8016611" cy="54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latin typeface="Bookman Old Style" panose="02050604050505020204" pitchFamily="18" charset="0"/>
                  </a:rPr>
                  <a:t>Fonction de Transfert :               </a:t>
                </a:r>
                <a14:m>
                  <m:oMath xmlns:m="http://schemas.openxmlformats.org/officeDocument/2006/math">
                    <m:r>
                      <a:rPr lang="fr-FR" b="1" i="0" smtClean="0">
                        <a:latin typeface="Cambria Math" panose="02040503050406030204" pitchFamily="18" charset="0"/>
                      </a:rPr>
                      <m:t>𝐇</m:t>
                    </m:r>
                    <m:r>
                      <a:rPr lang="fr-FR" b="1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0" smtClean="0"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  <m:sub>
                            <m:r>
                              <a:rPr lang="fr-FR" b="1" i="0" smtClean="0">
                                <a:latin typeface="Cambria Math" panose="02040503050406030204" pitchFamily="18" charset="0"/>
                              </a:rPr>
                              <m:t>𝐬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0" smtClean="0"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  <m:sub>
                            <m:r>
                              <a:rPr lang="fr-FR" b="1" i="0" smtClean="0">
                                <a:latin typeface="Cambria Math" panose="02040503050406030204" pitchFamily="18" charset="0"/>
                              </a:rPr>
                              <m:t>𝐞</m:t>
                            </m:r>
                          </m:sub>
                        </m:sSub>
                      </m:den>
                    </m:f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B48B2F-D168-7853-00B4-E60DA3A2E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11" y="2864380"/>
                <a:ext cx="8016611" cy="543931"/>
              </a:xfrm>
              <a:prstGeom prst="rect">
                <a:avLst/>
              </a:prstGeom>
              <a:blipFill>
                <a:blip r:embed="rId3"/>
                <a:stretch>
                  <a:fillRect l="-6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DEF53541-298B-A6FB-F173-37E565789B31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7C5591-D54C-B0E5-C3B8-BD3332AC5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4950" y="1412059"/>
            <a:ext cx="2575560" cy="1276350"/>
          </a:xfrm>
          <a:prstGeom prst="rect">
            <a:avLst/>
          </a:prstGeom>
        </p:spPr>
      </p:pic>
      <p:sp>
        <p:nvSpPr>
          <p:cNvPr id="5" name="Text Box 142">
            <a:extLst>
              <a:ext uri="{FF2B5EF4-FFF2-40B4-BE49-F238E27FC236}">
                <a16:creationId xmlns:a16="http://schemas.microsoft.com/office/drawing/2014/main" id="{D6DC588E-E2C2-F233-40BC-1F510CFE0840}"/>
              </a:ext>
            </a:extLst>
          </p:cNvPr>
          <p:cNvSpPr txBox="1"/>
          <p:nvPr/>
        </p:nvSpPr>
        <p:spPr>
          <a:xfrm>
            <a:off x="5638800" y="1895717"/>
            <a:ext cx="373380" cy="29972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200" b="1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V</a:t>
            </a:r>
            <a:r>
              <a:rPr lang="fr-FR" sz="1200" b="1" baseline="-250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s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" name="Text Box 22">
            <a:extLst>
              <a:ext uri="{FF2B5EF4-FFF2-40B4-BE49-F238E27FC236}">
                <a16:creationId xmlns:a16="http://schemas.microsoft.com/office/drawing/2014/main" id="{EC80D4F1-041E-FB3D-C8A5-C7445F834FE9}"/>
              </a:ext>
            </a:extLst>
          </p:cNvPr>
          <p:cNvSpPr txBox="1"/>
          <p:nvPr/>
        </p:nvSpPr>
        <p:spPr>
          <a:xfrm>
            <a:off x="2970160" y="1890637"/>
            <a:ext cx="449580" cy="30480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200" b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V</a:t>
            </a:r>
            <a:r>
              <a:rPr lang="fr-FR" sz="1200" b="1" baseline="-2500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e</a:t>
            </a:r>
            <a:endParaRPr lang="fr-FR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514EC94-C115-AFEB-13C2-84B4E757D3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2640" y="3539725"/>
            <a:ext cx="4998720" cy="148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3141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51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276600" y="806483"/>
            <a:ext cx="272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B48B2F-D168-7853-00B4-E60DA3A2E771}"/>
                  </a:ext>
                </a:extLst>
              </p:cNvPr>
              <p:cNvSpPr txBox="1"/>
              <p:nvPr/>
            </p:nvSpPr>
            <p:spPr>
              <a:xfrm>
                <a:off x="632411" y="2864380"/>
                <a:ext cx="8016611" cy="54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latin typeface="Bookman Old Style" panose="02050604050505020204" pitchFamily="18" charset="0"/>
                  </a:rPr>
                  <a:t>Fonction de Transfert :               </a:t>
                </a:r>
                <a14:m>
                  <m:oMath xmlns:m="http://schemas.openxmlformats.org/officeDocument/2006/math">
                    <m:r>
                      <a:rPr lang="fr-FR" b="1" i="0" smtClean="0">
                        <a:latin typeface="Cambria Math" panose="02040503050406030204" pitchFamily="18" charset="0"/>
                      </a:rPr>
                      <m:t>𝐇</m:t>
                    </m:r>
                    <m:r>
                      <a:rPr lang="fr-FR" b="1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0" smtClean="0"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  <m:sub>
                            <m:r>
                              <a:rPr lang="fr-FR" b="1" i="0" smtClean="0">
                                <a:latin typeface="Cambria Math" panose="02040503050406030204" pitchFamily="18" charset="0"/>
                              </a:rPr>
                              <m:t>𝐬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0" smtClean="0"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  <m:sub>
                            <m:r>
                              <a:rPr lang="fr-FR" b="1" i="0" smtClean="0">
                                <a:latin typeface="Cambria Math" panose="02040503050406030204" pitchFamily="18" charset="0"/>
                              </a:rPr>
                              <m:t>𝐞</m:t>
                            </m:r>
                          </m:sub>
                        </m:sSub>
                      </m:den>
                    </m:f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B48B2F-D168-7853-00B4-E60DA3A2E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11" y="2864380"/>
                <a:ext cx="8016611" cy="543931"/>
              </a:xfrm>
              <a:prstGeom prst="rect">
                <a:avLst/>
              </a:prstGeom>
              <a:blipFill>
                <a:blip r:embed="rId3"/>
                <a:stretch>
                  <a:fillRect l="-6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DEF53541-298B-A6FB-F173-37E565789B31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7C5591-D54C-B0E5-C3B8-BD3332AC5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4950" y="1412059"/>
            <a:ext cx="2575560" cy="1276350"/>
          </a:xfrm>
          <a:prstGeom prst="rect">
            <a:avLst/>
          </a:prstGeom>
        </p:spPr>
      </p:pic>
      <p:sp>
        <p:nvSpPr>
          <p:cNvPr id="5" name="Text Box 142">
            <a:extLst>
              <a:ext uri="{FF2B5EF4-FFF2-40B4-BE49-F238E27FC236}">
                <a16:creationId xmlns:a16="http://schemas.microsoft.com/office/drawing/2014/main" id="{D6DC588E-E2C2-F233-40BC-1F510CFE0840}"/>
              </a:ext>
            </a:extLst>
          </p:cNvPr>
          <p:cNvSpPr txBox="1"/>
          <p:nvPr/>
        </p:nvSpPr>
        <p:spPr>
          <a:xfrm>
            <a:off x="5638800" y="1895717"/>
            <a:ext cx="373380" cy="29972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200" b="1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V</a:t>
            </a:r>
            <a:r>
              <a:rPr lang="fr-FR" sz="1200" b="1" baseline="-25000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s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" name="Text Box 22">
            <a:extLst>
              <a:ext uri="{FF2B5EF4-FFF2-40B4-BE49-F238E27FC236}">
                <a16:creationId xmlns:a16="http://schemas.microsoft.com/office/drawing/2014/main" id="{EC80D4F1-041E-FB3D-C8A5-C7445F834FE9}"/>
              </a:ext>
            </a:extLst>
          </p:cNvPr>
          <p:cNvSpPr txBox="1"/>
          <p:nvPr/>
        </p:nvSpPr>
        <p:spPr>
          <a:xfrm>
            <a:off x="2970160" y="1890637"/>
            <a:ext cx="449580" cy="30480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1200" b="1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V</a:t>
            </a:r>
            <a:r>
              <a:rPr lang="fr-FR" sz="1200" b="1" baseline="-2500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e</a:t>
            </a:r>
            <a:endParaRPr lang="fr-FR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514EC94-C115-AFEB-13C2-84B4E757D3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2640" y="3539725"/>
            <a:ext cx="4998720" cy="148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6135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52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276600" y="806483"/>
            <a:ext cx="272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F53541-298B-A6FB-F173-37E565789B31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CCF1F77-F5C6-E5C7-631E-FF2EB696794D}"/>
                  </a:ext>
                </a:extLst>
              </p:cNvPr>
              <p:cNvSpPr txBox="1"/>
              <p:nvPr/>
            </p:nvSpPr>
            <p:spPr>
              <a:xfrm>
                <a:off x="6598920" y="1480613"/>
                <a:ext cx="2947255" cy="1192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3660">
                  <a:spcBef>
                    <a:spcPts val="930"/>
                  </a:spcBef>
                  <a:spcAft>
                    <a:spcPts val="0"/>
                  </a:spcAft>
                </a:pPr>
                <a:r>
                  <a:rPr lang="fr-FR" sz="14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Avec :</a:t>
                </a:r>
                <a:endParaRPr lang="fr-FR" sz="14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73660">
                  <a:spcBef>
                    <a:spcPts val="93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1" i="1" u="none" strike="noStrike" ker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fr-FR" sz="1400" b="1" i="1" u="none" strike="noStrike" ker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𝑹</m:t>
                      </m:r>
                      <m:r>
                        <a:rPr lang="fr-FR" sz="1400" b="1" i="1" u="none" strike="noStrike" ker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𝒄</m:t>
                          </m:r>
                        </m:sub>
                      </m:sSub>
                      <m:r>
                        <a:rPr lang="fr-FR" sz="1400" b="1" i="1" u="none" strike="noStrike" ker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𝒋𝑹𝑪</m:t>
                          </m:r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𝝎</m:t>
                          </m:r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𝒋𝑪</m:t>
                          </m:r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𝝎</m:t>
                          </m:r>
                        </m:den>
                      </m:f>
                    </m:oMath>
                  </m:oMathPara>
                </a14:m>
                <a:endParaRPr lang="fr-FR" sz="14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73660" algn="ctr">
                  <a:spcBef>
                    <a:spcPts val="93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1" i="1" u="none" strike="noStrike" ker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fr-FR" sz="1400" b="1" i="1" u="none" strike="noStrike" ker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𝑹</m:t>
                      </m:r>
                      <m:r>
                        <a:rPr lang="fr-FR" sz="1400" b="1" i="1" u="none" strike="noStrike" ker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//</m:t>
                      </m:r>
                      <m:sSub>
                        <m:sSubPr>
                          <m:ctrlP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𝒄</m:t>
                          </m:r>
                        </m:sub>
                      </m:sSub>
                      <m:r>
                        <a:rPr lang="fr-FR" sz="1400" b="1" i="1" u="none" strike="noStrike" ker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𝑹</m:t>
                          </m:r>
                        </m:num>
                        <m:den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𝟏</m:t>
                          </m:r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𝒋𝑹𝑪</m:t>
                          </m:r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𝝎</m:t>
                          </m:r>
                        </m:den>
                      </m:f>
                    </m:oMath>
                  </m:oMathPara>
                </a14:m>
                <a:endParaRPr lang="fr-FR" sz="14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CCF1F77-F5C6-E5C7-631E-FF2EB6967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920" y="1480613"/>
                <a:ext cx="2947255" cy="1192249"/>
              </a:xfrm>
              <a:prstGeom prst="rect">
                <a:avLst/>
              </a:prstGeom>
              <a:blipFill>
                <a:blip r:embed="rId3"/>
                <a:stretch>
                  <a:fillRect t="-1026" b="-20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24A61B9E-247C-79D4-35A0-CC181BEDC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332836"/>
            <a:ext cx="4998720" cy="14878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943989B-701C-8F6E-1527-E648F54A50FE}"/>
                  </a:ext>
                </a:extLst>
              </p:cNvPr>
              <p:cNvSpPr txBox="1"/>
              <p:nvPr/>
            </p:nvSpPr>
            <p:spPr>
              <a:xfrm>
                <a:off x="-6292" y="2945329"/>
                <a:ext cx="8693092" cy="746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3660">
                  <a:spcBef>
                    <a:spcPts val="930"/>
                  </a:spcBef>
                  <a:spcAft>
                    <a:spcPts val="0"/>
                  </a:spcAft>
                </a:pPr>
                <a:r>
                  <a:rPr lang="fr-FR" sz="14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Le pont diviseur de tension donne :</a:t>
                </a:r>
                <a:endParaRPr lang="fr-FR" sz="14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73660">
                  <a:spcBef>
                    <a:spcPts val="93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𝒔</m:t>
                          </m:r>
                        </m:sub>
                      </m:sSub>
                      <m:r>
                        <a:rPr lang="fr-FR" sz="1400" b="1" i="1" u="none" strike="noStrike" ker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𝒆</m:t>
                          </m:r>
                        </m:sub>
                      </m:sSub>
                    </m:oMath>
                  </m:oMathPara>
                </a14:m>
                <a:endParaRPr lang="fr-FR" sz="14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943989B-701C-8F6E-1527-E648F54A50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292" y="2945329"/>
                <a:ext cx="8693092" cy="746295"/>
              </a:xfrm>
              <a:prstGeom prst="rect">
                <a:avLst/>
              </a:prstGeom>
              <a:blipFill>
                <a:blip r:embed="rId5"/>
                <a:stretch>
                  <a:fillRect t="-16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FDEF9FC-FD66-9BFC-2059-008EFD89F9BB}"/>
                  </a:ext>
                </a:extLst>
              </p:cNvPr>
              <p:cNvSpPr txBox="1"/>
              <p:nvPr/>
            </p:nvSpPr>
            <p:spPr>
              <a:xfrm>
                <a:off x="2967387" y="3646111"/>
                <a:ext cx="4777530" cy="7839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H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𝐣</m:t>
                        </m:r>
                      </m:e>
                    </m:d>
                    <m:r>
                      <a:rPr lang="fr-FR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  <m:sub>
                            <m:r>
                              <a:rPr lang="fr-FR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𝐬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  <m:sub>
                            <m:r>
                              <a:rPr lang="fr-FR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𝐞</m:t>
                            </m:r>
                          </m:sub>
                        </m:sSub>
                      </m:den>
                    </m:f>
                    <m:r>
                      <a:rPr lang="fr-FR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fr-F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num>
                          <m:den>
                            <m:r>
                              <a:rPr lang="fr-FR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𝒋𝑹𝑪</m:t>
                            </m:r>
                            <m: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fr-F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num>
                          <m:den>
                            <m:r>
                              <a:rPr lang="fr-FR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𝒋𝑹𝑪</m:t>
                            </m:r>
                            <m: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den>
                        </m:f>
                        <m:r>
                          <a:rPr lang="fr-FR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fr-F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𝒋𝑹𝑪</m:t>
                            </m:r>
                            <m: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fr-FR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𝒋𝑪</m:t>
                            </m:r>
                            <m: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den>
                        </m:f>
                      </m:den>
                    </m:f>
                  </m:oMath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FDEF9FC-FD66-9BFC-2059-008EFD89F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387" y="3646111"/>
                <a:ext cx="4777530" cy="783933"/>
              </a:xfrm>
              <a:prstGeom prst="rect">
                <a:avLst/>
              </a:prstGeom>
              <a:blipFill>
                <a:blip r:embed="rId6"/>
                <a:stretch>
                  <a:fillRect l="-114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08A2B84-D222-15A7-FFBF-BB7741BC3DAF}"/>
                  </a:ext>
                </a:extLst>
              </p:cNvPr>
              <p:cNvSpPr txBox="1"/>
              <p:nvPr/>
            </p:nvSpPr>
            <p:spPr>
              <a:xfrm>
                <a:off x="3295017" y="4384531"/>
                <a:ext cx="4777530" cy="815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H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𝐣</m:t>
                        </m:r>
                      </m:e>
                    </m:d>
                    <m:r>
                      <a:rPr lang="fr-FR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fr-F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num>
                          <m:den>
                            <m:r>
                              <a:rPr lang="fr-FR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𝒋𝑹𝑪</m:t>
                            </m:r>
                            <m: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fr-F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𝒋𝑹𝑪</m:t>
                            </m:r>
                            <m: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fr-FR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fr-FR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fr-FR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𝒋𝑹𝑪</m:t>
                                    </m:r>
                                    <m:r>
                                      <a:rPr lang="fr-FR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fr-FR" b="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fr-FR" b="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𝒋𝑪</m:t>
                            </m:r>
                            <m:r>
                              <a:rPr lang="fr-F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  <m:d>
                              <m:dPr>
                                <m:ctrlPr>
                                  <a:rPr lang="fr-F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b="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fr-F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𝒋𝑹𝑪</m:t>
                                </m:r>
                                <m:r>
                                  <a:rPr lang="fr-F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d>
                          </m:den>
                        </m:f>
                      </m:den>
                    </m:f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08A2B84-D222-15A7-FFBF-BB7741BC3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017" y="4384531"/>
                <a:ext cx="4777530" cy="815223"/>
              </a:xfrm>
              <a:prstGeom prst="rect">
                <a:avLst/>
              </a:prstGeom>
              <a:blipFill>
                <a:blip r:embed="rId7"/>
                <a:stretch>
                  <a:fillRect l="-114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4558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53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276600" y="806483"/>
            <a:ext cx="272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F53541-298B-A6FB-F173-37E565789B31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04E521-6913-8190-38C1-BE2F59ED7C14}"/>
                  </a:ext>
                </a:extLst>
              </p:cNvPr>
              <p:cNvSpPr txBox="1"/>
              <p:nvPr/>
            </p:nvSpPr>
            <p:spPr>
              <a:xfrm>
                <a:off x="2133600" y="1468050"/>
                <a:ext cx="4572000" cy="6624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𝐣</m:t>
                          </m:r>
                        </m:e>
                      </m:d>
                      <m:r>
                        <a:rPr lang="fr-FR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𝒋𝑹𝑪</m:t>
                          </m:r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num>
                        <m:den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𝒋𝑹𝑪</m:t>
                          </m:r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fr-FR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𝒋𝑹𝑪</m:t>
                                  </m:r>
                                  <m:r>
                                    <a:rPr lang="fr-FR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  <m:r>
                                    <a:rPr lang="fr-FR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04E521-6913-8190-38C1-BE2F59ED7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1468050"/>
                <a:ext cx="4572000" cy="6624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C7F8539-3B1A-B50D-8830-62D44ECCBB22}"/>
                  </a:ext>
                </a:extLst>
              </p:cNvPr>
              <p:cNvSpPr txBox="1"/>
              <p:nvPr/>
            </p:nvSpPr>
            <p:spPr>
              <a:xfrm>
                <a:off x="2309070" y="2635710"/>
                <a:ext cx="4572000" cy="6624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𝐣</m:t>
                          </m:r>
                        </m:e>
                      </m:d>
                      <m:r>
                        <a:rPr lang="fr-FR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𝒋𝑹𝑪</m:t>
                          </m:r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num>
                        <m:den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𝒋𝑹𝑪</m:t>
                          </m:r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fr-FR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+1+2</m:t>
                          </m:r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𝒋𝑹𝑪</m:t>
                          </m:r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fr-FR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𝒋𝑹𝑪</m:t>
                                  </m:r>
                                  <m:r>
                                    <a:rPr lang="fr-FR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C7F8539-3B1A-B50D-8830-62D44ECCB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070" y="2635710"/>
                <a:ext cx="4572000" cy="6624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C22C4D1-E125-D95E-363C-700FDE8411E3}"/>
                  </a:ext>
                </a:extLst>
              </p:cNvPr>
              <p:cNvSpPr txBox="1"/>
              <p:nvPr/>
            </p:nvSpPr>
            <p:spPr>
              <a:xfrm>
                <a:off x="1752600" y="3803371"/>
                <a:ext cx="6096001" cy="8859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𝐣</m:t>
                          </m:r>
                        </m:e>
                      </m:d>
                      <m:r>
                        <a:rPr lang="fr-FR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𝒋𝑹𝑪</m:t>
                          </m:r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num>
                        <m:den>
                          <m:r>
                            <a:rPr lang="fr-FR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1+3</m:t>
                          </m:r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𝒋𝑹𝑪</m:t>
                          </m:r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fr-FR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𝒋𝑹𝑪</m:t>
                                  </m:r>
                                  <m:r>
                                    <a:rPr lang="fr-FR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FR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3+</m:t>
                          </m:r>
                          <m:f>
                            <m:fPr>
                              <m:ctrlPr>
                                <a:rPr lang="fr-F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𝒋𝑹𝑪</m:t>
                              </m:r>
                              <m:r>
                                <a:rPr lang="fr-F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den>
                          </m:f>
                          <m:r>
                            <a:rPr lang="fr-FR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𝒋𝑹𝑪</m:t>
                          </m:r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C22C4D1-E125-D95E-363C-700FDE841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803371"/>
                <a:ext cx="6096001" cy="8859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1DC69BE-2CF2-AE7A-0C94-D690ED01FB9F}"/>
              </a:ext>
            </a:extLst>
          </p:cNvPr>
          <p:cNvSpPr txBox="1"/>
          <p:nvPr/>
        </p:nvSpPr>
        <p:spPr>
          <a:xfrm>
            <a:off x="0" y="121467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latin typeface="Bookman Old Style" panose="02050604050505020204" pitchFamily="18" charset="0"/>
              </a:rPr>
              <a:t>Fonction de Transfert : </a:t>
            </a:r>
            <a:endParaRPr lang="fr-FR" u="sng" dirty="0"/>
          </a:p>
        </p:txBody>
      </p:sp>
    </p:spTree>
    <p:extLst>
      <p:ext uri="{BB962C8B-B14F-4D97-AF65-F5344CB8AC3E}">
        <p14:creationId xmlns:p14="http://schemas.microsoft.com/office/powerpoint/2010/main" val="8270091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54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276600" y="806483"/>
            <a:ext cx="272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F53541-298B-A6FB-F173-37E565789B31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DC69BE-2CF2-AE7A-0C94-D690ED01FB9F}"/>
              </a:ext>
            </a:extLst>
          </p:cNvPr>
          <p:cNvSpPr txBox="1"/>
          <p:nvPr/>
        </p:nvSpPr>
        <p:spPr>
          <a:xfrm>
            <a:off x="0" y="121467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latin typeface="Bookman Old Style" panose="02050604050505020204" pitchFamily="18" charset="0"/>
              </a:rPr>
              <a:t>Fonction de Transfert : </a:t>
            </a:r>
            <a:endParaRPr lang="fr-FR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9B3939-A724-CC20-5C2D-428747D5D749}"/>
                  </a:ext>
                </a:extLst>
              </p:cNvPr>
              <p:cNvSpPr txBox="1"/>
              <p:nvPr/>
            </p:nvSpPr>
            <p:spPr>
              <a:xfrm>
                <a:off x="2248250" y="1730946"/>
                <a:ext cx="6438550" cy="869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2000" b="1" dirty="0">
                    <a:solidFill>
                      <a:schemeClr val="tx1"/>
                    </a:solidFill>
                  </a:rPr>
                  <a:t>H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d>
                    <m:r>
                      <a:rPr lang="fr-FR" sz="2000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0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fr-FR" sz="20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den>
                        </m:f>
                      </m:num>
                      <m:den>
                        <m:r>
                          <a:rPr lang="fr-FR" sz="20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FR" sz="20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0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fr-FR" sz="20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den>
                        </m:f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d>
                          <m:dPr>
                            <m:ctrlP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𝑹𝑪</m:t>
                            </m:r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fr-FR" sz="20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fr-FR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2000" b="1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fr-FR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𝑹𝑪</m:t>
                                </m:r>
                                <m:r>
                                  <a:rPr lang="fr-FR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a:rPr lang="fr-FR" sz="2000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fr-FR" sz="20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fr-FR" sz="20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FR" sz="20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𝒋𝑸</m:t>
                        </m:r>
                        <m:d>
                          <m:dPr>
                            <m:ctrlPr>
                              <a:rPr lang="fr-F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fr-FR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  <m:sub>
                                    <m:r>
                                      <a:rPr lang="fr-FR" sz="2000" b="1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fr-FR" sz="20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fr-FR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  <m:sub>
                                    <m:r>
                                      <a:rPr lang="fr-FR" sz="2000" b="1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fr-FR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lang="fr-FR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9B3939-A724-CC20-5C2D-428747D5D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250" y="1730946"/>
                <a:ext cx="6438550" cy="869212"/>
              </a:xfrm>
              <a:prstGeom prst="rect">
                <a:avLst/>
              </a:prstGeom>
              <a:blipFill>
                <a:blip r:embed="rId3"/>
                <a:stretch>
                  <a:fillRect l="-10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8A4CC4-ADEC-1839-DF22-5FC18D0E62D7}"/>
                  </a:ext>
                </a:extLst>
              </p:cNvPr>
              <p:cNvSpPr txBox="1"/>
              <p:nvPr/>
            </p:nvSpPr>
            <p:spPr>
              <a:xfrm>
                <a:off x="6578374" y="1858862"/>
                <a:ext cx="4597166" cy="12502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3660">
                  <a:spcBef>
                    <a:spcPts val="930"/>
                  </a:spcBef>
                  <a:spcAft>
                    <a:spcPts val="0"/>
                  </a:spcAft>
                </a:pPr>
                <a:r>
                  <a:rPr lang="fr-FR" sz="16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Avec :</a:t>
                </a:r>
                <a:endParaRPr lang="fr-FR" sz="16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fr-FR" sz="1600" dirty="0"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i="1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fr-FR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fr-FR" sz="16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fr-F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fr-F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fr-F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a:rPr lang="fr-F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  <m:r>
                              <a:rPr lang="fr-F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  </m:t>
                            </m:r>
                          </m:e>
                          <m:e>
                            <m:sSub>
                              <m:sSubPr>
                                <m:ctrlPr>
                                  <a:rPr lang="fr-FR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sz="16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𝛚</m:t>
                                </m:r>
                              </m:e>
                              <m:sub>
                                <m:r>
                                  <a:rPr lang="fr-FR" sz="16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fr-FR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6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fr-FR" sz="16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𝑹𝑪</m:t>
                                </m:r>
                              </m:den>
                            </m:f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𝑸</m:t>
                            </m:r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   </m:t>
                            </m:r>
                          </m:e>
                        </m:eqArr>
                      </m:e>
                    </m:d>
                  </m:oMath>
                </a14:m>
                <a:endParaRPr lang="fr-FR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8A4CC4-ADEC-1839-DF22-5FC18D0E6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374" y="1858862"/>
                <a:ext cx="4597166" cy="1250279"/>
              </a:xfrm>
              <a:prstGeom prst="rect">
                <a:avLst/>
              </a:prstGeom>
              <a:blipFill>
                <a:blip r:embed="rId4"/>
                <a:stretch>
                  <a:fillRect t="-14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4840483-2AB9-E97C-9775-F93EF24E0EDF}"/>
              </a:ext>
            </a:extLst>
          </p:cNvPr>
          <p:cNvSpPr txBox="1"/>
          <p:nvPr/>
        </p:nvSpPr>
        <p:spPr>
          <a:xfrm>
            <a:off x="11185" y="2865120"/>
            <a:ext cx="5612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930"/>
              </a:spcBef>
              <a:spcAft>
                <a:spcPts val="0"/>
              </a:spcAft>
              <a:buClr>
                <a:srgbClr val="000000"/>
              </a:buClr>
            </a:pPr>
            <a:r>
              <a:rPr lang="fr-FR" b="1" u="sng" dirty="0">
                <a:latin typeface="Bookman Old Style" panose="02050604050505020204" pitchFamily="18" charset="0"/>
              </a:rPr>
              <a:t>Diagramme de Bode pour le gain et la phase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9E97B8-916F-9F05-3A64-51EA22D33CDF}"/>
              </a:ext>
            </a:extLst>
          </p:cNvPr>
          <p:cNvSpPr txBox="1"/>
          <p:nvPr/>
        </p:nvSpPr>
        <p:spPr>
          <a:xfrm>
            <a:off x="339776" y="3314748"/>
            <a:ext cx="5612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"/>
            </a:pPr>
            <a:r>
              <a:rPr lang="fr-FR" sz="1800" b="1" u="sng" strike="noStrike" kern="1200" dirty="0">
                <a:solidFill>
                  <a:srgbClr val="7030A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 de Fonction de Transfert </a:t>
            </a:r>
            <a:endParaRPr lang="fr-FR" sz="1800" u="none" strike="noStrike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49F30A7-3C2C-D000-0F4A-1B355D448BFD}"/>
                  </a:ext>
                </a:extLst>
              </p:cNvPr>
              <p:cNvSpPr txBox="1"/>
              <p:nvPr/>
            </p:nvSpPr>
            <p:spPr>
              <a:xfrm>
                <a:off x="1371600" y="3764376"/>
                <a:ext cx="5612234" cy="12407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fr-F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𝐇</m:t>
                          </m:r>
                          <m:d>
                            <m:dPr>
                              <m:ctrlPr>
                                <a:rPr lang="fr-F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  <m:r>
                                <a:rPr lang="fr-FR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</m:d>
                        </m:e>
                      </m:d>
                      <m:r>
                        <a:rPr lang="fr-FR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fr-F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fr-FR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fr-F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𝑗𝑄</m:t>
                              </m:r>
                              <m:d>
                                <m:dPr>
                                  <m:ctrlPr>
                                    <a:rPr lang="fr-FR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𝝎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fr-FR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fr-FR" b="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fr-FR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fr-FR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fr-FR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fr-FR" b="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fr-FR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𝝎</m:t>
                                      </m:r>
                                    </m:den>
                                  </m:f>
                                </m:e>
                              </m:d>
                            </m:den>
                          </m:f>
                        </m:e>
                      </m:d>
                      <m:r>
                        <a:rPr lang="fr-FR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fr-F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𝐇</m:t>
                                  </m:r>
                                </m:e>
                                <m:sub>
                                  <m:r>
                                    <a:rPr lang="fr-FR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F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fr-FR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  <m:d>
                                        <m:dPr>
                                          <m:ctrlPr>
                                            <a:rPr lang="fr-FR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fr-FR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fr-FR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𝝎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fr-FR" b="1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fr-FR" b="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𝜔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fr-FR" b="0" i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  <m:r>
                                            <a:rPr lang="fr-FR" b="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fr-FR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lang="fr-FR" b="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fr-FR" b="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𝜔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fr-FR" b="0" i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fr-FR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𝝎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fr-FR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49F30A7-3C2C-D000-0F4A-1B355D448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3764376"/>
                <a:ext cx="5612234" cy="12407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2">
                <a:extLst>
                  <a:ext uri="{FF2B5EF4-FFF2-40B4-BE49-F238E27FC236}">
                    <a16:creationId xmlns:a16="http://schemas.microsoft.com/office/drawing/2014/main" id="{E0BB92A3-8ED5-92AA-AB23-1B044EEED765}"/>
                  </a:ext>
                </a:extLst>
              </p:cNvPr>
              <p:cNvSpPr txBox="1"/>
              <p:nvPr/>
            </p:nvSpPr>
            <p:spPr>
              <a:xfrm>
                <a:off x="6858000" y="3972485"/>
                <a:ext cx="2438400" cy="2698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1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; </m:t>
                      </m:r>
                      <m:r>
                        <a:rPr lang="fr-FR" sz="1200" b="1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𝑨𝒗𝒆𝒄</m:t>
                      </m:r>
                      <m:r>
                        <a:rPr lang="fr-FR" sz="1200" b="1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sz="1200" b="1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sz="1200" b="1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fr-FR" sz="1200" b="1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sz="1200" b="1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FR" sz="1200" b="1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fr-FR" sz="1200" b="1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fr-FR" sz="1200" b="1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fr-FR" sz="1200" b="1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fr-FR" sz="1200" b="1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𝒆𝒕</m:t>
                      </m:r>
                      <m:r>
                        <a:rPr lang="fr-FR" sz="1200" b="1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sz="1200" b="1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1200" b="1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200" b="1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fr-FR" sz="1200" b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FR" sz="1200" b="1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𝟏</m:t>
                      </m:r>
                      <m:r>
                        <a:rPr lang="fr-FR" sz="1200" b="1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/</m:t>
                      </m:r>
                      <m:r>
                        <a:rPr lang="fr-FR" sz="1200" b="1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𝑹𝑪</m:t>
                      </m:r>
                    </m:oMath>
                  </m:oMathPara>
                </a14:m>
                <a:endParaRPr lang="fr-FR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2">
                <a:extLst>
                  <a:ext uri="{FF2B5EF4-FFF2-40B4-BE49-F238E27FC236}">
                    <a16:creationId xmlns:a16="http://schemas.microsoft.com/office/drawing/2014/main" id="{E0BB92A3-8ED5-92AA-AB23-1B044EEED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3972485"/>
                <a:ext cx="2438400" cy="269875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15043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55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276600" y="806483"/>
            <a:ext cx="272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F53541-298B-A6FB-F173-37E565789B31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840483-2AB9-E97C-9775-F93EF24E0EDF}"/>
              </a:ext>
            </a:extLst>
          </p:cNvPr>
          <p:cNvSpPr txBox="1"/>
          <p:nvPr/>
        </p:nvSpPr>
        <p:spPr>
          <a:xfrm>
            <a:off x="67586" y="1328037"/>
            <a:ext cx="5612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930"/>
              </a:spcBef>
              <a:spcAft>
                <a:spcPts val="0"/>
              </a:spcAft>
              <a:buClr>
                <a:srgbClr val="000000"/>
              </a:buClr>
            </a:pPr>
            <a:r>
              <a:rPr lang="fr-FR" b="1" u="sng" dirty="0">
                <a:latin typeface="Bookman Old Style" panose="02050604050505020204" pitchFamily="18" charset="0"/>
              </a:rPr>
              <a:t>Diagramme de Bode pour le gain et la phase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">
                <a:extLst>
                  <a:ext uri="{FF2B5EF4-FFF2-40B4-BE49-F238E27FC236}">
                    <a16:creationId xmlns:a16="http://schemas.microsoft.com/office/drawing/2014/main" id="{FE4A0787-7EF9-2895-C560-9FF15D818ACE}"/>
                  </a:ext>
                </a:extLst>
              </p:cNvPr>
              <p:cNvSpPr txBox="1"/>
              <p:nvPr/>
            </p:nvSpPr>
            <p:spPr>
              <a:xfrm>
                <a:off x="332785" y="3709533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 marL="342900" lvl="0" indent="-342900">
                  <a:buFont typeface="Wingdings" panose="05000000000000000000" pitchFamily="2" charset="2"/>
                  <a:buChar char=""/>
                  <a:defRPr b="1" u="sng" strike="noStrike">
                    <a:solidFill>
                      <a:srgbClr val="7030A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fr-FR" dirty="0"/>
                  <a:t>Gain en décibel (dB)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fr-FR">
                            <a:latin typeface="Cambria Math" panose="02040503050406030204" pitchFamily="18" charset="0"/>
                          </a:rPr>
                          <m:t>𝐝𝐁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TextBox 4">
                <a:extLst>
                  <a:ext uri="{FF2B5EF4-FFF2-40B4-BE49-F238E27FC236}">
                    <a16:creationId xmlns:a16="http://schemas.microsoft.com/office/drawing/2014/main" id="{FE4A0787-7EF9-2895-C560-9FF15D818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85" y="3709533"/>
                <a:ext cx="4572000" cy="369332"/>
              </a:xfrm>
              <a:prstGeom prst="rect">
                <a:avLst/>
              </a:prstGeom>
              <a:blipFill>
                <a:blip r:embed="rId3"/>
                <a:stretch>
                  <a:fillRect l="-933" t="-10000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142263E-F25E-FDB0-B6FD-3F73ABFA54A8}"/>
              </a:ext>
            </a:extLst>
          </p:cNvPr>
          <p:cNvSpPr txBox="1"/>
          <p:nvPr/>
        </p:nvSpPr>
        <p:spPr>
          <a:xfrm>
            <a:off x="339776" y="169744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"/>
            </a:pPr>
            <a:r>
              <a:rPr lang="fr-FR" sz="1800" b="1" u="sng" strike="noStrike" kern="1200" dirty="0">
                <a:solidFill>
                  <a:srgbClr val="7030A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 </a:t>
            </a:r>
            <a:endParaRPr lang="fr-FR" sz="1800" u="none" strike="noStrike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056E8E2-3ED7-894A-126A-C2C944AB3BD6}"/>
                  </a:ext>
                </a:extLst>
              </p:cNvPr>
              <p:cNvSpPr txBox="1"/>
              <p:nvPr/>
            </p:nvSpPr>
            <p:spPr>
              <a:xfrm>
                <a:off x="1866900" y="1962150"/>
                <a:ext cx="5410200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fr-FR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𝐚𝐫𝐠</m:t>
                      </m:r>
                      <m:d>
                        <m:dPr>
                          <m:ctrlP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𝐇</m:t>
                          </m:r>
                          <m:d>
                            <m:dPr>
                              <m:ctrlPr>
                                <a:rPr lang="fr-F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  <m:r>
                                <a:rPr lang="fr-FR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</m:d>
                        </m:e>
                      </m:d>
                      <m:r>
                        <a:rPr lang="fr-FR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𝐚𝐫𝐠</m:t>
                      </m:r>
                      <m:d>
                        <m:dPr>
                          <m:ctrlP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fr-FR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fr-F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𝒋𝑸</m:t>
                              </m:r>
                              <m:d>
                                <m:dPr>
                                  <m:ctrlPr>
                                    <a:rPr lang="fr-FR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𝝎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fr-FR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𝝎</m:t>
                                          </m:r>
                                        </m:e>
                                        <m:sub>
                                          <m:r>
                                            <a:rPr lang="fr-FR" b="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fr-FR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fr-FR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fr-FR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𝝎</m:t>
                                          </m:r>
                                        </m:e>
                                        <m:sub>
                                          <m:r>
                                            <a:rPr lang="fr-FR" b="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fr-FR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𝝎</m:t>
                                      </m:r>
                                    </m:den>
                                  </m:f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056E8E2-3ED7-894A-126A-C2C944AB3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00" y="1962150"/>
                <a:ext cx="5410200" cy="9840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2CA8F19-319C-A20F-8D59-54D8AF2A1787}"/>
                  </a:ext>
                </a:extLst>
              </p:cNvPr>
              <p:cNvSpPr txBox="1"/>
              <p:nvPr/>
            </p:nvSpPr>
            <p:spPr>
              <a:xfrm>
                <a:off x="2590822" y="2924302"/>
                <a:ext cx="4572000" cy="808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fr-FR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𝐚𝐫𝐜𝐭𝐚𝐧</m:t>
                      </m:r>
                      <m:d>
                        <m:dPr>
                          <m:ctrlP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  <m:d>
                            <m:dPr>
                              <m:ctrlPr>
                                <a:rPr lang="fr-F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𝝎</m:t>
                                      </m:r>
                                    </m:e>
                                    <m:sub>
                                      <m:r>
                                        <a:rPr lang="fr-FR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fr-FR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𝝎</m:t>
                                      </m:r>
                                    </m:e>
                                    <m:sub>
                                      <m:r>
                                        <a:rPr lang="fr-FR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2CA8F19-319C-A20F-8D59-54D8AF2A1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22" y="2924302"/>
                <a:ext cx="4572000" cy="8082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9741F274-28CB-7D49-28F0-8DF80DBA8D0E}"/>
                  </a:ext>
                </a:extLst>
              </p:cNvPr>
              <p:cNvSpPr txBox="1"/>
              <p:nvPr/>
            </p:nvSpPr>
            <p:spPr>
              <a:xfrm>
                <a:off x="838200" y="3962310"/>
                <a:ext cx="7777463" cy="1169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>
                  <a:defRPr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>
                              <a:latin typeface="Cambria Math" panose="02040503050406030204" pitchFamily="18" charset="0"/>
                            </a:rPr>
                            <m:t>𝐝𝐁</m:t>
                          </m:r>
                        </m:sub>
                      </m:sSub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𝟐𝟎</m:t>
                      </m:r>
                      <m:func>
                        <m:func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l-GR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</m:d>
                            </m:e>
                          </m:d>
                          <m:r>
                            <a:rPr lang="fr-FR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>
                              <a:latin typeface="Cambria Math" panose="02040503050406030204" pitchFamily="18" charset="0"/>
                            </a:rPr>
                            <m:t>𝟐𝟎</m:t>
                          </m:r>
                        </m:e>
                      </m:func>
                      <m:r>
                        <a:rPr lang="fr-FR">
                          <a:latin typeface="Cambria Math" panose="02040503050406030204" pitchFamily="18" charset="0"/>
                        </a:rPr>
                        <m:t>𝒍𝒐𝒈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</m:e>
                            <m:sub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fr-FR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𝒍𝒐𝒈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  <m:d>
                                        <m:d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l-GR">
                                                  <a:latin typeface="Cambria Math" panose="02040503050406030204" pitchFamily="18" charset="0"/>
                                                </a:rPr>
                                                <m:t>𝝎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fr-FR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fr-FR">
                                                      <a:latin typeface="Cambria Math" panose="02040503050406030204" pitchFamily="18" charset="0"/>
                                                    </a:rPr>
                                                    <m:t>𝜔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fr-FR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  <m:r>
                                            <a:rPr lang="fr-FR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lang="fr-FR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fr-FR">
                                                      <a:latin typeface="Cambria Math" panose="02040503050406030204" pitchFamily="18" charset="0"/>
                                                    </a:rPr>
                                                    <m:t>𝜔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fr-FR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el-GR">
                                                  <a:latin typeface="Cambria Math" panose="02040503050406030204" pitchFamily="18" charset="0"/>
                                                </a:rPr>
                                                <m:t>𝝎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fr-FR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9" name="TextBox 11">
                <a:extLst>
                  <a:ext uri="{FF2B5EF4-FFF2-40B4-BE49-F238E27FC236}">
                    <a16:creationId xmlns:a16="http://schemas.microsoft.com/office/drawing/2014/main" id="{9741F274-28CB-7D49-28F0-8DF80DBA8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62310"/>
                <a:ext cx="7777463" cy="11699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8389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56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276600" y="806483"/>
            <a:ext cx="272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F53541-298B-A6FB-F173-37E565789B31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840483-2AB9-E97C-9775-F93EF24E0EDF}"/>
              </a:ext>
            </a:extLst>
          </p:cNvPr>
          <p:cNvSpPr txBox="1"/>
          <p:nvPr/>
        </p:nvSpPr>
        <p:spPr>
          <a:xfrm>
            <a:off x="67586" y="1328037"/>
            <a:ext cx="5612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930"/>
              </a:spcBef>
              <a:spcAft>
                <a:spcPts val="0"/>
              </a:spcAft>
              <a:buClr>
                <a:srgbClr val="000000"/>
              </a:buClr>
            </a:pPr>
            <a:r>
              <a:rPr lang="fr-FR" b="1" u="sng" dirty="0">
                <a:latin typeface="Bookman Old Style" panose="02050604050505020204" pitchFamily="18" charset="0"/>
              </a:rPr>
              <a:t>Diagramme de Bode pour le gain et la phase 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B6D8C8C3-560C-AE53-0B55-2BD68BE48498}"/>
              </a:ext>
            </a:extLst>
          </p:cNvPr>
          <p:cNvSpPr txBox="1"/>
          <p:nvPr/>
        </p:nvSpPr>
        <p:spPr>
          <a:xfrm>
            <a:off x="213994" y="1750273"/>
            <a:ext cx="43580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342900" lvl="0" indent="-342900">
              <a:buFont typeface="Wingdings" panose="05000000000000000000" pitchFamily="2" charset="2"/>
              <a:buChar char=""/>
              <a:defRPr b="1" u="sng" strike="noStrike">
                <a:solidFill>
                  <a:srgbClr val="7030A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Asymptotes pour le gain en dB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43C54ED2-1AD8-98BB-2335-0B0B71271E9B}"/>
              </a:ext>
            </a:extLst>
          </p:cNvPr>
          <p:cNvSpPr txBox="1"/>
          <p:nvPr/>
        </p:nvSpPr>
        <p:spPr>
          <a:xfrm>
            <a:off x="414386" y="2267069"/>
            <a:ext cx="30060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u="sng">
                <a:solidFill>
                  <a:srgbClr val="000000"/>
                </a:solidFill>
                <a:effectLst/>
                <a:highlight>
                  <a:srgbClr val="00FF00"/>
                </a:highlight>
                <a:latin typeface="Bookman Old Style" panose="02050604050505020204" pitchFamily="18" charset="0"/>
                <a:ea typeface="Times New Roman" panose="02020603050405020304" pitchFamily="18" charset="0"/>
              </a:rPr>
              <a:t>À basse fréquence :</a:t>
            </a:r>
            <a:r>
              <a:rPr lang="fr-FR" sz="1600" b="1" u="sng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endParaRPr lang="fr-FR" sz="16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6A450B8-7835-C6D2-595C-7F2A2D2DFD1F}"/>
                  </a:ext>
                </a:extLst>
              </p:cNvPr>
              <p:cNvSpPr txBox="1"/>
              <p:nvPr/>
            </p:nvSpPr>
            <p:spPr>
              <a:xfrm>
                <a:off x="2726316" y="2208370"/>
                <a:ext cx="4572000" cy="4959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800" b="1" i="1" kern="12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𝝎</m:t>
                    </m:r>
                    <m:r>
                      <a:rPr lang="fr-FR" sz="1800" b="1" i="1" kern="12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≪</m:t>
                    </m:r>
                    <m:sSub>
                      <m:sSubPr>
                        <m:ctrlPr>
                          <a:rPr lang="fr-FR" sz="18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8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e>
                      <m:sub>
                        <m:r>
                          <a:rPr lang="fr-FR" sz="18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fr-FR" sz="1800" b="1" i="1" kern="12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𝐝𝐨𝐧𝐜</m:t>
                    </m:r>
                    <m:r>
                      <a:rPr lang="fr-FR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</m:t>
                    </m:r>
                    <m:f>
                      <m:fPr>
                        <m:ctrlPr>
                          <a:rPr lang="fr-FR" sz="18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8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num>
                      <m:den>
                        <m:sSub>
                          <m:sSubPr>
                            <m:ctrlPr>
                              <a:rPr lang="fr-FR" sz="1800" b="1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1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800" b="1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fr-FR" sz="1800" b="1" i="1" kern="12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fr-FR" sz="1800" b="1" i="1" kern="12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fr-FR" sz="1800" b="1" i="1" kern="12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6A450B8-7835-C6D2-595C-7F2A2D2DF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316" y="2208370"/>
                <a:ext cx="4572000" cy="4959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C117DAE-59FE-BB6D-270B-56CB3FCEF5AD}"/>
                  </a:ext>
                </a:extLst>
              </p:cNvPr>
              <p:cNvSpPr txBox="1"/>
              <p:nvPr/>
            </p:nvSpPr>
            <p:spPr>
              <a:xfrm>
                <a:off x="5181600" y="2155608"/>
                <a:ext cx="4572000" cy="461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800" kern="12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et</a:t>
                </a:r>
                <a:r>
                  <a:rPr lang="fr-FR" sz="1600" kern="12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fr-FR" sz="1800" b="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l-GR" sz="1800" b="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den>
                    </m:f>
                    <m:r>
                      <a:rPr lang="fr-FR" sz="1800" b="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fr-FR" sz="18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fr-FR" sz="1800" b="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l-GR" sz="1800" b="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den>
                    </m:f>
                    <m:r>
                      <a:rPr lang="fr-FR" sz="1800" b="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≫1)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C117DAE-59FE-BB6D-270B-56CB3FCEF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2155608"/>
                <a:ext cx="4572000" cy="461921"/>
              </a:xfrm>
              <a:prstGeom prst="rect">
                <a:avLst/>
              </a:prstGeom>
              <a:blipFill>
                <a:blip r:embed="rId4"/>
                <a:stretch>
                  <a:fillRect l="-1067" t="-2667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1D749C5-AE5A-8F02-2FFF-F7ECC7311693}"/>
                  </a:ext>
                </a:extLst>
              </p:cNvPr>
              <p:cNvSpPr txBox="1"/>
              <p:nvPr/>
            </p:nvSpPr>
            <p:spPr>
              <a:xfrm>
                <a:off x="2677945" y="2749829"/>
                <a:ext cx="4878198" cy="5915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fr-FR" sz="18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𝑯</m:t>
                        </m:r>
                      </m:e>
                    </m:d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fr-FR" sz="18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800" b="1" i="1" kern="12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1" i="1" kern="12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fr-FR" sz="1800" b="1" i="1" kern="12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fr-FR" sz="18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  <m:f>
                          <m:fPr>
                            <m:ctrlPr>
                              <a:rPr lang="fr-FR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𝝎</m:t>
                                </m:r>
                              </m:e>
                              <m:sub>
                                <m:r>
                                  <a:rPr lang="fr-FR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fr-FR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num>
                          <m:den>
                            <m:r>
                              <a:rPr lang="el-GR" sz="1800" b="1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den>
                        </m:f>
                      </m:den>
                    </m:f>
                    <m:r>
                      <m:rPr>
                        <m:nor/>
                      </m:rPr>
                      <a:rPr lang="fr-FR" sz="1800" b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fr-FR" sz="18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8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f>
                          <m:fPr>
                            <m:ctrlPr>
                              <a:rPr lang="fr-FR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𝝎</m:t>
                                </m:r>
                              </m:e>
                              <m:sub>
                                <m:r>
                                  <a:rPr lang="fr-FR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fr-FR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num>
                          <m:den>
                            <m:r>
                              <a:rPr lang="el-GR" sz="1800" b="1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den>
                        </m:f>
                      </m:den>
                    </m:f>
                    <m:r>
                      <m:rPr>
                        <m:nor/>
                      </m:rPr>
                      <a:rPr lang="fr-FR" sz="1800" b="1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  <a:r>
                  <a:rPr lang="fr-FR" sz="16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fr-FR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1D749C5-AE5A-8F02-2FFF-F7ECC7311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945" y="2749829"/>
                <a:ext cx="4878198" cy="5915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B5B2F32-7CBB-4BD4-C11E-F71E255D45E5}"/>
                  </a:ext>
                </a:extLst>
              </p:cNvPr>
              <p:cNvSpPr txBox="1"/>
              <p:nvPr/>
            </p:nvSpPr>
            <p:spPr>
              <a:xfrm>
                <a:off x="3431006" y="2610343"/>
                <a:ext cx="4878198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𝒂𝒗𝒆𝒄</m:t>
                      </m:r>
                      <m:r>
                        <a:rPr lang="fr-FR" b="0" i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fr-FR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B5B2F32-7CBB-4BD4-C11E-F71E255D4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006" y="2610343"/>
                <a:ext cx="4878198" cy="6127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72A6DED-6330-A4FD-A5E0-85A526E0043E}"/>
                  </a:ext>
                </a:extLst>
              </p:cNvPr>
              <p:cNvSpPr txBox="1"/>
              <p:nvPr/>
            </p:nvSpPr>
            <p:spPr>
              <a:xfrm>
                <a:off x="2132900" y="3339427"/>
                <a:ext cx="4878198" cy="957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algn="ctr">
                  <a:spcBef>
                    <a:spcPts val="93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800" b="1" i="1" u="none" strike="noStrike" kern="0" smtClea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8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𝐇</m:t>
                        </m:r>
                      </m:e>
                      <m:sub>
                        <m:r>
                          <a:rPr lang="fr-FR" sz="18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𝐝𝐁</m:t>
                        </m:r>
                      </m:sub>
                    </m:sSub>
                    <m:r>
                      <a:rPr lang="fr-FR" sz="18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fr-FR" sz="18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𝟐𝟎𝐥𝐨𝐠</m:t>
                    </m:r>
                    <m:d>
                      <m:dPr>
                        <m:ctrlPr>
                          <a:rPr lang="fr-FR" sz="18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sz="18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l-GR" sz="18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𝛚</m:t>
                            </m:r>
                          </m:num>
                          <m:den>
                            <m:sSub>
                              <m:sSubPr>
                                <m:ctrlP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𝛚</m:t>
                                </m:r>
                              </m:e>
                              <m:sub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𝟎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nor/>
                      </m:rPr>
                      <a:rPr lang="fr-FR" sz="1800" b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Bookman Old Style" panose="02050604050505020204" pitchFamily="18" charset="0"/>
                        <a:ea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fr-FR" sz="20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-∞</a:t>
                </a:r>
                <a:endParaRPr lang="fr-FR" sz="18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 algn="ctr">
                  <a:spcBef>
                    <a:spcPts val="93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800" b="1" i="1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800" b="1" i="1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𝐇</m:t>
                        </m:r>
                      </m:e>
                      <m:sub>
                        <m:r>
                          <a:rPr lang="fr-FR" sz="1800" b="1" i="1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𝐝𝐁</m:t>
                        </m:r>
                      </m:sub>
                    </m:sSub>
                    <m:r>
                      <m:rPr>
                        <m:nor/>
                      </m:rPr>
                      <a:rPr lang="fr-FR" sz="1800" b="1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=+20</m:t>
                    </m:r>
                    <m:r>
                      <m:rPr>
                        <m:nor/>
                      </m:rPr>
                      <a:rPr lang="fr-FR" sz="1800" b="1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log</m:t>
                    </m:r>
                    <m:r>
                      <m:rPr>
                        <m:nor/>
                      </m:rPr>
                      <a:rPr lang="fr-FR" sz="1800" b="1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el-GR" sz="2000" b="1" i="1" kern="12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𝝎</m:t>
                    </m:r>
                    <m:r>
                      <a:rPr lang="el-GR" sz="2000" b="1" i="1" kern="12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)−</m:t>
                    </m:r>
                    <m:r>
                      <a:rPr lang="fr-FR" sz="2000" b="1" i="1" kern="12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𝟐𝟎</m:t>
                    </m:r>
                    <m:r>
                      <a:rPr lang="fr-FR" sz="2000" b="1" i="1" kern="12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𝒍𝒐𝒈</m:t>
                    </m:r>
                    <m:d>
                      <m:dPr>
                        <m:ctrlPr>
                          <a:rPr lang="fr-FR" sz="2000" b="1" i="1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b="1" i="1" kern="120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2000" b="1" i="1" kern="120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2000" b="1" i="1" kern="120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sz="2000" b="1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</a:t>
                </a:r>
                <a:endParaRPr lang="fr-FR" sz="1800" b="1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72A6DED-6330-A4FD-A5E0-85A526E00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900" y="3339427"/>
                <a:ext cx="4878198" cy="957057"/>
              </a:xfrm>
              <a:prstGeom prst="rect">
                <a:avLst/>
              </a:prstGeom>
              <a:blipFill>
                <a:blip r:embed="rId7"/>
                <a:stretch>
                  <a:fillRect b="-636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4F01EED-8747-CEED-18CB-DACAB70B2784}"/>
                  </a:ext>
                </a:extLst>
              </p:cNvPr>
              <p:cNvSpPr txBox="1"/>
              <p:nvPr/>
            </p:nvSpPr>
            <p:spPr>
              <a:xfrm>
                <a:off x="-27505" y="4146567"/>
                <a:ext cx="8934281" cy="1231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>
                  <a:spcBef>
                    <a:spcPts val="930"/>
                  </a:spcBef>
                  <a:spcAft>
                    <a:spcPts val="0"/>
                  </a:spcAft>
                </a:pPr>
                <a:r>
                  <a:rPr lang="fr-FR" sz="18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Ainsi :</a:t>
                </a:r>
                <a:endParaRPr lang="fr-FR" sz="18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 indent="-180340" algn="just"/>
                <a14:m>
                  <m:oMath xmlns:m="http://schemas.openxmlformats.org/officeDocument/2006/math">
                    <m:sSub>
                      <m:sSubPr>
                        <m:ctrlPr>
                          <a:rPr lang="fr-FR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𝐇</m:t>
                        </m:r>
                      </m:e>
                      <m:sub>
                        <m:r>
                          <a:rPr lang="fr-FR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𝐝𝐁</m:t>
                        </m:r>
                      </m:sub>
                    </m:sSub>
                  </m:oMath>
                </a14:m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→ </a:t>
                </a:r>
                <a:r>
                  <a:rPr lang="fr-FR" sz="20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-∞</a:t>
                </a:r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qui représente une asymptote sous forme d’une droite de pente +20dB/</a:t>
                </a:r>
                <a:r>
                  <a:rPr lang="fr-FR" sz="1800" b="1" dirty="0" err="1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decade</a:t>
                </a:r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à basse fréquence </a:t>
                </a:r>
                <a:endParaRPr lang="fr-FR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 indent="-180340" algn="just"/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 </a:t>
                </a:r>
                <a:endParaRPr lang="fr-FR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4F01EED-8747-CEED-18CB-DACAB70B2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505" y="4146567"/>
                <a:ext cx="8934281" cy="1231106"/>
              </a:xfrm>
              <a:prstGeom prst="rect">
                <a:avLst/>
              </a:prstGeom>
              <a:blipFill>
                <a:blip r:embed="rId8"/>
                <a:stretch>
                  <a:fillRect t="-2475" r="-54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02063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57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276600" y="806483"/>
            <a:ext cx="272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F53541-298B-A6FB-F173-37E565789B31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840483-2AB9-E97C-9775-F93EF24E0EDF}"/>
              </a:ext>
            </a:extLst>
          </p:cNvPr>
          <p:cNvSpPr txBox="1"/>
          <p:nvPr/>
        </p:nvSpPr>
        <p:spPr>
          <a:xfrm>
            <a:off x="67586" y="1328037"/>
            <a:ext cx="5612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930"/>
              </a:spcBef>
              <a:spcAft>
                <a:spcPts val="0"/>
              </a:spcAft>
              <a:buClr>
                <a:srgbClr val="000000"/>
              </a:buClr>
            </a:pPr>
            <a:r>
              <a:rPr lang="fr-FR" b="1" u="sng" dirty="0">
                <a:latin typeface="Bookman Old Style" panose="02050604050505020204" pitchFamily="18" charset="0"/>
              </a:rPr>
              <a:t>Diagramme de Bode pour le gain et la phase 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B6D8C8C3-560C-AE53-0B55-2BD68BE48498}"/>
              </a:ext>
            </a:extLst>
          </p:cNvPr>
          <p:cNvSpPr txBox="1"/>
          <p:nvPr/>
        </p:nvSpPr>
        <p:spPr>
          <a:xfrm>
            <a:off x="213994" y="1750273"/>
            <a:ext cx="43580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342900" lvl="0" indent="-342900">
              <a:buFont typeface="Wingdings" panose="05000000000000000000" pitchFamily="2" charset="2"/>
              <a:buChar char=""/>
              <a:defRPr b="1" u="sng" strike="noStrike">
                <a:solidFill>
                  <a:srgbClr val="7030A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Asymptotes pour le gain en dB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43C54ED2-1AD8-98BB-2335-0B0B71271E9B}"/>
              </a:ext>
            </a:extLst>
          </p:cNvPr>
          <p:cNvSpPr txBox="1"/>
          <p:nvPr/>
        </p:nvSpPr>
        <p:spPr>
          <a:xfrm>
            <a:off x="414386" y="2267069"/>
            <a:ext cx="30060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u="sng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Bookman Old Style" panose="02050604050505020204" pitchFamily="18" charset="0"/>
                <a:ea typeface="Times New Roman" panose="02020603050405020304" pitchFamily="18" charset="0"/>
              </a:rPr>
              <a:t>À haute fréquence :</a:t>
            </a:r>
            <a:r>
              <a:rPr lang="fr-FR" sz="1600" b="1" u="sng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endParaRPr lang="fr-F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E45328-4A5C-4773-92DB-B4547BEF6CF5}"/>
                  </a:ext>
                </a:extLst>
              </p:cNvPr>
              <p:cNvSpPr txBox="1"/>
              <p:nvPr/>
            </p:nvSpPr>
            <p:spPr>
              <a:xfrm>
                <a:off x="2286000" y="2199358"/>
                <a:ext cx="5181600" cy="4959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algn="ctr">
                  <a:spcBef>
                    <a:spcPts val="930"/>
                  </a:spcBef>
                  <a:spcAft>
                    <a:spcPts val="0"/>
                  </a:spcAft>
                  <a:tabLst>
                    <a:tab pos="3228975" algn="ctr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u="none" strike="noStrike" kern="0" smtClea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16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𝝎</m:t>
                        </m:r>
                      </m:e>
                      <m:sub>
                        <m:r>
                          <a:rPr lang="fr-FR" sz="16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fr-FR" sz="16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≪</m:t>
                    </m:r>
                    <m:r>
                      <a:rPr lang="el-GR" sz="16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𝝎</m:t>
                    </m:r>
                    <m:r>
                      <a:rPr lang="el-GR" sz="16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</m:t>
                    </m:r>
                    <m:r>
                      <a:rPr lang="fr-FR" sz="18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𝐝𝐨𝐧𝐜</m:t>
                    </m:r>
                    <m:r>
                      <a:rPr lang="fr-FR" sz="1800" b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</m:t>
                    </m:r>
                    <m:f>
                      <m:fPr>
                        <m:ctrlPr>
                          <a:rPr lang="fr-FR" sz="18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8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8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l-GR" sz="18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den>
                    </m:f>
                    <m:r>
                      <a:rPr lang="fr-FR" sz="1800" b="1" i="1" u="none" strike="noStrike" kern="12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fr-FR" sz="1800" b="1" i="1" u="none" strike="noStrike" kern="12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fr-FR" sz="1800" b="0" i="1" u="none" strike="noStrike" kern="120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800" b="1" u="none" strike="noStrike" kern="120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et</a:t>
                </a:r>
                <a:r>
                  <a:rPr lang="fr-FR" sz="1800" b="0" u="none" strike="noStrike" kern="120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800" b="1" i="1" u="none" strike="noStrike" kern="12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 </m:t>
                    </m:r>
                    <m:f>
                      <m:fPr>
                        <m:ctrlPr>
                          <a:rPr lang="fr-FR" sz="18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8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num>
                      <m:den>
                        <m:sSub>
                          <m:sSubPr>
                            <m:ctrlPr>
                              <a:rPr lang="fr-FR" sz="1800" b="1" i="1" u="none" strike="noStrike" kern="120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1" i="1" u="none" strike="noStrike" kern="120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800" b="1" i="1" u="none" strike="noStrike" kern="120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fr-FR" sz="18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fr-FR" sz="18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8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8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num>
                      <m:den>
                        <m:sSub>
                          <m:sSubPr>
                            <m:ctrlPr>
                              <a:rPr lang="fr-FR" sz="1800" b="1" i="1" u="none" strike="noStrike" kern="120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1" i="1" u="none" strike="noStrike" kern="120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800" b="1" i="1" u="none" strike="noStrike" kern="120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fr-FR" sz="18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≫</m:t>
                    </m:r>
                    <m:r>
                      <a:rPr lang="fr-FR" sz="18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𝟏</m:t>
                    </m:r>
                    <m:r>
                      <a:rPr lang="fr-FR" sz="18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endParaRPr lang="fr-FR" sz="16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E45328-4A5C-4773-92DB-B4547BEF6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199358"/>
                <a:ext cx="5181600" cy="495905"/>
              </a:xfrm>
              <a:prstGeom prst="rect">
                <a:avLst/>
              </a:prstGeom>
              <a:blipFill>
                <a:blip r:embed="rId3"/>
                <a:stretch>
                  <a:fillRect t="-246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5F73200-89BF-1255-BC74-7DBDFF9AF220}"/>
                  </a:ext>
                </a:extLst>
              </p:cNvPr>
              <p:cNvSpPr txBox="1"/>
              <p:nvPr/>
            </p:nvSpPr>
            <p:spPr>
              <a:xfrm>
                <a:off x="2871471" y="2728745"/>
                <a:ext cx="4572000" cy="624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fr-FR" sz="18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𝐇</m:t>
                        </m:r>
                      </m:e>
                    </m:d>
                    <m:r>
                      <a:rPr lang="fr-FR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fr-FR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800" i="1" kern="12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1800" kern="12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fr-FR" sz="1800" kern="12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fr-FR" sz="1800" b="1" i="1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𝑸</m:t>
                        </m:r>
                        <m:f>
                          <m:fPr>
                            <m:ctrlPr>
                              <a:rPr lang="fr-FR" sz="18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fr-FR" sz="1800" b="1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num>
                          <m:den>
                            <m:sSub>
                              <m:sSubPr>
                                <m:ctrlPr>
                                  <a:rPr lang="fr-FR" sz="18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 b="1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𝝎</m:t>
                                </m:r>
                              </m:e>
                              <m:sub>
                                <m:r>
                                  <a:rPr lang="fr-FR" sz="1800" b="1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sub>
                            </m:sSub>
                          </m:den>
                        </m:f>
                      </m:den>
                    </m:f>
                    <m:r>
                      <m:rPr>
                        <m:nor/>
                      </m:rPr>
                      <a:rPr lang="fr-FR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fr-FR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800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fr-FR" sz="18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fr-FR" sz="1800" b="1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num>
                          <m:den>
                            <m:sSub>
                              <m:sSubPr>
                                <m:ctrlPr>
                                  <a:rPr lang="fr-FR" sz="18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 b="1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𝝎</m:t>
                                </m:r>
                              </m:e>
                              <m:sub>
                                <m:r>
                                  <a:rPr lang="fr-FR" sz="1800" b="1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sub>
                            </m:sSub>
                          </m:den>
                        </m:f>
                      </m:den>
                    </m:f>
                    <m:r>
                      <m:rPr>
                        <m:nor/>
                      </m:rPr>
                      <a:rPr lang="fr-FR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fr-FR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8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1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800" b="1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fr-FR" sz="18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den>
                    </m:f>
                    <m:r>
                      <m:rPr>
                        <m:nor/>
                      </m:rPr>
                      <a:rPr lang="fr-FR" sz="180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fr-FR" sz="180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  <a:r>
                  <a:rPr lang="fr-FR" sz="1600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5F73200-89BF-1255-BC74-7DBDFF9AF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471" y="2728745"/>
                <a:ext cx="4572000" cy="6245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1EEF1CD-8226-2CB3-4B43-0338F3C67061}"/>
                  </a:ext>
                </a:extLst>
              </p:cNvPr>
              <p:cNvSpPr txBox="1"/>
              <p:nvPr/>
            </p:nvSpPr>
            <p:spPr>
              <a:xfrm>
                <a:off x="4057479" y="2596317"/>
                <a:ext cx="4572000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𝒂𝒗𝒆𝒄</m:t>
                      </m:r>
                      <m:r>
                        <a:rPr lang="fr-FR" b="0" i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fr-FR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1EEF1CD-8226-2CB3-4B43-0338F3C67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479" y="2596317"/>
                <a:ext cx="4572000" cy="6127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4486CAC-8221-8BE6-D1F3-E4489BE4F9C3}"/>
                  </a:ext>
                </a:extLst>
              </p:cNvPr>
              <p:cNvSpPr txBox="1"/>
              <p:nvPr/>
            </p:nvSpPr>
            <p:spPr>
              <a:xfrm>
                <a:off x="576301" y="2893505"/>
                <a:ext cx="7490039" cy="8992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>
                  <a:spcBef>
                    <a:spcPts val="930"/>
                  </a:spcBef>
                  <a:spcAft>
                    <a:spcPts val="0"/>
                  </a:spcAft>
                </a:pPr>
                <a:endParaRPr lang="fr-FR" sz="18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 algn="ctr">
                  <a:spcBef>
                    <a:spcPts val="930"/>
                  </a:spcBef>
                  <a:spcAft>
                    <a:spcPts val="0"/>
                  </a:spcAft>
                </a:pPr>
                <a:r>
                  <a:rPr lang="fr-FR" sz="18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8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800" b="1" i="1" u="none" strike="noStrike" kern="0" smtClea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 </m:t>
                        </m:r>
                        <m:r>
                          <a:rPr lang="fr-FR" sz="18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𝐇</m:t>
                        </m:r>
                      </m:e>
                      <m:sub>
                        <m:r>
                          <a:rPr lang="fr-FR" sz="18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𝐝𝐁</m:t>
                        </m:r>
                      </m:sub>
                    </m:sSub>
                    <m:r>
                      <a:rPr lang="fr-FR" sz="18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fr-FR" sz="18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𝟐𝟎𝐥𝐨𝐠</m:t>
                    </m:r>
                    <m:d>
                      <m:dPr>
                        <m:ctrlPr>
                          <a:rPr lang="fr-FR" sz="18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sz="2000" b="1" i="1" u="none" strike="noStrike" kern="120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sz="2000" b="1" i="1" u="none" strike="noStrike" kern="120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b="1" i="1" u="none" strike="noStrike" kern="120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𝝎</m:t>
                                </m:r>
                              </m:e>
                              <m:sub>
                                <m:r>
                                  <a:rPr lang="fr-FR" sz="2000" b="1" i="1" u="none" strike="noStrike" kern="120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sub>
                            </m:sSub>
                          </m:num>
                          <m:den>
                            <m:r>
                              <a:rPr lang="fr-FR" sz="2000" b="1" i="1" u="none" strike="noStrike" kern="120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den>
                        </m:f>
                      </m:e>
                    </m:d>
                    <m:r>
                      <m:rPr>
                        <m:nor/>
                      </m:rPr>
                      <a:rPr lang="fr-FR" sz="1800" b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Bookman Old Style" panose="02050604050505020204" pitchFamily="18" charset="0"/>
                        <a:ea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fr-FR" sz="20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-∞ </a:t>
                </a:r>
                <a:endParaRPr lang="fr-FR" sz="18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4486CAC-8221-8BE6-D1F3-E4489BE4F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01" y="2893505"/>
                <a:ext cx="7490039" cy="899285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58E3844-EE1A-8CFE-03E9-B8E7CE9AB7F5}"/>
                  </a:ext>
                </a:extLst>
              </p:cNvPr>
              <p:cNvSpPr txBox="1"/>
              <p:nvPr/>
            </p:nvSpPr>
            <p:spPr>
              <a:xfrm>
                <a:off x="2027433" y="3695973"/>
                <a:ext cx="6038679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𝐝𝐁</m:t>
                          </m:r>
                        </m:sub>
                      </m:sSub>
                      <m:r>
                        <a:rPr lang="fr-FR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  <m:r>
                        <a:rPr lang="fr-FR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𝐥𝐨𝐠</m:t>
                      </m:r>
                      <m:d>
                        <m:dPr>
                          <m:ctrlP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fr-FR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den>
                          </m:f>
                        </m:e>
                      </m:d>
                      <m:r>
                        <a:rPr lang="fr-FR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=−20</m:t>
                      </m:r>
                      <m:r>
                        <a:rPr lang="fr-F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𝒍𝒐𝒈</m:t>
                      </m:r>
                      <m:d>
                        <m:dPr>
                          <m:ctrlP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  <m:r>
                        <a:rPr lang="fr-FR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+20</m:t>
                      </m:r>
                      <m:r>
                        <a:rPr lang="fr-F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𝒍𝒐𝒈</m:t>
                      </m:r>
                      <m:d>
                        <m:dPr>
                          <m:ctrlP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fr-FR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58E3844-EE1A-8CFE-03E9-B8E7CE9AB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433" y="3695973"/>
                <a:ext cx="6038679" cy="5821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2BA25A3-4A24-2B9F-C3AB-190EE2EBB88C}"/>
                  </a:ext>
                </a:extLst>
              </p:cNvPr>
              <p:cNvSpPr txBox="1"/>
              <p:nvPr/>
            </p:nvSpPr>
            <p:spPr>
              <a:xfrm>
                <a:off x="35406" y="4133617"/>
                <a:ext cx="9073186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>
                  <a:spcBef>
                    <a:spcPts val="930"/>
                  </a:spcBef>
                  <a:spcAft>
                    <a:spcPts val="0"/>
                  </a:spcAft>
                  <a:tabLst>
                    <a:tab pos="3228975" algn="ctr"/>
                  </a:tabLst>
                </a:pPr>
                <a:r>
                  <a:rPr lang="fr-FR" sz="18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Ainsi :</a:t>
                </a:r>
                <a:endParaRPr lang="fr-FR" sz="18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 indent="-180340" algn="just"/>
                <a14:m>
                  <m:oMath xmlns:m="http://schemas.openxmlformats.org/officeDocument/2006/math">
                    <m:sSub>
                      <m:sSubPr>
                        <m:ctrlPr>
                          <a:rPr lang="fr-FR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𝐇</m:t>
                        </m:r>
                      </m:e>
                      <m:sub>
                        <m:r>
                          <a:rPr lang="fr-FR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𝐝𝐁</m:t>
                        </m:r>
                      </m:sub>
                    </m:sSub>
                  </m:oMath>
                </a14:m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→ </a:t>
                </a:r>
                <a:r>
                  <a:rPr lang="fr-FR" sz="20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-∞</a:t>
                </a:r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qui représente une asymptote sous forme d’une droite de pente -20dB/</a:t>
                </a:r>
                <a:r>
                  <a:rPr lang="fr-FR" sz="1800" b="1" dirty="0" err="1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decade</a:t>
                </a:r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à haute fréquence </a:t>
                </a:r>
                <a:endParaRPr lang="fr-FR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2BA25A3-4A24-2B9F-C3AB-190EE2EBB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" y="4133617"/>
                <a:ext cx="9073186" cy="954107"/>
              </a:xfrm>
              <a:prstGeom prst="rect">
                <a:avLst/>
              </a:prstGeom>
              <a:blipFill>
                <a:blip r:embed="rId8"/>
                <a:stretch>
                  <a:fillRect t="-3185" r="-538" b="-89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81859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58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276600" y="806483"/>
            <a:ext cx="272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F53541-298B-A6FB-F173-37E565789B31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840483-2AB9-E97C-9775-F93EF24E0EDF}"/>
              </a:ext>
            </a:extLst>
          </p:cNvPr>
          <p:cNvSpPr txBox="1"/>
          <p:nvPr/>
        </p:nvSpPr>
        <p:spPr>
          <a:xfrm>
            <a:off x="67586" y="1328037"/>
            <a:ext cx="5612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930"/>
              </a:spcBef>
              <a:spcAft>
                <a:spcPts val="0"/>
              </a:spcAft>
              <a:buClr>
                <a:srgbClr val="000000"/>
              </a:buClr>
            </a:pPr>
            <a:r>
              <a:rPr lang="fr-FR" b="1" u="sng" dirty="0">
                <a:latin typeface="Bookman Old Style" panose="02050604050505020204" pitchFamily="18" charset="0"/>
              </a:rPr>
              <a:t>Diagramme de Bode pour le gain et la phase 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B6D8C8C3-560C-AE53-0B55-2BD68BE48498}"/>
              </a:ext>
            </a:extLst>
          </p:cNvPr>
          <p:cNvSpPr txBox="1"/>
          <p:nvPr/>
        </p:nvSpPr>
        <p:spPr>
          <a:xfrm>
            <a:off x="213994" y="1750273"/>
            <a:ext cx="43580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342900" lvl="0" indent="-342900">
              <a:buFont typeface="Wingdings" panose="05000000000000000000" pitchFamily="2" charset="2"/>
              <a:buChar char=""/>
              <a:defRPr b="1" u="sng" strike="noStrike">
                <a:solidFill>
                  <a:srgbClr val="7030A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Asymptotes pour la phase 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43C54ED2-1AD8-98BB-2335-0B0B71271E9B}"/>
              </a:ext>
            </a:extLst>
          </p:cNvPr>
          <p:cNvSpPr txBox="1"/>
          <p:nvPr/>
        </p:nvSpPr>
        <p:spPr>
          <a:xfrm>
            <a:off x="414386" y="2267069"/>
            <a:ext cx="30060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u="sng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Bookman Old Style" panose="02050604050505020204" pitchFamily="18" charset="0"/>
                <a:ea typeface="Times New Roman" panose="02020603050405020304" pitchFamily="18" charset="0"/>
              </a:rPr>
              <a:t>À </a:t>
            </a:r>
            <a:r>
              <a:rPr lang="fr-FR" sz="1600" b="1" u="sng" dirty="0">
                <a:solidFill>
                  <a:srgbClr val="000000"/>
                </a:solidFill>
                <a:highlight>
                  <a:srgbClr val="00FF00"/>
                </a:highlight>
                <a:latin typeface="Bookman Old Style" panose="02050604050505020204" pitchFamily="18" charset="0"/>
                <a:ea typeface="Times New Roman" panose="02020603050405020304" pitchFamily="18" charset="0"/>
              </a:rPr>
              <a:t>basse</a:t>
            </a:r>
            <a:r>
              <a:rPr lang="fr-FR" sz="1600" b="1" u="sng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Bookman Old Style" panose="02050604050505020204" pitchFamily="18" charset="0"/>
                <a:ea typeface="Times New Roman" panose="02020603050405020304" pitchFamily="18" charset="0"/>
              </a:rPr>
              <a:t> fréquence :</a:t>
            </a:r>
            <a:r>
              <a:rPr lang="fr-FR" sz="1600" b="1" u="sng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endParaRPr lang="fr-F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1E3F39-0F17-40F1-9DAF-8AECCECAF8AB}"/>
                  </a:ext>
                </a:extLst>
              </p:cNvPr>
              <p:cNvSpPr txBox="1"/>
              <p:nvPr/>
            </p:nvSpPr>
            <p:spPr>
              <a:xfrm>
                <a:off x="2162834" y="2192105"/>
                <a:ext cx="6248400" cy="451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180340" algn="ctr"/>
                <a14:m>
                  <m:oMath xmlns:m="http://schemas.openxmlformats.org/officeDocument/2006/math">
                    <m:r>
                      <a:rPr lang="fr-FR" sz="1600" b="1" i="1" kern="12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𝝎</m:t>
                    </m:r>
                    <m:r>
                      <a:rPr lang="fr-FR" sz="1600" b="1" i="1" kern="12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≪</m:t>
                    </m:r>
                    <m:sSub>
                      <m:sSubPr>
                        <m:ctrlPr>
                          <a:rPr lang="fr-FR" sz="16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e>
                      <m:sub>
                        <m:r>
                          <a:rPr lang="fr-FR" sz="16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fr-FR" sz="1600" b="1" i="1" kern="12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fr-FR" sz="16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𝐝𝐨𝐧𝐜</m:t>
                    </m:r>
                    <m:r>
                      <a:rPr lang="fr-FR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</m:t>
                    </m:r>
                    <m:f>
                      <m:fPr>
                        <m:ctrlPr>
                          <a:rPr lang="fr-FR" sz="16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6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num>
                      <m:den>
                        <m:sSub>
                          <m:sSubPr>
                            <m:ctrlPr>
                              <a:rPr lang="fr-FR" sz="1600" b="1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1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600" b="1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fr-FR" sz="1600" b="1" i="1" kern="12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fr-FR" sz="1600" b="1" i="1" kern="12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fr-FR" sz="1600" b="1" i="1" kern="12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fr-FR" sz="1600" b="1" kern="12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et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l-GR" sz="16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den>
                    </m:f>
                    <m:r>
                      <a:rPr lang="fr-FR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→+∞</m:t>
                    </m:r>
                  </m:oMath>
                </a14:m>
                <a:r>
                  <a:rPr lang="fr-FR" sz="16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6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l-GR" sz="16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den>
                    </m:f>
                    <m:r>
                      <a:rPr lang="fr-FR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≫1)</m:t>
                    </m:r>
                  </m:oMath>
                </a14:m>
                <a:endPara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1E3F39-0F17-40F1-9DAF-8AECCECAF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834" y="2192105"/>
                <a:ext cx="6248400" cy="4511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35E7D95-6724-08EA-23C6-7C5FE461266A}"/>
                  </a:ext>
                </a:extLst>
              </p:cNvPr>
              <p:cNvSpPr txBox="1"/>
              <p:nvPr/>
            </p:nvSpPr>
            <p:spPr>
              <a:xfrm>
                <a:off x="2781298" y="2559260"/>
                <a:ext cx="4572000" cy="7287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fr-FR" sz="16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6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𝐚𝐫𝐜𝐭𝐚𝐧</m:t>
                      </m:r>
                      <m:d>
                        <m:dPr>
                          <m:ctrlPr>
                            <a:rPr lang="fr-FR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  <m:d>
                            <m:dPr>
                              <m:ctrlPr>
                                <a:rPr lang="fr-FR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6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6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𝝎</m:t>
                                      </m:r>
                                    </m:e>
                                    <m:sub>
                                      <m:r>
                                        <a:rPr lang="fr-FR" sz="16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6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fr-FR" sz="1600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600" b="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6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𝝎</m:t>
                                      </m:r>
                                    </m:e>
                                    <m:sub>
                                      <m:r>
                                        <a:rPr lang="fr-FR" sz="16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fr-FR" sz="16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 </m:t>
                      </m:r>
                      <m:f>
                        <m:fPr>
                          <m:ctrlPr>
                            <a:rPr lang="fr-FR" sz="16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fr-FR" sz="16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fr-FR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35E7D95-6724-08EA-23C6-7C5FE4612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298" y="2559260"/>
                <a:ext cx="4572000" cy="7287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4">
            <a:extLst>
              <a:ext uri="{FF2B5EF4-FFF2-40B4-BE49-F238E27FC236}">
                <a16:creationId xmlns:a16="http://schemas.microsoft.com/office/drawing/2014/main" id="{843ED84A-C31F-8A92-4CB2-BFC58B1AD26B}"/>
              </a:ext>
            </a:extLst>
          </p:cNvPr>
          <p:cNvSpPr txBox="1"/>
          <p:nvPr/>
        </p:nvSpPr>
        <p:spPr>
          <a:xfrm>
            <a:off x="355855" y="3253762"/>
            <a:ext cx="30060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u="sng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Bookman Old Style" panose="02050604050505020204" pitchFamily="18" charset="0"/>
                <a:ea typeface="Times New Roman" panose="02020603050405020304" pitchFamily="18" charset="0"/>
              </a:rPr>
              <a:t>À </a:t>
            </a:r>
            <a:r>
              <a:rPr lang="fr-FR" sz="1600" b="1" u="sng" dirty="0">
                <a:solidFill>
                  <a:srgbClr val="000000"/>
                </a:solidFill>
                <a:highlight>
                  <a:srgbClr val="00FF00"/>
                </a:highlight>
                <a:latin typeface="Bookman Old Style" panose="02050604050505020204" pitchFamily="18" charset="0"/>
                <a:ea typeface="Times New Roman" panose="02020603050405020304" pitchFamily="18" charset="0"/>
              </a:rPr>
              <a:t>haute</a:t>
            </a:r>
            <a:r>
              <a:rPr lang="fr-FR" sz="1600" b="1" u="sng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Bookman Old Style" panose="02050604050505020204" pitchFamily="18" charset="0"/>
                <a:ea typeface="Times New Roman" panose="02020603050405020304" pitchFamily="18" charset="0"/>
              </a:rPr>
              <a:t> fréquence :</a:t>
            </a:r>
            <a:r>
              <a:rPr lang="fr-FR" sz="1600" b="1" u="sng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endParaRPr lang="fr-F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D9A8AB8-5712-9749-6CD7-BA74EBB4CB81}"/>
                  </a:ext>
                </a:extLst>
              </p:cNvPr>
              <p:cNvSpPr txBox="1"/>
              <p:nvPr/>
            </p:nvSpPr>
            <p:spPr>
              <a:xfrm>
                <a:off x="2265472" y="3347545"/>
                <a:ext cx="5562601" cy="1087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algn="ctr">
                  <a:spcBef>
                    <a:spcPts val="930"/>
                  </a:spcBef>
                  <a:spcAft>
                    <a:spcPts val="0"/>
                  </a:spcAft>
                  <a:tabLst>
                    <a:tab pos="3228975" algn="ctr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u="none" strike="noStrike" kern="0" smtClea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16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𝝎</m:t>
                        </m:r>
                      </m:e>
                      <m:sub>
                        <m:r>
                          <a:rPr lang="fr-FR" sz="16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fr-FR" sz="16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≪</m:t>
                    </m:r>
                    <m:r>
                      <a:rPr lang="el-GR" sz="16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𝝎</m:t>
                    </m:r>
                    <m:r>
                      <a:rPr lang="el-GR" sz="16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</m:t>
                    </m:r>
                    <m:r>
                      <a:rPr lang="fr-FR" sz="16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𝐝𝐨𝐧𝐜</m:t>
                    </m:r>
                    <m:r>
                      <a:rPr lang="fr-FR" sz="1600" b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</m:t>
                    </m:r>
                    <m:f>
                      <m:fPr>
                        <m:ctrlPr>
                          <a:rPr lang="fr-FR" sz="16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6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6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l-GR" sz="16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den>
                    </m:f>
                    <m:r>
                      <a:rPr lang="fr-FR" sz="1600" b="1" i="1" u="none" strike="noStrike" kern="12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fr-FR" sz="1600" b="1" i="1" u="none" strike="noStrike" kern="12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fr-FR" sz="1600" b="0" i="1" u="none" strike="noStrike" kern="120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b="1" u="none" strike="noStrike" kern="120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et</a:t>
                </a:r>
                <a:r>
                  <a:rPr lang="fr-FR" sz="1600" b="0" u="none" strike="noStrike" kern="120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600" b="1" i="1" u="none" strike="noStrike" kern="12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 </m:t>
                    </m:r>
                    <m:f>
                      <m:fPr>
                        <m:ctrlPr>
                          <a:rPr lang="fr-FR" sz="16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6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num>
                      <m:den>
                        <m:sSub>
                          <m:sSubPr>
                            <m:ctrlPr>
                              <a:rPr lang="fr-FR" sz="1600" b="1" i="1" u="none" strike="noStrike" kern="120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1" i="1" u="none" strike="noStrike" kern="120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600" b="1" i="1" u="none" strike="noStrike" kern="120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fr-FR" sz="16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→+∞</m:t>
                    </m:r>
                  </m:oMath>
                </a14:m>
                <a:r>
                  <a:rPr lang="fr-FR" sz="16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6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num>
                      <m:den>
                        <m:sSub>
                          <m:sSubPr>
                            <m:ctrlPr>
                              <a:rPr lang="fr-FR" sz="1600" b="1" i="1" u="none" strike="noStrike" kern="120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1" i="1" u="none" strike="noStrike" kern="120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600" b="1" i="1" u="none" strike="noStrike" kern="120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fr-FR" sz="16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≫</m:t>
                    </m:r>
                    <m:r>
                      <a:rPr lang="fr-FR" sz="16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𝟏</m:t>
                    </m:r>
                    <m:r>
                      <a:rPr lang="fr-FR" sz="16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endParaRPr lang="fr-FR" sz="16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73660">
                  <a:spcBef>
                    <a:spcPts val="93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600" b="1" i="1" strike="noStrike" kern="0" smtClea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𝝋</m:t>
                      </m:r>
                      <m:r>
                        <a:rPr lang="fr-FR" sz="1600" b="1" strike="noStrike" ker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fr-FR" sz="1600" b="1" i="1" strike="noStrike" ker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r>
                        <a:rPr lang="fr-FR" sz="1600" b="1" i="1" strike="noStrike" ker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𝐚𝐫𝐜𝐭𝐚𝐧</m:t>
                      </m:r>
                      <m:d>
                        <m:dPr>
                          <m:ctrlPr>
                            <a:rPr lang="fr-FR" sz="1600" b="1" i="1" strike="noStrike" kern="0">
                              <a:solidFill>
                                <a:srgbClr val="FF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FR" sz="1600" b="1" i="1" strike="noStrike" kern="0">
                              <a:solidFill>
                                <a:srgbClr val="FF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𝑸</m:t>
                          </m:r>
                          <m:d>
                            <m:dPr>
                              <m:ctrlPr>
                                <a:rPr lang="fr-FR" sz="1600" b="1" i="1" strike="noStrike" kern="0">
                                  <a:solidFill>
                                    <a:srgbClr val="FF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600" b="1" i="1" strike="noStrike" kern="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sz="1600" b="1" i="1" kern="120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𝝎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600" b="1" i="1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600" b="1" i="1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𝝎</m:t>
                                      </m:r>
                                    </m:e>
                                    <m:sub>
                                      <m:r>
                                        <a:rPr lang="fr-FR" sz="1600" b="1" i="1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600" b="1" i="1" strike="noStrike" kern="0">
                                  <a:solidFill>
                                    <a:srgbClr val="FF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fr-FR" sz="1600" b="1" i="1" strike="noStrike" kern="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600" b="1" i="1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600" b="1" i="1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𝝎</m:t>
                                      </m:r>
                                    </m:e>
                                    <m:sub>
                                      <m:r>
                                        <a:rPr lang="fr-FR" sz="1600" b="1" i="1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l-GR" sz="1600" b="1" i="1" kern="120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𝝎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fr-FR" sz="1600" b="1" i="1" strike="noStrike" kern="0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→</m:t>
                      </m:r>
                      <m:d>
                        <m:dPr>
                          <m:ctrlPr>
                            <a:rPr lang="fr-FR" sz="1600" b="1" i="1" strike="noStrike" kern="0">
                              <a:solidFill>
                                <a:srgbClr val="FF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FR" sz="1600" b="1" i="1" strike="noStrike" kern="0">
                              <a:solidFill>
                                <a:srgbClr val="FF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 </m:t>
                          </m:r>
                          <m:f>
                            <m:fPr>
                              <m:ctrlPr>
                                <a:rPr lang="fr-FR" sz="1600" b="1" i="1" strike="noStrike" kern="0">
                                  <a:solidFill>
                                    <a:srgbClr val="FF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600" b="1" i="1" strike="noStrike" kern="0">
                                  <a:solidFill>
                                    <a:srgbClr val="FF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𝝅</m:t>
                              </m:r>
                            </m:num>
                            <m:den>
                              <m:r>
                                <a:rPr lang="fr-FR" sz="1600" b="1" i="1" strike="noStrike" kern="0">
                                  <a:solidFill>
                                    <a:srgbClr val="FF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fr-FR" sz="1600" b="1" kern="0" dirty="0">
                  <a:solidFill>
                    <a:srgbClr val="FF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D9A8AB8-5712-9749-6CD7-BA74EBB4C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5472" y="3347545"/>
                <a:ext cx="5562601" cy="10875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1B610703-916A-1277-731F-A25D987D87B5}"/>
              </a:ext>
            </a:extLst>
          </p:cNvPr>
          <p:cNvSpPr txBox="1"/>
          <p:nvPr/>
        </p:nvSpPr>
        <p:spPr>
          <a:xfrm>
            <a:off x="541219" y="4232954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Bookman Old Style" panose="02050604050505020204" pitchFamily="18" charset="0"/>
                <a:ea typeface="Times New Roman" panose="02020603050405020304" pitchFamily="18" charset="0"/>
              </a:rPr>
              <a:t> </a:t>
            </a:r>
            <a:endParaRPr lang="fr-FR" dirty="0">
              <a:highlight>
                <a:srgbClr val="00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4">
                <a:extLst>
                  <a:ext uri="{FF2B5EF4-FFF2-40B4-BE49-F238E27FC236}">
                    <a16:creationId xmlns:a16="http://schemas.microsoft.com/office/drawing/2014/main" id="{519C2C61-3D7C-D0C0-C319-4A668C14CB44}"/>
                  </a:ext>
                </a:extLst>
              </p:cNvPr>
              <p:cNvSpPr txBox="1"/>
              <p:nvPr/>
            </p:nvSpPr>
            <p:spPr>
              <a:xfrm>
                <a:off x="270510" y="4143148"/>
                <a:ext cx="300609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600" b="1" u="sng" dirty="0">
                    <a:solidFill>
                      <a:srgbClr val="000000"/>
                    </a:solidFill>
                    <a:effectLst/>
                    <a:highlight>
                      <a:srgbClr val="00FF00"/>
                    </a:highlight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l-GR" sz="1600" b="1" i="1" u="none" strike="noStrike" kern="0" smtClean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𝝎</m:t>
                    </m:r>
                    <m:r>
                      <a:rPr lang="fr-FR" sz="1600" b="1" i="1" u="none" strike="noStrike" kern="0" smtClean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1" i="1" kern="0" smtClean="0">
                            <a:solidFill>
                              <a:srgbClr val="000000"/>
                            </a:solidFill>
                            <a:highlight>
                              <a:srgbClr val="00FF00"/>
                            </a:highlight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1600" b="1" i="1" kern="0">
                            <a:solidFill>
                              <a:srgbClr val="000000"/>
                            </a:solidFill>
                            <a:highlight>
                              <a:srgbClr val="00FF00"/>
                            </a:highlight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𝝎</m:t>
                        </m:r>
                      </m:e>
                      <m:sub>
                        <m:r>
                          <a:rPr lang="fr-FR" sz="1600" b="1" i="1" kern="0" smtClean="0">
                            <a:solidFill>
                              <a:srgbClr val="000000"/>
                            </a:solidFill>
                            <a:highlight>
                              <a:srgbClr val="00FF00"/>
                            </a:highlight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𝟎</m:t>
                        </m:r>
                        <m:r>
                          <a:rPr lang="fr-FR" sz="1600" b="1" i="1" kern="0" smtClean="0">
                            <a:solidFill>
                              <a:srgbClr val="000000"/>
                            </a:solidFill>
                            <a:highlight>
                              <a:srgbClr val="00FF00"/>
                            </a:highlight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fr-FR" sz="1600" dirty="0">
                  <a:effectLst/>
                  <a:highlight>
                    <a:srgbClr val="00FF00"/>
                  </a:highlight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4">
                <a:extLst>
                  <a:ext uri="{FF2B5EF4-FFF2-40B4-BE49-F238E27FC236}">
                    <a16:creationId xmlns:a16="http://schemas.microsoft.com/office/drawing/2014/main" id="{519C2C61-3D7C-D0C0-C319-4A668C14C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10" y="4143148"/>
                <a:ext cx="3006090" cy="338554"/>
              </a:xfrm>
              <a:prstGeom prst="rect">
                <a:avLst/>
              </a:prstGeom>
              <a:blipFill>
                <a:blip r:embed="rId6"/>
                <a:stretch>
                  <a:fillRect l="-1012" t="-5455" b="-236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1CE4E7B-A1E7-8702-9E22-C846924112D6}"/>
                  </a:ext>
                </a:extLst>
              </p:cNvPr>
              <p:cNvSpPr txBox="1"/>
              <p:nvPr/>
            </p:nvSpPr>
            <p:spPr>
              <a:xfrm>
                <a:off x="2781298" y="4483094"/>
                <a:ext cx="4572000" cy="649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fr-FR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4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𝐚𝐫𝐜𝐭𝐚𝐧</m:t>
                      </m:r>
                      <m:d>
                        <m:dPr>
                          <m:ctrlPr>
                            <a:rPr lang="fr-FR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  <m:d>
                            <m:dPr>
                              <m:ctrlPr>
                                <a:rPr lang="fr-FR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𝝎</m:t>
                                      </m:r>
                                    </m:e>
                                    <m:sub>
                                      <m:r>
                                        <a:rPr lang="fr-FR" sz="14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fr-FR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𝝎</m:t>
                                      </m:r>
                                    </m:e>
                                    <m:sub>
                                      <m:r>
                                        <a:rPr lang="fr-FR" sz="14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fr-FR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1CE4E7B-A1E7-8702-9E22-C84692411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298" y="4483094"/>
                <a:ext cx="4572000" cy="6491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6015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59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276600" y="806483"/>
            <a:ext cx="272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F53541-298B-A6FB-F173-37E565789B31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0C74D-5CF4-C1AE-64B3-3F4347E50A6A}"/>
              </a:ext>
            </a:extLst>
          </p:cNvPr>
          <p:cNvSpPr txBox="1"/>
          <p:nvPr/>
        </p:nvSpPr>
        <p:spPr>
          <a:xfrm>
            <a:off x="-304800" y="1352550"/>
            <a:ext cx="746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spcBef>
                <a:spcPts val="930"/>
              </a:spcBef>
              <a:spcAft>
                <a:spcPts val="0"/>
              </a:spcAft>
              <a:tabLst>
                <a:tab pos="3228975" algn="ctr"/>
              </a:tabLst>
            </a:pPr>
            <a:r>
              <a:rPr lang="fr-FR" sz="1800" b="0" u="none" strike="noStrike" kern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Bookman Old Style" panose="02050604050505020204" pitchFamily="18" charset="0"/>
                <a:ea typeface="Times New Roman" panose="02020603050405020304" pitchFamily="18" charset="0"/>
              </a:rPr>
              <a:t>Nous obtenons ainsi le </a:t>
            </a:r>
            <a:r>
              <a:rPr lang="fr-FR" sz="1800" b="1" u="none" strike="noStrike" kern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Bookman Old Style" panose="02050604050505020204" pitchFamily="18" charset="0"/>
                <a:ea typeface="Times New Roman" panose="02020603050405020304" pitchFamily="18" charset="0"/>
              </a:rPr>
              <a:t>diagramme de Bode suivant :</a:t>
            </a:r>
            <a:endParaRPr lang="fr-FR" sz="1800" b="1" u="sng" kern="0" dirty="0"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F26F29-4AC1-6048-B1AE-F352DC854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2247777"/>
            <a:ext cx="4343400" cy="21492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1616EED-B136-66DC-AA6D-27E60076E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80717"/>
            <a:ext cx="4966805" cy="22162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754500-E4A3-9E31-241C-260E7035FC7E}"/>
              </a:ext>
            </a:extLst>
          </p:cNvPr>
          <p:cNvSpPr txBox="1"/>
          <p:nvPr/>
        </p:nvSpPr>
        <p:spPr>
          <a:xfrm>
            <a:off x="0" y="1729340"/>
            <a:ext cx="47607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930"/>
              </a:spcBef>
              <a:spcAft>
                <a:spcPts val="0"/>
              </a:spcAft>
              <a:buClr>
                <a:srgbClr val="000000"/>
              </a:buClr>
            </a:pPr>
            <a:r>
              <a:rPr lang="fr-FR" sz="1600" b="1" u="sng" dirty="0">
                <a:solidFill>
                  <a:srgbClr val="6600FF"/>
                </a:solidFill>
                <a:latin typeface="Bookman Old Style" panose="02050604050505020204" pitchFamily="18" charset="0"/>
              </a:rPr>
              <a:t>Diagramme de Bode pour le gain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AB1975-0E17-7095-2EE0-15AA435CAF1F}"/>
              </a:ext>
            </a:extLst>
          </p:cNvPr>
          <p:cNvSpPr txBox="1"/>
          <p:nvPr/>
        </p:nvSpPr>
        <p:spPr>
          <a:xfrm>
            <a:off x="5257800" y="1788942"/>
            <a:ext cx="47607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930"/>
              </a:spcBef>
              <a:spcAft>
                <a:spcPts val="0"/>
              </a:spcAft>
              <a:buClr>
                <a:srgbClr val="000000"/>
              </a:buClr>
            </a:pPr>
            <a:r>
              <a:rPr lang="fr-FR" sz="1600" b="1" u="sng" dirty="0">
                <a:solidFill>
                  <a:srgbClr val="6600FF"/>
                </a:solidFill>
                <a:latin typeface="Bookman Old Style" panose="02050604050505020204" pitchFamily="18" charset="0"/>
              </a:rPr>
              <a:t>Diagramme de Bode pour la phase</a:t>
            </a:r>
          </a:p>
        </p:txBody>
      </p:sp>
    </p:spTree>
    <p:extLst>
      <p:ext uri="{BB962C8B-B14F-4D97-AF65-F5344CB8AC3E}">
        <p14:creationId xmlns:p14="http://schemas.microsoft.com/office/powerpoint/2010/main" val="26731978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60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276600" y="806483"/>
            <a:ext cx="272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F53541-298B-A6FB-F173-37E565789B31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0C74D-5CF4-C1AE-64B3-3F4347E50A6A}"/>
              </a:ext>
            </a:extLst>
          </p:cNvPr>
          <p:cNvSpPr txBox="1"/>
          <p:nvPr/>
        </p:nvSpPr>
        <p:spPr>
          <a:xfrm>
            <a:off x="-304800" y="1156881"/>
            <a:ext cx="746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spcBef>
                <a:spcPts val="930"/>
              </a:spcBef>
              <a:spcAft>
                <a:spcPts val="0"/>
              </a:spcAft>
              <a:tabLst>
                <a:tab pos="3228975" algn="ctr"/>
              </a:tabLst>
            </a:pPr>
            <a:r>
              <a:rPr lang="fr-FR" sz="1800" b="1" u="sng" strike="noStrike" kern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Bookman Old Style" panose="02050604050505020204" pitchFamily="18" charset="0"/>
                <a:ea typeface="Times New Roman" panose="02020603050405020304" pitchFamily="18" charset="0"/>
              </a:rPr>
              <a:t>Fréquence de coupure </a:t>
            </a:r>
            <a:endParaRPr lang="fr-FR" sz="1800" b="1" u="sng" kern="0" dirty="0"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9C798C-FF30-FA7E-83A5-650226D43515}"/>
                  </a:ext>
                </a:extLst>
              </p:cNvPr>
              <p:cNvSpPr txBox="1"/>
              <p:nvPr/>
            </p:nvSpPr>
            <p:spPr>
              <a:xfrm>
                <a:off x="-457200" y="1626043"/>
                <a:ext cx="95004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algn="just">
                  <a:spcBef>
                    <a:spcPts val="930"/>
                  </a:spcBef>
                  <a:spcAft>
                    <a:spcPts val="0"/>
                  </a:spcAft>
                </a:pPr>
                <a:r>
                  <a:rPr lang="fr-FR" sz="14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La fréquence de coupure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4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fr-FR" sz="14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fr-FR" sz="14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, ou </a:t>
                </a:r>
                <a:r>
                  <a:rPr lang="fr-FR" sz="1400" b="1" i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4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𝝎</m:t>
                        </m:r>
                      </m:e>
                      <m:sub>
                        <m:r>
                          <a:rPr lang="fr-FR" sz="14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fr-FR" sz="14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, est la fréquence à laquelle l’amplitude de sortie est à de la valeur maximale :</a:t>
                </a:r>
                <a:endParaRPr lang="fr-FR" sz="14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9C798C-FF30-FA7E-83A5-650226D43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7200" y="1626043"/>
                <a:ext cx="9500456" cy="523220"/>
              </a:xfrm>
              <a:prstGeom prst="rect">
                <a:avLst/>
              </a:prstGeom>
              <a:blipFill>
                <a:blip r:embed="rId3"/>
                <a:stretch>
                  <a:fillRect t="-2326" r="-193" b="-1046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BC76A8-6518-DFCC-AB4C-93BD86E6B34F}"/>
                  </a:ext>
                </a:extLst>
              </p:cNvPr>
              <p:cNvSpPr txBox="1"/>
              <p:nvPr/>
            </p:nvSpPr>
            <p:spPr>
              <a:xfrm>
                <a:off x="2057400" y="2027067"/>
                <a:ext cx="4802696" cy="874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𝐇</m:t>
                          </m:r>
                          <m:d>
                            <m:dPr>
                              <m:ctrlP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  <m:sSub>
                                <m:sSubPr>
                                  <m:ctrlPr>
                                    <a:rPr lang="fr-FR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fr-FR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fr-FR" sz="16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fr-FR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fr-FR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𝒋𝑸</m:t>
                              </m:r>
                              <m:d>
                                <m:dPr>
                                  <m:ctrlPr>
                                    <a:rPr lang="fr-FR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fr-FR" sz="16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16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𝝎</m:t>
                                          </m:r>
                                        </m:e>
                                        <m:sub>
                                          <m:r>
                                            <a:rPr lang="fr-FR" sz="16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𝒄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fr-FR" sz="16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16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𝝎</m:t>
                                          </m:r>
                                        </m:e>
                                        <m:sub>
                                          <m:r>
                                            <a:rPr lang="fr-FR" sz="1600" b="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fr-FR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fr-FR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fr-FR" sz="16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16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𝝎</m:t>
                                          </m:r>
                                        </m:e>
                                        <m:sub>
                                          <m:r>
                                            <a:rPr lang="fr-FR" sz="1600" b="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fr-FR" sz="16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16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𝝎</m:t>
                                          </m:r>
                                        </m:e>
                                        <m:sub>
                                          <m:r>
                                            <a:rPr lang="fr-FR" sz="16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𝒄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den>
                          </m:f>
                        </m:e>
                      </m:d>
                      <m:r>
                        <a:rPr lang="fr-FR" sz="16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FR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fr-FR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BC76A8-6518-DFCC-AB4C-93BD86E6B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2027067"/>
                <a:ext cx="4802696" cy="874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ACF53D4-ABEB-1244-0B26-22D45695D1E1}"/>
                  </a:ext>
                </a:extLst>
              </p:cNvPr>
              <p:cNvSpPr txBox="1"/>
              <p:nvPr/>
            </p:nvSpPr>
            <p:spPr>
              <a:xfrm>
                <a:off x="103239" y="2901987"/>
                <a:ext cx="8773718" cy="447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600" b="1" u="none" strike="noStrike" kern="120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Le module est maximal pour </a:t>
                </a:r>
                <a14:m>
                  <m:oMath xmlns:m="http://schemas.openxmlformats.org/officeDocument/2006/math">
                    <m:r>
                      <a:rPr lang="fr-FR" sz="1600" b="1" i="1" u="none" strike="noStrike" kern="12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𝝎</m:t>
                    </m:r>
                    <m:r>
                      <a:rPr lang="fr-FR" sz="1600" b="1" i="1" u="none" strike="noStrike" kern="12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fr-FR" sz="16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𝝎</m:t>
                        </m:r>
                      </m:e>
                      <m:sub>
                        <m:r>
                          <a:rPr lang="fr-FR" sz="16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fr-FR" sz="1600" b="1" i="1" u="none" strike="noStrike" kern="12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fr-FR" sz="1600" b="1" u="none" strike="noStrike" kern="120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et vaut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𝑯</m:t>
                        </m:r>
                      </m:e>
                      <m:sub>
                        <m:r>
                          <a:rPr lang="fr-FR" sz="16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𝒎𝒂𝒙</m:t>
                        </m:r>
                      </m:sub>
                    </m:sSub>
                    <m:r>
                      <a:rPr lang="fr-FR" sz="1600" b="1" i="1" u="none" strike="noStrike" kern="12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𝑯</m:t>
                        </m:r>
                      </m:e>
                      <m:sub>
                        <m:r>
                          <a:rPr lang="fr-FR" sz="16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fr-FR" sz="1600" b="1" i="1" u="none" strike="noStrike" kern="120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fr-FR" sz="16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6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fr-FR" sz="1600" b="1" i="1" u="none" strike="noStrike" kern="120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fr-FR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ACF53D4-ABEB-1244-0B26-22D4569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39" y="2901987"/>
                <a:ext cx="8773718" cy="447943"/>
              </a:xfrm>
              <a:prstGeom prst="rect">
                <a:avLst/>
              </a:prstGeom>
              <a:blipFill>
                <a:blip r:embed="rId5"/>
                <a:stretch>
                  <a:fillRect b="-40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B5AB3E5-C3E9-7665-5021-7B05C856569F}"/>
                  </a:ext>
                </a:extLst>
              </p:cNvPr>
              <p:cNvSpPr txBox="1"/>
              <p:nvPr/>
            </p:nvSpPr>
            <p:spPr>
              <a:xfrm>
                <a:off x="2286000" y="3344163"/>
                <a:ext cx="4802696" cy="11010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fr-FR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d>
                        <m:dPr>
                          <m:ctrlPr>
                            <a:rPr lang="fr-FR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</m:e>
                      </m:d>
                      <m:r>
                        <a:rPr lang="fr-FR" sz="16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fr-FR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fr-FR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FR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fr-FR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p>
                                  <m:r>
                                    <a:rPr lang="fr-FR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fr-FR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fr-FR" sz="16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fr-FR" sz="16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fr-FR" sz="16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𝒇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sz="16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𝒄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fr-FR" sz="16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fr-FR" sz="16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𝒇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sz="1600" b="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r>
                                        <a:rPr lang="fr-FR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fr-FR" sz="16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fr-FR" sz="16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fr-FR" sz="16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𝒇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sz="1600" b="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fr-FR" sz="16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fr-FR" sz="16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𝒇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sz="16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𝒄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fr-FR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fr-FR" sz="16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fr-FR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FR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fr-FR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B5AB3E5-C3E9-7665-5021-7B05C8565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344163"/>
                <a:ext cx="4802696" cy="11010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3859E23-4D60-AADB-151B-843C257D927C}"/>
                  </a:ext>
                </a:extLst>
              </p:cNvPr>
              <p:cNvSpPr txBox="1"/>
              <p:nvPr/>
            </p:nvSpPr>
            <p:spPr>
              <a:xfrm>
                <a:off x="1058904" y="4447082"/>
                <a:ext cx="7163626" cy="585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3660" algn="ctr">
                  <a:spcBef>
                    <a:spcPts val="93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fr-FR" sz="1800" b="1" i="1" u="none" strike="noStrike" kern="0" smtClea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FR" sz="18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𝑸</m:t>
                        </m:r>
                        <m:d>
                          <m:dPr>
                            <m:ctrlPr>
                              <a:rPr lang="fr-FR" sz="18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fr-FR" sz="18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d>
                    <m:r>
                      <a:rPr lang="fr-FR" sz="18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fr-FR" sz="18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fr-FR" sz="18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   c’est-à-dire   </a:t>
                </a:r>
                <a14:m>
                  <m:oMath xmlns:m="http://schemas.openxmlformats.org/officeDocument/2006/math">
                    <m:r>
                      <a:rPr lang="fr-FR" sz="1800" b="1" i="1" u="none" strike="noStrike" kern="0" smtClean="0">
                        <a:solidFill>
                          <a:srgbClr val="FF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𝑸</m:t>
                    </m:r>
                    <m:d>
                      <m:dPr>
                        <m:ctrlPr>
                          <a:rPr lang="fr-FR" sz="1800" b="1" i="1" u="none" strike="noStrike" kern="0">
                            <a:solidFill>
                              <a:srgbClr val="FF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sz="1800" b="1" i="1" u="none" strike="noStrike" kern="0">
                                <a:solidFill>
                                  <a:srgbClr val="FF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sz="1800" b="1" i="1" u="none" strike="noStrike" kern="0">
                                    <a:solidFill>
                                      <a:srgbClr val="FF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 b="1" i="1" u="none" strike="noStrike" kern="0">
                                    <a:solidFill>
                                      <a:srgbClr val="FF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fr-FR" sz="1800" b="1" i="1" u="none" strike="noStrike" kern="0">
                                    <a:solidFill>
                                      <a:srgbClr val="FF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𝒄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sz="1800" b="1" i="1" u="none" strike="noStrike" kern="0">
                                    <a:solidFill>
                                      <a:srgbClr val="FF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 b="1" i="1" u="none" strike="noStrike" kern="0">
                                    <a:solidFill>
                                      <a:srgbClr val="FF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fr-FR" sz="1800" b="1" i="1" u="none" strike="noStrike" kern="0">
                                    <a:solidFill>
                                      <a:srgbClr val="FF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𝟎</m:t>
                                </m:r>
                              </m:sub>
                            </m:sSub>
                          </m:den>
                        </m:f>
                        <m:r>
                          <a:rPr lang="fr-FR" sz="1800" b="1" i="1" u="none" strike="noStrike" kern="0">
                            <a:solidFill>
                              <a:srgbClr val="FF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fr-FR" sz="1800" b="1" i="1" u="none" strike="noStrike" kern="0">
                                <a:solidFill>
                                  <a:srgbClr val="FF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sz="1800" b="1" i="1" u="none" strike="noStrike" kern="0">
                                    <a:solidFill>
                                      <a:srgbClr val="FF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 b="1" i="1" u="none" strike="noStrike" kern="0">
                                    <a:solidFill>
                                      <a:srgbClr val="FF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fr-FR" sz="1800" b="1" i="1" u="none" strike="noStrike" kern="0">
                                    <a:solidFill>
                                      <a:srgbClr val="FF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𝟎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fr-FR" sz="1800" b="1" i="1" u="none" strike="noStrike" kern="0">
                                    <a:solidFill>
                                      <a:srgbClr val="FF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 b="1" i="1" u="none" strike="noStrike" kern="0">
                                    <a:solidFill>
                                      <a:srgbClr val="FF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fr-FR" sz="1800" b="1" i="1" u="none" strike="noStrike" kern="0">
                                    <a:solidFill>
                                      <a:srgbClr val="FF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𝒄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sz="1800" b="1" i="1" u="none" strike="noStrike" kern="0">
                        <a:solidFill>
                          <a:srgbClr val="FF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=±</m:t>
                    </m:r>
                    <m:r>
                      <a:rPr lang="fr-FR" sz="1800" b="1" i="1" u="none" strike="noStrike" kern="0">
                        <a:solidFill>
                          <a:srgbClr val="FF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𝟏</m:t>
                    </m:r>
                  </m:oMath>
                </a14:m>
                <a:endParaRPr lang="fr-FR" sz="18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3859E23-4D60-AADB-151B-843C257D9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904" y="4447082"/>
                <a:ext cx="7163626" cy="5852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30579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61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276600" y="806483"/>
            <a:ext cx="272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F53541-298B-A6FB-F173-37E565789B31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0C74D-5CF4-C1AE-64B3-3F4347E50A6A}"/>
              </a:ext>
            </a:extLst>
          </p:cNvPr>
          <p:cNvSpPr txBox="1"/>
          <p:nvPr/>
        </p:nvSpPr>
        <p:spPr>
          <a:xfrm>
            <a:off x="-304800" y="1156881"/>
            <a:ext cx="746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spcBef>
                <a:spcPts val="930"/>
              </a:spcBef>
              <a:spcAft>
                <a:spcPts val="0"/>
              </a:spcAft>
              <a:tabLst>
                <a:tab pos="3228975" algn="ctr"/>
              </a:tabLst>
            </a:pPr>
            <a:r>
              <a:rPr lang="fr-FR" sz="1800" b="1" u="sng" strike="noStrike" kern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Bookman Old Style" panose="02050604050505020204" pitchFamily="18" charset="0"/>
                <a:ea typeface="Times New Roman" panose="02020603050405020304" pitchFamily="18" charset="0"/>
              </a:rPr>
              <a:t>Fréquence de coupure </a:t>
            </a:r>
            <a:endParaRPr lang="fr-FR" sz="1800" b="1" u="sng" kern="0" dirty="0"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A1AB7C-D21F-DE5A-12E7-113BBDE89707}"/>
              </a:ext>
            </a:extLst>
          </p:cNvPr>
          <p:cNvSpPr txBox="1"/>
          <p:nvPr/>
        </p:nvSpPr>
        <p:spPr>
          <a:xfrm>
            <a:off x="545314" y="1734779"/>
            <a:ext cx="4723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fr-FR" sz="1800" b="1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br>
              <a:rPr lang="fr-FR" sz="1800" i="1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73B22B-C5AE-9183-B4D4-E90E925AA4E5}"/>
                  </a:ext>
                </a:extLst>
              </p:cNvPr>
              <p:cNvSpPr txBox="1"/>
              <p:nvPr/>
            </p:nvSpPr>
            <p:spPr>
              <a:xfrm>
                <a:off x="2439798" y="1632251"/>
                <a:ext cx="4723002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1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𝑸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  <m:r>
                            <a:rPr lang="fr-FR" sz="18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sz="1800" b="1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FR" sz="1800" b="1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73B22B-C5AE-9183-B4D4-E90E925AA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798" y="1632251"/>
                <a:ext cx="4723002" cy="714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144D04-9957-854B-6315-915D33B33C7F}"/>
                  </a:ext>
                </a:extLst>
              </p:cNvPr>
              <p:cNvSpPr txBox="1"/>
              <p:nvPr/>
            </p:nvSpPr>
            <p:spPr>
              <a:xfrm>
                <a:off x="2279216" y="2555500"/>
                <a:ext cx="4723002" cy="374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𝑸</m:t>
                      </m:r>
                      <m:sSubSup>
                        <m:sSubSupPr>
                          <m:ctrlPr>
                            <a:rPr lang="fr-FR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  <m:sup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fr-FR" b="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fr-FR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fr-FR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𝑸</m:t>
                      </m:r>
                      <m:sSubSup>
                        <m:sSubSupPr>
                          <m:ctrlPr>
                            <a:rPr lang="fr-FR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fr-FR" b="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144D04-9957-854B-6315-915D33B33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216" y="2555500"/>
                <a:ext cx="4723002" cy="374783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7A2CAC4-D62F-FF50-571C-2C1477D41883}"/>
                  </a:ext>
                </a:extLst>
              </p:cNvPr>
              <p:cNvSpPr txBox="1"/>
              <p:nvPr/>
            </p:nvSpPr>
            <p:spPr>
              <a:xfrm>
                <a:off x="576301" y="2930283"/>
                <a:ext cx="6781101" cy="7521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3660">
                  <a:spcBef>
                    <a:spcPts val="930"/>
                  </a:spcBef>
                  <a:spcAft>
                    <a:spcPts val="0"/>
                  </a:spcAft>
                </a:pPr>
                <a:r>
                  <a:rPr lang="fr-FR" sz="16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Donc </a:t>
                </a:r>
                <a:endParaRPr lang="fr-FR" sz="16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73660" algn="ctr">
                  <a:spcBef>
                    <a:spcPts val="930"/>
                  </a:spcBef>
                  <a:spcAft>
                    <a:spcPts val="0"/>
                  </a:spcAft>
                </a:pPr>
                <a:r>
                  <a:rPr lang="fr-FR" sz="16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ea typeface="Times New Roman" panose="02020603050405020304" pitchFamily="18" charset="0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fr-FR" sz="1600" b="1" i="0" u="none" strike="noStrike" kern="0" smtClea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           </m:t>
                    </m:r>
                    <m:r>
                      <a:rPr lang="fr-FR" sz="1600" b="1" i="1" u="none" strike="noStrike" kern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∆=</m:t>
                    </m:r>
                    <m:sSub>
                      <m:sSubPr>
                        <m:ctrlPr>
                          <a:rPr lang="fr-FR" sz="16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fr-FR" sz="16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fr-FR" sz="16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fr-FR" sz="16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𝟏</m:t>
                        </m:r>
                        <m:r>
                          <a:rPr lang="fr-FR" sz="16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r>
                          <a:rPr lang="fr-FR" sz="16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𝟒</m:t>
                        </m:r>
                        <m:sSup>
                          <m:sSupPr>
                            <m:ctrlPr>
                              <a:rPr lang="fr-FR" sz="16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𝑸</m:t>
                            </m:r>
                          </m:e>
                          <m:sup>
                            <m:r>
                              <a:rPr lang="fr-FR" sz="16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endParaRPr lang="fr-FR" sz="16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7A2CAC4-D62F-FF50-571C-2C1477D4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01" y="2930283"/>
                <a:ext cx="6781101" cy="752129"/>
              </a:xfrm>
              <a:prstGeom prst="rect">
                <a:avLst/>
              </a:prstGeom>
              <a:blipFill>
                <a:blip r:embed="rId5"/>
                <a:stretch>
                  <a:fillRect t="-2439" b="-406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C874479-F126-33E0-B295-9F58562A6EBC}"/>
                  </a:ext>
                </a:extLst>
              </p:cNvPr>
              <p:cNvSpPr txBox="1"/>
              <p:nvPr/>
            </p:nvSpPr>
            <p:spPr>
              <a:xfrm>
                <a:off x="603565" y="3479456"/>
                <a:ext cx="8229600" cy="16178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3660">
                  <a:spcBef>
                    <a:spcPts val="930"/>
                  </a:spcBef>
                  <a:spcAft>
                    <a:spcPts val="0"/>
                  </a:spcAft>
                </a:pPr>
                <a:r>
                  <a:rPr lang="fr-FR" sz="18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Ainsi :</a:t>
                </a:r>
                <a:endParaRPr lang="fr-FR" sz="18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73660" algn="ctr">
                  <a:spcBef>
                    <a:spcPts val="93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fr-FR" sz="1800" b="1" i="1" u="none" strike="noStrike" kern="0" smtClean="0">
                              <a:solidFill>
                                <a:srgbClr val="FF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800" b="1" i="1" u="none" strike="noStrike" kern="0">
                                  <a:solidFill>
                                    <a:srgbClr val="FF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fr-FR" sz="1800" b="1" i="1" u="none" strike="noStrike" kern="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b="1" i="1" u="none" strike="noStrike" kern="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fr-FR" sz="1800" b="1" i="1" u="none" strike="noStrike" kern="0">
                                  <a:solidFill>
                                    <a:srgbClr val="FF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fr-FR" sz="1800" b="1" i="1" u="none" strike="noStrike" kern="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𝒇</m:t>
                                      </m:r>
                                    </m:e>
                                    <m:sub>
                                      <m: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800" b="1" i="1" u="none" strike="noStrike" kern="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𝟐</m:t>
                                  </m:r>
                                  <m:r>
                                    <a:rPr lang="fr-FR" sz="1800" b="1" i="1" u="none" strike="noStrike" kern="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𝑸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fr-FR" sz="1800" b="1" i="1" u="none" strike="noStrike" kern="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800" b="1" i="1" u="none" strike="noStrike" kern="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𝟏</m:t>
                                  </m:r>
                                  <m:r>
                                    <a:rPr lang="fr-FR" sz="1800" b="1" i="1" u="none" strike="noStrike" kern="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𝟒</m:t>
                                      </m:r>
                                      <m:sSup>
                                        <m:sSupPr>
                                          <m:ctrlPr>
                                            <a:rPr lang="fr-FR" sz="1800" b="1" i="1" u="none" strike="noStrike" kern="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uFill>
                                                <a:solidFill>
                                                  <a:srgbClr val="000000"/>
                                                </a:solidFill>
                                              </a:uFill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sz="1800" b="1" i="1" u="none" strike="noStrike" kern="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uFill>
                                                <a:solidFill>
                                                  <a:srgbClr val="000000"/>
                                                </a:solidFill>
                                              </a:uFill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𝑸</m:t>
                                          </m:r>
                                        </m:e>
                                        <m:sup>
                                          <m:r>
                                            <a:rPr lang="fr-FR" sz="1800" b="1" i="1" u="none" strike="noStrike" kern="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uFill>
                                                <a:solidFill>
                                                  <a:srgbClr val="000000"/>
                                                </a:solidFill>
                                              </a:uFill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𝟐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fr-FR" sz="1800" b="1" i="1" u="none" strike="noStrike" kern="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b="1" i="1" u="none" strike="noStrike" kern="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fr-FR" sz="1800" b="1" i="1" u="none" strike="noStrike" kern="0">
                                  <a:solidFill>
                                    <a:srgbClr val="FF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fr-FR" sz="1800" b="1" i="1" u="none" strike="noStrike" kern="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𝒇</m:t>
                                      </m:r>
                                    </m:e>
                                    <m:sub>
                                      <m: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800" b="1" i="1" u="none" strike="noStrike" kern="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𝟐</m:t>
                                  </m:r>
                                  <m:r>
                                    <a:rPr lang="fr-FR" sz="1800" b="1" i="1" u="none" strike="noStrike" kern="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𝑸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fr-FR" sz="1800" b="1" i="1" u="none" strike="noStrike" kern="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800" b="1" i="1" u="none" strike="noStrike" kern="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𝟏</m:t>
                                  </m:r>
                                  <m:r>
                                    <a:rPr lang="fr-FR" sz="1800" b="1" i="1" u="none" strike="noStrike" kern="0">
                                      <a:solidFill>
                                        <a:srgbClr val="FF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+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a:rPr lang="fr-FR" sz="1800" b="1" i="1" u="none" strike="noStrike" kern="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Fill>
                                            <a:solidFill>
                                              <a:srgbClr val="000000"/>
                                            </a:solidFill>
                                          </a:u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𝟒</m:t>
                                      </m:r>
                                      <m:sSup>
                                        <m:sSupPr>
                                          <m:ctrlPr>
                                            <a:rPr lang="fr-FR" sz="1800" b="1" i="1" u="none" strike="noStrike" kern="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uFill>
                                                <a:solidFill>
                                                  <a:srgbClr val="000000"/>
                                                </a:solidFill>
                                              </a:uFill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sz="1800" b="1" i="1" u="none" strike="noStrike" kern="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uFill>
                                                <a:solidFill>
                                                  <a:srgbClr val="000000"/>
                                                </a:solidFill>
                                              </a:uFill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𝑸</m:t>
                                          </m:r>
                                        </m:e>
                                        <m:sup>
                                          <m:r>
                                            <a:rPr lang="fr-FR" sz="1800" b="1" i="1" u="none" strike="noStrike" kern="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uFill>
                                                <a:solidFill>
                                                  <a:srgbClr val="000000"/>
                                                </a:solidFill>
                                              </a:uFill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𝟐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fr-FR" sz="18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C874479-F126-33E0-B295-9F58562A6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65" y="3479456"/>
                <a:ext cx="8229600" cy="1617879"/>
              </a:xfrm>
              <a:prstGeom prst="rect">
                <a:avLst/>
              </a:prstGeom>
              <a:blipFill>
                <a:blip r:embed="rId6"/>
                <a:stretch>
                  <a:fillRect t="-226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24444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62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276600" y="806483"/>
            <a:ext cx="272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F53541-298B-A6FB-F173-37E565789B31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0C74D-5CF4-C1AE-64B3-3F4347E50A6A}"/>
              </a:ext>
            </a:extLst>
          </p:cNvPr>
          <p:cNvSpPr txBox="1"/>
          <p:nvPr/>
        </p:nvSpPr>
        <p:spPr>
          <a:xfrm>
            <a:off x="-304800" y="1156881"/>
            <a:ext cx="746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spcBef>
                <a:spcPts val="930"/>
              </a:spcBef>
              <a:spcAft>
                <a:spcPts val="0"/>
              </a:spcAft>
              <a:tabLst>
                <a:tab pos="3228975" algn="ctr"/>
              </a:tabLst>
            </a:pPr>
            <a:r>
              <a:rPr lang="fr-FR" sz="1800" b="1" u="sng" strike="noStrike" kern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Bookman Old Style" panose="02050604050505020204" pitchFamily="18" charset="0"/>
                <a:ea typeface="Times New Roman" panose="02020603050405020304" pitchFamily="18" charset="0"/>
              </a:rPr>
              <a:t>Fréquence de coupure </a:t>
            </a:r>
            <a:endParaRPr lang="fr-FR" sz="1800" b="1" u="sng" kern="0" dirty="0"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A1AB7C-D21F-DE5A-12E7-113BBDE89707}"/>
              </a:ext>
            </a:extLst>
          </p:cNvPr>
          <p:cNvSpPr txBox="1"/>
          <p:nvPr/>
        </p:nvSpPr>
        <p:spPr>
          <a:xfrm>
            <a:off x="545314" y="1734779"/>
            <a:ext cx="4723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fr-FR" sz="1800" b="1" dirty="0">
                <a:solidFill>
                  <a:srgbClr val="00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br>
              <a:rPr lang="fr-FR" sz="1800" i="1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73B22B-C5AE-9183-B4D4-E90E925AA4E5}"/>
                  </a:ext>
                </a:extLst>
              </p:cNvPr>
              <p:cNvSpPr txBox="1"/>
              <p:nvPr/>
            </p:nvSpPr>
            <p:spPr>
              <a:xfrm>
                <a:off x="2439798" y="1632251"/>
                <a:ext cx="4723002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>
                          <a:latin typeface="Cambria Math" panose="02040503050406030204" pitchFamily="18" charset="0"/>
                        </a:rPr>
                        <m:t>𝑸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fr-FR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73B22B-C5AE-9183-B4D4-E90E925AA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798" y="1632251"/>
                <a:ext cx="4723002" cy="714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144D04-9957-854B-6315-915D33B33C7F}"/>
                  </a:ext>
                </a:extLst>
              </p:cNvPr>
              <p:cNvSpPr txBox="1"/>
              <p:nvPr/>
            </p:nvSpPr>
            <p:spPr>
              <a:xfrm>
                <a:off x="2279216" y="2555500"/>
                <a:ext cx="4723002" cy="388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>
                          <a:latin typeface="Cambria Math" panose="02040503050406030204" pitchFamily="18" charset="0"/>
                        </a:rPr>
                        <m:t>𝑸</m:t>
                      </m:r>
                      <m:sSubSup>
                        <m:sSubSup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  <m:sup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fr-FR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fr-FR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𝑸</m:t>
                      </m:r>
                      <m:sSubSup>
                        <m:sSubSup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fr-F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b="1" u="sng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144D04-9957-854B-6315-915D33B33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216" y="2555500"/>
                <a:ext cx="4723002" cy="388504"/>
              </a:xfrm>
              <a:prstGeom prst="rect">
                <a:avLst/>
              </a:prstGeom>
              <a:blipFill>
                <a:blip r:embed="rId4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7A2CAC4-D62F-FF50-571C-2C1477D41883}"/>
                  </a:ext>
                </a:extLst>
              </p:cNvPr>
              <p:cNvSpPr txBox="1"/>
              <p:nvPr/>
            </p:nvSpPr>
            <p:spPr>
              <a:xfrm>
                <a:off x="576301" y="2930283"/>
                <a:ext cx="6781101" cy="675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3660">
                  <a:spcBef>
                    <a:spcPts val="930"/>
                  </a:spcBef>
                  <a:spcAft>
                    <a:spcPts val="0"/>
                  </a:spcAft>
                </a:pPr>
                <a:r>
                  <a:rPr lang="fr-FR" sz="16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Donc </a:t>
                </a:r>
                <a:endParaRPr lang="fr-FR" sz="16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                          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∆=</m:t>
                      </m:r>
                      <m:sSub>
                        <m:sSub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𝟒</m:t>
                          </m:r>
                          <m:sSup>
                            <m:sSup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fr-FR" b="1" u="sng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7A2CAC4-D62F-FF50-571C-2C1477D4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01" y="2930283"/>
                <a:ext cx="6781101" cy="675441"/>
              </a:xfrm>
              <a:prstGeom prst="rect">
                <a:avLst/>
              </a:prstGeom>
              <a:blipFill>
                <a:blip r:embed="rId5"/>
                <a:stretch>
                  <a:fillRect t="-2727" b="-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C874479-F126-33E0-B295-9F58562A6EBC}"/>
                  </a:ext>
                </a:extLst>
              </p:cNvPr>
              <p:cNvSpPr txBox="1"/>
              <p:nvPr/>
            </p:nvSpPr>
            <p:spPr>
              <a:xfrm>
                <a:off x="603565" y="3479456"/>
                <a:ext cx="8229600" cy="2010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3660">
                  <a:spcBef>
                    <a:spcPts val="930"/>
                  </a:spcBef>
                  <a:spcAft>
                    <a:spcPts val="0"/>
                  </a:spcAft>
                </a:pPr>
                <a:r>
                  <a:rPr lang="fr-FR" sz="18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Ainsi :</a:t>
                </a:r>
                <a:endParaRPr lang="fr-FR" sz="18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73660" algn="ctr">
                  <a:spcBef>
                    <a:spcPts val="93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𝒇</m:t>
                                      </m:r>
                                    </m:e>
                                    <m:sub>
                                      <m: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  <m:sSup>
                                        <m:sSupPr>
                                          <m:ctrlPr>
                                            <a:rPr lang="fr-FR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𝑸</m:t>
                                          </m:r>
                                        </m:e>
                                        <m:sup>
                                          <m:r>
                                            <a:rPr lang="fr-FR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d>
                            </m:e>
                            <m:e>
                              <m:sSubSup>
                                <m:sSubSupPr>
                                  <m:ctrlP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𝒇</m:t>
                                      </m:r>
                                    </m:e>
                                    <m:sub>
                                      <m: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fr-FR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  <m:sSup>
                                        <m:sSupPr>
                                          <m:ctrlPr>
                                            <a:rPr lang="fr-FR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𝑸</m:t>
                                          </m:r>
                                        </m:e>
                                        <m:sup>
                                          <m:r>
                                            <a:rPr lang="fr-FR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fr-FR" b="1" u="sng" dirty="0"/>
              </a:p>
              <a:p>
                <a:pPr marL="73660" algn="ctr">
                  <a:spcBef>
                    <a:spcPts val="930"/>
                  </a:spcBef>
                  <a:spcAft>
                    <a:spcPts val="0"/>
                  </a:spcAft>
                </a:pPr>
                <a:endParaRPr lang="fr-FR" sz="18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C874479-F126-33E0-B295-9F58562A6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65" y="3479456"/>
                <a:ext cx="8229600" cy="2010294"/>
              </a:xfrm>
              <a:prstGeom prst="rect">
                <a:avLst/>
              </a:prstGeom>
              <a:blipFill>
                <a:blip r:embed="rId6"/>
                <a:stretch>
                  <a:fillRect t="-18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54821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63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276600" y="806483"/>
            <a:ext cx="272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F53541-298B-A6FB-F173-37E565789B31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0C74D-5CF4-C1AE-64B3-3F4347E50A6A}"/>
              </a:ext>
            </a:extLst>
          </p:cNvPr>
          <p:cNvSpPr txBox="1"/>
          <p:nvPr/>
        </p:nvSpPr>
        <p:spPr>
          <a:xfrm>
            <a:off x="-304800" y="1156881"/>
            <a:ext cx="746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spcBef>
                <a:spcPts val="930"/>
              </a:spcBef>
              <a:spcAft>
                <a:spcPts val="0"/>
              </a:spcAft>
              <a:tabLst>
                <a:tab pos="3228975" algn="ctr"/>
              </a:tabLst>
            </a:pPr>
            <a:r>
              <a:rPr lang="fr-FR" sz="1800" b="1" u="sng" strike="noStrike" kern="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Bookman Old Style" panose="02050604050505020204" pitchFamily="18" charset="0"/>
                <a:ea typeface="Times New Roman" panose="02020603050405020304" pitchFamily="18" charset="0"/>
              </a:rPr>
              <a:t>Fréquence de coupure </a:t>
            </a:r>
            <a:endParaRPr lang="fr-FR" sz="1800" b="1" u="sng" kern="0" dirty="0"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DD6C0B-D42F-CE40-F2C0-1670B5FAFAEB}"/>
                  </a:ext>
                </a:extLst>
              </p:cNvPr>
              <p:cNvSpPr txBox="1"/>
              <p:nvPr/>
            </p:nvSpPr>
            <p:spPr>
              <a:xfrm>
                <a:off x="125730" y="1678044"/>
                <a:ext cx="9029973" cy="17874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Seules les solutions positives de cette équation sont physiquement acceptables.</a:t>
                </a:r>
                <a:endParaRPr lang="fr-FR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73660" algn="ctr">
                  <a:spcBef>
                    <a:spcPts val="93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sz="18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18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0000"/>
                                    </a:highlight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0000"/>
                                    </a:highlight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𝒇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fr-FR" sz="18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highlight>
                                  <a:srgbClr val="FF0000"/>
                                </a:highlight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0000"/>
                                    </a:highlight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0000"/>
                                    </a:highlight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0000"/>
                                    </a:highlight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𝑸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0000"/>
                                    </a:highlight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0000"/>
                                    </a:highlight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0000"/>
                                    </a:highlight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𝟏</m:t>
                                    </m:r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𝟒</m:t>
                                    </m:r>
                                    <m:sSup>
                                      <m:sSupPr>
                                        <m:ctrlPr>
                                          <a:rPr lang="fr-FR" sz="1800" b="1" i="1" u="none" strike="noStrike" ker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highlight>
                                              <a:srgbClr val="FF0000"/>
                                            </a:highlight>
                                            <a:uFill>
                                              <a:solidFill>
                                                <a:srgbClr val="000000"/>
                                              </a:solidFill>
                                            </a:uFill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sz="1800" b="1" i="1" u="none" strike="noStrike" ker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highlight>
                                              <a:srgbClr val="FF0000"/>
                                            </a:highlight>
                                            <a:uFill>
                                              <a:solidFill>
                                                <a:srgbClr val="000000"/>
                                              </a:solidFill>
                                            </a:uFill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𝑸</m:t>
                                        </m:r>
                                      </m:e>
                                      <m:sup>
                                        <m:r>
                                          <a:rPr lang="fr-FR" sz="1800" b="1" i="1" u="none" strike="noStrike" ker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highlight>
                                              <a:srgbClr val="FF0000"/>
                                            </a:highlight>
                                            <a:uFill>
                                              <a:solidFill>
                                                <a:srgbClr val="000000"/>
                                              </a:solidFill>
                                            </a:uFill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d>
                          </m:e>
                          <m:e>
                            <m:sSub>
                              <m:sSubPr>
                                <m:ctrlP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𝒇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fr-FR" sz="18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𝑸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𝟏</m:t>
                                    </m:r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𝟒</m:t>
                                    </m:r>
                                    <m:sSup>
                                      <m:sSupPr>
                                        <m:ctrlPr>
                                          <a:rPr lang="fr-FR" sz="1800" b="1" i="1" u="none" strike="noStrike" ker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Fill>
                                              <a:solidFill>
                                                <a:srgbClr val="000000"/>
                                              </a:solidFill>
                                            </a:uFill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sz="1800" b="1" i="1" u="none" strike="noStrike" ker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Fill>
                                              <a:solidFill>
                                                <a:srgbClr val="000000"/>
                                              </a:solidFill>
                                            </a:uFill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𝑸</m:t>
                                        </m:r>
                                      </m:e>
                                      <m:sup>
                                        <m:r>
                                          <a:rPr lang="fr-FR" sz="1800" b="1" i="1" u="none" strike="noStrike" ker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Fill>
                                              <a:solidFill>
                                                <a:srgbClr val="000000"/>
                                              </a:solidFill>
                                            </a:uFill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d>
                          </m:e>
                        </m:eqArr>
                      </m:e>
                    </m:d>
                  </m:oMath>
                </a14:m>
                <a:r>
                  <a:rPr lang="fr-FR" sz="18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sz="1800" b="1" i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    </a:t>
                </a:r>
                <a:r>
                  <a:rPr lang="fr-FR" sz="18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et     </a:t>
                </a:r>
                <a:r>
                  <a:rPr lang="fr-FR" sz="1800" b="1" i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sz="1800" b="1" i="1" u="none" strike="noStrike" kern="0">
                            <a:solidFill>
                              <a:srgbClr val="000000"/>
                            </a:solidFill>
                            <a:effectLst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18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0000"/>
                                    </a:highlight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0000"/>
                                    </a:highlight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𝒇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0000"/>
                                    </a:highlight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fr-FR" sz="18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highlight>
                                  <a:srgbClr val="FF0000"/>
                                </a:highlight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0000"/>
                                    </a:highlight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0000"/>
                                    </a:highlight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0000"/>
                                    </a:highlight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𝑸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0000"/>
                                    </a:highlight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0000"/>
                                    </a:highlight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0000"/>
                                    </a:highlight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highlight>
                                      <a:srgbClr val="FF0000"/>
                                    </a:highlight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𝟏</m:t>
                                    </m:r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highlight>
                                          <a:srgbClr val="FF0000"/>
                                        </a:highlight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𝟒</m:t>
                                    </m:r>
                                    <m:sSup>
                                      <m:sSupPr>
                                        <m:ctrlPr>
                                          <a:rPr lang="fr-FR" sz="1800" b="1" i="1" u="none" strike="noStrike" ker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highlight>
                                              <a:srgbClr val="FF0000"/>
                                            </a:highlight>
                                            <a:uFill>
                                              <a:solidFill>
                                                <a:srgbClr val="000000"/>
                                              </a:solidFill>
                                            </a:uFill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sz="1800" b="1" i="1" u="none" strike="noStrike" ker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highlight>
                                              <a:srgbClr val="FF0000"/>
                                            </a:highlight>
                                            <a:uFill>
                                              <a:solidFill>
                                                <a:srgbClr val="000000"/>
                                              </a:solidFill>
                                            </a:uFill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𝑸</m:t>
                                        </m:r>
                                      </m:e>
                                      <m:sup>
                                        <m:r>
                                          <a:rPr lang="fr-FR" sz="1800" b="1" i="1" u="none" strike="noStrike" ker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highlight>
                                              <a:srgbClr val="FF0000"/>
                                            </a:highlight>
                                            <a:uFill>
                                              <a:solidFill>
                                                <a:srgbClr val="000000"/>
                                              </a:solidFill>
                                            </a:uFill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d>
                          </m:e>
                          <m:e>
                            <m:sSubSup>
                              <m:sSubSupPr>
                                <m:ctrlP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𝒇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fr-FR" sz="1800" b="1" i="1" u="none" strike="noStrike" kern="0">
                                <a:solidFill>
                                  <a:srgbClr val="000000"/>
                                </a:solidFill>
                                <a:effectLst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𝑸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fr-FR" sz="1800" b="1" i="1" u="none" strike="noStrike" kern="0">
                                    <a:solidFill>
                                      <a:srgbClr val="000000"/>
                                    </a:solidFill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𝟏</m:t>
                                    </m:r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fr-FR" sz="1800" b="1" i="1" u="none" strike="noStrike" ker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>
                                          <a:solidFill>
                                            <a:srgbClr val="000000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𝟒</m:t>
                                    </m:r>
                                    <m:sSup>
                                      <m:sSupPr>
                                        <m:ctrlPr>
                                          <a:rPr lang="fr-FR" sz="1800" b="1" i="1" u="none" strike="noStrike" ker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Fill>
                                              <a:solidFill>
                                                <a:srgbClr val="000000"/>
                                              </a:solidFill>
                                            </a:uFill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sz="1800" b="1" i="1" u="none" strike="noStrike" ker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Fill>
                                              <a:solidFill>
                                                <a:srgbClr val="000000"/>
                                              </a:solidFill>
                                            </a:uFill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𝑸</m:t>
                                        </m:r>
                                      </m:e>
                                      <m:sup>
                                        <m:r>
                                          <a:rPr lang="fr-FR" sz="1800" b="1" i="1" u="none" strike="noStrike" ker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Fill>
                                              <a:solidFill>
                                                <a:srgbClr val="000000"/>
                                              </a:solidFill>
                                            </a:uFill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fr-FR" sz="18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DD6C0B-D42F-CE40-F2C0-1670B5FAF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30" y="1678044"/>
                <a:ext cx="9029973" cy="1787412"/>
              </a:xfrm>
              <a:prstGeom prst="rect">
                <a:avLst/>
              </a:prstGeom>
              <a:blipFill>
                <a:blip r:embed="rId3"/>
                <a:stretch>
                  <a:fillRect l="-608" t="-1706" r="-54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914258-BC91-5808-8625-D916A9797116}"/>
                  </a:ext>
                </a:extLst>
              </p:cNvPr>
              <p:cNvSpPr txBox="1"/>
              <p:nvPr/>
            </p:nvSpPr>
            <p:spPr>
              <a:xfrm>
                <a:off x="267043" y="3345014"/>
                <a:ext cx="8724557" cy="1852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3660">
                  <a:spcBef>
                    <a:spcPts val="930"/>
                  </a:spcBef>
                  <a:spcAft>
                    <a:spcPts val="0"/>
                  </a:spcAft>
                </a:pPr>
                <a:r>
                  <a:rPr lang="fr-FR" sz="1400" b="1" u="sng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En</a:t>
                </a:r>
                <a:r>
                  <a:rPr lang="fr-FR" sz="1400" b="1" i="1" u="sng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sz="1400" b="1" u="sng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conclusion</a:t>
                </a:r>
                <a:r>
                  <a:rPr lang="fr-FR" sz="1400" b="1" i="1" u="sng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 : </a:t>
                </a:r>
                <a:endParaRPr lang="fr-FR" sz="14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42900" lvl="0" indent="-342900">
                  <a:spcBef>
                    <a:spcPts val="930"/>
                  </a:spcBef>
                  <a:spcAft>
                    <a:spcPts val="0"/>
                  </a:spcAft>
                  <a:buFont typeface="Wingdings" panose="05000000000000000000" pitchFamily="2" charset="2"/>
                  <a:buChar char=""/>
                </a:pPr>
                <a:r>
                  <a:rPr lang="fr-FR" sz="14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Fréquence de coupure basse est : </a:t>
                </a:r>
                <a:endParaRPr lang="fr-FR" sz="14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>
                  <a:spcBef>
                    <a:spcPts val="93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sSub>
                            <m:sSubPr>
                              <m:ctrlP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𝑩</m:t>
                              </m:r>
                            </m:sub>
                          </m:sSub>
                        </m:sub>
                      </m:sSub>
                      <m:r>
                        <a:rPr lang="fr-FR" sz="1400" b="1" i="1" u="none" strike="noStrike" ker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𝟐</m:t>
                          </m:r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𝑸</m:t>
                          </m:r>
                        </m:den>
                      </m:f>
                      <m:d>
                        <m:dPr>
                          <m:ctrlP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</m:t>
                          </m:r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𝟏</m:t>
                          </m:r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𝟏</m:t>
                              </m:r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𝟒</m:t>
                              </m:r>
                              <m:sSup>
                                <m:sSupPr>
                                  <m:ctrlPr>
                                    <a:rPr lang="fr-FR" sz="1400" b="1" i="1" u="none" strike="noStrike" kern="0">
                                      <a:solidFill>
                                        <a:srgbClr val="00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400" b="1" i="1" u="none" strike="noStrike" kern="0">
                                      <a:solidFill>
                                        <a:srgbClr val="00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𝑸</m:t>
                                  </m:r>
                                </m:e>
                                <m:sup>
                                  <m:r>
                                    <a:rPr lang="fr-FR" sz="1400" b="1" i="1" u="none" strike="noStrike" kern="0">
                                      <a:solidFill>
                                        <a:srgbClr val="00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e>
                      </m:d>
                    </m:oMath>
                  </m:oMathPara>
                </a14:m>
                <a:endParaRPr lang="fr-FR" sz="14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42900" lvl="0" indent="-342900">
                  <a:spcBef>
                    <a:spcPts val="930"/>
                  </a:spcBef>
                  <a:spcAft>
                    <a:spcPts val="0"/>
                  </a:spcAft>
                  <a:buFont typeface="Wingdings" panose="05000000000000000000" pitchFamily="2" charset="2"/>
                  <a:buChar char=""/>
                </a:pPr>
                <a:r>
                  <a:rPr lang="fr-FR" sz="1400" b="1" u="none" strike="noStrike" kern="0" dirty="0">
                    <a:solidFill>
                      <a:srgbClr val="000000"/>
                    </a:solidFill>
                    <a:effectLst/>
                    <a:uFill>
                      <a:solidFill>
                        <a:srgbClr val="000000"/>
                      </a:solidFill>
                    </a:uFill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Fréquence de coupure basse est : </a:t>
                </a:r>
                <a:endParaRPr lang="fr-FR" sz="14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>
                  <a:spcBef>
                    <a:spcPts val="93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sSub>
                            <m:sSubPr>
                              <m:ctrlP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𝑯</m:t>
                              </m:r>
                            </m:sub>
                          </m:sSub>
                        </m:sub>
                      </m:sSub>
                      <m:r>
                        <a:rPr lang="fr-FR" sz="1400" b="1" i="1" u="none" strike="noStrike" kern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𝟐</m:t>
                          </m:r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𝑸</m:t>
                          </m:r>
                        </m:den>
                      </m:f>
                      <m:d>
                        <m:dPr>
                          <m:ctrlP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𝟏</m:t>
                          </m:r>
                          <m:r>
                            <a:rPr lang="fr-FR" sz="1400" b="1" i="1" u="none" strike="noStrike" kern="0">
                              <a:solidFill>
                                <a:srgbClr val="000000"/>
                              </a:solidFill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𝟏</m:t>
                              </m:r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fr-FR" sz="1400" b="1" i="1" u="none" strike="noStrike" kern="0">
                                  <a:solidFill>
                                    <a:srgbClr val="000000"/>
                                  </a:solidFill>
                                  <a:effectLst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𝟒</m:t>
                              </m:r>
                              <m:sSup>
                                <m:sSupPr>
                                  <m:ctrlPr>
                                    <a:rPr lang="fr-FR" sz="1400" b="1" i="1" u="none" strike="noStrike" kern="0">
                                      <a:solidFill>
                                        <a:srgbClr val="00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400" b="1" i="1" u="none" strike="noStrike" kern="0">
                                      <a:solidFill>
                                        <a:srgbClr val="00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𝑸</m:t>
                                  </m:r>
                                </m:e>
                                <m:sup>
                                  <m:r>
                                    <a:rPr lang="fr-FR" sz="1400" b="1" i="1" u="none" strike="noStrike" kern="0">
                                      <a:solidFill>
                                        <a:srgbClr val="000000"/>
                                      </a:solidFill>
                                      <a:effectLst/>
                                      <a:uFill>
                                        <a:solidFill>
                                          <a:srgbClr val="00000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e>
                      </m:d>
                    </m:oMath>
                  </m:oMathPara>
                </a14:m>
                <a:endParaRPr lang="fr-FR" sz="1400" b="1" u="sng" kern="0" dirty="0"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914258-BC91-5808-8625-D916A9797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43" y="3345014"/>
                <a:ext cx="8724557" cy="1852943"/>
              </a:xfrm>
              <a:prstGeom prst="rect">
                <a:avLst/>
              </a:prstGeom>
              <a:blipFill>
                <a:blip r:embed="rId4"/>
                <a:stretch>
                  <a:fillRect l="-140" t="-658" b="-6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055899B-A88C-63C6-57DC-B7E269D8CEC2}"/>
                  </a:ext>
                </a:extLst>
              </p:cNvPr>
              <p:cNvSpPr txBox="1"/>
              <p:nvPr/>
            </p:nvSpPr>
            <p:spPr>
              <a:xfrm>
                <a:off x="4876800" y="3854593"/>
                <a:ext cx="4752362" cy="1063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fr-F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fr-FR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type m:val="lin"/>
                                  <m:ctrlPr>
                                    <a:rPr lang="fr-FR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fr-FR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fr-FR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  <m:e>
                              <m:r>
                                <a:rPr lang="fr-FR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fr-FR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fr-FR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fr-FR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  <m:r>
                                    <a:rPr lang="fr-FR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𝑹𝑪</m:t>
                                  </m:r>
                                </m:den>
                              </m:f>
                              <m:r>
                                <a:rPr lang="fr-FR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fr-FR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fr-FR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fr-FR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type m:val="lin"/>
                                  <m:ctrlPr>
                                    <a:rPr lang="fr-FR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fr-FR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fr-FR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055899B-A88C-63C6-57DC-B7E269D8C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3854593"/>
                <a:ext cx="4752362" cy="10633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67546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64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543921" y="911747"/>
            <a:ext cx="272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Exercice 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AF8CB7B-D66B-EB14-352C-603447367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463275"/>
            <a:ext cx="4587638" cy="192040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EF53541-298B-A6FB-F173-37E565789B31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3ECF7-0699-C1A3-8024-8F16B9D0BB98}"/>
              </a:ext>
            </a:extLst>
          </p:cNvPr>
          <p:cNvSpPr txBox="1"/>
          <p:nvPr/>
        </p:nvSpPr>
        <p:spPr>
          <a:xfrm>
            <a:off x="685800" y="1490695"/>
            <a:ext cx="9220200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spcBef>
                <a:spcPts val="93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fr-FR" sz="1600" b="1" dirty="0">
                <a:latin typeface="Bookman Old Style" panose="02050604050505020204" pitchFamily="18" charset="0"/>
              </a:rPr>
              <a:t>Tracer le diagramme de Bode pour le gain et la phase pour ce filtre</a:t>
            </a:r>
          </a:p>
          <a:p>
            <a:pPr marL="285750" lvl="0" indent="-285750">
              <a:spcBef>
                <a:spcPts val="93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fr-FR" sz="1600" b="1" dirty="0">
                <a:latin typeface="Bookman Old Style" panose="02050604050505020204" pitchFamily="18" charset="0"/>
              </a:rPr>
              <a:t>Déterminer les fréquence de coupure  </a:t>
            </a:r>
          </a:p>
        </p:txBody>
      </p:sp>
    </p:spTree>
    <p:extLst>
      <p:ext uri="{BB962C8B-B14F-4D97-AF65-F5344CB8AC3E}">
        <p14:creationId xmlns:p14="http://schemas.microsoft.com/office/powerpoint/2010/main" val="40727540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65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564CDF-0E89-9798-4A7B-A99F5EC4F860}"/>
              </a:ext>
            </a:extLst>
          </p:cNvPr>
          <p:cNvSpPr txBox="1"/>
          <p:nvPr/>
        </p:nvSpPr>
        <p:spPr>
          <a:xfrm>
            <a:off x="495209" y="1379268"/>
            <a:ext cx="8538603" cy="33855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46E82C-A78B-4B6B-77D5-103400A5CE5F}"/>
              </a:ext>
            </a:extLst>
          </p:cNvPr>
          <p:cNvSpPr txBox="1"/>
          <p:nvPr/>
        </p:nvSpPr>
        <p:spPr>
          <a:xfrm>
            <a:off x="1524000" y="2168990"/>
            <a:ext cx="6324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5400" b="1" kern="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ea typeface="+mj-ea"/>
                <a:cs typeface="+mj-cs"/>
              </a:rPr>
              <a:t>Fin de Chapitre 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BCE03A6-29FD-32C4-B58D-B5F43CE685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12" name="object 6">
            <a:extLst>
              <a:ext uri="{FF2B5EF4-FFF2-40B4-BE49-F238E27FC236}">
                <a16:creationId xmlns:a16="http://schemas.microsoft.com/office/drawing/2014/main" id="{BAB63B18-5F63-83DA-688B-D603CD32D924}"/>
              </a:ext>
            </a:extLst>
          </p:cNvPr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13" name="object 7">
              <a:extLst>
                <a:ext uri="{FF2B5EF4-FFF2-40B4-BE49-F238E27FC236}">
                  <a16:creationId xmlns:a16="http://schemas.microsoft.com/office/drawing/2014/main" id="{F7EADDA2-42DF-0738-ED0E-F16D2DCE14AC}"/>
                </a:ext>
              </a:extLst>
            </p:cNvPr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8">
              <a:extLst>
                <a:ext uri="{FF2B5EF4-FFF2-40B4-BE49-F238E27FC236}">
                  <a16:creationId xmlns:a16="http://schemas.microsoft.com/office/drawing/2014/main" id="{0AEB613A-2B05-A87C-2130-7C55FF979BD3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9">
              <a:extLst>
                <a:ext uri="{FF2B5EF4-FFF2-40B4-BE49-F238E27FC236}">
                  <a16:creationId xmlns:a16="http://schemas.microsoft.com/office/drawing/2014/main" id="{D8BDB5BA-68B6-B1F4-87FB-FF648CB141E4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10">
            <a:extLst>
              <a:ext uri="{FF2B5EF4-FFF2-40B4-BE49-F238E27FC236}">
                <a16:creationId xmlns:a16="http://schemas.microsoft.com/office/drawing/2014/main" id="{36886C1A-8F0E-FB46-A6AB-2EB0B40907E6}"/>
              </a:ext>
            </a:extLst>
          </p:cNvPr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D40BFD80-71D9-7489-358C-5AB2B32AE2CE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66F725B0-B29B-0E55-E3C3-0250AA88AE94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1617B931-D816-0C29-11BC-B04CD65619A9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68533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 txBox="1"/>
          <p:nvPr/>
        </p:nvSpPr>
        <p:spPr>
          <a:xfrm>
            <a:off x="8605718" y="4804529"/>
            <a:ext cx="5711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66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564CDF-0E89-9798-4A7B-A99F5EC4F860}"/>
              </a:ext>
            </a:extLst>
          </p:cNvPr>
          <p:cNvSpPr txBox="1"/>
          <p:nvPr/>
        </p:nvSpPr>
        <p:spPr>
          <a:xfrm>
            <a:off x="495209" y="1379268"/>
            <a:ext cx="8538603" cy="33855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fr-FR"/>
            </a:defPPr>
            <a:lvl1pPr marL="285750" indent="-285750" algn="just">
              <a:buFont typeface="Wingdings" panose="05000000000000000000" pitchFamily="2" charset="2"/>
              <a:buChar char="q"/>
              <a:defRPr sz="1600">
                <a:latin typeface="Bookman Old Style" panose="02050604050505020204" pitchFamily="18" charset="0"/>
                <a:cs typeface="Browallia New" panose="020B0604020202020204" pitchFamily="34" charset="-34"/>
              </a:defRPr>
            </a:lvl1pPr>
            <a:lvl2pPr marL="742950" indent="-285750">
              <a:defRPr sz="2400">
                <a:latin typeface="Times New Roman" panose="02020603050405020304" pitchFamily="18" charset="0"/>
              </a:defRPr>
            </a:lvl2pPr>
            <a:lvl3pPr marL="1143000" indent="-228600">
              <a:defRPr sz="2400">
                <a:latin typeface="Times New Roman" panose="02020603050405020304" pitchFamily="18" charset="0"/>
              </a:defRPr>
            </a:lvl3pPr>
            <a:lvl4pPr marL="1600200" indent="-228600">
              <a:defRPr sz="2400">
                <a:latin typeface="Times New Roman" panose="02020603050405020304" pitchFamily="18" charset="0"/>
              </a:defRPr>
            </a:lvl4pPr>
            <a:lvl5pPr marL="2057400" indent="-228600">
              <a:defRPr sz="24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</a:defRPr>
            </a:lvl9pPr>
          </a:lstStyle>
          <a:p>
            <a:endParaRPr lang="fr-FR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BCE03A6-29FD-32C4-B58D-B5F43CE685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12" name="object 6">
            <a:extLst>
              <a:ext uri="{FF2B5EF4-FFF2-40B4-BE49-F238E27FC236}">
                <a16:creationId xmlns:a16="http://schemas.microsoft.com/office/drawing/2014/main" id="{BAB63B18-5F63-83DA-688B-D603CD32D924}"/>
              </a:ext>
            </a:extLst>
          </p:cNvPr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13" name="object 7">
              <a:extLst>
                <a:ext uri="{FF2B5EF4-FFF2-40B4-BE49-F238E27FC236}">
                  <a16:creationId xmlns:a16="http://schemas.microsoft.com/office/drawing/2014/main" id="{F7EADDA2-42DF-0738-ED0E-F16D2DCE14AC}"/>
                </a:ext>
              </a:extLst>
            </p:cNvPr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8">
              <a:extLst>
                <a:ext uri="{FF2B5EF4-FFF2-40B4-BE49-F238E27FC236}">
                  <a16:creationId xmlns:a16="http://schemas.microsoft.com/office/drawing/2014/main" id="{0AEB613A-2B05-A87C-2130-7C55FF979BD3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9">
              <a:extLst>
                <a:ext uri="{FF2B5EF4-FFF2-40B4-BE49-F238E27FC236}">
                  <a16:creationId xmlns:a16="http://schemas.microsoft.com/office/drawing/2014/main" id="{D8BDB5BA-68B6-B1F4-87FB-FF648CB141E4}"/>
                </a:ext>
              </a:extLst>
            </p:cNvPr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10">
            <a:extLst>
              <a:ext uri="{FF2B5EF4-FFF2-40B4-BE49-F238E27FC236}">
                <a16:creationId xmlns:a16="http://schemas.microsoft.com/office/drawing/2014/main" id="{36886C1A-8F0E-FB46-A6AB-2EB0B40907E6}"/>
              </a:ext>
            </a:extLst>
          </p:cNvPr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D40BFD80-71D9-7489-358C-5AB2B32AE2CE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66F725B0-B29B-0E55-E3C3-0250AA88AE94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1617B931-D816-0C29-11BC-B04CD65619A9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394FB76-596F-D68D-C225-16E10A460948}"/>
              </a:ext>
            </a:extLst>
          </p:cNvPr>
          <p:cNvSpPr/>
          <p:nvPr/>
        </p:nvSpPr>
        <p:spPr>
          <a:xfrm>
            <a:off x="1447800" y="499574"/>
            <a:ext cx="6459754" cy="96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lvl="1" algn="ctr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2800" b="1" spc="-5" dirty="0">
                <a:solidFill>
                  <a:schemeClr val="accent6">
                    <a:lumMod val="75000"/>
                  </a:schemeClr>
                </a:solidFill>
                <a:latin typeface="Bookman Old Style" panose="02050604050505020204" pitchFamily="18" charset="0"/>
                <a:cs typeface="Arial"/>
              </a:rPr>
              <a:t>Consulter le cours </a:t>
            </a:r>
          </a:p>
          <a:p>
            <a:pPr marL="12065" lvl="1" algn="ctr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sz="2800" b="1" spc="-5" dirty="0">
                <a:solidFill>
                  <a:schemeClr val="accent6">
                    <a:lumMod val="75000"/>
                  </a:schemeClr>
                </a:solidFill>
                <a:latin typeface="Bookman Old Style" panose="02050604050505020204" pitchFamily="18" charset="0"/>
                <a:cs typeface="Arial"/>
              </a:rPr>
              <a:t>ici</a:t>
            </a:r>
          </a:p>
        </p:txBody>
      </p:sp>
      <p:grpSp>
        <p:nvGrpSpPr>
          <p:cNvPr id="3" name="object 4">
            <a:extLst>
              <a:ext uri="{FF2B5EF4-FFF2-40B4-BE49-F238E27FC236}">
                <a16:creationId xmlns:a16="http://schemas.microsoft.com/office/drawing/2014/main" id="{3205FDC6-9F1B-369C-43E5-D3E7528D2A89}"/>
              </a:ext>
            </a:extLst>
          </p:cNvPr>
          <p:cNvGrpSpPr/>
          <p:nvPr/>
        </p:nvGrpSpPr>
        <p:grpSpPr>
          <a:xfrm>
            <a:off x="2819400" y="1362597"/>
            <a:ext cx="3709256" cy="104485"/>
            <a:chOff x="1881480" y="350569"/>
            <a:chExt cx="7147385" cy="156271"/>
          </a:xfrm>
          <a:solidFill>
            <a:schemeClr val="bg1"/>
          </a:solidFill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5E37D97F-70E5-FF4B-B565-DD03C957C1BD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0E8D2C0-AE3E-73AD-E7BB-8854AFD8C6B1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accent6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>
                <a:solidFill>
                  <a:srgbClr val="0000FF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B106D88-B613-A3FD-B8EC-9CFBDC7D9F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967" y="1545079"/>
            <a:ext cx="3370610" cy="337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6104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67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276600" y="806483"/>
            <a:ext cx="272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B48B2F-D168-7853-00B4-E60DA3A2E771}"/>
                  </a:ext>
                </a:extLst>
              </p:cNvPr>
              <p:cNvSpPr txBox="1"/>
              <p:nvPr/>
            </p:nvSpPr>
            <p:spPr>
              <a:xfrm>
                <a:off x="517788" y="3648132"/>
                <a:ext cx="8016611" cy="54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latin typeface="Bookman Old Style" panose="02050604050505020204" pitchFamily="18" charset="0"/>
                  </a:rPr>
                  <a:t>Fonction de Transfert :               </a:t>
                </a:r>
                <a14:m>
                  <m:oMath xmlns:m="http://schemas.openxmlformats.org/officeDocument/2006/math">
                    <m:r>
                      <a:rPr lang="fr-FR" b="1" i="0" smtClean="0">
                        <a:latin typeface="Cambria Math" panose="02040503050406030204" pitchFamily="18" charset="0"/>
                      </a:rPr>
                      <m:t>𝐇</m:t>
                    </m:r>
                    <m:r>
                      <a:rPr lang="fr-FR" b="1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0" smtClean="0">
                                <a:latin typeface="Cambria Math" panose="02040503050406030204" pitchFamily="18" charset="0"/>
                              </a:rPr>
                              <m:t>𝐔</m:t>
                            </m:r>
                          </m:e>
                          <m:sub>
                            <m:r>
                              <a:rPr lang="fr-FR" b="1" i="0" smtClean="0">
                                <a:latin typeface="Cambria Math" panose="02040503050406030204" pitchFamily="18" charset="0"/>
                              </a:rPr>
                              <m:t>𝐬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0" smtClean="0">
                                <a:latin typeface="Cambria Math" panose="02040503050406030204" pitchFamily="18" charset="0"/>
                              </a:rPr>
                              <m:t>𝐔</m:t>
                            </m:r>
                          </m:e>
                          <m:sub>
                            <m:r>
                              <a:rPr lang="fr-FR" b="1" i="0" smtClean="0">
                                <a:latin typeface="Cambria Math" panose="02040503050406030204" pitchFamily="18" charset="0"/>
                              </a:rPr>
                              <m:t>𝐞</m:t>
                            </m:r>
                          </m:sub>
                        </m:sSub>
                      </m:den>
                    </m:f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B48B2F-D168-7853-00B4-E60DA3A2E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88" y="3648132"/>
                <a:ext cx="8016611" cy="543931"/>
              </a:xfrm>
              <a:prstGeom prst="rect">
                <a:avLst/>
              </a:prstGeom>
              <a:blipFill>
                <a:blip r:embed="rId3"/>
                <a:stretch>
                  <a:fillRect l="-6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0FE526E-CBB0-5F3F-871A-171DE9BFB2C4}"/>
              </a:ext>
            </a:extLst>
          </p:cNvPr>
          <p:cNvSpPr txBox="1"/>
          <p:nvPr/>
        </p:nvSpPr>
        <p:spPr>
          <a:xfrm>
            <a:off x="481693" y="427762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latin typeface="Bookman Old Style" panose="02050604050505020204" pitchFamily="18" charset="0"/>
              </a:rPr>
              <a:t>Diviseur de tension donne : </a:t>
            </a:r>
            <a:endParaRPr lang="fr-FR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07C4B5-8D76-6FCB-8340-59964C1CED1B}"/>
                  </a:ext>
                </a:extLst>
              </p:cNvPr>
              <p:cNvSpPr txBox="1"/>
              <p:nvPr/>
            </p:nvSpPr>
            <p:spPr>
              <a:xfrm>
                <a:off x="4114800" y="4164294"/>
                <a:ext cx="1694118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𝐔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𝐔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𝐞</m:t>
                          </m:r>
                        </m:sub>
                      </m:sSub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07C4B5-8D76-6FCB-8340-59964C1CE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164294"/>
                <a:ext cx="1694118" cy="5638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95B2E95-A2E1-6BF3-54EE-8A9AEF716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3185" y="1535340"/>
            <a:ext cx="6797629" cy="20728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EECA708-1CAB-24AB-1DE9-8C8D02768913}"/>
                  </a:ext>
                </a:extLst>
              </p:cNvPr>
              <p:cNvSpPr txBox="1"/>
              <p:nvPr/>
            </p:nvSpPr>
            <p:spPr>
              <a:xfrm>
                <a:off x="4571999" y="3866514"/>
                <a:ext cx="4572000" cy="11118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𝐣𝐋</m:t>
                              </m:r>
                              <m:r>
                                <a:rPr lang="el-GR" b="1" i="0" smtClean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num>
                            <m:den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𝐣𝐂</m:t>
                              </m:r>
                              <m:r>
                                <a:rPr lang="el-GR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den>
                          </m:f>
                        </m:num>
                        <m:den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𝐣𝐋</m:t>
                          </m:r>
                          <m:r>
                            <a:rPr lang="el-GR" b="1" i="0">
                              <a:latin typeface="Cambria Math" panose="02040503050406030204" pitchFamily="18" charset="0"/>
                            </a:rPr>
                            <m:t>𝛚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𝐣𝐂</m:t>
                              </m:r>
                              <m:r>
                                <a:rPr lang="el-GR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EECA708-1CAB-24AB-1DE9-8C8D02768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9" y="3866514"/>
                <a:ext cx="4572000" cy="11118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9C01E3F-3DB6-1D80-C523-0722068B99AF}"/>
                  </a:ext>
                </a:extLst>
              </p:cNvPr>
              <p:cNvSpPr txBox="1"/>
              <p:nvPr/>
            </p:nvSpPr>
            <p:spPr>
              <a:xfrm>
                <a:off x="5980940" y="4172846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; 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9C01E3F-3DB6-1D80-C523-0722068B9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0940" y="4172846"/>
                <a:ext cx="45720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CC99BE4C-27E9-5BFB-EB68-C31096B531DA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10638801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82001" y="4824469"/>
            <a:ext cx="49495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68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398383" y="841380"/>
            <a:ext cx="272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F3652-4196-ED23-EB51-27E7936EB862}"/>
              </a:ext>
            </a:extLst>
          </p:cNvPr>
          <p:cNvSpPr txBox="1"/>
          <p:nvPr/>
        </p:nvSpPr>
        <p:spPr>
          <a:xfrm>
            <a:off x="3505835" y="145954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Fonction de Transfert </a:t>
            </a:r>
            <a:endParaRPr lang="fr-FR" sz="1400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3CF4BA-F313-2B99-AFE9-3F32F58EDA74}"/>
                  </a:ext>
                </a:extLst>
              </p:cNvPr>
              <p:cNvSpPr txBox="1"/>
              <p:nvPr/>
            </p:nvSpPr>
            <p:spPr>
              <a:xfrm>
                <a:off x="1905000" y="2164677"/>
                <a:ext cx="5715000" cy="1072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el-GR" b="1" i="0" smtClean="0">
                              <a:latin typeface="Cambria Math" panose="02040503050406030204" pitchFamily="18" charset="0"/>
                            </a:rPr>
                            <m:t>𝛚</m:t>
                          </m:r>
                        </m:e>
                      </m:d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𝐣𝐋</m:t>
                              </m:r>
                              <m:r>
                                <a:rPr lang="el-GR" b="1" i="0" smtClean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num>
                            <m:den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𝐋𝐂</m:t>
                              </m:r>
                              <m:sSup>
                                <m:sSupPr>
                                  <m:ctrlP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b="1" i="0" smtClean="0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p>
                                  <m:r>
                                    <a:rPr lang="fr-FR" b="1" i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0">
                                  <a:latin typeface="Cambria Math" panose="02040503050406030204" pitchFamily="18" charset="0"/>
                                </a:rPr>
                                <m:t>𝐣𝐋</m:t>
                              </m:r>
                              <m:r>
                                <a:rPr lang="el-GR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num>
                            <m:den>
                              <m:r>
                                <a:rPr lang="fr-FR" b="1" i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1" i="0">
                                  <a:latin typeface="Cambria Math" panose="02040503050406030204" pitchFamily="18" charset="0"/>
                                </a:rPr>
                                <m:t>𝐋𝐂</m:t>
                              </m:r>
                              <m:sSup>
                                <m:sSup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b="1" i="0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p>
                                  <m:r>
                                    <a:rPr lang="fr-FR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𝐑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3CF4BA-F313-2B99-AFE9-3F32F58ED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164677"/>
                <a:ext cx="5715000" cy="10726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740591B7-EEC5-D970-3A85-D9E4705C9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28" y="1268335"/>
            <a:ext cx="2860623" cy="11974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3E28ABC-97EE-03FA-6424-667085756AF9}"/>
                  </a:ext>
                </a:extLst>
              </p:cNvPr>
              <p:cNvSpPr txBox="1"/>
              <p:nvPr/>
            </p:nvSpPr>
            <p:spPr>
              <a:xfrm>
                <a:off x="2354717" y="3455478"/>
                <a:ext cx="4572000" cy="661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el-GR" b="1" i="0" smtClean="0">
                              <a:latin typeface="Cambria Math" panose="02040503050406030204" pitchFamily="18" charset="0"/>
                            </a:rPr>
                            <m:t>𝛚</m:t>
                          </m:r>
                        </m:e>
                      </m:d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𝐣𝐋</m:t>
                          </m:r>
                          <m:r>
                            <a:rPr lang="el-GR" b="1">
                              <a:latin typeface="Cambria Math" panose="02040503050406030204" pitchFamily="18" charset="0"/>
                            </a:rPr>
                            <m:t>𝛚</m:t>
                          </m:r>
                        </m:num>
                        <m:den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𝐣𝐋</m:t>
                          </m:r>
                          <m:r>
                            <a:rPr lang="el-GR" b="1">
                              <a:latin typeface="Cambria Math" panose="02040503050406030204" pitchFamily="18" charset="0"/>
                            </a:rPr>
                            <m:t>𝛚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𝐑</m:t>
                          </m:r>
                          <m:d>
                            <m:d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𝐋𝐂</m:t>
                              </m:r>
                              <m:sSup>
                                <m:sSup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p>
                                  <m:r>
                                    <a:rPr lang="fr-FR" b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3E28ABC-97EE-03FA-6424-667085756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717" y="3455478"/>
                <a:ext cx="4572000" cy="6619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763F9CE-3789-2BF0-25BA-358449488187}"/>
                  </a:ext>
                </a:extLst>
              </p:cNvPr>
              <p:cNvSpPr txBox="1"/>
              <p:nvPr/>
            </p:nvSpPr>
            <p:spPr>
              <a:xfrm>
                <a:off x="2476500" y="4135988"/>
                <a:ext cx="4572000" cy="8825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el-GR" b="1" i="0" smtClean="0">
                              <a:latin typeface="Cambria Math" panose="02040503050406030204" pitchFamily="18" charset="0"/>
                            </a:rPr>
                            <m:t>𝛚</m:t>
                          </m:r>
                        </m:e>
                      </m:d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num>
                            <m:den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𝐣𝐋</m:t>
                              </m:r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den>
                          </m:f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𝐣𝐑𝐂</m:t>
                          </m:r>
                          <m:r>
                            <a:rPr lang="el-GR" b="1">
                              <a:latin typeface="Cambria Math" panose="02040503050406030204" pitchFamily="18" charset="0"/>
                            </a:rPr>
                            <m:t>𝛚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763F9CE-3789-2BF0-25BA-358449488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0" y="4135988"/>
                <a:ext cx="4572000" cy="8825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376BFE05-AAAD-0F2C-E26A-2CA8DD18FB41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19533668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5539"/>
            <a:ext cx="533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Filtres Passifs</a:t>
            </a:r>
            <a:endParaRPr sz="18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77" y="18677"/>
            <a:ext cx="482600" cy="807085"/>
            <a:chOff x="98477" y="18677"/>
            <a:chExt cx="482600" cy="807085"/>
          </a:xfrm>
          <a:solidFill>
            <a:schemeClr val="accent6">
              <a:lumMod val="75000"/>
            </a:schemeClr>
          </a:solidFill>
        </p:grpSpPr>
        <p:sp>
          <p:nvSpPr>
            <p:cNvPr id="7" name="object 7"/>
            <p:cNvSpPr/>
            <p:nvPr/>
          </p:nvSpPr>
          <p:spPr>
            <a:xfrm>
              <a:off x="107036" y="57698"/>
              <a:ext cx="469265" cy="768350"/>
            </a:xfrm>
            <a:custGeom>
              <a:avLst/>
              <a:gdLst/>
              <a:ahLst/>
              <a:cxnLst/>
              <a:rect l="l" t="t" r="r" b="b"/>
              <a:pathLst>
                <a:path w="469265" h="768350">
                  <a:moveTo>
                    <a:pt x="133160" y="0"/>
                  </a:moveTo>
                  <a:lnTo>
                    <a:pt x="144637" y="30555"/>
                  </a:lnTo>
                  <a:lnTo>
                    <a:pt x="149627" y="65956"/>
                  </a:lnTo>
                  <a:lnTo>
                    <a:pt x="148956" y="105533"/>
                  </a:lnTo>
                  <a:lnTo>
                    <a:pt x="143448" y="148618"/>
                  </a:lnTo>
                  <a:lnTo>
                    <a:pt x="133932" y="194541"/>
                  </a:lnTo>
                  <a:lnTo>
                    <a:pt x="121232" y="242631"/>
                  </a:lnTo>
                  <a:lnTo>
                    <a:pt x="106175" y="292221"/>
                  </a:lnTo>
                  <a:lnTo>
                    <a:pt x="89587" y="342639"/>
                  </a:lnTo>
                  <a:lnTo>
                    <a:pt x="55123" y="443287"/>
                  </a:lnTo>
                  <a:lnTo>
                    <a:pt x="38899" y="492178"/>
                  </a:lnTo>
                  <a:lnTo>
                    <a:pt x="24448" y="539220"/>
                  </a:lnTo>
                  <a:lnTo>
                    <a:pt x="12598" y="583744"/>
                  </a:lnTo>
                  <a:lnTo>
                    <a:pt x="4173" y="625082"/>
                  </a:lnTo>
                  <a:lnTo>
                    <a:pt x="0" y="662562"/>
                  </a:lnTo>
                  <a:lnTo>
                    <a:pt x="904" y="695517"/>
                  </a:lnTo>
                  <a:lnTo>
                    <a:pt x="7714" y="723276"/>
                  </a:lnTo>
                  <a:lnTo>
                    <a:pt x="21253" y="745171"/>
                  </a:lnTo>
                  <a:lnTo>
                    <a:pt x="44251" y="761701"/>
                  </a:lnTo>
                  <a:lnTo>
                    <a:pt x="70693" y="767747"/>
                  </a:lnTo>
                  <a:lnTo>
                    <a:pt x="96974" y="763253"/>
                  </a:lnTo>
                  <a:lnTo>
                    <a:pt x="119492" y="748162"/>
                  </a:lnTo>
                  <a:lnTo>
                    <a:pt x="460053" y="390527"/>
                  </a:lnTo>
                  <a:lnTo>
                    <a:pt x="466940" y="379528"/>
                  </a:lnTo>
                  <a:lnTo>
                    <a:pt x="469236" y="366904"/>
                  </a:lnTo>
                  <a:lnTo>
                    <a:pt x="466940" y="354279"/>
                  </a:lnTo>
                  <a:lnTo>
                    <a:pt x="460053" y="343280"/>
                  </a:lnTo>
                  <a:lnTo>
                    <a:pt x="13316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74718" y="0"/>
                  </a:moveTo>
                  <a:lnTo>
                    <a:pt x="25067" y="22493"/>
                  </a:lnTo>
                  <a:lnTo>
                    <a:pt x="1814" y="73692"/>
                  </a:lnTo>
                  <a:lnTo>
                    <a:pt x="0" y="107124"/>
                  </a:lnTo>
                  <a:lnTo>
                    <a:pt x="3578" y="144912"/>
                  </a:lnTo>
                  <a:lnTo>
                    <a:pt x="11686" y="186405"/>
                  </a:lnTo>
                  <a:lnTo>
                    <a:pt x="23464" y="230954"/>
                  </a:lnTo>
                  <a:lnTo>
                    <a:pt x="38049" y="277910"/>
                  </a:lnTo>
                  <a:lnTo>
                    <a:pt x="54578" y="326621"/>
                  </a:lnTo>
                  <a:lnTo>
                    <a:pt x="90026" y="426714"/>
                  </a:lnTo>
                  <a:lnTo>
                    <a:pt x="107220" y="476795"/>
                  </a:lnTo>
                  <a:lnTo>
                    <a:pt x="122912" y="526034"/>
                  </a:lnTo>
                  <a:lnTo>
                    <a:pt x="136240" y="573780"/>
                  </a:lnTo>
                  <a:lnTo>
                    <a:pt x="146342" y="619384"/>
                  </a:lnTo>
                  <a:lnTo>
                    <a:pt x="152356" y="662195"/>
                  </a:lnTo>
                  <a:lnTo>
                    <a:pt x="153421" y="701564"/>
                  </a:lnTo>
                  <a:lnTo>
                    <a:pt x="148674" y="736841"/>
                  </a:lnTo>
                  <a:lnTo>
                    <a:pt x="137254" y="767377"/>
                  </a:lnTo>
                  <a:lnTo>
                    <a:pt x="463850" y="424527"/>
                  </a:lnTo>
                  <a:lnTo>
                    <a:pt x="470737" y="413481"/>
                  </a:lnTo>
                  <a:lnTo>
                    <a:pt x="473033" y="400726"/>
                  </a:lnTo>
                  <a:lnTo>
                    <a:pt x="470737" y="387915"/>
                  </a:lnTo>
                  <a:lnTo>
                    <a:pt x="463850" y="376701"/>
                  </a:lnTo>
                  <a:lnTo>
                    <a:pt x="123302" y="19205"/>
                  </a:lnTo>
                  <a:lnTo>
                    <a:pt x="100866" y="4250"/>
                  </a:lnTo>
                  <a:lnTo>
                    <a:pt x="74718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239" y="23440"/>
              <a:ext cx="473075" cy="767715"/>
            </a:xfrm>
            <a:custGeom>
              <a:avLst/>
              <a:gdLst/>
              <a:ahLst/>
              <a:cxnLst/>
              <a:rect l="l" t="t" r="r" b="b"/>
              <a:pathLst>
                <a:path w="473075" h="767715">
                  <a:moveTo>
                    <a:pt x="137254" y="767377"/>
                  </a:moveTo>
                  <a:lnTo>
                    <a:pt x="148674" y="736841"/>
                  </a:lnTo>
                  <a:lnTo>
                    <a:pt x="153421" y="701564"/>
                  </a:lnTo>
                  <a:lnTo>
                    <a:pt x="152356" y="662195"/>
                  </a:lnTo>
                  <a:lnTo>
                    <a:pt x="146342" y="619384"/>
                  </a:lnTo>
                  <a:lnTo>
                    <a:pt x="136240" y="573780"/>
                  </a:lnTo>
                  <a:lnTo>
                    <a:pt x="122912" y="526034"/>
                  </a:lnTo>
                  <a:lnTo>
                    <a:pt x="107220" y="476796"/>
                  </a:lnTo>
                  <a:lnTo>
                    <a:pt x="90026" y="426714"/>
                  </a:lnTo>
                  <a:lnTo>
                    <a:pt x="72191" y="376440"/>
                  </a:lnTo>
                  <a:lnTo>
                    <a:pt x="54578" y="326622"/>
                  </a:lnTo>
                  <a:lnTo>
                    <a:pt x="38049" y="277910"/>
                  </a:lnTo>
                  <a:lnTo>
                    <a:pt x="23464" y="230955"/>
                  </a:lnTo>
                  <a:lnTo>
                    <a:pt x="11687" y="186405"/>
                  </a:lnTo>
                  <a:lnTo>
                    <a:pt x="3578" y="144912"/>
                  </a:lnTo>
                  <a:lnTo>
                    <a:pt x="0" y="107124"/>
                  </a:lnTo>
                  <a:lnTo>
                    <a:pt x="1814" y="73692"/>
                  </a:lnTo>
                  <a:lnTo>
                    <a:pt x="9882" y="45265"/>
                  </a:lnTo>
                  <a:lnTo>
                    <a:pt x="25067" y="22492"/>
                  </a:lnTo>
                  <a:lnTo>
                    <a:pt x="48304" y="6174"/>
                  </a:lnTo>
                  <a:lnTo>
                    <a:pt x="74718" y="0"/>
                  </a:lnTo>
                  <a:lnTo>
                    <a:pt x="100866" y="4250"/>
                  </a:lnTo>
                  <a:lnTo>
                    <a:pt x="123302" y="19204"/>
                  </a:lnTo>
                  <a:lnTo>
                    <a:pt x="463850" y="376701"/>
                  </a:lnTo>
                  <a:lnTo>
                    <a:pt x="470737" y="387915"/>
                  </a:lnTo>
                  <a:lnTo>
                    <a:pt x="473033" y="400726"/>
                  </a:lnTo>
                  <a:lnTo>
                    <a:pt x="470737" y="413481"/>
                  </a:lnTo>
                  <a:lnTo>
                    <a:pt x="463850" y="424527"/>
                  </a:lnTo>
                  <a:lnTo>
                    <a:pt x="137254" y="767377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16" y="143763"/>
            <a:ext cx="22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17350" y="4835723"/>
            <a:ext cx="651811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430"/>
              </a:lnSpc>
            </a:pPr>
            <a:fld id="{81D60167-4931-47E6-BA6A-407CBD079E47}" type="slidenum">
              <a:rPr sz="2400" b="1" dirty="0">
                <a:latin typeface="Arial"/>
                <a:cs typeface="Arial"/>
              </a:rPr>
              <a:t>69</a:t>
            </a:fld>
            <a:endParaRPr sz="2400" dirty="0">
              <a:latin typeface="Arial"/>
              <a:cs typeface="Arial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9F31D229-1326-1982-DE5B-C2C40EA42ECF}"/>
              </a:ext>
            </a:extLst>
          </p:cNvPr>
          <p:cNvGrpSpPr/>
          <p:nvPr/>
        </p:nvGrpSpPr>
        <p:grpSpPr>
          <a:xfrm>
            <a:off x="2687511" y="348158"/>
            <a:ext cx="6355745" cy="118277"/>
            <a:chOff x="1881480" y="350569"/>
            <a:chExt cx="7147385" cy="156271"/>
          </a:xfrm>
          <a:solidFill>
            <a:schemeClr val="accent6">
              <a:lumMod val="75000"/>
            </a:schemeClr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CBD8AD3-AA67-BDB2-4038-9B2BAD9D638C}"/>
                </a:ext>
              </a:extLst>
            </p:cNvPr>
            <p:cNvSpPr/>
            <p:nvPr/>
          </p:nvSpPr>
          <p:spPr>
            <a:xfrm>
              <a:off x="1881480" y="362695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7064143" y="0"/>
                  </a:moveTo>
                  <a:lnTo>
                    <a:pt x="72001" y="0"/>
                  </a:lnTo>
                  <a:lnTo>
                    <a:pt x="43975" y="5658"/>
                  </a:lnTo>
                  <a:lnTo>
                    <a:pt x="21088" y="21089"/>
                  </a:lnTo>
                  <a:lnTo>
                    <a:pt x="5658" y="43976"/>
                  </a:lnTo>
                  <a:lnTo>
                    <a:pt x="0" y="71995"/>
                  </a:lnTo>
                  <a:lnTo>
                    <a:pt x="5658" y="100022"/>
                  </a:lnTo>
                  <a:lnTo>
                    <a:pt x="21088" y="122909"/>
                  </a:lnTo>
                  <a:lnTo>
                    <a:pt x="43975" y="138340"/>
                  </a:lnTo>
                  <a:lnTo>
                    <a:pt x="72001" y="143998"/>
                  </a:lnTo>
                  <a:lnTo>
                    <a:pt x="7064136" y="144007"/>
                  </a:lnTo>
                  <a:lnTo>
                    <a:pt x="7092162" y="138349"/>
                  </a:lnTo>
                  <a:lnTo>
                    <a:pt x="7115048" y="122918"/>
                  </a:lnTo>
                  <a:lnTo>
                    <a:pt x="7130479" y="100030"/>
                  </a:lnTo>
                  <a:lnTo>
                    <a:pt x="7136145" y="72003"/>
                  </a:lnTo>
                  <a:lnTo>
                    <a:pt x="7130487" y="43976"/>
                  </a:lnTo>
                  <a:lnTo>
                    <a:pt x="7115056" y="21089"/>
                  </a:lnTo>
                  <a:lnTo>
                    <a:pt x="7092170" y="5658"/>
                  </a:lnTo>
                  <a:lnTo>
                    <a:pt x="706414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9853ED9-723D-7F01-73F0-EB6722FF3E4E}"/>
                </a:ext>
              </a:extLst>
            </p:cNvPr>
            <p:cNvSpPr/>
            <p:nvPr/>
          </p:nvSpPr>
          <p:spPr>
            <a:xfrm>
              <a:off x="1892100" y="350569"/>
              <a:ext cx="7136765" cy="144145"/>
            </a:xfrm>
            <a:custGeom>
              <a:avLst/>
              <a:gdLst/>
              <a:ahLst/>
              <a:cxnLst/>
              <a:rect l="l" t="t" r="r" b="b"/>
              <a:pathLst>
                <a:path w="7136765" h="144145">
                  <a:moveTo>
                    <a:pt x="0" y="72003"/>
                  </a:moveTo>
                  <a:lnTo>
                    <a:pt x="5658" y="43976"/>
                  </a:lnTo>
                  <a:lnTo>
                    <a:pt x="21088" y="21089"/>
                  </a:lnTo>
                  <a:lnTo>
                    <a:pt x="43975" y="5658"/>
                  </a:lnTo>
                  <a:lnTo>
                    <a:pt x="72001" y="0"/>
                  </a:lnTo>
                  <a:lnTo>
                    <a:pt x="7064144" y="0"/>
                  </a:lnTo>
                  <a:lnTo>
                    <a:pt x="7092170" y="5658"/>
                  </a:lnTo>
                  <a:lnTo>
                    <a:pt x="7115057" y="21089"/>
                  </a:lnTo>
                  <a:lnTo>
                    <a:pt x="7130487" y="43976"/>
                  </a:lnTo>
                  <a:lnTo>
                    <a:pt x="7136146" y="72003"/>
                  </a:lnTo>
                  <a:lnTo>
                    <a:pt x="7130479" y="100031"/>
                  </a:lnTo>
                  <a:lnTo>
                    <a:pt x="7115049" y="122918"/>
                  </a:lnTo>
                  <a:lnTo>
                    <a:pt x="7092163" y="138349"/>
                  </a:lnTo>
                  <a:lnTo>
                    <a:pt x="7064137" y="144007"/>
                  </a:lnTo>
                  <a:lnTo>
                    <a:pt x="72001" y="144000"/>
                  </a:lnTo>
                  <a:lnTo>
                    <a:pt x="43975" y="138341"/>
                  </a:lnTo>
                  <a:lnTo>
                    <a:pt x="21088" y="122910"/>
                  </a:lnTo>
                  <a:lnTo>
                    <a:pt x="5658" y="100023"/>
                  </a:lnTo>
                  <a:lnTo>
                    <a:pt x="0" y="7199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1AE61C-3AF2-A04C-1F2F-38F5E8701A5F}"/>
              </a:ext>
            </a:extLst>
          </p:cNvPr>
          <p:cNvSpPr txBox="1"/>
          <p:nvPr/>
        </p:nvSpPr>
        <p:spPr>
          <a:xfrm>
            <a:off x="3276600" y="806483"/>
            <a:ext cx="272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highlight>
                  <a:srgbClr val="00FFFF"/>
                </a:highlight>
                <a:latin typeface="Bookman Old Style" panose="02050604050505020204" pitchFamily="18" charset="0"/>
              </a:rPr>
              <a:t>Filtre passe-bande</a:t>
            </a:r>
            <a:endParaRPr lang="fr-FR" u="sng" dirty="0">
              <a:highlight>
                <a:srgbClr val="00FFFF"/>
              </a:highlight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F3652-4196-ED23-EB51-27E7936EB862}"/>
              </a:ext>
            </a:extLst>
          </p:cNvPr>
          <p:cNvSpPr txBox="1"/>
          <p:nvPr/>
        </p:nvSpPr>
        <p:spPr>
          <a:xfrm>
            <a:off x="3505835" y="145954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Fonction de Transfert </a:t>
            </a:r>
            <a:endParaRPr lang="fr-FR" sz="1400" u="sng" dirty="0">
              <a:solidFill>
                <a:srgbClr val="FF0000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0591B7-EEC5-D970-3A85-D9E4705C9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9" y="1101284"/>
            <a:ext cx="2860623" cy="11974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763F9CE-3789-2BF0-25BA-358449488187}"/>
                  </a:ext>
                </a:extLst>
              </p:cNvPr>
              <p:cNvSpPr txBox="1"/>
              <p:nvPr/>
            </p:nvSpPr>
            <p:spPr>
              <a:xfrm>
                <a:off x="2354717" y="1802190"/>
                <a:ext cx="4572000" cy="8825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el-GR" b="1" i="0" smtClean="0">
                              <a:latin typeface="Cambria Math" panose="02040503050406030204" pitchFamily="18" charset="0"/>
                            </a:rPr>
                            <m:t>𝛚</m:t>
                          </m:r>
                        </m:e>
                      </m:d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num>
                            <m:den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𝐣𝐋</m:t>
                              </m:r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den>
                          </m:f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𝐣𝐑𝐂</m:t>
                          </m:r>
                          <m:r>
                            <a:rPr lang="el-GR" b="1">
                              <a:latin typeface="Cambria Math" panose="02040503050406030204" pitchFamily="18" charset="0"/>
                            </a:rPr>
                            <m:t>𝛚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763F9CE-3789-2BF0-25BA-358449488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717" y="1802190"/>
                <a:ext cx="4572000" cy="8825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905D1F-79E0-70AD-04C5-7086B9792089}"/>
                  </a:ext>
                </a:extLst>
              </p:cNvPr>
              <p:cNvSpPr txBox="1"/>
              <p:nvPr/>
            </p:nvSpPr>
            <p:spPr>
              <a:xfrm>
                <a:off x="1028700" y="2665078"/>
                <a:ext cx="7086600" cy="10306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el-GR" b="1" i="0" smtClean="0">
                              <a:latin typeface="Cambria Math" panose="02040503050406030204" pitchFamily="18" charset="0"/>
                            </a:rPr>
                            <m:t>𝛚</m:t>
                          </m:r>
                        </m:e>
                      </m:d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f>
                            <m:f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num>
                            <m:den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den>
                          </m:f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𝐣𝐑𝐂</m:t>
                          </m:r>
                          <m:r>
                            <a:rPr lang="el-GR" b="1">
                              <a:latin typeface="Cambria Math" panose="02040503050406030204" pitchFamily="18" charset="0"/>
                            </a:rPr>
                            <m:t>𝛚</m:t>
                          </m:r>
                        </m:den>
                      </m:f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𝐣𝐑</m:t>
                          </m:r>
                          <m:rad>
                            <m:radPr>
                              <m:degHide m:val="on"/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num>
                                <m:den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den>
                              </m:f>
                            </m:e>
                          </m:rad>
                          <m:d>
                            <m:d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𝑳𝑪</m:t>
                                  </m:r>
                                </m:e>
                              </m:rad>
                              <m:r>
                                <a:rPr lang="el-GR" b="1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1" i="0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b="1" i="1" smtClean="0">
                                          <a:latin typeface="Cambria Math" panose="02040503050406030204" pitchFamily="18" charset="0"/>
                                        </a:rPr>
                                        <m:t>𝑪𝑳</m:t>
                                      </m:r>
                                    </m:e>
                                  </m:rad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905D1F-79E0-70AD-04C5-7086B9792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" y="2665078"/>
                <a:ext cx="7086600" cy="10306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245E1E-89BC-E662-46C6-600942497046}"/>
                  </a:ext>
                </a:extLst>
              </p:cNvPr>
              <p:cNvSpPr txBox="1"/>
              <p:nvPr/>
            </p:nvSpPr>
            <p:spPr>
              <a:xfrm>
                <a:off x="2133600" y="3968781"/>
                <a:ext cx="4572000" cy="9098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smtClean="0"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el-GR" b="1">
                              <a:latin typeface="Cambria Math" panose="02040503050406030204" pitchFamily="18" charset="0"/>
                            </a:rPr>
                            <m:t>𝛚</m:t>
                          </m:r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</m:num>
                        <m:den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𝐣𝐐</m:t>
                          </m:r>
                          <m:d>
                            <m:d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b="1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b>
                                      <m:r>
                                        <a:rPr lang="fr-FR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b="1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b>
                                      <m:r>
                                        <a:rPr lang="fr-FR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l-GR" b="1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245E1E-89BC-E662-46C6-600942497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968781"/>
                <a:ext cx="4572000" cy="9098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AB02570-679A-2BD4-22D2-FAABA7493A24}"/>
                  </a:ext>
                </a:extLst>
              </p:cNvPr>
              <p:cNvSpPr txBox="1"/>
              <p:nvPr/>
            </p:nvSpPr>
            <p:spPr>
              <a:xfrm>
                <a:off x="6907842" y="3695745"/>
                <a:ext cx="1552605" cy="1302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1400" b="1" dirty="0">
                    <a:latin typeface="Bookman Old Style" panose="02050604050505020204" pitchFamily="18" charset="0"/>
                  </a:rPr>
                  <a:t>Avec</a:t>
                </a:r>
                <a:r>
                  <a:rPr lang="fr-FR" sz="1400" b="1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𝐊</m:t>
                            </m:r>
                            <m:r>
                              <a:rPr lang="fr-FR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fr-FR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𝐐</m:t>
                            </m:r>
                            <m:r>
                              <a:rPr lang="fr-FR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  <m:rad>
                              <m:radPr>
                                <m:degHide m:val="on"/>
                                <m:ctrlPr>
                                  <a:rPr lang="fr-FR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fr-FR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num>
                                  <m:den>
                                    <m:r>
                                      <a:rPr lang="fr-FR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den>
                                </m:f>
                              </m:e>
                            </m:rad>
                          </m:e>
                          <m:e>
                            <m:sSub>
                              <m:sSubPr>
                                <m:ctrlPr>
                                  <a:rPr lang="fr-FR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𝛚</m:t>
                                </m:r>
                              </m:e>
                              <m:sub>
                                <m:r>
                                  <a:rPr lang="fr-FR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fr-FR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fr-FR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fr-FR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fr-FR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𝑳𝑪</m:t>
                                    </m:r>
                                  </m:e>
                                </m:rad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AB02570-679A-2BD4-22D2-FAABA7493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842" y="3695745"/>
                <a:ext cx="1552605" cy="1302985"/>
              </a:xfrm>
              <a:prstGeom prst="rect">
                <a:avLst/>
              </a:prstGeom>
              <a:blipFill>
                <a:blip r:embed="rId7"/>
                <a:stretch>
                  <a:fillRect l="-705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3E6B2F24-8675-E1C1-0804-FDD092E34AD3}"/>
              </a:ext>
            </a:extLst>
          </p:cNvPr>
          <p:cNvSpPr/>
          <p:nvPr/>
        </p:nvSpPr>
        <p:spPr>
          <a:xfrm>
            <a:off x="555800" y="465192"/>
            <a:ext cx="449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lvl="1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lang="fr-FR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5. Études de certains filtres passifs </a:t>
            </a:r>
          </a:p>
        </p:txBody>
      </p:sp>
    </p:spTree>
    <p:extLst>
      <p:ext uri="{BB962C8B-B14F-4D97-AF65-F5344CB8AC3E}">
        <p14:creationId xmlns:p14="http://schemas.microsoft.com/office/powerpoint/2010/main" val="2995171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185929</TotalTime>
  <Words>4706</Words>
  <Application>Microsoft Office PowerPoint</Application>
  <PresentationFormat>On-screen Show (16:9)</PresentationFormat>
  <Paragraphs>918</Paragraphs>
  <Slides>69</Slides>
  <Notes>67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0" baseType="lpstr">
      <vt:lpstr>Arial</vt:lpstr>
      <vt:lpstr>Bookman Old Style</vt:lpstr>
      <vt:lpstr>Calibri</vt:lpstr>
      <vt:lpstr>Cambria Math</vt:lpstr>
      <vt:lpstr>Symbol</vt:lpstr>
      <vt:lpstr>Tahoma</vt:lpstr>
      <vt:lpstr>Times New Roman</vt:lpstr>
      <vt:lpstr>Verdana</vt:lpstr>
      <vt:lpstr>Wingdings</vt:lpstr>
      <vt:lpstr>Office Theme</vt:lpstr>
      <vt:lpstr>Équation</vt:lpstr>
      <vt:lpstr>PowerPoint Presentation</vt:lpstr>
      <vt:lpstr>Plan</vt:lpstr>
      <vt:lpstr>Plan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PowerPoint Presentation</vt:lpstr>
      <vt:lpstr>PowerPoint Presentation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  <vt:lpstr>Filtres Passifs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Electrostatique et électrocinétique</dc:title>
  <cp:lastModifiedBy>lhoussain elhajjami</cp:lastModifiedBy>
  <cp:revision>2099</cp:revision>
  <dcterms:created xsi:type="dcterms:W3CDTF">2023-11-13T11:26:33Z</dcterms:created>
  <dcterms:modified xsi:type="dcterms:W3CDTF">2024-12-04T19:08:05Z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2023-02-20T00:00:00Z</vt:filetime>
  </property>
  <property fmtid="{D5CDD505-2E9C-101B-9397-08002B2CF9AE}" pid="3" name="LastSaved">
    <vt:filetime>2023-11-13T00:00:00Z</vt:filetime>
  </property>
</Properties>
</file>