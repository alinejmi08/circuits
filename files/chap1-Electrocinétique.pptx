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3"/>
  </p:notesMasterIdLst>
  <p:handoutMasterIdLst>
    <p:handoutMasterId r:id="rId94"/>
  </p:handoutMasterIdLst>
  <p:sldIdLst>
    <p:sldId id="518" r:id="rId2"/>
    <p:sldId id="261" r:id="rId3"/>
    <p:sldId id="260" r:id="rId4"/>
    <p:sldId id="435" r:id="rId5"/>
    <p:sldId id="444" r:id="rId6"/>
    <p:sldId id="519" r:id="rId7"/>
    <p:sldId id="445" r:id="rId8"/>
    <p:sldId id="520" r:id="rId9"/>
    <p:sldId id="258" r:id="rId10"/>
    <p:sldId id="521" r:id="rId11"/>
    <p:sldId id="446" r:id="rId12"/>
    <p:sldId id="448" r:id="rId13"/>
    <p:sldId id="447" r:id="rId14"/>
    <p:sldId id="434" r:id="rId15"/>
    <p:sldId id="449" r:id="rId16"/>
    <p:sldId id="522" r:id="rId17"/>
    <p:sldId id="450" r:id="rId18"/>
    <p:sldId id="523" r:id="rId19"/>
    <p:sldId id="451" r:id="rId20"/>
    <p:sldId id="524" r:id="rId21"/>
    <p:sldId id="452" r:id="rId22"/>
    <p:sldId id="453" r:id="rId23"/>
    <p:sldId id="454" r:id="rId24"/>
    <p:sldId id="455" r:id="rId25"/>
    <p:sldId id="525" r:id="rId26"/>
    <p:sldId id="457" r:id="rId27"/>
    <p:sldId id="526" r:id="rId28"/>
    <p:sldId id="527" r:id="rId29"/>
    <p:sldId id="458" r:id="rId30"/>
    <p:sldId id="459" r:id="rId31"/>
    <p:sldId id="528" r:id="rId32"/>
    <p:sldId id="460" r:id="rId33"/>
    <p:sldId id="461" r:id="rId34"/>
    <p:sldId id="529" r:id="rId35"/>
    <p:sldId id="462" r:id="rId36"/>
    <p:sldId id="530" r:id="rId37"/>
    <p:sldId id="463" r:id="rId38"/>
    <p:sldId id="531" r:id="rId39"/>
    <p:sldId id="464" r:id="rId40"/>
    <p:sldId id="532" r:id="rId41"/>
    <p:sldId id="465" r:id="rId42"/>
    <p:sldId id="533" r:id="rId43"/>
    <p:sldId id="466" r:id="rId44"/>
    <p:sldId id="467" r:id="rId45"/>
    <p:sldId id="468" r:id="rId46"/>
    <p:sldId id="469" r:id="rId47"/>
    <p:sldId id="473" r:id="rId48"/>
    <p:sldId id="472" r:id="rId49"/>
    <p:sldId id="536" r:id="rId50"/>
    <p:sldId id="474" r:id="rId51"/>
    <p:sldId id="475" r:id="rId52"/>
    <p:sldId id="471" r:id="rId53"/>
    <p:sldId id="476" r:id="rId54"/>
    <p:sldId id="477" r:id="rId55"/>
    <p:sldId id="478" r:id="rId56"/>
    <p:sldId id="479" r:id="rId57"/>
    <p:sldId id="480" r:id="rId58"/>
    <p:sldId id="534" r:id="rId59"/>
    <p:sldId id="481" r:id="rId60"/>
    <p:sldId id="535" r:id="rId61"/>
    <p:sldId id="482" r:id="rId62"/>
    <p:sldId id="483" r:id="rId63"/>
    <p:sldId id="484" r:id="rId64"/>
    <p:sldId id="486" r:id="rId65"/>
    <p:sldId id="487" r:id="rId66"/>
    <p:sldId id="485" r:id="rId67"/>
    <p:sldId id="488" r:id="rId68"/>
    <p:sldId id="515" r:id="rId69"/>
    <p:sldId id="490" r:id="rId70"/>
    <p:sldId id="491" r:id="rId71"/>
    <p:sldId id="492" r:id="rId72"/>
    <p:sldId id="493" r:id="rId73"/>
    <p:sldId id="494" r:id="rId74"/>
    <p:sldId id="496" r:id="rId75"/>
    <p:sldId id="497" r:id="rId76"/>
    <p:sldId id="498" r:id="rId77"/>
    <p:sldId id="499" r:id="rId78"/>
    <p:sldId id="500" r:id="rId79"/>
    <p:sldId id="501" r:id="rId80"/>
    <p:sldId id="502" r:id="rId81"/>
    <p:sldId id="503" r:id="rId82"/>
    <p:sldId id="504" r:id="rId83"/>
    <p:sldId id="505" r:id="rId84"/>
    <p:sldId id="506" r:id="rId85"/>
    <p:sldId id="508" r:id="rId86"/>
    <p:sldId id="509" r:id="rId87"/>
    <p:sldId id="510" r:id="rId88"/>
    <p:sldId id="511" r:id="rId89"/>
    <p:sldId id="512" r:id="rId90"/>
    <p:sldId id="513" r:id="rId91"/>
    <p:sldId id="514" r:id="rId92"/>
  </p:sldIdLst>
  <p:sldSz cx="9144000" cy="5143500" type="screen16x9"/>
  <p:notesSz cx="9144000" cy="51435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houssain elhajjami" initials="le" lastIdx="1" clrIdx="0">
    <p:extLst>
      <p:ext uri="{19B8F6BF-5375-455C-9EA6-DF929625EA0E}">
        <p15:presenceInfo xmlns:p15="http://schemas.microsoft.com/office/powerpoint/2012/main" userId="lhoussain elhajjam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FF"/>
    <a:srgbClr val="00FF00"/>
    <a:srgbClr val="FF9900"/>
    <a:srgbClr val="00FFFF"/>
    <a:srgbClr val="CC00CC"/>
    <a:srgbClr val="00CC99"/>
    <a:srgbClr val="8064A2"/>
    <a:srgbClr val="33CCCC"/>
    <a:srgbClr val="A87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52" autoAdjust="0"/>
    <p:restoredTop sz="94397" autoAdjust="0"/>
  </p:normalViewPr>
  <p:slideViewPr>
    <p:cSldViewPr>
      <p:cViewPr varScale="1">
        <p:scale>
          <a:sx n="105" d="100"/>
          <a:sy n="105" d="100"/>
        </p:scale>
        <p:origin x="41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commentAuthors" Target="commentAuthor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handoutMaster" Target="handoutMasters/handoutMaster1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Relationship Id="rId98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7.wmf"/><Relationship Id="rId1" Type="http://schemas.openxmlformats.org/officeDocument/2006/relationships/image" Target="../media/image9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9.wmf"/><Relationship Id="rId1" Type="http://schemas.openxmlformats.org/officeDocument/2006/relationships/image" Target="../media/image98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wmf"/><Relationship Id="rId1" Type="http://schemas.openxmlformats.org/officeDocument/2006/relationships/image" Target="../media/image107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wmf"/><Relationship Id="rId1" Type="http://schemas.openxmlformats.org/officeDocument/2006/relationships/image" Target="../media/image10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3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wmf"/><Relationship Id="rId1" Type="http://schemas.openxmlformats.org/officeDocument/2006/relationships/image" Target="../media/image11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E5980-CF89-4B1A-9630-F34DC8A3FEFB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FC00A-5837-4533-9922-DB94C998FE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536288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55BB1-077F-4953-B445-56E73AFDDD27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A7ADD1-564E-426F-A644-664AEAE708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10932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1225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2792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3395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9765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4203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AC</a:t>
            </a:r>
            <a:r>
              <a:rPr lang="fr-FR" dirty="0"/>
              <a:t> et </a:t>
            </a:r>
            <a:r>
              <a:rPr lang="fr-FR" b="1" dirty="0"/>
              <a:t>DC</a:t>
            </a:r>
          </a:p>
          <a:p>
            <a:r>
              <a:rPr lang="fr-FR" b="1" dirty="0"/>
              <a:t>DC </a:t>
            </a:r>
            <a:r>
              <a:rPr lang="fr-FR" b="1" dirty="0" err="1"/>
              <a:t>periode</a:t>
            </a:r>
            <a:r>
              <a:rPr lang="fr-FR" b="1" dirty="0"/>
              <a:t> infini (</a:t>
            </a:r>
            <a:r>
              <a:rPr lang="fr-FR" b="1" dirty="0" err="1"/>
              <a:t>frequence</a:t>
            </a:r>
            <a:r>
              <a:rPr lang="fr-FR" b="1" dirty="0"/>
              <a:t> nulle)</a:t>
            </a:r>
          </a:p>
        </p:txBody>
      </p:sp>
    </p:spTree>
    <p:extLst>
      <p:ext uri="{BB962C8B-B14F-4D97-AF65-F5344CB8AC3E}">
        <p14:creationId xmlns:p14="http://schemas.microsoft.com/office/powerpoint/2010/main" val="3169421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AC</a:t>
            </a:r>
            <a:r>
              <a:rPr lang="fr-FR" dirty="0"/>
              <a:t> et </a:t>
            </a:r>
            <a:r>
              <a:rPr lang="fr-FR" b="1" dirty="0"/>
              <a:t>DC</a:t>
            </a:r>
          </a:p>
          <a:p>
            <a:r>
              <a:rPr lang="fr-FR" b="1" dirty="0"/>
              <a:t>DC </a:t>
            </a:r>
            <a:r>
              <a:rPr lang="fr-FR" b="1" dirty="0" err="1"/>
              <a:t>periode</a:t>
            </a:r>
            <a:r>
              <a:rPr lang="fr-FR" b="1" dirty="0"/>
              <a:t> infini (</a:t>
            </a:r>
            <a:r>
              <a:rPr lang="fr-FR" b="1" dirty="0" err="1"/>
              <a:t>frequence</a:t>
            </a:r>
            <a:r>
              <a:rPr lang="fr-FR" b="1" dirty="0"/>
              <a:t> nulle)</a:t>
            </a:r>
          </a:p>
        </p:txBody>
      </p:sp>
    </p:spTree>
    <p:extLst>
      <p:ext uri="{BB962C8B-B14F-4D97-AF65-F5344CB8AC3E}">
        <p14:creationId xmlns:p14="http://schemas.microsoft.com/office/powerpoint/2010/main" val="2952681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3461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8267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fr-FR" sz="1200" dirty="0">
                <a:latin typeface="Garamond" panose="02020404030301010803" pitchFamily="18" charset="0"/>
                <a:cs typeface="Browallia New" panose="020B0604020202020204" pitchFamily="34" charset="-34"/>
              </a:rPr>
              <a:t>Les signaux </a:t>
            </a:r>
            <a:r>
              <a:rPr lang="fr-FR" altLang="fr-FR" sz="1200" b="1" dirty="0">
                <a:solidFill>
                  <a:srgbClr val="FF0000"/>
                </a:solidFill>
                <a:latin typeface="Garamond" panose="02020404030301010803" pitchFamily="18" charset="0"/>
                <a:cs typeface="Browallia New" panose="020B0604020202020204" pitchFamily="34" charset="-34"/>
              </a:rPr>
              <a:t>continus</a:t>
            </a:r>
            <a:r>
              <a:rPr lang="fr-FR" altLang="fr-FR" sz="1200" dirty="0">
                <a:latin typeface="Garamond" panose="02020404030301010803" pitchFamily="18" charset="0"/>
                <a:cs typeface="Browallia New" panose="020B0604020202020204" pitchFamily="34" charset="-34"/>
              </a:rPr>
              <a:t> présentent eux aussi une valeur efficace non-nulle. Toutefois, en pratique on préfère les décrire par </a:t>
            </a:r>
            <a:r>
              <a:rPr lang="fr-FR" altLang="fr-FR" sz="1200" b="1" dirty="0">
                <a:solidFill>
                  <a:srgbClr val="FF0000"/>
                </a:solidFill>
                <a:latin typeface="Garamond" panose="02020404030301010803" pitchFamily="18" charset="0"/>
                <a:cs typeface="Browallia New" panose="020B0604020202020204" pitchFamily="34" charset="-34"/>
              </a:rPr>
              <a:t>les valeurs moyennes</a:t>
            </a:r>
            <a:endParaRPr lang="fr-F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161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9314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653386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48563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63013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25652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876621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90179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91667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55370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517234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04140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34382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65255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61540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514572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01954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85091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41484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205797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63392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913858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02667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0316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87419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498841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16626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2333722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240678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59651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69159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397121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37222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219337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80662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429247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558703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309200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340509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887039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339805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457646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886241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523408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57513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270088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533451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507905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517343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685831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134243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1039818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0052285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941116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663157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808433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Amplitude : valeur efficace√2</a:t>
            </a:r>
          </a:p>
        </p:txBody>
      </p:sp>
    </p:spTree>
    <p:extLst>
      <p:ext uri="{BB962C8B-B14F-4D97-AF65-F5344CB8AC3E}">
        <p14:creationId xmlns:p14="http://schemas.microsoft.com/office/powerpoint/2010/main" val="56798729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436738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226513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Notation complexe est faites pour </a:t>
            </a:r>
            <a:r>
              <a:rPr lang="fr-FR" dirty="0" err="1"/>
              <a:t>eviter</a:t>
            </a:r>
            <a:r>
              <a:rPr lang="fr-FR" dirty="0"/>
              <a:t> la </a:t>
            </a:r>
            <a:r>
              <a:rPr lang="fr-FR" dirty="0" err="1"/>
              <a:t>representation</a:t>
            </a:r>
            <a:r>
              <a:rPr lang="fr-FR" dirty="0"/>
              <a:t> de </a:t>
            </a:r>
            <a:r>
              <a:rPr lang="fr-FR" dirty="0" err="1"/>
              <a:t>fresnel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426685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es commentair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dirty="0"/>
                  <a:t>Notation complexe est faites pour </a:t>
                </a:r>
                <a:r>
                  <a:rPr lang="fr-FR" dirty="0" err="1"/>
                  <a:t>eviter</a:t>
                </a:r>
                <a:r>
                  <a:rPr lang="fr-FR" dirty="0"/>
                  <a:t> la </a:t>
                </a:r>
                <a:r>
                  <a:rPr lang="fr-FR" dirty="0" err="1"/>
                  <a:t>representation</a:t>
                </a:r>
                <a:r>
                  <a:rPr lang="fr-FR" dirty="0"/>
                  <a:t> de </a:t>
                </a:r>
                <a:r>
                  <a:rPr lang="fr-FR" dirty="0" err="1"/>
                  <a:t>fresnel</a:t>
                </a:r>
                <a:r>
                  <a:rPr lang="fr-FR" dirty="0"/>
                  <a:t> </a:t>
                </a:r>
              </a:p>
              <a:p>
                <a:endParaRPr lang="fr-FR" dirty="0"/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fr-FR" altLang="fr-FR" sz="1200" dirty="0">
                    <a:latin typeface="Garamond" panose="02020404030301010803" pitchFamily="18" charset="0"/>
                    <a:cs typeface="Browallia New" panose="020B0604020202020204" pitchFamily="34" charset="-34"/>
                  </a:rPr>
                  <a:t>La représentation vectorielle des relations courant-tension en régime sinusoïdal est une manière de ne garder du signal qu'un déphasage et une amplitude.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fr-FR" altLang="fr-FR" sz="1200" i="1" smtClean="0"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</m:ctrlPr>
                      </m:barPr>
                      <m:e>
                        <m:r>
                          <a:rPr lang="fr-FR" altLang="fr-FR" sz="1200" b="0" i="1" smtClean="0"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𝑌</m:t>
                        </m:r>
                      </m:e>
                    </m:bar>
                  </m:oMath>
                </a14:m>
                <a:r>
                  <a:rPr lang="fr-FR" altLang="fr-FR" sz="1200" dirty="0">
                    <a:latin typeface="Garamond" panose="02020404030301010803" pitchFamily="18" charset="0"/>
                    <a:cs typeface="Browallia New" panose="020B0604020202020204" pitchFamily="34" charset="-34"/>
                  </a:rPr>
                  <a:t> est dit phaseur.  </a:t>
                </a: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fr-FR" altLang="fr-FR" sz="1200" dirty="0">
                    <a:latin typeface="Garamond" panose="02020404030301010803" pitchFamily="18" charset="0"/>
                    <a:cs typeface="Browallia New" panose="020B0604020202020204" pitchFamily="34" charset="-34"/>
                  </a:rPr>
                  <a:t>Ce résultat peut aussi être obtenu grâce à l'utilisation de nombres complexes.</a:t>
                </a:r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3" name="Espace réservé des commentair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dirty="0"/>
                  <a:t>Notation complexe est faites pour </a:t>
                </a:r>
                <a:r>
                  <a:rPr lang="fr-FR" dirty="0" err="1"/>
                  <a:t>eviter</a:t>
                </a:r>
                <a:r>
                  <a:rPr lang="fr-FR" dirty="0"/>
                  <a:t> la </a:t>
                </a:r>
                <a:r>
                  <a:rPr lang="fr-FR" dirty="0" err="1"/>
                  <a:t>representation</a:t>
                </a:r>
                <a:r>
                  <a:rPr lang="fr-FR" dirty="0"/>
                  <a:t> de </a:t>
                </a:r>
                <a:r>
                  <a:rPr lang="fr-FR" dirty="0" err="1"/>
                  <a:t>fresnel</a:t>
                </a:r>
                <a:r>
                  <a:rPr lang="fr-FR" dirty="0"/>
                  <a:t> </a:t>
                </a:r>
              </a:p>
              <a:p>
                <a:endParaRPr lang="fr-FR" dirty="0"/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fr-FR" altLang="fr-FR" sz="1200" dirty="0">
                    <a:latin typeface="Garamond" panose="02020404030301010803" pitchFamily="18" charset="0"/>
                    <a:cs typeface="Browallia New" panose="020B0604020202020204" pitchFamily="34" charset="-34"/>
                  </a:rPr>
                  <a:t>La représentation vectorielle des relations courant-tension en régime sinusoïdal est une manière de ne garder du signal qu'un déphasage et une amplitude. </a:t>
                </a:r>
                <a:r>
                  <a:rPr lang="fr-FR" altLang="fr-FR" sz="1200" i="0">
                    <a:latin typeface="Cambria Math" panose="02040503050406030204" pitchFamily="18" charset="0"/>
                    <a:cs typeface="Browallia New" panose="020B0604020202020204" pitchFamily="34" charset="-34"/>
                  </a:rPr>
                  <a:t>▁</a:t>
                </a:r>
                <a:r>
                  <a:rPr lang="fr-FR" altLang="fr-FR" sz="1200" b="0" i="0">
                    <a:latin typeface="Cambria Math" panose="02040503050406030204" pitchFamily="18" charset="0"/>
                    <a:cs typeface="Browallia New" panose="020B0604020202020204" pitchFamily="34" charset="-34"/>
                  </a:rPr>
                  <a:t>𝑌</a:t>
                </a:r>
                <a:r>
                  <a:rPr lang="fr-FR" altLang="fr-FR" sz="1200" dirty="0">
                    <a:latin typeface="Garamond" panose="02020404030301010803" pitchFamily="18" charset="0"/>
                    <a:cs typeface="Browallia New" panose="020B0604020202020204" pitchFamily="34" charset="-34"/>
                  </a:rPr>
                  <a:t> est dit phaseur.  </a:t>
                </a: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fr-FR" altLang="fr-FR" sz="1200" dirty="0">
                    <a:latin typeface="Garamond" panose="02020404030301010803" pitchFamily="18" charset="0"/>
                    <a:cs typeface="Browallia New" panose="020B0604020202020204" pitchFamily="34" charset="-34"/>
                  </a:rPr>
                  <a:t>Ce résultat peut aussi être obtenu grâce à l'utilisation de nombres complexes.</a:t>
                </a:r>
              </a:p>
              <a:p>
                <a:endParaRPr lang="fr-FR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18888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Notation complexe est faites pour </a:t>
            </a:r>
            <a:r>
              <a:rPr lang="fr-FR" dirty="0" err="1"/>
              <a:t>eviter</a:t>
            </a:r>
            <a:r>
              <a:rPr lang="fr-FR" dirty="0"/>
              <a:t> la </a:t>
            </a:r>
            <a:r>
              <a:rPr lang="fr-FR" dirty="0" err="1"/>
              <a:t>representation</a:t>
            </a:r>
            <a:r>
              <a:rPr lang="fr-FR" dirty="0"/>
              <a:t> de </a:t>
            </a:r>
            <a:r>
              <a:rPr lang="fr-FR" dirty="0" err="1"/>
              <a:t>fresnel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454586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Notation complexe est faites pour </a:t>
            </a:r>
            <a:r>
              <a:rPr lang="fr-FR" dirty="0" err="1"/>
              <a:t>eviter</a:t>
            </a:r>
            <a:r>
              <a:rPr lang="fr-FR" dirty="0"/>
              <a:t> la </a:t>
            </a:r>
            <a:r>
              <a:rPr lang="fr-FR" dirty="0" err="1"/>
              <a:t>representation</a:t>
            </a:r>
            <a:r>
              <a:rPr lang="fr-FR" dirty="0"/>
              <a:t> de </a:t>
            </a:r>
            <a:r>
              <a:rPr lang="fr-FR" dirty="0" err="1"/>
              <a:t>fresnel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461520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Notation complexe est faites pour </a:t>
            </a:r>
            <a:r>
              <a:rPr lang="fr-FR" dirty="0" err="1"/>
              <a:t>eviter</a:t>
            </a:r>
            <a:r>
              <a:rPr lang="fr-FR" dirty="0"/>
              <a:t> la </a:t>
            </a:r>
            <a:r>
              <a:rPr lang="fr-FR" dirty="0" err="1"/>
              <a:t>representation</a:t>
            </a:r>
            <a:r>
              <a:rPr lang="fr-FR" dirty="0"/>
              <a:t> de </a:t>
            </a:r>
            <a:r>
              <a:rPr lang="fr-FR" dirty="0" err="1"/>
              <a:t>fresnel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723295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Notation complexe est faites pour </a:t>
            </a:r>
            <a:r>
              <a:rPr lang="fr-FR" dirty="0" err="1"/>
              <a:t>eviter</a:t>
            </a:r>
            <a:r>
              <a:rPr lang="fr-FR" dirty="0"/>
              <a:t> la </a:t>
            </a:r>
            <a:r>
              <a:rPr lang="fr-FR" dirty="0" err="1"/>
              <a:t>representation</a:t>
            </a:r>
            <a:r>
              <a:rPr lang="fr-FR" dirty="0"/>
              <a:t> de </a:t>
            </a:r>
            <a:r>
              <a:rPr lang="fr-FR" dirty="0" err="1"/>
              <a:t>fresnel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545865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Notation complexe est faites pour </a:t>
            </a:r>
            <a:r>
              <a:rPr lang="fr-FR" dirty="0" err="1"/>
              <a:t>eviter</a:t>
            </a:r>
            <a:r>
              <a:rPr lang="fr-FR" dirty="0"/>
              <a:t> la </a:t>
            </a:r>
            <a:r>
              <a:rPr lang="fr-FR" dirty="0" err="1"/>
              <a:t>representation</a:t>
            </a:r>
            <a:r>
              <a:rPr lang="fr-FR" dirty="0"/>
              <a:t> de </a:t>
            </a:r>
            <a:r>
              <a:rPr lang="fr-FR" dirty="0" err="1"/>
              <a:t>fresnel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271564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Notation complexe est faites pour </a:t>
            </a:r>
            <a:r>
              <a:rPr lang="fr-FR" dirty="0" err="1"/>
              <a:t>eviter</a:t>
            </a:r>
            <a:r>
              <a:rPr lang="fr-FR" dirty="0"/>
              <a:t> la </a:t>
            </a:r>
            <a:r>
              <a:rPr lang="fr-FR" dirty="0" err="1"/>
              <a:t>representation</a:t>
            </a:r>
            <a:r>
              <a:rPr lang="fr-FR" dirty="0"/>
              <a:t> de </a:t>
            </a:r>
            <a:r>
              <a:rPr lang="fr-FR" dirty="0" err="1"/>
              <a:t>fresnel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208306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Notation complexe est faites pour </a:t>
            </a:r>
            <a:r>
              <a:rPr lang="fr-FR" dirty="0" err="1"/>
              <a:t>eviter</a:t>
            </a:r>
            <a:r>
              <a:rPr lang="fr-FR" dirty="0"/>
              <a:t> la </a:t>
            </a:r>
            <a:r>
              <a:rPr lang="fr-FR" dirty="0" err="1"/>
              <a:t>representation</a:t>
            </a:r>
            <a:r>
              <a:rPr lang="fr-FR" dirty="0"/>
              <a:t> de </a:t>
            </a:r>
            <a:r>
              <a:rPr lang="fr-FR" dirty="0" err="1"/>
              <a:t>fresnel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049335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Notation complexe est faites pour </a:t>
            </a:r>
            <a:r>
              <a:rPr lang="fr-FR" dirty="0" err="1"/>
              <a:t>eviter</a:t>
            </a:r>
            <a:r>
              <a:rPr lang="fr-FR" dirty="0"/>
              <a:t> la </a:t>
            </a:r>
            <a:r>
              <a:rPr lang="fr-FR" dirty="0" err="1"/>
              <a:t>representation</a:t>
            </a:r>
            <a:r>
              <a:rPr lang="fr-FR" dirty="0"/>
              <a:t> de </a:t>
            </a:r>
            <a:r>
              <a:rPr lang="fr-FR" dirty="0" err="1"/>
              <a:t>fresnel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806937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Notation complexe est faites pour </a:t>
            </a:r>
            <a:r>
              <a:rPr lang="fr-FR" dirty="0" err="1"/>
              <a:t>eviter</a:t>
            </a:r>
            <a:r>
              <a:rPr lang="fr-FR" dirty="0"/>
              <a:t> la </a:t>
            </a:r>
            <a:r>
              <a:rPr lang="fr-FR" dirty="0" err="1"/>
              <a:t>representation</a:t>
            </a:r>
            <a:r>
              <a:rPr lang="fr-FR" dirty="0"/>
              <a:t> de </a:t>
            </a:r>
            <a:r>
              <a:rPr lang="fr-FR" dirty="0" err="1"/>
              <a:t>fresnel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837646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Notation complexe est faites pour </a:t>
            </a:r>
            <a:r>
              <a:rPr lang="fr-FR" dirty="0" err="1"/>
              <a:t>eviter</a:t>
            </a:r>
            <a:r>
              <a:rPr lang="fr-FR" dirty="0"/>
              <a:t> la </a:t>
            </a:r>
            <a:r>
              <a:rPr lang="fr-FR" dirty="0" err="1"/>
              <a:t>representation</a:t>
            </a:r>
            <a:r>
              <a:rPr lang="fr-FR" dirty="0"/>
              <a:t> de </a:t>
            </a:r>
            <a:r>
              <a:rPr lang="fr-FR" dirty="0" err="1"/>
              <a:t>fresnel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899887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Notation complexe est faites pour </a:t>
            </a:r>
            <a:r>
              <a:rPr lang="fr-FR" dirty="0" err="1"/>
              <a:t>eviter</a:t>
            </a:r>
            <a:r>
              <a:rPr lang="fr-FR" dirty="0"/>
              <a:t> la </a:t>
            </a:r>
            <a:r>
              <a:rPr lang="fr-FR" dirty="0" err="1"/>
              <a:t>representation</a:t>
            </a:r>
            <a:r>
              <a:rPr lang="fr-FR" dirty="0"/>
              <a:t> de </a:t>
            </a:r>
            <a:r>
              <a:rPr lang="fr-FR" dirty="0" err="1"/>
              <a:t>fresnel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295828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Notation complexe est faites pour </a:t>
            </a:r>
            <a:r>
              <a:rPr lang="fr-FR" dirty="0" err="1"/>
              <a:t>eviter</a:t>
            </a:r>
            <a:r>
              <a:rPr lang="fr-FR" dirty="0"/>
              <a:t> la </a:t>
            </a:r>
            <a:r>
              <a:rPr lang="fr-FR" dirty="0" err="1"/>
              <a:t>representation</a:t>
            </a:r>
            <a:r>
              <a:rPr lang="fr-FR" dirty="0"/>
              <a:t> de </a:t>
            </a:r>
            <a:r>
              <a:rPr lang="fr-FR" dirty="0" err="1"/>
              <a:t>fresnel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98138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Notation complexe est faites pour </a:t>
            </a:r>
            <a:r>
              <a:rPr lang="fr-FR" dirty="0" err="1"/>
              <a:t>eviter</a:t>
            </a:r>
            <a:r>
              <a:rPr lang="fr-FR" dirty="0"/>
              <a:t> la </a:t>
            </a:r>
            <a:r>
              <a:rPr lang="fr-FR" dirty="0" err="1"/>
              <a:t>representation</a:t>
            </a:r>
            <a:r>
              <a:rPr lang="fr-FR" dirty="0"/>
              <a:t> de </a:t>
            </a:r>
            <a:r>
              <a:rPr lang="fr-FR" dirty="0" err="1"/>
              <a:t>fresnel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811077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Notation complexe est faites pour </a:t>
            </a:r>
            <a:r>
              <a:rPr lang="fr-FR" dirty="0" err="1"/>
              <a:t>eviter</a:t>
            </a:r>
            <a:r>
              <a:rPr lang="fr-FR" dirty="0"/>
              <a:t> la </a:t>
            </a:r>
            <a:r>
              <a:rPr lang="fr-FR" dirty="0" err="1"/>
              <a:t>representation</a:t>
            </a:r>
            <a:r>
              <a:rPr lang="fr-FR" dirty="0"/>
              <a:t> de </a:t>
            </a:r>
            <a:r>
              <a:rPr lang="fr-FR" dirty="0" err="1"/>
              <a:t>fresnel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152774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Notation complexe est faites pour </a:t>
            </a:r>
            <a:r>
              <a:rPr lang="fr-FR" dirty="0" err="1"/>
              <a:t>eviter</a:t>
            </a:r>
            <a:r>
              <a:rPr lang="fr-FR" dirty="0"/>
              <a:t> la </a:t>
            </a:r>
            <a:r>
              <a:rPr lang="fr-FR" dirty="0" err="1"/>
              <a:t>representation</a:t>
            </a:r>
            <a:r>
              <a:rPr lang="fr-FR" dirty="0"/>
              <a:t> de </a:t>
            </a:r>
            <a:r>
              <a:rPr lang="fr-FR" dirty="0" err="1"/>
              <a:t>fresnel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6367916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Notation complexe est faites pour </a:t>
            </a:r>
            <a:r>
              <a:rPr lang="fr-FR" dirty="0" err="1"/>
              <a:t>eviter</a:t>
            </a:r>
            <a:r>
              <a:rPr lang="fr-FR" dirty="0"/>
              <a:t> la </a:t>
            </a:r>
            <a:r>
              <a:rPr lang="fr-FR" dirty="0" err="1"/>
              <a:t>representation</a:t>
            </a:r>
            <a:r>
              <a:rPr lang="fr-FR" dirty="0"/>
              <a:t> de </a:t>
            </a:r>
            <a:r>
              <a:rPr lang="fr-FR" dirty="0" err="1"/>
              <a:t>fresnel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5923724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Notation complexe est faites pour </a:t>
            </a:r>
            <a:r>
              <a:rPr lang="fr-FR" dirty="0" err="1"/>
              <a:t>eviter</a:t>
            </a:r>
            <a:r>
              <a:rPr lang="fr-FR" dirty="0"/>
              <a:t> la </a:t>
            </a:r>
            <a:r>
              <a:rPr lang="fr-FR" dirty="0" err="1"/>
              <a:t>representation</a:t>
            </a:r>
            <a:r>
              <a:rPr lang="fr-FR" dirty="0"/>
              <a:t> de </a:t>
            </a:r>
            <a:r>
              <a:rPr lang="fr-FR" dirty="0" err="1"/>
              <a:t>fresnel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966898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Notation complexe est faites pour </a:t>
            </a:r>
            <a:r>
              <a:rPr lang="fr-FR" dirty="0" err="1"/>
              <a:t>eviter</a:t>
            </a:r>
            <a:r>
              <a:rPr lang="fr-FR" dirty="0"/>
              <a:t> la </a:t>
            </a:r>
            <a:r>
              <a:rPr lang="fr-FR" dirty="0" err="1"/>
              <a:t>representation</a:t>
            </a:r>
            <a:r>
              <a:rPr lang="fr-FR" dirty="0"/>
              <a:t> de </a:t>
            </a:r>
            <a:r>
              <a:rPr lang="fr-FR" dirty="0" err="1"/>
              <a:t>fresnel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7694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43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4F82B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43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43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43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43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81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48777" y="1521459"/>
            <a:ext cx="5846444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2370" y="819403"/>
            <a:ext cx="8539258" cy="3155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4F82B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46282" y="4824469"/>
            <a:ext cx="415925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43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8.emf"/><Relationship Id="rId5" Type="http://schemas.openxmlformats.org/officeDocument/2006/relationships/image" Target="../media/image47.wmf"/><Relationship Id="rId4" Type="http://schemas.openxmlformats.org/officeDocument/2006/relationships/oleObject" Target="../embeddings/oleObject1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0.e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7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56.png"/><Relationship Id="rId4" Type="http://schemas.openxmlformats.org/officeDocument/2006/relationships/image" Target="../media/image5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7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71.png"/><Relationship Id="rId5" Type="http://schemas.openxmlformats.org/officeDocument/2006/relationships/image" Target="../media/image69.png"/><Relationship Id="rId10" Type="http://schemas.openxmlformats.org/officeDocument/2006/relationships/image" Target="../media/image57.png"/><Relationship Id="rId4" Type="http://schemas.openxmlformats.org/officeDocument/2006/relationships/image" Target="../media/image68.png"/><Relationship Id="rId9" Type="http://schemas.openxmlformats.org/officeDocument/2006/relationships/image" Target="../media/image65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7" Type="http://schemas.openxmlformats.org/officeDocument/2006/relationships/image" Target="../media/image8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79.wmf"/><Relationship Id="rId4" Type="http://schemas.openxmlformats.org/officeDocument/2006/relationships/oleObject" Target="../embeddings/oleObject3.bin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1.wmf"/><Relationship Id="rId4" Type="http://schemas.openxmlformats.org/officeDocument/2006/relationships/oleObject" Target="../embeddings/oleObject5.bin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2.wmf"/><Relationship Id="rId4" Type="http://schemas.openxmlformats.org/officeDocument/2006/relationships/oleObject" Target="../embeddings/oleObject6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notesSlide" Target="../notesSlides/notesSlide71.xml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95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7" Type="http://schemas.openxmlformats.org/officeDocument/2006/relationships/image" Target="../media/image9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96.wmf"/><Relationship Id="rId4" Type="http://schemas.openxmlformats.org/officeDocument/2006/relationships/oleObject" Target="../embeddings/oleObject9.bin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notesSlide" Target="../notesSlides/notesSlide73.xml"/><Relationship Id="rId7" Type="http://schemas.openxmlformats.org/officeDocument/2006/relationships/image" Target="../media/image9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98.wmf"/><Relationship Id="rId4" Type="http://schemas.openxmlformats.org/officeDocument/2006/relationships/oleObject" Target="../embeddings/oleObject11.bin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7" Type="http://schemas.openxmlformats.org/officeDocument/2006/relationships/image" Target="../media/image10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07.wmf"/><Relationship Id="rId4" Type="http://schemas.openxmlformats.org/officeDocument/2006/relationships/oleObject" Target="../embeddings/oleObject13.bin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7" Type="http://schemas.openxmlformats.org/officeDocument/2006/relationships/image" Target="../media/image1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09.wmf"/><Relationship Id="rId4" Type="http://schemas.openxmlformats.org/officeDocument/2006/relationships/oleObject" Target="../embeddings/oleObject15.bin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13.wmf"/><Relationship Id="rId4" Type="http://schemas.openxmlformats.org/officeDocument/2006/relationships/oleObject" Target="../embeddings/oleObject17.bin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7" Type="http://schemas.openxmlformats.org/officeDocument/2006/relationships/image" Target="../media/image1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14.wmf"/><Relationship Id="rId4" Type="http://schemas.openxmlformats.org/officeDocument/2006/relationships/oleObject" Target="../embeddings/oleObject18.bin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notesSlide" Target="../notesSlides/notesSlide86.xml"/><Relationship Id="rId7" Type="http://schemas.openxmlformats.org/officeDocument/2006/relationships/image" Target="../media/image1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116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118.w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CAD97733-82B8-B369-9161-2BE05DF739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843" y="349873"/>
            <a:ext cx="2775428" cy="650828"/>
          </a:xfrm>
          <a:prstGeom prst="rect">
            <a:avLst/>
          </a:prstGeom>
        </p:spPr>
      </p:pic>
      <p:sp>
        <p:nvSpPr>
          <p:cNvPr id="3" name="TextBox 14">
            <a:extLst>
              <a:ext uri="{FF2B5EF4-FFF2-40B4-BE49-F238E27FC236}">
                <a16:creationId xmlns:a16="http://schemas.microsoft.com/office/drawing/2014/main" id="{9D1F54DC-487D-022E-C391-8F4A27E3CF2A}"/>
              </a:ext>
            </a:extLst>
          </p:cNvPr>
          <p:cNvSpPr txBox="1"/>
          <p:nvPr/>
        </p:nvSpPr>
        <p:spPr>
          <a:xfrm>
            <a:off x="2462743" y="1130365"/>
            <a:ext cx="5029199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500" b="1" u="sng" dirty="0">
                <a:latin typeface="Bookman Old Style" panose="02050604050505020204" pitchFamily="18" charset="0"/>
                <a:ea typeface="+mj-ea"/>
                <a:cs typeface="Arial"/>
              </a:rPr>
              <a:t>DEUST : </a:t>
            </a:r>
          </a:p>
          <a:p>
            <a:pPr marL="128588" indent="-128588" algn="ctr">
              <a:buFont typeface="Arial" panose="020B0604020202020204" pitchFamily="34" charset="0"/>
              <a:buChar char="•"/>
            </a:pPr>
            <a:r>
              <a:rPr lang="fr-FR" sz="900" b="1" dirty="0">
                <a:latin typeface="Bookman Old Style" panose="02050604050505020204" pitchFamily="18" charset="0"/>
                <a:ea typeface="+mj-ea"/>
                <a:cs typeface="Arial"/>
              </a:rPr>
              <a:t>Génie Electrique et Systèmes Embarqués</a:t>
            </a:r>
          </a:p>
          <a:p>
            <a:pPr marL="128588" indent="-128588" algn="ctr">
              <a:buFont typeface="Arial" panose="020B0604020202020204" pitchFamily="34" charset="0"/>
              <a:buChar char="•"/>
            </a:pPr>
            <a:r>
              <a:rPr lang="fr-FR" sz="900" dirty="0">
                <a:latin typeface="Bookman Old Style" panose="02050604050505020204" pitchFamily="18" charset="0"/>
                <a:ea typeface="+mj-ea"/>
                <a:cs typeface="Arial"/>
              </a:rPr>
              <a:t>Génie Physique</a:t>
            </a:r>
          </a:p>
          <a:p>
            <a:pPr marL="128588" indent="-128588" algn="ctr">
              <a:buFont typeface="Arial" panose="020B0604020202020204" pitchFamily="34" charset="0"/>
              <a:buChar char="•"/>
            </a:pPr>
            <a:r>
              <a:rPr lang="fr-FR" sz="900" b="1" dirty="0">
                <a:latin typeface="Bookman Old Style" panose="02050604050505020204" pitchFamily="18" charset="0"/>
                <a:ea typeface="+mj-ea"/>
                <a:cs typeface="Arial"/>
              </a:rPr>
              <a:t>Génie Mécanique et Systèmes Industriels</a:t>
            </a:r>
          </a:p>
          <a:p>
            <a:pPr marL="128588" indent="-128588" algn="ctr">
              <a:buFont typeface="Arial" panose="020B0604020202020204" pitchFamily="34" charset="0"/>
              <a:buChar char="•"/>
            </a:pPr>
            <a:r>
              <a:rPr lang="fr-FR" sz="900" dirty="0">
                <a:latin typeface="Bookman Old Style" panose="02050604050505020204" pitchFamily="18" charset="0"/>
                <a:ea typeface="+mj-ea"/>
                <a:cs typeface="Arial"/>
              </a:rPr>
              <a:t>Génie Informatique</a:t>
            </a:r>
          </a:p>
          <a:p>
            <a:pPr marL="128588" indent="-128588" algn="ctr">
              <a:buFont typeface="Arial" panose="020B0604020202020204" pitchFamily="34" charset="0"/>
              <a:buChar char="•"/>
            </a:pPr>
            <a:r>
              <a:rPr lang="fr-FR" sz="900" b="1" dirty="0">
                <a:latin typeface="Bookman Old Style" panose="02050604050505020204" pitchFamily="18" charset="0"/>
                <a:ea typeface="+mj-ea"/>
                <a:cs typeface="Arial"/>
              </a:rPr>
              <a:t>Génie Chimique</a:t>
            </a:r>
          </a:p>
          <a:p>
            <a:pPr marL="128588" indent="-128588" algn="ctr">
              <a:buFont typeface="Arial" panose="020B0604020202020204" pitchFamily="34" charset="0"/>
              <a:buChar char="•"/>
            </a:pPr>
            <a:r>
              <a:rPr lang="fr-FR" sz="900" dirty="0">
                <a:latin typeface="Bookman Old Style" panose="02050604050505020204" pitchFamily="18" charset="0"/>
                <a:ea typeface="+mj-ea"/>
                <a:cs typeface="Arial"/>
              </a:rPr>
              <a:t>Mathématiques et Sciences des Données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2ED82E1-93E1-169B-583B-A2F2DFEBFC12}"/>
              </a:ext>
            </a:extLst>
          </p:cNvPr>
          <p:cNvSpPr txBox="1"/>
          <p:nvPr/>
        </p:nvSpPr>
        <p:spPr>
          <a:xfrm>
            <a:off x="3928516" y="4215109"/>
            <a:ext cx="2491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Pr. </a:t>
            </a:r>
            <a:r>
              <a:rPr lang="fr-FR" sz="2000" b="1" dirty="0" smtClean="0"/>
              <a:t>Ali NEJMI</a:t>
            </a:r>
            <a:endParaRPr lang="fr-FR" sz="2000" b="1" dirty="0"/>
          </a:p>
        </p:txBody>
      </p:sp>
      <p:sp>
        <p:nvSpPr>
          <p:cNvPr id="8" name="object 12">
            <a:extLst>
              <a:ext uri="{FF2B5EF4-FFF2-40B4-BE49-F238E27FC236}">
                <a16:creationId xmlns:a16="http://schemas.microsoft.com/office/drawing/2014/main" id="{B788B841-179A-3C6D-2B69-4213B5EB151F}"/>
              </a:ext>
            </a:extLst>
          </p:cNvPr>
          <p:cNvSpPr txBox="1"/>
          <p:nvPr/>
        </p:nvSpPr>
        <p:spPr>
          <a:xfrm>
            <a:off x="1357843" y="2454229"/>
            <a:ext cx="7239000" cy="10541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bg1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endParaRPr lang="fr-FR" sz="2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ookman Old Style" panose="02050604050505020204" pitchFamily="18" charset="0"/>
              <a:ea typeface="+mj-ea"/>
              <a:cs typeface="Arial"/>
            </a:endParaRPr>
          </a:p>
          <a:p>
            <a:pPr marL="12700" algn="ctr">
              <a:spcBef>
                <a:spcPts val="100"/>
              </a:spcBef>
            </a:pPr>
            <a:r>
              <a:rPr lang="fr-FR" sz="22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ookman Old Style" panose="02050604050505020204" pitchFamily="18" charset="0"/>
                <a:ea typeface="+mj-ea"/>
                <a:cs typeface="Arial"/>
              </a:rPr>
              <a:t>CIRCUITS ELECTRIQUES ET ELECTRONIQUES</a:t>
            </a:r>
          </a:p>
          <a:p>
            <a:pPr marL="12700" algn="ctr">
              <a:spcBef>
                <a:spcPts val="100"/>
              </a:spcBef>
            </a:pPr>
            <a:endParaRPr sz="2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ookman Old Style" panose="02050604050505020204" pitchFamily="18" charset="0"/>
              <a:ea typeface="+mj-ea"/>
              <a:cs typeface="Arial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048000" y="3677070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https://alinejmi08.github.io/circuits/</a:t>
            </a:r>
          </a:p>
        </p:txBody>
      </p:sp>
    </p:spTree>
    <p:extLst>
      <p:ext uri="{BB962C8B-B14F-4D97-AF65-F5344CB8AC3E}">
        <p14:creationId xmlns:p14="http://schemas.microsoft.com/office/powerpoint/2010/main" val="2777896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C0D49B6-86D3-F31B-9519-A3006A382C4D}"/>
              </a:ext>
            </a:extLst>
          </p:cNvPr>
          <p:cNvSpPr txBox="1"/>
          <p:nvPr/>
        </p:nvSpPr>
        <p:spPr>
          <a:xfrm>
            <a:off x="2749705" y="195890"/>
            <a:ext cx="2660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50"/>
                </a:solidFill>
              </a:rPr>
              <a:t>Sommaire</a:t>
            </a:r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98A265E9-03C5-03CF-E3A0-BAE0397344B6}"/>
              </a:ext>
            </a:extLst>
          </p:cNvPr>
          <p:cNvSpPr txBox="1"/>
          <p:nvPr/>
        </p:nvSpPr>
        <p:spPr>
          <a:xfrm>
            <a:off x="381000" y="889161"/>
            <a:ext cx="82455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24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Chapitre 1 : Électrocinétique</a:t>
            </a:r>
            <a:endParaRPr sz="2400" b="1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AF8E6E94-F9AC-D25C-3011-F643DC581046}"/>
              </a:ext>
            </a:extLst>
          </p:cNvPr>
          <p:cNvSpPr txBox="1"/>
          <p:nvPr/>
        </p:nvSpPr>
        <p:spPr>
          <a:xfrm>
            <a:off x="381000" y="1516027"/>
            <a:ext cx="74810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4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Chapitre 2 : </a:t>
            </a:r>
            <a:r>
              <a:rPr lang="fr-FR" sz="20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Quadripôles</a:t>
            </a:r>
            <a:endParaRPr sz="2000" b="1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CD11456D-D44D-742F-2BEF-851E18482D29}"/>
              </a:ext>
            </a:extLst>
          </p:cNvPr>
          <p:cNvSpPr txBox="1"/>
          <p:nvPr/>
        </p:nvSpPr>
        <p:spPr>
          <a:xfrm>
            <a:off x="362857" y="2085491"/>
            <a:ext cx="56388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4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Chapitre 3 : Filtres Passifs</a:t>
            </a:r>
            <a:endParaRPr sz="2400" b="1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44F588C-2268-92F4-034A-A2EED62939A9}"/>
              </a:ext>
            </a:extLst>
          </p:cNvPr>
          <p:cNvSpPr txBox="1"/>
          <p:nvPr/>
        </p:nvSpPr>
        <p:spPr>
          <a:xfrm>
            <a:off x="362857" y="2724150"/>
            <a:ext cx="83820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24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Chapitre 4 : Composants Electroniques de base- 				 Les Diodes</a:t>
            </a: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4DB31E12-915D-24AC-015B-94ECB533FB5A}"/>
              </a:ext>
            </a:extLst>
          </p:cNvPr>
          <p:cNvSpPr txBox="1"/>
          <p:nvPr/>
        </p:nvSpPr>
        <p:spPr>
          <a:xfrm>
            <a:off x="381000" y="3732141"/>
            <a:ext cx="8229600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24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Chapitre 5 : Composants Electroniques de base-</a:t>
            </a:r>
          </a:p>
          <a:p>
            <a:pPr marL="12700">
              <a:spcBef>
                <a:spcPts val="100"/>
              </a:spcBef>
            </a:pPr>
            <a:r>
              <a:rPr lang="fr-FR" sz="24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                           Les Transistors Bipolaires</a:t>
            </a:r>
          </a:p>
        </p:txBody>
      </p:sp>
    </p:spTree>
    <p:extLst>
      <p:ext uri="{BB962C8B-B14F-4D97-AF65-F5344CB8AC3E}">
        <p14:creationId xmlns:p14="http://schemas.microsoft.com/office/powerpoint/2010/main" val="3322059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 txBox="1"/>
          <p:nvPr/>
        </p:nvSpPr>
        <p:spPr>
          <a:xfrm>
            <a:off x="446881" y="1509049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894655" y="4851687"/>
            <a:ext cx="2457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3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868BE146-27EA-FE43-C50C-5A003F633563}"/>
              </a:ext>
            </a:extLst>
          </p:cNvPr>
          <p:cNvSpPr txBox="1"/>
          <p:nvPr/>
        </p:nvSpPr>
        <p:spPr>
          <a:xfrm>
            <a:off x="558641" y="971550"/>
            <a:ext cx="6248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400" b="1" dirty="0">
                <a:solidFill>
                  <a:srgbClr val="0070C0"/>
                </a:solidFill>
                <a:latin typeface="Bookman Old Style" panose="02050604050505020204" pitchFamily="18" charset="0"/>
              </a:rPr>
              <a:t>Chapitre 1 : </a:t>
            </a:r>
            <a:r>
              <a:rPr lang="fr-FR" sz="2000" b="1" dirty="0">
                <a:solidFill>
                  <a:srgbClr val="0070C0"/>
                </a:solidFill>
                <a:latin typeface="Bookman Old Style" panose="02050604050505020204" pitchFamily="18" charset="0"/>
              </a:rPr>
              <a:t>Électrocinétique</a:t>
            </a:r>
            <a:endParaRPr sz="2000" dirty="0">
              <a:solidFill>
                <a:srgbClr val="0070C0"/>
              </a:solidFill>
              <a:latin typeface="Bookman Old Style" panose="02050604050505020204" pitchFamily="18" charset="0"/>
              <a:cs typeface="Calibri"/>
            </a:endParaRPr>
          </a:p>
        </p:txBody>
      </p:sp>
      <p:sp>
        <p:nvSpPr>
          <p:cNvPr id="26" name="ZoneTexte 22">
            <a:extLst>
              <a:ext uri="{FF2B5EF4-FFF2-40B4-BE49-F238E27FC236}">
                <a16:creationId xmlns:a16="http://schemas.microsoft.com/office/drawing/2014/main" id="{63D39554-BCBC-8BC3-E6FB-ECFC52B95347}"/>
              </a:ext>
            </a:extLst>
          </p:cNvPr>
          <p:cNvSpPr txBox="1"/>
          <p:nvPr/>
        </p:nvSpPr>
        <p:spPr>
          <a:xfrm>
            <a:off x="1624130" y="1570606"/>
            <a:ext cx="628348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latin typeface="Bookman Old Style" panose="02050604050505020204" pitchFamily="18" charset="0"/>
              </a:rPr>
              <a:t>Généralités</a:t>
            </a:r>
          </a:p>
          <a:p>
            <a:endParaRPr lang="fr-FR" sz="16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latin typeface="Bookman Old Style" panose="02050604050505020204" pitchFamily="18" charset="0"/>
              </a:rPr>
              <a:t>Composants électriques et dipôles</a:t>
            </a:r>
          </a:p>
          <a:p>
            <a:endParaRPr lang="fr-FR" sz="16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latin typeface="Bookman Old Style" panose="02050604050505020204" pitchFamily="18" charset="0"/>
              </a:rPr>
              <a:t>Théorèmes généraux</a:t>
            </a:r>
          </a:p>
          <a:p>
            <a:endParaRPr lang="fr-FR" sz="16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latin typeface="Bookman Old Style" panose="02050604050505020204" pitchFamily="18" charset="0"/>
              </a:rPr>
              <a:t>Réseaux électriques en régime continu</a:t>
            </a:r>
          </a:p>
          <a:p>
            <a:endParaRPr lang="fr-FR" sz="16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latin typeface="Bookman Old Style" panose="02050604050505020204" pitchFamily="18" charset="0"/>
              </a:rPr>
              <a:t>Etude des réseaux en régime alternatif et sinusoïdale</a:t>
            </a:r>
          </a:p>
          <a:p>
            <a:endParaRPr lang="fr-FR" sz="16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latin typeface="Bookman Old Style" panose="02050604050505020204" pitchFamily="18" charset="0"/>
              </a:rPr>
              <a:t>Puissances et énergie électriques</a:t>
            </a:r>
          </a:p>
        </p:txBody>
      </p:sp>
    </p:spTree>
    <p:extLst>
      <p:ext uri="{BB962C8B-B14F-4D97-AF65-F5344CB8AC3E}">
        <p14:creationId xmlns:p14="http://schemas.microsoft.com/office/powerpoint/2010/main" val="89713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430117" y="1257132"/>
            <a:ext cx="8446839" cy="1658134"/>
          </a:xfrm>
          <a:custGeom>
            <a:avLst/>
            <a:gdLst/>
            <a:ahLst/>
            <a:cxnLst/>
            <a:rect l="l" t="t" r="r" b="b"/>
            <a:pathLst>
              <a:path w="8225155" h="690244">
                <a:moveTo>
                  <a:pt x="8097059" y="0"/>
                </a:moveTo>
                <a:lnTo>
                  <a:pt x="127926" y="0"/>
                </a:lnTo>
                <a:lnTo>
                  <a:pt x="78131" y="10053"/>
                </a:lnTo>
                <a:lnTo>
                  <a:pt x="37468" y="37468"/>
                </a:lnTo>
                <a:lnTo>
                  <a:pt x="10053" y="78131"/>
                </a:lnTo>
                <a:lnTo>
                  <a:pt x="0" y="127927"/>
                </a:lnTo>
                <a:lnTo>
                  <a:pt x="0" y="561920"/>
                </a:lnTo>
                <a:lnTo>
                  <a:pt x="10053" y="611715"/>
                </a:lnTo>
                <a:lnTo>
                  <a:pt x="37468" y="652379"/>
                </a:lnTo>
                <a:lnTo>
                  <a:pt x="78131" y="679795"/>
                </a:lnTo>
                <a:lnTo>
                  <a:pt x="127926" y="689848"/>
                </a:lnTo>
                <a:lnTo>
                  <a:pt x="8097059" y="689848"/>
                </a:lnTo>
                <a:lnTo>
                  <a:pt x="8146853" y="679795"/>
                </a:lnTo>
                <a:lnTo>
                  <a:pt x="8187516" y="652379"/>
                </a:lnTo>
                <a:lnTo>
                  <a:pt x="8214932" y="611715"/>
                </a:lnTo>
                <a:lnTo>
                  <a:pt x="8224985" y="561920"/>
                </a:lnTo>
                <a:lnTo>
                  <a:pt x="8224985" y="127927"/>
                </a:lnTo>
                <a:lnTo>
                  <a:pt x="8214932" y="78131"/>
                </a:lnTo>
                <a:lnTo>
                  <a:pt x="8187516" y="37468"/>
                </a:lnTo>
                <a:lnTo>
                  <a:pt x="8146853" y="10053"/>
                </a:lnTo>
                <a:lnTo>
                  <a:pt x="809705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/>
          <p:cNvSpPr txBox="1"/>
          <p:nvPr/>
        </p:nvSpPr>
        <p:spPr>
          <a:xfrm>
            <a:off x="8631211" y="4824469"/>
            <a:ext cx="2457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14350"/>
            <a:ext cx="2272097" cy="720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93065" lvl="1" indent="-3810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93700" algn="l"/>
              </a:tabLst>
            </a:pPr>
            <a:r>
              <a:rPr lang="fr-FR" sz="20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Généralités</a:t>
            </a: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2000" b="1" spc="-5" dirty="0">
                <a:solidFill>
                  <a:srgbClr val="CC00CC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fr-FR" sz="20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1.1 Définitions</a:t>
            </a:r>
            <a:endParaRPr lang="fr-FR" sz="2000" dirty="0">
              <a:solidFill>
                <a:srgbClr val="0070C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325E06-8A90-68FD-3276-0A5C372BBE8B}"/>
              </a:ext>
            </a:extLst>
          </p:cNvPr>
          <p:cNvSpPr txBox="1"/>
          <p:nvPr/>
        </p:nvSpPr>
        <p:spPr>
          <a:xfrm>
            <a:off x="1142999" y="1962150"/>
            <a:ext cx="70104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Bookman Old Style" panose="02050604050505020204" pitchFamily="18" charset="0"/>
              </a:rPr>
              <a:t>Le terme </a:t>
            </a:r>
            <a:r>
              <a:rPr lang="fr-FR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électrocinétique</a:t>
            </a:r>
            <a:r>
              <a:rPr lang="fr-FR" dirty="0">
                <a:latin typeface="Bookman Old Style" panose="02050604050505020204" pitchFamily="18" charset="0"/>
              </a:rPr>
              <a:t> </a:t>
            </a:r>
            <a:r>
              <a:rPr lang="fr-FR" dirty="0" smtClean="0">
                <a:latin typeface="Bookman Old Style" panose="02050604050505020204" pitchFamily="18" charset="0"/>
              </a:rPr>
              <a:t>désigne l'ensemble </a:t>
            </a:r>
            <a:r>
              <a:rPr lang="fr-FR" dirty="0">
                <a:latin typeface="Bookman Old Style" panose="02050604050505020204" pitchFamily="18" charset="0"/>
              </a:rPr>
              <a:t>des phénomènes et des lois relatifs </a:t>
            </a:r>
            <a:r>
              <a:rPr lang="fr-FR" b="1" dirty="0">
                <a:latin typeface="Bookman Old Style" panose="02050604050505020204" pitchFamily="18" charset="0"/>
              </a:rPr>
              <a:t>aux charges électriques en mouvement</a:t>
            </a:r>
            <a:r>
              <a:rPr lang="fr-FR" dirty="0" smtClean="0">
                <a:latin typeface="Bookman Old Style" panose="02050604050505020204" pitchFamily="18" charset="0"/>
              </a:rPr>
              <a:t>, </a:t>
            </a:r>
            <a:r>
              <a:rPr lang="fr-FR" dirty="0">
                <a:latin typeface="Bookman Old Style" panose="02050604050505020204" pitchFamily="18" charset="0"/>
              </a:rPr>
              <a:t>notamment </a:t>
            </a:r>
            <a:r>
              <a:rPr lang="fr-FR" dirty="0" smtClean="0">
                <a:latin typeface="Bookman Old Style" panose="02050604050505020204" pitchFamily="18" charset="0"/>
              </a:rPr>
              <a:t>dans les </a:t>
            </a:r>
            <a:r>
              <a:rPr lang="fr-FR" b="1" dirty="0">
                <a:latin typeface="Bookman Old Style" panose="02050604050505020204" pitchFamily="18" charset="0"/>
              </a:rPr>
              <a:t>circuits électriques</a:t>
            </a:r>
            <a:r>
              <a:rPr lang="fr-FR" dirty="0">
                <a:latin typeface="Bookman Old Style" panose="02050604050505020204" pitchFamily="18" charset="0"/>
              </a:rPr>
              <a:t>. </a:t>
            </a:r>
            <a:r>
              <a:rPr lang="fr-FR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L'électrocinétique</a:t>
            </a:r>
            <a:r>
              <a:rPr lang="fr-FR" dirty="0">
                <a:latin typeface="Bookman Old Style" panose="02050604050505020204" pitchFamily="18" charset="0"/>
              </a:rPr>
              <a:t> s'oppose à </a:t>
            </a:r>
            <a:r>
              <a:rPr lang="fr-FR" b="1" dirty="0">
                <a:latin typeface="Bookman Old Style" panose="02050604050505020204" pitchFamily="18" charset="0"/>
              </a:rPr>
              <a:t>l'électrostatique</a:t>
            </a:r>
            <a:r>
              <a:rPr lang="fr-FR" dirty="0">
                <a:latin typeface="Bookman Old Style" panose="02050604050505020204" pitchFamily="18" charset="0"/>
              </a:rPr>
              <a:t>, étude des phénomènes et des lois relatifs aux charges immobiles.</a:t>
            </a:r>
          </a:p>
        </p:txBody>
      </p:sp>
    </p:spTree>
    <p:extLst>
      <p:ext uri="{BB962C8B-B14F-4D97-AF65-F5344CB8AC3E}">
        <p14:creationId xmlns:p14="http://schemas.microsoft.com/office/powerpoint/2010/main" val="103404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458201" y="4824469"/>
            <a:ext cx="4187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5640"/>
            <a:ext cx="32887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2000" b="1" spc="-5" dirty="0" smtClean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1.2 </a:t>
            </a:r>
            <a:r>
              <a:rPr lang="fr-FR" sz="20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C</a:t>
            </a:r>
            <a:r>
              <a:rPr lang="fr-FR" altLang="fr-FR" sz="20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ourant électrique </a:t>
            </a:r>
            <a:endParaRPr lang="fr-FR" sz="2000" b="1" spc="-5" dirty="0">
              <a:solidFill>
                <a:srgbClr val="0070C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6907DE-5A7C-9EF7-3497-782146DC2D16}"/>
              </a:ext>
            </a:extLst>
          </p:cNvPr>
          <p:cNvSpPr txBox="1"/>
          <p:nvPr/>
        </p:nvSpPr>
        <p:spPr>
          <a:xfrm>
            <a:off x="762000" y="1632978"/>
            <a:ext cx="78479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Bookman Old Style" panose="02050604050505020204" pitchFamily="18" charset="0"/>
              </a:rPr>
              <a:t>On appelle </a:t>
            </a:r>
            <a:r>
              <a:rPr lang="fr-FR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courant électrique </a:t>
            </a:r>
            <a:r>
              <a:rPr lang="fr-FR" dirty="0">
                <a:latin typeface="Bookman Old Style" panose="02050604050505020204" pitchFamily="18" charset="0"/>
              </a:rPr>
              <a:t>le </a:t>
            </a:r>
            <a:r>
              <a:rPr lang="fr-FR" b="1" dirty="0">
                <a:latin typeface="Bookman Old Style" panose="02050604050505020204" pitchFamily="18" charset="0"/>
              </a:rPr>
              <a:t>déplacement</a:t>
            </a:r>
            <a:r>
              <a:rPr lang="fr-FR" dirty="0">
                <a:latin typeface="Bookman Old Style" panose="02050604050505020204" pitchFamily="18" charset="0"/>
              </a:rPr>
              <a:t> de </a:t>
            </a:r>
            <a:r>
              <a:rPr lang="fr-FR" b="1" dirty="0">
                <a:latin typeface="Bookman Old Style" panose="02050604050505020204" pitchFamily="18" charset="0"/>
              </a:rPr>
              <a:t>porteurs de charges</a:t>
            </a:r>
            <a:r>
              <a:rPr lang="fr-FR" dirty="0">
                <a:latin typeface="Bookman Old Style" panose="02050604050505020204" pitchFamily="18" charset="0"/>
              </a:rPr>
              <a:t> dans le circuit électrique. Conventionnellement, le </a:t>
            </a:r>
            <a:r>
              <a:rPr lang="fr-FR" b="1" dirty="0">
                <a:latin typeface="Bookman Old Style" panose="02050604050505020204" pitchFamily="18" charset="0"/>
              </a:rPr>
              <a:t>sens</a:t>
            </a:r>
            <a:r>
              <a:rPr lang="fr-FR" dirty="0">
                <a:latin typeface="Bookman Old Style" panose="02050604050505020204" pitchFamily="18" charset="0"/>
              </a:rPr>
              <a:t> du courant est celui du déplacement des charges positives (et donc </a:t>
            </a:r>
            <a:r>
              <a:rPr lang="fr-FR" b="1" dirty="0">
                <a:latin typeface="Bookman Old Style" panose="02050604050505020204" pitchFamily="18" charset="0"/>
              </a:rPr>
              <a:t>opposé au sens des électrons</a:t>
            </a:r>
            <a:r>
              <a:rPr lang="fr-FR" dirty="0">
                <a:latin typeface="Bookman Old Style" panose="02050604050505020204" pitchFamily="18" charset="0"/>
              </a:rPr>
              <a:t>).</a:t>
            </a: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09987-1F2C-DB92-4B11-FE2E29D5E1E6}"/>
              </a:ext>
            </a:extLst>
          </p:cNvPr>
          <p:cNvSpPr txBox="1"/>
          <p:nvPr/>
        </p:nvSpPr>
        <p:spPr>
          <a:xfrm>
            <a:off x="838200" y="3504120"/>
            <a:ext cx="7086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On le caractérise par une grandeur appelée </a:t>
            </a:r>
            <a:r>
              <a:rPr lang="fr-FR" altLang="fr-FR" b="1" dirty="0">
                <a:solidFill>
                  <a:srgbClr val="FF0000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l’intensité</a:t>
            </a:r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, définie comme étant le </a:t>
            </a:r>
            <a:r>
              <a:rPr lang="fr-FR" altLang="fr-FR" b="1" dirty="0">
                <a:solidFill>
                  <a:srgbClr val="FF0000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débit</a:t>
            </a:r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 de charges électriques dans le conducteur</a:t>
            </a:r>
          </a:p>
          <a:p>
            <a:endParaRPr lang="fr-FR" altLang="fr-FR" dirty="0">
              <a:latin typeface="Bookman Old Style" panose="02050604050505020204" pitchFamily="18" charset="0"/>
              <a:cs typeface="Browallia New" panose="020B0604020202020204" pitchFamily="34" charset="-34"/>
            </a:endParaRPr>
          </a:p>
          <a:p>
            <a:endParaRPr lang="fr-FR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76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342C57-4BCE-7779-220D-845DBBD159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1809750"/>
            <a:ext cx="3467695" cy="2134836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8458201" y="4824469"/>
            <a:ext cx="4187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</a:t>
            </a:fld>
            <a:endParaRPr sz="24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7409987-1F2C-DB92-4B11-FE2E29D5E1E6}"/>
                  </a:ext>
                </a:extLst>
              </p:cNvPr>
              <p:cNvSpPr txBox="1"/>
              <p:nvPr/>
            </p:nvSpPr>
            <p:spPr>
              <a:xfrm>
                <a:off x="990599" y="746764"/>
                <a:ext cx="7315201" cy="4142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fr-FR" altLang="fr-FR" dirty="0" smtClean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Cette </a:t>
                </a:r>
                <a:r>
                  <a:rPr lang="fr-FR" altLang="fr-FR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grandeur est souvent notée</a:t>
                </a:r>
                <a:r>
                  <a:rPr lang="fr-FR" altLang="fr-FR" i="1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 </a:t>
                </a:r>
                <a:r>
                  <a:rPr lang="fr-FR" altLang="fr-FR" b="1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I </a:t>
                </a:r>
                <a:r>
                  <a:rPr lang="fr-FR" altLang="fr-FR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ou</a:t>
                </a:r>
                <a:r>
                  <a:rPr lang="fr-FR" altLang="fr-FR" b="1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 i </a:t>
                </a:r>
                <a:r>
                  <a:rPr lang="fr-FR" altLang="fr-FR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. Quand, pendant un temps </a:t>
                </a:r>
                <a:r>
                  <a:rPr lang="fr-FR" altLang="fr-FR" b="1" dirty="0" err="1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dt</a:t>
                </a:r>
                <a:r>
                  <a:rPr lang="fr-FR" altLang="fr-FR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, il passe </a:t>
                </a:r>
                <a:r>
                  <a:rPr lang="fr-FR" altLang="fr-FR" b="1" dirty="0" err="1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dq</a:t>
                </a:r>
                <a:r>
                  <a:rPr lang="fr-FR" altLang="fr-FR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 Coulombs, l’intensité vaut :</a:t>
                </a:r>
                <a:endParaRPr lang="fr-FR" altLang="fr-FR" dirty="0" smtClean="0">
                  <a:latin typeface="Bookman Old Style" panose="02050604050505020204" pitchFamily="18" charset="0"/>
                  <a:cs typeface="Browallia New" panose="020B0604020202020204" pitchFamily="34" charset="-34"/>
                </a:endParaRPr>
              </a:p>
              <a:p>
                <a:r>
                  <a:rPr lang="fr-FR" altLang="fr-FR" b="1" dirty="0" smtClean="0">
                    <a:cs typeface="Browallia New" panose="020B0604020202020204" pitchFamily="34" charset="-34"/>
                  </a:rPr>
                  <a:t>               </a:t>
                </a:r>
              </a:p>
              <a:p>
                <a:r>
                  <a:rPr lang="fr-FR" altLang="fr-FR" b="1" dirty="0">
                    <a:cs typeface="Browallia New" panose="020B0604020202020204" pitchFamily="34" charset="-34"/>
                  </a:rPr>
                  <a:t> </a:t>
                </a:r>
                <a:r>
                  <a:rPr lang="fr-FR" altLang="fr-FR" b="1" dirty="0" smtClean="0">
                    <a:cs typeface="Browallia New" panose="020B0604020202020204" pitchFamily="34" charset="-34"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fr-FR" altLang="fr-FR" sz="2000" b="1" i="1" smtClean="0">
                        <a:latin typeface="Cambria Math" panose="02040503050406030204" pitchFamily="18" charset="0"/>
                        <a:cs typeface="Browallia New" panose="020B0604020202020204" pitchFamily="34" charset="-34"/>
                      </a:rPr>
                      <m:t>𝒊</m:t>
                    </m:r>
                    <m:r>
                      <a:rPr lang="fr-FR" altLang="fr-FR" sz="2000" b="1" i="1" smtClean="0">
                        <a:latin typeface="Cambria Math" panose="02040503050406030204" pitchFamily="18" charset="0"/>
                        <a:cs typeface="Browallia New" panose="020B0604020202020204" pitchFamily="34" charset="-34"/>
                      </a:rPr>
                      <m:t>=</m:t>
                    </m:r>
                    <m:f>
                      <m:fPr>
                        <m:ctrlPr>
                          <a:rPr lang="fr-FR" altLang="fr-FR" sz="2000" b="1" i="1" smtClean="0"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</m:ctrlPr>
                      </m:fPr>
                      <m:num>
                        <m:r>
                          <a:rPr lang="fr-FR" altLang="fr-FR" sz="2000" b="1" i="1" smtClean="0"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𝒅𝒒</m:t>
                        </m:r>
                      </m:num>
                      <m:den>
                        <m:r>
                          <a:rPr lang="fr-FR" altLang="fr-FR" sz="2000" b="1" i="1" smtClean="0"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𝒅𝒕</m:t>
                        </m:r>
                      </m:den>
                    </m:f>
                  </m:oMath>
                </a14:m>
                <a:endParaRPr lang="fr-FR" altLang="fr-FR" sz="2000" b="1" dirty="0" smtClean="0">
                  <a:latin typeface="Bookman Old Style" panose="02050604050505020204" pitchFamily="18" charset="0"/>
                  <a:cs typeface="Browallia New" panose="020B0604020202020204" pitchFamily="34" charset="-34"/>
                </a:endParaRPr>
              </a:p>
              <a:p>
                <a:endParaRPr lang="fr-FR" altLang="fr-FR" b="1" dirty="0">
                  <a:latin typeface="Bookman Old Style" panose="02050604050505020204" pitchFamily="18" charset="0"/>
                  <a:cs typeface="Browallia New" panose="020B0604020202020204" pitchFamily="34" charset="-34"/>
                </a:endParaRPr>
              </a:p>
              <a:p>
                <a:endParaRPr lang="en-US" altLang="fr-FR" b="1" dirty="0" smtClean="0">
                  <a:latin typeface="Bookman Old Style" panose="02050604050505020204" pitchFamily="18" charset="0"/>
                  <a:cs typeface="Browallia New" panose="020B0604020202020204" pitchFamily="34" charset="-34"/>
                </a:endParaRPr>
              </a:p>
              <a:p>
                <a:endParaRPr lang="en-US" altLang="fr-FR" b="1" dirty="0">
                  <a:latin typeface="Bookman Old Style" panose="02050604050505020204" pitchFamily="18" charset="0"/>
                  <a:cs typeface="Browallia New" panose="020B0604020202020204" pitchFamily="34" charset="-34"/>
                </a:endParaRPr>
              </a:p>
              <a:p>
                <a:endParaRPr lang="en-US" altLang="fr-FR" b="1" dirty="0" smtClean="0">
                  <a:latin typeface="Bookman Old Style" panose="02050604050505020204" pitchFamily="18" charset="0"/>
                  <a:cs typeface="Browallia New" panose="020B0604020202020204" pitchFamily="34" charset="-34"/>
                </a:endParaRPr>
              </a:p>
              <a:p>
                <a:endParaRPr lang="en-US" altLang="fr-FR" b="1" dirty="0" smtClean="0">
                  <a:latin typeface="Bookman Old Style" panose="02050604050505020204" pitchFamily="18" charset="0"/>
                  <a:cs typeface="Browallia New" panose="020B0604020202020204" pitchFamily="34" charset="-34"/>
                </a:endParaRPr>
              </a:p>
              <a:p>
                <a:endParaRPr lang="en-US" altLang="fr-FR" b="1" dirty="0" smtClean="0">
                  <a:latin typeface="Bookman Old Style" panose="02050604050505020204" pitchFamily="18" charset="0"/>
                  <a:cs typeface="Browallia New" panose="020B0604020202020204" pitchFamily="34" charset="-34"/>
                </a:endParaRPr>
              </a:p>
              <a:p>
                <a:endParaRPr lang="en-US" altLang="fr-FR" b="1" dirty="0">
                  <a:latin typeface="Bookman Old Style" panose="02050604050505020204" pitchFamily="18" charset="0"/>
                  <a:cs typeface="Browallia New" panose="020B0604020202020204" pitchFamily="34" charset="-34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fr-FR" altLang="fr-FR" dirty="0" smtClean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L’unité </a:t>
                </a:r>
                <a:r>
                  <a:rPr lang="fr-FR" altLang="fr-FR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dans laquelle s’exprime l’intensité du courant électrique est </a:t>
                </a:r>
                <a:r>
                  <a:rPr lang="fr-FR" altLang="fr-FR" b="1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l’Ampère</a:t>
                </a:r>
                <a:r>
                  <a:rPr lang="fr-FR" altLang="fr-FR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 : </a:t>
                </a:r>
                <a:r>
                  <a:rPr lang="fr-FR" altLang="fr-FR" b="1" dirty="0">
                    <a:solidFill>
                      <a:srgbClr val="FF0000"/>
                    </a:solidFill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A</a:t>
                </a:r>
              </a:p>
              <a:p>
                <a:endParaRPr lang="fr-FR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7409987-1F2C-DB92-4B11-FE2E29D5E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9" y="746764"/>
                <a:ext cx="7315201" cy="4142609"/>
              </a:xfrm>
              <a:prstGeom prst="rect">
                <a:avLst/>
              </a:prstGeom>
              <a:blipFill>
                <a:blip r:embed="rId4"/>
                <a:stretch>
                  <a:fillRect l="-500" t="-884" r="-14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3410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97409987-1F2C-DB92-4B11-FE2E29D5E1E6}"/>
              </a:ext>
            </a:extLst>
          </p:cNvPr>
          <p:cNvSpPr txBox="1"/>
          <p:nvPr/>
        </p:nvSpPr>
        <p:spPr>
          <a:xfrm>
            <a:off x="686491" y="3152178"/>
            <a:ext cx="75431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dirty="0">
                <a:latin typeface="Bookman Old Style" panose="02050604050505020204" pitchFamily="18" charset="0"/>
              </a:rPr>
              <a:t>On représente une différence de potentiel par une flèche à côté du composant, comme sur le schéma suivant </a:t>
            </a:r>
            <a:r>
              <a:rPr lang="fr-FR" dirty="0" smtClean="0">
                <a:latin typeface="Bookman Old Style" panose="02050604050505020204" pitchFamily="18" charset="0"/>
              </a:rPr>
              <a:t>:</a:t>
            </a:r>
            <a:endParaRPr lang="fr-FR" dirty="0">
              <a:latin typeface="Bookman Old Style" panose="02050604050505020204" pitchFamily="18" charset="0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458201" y="4824469"/>
            <a:ext cx="4187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7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32726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2000" b="1" spc="-5" dirty="0" smtClean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1.3 </a:t>
            </a:r>
            <a:r>
              <a:rPr lang="fr-FR" sz="20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Tension électrique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6907DE-5A7C-9EF7-3497-782146DC2D16}"/>
              </a:ext>
            </a:extLst>
          </p:cNvPr>
          <p:cNvSpPr txBox="1"/>
          <p:nvPr/>
        </p:nvSpPr>
        <p:spPr>
          <a:xfrm>
            <a:off x="686491" y="1321963"/>
            <a:ext cx="75431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Bookman Old Style" panose="02050604050505020204" pitchFamily="18" charset="0"/>
              </a:rPr>
              <a:t>La présence des charges dans deux extrémités crée ce qu’on appel la </a:t>
            </a:r>
            <a:r>
              <a:rPr lang="fr-FR" b="1" dirty="0">
                <a:latin typeface="Bookman Old Style" panose="02050604050505020204" pitchFamily="18" charset="0"/>
              </a:rPr>
              <a:t>différence de potentiel</a:t>
            </a:r>
            <a:r>
              <a:rPr lang="fr-FR" dirty="0">
                <a:latin typeface="Bookman Old Style" panose="02050604050505020204" pitchFamily="18" charset="0"/>
              </a:rPr>
              <a:t>, appelée encore la </a:t>
            </a:r>
            <a:r>
              <a:rPr lang="fr-FR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tension</a:t>
            </a:r>
            <a:r>
              <a:rPr lang="fr-FR" dirty="0">
                <a:latin typeface="Bookman Old Style" panose="02050604050505020204" pitchFamily="18" charset="0"/>
              </a:rPr>
              <a:t>. Son unité est le </a:t>
            </a:r>
            <a:r>
              <a:rPr lang="fr-FR" b="1" dirty="0">
                <a:latin typeface="Bookman Old Style" panose="02050604050505020204" pitchFamily="18" charset="0"/>
              </a:rPr>
              <a:t>V</a:t>
            </a:r>
            <a:r>
              <a:rPr lang="fr-FR" dirty="0">
                <a:latin typeface="Bookman Old Style" panose="02050604050505020204" pitchFamily="18" charset="0"/>
              </a:rPr>
              <a:t>olt (</a:t>
            </a:r>
            <a:r>
              <a:rPr lang="fr-FR" b="1" dirty="0">
                <a:latin typeface="Bookman Old Style" panose="02050604050505020204" pitchFamily="18" charset="0"/>
              </a:rPr>
              <a:t>V</a:t>
            </a:r>
            <a:r>
              <a:rPr lang="fr-FR" dirty="0">
                <a:latin typeface="Bookman Old Style" panose="02050604050505020204" pitchFamily="18" charset="0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201397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uiExpand="1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97409987-1F2C-DB92-4B11-FE2E29D5E1E6}"/>
              </a:ext>
            </a:extLst>
          </p:cNvPr>
          <p:cNvSpPr txBox="1"/>
          <p:nvPr/>
        </p:nvSpPr>
        <p:spPr>
          <a:xfrm>
            <a:off x="779626" y="2799850"/>
            <a:ext cx="7239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altLang="fr-FR" dirty="0" smtClean="0">
                <a:latin typeface="Bookman Old Style" panose="02050604050505020204" pitchFamily="18" charset="0"/>
                <a:cs typeface="Browallia New" panose="020B0604020202020204" pitchFamily="34" charset="-34"/>
              </a:rPr>
              <a:t>Dans </a:t>
            </a:r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ce cas on dit que le « composant/conducteur » est soumis à la </a:t>
            </a:r>
            <a:r>
              <a:rPr lang="fr-FR" altLang="fr-FR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différence de potentiel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endParaRPr lang="fr-FR" b="1" i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fr-FR" b="1" i="1" dirty="0">
                <a:solidFill>
                  <a:srgbClr val="C00000"/>
                </a:solidFill>
                <a:latin typeface="Bookman Old Style" panose="02050604050505020204" pitchFamily="18" charset="0"/>
              </a:rPr>
              <a:t>Par convention : </a:t>
            </a:r>
            <a:r>
              <a:rPr lang="fr-FR" b="1" dirty="0">
                <a:latin typeface="Bookman Old Style" panose="02050604050505020204" pitchFamily="18" charset="0"/>
                <a:cs typeface="Times New Roman"/>
              </a:rPr>
              <a:t>Le</a:t>
            </a:r>
            <a:r>
              <a:rPr lang="fr-FR" b="1" spc="17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b="1" dirty="0">
                <a:latin typeface="Bookman Old Style" panose="02050604050505020204" pitchFamily="18" charset="0"/>
                <a:cs typeface="Times New Roman"/>
              </a:rPr>
              <a:t>sens</a:t>
            </a:r>
            <a:r>
              <a:rPr lang="fr-FR" b="1" spc="18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b="1"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lang="fr-FR" b="1" spc="18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b="1" dirty="0">
                <a:latin typeface="Bookman Old Style" panose="02050604050505020204" pitchFamily="18" charset="0"/>
                <a:cs typeface="Times New Roman"/>
              </a:rPr>
              <a:t>la</a:t>
            </a:r>
            <a:r>
              <a:rPr lang="fr-FR" b="1" spc="18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b="1" dirty="0">
                <a:latin typeface="Bookman Old Style" panose="02050604050505020204" pitchFamily="18" charset="0"/>
                <a:cs typeface="Times New Roman"/>
              </a:rPr>
              <a:t>différence</a:t>
            </a:r>
            <a:r>
              <a:rPr lang="fr-FR" b="1" spc="18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b="1"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lang="fr-FR" b="1" spc="18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b="1" dirty="0">
                <a:latin typeface="Bookman Old Style" panose="02050604050505020204" pitchFamily="18" charset="0"/>
                <a:cs typeface="Times New Roman"/>
              </a:rPr>
              <a:t>potentiel</a:t>
            </a:r>
            <a:r>
              <a:rPr lang="fr-FR" b="1" spc="18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b="1" dirty="0">
                <a:latin typeface="Bookman Old Style" panose="02050604050505020204" pitchFamily="18" charset="0"/>
                <a:cs typeface="Times New Roman"/>
              </a:rPr>
              <a:t>V</a:t>
            </a:r>
            <a:r>
              <a:rPr lang="fr-FR" b="1" spc="16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b="1" dirty="0">
                <a:latin typeface="Bookman Old Style" panose="02050604050505020204" pitchFamily="18" charset="0"/>
                <a:cs typeface="Times New Roman"/>
              </a:rPr>
              <a:t>est</a:t>
            </a:r>
            <a:r>
              <a:rPr lang="fr-FR" b="1" spc="17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b="1" dirty="0">
                <a:latin typeface="Bookman Old Style" panose="02050604050505020204" pitchFamily="18" charset="0"/>
                <a:cs typeface="Times New Roman"/>
              </a:rPr>
              <a:t>dirigé</a:t>
            </a:r>
            <a:r>
              <a:rPr lang="fr-FR" b="1" spc="19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b="1" dirty="0">
                <a:latin typeface="Bookman Old Style" panose="02050604050505020204" pitchFamily="18" charset="0"/>
                <a:cs typeface="Times New Roman"/>
              </a:rPr>
              <a:t>vers</a:t>
            </a:r>
            <a:r>
              <a:rPr lang="fr-FR" b="1" spc="18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b="1" dirty="0">
                <a:latin typeface="Bookman Old Style" panose="02050604050505020204" pitchFamily="18" charset="0"/>
                <a:cs typeface="Times New Roman"/>
              </a:rPr>
              <a:t>le</a:t>
            </a:r>
            <a:r>
              <a:rPr lang="fr-FR" b="1" spc="16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b="1" spc="-10" dirty="0">
                <a:latin typeface="Bookman Old Style" panose="02050604050505020204" pitchFamily="18" charset="0"/>
                <a:cs typeface="Times New Roman"/>
              </a:rPr>
              <a:t>potentiel croissant </a:t>
            </a:r>
            <a:r>
              <a:rPr lang="fr-FR" b="1" i="1" dirty="0">
                <a:latin typeface="Bookman Old Style" panose="02050604050505020204" pitchFamily="18" charset="0"/>
              </a:rPr>
              <a:t>(vers </a:t>
            </a:r>
            <a:r>
              <a:rPr lang="fr-FR" b="1" i="1" spc="-35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/>
              </a:rPr>
              <a:t>V</a:t>
            </a:r>
            <a:r>
              <a:rPr lang="fr-FR" b="1" i="1" spc="-52" baseline="-11574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/>
              </a:rPr>
              <a:t>A</a:t>
            </a:r>
            <a:r>
              <a:rPr lang="fr-FR" b="1" i="1" dirty="0">
                <a:latin typeface="Bookman Old Style" panose="02050604050505020204" pitchFamily="18" charset="0"/>
              </a:rPr>
              <a:t>).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fr-FR" dirty="0"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fr-FR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altLang="fr-FR" dirty="0">
              <a:latin typeface="Bookman Old Style" panose="02050604050505020204" pitchFamily="18" charset="0"/>
              <a:cs typeface="Browallia New" panose="020B0604020202020204" pitchFamily="34" charset="-34"/>
            </a:endParaRPr>
          </a:p>
          <a:p>
            <a:endParaRPr lang="fr-FR" dirty="0">
              <a:latin typeface="Bookman Old Style" panose="02050604050505020204" pitchFamily="18" charset="0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458201" y="4824469"/>
            <a:ext cx="4187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8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B698CC08-9BBF-8023-25DC-D5C9EE8EB2AA}"/>
              </a:ext>
            </a:extLst>
          </p:cNvPr>
          <p:cNvGrpSpPr/>
          <p:nvPr/>
        </p:nvGrpSpPr>
        <p:grpSpPr>
          <a:xfrm>
            <a:off x="960191" y="361950"/>
            <a:ext cx="6995017" cy="2077472"/>
            <a:chOff x="1223534" y="2428892"/>
            <a:chExt cx="6537817" cy="1848872"/>
          </a:xfrm>
        </p:grpSpPr>
        <p:sp>
          <p:nvSpPr>
            <p:cNvPr id="36" name="object 34">
              <a:extLst>
                <a:ext uri="{FF2B5EF4-FFF2-40B4-BE49-F238E27FC236}">
                  <a16:creationId xmlns:a16="http://schemas.microsoft.com/office/drawing/2014/main" id="{20F8FA0E-D6C2-E75F-8DEF-03658DAC0555}"/>
                </a:ext>
              </a:extLst>
            </p:cNvPr>
            <p:cNvSpPr txBox="1"/>
            <p:nvPr/>
          </p:nvSpPr>
          <p:spPr>
            <a:xfrm>
              <a:off x="6046343" y="2908069"/>
              <a:ext cx="11493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spc="-50" dirty="0">
                  <a:solidFill>
                    <a:srgbClr val="943735"/>
                  </a:solidFill>
                  <a:latin typeface="Times New Roman"/>
                  <a:cs typeface="Times New Roman"/>
                </a:rPr>
                <a:t>I</a:t>
              </a:r>
              <a:endParaRPr sz="1800" dirty="0">
                <a:latin typeface="Times New Roman"/>
                <a:cs typeface="Times New Roman"/>
              </a:endParaRPr>
            </a:p>
          </p:txBody>
        </p:sp>
        <p:grpSp>
          <p:nvGrpSpPr>
            <p:cNvPr id="37" name="object 35">
              <a:extLst>
                <a:ext uri="{FF2B5EF4-FFF2-40B4-BE49-F238E27FC236}">
                  <a16:creationId xmlns:a16="http://schemas.microsoft.com/office/drawing/2014/main" id="{0AE2D7E8-EFCC-13DC-E809-C89FA7B17194}"/>
                </a:ext>
              </a:extLst>
            </p:cNvPr>
            <p:cNvGrpSpPr/>
            <p:nvPr/>
          </p:nvGrpSpPr>
          <p:grpSpPr>
            <a:xfrm>
              <a:off x="5230647" y="3885474"/>
              <a:ext cx="1644650" cy="132715"/>
              <a:chOff x="1301496" y="4512564"/>
              <a:chExt cx="1644650" cy="132715"/>
            </a:xfrm>
          </p:grpSpPr>
          <p:pic>
            <p:nvPicPr>
              <p:cNvPr id="38" name="object 36">
                <a:extLst>
                  <a:ext uri="{FF2B5EF4-FFF2-40B4-BE49-F238E27FC236}">
                    <a16:creationId xmlns:a16="http://schemas.microsoft.com/office/drawing/2014/main" id="{5FB1D029-2137-1A88-1DD8-F499E0B5B089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301496" y="4512564"/>
                <a:ext cx="130428" cy="132524"/>
              </a:xfrm>
              <a:prstGeom prst="rect">
                <a:avLst/>
              </a:prstGeom>
            </p:spPr>
          </p:pic>
          <p:sp>
            <p:nvSpPr>
              <p:cNvPr id="39" name="object 37">
                <a:extLst>
                  <a:ext uri="{FF2B5EF4-FFF2-40B4-BE49-F238E27FC236}">
                    <a16:creationId xmlns:a16="http://schemas.microsoft.com/office/drawing/2014/main" id="{82C4A4C1-8B1C-6D66-4B3F-CA730784CD68}"/>
                  </a:ext>
                </a:extLst>
              </p:cNvPr>
              <p:cNvSpPr/>
              <p:nvPr/>
            </p:nvSpPr>
            <p:spPr>
              <a:xfrm>
                <a:off x="1329817" y="4564545"/>
                <a:ext cx="16160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616075" h="28575">
                    <a:moveTo>
                      <a:pt x="1615948" y="0"/>
                    </a:moveTo>
                    <a:lnTo>
                      <a:pt x="52832" y="0"/>
                    </a:lnTo>
                    <a:lnTo>
                      <a:pt x="0" y="0"/>
                    </a:lnTo>
                    <a:lnTo>
                      <a:pt x="0" y="28549"/>
                    </a:lnTo>
                    <a:lnTo>
                      <a:pt x="52832" y="28549"/>
                    </a:lnTo>
                    <a:lnTo>
                      <a:pt x="1615948" y="28549"/>
                    </a:lnTo>
                    <a:lnTo>
                      <a:pt x="1615948" y="0"/>
                    </a:lnTo>
                    <a:close/>
                  </a:path>
                </a:pathLst>
              </a:custGeom>
              <a:solidFill>
                <a:srgbClr val="94373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CA74D995-D7AD-8E30-ED54-B60FAF3D4636}"/>
                </a:ext>
              </a:extLst>
            </p:cNvPr>
            <p:cNvGrpSpPr/>
            <p:nvPr/>
          </p:nvGrpSpPr>
          <p:grpSpPr>
            <a:xfrm>
              <a:off x="1223534" y="2428892"/>
              <a:ext cx="6537817" cy="1848872"/>
              <a:chOff x="1223534" y="2428892"/>
              <a:chExt cx="6537817" cy="1848872"/>
            </a:xfrm>
          </p:grpSpPr>
          <p:sp>
            <p:nvSpPr>
              <p:cNvPr id="26" name="object 24">
                <a:extLst>
                  <a:ext uri="{FF2B5EF4-FFF2-40B4-BE49-F238E27FC236}">
                    <a16:creationId xmlns:a16="http://schemas.microsoft.com/office/drawing/2014/main" id="{B26C0E83-1DE7-7E32-D8BD-8D6238C47F45}"/>
                  </a:ext>
                </a:extLst>
              </p:cNvPr>
              <p:cNvSpPr txBox="1"/>
              <p:nvPr/>
            </p:nvSpPr>
            <p:spPr>
              <a:xfrm>
                <a:off x="4954828" y="3282617"/>
                <a:ext cx="191135" cy="3003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800" b="1" spc="-50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A</a:t>
                </a:r>
                <a:endParaRPr sz="1800" dirty="0">
                  <a:solidFill>
                    <a:srgbClr val="C00000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27" name="object 25">
                <a:extLst>
                  <a:ext uri="{FF2B5EF4-FFF2-40B4-BE49-F238E27FC236}">
                    <a16:creationId xmlns:a16="http://schemas.microsoft.com/office/drawing/2014/main" id="{B0A9ECEE-3D26-AC0E-97D2-CFCDA0B218F0}"/>
                  </a:ext>
                </a:extLst>
              </p:cNvPr>
              <p:cNvSpPr txBox="1"/>
              <p:nvPr/>
            </p:nvSpPr>
            <p:spPr>
              <a:xfrm>
                <a:off x="6849745" y="3282617"/>
                <a:ext cx="178435" cy="3003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800" b="1" spc="-50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B</a:t>
                </a:r>
                <a:endParaRPr sz="1800" dirty="0">
                  <a:solidFill>
                    <a:srgbClr val="C00000"/>
                  </a:solidFill>
                  <a:latin typeface="Times New Roman"/>
                  <a:cs typeface="Times New Roman"/>
                </a:endParaRPr>
              </a:p>
            </p:txBody>
          </p:sp>
          <p:grpSp>
            <p:nvGrpSpPr>
              <p:cNvPr id="12" name="Groupe 11">
                <a:extLst>
                  <a:ext uri="{FF2B5EF4-FFF2-40B4-BE49-F238E27FC236}">
                    <a16:creationId xmlns:a16="http://schemas.microsoft.com/office/drawing/2014/main" id="{51AFC3F0-3BEB-37DC-E736-DDE5633860FB}"/>
                  </a:ext>
                </a:extLst>
              </p:cNvPr>
              <p:cNvGrpSpPr/>
              <p:nvPr/>
            </p:nvGrpSpPr>
            <p:grpSpPr>
              <a:xfrm>
                <a:off x="1223534" y="2428892"/>
                <a:ext cx="6537817" cy="1848872"/>
                <a:chOff x="1223534" y="2428892"/>
                <a:chExt cx="6537817" cy="184887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B81253F5-5A09-9421-FA22-601345FCBEE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50385" y="4002311"/>
                      <a:ext cx="1413717" cy="2308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5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500" b="1" i="1" smtClean="0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fr-FR" sz="15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sz="1500" b="1" i="1" smtClean="0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fr-FR" sz="15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fr-FR" sz="15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fr-FR" sz="1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500" b="1" i="1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fr-FR" sz="15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500" b="1" dirty="0"/>
                    </a:p>
                  </p:txBody>
                </p:sp>
              </mc:Choice>
              <mc:Fallback xmlns="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B81253F5-5A09-9421-FA22-601345FCBEE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50385" y="4002311"/>
                      <a:ext cx="1413717" cy="2308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b="-1621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3" name="object 19">
                  <a:extLst>
                    <a:ext uri="{FF2B5EF4-FFF2-40B4-BE49-F238E27FC236}">
                      <a16:creationId xmlns:a16="http://schemas.microsoft.com/office/drawing/2014/main" id="{DEE09428-4C7D-DBED-FA08-F7196D9E66C1}"/>
                    </a:ext>
                  </a:extLst>
                </p:cNvPr>
                <p:cNvGrpSpPr/>
                <p:nvPr/>
              </p:nvGrpSpPr>
              <p:grpSpPr>
                <a:xfrm>
                  <a:off x="4869561" y="2675532"/>
                  <a:ext cx="2309495" cy="1185545"/>
                  <a:chOff x="1043813" y="3229229"/>
                  <a:chExt cx="2309495" cy="1185545"/>
                </a:xfrm>
              </p:grpSpPr>
              <p:sp>
                <p:nvSpPr>
                  <p:cNvPr id="16" name="object 20">
                    <a:extLst>
                      <a:ext uri="{FF2B5EF4-FFF2-40B4-BE49-F238E27FC236}">
                        <a16:creationId xmlns:a16="http://schemas.microsoft.com/office/drawing/2014/main" id="{4B6A2531-F5F8-EA7D-8026-5E2DA1C2345B}"/>
                      </a:ext>
                    </a:extLst>
                  </p:cNvPr>
                  <p:cNvSpPr/>
                  <p:nvPr/>
                </p:nvSpPr>
                <p:spPr>
                  <a:xfrm>
                    <a:off x="1058418" y="3243834"/>
                    <a:ext cx="2273935" cy="11563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73935" h="1156335">
                        <a:moveTo>
                          <a:pt x="197154" y="0"/>
                        </a:moveTo>
                        <a:lnTo>
                          <a:pt x="242315" y="15240"/>
                        </a:lnTo>
                        <a:lnTo>
                          <a:pt x="283844" y="58801"/>
                        </a:lnTo>
                        <a:lnTo>
                          <a:pt x="320420" y="127000"/>
                        </a:lnTo>
                        <a:lnTo>
                          <a:pt x="336550" y="169291"/>
                        </a:lnTo>
                        <a:lnTo>
                          <a:pt x="351028" y="216535"/>
                        </a:lnTo>
                        <a:lnTo>
                          <a:pt x="363600" y="268224"/>
                        </a:lnTo>
                        <a:lnTo>
                          <a:pt x="374269" y="323850"/>
                        </a:lnTo>
                        <a:lnTo>
                          <a:pt x="382778" y="383159"/>
                        </a:lnTo>
                        <a:lnTo>
                          <a:pt x="389128" y="445643"/>
                        </a:lnTo>
                        <a:lnTo>
                          <a:pt x="392938" y="510794"/>
                        </a:lnTo>
                        <a:lnTo>
                          <a:pt x="394334" y="578231"/>
                        </a:lnTo>
                        <a:lnTo>
                          <a:pt x="392938" y="645591"/>
                        </a:lnTo>
                        <a:lnTo>
                          <a:pt x="389128" y="710742"/>
                        </a:lnTo>
                        <a:lnTo>
                          <a:pt x="382778" y="773163"/>
                        </a:lnTo>
                        <a:lnTo>
                          <a:pt x="374269" y="832434"/>
                        </a:lnTo>
                        <a:lnTo>
                          <a:pt x="363600" y="888123"/>
                        </a:lnTo>
                        <a:lnTo>
                          <a:pt x="351028" y="939787"/>
                        </a:lnTo>
                        <a:lnTo>
                          <a:pt x="336550" y="986993"/>
                        </a:lnTo>
                        <a:lnTo>
                          <a:pt x="320420" y="1029322"/>
                        </a:lnTo>
                        <a:lnTo>
                          <a:pt x="302894" y="1066330"/>
                        </a:lnTo>
                        <a:lnTo>
                          <a:pt x="263651" y="1122629"/>
                        </a:lnTo>
                        <a:lnTo>
                          <a:pt x="220090" y="1152448"/>
                        </a:lnTo>
                        <a:lnTo>
                          <a:pt x="197154" y="1156335"/>
                        </a:lnTo>
                        <a:lnTo>
                          <a:pt x="174155" y="1152448"/>
                        </a:lnTo>
                        <a:lnTo>
                          <a:pt x="130657" y="1122629"/>
                        </a:lnTo>
                        <a:lnTo>
                          <a:pt x="91465" y="1066330"/>
                        </a:lnTo>
                        <a:lnTo>
                          <a:pt x="73837" y="1029322"/>
                        </a:lnTo>
                        <a:lnTo>
                          <a:pt x="57746" y="986993"/>
                        </a:lnTo>
                        <a:lnTo>
                          <a:pt x="43306" y="939787"/>
                        </a:lnTo>
                        <a:lnTo>
                          <a:pt x="30695" y="888123"/>
                        </a:lnTo>
                        <a:lnTo>
                          <a:pt x="20040" y="832434"/>
                        </a:lnTo>
                        <a:lnTo>
                          <a:pt x="11493" y="773163"/>
                        </a:lnTo>
                        <a:lnTo>
                          <a:pt x="5206" y="710742"/>
                        </a:lnTo>
                        <a:lnTo>
                          <a:pt x="1320" y="645591"/>
                        </a:lnTo>
                        <a:lnTo>
                          <a:pt x="0" y="578231"/>
                        </a:lnTo>
                        <a:lnTo>
                          <a:pt x="1320" y="510794"/>
                        </a:lnTo>
                        <a:lnTo>
                          <a:pt x="5206" y="445643"/>
                        </a:lnTo>
                        <a:lnTo>
                          <a:pt x="11493" y="383159"/>
                        </a:lnTo>
                        <a:lnTo>
                          <a:pt x="20040" y="323850"/>
                        </a:lnTo>
                        <a:lnTo>
                          <a:pt x="30695" y="268224"/>
                        </a:lnTo>
                        <a:lnTo>
                          <a:pt x="43306" y="216535"/>
                        </a:lnTo>
                        <a:lnTo>
                          <a:pt x="57746" y="169291"/>
                        </a:lnTo>
                        <a:lnTo>
                          <a:pt x="73837" y="127000"/>
                        </a:lnTo>
                        <a:lnTo>
                          <a:pt x="91465" y="90043"/>
                        </a:lnTo>
                        <a:lnTo>
                          <a:pt x="130657" y="33655"/>
                        </a:lnTo>
                        <a:lnTo>
                          <a:pt x="174155" y="3937"/>
                        </a:lnTo>
                        <a:lnTo>
                          <a:pt x="197154" y="0"/>
                        </a:lnTo>
                        <a:close/>
                      </a:path>
                      <a:path w="2273935" h="1156335">
                        <a:moveTo>
                          <a:pt x="197154" y="0"/>
                        </a:moveTo>
                        <a:lnTo>
                          <a:pt x="2076577" y="0"/>
                        </a:lnTo>
                        <a:lnTo>
                          <a:pt x="2099564" y="3937"/>
                        </a:lnTo>
                        <a:lnTo>
                          <a:pt x="2142998" y="33655"/>
                        </a:lnTo>
                        <a:lnTo>
                          <a:pt x="2182241" y="90043"/>
                        </a:lnTo>
                        <a:lnTo>
                          <a:pt x="2199767" y="127000"/>
                        </a:lnTo>
                        <a:lnTo>
                          <a:pt x="2215896" y="169291"/>
                        </a:lnTo>
                        <a:lnTo>
                          <a:pt x="2230373" y="216535"/>
                        </a:lnTo>
                        <a:lnTo>
                          <a:pt x="2242947" y="268224"/>
                        </a:lnTo>
                        <a:lnTo>
                          <a:pt x="2253615" y="323850"/>
                        </a:lnTo>
                        <a:lnTo>
                          <a:pt x="2262123" y="383159"/>
                        </a:lnTo>
                        <a:lnTo>
                          <a:pt x="2268473" y="445643"/>
                        </a:lnTo>
                        <a:lnTo>
                          <a:pt x="2272284" y="510794"/>
                        </a:lnTo>
                        <a:lnTo>
                          <a:pt x="2273681" y="578231"/>
                        </a:lnTo>
                        <a:lnTo>
                          <a:pt x="2272284" y="645591"/>
                        </a:lnTo>
                        <a:lnTo>
                          <a:pt x="2268473" y="710742"/>
                        </a:lnTo>
                        <a:lnTo>
                          <a:pt x="2262123" y="773163"/>
                        </a:lnTo>
                        <a:lnTo>
                          <a:pt x="2253615" y="832434"/>
                        </a:lnTo>
                        <a:lnTo>
                          <a:pt x="2242947" y="888123"/>
                        </a:lnTo>
                        <a:lnTo>
                          <a:pt x="2230373" y="939787"/>
                        </a:lnTo>
                        <a:lnTo>
                          <a:pt x="2215896" y="986993"/>
                        </a:lnTo>
                        <a:lnTo>
                          <a:pt x="2199767" y="1029322"/>
                        </a:lnTo>
                        <a:lnTo>
                          <a:pt x="2182241" y="1066330"/>
                        </a:lnTo>
                        <a:lnTo>
                          <a:pt x="2142998" y="1122629"/>
                        </a:lnTo>
                        <a:lnTo>
                          <a:pt x="2099564" y="1152448"/>
                        </a:lnTo>
                        <a:lnTo>
                          <a:pt x="2076577" y="1156335"/>
                        </a:lnTo>
                        <a:lnTo>
                          <a:pt x="197154" y="1156335"/>
                        </a:lnTo>
                      </a:path>
                    </a:pathLst>
                  </a:custGeom>
                  <a:ln w="28956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21" name="object 21">
                    <a:extLst>
                      <a:ext uri="{FF2B5EF4-FFF2-40B4-BE49-F238E27FC236}">
                        <a16:creationId xmlns:a16="http://schemas.microsoft.com/office/drawing/2014/main" id="{C9B796F2-771A-509E-C0D4-6DF48D34A069}"/>
                      </a:ext>
                    </a:extLst>
                  </p:cNvPr>
                  <p:cNvSpPr/>
                  <p:nvPr/>
                </p:nvSpPr>
                <p:spPr>
                  <a:xfrm>
                    <a:off x="2871977" y="3243834"/>
                    <a:ext cx="471170" cy="11563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1170" h="1156335">
                        <a:moveTo>
                          <a:pt x="235331" y="1156335"/>
                        </a:moveTo>
                        <a:lnTo>
                          <a:pt x="181356" y="1141069"/>
                        </a:lnTo>
                        <a:lnTo>
                          <a:pt x="131826" y="1097572"/>
                        </a:lnTo>
                        <a:lnTo>
                          <a:pt x="109220" y="1066317"/>
                        </a:lnTo>
                        <a:lnTo>
                          <a:pt x="88138" y="1029322"/>
                        </a:lnTo>
                        <a:lnTo>
                          <a:pt x="68961" y="986993"/>
                        </a:lnTo>
                        <a:lnTo>
                          <a:pt x="51689" y="939787"/>
                        </a:lnTo>
                        <a:lnTo>
                          <a:pt x="36703" y="888123"/>
                        </a:lnTo>
                        <a:lnTo>
                          <a:pt x="23876" y="832434"/>
                        </a:lnTo>
                        <a:lnTo>
                          <a:pt x="13716" y="773163"/>
                        </a:lnTo>
                        <a:lnTo>
                          <a:pt x="6223" y="710742"/>
                        </a:lnTo>
                        <a:lnTo>
                          <a:pt x="1524" y="645591"/>
                        </a:lnTo>
                        <a:lnTo>
                          <a:pt x="0" y="578231"/>
                        </a:lnTo>
                        <a:lnTo>
                          <a:pt x="1524" y="510794"/>
                        </a:lnTo>
                        <a:lnTo>
                          <a:pt x="6223" y="445643"/>
                        </a:lnTo>
                        <a:lnTo>
                          <a:pt x="13716" y="383159"/>
                        </a:lnTo>
                        <a:lnTo>
                          <a:pt x="23876" y="323850"/>
                        </a:lnTo>
                        <a:lnTo>
                          <a:pt x="36703" y="268224"/>
                        </a:lnTo>
                        <a:lnTo>
                          <a:pt x="51689" y="216535"/>
                        </a:lnTo>
                        <a:lnTo>
                          <a:pt x="68961" y="169291"/>
                        </a:lnTo>
                        <a:lnTo>
                          <a:pt x="88138" y="127000"/>
                        </a:lnTo>
                        <a:lnTo>
                          <a:pt x="109220" y="90043"/>
                        </a:lnTo>
                        <a:lnTo>
                          <a:pt x="131826" y="58801"/>
                        </a:lnTo>
                        <a:lnTo>
                          <a:pt x="181356" y="15240"/>
                        </a:lnTo>
                        <a:lnTo>
                          <a:pt x="235331" y="0"/>
                        </a:lnTo>
                        <a:lnTo>
                          <a:pt x="262763" y="3937"/>
                        </a:lnTo>
                        <a:lnTo>
                          <a:pt x="314706" y="33655"/>
                        </a:lnTo>
                        <a:lnTo>
                          <a:pt x="361569" y="90043"/>
                        </a:lnTo>
                        <a:lnTo>
                          <a:pt x="382524" y="127000"/>
                        </a:lnTo>
                        <a:lnTo>
                          <a:pt x="401827" y="169291"/>
                        </a:lnTo>
                        <a:lnTo>
                          <a:pt x="418973" y="216535"/>
                        </a:lnTo>
                        <a:lnTo>
                          <a:pt x="434086" y="268224"/>
                        </a:lnTo>
                        <a:lnTo>
                          <a:pt x="446786" y="323850"/>
                        </a:lnTo>
                        <a:lnTo>
                          <a:pt x="456946" y="383159"/>
                        </a:lnTo>
                        <a:lnTo>
                          <a:pt x="464566" y="445643"/>
                        </a:lnTo>
                        <a:lnTo>
                          <a:pt x="469138" y="510794"/>
                        </a:lnTo>
                        <a:lnTo>
                          <a:pt x="470788" y="578231"/>
                        </a:lnTo>
                        <a:lnTo>
                          <a:pt x="469138" y="645591"/>
                        </a:lnTo>
                        <a:lnTo>
                          <a:pt x="464566" y="710742"/>
                        </a:lnTo>
                        <a:lnTo>
                          <a:pt x="456946" y="773163"/>
                        </a:lnTo>
                        <a:lnTo>
                          <a:pt x="446786" y="832434"/>
                        </a:lnTo>
                        <a:lnTo>
                          <a:pt x="434086" y="888123"/>
                        </a:lnTo>
                        <a:lnTo>
                          <a:pt x="418973" y="939787"/>
                        </a:lnTo>
                        <a:lnTo>
                          <a:pt x="401827" y="986993"/>
                        </a:lnTo>
                        <a:lnTo>
                          <a:pt x="382524" y="1029322"/>
                        </a:lnTo>
                        <a:lnTo>
                          <a:pt x="361569" y="1066317"/>
                        </a:lnTo>
                        <a:lnTo>
                          <a:pt x="338836" y="1097572"/>
                        </a:lnTo>
                        <a:lnTo>
                          <a:pt x="289306" y="1141069"/>
                        </a:lnTo>
                        <a:lnTo>
                          <a:pt x="235331" y="1156335"/>
                        </a:lnTo>
                        <a:close/>
                      </a:path>
                    </a:pathLst>
                  </a:custGeom>
                  <a:ln w="19812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pic>
                <p:nvPicPr>
                  <p:cNvPr id="23" name="object 22">
                    <a:extLst>
                      <a:ext uri="{FF2B5EF4-FFF2-40B4-BE49-F238E27FC236}">
                        <a16:creationId xmlns:a16="http://schemas.microsoft.com/office/drawing/2014/main" id="{BBB7704A-F72D-87C3-78DC-F588D4B083F2}"/>
                      </a:ext>
                    </a:extLst>
                  </p:cNvPr>
                  <p:cNvPicPr/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1167384" y="3739896"/>
                    <a:ext cx="134112" cy="134112"/>
                  </a:xfrm>
                  <a:prstGeom prst="rect">
                    <a:avLst/>
                  </a:prstGeom>
                </p:spPr>
              </p:pic>
              <p:pic>
                <p:nvPicPr>
                  <p:cNvPr id="25" name="object 23">
                    <a:extLst>
                      <a:ext uri="{FF2B5EF4-FFF2-40B4-BE49-F238E27FC236}">
                        <a16:creationId xmlns:a16="http://schemas.microsoft.com/office/drawing/2014/main" id="{B057EB90-BBA5-3D1B-CFC9-8930DFB17C44}"/>
                      </a:ext>
                    </a:extLst>
                  </p:cNvPr>
                  <p:cNvPicPr/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3055620" y="3739896"/>
                    <a:ext cx="134112" cy="13411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8" name="object 26">
                  <a:extLst>
                    <a:ext uri="{FF2B5EF4-FFF2-40B4-BE49-F238E27FC236}">
                      <a16:creationId xmlns:a16="http://schemas.microsoft.com/office/drawing/2014/main" id="{0780B206-35B0-A545-1F2B-47FB544A4C70}"/>
                    </a:ext>
                  </a:extLst>
                </p:cNvPr>
                <p:cNvSpPr txBox="1"/>
                <p:nvPr/>
              </p:nvSpPr>
              <p:spPr>
                <a:xfrm>
                  <a:off x="4908702" y="2825773"/>
                  <a:ext cx="321945" cy="299720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381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sz="1800" b="1" spc="-25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V</a:t>
                  </a:r>
                  <a:r>
                    <a:rPr sz="1800" b="1" spc="-37" baseline="-11574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A</a:t>
                  </a:r>
                  <a:endParaRPr sz="1800" baseline="-11574" dirty="0">
                    <a:latin typeface="Times New Roman"/>
                    <a:cs typeface="Times New Roman"/>
                  </a:endParaRPr>
                </a:p>
              </p:txBody>
            </p:sp>
            <p:sp>
              <p:nvSpPr>
                <p:cNvPr id="29" name="object 27">
                  <a:extLst>
                    <a:ext uri="{FF2B5EF4-FFF2-40B4-BE49-F238E27FC236}">
                      <a16:creationId xmlns:a16="http://schemas.microsoft.com/office/drawing/2014/main" id="{639C2B90-05B6-BB59-F429-5309B3E95662}"/>
                    </a:ext>
                  </a:extLst>
                </p:cNvPr>
                <p:cNvSpPr txBox="1"/>
                <p:nvPr/>
              </p:nvSpPr>
              <p:spPr>
                <a:xfrm>
                  <a:off x="6753605" y="2822724"/>
                  <a:ext cx="342900" cy="299720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381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sz="1800" b="1" spc="-25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V</a:t>
                  </a:r>
                  <a:r>
                    <a:rPr sz="1800" b="1" spc="-37" baseline="-11574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B</a:t>
                  </a:r>
                  <a:endParaRPr sz="1800" baseline="-11574">
                    <a:latin typeface="Times New Roman"/>
                    <a:cs typeface="Times New Roman"/>
                  </a:endParaRPr>
                </a:p>
              </p:txBody>
            </p:sp>
            <p:grpSp>
              <p:nvGrpSpPr>
                <p:cNvPr id="30" name="object 28">
                  <a:extLst>
                    <a:ext uri="{FF2B5EF4-FFF2-40B4-BE49-F238E27FC236}">
                      <a16:creationId xmlns:a16="http://schemas.microsoft.com/office/drawing/2014/main" id="{6F4C551C-5877-71A1-D0D7-D4F2E7890607}"/>
                    </a:ext>
                  </a:extLst>
                </p:cNvPr>
                <p:cNvGrpSpPr/>
                <p:nvPr/>
              </p:nvGrpSpPr>
              <p:grpSpPr>
                <a:xfrm>
                  <a:off x="4205986" y="3187723"/>
                  <a:ext cx="3555365" cy="132715"/>
                  <a:chOff x="380238" y="3741420"/>
                  <a:chExt cx="3555365" cy="132715"/>
                </a:xfrm>
              </p:grpSpPr>
              <p:sp>
                <p:nvSpPr>
                  <p:cNvPr id="31" name="object 29">
                    <a:extLst>
                      <a:ext uri="{FF2B5EF4-FFF2-40B4-BE49-F238E27FC236}">
                        <a16:creationId xmlns:a16="http://schemas.microsoft.com/office/drawing/2014/main" id="{DF8A8163-FCC5-78DC-9AC8-E2EE049E37FC}"/>
                      </a:ext>
                    </a:extLst>
                  </p:cNvPr>
                  <p:cNvSpPr/>
                  <p:nvPr/>
                </p:nvSpPr>
                <p:spPr>
                  <a:xfrm>
                    <a:off x="380238" y="3810762"/>
                    <a:ext cx="3555365" cy="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55365">
                        <a:moveTo>
                          <a:pt x="0" y="0"/>
                        </a:moveTo>
                        <a:lnTo>
                          <a:pt x="3555365" y="0"/>
                        </a:lnTo>
                      </a:path>
                    </a:pathLst>
                  </a:custGeom>
                  <a:ln w="19812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pic>
                <p:nvPicPr>
                  <p:cNvPr id="32" name="object 30">
                    <a:extLst>
                      <a:ext uri="{FF2B5EF4-FFF2-40B4-BE49-F238E27FC236}">
                        <a16:creationId xmlns:a16="http://schemas.microsoft.com/office/drawing/2014/main" id="{06BA2839-6DF6-35D2-4832-78FB252B5FE8}"/>
                      </a:ext>
                    </a:extLst>
                  </p:cNvPr>
                  <p:cNvPicPr/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2472055" y="3741420"/>
                    <a:ext cx="130428" cy="132524"/>
                  </a:xfrm>
                  <a:prstGeom prst="rect">
                    <a:avLst/>
                  </a:prstGeom>
                </p:spPr>
              </p:pic>
              <p:sp>
                <p:nvSpPr>
                  <p:cNvPr id="33" name="object 31">
                    <a:extLst>
                      <a:ext uri="{FF2B5EF4-FFF2-40B4-BE49-F238E27FC236}">
                        <a16:creationId xmlns:a16="http://schemas.microsoft.com/office/drawing/2014/main" id="{D98AD279-F837-9067-D4E9-57540115B9BA}"/>
                      </a:ext>
                    </a:extLst>
                  </p:cNvPr>
                  <p:cNvSpPr/>
                  <p:nvPr/>
                </p:nvSpPr>
                <p:spPr>
                  <a:xfrm>
                    <a:off x="1967484" y="3793363"/>
                    <a:ext cx="607060" cy="28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7060" h="28575">
                        <a:moveTo>
                          <a:pt x="606628" y="2019"/>
                        </a:moveTo>
                        <a:lnTo>
                          <a:pt x="606552" y="0"/>
                        </a:lnTo>
                        <a:lnTo>
                          <a:pt x="553720" y="0"/>
                        </a:lnTo>
                        <a:lnTo>
                          <a:pt x="0" y="0"/>
                        </a:lnTo>
                        <a:lnTo>
                          <a:pt x="0" y="28575"/>
                        </a:lnTo>
                        <a:lnTo>
                          <a:pt x="553720" y="28575"/>
                        </a:lnTo>
                        <a:lnTo>
                          <a:pt x="578231" y="14351"/>
                        </a:lnTo>
                        <a:lnTo>
                          <a:pt x="599440" y="26670"/>
                        </a:lnTo>
                        <a:lnTo>
                          <a:pt x="606628" y="26670"/>
                        </a:lnTo>
                        <a:lnTo>
                          <a:pt x="606628" y="2019"/>
                        </a:lnTo>
                        <a:close/>
                      </a:path>
                    </a:pathLst>
                  </a:custGeom>
                  <a:solidFill>
                    <a:srgbClr val="943735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</p:grpSp>
            <p:sp>
              <p:nvSpPr>
                <p:cNvPr id="34" name="object 32">
                  <a:extLst>
                    <a:ext uri="{FF2B5EF4-FFF2-40B4-BE49-F238E27FC236}">
                      <a16:creationId xmlns:a16="http://schemas.microsoft.com/office/drawing/2014/main" id="{D8D2A4EB-BF17-2C96-F26C-F5C348E80179}"/>
                    </a:ext>
                  </a:extLst>
                </p:cNvPr>
                <p:cNvSpPr txBox="1"/>
                <p:nvPr/>
              </p:nvSpPr>
              <p:spPr>
                <a:xfrm>
                  <a:off x="5450078" y="2428892"/>
                  <a:ext cx="1192530" cy="300355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sz="1800" b="1" spc="-10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Conducteur</a:t>
                  </a:r>
                  <a:endParaRPr sz="1800" dirty="0">
                    <a:latin typeface="Times New Roman"/>
                    <a:cs typeface="Times New Roman"/>
                  </a:endParaRPr>
                </a:p>
              </p:txBody>
            </p:sp>
            <p:sp>
              <p:nvSpPr>
                <p:cNvPr id="35" name="object 33">
                  <a:extLst>
                    <a:ext uri="{FF2B5EF4-FFF2-40B4-BE49-F238E27FC236}">
                      <a16:creationId xmlns:a16="http://schemas.microsoft.com/office/drawing/2014/main" id="{1D5E55D7-531C-A52F-CAA0-392A477EB834}"/>
                    </a:ext>
                  </a:extLst>
                </p:cNvPr>
                <p:cNvSpPr txBox="1"/>
                <p:nvPr/>
              </p:nvSpPr>
              <p:spPr>
                <a:xfrm>
                  <a:off x="4058920" y="3655082"/>
                  <a:ext cx="757555" cy="299720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381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sz="1800" b="1" spc="-250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V</a:t>
                  </a:r>
                  <a:r>
                    <a:rPr sz="1800" b="1" spc="-375" baseline="-11574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A</a:t>
                  </a:r>
                  <a:r>
                    <a:rPr sz="1800" b="1" spc="-202" baseline="-11574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 </a:t>
                  </a:r>
                  <a:r>
                    <a:rPr lang="fr-FR" sz="1800" b="1" spc="-202" baseline="-11574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 </a:t>
                  </a:r>
                  <a:r>
                    <a:rPr sz="1800" b="1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&gt;</a:t>
                  </a:r>
                  <a:r>
                    <a:rPr sz="1800" b="1" spc="-65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 </a:t>
                  </a:r>
                  <a:r>
                    <a:rPr sz="1800" b="1" spc="-25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V</a:t>
                  </a:r>
                  <a:r>
                    <a:rPr sz="1800" b="1" spc="-37" baseline="-11574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B</a:t>
                  </a:r>
                  <a:endParaRPr sz="1800" baseline="-11574" dirty="0">
                    <a:latin typeface="Times New Roman"/>
                    <a:cs typeface="Times New Roman"/>
                  </a:endParaRPr>
                </a:p>
              </p:txBody>
            </p:sp>
            <p:pic>
              <p:nvPicPr>
                <p:cNvPr id="41" name="Picture 9">
                  <a:extLst>
                    <a:ext uri="{FF2B5EF4-FFF2-40B4-BE49-F238E27FC236}">
                      <a16:creationId xmlns:a16="http://schemas.microsoft.com/office/drawing/2014/main" id="{B51DE328-4F8E-0D00-96FE-24EA3748148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23534" y="2645336"/>
                  <a:ext cx="2328181" cy="13653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2" name="object 38">
                  <a:extLst>
                    <a:ext uri="{FF2B5EF4-FFF2-40B4-BE49-F238E27FC236}">
                      <a16:creationId xmlns:a16="http://schemas.microsoft.com/office/drawing/2014/main" id="{C1DACF79-73ED-100F-4D04-3964FEF3F354}"/>
                    </a:ext>
                  </a:extLst>
                </p:cNvPr>
                <p:cNvSpPr txBox="1"/>
                <p:nvPr/>
              </p:nvSpPr>
              <p:spPr>
                <a:xfrm>
                  <a:off x="5519317" y="3978044"/>
                  <a:ext cx="1095375" cy="299720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381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sz="1800" b="1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V</a:t>
                  </a:r>
                  <a:r>
                    <a:rPr sz="1800" b="1" spc="-80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 </a:t>
                  </a:r>
                  <a:r>
                    <a:rPr sz="1800" b="1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=</a:t>
                  </a:r>
                  <a:r>
                    <a:rPr sz="1800" b="1" spc="-75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 </a:t>
                  </a:r>
                  <a:r>
                    <a:rPr sz="1800" b="1" spc="-245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V</a:t>
                  </a:r>
                  <a:r>
                    <a:rPr sz="1800" b="1" spc="-367" baseline="-11574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A</a:t>
                  </a:r>
                  <a:r>
                    <a:rPr lang="fr-FR" sz="1800" b="1" spc="-367" baseline="-11574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     </a:t>
                  </a:r>
                  <a:r>
                    <a:rPr sz="1800" b="1" spc="-202" baseline="-11574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 </a:t>
                  </a:r>
                  <a:r>
                    <a:rPr sz="1800" b="1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-</a:t>
                  </a:r>
                  <a:r>
                    <a:rPr sz="1800" b="1" spc="-70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 </a:t>
                  </a:r>
                  <a:r>
                    <a:rPr sz="1800" b="1" spc="-35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V</a:t>
                  </a:r>
                  <a:r>
                    <a:rPr sz="1800" b="1" spc="-52" baseline="-11574" dirty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B</a:t>
                  </a:r>
                  <a:endParaRPr sz="1800" baseline="-11574" dirty="0">
                    <a:latin typeface="Times New Roman"/>
                    <a:cs typeface="Times New Roman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209915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839200" y="4863056"/>
            <a:ext cx="4187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9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34018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2000" b="1" spc="-5" dirty="0" smtClean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1.4 </a:t>
            </a:r>
            <a:r>
              <a:rPr lang="fr-FR" sz="20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Signaux électriques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8128A1-C4FC-391D-5540-73A10BF86612}"/>
              </a:ext>
            </a:extLst>
          </p:cNvPr>
          <p:cNvSpPr txBox="1"/>
          <p:nvPr/>
        </p:nvSpPr>
        <p:spPr>
          <a:xfrm>
            <a:off x="685800" y="1279944"/>
            <a:ext cx="7574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La </a:t>
            </a:r>
            <a:r>
              <a:rPr lang="fr-FR" altLang="fr-FR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tension</a:t>
            </a:r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 et le </a:t>
            </a:r>
            <a:r>
              <a:rPr lang="fr-FR" altLang="fr-FR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courant</a:t>
            </a:r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 sont appelés des signaux électriques, </a:t>
            </a:r>
            <a:r>
              <a:rPr lang="fr-FR" dirty="0">
                <a:latin typeface="Bookman Old Style" panose="02050604050505020204" pitchFamily="18" charset="0"/>
              </a:rPr>
              <a:t>et sont souvent présentés sous forme </a:t>
            </a:r>
            <a:r>
              <a:rPr lang="fr-FR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continue</a:t>
            </a:r>
            <a:r>
              <a:rPr lang="fr-FR" dirty="0">
                <a:latin typeface="Bookman Old Style" panose="02050604050505020204" pitchFamily="18" charset="0"/>
              </a:rPr>
              <a:t> ou </a:t>
            </a:r>
            <a:r>
              <a:rPr lang="fr-FR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alternative</a:t>
            </a:r>
            <a:r>
              <a:rPr lang="fr-FR" dirty="0"/>
              <a:t>. </a:t>
            </a:r>
            <a:endParaRPr lang="fr-FR" altLang="fr-FR" dirty="0">
              <a:solidFill>
                <a:srgbClr val="3F53E9"/>
              </a:solidFill>
              <a:latin typeface="Bookman Old Style" panose="02050604050505020204" pitchFamily="18" charset="0"/>
              <a:cs typeface="Browallia New" panose="020B0604020202020204" pitchFamily="34" charset="-34"/>
            </a:endParaRPr>
          </a:p>
        </p:txBody>
      </p:sp>
      <p:sp>
        <p:nvSpPr>
          <p:cNvPr id="29" name="ZoneTexte 10">
            <a:extLst>
              <a:ext uri="{FF2B5EF4-FFF2-40B4-BE49-F238E27FC236}">
                <a16:creationId xmlns:a16="http://schemas.microsoft.com/office/drawing/2014/main" id="{0C185895-0611-86ED-0243-23294230A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894828"/>
            <a:ext cx="6572250" cy="40011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fr-FR" altLang="fr-FR" sz="2000" b="1" dirty="0">
                <a:solidFill>
                  <a:srgbClr val="0000FF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Quelle est la différence entre ces deux formes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458201" y="4824469"/>
            <a:ext cx="4187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10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84780B-E429-1419-D5CB-84FF074D09FE}"/>
              </a:ext>
            </a:extLst>
          </p:cNvPr>
          <p:cNvSpPr txBox="1"/>
          <p:nvPr/>
        </p:nvSpPr>
        <p:spPr>
          <a:xfrm>
            <a:off x="723556" y="1352550"/>
            <a:ext cx="773464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Grandeur continue: </a:t>
            </a:r>
            <a:r>
              <a:rPr lang="fr-FR" dirty="0">
                <a:latin typeface="Bookman Old Style" panose="02050604050505020204" pitchFamily="18" charset="0"/>
              </a:rPr>
              <a:t>C'est une grandeur qui garde la </a:t>
            </a:r>
            <a:r>
              <a:rPr lang="fr-FR" dirty="0" smtClean="0">
                <a:latin typeface="Bookman Old Style" panose="02050604050505020204" pitchFamily="18" charset="0"/>
              </a:rPr>
              <a:t>même valeur </a:t>
            </a:r>
            <a:r>
              <a:rPr lang="fr-FR" dirty="0">
                <a:latin typeface="Bookman Old Style" panose="02050604050505020204" pitchFamily="18" charset="0"/>
              </a:rPr>
              <a:t>ou varie de manière très stable dans le temps. </a:t>
            </a: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    </a:t>
            </a:r>
            <a:r>
              <a:rPr lang="fr-FR" b="1" dirty="0" smtClean="0">
                <a:latin typeface="Bookman Old Style" panose="02050604050505020204" pitchFamily="18" charset="0"/>
              </a:rPr>
              <a:t>Par </a:t>
            </a:r>
            <a:r>
              <a:rPr lang="fr-FR" b="1" dirty="0">
                <a:latin typeface="Bookman Old Style" panose="02050604050505020204" pitchFamily="18" charset="0"/>
              </a:rPr>
              <a:t>exemple</a:t>
            </a:r>
            <a:r>
              <a:rPr lang="fr-FR" dirty="0">
                <a:latin typeface="Bookman Old Style" panose="02050604050505020204" pitchFamily="18" charset="0"/>
              </a:rPr>
              <a:t>, une tension qui reste </a:t>
            </a:r>
            <a:r>
              <a:rPr lang="fr-FR" b="1" dirty="0">
                <a:latin typeface="Bookman Old Style" panose="02050604050505020204" pitchFamily="18" charset="0"/>
              </a:rPr>
              <a:t>constante</a:t>
            </a:r>
            <a:r>
              <a:rPr lang="fr-FR" dirty="0">
                <a:latin typeface="Bookman Old Style" panose="02050604050505020204" pitchFamily="18" charset="0"/>
              </a:rPr>
              <a:t> (comme </a:t>
            </a:r>
            <a:r>
              <a:rPr lang="fr-FR" dirty="0" smtClean="0">
                <a:latin typeface="Bookman Old Style" panose="02050604050505020204" pitchFamily="18" charset="0"/>
              </a:rPr>
              <a:t>dans</a:t>
            </a: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 </a:t>
            </a:r>
            <a:r>
              <a:rPr lang="fr-FR" dirty="0" smtClean="0">
                <a:latin typeface="Bookman Old Style" panose="02050604050505020204" pitchFamily="18" charset="0"/>
              </a:rPr>
              <a:t>   </a:t>
            </a:r>
            <a:r>
              <a:rPr lang="fr-FR" dirty="0">
                <a:latin typeface="Bookman Old Style" panose="02050604050505020204" pitchFamily="18" charset="0"/>
              </a:rPr>
              <a:t>une pile ou une batterie).</a:t>
            </a:r>
          </a:p>
          <a:p>
            <a:pPr algn="just"/>
            <a:endParaRPr lang="fr-FR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Grandeur alternative: </a:t>
            </a:r>
            <a:r>
              <a:rPr lang="fr-FR" dirty="0">
                <a:latin typeface="Bookman Old Style" panose="02050604050505020204" pitchFamily="18" charset="0"/>
              </a:rPr>
              <a:t>C'est une grandeur qui </a:t>
            </a:r>
            <a:r>
              <a:rPr lang="fr-FR" b="1" dirty="0">
                <a:latin typeface="Bookman Old Style" panose="02050604050505020204" pitchFamily="18" charset="0"/>
              </a:rPr>
              <a:t>change périodiquement de valeur</a:t>
            </a:r>
            <a:r>
              <a:rPr lang="fr-FR" dirty="0">
                <a:latin typeface="Bookman Old Style" panose="02050604050505020204" pitchFamily="18" charset="0"/>
              </a:rPr>
              <a:t>, oscillant entre des valeurs positives et négatives.</a:t>
            </a: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    </a:t>
            </a:r>
            <a:r>
              <a:rPr lang="fr-FR" b="1" dirty="0" smtClean="0">
                <a:latin typeface="Bookman Old Style" panose="02050604050505020204" pitchFamily="18" charset="0"/>
              </a:rPr>
              <a:t>Par </a:t>
            </a:r>
            <a:r>
              <a:rPr lang="fr-FR" b="1" dirty="0">
                <a:latin typeface="Bookman Old Style" panose="02050604050505020204" pitchFamily="18" charset="0"/>
              </a:rPr>
              <a:t>exemple</a:t>
            </a:r>
            <a:r>
              <a:rPr lang="fr-FR" dirty="0">
                <a:latin typeface="Bookman Old Style" panose="02050604050505020204" pitchFamily="18" charset="0"/>
              </a:rPr>
              <a:t>, la tension ou le courant alternatif varie de </a:t>
            </a:r>
            <a:r>
              <a:rPr lang="fr-FR" dirty="0" smtClean="0">
                <a:latin typeface="Bookman Old Style" panose="02050604050505020204" pitchFamily="18" charset="0"/>
              </a:rPr>
              <a:t>façon</a:t>
            </a: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 </a:t>
            </a:r>
            <a:r>
              <a:rPr lang="fr-FR" dirty="0" smtClean="0">
                <a:latin typeface="Bookman Old Style" panose="02050604050505020204" pitchFamily="18" charset="0"/>
              </a:rPr>
              <a:t>   </a:t>
            </a:r>
            <a:r>
              <a:rPr lang="fr-FR" dirty="0">
                <a:latin typeface="Bookman Old Style" panose="02050604050505020204" pitchFamily="18" charset="0"/>
              </a:rPr>
              <a:t>sinusoïdale, comme celui fourni par le réseau </a:t>
            </a:r>
            <a:r>
              <a:rPr lang="fr-FR" dirty="0" smtClean="0">
                <a:latin typeface="Bookman Old Style" panose="02050604050505020204" pitchFamily="18" charset="0"/>
              </a:rPr>
              <a:t>électrique</a:t>
            </a:r>
          </a:p>
          <a:p>
            <a:pPr algn="just"/>
            <a:r>
              <a:rPr lang="fr-FR" dirty="0" smtClean="0">
                <a:latin typeface="Bookman Old Style" panose="02050604050505020204" pitchFamily="18" charset="0"/>
              </a:rPr>
              <a:t>    </a:t>
            </a:r>
            <a:r>
              <a:rPr lang="fr-FR" dirty="0">
                <a:latin typeface="Bookman Old Style" panose="02050604050505020204" pitchFamily="18" charset="0"/>
              </a:rPr>
              <a:t>domestique.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200C16-E7D1-E6F1-DADC-2D265987A76F}"/>
              </a:ext>
            </a:extLst>
          </p:cNvPr>
          <p:cNvSpPr txBox="1"/>
          <p:nvPr/>
        </p:nvSpPr>
        <p:spPr>
          <a:xfrm>
            <a:off x="533400" y="666750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Bookman Old Style" panose="02050604050505020204" pitchFamily="18" charset="0"/>
              </a:rPr>
              <a:t>D’une manière générale : </a:t>
            </a:r>
          </a:p>
        </p:txBody>
      </p:sp>
    </p:spTree>
    <p:extLst>
      <p:ext uri="{BB962C8B-B14F-4D97-AF65-F5344CB8AC3E}">
        <p14:creationId xmlns:p14="http://schemas.microsoft.com/office/powerpoint/2010/main" val="1080060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allAtOnce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458201" y="4824469"/>
            <a:ext cx="4187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11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3400" y="461365"/>
            <a:ext cx="45034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2000" b="1" spc="-5" dirty="0" smtClean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A</a:t>
            </a:r>
            <a:r>
              <a:rPr lang="fr-FR" sz="2000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. Notion de la valeurs </a:t>
            </a:r>
            <a:r>
              <a:rPr lang="fr-FR" sz="2000" b="1" spc="-5" dirty="0" smtClean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moyenne</a:t>
            </a:r>
            <a:endParaRPr lang="fr-FR" sz="2000" b="1" spc="-5" dirty="0">
              <a:solidFill>
                <a:srgbClr val="00B050"/>
              </a:solidFill>
              <a:latin typeface="Bookman Old Style" panose="02050604050505020204" pitchFamily="18" charset="0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D8128A1-C4FC-391D-5540-73A10BF86612}"/>
                  </a:ext>
                </a:extLst>
              </p:cNvPr>
              <p:cNvSpPr txBox="1"/>
              <p:nvPr/>
            </p:nvSpPr>
            <p:spPr>
              <a:xfrm>
                <a:off x="765768" y="1171771"/>
                <a:ext cx="8378232" cy="1047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altLang="fr-FR" dirty="0" smtClean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Par </a:t>
                </a:r>
                <a:r>
                  <a:rPr lang="fr-FR" altLang="fr-FR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définition, </a:t>
                </a:r>
                <a:r>
                  <a:rPr lang="fr-FR" altLang="fr-FR" b="1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la valeur moyenne</a:t>
                </a:r>
                <a:r>
                  <a:rPr lang="fr-FR" altLang="fr-FR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 d’un signal </a:t>
                </a:r>
                <a:r>
                  <a:rPr lang="fr-FR" altLang="fr-FR" b="1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u(t) </a:t>
                </a:r>
                <a:r>
                  <a:rPr lang="fr-FR" altLang="fr-FR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est donnée par :</a:t>
                </a:r>
              </a:p>
              <a:p>
                <a:pPr algn="just"/>
                <a:r>
                  <a:rPr lang="fr-FR" altLang="fr-FR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   </a:t>
                </a:r>
              </a:p>
              <a:p>
                <a:pPr algn="just"/>
                <a:r>
                  <a:rPr lang="fr-FR" altLang="fr-FR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              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fr-FR" alt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</m:ctrlPr>
                      </m:dPr>
                      <m:e>
                        <m:r>
                          <a:rPr lang="fr-FR" alt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𝒖</m:t>
                        </m:r>
                      </m:e>
                    </m:d>
                    <m:r>
                      <a:rPr lang="fr-FR" altLang="fr-F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Browallia New" panose="020B0604020202020204" pitchFamily="34" charset="-34"/>
                      </a:rPr>
                      <m:t>=</m:t>
                    </m:r>
                    <m:sSub>
                      <m:sSubPr>
                        <m:ctrlPr>
                          <a:rPr lang="fr-FR" alt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</m:ctrlPr>
                      </m:sSubPr>
                      <m:e>
                        <m:r>
                          <a:rPr lang="fr-FR" alt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𝒖</m:t>
                        </m:r>
                      </m:e>
                      <m:sub>
                        <m:r>
                          <a:rPr lang="fr-FR" alt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𝒎𝒐𝒚</m:t>
                        </m:r>
                      </m:sub>
                    </m:sSub>
                    <m:r>
                      <a:rPr lang="fr-FR" altLang="fr-F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Browallia New" panose="020B0604020202020204" pitchFamily="34" charset="-34"/>
                      </a:rPr>
                      <m:t>=</m:t>
                    </m:r>
                    <m:f>
                      <m:fPr>
                        <m:ctrlPr>
                          <a:rPr lang="fr-FR" alt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</m:ctrlPr>
                      </m:fPr>
                      <m:num>
                        <m:r>
                          <a:rPr lang="fr-FR" alt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𝟏</m:t>
                        </m:r>
                      </m:num>
                      <m:den>
                        <m:r>
                          <a:rPr lang="fr-FR" alt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𝑻</m:t>
                        </m:r>
                      </m:den>
                    </m:f>
                    <m:nary>
                      <m:naryPr>
                        <m:limLoc m:val="undOvr"/>
                        <m:ctrlPr>
                          <a:rPr lang="fr-FR" alt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fr-FR" alt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𝟎</m:t>
                        </m:r>
                      </m:sub>
                      <m:sup>
                        <m:r>
                          <a:rPr lang="fr-FR" alt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𝑻</m:t>
                        </m:r>
                      </m:sup>
                      <m:e>
                        <m:r>
                          <a:rPr lang="fr-FR" alt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𝒖</m:t>
                        </m:r>
                        <m:d>
                          <m:dPr>
                            <m:ctrlPr>
                              <a:rPr lang="fr-FR" altLang="fr-FR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Browallia New" panose="020B0604020202020204" pitchFamily="34" charset="-34"/>
                              </a:rPr>
                            </m:ctrlPr>
                          </m:dPr>
                          <m:e>
                            <m:r>
                              <a:rPr lang="fr-FR" altLang="fr-FR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Browallia New" panose="020B0604020202020204" pitchFamily="34" charset="-34"/>
                              </a:rPr>
                              <m:t>𝒕</m:t>
                            </m:r>
                          </m:e>
                        </m:d>
                        <m:r>
                          <a:rPr lang="fr-FR" alt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𝒅𝒕</m:t>
                        </m:r>
                      </m:e>
                    </m:nary>
                  </m:oMath>
                </a14:m>
                <a:r>
                  <a:rPr lang="fr-FR" altLang="fr-FR" b="1" dirty="0">
                    <a:latin typeface="Bodoni MT" panose="02070603080606020203" pitchFamily="18" charset="0"/>
                    <a:cs typeface="Browallia New" panose="020B0604020202020204" pitchFamily="34" charset="-34"/>
                  </a:rPr>
                  <a:t> , </a:t>
                </a:r>
                <a:r>
                  <a:rPr lang="fr-FR" altLang="fr-FR" b="1" dirty="0" smtClean="0">
                    <a:latin typeface="Bodoni MT" panose="02070603080606020203" pitchFamily="18" charset="0"/>
                    <a:cs typeface="Browallia New" panose="020B0604020202020204" pitchFamily="34" charset="-34"/>
                  </a:rPr>
                  <a:t> </a:t>
                </a:r>
                <a:r>
                  <a:rPr lang="fr-FR" altLang="fr-FR" b="1" dirty="0" smtClean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Où </a:t>
                </a:r>
                <a:r>
                  <a:rPr lang="fr-FR" altLang="fr-FR" b="1" dirty="0">
                    <a:solidFill>
                      <a:srgbClr val="FF0000"/>
                    </a:solidFill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T</a:t>
                </a:r>
                <a:r>
                  <a:rPr lang="fr-FR" altLang="fr-FR" b="1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 est la période du signal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D8128A1-C4FC-391D-5540-73A10BF86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768" y="1171771"/>
                <a:ext cx="8378232" cy="1047531"/>
              </a:xfrm>
              <a:prstGeom prst="rect">
                <a:avLst/>
              </a:prstGeom>
              <a:blipFill>
                <a:blip r:embed="rId3"/>
                <a:stretch>
                  <a:fillRect l="-655" t="-2907" b="-732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5FD8371-5932-3B80-3B68-285474535182}"/>
              </a:ext>
            </a:extLst>
          </p:cNvPr>
          <p:cNvSpPr txBox="1"/>
          <p:nvPr/>
        </p:nvSpPr>
        <p:spPr>
          <a:xfrm>
            <a:off x="750528" y="251043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Exemple de signal alternatif </a:t>
            </a:r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:</a:t>
            </a:r>
          </a:p>
        </p:txBody>
      </p:sp>
      <p:pic>
        <p:nvPicPr>
          <p:cNvPr id="5" name="Image 29">
            <a:extLst>
              <a:ext uri="{FF2B5EF4-FFF2-40B4-BE49-F238E27FC236}">
                <a16:creationId xmlns:a16="http://schemas.microsoft.com/office/drawing/2014/main" id="{39B192FB-1DEC-4A82-31C6-84671BF7F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848991"/>
            <a:ext cx="2334201" cy="1703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E8BCBD-2CB9-3FF1-F19E-258094547CF8}"/>
              </a:ext>
            </a:extLst>
          </p:cNvPr>
          <p:cNvSpPr txBox="1"/>
          <p:nvPr/>
        </p:nvSpPr>
        <p:spPr>
          <a:xfrm>
            <a:off x="735288" y="3072952"/>
            <a:ext cx="4502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La valeur moyenne de ce signal </a:t>
            </a:r>
            <a:r>
              <a:rPr lang="fr-FR" altLang="fr-FR" b="1" dirty="0">
                <a:solidFill>
                  <a:srgbClr val="0000FF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est nulle</a:t>
            </a:r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.</a:t>
            </a:r>
          </a:p>
        </p:txBody>
      </p:sp>
      <p:sp>
        <p:nvSpPr>
          <p:cNvPr id="2" name="Rectangle 1"/>
          <p:cNvSpPr/>
          <p:nvPr/>
        </p:nvSpPr>
        <p:spPr>
          <a:xfrm>
            <a:off x="765768" y="4239693"/>
            <a:ext cx="52540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altLang="fr-FR" sz="1600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Les grandeurs </a:t>
            </a:r>
            <a:r>
              <a:rPr lang="fr-FR" altLang="fr-FR" sz="1600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alternatives</a:t>
            </a:r>
            <a:r>
              <a:rPr lang="fr-FR" altLang="fr-FR" sz="1600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 </a:t>
            </a:r>
            <a:r>
              <a:rPr lang="fr-FR" sz="1600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symétrique</a:t>
            </a:r>
            <a:r>
              <a:rPr lang="fr-FR" sz="1600" dirty="0"/>
              <a:t> </a:t>
            </a:r>
            <a:r>
              <a:rPr lang="fr-FR" altLang="fr-FR" sz="1600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(quelles soit des </a:t>
            </a:r>
            <a:r>
              <a:rPr lang="fr-FR" altLang="fr-FR" sz="1600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courants</a:t>
            </a:r>
            <a:r>
              <a:rPr lang="fr-FR" altLang="fr-FR" sz="1600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 ou des </a:t>
            </a:r>
            <a:r>
              <a:rPr lang="fr-FR" altLang="fr-FR" sz="1600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tensions</a:t>
            </a:r>
            <a:r>
              <a:rPr lang="fr-FR" altLang="fr-FR" sz="1600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), présentent toujours une valeur moyenne </a:t>
            </a:r>
            <a:r>
              <a:rPr lang="fr-FR" altLang="fr-FR" sz="1600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nulle. </a:t>
            </a:r>
          </a:p>
        </p:txBody>
      </p:sp>
    </p:spTree>
    <p:extLst>
      <p:ext uri="{BB962C8B-B14F-4D97-AF65-F5344CB8AC3E}">
        <p14:creationId xmlns:p14="http://schemas.microsoft.com/office/powerpoint/2010/main" val="1002896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458201" y="4824469"/>
            <a:ext cx="4187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12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8128A1-C4FC-391D-5540-73A10BF86612}"/>
              </a:ext>
            </a:extLst>
          </p:cNvPr>
          <p:cNvSpPr txBox="1"/>
          <p:nvPr/>
        </p:nvSpPr>
        <p:spPr>
          <a:xfrm>
            <a:off x="609600" y="522935"/>
            <a:ext cx="83782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Contrairement aux signaux alternatifs, les signaux  </a:t>
            </a:r>
            <a:r>
              <a:rPr lang="fr-FR" altLang="fr-FR" b="1" dirty="0">
                <a:solidFill>
                  <a:srgbClr val="FF0000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continus</a:t>
            </a:r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 présentent une valeur moyenne </a:t>
            </a:r>
            <a:r>
              <a:rPr lang="fr-FR" altLang="fr-FR" b="1" dirty="0">
                <a:solidFill>
                  <a:srgbClr val="FF0000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non-nulle</a:t>
            </a:r>
          </a:p>
          <a:p>
            <a:pPr algn="just"/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FD8371-5932-3B80-3B68-285474535182}"/>
              </a:ext>
            </a:extLst>
          </p:cNvPr>
          <p:cNvSpPr txBox="1"/>
          <p:nvPr/>
        </p:nvSpPr>
        <p:spPr>
          <a:xfrm>
            <a:off x="838200" y="166888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Exemple de signal continu </a:t>
            </a:r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E8BCBD-2CB9-3FF1-F19E-258094547CF8}"/>
              </a:ext>
            </a:extLst>
          </p:cNvPr>
          <p:cNvSpPr txBox="1"/>
          <p:nvPr/>
        </p:nvSpPr>
        <p:spPr>
          <a:xfrm>
            <a:off x="914400" y="2348463"/>
            <a:ext cx="563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La valeur moyenne de ce signal </a:t>
            </a:r>
            <a:r>
              <a:rPr lang="fr-FR" altLang="fr-FR" b="1" dirty="0">
                <a:solidFill>
                  <a:srgbClr val="0000FF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est </a:t>
            </a:r>
            <a:r>
              <a:rPr lang="fr-FR" altLang="fr-FR" b="1" dirty="0">
                <a:solidFill>
                  <a:srgbClr val="FF0000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non</a:t>
            </a:r>
            <a:r>
              <a:rPr lang="fr-FR" altLang="fr-FR" b="1" dirty="0">
                <a:solidFill>
                  <a:srgbClr val="0000FF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-nulle</a:t>
            </a:r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911C7D-B1FF-D4D2-6E0A-7180964947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915" y="2849941"/>
            <a:ext cx="3601221" cy="20119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C460878-56C4-55BA-C859-1B256F980796}"/>
              </a:ext>
            </a:extLst>
          </p:cNvPr>
          <p:cNvSpPr txBox="1"/>
          <p:nvPr/>
        </p:nvSpPr>
        <p:spPr>
          <a:xfrm>
            <a:off x="2514600" y="3571830"/>
            <a:ext cx="76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rgbClr val="FF0000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E</a:t>
            </a:r>
            <a:endParaRPr lang="fr-FR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5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458201" y="4824469"/>
            <a:ext cx="4187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13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C72FA6-966E-0AE1-2CE0-9A6FC0919D86}"/>
              </a:ext>
            </a:extLst>
          </p:cNvPr>
          <p:cNvSpPr txBox="1"/>
          <p:nvPr/>
        </p:nvSpPr>
        <p:spPr>
          <a:xfrm>
            <a:off x="685123" y="1553306"/>
            <a:ext cx="79254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</a:lstStyle>
          <a:p>
            <a:r>
              <a:rPr lang="fr-FR" altLang="fr-FR" sz="1800" dirty="0"/>
              <a:t>Les </a:t>
            </a:r>
            <a:r>
              <a:rPr lang="fr-FR" altLang="fr-FR" sz="1800" b="1" dirty="0"/>
              <a:t>signaux alternatifs </a:t>
            </a:r>
            <a:r>
              <a:rPr lang="fr-FR" altLang="fr-FR" sz="1800" dirty="0"/>
              <a:t>sont caractérisés par une autre grandeur appelée la </a:t>
            </a:r>
            <a:r>
              <a:rPr lang="fr-FR" altLang="fr-FR" sz="1800" b="1" dirty="0">
                <a:solidFill>
                  <a:srgbClr val="FF0000"/>
                </a:solidFill>
              </a:rPr>
              <a:t>valeur efficace</a:t>
            </a:r>
            <a:r>
              <a:rPr lang="fr-FR" altLang="fr-FR" sz="1800" dirty="0"/>
              <a:t>.</a:t>
            </a:r>
          </a:p>
          <a:p>
            <a:pPr marL="0" indent="0">
              <a:buNone/>
            </a:pPr>
            <a:endParaRPr lang="fr-FR" altLang="fr-FR" sz="1800" dirty="0"/>
          </a:p>
          <a:p>
            <a:pPr marL="0" indent="0">
              <a:buNone/>
            </a:pPr>
            <a:r>
              <a:rPr lang="fr-FR" altLang="fr-FR" sz="1800" dirty="0"/>
              <a:t>     L’expression de la valeur efficace d’un signal </a:t>
            </a:r>
            <a:r>
              <a:rPr lang="fr-FR" altLang="fr-FR" sz="1800" b="1" dirty="0"/>
              <a:t>u(t)</a:t>
            </a:r>
            <a:r>
              <a:rPr lang="fr-FR" altLang="fr-FR" sz="1800" dirty="0"/>
              <a:t> est donnée par :</a:t>
            </a:r>
            <a:endParaRPr lang="fr-FR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34EFD0B-5E85-B3BC-30C0-C654F46900B2}"/>
                  </a:ext>
                </a:extLst>
              </p:cNvPr>
              <p:cNvSpPr txBox="1"/>
              <p:nvPr/>
            </p:nvSpPr>
            <p:spPr>
              <a:xfrm>
                <a:off x="1676061" y="3021211"/>
                <a:ext cx="5943600" cy="12100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fr-FR" alt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</m:ctrlPr>
                      </m:sSubPr>
                      <m:e>
                        <m:r>
                          <a:rPr lang="fr-FR" alt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𝒖</m:t>
                        </m:r>
                      </m:e>
                      <m:sub>
                        <m:r>
                          <a:rPr lang="fr-FR" alt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𝒆𝒇𝒇</m:t>
                        </m:r>
                      </m:sub>
                    </m:sSub>
                    <m:r>
                      <a:rPr lang="fr-FR" altLang="fr-F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Browallia New" panose="020B0604020202020204" pitchFamily="34" charset="-34"/>
                      </a:rPr>
                      <m:t>=</m:t>
                    </m:r>
                    <m:rad>
                      <m:radPr>
                        <m:degHide m:val="on"/>
                        <m:ctrlPr>
                          <a:rPr lang="fr-FR" alt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fr-FR" altLang="fr-F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Browallia New" panose="020B0604020202020204" pitchFamily="34" charset="-34"/>
                              </a:rPr>
                            </m:ctrlPr>
                          </m:fPr>
                          <m:num>
                            <m:r>
                              <a:rPr lang="fr-FR" altLang="fr-F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Browallia New" panose="020B0604020202020204" pitchFamily="34" charset="-34"/>
                              </a:rPr>
                              <m:t>𝟏</m:t>
                            </m:r>
                          </m:num>
                          <m:den>
                            <m:r>
                              <a:rPr lang="fr-FR" altLang="fr-F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Browallia New" panose="020B0604020202020204" pitchFamily="34" charset="-34"/>
                              </a:rPr>
                              <m:t>𝑻</m:t>
                            </m:r>
                          </m:den>
                        </m:f>
                        <m:nary>
                          <m:naryPr>
                            <m:limLoc m:val="undOvr"/>
                            <m:ctrlPr>
                              <a:rPr lang="fr-FR" altLang="fr-F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Browallia New" panose="020B0604020202020204" pitchFamily="34" charset="-34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fr-FR" altLang="fr-F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Browallia New" panose="020B0604020202020204" pitchFamily="34" charset="-34"/>
                              </a:rPr>
                              <m:t>𝟎</m:t>
                            </m:r>
                          </m:sub>
                          <m:sup>
                            <m:r>
                              <a:rPr lang="fr-FR" altLang="fr-F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Browallia New" panose="020B0604020202020204" pitchFamily="34" charset="-34"/>
                              </a:rPr>
                              <m:t>𝑻</m:t>
                            </m:r>
                          </m:sup>
                          <m:e>
                            <m:sSup>
                              <m:sSupPr>
                                <m:ctrlPr>
                                  <a:rPr lang="fr-FR" altLang="fr-FR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Browallia New" panose="020B0604020202020204" pitchFamily="34" charset="-34"/>
                                  </a:rPr>
                                </m:ctrlPr>
                              </m:sSupPr>
                              <m:e>
                                <m:r>
                                  <a:rPr lang="fr-FR" altLang="fr-FR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Browallia New" panose="020B0604020202020204" pitchFamily="34" charset="-34"/>
                                  </a:rPr>
                                  <m:t>𝒖</m:t>
                                </m:r>
                                <m:d>
                                  <m:dPr>
                                    <m:ctrlPr>
                                      <a:rPr lang="fr-FR" altLang="fr-FR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Browallia New" panose="020B0604020202020204" pitchFamily="34" charset="-34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altLang="fr-FR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Browallia New" panose="020B0604020202020204" pitchFamily="34" charset="-34"/>
                                      </a:rPr>
                                      <m:t>𝒕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fr-FR" altLang="fr-FR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Browallia New" panose="020B0604020202020204" pitchFamily="34" charset="-34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fr-FR" altLang="fr-F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Browallia New" panose="020B0604020202020204" pitchFamily="34" charset="-34"/>
                              </a:rPr>
                              <m:t>𝒅𝒕</m:t>
                            </m:r>
                          </m:e>
                        </m:nary>
                      </m:e>
                    </m:rad>
                  </m:oMath>
                </a14:m>
                <a:r>
                  <a:rPr lang="fr-FR" altLang="fr-FR" b="1" dirty="0">
                    <a:latin typeface="Bodoni MT" panose="02070603080606020203" pitchFamily="18" charset="0"/>
                    <a:cs typeface="Browallia New" panose="020B0604020202020204" pitchFamily="34" charset="-34"/>
                  </a:rPr>
                  <a:t> , </a:t>
                </a:r>
                <a:endParaRPr lang="fr-FR" altLang="fr-FR" b="1" dirty="0" smtClean="0">
                  <a:latin typeface="Bodoni MT" panose="02070603080606020203" pitchFamily="18" charset="0"/>
                  <a:cs typeface="Browallia New" panose="020B0604020202020204" pitchFamily="34" charset="-34"/>
                </a:endParaRPr>
              </a:p>
              <a:p>
                <a:pPr algn="just"/>
                <a:endParaRPr lang="fr-FR" altLang="fr-FR" b="1" dirty="0">
                  <a:latin typeface="Bodoni MT" panose="02070603080606020203" pitchFamily="18" charset="0"/>
                  <a:cs typeface="Browallia New" panose="020B0604020202020204" pitchFamily="34" charset="-34"/>
                </a:endParaRPr>
              </a:p>
              <a:p>
                <a:pPr algn="just"/>
                <a:r>
                  <a:rPr lang="fr-FR" altLang="fr-FR" dirty="0" smtClean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Où </a:t>
                </a:r>
                <a:r>
                  <a:rPr lang="fr-FR" altLang="fr-FR" dirty="0">
                    <a:solidFill>
                      <a:srgbClr val="FF0000"/>
                    </a:solidFill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T</a:t>
                </a:r>
                <a:r>
                  <a:rPr lang="fr-FR" altLang="fr-FR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 est la période du signal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34EFD0B-5E85-B3BC-30C0-C654F4690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061" y="3021211"/>
                <a:ext cx="5943600" cy="1210011"/>
              </a:xfrm>
              <a:prstGeom prst="rect">
                <a:avLst/>
              </a:prstGeom>
              <a:blipFill>
                <a:blip r:embed="rId3"/>
                <a:stretch>
                  <a:fillRect l="-923" b="-757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7BF23F3-E8B8-E090-A3DF-FE724AE52AC1}"/>
              </a:ext>
            </a:extLst>
          </p:cNvPr>
          <p:cNvSpPr/>
          <p:nvPr/>
        </p:nvSpPr>
        <p:spPr>
          <a:xfrm>
            <a:off x="550646" y="557613"/>
            <a:ext cx="44012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2000" b="1" spc="-5" dirty="0" smtClean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B. </a:t>
            </a:r>
            <a:r>
              <a:rPr lang="fr-FR" sz="2000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Notion de la valeurs </a:t>
            </a:r>
            <a:r>
              <a:rPr lang="fr-FR" sz="2000" b="1" spc="-5" dirty="0" smtClean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efficace </a:t>
            </a:r>
            <a:endParaRPr lang="fr-FR" sz="2000" b="1" spc="-5" dirty="0">
              <a:solidFill>
                <a:srgbClr val="00B050"/>
              </a:solidFill>
              <a:latin typeface="Bookman Old Style" panose="02050604050505020204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7460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14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4486" y="412496"/>
            <a:ext cx="53767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sz="20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2. Dipôles et Composants électriques</a:t>
            </a:r>
            <a:endParaRPr lang="fr-FR" sz="2000" dirty="0">
              <a:solidFill>
                <a:srgbClr val="CC00CC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325E06-8A90-68FD-3276-0A5C372BBE8B}"/>
              </a:ext>
            </a:extLst>
          </p:cNvPr>
          <p:cNvSpPr txBox="1"/>
          <p:nvPr/>
        </p:nvSpPr>
        <p:spPr>
          <a:xfrm>
            <a:off x="646390" y="1390335"/>
            <a:ext cx="76594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Bookman Old Style" panose="02050604050505020204" pitchFamily="18" charset="0"/>
              </a:rPr>
              <a:t>Un </a:t>
            </a:r>
            <a:r>
              <a:rPr lang="fr-FR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dipôle</a:t>
            </a:r>
            <a:r>
              <a:rPr lang="fr-FR" dirty="0">
                <a:latin typeface="Bookman Old Style" panose="02050604050505020204" pitchFamily="18" charset="0"/>
              </a:rPr>
              <a:t> est un système </a:t>
            </a:r>
            <a:r>
              <a:rPr lang="fr-FR" b="1" dirty="0">
                <a:latin typeface="Bookman Old Style" panose="02050604050505020204" pitchFamily="18" charset="0"/>
              </a:rPr>
              <a:t>accessible par deux bornes </a:t>
            </a:r>
            <a:r>
              <a:rPr lang="fr-FR" dirty="0">
                <a:latin typeface="Bookman Old Style" panose="02050604050505020204" pitchFamily="18" charset="0"/>
              </a:rPr>
              <a:t>dans lequel peut circuler un </a:t>
            </a:r>
            <a:r>
              <a:rPr lang="fr-FR" b="1" dirty="0">
                <a:latin typeface="Bookman Old Style" panose="02050604050505020204" pitchFamily="18" charset="0"/>
              </a:rPr>
              <a:t>courant électrique</a:t>
            </a:r>
            <a:r>
              <a:rPr lang="fr-FR" dirty="0">
                <a:latin typeface="Bookman Old Style" panose="02050604050505020204" pitchFamily="18" charset="0"/>
              </a:rPr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633909" y="91581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20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2.1 Dipôle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069C8A-9B54-62E6-21F6-78E69C071FB8}"/>
              </a:ext>
            </a:extLst>
          </p:cNvPr>
          <p:cNvSpPr/>
          <p:nvPr/>
        </p:nvSpPr>
        <p:spPr>
          <a:xfrm>
            <a:off x="3505200" y="2373813"/>
            <a:ext cx="2133600" cy="6858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0F20271-7CEC-B2F5-E802-09B12D0AD582}"/>
              </a:ext>
            </a:extLst>
          </p:cNvPr>
          <p:cNvCxnSpPr>
            <a:cxnSpLocks/>
          </p:cNvCxnSpPr>
          <p:nvPr/>
        </p:nvCxnSpPr>
        <p:spPr>
          <a:xfrm>
            <a:off x="2333432" y="2726188"/>
            <a:ext cx="117295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A222C5-159B-166E-BECD-6E1BDEB20DA2}"/>
              </a:ext>
            </a:extLst>
          </p:cNvPr>
          <p:cNvCxnSpPr>
            <a:cxnSpLocks/>
          </p:cNvCxnSpPr>
          <p:nvPr/>
        </p:nvCxnSpPr>
        <p:spPr>
          <a:xfrm>
            <a:off x="5638800" y="2734109"/>
            <a:ext cx="117295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2CFADE2-FAE4-AD86-F8A0-EBF175453202}"/>
              </a:ext>
            </a:extLst>
          </p:cNvPr>
          <p:cNvSpPr txBox="1"/>
          <p:nvPr/>
        </p:nvSpPr>
        <p:spPr>
          <a:xfrm>
            <a:off x="3962400" y="2495355"/>
            <a:ext cx="121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dipôle</a:t>
            </a:r>
            <a:endParaRPr lang="fr-FR" dirty="0"/>
          </a:p>
        </p:txBody>
      </p:sp>
      <p:sp>
        <p:nvSpPr>
          <p:cNvPr id="27" name="Half Frame 26">
            <a:extLst>
              <a:ext uri="{FF2B5EF4-FFF2-40B4-BE49-F238E27FC236}">
                <a16:creationId xmlns:a16="http://schemas.microsoft.com/office/drawing/2014/main" id="{37860778-A9C4-691C-F4D0-E13E1392F426}"/>
              </a:ext>
            </a:extLst>
          </p:cNvPr>
          <p:cNvSpPr/>
          <p:nvPr/>
        </p:nvSpPr>
        <p:spPr>
          <a:xfrm rot="7980389">
            <a:off x="2513429" y="2643595"/>
            <a:ext cx="228600" cy="181030"/>
          </a:xfrm>
          <a:prstGeom prst="halfFram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9" name="Half Frame 28">
            <a:extLst>
              <a:ext uri="{FF2B5EF4-FFF2-40B4-BE49-F238E27FC236}">
                <a16:creationId xmlns:a16="http://schemas.microsoft.com/office/drawing/2014/main" id="{49707D92-3509-D082-7EB4-0A0F2604C3C1}"/>
              </a:ext>
            </a:extLst>
          </p:cNvPr>
          <p:cNvSpPr/>
          <p:nvPr/>
        </p:nvSpPr>
        <p:spPr>
          <a:xfrm rot="7980389">
            <a:off x="6110977" y="2644819"/>
            <a:ext cx="228600" cy="181030"/>
          </a:xfrm>
          <a:prstGeom prst="halfFram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9EC6B1-A5EF-A81A-CB81-5E1A7C8CC08F}"/>
              </a:ext>
            </a:extLst>
          </p:cNvPr>
          <p:cNvSpPr txBox="1"/>
          <p:nvPr/>
        </p:nvSpPr>
        <p:spPr>
          <a:xfrm>
            <a:off x="1439721" y="2272444"/>
            <a:ext cx="24955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latin typeface="Bookman Old Style" panose="02050604050505020204" pitchFamily="18" charset="0"/>
              </a:rPr>
              <a:t>courant </a:t>
            </a:r>
          </a:p>
          <a:p>
            <a:pPr algn="ctr"/>
            <a:endParaRPr lang="fr-FR" b="1" dirty="0">
              <a:latin typeface="Bookman Old Style" panose="02050604050505020204" pitchFamily="18" charset="0"/>
            </a:endParaRPr>
          </a:p>
          <a:p>
            <a:pPr algn="ctr"/>
            <a:r>
              <a:rPr lang="fr-FR" b="1" dirty="0">
                <a:latin typeface="Bookman Old Style" panose="02050604050505020204" pitchFamily="18" charset="0"/>
              </a:rPr>
              <a:t>électrique</a:t>
            </a:r>
            <a:endParaRPr lang="fr-FR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798D52-4D81-2FC4-8D24-17A585B6B091}"/>
              </a:ext>
            </a:extLst>
          </p:cNvPr>
          <p:cNvSpPr txBox="1"/>
          <p:nvPr/>
        </p:nvSpPr>
        <p:spPr>
          <a:xfrm>
            <a:off x="5121641" y="2225031"/>
            <a:ext cx="24955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latin typeface="Bookman Old Style" panose="02050604050505020204" pitchFamily="18" charset="0"/>
              </a:rPr>
              <a:t>courant </a:t>
            </a:r>
          </a:p>
          <a:p>
            <a:pPr algn="ctr"/>
            <a:endParaRPr lang="fr-FR" b="1" dirty="0">
              <a:latin typeface="Bookman Old Style" panose="02050604050505020204" pitchFamily="18" charset="0"/>
            </a:endParaRPr>
          </a:p>
          <a:p>
            <a:pPr algn="ctr"/>
            <a:r>
              <a:rPr lang="fr-FR" b="1" dirty="0">
                <a:latin typeface="Bookman Old Style" panose="02050604050505020204" pitchFamily="18" charset="0"/>
              </a:rPr>
              <a:t>électrique</a:t>
            </a:r>
            <a:endParaRPr lang="fr-FR" dirty="0"/>
          </a:p>
        </p:txBody>
      </p:sp>
      <p:grpSp>
        <p:nvGrpSpPr>
          <p:cNvPr id="35" name="Groupe 16">
            <a:extLst>
              <a:ext uri="{FF2B5EF4-FFF2-40B4-BE49-F238E27FC236}">
                <a16:creationId xmlns:a16="http://schemas.microsoft.com/office/drawing/2014/main" id="{7376BF48-AE49-FBB7-9B60-4E99B55CA093}"/>
              </a:ext>
            </a:extLst>
          </p:cNvPr>
          <p:cNvGrpSpPr>
            <a:grpSpLocks/>
          </p:cNvGrpSpPr>
          <p:nvPr/>
        </p:nvGrpSpPr>
        <p:grpSpPr bwMode="auto">
          <a:xfrm>
            <a:off x="3714750" y="3347069"/>
            <a:ext cx="1771650" cy="824881"/>
            <a:chOff x="3643306" y="3857628"/>
            <a:chExt cx="1714512" cy="860650"/>
          </a:xfrm>
        </p:grpSpPr>
        <p:sp>
          <p:nvSpPr>
            <p:cNvPr id="36" name="Ellipse 15">
              <a:extLst>
                <a:ext uri="{FF2B5EF4-FFF2-40B4-BE49-F238E27FC236}">
                  <a16:creationId xmlns:a16="http://schemas.microsoft.com/office/drawing/2014/main" id="{E4C7F664-50A3-4033-7748-26CC3FBA8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3306" y="3857628"/>
              <a:ext cx="1714512" cy="860650"/>
            </a:xfrm>
            <a:prstGeom prst="ellipse">
              <a:avLst/>
            </a:prstGeom>
            <a:solidFill>
              <a:srgbClr val="FFFFFF"/>
            </a:solidFill>
            <a:ln w="3810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37" name="ZoneTexte 14">
              <a:extLst>
                <a:ext uri="{FF2B5EF4-FFF2-40B4-BE49-F238E27FC236}">
                  <a16:creationId xmlns:a16="http://schemas.microsoft.com/office/drawing/2014/main" id="{5F282D85-304A-626E-DC58-16E761C5B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3626" y="3968857"/>
              <a:ext cx="1049710" cy="6463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fr-FR" altLang="fr-FR" sz="1800" b="1" dirty="0">
                  <a:latin typeface="Bookman Old Style" panose="02050604050505020204" pitchFamily="18" charset="0"/>
                  <a:cs typeface="Browallia New" panose="020B0604020202020204" pitchFamily="34" charset="-34"/>
                </a:rPr>
                <a:t>Dipôles</a:t>
              </a:r>
            </a:p>
          </p:txBody>
        </p:sp>
      </p:grpSp>
      <p:grpSp>
        <p:nvGrpSpPr>
          <p:cNvPr id="38" name="Groupe 23">
            <a:extLst>
              <a:ext uri="{FF2B5EF4-FFF2-40B4-BE49-F238E27FC236}">
                <a16:creationId xmlns:a16="http://schemas.microsoft.com/office/drawing/2014/main" id="{D4C5436F-6C7D-A52A-E9E6-2C4C01B10A1C}"/>
              </a:ext>
            </a:extLst>
          </p:cNvPr>
          <p:cNvGrpSpPr/>
          <p:nvPr/>
        </p:nvGrpSpPr>
        <p:grpSpPr>
          <a:xfrm>
            <a:off x="646390" y="3802310"/>
            <a:ext cx="2571768" cy="928694"/>
            <a:chOff x="1214414" y="4929198"/>
            <a:chExt cx="2571768" cy="928694"/>
          </a:xfrm>
          <a:solidFill>
            <a:srgbClr val="00FFFF"/>
          </a:solidFill>
        </p:grpSpPr>
        <p:sp>
          <p:nvSpPr>
            <p:cNvPr id="39" name="Ellipse 18">
              <a:extLst>
                <a:ext uri="{FF2B5EF4-FFF2-40B4-BE49-F238E27FC236}">
                  <a16:creationId xmlns:a16="http://schemas.microsoft.com/office/drawing/2014/main" id="{25676103-3153-ACFC-0F6D-D631D10A7734}"/>
                </a:ext>
              </a:extLst>
            </p:cNvPr>
            <p:cNvSpPr/>
            <p:nvPr/>
          </p:nvSpPr>
          <p:spPr bwMode="auto">
            <a:xfrm>
              <a:off x="1214414" y="4929198"/>
              <a:ext cx="2571768" cy="92869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40" name="ZoneTexte 19">
              <a:extLst>
                <a:ext uri="{FF2B5EF4-FFF2-40B4-BE49-F238E27FC236}">
                  <a16:creationId xmlns:a16="http://schemas.microsoft.com/office/drawing/2014/main" id="{FBB3D0FD-8F5E-5229-00F3-8FE5592750DA}"/>
                </a:ext>
              </a:extLst>
            </p:cNvPr>
            <p:cNvSpPr txBox="1"/>
            <p:nvPr/>
          </p:nvSpPr>
          <p:spPr>
            <a:xfrm>
              <a:off x="1893075" y="5072074"/>
              <a:ext cx="1393041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fr-FR" b="1" dirty="0">
                  <a:latin typeface="Bookman Old Style" panose="02050604050505020204" pitchFamily="18" charset="0"/>
                  <a:cs typeface="Browallia New" pitchFamily="34" charset="-34"/>
                </a:rPr>
                <a:t>Dipôles actifs</a:t>
              </a:r>
            </a:p>
          </p:txBody>
        </p:sp>
      </p:grpSp>
      <p:grpSp>
        <p:nvGrpSpPr>
          <p:cNvPr id="41" name="Groupe 24">
            <a:extLst>
              <a:ext uri="{FF2B5EF4-FFF2-40B4-BE49-F238E27FC236}">
                <a16:creationId xmlns:a16="http://schemas.microsoft.com/office/drawing/2014/main" id="{B1D9B470-E416-04A9-B495-D943C95CAC68}"/>
              </a:ext>
            </a:extLst>
          </p:cNvPr>
          <p:cNvGrpSpPr/>
          <p:nvPr/>
        </p:nvGrpSpPr>
        <p:grpSpPr>
          <a:xfrm>
            <a:off x="6130567" y="3657439"/>
            <a:ext cx="2342234" cy="1037641"/>
            <a:chOff x="1214414" y="4929198"/>
            <a:chExt cx="2571768" cy="928694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2" name="Ellipse 25">
              <a:extLst>
                <a:ext uri="{FF2B5EF4-FFF2-40B4-BE49-F238E27FC236}">
                  <a16:creationId xmlns:a16="http://schemas.microsoft.com/office/drawing/2014/main" id="{D3650659-C82B-7280-2232-FF1349433F22}"/>
                </a:ext>
              </a:extLst>
            </p:cNvPr>
            <p:cNvSpPr/>
            <p:nvPr/>
          </p:nvSpPr>
          <p:spPr bwMode="auto">
            <a:xfrm>
              <a:off x="1214414" y="4929198"/>
              <a:ext cx="2571768" cy="928694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fr-FR" dirty="0"/>
            </a:p>
          </p:txBody>
        </p:sp>
        <p:sp>
          <p:nvSpPr>
            <p:cNvPr id="43" name="ZoneTexte 26">
              <a:extLst>
                <a:ext uri="{FF2B5EF4-FFF2-40B4-BE49-F238E27FC236}">
                  <a16:creationId xmlns:a16="http://schemas.microsoft.com/office/drawing/2014/main" id="{E601677A-CD5A-272C-071D-0FA3E732596F}"/>
                </a:ext>
              </a:extLst>
            </p:cNvPr>
            <p:cNvSpPr txBox="1"/>
            <p:nvPr/>
          </p:nvSpPr>
          <p:spPr>
            <a:xfrm>
              <a:off x="1893076" y="5072074"/>
              <a:ext cx="1393041" cy="578470"/>
            </a:xfrm>
            <a:prstGeom prst="rect">
              <a:avLst/>
            </a:prstGeom>
            <a:grp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fr-FR" b="1" dirty="0">
                  <a:latin typeface="Bookman Old Style" panose="02050604050505020204" pitchFamily="18" charset="0"/>
                  <a:cs typeface="Browallia New" pitchFamily="34" charset="-34"/>
                </a:rPr>
                <a:t>Dipôles passifs</a:t>
              </a:r>
            </a:p>
          </p:txBody>
        </p:sp>
      </p:grpSp>
      <p:cxnSp>
        <p:nvCxnSpPr>
          <p:cNvPr id="44" name="Connecteur droit avec flèche 28">
            <a:extLst>
              <a:ext uri="{FF2B5EF4-FFF2-40B4-BE49-F238E27FC236}">
                <a16:creationId xmlns:a16="http://schemas.microsoft.com/office/drawing/2014/main" id="{619A347D-DF01-38AC-2DD1-2B7086018C97}"/>
              </a:ext>
            </a:extLst>
          </p:cNvPr>
          <p:cNvCxnSpPr>
            <a:cxnSpLocks noChangeShapeType="1"/>
            <a:stCxn id="36" idx="2"/>
          </p:cNvCxnSpPr>
          <p:nvPr/>
        </p:nvCxnSpPr>
        <p:spPr bwMode="auto">
          <a:xfrm flipH="1">
            <a:off x="2895600" y="3759510"/>
            <a:ext cx="819150" cy="201923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Connecteur droit avec flèche 29">
            <a:extLst>
              <a:ext uri="{FF2B5EF4-FFF2-40B4-BE49-F238E27FC236}">
                <a16:creationId xmlns:a16="http://schemas.microsoft.com/office/drawing/2014/main" id="{EAD4248D-0B8F-131A-0598-8CE6D019E345}"/>
              </a:ext>
            </a:extLst>
          </p:cNvPr>
          <p:cNvCxnSpPr>
            <a:cxnSpLocks noChangeShapeType="1"/>
            <a:stCxn id="36" idx="6"/>
          </p:cNvCxnSpPr>
          <p:nvPr/>
        </p:nvCxnSpPr>
        <p:spPr bwMode="auto">
          <a:xfrm>
            <a:off x="5486400" y="3759510"/>
            <a:ext cx="838200" cy="140427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420576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15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325E06-8A90-68FD-3276-0A5C372BBE8B}"/>
              </a:ext>
            </a:extLst>
          </p:cNvPr>
          <p:cNvSpPr txBox="1"/>
          <p:nvPr/>
        </p:nvSpPr>
        <p:spPr>
          <a:xfrm>
            <a:off x="1020184" y="1764426"/>
            <a:ext cx="69808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Bookman Old Style" panose="02050604050505020204" pitchFamily="18" charset="0"/>
              </a:rPr>
              <a:t>Les </a:t>
            </a:r>
            <a:r>
              <a:rPr lang="fr-FR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dipôles passifs </a:t>
            </a:r>
            <a:r>
              <a:rPr lang="fr-FR" dirty="0">
                <a:latin typeface="Bookman Old Style" panose="02050604050505020204" pitchFamily="18" charset="0"/>
              </a:rPr>
              <a:t>sont des composants électriques qui ne génèrent pas d'énergie, mais qui en consomment ou la dissipent.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478836" y="278409"/>
            <a:ext cx="6150564" cy="104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20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2.2 Dipôles actifs et dipôles </a:t>
            </a:r>
            <a:r>
              <a:rPr lang="fr-FR" sz="2000" b="1" spc="-5" dirty="0" smtClean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passifs</a:t>
            </a: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endParaRPr lang="fr-FR" sz="2000" b="1" spc="-5" dirty="0" smtClean="0">
              <a:solidFill>
                <a:schemeClr val="accent6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2000" b="1" spc="-5" dirty="0" smtClean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      </a:t>
            </a:r>
            <a:r>
              <a:rPr lang="fr-FR" sz="2000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A. Dipôles passifs</a:t>
            </a:r>
          </a:p>
        </p:txBody>
      </p:sp>
      <p:sp>
        <p:nvSpPr>
          <p:cNvPr id="28" name="ZoneTexte 15">
            <a:extLst>
              <a:ext uri="{FF2B5EF4-FFF2-40B4-BE49-F238E27FC236}">
                <a16:creationId xmlns:a16="http://schemas.microsoft.com/office/drawing/2014/main" id="{6E9C7556-394F-D724-5C40-E362A7EBC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184" y="3091795"/>
            <a:ext cx="6500813" cy="36933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fr-FR" altLang="fr-FR" sz="1800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Exemples :</a:t>
            </a:r>
            <a:r>
              <a:rPr lang="fr-FR" altLang="fr-FR" sz="1800" b="1" dirty="0">
                <a:solidFill>
                  <a:srgbClr val="00B050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 </a:t>
            </a:r>
            <a:r>
              <a:rPr lang="fr-FR" altLang="fr-FR" sz="1800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Résistances, </a:t>
            </a:r>
            <a:r>
              <a:rPr lang="fr-FR" altLang="fr-FR" sz="1800" dirty="0" smtClean="0">
                <a:latin typeface="Bookman Old Style" panose="02050604050505020204" pitchFamily="18" charset="0"/>
                <a:cs typeface="Browallia New" panose="020B0604020202020204" pitchFamily="34" charset="-34"/>
              </a:rPr>
              <a:t>condensateurs, bobines </a:t>
            </a:r>
            <a:r>
              <a:rPr lang="fr-FR" altLang="fr-FR" sz="1800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2158512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16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240546-A271-41BC-D013-8FA89A800094}"/>
              </a:ext>
            </a:extLst>
          </p:cNvPr>
          <p:cNvSpPr txBox="1"/>
          <p:nvPr/>
        </p:nvSpPr>
        <p:spPr>
          <a:xfrm>
            <a:off x="685800" y="1504950"/>
            <a:ext cx="701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Bookman Old Style" panose="02050604050505020204" pitchFamily="18" charset="0"/>
              </a:rPr>
              <a:t>Les </a:t>
            </a:r>
            <a:r>
              <a:rPr lang="fr-FR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dipôles actifs </a:t>
            </a:r>
            <a:r>
              <a:rPr lang="fr-FR" dirty="0">
                <a:latin typeface="Bookman Old Style" panose="02050604050505020204" pitchFamily="18" charset="0"/>
              </a:rPr>
              <a:t>sont des composants électriques qui peuvent produire ou amplifier de l'énergie. Ils nécessitent une source d'alimentation externe.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1DCDC1-C570-EA45-6C67-1FB1ECEF471E}"/>
              </a:ext>
            </a:extLst>
          </p:cNvPr>
          <p:cNvSpPr txBox="1"/>
          <p:nvPr/>
        </p:nvSpPr>
        <p:spPr>
          <a:xfrm>
            <a:off x="461714" y="514350"/>
            <a:ext cx="4588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spc="-5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B. Dipôles actifs</a:t>
            </a:r>
          </a:p>
        </p:txBody>
      </p:sp>
      <p:sp>
        <p:nvSpPr>
          <p:cNvPr id="53" name="ZoneTexte 15">
            <a:extLst>
              <a:ext uri="{FF2B5EF4-FFF2-40B4-BE49-F238E27FC236}">
                <a16:creationId xmlns:a16="http://schemas.microsoft.com/office/drawing/2014/main" id="{2D2A3F72-3B2F-9F1E-D7C0-2770C37BE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842" y="3018770"/>
            <a:ext cx="6954358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fr-FR" altLang="fr-FR" sz="1800" b="1" dirty="0">
                <a:solidFill>
                  <a:srgbClr val="00B050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Exemples : </a:t>
            </a:r>
            <a:r>
              <a:rPr lang="fr-FR" altLang="fr-FR" sz="1800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Piles, Accumulateurs, Transistor ….</a:t>
            </a:r>
          </a:p>
        </p:txBody>
      </p:sp>
    </p:spTree>
    <p:extLst>
      <p:ext uri="{BB962C8B-B14F-4D97-AF65-F5344CB8AC3E}">
        <p14:creationId xmlns:p14="http://schemas.microsoft.com/office/powerpoint/2010/main" val="1835023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0" grpId="0"/>
      <p:bldP spid="5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17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325E06-8A90-68FD-3276-0A5C372BBE8B}"/>
              </a:ext>
            </a:extLst>
          </p:cNvPr>
          <p:cNvSpPr txBox="1"/>
          <p:nvPr/>
        </p:nvSpPr>
        <p:spPr>
          <a:xfrm>
            <a:off x="594408" y="1181350"/>
            <a:ext cx="73303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Bookman Old Style" panose="02050604050505020204" pitchFamily="18" charset="0"/>
              </a:rPr>
              <a:t>La </a:t>
            </a:r>
            <a:r>
              <a:rPr lang="fr-FR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loi d'Ohm </a:t>
            </a:r>
            <a:r>
              <a:rPr lang="fr-FR" dirty="0">
                <a:latin typeface="Bookman Old Style" panose="02050604050505020204" pitchFamily="18" charset="0"/>
              </a:rPr>
              <a:t>dit que la tension</a:t>
            </a:r>
            <a:r>
              <a:rPr lang="fr-FR" b="1" dirty="0">
                <a:latin typeface="Bookman Old Style" panose="02050604050505020204" pitchFamily="18" charset="0"/>
              </a:rPr>
              <a:t> (V) </a:t>
            </a:r>
            <a:r>
              <a:rPr lang="fr-FR" dirty="0">
                <a:latin typeface="Bookman Old Style" panose="02050604050505020204" pitchFamily="18" charset="0"/>
              </a:rPr>
              <a:t>appliquée entre deux points d'un conducteur, </a:t>
            </a:r>
            <a:r>
              <a:rPr lang="fr-FR" b="1" dirty="0">
                <a:latin typeface="Bookman Old Style" panose="02050604050505020204" pitchFamily="18" charset="0"/>
              </a:rPr>
              <a:t>A</a:t>
            </a:r>
            <a:r>
              <a:rPr lang="fr-FR" dirty="0">
                <a:latin typeface="Bookman Old Style" panose="02050604050505020204" pitchFamily="18" charset="0"/>
              </a:rPr>
              <a:t> et </a:t>
            </a:r>
            <a:r>
              <a:rPr lang="fr-FR" b="1" dirty="0">
                <a:latin typeface="Bookman Old Style" panose="02050604050505020204" pitchFamily="18" charset="0"/>
              </a:rPr>
              <a:t>B</a:t>
            </a:r>
            <a:r>
              <a:rPr lang="fr-FR" dirty="0">
                <a:latin typeface="Bookman Old Style" panose="02050604050505020204" pitchFamily="18" charset="0"/>
              </a:rPr>
              <a:t>, est </a:t>
            </a:r>
            <a:r>
              <a:rPr lang="fr-FR" b="1" dirty="0">
                <a:latin typeface="Bookman Old Style" panose="02050604050505020204" pitchFamily="18" charset="0"/>
              </a:rPr>
              <a:t>proportionnelle</a:t>
            </a:r>
            <a:r>
              <a:rPr lang="fr-FR" dirty="0">
                <a:latin typeface="Bookman Old Style" panose="02050604050505020204" pitchFamily="18" charset="0"/>
              </a:rPr>
              <a:t> au courant </a:t>
            </a:r>
            <a:r>
              <a:rPr lang="fr-FR" b="1" dirty="0">
                <a:latin typeface="Bookman Old Style" panose="02050604050505020204" pitchFamily="18" charset="0"/>
              </a:rPr>
              <a:t>(I) </a:t>
            </a:r>
            <a:r>
              <a:rPr lang="fr-FR" dirty="0">
                <a:latin typeface="Bookman Old Style" panose="02050604050505020204" pitchFamily="18" charset="0"/>
              </a:rPr>
              <a:t>qui le traverse.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572147" y="34021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2.3 </a:t>
            </a:r>
            <a:r>
              <a:rPr lang="fr-FR" altLang="fr-FR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Loi d’Ohm </a:t>
            </a:r>
            <a:endParaRPr lang="fr-FR" b="1" spc="-5" dirty="0">
              <a:solidFill>
                <a:srgbClr val="0070C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74E561-D449-93F1-AD2E-282CA8832D61}"/>
              </a:ext>
            </a:extLst>
          </p:cNvPr>
          <p:cNvSpPr txBox="1"/>
          <p:nvPr/>
        </p:nvSpPr>
        <p:spPr>
          <a:xfrm>
            <a:off x="572147" y="3562350"/>
            <a:ext cx="82968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Le rapport, entre la </a:t>
            </a:r>
            <a:r>
              <a:rPr lang="fr-FR" altLang="fr-FR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différence de potentiel (V)</a:t>
            </a:r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 aux extrémités d’un conducteur et le </a:t>
            </a:r>
            <a:r>
              <a:rPr lang="fr-FR" altLang="fr-FR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courant</a:t>
            </a:r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 </a:t>
            </a:r>
            <a:r>
              <a:rPr lang="fr-FR" altLang="fr-FR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(I) </a:t>
            </a:r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qui le traverse, est </a:t>
            </a:r>
            <a:r>
              <a:rPr lang="fr-FR" altLang="fr-FR" b="1" dirty="0">
                <a:solidFill>
                  <a:srgbClr val="0000FF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constant</a:t>
            </a:r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.</a:t>
            </a:r>
            <a:endParaRPr lang="fr-FR" altLang="fr-FR" b="1" dirty="0">
              <a:solidFill>
                <a:srgbClr val="0000FF"/>
              </a:solidFill>
              <a:latin typeface="Bookman Old Style" panose="02050604050505020204" pitchFamily="18" charset="0"/>
              <a:cs typeface="Browallia New" panose="020B0604020202020204" pitchFamily="34" charset="-34"/>
            </a:endParaRPr>
          </a:p>
        </p:txBody>
      </p:sp>
      <p:sp>
        <p:nvSpPr>
          <p:cNvPr id="3" name="object 15">
            <a:extLst>
              <a:ext uri="{FF2B5EF4-FFF2-40B4-BE49-F238E27FC236}">
                <a16:creationId xmlns:a16="http://schemas.microsoft.com/office/drawing/2014/main" id="{0E8E9885-E66D-05CB-2B52-01F65C23B02D}"/>
              </a:ext>
            </a:extLst>
          </p:cNvPr>
          <p:cNvSpPr txBox="1"/>
          <p:nvPr/>
        </p:nvSpPr>
        <p:spPr>
          <a:xfrm>
            <a:off x="2362200" y="2502516"/>
            <a:ext cx="1247140" cy="337272"/>
          </a:xfrm>
          <a:prstGeom prst="rect">
            <a:avLst/>
          </a:prstGeom>
          <a:noFill/>
          <a:ln w="38100">
            <a:noFill/>
          </a:ln>
        </p:spPr>
        <p:txBody>
          <a:bodyPr vert="horz" wrap="square" lIns="0" tIns="59690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470"/>
              </a:spcBef>
            </a:pPr>
            <a:r>
              <a:rPr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V</a:t>
            </a:r>
            <a:r>
              <a:rPr b="1" spc="8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b="1" spc="8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=</a:t>
            </a:r>
            <a:r>
              <a:rPr spc="9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R</a:t>
            </a:r>
            <a:r>
              <a:rPr lang="fr-FR" b="1" spc="35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.</a:t>
            </a:r>
            <a:r>
              <a:rPr b="1" spc="-6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I</a:t>
            </a:r>
            <a:endParaRPr dirty="0">
              <a:solidFill>
                <a:srgbClr val="FF0000"/>
              </a:solidFill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7" name="object 38">
            <a:extLst>
              <a:ext uri="{FF2B5EF4-FFF2-40B4-BE49-F238E27FC236}">
                <a16:creationId xmlns:a16="http://schemas.microsoft.com/office/drawing/2014/main" id="{AACB9E4E-86C5-E793-9836-A3E8CF520DC7}"/>
              </a:ext>
            </a:extLst>
          </p:cNvPr>
          <p:cNvSpPr txBox="1"/>
          <p:nvPr/>
        </p:nvSpPr>
        <p:spPr>
          <a:xfrm>
            <a:off x="5093783" y="2605698"/>
            <a:ext cx="208677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Bookman Old Style" panose="02050604050505020204" pitchFamily="18" charset="0"/>
                <a:cs typeface="Times New Roman"/>
              </a:rPr>
              <a:t>V</a:t>
            </a:r>
            <a:r>
              <a:rPr b="1" spc="-8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dirty="0">
                <a:latin typeface="Bookman Old Style" panose="02050604050505020204" pitchFamily="18" charset="0"/>
                <a:cs typeface="Times New Roman"/>
              </a:rPr>
              <a:t>=</a:t>
            </a:r>
            <a:r>
              <a:rPr b="1" spc="-7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spc="-245" dirty="0">
                <a:latin typeface="Bookman Old Style" panose="02050604050505020204" pitchFamily="18" charset="0"/>
                <a:cs typeface="Times New Roman"/>
              </a:rPr>
              <a:t>V</a:t>
            </a:r>
            <a:r>
              <a:rPr b="1" spc="-367" baseline="-11574" dirty="0">
                <a:latin typeface="Bookman Old Style" panose="02050604050505020204" pitchFamily="18" charset="0"/>
                <a:cs typeface="Times New Roman"/>
              </a:rPr>
              <a:t>A</a:t>
            </a:r>
            <a:r>
              <a:rPr lang="fr-FR" b="1" spc="-367" baseline="-11574" dirty="0">
                <a:latin typeface="Bookman Old Style" panose="02050604050505020204" pitchFamily="18" charset="0"/>
                <a:cs typeface="Times New Roman"/>
              </a:rPr>
              <a:t>     </a:t>
            </a:r>
            <a:r>
              <a:rPr b="1" spc="-202" baseline="-11574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dirty="0">
                <a:latin typeface="Bookman Old Style" panose="02050604050505020204" pitchFamily="18" charset="0"/>
                <a:cs typeface="Times New Roman"/>
              </a:rPr>
              <a:t>-</a:t>
            </a:r>
            <a:r>
              <a:rPr b="1" spc="-7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spc="-35" dirty="0">
                <a:latin typeface="Bookman Old Style" panose="02050604050505020204" pitchFamily="18" charset="0"/>
                <a:cs typeface="Times New Roman"/>
              </a:rPr>
              <a:t>V</a:t>
            </a:r>
            <a:r>
              <a:rPr b="1" spc="-52" baseline="-11574" dirty="0">
                <a:latin typeface="Bookman Old Style" panose="02050604050505020204" pitchFamily="18" charset="0"/>
                <a:cs typeface="Times New Roman"/>
              </a:rPr>
              <a:t>B</a:t>
            </a:r>
            <a:endParaRPr baseline="-11574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B50654-DA70-89C7-05E7-78BCEEA046D6}"/>
              </a:ext>
            </a:extLst>
          </p:cNvPr>
          <p:cNvSpPr txBox="1"/>
          <p:nvPr/>
        </p:nvSpPr>
        <p:spPr>
          <a:xfrm>
            <a:off x="4181667" y="2583418"/>
            <a:ext cx="951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Avec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620211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18</a:t>
            </a:fld>
            <a:endParaRPr sz="2400" dirty="0">
              <a:latin typeface="Arial"/>
              <a:cs typeface="Arial"/>
            </a:endParaRPr>
          </a:p>
        </p:txBody>
      </p:sp>
      <p:grpSp>
        <p:nvGrpSpPr>
          <p:cNvPr id="23" name="object 19">
            <a:extLst>
              <a:ext uri="{FF2B5EF4-FFF2-40B4-BE49-F238E27FC236}">
                <a16:creationId xmlns:a16="http://schemas.microsoft.com/office/drawing/2014/main" id="{15480DB7-6E5F-0C52-AA56-D08048F44678}"/>
              </a:ext>
            </a:extLst>
          </p:cNvPr>
          <p:cNvGrpSpPr/>
          <p:nvPr/>
        </p:nvGrpSpPr>
        <p:grpSpPr>
          <a:xfrm>
            <a:off x="3553841" y="2430400"/>
            <a:ext cx="2309495" cy="1185545"/>
            <a:chOff x="1043813" y="3229229"/>
            <a:chExt cx="2309495" cy="1185545"/>
          </a:xfrm>
        </p:grpSpPr>
        <p:sp>
          <p:nvSpPr>
            <p:cNvPr id="24" name="object 20">
              <a:extLst>
                <a:ext uri="{FF2B5EF4-FFF2-40B4-BE49-F238E27FC236}">
                  <a16:creationId xmlns:a16="http://schemas.microsoft.com/office/drawing/2014/main" id="{1BC6249B-8D08-9644-8D35-4258D6E7F68D}"/>
                </a:ext>
              </a:extLst>
            </p:cNvPr>
            <p:cNvSpPr/>
            <p:nvPr/>
          </p:nvSpPr>
          <p:spPr>
            <a:xfrm>
              <a:off x="1058418" y="3243834"/>
              <a:ext cx="2273935" cy="1156335"/>
            </a:xfrm>
            <a:custGeom>
              <a:avLst/>
              <a:gdLst/>
              <a:ahLst/>
              <a:cxnLst/>
              <a:rect l="l" t="t" r="r" b="b"/>
              <a:pathLst>
                <a:path w="2273935" h="1156335">
                  <a:moveTo>
                    <a:pt x="197154" y="0"/>
                  </a:moveTo>
                  <a:lnTo>
                    <a:pt x="242315" y="15240"/>
                  </a:lnTo>
                  <a:lnTo>
                    <a:pt x="283844" y="58801"/>
                  </a:lnTo>
                  <a:lnTo>
                    <a:pt x="320420" y="127000"/>
                  </a:lnTo>
                  <a:lnTo>
                    <a:pt x="336550" y="169291"/>
                  </a:lnTo>
                  <a:lnTo>
                    <a:pt x="351028" y="216535"/>
                  </a:lnTo>
                  <a:lnTo>
                    <a:pt x="363600" y="268224"/>
                  </a:lnTo>
                  <a:lnTo>
                    <a:pt x="374269" y="323850"/>
                  </a:lnTo>
                  <a:lnTo>
                    <a:pt x="382778" y="383159"/>
                  </a:lnTo>
                  <a:lnTo>
                    <a:pt x="389128" y="445643"/>
                  </a:lnTo>
                  <a:lnTo>
                    <a:pt x="392938" y="510794"/>
                  </a:lnTo>
                  <a:lnTo>
                    <a:pt x="394334" y="578231"/>
                  </a:lnTo>
                  <a:lnTo>
                    <a:pt x="392938" y="645591"/>
                  </a:lnTo>
                  <a:lnTo>
                    <a:pt x="389128" y="710742"/>
                  </a:lnTo>
                  <a:lnTo>
                    <a:pt x="382778" y="773163"/>
                  </a:lnTo>
                  <a:lnTo>
                    <a:pt x="374269" y="832434"/>
                  </a:lnTo>
                  <a:lnTo>
                    <a:pt x="363600" y="888123"/>
                  </a:lnTo>
                  <a:lnTo>
                    <a:pt x="351028" y="939787"/>
                  </a:lnTo>
                  <a:lnTo>
                    <a:pt x="336550" y="986993"/>
                  </a:lnTo>
                  <a:lnTo>
                    <a:pt x="320420" y="1029322"/>
                  </a:lnTo>
                  <a:lnTo>
                    <a:pt x="302894" y="1066330"/>
                  </a:lnTo>
                  <a:lnTo>
                    <a:pt x="263651" y="1122629"/>
                  </a:lnTo>
                  <a:lnTo>
                    <a:pt x="220090" y="1152448"/>
                  </a:lnTo>
                  <a:lnTo>
                    <a:pt x="197154" y="1156335"/>
                  </a:lnTo>
                  <a:lnTo>
                    <a:pt x="174155" y="1152448"/>
                  </a:lnTo>
                  <a:lnTo>
                    <a:pt x="130657" y="1122629"/>
                  </a:lnTo>
                  <a:lnTo>
                    <a:pt x="91465" y="1066330"/>
                  </a:lnTo>
                  <a:lnTo>
                    <a:pt x="73837" y="1029322"/>
                  </a:lnTo>
                  <a:lnTo>
                    <a:pt x="57746" y="986993"/>
                  </a:lnTo>
                  <a:lnTo>
                    <a:pt x="43306" y="939787"/>
                  </a:lnTo>
                  <a:lnTo>
                    <a:pt x="30695" y="888123"/>
                  </a:lnTo>
                  <a:lnTo>
                    <a:pt x="20040" y="832434"/>
                  </a:lnTo>
                  <a:lnTo>
                    <a:pt x="11493" y="773163"/>
                  </a:lnTo>
                  <a:lnTo>
                    <a:pt x="5206" y="710742"/>
                  </a:lnTo>
                  <a:lnTo>
                    <a:pt x="1320" y="645591"/>
                  </a:lnTo>
                  <a:lnTo>
                    <a:pt x="0" y="578231"/>
                  </a:lnTo>
                  <a:lnTo>
                    <a:pt x="1320" y="510794"/>
                  </a:lnTo>
                  <a:lnTo>
                    <a:pt x="5206" y="445643"/>
                  </a:lnTo>
                  <a:lnTo>
                    <a:pt x="11493" y="383159"/>
                  </a:lnTo>
                  <a:lnTo>
                    <a:pt x="20040" y="323850"/>
                  </a:lnTo>
                  <a:lnTo>
                    <a:pt x="30695" y="268224"/>
                  </a:lnTo>
                  <a:lnTo>
                    <a:pt x="43306" y="216535"/>
                  </a:lnTo>
                  <a:lnTo>
                    <a:pt x="57746" y="169291"/>
                  </a:lnTo>
                  <a:lnTo>
                    <a:pt x="73837" y="127000"/>
                  </a:lnTo>
                  <a:lnTo>
                    <a:pt x="91465" y="90043"/>
                  </a:lnTo>
                  <a:lnTo>
                    <a:pt x="130657" y="33655"/>
                  </a:lnTo>
                  <a:lnTo>
                    <a:pt x="174155" y="3937"/>
                  </a:lnTo>
                  <a:lnTo>
                    <a:pt x="197154" y="0"/>
                  </a:lnTo>
                  <a:close/>
                </a:path>
                <a:path w="2273935" h="1156335">
                  <a:moveTo>
                    <a:pt x="197154" y="0"/>
                  </a:moveTo>
                  <a:lnTo>
                    <a:pt x="2076577" y="0"/>
                  </a:lnTo>
                  <a:lnTo>
                    <a:pt x="2099564" y="3937"/>
                  </a:lnTo>
                  <a:lnTo>
                    <a:pt x="2142998" y="33655"/>
                  </a:lnTo>
                  <a:lnTo>
                    <a:pt x="2182241" y="90043"/>
                  </a:lnTo>
                  <a:lnTo>
                    <a:pt x="2199767" y="127000"/>
                  </a:lnTo>
                  <a:lnTo>
                    <a:pt x="2215896" y="169291"/>
                  </a:lnTo>
                  <a:lnTo>
                    <a:pt x="2230373" y="216535"/>
                  </a:lnTo>
                  <a:lnTo>
                    <a:pt x="2242947" y="268224"/>
                  </a:lnTo>
                  <a:lnTo>
                    <a:pt x="2253615" y="323850"/>
                  </a:lnTo>
                  <a:lnTo>
                    <a:pt x="2262123" y="383159"/>
                  </a:lnTo>
                  <a:lnTo>
                    <a:pt x="2268473" y="445643"/>
                  </a:lnTo>
                  <a:lnTo>
                    <a:pt x="2272284" y="510794"/>
                  </a:lnTo>
                  <a:lnTo>
                    <a:pt x="2273681" y="578231"/>
                  </a:lnTo>
                  <a:lnTo>
                    <a:pt x="2272284" y="645591"/>
                  </a:lnTo>
                  <a:lnTo>
                    <a:pt x="2268473" y="710742"/>
                  </a:lnTo>
                  <a:lnTo>
                    <a:pt x="2262123" y="773163"/>
                  </a:lnTo>
                  <a:lnTo>
                    <a:pt x="2253615" y="832434"/>
                  </a:lnTo>
                  <a:lnTo>
                    <a:pt x="2242947" y="888123"/>
                  </a:lnTo>
                  <a:lnTo>
                    <a:pt x="2230373" y="939787"/>
                  </a:lnTo>
                  <a:lnTo>
                    <a:pt x="2215896" y="986993"/>
                  </a:lnTo>
                  <a:lnTo>
                    <a:pt x="2199767" y="1029322"/>
                  </a:lnTo>
                  <a:lnTo>
                    <a:pt x="2182241" y="1066330"/>
                  </a:lnTo>
                  <a:lnTo>
                    <a:pt x="2142998" y="1122629"/>
                  </a:lnTo>
                  <a:lnTo>
                    <a:pt x="2099564" y="1152448"/>
                  </a:lnTo>
                  <a:lnTo>
                    <a:pt x="2076577" y="1156335"/>
                  </a:lnTo>
                  <a:lnTo>
                    <a:pt x="197154" y="1156335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1">
              <a:extLst>
                <a:ext uri="{FF2B5EF4-FFF2-40B4-BE49-F238E27FC236}">
                  <a16:creationId xmlns:a16="http://schemas.microsoft.com/office/drawing/2014/main" id="{FD04D7B4-055D-BE0B-E30D-92162F00AC17}"/>
                </a:ext>
              </a:extLst>
            </p:cNvPr>
            <p:cNvSpPr/>
            <p:nvPr/>
          </p:nvSpPr>
          <p:spPr>
            <a:xfrm>
              <a:off x="2871977" y="3243834"/>
              <a:ext cx="471170" cy="1156335"/>
            </a:xfrm>
            <a:custGeom>
              <a:avLst/>
              <a:gdLst/>
              <a:ahLst/>
              <a:cxnLst/>
              <a:rect l="l" t="t" r="r" b="b"/>
              <a:pathLst>
                <a:path w="471170" h="1156335">
                  <a:moveTo>
                    <a:pt x="235331" y="1156335"/>
                  </a:moveTo>
                  <a:lnTo>
                    <a:pt x="181356" y="1141069"/>
                  </a:lnTo>
                  <a:lnTo>
                    <a:pt x="131826" y="1097572"/>
                  </a:lnTo>
                  <a:lnTo>
                    <a:pt x="109220" y="1066317"/>
                  </a:lnTo>
                  <a:lnTo>
                    <a:pt x="88138" y="1029322"/>
                  </a:lnTo>
                  <a:lnTo>
                    <a:pt x="68961" y="986993"/>
                  </a:lnTo>
                  <a:lnTo>
                    <a:pt x="51689" y="939787"/>
                  </a:lnTo>
                  <a:lnTo>
                    <a:pt x="36703" y="888123"/>
                  </a:lnTo>
                  <a:lnTo>
                    <a:pt x="23876" y="832434"/>
                  </a:lnTo>
                  <a:lnTo>
                    <a:pt x="13716" y="773163"/>
                  </a:lnTo>
                  <a:lnTo>
                    <a:pt x="6223" y="710742"/>
                  </a:lnTo>
                  <a:lnTo>
                    <a:pt x="1524" y="645591"/>
                  </a:lnTo>
                  <a:lnTo>
                    <a:pt x="0" y="578231"/>
                  </a:lnTo>
                  <a:lnTo>
                    <a:pt x="1524" y="510794"/>
                  </a:lnTo>
                  <a:lnTo>
                    <a:pt x="6223" y="445643"/>
                  </a:lnTo>
                  <a:lnTo>
                    <a:pt x="13716" y="383159"/>
                  </a:lnTo>
                  <a:lnTo>
                    <a:pt x="23876" y="323850"/>
                  </a:lnTo>
                  <a:lnTo>
                    <a:pt x="36703" y="268224"/>
                  </a:lnTo>
                  <a:lnTo>
                    <a:pt x="51689" y="216535"/>
                  </a:lnTo>
                  <a:lnTo>
                    <a:pt x="68961" y="169291"/>
                  </a:lnTo>
                  <a:lnTo>
                    <a:pt x="88138" y="127000"/>
                  </a:lnTo>
                  <a:lnTo>
                    <a:pt x="109220" y="90043"/>
                  </a:lnTo>
                  <a:lnTo>
                    <a:pt x="131826" y="58801"/>
                  </a:lnTo>
                  <a:lnTo>
                    <a:pt x="181356" y="15240"/>
                  </a:lnTo>
                  <a:lnTo>
                    <a:pt x="235331" y="0"/>
                  </a:lnTo>
                  <a:lnTo>
                    <a:pt x="262763" y="3937"/>
                  </a:lnTo>
                  <a:lnTo>
                    <a:pt x="314706" y="33655"/>
                  </a:lnTo>
                  <a:lnTo>
                    <a:pt x="361569" y="90043"/>
                  </a:lnTo>
                  <a:lnTo>
                    <a:pt x="382524" y="127000"/>
                  </a:lnTo>
                  <a:lnTo>
                    <a:pt x="401827" y="169291"/>
                  </a:lnTo>
                  <a:lnTo>
                    <a:pt x="418973" y="216535"/>
                  </a:lnTo>
                  <a:lnTo>
                    <a:pt x="434086" y="268224"/>
                  </a:lnTo>
                  <a:lnTo>
                    <a:pt x="446786" y="323850"/>
                  </a:lnTo>
                  <a:lnTo>
                    <a:pt x="456946" y="383159"/>
                  </a:lnTo>
                  <a:lnTo>
                    <a:pt x="464566" y="445643"/>
                  </a:lnTo>
                  <a:lnTo>
                    <a:pt x="469138" y="510794"/>
                  </a:lnTo>
                  <a:lnTo>
                    <a:pt x="470788" y="578231"/>
                  </a:lnTo>
                  <a:lnTo>
                    <a:pt x="469138" y="645591"/>
                  </a:lnTo>
                  <a:lnTo>
                    <a:pt x="464566" y="710742"/>
                  </a:lnTo>
                  <a:lnTo>
                    <a:pt x="456946" y="773163"/>
                  </a:lnTo>
                  <a:lnTo>
                    <a:pt x="446786" y="832434"/>
                  </a:lnTo>
                  <a:lnTo>
                    <a:pt x="434086" y="888123"/>
                  </a:lnTo>
                  <a:lnTo>
                    <a:pt x="418973" y="939787"/>
                  </a:lnTo>
                  <a:lnTo>
                    <a:pt x="401827" y="986993"/>
                  </a:lnTo>
                  <a:lnTo>
                    <a:pt x="382524" y="1029322"/>
                  </a:lnTo>
                  <a:lnTo>
                    <a:pt x="361569" y="1066317"/>
                  </a:lnTo>
                  <a:lnTo>
                    <a:pt x="338836" y="1097572"/>
                  </a:lnTo>
                  <a:lnTo>
                    <a:pt x="289306" y="1141069"/>
                  </a:lnTo>
                  <a:lnTo>
                    <a:pt x="235331" y="1156335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2">
              <a:extLst>
                <a:ext uri="{FF2B5EF4-FFF2-40B4-BE49-F238E27FC236}">
                  <a16:creationId xmlns:a16="http://schemas.microsoft.com/office/drawing/2014/main" id="{DC28403A-4B8D-9D2B-2938-21AC7698D3A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7384" y="3739896"/>
              <a:ext cx="134112" cy="134112"/>
            </a:xfrm>
            <a:prstGeom prst="rect">
              <a:avLst/>
            </a:prstGeom>
          </p:spPr>
        </p:pic>
        <p:pic>
          <p:nvPicPr>
            <p:cNvPr id="29" name="object 23">
              <a:extLst>
                <a:ext uri="{FF2B5EF4-FFF2-40B4-BE49-F238E27FC236}">
                  <a16:creationId xmlns:a16="http://schemas.microsoft.com/office/drawing/2014/main" id="{E35FEA33-C170-CD03-83C8-55FE910A233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5620" y="3739896"/>
              <a:ext cx="134112" cy="134112"/>
            </a:xfrm>
            <a:prstGeom prst="rect">
              <a:avLst/>
            </a:prstGeom>
          </p:spPr>
        </p:pic>
      </p:grpSp>
      <p:sp>
        <p:nvSpPr>
          <p:cNvPr id="31" name="object 24">
            <a:extLst>
              <a:ext uri="{FF2B5EF4-FFF2-40B4-BE49-F238E27FC236}">
                <a16:creationId xmlns:a16="http://schemas.microsoft.com/office/drawing/2014/main" id="{E59FF0CF-C7EC-EBE4-98E6-808D9283957E}"/>
              </a:ext>
            </a:extLst>
          </p:cNvPr>
          <p:cNvSpPr txBox="1"/>
          <p:nvPr/>
        </p:nvSpPr>
        <p:spPr>
          <a:xfrm>
            <a:off x="3639108" y="3037485"/>
            <a:ext cx="1911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0" dirty="0">
                <a:latin typeface="Times New Roman"/>
                <a:cs typeface="Times New Roman"/>
              </a:rPr>
              <a:t>A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32" name="object 25">
            <a:extLst>
              <a:ext uri="{FF2B5EF4-FFF2-40B4-BE49-F238E27FC236}">
                <a16:creationId xmlns:a16="http://schemas.microsoft.com/office/drawing/2014/main" id="{EDFA0223-4D4F-F5BC-DD80-9477120E8399}"/>
              </a:ext>
            </a:extLst>
          </p:cNvPr>
          <p:cNvSpPr txBox="1"/>
          <p:nvPr/>
        </p:nvSpPr>
        <p:spPr>
          <a:xfrm>
            <a:off x="5534025" y="3037485"/>
            <a:ext cx="178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0" dirty="0">
                <a:latin typeface="Times New Roman"/>
                <a:cs typeface="Times New Roman"/>
              </a:rPr>
              <a:t>B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34" name="object 26">
            <a:extLst>
              <a:ext uri="{FF2B5EF4-FFF2-40B4-BE49-F238E27FC236}">
                <a16:creationId xmlns:a16="http://schemas.microsoft.com/office/drawing/2014/main" id="{FC843A6C-8641-A5B2-9F3C-C1566C53F8A0}"/>
              </a:ext>
            </a:extLst>
          </p:cNvPr>
          <p:cNvSpPr txBox="1"/>
          <p:nvPr/>
        </p:nvSpPr>
        <p:spPr>
          <a:xfrm>
            <a:off x="3592982" y="2580641"/>
            <a:ext cx="321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b="1" spc="-37" baseline="-11574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endParaRPr baseline="-11574">
              <a:latin typeface="Times New Roman"/>
              <a:cs typeface="Times New Roman"/>
            </a:endParaRPr>
          </a:p>
        </p:txBody>
      </p:sp>
      <p:sp>
        <p:nvSpPr>
          <p:cNvPr id="35" name="object 27">
            <a:extLst>
              <a:ext uri="{FF2B5EF4-FFF2-40B4-BE49-F238E27FC236}">
                <a16:creationId xmlns:a16="http://schemas.microsoft.com/office/drawing/2014/main" id="{BE47DF44-7A30-B612-EB1C-5572843BB5F5}"/>
              </a:ext>
            </a:extLst>
          </p:cNvPr>
          <p:cNvSpPr txBox="1"/>
          <p:nvPr/>
        </p:nvSpPr>
        <p:spPr>
          <a:xfrm>
            <a:off x="5437885" y="2577592"/>
            <a:ext cx="34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b="1" spc="-37" baseline="-11574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endParaRPr baseline="-11574">
              <a:latin typeface="Times New Roman"/>
              <a:cs typeface="Times New Roman"/>
            </a:endParaRPr>
          </a:p>
        </p:txBody>
      </p:sp>
      <p:grpSp>
        <p:nvGrpSpPr>
          <p:cNvPr id="36" name="object 28">
            <a:extLst>
              <a:ext uri="{FF2B5EF4-FFF2-40B4-BE49-F238E27FC236}">
                <a16:creationId xmlns:a16="http://schemas.microsoft.com/office/drawing/2014/main" id="{F714D9FE-04E4-16FC-4EEB-6AB8207A9BCD}"/>
              </a:ext>
            </a:extLst>
          </p:cNvPr>
          <p:cNvGrpSpPr/>
          <p:nvPr/>
        </p:nvGrpSpPr>
        <p:grpSpPr>
          <a:xfrm>
            <a:off x="2890266" y="2942591"/>
            <a:ext cx="3555365" cy="132715"/>
            <a:chOff x="380238" y="3741420"/>
            <a:chExt cx="3555365" cy="132715"/>
          </a:xfrm>
        </p:grpSpPr>
        <p:sp>
          <p:nvSpPr>
            <p:cNvPr id="37" name="object 29">
              <a:extLst>
                <a:ext uri="{FF2B5EF4-FFF2-40B4-BE49-F238E27FC236}">
                  <a16:creationId xmlns:a16="http://schemas.microsoft.com/office/drawing/2014/main" id="{365C9CFD-B760-3009-13CD-59237E5505E6}"/>
                </a:ext>
              </a:extLst>
            </p:cNvPr>
            <p:cNvSpPr/>
            <p:nvPr/>
          </p:nvSpPr>
          <p:spPr>
            <a:xfrm>
              <a:off x="380238" y="3810762"/>
              <a:ext cx="3555365" cy="0"/>
            </a:xfrm>
            <a:custGeom>
              <a:avLst/>
              <a:gdLst/>
              <a:ahLst/>
              <a:cxnLst/>
              <a:rect l="l" t="t" r="r" b="b"/>
              <a:pathLst>
                <a:path w="3555365">
                  <a:moveTo>
                    <a:pt x="0" y="0"/>
                  </a:moveTo>
                  <a:lnTo>
                    <a:pt x="3555365" y="0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0">
              <a:extLst>
                <a:ext uri="{FF2B5EF4-FFF2-40B4-BE49-F238E27FC236}">
                  <a16:creationId xmlns:a16="http://schemas.microsoft.com/office/drawing/2014/main" id="{AA47ED33-2A12-D80E-6F40-5919BD71B41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2055" y="3741420"/>
              <a:ext cx="130428" cy="132524"/>
            </a:xfrm>
            <a:prstGeom prst="rect">
              <a:avLst/>
            </a:prstGeom>
          </p:spPr>
        </p:pic>
        <p:sp>
          <p:nvSpPr>
            <p:cNvPr id="39" name="object 31">
              <a:extLst>
                <a:ext uri="{FF2B5EF4-FFF2-40B4-BE49-F238E27FC236}">
                  <a16:creationId xmlns:a16="http://schemas.microsoft.com/office/drawing/2014/main" id="{7D84ED4A-0FCB-D1F3-3449-2FD6FA8CA1FF}"/>
                </a:ext>
              </a:extLst>
            </p:cNvPr>
            <p:cNvSpPr/>
            <p:nvPr/>
          </p:nvSpPr>
          <p:spPr>
            <a:xfrm>
              <a:off x="1967484" y="3793363"/>
              <a:ext cx="607060" cy="28575"/>
            </a:xfrm>
            <a:custGeom>
              <a:avLst/>
              <a:gdLst/>
              <a:ahLst/>
              <a:cxnLst/>
              <a:rect l="l" t="t" r="r" b="b"/>
              <a:pathLst>
                <a:path w="607060" h="28575">
                  <a:moveTo>
                    <a:pt x="606628" y="2019"/>
                  </a:moveTo>
                  <a:lnTo>
                    <a:pt x="606552" y="0"/>
                  </a:lnTo>
                  <a:lnTo>
                    <a:pt x="553720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553720" y="28575"/>
                  </a:lnTo>
                  <a:lnTo>
                    <a:pt x="578231" y="14351"/>
                  </a:lnTo>
                  <a:lnTo>
                    <a:pt x="599440" y="26670"/>
                  </a:lnTo>
                  <a:lnTo>
                    <a:pt x="606628" y="26670"/>
                  </a:lnTo>
                  <a:lnTo>
                    <a:pt x="606628" y="2019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32">
            <a:extLst>
              <a:ext uri="{FF2B5EF4-FFF2-40B4-BE49-F238E27FC236}">
                <a16:creationId xmlns:a16="http://schemas.microsoft.com/office/drawing/2014/main" id="{9986BB62-1491-5AA2-F810-77DC6916A823}"/>
              </a:ext>
            </a:extLst>
          </p:cNvPr>
          <p:cNvSpPr txBox="1"/>
          <p:nvPr/>
        </p:nvSpPr>
        <p:spPr>
          <a:xfrm>
            <a:off x="4052201" y="2159426"/>
            <a:ext cx="11925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Times New Roman"/>
                <a:cs typeface="Times New Roman"/>
              </a:rPr>
              <a:t>Conducteur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41" name="object 33">
            <a:extLst>
              <a:ext uri="{FF2B5EF4-FFF2-40B4-BE49-F238E27FC236}">
                <a16:creationId xmlns:a16="http://schemas.microsoft.com/office/drawing/2014/main" id="{FE474499-05BF-DFC9-933E-0D49E24FFA85}"/>
              </a:ext>
            </a:extLst>
          </p:cNvPr>
          <p:cNvSpPr txBox="1"/>
          <p:nvPr/>
        </p:nvSpPr>
        <p:spPr>
          <a:xfrm>
            <a:off x="2743200" y="3409950"/>
            <a:ext cx="757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b="1" spc="-250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b="1" spc="-375" baseline="-11574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b="1" spc="-202" baseline="-1157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b="1" spc="-37" baseline="-11574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endParaRPr baseline="-11574">
              <a:latin typeface="Times New Roman"/>
              <a:cs typeface="Times New Roman"/>
            </a:endParaRPr>
          </a:p>
        </p:txBody>
      </p:sp>
      <p:sp>
        <p:nvSpPr>
          <p:cNvPr id="42" name="object 34">
            <a:extLst>
              <a:ext uri="{FF2B5EF4-FFF2-40B4-BE49-F238E27FC236}">
                <a16:creationId xmlns:a16="http://schemas.microsoft.com/office/drawing/2014/main" id="{AE660BB6-1EBE-262F-709B-02BAFF80E1F0}"/>
              </a:ext>
            </a:extLst>
          </p:cNvPr>
          <p:cNvSpPr txBox="1"/>
          <p:nvPr/>
        </p:nvSpPr>
        <p:spPr>
          <a:xfrm>
            <a:off x="4730623" y="2662937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0" dirty="0">
                <a:solidFill>
                  <a:srgbClr val="943735"/>
                </a:solidFill>
                <a:latin typeface="Times New Roman"/>
                <a:cs typeface="Times New Roman"/>
              </a:rPr>
              <a:t>I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43" name="object 35">
            <a:extLst>
              <a:ext uri="{FF2B5EF4-FFF2-40B4-BE49-F238E27FC236}">
                <a16:creationId xmlns:a16="http://schemas.microsoft.com/office/drawing/2014/main" id="{74B5912D-66F9-CFC9-AAB7-3E7B05A3C2C6}"/>
              </a:ext>
            </a:extLst>
          </p:cNvPr>
          <p:cNvGrpSpPr/>
          <p:nvPr/>
        </p:nvGrpSpPr>
        <p:grpSpPr>
          <a:xfrm>
            <a:off x="3811524" y="3713735"/>
            <a:ext cx="1644650" cy="132715"/>
            <a:chOff x="1301496" y="4512564"/>
            <a:chExt cx="1644650" cy="132715"/>
          </a:xfrm>
        </p:grpSpPr>
        <p:pic>
          <p:nvPicPr>
            <p:cNvPr id="44" name="object 36">
              <a:extLst>
                <a:ext uri="{FF2B5EF4-FFF2-40B4-BE49-F238E27FC236}">
                  <a16:creationId xmlns:a16="http://schemas.microsoft.com/office/drawing/2014/main" id="{EE7C92BA-E928-266D-1F7D-4BDE6C26727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1496" y="4512564"/>
              <a:ext cx="130428" cy="132524"/>
            </a:xfrm>
            <a:prstGeom prst="rect">
              <a:avLst/>
            </a:prstGeom>
          </p:spPr>
        </p:pic>
        <p:sp>
          <p:nvSpPr>
            <p:cNvPr id="45" name="object 37">
              <a:extLst>
                <a:ext uri="{FF2B5EF4-FFF2-40B4-BE49-F238E27FC236}">
                  <a16:creationId xmlns:a16="http://schemas.microsoft.com/office/drawing/2014/main" id="{51B06B23-0076-E514-4AE1-7FAADC69C824}"/>
                </a:ext>
              </a:extLst>
            </p:cNvPr>
            <p:cNvSpPr/>
            <p:nvPr/>
          </p:nvSpPr>
          <p:spPr>
            <a:xfrm>
              <a:off x="1329817" y="4564545"/>
              <a:ext cx="1616075" cy="28575"/>
            </a:xfrm>
            <a:custGeom>
              <a:avLst/>
              <a:gdLst/>
              <a:ahLst/>
              <a:cxnLst/>
              <a:rect l="l" t="t" r="r" b="b"/>
              <a:pathLst>
                <a:path w="1616075" h="28575">
                  <a:moveTo>
                    <a:pt x="1615948" y="0"/>
                  </a:moveTo>
                  <a:lnTo>
                    <a:pt x="52832" y="0"/>
                  </a:lnTo>
                  <a:lnTo>
                    <a:pt x="0" y="0"/>
                  </a:lnTo>
                  <a:lnTo>
                    <a:pt x="0" y="28549"/>
                  </a:lnTo>
                  <a:lnTo>
                    <a:pt x="52832" y="28549"/>
                  </a:lnTo>
                  <a:lnTo>
                    <a:pt x="1615948" y="28549"/>
                  </a:lnTo>
                  <a:lnTo>
                    <a:pt x="1615948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38">
            <a:extLst>
              <a:ext uri="{FF2B5EF4-FFF2-40B4-BE49-F238E27FC236}">
                <a16:creationId xmlns:a16="http://schemas.microsoft.com/office/drawing/2014/main" id="{F1302673-F69E-BE25-5EE6-E29E3525C304}"/>
              </a:ext>
            </a:extLst>
          </p:cNvPr>
          <p:cNvSpPr txBox="1"/>
          <p:nvPr/>
        </p:nvSpPr>
        <p:spPr>
          <a:xfrm>
            <a:off x="4100194" y="3853772"/>
            <a:ext cx="1095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245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b="1" spc="-367" baseline="-11574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b="1" spc="-202" baseline="-1157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r>
              <a:rPr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b="1" spc="-52" baseline="-11574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endParaRPr baseline="-11574">
              <a:latin typeface="Times New Roman"/>
              <a:cs typeface="Times New Roman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910312-F1DD-1856-B791-EC9C526AD539}"/>
              </a:ext>
            </a:extLst>
          </p:cNvPr>
          <p:cNvSpPr txBox="1"/>
          <p:nvPr/>
        </p:nvSpPr>
        <p:spPr>
          <a:xfrm>
            <a:off x="780091" y="971550"/>
            <a:ext cx="66875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4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</a:lstStyle>
          <a:p>
            <a:r>
              <a:rPr lang="fr-FR" sz="1800" dirty="0"/>
              <a:t>La </a:t>
            </a:r>
            <a:r>
              <a:rPr lang="fr-FR" sz="1800" b="1" dirty="0"/>
              <a:t>constante</a:t>
            </a:r>
            <a:r>
              <a:rPr lang="fr-FR" sz="1800" dirty="0"/>
              <a:t> </a:t>
            </a:r>
            <a:r>
              <a:rPr lang="fr-FR" sz="1800" b="1" dirty="0"/>
              <a:t>R</a:t>
            </a:r>
            <a:r>
              <a:rPr lang="fr-FR" sz="1800" dirty="0"/>
              <a:t> est, par définition, la </a:t>
            </a:r>
            <a:r>
              <a:rPr lang="fr-FR" sz="1800" b="1" dirty="0">
                <a:solidFill>
                  <a:srgbClr val="0000FF"/>
                </a:solidFill>
              </a:rPr>
              <a:t>résistance électrique du conducteur</a:t>
            </a:r>
            <a:r>
              <a:rPr lang="fr-FR" sz="1800" dirty="0"/>
              <a:t>, elle est exprimée en </a:t>
            </a:r>
            <a:r>
              <a:rPr lang="fr-FR" sz="1800" b="1" dirty="0">
                <a:solidFill>
                  <a:srgbClr val="0000FF"/>
                </a:solidFill>
              </a:rPr>
              <a:t>Ohm Ω</a:t>
            </a:r>
          </a:p>
        </p:txBody>
      </p:sp>
    </p:spTree>
    <p:extLst>
      <p:ext uri="{BB962C8B-B14F-4D97-AF65-F5344CB8AC3E}">
        <p14:creationId xmlns:p14="http://schemas.microsoft.com/office/powerpoint/2010/main" val="4030756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19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7BC22C0-BECB-FE81-9B1A-1B62F234F2DE}"/>
              </a:ext>
            </a:extLst>
          </p:cNvPr>
          <p:cNvSpPr txBox="1"/>
          <p:nvPr/>
        </p:nvSpPr>
        <p:spPr>
          <a:xfrm>
            <a:off x="517788" y="425687"/>
            <a:ext cx="76662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4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</a:lstStyle>
          <a:p>
            <a:r>
              <a:rPr lang="fr-FR" sz="1800" dirty="0"/>
              <a:t>Une </a:t>
            </a:r>
            <a:r>
              <a:rPr lang="fr-FR" sz="1800" b="1" dirty="0"/>
              <a:t>résistance</a:t>
            </a:r>
            <a:r>
              <a:rPr lang="fr-FR" sz="1800" dirty="0"/>
              <a:t> est souvent représentée par les </a:t>
            </a:r>
            <a:r>
              <a:rPr lang="fr-FR" sz="1800" b="1" dirty="0"/>
              <a:t>symboles</a:t>
            </a:r>
            <a:r>
              <a:rPr lang="fr-FR" sz="1800" dirty="0"/>
              <a:t> suivants:</a:t>
            </a:r>
          </a:p>
        </p:txBody>
      </p:sp>
      <p:grpSp>
        <p:nvGrpSpPr>
          <p:cNvPr id="50" name="object 12">
            <a:extLst>
              <a:ext uri="{FF2B5EF4-FFF2-40B4-BE49-F238E27FC236}">
                <a16:creationId xmlns:a16="http://schemas.microsoft.com/office/drawing/2014/main" id="{041FACBA-A737-80A3-3B27-507960AFD24E}"/>
              </a:ext>
            </a:extLst>
          </p:cNvPr>
          <p:cNvGrpSpPr/>
          <p:nvPr/>
        </p:nvGrpSpPr>
        <p:grpSpPr>
          <a:xfrm>
            <a:off x="2545514" y="3862705"/>
            <a:ext cx="2875915" cy="246379"/>
            <a:chOff x="5099303" y="2171700"/>
            <a:chExt cx="2875915" cy="246379"/>
          </a:xfrm>
        </p:grpSpPr>
        <p:sp>
          <p:nvSpPr>
            <p:cNvPr id="51" name="object 13">
              <a:extLst>
                <a:ext uri="{FF2B5EF4-FFF2-40B4-BE49-F238E27FC236}">
                  <a16:creationId xmlns:a16="http://schemas.microsoft.com/office/drawing/2014/main" id="{626DFC95-4457-7576-6CDB-207C4FFC2728}"/>
                </a:ext>
              </a:extLst>
            </p:cNvPr>
            <p:cNvSpPr/>
            <p:nvPr/>
          </p:nvSpPr>
          <p:spPr>
            <a:xfrm>
              <a:off x="5112257" y="2184653"/>
              <a:ext cx="2780030" cy="220345"/>
            </a:xfrm>
            <a:custGeom>
              <a:avLst/>
              <a:gdLst/>
              <a:ahLst/>
              <a:cxnLst/>
              <a:rect l="l" t="t" r="r" b="b"/>
              <a:pathLst>
                <a:path w="2780029" h="220344">
                  <a:moveTo>
                    <a:pt x="972312" y="116839"/>
                  </a:moveTo>
                  <a:lnTo>
                    <a:pt x="1059433" y="4444"/>
                  </a:lnTo>
                  <a:lnTo>
                    <a:pt x="1226312" y="220344"/>
                  </a:lnTo>
                  <a:lnTo>
                    <a:pt x="1384427" y="0"/>
                  </a:lnTo>
                  <a:lnTo>
                    <a:pt x="1546987" y="215900"/>
                  </a:lnTo>
                  <a:lnTo>
                    <a:pt x="1709546" y="4444"/>
                  </a:lnTo>
                  <a:lnTo>
                    <a:pt x="1867662" y="220344"/>
                  </a:lnTo>
                  <a:lnTo>
                    <a:pt x="1944496" y="123570"/>
                  </a:lnTo>
                </a:path>
                <a:path w="2780029" h="220344">
                  <a:moveTo>
                    <a:pt x="1933956" y="123443"/>
                  </a:moveTo>
                  <a:lnTo>
                    <a:pt x="2779521" y="123443"/>
                  </a:lnTo>
                </a:path>
                <a:path w="2780029" h="220344">
                  <a:moveTo>
                    <a:pt x="0" y="126364"/>
                  </a:moveTo>
                  <a:lnTo>
                    <a:pt x="982599" y="117347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14">
              <a:extLst>
                <a:ext uri="{FF2B5EF4-FFF2-40B4-BE49-F238E27FC236}">
                  <a16:creationId xmlns:a16="http://schemas.microsoft.com/office/drawing/2014/main" id="{F0557571-E782-717F-0454-09AF14ED98E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11495" y="2243327"/>
              <a:ext cx="134112" cy="134112"/>
            </a:xfrm>
            <a:prstGeom prst="rect">
              <a:avLst/>
            </a:prstGeom>
          </p:spPr>
        </p:pic>
        <p:pic>
          <p:nvPicPr>
            <p:cNvPr id="53" name="object 15">
              <a:extLst>
                <a:ext uri="{FF2B5EF4-FFF2-40B4-BE49-F238E27FC236}">
                  <a16:creationId xmlns:a16="http://schemas.microsoft.com/office/drawing/2014/main" id="{8813B765-2917-3312-78E8-4480F12D767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0979" y="2234184"/>
              <a:ext cx="134111" cy="134112"/>
            </a:xfrm>
            <a:prstGeom prst="rect">
              <a:avLst/>
            </a:prstGeom>
          </p:spPr>
        </p:pic>
        <p:pic>
          <p:nvPicPr>
            <p:cNvPr id="55" name="object 16">
              <a:extLst>
                <a:ext uri="{FF2B5EF4-FFF2-40B4-BE49-F238E27FC236}">
                  <a16:creationId xmlns:a16="http://schemas.microsoft.com/office/drawing/2014/main" id="{CEAEBB90-80D9-AC3B-C105-DB44A3963E9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1430" y="2240280"/>
              <a:ext cx="130429" cy="132461"/>
            </a:xfrm>
            <a:prstGeom prst="rect">
              <a:avLst/>
            </a:prstGeom>
          </p:spPr>
        </p:pic>
        <p:sp>
          <p:nvSpPr>
            <p:cNvPr id="56" name="object 17">
              <a:extLst>
                <a:ext uri="{FF2B5EF4-FFF2-40B4-BE49-F238E27FC236}">
                  <a16:creationId xmlns:a16="http://schemas.microsoft.com/office/drawing/2014/main" id="{2A9CF821-4A5D-9F21-CFFF-C3A8714A94C7}"/>
                </a:ext>
              </a:extLst>
            </p:cNvPr>
            <p:cNvSpPr/>
            <p:nvPr/>
          </p:nvSpPr>
          <p:spPr>
            <a:xfrm>
              <a:off x="5356860" y="2292222"/>
              <a:ext cx="607060" cy="28575"/>
            </a:xfrm>
            <a:custGeom>
              <a:avLst/>
              <a:gdLst/>
              <a:ahLst/>
              <a:cxnLst/>
              <a:rect l="l" t="t" r="r" b="b"/>
              <a:pathLst>
                <a:path w="607060" h="28575">
                  <a:moveTo>
                    <a:pt x="606628" y="2019"/>
                  </a:moveTo>
                  <a:lnTo>
                    <a:pt x="606552" y="0"/>
                  </a:lnTo>
                  <a:lnTo>
                    <a:pt x="553720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553720" y="28575"/>
                  </a:lnTo>
                  <a:lnTo>
                    <a:pt x="578231" y="14351"/>
                  </a:lnTo>
                  <a:lnTo>
                    <a:pt x="599440" y="26670"/>
                  </a:lnTo>
                  <a:lnTo>
                    <a:pt x="606628" y="26670"/>
                  </a:lnTo>
                  <a:lnTo>
                    <a:pt x="606628" y="2019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18">
            <a:extLst>
              <a:ext uri="{FF2B5EF4-FFF2-40B4-BE49-F238E27FC236}">
                <a16:creationId xmlns:a16="http://schemas.microsoft.com/office/drawing/2014/main" id="{2CCC05DD-61AE-BD67-CA6B-C890432C8255}"/>
              </a:ext>
            </a:extLst>
          </p:cNvPr>
          <p:cNvSpPr txBox="1"/>
          <p:nvPr/>
        </p:nvSpPr>
        <p:spPr>
          <a:xfrm>
            <a:off x="3898953" y="3439159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Times New Roman"/>
                <a:cs typeface="Times New Roman"/>
              </a:rPr>
              <a:t>R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8" name="object 19">
            <a:extLst>
              <a:ext uri="{FF2B5EF4-FFF2-40B4-BE49-F238E27FC236}">
                <a16:creationId xmlns:a16="http://schemas.microsoft.com/office/drawing/2014/main" id="{5653E368-D519-F72A-9CC9-2A9143B843CC}"/>
              </a:ext>
            </a:extLst>
          </p:cNvPr>
          <p:cNvSpPr txBox="1"/>
          <p:nvPr/>
        </p:nvSpPr>
        <p:spPr>
          <a:xfrm>
            <a:off x="2979093" y="3621735"/>
            <a:ext cx="1149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943735"/>
                </a:solidFill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9" name="object 20">
            <a:extLst>
              <a:ext uri="{FF2B5EF4-FFF2-40B4-BE49-F238E27FC236}">
                <a16:creationId xmlns:a16="http://schemas.microsoft.com/office/drawing/2014/main" id="{705437FD-2061-E98D-37F3-F4D57BD6C04C}"/>
              </a:ext>
            </a:extLst>
          </p:cNvPr>
          <p:cNvSpPr txBox="1"/>
          <p:nvPr/>
        </p:nvSpPr>
        <p:spPr>
          <a:xfrm>
            <a:off x="2494969" y="4049013"/>
            <a:ext cx="306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V</a:t>
            </a:r>
            <a:r>
              <a:rPr sz="1800" b="1" spc="-82" baseline="-11574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endParaRPr sz="1800" baseline="-11574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60" name="object 21">
            <a:extLst>
              <a:ext uri="{FF2B5EF4-FFF2-40B4-BE49-F238E27FC236}">
                <a16:creationId xmlns:a16="http://schemas.microsoft.com/office/drawing/2014/main" id="{736161BD-E6F5-70F6-DBBE-95058A89FB93}"/>
              </a:ext>
            </a:extLst>
          </p:cNvPr>
          <p:cNvSpPr txBox="1"/>
          <p:nvPr/>
        </p:nvSpPr>
        <p:spPr>
          <a:xfrm>
            <a:off x="5240581" y="4015485"/>
            <a:ext cx="34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V</a:t>
            </a:r>
            <a:r>
              <a:rPr sz="1800" b="1" spc="-37" baseline="-11574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endParaRPr sz="1800" baseline="-11574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grpSp>
        <p:nvGrpSpPr>
          <p:cNvPr id="61" name="object 22">
            <a:extLst>
              <a:ext uri="{FF2B5EF4-FFF2-40B4-BE49-F238E27FC236}">
                <a16:creationId xmlns:a16="http://schemas.microsoft.com/office/drawing/2014/main" id="{0DE5A427-8730-E2EE-F314-FA223C2EE044}"/>
              </a:ext>
            </a:extLst>
          </p:cNvPr>
          <p:cNvGrpSpPr/>
          <p:nvPr/>
        </p:nvGrpSpPr>
        <p:grpSpPr>
          <a:xfrm>
            <a:off x="2961566" y="4297044"/>
            <a:ext cx="2180590" cy="132715"/>
            <a:chOff x="5515355" y="2606039"/>
            <a:chExt cx="2180590" cy="132715"/>
          </a:xfrm>
        </p:grpSpPr>
        <p:pic>
          <p:nvPicPr>
            <p:cNvPr id="62" name="object 23">
              <a:extLst>
                <a:ext uri="{FF2B5EF4-FFF2-40B4-BE49-F238E27FC236}">
                  <a16:creationId xmlns:a16="http://schemas.microsoft.com/office/drawing/2014/main" id="{07C9F710-9387-1164-484A-35AD0112FD2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15355" y="2606039"/>
              <a:ext cx="130429" cy="132461"/>
            </a:xfrm>
            <a:prstGeom prst="rect">
              <a:avLst/>
            </a:prstGeom>
          </p:spPr>
        </p:pic>
        <p:sp>
          <p:nvSpPr>
            <p:cNvPr id="63" name="object 24">
              <a:extLst>
                <a:ext uri="{FF2B5EF4-FFF2-40B4-BE49-F238E27FC236}">
                  <a16:creationId xmlns:a16="http://schemas.microsoft.com/office/drawing/2014/main" id="{0AE2D13C-C78D-AA78-521A-67B1EB4A6B4F}"/>
                </a:ext>
              </a:extLst>
            </p:cNvPr>
            <p:cNvSpPr/>
            <p:nvPr/>
          </p:nvSpPr>
          <p:spPr>
            <a:xfrm>
              <a:off x="5543677" y="2657982"/>
              <a:ext cx="2152015" cy="28575"/>
            </a:xfrm>
            <a:custGeom>
              <a:avLst/>
              <a:gdLst/>
              <a:ahLst/>
              <a:cxnLst/>
              <a:rect l="l" t="t" r="r" b="b"/>
              <a:pathLst>
                <a:path w="2152015" h="28575">
                  <a:moveTo>
                    <a:pt x="2152015" y="0"/>
                  </a:moveTo>
                  <a:lnTo>
                    <a:pt x="52832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52832" y="28575"/>
                  </a:lnTo>
                  <a:lnTo>
                    <a:pt x="2152015" y="28575"/>
                  </a:lnTo>
                  <a:lnTo>
                    <a:pt x="2152015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25">
            <a:extLst>
              <a:ext uri="{FF2B5EF4-FFF2-40B4-BE49-F238E27FC236}">
                <a16:creationId xmlns:a16="http://schemas.microsoft.com/office/drawing/2014/main" id="{40D6D696-6F61-8BD1-6AE9-7E4D39664F58}"/>
              </a:ext>
            </a:extLst>
          </p:cNvPr>
          <p:cNvSpPr txBox="1"/>
          <p:nvPr/>
        </p:nvSpPr>
        <p:spPr>
          <a:xfrm>
            <a:off x="3460550" y="4405630"/>
            <a:ext cx="1124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V</a:t>
            </a:r>
            <a:r>
              <a:rPr sz="18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=</a:t>
            </a:r>
            <a:r>
              <a:rPr sz="18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25" dirty="0">
                <a:solidFill>
                  <a:srgbClr val="C00000"/>
                </a:solidFill>
                <a:latin typeface="Times New Roman"/>
                <a:cs typeface="Times New Roman"/>
              </a:rPr>
              <a:t>V</a:t>
            </a:r>
            <a:r>
              <a:rPr sz="1800" b="1" spc="-187" baseline="-11574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1800" b="1" spc="-225" baseline="-1157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-</a:t>
            </a:r>
            <a:r>
              <a:rPr sz="18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V</a:t>
            </a:r>
            <a:r>
              <a:rPr sz="1800" b="1" spc="-52" baseline="-11574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endParaRPr sz="1800" baseline="-11574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65" name="object 48">
            <a:extLst>
              <a:ext uri="{FF2B5EF4-FFF2-40B4-BE49-F238E27FC236}">
                <a16:creationId xmlns:a16="http://schemas.microsoft.com/office/drawing/2014/main" id="{0A35BA75-8D68-38F3-3914-8638829B54FD}"/>
              </a:ext>
            </a:extLst>
          </p:cNvPr>
          <p:cNvSpPr txBox="1"/>
          <p:nvPr/>
        </p:nvSpPr>
        <p:spPr>
          <a:xfrm>
            <a:off x="2510844" y="3566871"/>
            <a:ext cx="1911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6" name="object 49">
            <a:extLst>
              <a:ext uri="{FF2B5EF4-FFF2-40B4-BE49-F238E27FC236}">
                <a16:creationId xmlns:a16="http://schemas.microsoft.com/office/drawing/2014/main" id="{774CC28E-3F1C-532F-FB80-F92EF32F7A5D}"/>
              </a:ext>
            </a:extLst>
          </p:cNvPr>
          <p:cNvSpPr txBox="1"/>
          <p:nvPr/>
        </p:nvSpPr>
        <p:spPr>
          <a:xfrm>
            <a:off x="5256838" y="3560775"/>
            <a:ext cx="178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DA51D03-CC8D-CC05-17E1-51B22FA8D8FD}"/>
              </a:ext>
            </a:extLst>
          </p:cNvPr>
          <p:cNvSpPr/>
          <p:nvPr/>
        </p:nvSpPr>
        <p:spPr>
          <a:xfrm>
            <a:off x="2920417" y="1384250"/>
            <a:ext cx="2147571" cy="6753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6CF5F8-42FE-61CC-7F74-C504163B1CEF}"/>
              </a:ext>
            </a:extLst>
          </p:cNvPr>
          <p:cNvSpPr txBox="1"/>
          <p:nvPr/>
        </p:nvSpPr>
        <p:spPr>
          <a:xfrm>
            <a:off x="3718358" y="2786521"/>
            <a:ext cx="15662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OU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054CA7E-4DAA-09BC-D6F1-844555912D21}"/>
              </a:ext>
            </a:extLst>
          </p:cNvPr>
          <p:cNvCxnSpPr>
            <a:cxnSpLocks/>
            <a:endCxn id="67" idx="1"/>
          </p:cNvCxnSpPr>
          <p:nvPr/>
        </p:nvCxnSpPr>
        <p:spPr>
          <a:xfrm>
            <a:off x="2303716" y="1721905"/>
            <a:ext cx="6167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7CD0977-CBBC-0811-19AC-022FEA805A58}"/>
              </a:ext>
            </a:extLst>
          </p:cNvPr>
          <p:cNvCxnSpPr>
            <a:cxnSpLocks/>
          </p:cNvCxnSpPr>
          <p:nvPr/>
        </p:nvCxnSpPr>
        <p:spPr>
          <a:xfrm>
            <a:off x="5067988" y="1730398"/>
            <a:ext cx="6167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bject 48">
            <a:extLst>
              <a:ext uri="{FF2B5EF4-FFF2-40B4-BE49-F238E27FC236}">
                <a16:creationId xmlns:a16="http://schemas.microsoft.com/office/drawing/2014/main" id="{D7C421C0-7587-BDCB-B79C-017DA3198463}"/>
              </a:ext>
            </a:extLst>
          </p:cNvPr>
          <p:cNvSpPr txBox="1"/>
          <p:nvPr/>
        </p:nvSpPr>
        <p:spPr>
          <a:xfrm>
            <a:off x="2646479" y="1369150"/>
            <a:ext cx="1911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5" name="object 49">
            <a:extLst>
              <a:ext uri="{FF2B5EF4-FFF2-40B4-BE49-F238E27FC236}">
                <a16:creationId xmlns:a16="http://schemas.microsoft.com/office/drawing/2014/main" id="{74B1134F-DB4D-352C-EF32-A9F7285EBBE1}"/>
              </a:ext>
            </a:extLst>
          </p:cNvPr>
          <p:cNvSpPr txBox="1"/>
          <p:nvPr/>
        </p:nvSpPr>
        <p:spPr>
          <a:xfrm>
            <a:off x="5124914" y="1431512"/>
            <a:ext cx="178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6" name="object 18">
            <a:extLst>
              <a:ext uri="{FF2B5EF4-FFF2-40B4-BE49-F238E27FC236}">
                <a16:creationId xmlns:a16="http://schemas.microsoft.com/office/drawing/2014/main" id="{A9649CF5-DAC5-559D-1880-6D6541DB483E}"/>
              </a:ext>
            </a:extLst>
          </p:cNvPr>
          <p:cNvSpPr txBox="1"/>
          <p:nvPr/>
        </p:nvSpPr>
        <p:spPr>
          <a:xfrm>
            <a:off x="3832734" y="1455717"/>
            <a:ext cx="1905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50" dirty="0">
                <a:latin typeface="Times New Roman"/>
                <a:cs typeface="Times New Roman"/>
              </a:rPr>
              <a:t>R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82" name="object 20">
            <a:extLst>
              <a:ext uri="{FF2B5EF4-FFF2-40B4-BE49-F238E27FC236}">
                <a16:creationId xmlns:a16="http://schemas.microsoft.com/office/drawing/2014/main" id="{6C7DF6B7-28A7-13A9-07D2-81F3D60EEC89}"/>
              </a:ext>
            </a:extLst>
          </p:cNvPr>
          <p:cNvSpPr txBox="1"/>
          <p:nvPr/>
        </p:nvSpPr>
        <p:spPr>
          <a:xfrm>
            <a:off x="2558085" y="1770073"/>
            <a:ext cx="306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V</a:t>
            </a:r>
            <a:r>
              <a:rPr sz="1800" b="1" spc="-82" baseline="-11574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endParaRPr sz="1800" baseline="-11574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83" name="object 21">
            <a:extLst>
              <a:ext uri="{FF2B5EF4-FFF2-40B4-BE49-F238E27FC236}">
                <a16:creationId xmlns:a16="http://schemas.microsoft.com/office/drawing/2014/main" id="{610644B3-2A4B-EA18-181D-51D11D1A90C5}"/>
              </a:ext>
            </a:extLst>
          </p:cNvPr>
          <p:cNvSpPr txBox="1"/>
          <p:nvPr/>
        </p:nvSpPr>
        <p:spPr>
          <a:xfrm>
            <a:off x="5136207" y="1721904"/>
            <a:ext cx="34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V</a:t>
            </a:r>
            <a:r>
              <a:rPr sz="1800" b="1" spc="-37" baseline="-11574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endParaRPr sz="1800" baseline="-11574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grpSp>
        <p:nvGrpSpPr>
          <p:cNvPr id="84" name="object 22">
            <a:extLst>
              <a:ext uri="{FF2B5EF4-FFF2-40B4-BE49-F238E27FC236}">
                <a16:creationId xmlns:a16="http://schemas.microsoft.com/office/drawing/2014/main" id="{0B5BD9E6-EDDD-9F1D-DBE7-05FF0805CC43}"/>
              </a:ext>
            </a:extLst>
          </p:cNvPr>
          <p:cNvGrpSpPr/>
          <p:nvPr/>
        </p:nvGrpSpPr>
        <p:grpSpPr>
          <a:xfrm>
            <a:off x="2881929" y="2194454"/>
            <a:ext cx="2180590" cy="132715"/>
            <a:chOff x="5515355" y="2606039"/>
            <a:chExt cx="2180590" cy="132715"/>
          </a:xfrm>
        </p:grpSpPr>
        <p:pic>
          <p:nvPicPr>
            <p:cNvPr id="85" name="object 23">
              <a:extLst>
                <a:ext uri="{FF2B5EF4-FFF2-40B4-BE49-F238E27FC236}">
                  <a16:creationId xmlns:a16="http://schemas.microsoft.com/office/drawing/2014/main" id="{892711C1-6155-9750-AB6D-754C2445A92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15355" y="2606039"/>
              <a:ext cx="130429" cy="132461"/>
            </a:xfrm>
            <a:prstGeom prst="rect">
              <a:avLst/>
            </a:prstGeom>
          </p:spPr>
        </p:pic>
        <p:sp>
          <p:nvSpPr>
            <p:cNvPr id="86" name="object 24">
              <a:extLst>
                <a:ext uri="{FF2B5EF4-FFF2-40B4-BE49-F238E27FC236}">
                  <a16:creationId xmlns:a16="http://schemas.microsoft.com/office/drawing/2014/main" id="{C5DEA68C-1B12-E2E6-56D9-608CCDA45640}"/>
                </a:ext>
              </a:extLst>
            </p:cNvPr>
            <p:cNvSpPr/>
            <p:nvPr/>
          </p:nvSpPr>
          <p:spPr>
            <a:xfrm>
              <a:off x="5543677" y="2657982"/>
              <a:ext cx="2152015" cy="28575"/>
            </a:xfrm>
            <a:custGeom>
              <a:avLst/>
              <a:gdLst/>
              <a:ahLst/>
              <a:cxnLst/>
              <a:rect l="l" t="t" r="r" b="b"/>
              <a:pathLst>
                <a:path w="2152015" h="28575">
                  <a:moveTo>
                    <a:pt x="2152015" y="0"/>
                  </a:moveTo>
                  <a:lnTo>
                    <a:pt x="52832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52832" y="28575"/>
                  </a:lnTo>
                  <a:lnTo>
                    <a:pt x="2152015" y="28575"/>
                  </a:lnTo>
                  <a:lnTo>
                    <a:pt x="2152015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25">
            <a:extLst>
              <a:ext uri="{FF2B5EF4-FFF2-40B4-BE49-F238E27FC236}">
                <a16:creationId xmlns:a16="http://schemas.microsoft.com/office/drawing/2014/main" id="{028FA390-6728-9B8A-96FB-E74656207996}"/>
              </a:ext>
            </a:extLst>
          </p:cNvPr>
          <p:cNvSpPr txBox="1"/>
          <p:nvPr/>
        </p:nvSpPr>
        <p:spPr>
          <a:xfrm>
            <a:off x="3380913" y="2303040"/>
            <a:ext cx="1124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V</a:t>
            </a:r>
            <a:r>
              <a:rPr sz="18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=</a:t>
            </a:r>
            <a:r>
              <a:rPr sz="18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25" dirty="0">
                <a:solidFill>
                  <a:srgbClr val="C00000"/>
                </a:solidFill>
                <a:latin typeface="Times New Roman"/>
                <a:cs typeface="Times New Roman"/>
              </a:rPr>
              <a:t>V</a:t>
            </a:r>
            <a:r>
              <a:rPr sz="1800" b="1" spc="-187" baseline="-11574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1800" b="1" spc="-225" baseline="-1157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-</a:t>
            </a:r>
            <a:r>
              <a:rPr sz="18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V</a:t>
            </a:r>
            <a:r>
              <a:rPr sz="1800" b="1" spc="-52" baseline="-11574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endParaRPr sz="1800" baseline="-11574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1385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20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1E94EA0-96F9-C29F-58CC-ED43C78314A1}"/>
              </a:ext>
            </a:extLst>
          </p:cNvPr>
          <p:cNvSpPr txBox="1"/>
          <p:nvPr/>
        </p:nvSpPr>
        <p:spPr>
          <a:xfrm>
            <a:off x="573588" y="712231"/>
            <a:ext cx="6853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4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</a:lstStyle>
          <a:p>
            <a:r>
              <a:rPr lang="fr-FR" altLang="fr-FR" sz="1800" dirty="0"/>
              <a:t>Dans la résistance </a:t>
            </a:r>
            <a:r>
              <a:rPr lang="fr-FR" altLang="fr-FR" sz="1800" b="1" dirty="0"/>
              <a:t>R</a:t>
            </a:r>
            <a:r>
              <a:rPr lang="fr-FR" altLang="fr-FR" sz="1800" dirty="0"/>
              <a:t>, la </a:t>
            </a:r>
            <a:r>
              <a:rPr lang="fr-FR" altLang="fr-FR" sz="1800" b="1" dirty="0"/>
              <a:t>loi d’Ohm </a:t>
            </a:r>
            <a:r>
              <a:rPr lang="fr-FR" altLang="fr-FR" sz="1800" dirty="0"/>
              <a:t>s'écrit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object 15">
                <a:extLst>
                  <a:ext uri="{FF2B5EF4-FFF2-40B4-BE49-F238E27FC236}">
                    <a16:creationId xmlns:a16="http://schemas.microsoft.com/office/drawing/2014/main" id="{744761B9-537F-CD1E-D313-F3537708E012}"/>
                  </a:ext>
                </a:extLst>
              </p:cNvPr>
              <p:cNvSpPr txBox="1"/>
              <p:nvPr/>
            </p:nvSpPr>
            <p:spPr>
              <a:xfrm>
                <a:off x="2133600" y="1352550"/>
                <a:ext cx="4039362" cy="57701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horz" wrap="square" lIns="0" tIns="59690" rIns="0" bIns="0" rtlCol="0">
                <a:spAutoFit/>
              </a:bodyPr>
              <a:lstStyle/>
              <a:p>
                <a:pPr marL="143510">
                  <a:lnSpc>
                    <a:spcPct val="100000"/>
                  </a:lnSpc>
                  <a:spcBef>
                    <a:spcPts val="47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/>
                        </a:rPr>
                        <m:t>𝑽</m:t>
                      </m:r>
                      <m:r>
                        <a:rPr lang="ar-AE" b="1" i="1" spc="85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/>
                        </a:rPr>
                        <m:t> =</m:t>
                      </m:r>
                      <m:r>
                        <a:rPr lang="ar-AE" b="1" i="1" spc="95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/>
                        </a:rPr>
                        <m:t> </m:t>
                      </m:r>
                      <m:r>
                        <a:rPr lang="ar-A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/>
                        </a:rPr>
                        <m:t>𝑹</m:t>
                      </m:r>
                      <m:r>
                        <a:rPr lang="ar-AE" b="1" i="1" spc="355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/>
                        </a:rPr>
                        <m:t>.</m:t>
                      </m:r>
                      <m:r>
                        <a:rPr lang="ar-AE" b="1" i="1" spc="-6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/>
                        </a:rPr>
                        <m:t>𝑰</m:t>
                      </m:r>
                      <m:r>
                        <a:rPr lang="ar-AE" b="1" i="1" spc="-6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/>
                        </a:rPr>
                        <m:t> ⟹</m:t>
                      </m:r>
                      <m:r>
                        <a:rPr lang="ar-AE" b="1" i="0" spc="-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m:t>𝐈</m:t>
                      </m:r>
                      <m:r>
                        <a:rPr lang="ar-AE" b="1" i="0" spc="-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ar-AE" b="1" i="1" spc="-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ar-AE" b="1" i="1" spc="-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</a:rPr>
                            <m:t>𝑽</m:t>
                          </m:r>
                        </m:num>
                        <m:den>
                          <m:r>
                            <a:rPr lang="ar-AE" b="1" i="1" spc="-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lang="ar-AE" b="1" dirty="0">
                  <a:solidFill>
                    <a:schemeClr val="tx1"/>
                  </a:solidFill>
                  <a:latin typeface="Bookman Old Style" panose="02050604050505020204" pitchFamily="18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92" name="object 15">
                <a:extLst>
                  <a:ext uri="{FF2B5EF4-FFF2-40B4-BE49-F238E27FC236}">
                    <a16:creationId xmlns:a16="http://schemas.microsoft.com/office/drawing/2014/main" id="{744761B9-537F-CD1E-D313-F3537708E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1352550"/>
                <a:ext cx="4039362" cy="5770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ZoneTexte 15">
                <a:extLst>
                  <a:ext uri="{FF2B5EF4-FFF2-40B4-BE49-F238E27FC236}">
                    <a16:creationId xmlns:a16="http://schemas.microsoft.com/office/drawing/2014/main" id="{8BF6E0AD-0151-A4A9-5D83-A2AD0DB8E1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3363" y="2343150"/>
                <a:ext cx="5204037" cy="24288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fr-FR"/>
                </a:defPPr>
                <a:lvl1pPr marL="285750" indent="-285750" algn="just">
                  <a:buFont typeface="Wingdings" panose="05000000000000000000" pitchFamily="2" charset="2"/>
                  <a:buChar char="q"/>
                  <a:defRPr sz="1400">
                    <a:latin typeface="Bookman Old Style" panose="02050604050505020204" pitchFamily="18" charset="0"/>
                    <a:cs typeface="Browallia New" panose="020B0604020202020204" pitchFamily="34" charset="-34"/>
                  </a:defRPr>
                </a:lvl1pPr>
              </a:lstStyle>
              <a:p>
                <a:r>
                  <a:rPr lang="fr-FR" altLang="fr-FR" sz="1800" dirty="0"/>
                  <a:t>Si  </a:t>
                </a:r>
                <a:r>
                  <a:rPr lang="fr-FR" altLang="fr-FR" sz="1800" b="1" dirty="0"/>
                  <a:t>R = 0   </a:t>
                </a:r>
                <a:r>
                  <a:rPr lang="fr-FR" altLang="fr-FR" sz="1800" dirty="0">
                    <a:sym typeface="Wingdings" panose="05000000000000000000" pitchFamily="2" charset="2"/>
                  </a:rPr>
                  <a:t>   </a:t>
                </a:r>
                <a:r>
                  <a:rPr lang="fr-FR" altLang="fr-FR" sz="1800" b="1" dirty="0">
                    <a:sym typeface="Wingdings" panose="05000000000000000000" pitchFamily="2" charset="2"/>
                  </a:rPr>
                  <a:t>R</a:t>
                </a:r>
                <a:r>
                  <a:rPr lang="fr-FR" altLang="fr-FR" sz="1800" dirty="0">
                    <a:sym typeface="Wingdings" panose="05000000000000000000" pitchFamily="2" charset="2"/>
                  </a:rPr>
                  <a:t> ↔ fil conducteur ; </a:t>
                </a:r>
                <a:endParaRPr lang="fr-FR" altLang="fr-FR" sz="1800" dirty="0" smtClean="0">
                  <a:sym typeface="Wingdings" panose="05000000000000000000" pitchFamily="2" charset="2"/>
                </a:endParaRPr>
              </a:p>
              <a:p>
                <a:endParaRPr lang="fr-FR" altLang="fr-FR" sz="1800" b="1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fr-FR" altLang="fr-FR" sz="1800" b="1" dirty="0" smtClean="0">
                    <a:sym typeface="Wingdings" panose="05000000000000000000" pitchFamily="2" charset="2"/>
                  </a:rPr>
                  <a:t>     Court </a:t>
                </a:r>
                <a:r>
                  <a:rPr lang="fr-FR" altLang="fr-FR" sz="1800" b="1" dirty="0">
                    <a:sym typeface="Wingdings" panose="05000000000000000000" pitchFamily="2" charset="2"/>
                  </a:rPr>
                  <a:t>Circuit</a:t>
                </a:r>
                <a:r>
                  <a:rPr lang="fr-FR" altLang="fr-FR" sz="1800" dirty="0">
                    <a:sym typeface="Wingdings" panose="05000000000000000000" pitchFamily="2" charset="2"/>
                  </a:rPr>
                  <a:t>     </a:t>
                </a:r>
                <a:r>
                  <a:rPr lang="fr-FR" altLang="fr-FR" sz="1800" dirty="0" smtClean="0">
                    <a:sym typeface="Wingdings" panose="05000000000000000000" pitchFamily="2" charset="2"/>
                  </a:rPr>
                  <a:t>        </a:t>
                </a:r>
                <a:r>
                  <a:rPr lang="fr-FR" altLang="fr-FR" sz="1800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a:rPr lang="fr-FR" altLang="fr-FR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𝑼</m:t>
                    </m:r>
                    <m:r>
                      <a:rPr lang="fr-FR" altLang="fr-FR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fr-FR" altLang="fr-FR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𝑹</m:t>
                    </m:r>
                    <m:r>
                      <a:rPr lang="fr-FR" altLang="fr-FR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. </m:t>
                    </m:r>
                    <m:r>
                      <a:rPr lang="fr-FR" altLang="fr-FR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𝑰</m:t>
                    </m:r>
                    <m:r>
                      <a:rPr lang="fr-FR" altLang="fr-FR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= </m:t>
                    </m:r>
                    <m:r>
                      <a:rPr lang="fr-FR" altLang="fr-FR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𝟎</m:t>
                    </m:r>
                  </m:oMath>
                </a14:m>
                <a:endParaRPr lang="fr-FR" altLang="fr-FR" sz="1800" b="1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altLang="fr-FR" sz="1800" dirty="0" smtClean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fr-FR" altLang="fr-FR" sz="1800" dirty="0">
                  <a:sym typeface="Wingdings" panose="05000000000000000000" pitchFamily="2" charset="2"/>
                </a:endParaRPr>
              </a:p>
              <a:p>
                <a:r>
                  <a:rPr lang="fr-FR" altLang="fr-FR" sz="1800" dirty="0">
                    <a:sym typeface="Wingdings" panose="05000000000000000000" pitchFamily="2" charset="2"/>
                  </a:rPr>
                  <a:t>Si  </a:t>
                </a:r>
                <a:r>
                  <a:rPr lang="fr-FR" altLang="fr-FR" sz="1800" b="1" dirty="0">
                    <a:sym typeface="Wingdings" panose="05000000000000000000" pitchFamily="2" charset="2"/>
                  </a:rPr>
                  <a:t>R →∞  </a:t>
                </a:r>
                <a:r>
                  <a:rPr lang="fr-FR" altLang="fr-FR" sz="1800" dirty="0">
                    <a:sym typeface="Wingdings" panose="05000000000000000000" pitchFamily="2" charset="2"/>
                  </a:rPr>
                  <a:t>   </a:t>
                </a:r>
                <a:r>
                  <a:rPr lang="fr-FR" altLang="fr-FR" sz="1800" b="1" dirty="0">
                    <a:sym typeface="Wingdings" panose="05000000000000000000" pitchFamily="2" charset="2"/>
                  </a:rPr>
                  <a:t>R</a:t>
                </a:r>
                <a:r>
                  <a:rPr lang="fr-FR" altLang="fr-FR" sz="1800" dirty="0">
                    <a:sym typeface="Wingdings" panose="05000000000000000000" pitchFamily="2" charset="2"/>
                  </a:rPr>
                  <a:t> </a:t>
                </a:r>
                <a:r>
                  <a:rPr lang="fr-FR" altLang="fr-FR" sz="1800" b="1" dirty="0">
                    <a:sym typeface="Wingdings" panose="05000000000000000000" pitchFamily="2" charset="2"/>
                  </a:rPr>
                  <a:t>↔</a:t>
                </a:r>
                <a:r>
                  <a:rPr lang="fr-FR" altLang="fr-FR" sz="1800" dirty="0">
                    <a:sym typeface="Wingdings" panose="05000000000000000000" pitchFamily="2" charset="2"/>
                  </a:rPr>
                  <a:t> interrupteur ouvert ; </a:t>
                </a:r>
                <a:endParaRPr lang="fr-FR" altLang="fr-FR" sz="1800" dirty="0" smtClean="0">
                  <a:sym typeface="Wingdings" panose="05000000000000000000" pitchFamily="2" charset="2"/>
                </a:endParaRPr>
              </a:p>
              <a:p>
                <a:endParaRPr lang="fr-FR" altLang="fr-FR" sz="1800" b="1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fr-FR" altLang="fr-FR" sz="1800" b="1" dirty="0" smtClean="0">
                    <a:sym typeface="Wingdings" panose="05000000000000000000" pitchFamily="2" charset="2"/>
                  </a:rPr>
                  <a:t>      Circuit </a:t>
                </a:r>
                <a:r>
                  <a:rPr lang="fr-FR" altLang="fr-FR" sz="1800" b="1" dirty="0">
                    <a:sym typeface="Wingdings" panose="05000000000000000000" pitchFamily="2" charset="2"/>
                  </a:rPr>
                  <a:t>Ouvert </a:t>
                </a:r>
                <a:r>
                  <a:rPr lang="fr-FR" altLang="fr-FR" sz="1800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a:rPr lang="fr-FR" altLang="fr-FR" sz="1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𝐈</m:t>
                    </m:r>
                    <m:r>
                      <a:rPr lang="fr-FR" altLang="fr-FR" sz="1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ar-AE" sz="1800" b="1" i="1" spc="-6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a:rPr lang="ar-AE" sz="1800" b="1" i="1" spc="-6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𝑽</m:t>
                        </m:r>
                      </m:num>
                      <m:den>
                        <m:r>
                          <a:rPr lang="ar-AE" sz="1800" b="1" i="1" spc="-6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𝑹</m:t>
                        </m:r>
                      </m:den>
                    </m:f>
                    <m:r>
                      <a:rPr lang="fr-FR" altLang="fr-FR" sz="1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r>
                      <a:rPr lang="fr-FR" altLang="fr-FR" sz="1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𝟎</m:t>
                    </m:r>
                  </m:oMath>
                </a14:m>
                <a:endParaRPr lang="fr-FR" altLang="fr-FR" sz="1800" b="1" dirty="0"/>
              </a:p>
            </p:txBody>
          </p:sp>
        </mc:Choice>
        <mc:Fallback xmlns="">
          <p:sp>
            <p:nvSpPr>
              <p:cNvPr id="93" name="ZoneTexte 15">
                <a:extLst>
                  <a:ext uri="{FF2B5EF4-FFF2-40B4-BE49-F238E27FC236}">
                    <a16:creationId xmlns:a16="http://schemas.microsoft.com/office/drawing/2014/main" id="{8BF6E0AD-0151-A4A9-5D83-A2AD0DB8E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3363" y="2343150"/>
                <a:ext cx="5204037" cy="2428806"/>
              </a:xfrm>
              <a:prstGeom prst="rect">
                <a:avLst/>
              </a:prstGeom>
              <a:blipFill>
                <a:blip r:embed="rId4"/>
                <a:stretch>
                  <a:fillRect l="-820" t="-1253" b="-50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712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21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381000" y="22491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2.4 </a:t>
            </a:r>
            <a:r>
              <a:rPr lang="fr-FR" altLang="fr-FR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Dipôles linéaires et non-linéaires</a:t>
            </a:r>
            <a:endParaRPr lang="fr-FR" b="1" spc="-5" dirty="0">
              <a:solidFill>
                <a:srgbClr val="0070C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3" name="ZoneTexte 15">
            <a:extLst>
              <a:ext uri="{FF2B5EF4-FFF2-40B4-BE49-F238E27FC236}">
                <a16:creationId xmlns:a16="http://schemas.microsoft.com/office/drawing/2014/main" id="{CF5F4932-EC58-FE9E-1034-9E9BF1805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301" y="818943"/>
            <a:ext cx="8697457" cy="5847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altLang="fr-FR" sz="1600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On appel </a:t>
            </a:r>
            <a:r>
              <a:rPr lang="fr-FR" altLang="fr-FR" sz="1600" b="1" dirty="0">
                <a:solidFill>
                  <a:srgbClr val="FF0000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dipôle linéaire</a:t>
            </a:r>
            <a:r>
              <a:rPr lang="fr-FR" altLang="fr-FR" sz="1600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, tout dipôle dont la relation qui lie la tension à ses bornes au courant qui circule dans ce dipôle, est </a:t>
            </a:r>
            <a:r>
              <a:rPr lang="fr-FR" altLang="fr-FR" sz="1600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parfaitement linéaire</a:t>
            </a:r>
          </a:p>
        </p:txBody>
      </p:sp>
      <p:sp>
        <p:nvSpPr>
          <p:cNvPr id="5" name="ZoneTexte 15">
            <a:extLst>
              <a:ext uri="{FF2B5EF4-FFF2-40B4-BE49-F238E27FC236}">
                <a16:creationId xmlns:a16="http://schemas.microsoft.com/office/drawing/2014/main" id="{4156219B-CE10-2482-204C-1C6BBBF60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51" y="1689970"/>
            <a:ext cx="6500812" cy="36933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fr-FR" altLang="fr-FR" sz="1800" b="1" dirty="0">
                <a:solidFill>
                  <a:srgbClr val="00B050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Exemples : </a:t>
            </a:r>
            <a:r>
              <a:rPr lang="fr-FR" altLang="fr-FR" sz="1800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la résistance</a:t>
            </a:r>
          </a:p>
        </p:txBody>
      </p:sp>
      <p:sp>
        <p:nvSpPr>
          <p:cNvPr id="11" name="ZoneTexte 15">
            <a:extLst>
              <a:ext uri="{FF2B5EF4-FFF2-40B4-BE49-F238E27FC236}">
                <a16:creationId xmlns:a16="http://schemas.microsoft.com/office/drawing/2014/main" id="{87336556-FB38-A40D-AAC2-4D3F36D53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45" y="4443955"/>
            <a:ext cx="846695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altLang="fr-FR" sz="1800" dirty="0"/>
              <a:t>Dans le </a:t>
            </a:r>
            <a:r>
              <a:rPr lang="fr-FR" altLang="fr-FR" sz="1800" b="1" dirty="0"/>
              <a:t>cas contraire </a:t>
            </a:r>
            <a:r>
              <a:rPr lang="fr-FR" altLang="fr-FR" sz="1800" dirty="0"/>
              <a:t>on dit que le dipôle est </a:t>
            </a:r>
            <a:r>
              <a:rPr lang="fr-FR" altLang="fr-FR" sz="1800" b="1" dirty="0"/>
              <a:t>non-linéaire.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2EC00140-9D91-24B9-97F0-276181AE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307931"/>
            <a:ext cx="257175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>
            <a:extLst>
              <a:ext uri="{FF2B5EF4-FFF2-40B4-BE49-F238E27FC236}">
                <a16:creationId xmlns:a16="http://schemas.microsoft.com/office/drawing/2014/main" id="{4FF223F2-1C3E-30E5-C9D2-8D9722E7C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753" y="2300328"/>
            <a:ext cx="1031299" cy="1585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E6F64DF5-9844-0414-A47E-73006C09A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993" y="2519348"/>
            <a:ext cx="2500313" cy="64633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fr-FR" altLang="fr-FR" sz="1800" b="1" dirty="0">
                <a:solidFill>
                  <a:srgbClr val="0070C0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Caractéristique statique</a:t>
            </a:r>
            <a:endParaRPr lang="fr-FR" altLang="fr-FR" sz="1800" dirty="0">
              <a:solidFill>
                <a:srgbClr val="0070C0"/>
              </a:solidFill>
              <a:latin typeface="Bookman Old Style" panose="02050604050505020204" pitchFamily="18" charset="0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9267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22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494036" y="242593"/>
            <a:ext cx="4572000" cy="94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2.5 </a:t>
            </a:r>
            <a:r>
              <a:rPr lang="fr-FR" altLang="fr-FR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Convention de </a:t>
            </a:r>
            <a:r>
              <a:rPr lang="fr-FR" altLang="fr-FR" b="1" spc="-5" dirty="0" smtClean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signe</a:t>
            </a:r>
          </a:p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endParaRPr lang="fr-FR" altLang="fr-FR" b="1" spc="-5" dirty="0">
              <a:solidFill>
                <a:srgbClr val="0070C0"/>
              </a:solidFill>
              <a:latin typeface="Bookman Old Style" panose="02050604050505020204" pitchFamily="18" charset="0"/>
              <a:cs typeface="Arial"/>
            </a:endParaRP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     </a:t>
            </a:r>
            <a:r>
              <a:rPr 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A. Convention générateur </a:t>
            </a:r>
          </a:p>
        </p:txBody>
      </p:sp>
      <p:sp>
        <p:nvSpPr>
          <p:cNvPr id="23" name="ZoneTexte 10">
            <a:extLst>
              <a:ext uri="{FF2B5EF4-FFF2-40B4-BE49-F238E27FC236}">
                <a16:creationId xmlns:a16="http://schemas.microsoft.com/office/drawing/2014/main" id="{F4DDBE1C-1268-DF0C-1C02-C4861B6AD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304" y="1354749"/>
            <a:ext cx="7504696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altLang="fr-FR" sz="1800" dirty="0"/>
              <a:t>Un </a:t>
            </a:r>
            <a:r>
              <a:rPr lang="fr-FR" altLang="fr-FR" sz="1800" b="1" dirty="0"/>
              <a:t>dipôle</a:t>
            </a:r>
            <a:r>
              <a:rPr lang="fr-FR" altLang="fr-FR" sz="1800" dirty="0"/>
              <a:t> est </a:t>
            </a:r>
            <a:r>
              <a:rPr lang="fr-FR" altLang="fr-FR" sz="1800" b="1" dirty="0"/>
              <a:t>générateur</a:t>
            </a:r>
            <a:r>
              <a:rPr lang="fr-FR" altLang="fr-FR" sz="1800" dirty="0"/>
              <a:t> lorsqu'il </a:t>
            </a:r>
            <a:r>
              <a:rPr lang="fr-FR" altLang="fr-FR" sz="1800" b="1" dirty="0"/>
              <a:t>fournit de l'énergie au circuit</a:t>
            </a:r>
            <a:r>
              <a:rPr lang="fr-FR" altLang="fr-FR" sz="1800" dirty="0"/>
              <a:t> sur lequel il est connecté.  </a:t>
            </a:r>
          </a:p>
          <a:p>
            <a:pPr marL="0" indent="0">
              <a:buNone/>
            </a:pPr>
            <a:r>
              <a:rPr lang="fr-FR" altLang="fr-FR" sz="1800" dirty="0"/>
              <a:t>    </a:t>
            </a:r>
            <a:r>
              <a:rPr lang="fr-FR" altLang="fr-FR" sz="1800" dirty="0" smtClean="0"/>
              <a:t>Dans </a:t>
            </a:r>
            <a:r>
              <a:rPr lang="fr-FR" altLang="fr-FR" sz="1800" dirty="0"/>
              <a:t>ce cas, le courant sort par le pôle positif du </a:t>
            </a:r>
            <a:r>
              <a:rPr lang="fr-FR" altLang="fr-FR" sz="1800" dirty="0" smtClean="0"/>
              <a:t>dipôle</a:t>
            </a:r>
          </a:p>
          <a:p>
            <a:pPr marL="0" indent="0">
              <a:buNone/>
            </a:pPr>
            <a:r>
              <a:rPr lang="fr-FR" altLang="fr-FR" sz="1800" dirty="0"/>
              <a:t> </a:t>
            </a:r>
            <a:r>
              <a:rPr lang="fr-FR" altLang="fr-FR" sz="1800" dirty="0" smtClean="0"/>
              <a:t>   </a:t>
            </a:r>
            <a:r>
              <a:rPr lang="fr-FR" altLang="fr-FR" sz="1800" dirty="0"/>
              <a:t>générateur</a:t>
            </a:r>
            <a:r>
              <a:rPr lang="fr-FR" altLang="fr-FR" sz="1800" b="1" dirty="0"/>
              <a:t>. Les flèches</a:t>
            </a:r>
            <a:r>
              <a:rPr lang="fr-FR" altLang="fr-FR" sz="1800" dirty="0"/>
              <a:t>, représentant, la </a:t>
            </a:r>
            <a:r>
              <a:rPr lang="fr-FR" altLang="fr-FR" sz="1800" b="1" dirty="0"/>
              <a:t>tension</a:t>
            </a:r>
            <a:r>
              <a:rPr lang="fr-FR" altLang="fr-FR" sz="1800" dirty="0"/>
              <a:t> et </a:t>
            </a:r>
            <a:r>
              <a:rPr lang="fr-FR" altLang="fr-FR" sz="1800" dirty="0" smtClean="0"/>
              <a:t>le</a:t>
            </a:r>
          </a:p>
          <a:p>
            <a:pPr marL="0" indent="0">
              <a:buNone/>
            </a:pPr>
            <a:r>
              <a:rPr lang="fr-FR" altLang="fr-FR" sz="1800" dirty="0"/>
              <a:t> </a:t>
            </a:r>
            <a:r>
              <a:rPr lang="fr-FR" altLang="fr-FR" sz="1800" dirty="0" smtClean="0"/>
              <a:t>   </a:t>
            </a:r>
            <a:r>
              <a:rPr lang="fr-FR" altLang="fr-FR" sz="1800" b="1" dirty="0"/>
              <a:t>courant</a:t>
            </a:r>
            <a:r>
              <a:rPr lang="fr-FR" altLang="fr-FR" sz="1800" dirty="0"/>
              <a:t> sont de </a:t>
            </a:r>
            <a:r>
              <a:rPr lang="fr-FR" altLang="fr-FR" sz="1800" b="1" dirty="0">
                <a:solidFill>
                  <a:srgbClr val="FF0000"/>
                </a:solidFill>
              </a:rPr>
              <a:t>même sens</a:t>
            </a:r>
            <a:r>
              <a:rPr lang="fr-FR" altLang="fr-FR" sz="1800" dirty="0"/>
              <a:t>.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1624D330-2D99-127D-DCF3-7232F8279DAE}"/>
              </a:ext>
            </a:extLst>
          </p:cNvPr>
          <p:cNvGrpSpPr/>
          <p:nvPr/>
        </p:nvGrpSpPr>
        <p:grpSpPr>
          <a:xfrm>
            <a:off x="1676400" y="3239864"/>
            <a:ext cx="5288664" cy="1424457"/>
            <a:chOff x="2655153" y="2987323"/>
            <a:chExt cx="5288664" cy="1424457"/>
          </a:xfrm>
        </p:grpSpPr>
        <p:sp>
          <p:nvSpPr>
            <p:cNvPr id="28" name="Half Frame 27">
              <a:extLst>
                <a:ext uri="{FF2B5EF4-FFF2-40B4-BE49-F238E27FC236}">
                  <a16:creationId xmlns:a16="http://schemas.microsoft.com/office/drawing/2014/main" id="{1EA45BAA-6BE8-377B-897F-D20C9AB80140}"/>
                </a:ext>
              </a:extLst>
            </p:cNvPr>
            <p:cNvSpPr/>
            <p:nvPr/>
          </p:nvSpPr>
          <p:spPr>
            <a:xfrm rot="7980389">
              <a:off x="3788643" y="3397483"/>
              <a:ext cx="228600" cy="181030"/>
            </a:xfrm>
            <a:prstGeom prst="halfFram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920D365D-3D87-2E60-57C9-EF7CCA36E8FE}"/>
                </a:ext>
              </a:extLst>
            </p:cNvPr>
            <p:cNvGrpSpPr/>
            <p:nvPr/>
          </p:nvGrpSpPr>
          <p:grpSpPr>
            <a:xfrm>
              <a:off x="2655153" y="2987323"/>
              <a:ext cx="5288664" cy="1424457"/>
              <a:chOff x="2655153" y="2987323"/>
              <a:chExt cx="5288664" cy="1424457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3A5488D-DE09-7EC5-474F-34ABCFDC3A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2392" y="3487998"/>
                <a:ext cx="1172955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e 10">
                <a:extLst>
                  <a:ext uri="{FF2B5EF4-FFF2-40B4-BE49-F238E27FC236}">
                    <a16:creationId xmlns:a16="http://schemas.microsoft.com/office/drawing/2014/main" id="{FDB48260-67E2-45E7-8355-88EA05F67BD6}"/>
                  </a:ext>
                </a:extLst>
              </p:cNvPr>
              <p:cNvGrpSpPr/>
              <p:nvPr/>
            </p:nvGrpSpPr>
            <p:grpSpPr>
              <a:xfrm>
                <a:off x="2655153" y="2987323"/>
                <a:ext cx="5288664" cy="1424457"/>
                <a:chOff x="1523091" y="2987323"/>
                <a:chExt cx="5288664" cy="1424457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30198F2D-6DF7-365F-A4F6-221084F99AC8}"/>
                    </a:ext>
                  </a:extLst>
                </p:cNvPr>
                <p:cNvSpPr/>
                <p:nvPr/>
              </p:nvSpPr>
              <p:spPr>
                <a:xfrm>
                  <a:off x="3505200" y="3129897"/>
                  <a:ext cx="2133600" cy="685800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3E03E271-1801-A0BE-68E2-CC70554082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38800" y="3480718"/>
                  <a:ext cx="1172955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31C5B4C-E6A1-EA19-8630-DB0940D18748}"/>
                    </a:ext>
                  </a:extLst>
                </p:cNvPr>
                <p:cNvSpPr txBox="1"/>
                <p:nvPr/>
              </p:nvSpPr>
              <p:spPr>
                <a:xfrm>
                  <a:off x="3733800" y="3253006"/>
                  <a:ext cx="167639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fr-FR" b="1" dirty="0">
                      <a:solidFill>
                        <a:srgbClr val="FF0000"/>
                      </a:solidFill>
                      <a:latin typeface="Bookman Old Style" panose="02050604050505020204" pitchFamily="18" charset="0"/>
                    </a:rPr>
                    <a:t>Générateur</a:t>
                  </a:r>
                  <a:endParaRPr lang="fr-FR" dirty="0"/>
                </a:p>
              </p:txBody>
            </p:sp>
            <p:sp>
              <p:nvSpPr>
                <p:cNvPr id="29" name="Half Frame 28">
                  <a:extLst>
                    <a:ext uri="{FF2B5EF4-FFF2-40B4-BE49-F238E27FC236}">
                      <a16:creationId xmlns:a16="http://schemas.microsoft.com/office/drawing/2014/main" id="{3052EC86-E552-90E9-9CB3-7D2C42F8AB3B}"/>
                    </a:ext>
                  </a:extLst>
                </p:cNvPr>
                <p:cNvSpPr/>
                <p:nvPr/>
              </p:nvSpPr>
              <p:spPr>
                <a:xfrm rot="7980389">
                  <a:off x="6110977" y="3391428"/>
                  <a:ext cx="228600" cy="181030"/>
                </a:xfrm>
                <a:prstGeom prst="halfFram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0060721-A596-6C22-D52C-E0D036F1485D}"/>
                    </a:ext>
                  </a:extLst>
                </p:cNvPr>
                <p:cNvSpPr txBox="1"/>
                <p:nvPr/>
              </p:nvSpPr>
              <p:spPr>
                <a:xfrm>
                  <a:off x="1523091" y="2987323"/>
                  <a:ext cx="2495580" cy="9233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fr-FR" b="1" dirty="0">
                      <a:latin typeface="Bookman Old Style" panose="02050604050505020204" pitchFamily="18" charset="0"/>
                    </a:rPr>
                    <a:t>Courant </a:t>
                  </a:r>
                </a:p>
                <a:p>
                  <a:pPr algn="ctr"/>
                  <a:endParaRPr lang="fr-FR" b="1" dirty="0">
                    <a:latin typeface="Bookman Old Style" panose="02050604050505020204" pitchFamily="18" charset="0"/>
                  </a:endParaRPr>
                </a:p>
                <a:p>
                  <a:pPr algn="ctr"/>
                  <a:r>
                    <a:rPr lang="fr-FR" b="1" dirty="0">
                      <a:latin typeface="Bookman Old Style" panose="02050604050505020204" pitchFamily="18" charset="0"/>
                    </a:rPr>
                    <a:t>électrique</a:t>
                  </a:r>
                  <a:endParaRPr lang="fr-FR" dirty="0"/>
                </a:p>
              </p:txBody>
            </p: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C472C01B-7788-1614-9540-4566F46293DE}"/>
                    </a:ext>
                  </a:extLst>
                </p:cNvPr>
                <p:cNvCxnSpPr/>
                <p:nvPr/>
              </p:nvCxnSpPr>
              <p:spPr>
                <a:xfrm>
                  <a:off x="2508883" y="4005608"/>
                  <a:ext cx="3925471" cy="0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68A1DC3-18C8-FCE1-6839-5B5ECE5E1D45}"/>
                    </a:ext>
                  </a:extLst>
                </p:cNvPr>
                <p:cNvSpPr txBox="1"/>
                <p:nvPr/>
              </p:nvSpPr>
              <p:spPr>
                <a:xfrm>
                  <a:off x="2916808" y="4042448"/>
                  <a:ext cx="34944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fr-FR" b="1" dirty="0">
                      <a:latin typeface="Bookman Old Style" panose="02050604050505020204" pitchFamily="18" charset="0"/>
                    </a:rPr>
                    <a:t>Tension électrique</a:t>
                  </a:r>
                  <a:endParaRPr lang="fr-FR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627775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23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569599" y="357447"/>
            <a:ext cx="3998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B</a:t>
            </a:r>
            <a:r>
              <a:rPr lang="fr-FR" b="1" spc="-5" dirty="0" smtClean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. </a:t>
            </a:r>
            <a:r>
              <a:rPr 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Convention récepteur </a:t>
            </a:r>
          </a:p>
        </p:txBody>
      </p:sp>
      <p:sp>
        <p:nvSpPr>
          <p:cNvPr id="23" name="ZoneTexte 10">
            <a:extLst>
              <a:ext uri="{FF2B5EF4-FFF2-40B4-BE49-F238E27FC236}">
                <a16:creationId xmlns:a16="http://schemas.microsoft.com/office/drawing/2014/main" id="{F4DDBE1C-1268-DF0C-1C02-C4861B6AD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9349"/>
            <a:ext cx="7239000" cy="147732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altLang="fr-FR" sz="1800" dirty="0"/>
              <a:t>Un </a:t>
            </a:r>
            <a:r>
              <a:rPr lang="fr-FR" altLang="fr-FR" sz="1800" b="1" dirty="0"/>
              <a:t>dipôle</a:t>
            </a:r>
            <a:r>
              <a:rPr lang="fr-FR" altLang="fr-FR" sz="1800" dirty="0"/>
              <a:t> est un </a:t>
            </a:r>
            <a:r>
              <a:rPr lang="fr-FR" altLang="fr-FR" sz="1800" b="1" dirty="0"/>
              <a:t>récepteur</a:t>
            </a:r>
            <a:r>
              <a:rPr lang="fr-FR" altLang="fr-FR" sz="1800" dirty="0"/>
              <a:t> quand il </a:t>
            </a:r>
            <a:r>
              <a:rPr lang="fr-FR" altLang="fr-FR" sz="1800" b="1" dirty="0"/>
              <a:t>consomme de l'énergie </a:t>
            </a:r>
            <a:r>
              <a:rPr lang="fr-FR" altLang="fr-FR" sz="1800" dirty="0"/>
              <a:t>(fournie par le circuit sur lequel il est connecté).</a:t>
            </a:r>
          </a:p>
          <a:p>
            <a:pPr marL="0" indent="0">
              <a:buNone/>
            </a:pPr>
            <a:r>
              <a:rPr lang="fr-FR" altLang="fr-FR" sz="1800" dirty="0"/>
              <a:t>    </a:t>
            </a:r>
            <a:r>
              <a:rPr lang="fr-FR" altLang="fr-FR" sz="1800" dirty="0" smtClean="0"/>
              <a:t>Dans </a:t>
            </a:r>
            <a:r>
              <a:rPr lang="fr-FR" altLang="fr-FR" sz="1800" dirty="0"/>
              <a:t>ce cas, le </a:t>
            </a:r>
            <a:r>
              <a:rPr lang="fr-FR" altLang="fr-FR" sz="1800" b="1" dirty="0"/>
              <a:t>courant</a:t>
            </a:r>
            <a:r>
              <a:rPr lang="fr-FR" altLang="fr-FR" sz="1800" dirty="0"/>
              <a:t> et la </a:t>
            </a:r>
            <a:r>
              <a:rPr lang="fr-FR" altLang="fr-FR" sz="1800" b="1" dirty="0"/>
              <a:t>tension</a:t>
            </a:r>
            <a:r>
              <a:rPr lang="fr-FR" altLang="fr-FR" sz="1800" dirty="0"/>
              <a:t> sont orientés en </a:t>
            </a:r>
            <a:r>
              <a:rPr lang="fr-FR" altLang="fr-FR" sz="1800" b="1" dirty="0" smtClean="0">
                <a:solidFill>
                  <a:srgbClr val="FF0000"/>
                </a:solidFill>
              </a:rPr>
              <a:t>sens</a:t>
            </a:r>
          </a:p>
          <a:p>
            <a:pPr marL="0" indent="0">
              <a:buNone/>
            </a:pPr>
            <a:r>
              <a:rPr lang="fr-FR" altLang="fr-FR" sz="1800" b="1" dirty="0">
                <a:solidFill>
                  <a:srgbClr val="FF0000"/>
                </a:solidFill>
              </a:rPr>
              <a:t> </a:t>
            </a:r>
            <a:r>
              <a:rPr lang="fr-FR" altLang="fr-FR" sz="1800" b="1" dirty="0" smtClean="0">
                <a:solidFill>
                  <a:srgbClr val="FF0000"/>
                </a:solidFill>
              </a:rPr>
              <a:t>   </a:t>
            </a:r>
            <a:r>
              <a:rPr lang="fr-FR" altLang="fr-FR" sz="1800" b="1" dirty="0">
                <a:solidFill>
                  <a:srgbClr val="FF0000"/>
                </a:solidFill>
              </a:rPr>
              <a:t>inverse</a:t>
            </a:r>
            <a:r>
              <a:rPr lang="fr-FR" altLang="fr-FR" sz="1800" dirty="0"/>
              <a:t>. Le </a:t>
            </a:r>
            <a:r>
              <a:rPr lang="fr-FR" altLang="fr-FR" sz="1800" b="1" dirty="0"/>
              <a:t>pôle positif du dipôle </a:t>
            </a:r>
            <a:r>
              <a:rPr lang="fr-FR" altLang="fr-FR" sz="1800" dirty="0"/>
              <a:t>est celui par </a:t>
            </a:r>
            <a:r>
              <a:rPr lang="fr-FR" altLang="fr-FR" sz="1800" b="1" dirty="0" smtClean="0"/>
              <a:t>lequel</a:t>
            </a:r>
          </a:p>
          <a:p>
            <a:pPr marL="0" indent="0">
              <a:buNone/>
            </a:pPr>
            <a:r>
              <a:rPr lang="fr-FR" altLang="fr-FR" sz="1800" b="1" dirty="0"/>
              <a:t> </a:t>
            </a:r>
            <a:r>
              <a:rPr lang="fr-FR" altLang="fr-FR" sz="1800" b="1" dirty="0" smtClean="0"/>
              <a:t>   </a:t>
            </a:r>
            <a:r>
              <a:rPr lang="fr-FR" altLang="fr-FR" sz="1800" b="1" dirty="0"/>
              <a:t>rentre le courant</a:t>
            </a:r>
            <a:r>
              <a:rPr lang="fr-FR" altLang="fr-FR" sz="1800" dirty="0"/>
              <a:t>.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15A93F62-909A-8598-DE57-16C3A6A4A9EB}"/>
              </a:ext>
            </a:extLst>
          </p:cNvPr>
          <p:cNvGrpSpPr/>
          <p:nvPr/>
        </p:nvGrpSpPr>
        <p:grpSpPr>
          <a:xfrm>
            <a:off x="1219200" y="2876550"/>
            <a:ext cx="4697870" cy="1392727"/>
            <a:chOff x="3048000" y="2929679"/>
            <a:chExt cx="5372034" cy="1392727"/>
          </a:xfrm>
        </p:grpSpPr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A8B9FEFF-B5AC-EDCE-B15D-D2AE4E4A53CA}"/>
                </a:ext>
              </a:extLst>
            </p:cNvPr>
            <p:cNvGrpSpPr/>
            <p:nvPr/>
          </p:nvGrpSpPr>
          <p:grpSpPr>
            <a:xfrm>
              <a:off x="3048000" y="2929679"/>
              <a:ext cx="5372034" cy="1392727"/>
              <a:chOff x="3048000" y="2929679"/>
              <a:chExt cx="5372034" cy="1392727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3A5488D-DE09-7EC5-474F-34ABCFDC3A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0524" y="3391344"/>
                <a:ext cx="1172955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e 10">
                <a:extLst>
                  <a:ext uri="{FF2B5EF4-FFF2-40B4-BE49-F238E27FC236}">
                    <a16:creationId xmlns:a16="http://schemas.microsoft.com/office/drawing/2014/main" id="{F236CC82-695C-1F8E-6FD1-EAFD3EDBFAA5}"/>
                  </a:ext>
                </a:extLst>
              </p:cNvPr>
              <p:cNvGrpSpPr/>
              <p:nvPr/>
            </p:nvGrpSpPr>
            <p:grpSpPr>
              <a:xfrm>
                <a:off x="3048000" y="2929679"/>
                <a:ext cx="5372034" cy="1392727"/>
                <a:chOff x="1439721" y="3019053"/>
                <a:chExt cx="5372034" cy="1392727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30198F2D-6DF7-365F-A4F6-221084F99AC8}"/>
                    </a:ext>
                  </a:extLst>
                </p:cNvPr>
                <p:cNvSpPr/>
                <p:nvPr/>
              </p:nvSpPr>
              <p:spPr>
                <a:xfrm>
                  <a:off x="3505200" y="3129897"/>
                  <a:ext cx="2133600" cy="685800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3E03E271-1801-A0BE-68E2-CC70554082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38800" y="3480718"/>
                  <a:ext cx="1172955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31C5B4C-E6A1-EA19-8630-DB0940D18748}"/>
                    </a:ext>
                  </a:extLst>
                </p:cNvPr>
                <p:cNvSpPr txBox="1"/>
                <p:nvPr/>
              </p:nvSpPr>
              <p:spPr>
                <a:xfrm>
                  <a:off x="3733800" y="3253006"/>
                  <a:ext cx="167639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fr-FR" b="1" dirty="0">
                      <a:solidFill>
                        <a:srgbClr val="FF0000"/>
                      </a:solidFill>
                      <a:latin typeface="Bookman Old Style" panose="02050604050505020204" pitchFamily="18" charset="0"/>
                    </a:rPr>
                    <a:t>Récepteur</a:t>
                  </a:r>
                  <a:endParaRPr lang="fr-FR" dirty="0"/>
                </a:p>
              </p:txBody>
            </p:sp>
            <p:sp>
              <p:nvSpPr>
                <p:cNvPr id="29" name="Half Frame 28">
                  <a:extLst>
                    <a:ext uri="{FF2B5EF4-FFF2-40B4-BE49-F238E27FC236}">
                      <a16:creationId xmlns:a16="http://schemas.microsoft.com/office/drawing/2014/main" id="{3052EC86-E552-90E9-9CB3-7D2C42F8AB3B}"/>
                    </a:ext>
                  </a:extLst>
                </p:cNvPr>
                <p:cNvSpPr/>
                <p:nvPr/>
              </p:nvSpPr>
              <p:spPr>
                <a:xfrm rot="7980389">
                  <a:off x="6110977" y="3391428"/>
                  <a:ext cx="228600" cy="181030"/>
                </a:xfrm>
                <a:prstGeom prst="halfFram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0060721-A596-6C22-D52C-E0D036F1485D}"/>
                    </a:ext>
                  </a:extLst>
                </p:cNvPr>
                <p:cNvSpPr txBox="1"/>
                <p:nvPr/>
              </p:nvSpPr>
              <p:spPr>
                <a:xfrm>
                  <a:off x="1439721" y="3019053"/>
                  <a:ext cx="2495580" cy="9233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fr-FR" b="1" dirty="0">
                      <a:latin typeface="Bookman Old Style" panose="02050604050505020204" pitchFamily="18" charset="0"/>
                    </a:rPr>
                    <a:t>Courant </a:t>
                  </a:r>
                </a:p>
                <a:p>
                  <a:pPr algn="ctr"/>
                  <a:endParaRPr lang="fr-FR" b="1" dirty="0">
                    <a:latin typeface="Bookman Old Style" panose="02050604050505020204" pitchFamily="18" charset="0"/>
                  </a:endParaRPr>
                </a:p>
                <a:p>
                  <a:pPr algn="ctr"/>
                  <a:r>
                    <a:rPr lang="fr-FR" b="1" dirty="0">
                      <a:latin typeface="Bookman Old Style" panose="02050604050505020204" pitchFamily="18" charset="0"/>
                    </a:rPr>
                    <a:t>électrique</a:t>
                  </a:r>
                  <a:endParaRPr lang="fr-FR" dirty="0"/>
                </a:p>
              </p:txBody>
            </p: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C472C01B-7788-1614-9540-4566F46293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982901" y="4042448"/>
                  <a:ext cx="3242376" cy="0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68A1DC3-18C8-FCE1-6839-5B5ECE5E1D45}"/>
                    </a:ext>
                  </a:extLst>
                </p:cNvPr>
                <p:cNvSpPr txBox="1"/>
                <p:nvPr/>
              </p:nvSpPr>
              <p:spPr>
                <a:xfrm>
                  <a:off x="2916808" y="4042448"/>
                  <a:ext cx="34944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fr-FR" b="1" dirty="0">
                      <a:latin typeface="Bookman Old Style" panose="02050604050505020204" pitchFamily="18" charset="0"/>
                    </a:rPr>
                    <a:t>Tension électrique</a:t>
                  </a:r>
                  <a:endParaRPr lang="fr-FR" dirty="0"/>
                </a:p>
              </p:txBody>
            </p:sp>
          </p:grpSp>
        </p:grpSp>
        <p:sp>
          <p:nvSpPr>
            <p:cNvPr id="28" name="Half Frame 27">
              <a:extLst>
                <a:ext uri="{FF2B5EF4-FFF2-40B4-BE49-F238E27FC236}">
                  <a16:creationId xmlns:a16="http://schemas.microsoft.com/office/drawing/2014/main" id="{1EA45BAA-6BE8-377B-897F-D20C9AB80140}"/>
                </a:ext>
              </a:extLst>
            </p:cNvPr>
            <p:cNvSpPr/>
            <p:nvPr/>
          </p:nvSpPr>
          <p:spPr>
            <a:xfrm rot="7980389">
              <a:off x="4266634" y="3302054"/>
              <a:ext cx="228600" cy="181030"/>
            </a:xfrm>
            <a:prstGeom prst="halfFram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7126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24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724952" y="388350"/>
            <a:ext cx="4572000" cy="94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2.6 </a:t>
            </a:r>
            <a:r>
              <a:rPr lang="fr-FR" altLang="fr-FR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Sources </a:t>
            </a:r>
            <a:r>
              <a:rPr lang="fr-FR" altLang="fr-FR" b="1" spc="-5" dirty="0" smtClean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d’alimentation</a:t>
            </a:r>
          </a:p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endParaRPr lang="fr-FR" altLang="fr-FR" b="1" spc="-5" dirty="0">
              <a:solidFill>
                <a:srgbClr val="0070C0"/>
              </a:solidFill>
              <a:latin typeface="Bookman Old Style" panose="02050604050505020204" pitchFamily="18" charset="0"/>
              <a:cs typeface="Arial"/>
            </a:endParaRP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     </a:t>
            </a:r>
            <a:r>
              <a:rPr lang="fr-FR" b="1" spc="-5" dirty="0" smtClean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fr-FR" b="1" spc="-5" dirty="0" smtClean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A</a:t>
            </a:r>
            <a:r>
              <a:rPr 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. Source de tension parfaite </a:t>
            </a:r>
          </a:p>
        </p:txBody>
      </p:sp>
      <p:sp>
        <p:nvSpPr>
          <p:cNvPr id="23" name="ZoneTexte 10">
            <a:extLst>
              <a:ext uri="{FF2B5EF4-FFF2-40B4-BE49-F238E27FC236}">
                <a16:creationId xmlns:a16="http://schemas.microsoft.com/office/drawing/2014/main" id="{F4DDBE1C-1268-DF0C-1C02-C4861B6AD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3180" y="1494275"/>
            <a:ext cx="6930220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altLang="fr-FR" sz="1800" dirty="0"/>
              <a:t>Une </a:t>
            </a:r>
            <a:r>
              <a:rPr lang="fr-FR" altLang="fr-FR" sz="1800" b="1" dirty="0"/>
              <a:t>source de tension </a:t>
            </a:r>
            <a:r>
              <a:rPr lang="fr-FR" altLang="fr-FR" sz="1800" dirty="0"/>
              <a:t>est un </a:t>
            </a:r>
            <a:r>
              <a:rPr lang="fr-FR" altLang="fr-FR" sz="1800" b="1" dirty="0"/>
              <a:t>dipôle actif</a:t>
            </a:r>
            <a:r>
              <a:rPr lang="fr-FR" altLang="fr-FR" sz="1800" dirty="0"/>
              <a:t>. On la représente sous cette forme :</a:t>
            </a:r>
          </a:p>
        </p:txBody>
      </p:sp>
      <p:grpSp>
        <p:nvGrpSpPr>
          <p:cNvPr id="3" name="object 31">
            <a:extLst>
              <a:ext uri="{FF2B5EF4-FFF2-40B4-BE49-F238E27FC236}">
                <a16:creationId xmlns:a16="http://schemas.microsoft.com/office/drawing/2014/main" id="{105F23DB-2662-8EF6-0869-23872ADA9942}"/>
              </a:ext>
            </a:extLst>
          </p:cNvPr>
          <p:cNvGrpSpPr/>
          <p:nvPr/>
        </p:nvGrpSpPr>
        <p:grpSpPr>
          <a:xfrm>
            <a:off x="1940895" y="2822148"/>
            <a:ext cx="1051560" cy="371475"/>
            <a:chOff x="5321808" y="2988576"/>
            <a:chExt cx="1051560" cy="371475"/>
          </a:xfrm>
        </p:grpSpPr>
        <p:sp>
          <p:nvSpPr>
            <p:cNvPr id="5" name="object 32">
              <a:extLst>
                <a:ext uri="{FF2B5EF4-FFF2-40B4-BE49-F238E27FC236}">
                  <a16:creationId xmlns:a16="http://schemas.microsoft.com/office/drawing/2014/main" id="{4C787B1C-6E8A-6B4C-43BE-73CD4B2BFBD7}"/>
                </a:ext>
              </a:extLst>
            </p:cNvPr>
            <p:cNvSpPr/>
            <p:nvPr/>
          </p:nvSpPr>
          <p:spPr>
            <a:xfrm>
              <a:off x="6324600" y="2993148"/>
              <a:ext cx="44450" cy="362585"/>
            </a:xfrm>
            <a:custGeom>
              <a:avLst/>
              <a:gdLst/>
              <a:ahLst/>
              <a:cxnLst/>
              <a:rect l="l" t="t" r="r" b="b"/>
              <a:pathLst>
                <a:path w="44450" h="362585">
                  <a:moveTo>
                    <a:pt x="44171" y="0"/>
                  </a:moveTo>
                  <a:lnTo>
                    <a:pt x="0" y="0"/>
                  </a:lnTo>
                  <a:lnTo>
                    <a:pt x="0" y="362191"/>
                  </a:lnTo>
                  <a:lnTo>
                    <a:pt x="44171" y="362191"/>
                  </a:lnTo>
                  <a:lnTo>
                    <a:pt x="44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33">
              <a:extLst>
                <a:ext uri="{FF2B5EF4-FFF2-40B4-BE49-F238E27FC236}">
                  <a16:creationId xmlns:a16="http://schemas.microsoft.com/office/drawing/2014/main" id="{3267E426-6350-EEFF-3860-13ED86D321DB}"/>
                </a:ext>
              </a:extLst>
            </p:cNvPr>
            <p:cNvSpPr/>
            <p:nvPr/>
          </p:nvSpPr>
          <p:spPr>
            <a:xfrm>
              <a:off x="6324600" y="2993148"/>
              <a:ext cx="44450" cy="362585"/>
            </a:xfrm>
            <a:custGeom>
              <a:avLst/>
              <a:gdLst/>
              <a:ahLst/>
              <a:cxnLst/>
              <a:rect l="l" t="t" r="r" b="b"/>
              <a:pathLst>
                <a:path w="44450" h="362585">
                  <a:moveTo>
                    <a:pt x="0" y="362191"/>
                  </a:moveTo>
                  <a:lnTo>
                    <a:pt x="44171" y="362191"/>
                  </a:lnTo>
                  <a:lnTo>
                    <a:pt x="44171" y="0"/>
                  </a:lnTo>
                  <a:lnTo>
                    <a:pt x="0" y="0"/>
                  </a:lnTo>
                  <a:lnTo>
                    <a:pt x="0" y="362191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34">
              <a:extLst>
                <a:ext uri="{FF2B5EF4-FFF2-40B4-BE49-F238E27FC236}">
                  <a16:creationId xmlns:a16="http://schemas.microsoft.com/office/drawing/2014/main" id="{DBE2A274-CBBA-A2EB-7E1A-460F64FB5E2F}"/>
                </a:ext>
              </a:extLst>
            </p:cNvPr>
            <p:cNvSpPr/>
            <p:nvPr/>
          </p:nvSpPr>
          <p:spPr>
            <a:xfrm>
              <a:off x="5431536" y="3183635"/>
              <a:ext cx="890269" cy="0"/>
            </a:xfrm>
            <a:custGeom>
              <a:avLst/>
              <a:gdLst/>
              <a:ahLst/>
              <a:cxnLst/>
              <a:rect l="l" t="t" r="r" b="b"/>
              <a:pathLst>
                <a:path w="890270">
                  <a:moveTo>
                    <a:pt x="0" y="0"/>
                  </a:moveTo>
                  <a:lnTo>
                    <a:pt x="889762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35">
              <a:extLst>
                <a:ext uri="{FF2B5EF4-FFF2-40B4-BE49-F238E27FC236}">
                  <a16:creationId xmlns:a16="http://schemas.microsoft.com/office/drawing/2014/main" id="{B8D17D1C-646D-8A2B-5050-F5AA7F070C9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21808" y="3131819"/>
              <a:ext cx="111251" cy="111251"/>
            </a:xfrm>
            <a:prstGeom prst="rect">
              <a:avLst/>
            </a:prstGeom>
          </p:spPr>
        </p:pic>
      </p:grpSp>
      <p:grpSp>
        <p:nvGrpSpPr>
          <p:cNvPr id="16" name="object 36">
            <a:extLst>
              <a:ext uri="{FF2B5EF4-FFF2-40B4-BE49-F238E27FC236}">
                <a16:creationId xmlns:a16="http://schemas.microsoft.com/office/drawing/2014/main" id="{2254A475-3FBD-6958-72B9-F7E81D489785}"/>
              </a:ext>
            </a:extLst>
          </p:cNvPr>
          <p:cNvGrpSpPr/>
          <p:nvPr/>
        </p:nvGrpSpPr>
        <p:grpSpPr>
          <a:xfrm>
            <a:off x="3053415" y="2901434"/>
            <a:ext cx="913130" cy="213360"/>
            <a:chOff x="6434328" y="3067862"/>
            <a:chExt cx="913130" cy="213360"/>
          </a:xfrm>
        </p:grpSpPr>
        <p:sp>
          <p:nvSpPr>
            <p:cNvPr id="17" name="object 37">
              <a:extLst>
                <a:ext uri="{FF2B5EF4-FFF2-40B4-BE49-F238E27FC236}">
                  <a16:creationId xmlns:a16="http://schemas.microsoft.com/office/drawing/2014/main" id="{040098DA-50D4-4E85-6896-800C48A35086}"/>
                </a:ext>
              </a:extLst>
            </p:cNvPr>
            <p:cNvSpPr/>
            <p:nvPr/>
          </p:nvSpPr>
          <p:spPr>
            <a:xfrm>
              <a:off x="6438900" y="3072434"/>
              <a:ext cx="44450" cy="203835"/>
            </a:xfrm>
            <a:custGeom>
              <a:avLst/>
              <a:gdLst/>
              <a:ahLst/>
              <a:cxnLst/>
              <a:rect l="l" t="t" r="r" b="b"/>
              <a:pathLst>
                <a:path w="44450" h="203835">
                  <a:moveTo>
                    <a:pt x="44171" y="0"/>
                  </a:moveTo>
                  <a:lnTo>
                    <a:pt x="0" y="0"/>
                  </a:lnTo>
                  <a:lnTo>
                    <a:pt x="0" y="203657"/>
                  </a:lnTo>
                  <a:lnTo>
                    <a:pt x="44171" y="203657"/>
                  </a:lnTo>
                  <a:lnTo>
                    <a:pt x="44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38">
              <a:extLst>
                <a:ext uri="{FF2B5EF4-FFF2-40B4-BE49-F238E27FC236}">
                  <a16:creationId xmlns:a16="http://schemas.microsoft.com/office/drawing/2014/main" id="{C87C63BF-8A74-9039-73D0-A9692B491802}"/>
                </a:ext>
              </a:extLst>
            </p:cNvPr>
            <p:cNvSpPr/>
            <p:nvPr/>
          </p:nvSpPr>
          <p:spPr>
            <a:xfrm>
              <a:off x="6438900" y="3072434"/>
              <a:ext cx="44450" cy="203835"/>
            </a:xfrm>
            <a:custGeom>
              <a:avLst/>
              <a:gdLst/>
              <a:ahLst/>
              <a:cxnLst/>
              <a:rect l="l" t="t" r="r" b="b"/>
              <a:pathLst>
                <a:path w="44450" h="203835">
                  <a:moveTo>
                    <a:pt x="0" y="203657"/>
                  </a:moveTo>
                  <a:lnTo>
                    <a:pt x="44171" y="203657"/>
                  </a:lnTo>
                  <a:lnTo>
                    <a:pt x="44171" y="0"/>
                  </a:lnTo>
                  <a:lnTo>
                    <a:pt x="0" y="0"/>
                  </a:lnTo>
                  <a:lnTo>
                    <a:pt x="0" y="203657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39">
              <a:extLst>
                <a:ext uri="{FF2B5EF4-FFF2-40B4-BE49-F238E27FC236}">
                  <a16:creationId xmlns:a16="http://schemas.microsoft.com/office/drawing/2014/main" id="{133EE64C-7FE4-1C75-95C9-30E8A110A845}"/>
                </a:ext>
              </a:extLst>
            </p:cNvPr>
            <p:cNvSpPr/>
            <p:nvPr/>
          </p:nvSpPr>
          <p:spPr>
            <a:xfrm>
              <a:off x="6483096" y="3177539"/>
              <a:ext cx="822960" cy="0"/>
            </a:xfrm>
            <a:custGeom>
              <a:avLst/>
              <a:gdLst/>
              <a:ahLst/>
              <a:cxnLst/>
              <a:rect l="l" t="t" r="r" b="b"/>
              <a:pathLst>
                <a:path w="822959">
                  <a:moveTo>
                    <a:pt x="0" y="0"/>
                  </a:moveTo>
                  <a:lnTo>
                    <a:pt x="822832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40">
              <a:extLst>
                <a:ext uri="{FF2B5EF4-FFF2-40B4-BE49-F238E27FC236}">
                  <a16:creationId xmlns:a16="http://schemas.microsoft.com/office/drawing/2014/main" id="{55BAFEB6-E787-82CA-49EB-016623314C1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5952" y="3116579"/>
              <a:ext cx="111250" cy="109728"/>
            </a:xfrm>
            <a:prstGeom prst="rect">
              <a:avLst/>
            </a:prstGeom>
          </p:spPr>
        </p:pic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1B124247-96BB-9E06-3E37-C3BD3F2BA8E5}"/>
              </a:ext>
            </a:extLst>
          </p:cNvPr>
          <p:cNvSpPr txBox="1"/>
          <p:nvPr/>
        </p:nvSpPr>
        <p:spPr>
          <a:xfrm>
            <a:off x="2674957" y="2664537"/>
            <a:ext cx="620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b="1" dirty="0">
                <a:latin typeface="Bookman Old Style" panose="02050604050505020204" pitchFamily="18" charset="0"/>
              </a:rPr>
              <a:t>+</a:t>
            </a:r>
            <a:endParaRPr lang="fr-FR" dirty="0">
              <a:latin typeface="Bookman Old Style" panose="020506040505050202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87AA82-79F3-028E-27B0-32E5689831D2}"/>
              </a:ext>
            </a:extLst>
          </p:cNvPr>
          <p:cNvSpPr txBox="1"/>
          <p:nvPr/>
        </p:nvSpPr>
        <p:spPr>
          <a:xfrm>
            <a:off x="3032333" y="2672440"/>
            <a:ext cx="620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Bookman Old Style" panose="02050604050505020204" pitchFamily="18" charset="0"/>
              </a:rPr>
              <a:t>-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C51E04-A303-EC3F-D391-99621DD1EB9E}"/>
              </a:ext>
            </a:extLst>
          </p:cNvPr>
          <p:cNvSpPr txBox="1"/>
          <p:nvPr/>
        </p:nvSpPr>
        <p:spPr>
          <a:xfrm>
            <a:off x="1828800" y="3312926"/>
            <a:ext cx="22014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altLang="fr-FR" b="1" dirty="0">
                <a:solidFill>
                  <a:srgbClr val="0000FF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Source de tension </a:t>
            </a:r>
          </a:p>
          <a:p>
            <a:pPr algn="ctr"/>
            <a:r>
              <a:rPr lang="fr-FR" altLang="fr-FR" b="1" dirty="0">
                <a:solidFill>
                  <a:srgbClr val="0000FF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continue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DFC004-2B59-F869-CF6B-6C6A4BF6AD5F}"/>
              </a:ext>
            </a:extLst>
          </p:cNvPr>
          <p:cNvSpPr txBox="1"/>
          <p:nvPr/>
        </p:nvSpPr>
        <p:spPr>
          <a:xfrm>
            <a:off x="5410200" y="3312926"/>
            <a:ext cx="22014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altLang="fr-FR" b="1" dirty="0">
                <a:solidFill>
                  <a:srgbClr val="0000FF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Source de tension alternative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765A76C3-D62B-AB2D-B194-034F262BE5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886" y="2656588"/>
            <a:ext cx="1399566" cy="63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44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25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49896E-6635-E381-FC2D-D393643EF3F4}"/>
              </a:ext>
            </a:extLst>
          </p:cNvPr>
          <p:cNvSpPr txBox="1"/>
          <p:nvPr/>
        </p:nvSpPr>
        <p:spPr>
          <a:xfrm>
            <a:off x="1038231" y="895350"/>
            <a:ext cx="6734170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altLang="fr-FR" sz="1800" dirty="0"/>
              <a:t>Elle est dite </a:t>
            </a:r>
            <a:r>
              <a:rPr lang="fr-FR" altLang="fr-FR" sz="1800" b="1" dirty="0">
                <a:solidFill>
                  <a:srgbClr val="FF0000"/>
                </a:solidFill>
              </a:rPr>
              <a:t>source de tension parfaite </a:t>
            </a:r>
            <a:r>
              <a:rPr lang="fr-FR" altLang="fr-FR" sz="1800" dirty="0"/>
              <a:t>si elle </a:t>
            </a:r>
            <a:r>
              <a:rPr lang="fr-FR" altLang="fr-FR" sz="1800" b="1" dirty="0"/>
              <a:t>maintient la même tension à ses bornes</a:t>
            </a:r>
            <a:r>
              <a:rPr lang="fr-FR" altLang="fr-FR" sz="1800" dirty="0"/>
              <a:t>, et ce quelque </a:t>
            </a:r>
            <a:r>
              <a:rPr lang="fr-FR" altLang="fr-FR" sz="1800" b="1" dirty="0"/>
              <a:t>soit le courant qu’elle débite</a:t>
            </a:r>
            <a:r>
              <a:rPr lang="fr-FR" altLang="fr-FR" sz="1800" dirty="0"/>
              <a:t>.</a:t>
            </a:r>
            <a:endParaRPr lang="fr-FR" sz="1800" dirty="0"/>
          </a:p>
        </p:txBody>
      </p:sp>
      <p:pic>
        <p:nvPicPr>
          <p:cNvPr id="48" name="Picture 6">
            <a:extLst>
              <a:ext uri="{FF2B5EF4-FFF2-40B4-BE49-F238E27FC236}">
                <a16:creationId xmlns:a16="http://schemas.microsoft.com/office/drawing/2014/main" id="{57E6966D-4888-42E7-E4BF-7300430C2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343150"/>
            <a:ext cx="552942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027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125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400" b="1" dirty="0">
                <a:latin typeface="Arial"/>
                <a:cs typeface="Arial"/>
              </a:rPr>
              <a:t>26</a:t>
            </a:fld>
            <a:endParaRPr sz="1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457200" y="44717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 smtClean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B</a:t>
            </a:r>
            <a:r>
              <a:rPr 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. Source de courant parfaite </a:t>
            </a:r>
          </a:p>
        </p:txBody>
      </p:sp>
      <p:sp>
        <p:nvSpPr>
          <p:cNvPr id="23" name="ZoneTexte 10">
            <a:extLst>
              <a:ext uri="{FF2B5EF4-FFF2-40B4-BE49-F238E27FC236}">
                <a16:creationId xmlns:a16="http://schemas.microsoft.com/office/drawing/2014/main" id="{F4DDBE1C-1268-DF0C-1C02-C4861B6AD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07" y="1442097"/>
            <a:ext cx="7496494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altLang="fr-FR" sz="1800" dirty="0"/>
              <a:t>Une </a:t>
            </a:r>
            <a:r>
              <a:rPr lang="fr-FR" altLang="fr-FR" sz="1800" b="1" dirty="0"/>
              <a:t>source de courant </a:t>
            </a:r>
            <a:r>
              <a:rPr lang="fr-FR" altLang="fr-FR" sz="1800" dirty="0"/>
              <a:t>est un </a:t>
            </a:r>
            <a:r>
              <a:rPr lang="fr-FR" altLang="fr-FR" sz="1800" b="1" dirty="0"/>
              <a:t>dipôle actif</a:t>
            </a:r>
            <a:r>
              <a:rPr lang="fr-FR" altLang="fr-FR" sz="1800" dirty="0"/>
              <a:t>. On la représente sous cette forme 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C51E04-A303-EC3F-D391-99621DD1EB9E}"/>
              </a:ext>
            </a:extLst>
          </p:cNvPr>
          <p:cNvSpPr txBox="1"/>
          <p:nvPr/>
        </p:nvSpPr>
        <p:spPr>
          <a:xfrm>
            <a:off x="2057400" y="3708937"/>
            <a:ext cx="22014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altLang="fr-FR" b="1" dirty="0">
                <a:solidFill>
                  <a:srgbClr val="0000FF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Source de courant </a:t>
            </a:r>
          </a:p>
          <a:p>
            <a:pPr algn="ctr"/>
            <a:r>
              <a:rPr lang="fr-FR" altLang="fr-FR" b="1" dirty="0">
                <a:solidFill>
                  <a:srgbClr val="0000FF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continue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DFC004-2B59-F869-CF6B-6C6A4BF6AD5F}"/>
              </a:ext>
            </a:extLst>
          </p:cNvPr>
          <p:cNvSpPr txBox="1"/>
          <p:nvPr/>
        </p:nvSpPr>
        <p:spPr>
          <a:xfrm>
            <a:off x="5791200" y="3692484"/>
            <a:ext cx="22014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altLang="fr-FR" b="1" dirty="0">
                <a:solidFill>
                  <a:srgbClr val="0000FF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Source de courant alternative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3ED968F-D126-D0E7-72CE-475F13665729}"/>
              </a:ext>
            </a:extLst>
          </p:cNvPr>
          <p:cNvSpPr/>
          <p:nvPr/>
        </p:nvSpPr>
        <p:spPr>
          <a:xfrm>
            <a:off x="2874495" y="3024811"/>
            <a:ext cx="457200" cy="3992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5E3E9F1-D227-C9DC-A231-7EB5DCB4F86A}"/>
              </a:ext>
            </a:extLst>
          </p:cNvPr>
          <p:cNvSpPr/>
          <p:nvPr/>
        </p:nvSpPr>
        <p:spPr>
          <a:xfrm>
            <a:off x="2874495" y="2807355"/>
            <a:ext cx="457200" cy="3992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80B30EF-3DFB-021E-ED1C-4B333E137541}"/>
              </a:ext>
            </a:extLst>
          </p:cNvPr>
          <p:cNvCxnSpPr>
            <a:cxnSpLocks/>
          </p:cNvCxnSpPr>
          <p:nvPr/>
        </p:nvCxnSpPr>
        <p:spPr>
          <a:xfrm>
            <a:off x="3103095" y="2637551"/>
            <a:ext cx="0" cy="10648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B907A97-7357-8D3C-FCCA-1BF7370C98BD}"/>
              </a:ext>
            </a:extLst>
          </p:cNvPr>
          <p:cNvCxnSpPr>
            <a:cxnSpLocks/>
          </p:cNvCxnSpPr>
          <p:nvPr/>
        </p:nvCxnSpPr>
        <p:spPr>
          <a:xfrm flipV="1">
            <a:off x="3103095" y="3024811"/>
            <a:ext cx="0" cy="1821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8C5FFAA-8B3C-C7DB-A022-E890D83E4842}"/>
              </a:ext>
            </a:extLst>
          </p:cNvPr>
          <p:cNvSpPr txBox="1"/>
          <p:nvPr/>
        </p:nvSpPr>
        <p:spPr>
          <a:xfrm>
            <a:off x="2546034" y="2935029"/>
            <a:ext cx="1071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I</a:t>
            </a:r>
            <a:endParaRPr lang="fr-FR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908EC0D-78A9-FF00-57E9-0AB68A86CC1D}"/>
              </a:ext>
            </a:extLst>
          </p:cNvPr>
          <p:cNvSpPr/>
          <p:nvPr/>
        </p:nvSpPr>
        <p:spPr>
          <a:xfrm>
            <a:off x="6607121" y="2801986"/>
            <a:ext cx="457200" cy="3992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34CBCD-24CD-F91E-F128-FB9577D66353}"/>
              </a:ext>
            </a:extLst>
          </p:cNvPr>
          <p:cNvSpPr txBox="1"/>
          <p:nvPr/>
        </p:nvSpPr>
        <p:spPr>
          <a:xfrm>
            <a:off x="6093059" y="2869786"/>
            <a:ext cx="619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i(t)</a:t>
            </a:r>
            <a:endParaRPr lang="fr-FR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B8DC50E-CE59-E8E8-FB4D-8491CC252546}"/>
              </a:ext>
            </a:extLst>
          </p:cNvPr>
          <p:cNvSpPr/>
          <p:nvPr/>
        </p:nvSpPr>
        <p:spPr>
          <a:xfrm>
            <a:off x="6626697" y="3028875"/>
            <a:ext cx="457200" cy="3992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F6424CF-A76F-0EB8-03C4-3502D10A13B1}"/>
              </a:ext>
            </a:extLst>
          </p:cNvPr>
          <p:cNvCxnSpPr>
            <a:cxnSpLocks/>
          </p:cNvCxnSpPr>
          <p:nvPr/>
        </p:nvCxnSpPr>
        <p:spPr>
          <a:xfrm>
            <a:off x="6855295" y="2584530"/>
            <a:ext cx="0" cy="2174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28FEF27-21FA-943E-9005-BBBDF87C9E24}"/>
              </a:ext>
            </a:extLst>
          </p:cNvPr>
          <p:cNvCxnSpPr>
            <a:cxnSpLocks/>
          </p:cNvCxnSpPr>
          <p:nvPr/>
        </p:nvCxnSpPr>
        <p:spPr>
          <a:xfrm>
            <a:off x="6860189" y="3428115"/>
            <a:ext cx="0" cy="2174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20B6AE7-ACAE-1FA4-7CE6-EFAE0E339145}"/>
              </a:ext>
            </a:extLst>
          </p:cNvPr>
          <p:cNvSpPr txBox="1"/>
          <p:nvPr/>
        </p:nvSpPr>
        <p:spPr>
          <a:xfrm>
            <a:off x="6672875" y="2923084"/>
            <a:ext cx="353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~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442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27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05B857-CCB3-E00B-FDF5-BE73C8A3C700}"/>
              </a:ext>
            </a:extLst>
          </p:cNvPr>
          <p:cNvSpPr txBox="1"/>
          <p:nvPr/>
        </p:nvSpPr>
        <p:spPr>
          <a:xfrm>
            <a:off x="838200" y="1047750"/>
            <a:ext cx="7363218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altLang="fr-FR" sz="1800" dirty="0"/>
              <a:t>Elle est dite </a:t>
            </a:r>
            <a:r>
              <a:rPr lang="fr-FR" altLang="fr-FR" sz="1800" b="1" dirty="0">
                <a:solidFill>
                  <a:srgbClr val="FF0000"/>
                </a:solidFill>
              </a:rPr>
              <a:t>source de courant parfaite </a:t>
            </a:r>
            <a:r>
              <a:rPr lang="fr-FR" altLang="fr-FR" sz="1800" dirty="0"/>
              <a:t>si elle débite le </a:t>
            </a:r>
            <a:r>
              <a:rPr lang="fr-FR" altLang="fr-FR" sz="1800" b="1" dirty="0"/>
              <a:t>même courant </a:t>
            </a:r>
            <a:r>
              <a:rPr lang="fr-FR" altLang="fr-FR" sz="1800" dirty="0"/>
              <a:t>quel que </a:t>
            </a:r>
            <a:r>
              <a:rPr lang="fr-FR" altLang="fr-FR" sz="1800" b="1" dirty="0"/>
              <a:t>soit la tension présente à ses bornes</a:t>
            </a:r>
            <a:r>
              <a:rPr lang="fr-FR" altLang="fr-FR" sz="1800" dirty="0"/>
              <a:t>.</a:t>
            </a:r>
          </a:p>
        </p:txBody>
      </p:sp>
      <p:pic>
        <p:nvPicPr>
          <p:cNvPr id="26" name="Picture 6">
            <a:extLst>
              <a:ext uri="{FF2B5EF4-FFF2-40B4-BE49-F238E27FC236}">
                <a16:creationId xmlns:a16="http://schemas.microsoft.com/office/drawing/2014/main" id="{801F01AD-A11C-9505-2A06-CE07675AF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419350"/>
            <a:ext cx="5459731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130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28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510209" y="36982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 smtClean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C</a:t>
            </a:r>
            <a:r>
              <a:rPr 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. </a:t>
            </a:r>
            <a:r>
              <a:rPr lang="fr-FR" alt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Source de tension réelle</a:t>
            </a:r>
            <a:endParaRPr lang="fr-FR" b="1" spc="-5" dirty="0">
              <a:solidFill>
                <a:srgbClr val="00B05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23" name="ZoneTexte 10">
            <a:extLst>
              <a:ext uri="{FF2B5EF4-FFF2-40B4-BE49-F238E27FC236}">
                <a16:creationId xmlns:a16="http://schemas.microsoft.com/office/drawing/2014/main" id="{F4DDBE1C-1268-DF0C-1C02-C4861B6AD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047750"/>
            <a:ext cx="7010400" cy="64633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altLang="fr-FR" sz="1800" dirty="0"/>
              <a:t>Une </a:t>
            </a:r>
            <a:r>
              <a:rPr lang="fr-FR" altLang="fr-FR" sz="1800" b="1" dirty="0"/>
              <a:t>source de tension réelle </a:t>
            </a:r>
            <a:r>
              <a:rPr lang="fr-FR" altLang="fr-FR" sz="1800" dirty="0"/>
              <a:t>aura en réalité une </a:t>
            </a:r>
            <a:r>
              <a:rPr lang="fr-FR" altLang="fr-FR" sz="1800" b="1" dirty="0"/>
              <a:t>impédance</a:t>
            </a:r>
            <a:r>
              <a:rPr lang="fr-FR" altLang="fr-FR" sz="1800" dirty="0"/>
              <a:t> </a:t>
            </a:r>
            <a:r>
              <a:rPr lang="fr-FR" altLang="fr-FR" sz="1800" b="1" dirty="0"/>
              <a:t>série</a:t>
            </a:r>
            <a:r>
              <a:rPr lang="fr-FR" altLang="fr-FR" sz="1800" dirty="0"/>
              <a:t> </a:t>
            </a:r>
            <a:r>
              <a:rPr lang="fr-FR" altLang="fr-FR" sz="1800" b="1" dirty="0"/>
              <a:t>non nulle</a:t>
            </a:r>
            <a:r>
              <a:rPr lang="fr-FR" altLang="fr-FR" sz="1800" dirty="0"/>
              <a:t>.</a:t>
            </a:r>
            <a:endParaRPr lang="fr-FR" altLang="fr-FR" sz="1800" b="1" i="1" dirty="0">
              <a:solidFill>
                <a:srgbClr val="3F53E9"/>
              </a:solidFill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585C1DA0-87ED-70D1-5F5C-A4053816D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610304"/>
            <a:ext cx="2913868" cy="1383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16">
            <a:extLst>
              <a:ext uri="{FF2B5EF4-FFF2-40B4-BE49-F238E27FC236}">
                <a16:creationId xmlns:a16="http://schemas.microsoft.com/office/drawing/2014/main" id="{73B1E819-4CF0-8219-A689-266EE2868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533196"/>
            <a:ext cx="2495862" cy="146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982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29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1" name="ZoneTexte 15">
            <a:extLst>
              <a:ext uri="{FF2B5EF4-FFF2-40B4-BE49-F238E27FC236}">
                <a16:creationId xmlns:a16="http://schemas.microsoft.com/office/drawing/2014/main" id="{6344F807-CF5A-BF13-2273-E3BEA1C8C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66750"/>
            <a:ext cx="490028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altLang="fr-FR" sz="1800" dirty="0"/>
              <a:t>Cette Source de tension réelle délivre: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5">
                <a:extLst>
                  <a:ext uri="{FF2B5EF4-FFF2-40B4-BE49-F238E27FC236}">
                    <a16:creationId xmlns:a16="http://schemas.microsoft.com/office/drawing/2014/main" id="{92C05FA9-4BF8-D510-A418-8AE87E8C0C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8931" y="2419350"/>
                <a:ext cx="7282070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fr-FR"/>
                </a:defPPr>
                <a:lvl1pPr marL="285750" indent="-285750" algn="just">
                  <a:buFont typeface="Wingdings" panose="05000000000000000000" pitchFamily="2" charset="2"/>
                  <a:buChar char="q"/>
                  <a:defRPr sz="1600">
                    <a:latin typeface="Bookman Old Style" panose="02050604050505020204" pitchFamily="18" charset="0"/>
                    <a:cs typeface="Browallia New" panose="020B0604020202020204" pitchFamily="34" charset="-34"/>
                  </a:defRPr>
                </a:lvl1pPr>
                <a:lvl2pPr marL="742950" indent="-285750">
                  <a:defRPr sz="2400"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panose="02020603050405020304" pitchFamily="18" charset="0"/>
                  </a:defRPr>
                </a:lvl9pPr>
              </a:lstStyle>
              <a:p>
                <a:r>
                  <a:rPr lang="fr-FR" altLang="fr-FR" sz="1800" dirty="0"/>
                  <a:t>Tant que la chute de tension aux bornes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sz="180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fr-FR" sz="18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altLang="fr-FR" sz="1800" dirty="0"/>
                  <a:t>est faible, donc</a:t>
                </a:r>
              </a:p>
              <a:p>
                <a:endParaRPr lang="fr-FR" altLang="fr-FR" sz="1800" dirty="0"/>
              </a:p>
              <a:p>
                <a:r>
                  <a:rPr lang="fr-FR" altLang="fr-FR" sz="1800" dirty="0"/>
                  <a:t>En général les générateurs de </a:t>
                </a:r>
                <a:r>
                  <a:rPr lang="fr-FR" altLang="fr-FR" sz="1800" b="1" dirty="0"/>
                  <a:t>tension réels </a:t>
                </a:r>
                <a:r>
                  <a:rPr lang="fr-FR" altLang="fr-FR" sz="1800" dirty="0"/>
                  <a:t>présentent </a:t>
                </a:r>
                <a:r>
                  <a:rPr lang="fr-FR" altLang="fr-FR" sz="1800" b="1" dirty="0"/>
                  <a:t>une résistance interne faible</a:t>
                </a:r>
                <a:r>
                  <a:rPr lang="fr-FR" altLang="fr-FR" sz="1800" dirty="0"/>
                  <a:t>. </a:t>
                </a:r>
              </a:p>
            </p:txBody>
          </p:sp>
        </mc:Choice>
        <mc:Fallback xmlns="">
          <p:sp>
            <p:nvSpPr>
              <p:cNvPr id="12" name="ZoneTexte 15">
                <a:extLst>
                  <a:ext uri="{FF2B5EF4-FFF2-40B4-BE49-F238E27FC236}">
                    <a16:creationId xmlns:a16="http://schemas.microsoft.com/office/drawing/2014/main" id="{92C05FA9-4BF8-D510-A418-8AE87E8C0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8931" y="2419350"/>
                <a:ext cx="7282070" cy="1477328"/>
              </a:xfrm>
              <a:prstGeom prst="rect">
                <a:avLst/>
              </a:prstGeom>
              <a:blipFill>
                <a:blip r:embed="rId3"/>
                <a:stretch>
                  <a:fillRect l="-586" t="-2066" r="-586" b="-61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">
                <a:extLst>
                  <a:ext uri="{FF2B5EF4-FFF2-40B4-BE49-F238E27FC236}">
                    <a16:creationId xmlns:a16="http://schemas.microsoft.com/office/drawing/2014/main" id="{1CB521D4-21C5-DB31-DA3D-25DEB45D4187}"/>
                  </a:ext>
                </a:extLst>
              </p:cNvPr>
              <p:cNvSpPr txBox="1"/>
              <p:nvPr/>
            </p:nvSpPr>
            <p:spPr>
              <a:xfrm>
                <a:off x="2513464" y="1422537"/>
                <a:ext cx="13976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fr-FR" b="1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3" name="ZoneTexte 1">
                <a:extLst>
                  <a:ext uri="{FF2B5EF4-FFF2-40B4-BE49-F238E27FC236}">
                    <a16:creationId xmlns:a16="http://schemas.microsoft.com/office/drawing/2014/main" id="{1CB521D4-21C5-DB31-DA3D-25DEB45D4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464" y="1422537"/>
                <a:ext cx="1397690" cy="276999"/>
              </a:xfrm>
              <a:prstGeom prst="rect">
                <a:avLst/>
              </a:prstGeom>
              <a:blipFill>
                <a:blip r:embed="rId4"/>
                <a:stretch>
                  <a:fillRect l="-2609" r="-3043" b="-1739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2">
                <a:extLst>
                  <a:ext uri="{FF2B5EF4-FFF2-40B4-BE49-F238E27FC236}">
                    <a16:creationId xmlns:a16="http://schemas.microsoft.com/office/drawing/2014/main" id="{8B85C619-EC11-25C4-141B-0F96A89A1BC2}"/>
                  </a:ext>
                </a:extLst>
              </p:cNvPr>
              <p:cNvSpPr txBox="1"/>
              <p:nvPr/>
            </p:nvSpPr>
            <p:spPr>
              <a:xfrm>
                <a:off x="2513464" y="1857978"/>
                <a:ext cx="14121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𝒄𝒔𝒕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fr-FR" b="1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6" name="ZoneTexte 2">
                <a:extLst>
                  <a:ext uri="{FF2B5EF4-FFF2-40B4-BE49-F238E27FC236}">
                    <a16:creationId xmlns:a16="http://schemas.microsoft.com/office/drawing/2014/main" id="{8B85C619-EC11-25C4-141B-0F96A89A1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464" y="1857978"/>
                <a:ext cx="1412181" cy="276999"/>
              </a:xfrm>
              <a:prstGeom prst="rect">
                <a:avLst/>
              </a:prstGeom>
              <a:blipFill>
                <a:blip r:embed="rId5"/>
                <a:stretch>
                  <a:fillRect l="-2586" r="-862" b="-2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830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580706" y="43815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 smtClean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D</a:t>
            </a:r>
            <a:r>
              <a:rPr 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. </a:t>
            </a:r>
            <a:r>
              <a:rPr lang="fr-FR" alt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Source de courant réelle</a:t>
            </a:r>
            <a:endParaRPr lang="fr-FR" b="1" spc="-5" dirty="0">
              <a:solidFill>
                <a:srgbClr val="00B05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23" name="ZoneTexte 10">
            <a:extLst>
              <a:ext uri="{FF2B5EF4-FFF2-40B4-BE49-F238E27FC236}">
                <a16:creationId xmlns:a16="http://schemas.microsoft.com/office/drawing/2014/main" id="{F4DDBE1C-1268-DF0C-1C02-C4861B6AD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20" y="1233784"/>
            <a:ext cx="6723317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altLang="fr-FR" sz="1800" dirty="0"/>
              <a:t>Une </a:t>
            </a:r>
            <a:r>
              <a:rPr lang="fr-FR" altLang="fr-FR" sz="1800" b="1" dirty="0"/>
              <a:t>source de courant réelle </a:t>
            </a:r>
            <a:r>
              <a:rPr lang="fr-FR" altLang="fr-FR" sz="1800" dirty="0"/>
              <a:t>présente une </a:t>
            </a:r>
            <a:r>
              <a:rPr lang="fr-FR" altLang="fr-FR" sz="1800" b="1" dirty="0"/>
              <a:t>impédance en parallèle non nulle</a:t>
            </a:r>
            <a:r>
              <a:rPr lang="fr-FR" altLang="fr-FR" sz="1800" dirty="0"/>
              <a:t>.</a:t>
            </a:r>
          </a:p>
        </p:txBody>
      </p:sp>
      <p:pic>
        <p:nvPicPr>
          <p:cNvPr id="17" name="Image 13">
            <a:extLst>
              <a:ext uri="{FF2B5EF4-FFF2-40B4-BE49-F238E27FC236}">
                <a16:creationId xmlns:a16="http://schemas.microsoft.com/office/drawing/2014/main" id="{F50B58B8-BD43-BE05-C9AF-F6072B0BF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350862"/>
            <a:ext cx="2362200" cy="1417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FAEEF79B-999A-09AC-04E2-BD34F34E6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385230"/>
            <a:ext cx="2438400" cy="1411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4919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15">
            <a:extLst>
              <a:ext uri="{FF2B5EF4-FFF2-40B4-BE49-F238E27FC236}">
                <a16:creationId xmlns:a16="http://schemas.microsoft.com/office/drawing/2014/main" id="{6344F807-CF5A-BF13-2273-E3BEA1C8C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765" y="438150"/>
            <a:ext cx="490028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altLang="fr-FR" sz="1800" dirty="0"/>
              <a:t>Cette Source de courant réelle délivre:</a:t>
            </a:r>
          </a:p>
        </p:txBody>
      </p:sp>
      <p:sp>
        <p:nvSpPr>
          <p:cNvPr id="12" name="ZoneTexte 15">
            <a:extLst>
              <a:ext uri="{FF2B5EF4-FFF2-40B4-BE49-F238E27FC236}">
                <a16:creationId xmlns:a16="http://schemas.microsoft.com/office/drawing/2014/main" id="{92C05FA9-4BF8-D510-A418-8AE87E8C0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765" y="1904050"/>
            <a:ext cx="7822035" cy="258532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endParaRPr lang="fr-FR" altLang="fr-FR" sz="1800" dirty="0" smtClean="0"/>
          </a:p>
          <a:p>
            <a:endParaRPr lang="fr-FR" altLang="fr-FR" sz="1800" dirty="0"/>
          </a:p>
          <a:p>
            <a:endParaRPr lang="fr-FR" altLang="fr-FR" sz="1800" dirty="0" smtClean="0"/>
          </a:p>
          <a:p>
            <a:endParaRPr lang="fr-FR" altLang="fr-FR" sz="1800" dirty="0"/>
          </a:p>
          <a:p>
            <a:r>
              <a:rPr lang="fr-FR" altLang="fr-FR" sz="1800" dirty="0" smtClean="0"/>
              <a:t>Tant </a:t>
            </a:r>
            <a:r>
              <a:rPr lang="fr-FR" altLang="fr-FR" sz="1800" dirty="0"/>
              <a:t>que le courant qui traverse la résistance interne est faible, </a:t>
            </a:r>
            <a:r>
              <a:rPr lang="fr-FR" altLang="fr-FR" sz="1800" dirty="0" smtClean="0"/>
              <a:t>donc</a:t>
            </a:r>
            <a:endParaRPr lang="fr-FR" altLang="fr-FR" sz="1800" dirty="0"/>
          </a:p>
          <a:p>
            <a:endParaRPr lang="fr-FR" altLang="fr-FR" sz="1800" dirty="0"/>
          </a:p>
          <a:p>
            <a:r>
              <a:rPr lang="fr-FR" altLang="fr-FR" sz="1800" dirty="0"/>
              <a:t>Les </a:t>
            </a:r>
            <a:r>
              <a:rPr lang="fr-FR" altLang="fr-FR" sz="1800" b="1" dirty="0"/>
              <a:t>générateurs de courant réels</a:t>
            </a:r>
            <a:r>
              <a:rPr lang="fr-FR" altLang="fr-FR" sz="1800" dirty="0"/>
              <a:t> présentent </a:t>
            </a:r>
            <a:r>
              <a:rPr lang="fr-FR" altLang="fr-FR" sz="1800" b="1" dirty="0"/>
              <a:t>une résistance interne importante.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2">
                <a:extLst>
                  <a:ext uri="{FF2B5EF4-FFF2-40B4-BE49-F238E27FC236}">
                    <a16:creationId xmlns:a16="http://schemas.microsoft.com/office/drawing/2014/main" id="{8B85C619-EC11-25C4-141B-0F96A89A1BC2}"/>
                  </a:ext>
                </a:extLst>
              </p:cNvPr>
              <p:cNvSpPr txBox="1"/>
              <p:nvPr/>
            </p:nvSpPr>
            <p:spPr>
              <a:xfrm>
                <a:off x="4184728" y="1996882"/>
                <a:ext cx="149048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𝒄𝒔𝒕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fr-FR" b="1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6" name="ZoneTexte 2">
                <a:extLst>
                  <a:ext uri="{FF2B5EF4-FFF2-40B4-BE49-F238E27FC236}">
                    <a16:creationId xmlns:a16="http://schemas.microsoft.com/office/drawing/2014/main" id="{8B85C619-EC11-25C4-141B-0F96A89A1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4728" y="1996882"/>
                <a:ext cx="1490481" cy="276999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18">
                <a:extLst>
                  <a:ext uri="{FF2B5EF4-FFF2-40B4-BE49-F238E27FC236}">
                    <a16:creationId xmlns:a16="http://schemas.microsoft.com/office/drawing/2014/main" id="{68BE9A36-AF8A-F338-1621-A5CF16BE8649}"/>
                  </a:ext>
                </a:extLst>
              </p:cNvPr>
              <p:cNvSpPr txBox="1"/>
              <p:nvPr/>
            </p:nvSpPr>
            <p:spPr>
              <a:xfrm>
                <a:off x="2057400" y="1094763"/>
                <a:ext cx="1200521" cy="565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fr-FR"/>
                </a:defPPr>
                <a:lvl1pPr>
                  <a:defRPr sz="1600"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1" i="1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fr-FR" sz="1800" b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fr-FR" sz="18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sz="1800" b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num>
                        <m:den>
                          <m:sSub>
                            <m:sSubPr>
                              <m:ctrlPr>
                                <a:rPr lang="fr-F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fr-FR" sz="18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800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24" name="ZoneTexte 18">
                <a:extLst>
                  <a:ext uri="{FF2B5EF4-FFF2-40B4-BE49-F238E27FC236}">
                    <a16:creationId xmlns:a16="http://schemas.microsoft.com/office/drawing/2014/main" id="{68BE9A36-AF8A-F338-1621-A5CF16BE8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1094763"/>
                <a:ext cx="1200521" cy="5651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CB6737-60A4-EC0D-76DF-FB6CE944648E}"/>
                  </a:ext>
                </a:extLst>
              </p:cNvPr>
              <p:cNvSpPr txBox="1"/>
              <p:nvPr/>
            </p:nvSpPr>
            <p:spPr>
              <a:xfrm>
                <a:off x="4191000" y="1261981"/>
                <a:ext cx="296841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avec</m:t>
                        </m:r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fr-FR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altLang="fr-FR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est la résistance interne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CB6737-60A4-EC0D-76DF-FB6CE9446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1261981"/>
                <a:ext cx="2968418" cy="646331"/>
              </a:xfrm>
              <a:prstGeom prst="rect">
                <a:avLst/>
              </a:prstGeom>
              <a:blipFill>
                <a:blip r:embed="rId5"/>
                <a:stretch>
                  <a:fillRect l="-1852" t="-3774" r="-1852" b="-1509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bject 46"/>
          <p:cNvSpPr txBox="1"/>
          <p:nvPr/>
        </p:nvSpPr>
        <p:spPr>
          <a:xfrm>
            <a:off x="8572844" y="4705350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b="1" dirty="0">
                <a:latin typeface="Arial"/>
                <a:cs typeface="Arial"/>
              </a:rPr>
              <a:t>31</a:t>
            </a:fld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1549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4" grpId="0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32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419007" y="28575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2.7 P</a:t>
            </a:r>
            <a:r>
              <a:rPr lang="fr-FR" altLang="fr-FR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oint de fonctionnement </a:t>
            </a:r>
          </a:p>
        </p:txBody>
      </p:sp>
      <p:pic>
        <p:nvPicPr>
          <p:cNvPr id="3" name="Image 10">
            <a:extLst>
              <a:ext uri="{FF2B5EF4-FFF2-40B4-BE49-F238E27FC236}">
                <a16:creationId xmlns:a16="http://schemas.microsoft.com/office/drawing/2014/main" id="{4BD47A82-D71F-DD8C-AB0D-E971A4E22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885950"/>
            <a:ext cx="2287755" cy="1796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11">
            <a:extLst>
              <a:ext uri="{FF2B5EF4-FFF2-40B4-BE49-F238E27FC236}">
                <a16:creationId xmlns:a16="http://schemas.microsoft.com/office/drawing/2014/main" id="{607A7EE0-CF70-E356-927B-5D87501A6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797731"/>
            <a:ext cx="2094736" cy="186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ZoneTexte 15">
            <a:extLst>
              <a:ext uri="{FF2B5EF4-FFF2-40B4-BE49-F238E27FC236}">
                <a16:creationId xmlns:a16="http://schemas.microsoft.com/office/drawing/2014/main" id="{CDE910EB-2CE3-F18D-CB35-F62668795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169" y="874401"/>
            <a:ext cx="7224631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altLang="fr-FR" sz="1800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Le </a:t>
            </a:r>
            <a:r>
              <a:rPr lang="fr-FR" altLang="fr-FR" sz="1800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point de fonctionnement </a:t>
            </a:r>
            <a:r>
              <a:rPr lang="fr-FR" altLang="fr-FR" sz="1800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d’un dipôle est défini par l’intersection de sa caractéristique statique avec la caractéristique du générateur qu’il l’alimente.</a:t>
            </a:r>
            <a:endParaRPr lang="fr-FR" altLang="fr-FR" sz="1800" b="1" dirty="0">
              <a:solidFill>
                <a:srgbClr val="3F53E9"/>
              </a:solidFill>
              <a:latin typeface="Bookman Old Style" panose="02050604050505020204" pitchFamily="18" charset="0"/>
              <a:cs typeface="Browallia New" panose="020B0604020202020204" pitchFamily="34" charset="-34"/>
            </a:endParaRPr>
          </a:p>
        </p:txBody>
      </p:sp>
      <p:sp>
        <p:nvSpPr>
          <p:cNvPr id="21" name="ZoneTexte 15">
            <a:extLst>
              <a:ext uri="{FF2B5EF4-FFF2-40B4-BE49-F238E27FC236}">
                <a16:creationId xmlns:a16="http://schemas.microsoft.com/office/drawing/2014/main" id="{396233A7-ABCC-C72F-0793-0B9127882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82" y="3983662"/>
            <a:ext cx="7221318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altLang="fr-FR" sz="1800" dirty="0"/>
              <a:t>L’intersection des deux caractéristiques permet de définir la tension aux bornes de la charge, et le courant qui la traverse. On parle ici d’une </a:t>
            </a:r>
            <a:r>
              <a:rPr lang="fr-FR" altLang="fr-FR" sz="1800" b="1" dirty="0"/>
              <a:t>méthode graphique.</a:t>
            </a:r>
            <a:endParaRPr lang="fr-FR" altLang="fr-FR" sz="1800" dirty="0"/>
          </a:p>
        </p:txBody>
      </p:sp>
    </p:spTree>
    <p:extLst>
      <p:ext uri="{BB962C8B-B14F-4D97-AF65-F5344CB8AC3E}">
        <p14:creationId xmlns:p14="http://schemas.microsoft.com/office/powerpoint/2010/main" val="280078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33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389782" y="216277"/>
            <a:ext cx="4572000" cy="94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2.8 </a:t>
            </a:r>
            <a:r>
              <a:rPr lang="fr-FR" altLang="fr-FR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Lois de </a:t>
            </a:r>
            <a:r>
              <a:rPr lang="fr-FR" altLang="fr-FR" b="1" spc="-5" dirty="0" smtClean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Kirchhoff</a:t>
            </a: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endParaRPr lang="fr-FR" altLang="fr-FR" b="1" spc="-5" dirty="0">
              <a:solidFill>
                <a:srgbClr val="0070C0"/>
              </a:solidFill>
              <a:latin typeface="Bookman Old Style" panose="02050604050505020204" pitchFamily="18" charset="0"/>
              <a:cs typeface="Arial"/>
            </a:endParaRP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alt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     A</a:t>
            </a:r>
            <a:r>
              <a:rPr 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. </a:t>
            </a:r>
            <a:r>
              <a:rPr lang="fr-FR" alt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Définitions</a:t>
            </a:r>
          </a:p>
        </p:txBody>
      </p:sp>
      <p:sp>
        <p:nvSpPr>
          <p:cNvPr id="13" name="ZoneTexte 15">
            <a:extLst>
              <a:ext uri="{FF2B5EF4-FFF2-40B4-BE49-F238E27FC236}">
                <a16:creationId xmlns:a16="http://schemas.microsoft.com/office/drawing/2014/main" id="{CDE910EB-2CE3-F18D-CB35-F62668795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712" y="1344527"/>
            <a:ext cx="2595864" cy="36933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18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Noeud</a:t>
            </a:r>
            <a:endParaRPr lang="fr-FR" altLang="fr-FR" sz="1800" b="1" dirty="0">
              <a:solidFill>
                <a:srgbClr val="0000FF"/>
              </a:solidFill>
              <a:latin typeface="Bookman Old Style" panose="02050604050505020204" pitchFamily="18" charset="0"/>
              <a:cs typeface="Browallia New" panose="020B0604020202020204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10F2B8-9E29-4B91-45FE-B708E95398BF}"/>
              </a:ext>
            </a:extLst>
          </p:cNvPr>
          <p:cNvSpPr txBox="1"/>
          <p:nvPr/>
        </p:nvSpPr>
        <p:spPr>
          <a:xfrm>
            <a:off x="1447800" y="1881926"/>
            <a:ext cx="6667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Bookman Old Style" panose="02050604050505020204" pitchFamily="18" charset="0"/>
              </a:rPr>
              <a:t>Un </a:t>
            </a:r>
            <a:r>
              <a:rPr lang="fr-FR" b="1" dirty="0">
                <a:latin typeface="Bookman Old Style" panose="02050604050505020204" pitchFamily="18" charset="0"/>
              </a:rPr>
              <a:t>nœud</a:t>
            </a:r>
            <a:r>
              <a:rPr lang="fr-FR" dirty="0">
                <a:latin typeface="Bookman Old Style" panose="02050604050505020204" pitchFamily="18" charset="0"/>
              </a:rPr>
              <a:t> est le </a:t>
            </a:r>
            <a:r>
              <a:rPr lang="fr-FR" b="1" dirty="0">
                <a:latin typeface="Bookman Old Style" panose="02050604050505020204" pitchFamily="18" charset="0"/>
              </a:rPr>
              <a:t>point de jonction</a:t>
            </a:r>
            <a:r>
              <a:rPr lang="fr-FR" dirty="0">
                <a:latin typeface="Bookman Old Style" panose="02050604050505020204" pitchFamily="18" charset="0"/>
              </a:rPr>
              <a:t> d’au moins trois fils de </a:t>
            </a:r>
            <a:r>
              <a:rPr lang="fr-FR" dirty="0" smtClean="0">
                <a:latin typeface="Bookman Old Style" panose="02050604050505020204" pitchFamily="18" charset="0"/>
              </a:rPr>
              <a:t>connexion :</a:t>
            </a:r>
            <a:endParaRPr lang="fr-FR" dirty="0">
              <a:latin typeface="Bookman Old Style" panose="02050604050505020204" pitchFamily="18" charset="0"/>
            </a:endParaRPr>
          </a:p>
        </p:txBody>
      </p:sp>
      <p:grpSp>
        <p:nvGrpSpPr>
          <p:cNvPr id="16" name="Group 36">
            <a:extLst>
              <a:ext uri="{FF2B5EF4-FFF2-40B4-BE49-F238E27FC236}">
                <a16:creationId xmlns:a16="http://schemas.microsoft.com/office/drawing/2014/main" id="{EDBBE945-6593-A6AB-79CA-224D526DDDA6}"/>
              </a:ext>
            </a:extLst>
          </p:cNvPr>
          <p:cNvGrpSpPr>
            <a:grpSpLocks/>
          </p:cNvGrpSpPr>
          <p:nvPr/>
        </p:nvGrpSpPr>
        <p:grpSpPr bwMode="auto">
          <a:xfrm>
            <a:off x="3231407" y="2729895"/>
            <a:ext cx="1730375" cy="2317750"/>
            <a:chOff x="2422" y="1280"/>
            <a:chExt cx="1090" cy="1460"/>
          </a:xfrm>
        </p:grpSpPr>
        <p:grpSp>
          <p:nvGrpSpPr>
            <p:cNvPr id="17" name="Group 22">
              <a:extLst>
                <a:ext uri="{FF2B5EF4-FFF2-40B4-BE49-F238E27FC236}">
                  <a16:creationId xmlns:a16="http://schemas.microsoft.com/office/drawing/2014/main" id="{3362A7EF-FBCC-ABEC-EC1E-4A9569989D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2" y="1962"/>
              <a:ext cx="809" cy="97"/>
              <a:chOff x="1522" y="2055"/>
              <a:chExt cx="1045" cy="178"/>
            </a:xfrm>
          </p:grpSpPr>
          <p:sp>
            <p:nvSpPr>
              <p:cNvPr id="30" name="Line 23">
                <a:extLst>
                  <a:ext uri="{FF2B5EF4-FFF2-40B4-BE49-F238E27FC236}">
                    <a16:creationId xmlns:a16="http://schemas.microsoft.com/office/drawing/2014/main" id="{253B3C13-E308-717D-D6D6-7FBFEA09FD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2" y="2133"/>
                <a:ext cx="104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1" name="Rectangle 24">
                <a:extLst>
                  <a:ext uri="{FF2B5EF4-FFF2-40B4-BE49-F238E27FC236}">
                    <a16:creationId xmlns:a16="http://schemas.microsoft.com/office/drawing/2014/main" id="{42137F30-B443-168A-E366-F88D5BB9F4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" y="2055"/>
                <a:ext cx="523" cy="17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0" name="Oval 25">
              <a:extLst>
                <a:ext uri="{FF2B5EF4-FFF2-40B4-BE49-F238E27FC236}">
                  <a16:creationId xmlns:a16="http://schemas.microsoft.com/office/drawing/2014/main" id="{AA980554-D245-651E-2E8C-25735C16E0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9" y="1987"/>
              <a:ext cx="37" cy="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22" name="Group 26">
              <a:extLst>
                <a:ext uri="{FF2B5EF4-FFF2-40B4-BE49-F238E27FC236}">
                  <a16:creationId xmlns:a16="http://schemas.microsoft.com/office/drawing/2014/main" id="{7D112C0E-7719-1BED-0E56-1067A761681E}"/>
                </a:ext>
              </a:extLst>
            </p:cNvPr>
            <p:cNvGrpSpPr>
              <a:grpSpLocks/>
            </p:cNvGrpSpPr>
            <p:nvPr/>
          </p:nvGrpSpPr>
          <p:grpSpPr bwMode="auto">
            <a:xfrm rot="-3196199">
              <a:off x="3052" y="1636"/>
              <a:ext cx="809" cy="97"/>
              <a:chOff x="1522" y="2055"/>
              <a:chExt cx="1045" cy="178"/>
            </a:xfrm>
          </p:grpSpPr>
          <p:sp>
            <p:nvSpPr>
              <p:cNvPr id="28" name="Line 27">
                <a:extLst>
                  <a:ext uri="{FF2B5EF4-FFF2-40B4-BE49-F238E27FC236}">
                    <a16:creationId xmlns:a16="http://schemas.microsoft.com/office/drawing/2014/main" id="{4D261388-7A16-EC2C-61BE-554DF9DF3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2" y="2133"/>
                <a:ext cx="104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06E6527-B139-DA1F-AB68-6776AF85D8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" y="2055"/>
                <a:ext cx="523" cy="17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FR" dirty="0"/>
              </a:p>
            </p:txBody>
          </p:sp>
        </p:grpSp>
        <p:grpSp>
          <p:nvGrpSpPr>
            <p:cNvPr id="23" name="Group 29">
              <a:extLst>
                <a:ext uri="{FF2B5EF4-FFF2-40B4-BE49-F238E27FC236}">
                  <a16:creationId xmlns:a16="http://schemas.microsoft.com/office/drawing/2014/main" id="{E2382074-3960-673C-BF4B-0F85E09AD4DA}"/>
                </a:ext>
              </a:extLst>
            </p:cNvPr>
            <p:cNvGrpSpPr>
              <a:grpSpLocks/>
            </p:cNvGrpSpPr>
            <p:nvPr/>
          </p:nvGrpSpPr>
          <p:grpSpPr bwMode="auto">
            <a:xfrm rot="3196199" flipV="1">
              <a:off x="3059" y="2287"/>
              <a:ext cx="809" cy="97"/>
              <a:chOff x="1522" y="2055"/>
              <a:chExt cx="1045" cy="178"/>
            </a:xfrm>
          </p:grpSpPr>
          <p:sp>
            <p:nvSpPr>
              <p:cNvPr id="26" name="Line 30">
                <a:extLst>
                  <a:ext uri="{FF2B5EF4-FFF2-40B4-BE49-F238E27FC236}">
                    <a16:creationId xmlns:a16="http://schemas.microsoft.com/office/drawing/2014/main" id="{787E22EC-B618-43E3-E776-271681E3C2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2" y="2133"/>
                <a:ext cx="104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7" name="Rectangle 31">
                <a:extLst>
                  <a:ext uri="{FF2B5EF4-FFF2-40B4-BE49-F238E27FC236}">
                    <a16:creationId xmlns:a16="http://schemas.microsoft.com/office/drawing/2014/main" id="{1E012A02-3F4F-4C94-6B58-76F274AEA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" y="2055"/>
                <a:ext cx="523" cy="17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4" name="Line 32">
              <a:extLst>
                <a:ext uri="{FF2B5EF4-FFF2-40B4-BE49-F238E27FC236}">
                  <a16:creationId xmlns:a16="http://schemas.microsoft.com/office/drawing/2014/main" id="{E51899B8-0647-A0DF-8FB6-954316820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6" y="1604"/>
              <a:ext cx="217" cy="28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Oval 34">
              <a:extLst>
                <a:ext uri="{FF2B5EF4-FFF2-40B4-BE49-F238E27FC236}">
                  <a16:creationId xmlns:a16="http://schemas.microsoft.com/office/drawing/2014/main" id="{29E54B7A-EBB6-731D-5A5E-29B79F6AC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1988"/>
              <a:ext cx="31" cy="2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427695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34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EC34D2-F355-8942-858F-BF08B4DCB49C}"/>
              </a:ext>
            </a:extLst>
          </p:cNvPr>
          <p:cNvSpPr txBox="1"/>
          <p:nvPr/>
        </p:nvSpPr>
        <p:spPr>
          <a:xfrm>
            <a:off x="639718" y="666750"/>
            <a:ext cx="4589416" cy="36933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 b="1">
                <a:latin typeface="Bookman Old Style" panose="02050604050505020204" pitchFamily="18" charset="0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sz="1800" dirty="0">
                <a:solidFill>
                  <a:srgbClr val="0000FF"/>
                </a:solidFill>
              </a:rPr>
              <a:t>Branche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45022B-D5D4-136E-D009-09910F7EDAE1}"/>
              </a:ext>
            </a:extLst>
          </p:cNvPr>
          <p:cNvSpPr txBox="1"/>
          <p:nvPr/>
        </p:nvSpPr>
        <p:spPr>
          <a:xfrm>
            <a:off x="967306" y="1212005"/>
            <a:ext cx="65002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just">
              <a:defRPr sz="1400">
                <a:latin typeface="Bookman Old Style" panose="02050604050505020204" pitchFamily="18" charset="0"/>
              </a:defRPr>
            </a:lvl1pPr>
          </a:lstStyle>
          <a:p>
            <a:r>
              <a:rPr lang="fr-FR" sz="1800" dirty="0"/>
              <a:t>Une </a:t>
            </a:r>
            <a:r>
              <a:rPr lang="fr-FR" sz="1800" b="1" dirty="0"/>
              <a:t>branche</a:t>
            </a:r>
            <a:r>
              <a:rPr lang="fr-FR" sz="1800" dirty="0"/>
              <a:t> est un ensemble de</a:t>
            </a:r>
            <a:r>
              <a:rPr lang="fr-FR" sz="1800" b="1" dirty="0"/>
              <a:t> dipôles montés en série entre deux nœuds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5F62C13-81D5-D30C-7E12-02D3A5F3B9A1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190750"/>
            <a:ext cx="2616200" cy="2009775"/>
            <a:chOff x="2517" y="2898"/>
            <a:chExt cx="1648" cy="1266"/>
          </a:xfrm>
        </p:grpSpPr>
        <p:sp>
          <p:nvSpPr>
            <p:cNvPr id="37" name="Line 12">
              <a:extLst>
                <a:ext uri="{FF2B5EF4-FFF2-40B4-BE49-F238E27FC236}">
                  <a16:creationId xmlns:a16="http://schemas.microsoft.com/office/drawing/2014/main" id="{3180E07C-D0E1-7386-6BFA-D3B3CC1DD17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196199">
              <a:off x="3811" y="3248"/>
              <a:ext cx="6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" name="Line 13">
              <a:extLst>
                <a:ext uri="{FF2B5EF4-FFF2-40B4-BE49-F238E27FC236}">
                  <a16:creationId xmlns:a16="http://schemas.microsoft.com/office/drawing/2014/main" id="{BA39C020-D9B5-E8E6-1C6D-A5FD1A66D2E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196199" flipV="1">
              <a:off x="3813" y="3811"/>
              <a:ext cx="702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39" name="Group 8">
              <a:extLst>
                <a:ext uri="{FF2B5EF4-FFF2-40B4-BE49-F238E27FC236}">
                  <a16:creationId xmlns:a16="http://schemas.microsoft.com/office/drawing/2014/main" id="{B8C6D8D8-EBCE-3C40-D2AA-C6B4A65BC6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4" y="3490"/>
              <a:ext cx="673" cy="84"/>
              <a:chOff x="1522" y="2055"/>
              <a:chExt cx="1045" cy="178"/>
            </a:xfrm>
          </p:grpSpPr>
          <p:sp>
            <p:nvSpPr>
              <p:cNvPr id="49" name="Line 9">
                <a:extLst>
                  <a:ext uri="{FF2B5EF4-FFF2-40B4-BE49-F238E27FC236}">
                    <a16:creationId xmlns:a16="http://schemas.microsoft.com/office/drawing/2014/main" id="{106E0202-0A8E-B88D-1532-CD514B40F1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2" y="2133"/>
                <a:ext cx="104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0" name="Rectangle 10">
                <a:extLst>
                  <a:ext uri="{FF2B5EF4-FFF2-40B4-BE49-F238E27FC236}">
                    <a16:creationId xmlns:a16="http://schemas.microsoft.com/office/drawing/2014/main" id="{7156B808-ADED-9AC4-2007-F021A3830D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" y="2055"/>
                <a:ext cx="523" cy="17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40" name="Oval 11">
              <a:extLst>
                <a:ext uri="{FF2B5EF4-FFF2-40B4-BE49-F238E27FC236}">
                  <a16:creationId xmlns:a16="http://schemas.microsoft.com/office/drawing/2014/main" id="{17410D79-9B58-52D8-1588-A7BA1F8AA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" y="3512"/>
              <a:ext cx="31" cy="2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41" name="Group 14">
              <a:extLst>
                <a:ext uri="{FF2B5EF4-FFF2-40B4-BE49-F238E27FC236}">
                  <a16:creationId xmlns:a16="http://schemas.microsoft.com/office/drawing/2014/main" id="{BC7FF754-B7BB-707F-37F0-B48FF0D83BA9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707" y="3490"/>
              <a:ext cx="673" cy="84"/>
              <a:chOff x="1522" y="2055"/>
              <a:chExt cx="1045" cy="178"/>
            </a:xfrm>
          </p:grpSpPr>
          <p:sp>
            <p:nvSpPr>
              <p:cNvPr id="47" name="Line 15">
                <a:extLst>
                  <a:ext uri="{FF2B5EF4-FFF2-40B4-BE49-F238E27FC236}">
                    <a16:creationId xmlns:a16="http://schemas.microsoft.com/office/drawing/2014/main" id="{B045CAE3-4BFD-F06D-D7F4-39FD8FA714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2" y="2133"/>
                <a:ext cx="104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8" name="Rectangle 16">
                <a:extLst>
                  <a:ext uri="{FF2B5EF4-FFF2-40B4-BE49-F238E27FC236}">
                    <a16:creationId xmlns:a16="http://schemas.microsoft.com/office/drawing/2014/main" id="{54436907-0C3B-DF67-70D2-1386613769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" y="2055"/>
                <a:ext cx="523" cy="17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42" name="Oval 17">
              <a:extLst>
                <a:ext uri="{FF2B5EF4-FFF2-40B4-BE49-F238E27FC236}">
                  <a16:creationId xmlns:a16="http://schemas.microsoft.com/office/drawing/2014/main" id="{F724D228-1ED3-7B03-2B71-07E4CCDF0B6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711" y="3512"/>
              <a:ext cx="31" cy="2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3" name="Line 18">
              <a:extLst>
                <a:ext uri="{FF2B5EF4-FFF2-40B4-BE49-F238E27FC236}">
                  <a16:creationId xmlns:a16="http://schemas.microsoft.com/office/drawing/2014/main" id="{C51E6DAD-D7F9-B409-AE5E-89FEEEE7A1E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196199" flipH="1">
              <a:off x="2173" y="3248"/>
              <a:ext cx="6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4" name="Line 19">
              <a:extLst>
                <a:ext uri="{FF2B5EF4-FFF2-40B4-BE49-F238E27FC236}">
                  <a16:creationId xmlns:a16="http://schemas.microsoft.com/office/drawing/2014/main" id="{BCD4024E-C38E-5EF9-8507-9BF035ADE50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196199" flipH="1" flipV="1">
              <a:off x="2167" y="3815"/>
              <a:ext cx="6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5" name="AutoShape 20">
              <a:extLst>
                <a:ext uri="{FF2B5EF4-FFF2-40B4-BE49-F238E27FC236}">
                  <a16:creationId xmlns:a16="http://schemas.microsoft.com/office/drawing/2014/main" id="{EDDC43C8-3AB2-525A-2FEC-614F4CC4E30C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3271" y="3311"/>
              <a:ext cx="120" cy="946"/>
            </a:xfrm>
            <a:prstGeom prst="rightBrace">
              <a:avLst>
                <a:gd name="adj1" fmla="val 65694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53473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35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3" name="ZoneTexte 15">
            <a:extLst>
              <a:ext uri="{FF2B5EF4-FFF2-40B4-BE49-F238E27FC236}">
                <a16:creationId xmlns:a16="http://schemas.microsoft.com/office/drawing/2014/main" id="{CDE910EB-2CE3-F18D-CB35-F62668795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224" y="769321"/>
            <a:ext cx="2595864" cy="36933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 b="1">
                <a:solidFill>
                  <a:srgbClr val="0000FF"/>
                </a:solidFill>
                <a:latin typeface="Bookman Old Style" panose="02050604050505020204" pitchFamily="18" charset="0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sz="1800" dirty="0"/>
              <a:t>Maille</a:t>
            </a:r>
            <a:endParaRPr lang="fr-FR" altLang="fr-FR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9E4B3-C672-2386-AADF-C9F4EFCEFB3E}"/>
              </a:ext>
            </a:extLst>
          </p:cNvPr>
          <p:cNvSpPr txBox="1"/>
          <p:nvPr/>
        </p:nvSpPr>
        <p:spPr>
          <a:xfrm>
            <a:off x="914400" y="135255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Bookman Old Style" panose="02050604050505020204" pitchFamily="18" charset="0"/>
              </a:rPr>
              <a:t>U</a:t>
            </a:r>
            <a:r>
              <a:rPr lang="fr-FR" dirty="0" smtClean="0">
                <a:latin typeface="Bookman Old Style" panose="02050604050505020204" pitchFamily="18" charset="0"/>
              </a:rPr>
              <a:t>ne </a:t>
            </a:r>
            <a:r>
              <a:rPr lang="fr-FR" b="1" dirty="0">
                <a:latin typeface="Bookman Old Style" panose="02050604050505020204" pitchFamily="18" charset="0"/>
              </a:rPr>
              <a:t>maille</a:t>
            </a:r>
            <a:r>
              <a:rPr lang="fr-FR" dirty="0">
                <a:latin typeface="Bookman Old Style" panose="02050604050505020204" pitchFamily="18" charset="0"/>
              </a:rPr>
              <a:t>  est constituée par un </a:t>
            </a:r>
            <a:r>
              <a:rPr lang="fr-FR" b="1" dirty="0">
                <a:latin typeface="Bookman Old Style" panose="02050604050505020204" pitchFamily="18" charset="0"/>
              </a:rPr>
              <a:t>ensemble de branches</a:t>
            </a:r>
            <a:r>
              <a:rPr lang="fr-FR" dirty="0">
                <a:latin typeface="Bookman Old Style" panose="02050604050505020204" pitchFamily="18" charset="0"/>
              </a:rPr>
              <a:t>, formant un </a:t>
            </a:r>
            <a:r>
              <a:rPr lang="fr-FR" b="1" dirty="0">
                <a:latin typeface="Bookman Old Style" panose="02050604050505020204" pitchFamily="18" charset="0"/>
              </a:rPr>
              <a:t>circuit fermé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E55EA02-46BA-07CD-DB05-D6D767430509}"/>
              </a:ext>
            </a:extLst>
          </p:cNvPr>
          <p:cNvSpPr txBox="1"/>
          <p:nvPr/>
        </p:nvSpPr>
        <p:spPr>
          <a:xfrm>
            <a:off x="625224" y="2398126"/>
            <a:ext cx="7123614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 b="1">
                <a:solidFill>
                  <a:srgbClr val="0000FF"/>
                </a:solidFill>
                <a:latin typeface="Bookman Old Style" panose="02050604050505020204" pitchFamily="18" charset="0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sz="1800" dirty="0" smtClean="0"/>
              <a:t>Réseau</a:t>
            </a:r>
          </a:p>
          <a:p>
            <a:endParaRPr lang="fr-FR" sz="1800" dirty="0"/>
          </a:p>
          <a:p>
            <a:pPr marL="0" indent="0">
              <a:buNone/>
            </a:pPr>
            <a:r>
              <a:rPr lang="fr-FR" sz="1800" b="0" dirty="0" smtClean="0">
                <a:solidFill>
                  <a:schemeClr val="tx1"/>
                </a:solidFill>
              </a:rPr>
              <a:t>    Un </a:t>
            </a:r>
            <a:r>
              <a:rPr lang="fr-FR" sz="1800" dirty="0">
                <a:solidFill>
                  <a:schemeClr val="tx1"/>
                </a:solidFill>
              </a:rPr>
              <a:t>réseau</a:t>
            </a:r>
            <a:r>
              <a:rPr lang="fr-FR" sz="1800" b="0" dirty="0">
                <a:solidFill>
                  <a:schemeClr val="tx1"/>
                </a:solidFill>
              </a:rPr>
              <a:t>, ou </a:t>
            </a:r>
            <a:r>
              <a:rPr lang="fr-FR" sz="1800" dirty="0">
                <a:solidFill>
                  <a:schemeClr val="tx1"/>
                </a:solidFill>
              </a:rPr>
              <a:t>circuit</a:t>
            </a:r>
            <a:r>
              <a:rPr lang="fr-FR" sz="1800" b="0" dirty="0">
                <a:solidFill>
                  <a:schemeClr val="tx1"/>
                </a:solidFill>
              </a:rPr>
              <a:t>, est un ensemble de </a:t>
            </a:r>
            <a:r>
              <a:rPr lang="fr-FR" sz="1800" b="0" dirty="0" smtClean="0">
                <a:solidFill>
                  <a:schemeClr val="tx1"/>
                </a:solidFill>
              </a:rPr>
              <a:t>composants</a:t>
            </a:r>
          </a:p>
          <a:p>
            <a:pPr marL="0" indent="0">
              <a:buNone/>
            </a:pPr>
            <a:r>
              <a:rPr lang="fr-FR" sz="1800" b="0" dirty="0">
                <a:solidFill>
                  <a:schemeClr val="tx1"/>
                </a:solidFill>
              </a:rPr>
              <a:t> </a:t>
            </a:r>
            <a:r>
              <a:rPr lang="fr-FR" sz="1800" b="0" dirty="0" smtClean="0">
                <a:solidFill>
                  <a:schemeClr val="tx1"/>
                </a:solidFill>
              </a:rPr>
              <a:t>   reliés </a:t>
            </a:r>
            <a:r>
              <a:rPr lang="fr-FR" sz="1800" b="0" dirty="0">
                <a:solidFill>
                  <a:schemeClr val="tx1"/>
                </a:solidFill>
              </a:rPr>
              <a:t>par des fils de connexion constituant ainsi </a:t>
            </a:r>
            <a:r>
              <a:rPr lang="fr-FR" sz="1800" b="0" dirty="0" smtClean="0">
                <a:solidFill>
                  <a:schemeClr val="tx1"/>
                </a:solidFill>
              </a:rPr>
              <a:t>des</a:t>
            </a:r>
          </a:p>
          <a:p>
            <a:pPr marL="0" indent="0">
              <a:buNone/>
            </a:pPr>
            <a:r>
              <a:rPr lang="fr-FR" sz="1800" b="0" dirty="0">
                <a:solidFill>
                  <a:schemeClr val="tx1"/>
                </a:solidFill>
              </a:rPr>
              <a:t> </a:t>
            </a:r>
            <a:r>
              <a:rPr lang="fr-FR" sz="1800" b="0" dirty="0" smtClean="0">
                <a:solidFill>
                  <a:schemeClr val="tx1"/>
                </a:solidFill>
              </a:rPr>
              <a:t>   </a:t>
            </a:r>
            <a:r>
              <a:rPr lang="fr-FR" sz="1800" dirty="0">
                <a:solidFill>
                  <a:schemeClr val="tx1"/>
                </a:solidFill>
              </a:rPr>
              <a:t>nœuds</a:t>
            </a:r>
            <a:r>
              <a:rPr lang="fr-FR" sz="1800" b="0" dirty="0">
                <a:solidFill>
                  <a:schemeClr val="tx1"/>
                </a:solidFill>
              </a:rPr>
              <a:t>, des </a:t>
            </a:r>
            <a:r>
              <a:rPr lang="fr-FR" sz="1800" dirty="0">
                <a:solidFill>
                  <a:schemeClr val="tx1"/>
                </a:solidFill>
              </a:rPr>
              <a:t>branches</a:t>
            </a:r>
            <a:r>
              <a:rPr lang="fr-FR" sz="1800" b="0" dirty="0">
                <a:solidFill>
                  <a:schemeClr val="tx1"/>
                </a:solidFill>
              </a:rPr>
              <a:t> et des </a:t>
            </a:r>
            <a:r>
              <a:rPr lang="fr-FR" sz="1800" dirty="0">
                <a:solidFill>
                  <a:schemeClr val="tx1"/>
                </a:solidFill>
              </a:rPr>
              <a:t>mailles</a:t>
            </a:r>
            <a:r>
              <a:rPr lang="fr-FR" sz="1800" b="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288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36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1" name="ZoneTexte 15">
            <a:extLst>
              <a:ext uri="{FF2B5EF4-FFF2-40B4-BE49-F238E27FC236}">
                <a16:creationId xmlns:a16="http://schemas.microsoft.com/office/drawing/2014/main" id="{B355A2D8-AECE-0AD7-686A-4C9EB938F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356" y="332479"/>
            <a:ext cx="4927705" cy="36933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 b="1">
                <a:solidFill>
                  <a:srgbClr val="0000FF"/>
                </a:solidFill>
                <a:latin typeface="Bookman Old Style" panose="02050604050505020204" pitchFamily="18" charset="0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sz="1800" u="sng" dirty="0">
                <a:solidFill>
                  <a:srgbClr val="00B050"/>
                </a:solidFill>
              </a:rPr>
              <a:t>Exemples</a:t>
            </a:r>
            <a:endParaRPr lang="fr-FR" altLang="fr-FR" sz="1800" u="sng" dirty="0">
              <a:solidFill>
                <a:srgbClr val="00B050"/>
              </a:solidFill>
            </a:endParaRPr>
          </a:p>
        </p:txBody>
      </p:sp>
      <p:pic>
        <p:nvPicPr>
          <p:cNvPr id="21" name="object 10">
            <a:extLst>
              <a:ext uri="{FF2B5EF4-FFF2-40B4-BE49-F238E27FC236}">
                <a16:creationId xmlns:a16="http://schemas.microsoft.com/office/drawing/2014/main" id="{83DDB91B-C014-84EF-D8C5-B63622A1919E}"/>
              </a:ext>
            </a:extLst>
          </p:cNvPr>
          <p:cNvPicPr/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14600" y="985417"/>
            <a:ext cx="4988212" cy="193248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DC4E102-FE47-25FB-9ADC-08E02E3E49FA}"/>
              </a:ext>
            </a:extLst>
          </p:cNvPr>
          <p:cNvSpPr txBox="1"/>
          <p:nvPr/>
        </p:nvSpPr>
        <p:spPr>
          <a:xfrm>
            <a:off x="990600" y="3242365"/>
            <a:ext cx="7543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latin typeface="Bookman Old Style" panose="02050604050505020204" pitchFamily="18" charset="0"/>
              </a:rPr>
              <a:t>Le point </a:t>
            </a:r>
            <a:r>
              <a:rPr lang="fr-FR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B</a:t>
            </a:r>
            <a:r>
              <a:rPr lang="fr-FR" dirty="0">
                <a:latin typeface="Bookman Old Style" panose="02050604050505020204" pitchFamily="18" charset="0"/>
              </a:rPr>
              <a:t> est un </a:t>
            </a:r>
            <a:r>
              <a:rPr lang="fr-FR" b="1" dirty="0">
                <a:latin typeface="Bookman Old Style" panose="02050604050505020204" pitchFamily="18" charset="0"/>
              </a:rPr>
              <a:t>nœud</a:t>
            </a:r>
          </a:p>
          <a:p>
            <a:r>
              <a:rPr lang="fr-FR" dirty="0">
                <a:latin typeface="Bookman Old Style" panose="020506040505050202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latin typeface="Bookman Old Style" panose="02050604050505020204" pitchFamily="18" charset="0"/>
              </a:rPr>
              <a:t>La portion </a:t>
            </a:r>
            <a:r>
              <a:rPr lang="fr-FR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ABH</a:t>
            </a:r>
            <a:r>
              <a:rPr lang="fr-FR" dirty="0">
                <a:latin typeface="Bookman Old Style" panose="02050604050505020204" pitchFamily="18" charset="0"/>
              </a:rPr>
              <a:t> une </a:t>
            </a:r>
            <a:r>
              <a:rPr lang="fr-FR" b="1" dirty="0">
                <a:latin typeface="Bookman Old Style" panose="02050604050505020204" pitchFamily="18" charset="0"/>
              </a:rPr>
              <a:t>branche</a:t>
            </a:r>
          </a:p>
          <a:p>
            <a:pPr algn="just"/>
            <a:endParaRPr lang="fr-FR" b="1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latin typeface="Bookman Old Style" panose="02050604050505020204" pitchFamily="18" charset="0"/>
              </a:rPr>
              <a:t>Le circuit fermé </a:t>
            </a:r>
            <a:r>
              <a:rPr lang="fr-FR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ABGH</a:t>
            </a:r>
            <a:r>
              <a:rPr lang="fr-FR" dirty="0">
                <a:latin typeface="Bookman Old Style" panose="02050604050505020204" pitchFamily="18" charset="0"/>
              </a:rPr>
              <a:t> </a:t>
            </a:r>
            <a:r>
              <a:rPr lang="fr-FR" dirty="0" smtClean="0">
                <a:latin typeface="Bookman Old Style" panose="02050604050505020204" pitchFamily="18" charset="0"/>
              </a:rPr>
              <a:t>est une </a:t>
            </a:r>
            <a:r>
              <a:rPr lang="fr-FR" b="1" dirty="0">
                <a:latin typeface="Bookman Old Style" panose="02050604050505020204" pitchFamily="18" charset="0"/>
              </a:rPr>
              <a:t>maille</a:t>
            </a:r>
          </a:p>
        </p:txBody>
      </p:sp>
    </p:spTree>
    <p:extLst>
      <p:ext uri="{BB962C8B-B14F-4D97-AF65-F5344CB8AC3E}">
        <p14:creationId xmlns:p14="http://schemas.microsoft.com/office/powerpoint/2010/main" val="170594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37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367707" y="36195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altLang="fr-FR" b="1" spc="-5" dirty="0" smtClean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B</a:t>
            </a:r>
            <a:r>
              <a:rPr 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. </a:t>
            </a:r>
            <a:r>
              <a:rPr lang="fr-FR" alt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Loi des nœuds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9E4B3-C672-2386-AADF-C9F4EFCEFB3E}"/>
              </a:ext>
            </a:extLst>
          </p:cNvPr>
          <p:cNvSpPr txBox="1"/>
          <p:nvPr/>
        </p:nvSpPr>
        <p:spPr>
          <a:xfrm>
            <a:off x="463240" y="1123950"/>
            <a:ext cx="8598519" cy="1779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lang="fr-FR" b="1" dirty="0">
                <a:latin typeface="Bookman Old Style" panose="02050604050505020204" pitchFamily="18" charset="0"/>
                <a:cs typeface="Times New Roman"/>
              </a:rPr>
              <a:t>Loi des</a:t>
            </a:r>
            <a:r>
              <a:rPr lang="fr-FR" b="1" spc="-3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b="1" dirty="0">
                <a:latin typeface="Bookman Old Style" panose="02050604050505020204" pitchFamily="18" charset="0"/>
                <a:cs typeface="Times New Roman"/>
              </a:rPr>
              <a:t>nœuds</a:t>
            </a:r>
            <a:r>
              <a:rPr lang="fr-FR" b="1" spc="-4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(ou</a:t>
            </a:r>
            <a:r>
              <a:rPr lang="fr-FR"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loi</a:t>
            </a:r>
            <a:r>
              <a:rPr lang="fr-FR" spc="-3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lang="fr-FR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Kirchhoff</a:t>
            </a:r>
            <a:r>
              <a:rPr lang="fr-FR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pour</a:t>
            </a:r>
            <a:r>
              <a:rPr lang="fr-FR" spc="-3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les</a:t>
            </a:r>
            <a:r>
              <a:rPr lang="fr-FR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courants)</a:t>
            </a:r>
            <a:r>
              <a:rPr lang="fr-FR"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:</a:t>
            </a:r>
            <a:r>
              <a:rPr lang="fr-FR"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La </a:t>
            </a:r>
            <a:r>
              <a:rPr lang="fr-FR" b="1" dirty="0">
                <a:latin typeface="Bookman Old Style" panose="02050604050505020204" pitchFamily="18" charset="0"/>
                <a:cs typeface="Times New Roman"/>
              </a:rPr>
              <a:t>somme</a:t>
            </a:r>
            <a:r>
              <a:rPr lang="fr-FR" b="1" spc="-3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b="1" dirty="0">
                <a:latin typeface="Bookman Old Style" panose="02050604050505020204" pitchFamily="18" charset="0"/>
                <a:cs typeface="Times New Roman"/>
              </a:rPr>
              <a:t>algébrique</a:t>
            </a:r>
            <a:r>
              <a:rPr lang="fr-FR" spc="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des</a:t>
            </a:r>
            <a:r>
              <a:rPr lang="fr-FR"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courants</a:t>
            </a:r>
            <a:r>
              <a:rPr lang="fr-FR"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(on</a:t>
            </a:r>
            <a:r>
              <a:rPr lang="fr-FR"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tient</a:t>
            </a:r>
            <a:r>
              <a:rPr lang="fr-FR"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compte</a:t>
            </a:r>
            <a:r>
              <a:rPr lang="fr-FR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lang="fr-FR" spc="-3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leur</a:t>
            </a:r>
            <a:r>
              <a:rPr lang="fr-FR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signe)</a:t>
            </a:r>
            <a:r>
              <a:rPr lang="fr-FR"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qui</a:t>
            </a:r>
            <a:r>
              <a:rPr lang="fr-FR" spc="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spc="-10" dirty="0">
                <a:latin typeface="Bookman Old Style" panose="02050604050505020204" pitchFamily="18" charset="0"/>
                <a:cs typeface="Times New Roman"/>
              </a:rPr>
              <a:t>convergent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en</a:t>
            </a:r>
            <a:r>
              <a:rPr lang="fr-FR" spc="-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un</a:t>
            </a:r>
            <a:r>
              <a:rPr lang="fr-FR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même </a:t>
            </a:r>
            <a:r>
              <a:rPr lang="fr-FR" b="1" dirty="0">
                <a:latin typeface="Bookman Old Style" panose="02050604050505020204" pitchFamily="18" charset="0"/>
                <a:cs typeface="Times New Roman"/>
              </a:rPr>
              <a:t>nœud</a:t>
            </a:r>
            <a:r>
              <a:rPr lang="fr-FR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est</a:t>
            </a:r>
            <a:r>
              <a:rPr lang="fr-FR" spc="-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b="1" dirty="0">
                <a:latin typeface="Bookman Old Style" panose="02050604050505020204" pitchFamily="18" charset="0"/>
                <a:cs typeface="Times New Roman"/>
              </a:rPr>
              <a:t>nulle</a:t>
            </a:r>
            <a:r>
              <a:rPr lang="fr-FR" dirty="0" smtClean="0">
                <a:latin typeface="Bookman Old Style" panose="02050604050505020204" pitchFamily="18" charset="0"/>
                <a:cs typeface="Times New Roman"/>
              </a:rPr>
              <a:t>.</a:t>
            </a:r>
          </a:p>
          <a:p>
            <a:pPr marL="298450" marR="508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endParaRPr lang="fr-FR" dirty="0">
              <a:latin typeface="Bookman Old Style" panose="02050604050505020204" pitchFamily="18" charset="0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fr-FR" dirty="0" smtClean="0">
                <a:latin typeface="Bookman Old Style" panose="02050604050505020204" pitchFamily="18" charset="0"/>
                <a:cs typeface="Times New Roman"/>
              </a:rPr>
              <a:t>          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En d'autres termes, somme des courants qui arrivent à un </a:t>
            </a:r>
            <a:r>
              <a:rPr lang="fr-FR" dirty="0" smtClean="0">
                <a:latin typeface="Bookman Old Style" panose="02050604050505020204" pitchFamily="18" charset="0"/>
                <a:cs typeface="Times New Roman"/>
              </a:rPr>
              <a:t>nœud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fr-FR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dirty="0" smtClean="0">
                <a:latin typeface="Bookman Old Style" panose="02050604050505020204" pitchFamily="18" charset="0"/>
                <a:cs typeface="Times New Roman"/>
              </a:rPr>
              <a:t>          </a:t>
            </a:r>
            <a:r>
              <a:rPr lang="fr-FR" dirty="0">
                <a:latin typeface="Bookman Old Style" panose="02050604050505020204" pitchFamily="18" charset="0"/>
                <a:cs typeface="Times New Roman"/>
              </a:rPr>
              <a:t>est égale à la somme des courants qui en repartent.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3B27B37-2FCB-5381-DD92-4FA6D3040519}"/>
              </a:ext>
            </a:extLst>
          </p:cNvPr>
          <p:cNvSpPr/>
          <p:nvPr/>
        </p:nvSpPr>
        <p:spPr>
          <a:xfrm>
            <a:off x="940075" y="2343150"/>
            <a:ext cx="276640" cy="1524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E092B5-78DA-F291-8F34-CDC8C4E25A58}"/>
              </a:ext>
            </a:extLst>
          </p:cNvPr>
          <p:cNvSpPr txBox="1"/>
          <p:nvPr/>
        </p:nvSpPr>
        <p:spPr>
          <a:xfrm>
            <a:off x="1236593" y="3296592"/>
            <a:ext cx="7086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b="1" dirty="0">
                <a:latin typeface="Bookman Old Style" panose="02050604050505020204" pitchFamily="18" charset="0"/>
              </a:rPr>
              <a:t>C ’est une conséquence de la conservation de la charge électrique. </a:t>
            </a:r>
          </a:p>
        </p:txBody>
      </p:sp>
    </p:spTree>
    <p:extLst>
      <p:ext uri="{BB962C8B-B14F-4D97-AF65-F5344CB8AC3E}">
        <p14:creationId xmlns:p14="http://schemas.microsoft.com/office/powerpoint/2010/main" val="120058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38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24" name="ZoneTexte 15">
            <a:extLst>
              <a:ext uri="{FF2B5EF4-FFF2-40B4-BE49-F238E27FC236}">
                <a16:creationId xmlns:a16="http://schemas.microsoft.com/office/drawing/2014/main" id="{0C9C773A-921D-11AA-26D4-8F59503B9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42" y="720006"/>
            <a:ext cx="259586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 b="1">
                <a:solidFill>
                  <a:srgbClr val="0000FF"/>
                </a:solidFill>
                <a:latin typeface="Bookman Old Style" panose="02050604050505020204" pitchFamily="18" charset="0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sz="1800" u="sng" dirty="0">
                <a:solidFill>
                  <a:srgbClr val="00B050"/>
                </a:solidFill>
              </a:rPr>
              <a:t>Exemple</a:t>
            </a:r>
            <a:endParaRPr lang="fr-FR" altLang="fr-FR" sz="1800" u="sng" dirty="0">
              <a:solidFill>
                <a:srgbClr val="00B050"/>
              </a:solidFill>
            </a:endParaRPr>
          </a:p>
        </p:txBody>
      </p:sp>
      <p:grpSp>
        <p:nvGrpSpPr>
          <p:cNvPr id="25" name="Group 30">
            <a:extLst>
              <a:ext uri="{FF2B5EF4-FFF2-40B4-BE49-F238E27FC236}">
                <a16:creationId xmlns:a16="http://schemas.microsoft.com/office/drawing/2014/main" id="{9510A8E6-3095-45B5-57EF-95B9C3A4F47F}"/>
              </a:ext>
            </a:extLst>
          </p:cNvPr>
          <p:cNvGrpSpPr>
            <a:grpSpLocks/>
          </p:cNvGrpSpPr>
          <p:nvPr/>
        </p:nvGrpSpPr>
        <p:grpSpPr bwMode="auto">
          <a:xfrm>
            <a:off x="2071656" y="1733550"/>
            <a:ext cx="5673965" cy="1649852"/>
            <a:chOff x="1408" y="1944"/>
            <a:chExt cx="3814" cy="1188"/>
          </a:xfrm>
        </p:grpSpPr>
        <p:grpSp>
          <p:nvGrpSpPr>
            <p:cNvPr id="26" name="Group 4">
              <a:extLst>
                <a:ext uri="{FF2B5EF4-FFF2-40B4-BE49-F238E27FC236}">
                  <a16:creationId xmlns:a16="http://schemas.microsoft.com/office/drawing/2014/main" id="{4A3A4F86-64D0-43D8-19B3-01B07F3E0D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1445" cy="1188"/>
              <a:chOff x="2056" y="2520"/>
              <a:chExt cx="1445" cy="1188"/>
            </a:xfrm>
          </p:grpSpPr>
          <p:sp>
            <p:nvSpPr>
              <p:cNvPr id="29" name="Line 5">
                <a:extLst>
                  <a:ext uri="{FF2B5EF4-FFF2-40B4-BE49-F238E27FC236}">
                    <a16:creationId xmlns:a16="http://schemas.microsoft.com/office/drawing/2014/main" id="{B58139B2-B460-939A-22B5-24B1DA72D9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733"/>
                <a:ext cx="655" cy="44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0" name="Line 6">
                <a:extLst>
                  <a:ext uri="{FF2B5EF4-FFF2-40B4-BE49-F238E27FC236}">
                    <a16:creationId xmlns:a16="http://schemas.microsoft.com/office/drawing/2014/main" id="{90061DB7-5074-024F-AC5C-33AD239E78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4" y="2922"/>
                <a:ext cx="155" cy="1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1" name="Line 7">
                <a:extLst>
                  <a:ext uri="{FF2B5EF4-FFF2-40B4-BE49-F238E27FC236}">
                    <a16:creationId xmlns:a16="http://schemas.microsoft.com/office/drawing/2014/main" id="{5631C1DC-E728-9BCA-4751-11BA45B2A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589" y="2522"/>
                <a:ext cx="123" cy="6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2" name="Line 8">
                <a:extLst>
                  <a:ext uri="{FF2B5EF4-FFF2-40B4-BE49-F238E27FC236}">
                    <a16:creationId xmlns:a16="http://schemas.microsoft.com/office/drawing/2014/main" id="{5D5069B7-45CF-DFD4-70BE-F4C7E5B938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34" y="2800"/>
                <a:ext cx="33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3" name="Line 9">
                <a:extLst>
                  <a:ext uri="{FF2B5EF4-FFF2-40B4-BE49-F238E27FC236}">
                    <a16:creationId xmlns:a16="http://schemas.microsoft.com/office/drawing/2014/main" id="{39F14AB9-34C8-646F-F685-81DBAA67F3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12" y="2689"/>
                <a:ext cx="600" cy="47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5" name="Line 10">
                <a:extLst>
                  <a:ext uri="{FF2B5EF4-FFF2-40B4-BE49-F238E27FC236}">
                    <a16:creationId xmlns:a16="http://schemas.microsoft.com/office/drawing/2014/main" id="{0F7FAB40-BE1A-4319-04B4-D9A8627162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34" y="2900"/>
                <a:ext cx="111" cy="8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6" name="Line 11">
                <a:extLst>
                  <a:ext uri="{FF2B5EF4-FFF2-40B4-BE49-F238E27FC236}">
                    <a16:creationId xmlns:a16="http://schemas.microsoft.com/office/drawing/2014/main" id="{273A036B-EA52-0534-EC9F-4C39950435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2" y="3178"/>
                <a:ext cx="78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7" name="Line 12">
                <a:extLst>
                  <a:ext uri="{FF2B5EF4-FFF2-40B4-BE49-F238E27FC236}">
                    <a16:creationId xmlns:a16="http://schemas.microsoft.com/office/drawing/2014/main" id="{0C299C90-49BA-68FC-B75C-FA7180E575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9" y="3178"/>
                <a:ext cx="14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8" name="Line 13">
                <a:extLst>
                  <a:ext uri="{FF2B5EF4-FFF2-40B4-BE49-F238E27FC236}">
                    <a16:creationId xmlns:a16="http://schemas.microsoft.com/office/drawing/2014/main" id="{99863E92-0C98-928A-0809-A72323EE0F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23" y="3178"/>
                <a:ext cx="455" cy="5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9" name="Line 14">
                <a:extLst>
                  <a:ext uri="{FF2B5EF4-FFF2-40B4-BE49-F238E27FC236}">
                    <a16:creationId xmlns:a16="http://schemas.microsoft.com/office/drawing/2014/main" id="{97B6E4AD-441D-F2CC-A9C2-5ACC08C783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8" y="3344"/>
                <a:ext cx="111" cy="14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arrow" w="med" len="med"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0" name="Line 15">
                <a:extLst>
                  <a:ext uri="{FF2B5EF4-FFF2-40B4-BE49-F238E27FC236}">
                    <a16:creationId xmlns:a16="http://schemas.microsoft.com/office/drawing/2014/main" id="{B495D205-16B1-5839-D51C-E1D692C158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90" y="3166"/>
                <a:ext cx="222" cy="45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1" name="Line 16">
                <a:extLst>
                  <a:ext uri="{FF2B5EF4-FFF2-40B4-BE49-F238E27FC236}">
                    <a16:creationId xmlns:a16="http://schemas.microsoft.com/office/drawing/2014/main" id="{28F160BE-AC0D-C80B-1FCF-02799C640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78" y="3277"/>
                <a:ext cx="78" cy="1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2" name="Text Box 17">
                <a:extLst>
                  <a:ext uri="{FF2B5EF4-FFF2-40B4-BE49-F238E27FC236}">
                    <a16:creationId xmlns:a16="http://schemas.microsoft.com/office/drawing/2014/main" id="{747893D3-B587-7EF5-FBA3-C9FAB59976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99" y="2889"/>
                <a:ext cx="367" cy="33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sz="2400" i="1">
                    <a:latin typeface="Bookman Old Style" panose="02050604050505020204" pitchFamily="18" charset="0"/>
                  </a:rPr>
                  <a:t>i</a:t>
                </a:r>
                <a:r>
                  <a:rPr lang="fr-FR" sz="2400" i="1" baseline="-25000">
                    <a:latin typeface="Bookman Old Style" panose="02050604050505020204" pitchFamily="18" charset="0"/>
                  </a:rPr>
                  <a:t>1</a:t>
                </a:r>
                <a:endParaRPr lang="fr-FR" sz="24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43" name="Text Box 18">
                <a:extLst>
                  <a:ext uri="{FF2B5EF4-FFF2-40B4-BE49-F238E27FC236}">
                    <a16:creationId xmlns:a16="http://schemas.microsoft.com/office/drawing/2014/main" id="{0263E71F-4233-52C1-BEEB-18F9080045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0" y="2520"/>
                <a:ext cx="367" cy="33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sz="2400" i="1" dirty="0">
                    <a:latin typeface="Bookman Old Style" panose="02050604050505020204" pitchFamily="18" charset="0"/>
                  </a:rPr>
                  <a:t>i</a:t>
                </a:r>
                <a:r>
                  <a:rPr lang="fr-FR" sz="2400" i="1" baseline="-25000" dirty="0">
                    <a:latin typeface="Bookman Old Style" panose="02050604050505020204" pitchFamily="18" charset="0"/>
                  </a:rPr>
                  <a:t>2</a:t>
                </a:r>
                <a:endParaRPr lang="fr-FR" sz="24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44" name="Text Box 19">
                <a:extLst>
                  <a:ext uri="{FF2B5EF4-FFF2-40B4-BE49-F238E27FC236}">
                    <a16:creationId xmlns:a16="http://schemas.microsoft.com/office/drawing/2014/main" id="{D4B5F7F7-91A2-2785-C747-69751C5173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75" y="2520"/>
                <a:ext cx="367" cy="33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sz="2400" i="1">
                    <a:latin typeface="Bookman Old Style" panose="02050604050505020204" pitchFamily="18" charset="0"/>
                  </a:rPr>
                  <a:t>i</a:t>
                </a:r>
                <a:r>
                  <a:rPr lang="fr-FR" sz="2400" i="1" baseline="-25000">
                    <a:latin typeface="Bookman Old Style" panose="02050604050505020204" pitchFamily="18" charset="0"/>
                  </a:rPr>
                  <a:t>3</a:t>
                </a:r>
                <a:endParaRPr lang="fr-FR" sz="24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45" name="Text Box 20">
                <a:extLst>
                  <a:ext uri="{FF2B5EF4-FFF2-40B4-BE49-F238E27FC236}">
                    <a16:creationId xmlns:a16="http://schemas.microsoft.com/office/drawing/2014/main" id="{0332497E-5757-5F67-4012-AEC03B2F27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7" y="2834"/>
                <a:ext cx="367" cy="33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sz="2400" i="1">
                    <a:latin typeface="Bookman Old Style" panose="02050604050505020204" pitchFamily="18" charset="0"/>
                  </a:rPr>
                  <a:t>i</a:t>
                </a:r>
                <a:r>
                  <a:rPr lang="fr-FR" sz="2400" i="1" baseline="-25000">
                    <a:latin typeface="Bookman Old Style" panose="02050604050505020204" pitchFamily="18" charset="0"/>
                  </a:rPr>
                  <a:t>4</a:t>
                </a:r>
                <a:endParaRPr lang="fr-FR" sz="24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47" name="Text Box 21">
                <a:extLst>
                  <a:ext uri="{FF2B5EF4-FFF2-40B4-BE49-F238E27FC236}">
                    <a16:creationId xmlns:a16="http://schemas.microsoft.com/office/drawing/2014/main" id="{15B704F4-A3CD-25B5-D3A1-0A6CAEB6D8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4" y="3240"/>
                <a:ext cx="367" cy="33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sz="2400" i="1">
                    <a:latin typeface="Bookman Old Style" panose="02050604050505020204" pitchFamily="18" charset="0"/>
                  </a:rPr>
                  <a:t>i</a:t>
                </a:r>
                <a:r>
                  <a:rPr lang="fr-FR" sz="2400" i="1" baseline="-25000">
                    <a:latin typeface="Bookman Old Style" panose="02050604050505020204" pitchFamily="18" charset="0"/>
                  </a:rPr>
                  <a:t>5</a:t>
                </a:r>
                <a:endParaRPr lang="fr-FR" sz="24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48" name="Text Box 22">
                <a:extLst>
                  <a:ext uri="{FF2B5EF4-FFF2-40B4-BE49-F238E27FC236}">
                    <a16:creationId xmlns:a16="http://schemas.microsoft.com/office/drawing/2014/main" id="{DE028B15-FB7A-25F0-E0FC-0578608AD1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11" y="3376"/>
                <a:ext cx="367" cy="33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sz="2400" i="1">
                    <a:latin typeface="Bookman Old Style" panose="02050604050505020204" pitchFamily="18" charset="0"/>
                  </a:rPr>
                  <a:t>i</a:t>
                </a:r>
                <a:r>
                  <a:rPr lang="fr-FR" sz="2400" i="1" baseline="-25000">
                    <a:latin typeface="Bookman Old Style" panose="02050604050505020204" pitchFamily="18" charset="0"/>
                  </a:rPr>
                  <a:t>6</a:t>
                </a:r>
                <a:endParaRPr lang="fr-FR" sz="2400"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27" name="Text Box 23">
              <a:extLst>
                <a:ext uri="{FF2B5EF4-FFF2-40B4-BE49-F238E27FC236}">
                  <a16:creationId xmlns:a16="http://schemas.microsoft.com/office/drawing/2014/main" id="{0CBE88EE-49E0-49B1-6C70-0941202EC7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3" y="2342"/>
              <a:ext cx="2089" cy="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sz="2400" i="1">
                  <a:latin typeface="Bookman Old Style" panose="02050604050505020204" pitchFamily="18" charset="0"/>
                </a:rPr>
                <a:t>i</a:t>
              </a:r>
              <a:r>
                <a:rPr lang="fr-FR" sz="2400" i="1" baseline="-25000">
                  <a:latin typeface="Bookman Old Style" panose="02050604050505020204" pitchFamily="18" charset="0"/>
                </a:rPr>
                <a:t>1</a:t>
              </a:r>
              <a:r>
                <a:rPr lang="fr-FR" sz="2400">
                  <a:latin typeface="Bookman Old Style" panose="02050604050505020204" pitchFamily="18" charset="0"/>
                </a:rPr>
                <a:t>+</a:t>
              </a:r>
              <a:r>
                <a:rPr lang="fr-FR" sz="2400" i="1">
                  <a:latin typeface="Bookman Old Style" panose="02050604050505020204" pitchFamily="18" charset="0"/>
                </a:rPr>
                <a:t>i</a:t>
              </a:r>
              <a:r>
                <a:rPr lang="fr-FR" sz="2400" i="1" baseline="-25000">
                  <a:latin typeface="Bookman Old Style" panose="02050604050505020204" pitchFamily="18" charset="0"/>
                </a:rPr>
                <a:t>5</a:t>
              </a:r>
              <a:r>
                <a:rPr lang="fr-FR" sz="2400">
                  <a:latin typeface="Bookman Old Style" panose="02050604050505020204" pitchFamily="18" charset="0"/>
                </a:rPr>
                <a:t>=</a:t>
              </a:r>
              <a:r>
                <a:rPr lang="fr-FR" sz="2400" i="1">
                  <a:latin typeface="Bookman Old Style" panose="02050604050505020204" pitchFamily="18" charset="0"/>
                </a:rPr>
                <a:t>i</a:t>
              </a:r>
              <a:r>
                <a:rPr lang="fr-FR" sz="2400" i="1" baseline="-25000">
                  <a:latin typeface="Bookman Old Style" panose="02050604050505020204" pitchFamily="18" charset="0"/>
                </a:rPr>
                <a:t>2</a:t>
              </a:r>
              <a:r>
                <a:rPr lang="fr-FR" sz="2400">
                  <a:latin typeface="Bookman Old Style" panose="02050604050505020204" pitchFamily="18" charset="0"/>
                </a:rPr>
                <a:t>+</a:t>
              </a:r>
              <a:r>
                <a:rPr lang="fr-FR" sz="2400" i="1">
                  <a:latin typeface="Bookman Old Style" panose="02050604050505020204" pitchFamily="18" charset="0"/>
                </a:rPr>
                <a:t>i</a:t>
              </a:r>
              <a:r>
                <a:rPr lang="fr-FR" sz="2400" i="1" baseline="-25000">
                  <a:latin typeface="Bookman Old Style" panose="02050604050505020204" pitchFamily="18" charset="0"/>
                </a:rPr>
                <a:t>3</a:t>
              </a:r>
              <a:r>
                <a:rPr lang="fr-FR" sz="2400">
                  <a:latin typeface="Bookman Old Style" panose="02050604050505020204" pitchFamily="18" charset="0"/>
                </a:rPr>
                <a:t>+</a:t>
              </a:r>
              <a:r>
                <a:rPr lang="fr-FR" sz="2400" i="1">
                  <a:latin typeface="Bookman Old Style" panose="02050604050505020204" pitchFamily="18" charset="0"/>
                </a:rPr>
                <a:t>i</a:t>
              </a:r>
              <a:r>
                <a:rPr lang="fr-FR" sz="2400" i="1" baseline="-25000">
                  <a:latin typeface="Bookman Old Style" panose="02050604050505020204" pitchFamily="18" charset="0"/>
                </a:rPr>
                <a:t>4</a:t>
              </a:r>
              <a:r>
                <a:rPr lang="fr-FR" sz="2400">
                  <a:latin typeface="Bookman Old Style" panose="02050604050505020204" pitchFamily="18" charset="0"/>
                </a:rPr>
                <a:t>+</a:t>
              </a:r>
              <a:r>
                <a:rPr lang="fr-FR" sz="2400" i="1">
                  <a:latin typeface="Bookman Old Style" panose="02050604050505020204" pitchFamily="18" charset="0"/>
                </a:rPr>
                <a:t>i</a:t>
              </a:r>
              <a:r>
                <a:rPr lang="fr-FR" sz="2400" i="1" baseline="-25000">
                  <a:latin typeface="Bookman Old Style" panose="02050604050505020204" pitchFamily="18" charset="0"/>
                </a:rPr>
                <a:t>6</a:t>
              </a:r>
              <a:endParaRPr lang="fr-FR" sz="2400">
                <a:latin typeface="Bookman Old Style" panose="0205060405050502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378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39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281633" y="34527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altLang="fr-FR" b="1" spc="-5" dirty="0" smtClean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C</a:t>
            </a:r>
            <a:r>
              <a:rPr 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. </a:t>
            </a:r>
            <a:r>
              <a:rPr lang="fr-FR" alt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Loi des Mailles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19E4B3-C672-2386-AADF-C9F4EFCEFB3E}"/>
                  </a:ext>
                </a:extLst>
              </p:cNvPr>
              <p:cNvSpPr txBox="1"/>
              <p:nvPr/>
            </p:nvSpPr>
            <p:spPr>
              <a:xfrm>
                <a:off x="559814" y="987325"/>
                <a:ext cx="7517386" cy="2372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98450" marR="5080" indent="-285750">
                  <a:spcBef>
                    <a:spcPts val="100"/>
                  </a:spcBef>
                  <a:buFont typeface="Wingdings" panose="05000000000000000000" pitchFamily="2" charset="2"/>
                  <a:buChar char="q"/>
                </a:pPr>
                <a:r>
                  <a:rPr lang="fr-FR" b="1" dirty="0">
                    <a:latin typeface="Bookman Old Style" panose="02050604050505020204" pitchFamily="18" charset="0"/>
                    <a:cs typeface="Times New Roman"/>
                  </a:rPr>
                  <a:t>Loi</a:t>
                </a:r>
                <a:r>
                  <a:rPr lang="fr-FR" b="1" spc="-25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b="1" dirty="0">
                    <a:latin typeface="Bookman Old Style" panose="02050604050505020204" pitchFamily="18" charset="0"/>
                    <a:cs typeface="Times New Roman"/>
                  </a:rPr>
                  <a:t>des</a:t>
                </a:r>
                <a:r>
                  <a:rPr lang="fr-FR" b="1" spc="-30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b="1" dirty="0">
                    <a:latin typeface="Bookman Old Style" panose="02050604050505020204" pitchFamily="18" charset="0"/>
                    <a:cs typeface="Times New Roman"/>
                  </a:rPr>
                  <a:t>mailles</a:t>
                </a:r>
                <a:r>
                  <a:rPr lang="fr-FR" b="1" spc="-5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b="1" dirty="0">
                    <a:latin typeface="Bookman Old Style" panose="02050604050505020204" pitchFamily="18" charset="0"/>
                    <a:cs typeface="Times New Roman"/>
                  </a:rPr>
                  <a:t>:</a:t>
                </a:r>
                <a:r>
                  <a:rPr lang="fr-FR" b="1" spc="-35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dans</a:t>
                </a:r>
                <a:r>
                  <a:rPr lang="fr-FR" spc="-25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une</a:t>
                </a:r>
                <a:r>
                  <a:rPr lang="fr-FR" spc="-35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maille,</a:t>
                </a:r>
                <a:r>
                  <a:rPr lang="fr-FR" spc="-15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la</a:t>
                </a:r>
                <a:r>
                  <a:rPr lang="fr-FR" spc="-25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spc="-10" dirty="0">
                    <a:latin typeface="Bookman Old Style" panose="02050604050505020204" pitchFamily="18" charset="0"/>
                    <a:cs typeface="Times New Roman"/>
                  </a:rPr>
                  <a:t>somme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algébrique</a:t>
                </a:r>
                <a:r>
                  <a:rPr lang="fr-FR" spc="10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(on</a:t>
                </a:r>
                <a:r>
                  <a:rPr lang="fr-FR" spc="-25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tient</a:t>
                </a:r>
                <a:r>
                  <a:rPr lang="fr-FR" spc="-25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compte</a:t>
                </a:r>
                <a:r>
                  <a:rPr lang="fr-FR" spc="-10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de</a:t>
                </a:r>
                <a:r>
                  <a:rPr lang="fr-FR" spc="-20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leur</a:t>
                </a:r>
                <a:r>
                  <a:rPr lang="fr-FR" spc="-25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signe)</a:t>
                </a:r>
                <a:r>
                  <a:rPr lang="fr-FR" spc="-10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des</a:t>
                </a:r>
                <a:r>
                  <a:rPr lang="fr-FR" spc="-30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tensions</a:t>
                </a:r>
                <a:r>
                  <a:rPr lang="fr-FR" spc="-15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est</a:t>
                </a:r>
                <a:r>
                  <a:rPr lang="fr-FR" spc="-25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nulle</a:t>
                </a:r>
                <a:r>
                  <a:rPr lang="fr-FR" spc="5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:</a:t>
                </a:r>
                <a:r>
                  <a:rPr lang="fr-FR" spc="-30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fr-FR" b="1" i="0" spc="-20" dirty="0" smtClean="0">
                        <a:latin typeface="Cambria Math" panose="02040503050406030204" pitchFamily="18" charset="0"/>
                        <a:cs typeface="Times New Roman"/>
                      </a:rPr>
                      <m:t>𝚺</m:t>
                    </m:r>
                    <m:r>
                      <a:rPr lang="fr-FR" b="1" i="1" spc="-20" dirty="0" smtClean="0">
                        <a:latin typeface="Cambria Math" panose="02040503050406030204" pitchFamily="18" charset="0"/>
                        <a:cs typeface="Times New Roman"/>
                      </a:rPr>
                      <m:t>𝑼</m:t>
                    </m:r>
                    <m:r>
                      <a:rPr lang="fr-FR" b="1" i="1" spc="-20" dirty="0" smtClean="0">
                        <a:latin typeface="Cambria Math" panose="02040503050406030204" pitchFamily="18" charset="0"/>
                        <a:cs typeface="Times New Roman"/>
                      </a:rPr>
                      <m:t>=</m:t>
                    </m:r>
                    <m:r>
                      <a:rPr lang="fr-FR" b="1" i="1" spc="-20" dirty="0" smtClean="0">
                        <a:latin typeface="Cambria Math" panose="02040503050406030204" pitchFamily="18" charset="0"/>
                        <a:cs typeface="Times New Roman"/>
                      </a:rPr>
                      <m:t>𝟎</m:t>
                    </m:r>
                  </m:oMath>
                </a14:m>
                <a:endParaRPr lang="fr-FR" dirty="0" smtClean="0">
                  <a:latin typeface="Bookman Old Style" panose="02050604050505020204" pitchFamily="18" charset="0"/>
                  <a:cs typeface="Times New Roman"/>
                </a:endParaRPr>
              </a:p>
              <a:p>
                <a:pPr marL="298450" marR="5080" indent="-285750">
                  <a:spcBef>
                    <a:spcPts val="100"/>
                  </a:spcBef>
                  <a:buFont typeface="Wingdings" panose="05000000000000000000" pitchFamily="2" charset="2"/>
                  <a:buChar char="q"/>
                </a:pPr>
                <a:endParaRPr lang="fr-FR" dirty="0">
                  <a:latin typeface="Bookman Old Style" panose="02050604050505020204" pitchFamily="18" charset="0"/>
                  <a:cs typeface="Times New Roman"/>
                </a:endParaRPr>
              </a:p>
              <a:p>
                <a:pPr marL="12700" marR="5080">
                  <a:spcBef>
                    <a:spcPts val="100"/>
                  </a:spcBef>
                </a:pPr>
                <a:r>
                  <a:rPr lang="fr-FR" b="1" dirty="0">
                    <a:latin typeface="Bookman Old Style" panose="02050604050505020204" pitchFamily="18" charset="0"/>
                    <a:cs typeface="Times New Roman"/>
                  </a:rPr>
                  <a:t>          Une maille,</a:t>
                </a:r>
                <a:r>
                  <a:rPr lang="fr-FR" spc="-15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est</a:t>
                </a:r>
                <a:r>
                  <a:rPr lang="fr-FR" spc="-30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un</a:t>
                </a:r>
                <a:r>
                  <a:rPr lang="fr-FR" spc="-30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circuit</a:t>
                </a:r>
                <a:r>
                  <a:rPr lang="fr-FR" spc="-10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électrique</a:t>
                </a:r>
                <a:r>
                  <a:rPr lang="fr-FR" spc="5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fermé,</a:t>
                </a:r>
                <a:r>
                  <a:rPr lang="fr-FR" spc="-5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 smtClean="0">
                    <a:latin typeface="Bookman Old Style" panose="02050604050505020204" pitchFamily="18" charset="0"/>
                    <a:cs typeface="Times New Roman"/>
                  </a:rPr>
                  <a:t>pouvant</a:t>
                </a:r>
              </a:p>
              <a:p>
                <a:pPr marL="12700" marR="5080">
                  <a:spcBef>
                    <a:spcPts val="100"/>
                  </a:spcBef>
                </a:pPr>
                <a:r>
                  <a:rPr lang="fr-FR" spc="-20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spc="-20" dirty="0" smtClean="0">
                    <a:latin typeface="Bookman Old Style" panose="02050604050505020204" pitchFamily="18" charset="0"/>
                    <a:cs typeface="Times New Roman"/>
                  </a:rPr>
                  <a:t>         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contenir</a:t>
                </a:r>
                <a:r>
                  <a:rPr lang="fr-FR" spc="-20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des</a:t>
                </a:r>
                <a:r>
                  <a:rPr lang="fr-FR" spc="-30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b="1" dirty="0" smtClean="0">
                    <a:latin typeface="Bookman Old Style" panose="02050604050505020204" pitchFamily="18" charset="0"/>
                    <a:cs typeface="Times New Roman"/>
                  </a:rPr>
                  <a:t>générateurs</a:t>
                </a:r>
                <a:r>
                  <a:rPr lang="fr-FR" b="1" spc="25" dirty="0" smtClean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b="1" dirty="0">
                    <a:latin typeface="Bookman Old Style" panose="02050604050505020204" pitchFamily="18" charset="0"/>
                    <a:cs typeface="Times New Roman"/>
                  </a:rPr>
                  <a:t>et/ou</a:t>
                </a:r>
                <a:r>
                  <a:rPr lang="fr-FR" b="1" spc="-25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b="1" dirty="0">
                    <a:latin typeface="Bookman Old Style" panose="02050604050505020204" pitchFamily="18" charset="0"/>
                    <a:cs typeface="Times New Roman"/>
                  </a:rPr>
                  <a:t>des</a:t>
                </a:r>
                <a:r>
                  <a:rPr lang="fr-FR" b="1" spc="-5" dirty="0">
                    <a:latin typeface="Bookman Old Style" panose="02050604050505020204" pitchFamily="18" charset="0"/>
                    <a:cs typeface="Times New Roman"/>
                  </a:rPr>
                  <a:t> </a:t>
                </a:r>
                <a:r>
                  <a:rPr lang="fr-FR" b="1" dirty="0">
                    <a:latin typeface="Bookman Old Style" panose="02050604050505020204" pitchFamily="18" charset="0"/>
                    <a:cs typeface="Times New Roman"/>
                  </a:rPr>
                  <a:t>récepteurs</a:t>
                </a:r>
                <a:r>
                  <a:rPr lang="fr-FR" dirty="0">
                    <a:latin typeface="Bookman Old Style" panose="02050604050505020204" pitchFamily="18" charset="0"/>
                    <a:cs typeface="Times New Roman"/>
                  </a:rPr>
                  <a:t>.</a:t>
                </a:r>
              </a:p>
              <a:p>
                <a:pPr marL="12700" marR="5080">
                  <a:spcBef>
                    <a:spcPts val="100"/>
                  </a:spcBef>
                </a:pPr>
                <a:endParaRPr lang="en-US" dirty="0" smtClean="0">
                  <a:latin typeface="Bookman Old Style" panose="02050604050505020204" pitchFamily="18" charset="0"/>
                  <a:cs typeface="Times New Roman"/>
                </a:endParaRPr>
              </a:p>
              <a:p>
                <a:pPr marL="12700" marR="5080">
                  <a:spcBef>
                    <a:spcPts val="100"/>
                  </a:spcBef>
                </a:pPr>
                <a:endParaRPr lang="fr-FR" dirty="0">
                  <a:latin typeface="Bookman Old Style" panose="02050604050505020204" pitchFamily="18" charset="0"/>
                  <a:cs typeface="Times New Roman"/>
                </a:endParaRPr>
              </a:p>
              <a:p>
                <a:pPr marL="298450" marR="5080" indent="-285750">
                  <a:lnSpc>
                    <a:spcPct val="100000"/>
                  </a:lnSpc>
                  <a:spcBef>
                    <a:spcPts val="100"/>
                  </a:spcBef>
                  <a:buFont typeface="Wingdings" panose="05000000000000000000" pitchFamily="2" charset="2"/>
                  <a:buChar char="Ø"/>
                </a:pPr>
                <a:r>
                  <a:rPr lang="fr-FR" b="1" dirty="0">
                    <a:solidFill>
                      <a:srgbClr val="0000FF"/>
                    </a:solidFill>
                    <a:latin typeface="Bookman Old Style" panose="02050604050505020204" pitchFamily="18" charset="0"/>
                    <a:cs typeface="Times New Roman"/>
                  </a:rPr>
                  <a:t>Étapes clés pour appliquer la loi des mailles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19E4B3-C672-2386-AADF-C9F4EFCEF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814" y="987325"/>
                <a:ext cx="7517386" cy="2372444"/>
              </a:xfrm>
              <a:prstGeom prst="rect">
                <a:avLst/>
              </a:prstGeom>
              <a:blipFill>
                <a:blip r:embed="rId3"/>
                <a:stretch>
                  <a:fillRect l="-406" t="-1542" b="-38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row: Right 15">
            <a:extLst>
              <a:ext uri="{FF2B5EF4-FFF2-40B4-BE49-F238E27FC236}">
                <a16:creationId xmlns:a16="http://schemas.microsoft.com/office/drawing/2014/main" id="{53B27B37-2FCB-5381-DD92-4FA6D3040519}"/>
              </a:ext>
            </a:extLst>
          </p:cNvPr>
          <p:cNvSpPr/>
          <p:nvPr/>
        </p:nvSpPr>
        <p:spPr>
          <a:xfrm>
            <a:off x="1017887" y="1962150"/>
            <a:ext cx="276640" cy="1524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A5E8F5-D29D-6B2E-CBE9-126FAD83F141}"/>
              </a:ext>
            </a:extLst>
          </p:cNvPr>
          <p:cNvSpPr txBox="1"/>
          <p:nvPr/>
        </p:nvSpPr>
        <p:spPr>
          <a:xfrm>
            <a:off x="1156207" y="3486150"/>
            <a:ext cx="6324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b="1" dirty="0">
                <a:latin typeface="Bookman Old Style" panose="02050604050505020204" pitchFamily="18" charset="0"/>
              </a:rPr>
              <a:t>On flèche les courants</a:t>
            </a:r>
          </a:p>
          <a:p>
            <a:pPr marL="342900" indent="-342900">
              <a:buFont typeface="+mj-lt"/>
              <a:buAutoNum type="arabicPeriod"/>
            </a:pPr>
            <a:r>
              <a:rPr lang="fr-FR" b="1" dirty="0">
                <a:latin typeface="Bookman Old Style" panose="02050604050505020204" pitchFamily="18" charset="0"/>
              </a:rPr>
              <a:t>On flèche les tensions</a:t>
            </a:r>
          </a:p>
          <a:p>
            <a:pPr marL="342900" indent="-342900">
              <a:buFont typeface="+mj-lt"/>
              <a:buAutoNum type="arabicPeriod"/>
            </a:pPr>
            <a:r>
              <a:rPr lang="fr-FR" b="1" dirty="0">
                <a:latin typeface="Bookman Old Style" panose="02050604050505020204" pitchFamily="18" charset="0"/>
              </a:rPr>
              <a:t>On choisit un sens de parcours des mailles</a:t>
            </a:r>
          </a:p>
          <a:p>
            <a:pPr marL="342900" indent="-342900">
              <a:buFont typeface="+mj-lt"/>
              <a:buAutoNum type="arabicPeriod"/>
            </a:pPr>
            <a:r>
              <a:rPr lang="fr-FR" b="1" dirty="0">
                <a:latin typeface="Bookman Old Style" panose="02050604050505020204" pitchFamily="18" charset="0"/>
              </a:rPr>
              <a:t>On écrit les équations de mailles</a:t>
            </a:r>
          </a:p>
        </p:txBody>
      </p:sp>
    </p:spTree>
    <p:extLst>
      <p:ext uri="{BB962C8B-B14F-4D97-AF65-F5344CB8AC3E}">
        <p14:creationId xmlns:p14="http://schemas.microsoft.com/office/powerpoint/2010/main" val="210730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40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24" name="ZoneTexte 15">
            <a:extLst>
              <a:ext uri="{FF2B5EF4-FFF2-40B4-BE49-F238E27FC236}">
                <a16:creationId xmlns:a16="http://schemas.microsoft.com/office/drawing/2014/main" id="{0C9C773A-921D-11AA-26D4-8F59503B9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14350"/>
            <a:ext cx="2595864" cy="36933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 b="1">
                <a:solidFill>
                  <a:srgbClr val="0000FF"/>
                </a:solidFill>
                <a:latin typeface="Bookman Old Style" panose="02050604050505020204" pitchFamily="18" charset="0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sz="1800" u="sng" dirty="0">
                <a:solidFill>
                  <a:schemeClr val="accent2"/>
                </a:solidFill>
              </a:rPr>
              <a:t>Exemple</a:t>
            </a:r>
            <a:endParaRPr lang="fr-FR" altLang="fr-FR" sz="1800" u="sng" dirty="0">
              <a:solidFill>
                <a:schemeClr val="accent2"/>
              </a:solidFill>
            </a:endParaRPr>
          </a:p>
        </p:txBody>
      </p:sp>
      <p:pic>
        <p:nvPicPr>
          <p:cNvPr id="12" name="object 10">
            <a:extLst>
              <a:ext uri="{FF2B5EF4-FFF2-40B4-BE49-F238E27FC236}">
                <a16:creationId xmlns:a16="http://schemas.microsoft.com/office/drawing/2014/main" id="{DD845D28-ACA8-D8F9-734C-39B9B39577B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3200" y="819150"/>
            <a:ext cx="3200400" cy="2065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68C1AA-302E-F1BC-867E-F3A2750CD200}"/>
                  </a:ext>
                </a:extLst>
              </p:cNvPr>
              <p:cNvSpPr txBox="1"/>
              <p:nvPr/>
            </p:nvSpPr>
            <p:spPr>
              <a:xfrm>
                <a:off x="1143000" y="3384807"/>
                <a:ext cx="46475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dirty="0">
                    <a:latin typeface="Bookman Old Style" panose="02050604050505020204" pitchFamily="18" charset="0"/>
                  </a:rPr>
                  <a:t>On peut écrire 3 mailles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dirty="0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fr-FR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b="1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dirty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fr-FR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b="1" i="1" dirty="0">
                          <a:latin typeface="Cambria Math" panose="02040503050406030204" pitchFamily="18" charset="0"/>
                        </a:rPr>
                        <m:t>– </m:t>
                      </m:r>
                      <m:r>
                        <a:rPr lang="fr-FR" b="1" i="1" dirty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fr-FR" b="1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b="1" dirty="0">
                  <a:latin typeface="Bookman Old Style" panose="02050604050505020204" pitchFamily="18" charset="0"/>
                </a:endParaRPr>
              </a:p>
              <a:p>
                <a:r>
                  <a:rPr lang="fr-FR" b="1" dirty="0" smtClean="0"/>
                  <a:t>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dirty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fr-FR" b="1" i="1" dirty="0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fr-FR" b="1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dirty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fr-FR" b="1" i="1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fr-FR" b="1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dirty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fr-FR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fr-FR" b="1" i="1" dirty="0">
                        <a:latin typeface="Cambria Math" panose="02040503050406030204" pitchFamily="18" charset="0"/>
                      </a:rPr>
                      <m:t>– </m:t>
                    </m:r>
                    <m:r>
                      <a:rPr lang="fr-FR" b="1" i="1" dirty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fr-FR" b="1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fr-FR" b="1" i="1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fr-FR" b="1" dirty="0">
                  <a:latin typeface="Bookman Old Style" panose="02050604050505020204" pitchFamily="18" charset="0"/>
                </a:endParaRPr>
              </a:p>
              <a:p>
                <a:r>
                  <a:rPr lang="fr-FR" b="1" dirty="0" smtClean="0"/>
                  <a:t>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dirty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fr-FR" b="1" i="1" dirty="0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fr-FR" b="1" i="1" dirty="0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fr-FR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dirty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fr-FR" b="1" i="1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fr-FR" b="1" i="1" dirty="0">
                        <a:latin typeface="Cambria Math" panose="02040503050406030204" pitchFamily="18" charset="0"/>
                      </a:rPr>
                      <m:t>–</m:t>
                    </m:r>
                    <m:sSub>
                      <m:sSubPr>
                        <m:ctrlPr>
                          <a:rPr lang="fr-FR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dirty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fr-FR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fr-FR" b="1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fr-FR" b="1" i="1" dirty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fr-FR" b="1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68C1AA-302E-F1BC-867E-F3A2750CD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3384807"/>
                <a:ext cx="4647500" cy="1200329"/>
              </a:xfrm>
              <a:prstGeom prst="rect">
                <a:avLst/>
              </a:prstGeom>
              <a:blipFill>
                <a:blip r:embed="rId4"/>
                <a:stretch>
                  <a:fillRect l="-1181" t="-20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lèche : courbe vers le bas 1">
            <a:extLst>
              <a:ext uri="{FF2B5EF4-FFF2-40B4-BE49-F238E27FC236}">
                <a16:creationId xmlns:a16="http://schemas.microsoft.com/office/drawing/2014/main" id="{E759F5AA-2932-130B-39C5-E681F0C5CD80}"/>
              </a:ext>
            </a:extLst>
          </p:cNvPr>
          <p:cNvSpPr/>
          <p:nvPr/>
        </p:nvSpPr>
        <p:spPr>
          <a:xfrm rot="14500390" flipV="1">
            <a:off x="4696548" y="2020338"/>
            <a:ext cx="526257" cy="250885"/>
          </a:xfrm>
          <a:prstGeom prst="curved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" name="Flèche : courbe vers le bas 2">
            <a:extLst>
              <a:ext uri="{FF2B5EF4-FFF2-40B4-BE49-F238E27FC236}">
                <a16:creationId xmlns:a16="http://schemas.microsoft.com/office/drawing/2014/main" id="{B977FA59-74DD-10BA-27D3-2861C3B253EA}"/>
              </a:ext>
            </a:extLst>
          </p:cNvPr>
          <p:cNvSpPr/>
          <p:nvPr/>
        </p:nvSpPr>
        <p:spPr>
          <a:xfrm rot="14500390" flipV="1">
            <a:off x="3294211" y="1689729"/>
            <a:ext cx="1011835" cy="490258"/>
          </a:xfrm>
          <a:prstGeom prst="curved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61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7" grpId="0"/>
      <p:bldP spid="2" grpId="0" animBg="1"/>
      <p:bldP spid="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41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381000" y="256387"/>
            <a:ext cx="4572000" cy="94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 smtClean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2.9 </a:t>
            </a:r>
            <a:r>
              <a:rPr lang="fr-FR" altLang="fr-FR" b="1" spc="-5" dirty="0" smtClean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Association de résistances</a:t>
            </a: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endParaRPr lang="fr-FR" altLang="fr-FR" b="1" spc="-5" dirty="0" smtClean="0">
              <a:solidFill>
                <a:srgbClr val="0070C0"/>
              </a:solidFill>
              <a:latin typeface="Bookman Old Style" panose="02050604050505020204" pitchFamily="18" charset="0"/>
              <a:cs typeface="Arial"/>
            </a:endParaRP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altLang="fr-FR" b="1" spc="-5" dirty="0" smtClean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     A</a:t>
            </a:r>
            <a:r>
              <a:rPr lang="fr-FR" b="1" spc="-5" dirty="0" smtClean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. </a:t>
            </a:r>
            <a:r>
              <a:rPr lang="fr-FR" altLang="fr-FR" b="1" spc="-5" dirty="0" smtClean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Association parallèle </a:t>
            </a:r>
            <a:endParaRPr lang="fr-FR" altLang="fr-FR" b="1" spc="-5" dirty="0">
              <a:solidFill>
                <a:srgbClr val="00B05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28" name="Image 2">
            <a:extLst>
              <a:ext uri="{FF2B5EF4-FFF2-40B4-BE49-F238E27FC236}">
                <a16:creationId xmlns:a16="http://schemas.microsoft.com/office/drawing/2014/main" id="{856A908B-517A-D445-DC84-46D66AB3C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867" y="1581150"/>
            <a:ext cx="4398114" cy="12322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ZoneTexte 1">
                <a:extLst>
                  <a:ext uri="{FF2B5EF4-FFF2-40B4-BE49-F238E27FC236}">
                    <a16:creationId xmlns:a16="http://schemas.microsoft.com/office/drawing/2014/main" id="{8CB769EF-4867-EC8B-A45F-EF9D4C8E4320}"/>
                  </a:ext>
                </a:extLst>
              </p:cNvPr>
              <p:cNvSpPr txBox="1"/>
              <p:nvPr/>
            </p:nvSpPr>
            <p:spPr>
              <a:xfrm>
                <a:off x="1596867" y="3638550"/>
                <a:ext cx="3710568" cy="565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𝐈</m:t>
                      </m:r>
                      <m:r>
                        <a:rPr lang="fr-FR" b="1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fr-FR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fr-FR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fr-FR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fr-FR" b="1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𝐔</m:t>
                              </m:r>
                            </m:e>
                            <m:sub>
                              <m:r>
                                <a:rPr lang="fr-FR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𝐀𝐁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fr-FR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fr-FR" b="1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𝐔</m:t>
                              </m:r>
                            </m:e>
                            <m:sub>
                              <m:r>
                                <a:rPr lang="fr-FR" b="1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𝐀𝐁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fr-FR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fr-FR" b="1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𝐔</m:t>
                              </m:r>
                            </m:e>
                            <m:sub>
                              <m:r>
                                <a:rPr lang="fr-FR" b="1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𝐀𝐁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fr-FR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b="1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9" name="ZoneTexte 1">
                <a:extLst>
                  <a:ext uri="{FF2B5EF4-FFF2-40B4-BE49-F238E27FC236}">
                    <a16:creationId xmlns:a16="http://schemas.microsoft.com/office/drawing/2014/main" id="{8CB769EF-4867-EC8B-A45F-EF9D4C8E4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867" y="3638550"/>
                <a:ext cx="3710568" cy="5652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459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42</a:t>
            </a:fld>
            <a:endParaRPr sz="2400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ZoneTexte 11">
                <a:extLst>
                  <a:ext uri="{FF2B5EF4-FFF2-40B4-BE49-F238E27FC236}">
                    <a16:creationId xmlns:a16="http://schemas.microsoft.com/office/drawing/2014/main" id="{0E59956E-8C42-C427-0282-E82593B0A272}"/>
                  </a:ext>
                </a:extLst>
              </p:cNvPr>
              <p:cNvSpPr txBox="1"/>
              <p:nvPr/>
            </p:nvSpPr>
            <p:spPr>
              <a:xfrm>
                <a:off x="1850687" y="1352550"/>
                <a:ext cx="3736407" cy="6310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𝐈</m:t>
                      </m:r>
                      <m:r>
                        <a:rPr lang="fr-FR" b="1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𝐔</m:t>
                          </m:r>
                        </m:e>
                        <m:sub>
                          <m:r>
                            <a:rPr lang="fr-FR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𝐀𝐁</m:t>
                          </m:r>
                        </m:sub>
                      </m:sSub>
                      <m:d>
                        <m:dPr>
                          <m:ctrlPr>
                            <a:rPr lang="fr-FR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fr-FR" b="1" i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den>
                          </m:f>
                          <m:r>
                            <a:rPr lang="fr-FR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fr-FR" b="1" i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den>
                          </m:f>
                          <m:r>
                            <a:rPr lang="fr-FR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fr-FR" b="1" i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fr-FR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</m:sub>
                      </m:sSub>
                      <m:f>
                        <m:fPr>
                          <m:ctrlPr>
                            <a:rPr lang="fr-FR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fr-FR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fr-FR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𝒆𝒒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b="1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0" name="ZoneTexte 11">
                <a:extLst>
                  <a:ext uri="{FF2B5EF4-FFF2-40B4-BE49-F238E27FC236}">
                    <a16:creationId xmlns:a16="http://schemas.microsoft.com/office/drawing/2014/main" id="{0E59956E-8C42-C427-0282-E82593B0A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687" y="1352550"/>
                <a:ext cx="3736407" cy="6310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Image 9">
            <a:extLst>
              <a:ext uri="{FF2B5EF4-FFF2-40B4-BE49-F238E27FC236}">
                <a16:creationId xmlns:a16="http://schemas.microsoft.com/office/drawing/2014/main" id="{01845236-4F80-6C41-FE02-0A55C4AFD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2724150"/>
            <a:ext cx="3475383" cy="73880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B18123C-992C-832D-DAAB-631F5ECA7FD2}"/>
                  </a:ext>
                </a:extLst>
              </p:cNvPr>
              <p:cNvSpPr txBox="1"/>
              <p:nvPr/>
            </p:nvSpPr>
            <p:spPr>
              <a:xfrm>
                <a:off x="609600" y="742950"/>
                <a:ext cx="1219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𝐃𝐨𝐧𝐜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B18123C-992C-832D-DAAB-631F5ECA7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742950"/>
                <a:ext cx="12192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600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43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533400" y="40282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B</a:t>
            </a:r>
            <a:r>
              <a:rPr lang="fr-FR" b="1" spc="-5" dirty="0" smtClean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. </a:t>
            </a:r>
            <a:r>
              <a:rPr lang="fr-FR" alt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Associations série </a:t>
            </a:r>
          </a:p>
        </p:txBody>
      </p:sp>
      <p:pic>
        <p:nvPicPr>
          <p:cNvPr id="3" name="Image 1">
            <a:extLst>
              <a:ext uri="{FF2B5EF4-FFF2-40B4-BE49-F238E27FC236}">
                <a16:creationId xmlns:a16="http://schemas.microsoft.com/office/drawing/2014/main" id="{B7D3A502-F993-2A7F-3E73-000C19085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590" y="971550"/>
            <a:ext cx="6192398" cy="1213063"/>
          </a:xfrm>
          <a:prstGeom prst="rect">
            <a:avLst/>
          </a:prstGeom>
        </p:spPr>
      </p:pic>
      <p:pic>
        <p:nvPicPr>
          <p:cNvPr id="5" name="Image 6">
            <a:extLst>
              <a:ext uri="{FF2B5EF4-FFF2-40B4-BE49-F238E27FC236}">
                <a16:creationId xmlns:a16="http://schemas.microsoft.com/office/drawing/2014/main" id="{49CE8AF9-5184-9C28-33FC-ED4A6D935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407" y="2378393"/>
            <a:ext cx="2138665" cy="433715"/>
          </a:xfrm>
          <a:prstGeom prst="rect">
            <a:avLst/>
          </a:prstGeom>
        </p:spPr>
      </p:pic>
      <p:pic>
        <p:nvPicPr>
          <p:cNvPr id="11" name="Image 8">
            <a:extLst>
              <a:ext uri="{FF2B5EF4-FFF2-40B4-BE49-F238E27FC236}">
                <a16:creationId xmlns:a16="http://schemas.microsoft.com/office/drawing/2014/main" id="{7916C264-FA8F-48B8-5437-B3FB7F5114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1385" y="2358577"/>
            <a:ext cx="2509536" cy="45353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AB4BCD3-6DEE-0F0F-E520-DA60C9CA03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8072" y="2831924"/>
            <a:ext cx="3847312" cy="48266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958C5EF-A13B-E41D-FBAB-4EC2AA8583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3867150"/>
            <a:ext cx="5057775" cy="54456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8893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44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311542" y="317633"/>
            <a:ext cx="4572000" cy="94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2.10 </a:t>
            </a:r>
            <a:r>
              <a:rPr lang="fr-FR" altLang="fr-FR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Montages usuels </a:t>
            </a:r>
            <a:endParaRPr lang="fr-FR" altLang="fr-FR" b="1" spc="-5" dirty="0" smtClean="0">
              <a:solidFill>
                <a:srgbClr val="0070C0"/>
              </a:solidFill>
              <a:latin typeface="Bookman Old Style" panose="02050604050505020204" pitchFamily="18" charset="0"/>
              <a:cs typeface="Arial"/>
            </a:endParaRP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altLang="fr-FR" b="1" spc="-5" dirty="0" smtClean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    </a:t>
            </a:r>
            <a:endParaRPr lang="fr-FR" altLang="fr-FR" b="1" spc="-5" dirty="0">
              <a:solidFill>
                <a:srgbClr val="0070C0"/>
              </a:solidFill>
              <a:latin typeface="Bookman Old Style" panose="02050604050505020204" pitchFamily="18" charset="0"/>
              <a:cs typeface="Arial"/>
            </a:endParaRP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altLang="fr-FR" b="1" spc="-5" dirty="0">
                <a:solidFill>
                  <a:srgbClr val="CC00CC"/>
                </a:solidFill>
                <a:latin typeface="Bookman Old Style" panose="02050604050505020204" pitchFamily="18" charset="0"/>
                <a:cs typeface="Arial"/>
              </a:rPr>
              <a:t>      </a:t>
            </a:r>
            <a:r>
              <a:rPr lang="fr-FR" altLang="fr-FR" b="1" spc="-5" dirty="0" smtClean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A</a:t>
            </a:r>
            <a:r>
              <a:rPr 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. </a:t>
            </a:r>
            <a:r>
              <a:rPr lang="fr-FR" alt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Diviseur de tension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1F9945C-31D6-9369-3D7A-388D8B2FA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011" y="1316187"/>
            <a:ext cx="7719707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fr-FR" altLang="fr-FR" sz="1800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Le diviseur de tension est le montage de base dans le circuit électrique/électronique. </a:t>
            </a:r>
            <a:r>
              <a:rPr lang="fr-FR" altLang="fr-FR" sz="1800" dirty="0" smtClean="0">
                <a:latin typeface="Bookman Old Style" panose="02050604050505020204" pitchFamily="18" charset="0"/>
                <a:cs typeface="Browallia New" panose="020B0604020202020204" pitchFamily="34" charset="-34"/>
              </a:rPr>
              <a:t>        </a:t>
            </a:r>
          </a:p>
        </p:txBody>
      </p:sp>
      <p:graphicFrame>
        <p:nvGraphicFramePr>
          <p:cNvPr id="17" name="Object 4">
            <a:extLst>
              <a:ext uri="{FF2B5EF4-FFF2-40B4-BE49-F238E27FC236}">
                <a16:creationId xmlns:a16="http://schemas.microsoft.com/office/drawing/2014/main" id="{2718F883-AA0A-58C4-F65A-699007CACB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7687044"/>
              </p:ext>
            </p:extLst>
          </p:nvPr>
        </p:nvGraphicFramePr>
        <p:xfrm>
          <a:off x="4267200" y="2601518"/>
          <a:ext cx="2362200" cy="757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Equation" r:id="rId4" imgW="1346040" imgH="431640" progId="Equation.DSMT4">
                  <p:embed/>
                </p:oleObj>
              </mc:Choice>
              <mc:Fallback>
                <p:oleObj name="Equation" r:id="rId4" imgW="1346040" imgH="431640" progId="Equation.DSMT4">
                  <p:embed/>
                  <p:pic>
                    <p:nvPicPr>
                      <p:cNvPr id="17" name="Object 4">
                        <a:extLst>
                          <a:ext uri="{FF2B5EF4-FFF2-40B4-BE49-F238E27FC236}">
                            <a16:creationId xmlns:a16="http://schemas.microsoft.com/office/drawing/2014/main" id="{2718F883-AA0A-58C4-F65A-699007CACB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601518"/>
                        <a:ext cx="2362200" cy="7572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Image 10">
            <a:extLst>
              <a:ext uri="{FF2B5EF4-FFF2-40B4-BE49-F238E27FC236}">
                <a16:creationId xmlns:a16="http://schemas.microsoft.com/office/drawing/2014/main" id="{86CCB8B4-0FC4-81BF-A081-0A10AE7CE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099014"/>
            <a:ext cx="2209796" cy="152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886011" y="3775481"/>
            <a:ext cx="78769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Ce montage permet de simplifier considérablement les calculs. Cependant, l’application de cette méthode n’est valable que lorsque les deux résistances (</a:t>
            </a:r>
            <a:r>
              <a:rPr lang="fr-FR" altLang="fr-FR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respectivement impédances</a:t>
            </a:r>
            <a:r>
              <a:rPr lang="fr-FR" altLang="fr-FR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), sont parcourues par </a:t>
            </a:r>
            <a:r>
              <a:rPr lang="fr-FR" altLang="fr-FR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la même valeur de l’intensité.</a:t>
            </a:r>
          </a:p>
        </p:txBody>
      </p:sp>
    </p:spTree>
    <p:extLst>
      <p:ext uri="{BB962C8B-B14F-4D97-AF65-F5344CB8AC3E}">
        <p14:creationId xmlns:p14="http://schemas.microsoft.com/office/powerpoint/2010/main" val="3893921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45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348654" y="28575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altLang="fr-FR" b="1" spc="-5" dirty="0" smtClean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B</a:t>
            </a:r>
            <a:r>
              <a:rPr 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. </a:t>
            </a:r>
            <a:r>
              <a:rPr lang="fr-FR" alt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Diviseur de courant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1F9945C-31D6-9369-3D7A-388D8B2FA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69837"/>
            <a:ext cx="7469601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altLang="fr-FR" sz="1800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Le diviseur de courant est appliqué lorsque deux résistances (respectivement impédances), sont connectées en parallèle et alimentées par un générateur de courant, et soumises </a:t>
            </a:r>
            <a:r>
              <a:rPr lang="fr-FR" altLang="fr-FR" sz="1800" b="1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toutes les deux à la même tension</a:t>
            </a:r>
            <a:r>
              <a:rPr lang="fr-FR" altLang="fr-FR" sz="1800" dirty="0">
                <a:latin typeface="Bookman Old Style" panose="02050604050505020204" pitchFamily="18" charset="0"/>
                <a:cs typeface="Browallia New" panose="020B0604020202020204" pitchFamily="34" charset="-34"/>
              </a:rPr>
              <a:t>.</a:t>
            </a:r>
          </a:p>
          <a:p>
            <a:pPr algn="just"/>
            <a:endParaRPr lang="fr-FR" altLang="fr-FR" sz="1800" b="1" dirty="0">
              <a:latin typeface="Bookman Old Style" panose="02050604050505020204" pitchFamily="18" charset="0"/>
              <a:cs typeface="Browallia New" panose="020B0604020202020204" pitchFamily="34" charset="-34"/>
            </a:endParaRPr>
          </a:p>
        </p:txBody>
      </p:sp>
      <p:pic>
        <p:nvPicPr>
          <p:cNvPr id="3" name="Image 11">
            <a:extLst>
              <a:ext uri="{FF2B5EF4-FFF2-40B4-BE49-F238E27FC236}">
                <a16:creationId xmlns:a16="http://schemas.microsoft.com/office/drawing/2014/main" id="{DA012C41-C0C2-E528-2FAF-08052E3A6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06688"/>
            <a:ext cx="30480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EC55298-F583-9931-2C09-D0FC548AB2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9918045"/>
              </p:ext>
            </p:extLst>
          </p:nvPr>
        </p:nvGraphicFramePr>
        <p:xfrm>
          <a:off x="4648200" y="2952750"/>
          <a:ext cx="2678907" cy="178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" name="Equation" r:id="rId5" imgW="1333440" imgH="888840" progId="Equation.DSMT4">
                  <p:embed/>
                </p:oleObj>
              </mc:Choice>
              <mc:Fallback>
                <p:oleObj name="Equation" r:id="rId5" imgW="1333440" imgH="8888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EC55298-F583-9931-2C09-D0FC548AB2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952750"/>
                        <a:ext cx="2678907" cy="178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44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46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3400" y="366182"/>
            <a:ext cx="47071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3. Théorèmes généraux</a:t>
            </a:r>
            <a:endParaRPr lang="fr-FR" dirty="0">
              <a:solidFill>
                <a:srgbClr val="CC00CC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838200" y="91196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3.1 </a:t>
            </a:r>
            <a:r>
              <a:rPr lang="fr-FR" altLang="fr-FR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Théorème de Thévenin </a:t>
            </a:r>
          </a:p>
        </p:txBody>
      </p:sp>
      <p:sp>
        <p:nvSpPr>
          <p:cNvPr id="33" name="object 13">
            <a:extLst>
              <a:ext uri="{FF2B5EF4-FFF2-40B4-BE49-F238E27FC236}">
                <a16:creationId xmlns:a16="http://schemas.microsoft.com/office/drawing/2014/main" id="{982975B3-5125-9734-283F-BDE800E44DE4}"/>
              </a:ext>
            </a:extLst>
          </p:cNvPr>
          <p:cNvSpPr txBox="1"/>
          <p:nvPr/>
        </p:nvSpPr>
        <p:spPr>
          <a:xfrm>
            <a:off x="1054065" y="1686789"/>
            <a:ext cx="2891281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Bookman Old Style" panose="02050604050505020204" pitchFamily="18" charset="0"/>
                <a:cs typeface="Times New Roman"/>
              </a:rPr>
              <a:t>Pourquoi</a:t>
            </a:r>
            <a:r>
              <a:rPr b="1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dirty="0">
                <a:latin typeface="Bookman Old Style" panose="02050604050505020204" pitchFamily="18" charset="0"/>
                <a:cs typeface="Times New Roman"/>
              </a:rPr>
              <a:t>le</a:t>
            </a:r>
            <a:r>
              <a:rPr b="1" spc="-5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dirty="0">
                <a:latin typeface="Bookman Old Style" panose="02050604050505020204" pitchFamily="18" charset="0"/>
                <a:cs typeface="Times New Roman"/>
              </a:rPr>
              <a:t>théorème</a:t>
            </a:r>
            <a:r>
              <a:rPr b="1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b="1" spc="-4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dirty="0">
                <a:latin typeface="Bookman Old Style" panose="02050604050505020204" pitchFamily="18" charset="0"/>
                <a:cs typeface="Times New Roman"/>
              </a:rPr>
              <a:t>Thevenin</a:t>
            </a:r>
            <a:r>
              <a:rPr b="1" spc="-4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spc="-50" dirty="0">
                <a:latin typeface="Bookman Old Style" panose="02050604050505020204" pitchFamily="18" charset="0"/>
                <a:cs typeface="Times New Roman"/>
              </a:rPr>
              <a:t>?</a:t>
            </a:r>
            <a:endParaRPr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332EFE92-CE44-54AF-DBDF-B49AEEAFD39B}"/>
              </a:ext>
            </a:extLst>
          </p:cNvPr>
          <p:cNvSpPr txBox="1"/>
          <p:nvPr/>
        </p:nvSpPr>
        <p:spPr>
          <a:xfrm>
            <a:off x="4419600" y="1686789"/>
            <a:ext cx="359966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Bookman Old Style" panose="02050604050505020204" pitchFamily="18" charset="0"/>
                <a:cs typeface="Times New Roman"/>
              </a:rPr>
              <a:t>Quelles</a:t>
            </a:r>
            <a:r>
              <a:rPr b="1" spc="-3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dirty="0">
                <a:latin typeface="Bookman Old Style" panose="02050604050505020204" pitchFamily="18" charset="0"/>
                <a:cs typeface="Times New Roman"/>
              </a:rPr>
              <a:t>sont</a:t>
            </a:r>
            <a:r>
              <a:rPr b="1" spc="-4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dirty="0">
                <a:latin typeface="Bookman Old Style" panose="02050604050505020204" pitchFamily="18" charset="0"/>
                <a:cs typeface="Times New Roman"/>
              </a:rPr>
              <a:t>les</a:t>
            </a:r>
            <a:r>
              <a:rPr b="1" spc="-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spc="-10" dirty="0">
                <a:latin typeface="Bookman Old Style" panose="02050604050505020204" pitchFamily="18" charset="0"/>
                <a:cs typeface="Times New Roman"/>
              </a:rPr>
              <a:t>conditions </a:t>
            </a:r>
            <a:r>
              <a:rPr b="1" dirty="0">
                <a:latin typeface="Bookman Old Style" panose="02050604050505020204" pitchFamily="18" charset="0"/>
                <a:cs typeface="Times New Roman"/>
              </a:rPr>
              <a:t>d'application</a:t>
            </a:r>
            <a:r>
              <a:rPr b="1" spc="-8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spc="-50" dirty="0">
                <a:latin typeface="Bookman Old Style" panose="02050604050505020204" pitchFamily="18" charset="0"/>
                <a:cs typeface="Times New Roman"/>
              </a:rPr>
              <a:t>?</a:t>
            </a:r>
            <a:endParaRPr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42" name="object 22">
            <a:extLst>
              <a:ext uri="{FF2B5EF4-FFF2-40B4-BE49-F238E27FC236}">
                <a16:creationId xmlns:a16="http://schemas.microsoft.com/office/drawing/2014/main" id="{527A6A31-E207-BA5C-63BE-EEC3D5DDBC4A}"/>
              </a:ext>
            </a:extLst>
          </p:cNvPr>
          <p:cNvSpPr txBox="1"/>
          <p:nvPr/>
        </p:nvSpPr>
        <p:spPr>
          <a:xfrm>
            <a:off x="1064004" y="2406387"/>
            <a:ext cx="27457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5420" algn="l"/>
              </a:tabLst>
            </a:pPr>
            <a:r>
              <a:rPr b="1" dirty="0">
                <a:latin typeface="Bookman Old Style" panose="02050604050505020204" pitchFamily="18" charset="0"/>
                <a:cs typeface="Times New Roman"/>
              </a:rPr>
              <a:t>Simplifier</a:t>
            </a:r>
            <a:r>
              <a:rPr spc="-4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dirty="0">
                <a:latin typeface="Bookman Old Style" panose="02050604050505020204" pitchFamily="18" charset="0"/>
                <a:cs typeface="Times New Roman"/>
              </a:rPr>
              <a:t>l'analyse</a:t>
            </a:r>
            <a:r>
              <a:rPr spc="-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spc="-4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dirty="0">
                <a:latin typeface="Bookman Old Style" panose="02050604050505020204" pitchFamily="18" charset="0"/>
                <a:cs typeface="Times New Roman"/>
              </a:rPr>
              <a:t>circuits</a:t>
            </a:r>
            <a:r>
              <a:rPr b="1" spc="-3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spc="-10" dirty="0">
                <a:latin typeface="Bookman Old Style" panose="02050604050505020204" pitchFamily="18" charset="0"/>
                <a:cs typeface="Times New Roman"/>
              </a:rPr>
              <a:t>complexes</a:t>
            </a:r>
            <a:endParaRPr b="1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43" name="object 23">
            <a:extLst>
              <a:ext uri="{FF2B5EF4-FFF2-40B4-BE49-F238E27FC236}">
                <a16:creationId xmlns:a16="http://schemas.microsoft.com/office/drawing/2014/main" id="{344C7084-1F1D-A3E7-14E5-F30596D5A88B}"/>
              </a:ext>
            </a:extLst>
          </p:cNvPr>
          <p:cNvSpPr txBox="1"/>
          <p:nvPr/>
        </p:nvSpPr>
        <p:spPr>
          <a:xfrm>
            <a:off x="1072256" y="3009503"/>
            <a:ext cx="2915922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>
                <a:latin typeface="Bookman Old Style" panose="02050604050505020204" pitchFamily="18" charset="0"/>
                <a:cs typeface="Times New Roman"/>
              </a:rPr>
              <a:t>Représentation</a:t>
            </a:r>
            <a:r>
              <a:rPr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dirty="0">
                <a:latin typeface="Bookman Old Style" panose="02050604050505020204" pitchFamily="18" charset="0"/>
                <a:cs typeface="Times New Roman"/>
              </a:rPr>
              <a:t>simple</a:t>
            </a:r>
            <a:r>
              <a:rPr spc="-3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dirty="0">
                <a:latin typeface="Bookman Old Style" panose="02050604050505020204" pitchFamily="18" charset="0"/>
                <a:cs typeface="Times New Roman"/>
              </a:rPr>
              <a:t>pour</a:t>
            </a:r>
            <a:r>
              <a:rPr spc="-4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dirty="0">
                <a:latin typeface="Bookman Old Style" panose="02050604050505020204" pitchFamily="18" charset="0"/>
                <a:cs typeface="Times New Roman"/>
              </a:rPr>
              <a:t>le</a:t>
            </a:r>
            <a:r>
              <a:rPr spc="-3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dirty="0">
                <a:latin typeface="Bookman Old Style" panose="02050604050505020204" pitchFamily="18" charset="0"/>
                <a:cs typeface="Times New Roman"/>
              </a:rPr>
              <a:t>calcul</a:t>
            </a:r>
            <a:r>
              <a:rPr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pc="-25" dirty="0">
                <a:latin typeface="Bookman Old Style" panose="02050604050505020204" pitchFamily="18" charset="0"/>
                <a:cs typeface="Times New Roman"/>
              </a:rPr>
              <a:t>des </a:t>
            </a:r>
            <a:r>
              <a:rPr dirty="0">
                <a:latin typeface="Bookman Old Style" panose="02050604050505020204" pitchFamily="18" charset="0"/>
                <a:cs typeface="Times New Roman"/>
              </a:rPr>
              <a:t>courants</a:t>
            </a:r>
            <a:r>
              <a:rPr spc="-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dirty="0">
                <a:latin typeface="Bookman Old Style" panose="02050604050505020204" pitchFamily="18" charset="0"/>
                <a:cs typeface="Times New Roman"/>
              </a:rPr>
              <a:t>et</a:t>
            </a:r>
            <a:r>
              <a:rPr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dirty="0">
                <a:latin typeface="Bookman Old Style" panose="02050604050505020204" pitchFamily="18" charset="0"/>
                <a:cs typeface="Times New Roman"/>
              </a:rPr>
              <a:t>des</a:t>
            </a:r>
            <a:r>
              <a:rPr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pc="-10" dirty="0">
                <a:latin typeface="Bookman Old Style" panose="02050604050505020204" pitchFamily="18" charset="0"/>
                <a:cs typeface="Times New Roman"/>
              </a:rPr>
              <a:t>tensions.</a:t>
            </a:r>
            <a:endParaRPr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44" name="object 24">
            <a:extLst>
              <a:ext uri="{FF2B5EF4-FFF2-40B4-BE49-F238E27FC236}">
                <a16:creationId xmlns:a16="http://schemas.microsoft.com/office/drawing/2014/main" id="{67D19D6B-6F9E-BC7A-2F67-D3C86DAA311F}"/>
              </a:ext>
            </a:extLst>
          </p:cNvPr>
          <p:cNvSpPr txBox="1"/>
          <p:nvPr/>
        </p:nvSpPr>
        <p:spPr>
          <a:xfrm>
            <a:off x="4668902" y="2327435"/>
            <a:ext cx="359965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055" indent="-17335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6055" algn="l"/>
              </a:tabLst>
            </a:pPr>
            <a:r>
              <a:rPr dirty="0">
                <a:latin typeface="Bookman Old Style" panose="02050604050505020204" pitchFamily="18" charset="0"/>
                <a:cs typeface="Times New Roman"/>
              </a:rPr>
              <a:t>Circuit</a:t>
            </a:r>
            <a:r>
              <a:rPr spc="-3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dirty="0">
                <a:latin typeface="Bookman Old Style" panose="02050604050505020204" pitchFamily="18" charset="0"/>
                <a:cs typeface="Times New Roman"/>
              </a:rPr>
              <a:t>électrique</a:t>
            </a:r>
            <a:r>
              <a:rPr spc="-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pc="-10" dirty="0">
                <a:latin typeface="Bookman Old Style" panose="02050604050505020204" pitchFamily="18" charset="0"/>
                <a:cs typeface="Times New Roman"/>
              </a:rPr>
              <a:t>linéaire</a:t>
            </a:r>
            <a:endParaRPr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45" name="object 25">
            <a:extLst>
              <a:ext uri="{FF2B5EF4-FFF2-40B4-BE49-F238E27FC236}">
                <a16:creationId xmlns:a16="http://schemas.microsoft.com/office/drawing/2014/main" id="{AB80660B-FCD0-66AD-FF5B-65DC7F007E1F}"/>
              </a:ext>
            </a:extLst>
          </p:cNvPr>
          <p:cNvSpPr txBox="1"/>
          <p:nvPr/>
        </p:nvSpPr>
        <p:spPr>
          <a:xfrm>
            <a:off x="4668902" y="2841596"/>
            <a:ext cx="4089216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marR="53340" indent="-1143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27000" algn="l"/>
                <a:tab pos="186055" algn="l"/>
              </a:tabLst>
            </a:pPr>
            <a:r>
              <a:rPr dirty="0">
                <a:latin typeface="Bookman Old Style" panose="02050604050505020204" pitchFamily="18" charset="0"/>
                <a:cs typeface="Times New Roman"/>
              </a:rPr>
              <a:t>	Remplacé</a:t>
            </a:r>
            <a:r>
              <a:rPr spc="-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dirty="0">
                <a:latin typeface="Bookman Old Style" panose="02050604050505020204" pitchFamily="18" charset="0"/>
                <a:cs typeface="Times New Roman"/>
              </a:rPr>
              <a:t>un</a:t>
            </a:r>
            <a:r>
              <a:rPr spc="-3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dirty="0">
                <a:latin typeface="Bookman Old Style" panose="02050604050505020204" pitchFamily="18" charset="0"/>
                <a:cs typeface="Times New Roman"/>
              </a:rPr>
              <a:t>circuit</a:t>
            </a:r>
            <a:r>
              <a:rPr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dirty="0">
                <a:latin typeface="Bookman Old Style" panose="02050604050505020204" pitchFamily="18" charset="0"/>
                <a:cs typeface="Times New Roman"/>
              </a:rPr>
              <a:t>complexe</a:t>
            </a:r>
            <a:r>
              <a:rPr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pc="-25" dirty="0">
                <a:latin typeface="Bookman Old Style" panose="02050604050505020204" pitchFamily="18" charset="0"/>
                <a:cs typeface="Times New Roman"/>
              </a:rPr>
              <a:t>par </a:t>
            </a:r>
            <a:r>
              <a:rPr dirty="0">
                <a:latin typeface="Bookman Old Style" panose="02050604050505020204" pitchFamily="18" charset="0"/>
                <a:cs typeface="Times New Roman"/>
              </a:rPr>
              <a:t>une</a:t>
            </a:r>
            <a:r>
              <a:rPr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dirty="0">
                <a:latin typeface="Bookman Old Style" panose="02050604050505020204" pitchFamily="18" charset="0"/>
                <a:cs typeface="Times New Roman"/>
              </a:rPr>
              <a:t>seule</a:t>
            </a:r>
            <a:r>
              <a:rPr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dirty="0">
                <a:latin typeface="Bookman Old Style" panose="02050604050505020204" pitchFamily="18" charset="0"/>
                <a:cs typeface="Times New Roman"/>
              </a:rPr>
              <a:t>source</a:t>
            </a:r>
            <a:r>
              <a:rPr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pc="-10" dirty="0">
                <a:latin typeface="Bookman Old Style" panose="02050604050505020204" pitchFamily="18" charset="0"/>
                <a:cs typeface="Times New Roman"/>
              </a:rPr>
              <a:t>tension </a:t>
            </a:r>
            <a:r>
              <a:rPr i="1" dirty="0">
                <a:latin typeface="Bookman Old Style" panose="02050604050505020204" pitchFamily="18" charset="0"/>
                <a:cs typeface="Times New Roman"/>
              </a:rPr>
              <a:t>(appelée</a:t>
            </a:r>
            <a:r>
              <a:rPr i="1" spc="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i="1" dirty="0">
                <a:latin typeface="Bookman Old Style" panose="02050604050505020204" pitchFamily="18" charset="0"/>
                <a:cs typeface="Times New Roman"/>
              </a:rPr>
              <a:t>la</a:t>
            </a:r>
            <a:r>
              <a:rPr i="1" spc="-3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i="1" dirty="0">
                <a:latin typeface="Bookman Old Style" panose="02050604050505020204" pitchFamily="18" charset="0"/>
                <a:cs typeface="Times New Roman"/>
              </a:rPr>
              <a:t>tension</a:t>
            </a:r>
            <a:r>
              <a:rPr b="1" i="1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i="1"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b="1" i="1" spc="-4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i="1" spc="-10" dirty="0">
                <a:latin typeface="Bookman Old Style" panose="02050604050505020204" pitchFamily="18" charset="0"/>
                <a:cs typeface="Times New Roman"/>
              </a:rPr>
              <a:t>Thévenin</a:t>
            </a:r>
            <a:r>
              <a:rPr i="1" spc="-10" dirty="0">
                <a:latin typeface="Bookman Old Style" panose="02050604050505020204" pitchFamily="18" charset="0"/>
                <a:cs typeface="Times New Roman"/>
              </a:rPr>
              <a:t>)</a:t>
            </a:r>
            <a:r>
              <a:rPr i="1" spc="50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en</a:t>
            </a:r>
            <a:r>
              <a:rPr spc="-1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série</a:t>
            </a:r>
            <a:r>
              <a:rPr spc="-2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dirty="0">
                <a:latin typeface="Bookman Old Style" panose="02050604050505020204" pitchFamily="18" charset="0"/>
                <a:cs typeface="Times New Roman"/>
              </a:rPr>
              <a:t>avec</a:t>
            </a:r>
            <a:r>
              <a:rPr spc="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dirty="0">
                <a:latin typeface="Bookman Old Style" panose="02050604050505020204" pitchFamily="18" charset="0"/>
                <a:cs typeface="Times New Roman"/>
              </a:rPr>
              <a:t>une</a:t>
            </a:r>
            <a:r>
              <a:rPr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dirty="0">
                <a:latin typeface="Bookman Old Style" panose="02050604050505020204" pitchFamily="18" charset="0"/>
                <a:cs typeface="Times New Roman"/>
              </a:rPr>
              <a:t>seule</a:t>
            </a:r>
            <a:r>
              <a:rPr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pc="-10" dirty="0">
                <a:latin typeface="Bookman Old Style" panose="02050604050505020204" pitchFamily="18" charset="0"/>
                <a:cs typeface="Times New Roman"/>
              </a:rPr>
              <a:t>résistance</a:t>
            </a:r>
            <a:endParaRPr dirty="0">
              <a:latin typeface="Bookman Old Style" panose="02050604050505020204" pitchFamily="18" charset="0"/>
              <a:cs typeface="Times New Roman"/>
            </a:endParaRPr>
          </a:p>
          <a:p>
            <a:pPr marL="127000">
              <a:lnSpc>
                <a:spcPct val="100000"/>
              </a:lnSpc>
            </a:pPr>
            <a:r>
              <a:rPr i="1" dirty="0">
                <a:latin typeface="Bookman Old Style" panose="02050604050505020204" pitchFamily="18" charset="0"/>
                <a:cs typeface="Times New Roman"/>
              </a:rPr>
              <a:t>(appelée </a:t>
            </a:r>
            <a:r>
              <a:rPr b="1" i="1" dirty="0">
                <a:latin typeface="Bookman Old Style" panose="02050604050505020204" pitchFamily="18" charset="0"/>
                <a:cs typeface="Times New Roman"/>
              </a:rPr>
              <a:t>la</a:t>
            </a:r>
            <a:r>
              <a:rPr b="1" i="1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i="1" dirty="0">
                <a:latin typeface="Bookman Old Style" panose="02050604050505020204" pitchFamily="18" charset="0"/>
                <a:cs typeface="Times New Roman"/>
              </a:rPr>
              <a:t>résistance</a:t>
            </a:r>
            <a:r>
              <a:rPr b="1" i="1" spc="-3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i="1"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b="1" i="1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b="1" i="1" spc="-10" dirty="0">
                <a:latin typeface="Bookman Old Style" panose="02050604050505020204" pitchFamily="18" charset="0"/>
                <a:cs typeface="Times New Roman"/>
              </a:rPr>
              <a:t>Thévenin</a:t>
            </a:r>
            <a:r>
              <a:rPr i="1" spc="-10" dirty="0">
                <a:latin typeface="Bookman Old Style" panose="02050604050505020204" pitchFamily="18" charset="0"/>
                <a:cs typeface="Times New Roman"/>
              </a:rPr>
              <a:t>).</a:t>
            </a:r>
            <a:endParaRPr dirty="0">
              <a:latin typeface="Bookman Old Style" panose="020506040505050202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6017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1" grpId="0"/>
      <p:bldP spid="42" grpId="0"/>
      <p:bldP spid="43" grpId="0"/>
      <p:bldP spid="44" grpId="0"/>
      <p:bldP spid="4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47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2EB4A-5DDB-3300-57A4-67D778C58080}"/>
              </a:ext>
            </a:extLst>
          </p:cNvPr>
          <p:cNvSpPr txBox="1"/>
          <p:nvPr/>
        </p:nvSpPr>
        <p:spPr>
          <a:xfrm>
            <a:off x="726861" y="388137"/>
            <a:ext cx="5893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lang="fr-FR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A. Étapes de l'application de ce théorème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C04E86-E520-7C11-491E-8CACC9B62B03}"/>
              </a:ext>
            </a:extLst>
          </p:cNvPr>
          <p:cNvSpPr/>
          <p:nvPr/>
        </p:nvSpPr>
        <p:spPr>
          <a:xfrm>
            <a:off x="1326556" y="1696522"/>
            <a:ext cx="2438400" cy="246442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object 15">
            <a:extLst>
              <a:ext uri="{FF2B5EF4-FFF2-40B4-BE49-F238E27FC236}">
                <a16:creationId xmlns:a16="http://schemas.microsoft.com/office/drawing/2014/main" id="{491C6B74-7958-146B-3779-E902E14E62A3}"/>
              </a:ext>
            </a:extLst>
          </p:cNvPr>
          <p:cNvSpPr txBox="1"/>
          <p:nvPr/>
        </p:nvSpPr>
        <p:spPr>
          <a:xfrm>
            <a:off x="1600200" y="2267481"/>
            <a:ext cx="1981200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9075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Circuit Complexe</a:t>
            </a:r>
            <a:endParaRPr sz="28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33" name="object 2">
            <a:extLst>
              <a:ext uri="{FF2B5EF4-FFF2-40B4-BE49-F238E27FC236}">
                <a16:creationId xmlns:a16="http://schemas.microsoft.com/office/drawing/2014/main" id="{FDE56509-5205-C60D-F450-F6BB224E54AE}"/>
              </a:ext>
            </a:extLst>
          </p:cNvPr>
          <p:cNvSpPr/>
          <p:nvPr/>
        </p:nvSpPr>
        <p:spPr>
          <a:xfrm>
            <a:off x="5144900" y="1962150"/>
            <a:ext cx="266700" cy="1844039"/>
          </a:xfrm>
          <a:custGeom>
            <a:avLst/>
            <a:gdLst/>
            <a:ahLst/>
            <a:cxnLst/>
            <a:rect l="l" t="t" r="r" b="b"/>
            <a:pathLst>
              <a:path w="266700" h="1844039">
                <a:moveTo>
                  <a:pt x="0" y="1438656"/>
                </a:moveTo>
                <a:lnTo>
                  <a:pt x="266700" y="1438656"/>
                </a:lnTo>
                <a:lnTo>
                  <a:pt x="266700" y="394716"/>
                </a:lnTo>
                <a:lnTo>
                  <a:pt x="0" y="394716"/>
                </a:lnTo>
                <a:lnTo>
                  <a:pt x="0" y="1438656"/>
                </a:lnTo>
                <a:close/>
              </a:path>
              <a:path w="266700" h="1844039">
                <a:moveTo>
                  <a:pt x="132587" y="1438656"/>
                </a:moveTo>
                <a:lnTo>
                  <a:pt x="132587" y="1843671"/>
                </a:lnTo>
              </a:path>
              <a:path w="266700" h="1844039">
                <a:moveTo>
                  <a:pt x="132587" y="0"/>
                </a:moveTo>
                <a:lnTo>
                  <a:pt x="132587" y="405002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340B846-6445-B6F8-3A1C-8B55052BB1AC}"/>
              </a:ext>
            </a:extLst>
          </p:cNvPr>
          <p:cNvCxnSpPr>
            <a:cxnSpLocks/>
          </p:cNvCxnSpPr>
          <p:nvPr/>
        </p:nvCxnSpPr>
        <p:spPr>
          <a:xfrm>
            <a:off x="3728461" y="1962150"/>
            <a:ext cx="154978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FEABA7B-8AED-38A2-642D-BF90107AB8E7}"/>
              </a:ext>
            </a:extLst>
          </p:cNvPr>
          <p:cNvCxnSpPr>
            <a:cxnSpLocks/>
          </p:cNvCxnSpPr>
          <p:nvPr/>
        </p:nvCxnSpPr>
        <p:spPr>
          <a:xfrm>
            <a:off x="3728461" y="3814403"/>
            <a:ext cx="154978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bject 24">
            <a:extLst>
              <a:ext uri="{FF2B5EF4-FFF2-40B4-BE49-F238E27FC236}">
                <a16:creationId xmlns:a16="http://schemas.microsoft.com/office/drawing/2014/main" id="{EF424C93-7119-B65C-D62F-77A812BA265D}"/>
              </a:ext>
            </a:extLst>
          </p:cNvPr>
          <p:cNvSpPr txBox="1"/>
          <p:nvPr/>
        </p:nvSpPr>
        <p:spPr>
          <a:xfrm>
            <a:off x="5367036" y="1527906"/>
            <a:ext cx="1253539" cy="386644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R="1090930" algn="r">
              <a:lnSpc>
                <a:spcPts val="2055"/>
              </a:lnSpc>
            </a:pPr>
            <a:r>
              <a:rPr lang="fr-FR" sz="1800" b="1" spc="-50" dirty="0">
                <a:latin typeface="Times New Roman"/>
                <a:cs typeface="Times New Roman"/>
              </a:rPr>
              <a:t>A</a:t>
            </a:r>
            <a:endParaRPr lang="fr-FR" sz="1800" dirty="0">
              <a:latin typeface="Times New Roman"/>
              <a:cs typeface="Times New Roman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9B16B3-9FC1-5293-315A-AC529F3FFB68}"/>
              </a:ext>
            </a:extLst>
          </p:cNvPr>
          <p:cNvSpPr txBox="1"/>
          <p:nvPr/>
        </p:nvSpPr>
        <p:spPr>
          <a:xfrm>
            <a:off x="2626522" y="2155773"/>
            <a:ext cx="897622" cy="33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0">
              <a:lnSpc>
                <a:spcPts val="1575"/>
              </a:lnSpc>
              <a:spcBef>
                <a:spcPts val="5"/>
              </a:spcBef>
            </a:pPr>
            <a:r>
              <a:rPr lang="fr-FR" sz="4800" spc="-37" baseline="11904" dirty="0">
                <a:latin typeface="Cambria Math"/>
                <a:cs typeface="Cambria Math"/>
              </a:rPr>
              <a:t>𝑹</a:t>
            </a:r>
            <a:r>
              <a:rPr lang="fr-FR" sz="1800" spc="-25" dirty="0">
                <a:latin typeface="Cambria Math"/>
                <a:cs typeface="Cambria Math"/>
              </a:rPr>
              <a:t>𝑻𝒉</a:t>
            </a:r>
            <a:endParaRPr lang="fr-FR" sz="1800" dirty="0">
              <a:latin typeface="Cambria Math"/>
              <a:cs typeface="Cambria Math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04A32D-FE16-9C98-FDFF-982320D43600}"/>
              </a:ext>
            </a:extLst>
          </p:cNvPr>
          <p:cNvSpPr txBox="1"/>
          <p:nvPr/>
        </p:nvSpPr>
        <p:spPr>
          <a:xfrm flipH="1">
            <a:off x="5441880" y="3710360"/>
            <a:ext cx="591271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090930" algn="r">
              <a:lnSpc>
                <a:spcPts val="2055"/>
              </a:lnSpc>
            </a:pPr>
            <a:r>
              <a:rPr lang="fr-FR" sz="1800" b="1" spc="-50" dirty="0">
                <a:latin typeface="Times New Roman"/>
                <a:cs typeface="Times New Roman"/>
              </a:rPr>
              <a:t>B</a:t>
            </a:r>
            <a:endParaRPr lang="fr-FR" sz="1800" dirty="0">
              <a:latin typeface="Times New Roman"/>
              <a:cs typeface="Times New Roman"/>
            </a:endParaRPr>
          </a:p>
        </p:txBody>
      </p:sp>
      <p:grpSp>
        <p:nvGrpSpPr>
          <p:cNvPr id="64" name="object 20">
            <a:extLst>
              <a:ext uri="{FF2B5EF4-FFF2-40B4-BE49-F238E27FC236}">
                <a16:creationId xmlns:a16="http://schemas.microsoft.com/office/drawing/2014/main" id="{E0C92F9D-76BC-7169-8685-D5AB952F2DE0}"/>
              </a:ext>
            </a:extLst>
          </p:cNvPr>
          <p:cNvGrpSpPr/>
          <p:nvPr/>
        </p:nvGrpSpPr>
        <p:grpSpPr>
          <a:xfrm>
            <a:off x="1067803" y="1802221"/>
            <a:ext cx="2712972" cy="2017270"/>
            <a:chOff x="1030223" y="2045207"/>
            <a:chExt cx="2613660" cy="1971167"/>
          </a:xfrm>
        </p:grpSpPr>
        <p:sp>
          <p:nvSpPr>
            <p:cNvPr id="65" name="object 21">
              <a:extLst>
                <a:ext uri="{FF2B5EF4-FFF2-40B4-BE49-F238E27FC236}">
                  <a16:creationId xmlns:a16="http://schemas.microsoft.com/office/drawing/2014/main" id="{116B3A82-C86F-23E0-B8A7-FDB6EAB5504F}"/>
                </a:ext>
              </a:extLst>
            </p:cNvPr>
            <p:cNvSpPr/>
            <p:nvPr/>
          </p:nvSpPr>
          <p:spPr>
            <a:xfrm>
              <a:off x="2615183" y="2201481"/>
              <a:ext cx="1028700" cy="0"/>
            </a:xfrm>
            <a:custGeom>
              <a:avLst/>
              <a:gdLst/>
              <a:ahLst/>
              <a:cxnLst/>
              <a:rect l="l" t="t" r="r" b="b"/>
              <a:pathLst>
                <a:path w="1028700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22">
              <a:extLst>
                <a:ext uri="{FF2B5EF4-FFF2-40B4-BE49-F238E27FC236}">
                  <a16:creationId xmlns:a16="http://schemas.microsoft.com/office/drawing/2014/main" id="{609A1CF1-2C38-AF05-FC47-5B2429B8DF97}"/>
                </a:ext>
              </a:extLst>
            </p:cNvPr>
            <p:cNvSpPr/>
            <p:nvPr/>
          </p:nvSpPr>
          <p:spPr>
            <a:xfrm>
              <a:off x="1571243" y="2045207"/>
              <a:ext cx="1043940" cy="265430"/>
            </a:xfrm>
            <a:custGeom>
              <a:avLst/>
              <a:gdLst/>
              <a:ahLst/>
              <a:cxnLst/>
              <a:rect l="l" t="t" r="r" b="b"/>
              <a:pathLst>
                <a:path w="1043939" h="265430">
                  <a:moveTo>
                    <a:pt x="0" y="265175"/>
                  </a:moveTo>
                  <a:lnTo>
                    <a:pt x="1043940" y="265175"/>
                  </a:lnTo>
                  <a:lnTo>
                    <a:pt x="1043940" y="0"/>
                  </a:lnTo>
                  <a:lnTo>
                    <a:pt x="0" y="0"/>
                  </a:lnTo>
                  <a:lnTo>
                    <a:pt x="0" y="265175"/>
                  </a:lnTo>
                  <a:close/>
                </a:path>
              </a:pathLst>
            </a:custGeom>
            <a:ln w="579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23">
              <a:extLst>
                <a:ext uri="{FF2B5EF4-FFF2-40B4-BE49-F238E27FC236}">
                  <a16:creationId xmlns:a16="http://schemas.microsoft.com/office/drawing/2014/main" id="{8EFC607E-125B-718F-D4AA-82A6C55292A9}"/>
                </a:ext>
              </a:extLst>
            </p:cNvPr>
            <p:cNvSpPr/>
            <p:nvPr/>
          </p:nvSpPr>
          <p:spPr>
            <a:xfrm>
              <a:off x="1030223" y="2171699"/>
              <a:ext cx="2598420" cy="1844675"/>
            </a:xfrm>
            <a:custGeom>
              <a:avLst/>
              <a:gdLst/>
              <a:ahLst/>
              <a:cxnLst/>
              <a:rect l="l" t="t" r="r" b="b"/>
              <a:pathLst>
                <a:path w="2598420" h="1844675">
                  <a:moveTo>
                    <a:pt x="541019" y="10668"/>
                  </a:moveTo>
                  <a:lnTo>
                    <a:pt x="160019" y="10668"/>
                  </a:lnTo>
                </a:path>
                <a:path w="2598420" h="1844675">
                  <a:moveTo>
                    <a:pt x="181356" y="0"/>
                  </a:moveTo>
                  <a:lnTo>
                    <a:pt x="183095" y="1844268"/>
                  </a:lnTo>
                </a:path>
                <a:path w="2598420" h="1844675">
                  <a:moveTo>
                    <a:pt x="0" y="936498"/>
                  </a:moveTo>
                  <a:lnTo>
                    <a:pt x="6260" y="894984"/>
                  </a:lnTo>
                  <a:lnTo>
                    <a:pt x="23926" y="857673"/>
                  </a:lnTo>
                  <a:lnTo>
                    <a:pt x="51330" y="826055"/>
                  </a:lnTo>
                  <a:lnTo>
                    <a:pt x="86800" y="801623"/>
                  </a:lnTo>
                  <a:lnTo>
                    <a:pt x="128666" y="785870"/>
                  </a:lnTo>
                  <a:lnTo>
                    <a:pt x="175259" y="780288"/>
                  </a:lnTo>
                  <a:lnTo>
                    <a:pt x="221844" y="785870"/>
                  </a:lnTo>
                  <a:lnTo>
                    <a:pt x="263708" y="801624"/>
                  </a:lnTo>
                  <a:lnTo>
                    <a:pt x="299180" y="826055"/>
                  </a:lnTo>
                  <a:lnTo>
                    <a:pt x="326587" y="857673"/>
                  </a:lnTo>
                  <a:lnTo>
                    <a:pt x="344258" y="894984"/>
                  </a:lnTo>
                  <a:lnTo>
                    <a:pt x="350519" y="936498"/>
                  </a:lnTo>
                  <a:lnTo>
                    <a:pt x="344258" y="978011"/>
                  </a:lnTo>
                  <a:lnTo>
                    <a:pt x="326587" y="1015322"/>
                  </a:lnTo>
                  <a:lnTo>
                    <a:pt x="299180" y="1046940"/>
                  </a:lnTo>
                  <a:lnTo>
                    <a:pt x="263708" y="1071371"/>
                  </a:lnTo>
                  <a:lnTo>
                    <a:pt x="221844" y="1087125"/>
                  </a:lnTo>
                  <a:lnTo>
                    <a:pt x="175259" y="1092708"/>
                  </a:lnTo>
                  <a:lnTo>
                    <a:pt x="128666" y="1087125"/>
                  </a:lnTo>
                  <a:lnTo>
                    <a:pt x="86800" y="1071371"/>
                  </a:lnTo>
                  <a:lnTo>
                    <a:pt x="51330" y="1046940"/>
                  </a:lnTo>
                  <a:lnTo>
                    <a:pt x="23926" y="1015322"/>
                  </a:lnTo>
                  <a:lnTo>
                    <a:pt x="6260" y="978011"/>
                  </a:lnTo>
                  <a:lnTo>
                    <a:pt x="0" y="936498"/>
                  </a:lnTo>
                  <a:close/>
                </a:path>
                <a:path w="2598420" h="1844675">
                  <a:moveTo>
                    <a:pt x="160019" y="1833372"/>
                  </a:moveTo>
                  <a:lnTo>
                    <a:pt x="2598420" y="1841677"/>
                  </a:lnTo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C27D86F-3CE4-31C6-1DA1-5FFEAC2C7168}"/>
                  </a:ext>
                </a:extLst>
              </p:cNvPr>
              <p:cNvSpPr txBox="1"/>
              <p:nvPr/>
            </p:nvSpPr>
            <p:spPr>
              <a:xfrm>
                <a:off x="593199" y="2730280"/>
                <a:ext cx="518282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2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sz="2200" b="1" i="1" smtClean="0">
                              <a:latin typeface="Cambria Math" panose="02040503050406030204" pitchFamily="18" charset="0"/>
                            </a:rPr>
                            <m:t>𝑻𝒉</m:t>
                          </m:r>
                        </m:sub>
                      </m:sSub>
                    </m:oMath>
                  </m:oMathPara>
                </a14:m>
                <a:endParaRPr lang="fr-FR" sz="2200" b="1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C27D86F-3CE4-31C6-1DA1-5FFEAC2C7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199" y="2730280"/>
                <a:ext cx="518282" cy="338554"/>
              </a:xfrm>
              <a:prstGeom prst="rect">
                <a:avLst/>
              </a:prstGeom>
              <a:blipFill>
                <a:blip r:embed="rId5"/>
                <a:stretch>
                  <a:fillRect l="-11765" r="-7059" b="-181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object 2">
            <a:extLst>
              <a:ext uri="{FF2B5EF4-FFF2-40B4-BE49-F238E27FC236}">
                <a16:creationId xmlns:a16="http://schemas.microsoft.com/office/drawing/2014/main" id="{A2C06771-3F18-BAFF-F0BE-D9F41B15BDF4}"/>
              </a:ext>
            </a:extLst>
          </p:cNvPr>
          <p:cNvSpPr/>
          <p:nvPr/>
        </p:nvSpPr>
        <p:spPr>
          <a:xfrm>
            <a:off x="9372600" y="1782439"/>
            <a:ext cx="266700" cy="1844039"/>
          </a:xfrm>
          <a:custGeom>
            <a:avLst/>
            <a:gdLst/>
            <a:ahLst/>
            <a:cxnLst/>
            <a:rect l="l" t="t" r="r" b="b"/>
            <a:pathLst>
              <a:path w="266700" h="1844039">
                <a:moveTo>
                  <a:pt x="0" y="1438656"/>
                </a:moveTo>
                <a:lnTo>
                  <a:pt x="266700" y="1438656"/>
                </a:lnTo>
                <a:lnTo>
                  <a:pt x="266700" y="394716"/>
                </a:lnTo>
                <a:lnTo>
                  <a:pt x="0" y="394716"/>
                </a:lnTo>
                <a:lnTo>
                  <a:pt x="0" y="1438656"/>
                </a:lnTo>
                <a:close/>
              </a:path>
              <a:path w="266700" h="1844039">
                <a:moveTo>
                  <a:pt x="132587" y="1438656"/>
                </a:moveTo>
                <a:lnTo>
                  <a:pt x="132587" y="1843671"/>
                </a:lnTo>
              </a:path>
              <a:path w="266700" h="1844039">
                <a:moveTo>
                  <a:pt x="132587" y="0"/>
                </a:moveTo>
                <a:lnTo>
                  <a:pt x="132587" y="405002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16">
            <a:extLst>
              <a:ext uri="{FF2B5EF4-FFF2-40B4-BE49-F238E27FC236}">
                <a16:creationId xmlns:a16="http://schemas.microsoft.com/office/drawing/2014/main" id="{058C3492-2759-8EB3-F040-FDA678B4E5A4}"/>
              </a:ext>
            </a:extLst>
          </p:cNvPr>
          <p:cNvGrpSpPr/>
          <p:nvPr/>
        </p:nvGrpSpPr>
        <p:grpSpPr>
          <a:xfrm>
            <a:off x="5229492" y="1914551"/>
            <a:ext cx="196850" cy="1976755"/>
            <a:chOff x="5242559" y="2100072"/>
            <a:chExt cx="196850" cy="1976755"/>
          </a:xfrm>
        </p:grpSpPr>
        <p:pic>
          <p:nvPicPr>
            <p:cNvPr id="41" name="object 17">
              <a:extLst>
                <a:ext uri="{FF2B5EF4-FFF2-40B4-BE49-F238E27FC236}">
                  <a16:creationId xmlns:a16="http://schemas.microsoft.com/office/drawing/2014/main" id="{818CEF79-7461-8B2E-E255-FC82A03D163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42559" y="2100072"/>
              <a:ext cx="184403" cy="143256"/>
            </a:xfrm>
            <a:prstGeom prst="rect">
              <a:avLst/>
            </a:prstGeom>
          </p:spPr>
        </p:pic>
        <p:pic>
          <p:nvPicPr>
            <p:cNvPr id="42" name="object 18">
              <a:extLst>
                <a:ext uri="{FF2B5EF4-FFF2-40B4-BE49-F238E27FC236}">
                  <a16:creationId xmlns:a16="http://schemas.microsoft.com/office/drawing/2014/main" id="{3BB077B2-D7DD-971E-E42B-04A0D62B637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56275" y="3933444"/>
              <a:ext cx="182880" cy="1432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346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2.46914E-6 L 0.45607 -0.0046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95" y="-2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71605E-6 L -0.46232 0.03518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125" y="19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/>
      <p:bldP spid="33" grpId="0" animBg="1"/>
      <p:bldP spid="45" grpId="0"/>
      <p:bldP spid="69" grpId="0"/>
      <p:bldP spid="7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70715" y="4803421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48</a:t>
            </a:fld>
            <a:endParaRPr sz="2400" dirty="0">
              <a:latin typeface="Arial"/>
              <a:cs typeface="Arial"/>
            </a:endParaRPr>
          </a:p>
        </p:txBody>
      </p:sp>
      <p:grpSp>
        <p:nvGrpSpPr>
          <p:cNvPr id="11" name="object 12">
            <a:extLst>
              <a:ext uri="{FF2B5EF4-FFF2-40B4-BE49-F238E27FC236}">
                <a16:creationId xmlns:a16="http://schemas.microsoft.com/office/drawing/2014/main" id="{F2F55DA3-2144-85E8-9EB7-E850C139FBE9}"/>
              </a:ext>
            </a:extLst>
          </p:cNvPr>
          <p:cNvGrpSpPr/>
          <p:nvPr/>
        </p:nvGrpSpPr>
        <p:grpSpPr>
          <a:xfrm>
            <a:off x="377851" y="209550"/>
            <a:ext cx="8513445" cy="553720"/>
            <a:chOff x="299465" y="1351025"/>
            <a:chExt cx="8513445" cy="553720"/>
          </a:xfrm>
        </p:grpSpPr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C2E0212E-53BA-FD3A-4E4A-F513BD6F7DB0}"/>
                </a:ext>
              </a:extLst>
            </p:cNvPr>
            <p:cNvSpPr/>
            <p:nvPr/>
          </p:nvSpPr>
          <p:spPr>
            <a:xfrm>
              <a:off x="299465" y="1351025"/>
              <a:ext cx="8513445" cy="553720"/>
            </a:xfrm>
            <a:custGeom>
              <a:avLst/>
              <a:gdLst/>
              <a:ahLst/>
              <a:cxnLst/>
              <a:rect l="l" t="t" r="r" b="b"/>
              <a:pathLst>
                <a:path w="8513445" h="553719">
                  <a:moveTo>
                    <a:pt x="8236458" y="0"/>
                  </a:moveTo>
                  <a:lnTo>
                    <a:pt x="8236458" y="138302"/>
                  </a:lnTo>
                  <a:lnTo>
                    <a:pt x="0" y="138302"/>
                  </a:lnTo>
                  <a:lnTo>
                    <a:pt x="0" y="414909"/>
                  </a:lnTo>
                  <a:lnTo>
                    <a:pt x="8236458" y="414909"/>
                  </a:lnTo>
                  <a:lnTo>
                    <a:pt x="8236458" y="553212"/>
                  </a:lnTo>
                  <a:lnTo>
                    <a:pt x="8513064" y="276606"/>
                  </a:lnTo>
                  <a:lnTo>
                    <a:pt x="82364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B71A15A8-59A3-2D61-E318-297EBEEF4A71}"/>
                </a:ext>
              </a:extLst>
            </p:cNvPr>
            <p:cNvSpPr/>
            <p:nvPr/>
          </p:nvSpPr>
          <p:spPr>
            <a:xfrm>
              <a:off x="299465" y="1351025"/>
              <a:ext cx="8513445" cy="553720"/>
            </a:xfrm>
            <a:custGeom>
              <a:avLst/>
              <a:gdLst/>
              <a:ahLst/>
              <a:cxnLst/>
              <a:rect l="l" t="t" r="r" b="b"/>
              <a:pathLst>
                <a:path w="8513445" h="553719">
                  <a:moveTo>
                    <a:pt x="0" y="138302"/>
                  </a:moveTo>
                  <a:lnTo>
                    <a:pt x="8236458" y="138302"/>
                  </a:lnTo>
                  <a:lnTo>
                    <a:pt x="8236458" y="0"/>
                  </a:lnTo>
                  <a:lnTo>
                    <a:pt x="8513064" y="276606"/>
                  </a:lnTo>
                  <a:lnTo>
                    <a:pt x="8236458" y="553212"/>
                  </a:lnTo>
                  <a:lnTo>
                    <a:pt x="8236458" y="414909"/>
                  </a:lnTo>
                  <a:lnTo>
                    <a:pt x="0" y="414909"/>
                  </a:lnTo>
                  <a:lnTo>
                    <a:pt x="0" y="138302"/>
                  </a:lnTo>
                  <a:close/>
                </a:path>
              </a:pathLst>
            </a:custGeom>
            <a:ln w="25907">
              <a:solidFill>
                <a:srgbClr val="16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>
            <a:extLst>
              <a:ext uri="{FF2B5EF4-FFF2-40B4-BE49-F238E27FC236}">
                <a16:creationId xmlns:a16="http://schemas.microsoft.com/office/drawing/2014/main" id="{9D461ACC-977B-8A99-A988-B121E12E2C87}"/>
              </a:ext>
            </a:extLst>
          </p:cNvPr>
          <p:cNvGrpSpPr/>
          <p:nvPr/>
        </p:nvGrpSpPr>
        <p:grpSpPr>
          <a:xfrm>
            <a:off x="105156" y="1340358"/>
            <a:ext cx="2350135" cy="516890"/>
            <a:chOff x="222504" y="2023872"/>
            <a:chExt cx="2350135" cy="516890"/>
          </a:xfrm>
        </p:grpSpPr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7D6FC0BE-F931-D1D0-F021-4999D6EE79E3}"/>
                </a:ext>
              </a:extLst>
            </p:cNvPr>
            <p:cNvSpPr/>
            <p:nvPr/>
          </p:nvSpPr>
          <p:spPr>
            <a:xfrm>
              <a:off x="236982" y="2038350"/>
              <a:ext cx="2321560" cy="487680"/>
            </a:xfrm>
            <a:custGeom>
              <a:avLst/>
              <a:gdLst/>
              <a:ahLst/>
              <a:cxnLst/>
              <a:rect l="l" t="t" r="r" b="b"/>
              <a:pathLst>
                <a:path w="2321560" h="487680">
                  <a:moveTo>
                    <a:pt x="1947672" y="0"/>
                  </a:moveTo>
                  <a:lnTo>
                    <a:pt x="373405" y="0"/>
                  </a:lnTo>
                  <a:lnTo>
                    <a:pt x="318227" y="2644"/>
                  </a:lnTo>
                  <a:lnTo>
                    <a:pt x="265562" y="10327"/>
                  </a:lnTo>
                  <a:lnTo>
                    <a:pt x="215988" y="22671"/>
                  </a:lnTo>
                  <a:lnTo>
                    <a:pt x="170083" y="39296"/>
                  </a:lnTo>
                  <a:lnTo>
                    <a:pt x="128425" y="59826"/>
                  </a:lnTo>
                  <a:lnTo>
                    <a:pt x="91591" y="83882"/>
                  </a:lnTo>
                  <a:lnTo>
                    <a:pt x="60158" y="111088"/>
                  </a:lnTo>
                  <a:lnTo>
                    <a:pt x="34705" y="141064"/>
                  </a:lnTo>
                  <a:lnTo>
                    <a:pt x="4048" y="207818"/>
                  </a:lnTo>
                  <a:lnTo>
                    <a:pt x="0" y="243839"/>
                  </a:lnTo>
                  <a:lnTo>
                    <a:pt x="4048" y="279861"/>
                  </a:lnTo>
                  <a:lnTo>
                    <a:pt x="34705" y="346615"/>
                  </a:lnTo>
                  <a:lnTo>
                    <a:pt x="60158" y="376591"/>
                  </a:lnTo>
                  <a:lnTo>
                    <a:pt x="91591" y="403797"/>
                  </a:lnTo>
                  <a:lnTo>
                    <a:pt x="128425" y="427853"/>
                  </a:lnTo>
                  <a:lnTo>
                    <a:pt x="170083" y="448383"/>
                  </a:lnTo>
                  <a:lnTo>
                    <a:pt x="215988" y="465008"/>
                  </a:lnTo>
                  <a:lnTo>
                    <a:pt x="265562" y="477352"/>
                  </a:lnTo>
                  <a:lnTo>
                    <a:pt x="318227" y="485035"/>
                  </a:lnTo>
                  <a:lnTo>
                    <a:pt x="373405" y="487680"/>
                  </a:lnTo>
                  <a:lnTo>
                    <a:pt x="1947672" y="487680"/>
                  </a:lnTo>
                  <a:lnTo>
                    <a:pt x="2002855" y="485035"/>
                  </a:lnTo>
                  <a:lnTo>
                    <a:pt x="2055522" y="477352"/>
                  </a:lnTo>
                  <a:lnTo>
                    <a:pt x="2105095" y="465008"/>
                  </a:lnTo>
                  <a:lnTo>
                    <a:pt x="2150997" y="448383"/>
                  </a:lnTo>
                  <a:lnTo>
                    <a:pt x="2192651" y="427853"/>
                  </a:lnTo>
                  <a:lnTo>
                    <a:pt x="2229480" y="403797"/>
                  </a:lnTo>
                  <a:lnTo>
                    <a:pt x="2260907" y="376591"/>
                  </a:lnTo>
                  <a:lnTo>
                    <a:pt x="2286354" y="346615"/>
                  </a:lnTo>
                  <a:lnTo>
                    <a:pt x="2317004" y="279861"/>
                  </a:lnTo>
                  <a:lnTo>
                    <a:pt x="2321052" y="243839"/>
                  </a:lnTo>
                  <a:lnTo>
                    <a:pt x="2317004" y="207818"/>
                  </a:lnTo>
                  <a:lnTo>
                    <a:pt x="2286354" y="141064"/>
                  </a:lnTo>
                  <a:lnTo>
                    <a:pt x="2260907" y="111088"/>
                  </a:lnTo>
                  <a:lnTo>
                    <a:pt x="2229480" y="83882"/>
                  </a:lnTo>
                  <a:lnTo>
                    <a:pt x="2192651" y="59826"/>
                  </a:lnTo>
                  <a:lnTo>
                    <a:pt x="2150997" y="39296"/>
                  </a:lnTo>
                  <a:lnTo>
                    <a:pt x="2105095" y="22671"/>
                  </a:lnTo>
                  <a:lnTo>
                    <a:pt x="2055522" y="10327"/>
                  </a:lnTo>
                  <a:lnTo>
                    <a:pt x="2002855" y="2644"/>
                  </a:lnTo>
                  <a:lnTo>
                    <a:pt x="1947672" y="0"/>
                  </a:lnTo>
                  <a:close/>
                </a:path>
              </a:pathLst>
            </a:custGeom>
            <a:solidFill>
              <a:srgbClr val="DFC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9">
              <a:extLst>
                <a:ext uri="{FF2B5EF4-FFF2-40B4-BE49-F238E27FC236}">
                  <a16:creationId xmlns:a16="http://schemas.microsoft.com/office/drawing/2014/main" id="{5A3C694B-D4BE-6A9A-F652-CCFD201CCF27}"/>
                </a:ext>
              </a:extLst>
            </p:cNvPr>
            <p:cNvSpPr/>
            <p:nvPr/>
          </p:nvSpPr>
          <p:spPr>
            <a:xfrm>
              <a:off x="236982" y="2038350"/>
              <a:ext cx="2321560" cy="487680"/>
            </a:xfrm>
            <a:custGeom>
              <a:avLst/>
              <a:gdLst/>
              <a:ahLst/>
              <a:cxnLst/>
              <a:rect l="l" t="t" r="r" b="b"/>
              <a:pathLst>
                <a:path w="2321560" h="487680">
                  <a:moveTo>
                    <a:pt x="373405" y="0"/>
                  </a:moveTo>
                  <a:lnTo>
                    <a:pt x="1947672" y="0"/>
                  </a:lnTo>
                  <a:lnTo>
                    <a:pt x="2002855" y="2644"/>
                  </a:lnTo>
                  <a:lnTo>
                    <a:pt x="2055522" y="10327"/>
                  </a:lnTo>
                  <a:lnTo>
                    <a:pt x="2105095" y="22671"/>
                  </a:lnTo>
                  <a:lnTo>
                    <a:pt x="2150997" y="39296"/>
                  </a:lnTo>
                  <a:lnTo>
                    <a:pt x="2192651" y="59826"/>
                  </a:lnTo>
                  <a:lnTo>
                    <a:pt x="2229480" y="83882"/>
                  </a:lnTo>
                  <a:lnTo>
                    <a:pt x="2260907" y="111088"/>
                  </a:lnTo>
                  <a:lnTo>
                    <a:pt x="2286354" y="141064"/>
                  </a:lnTo>
                  <a:lnTo>
                    <a:pt x="2317004" y="207818"/>
                  </a:lnTo>
                  <a:lnTo>
                    <a:pt x="2321052" y="243839"/>
                  </a:lnTo>
                  <a:lnTo>
                    <a:pt x="2317004" y="279861"/>
                  </a:lnTo>
                  <a:lnTo>
                    <a:pt x="2286354" y="346615"/>
                  </a:lnTo>
                  <a:lnTo>
                    <a:pt x="2260907" y="376591"/>
                  </a:lnTo>
                  <a:lnTo>
                    <a:pt x="2229480" y="403797"/>
                  </a:lnTo>
                  <a:lnTo>
                    <a:pt x="2192651" y="427853"/>
                  </a:lnTo>
                  <a:lnTo>
                    <a:pt x="2150997" y="448383"/>
                  </a:lnTo>
                  <a:lnTo>
                    <a:pt x="2105095" y="465008"/>
                  </a:lnTo>
                  <a:lnTo>
                    <a:pt x="2055522" y="477352"/>
                  </a:lnTo>
                  <a:lnTo>
                    <a:pt x="2002855" y="485035"/>
                  </a:lnTo>
                  <a:lnTo>
                    <a:pt x="1947672" y="487680"/>
                  </a:lnTo>
                  <a:lnTo>
                    <a:pt x="373405" y="487680"/>
                  </a:lnTo>
                  <a:lnTo>
                    <a:pt x="318227" y="485035"/>
                  </a:lnTo>
                  <a:lnTo>
                    <a:pt x="265562" y="477352"/>
                  </a:lnTo>
                  <a:lnTo>
                    <a:pt x="215988" y="465008"/>
                  </a:lnTo>
                  <a:lnTo>
                    <a:pt x="170083" y="448383"/>
                  </a:lnTo>
                  <a:lnTo>
                    <a:pt x="128425" y="427853"/>
                  </a:lnTo>
                  <a:lnTo>
                    <a:pt x="91591" y="403797"/>
                  </a:lnTo>
                  <a:lnTo>
                    <a:pt x="60158" y="376591"/>
                  </a:lnTo>
                  <a:lnTo>
                    <a:pt x="34705" y="346615"/>
                  </a:lnTo>
                  <a:lnTo>
                    <a:pt x="4048" y="279861"/>
                  </a:lnTo>
                  <a:lnTo>
                    <a:pt x="0" y="243839"/>
                  </a:lnTo>
                  <a:lnTo>
                    <a:pt x="4048" y="207818"/>
                  </a:lnTo>
                  <a:lnTo>
                    <a:pt x="34705" y="141064"/>
                  </a:lnTo>
                  <a:lnTo>
                    <a:pt x="60158" y="111088"/>
                  </a:lnTo>
                  <a:lnTo>
                    <a:pt x="91591" y="83882"/>
                  </a:lnTo>
                  <a:lnTo>
                    <a:pt x="128425" y="59826"/>
                  </a:lnTo>
                  <a:lnTo>
                    <a:pt x="170083" y="39296"/>
                  </a:lnTo>
                  <a:lnTo>
                    <a:pt x="215988" y="22671"/>
                  </a:lnTo>
                  <a:lnTo>
                    <a:pt x="265562" y="10327"/>
                  </a:lnTo>
                  <a:lnTo>
                    <a:pt x="318227" y="2644"/>
                  </a:lnTo>
                  <a:lnTo>
                    <a:pt x="373405" y="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0">
            <a:extLst>
              <a:ext uri="{FF2B5EF4-FFF2-40B4-BE49-F238E27FC236}">
                <a16:creationId xmlns:a16="http://schemas.microsoft.com/office/drawing/2014/main" id="{853C3A68-0A22-F21F-5119-79F19F59DEA7}"/>
              </a:ext>
            </a:extLst>
          </p:cNvPr>
          <p:cNvSpPr txBox="1"/>
          <p:nvPr/>
        </p:nvSpPr>
        <p:spPr>
          <a:xfrm>
            <a:off x="347551" y="1411423"/>
            <a:ext cx="202900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Bookman Old Style" panose="02050604050505020204" pitchFamily="18" charset="0"/>
                <a:cs typeface="Times New Roman"/>
              </a:rPr>
              <a:t>Déterminer</a:t>
            </a:r>
            <a:r>
              <a:rPr sz="1200" b="1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la</a:t>
            </a:r>
            <a:r>
              <a:rPr sz="1200" b="1" spc="-5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spc="-10" dirty="0">
                <a:latin typeface="Bookman Old Style" panose="02050604050505020204" pitchFamily="18" charset="0"/>
                <a:cs typeface="Times New Roman"/>
              </a:rPr>
              <a:t>résistance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200" b="1" spc="-4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spc="-10" dirty="0">
                <a:latin typeface="Bookman Old Style" panose="02050604050505020204" pitchFamily="18" charset="0"/>
                <a:cs typeface="Times New Roman"/>
              </a:rPr>
              <a:t>Thévenin</a:t>
            </a:r>
            <a:endParaRPr sz="1200" dirty="0">
              <a:latin typeface="Bookman Old Style" panose="02050604050505020204" pitchFamily="18" charset="0"/>
              <a:cs typeface="Times New Roman"/>
            </a:endParaRPr>
          </a:p>
        </p:txBody>
      </p:sp>
      <p:grpSp>
        <p:nvGrpSpPr>
          <p:cNvPr id="23" name="object 21">
            <a:extLst>
              <a:ext uri="{FF2B5EF4-FFF2-40B4-BE49-F238E27FC236}">
                <a16:creationId xmlns:a16="http://schemas.microsoft.com/office/drawing/2014/main" id="{AE25CA16-7445-3C8B-16A8-F49339E641F1}"/>
              </a:ext>
            </a:extLst>
          </p:cNvPr>
          <p:cNvGrpSpPr/>
          <p:nvPr/>
        </p:nvGrpSpPr>
        <p:grpSpPr>
          <a:xfrm>
            <a:off x="5727192" y="1465325"/>
            <a:ext cx="390525" cy="253365"/>
            <a:chOff x="5844540" y="2148839"/>
            <a:chExt cx="390525" cy="253365"/>
          </a:xfrm>
        </p:grpSpPr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36BA5D1E-484F-30B2-6DF9-DC7B4068E5AC}"/>
                </a:ext>
              </a:extLst>
            </p:cNvPr>
            <p:cNvSpPr/>
            <p:nvPr/>
          </p:nvSpPr>
          <p:spPr>
            <a:xfrm>
              <a:off x="5849112" y="2153411"/>
              <a:ext cx="381000" cy="243840"/>
            </a:xfrm>
            <a:custGeom>
              <a:avLst/>
              <a:gdLst/>
              <a:ahLst/>
              <a:cxnLst/>
              <a:rect l="l" t="t" r="r" b="b"/>
              <a:pathLst>
                <a:path w="381000" h="243839">
                  <a:moveTo>
                    <a:pt x="259079" y="0"/>
                  </a:moveTo>
                  <a:lnTo>
                    <a:pt x="259079" y="60960"/>
                  </a:lnTo>
                  <a:lnTo>
                    <a:pt x="0" y="60960"/>
                  </a:lnTo>
                  <a:lnTo>
                    <a:pt x="0" y="182880"/>
                  </a:lnTo>
                  <a:lnTo>
                    <a:pt x="259079" y="182880"/>
                  </a:lnTo>
                  <a:lnTo>
                    <a:pt x="259079" y="243839"/>
                  </a:lnTo>
                  <a:lnTo>
                    <a:pt x="381000" y="121919"/>
                  </a:lnTo>
                  <a:lnTo>
                    <a:pt x="25907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3">
              <a:extLst>
                <a:ext uri="{FF2B5EF4-FFF2-40B4-BE49-F238E27FC236}">
                  <a16:creationId xmlns:a16="http://schemas.microsoft.com/office/drawing/2014/main" id="{3E0226BC-2372-3648-80DF-2D577EFDB24B}"/>
                </a:ext>
              </a:extLst>
            </p:cNvPr>
            <p:cNvSpPr/>
            <p:nvPr/>
          </p:nvSpPr>
          <p:spPr>
            <a:xfrm>
              <a:off x="5849112" y="2153411"/>
              <a:ext cx="381000" cy="243840"/>
            </a:xfrm>
            <a:custGeom>
              <a:avLst/>
              <a:gdLst/>
              <a:ahLst/>
              <a:cxnLst/>
              <a:rect l="l" t="t" r="r" b="b"/>
              <a:pathLst>
                <a:path w="381000" h="243839">
                  <a:moveTo>
                    <a:pt x="0" y="60960"/>
                  </a:moveTo>
                  <a:lnTo>
                    <a:pt x="259079" y="60960"/>
                  </a:lnTo>
                  <a:lnTo>
                    <a:pt x="259079" y="0"/>
                  </a:lnTo>
                  <a:lnTo>
                    <a:pt x="381000" y="121919"/>
                  </a:lnTo>
                  <a:lnTo>
                    <a:pt x="259079" y="243839"/>
                  </a:lnTo>
                  <a:lnTo>
                    <a:pt x="259079" y="182880"/>
                  </a:lnTo>
                  <a:lnTo>
                    <a:pt x="0" y="182880"/>
                  </a:lnTo>
                  <a:lnTo>
                    <a:pt x="0" y="6096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4">
            <a:extLst>
              <a:ext uri="{FF2B5EF4-FFF2-40B4-BE49-F238E27FC236}">
                <a16:creationId xmlns:a16="http://schemas.microsoft.com/office/drawing/2014/main" id="{E304E594-3572-D32C-7E00-B214B8EF46BD}"/>
              </a:ext>
            </a:extLst>
          </p:cNvPr>
          <p:cNvGrpSpPr/>
          <p:nvPr/>
        </p:nvGrpSpPr>
        <p:grpSpPr>
          <a:xfrm>
            <a:off x="6323075" y="1335786"/>
            <a:ext cx="2350135" cy="516890"/>
            <a:chOff x="6440423" y="2019300"/>
            <a:chExt cx="2350135" cy="516890"/>
          </a:xfrm>
        </p:grpSpPr>
        <p:sp>
          <p:nvSpPr>
            <p:cNvPr id="27" name="object 25">
              <a:extLst>
                <a:ext uri="{FF2B5EF4-FFF2-40B4-BE49-F238E27FC236}">
                  <a16:creationId xmlns:a16="http://schemas.microsoft.com/office/drawing/2014/main" id="{9C380DE4-8347-96B0-DBDA-2CCC6BEB61B4}"/>
                </a:ext>
              </a:extLst>
            </p:cNvPr>
            <p:cNvSpPr/>
            <p:nvPr/>
          </p:nvSpPr>
          <p:spPr>
            <a:xfrm>
              <a:off x="6454901" y="2033777"/>
              <a:ext cx="2321560" cy="487680"/>
            </a:xfrm>
            <a:custGeom>
              <a:avLst/>
              <a:gdLst/>
              <a:ahLst/>
              <a:cxnLst/>
              <a:rect l="l" t="t" r="r" b="b"/>
              <a:pathLst>
                <a:path w="2321559" h="487680">
                  <a:moveTo>
                    <a:pt x="1947672" y="0"/>
                  </a:moveTo>
                  <a:lnTo>
                    <a:pt x="373379" y="0"/>
                  </a:lnTo>
                  <a:lnTo>
                    <a:pt x="318196" y="2644"/>
                  </a:lnTo>
                  <a:lnTo>
                    <a:pt x="265529" y="10327"/>
                  </a:lnTo>
                  <a:lnTo>
                    <a:pt x="215956" y="22671"/>
                  </a:lnTo>
                  <a:lnTo>
                    <a:pt x="170054" y="39296"/>
                  </a:lnTo>
                  <a:lnTo>
                    <a:pt x="128400" y="59826"/>
                  </a:lnTo>
                  <a:lnTo>
                    <a:pt x="91571" y="83882"/>
                  </a:lnTo>
                  <a:lnTo>
                    <a:pt x="60144" y="111088"/>
                  </a:lnTo>
                  <a:lnTo>
                    <a:pt x="34697" y="141064"/>
                  </a:lnTo>
                  <a:lnTo>
                    <a:pt x="4047" y="207818"/>
                  </a:lnTo>
                  <a:lnTo>
                    <a:pt x="0" y="243840"/>
                  </a:lnTo>
                  <a:lnTo>
                    <a:pt x="4047" y="279861"/>
                  </a:lnTo>
                  <a:lnTo>
                    <a:pt x="34697" y="346615"/>
                  </a:lnTo>
                  <a:lnTo>
                    <a:pt x="60144" y="376591"/>
                  </a:lnTo>
                  <a:lnTo>
                    <a:pt x="91571" y="403797"/>
                  </a:lnTo>
                  <a:lnTo>
                    <a:pt x="128400" y="427853"/>
                  </a:lnTo>
                  <a:lnTo>
                    <a:pt x="170054" y="448383"/>
                  </a:lnTo>
                  <a:lnTo>
                    <a:pt x="215956" y="465008"/>
                  </a:lnTo>
                  <a:lnTo>
                    <a:pt x="265529" y="477352"/>
                  </a:lnTo>
                  <a:lnTo>
                    <a:pt x="318196" y="485035"/>
                  </a:lnTo>
                  <a:lnTo>
                    <a:pt x="373379" y="487680"/>
                  </a:lnTo>
                  <a:lnTo>
                    <a:pt x="1947672" y="487680"/>
                  </a:lnTo>
                  <a:lnTo>
                    <a:pt x="2002855" y="485035"/>
                  </a:lnTo>
                  <a:lnTo>
                    <a:pt x="2055522" y="477352"/>
                  </a:lnTo>
                  <a:lnTo>
                    <a:pt x="2105095" y="465008"/>
                  </a:lnTo>
                  <a:lnTo>
                    <a:pt x="2150997" y="448383"/>
                  </a:lnTo>
                  <a:lnTo>
                    <a:pt x="2192651" y="427853"/>
                  </a:lnTo>
                  <a:lnTo>
                    <a:pt x="2229480" y="403797"/>
                  </a:lnTo>
                  <a:lnTo>
                    <a:pt x="2260907" y="376591"/>
                  </a:lnTo>
                  <a:lnTo>
                    <a:pt x="2286354" y="346615"/>
                  </a:lnTo>
                  <a:lnTo>
                    <a:pt x="2317004" y="279861"/>
                  </a:lnTo>
                  <a:lnTo>
                    <a:pt x="2321052" y="243840"/>
                  </a:lnTo>
                  <a:lnTo>
                    <a:pt x="2317004" y="207818"/>
                  </a:lnTo>
                  <a:lnTo>
                    <a:pt x="2286354" y="141064"/>
                  </a:lnTo>
                  <a:lnTo>
                    <a:pt x="2260907" y="111088"/>
                  </a:lnTo>
                  <a:lnTo>
                    <a:pt x="2229480" y="83882"/>
                  </a:lnTo>
                  <a:lnTo>
                    <a:pt x="2192651" y="59826"/>
                  </a:lnTo>
                  <a:lnTo>
                    <a:pt x="2150997" y="39296"/>
                  </a:lnTo>
                  <a:lnTo>
                    <a:pt x="2105095" y="22671"/>
                  </a:lnTo>
                  <a:lnTo>
                    <a:pt x="2055522" y="10327"/>
                  </a:lnTo>
                  <a:lnTo>
                    <a:pt x="2002855" y="2644"/>
                  </a:lnTo>
                  <a:lnTo>
                    <a:pt x="1947672" y="0"/>
                  </a:lnTo>
                  <a:close/>
                </a:path>
              </a:pathLst>
            </a:custGeom>
            <a:solidFill>
              <a:srgbClr val="DFC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6">
              <a:extLst>
                <a:ext uri="{FF2B5EF4-FFF2-40B4-BE49-F238E27FC236}">
                  <a16:creationId xmlns:a16="http://schemas.microsoft.com/office/drawing/2014/main" id="{B7A1217D-B296-E205-0FBE-035B73523B5D}"/>
                </a:ext>
              </a:extLst>
            </p:cNvPr>
            <p:cNvSpPr/>
            <p:nvPr/>
          </p:nvSpPr>
          <p:spPr>
            <a:xfrm>
              <a:off x="6454901" y="2033777"/>
              <a:ext cx="2321560" cy="487680"/>
            </a:xfrm>
            <a:custGeom>
              <a:avLst/>
              <a:gdLst/>
              <a:ahLst/>
              <a:cxnLst/>
              <a:rect l="l" t="t" r="r" b="b"/>
              <a:pathLst>
                <a:path w="2321559" h="487680">
                  <a:moveTo>
                    <a:pt x="373379" y="0"/>
                  </a:moveTo>
                  <a:lnTo>
                    <a:pt x="1947672" y="0"/>
                  </a:lnTo>
                  <a:lnTo>
                    <a:pt x="2002855" y="2644"/>
                  </a:lnTo>
                  <a:lnTo>
                    <a:pt x="2055522" y="10327"/>
                  </a:lnTo>
                  <a:lnTo>
                    <a:pt x="2105095" y="22671"/>
                  </a:lnTo>
                  <a:lnTo>
                    <a:pt x="2150997" y="39296"/>
                  </a:lnTo>
                  <a:lnTo>
                    <a:pt x="2192651" y="59826"/>
                  </a:lnTo>
                  <a:lnTo>
                    <a:pt x="2229480" y="83882"/>
                  </a:lnTo>
                  <a:lnTo>
                    <a:pt x="2260907" y="111088"/>
                  </a:lnTo>
                  <a:lnTo>
                    <a:pt x="2286354" y="141064"/>
                  </a:lnTo>
                  <a:lnTo>
                    <a:pt x="2317004" y="207818"/>
                  </a:lnTo>
                  <a:lnTo>
                    <a:pt x="2321052" y="243840"/>
                  </a:lnTo>
                  <a:lnTo>
                    <a:pt x="2317004" y="279861"/>
                  </a:lnTo>
                  <a:lnTo>
                    <a:pt x="2286354" y="346615"/>
                  </a:lnTo>
                  <a:lnTo>
                    <a:pt x="2260907" y="376591"/>
                  </a:lnTo>
                  <a:lnTo>
                    <a:pt x="2229480" y="403797"/>
                  </a:lnTo>
                  <a:lnTo>
                    <a:pt x="2192651" y="427853"/>
                  </a:lnTo>
                  <a:lnTo>
                    <a:pt x="2150997" y="448383"/>
                  </a:lnTo>
                  <a:lnTo>
                    <a:pt x="2105095" y="465008"/>
                  </a:lnTo>
                  <a:lnTo>
                    <a:pt x="2055522" y="477352"/>
                  </a:lnTo>
                  <a:lnTo>
                    <a:pt x="2002855" y="485035"/>
                  </a:lnTo>
                  <a:lnTo>
                    <a:pt x="1947672" y="487680"/>
                  </a:lnTo>
                  <a:lnTo>
                    <a:pt x="373379" y="487680"/>
                  </a:lnTo>
                  <a:lnTo>
                    <a:pt x="318196" y="485035"/>
                  </a:lnTo>
                  <a:lnTo>
                    <a:pt x="265529" y="477352"/>
                  </a:lnTo>
                  <a:lnTo>
                    <a:pt x="215956" y="465008"/>
                  </a:lnTo>
                  <a:lnTo>
                    <a:pt x="170054" y="448383"/>
                  </a:lnTo>
                  <a:lnTo>
                    <a:pt x="128400" y="427853"/>
                  </a:lnTo>
                  <a:lnTo>
                    <a:pt x="91571" y="403797"/>
                  </a:lnTo>
                  <a:lnTo>
                    <a:pt x="60144" y="376591"/>
                  </a:lnTo>
                  <a:lnTo>
                    <a:pt x="34697" y="346615"/>
                  </a:lnTo>
                  <a:lnTo>
                    <a:pt x="4047" y="279861"/>
                  </a:lnTo>
                  <a:lnTo>
                    <a:pt x="0" y="243840"/>
                  </a:lnTo>
                  <a:lnTo>
                    <a:pt x="4047" y="207818"/>
                  </a:lnTo>
                  <a:lnTo>
                    <a:pt x="34697" y="141064"/>
                  </a:lnTo>
                  <a:lnTo>
                    <a:pt x="60144" y="111088"/>
                  </a:lnTo>
                  <a:lnTo>
                    <a:pt x="91571" y="83882"/>
                  </a:lnTo>
                  <a:lnTo>
                    <a:pt x="128400" y="59826"/>
                  </a:lnTo>
                  <a:lnTo>
                    <a:pt x="170054" y="39296"/>
                  </a:lnTo>
                  <a:lnTo>
                    <a:pt x="215956" y="22671"/>
                  </a:lnTo>
                  <a:lnTo>
                    <a:pt x="265529" y="10327"/>
                  </a:lnTo>
                  <a:lnTo>
                    <a:pt x="318196" y="2644"/>
                  </a:lnTo>
                  <a:lnTo>
                    <a:pt x="373379" y="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7">
            <a:extLst>
              <a:ext uri="{FF2B5EF4-FFF2-40B4-BE49-F238E27FC236}">
                <a16:creationId xmlns:a16="http://schemas.microsoft.com/office/drawing/2014/main" id="{43E9A6B2-481C-3BF0-D284-68245297341B}"/>
              </a:ext>
            </a:extLst>
          </p:cNvPr>
          <p:cNvSpPr txBox="1"/>
          <p:nvPr/>
        </p:nvSpPr>
        <p:spPr>
          <a:xfrm>
            <a:off x="6206529" y="1394774"/>
            <a:ext cx="2630233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fr-FR"/>
            </a:defPPr>
            <a:lvl1pPr marL="241300" marR="5080" indent="-228600">
              <a:lnSpc>
                <a:spcPct val="100000"/>
              </a:lnSpc>
              <a:spcBef>
                <a:spcPts val="100"/>
              </a:spcBef>
              <a:defRPr sz="1200" b="1">
                <a:latin typeface="Bookman Old Style" panose="02050604050505020204" pitchFamily="18" charset="0"/>
                <a:cs typeface="Times New Roman"/>
              </a:defRPr>
            </a:lvl1pPr>
          </a:lstStyle>
          <a:p>
            <a:pPr algn="ctr"/>
            <a:r>
              <a:rPr dirty="0"/>
              <a:t>Former</a:t>
            </a:r>
            <a:r>
              <a:rPr lang="fr-FR" dirty="0"/>
              <a:t> le</a:t>
            </a:r>
            <a:r>
              <a:rPr dirty="0"/>
              <a:t> circuit</a:t>
            </a:r>
            <a:endParaRPr lang="fr-FR" dirty="0"/>
          </a:p>
          <a:p>
            <a:pPr algn="ctr"/>
            <a:r>
              <a:rPr dirty="0"/>
              <a:t> équivalent</a:t>
            </a:r>
          </a:p>
        </p:txBody>
      </p:sp>
      <p:grpSp>
        <p:nvGrpSpPr>
          <p:cNvPr id="30" name="object 28">
            <a:extLst>
              <a:ext uri="{FF2B5EF4-FFF2-40B4-BE49-F238E27FC236}">
                <a16:creationId xmlns:a16="http://schemas.microsoft.com/office/drawing/2014/main" id="{92AAE79A-A420-6DE3-EC58-32513CB6CFF4}"/>
              </a:ext>
            </a:extLst>
          </p:cNvPr>
          <p:cNvGrpSpPr/>
          <p:nvPr/>
        </p:nvGrpSpPr>
        <p:grpSpPr>
          <a:xfrm>
            <a:off x="2549652" y="1442465"/>
            <a:ext cx="390525" cy="253365"/>
            <a:chOff x="2667000" y="2125979"/>
            <a:chExt cx="390525" cy="253365"/>
          </a:xfrm>
        </p:grpSpPr>
        <p:sp>
          <p:nvSpPr>
            <p:cNvPr id="31" name="object 29">
              <a:extLst>
                <a:ext uri="{FF2B5EF4-FFF2-40B4-BE49-F238E27FC236}">
                  <a16:creationId xmlns:a16="http://schemas.microsoft.com/office/drawing/2014/main" id="{4FA832E3-2EC8-5801-36CC-AAF0082E8C09}"/>
                </a:ext>
              </a:extLst>
            </p:cNvPr>
            <p:cNvSpPr/>
            <p:nvPr/>
          </p:nvSpPr>
          <p:spPr>
            <a:xfrm>
              <a:off x="2671572" y="2130551"/>
              <a:ext cx="381000" cy="243840"/>
            </a:xfrm>
            <a:custGeom>
              <a:avLst/>
              <a:gdLst/>
              <a:ahLst/>
              <a:cxnLst/>
              <a:rect l="l" t="t" r="r" b="b"/>
              <a:pathLst>
                <a:path w="381000" h="243839">
                  <a:moveTo>
                    <a:pt x="259079" y="0"/>
                  </a:moveTo>
                  <a:lnTo>
                    <a:pt x="259079" y="60960"/>
                  </a:lnTo>
                  <a:lnTo>
                    <a:pt x="0" y="60960"/>
                  </a:lnTo>
                  <a:lnTo>
                    <a:pt x="0" y="182880"/>
                  </a:lnTo>
                  <a:lnTo>
                    <a:pt x="259079" y="182880"/>
                  </a:lnTo>
                  <a:lnTo>
                    <a:pt x="259079" y="243840"/>
                  </a:lnTo>
                  <a:lnTo>
                    <a:pt x="381000" y="121920"/>
                  </a:lnTo>
                  <a:lnTo>
                    <a:pt x="25907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0">
              <a:extLst>
                <a:ext uri="{FF2B5EF4-FFF2-40B4-BE49-F238E27FC236}">
                  <a16:creationId xmlns:a16="http://schemas.microsoft.com/office/drawing/2014/main" id="{B0A9F30D-B031-CEA7-FB37-E4C685FB7B43}"/>
                </a:ext>
              </a:extLst>
            </p:cNvPr>
            <p:cNvSpPr/>
            <p:nvPr/>
          </p:nvSpPr>
          <p:spPr>
            <a:xfrm>
              <a:off x="2671572" y="2130551"/>
              <a:ext cx="381000" cy="243840"/>
            </a:xfrm>
            <a:custGeom>
              <a:avLst/>
              <a:gdLst/>
              <a:ahLst/>
              <a:cxnLst/>
              <a:rect l="l" t="t" r="r" b="b"/>
              <a:pathLst>
                <a:path w="381000" h="243839">
                  <a:moveTo>
                    <a:pt x="0" y="60960"/>
                  </a:moveTo>
                  <a:lnTo>
                    <a:pt x="259079" y="60960"/>
                  </a:lnTo>
                  <a:lnTo>
                    <a:pt x="259079" y="0"/>
                  </a:lnTo>
                  <a:lnTo>
                    <a:pt x="381000" y="121920"/>
                  </a:lnTo>
                  <a:lnTo>
                    <a:pt x="259079" y="243840"/>
                  </a:lnTo>
                  <a:lnTo>
                    <a:pt x="259079" y="182880"/>
                  </a:lnTo>
                  <a:lnTo>
                    <a:pt x="0" y="182880"/>
                  </a:lnTo>
                  <a:lnTo>
                    <a:pt x="0" y="6096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31">
            <a:extLst>
              <a:ext uri="{FF2B5EF4-FFF2-40B4-BE49-F238E27FC236}">
                <a16:creationId xmlns:a16="http://schemas.microsoft.com/office/drawing/2014/main" id="{92504503-6907-DD0C-DFB6-D086E4CA83D6}"/>
              </a:ext>
            </a:extLst>
          </p:cNvPr>
          <p:cNvGrpSpPr/>
          <p:nvPr/>
        </p:nvGrpSpPr>
        <p:grpSpPr>
          <a:xfrm>
            <a:off x="3124200" y="1352550"/>
            <a:ext cx="2350135" cy="518159"/>
            <a:chOff x="3241548" y="2036064"/>
            <a:chExt cx="2350135" cy="518159"/>
          </a:xfrm>
        </p:grpSpPr>
        <p:sp>
          <p:nvSpPr>
            <p:cNvPr id="47" name="object 32">
              <a:extLst>
                <a:ext uri="{FF2B5EF4-FFF2-40B4-BE49-F238E27FC236}">
                  <a16:creationId xmlns:a16="http://schemas.microsoft.com/office/drawing/2014/main" id="{7EDB3BF2-B014-A00A-E5BB-E9F9BDF3B984}"/>
                </a:ext>
              </a:extLst>
            </p:cNvPr>
            <p:cNvSpPr/>
            <p:nvPr/>
          </p:nvSpPr>
          <p:spPr>
            <a:xfrm>
              <a:off x="3256026" y="2050542"/>
              <a:ext cx="2321560" cy="489584"/>
            </a:xfrm>
            <a:custGeom>
              <a:avLst/>
              <a:gdLst/>
              <a:ahLst/>
              <a:cxnLst/>
              <a:rect l="l" t="t" r="r" b="b"/>
              <a:pathLst>
                <a:path w="2321560" h="489585">
                  <a:moveTo>
                    <a:pt x="1947672" y="0"/>
                  </a:moveTo>
                  <a:lnTo>
                    <a:pt x="373379" y="0"/>
                  </a:lnTo>
                  <a:lnTo>
                    <a:pt x="318196" y="2651"/>
                  </a:lnTo>
                  <a:lnTo>
                    <a:pt x="265529" y="10353"/>
                  </a:lnTo>
                  <a:lnTo>
                    <a:pt x="215956" y="22727"/>
                  </a:lnTo>
                  <a:lnTo>
                    <a:pt x="170054" y="39397"/>
                  </a:lnTo>
                  <a:lnTo>
                    <a:pt x="128400" y="59983"/>
                  </a:lnTo>
                  <a:lnTo>
                    <a:pt x="91571" y="84109"/>
                  </a:lnTo>
                  <a:lnTo>
                    <a:pt x="60144" y="111396"/>
                  </a:lnTo>
                  <a:lnTo>
                    <a:pt x="34697" y="141467"/>
                  </a:lnTo>
                  <a:lnTo>
                    <a:pt x="4047" y="208447"/>
                  </a:lnTo>
                  <a:lnTo>
                    <a:pt x="0" y="244601"/>
                  </a:lnTo>
                  <a:lnTo>
                    <a:pt x="4047" y="280756"/>
                  </a:lnTo>
                  <a:lnTo>
                    <a:pt x="34697" y="347736"/>
                  </a:lnTo>
                  <a:lnTo>
                    <a:pt x="60144" y="377807"/>
                  </a:lnTo>
                  <a:lnTo>
                    <a:pt x="91571" y="405094"/>
                  </a:lnTo>
                  <a:lnTo>
                    <a:pt x="128400" y="429220"/>
                  </a:lnTo>
                  <a:lnTo>
                    <a:pt x="170054" y="449806"/>
                  </a:lnTo>
                  <a:lnTo>
                    <a:pt x="215956" y="466476"/>
                  </a:lnTo>
                  <a:lnTo>
                    <a:pt x="265529" y="478850"/>
                  </a:lnTo>
                  <a:lnTo>
                    <a:pt x="318196" y="486552"/>
                  </a:lnTo>
                  <a:lnTo>
                    <a:pt x="373379" y="489203"/>
                  </a:lnTo>
                  <a:lnTo>
                    <a:pt x="1947672" y="489203"/>
                  </a:lnTo>
                  <a:lnTo>
                    <a:pt x="2002855" y="486552"/>
                  </a:lnTo>
                  <a:lnTo>
                    <a:pt x="2055522" y="478850"/>
                  </a:lnTo>
                  <a:lnTo>
                    <a:pt x="2105095" y="466476"/>
                  </a:lnTo>
                  <a:lnTo>
                    <a:pt x="2150997" y="449806"/>
                  </a:lnTo>
                  <a:lnTo>
                    <a:pt x="2192651" y="429220"/>
                  </a:lnTo>
                  <a:lnTo>
                    <a:pt x="2229480" y="405094"/>
                  </a:lnTo>
                  <a:lnTo>
                    <a:pt x="2260907" y="377807"/>
                  </a:lnTo>
                  <a:lnTo>
                    <a:pt x="2286354" y="347736"/>
                  </a:lnTo>
                  <a:lnTo>
                    <a:pt x="2317004" y="280756"/>
                  </a:lnTo>
                  <a:lnTo>
                    <a:pt x="2321052" y="244601"/>
                  </a:lnTo>
                  <a:lnTo>
                    <a:pt x="2317004" y="208447"/>
                  </a:lnTo>
                  <a:lnTo>
                    <a:pt x="2286354" y="141467"/>
                  </a:lnTo>
                  <a:lnTo>
                    <a:pt x="2260907" y="111396"/>
                  </a:lnTo>
                  <a:lnTo>
                    <a:pt x="2229480" y="84109"/>
                  </a:lnTo>
                  <a:lnTo>
                    <a:pt x="2192651" y="59983"/>
                  </a:lnTo>
                  <a:lnTo>
                    <a:pt x="2150997" y="39397"/>
                  </a:lnTo>
                  <a:lnTo>
                    <a:pt x="2105095" y="22727"/>
                  </a:lnTo>
                  <a:lnTo>
                    <a:pt x="2055522" y="10353"/>
                  </a:lnTo>
                  <a:lnTo>
                    <a:pt x="2002855" y="2651"/>
                  </a:lnTo>
                  <a:lnTo>
                    <a:pt x="1947672" y="0"/>
                  </a:lnTo>
                  <a:close/>
                </a:path>
              </a:pathLst>
            </a:custGeom>
            <a:solidFill>
              <a:srgbClr val="DFC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33">
              <a:extLst>
                <a:ext uri="{FF2B5EF4-FFF2-40B4-BE49-F238E27FC236}">
                  <a16:creationId xmlns:a16="http://schemas.microsoft.com/office/drawing/2014/main" id="{BAB46B38-D302-552E-B67D-7FDF7C15C98F}"/>
                </a:ext>
              </a:extLst>
            </p:cNvPr>
            <p:cNvSpPr/>
            <p:nvPr/>
          </p:nvSpPr>
          <p:spPr>
            <a:xfrm>
              <a:off x="3256026" y="2050542"/>
              <a:ext cx="2321560" cy="489584"/>
            </a:xfrm>
            <a:custGeom>
              <a:avLst/>
              <a:gdLst/>
              <a:ahLst/>
              <a:cxnLst/>
              <a:rect l="l" t="t" r="r" b="b"/>
              <a:pathLst>
                <a:path w="2321560" h="489585">
                  <a:moveTo>
                    <a:pt x="373379" y="0"/>
                  </a:moveTo>
                  <a:lnTo>
                    <a:pt x="1947672" y="0"/>
                  </a:lnTo>
                  <a:lnTo>
                    <a:pt x="2002855" y="2651"/>
                  </a:lnTo>
                  <a:lnTo>
                    <a:pt x="2055522" y="10353"/>
                  </a:lnTo>
                  <a:lnTo>
                    <a:pt x="2105095" y="22727"/>
                  </a:lnTo>
                  <a:lnTo>
                    <a:pt x="2150997" y="39397"/>
                  </a:lnTo>
                  <a:lnTo>
                    <a:pt x="2192651" y="59983"/>
                  </a:lnTo>
                  <a:lnTo>
                    <a:pt x="2229480" y="84109"/>
                  </a:lnTo>
                  <a:lnTo>
                    <a:pt x="2260907" y="111396"/>
                  </a:lnTo>
                  <a:lnTo>
                    <a:pt x="2286354" y="141467"/>
                  </a:lnTo>
                  <a:lnTo>
                    <a:pt x="2317004" y="208447"/>
                  </a:lnTo>
                  <a:lnTo>
                    <a:pt x="2321052" y="244601"/>
                  </a:lnTo>
                  <a:lnTo>
                    <a:pt x="2317004" y="280756"/>
                  </a:lnTo>
                  <a:lnTo>
                    <a:pt x="2286354" y="347736"/>
                  </a:lnTo>
                  <a:lnTo>
                    <a:pt x="2260907" y="377807"/>
                  </a:lnTo>
                  <a:lnTo>
                    <a:pt x="2229480" y="405094"/>
                  </a:lnTo>
                  <a:lnTo>
                    <a:pt x="2192651" y="429220"/>
                  </a:lnTo>
                  <a:lnTo>
                    <a:pt x="2150997" y="449806"/>
                  </a:lnTo>
                  <a:lnTo>
                    <a:pt x="2105095" y="466476"/>
                  </a:lnTo>
                  <a:lnTo>
                    <a:pt x="2055522" y="478850"/>
                  </a:lnTo>
                  <a:lnTo>
                    <a:pt x="2002855" y="486552"/>
                  </a:lnTo>
                  <a:lnTo>
                    <a:pt x="1947672" y="489203"/>
                  </a:lnTo>
                  <a:lnTo>
                    <a:pt x="373379" y="489203"/>
                  </a:lnTo>
                  <a:lnTo>
                    <a:pt x="318196" y="486552"/>
                  </a:lnTo>
                  <a:lnTo>
                    <a:pt x="265529" y="478850"/>
                  </a:lnTo>
                  <a:lnTo>
                    <a:pt x="215956" y="466476"/>
                  </a:lnTo>
                  <a:lnTo>
                    <a:pt x="170054" y="449806"/>
                  </a:lnTo>
                  <a:lnTo>
                    <a:pt x="128400" y="429220"/>
                  </a:lnTo>
                  <a:lnTo>
                    <a:pt x="91571" y="405094"/>
                  </a:lnTo>
                  <a:lnTo>
                    <a:pt x="60144" y="377807"/>
                  </a:lnTo>
                  <a:lnTo>
                    <a:pt x="34697" y="347736"/>
                  </a:lnTo>
                  <a:lnTo>
                    <a:pt x="4047" y="280756"/>
                  </a:lnTo>
                  <a:lnTo>
                    <a:pt x="0" y="244601"/>
                  </a:lnTo>
                  <a:lnTo>
                    <a:pt x="4047" y="208447"/>
                  </a:lnTo>
                  <a:lnTo>
                    <a:pt x="34697" y="141467"/>
                  </a:lnTo>
                  <a:lnTo>
                    <a:pt x="60144" y="111396"/>
                  </a:lnTo>
                  <a:lnTo>
                    <a:pt x="91571" y="84109"/>
                  </a:lnTo>
                  <a:lnTo>
                    <a:pt x="128400" y="59983"/>
                  </a:lnTo>
                  <a:lnTo>
                    <a:pt x="170054" y="39397"/>
                  </a:lnTo>
                  <a:lnTo>
                    <a:pt x="215956" y="22727"/>
                  </a:lnTo>
                  <a:lnTo>
                    <a:pt x="265529" y="10353"/>
                  </a:lnTo>
                  <a:lnTo>
                    <a:pt x="318196" y="2651"/>
                  </a:lnTo>
                  <a:lnTo>
                    <a:pt x="373379" y="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34">
            <a:extLst>
              <a:ext uri="{FF2B5EF4-FFF2-40B4-BE49-F238E27FC236}">
                <a16:creationId xmlns:a16="http://schemas.microsoft.com/office/drawing/2014/main" id="{7CED4641-3B2B-C19E-F81E-7B731BBA65CF}"/>
              </a:ext>
            </a:extLst>
          </p:cNvPr>
          <p:cNvSpPr txBox="1"/>
          <p:nvPr/>
        </p:nvSpPr>
        <p:spPr>
          <a:xfrm>
            <a:off x="3419804" y="1407598"/>
            <a:ext cx="197878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fr-FR"/>
            </a:defPPr>
            <a:lvl1pPr marL="241300" marR="5080" indent="-228600">
              <a:lnSpc>
                <a:spcPct val="100000"/>
              </a:lnSpc>
              <a:spcBef>
                <a:spcPts val="100"/>
              </a:spcBef>
              <a:defRPr sz="1200" b="1">
                <a:latin typeface="Bookman Old Style" panose="02050604050505020204" pitchFamily="18" charset="0"/>
                <a:cs typeface="Times New Roman"/>
              </a:defRPr>
            </a:lvl1pPr>
          </a:lstStyle>
          <a:p>
            <a:r>
              <a:rPr dirty="0"/>
              <a:t>Déterminer la tension de Thévenin</a:t>
            </a:r>
          </a:p>
        </p:txBody>
      </p:sp>
      <p:sp>
        <p:nvSpPr>
          <p:cNvPr id="50" name="object 35">
            <a:extLst>
              <a:ext uri="{FF2B5EF4-FFF2-40B4-BE49-F238E27FC236}">
                <a16:creationId xmlns:a16="http://schemas.microsoft.com/office/drawing/2014/main" id="{A6974A6C-8065-CEB2-DB39-9D8D12151921}"/>
              </a:ext>
            </a:extLst>
          </p:cNvPr>
          <p:cNvSpPr txBox="1"/>
          <p:nvPr/>
        </p:nvSpPr>
        <p:spPr>
          <a:xfrm>
            <a:off x="369214" y="1983231"/>
            <a:ext cx="20719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Débrancher</a:t>
            </a:r>
            <a:r>
              <a:rPr sz="1100" b="1" spc="-4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la</a:t>
            </a:r>
            <a:r>
              <a:rPr sz="1100" b="1" spc="-3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charge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51" name="object 36">
            <a:extLst>
              <a:ext uri="{FF2B5EF4-FFF2-40B4-BE49-F238E27FC236}">
                <a16:creationId xmlns:a16="http://schemas.microsoft.com/office/drawing/2014/main" id="{222E249E-AF5B-8F7B-7D7B-B6C8817F6FAD}"/>
              </a:ext>
            </a:extLst>
          </p:cNvPr>
          <p:cNvSpPr txBox="1"/>
          <p:nvPr/>
        </p:nvSpPr>
        <p:spPr>
          <a:xfrm>
            <a:off x="369214" y="2348991"/>
            <a:ext cx="224218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Éteindre</a:t>
            </a:r>
            <a:r>
              <a:rPr sz="1100" b="1" spc="-4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les</a:t>
            </a:r>
            <a:r>
              <a:rPr sz="1100" b="1" spc="-2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sources</a:t>
            </a:r>
            <a:r>
              <a:rPr sz="1100" b="1" spc="-4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d'énergie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52" name="object 37">
            <a:extLst>
              <a:ext uri="{FF2B5EF4-FFF2-40B4-BE49-F238E27FC236}">
                <a16:creationId xmlns:a16="http://schemas.microsoft.com/office/drawing/2014/main" id="{A11AB0D2-BDD5-BB49-F371-DF445AA4E0B6}"/>
              </a:ext>
            </a:extLst>
          </p:cNvPr>
          <p:cNvSpPr txBox="1"/>
          <p:nvPr/>
        </p:nvSpPr>
        <p:spPr>
          <a:xfrm>
            <a:off x="674014" y="2715132"/>
            <a:ext cx="249745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 indent="-124460">
              <a:lnSpc>
                <a:spcPct val="100000"/>
              </a:lnSpc>
              <a:spcBef>
                <a:spcPts val="100"/>
              </a:spcBef>
              <a:buChar char="&gt;"/>
              <a:tabLst>
                <a:tab pos="137160" algn="l"/>
              </a:tabLst>
            </a:pPr>
            <a:r>
              <a:rPr sz="1100" b="1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Source</a:t>
            </a:r>
            <a:r>
              <a:rPr sz="1100" b="1" spc="-5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100" b="1" spc="-20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tension</a:t>
            </a:r>
            <a:r>
              <a:rPr sz="1100" b="1" spc="-5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 err="1">
                <a:solidFill>
                  <a:schemeClr val="accent2"/>
                </a:solidFill>
                <a:latin typeface="Bookman Old Style" panose="02050604050505020204" pitchFamily="18" charset="0"/>
                <a:cs typeface="Times New Roman"/>
              </a:rPr>
              <a:t>Equi</a:t>
            </a:r>
            <a:r>
              <a:rPr sz="1100" b="1" spc="-35" dirty="0">
                <a:solidFill>
                  <a:srgbClr val="FF00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court-circuit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53" name="object 38">
            <a:extLst>
              <a:ext uri="{FF2B5EF4-FFF2-40B4-BE49-F238E27FC236}">
                <a16:creationId xmlns:a16="http://schemas.microsoft.com/office/drawing/2014/main" id="{A4843965-5032-9A7C-3769-CD144E4B454F}"/>
              </a:ext>
            </a:extLst>
          </p:cNvPr>
          <p:cNvSpPr txBox="1"/>
          <p:nvPr/>
        </p:nvSpPr>
        <p:spPr>
          <a:xfrm>
            <a:off x="635914" y="3263747"/>
            <a:ext cx="3326486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890" indent="-123189">
              <a:lnSpc>
                <a:spcPct val="100000"/>
              </a:lnSpc>
              <a:spcBef>
                <a:spcPts val="100"/>
              </a:spcBef>
              <a:buFont typeface="Times New Roman"/>
              <a:buChar char="&gt;"/>
              <a:tabLst>
                <a:tab pos="135890" algn="l"/>
              </a:tabLst>
            </a:pPr>
            <a:r>
              <a:rPr sz="1100" b="1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Source</a:t>
            </a:r>
            <a:r>
              <a:rPr sz="1100" b="1" spc="-5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100" b="1" spc="-20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courant</a:t>
            </a:r>
            <a:r>
              <a:rPr sz="1100" b="1" spc="-5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 err="1">
                <a:solidFill>
                  <a:schemeClr val="accent2"/>
                </a:solidFill>
                <a:latin typeface="Bookman Old Style" panose="02050604050505020204" pitchFamily="18" charset="0"/>
                <a:cs typeface="Times New Roman"/>
              </a:rPr>
              <a:t>Equi</a:t>
            </a:r>
            <a:r>
              <a:rPr sz="1100" b="1" spc="-30" dirty="0">
                <a:solidFill>
                  <a:schemeClr val="accent2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 smtClean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circuit</a:t>
            </a:r>
            <a:r>
              <a:rPr lang="en-US" sz="1100" b="1" spc="-10" dirty="0" smtClean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en-US" sz="1100" b="1" spc="-10" dirty="0" err="1" smtClean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ouvert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54" name="object 39">
            <a:extLst>
              <a:ext uri="{FF2B5EF4-FFF2-40B4-BE49-F238E27FC236}">
                <a16:creationId xmlns:a16="http://schemas.microsoft.com/office/drawing/2014/main" id="{90BF6D90-87DF-D3ED-93A0-C77A61EBD4D2}"/>
              </a:ext>
            </a:extLst>
          </p:cNvPr>
          <p:cNvSpPr txBox="1"/>
          <p:nvPr/>
        </p:nvSpPr>
        <p:spPr>
          <a:xfrm>
            <a:off x="3260931" y="1981997"/>
            <a:ext cx="317690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Débrancher</a:t>
            </a:r>
            <a:r>
              <a:rPr sz="1100" b="1" spc="-3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la</a:t>
            </a:r>
            <a:r>
              <a:rPr sz="1100" b="1" spc="-3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charge</a:t>
            </a: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(tension</a:t>
            </a:r>
            <a:r>
              <a:rPr sz="1100" b="1" spc="-1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à</a:t>
            </a:r>
            <a:r>
              <a:rPr sz="1100" b="1" spc="-1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2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vide)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55" name="object 40">
            <a:extLst>
              <a:ext uri="{FF2B5EF4-FFF2-40B4-BE49-F238E27FC236}">
                <a16:creationId xmlns:a16="http://schemas.microsoft.com/office/drawing/2014/main" id="{3CC8AD80-4666-6B42-A389-42601CF7EC41}"/>
              </a:ext>
            </a:extLst>
          </p:cNvPr>
          <p:cNvSpPr txBox="1"/>
          <p:nvPr/>
        </p:nvSpPr>
        <p:spPr>
          <a:xfrm>
            <a:off x="3188169" y="2296983"/>
            <a:ext cx="292459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86385" algn="ctr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6385" algn="l"/>
              </a:tabLst>
            </a:pP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Appliquer</a:t>
            </a:r>
            <a:r>
              <a:rPr sz="1100" b="1" spc="-6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 err="1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différent</a:t>
            </a:r>
            <a:r>
              <a:rPr sz="1100" b="1" spc="-1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 err="1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outil</a:t>
            </a:r>
            <a:r>
              <a:rPr lang="fr-FR"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s</a:t>
            </a:r>
            <a:r>
              <a:rPr sz="1100" b="1" spc="-1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100" b="1" spc="-1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 err="1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calcul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  <a:p>
            <a:pPr marL="22860" algn="ctr">
              <a:lnSpc>
                <a:spcPct val="100000"/>
              </a:lnSpc>
            </a:pP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(Pont</a:t>
            </a: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deviseur</a:t>
            </a:r>
            <a:r>
              <a:rPr sz="1100" b="1" spc="-3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tension</a:t>
            </a:r>
            <a:r>
              <a:rPr sz="1100" b="1" spc="-2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etc)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56" name="object 41">
            <a:extLst>
              <a:ext uri="{FF2B5EF4-FFF2-40B4-BE49-F238E27FC236}">
                <a16:creationId xmlns:a16="http://schemas.microsoft.com/office/drawing/2014/main" id="{C93684AE-65EE-B03D-3398-86AC5B27B5CB}"/>
              </a:ext>
            </a:extLst>
          </p:cNvPr>
          <p:cNvSpPr txBox="1"/>
          <p:nvPr/>
        </p:nvSpPr>
        <p:spPr>
          <a:xfrm>
            <a:off x="6458838" y="1974722"/>
            <a:ext cx="2106778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Brancher</a:t>
            </a:r>
            <a:r>
              <a:rPr sz="1100" b="1" spc="-4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la</a:t>
            </a:r>
            <a:r>
              <a:rPr sz="1100" b="1" spc="-1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charge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57" name="object 42">
            <a:extLst>
              <a:ext uri="{FF2B5EF4-FFF2-40B4-BE49-F238E27FC236}">
                <a16:creationId xmlns:a16="http://schemas.microsoft.com/office/drawing/2014/main" id="{0F028ABE-9618-2F40-9A1E-02F049BDBA0D}"/>
              </a:ext>
            </a:extLst>
          </p:cNvPr>
          <p:cNvSpPr txBox="1"/>
          <p:nvPr/>
        </p:nvSpPr>
        <p:spPr>
          <a:xfrm>
            <a:off x="6458838" y="2388034"/>
            <a:ext cx="249745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 marR="5080" indent="-2895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17500" algn="l"/>
              </a:tabLst>
            </a:pPr>
            <a:r>
              <a:rPr sz="1100" b="1" dirty="0" err="1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Utiliser</a:t>
            </a:r>
            <a:r>
              <a:rPr sz="1100" b="1" spc="-3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la</a:t>
            </a:r>
            <a:r>
              <a:rPr sz="1100" b="1" spc="-2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tension</a:t>
            </a:r>
            <a:r>
              <a:rPr sz="1100" b="1" spc="-2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100" b="1" spc="-4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Thévenin 	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et</a:t>
            </a:r>
            <a:r>
              <a:rPr lang="fr-FR"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la </a:t>
            </a:r>
            <a:r>
              <a:rPr sz="1100" b="1" spc="-2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résistance</a:t>
            </a: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100" b="1" spc="-4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Thévenin</a:t>
            </a:r>
            <a:r>
              <a:rPr sz="1100" b="1" spc="-3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2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pour 	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former</a:t>
            </a:r>
            <a:r>
              <a:rPr sz="1100" b="1" spc="-3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le</a:t>
            </a:r>
            <a:r>
              <a:rPr sz="1100" b="1" spc="-3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circuit</a:t>
            </a: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«</a:t>
            </a:r>
            <a:r>
              <a:rPr sz="1100" b="1" spc="-3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simple</a:t>
            </a:r>
            <a:r>
              <a:rPr sz="1100" b="1" spc="-3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5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»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grpSp>
        <p:nvGrpSpPr>
          <p:cNvPr id="58" name="object 43">
            <a:extLst>
              <a:ext uri="{FF2B5EF4-FFF2-40B4-BE49-F238E27FC236}">
                <a16:creationId xmlns:a16="http://schemas.microsoft.com/office/drawing/2014/main" id="{6E4B3D51-13D2-93F6-DCE2-B25426365C4C}"/>
              </a:ext>
            </a:extLst>
          </p:cNvPr>
          <p:cNvGrpSpPr/>
          <p:nvPr/>
        </p:nvGrpSpPr>
        <p:grpSpPr>
          <a:xfrm>
            <a:off x="1475232" y="2739133"/>
            <a:ext cx="1269492" cy="1338328"/>
            <a:chOff x="1592580" y="3422647"/>
            <a:chExt cx="1269492" cy="1338328"/>
          </a:xfrm>
        </p:grpSpPr>
        <p:pic>
          <p:nvPicPr>
            <p:cNvPr id="59" name="object 44">
              <a:extLst>
                <a:ext uri="{FF2B5EF4-FFF2-40B4-BE49-F238E27FC236}">
                  <a16:creationId xmlns:a16="http://schemas.microsoft.com/office/drawing/2014/main" id="{D0E3236B-AE3E-6E2D-D192-DED4FC2452B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2580" y="4059935"/>
              <a:ext cx="1257300" cy="701040"/>
            </a:xfrm>
            <a:prstGeom prst="rect">
              <a:avLst/>
            </a:prstGeom>
          </p:spPr>
        </p:pic>
        <p:pic>
          <p:nvPicPr>
            <p:cNvPr id="60" name="object 45">
              <a:extLst>
                <a:ext uri="{FF2B5EF4-FFF2-40B4-BE49-F238E27FC236}">
                  <a16:creationId xmlns:a16="http://schemas.microsoft.com/office/drawing/2014/main" id="{9324F98C-E17C-B051-B0F1-5607239C03E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7736" y="3422647"/>
              <a:ext cx="1164336" cy="649223"/>
            </a:xfrm>
            <a:prstGeom prst="rect">
              <a:avLst/>
            </a:prstGeom>
          </p:spPr>
        </p:pic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7824BEA4-CA66-E9E5-7B2E-37F081D57A30}"/>
              </a:ext>
            </a:extLst>
          </p:cNvPr>
          <p:cNvSpPr txBox="1"/>
          <p:nvPr/>
        </p:nvSpPr>
        <p:spPr>
          <a:xfrm>
            <a:off x="3860631" y="318132"/>
            <a:ext cx="15478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spc="-10" dirty="0">
                <a:latin typeface="Bookman Old Style" panose="02050604050505020204" pitchFamily="18" charset="0"/>
                <a:cs typeface="Times New Roman"/>
              </a:rPr>
              <a:t>Etapes</a:t>
            </a:r>
            <a:endParaRPr lang="fr-FR" sz="16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14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9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49</a:t>
            </a:fld>
            <a:endParaRPr sz="2400" dirty="0">
              <a:latin typeface="Arial"/>
              <a:cs typeface="Arial"/>
            </a:endParaRPr>
          </a:p>
        </p:txBody>
      </p:sp>
      <p:grpSp>
        <p:nvGrpSpPr>
          <p:cNvPr id="3" name="object 11">
            <a:extLst>
              <a:ext uri="{FF2B5EF4-FFF2-40B4-BE49-F238E27FC236}">
                <a16:creationId xmlns:a16="http://schemas.microsoft.com/office/drawing/2014/main" id="{2C3A1F22-8DCE-F469-487F-0AE2D362B938}"/>
              </a:ext>
            </a:extLst>
          </p:cNvPr>
          <p:cNvGrpSpPr/>
          <p:nvPr/>
        </p:nvGrpSpPr>
        <p:grpSpPr>
          <a:xfrm>
            <a:off x="281960" y="209550"/>
            <a:ext cx="8513445" cy="553720"/>
            <a:chOff x="299465" y="1351025"/>
            <a:chExt cx="8513445" cy="553720"/>
          </a:xfrm>
        </p:grpSpPr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69B8D8B9-10CC-C02E-D373-5EC5727BF7B2}"/>
                </a:ext>
              </a:extLst>
            </p:cNvPr>
            <p:cNvSpPr/>
            <p:nvPr/>
          </p:nvSpPr>
          <p:spPr>
            <a:xfrm>
              <a:off x="299465" y="1351025"/>
              <a:ext cx="8513445" cy="553720"/>
            </a:xfrm>
            <a:custGeom>
              <a:avLst/>
              <a:gdLst/>
              <a:ahLst/>
              <a:cxnLst/>
              <a:rect l="l" t="t" r="r" b="b"/>
              <a:pathLst>
                <a:path w="8513445" h="553719">
                  <a:moveTo>
                    <a:pt x="8236458" y="0"/>
                  </a:moveTo>
                  <a:lnTo>
                    <a:pt x="8236458" y="138302"/>
                  </a:lnTo>
                  <a:lnTo>
                    <a:pt x="0" y="138302"/>
                  </a:lnTo>
                  <a:lnTo>
                    <a:pt x="0" y="414909"/>
                  </a:lnTo>
                  <a:lnTo>
                    <a:pt x="8236458" y="414909"/>
                  </a:lnTo>
                  <a:lnTo>
                    <a:pt x="8236458" y="553212"/>
                  </a:lnTo>
                  <a:lnTo>
                    <a:pt x="8513064" y="276606"/>
                  </a:lnTo>
                  <a:lnTo>
                    <a:pt x="82364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594E54DC-934D-0F37-76E4-A5598DEB6BDB}"/>
                </a:ext>
              </a:extLst>
            </p:cNvPr>
            <p:cNvSpPr/>
            <p:nvPr/>
          </p:nvSpPr>
          <p:spPr>
            <a:xfrm>
              <a:off x="299465" y="1351025"/>
              <a:ext cx="8513445" cy="553720"/>
            </a:xfrm>
            <a:custGeom>
              <a:avLst/>
              <a:gdLst/>
              <a:ahLst/>
              <a:cxnLst/>
              <a:rect l="l" t="t" r="r" b="b"/>
              <a:pathLst>
                <a:path w="8513445" h="553719">
                  <a:moveTo>
                    <a:pt x="0" y="138302"/>
                  </a:moveTo>
                  <a:lnTo>
                    <a:pt x="8236458" y="138302"/>
                  </a:lnTo>
                  <a:lnTo>
                    <a:pt x="8236458" y="0"/>
                  </a:lnTo>
                  <a:lnTo>
                    <a:pt x="8513064" y="276606"/>
                  </a:lnTo>
                  <a:lnTo>
                    <a:pt x="8236458" y="553212"/>
                  </a:lnTo>
                  <a:lnTo>
                    <a:pt x="8236458" y="414909"/>
                  </a:lnTo>
                  <a:lnTo>
                    <a:pt x="0" y="414909"/>
                  </a:lnTo>
                  <a:lnTo>
                    <a:pt x="0" y="138302"/>
                  </a:lnTo>
                  <a:close/>
                </a:path>
              </a:pathLst>
            </a:custGeom>
            <a:ln w="25907">
              <a:solidFill>
                <a:srgbClr val="161F28"/>
              </a:solidFill>
            </a:ln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E8F6B728-418E-6686-990C-64304B9B5612}"/>
              </a:ext>
            </a:extLst>
          </p:cNvPr>
          <p:cNvGrpSpPr/>
          <p:nvPr/>
        </p:nvGrpSpPr>
        <p:grpSpPr>
          <a:xfrm>
            <a:off x="303347" y="877067"/>
            <a:ext cx="2350135" cy="516890"/>
            <a:chOff x="222504" y="2023872"/>
            <a:chExt cx="2350135" cy="516890"/>
          </a:xfrm>
        </p:grpSpPr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9E98A3E7-0ADD-AA2E-E41B-226B987F7B17}"/>
                </a:ext>
              </a:extLst>
            </p:cNvPr>
            <p:cNvSpPr/>
            <p:nvPr/>
          </p:nvSpPr>
          <p:spPr>
            <a:xfrm>
              <a:off x="236982" y="2038350"/>
              <a:ext cx="2321560" cy="487680"/>
            </a:xfrm>
            <a:custGeom>
              <a:avLst/>
              <a:gdLst/>
              <a:ahLst/>
              <a:cxnLst/>
              <a:rect l="l" t="t" r="r" b="b"/>
              <a:pathLst>
                <a:path w="2321560" h="487680">
                  <a:moveTo>
                    <a:pt x="1947672" y="0"/>
                  </a:moveTo>
                  <a:lnTo>
                    <a:pt x="373405" y="0"/>
                  </a:lnTo>
                  <a:lnTo>
                    <a:pt x="318227" y="2644"/>
                  </a:lnTo>
                  <a:lnTo>
                    <a:pt x="265562" y="10327"/>
                  </a:lnTo>
                  <a:lnTo>
                    <a:pt x="215988" y="22671"/>
                  </a:lnTo>
                  <a:lnTo>
                    <a:pt x="170083" y="39296"/>
                  </a:lnTo>
                  <a:lnTo>
                    <a:pt x="128425" y="59826"/>
                  </a:lnTo>
                  <a:lnTo>
                    <a:pt x="91591" y="83882"/>
                  </a:lnTo>
                  <a:lnTo>
                    <a:pt x="60158" y="111088"/>
                  </a:lnTo>
                  <a:lnTo>
                    <a:pt x="34705" y="141064"/>
                  </a:lnTo>
                  <a:lnTo>
                    <a:pt x="4048" y="207818"/>
                  </a:lnTo>
                  <a:lnTo>
                    <a:pt x="0" y="243839"/>
                  </a:lnTo>
                  <a:lnTo>
                    <a:pt x="4048" y="279861"/>
                  </a:lnTo>
                  <a:lnTo>
                    <a:pt x="34705" y="346615"/>
                  </a:lnTo>
                  <a:lnTo>
                    <a:pt x="60158" y="376591"/>
                  </a:lnTo>
                  <a:lnTo>
                    <a:pt x="91591" y="403797"/>
                  </a:lnTo>
                  <a:lnTo>
                    <a:pt x="128425" y="427853"/>
                  </a:lnTo>
                  <a:lnTo>
                    <a:pt x="170083" y="448383"/>
                  </a:lnTo>
                  <a:lnTo>
                    <a:pt x="215988" y="465008"/>
                  </a:lnTo>
                  <a:lnTo>
                    <a:pt x="265562" y="477352"/>
                  </a:lnTo>
                  <a:lnTo>
                    <a:pt x="318227" y="485035"/>
                  </a:lnTo>
                  <a:lnTo>
                    <a:pt x="373405" y="487680"/>
                  </a:lnTo>
                  <a:lnTo>
                    <a:pt x="1947672" y="487680"/>
                  </a:lnTo>
                  <a:lnTo>
                    <a:pt x="2002855" y="485035"/>
                  </a:lnTo>
                  <a:lnTo>
                    <a:pt x="2055522" y="477352"/>
                  </a:lnTo>
                  <a:lnTo>
                    <a:pt x="2105095" y="465008"/>
                  </a:lnTo>
                  <a:lnTo>
                    <a:pt x="2150997" y="448383"/>
                  </a:lnTo>
                  <a:lnTo>
                    <a:pt x="2192651" y="427853"/>
                  </a:lnTo>
                  <a:lnTo>
                    <a:pt x="2229480" y="403797"/>
                  </a:lnTo>
                  <a:lnTo>
                    <a:pt x="2260907" y="376591"/>
                  </a:lnTo>
                  <a:lnTo>
                    <a:pt x="2286354" y="346615"/>
                  </a:lnTo>
                  <a:lnTo>
                    <a:pt x="2317004" y="279861"/>
                  </a:lnTo>
                  <a:lnTo>
                    <a:pt x="2321052" y="243839"/>
                  </a:lnTo>
                  <a:lnTo>
                    <a:pt x="2317004" y="207818"/>
                  </a:lnTo>
                  <a:lnTo>
                    <a:pt x="2286354" y="141064"/>
                  </a:lnTo>
                  <a:lnTo>
                    <a:pt x="2260907" y="111088"/>
                  </a:lnTo>
                  <a:lnTo>
                    <a:pt x="2229480" y="83882"/>
                  </a:lnTo>
                  <a:lnTo>
                    <a:pt x="2192651" y="59826"/>
                  </a:lnTo>
                  <a:lnTo>
                    <a:pt x="2150997" y="39296"/>
                  </a:lnTo>
                  <a:lnTo>
                    <a:pt x="2105095" y="22671"/>
                  </a:lnTo>
                  <a:lnTo>
                    <a:pt x="2055522" y="10327"/>
                  </a:lnTo>
                  <a:lnTo>
                    <a:pt x="2002855" y="2644"/>
                  </a:lnTo>
                  <a:lnTo>
                    <a:pt x="1947672" y="0"/>
                  </a:lnTo>
                  <a:close/>
                </a:path>
              </a:pathLst>
            </a:custGeom>
            <a:solidFill>
              <a:srgbClr val="DFCDE3"/>
            </a:solidFill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621EFB6F-C9B5-790A-0E55-4EEDB3A991AB}"/>
                </a:ext>
              </a:extLst>
            </p:cNvPr>
            <p:cNvSpPr/>
            <p:nvPr/>
          </p:nvSpPr>
          <p:spPr>
            <a:xfrm>
              <a:off x="236982" y="2038350"/>
              <a:ext cx="2321560" cy="487680"/>
            </a:xfrm>
            <a:custGeom>
              <a:avLst/>
              <a:gdLst/>
              <a:ahLst/>
              <a:cxnLst/>
              <a:rect l="l" t="t" r="r" b="b"/>
              <a:pathLst>
                <a:path w="2321560" h="487680">
                  <a:moveTo>
                    <a:pt x="373405" y="0"/>
                  </a:moveTo>
                  <a:lnTo>
                    <a:pt x="1947672" y="0"/>
                  </a:lnTo>
                  <a:lnTo>
                    <a:pt x="2002855" y="2644"/>
                  </a:lnTo>
                  <a:lnTo>
                    <a:pt x="2055522" y="10327"/>
                  </a:lnTo>
                  <a:lnTo>
                    <a:pt x="2105095" y="22671"/>
                  </a:lnTo>
                  <a:lnTo>
                    <a:pt x="2150997" y="39296"/>
                  </a:lnTo>
                  <a:lnTo>
                    <a:pt x="2192651" y="59826"/>
                  </a:lnTo>
                  <a:lnTo>
                    <a:pt x="2229480" y="83882"/>
                  </a:lnTo>
                  <a:lnTo>
                    <a:pt x="2260907" y="111088"/>
                  </a:lnTo>
                  <a:lnTo>
                    <a:pt x="2286354" y="141064"/>
                  </a:lnTo>
                  <a:lnTo>
                    <a:pt x="2317004" y="207818"/>
                  </a:lnTo>
                  <a:lnTo>
                    <a:pt x="2321052" y="243839"/>
                  </a:lnTo>
                  <a:lnTo>
                    <a:pt x="2317004" y="279861"/>
                  </a:lnTo>
                  <a:lnTo>
                    <a:pt x="2286354" y="346615"/>
                  </a:lnTo>
                  <a:lnTo>
                    <a:pt x="2260907" y="376591"/>
                  </a:lnTo>
                  <a:lnTo>
                    <a:pt x="2229480" y="403797"/>
                  </a:lnTo>
                  <a:lnTo>
                    <a:pt x="2192651" y="427853"/>
                  </a:lnTo>
                  <a:lnTo>
                    <a:pt x="2150997" y="448383"/>
                  </a:lnTo>
                  <a:lnTo>
                    <a:pt x="2105095" y="465008"/>
                  </a:lnTo>
                  <a:lnTo>
                    <a:pt x="2055522" y="477352"/>
                  </a:lnTo>
                  <a:lnTo>
                    <a:pt x="2002855" y="485035"/>
                  </a:lnTo>
                  <a:lnTo>
                    <a:pt x="1947672" y="487680"/>
                  </a:lnTo>
                  <a:lnTo>
                    <a:pt x="373405" y="487680"/>
                  </a:lnTo>
                  <a:lnTo>
                    <a:pt x="318227" y="485035"/>
                  </a:lnTo>
                  <a:lnTo>
                    <a:pt x="265562" y="477352"/>
                  </a:lnTo>
                  <a:lnTo>
                    <a:pt x="215988" y="465008"/>
                  </a:lnTo>
                  <a:lnTo>
                    <a:pt x="170083" y="448383"/>
                  </a:lnTo>
                  <a:lnTo>
                    <a:pt x="128425" y="427853"/>
                  </a:lnTo>
                  <a:lnTo>
                    <a:pt x="91591" y="403797"/>
                  </a:lnTo>
                  <a:lnTo>
                    <a:pt x="60158" y="376591"/>
                  </a:lnTo>
                  <a:lnTo>
                    <a:pt x="34705" y="346615"/>
                  </a:lnTo>
                  <a:lnTo>
                    <a:pt x="4048" y="279861"/>
                  </a:lnTo>
                  <a:lnTo>
                    <a:pt x="0" y="243839"/>
                  </a:lnTo>
                  <a:lnTo>
                    <a:pt x="4048" y="207818"/>
                  </a:lnTo>
                  <a:lnTo>
                    <a:pt x="34705" y="141064"/>
                  </a:lnTo>
                  <a:lnTo>
                    <a:pt x="60158" y="111088"/>
                  </a:lnTo>
                  <a:lnTo>
                    <a:pt x="91591" y="83882"/>
                  </a:lnTo>
                  <a:lnTo>
                    <a:pt x="128425" y="59826"/>
                  </a:lnTo>
                  <a:lnTo>
                    <a:pt x="170083" y="39296"/>
                  </a:lnTo>
                  <a:lnTo>
                    <a:pt x="215988" y="22671"/>
                  </a:lnTo>
                  <a:lnTo>
                    <a:pt x="265562" y="10327"/>
                  </a:lnTo>
                  <a:lnTo>
                    <a:pt x="318227" y="2644"/>
                  </a:lnTo>
                  <a:lnTo>
                    <a:pt x="373405" y="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</p:grpSp>
      <p:sp>
        <p:nvSpPr>
          <p:cNvPr id="21" name="object 19">
            <a:extLst>
              <a:ext uri="{FF2B5EF4-FFF2-40B4-BE49-F238E27FC236}">
                <a16:creationId xmlns:a16="http://schemas.microsoft.com/office/drawing/2014/main" id="{7EB0862D-D7FB-F80A-FA02-83B20239C8D5}"/>
              </a:ext>
            </a:extLst>
          </p:cNvPr>
          <p:cNvSpPr txBox="1"/>
          <p:nvPr/>
        </p:nvSpPr>
        <p:spPr>
          <a:xfrm>
            <a:off x="379131" y="969777"/>
            <a:ext cx="1981616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ctr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Bookman Old Style" panose="02050604050505020204" pitchFamily="18" charset="0"/>
                <a:cs typeface="Times New Roman"/>
              </a:rPr>
              <a:t>Déterminer</a:t>
            </a:r>
            <a:r>
              <a:rPr sz="1100" b="1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latin typeface="Bookman Old Style" panose="02050604050505020204" pitchFamily="18" charset="0"/>
                <a:cs typeface="Times New Roman"/>
              </a:rPr>
              <a:t>la</a:t>
            </a:r>
            <a:r>
              <a:rPr sz="1100" b="1" spc="-5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latin typeface="Bookman Old Style" panose="02050604050505020204" pitchFamily="18" charset="0"/>
                <a:cs typeface="Times New Roman"/>
              </a:rPr>
              <a:t>résistance </a:t>
            </a:r>
            <a:r>
              <a:rPr sz="1100" b="1"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100" b="1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en-US" sz="1100" b="1" spc="-10" dirty="0" err="1" smtClean="0">
                <a:latin typeface="Bookman Old Style" panose="02050604050505020204" pitchFamily="18" charset="0"/>
                <a:cs typeface="Times New Roman"/>
              </a:rPr>
              <a:t>Thévenin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grpSp>
        <p:nvGrpSpPr>
          <p:cNvPr id="22" name="object 20">
            <a:extLst>
              <a:ext uri="{FF2B5EF4-FFF2-40B4-BE49-F238E27FC236}">
                <a16:creationId xmlns:a16="http://schemas.microsoft.com/office/drawing/2014/main" id="{8647F6F1-DD95-B2BE-4337-81B6DB3555B6}"/>
              </a:ext>
            </a:extLst>
          </p:cNvPr>
          <p:cNvGrpSpPr/>
          <p:nvPr/>
        </p:nvGrpSpPr>
        <p:grpSpPr>
          <a:xfrm>
            <a:off x="5187061" y="2862230"/>
            <a:ext cx="390525" cy="253365"/>
            <a:chOff x="5844540" y="2148839"/>
            <a:chExt cx="390525" cy="253365"/>
          </a:xfrm>
        </p:grpSpPr>
        <p:sp>
          <p:nvSpPr>
            <p:cNvPr id="23" name="object 21">
              <a:extLst>
                <a:ext uri="{FF2B5EF4-FFF2-40B4-BE49-F238E27FC236}">
                  <a16:creationId xmlns:a16="http://schemas.microsoft.com/office/drawing/2014/main" id="{711774C4-F9B5-7789-3989-218AC122D9C7}"/>
                </a:ext>
              </a:extLst>
            </p:cNvPr>
            <p:cNvSpPr/>
            <p:nvPr/>
          </p:nvSpPr>
          <p:spPr>
            <a:xfrm>
              <a:off x="5849112" y="2153411"/>
              <a:ext cx="381000" cy="243840"/>
            </a:xfrm>
            <a:custGeom>
              <a:avLst/>
              <a:gdLst/>
              <a:ahLst/>
              <a:cxnLst/>
              <a:rect l="l" t="t" r="r" b="b"/>
              <a:pathLst>
                <a:path w="381000" h="243839">
                  <a:moveTo>
                    <a:pt x="259079" y="0"/>
                  </a:moveTo>
                  <a:lnTo>
                    <a:pt x="259079" y="60960"/>
                  </a:lnTo>
                  <a:lnTo>
                    <a:pt x="0" y="60960"/>
                  </a:lnTo>
                  <a:lnTo>
                    <a:pt x="0" y="182880"/>
                  </a:lnTo>
                  <a:lnTo>
                    <a:pt x="259079" y="182880"/>
                  </a:lnTo>
                  <a:lnTo>
                    <a:pt x="259079" y="243839"/>
                  </a:lnTo>
                  <a:lnTo>
                    <a:pt x="381000" y="121919"/>
                  </a:lnTo>
                  <a:lnTo>
                    <a:pt x="25907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E6CE73D0-0EA1-43BE-C635-0CDC40AA215E}"/>
                </a:ext>
              </a:extLst>
            </p:cNvPr>
            <p:cNvSpPr/>
            <p:nvPr/>
          </p:nvSpPr>
          <p:spPr>
            <a:xfrm>
              <a:off x="5849112" y="2153411"/>
              <a:ext cx="381000" cy="243840"/>
            </a:xfrm>
            <a:custGeom>
              <a:avLst/>
              <a:gdLst/>
              <a:ahLst/>
              <a:cxnLst/>
              <a:rect l="l" t="t" r="r" b="b"/>
              <a:pathLst>
                <a:path w="381000" h="243839">
                  <a:moveTo>
                    <a:pt x="0" y="60960"/>
                  </a:moveTo>
                  <a:lnTo>
                    <a:pt x="259079" y="60960"/>
                  </a:lnTo>
                  <a:lnTo>
                    <a:pt x="259079" y="0"/>
                  </a:lnTo>
                  <a:lnTo>
                    <a:pt x="381000" y="121919"/>
                  </a:lnTo>
                  <a:lnTo>
                    <a:pt x="259079" y="243839"/>
                  </a:lnTo>
                  <a:lnTo>
                    <a:pt x="259079" y="182880"/>
                  </a:lnTo>
                  <a:lnTo>
                    <a:pt x="0" y="182880"/>
                  </a:lnTo>
                  <a:lnTo>
                    <a:pt x="0" y="6096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25" name="object 23">
            <a:extLst>
              <a:ext uri="{FF2B5EF4-FFF2-40B4-BE49-F238E27FC236}">
                <a16:creationId xmlns:a16="http://schemas.microsoft.com/office/drawing/2014/main" id="{0F97249F-B731-7EA7-4127-FBB310170A1A}"/>
              </a:ext>
            </a:extLst>
          </p:cNvPr>
          <p:cNvGrpSpPr/>
          <p:nvPr/>
        </p:nvGrpSpPr>
        <p:grpSpPr>
          <a:xfrm>
            <a:off x="5884520" y="2724109"/>
            <a:ext cx="2350135" cy="516890"/>
            <a:chOff x="6440423" y="2019300"/>
            <a:chExt cx="2350135" cy="516890"/>
          </a:xfrm>
        </p:grpSpPr>
        <p:sp>
          <p:nvSpPr>
            <p:cNvPr id="26" name="object 24">
              <a:extLst>
                <a:ext uri="{FF2B5EF4-FFF2-40B4-BE49-F238E27FC236}">
                  <a16:creationId xmlns:a16="http://schemas.microsoft.com/office/drawing/2014/main" id="{312E0BC1-35C6-C428-FAC4-96B42BF165CD}"/>
                </a:ext>
              </a:extLst>
            </p:cNvPr>
            <p:cNvSpPr/>
            <p:nvPr/>
          </p:nvSpPr>
          <p:spPr>
            <a:xfrm>
              <a:off x="6454901" y="2033777"/>
              <a:ext cx="2321560" cy="487680"/>
            </a:xfrm>
            <a:custGeom>
              <a:avLst/>
              <a:gdLst/>
              <a:ahLst/>
              <a:cxnLst/>
              <a:rect l="l" t="t" r="r" b="b"/>
              <a:pathLst>
                <a:path w="2321559" h="487680">
                  <a:moveTo>
                    <a:pt x="1947672" y="0"/>
                  </a:moveTo>
                  <a:lnTo>
                    <a:pt x="373379" y="0"/>
                  </a:lnTo>
                  <a:lnTo>
                    <a:pt x="318196" y="2644"/>
                  </a:lnTo>
                  <a:lnTo>
                    <a:pt x="265529" y="10327"/>
                  </a:lnTo>
                  <a:lnTo>
                    <a:pt x="215956" y="22671"/>
                  </a:lnTo>
                  <a:lnTo>
                    <a:pt x="170054" y="39296"/>
                  </a:lnTo>
                  <a:lnTo>
                    <a:pt x="128400" y="59826"/>
                  </a:lnTo>
                  <a:lnTo>
                    <a:pt x="91571" y="83882"/>
                  </a:lnTo>
                  <a:lnTo>
                    <a:pt x="60144" y="111088"/>
                  </a:lnTo>
                  <a:lnTo>
                    <a:pt x="34697" y="141064"/>
                  </a:lnTo>
                  <a:lnTo>
                    <a:pt x="4047" y="207818"/>
                  </a:lnTo>
                  <a:lnTo>
                    <a:pt x="0" y="243840"/>
                  </a:lnTo>
                  <a:lnTo>
                    <a:pt x="4047" y="279861"/>
                  </a:lnTo>
                  <a:lnTo>
                    <a:pt x="34697" y="346615"/>
                  </a:lnTo>
                  <a:lnTo>
                    <a:pt x="60144" y="376591"/>
                  </a:lnTo>
                  <a:lnTo>
                    <a:pt x="91571" y="403797"/>
                  </a:lnTo>
                  <a:lnTo>
                    <a:pt x="128400" y="427853"/>
                  </a:lnTo>
                  <a:lnTo>
                    <a:pt x="170054" y="448383"/>
                  </a:lnTo>
                  <a:lnTo>
                    <a:pt x="215956" y="465008"/>
                  </a:lnTo>
                  <a:lnTo>
                    <a:pt x="265529" y="477352"/>
                  </a:lnTo>
                  <a:lnTo>
                    <a:pt x="318196" y="485035"/>
                  </a:lnTo>
                  <a:lnTo>
                    <a:pt x="373379" y="487680"/>
                  </a:lnTo>
                  <a:lnTo>
                    <a:pt x="1947672" y="487680"/>
                  </a:lnTo>
                  <a:lnTo>
                    <a:pt x="2002855" y="485035"/>
                  </a:lnTo>
                  <a:lnTo>
                    <a:pt x="2055522" y="477352"/>
                  </a:lnTo>
                  <a:lnTo>
                    <a:pt x="2105095" y="465008"/>
                  </a:lnTo>
                  <a:lnTo>
                    <a:pt x="2150997" y="448383"/>
                  </a:lnTo>
                  <a:lnTo>
                    <a:pt x="2192651" y="427853"/>
                  </a:lnTo>
                  <a:lnTo>
                    <a:pt x="2229480" y="403797"/>
                  </a:lnTo>
                  <a:lnTo>
                    <a:pt x="2260907" y="376591"/>
                  </a:lnTo>
                  <a:lnTo>
                    <a:pt x="2286354" y="346615"/>
                  </a:lnTo>
                  <a:lnTo>
                    <a:pt x="2317004" y="279861"/>
                  </a:lnTo>
                  <a:lnTo>
                    <a:pt x="2321052" y="243840"/>
                  </a:lnTo>
                  <a:lnTo>
                    <a:pt x="2317004" y="207818"/>
                  </a:lnTo>
                  <a:lnTo>
                    <a:pt x="2286354" y="141064"/>
                  </a:lnTo>
                  <a:lnTo>
                    <a:pt x="2260907" y="111088"/>
                  </a:lnTo>
                  <a:lnTo>
                    <a:pt x="2229480" y="83882"/>
                  </a:lnTo>
                  <a:lnTo>
                    <a:pt x="2192651" y="59826"/>
                  </a:lnTo>
                  <a:lnTo>
                    <a:pt x="2150997" y="39296"/>
                  </a:lnTo>
                  <a:lnTo>
                    <a:pt x="2105095" y="22671"/>
                  </a:lnTo>
                  <a:lnTo>
                    <a:pt x="2055522" y="10327"/>
                  </a:lnTo>
                  <a:lnTo>
                    <a:pt x="2002855" y="2644"/>
                  </a:lnTo>
                  <a:lnTo>
                    <a:pt x="1947672" y="0"/>
                  </a:lnTo>
                  <a:close/>
                </a:path>
              </a:pathLst>
            </a:custGeom>
            <a:solidFill>
              <a:srgbClr val="DFCDE3"/>
            </a:solidFill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  <p:sp>
          <p:nvSpPr>
            <p:cNvPr id="27" name="object 25">
              <a:extLst>
                <a:ext uri="{FF2B5EF4-FFF2-40B4-BE49-F238E27FC236}">
                  <a16:creationId xmlns:a16="http://schemas.microsoft.com/office/drawing/2014/main" id="{D2486BC2-5218-CB9F-9635-0407BDA927F3}"/>
                </a:ext>
              </a:extLst>
            </p:cNvPr>
            <p:cNvSpPr/>
            <p:nvPr/>
          </p:nvSpPr>
          <p:spPr>
            <a:xfrm>
              <a:off x="6454901" y="2033777"/>
              <a:ext cx="2321560" cy="487680"/>
            </a:xfrm>
            <a:custGeom>
              <a:avLst/>
              <a:gdLst/>
              <a:ahLst/>
              <a:cxnLst/>
              <a:rect l="l" t="t" r="r" b="b"/>
              <a:pathLst>
                <a:path w="2321559" h="487680">
                  <a:moveTo>
                    <a:pt x="373379" y="0"/>
                  </a:moveTo>
                  <a:lnTo>
                    <a:pt x="1947672" y="0"/>
                  </a:lnTo>
                  <a:lnTo>
                    <a:pt x="2002855" y="2644"/>
                  </a:lnTo>
                  <a:lnTo>
                    <a:pt x="2055522" y="10327"/>
                  </a:lnTo>
                  <a:lnTo>
                    <a:pt x="2105095" y="22671"/>
                  </a:lnTo>
                  <a:lnTo>
                    <a:pt x="2150997" y="39296"/>
                  </a:lnTo>
                  <a:lnTo>
                    <a:pt x="2192651" y="59826"/>
                  </a:lnTo>
                  <a:lnTo>
                    <a:pt x="2229480" y="83882"/>
                  </a:lnTo>
                  <a:lnTo>
                    <a:pt x="2260907" y="111088"/>
                  </a:lnTo>
                  <a:lnTo>
                    <a:pt x="2286354" y="141064"/>
                  </a:lnTo>
                  <a:lnTo>
                    <a:pt x="2317004" y="207818"/>
                  </a:lnTo>
                  <a:lnTo>
                    <a:pt x="2321052" y="243840"/>
                  </a:lnTo>
                  <a:lnTo>
                    <a:pt x="2317004" y="279861"/>
                  </a:lnTo>
                  <a:lnTo>
                    <a:pt x="2286354" y="346615"/>
                  </a:lnTo>
                  <a:lnTo>
                    <a:pt x="2260907" y="376591"/>
                  </a:lnTo>
                  <a:lnTo>
                    <a:pt x="2229480" y="403797"/>
                  </a:lnTo>
                  <a:lnTo>
                    <a:pt x="2192651" y="427853"/>
                  </a:lnTo>
                  <a:lnTo>
                    <a:pt x="2150997" y="448383"/>
                  </a:lnTo>
                  <a:lnTo>
                    <a:pt x="2105095" y="465008"/>
                  </a:lnTo>
                  <a:lnTo>
                    <a:pt x="2055522" y="477352"/>
                  </a:lnTo>
                  <a:lnTo>
                    <a:pt x="2002855" y="485035"/>
                  </a:lnTo>
                  <a:lnTo>
                    <a:pt x="1947672" y="487680"/>
                  </a:lnTo>
                  <a:lnTo>
                    <a:pt x="373379" y="487680"/>
                  </a:lnTo>
                  <a:lnTo>
                    <a:pt x="318196" y="485035"/>
                  </a:lnTo>
                  <a:lnTo>
                    <a:pt x="265529" y="477352"/>
                  </a:lnTo>
                  <a:lnTo>
                    <a:pt x="215956" y="465008"/>
                  </a:lnTo>
                  <a:lnTo>
                    <a:pt x="170054" y="448383"/>
                  </a:lnTo>
                  <a:lnTo>
                    <a:pt x="128400" y="427853"/>
                  </a:lnTo>
                  <a:lnTo>
                    <a:pt x="91571" y="403797"/>
                  </a:lnTo>
                  <a:lnTo>
                    <a:pt x="60144" y="376591"/>
                  </a:lnTo>
                  <a:lnTo>
                    <a:pt x="34697" y="346615"/>
                  </a:lnTo>
                  <a:lnTo>
                    <a:pt x="4047" y="279861"/>
                  </a:lnTo>
                  <a:lnTo>
                    <a:pt x="0" y="243840"/>
                  </a:lnTo>
                  <a:lnTo>
                    <a:pt x="4047" y="207818"/>
                  </a:lnTo>
                  <a:lnTo>
                    <a:pt x="34697" y="141064"/>
                  </a:lnTo>
                  <a:lnTo>
                    <a:pt x="60144" y="111088"/>
                  </a:lnTo>
                  <a:lnTo>
                    <a:pt x="91571" y="83882"/>
                  </a:lnTo>
                  <a:lnTo>
                    <a:pt x="128400" y="59826"/>
                  </a:lnTo>
                  <a:lnTo>
                    <a:pt x="170054" y="39296"/>
                  </a:lnTo>
                  <a:lnTo>
                    <a:pt x="215956" y="22671"/>
                  </a:lnTo>
                  <a:lnTo>
                    <a:pt x="265529" y="10327"/>
                  </a:lnTo>
                  <a:lnTo>
                    <a:pt x="318196" y="2644"/>
                  </a:lnTo>
                  <a:lnTo>
                    <a:pt x="373379" y="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</p:grpSp>
      <p:sp>
        <p:nvSpPr>
          <p:cNvPr id="28" name="object 26">
            <a:extLst>
              <a:ext uri="{FF2B5EF4-FFF2-40B4-BE49-F238E27FC236}">
                <a16:creationId xmlns:a16="http://schemas.microsoft.com/office/drawing/2014/main" id="{9F626D23-BAE4-29FE-3DF9-EC56184448A7}"/>
              </a:ext>
            </a:extLst>
          </p:cNvPr>
          <p:cNvSpPr txBox="1"/>
          <p:nvPr/>
        </p:nvSpPr>
        <p:spPr>
          <a:xfrm>
            <a:off x="6004903" y="2813224"/>
            <a:ext cx="202565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Bookman Old Style" panose="02050604050505020204" pitchFamily="18" charset="0"/>
                <a:cs typeface="Times New Roman"/>
              </a:rPr>
              <a:t>Former</a:t>
            </a:r>
            <a:r>
              <a:rPr sz="1100" b="1" spc="-4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latin typeface="Bookman Old Style" panose="02050604050505020204" pitchFamily="18" charset="0"/>
                <a:cs typeface="Times New Roman"/>
              </a:rPr>
              <a:t>mon</a:t>
            </a:r>
            <a:r>
              <a:rPr sz="1100" b="1" spc="-5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latin typeface="Bookman Old Style" panose="02050604050505020204" pitchFamily="18" charset="0"/>
                <a:cs typeface="Times New Roman"/>
              </a:rPr>
              <a:t>circuit</a:t>
            </a:r>
            <a:r>
              <a:rPr sz="1100" b="1" spc="-4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latin typeface="Bookman Old Style" panose="02050604050505020204" pitchFamily="18" charset="0"/>
                <a:cs typeface="Times New Roman"/>
              </a:rPr>
              <a:t>équivalent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grpSp>
        <p:nvGrpSpPr>
          <p:cNvPr id="29" name="object 27">
            <a:extLst>
              <a:ext uri="{FF2B5EF4-FFF2-40B4-BE49-F238E27FC236}">
                <a16:creationId xmlns:a16="http://schemas.microsoft.com/office/drawing/2014/main" id="{9703396A-4989-FCCB-5639-24DD8A37E0EB}"/>
              </a:ext>
            </a:extLst>
          </p:cNvPr>
          <p:cNvGrpSpPr/>
          <p:nvPr/>
        </p:nvGrpSpPr>
        <p:grpSpPr>
          <a:xfrm>
            <a:off x="3052643" y="1010160"/>
            <a:ext cx="390525" cy="253365"/>
            <a:chOff x="2667000" y="2125979"/>
            <a:chExt cx="390525" cy="253365"/>
          </a:xfrm>
        </p:grpSpPr>
        <p:sp>
          <p:nvSpPr>
            <p:cNvPr id="30" name="object 28">
              <a:extLst>
                <a:ext uri="{FF2B5EF4-FFF2-40B4-BE49-F238E27FC236}">
                  <a16:creationId xmlns:a16="http://schemas.microsoft.com/office/drawing/2014/main" id="{19630B13-12C1-3CED-A70C-2145871A1691}"/>
                </a:ext>
              </a:extLst>
            </p:cNvPr>
            <p:cNvSpPr/>
            <p:nvPr/>
          </p:nvSpPr>
          <p:spPr>
            <a:xfrm>
              <a:off x="2671572" y="2130551"/>
              <a:ext cx="381000" cy="243840"/>
            </a:xfrm>
            <a:custGeom>
              <a:avLst/>
              <a:gdLst/>
              <a:ahLst/>
              <a:cxnLst/>
              <a:rect l="l" t="t" r="r" b="b"/>
              <a:pathLst>
                <a:path w="381000" h="243839">
                  <a:moveTo>
                    <a:pt x="259079" y="0"/>
                  </a:moveTo>
                  <a:lnTo>
                    <a:pt x="259079" y="60960"/>
                  </a:lnTo>
                  <a:lnTo>
                    <a:pt x="0" y="60960"/>
                  </a:lnTo>
                  <a:lnTo>
                    <a:pt x="0" y="182880"/>
                  </a:lnTo>
                  <a:lnTo>
                    <a:pt x="259079" y="182880"/>
                  </a:lnTo>
                  <a:lnTo>
                    <a:pt x="259079" y="243840"/>
                  </a:lnTo>
                  <a:lnTo>
                    <a:pt x="381000" y="121920"/>
                  </a:lnTo>
                  <a:lnTo>
                    <a:pt x="25907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  <p:sp>
          <p:nvSpPr>
            <p:cNvPr id="38" name="object 29">
              <a:extLst>
                <a:ext uri="{FF2B5EF4-FFF2-40B4-BE49-F238E27FC236}">
                  <a16:creationId xmlns:a16="http://schemas.microsoft.com/office/drawing/2014/main" id="{778B486E-F48A-C2F1-147D-782D67DE5DD5}"/>
                </a:ext>
              </a:extLst>
            </p:cNvPr>
            <p:cNvSpPr/>
            <p:nvPr/>
          </p:nvSpPr>
          <p:spPr>
            <a:xfrm>
              <a:off x="2671572" y="2130551"/>
              <a:ext cx="381000" cy="243840"/>
            </a:xfrm>
            <a:custGeom>
              <a:avLst/>
              <a:gdLst/>
              <a:ahLst/>
              <a:cxnLst/>
              <a:rect l="l" t="t" r="r" b="b"/>
              <a:pathLst>
                <a:path w="381000" h="243839">
                  <a:moveTo>
                    <a:pt x="0" y="60960"/>
                  </a:moveTo>
                  <a:lnTo>
                    <a:pt x="259079" y="60960"/>
                  </a:lnTo>
                  <a:lnTo>
                    <a:pt x="259079" y="0"/>
                  </a:lnTo>
                  <a:lnTo>
                    <a:pt x="381000" y="121920"/>
                  </a:lnTo>
                  <a:lnTo>
                    <a:pt x="259079" y="243840"/>
                  </a:lnTo>
                  <a:lnTo>
                    <a:pt x="259079" y="182880"/>
                  </a:lnTo>
                  <a:lnTo>
                    <a:pt x="0" y="182880"/>
                  </a:lnTo>
                  <a:lnTo>
                    <a:pt x="0" y="6096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40" name="object 30">
            <a:extLst>
              <a:ext uri="{FF2B5EF4-FFF2-40B4-BE49-F238E27FC236}">
                <a16:creationId xmlns:a16="http://schemas.microsoft.com/office/drawing/2014/main" id="{05FACD09-7F73-375D-E537-7DAF6A5C254B}"/>
              </a:ext>
            </a:extLst>
          </p:cNvPr>
          <p:cNvGrpSpPr/>
          <p:nvPr/>
        </p:nvGrpSpPr>
        <p:grpSpPr>
          <a:xfrm>
            <a:off x="3928062" y="876305"/>
            <a:ext cx="2350135" cy="518159"/>
            <a:chOff x="3241548" y="2036064"/>
            <a:chExt cx="2350135" cy="518159"/>
          </a:xfrm>
        </p:grpSpPr>
        <p:sp>
          <p:nvSpPr>
            <p:cNvPr id="41" name="object 31">
              <a:extLst>
                <a:ext uri="{FF2B5EF4-FFF2-40B4-BE49-F238E27FC236}">
                  <a16:creationId xmlns:a16="http://schemas.microsoft.com/office/drawing/2014/main" id="{4310A8D7-7E6A-A5D9-C77A-A0872C3FF6BF}"/>
                </a:ext>
              </a:extLst>
            </p:cNvPr>
            <p:cNvSpPr/>
            <p:nvPr/>
          </p:nvSpPr>
          <p:spPr>
            <a:xfrm>
              <a:off x="3256026" y="2050542"/>
              <a:ext cx="2321560" cy="489584"/>
            </a:xfrm>
            <a:custGeom>
              <a:avLst/>
              <a:gdLst/>
              <a:ahLst/>
              <a:cxnLst/>
              <a:rect l="l" t="t" r="r" b="b"/>
              <a:pathLst>
                <a:path w="2321560" h="489585">
                  <a:moveTo>
                    <a:pt x="1947672" y="0"/>
                  </a:moveTo>
                  <a:lnTo>
                    <a:pt x="373379" y="0"/>
                  </a:lnTo>
                  <a:lnTo>
                    <a:pt x="318196" y="2651"/>
                  </a:lnTo>
                  <a:lnTo>
                    <a:pt x="265529" y="10353"/>
                  </a:lnTo>
                  <a:lnTo>
                    <a:pt x="215956" y="22727"/>
                  </a:lnTo>
                  <a:lnTo>
                    <a:pt x="170054" y="39397"/>
                  </a:lnTo>
                  <a:lnTo>
                    <a:pt x="128400" y="59983"/>
                  </a:lnTo>
                  <a:lnTo>
                    <a:pt x="91571" y="84109"/>
                  </a:lnTo>
                  <a:lnTo>
                    <a:pt x="60144" y="111396"/>
                  </a:lnTo>
                  <a:lnTo>
                    <a:pt x="34697" y="141467"/>
                  </a:lnTo>
                  <a:lnTo>
                    <a:pt x="4047" y="208447"/>
                  </a:lnTo>
                  <a:lnTo>
                    <a:pt x="0" y="244601"/>
                  </a:lnTo>
                  <a:lnTo>
                    <a:pt x="4047" y="280756"/>
                  </a:lnTo>
                  <a:lnTo>
                    <a:pt x="34697" y="347736"/>
                  </a:lnTo>
                  <a:lnTo>
                    <a:pt x="60144" y="377807"/>
                  </a:lnTo>
                  <a:lnTo>
                    <a:pt x="91571" y="405094"/>
                  </a:lnTo>
                  <a:lnTo>
                    <a:pt x="128400" y="429220"/>
                  </a:lnTo>
                  <a:lnTo>
                    <a:pt x="170054" y="449806"/>
                  </a:lnTo>
                  <a:lnTo>
                    <a:pt x="215956" y="466476"/>
                  </a:lnTo>
                  <a:lnTo>
                    <a:pt x="265529" y="478850"/>
                  </a:lnTo>
                  <a:lnTo>
                    <a:pt x="318196" y="486552"/>
                  </a:lnTo>
                  <a:lnTo>
                    <a:pt x="373379" y="489203"/>
                  </a:lnTo>
                  <a:lnTo>
                    <a:pt x="1947672" y="489203"/>
                  </a:lnTo>
                  <a:lnTo>
                    <a:pt x="2002855" y="486552"/>
                  </a:lnTo>
                  <a:lnTo>
                    <a:pt x="2055522" y="478850"/>
                  </a:lnTo>
                  <a:lnTo>
                    <a:pt x="2105095" y="466476"/>
                  </a:lnTo>
                  <a:lnTo>
                    <a:pt x="2150997" y="449806"/>
                  </a:lnTo>
                  <a:lnTo>
                    <a:pt x="2192651" y="429220"/>
                  </a:lnTo>
                  <a:lnTo>
                    <a:pt x="2229480" y="405094"/>
                  </a:lnTo>
                  <a:lnTo>
                    <a:pt x="2260907" y="377807"/>
                  </a:lnTo>
                  <a:lnTo>
                    <a:pt x="2286354" y="347736"/>
                  </a:lnTo>
                  <a:lnTo>
                    <a:pt x="2317004" y="280756"/>
                  </a:lnTo>
                  <a:lnTo>
                    <a:pt x="2321052" y="244601"/>
                  </a:lnTo>
                  <a:lnTo>
                    <a:pt x="2317004" y="208447"/>
                  </a:lnTo>
                  <a:lnTo>
                    <a:pt x="2286354" y="141467"/>
                  </a:lnTo>
                  <a:lnTo>
                    <a:pt x="2260907" y="111396"/>
                  </a:lnTo>
                  <a:lnTo>
                    <a:pt x="2229480" y="84109"/>
                  </a:lnTo>
                  <a:lnTo>
                    <a:pt x="2192651" y="59983"/>
                  </a:lnTo>
                  <a:lnTo>
                    <a:pt x="2150997" y="39397"/>
                  </a:lnTo>
                  <a:lnTo>
                    <a:pt x="2105095" y="22727"/>
                  </a:lnTo>
                  <a:lnTo>
                    <a:pt x="2055522" y="10353"/>
                  </a:lnTo>
                  <a:lnTo>
                    <a:pt x="2002855" y="2651"/>
                  </a:lnTo>
                  <a:lnTo>
                    <a:pt x="1947672" y="0"/>
                  </a:lnTo>
                  <a:close/>
                </a:path>
              </a:pathLst>
            </a:custGeom>
            <a:solidFill>
              <a:srgbClr val="DFCDE3"/>
            </a:solidFill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  <p:sp>
          <p:nvSpPr>
            <p:cNvPr id="42" name="object 32">
              <a:extLst>
                <a:ext uri="{FF2B5EF4-FFF2-40B4-BE49-F238E27FC236}">
                  <a16:creationId xmlns:a16="http://schemas.microsoft.com/office/drawing/2014/main" id="{1D9CDDEB-55B2-CE94-260F-43C8A916DCDE}"/>
                </a:ext>
              </a:extLst>
            </p:cNvPr>
            <p:cNvSpPr/>
            <p:nvPr/>
          </p:nvSpPr>
          <p:spPr>
            <a:xfrm>
              <a:off x="3256026" y="2050542"/>
              <a:ext cx="2321560" cy="489584"/>
            </a:xfrm>
            <a:custGeom>
              <a:avLst/>
              <a:gdLst/>
              <a:ahLst/>
              <a:cxnLst/>
              <a:rect l="l" t="t" r="r" b="b"/>
              <a:pathLst>
                <a:path w="2321560" h="489585">
                  <a:moveTo>
                    <a:pt x="373379" y="0"/>
                  </a:moveTo>
                  <a:lnTo>
                    <a:pt x="1947672" y="0"/>
                  </a:lnTo>
                  <a:lnTo>
                    <a:pt x="2002855" y="2651"/>
                  </a:lnTo>
                  <a:lnTo>
                    <a:pt x="2055522" y="10353"/>
                  </a:lnTo>
                  <a:lnTo>
                    <a:pt x="2105095" y="22727"/>
                  </a:lnTo>
                  <a:lnTo>
                    <a:pt x="2150997" y="39397"/>
                  </a:lnTo>
                  <a:lnTo>
                    <a:pt x="2192651" y="59983"/>
                  </a:lnTo>
                  <a:lnTo>
                    <a:pt x="2229480" y="84109"/>
                  </a:lnTo>
                  <a:lnTo>
                    <a:pt x="2260907" y="111396"/>
                  </a:lnTo>
                  <a:lnTo>
                    <a:pt x="2286354" y="141467"/>
                  </a:lnTo>
                  <a:lnTo>
                    <a:pt x="2317004" y="208447"/>
                  </a:lnTo>
                  <a:lnTo>
                    <a:pt x="2321052" y="244601"/>
                  </a:lnTo>
                  <a:lnTo>
                    <a:pt x="2317004" y="280756"/>
                  </a:lnTo>
                  <a:lnTo>
                    <a:pt x="2286354" y="347736"/>
                  </a:lnTo>
                  <a:lnTo>
                    <a:pt x="2260907" y="377807"/>
                  </a:lnTo>
                  <a:lnTo>
                    <a:pt x="2229480" y="405094"/>
                  </a:lnTo>
                  <a:lnTo>
                    <a:pt x="2192651" y="429220"/>
                  </a:lnTo>
                  <a:lnTo>
                    <a:pt x="2150997" y="449806"/>
                  </a:lnTo>
                  <a:lnTo>
                    <a:pt x="2105095" y="466476"/>
                  </a:lnTo>
                  <a:lnTo>
                    <a:pt x="2055522" y="478850"/>
                  </a:lnTo>
                  <a:lnTo>
                    <a:pt x="2002855" y="486552"/>
                  </a:lnTo>
                  <a:lnTo>
                    <a:pt x="1947672" y="489203"/>
                  </a:lnTo>
                  <a:lnTo>
                    <a:pt x="373379" y="489203"/>
                  </a:lnTo>
                  <a:lnTo>
                    <a:pt x="318196" y="486552"/>
                  </a:lnTo>
                  <a:lnTo>
                    <a:pt x="265529" y="478850"/>
                  </a:lnTo>
                  <a:lnTo>
                    <a:pt x="215956" y="466476"/>
                  </a:lnTo>
                  <a:lnTo>
                    <a:pt x="170054" y="449806"/>
                  </a:lnTo>
                  <a:lnTo>
                    <a:pt x="128400" y="429220"/>
                  </a:lnTo>
                  <a:lnTo>
                    <a:pt x="91571" y="405094"/>
                  </a:lnTo>
                  <a:lnTo>
                    <a:pt x="60144" y="377807"/>
                  </a:lnTo>
                  <a:lnTo>
                    <a:pt x="34697" y="347736"/>
                  </a:lnTo>
                  <a:lnTo>
                    <a:pt x="4047" y="280756"/>
                  </a:lnTo>
                  <a:lnTo>
                    <a:pt x="0" y="244601"/>
                  </a:lnTo>
                  <a:lnTo>
                    <a:pt x="4047" y="208447"/>
                  </a:lnTo>
                  <a:lnTo>
                    <a:pt x="34697" y="141467"/>
                  </a:lnTo>
                  <a:lnTo>
                    <a:pt x="60144" y="111396"/>
                  </a:lnTo>
                  <a:lnTo>
                    <a:pt x="91571" y="84109"/>
                  </a:lnTo>
                  <a:lnTo>
                    <a:pt x="128400" y="59983"/>
                  </a:lnTo>
                  <a:lnTo>
                    <a:pt x="170054" y="39397"/>
                  </a:lnTo>
                  <a:lnTo>
                    <a:pt x="215956" y="22727"/>
                  </a:lnTo>
                  <a:lnTo>
                    <a:pt x="265529" y="10353"/>
                  </a:lnTo>
                  <a:lnTo>
                    <a:pt x="318196" y="2651"/>
                  </a:lnTo>
                  <a:lnTo>
                    <a:pt x="373379" y="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</p:grpSp>
      <p:sp>
        <p:nvSpPr>
          <p:cNvPr id="43" name="object 33">
            <a:extLst>
              <a:ext uri="{FF2B5EF4-FFF2-40B4-BE49-F238E27FC236}">
                <a16:creationId xmlns:a16="http://schemas.microsoft.com/office/drawing/2014/main" id="{2F28E4E5-DD37-0053-FDE2-36DDCF682327}"/>
              </a:ext>
            </a:extLst>
          </p:cNvPr>
          <p:cNvSpPr txBox="1"/>
          <p:nvPr/>
        </p:nvSpPr>
        <p:spPr>
          <a:xfrm>
            <a:off x="4040503" y="971550"/>
            <a:ext cx="2055497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ctr">
              <a:lnSpc>
                <a:spcPct val="100000"/>
              </a:lnSpc>
              <a:spcBef>
                <a:spcPts val="100"/>
              </a:spcBef>
            </a:pPr>
            <a:r>
              <a:rPr sz="1100" b="1" dirty="0" err="1">
                <a:latin typeface="Bookman Old Style" panose="02050604050505020204" pitchFamily="18" charset="0"/>
                <a:cs typeface="Times New Roman"/>
              </a:rPr>
              <a:t>Déterminer</a:t>
            </a:r>
            <a:r>
              <a:rPr sz="1100" b="1"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 smtClean="0">
                <a:latin typeface="Bookman Old Style" panose="02050604050505020204" pitchFamily="18" charset="0"/>
                <a:cs typeface="Times New Roman"/>
              </a:rPr>
              <a:t>l</a:t>
            </a:r>
            <a:r>
              <a:rPr lang="en-US" sz="1100" b="1" dirty="0" smtClean="0">
                <a:latin typeface="Bookman Old Style" panose="02050604050505020204" pitchFamily="18" charset="0"/>
                <a:cs typeface="Times New Roman"/>
              </a:rPr>
              <a:t>a tension</a:t>
            </a:r>
            <a:r>
              <a:rPr sz="1100" b="1" spc="-10" dirty="0" smtClean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100" b="1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en-US" sz="1100" b="1" spc="-10" dirty="0" err="1">
                <a:latin typeface="Bookman Old Style" panose="02050604050505020204" pitchFamily="18" charset="0"/>
                <a:cs typeface="Times New Roman"/>
              </a:rPr>
              <a:t>Thévenin</a:t>
            </a:r>
            <a:endParaRPr lang="en-US"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44" name="object 34">
            <a:extLst>
              <a:ext uri="{FF2B5EF4-FFF2-40B4-BE49-F238E27FC236}">
                <a16:creationId xmlns:a16="http://schemas.microsoft.com/office/drawing/2014/main" id="{6FE12B2B-7A88-A5F3-7869-EB97FB47EC88}"/>
              </a:ext>
            </a:extLst>
          </p:cNvPr>
          <p:cNvSpPr txBox="1"/>
          <p:nvPr/>
        </p:nvSpPr>
        <p:spPr>
          <a:xfrm>
            <a:off x="567405" y="1519940"/>
            <a:ext cx="1875638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Débrancher</a:t>
            </a:r>
            <a:r>
              <a:rPr sz="1100" b="1" spc="-4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la</a:t>
            </a:r>
            <a:r>
              <a:rPr sz="1100" b="1" spc="-3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charge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52" name="object 35">
            <a:extLst>
              <a:ext uri="{FF2B5EF4-FFF2-40B4-BE49-F238E27FC236}">
                <a16:creationId xmlns:a16="http://schemas.microsoft.com/office/drawing/2014/main" id="{4729E603-B645-2269-3726-9D63BB5C610E}"/>
              </a:ext>
            </a:extLst>
          </p:cNvPr>
          <p:cNvSpPr txBox="1"/>
          <p:nvPr/>
        </p:nvSpPr>
        <p:spPr>
          <a:xfrm>
            <a:off x="567405" y="1885700"/>
            <a:ext cx="2485238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Éteindre</a:t>
            </a:r>
            <a:r>
              <a:rPr sz="1100" b="1" spc="-4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les</a:t>
            </a:r>
            <a:r>
              <a:rPr sz="1100" b="1" spc="-2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sources</a:t>
            </a:r>
            <a:r>
              <a:rPr sz="1100" b="1" spc="-4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d'énergie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56" name="object 36">
            <a:extLst>
              <a:ext uri="{FF2B5EF4-FFF2-40B4-BE49-F238E27FC236}">
                <a16:creationId xmlns:a16="http://schemas.microsoft.com/office/drawing/2014/main" id="{F5452A16-898B-AABF-3035-5FDCD600CAEF}"/>
              </a:ext>
            </a:extLst>
          </p:cNvPr>
          <p:cNvSpPr txBox="1"/>
          <p:nvPr/>
        </p:nvSpPr>
        <p:spPr>
          <a:xfrm>
            <a:off x="617672" y="2329233"/>
            <a:ext cx="295299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 indent="-124460">
              <a:lnSpc>
                <a:spcPct val="100000"/>
              </a:lnSpc>
              <a:spcBef>
                <a:spcPts val="100"/>
              </a:spcBef>
              <a:buChar char="&gt;"/>
              <a:tabLst>
                <a:tab pos="137160" algn="l"/>
              </a:tabLst>
            </a:pPr>
            <a:r>
              <a:rPr sz="1100" b="1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Source</a:t>
            </a:r>
            <a:r>
              <a:rPr sz="1100" b="1" spc="-5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100" b="1" spc="-20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tension</a:t>
            </a:r>
            <a:r>
              <a:rPr sz="1100" b="1" spc="-5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/>
              </a:rPr>
              <a:t>Equi</a:t>
            </a:r>
            <a:r>
              <a:rPr sz="1100" b="1" spc="-35" dirty="0">
                <a:solidFill>
                  <a:srgbClr val="FF00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court-circuit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57" name="object 37">
            <a:extLst>
              <a:ext uri="{FF2B5EF4-FFF2-40B4-BE49-F238E27FC236}">
                <a16:creationId xmlns:a16="http://schemas.microsoft.com/office/drawing/2014/main" id="{3EF213A5-B371-BCF1-A11A-44DABA93AC96}"/>
              </a:ext>
            </a:extLst>
          </p:cNvPr>
          <p:cNvSpPr txBox="1"/>
          <p:nvPr/>
        </p:nvSpPr>
        <p:spPr>
          <a:xfrm>
            <a:off x="618885" y="2950174"/>
            <a:ext cx="364831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890" indent="-123189">
              <a:lnSpc>
                <a:spcPct val="100000"/>
              </a:lnSpc>
              <a:spcBef>
                <a:spcPts val="100"/>
              </a:spcBef>
              <a:buFont typeface="Times New Roman"/>
              <a:buChar char="&gt;"/>
              <a:tabLst>
                <a:tab pos="135890" algn="l"/>
              </a:tabLst>
            </a:pPr>
            <a:r>
              <a:rPr sz="1100" b="1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Source</a:t>
            </a:r>
            <a:r>
              <a:rPr sz="1100" b="1" spc="-5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100" b="1" spc="-20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courant</a:t>
            </a:r>
            <a:r>
              <a:rPr sz="1100" b="1" spc="-5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 err="1">
                <a:solidFill>
                  <a:srgbClr val="C00000"/>
                </a:solidFill>
                <a:latin typeface="Bookman Old Style" panose="02050604050505020204" pitchFamily="18" charset="0"/>
                <a:cs typeface="Times New Roman"/>
              </a:rPr>
              <a:t>Equi</a:t>
            </a:r>
            <a:r>
              <a:rPr sz="1100" b="1" spc="-30" dirty="0">
                <a:solidFill>
                  <a:srgbClr val="FF00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 smtClean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circuit</a:t>
            </a:r>
            <a:r>
              <a:rPr lang="en-US" sz="1100" b="1" spc="-10" dirty="0" smtClean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en-US" sz="1100" b="1" spc="-10" dirty="0" err="1" smtClean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ouvert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58" name="object 38">
            <a:extLst>
              <a:ext uri="{FF2B5EF4-FFF2-40B4-BE49-F238E27FC236}">
                <a16:creationId xmlns:a16="http://schemas.microsoft.com/office/drawing/2014/main" id="{D28E7DE8-5B74-1491-2FFF-0558F1447E2C}"/>
              </a:ext>
            </a:extLst>
          </p:cNvPr>
          <p:cNvSpPr txBox="1"/>
          <p:nvPr/>
        </p:nvSpPr>
        <p:spPr>
          <a:xfrm>
            <a:off x="4139325" y="1540763"/>
            <a:ext cx="208978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Débrancher</a:t>
            </a:r>
            <a:r>
              <a:rPr sz="1100" b="1" spc="-2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la</a:t>
            </a:r>
            <a:r>
              <a:rPr sz="1100" b="1" spc="-2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charge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61" name="object 40">
            <a:extLst>
              <a:ext uri="{FF2B5EF4-FFF2-40B4-BE49-F238E27FC236}">
                <a16:creationId xmlns:a16="http://schemas.microsoft.com/office/drawing/2014/main" id="{07DCD847-D152-1118-E1B3-668C229560A2}"/>
              </a:ext>
            </a:extLst>
          </p:cNvPr>
          <p:cNvSpPr txBox="1"/>
          <p:nvPr/>
        </p:nvSpPr>
        <p:spPr>
          <a:xfrm>
            <a:off x="5822798" y="3354276"/>
            <a:ext cx="1875638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Brancher</a:t>
            </a:r>
            <a:r>
              <a:rPr sz="1100" b="1" spc="-4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la</a:t>
            </a:r>
            <a:r>
              <a:rPr sz="1100" b="1" spc="-1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charge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62" name="object 41">
            <a:extLst>
              <a:ext uri="{FF2B5EF4-FFF2-40B4-BE49-F238E27FC236}">
                <a16:creationId xmlns:a16="http://schemas.microsoft.com/office/drawing/2014/main" id="{91D9712E-95A8-856C-F688-E91679CA8093}"/>
              </a:ext>
            </a:extLst>
          </p:cNvPr>
          <p:cNvSpPr txBox="1"/>
          <p:nvPr/>
        </p:nvSpPr>
        <p:spPr>
          <a:xfrm>
            <a:off x="5822798" y="3786818"/>
            <a:ext cx="276529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 marR="5080" indent="-28956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17500" algn="l"/>
              </a:tabLst>
            </a:pPr>
            <a:r>
              <a:rPr sz="1100" b="1" dirty="0" err="1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Utiliser</a:t>
            </a:r>
            <a:r>
              <a:rPr sz="1100" b="1" spc="-3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le</a:t>
            </a:r>
            <a:r>
              <a:rPr lang="fr-FR"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générateur de </a:t>
            </a:r>
            <a:r>
              <a:rPr lang="fr-FR" sz="1100" b="1" dirty="0" err="1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Thévenin</a:t>
            </a:r>
            <a:r>
              <a:rPr sz="1100" b="1" spc="-20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et</a:t>
            </a:r>
            <a:r>
              <a:rPr sz="1100" b="1" spc="-20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en-US" sz="1100" b="1" spc="-20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la </a:t>
            </a:r>
            <a:r>
              <a:rPr sz="11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résistance</a:t>
            </a:r>
            <a:r>
              <a:rPr sz="1100" b="1" spc="-10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100" b="1" spc="-2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en-US" sz="1100" b="1" dirty="0" err="1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Thévenin</a:t>
            </a:r>
            <a:r>
              <a:rPr sz="1100" b="1" spc="-25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2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pour </a:t>
            </a:r>
            <a:r>
              <a:rPr sz="11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former</a:t>
            </a:r>
            <a:r>
              <a:rPr sz="1100" b="1" spc="-35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le</a:t>
            </a:r>
            <a:r>
              <a:rPr sz="1100" b="1" spc="-3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circuit</a:t>
            </a: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«</a:t>
            </a:r>
            <a:r>
              <a:rPr sz="1100" b="1" spc="-3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simple</a:t>
            </a:r>
            <a:r>
              <a:rPr sz="1100" b="1" spc="-3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5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»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grpSp>
        <p:nvGrpSpPr>
          <p:cNvPr id="66" name="object 42">
            <a:extLst>
              <a:ext uri="{FF2B5EF4-FFF2-40B4-BE49-F238E27FC236}">
                <a16:creationId xmlns:a16="http://schemas.microsoft.com/office/drawing/2014/main" id="{45F1B9BD-4CBC-4170-FA55-FBE6681388FF}"/>
              </a:ext>
            </a:extLst>
          </p:cNvPr>
          <p:cNvGrpSpPr/>
          <p:nvPr/>
        </p:nvGrpSpPr>
        <p:grpSpPr>
          <a:xfrm>
            <a:off x="1503850" y="2470458"/>
            <a:ext cx="1257300" cy="1373837"/>
            <a:chOff x="1651254" y="3471671"/>
            <a:chExt cx="1257300" cy="1479236"/>
          </a:xfrm>
        </p:grpSpPr>
        <p:pic>
          <p:nvPicPr>
            <p:cNvPr id="67" name="object 43">
              <a:extLst>
                <a:ext uri="{FF2B5EF4-FFF2-40B4-BE49-F238E27FC236}">
                  <a16:creationId xmlns:a16="http://schemas.microsoft.com/office/drawing/2014/main" id="{5896C3F0-DCB9-63DD-29CA-73B42608B8B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51254" y="4249867"/>
              <a:ext cx="1257300" cy="701040"/>
            </a:xfrm>
            <a:prstGeom prst="rect">
              <a:avLst/>
            </a:prstGeom>
          </p:spPr>
        </p:pic>
        <p:pic>
          <p:nvPicPr>
            <p:cNvPr id="68" name="object 44">
              <a:extLst>
                <a:ext uri="{FF2B5EF4-FFF2-40B4-BE49-F238E27FC236}">
                  <a16:creationId xmlns:a16="http://schemas.microsoft.com/office/drawing/2014/main" id="{68D65B10-53DD-EB37-0D5B-330DCAB0097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7736" y="3471671"/>
              <a:ext cx="1164336" cy="649223"/>
            </a:xfrm>
            <a:prstGeom prst="rect">
              <a:avLst/>
            </a:prstGeom>
          </p:spPr>
        </p:pic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841BEDDF-E5BD-68EF-5040-2D3E5BADC314}"/>
              </a:ext>
            </a:extLst>
          </p:cNvPr>
          <p:cNvSpPr txBox="1"/>
          <p:nvPr/>
        </p:nvSpPr>
        <p:spPr>
          <a:xfrm>
            <a:off x="1972028" y="279925"/>
            <a:ext cx="4588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41605" algn="ctr">
              <a:lnSpc>
                <a:spcPct val="100000"/>
              </a:lnSpc>
            </a:pPr>
            <a:r>
              <a:rPr lang="fr-FR" sz="1800" b="1" spc="-10" dirty="0">
                <a:latin typeface="Bookman Old Style" panose="02050604050505020204" pitchFamily="18" charset="0"/>
                <a:cs typeface="Times New Roman"/>
              </a:rPr>
              <a:t>Etapes</a:t>
            </a:r>
            <a:endParaRPr lang="fr-FR" sz="18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3EF213A5-B371-BCF1-A11A-44DABA93AC96}"/>
              </a:ext>
            </a:extLst>
          </p:cNvPr>
          <p:cNvSpPr txBox="1"/>
          <p:nvPr/>
        </p:nvSpPr>
        <p:spPr>
          <a:xfrm>
            <a:off x="617673" y="3685049"/>
            <a:ext cx="325779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1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135890" algn="l"/>
              </a:tabLst>
            </a:pPr>
            <a:r>
              <a:rPr lang="en-US" sz="11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R</a:t>
            </a:r>
            <a:r>
              <a:rPr lang="en-US" sz="1100" b="1" baseline="-25000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TH</a:t>
            </a:r>
            <a:r>
              <a:rPr lang="en-US" sz="11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en-US" sz="1100" b="1" dirty="0" err="1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est</a:t>
            </a:r>
            <a:r>
              <a:rPr lang="en-US" sz="11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la résistance </a:t>
            </a:r>
            <a:r>
              <a:rPr lang="en-US" sz="1100" b="1" dirty="0" err="1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mesurée</a:t>
            </a:r>
            <a:r>
              <a:rPr lang="en-US" sz="11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entre A et B</a:t>
            </a:r>
            <a:endParaRPr sz="1100" dirty="0">
              <a:solidFill>
                <a:srgbClr val="FF0000"/>
              </a:solidFill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39" name="object 37">
            <a:extLst>
              <a:ext uri="{FF2B5EF4-FFF2-40B4-BE49-F238E27FC236}">
                <a16:creationId xmlns:a16="http://schemas.microsoft.com/office/drawing/2014/main" id="{3EF213A5-B371-BCF1-A11A-44DABA93AC96}"/>
              </a:ext>
            </a:extLst>
          </p:cNvPr>
          <p:cNvSpPr txBox="1"/>
          <p:nvPr/>
        </p:nvSpPr>
        <p:spPr>
          <a:xfrm>
            <a:off x="4139325" y="1885950"/>
            <a:ext cx="364831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1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135890" algn="l"/>
              </a:tabLst>
            </a:pPr>
            <a:r>
              <a:rPr lang="en-US" sz="11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E</a:t>
            </a:r>
            <a:r>
              <a:rPr lang="en-US" sz="1100" b="1" baseline="-25000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TH</a:t>
            </a:r>
            <a:r>
              <a:rPr lang="en-US" sz="11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en-US" sz="1100" b="1" dirty="0" err="1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est</a:t>
            </a:r>
            <a:r>
              <a:rPr lang="en-US" sz="11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la tension </a:t>
            </a:r>
            <a:r>
              <a:rPr lang="en-US" sz="1100" b="1" dirty="0" err="1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mesuré</a:t>
            </a:r>
            <a:r>
              <a:rPr lang="en-US" sz="11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entre A et B</a:t>
            </a:r>
            <a:endParaRPr sz="1100" dirty="0">
              <a:solidFill>
                <a:srgbClr val="FF0000"/>
              </a:solidFill>
              <a:latin typeface="Bookman Old Style" panose="020506040505050202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409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8" grpId="0"/>
      <p:bldP spid="43" grpId="0"/>
      <p:bldP spid="44" grpId="0"/>
      <p:bldP spid="52" grpId="0"/>
      <p:bldP spid="56" grpId="0"/>
      <p:bldP spid="57" grpId="0"/>
      <p:bldP spid="58" grpId="0"/>
      <p:bldP spid="61" grpId="0"/>
      <p:bldP spid="62" grpId="0"/>
      <p:bldP spid="37" grpId="0"/>
      <p:bldP spid="3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50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1" name="object 14">
            <a:extLst>
              <a:ext uri="{FF2B5EF4-FFF2-40B4-BE49-F238E27FC236}">
                <a16:creationId xmlns:a16="http://schemas.microsoft.com/office/drawing/2014/main" id="{2EE7D070-8261-8148-CA91-F0E1EBE3230B}"/>
              </a:ext>
            </a:extLst>
          </p:cNvPr>
          <p:cNvSpPr txBox="1"/>
          <p:nvPr/>
        </p:nvSpPr>
        <p:spPr>
          <a:xfrm>
            <a:off x="372542" y="361950"/>
            <a:ext cx="153245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u="sng" spc="-10" dirty="0">
                <a:uFill>
                  <a:solidFill>
                    <a:srgbClr val="000000"/>
                  </a:solidFill>
                </a:uFill>
                <a:latin typeface="Bookman Old Style" panose="02050604050505020204" pitchFamily="18" charset="0"/>
                <a:cs typeface="Times New Roman"/>
              </a:rPr>
              <a:t>Exemple:</a:t>
            </a:r>
            <a:endParaRPr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3" name="object 29">
            <a:extLst>
              <a:ext uri="{FF2B5EF4-FFF2-40B4-BE49-F238E27FC236}">
                <a16:creationId xmlns:a16="http://schemas.microsoft.com/office/drawing/2014/main" id="{CD358E02-EB5D-0782-4976-85CDCD9076FE}"/>
              </a:ext>
            </a:extLst>
          </p:cNvPr>
          <p:cNvSpPr txBox="1"/>
          <p:nvPr/>
        </p:nvSpPr>
        <p:spPr>
          <a:xfrm>
            <a:off x="592866" y="896580"/>
            <a:ext cx="421349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49935" marR="484505" indent="-71247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Étape</a:t>
            </a:r>
            <a:r>
              <a:rPr sz="1600" b="1" spc="-20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b="1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1</a:t>
            </a:r>
            <a:r>
              <a:rPr sz="1600" b="1" spc="-15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b="1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:</a:t>
            </a:r>
            <a:r>
              <a:rPr sz="1600" b="1" spc="-15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dirty="0">
                <a:latin typeface="Bookman Old Style" panose="02050604050505020204" pitchFamily="18" charset="0"/>
                <a:cs typeface="Times New Roman"/>
              </a:rPr>
              <a:t>Déterminer</a:t>
            </a:r>
            <a:r>
              <a:rPr sz="1600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dirty="0">
                <a:latin typeface="Bookman Old Style" panose="02050604050505020204" pitchFamily="18" charset="0"/>
                <a:cs typeface="Times New Roman"/>
              </a:rPr>
              <a:t>la</a:t>
            </a:r>
            <a:r>
              <a:rPr sz="1600" spc="-10" dirty="0">
                <a:latin typeface="Bookman Old Style" panose="02050604050505020204" pitchFamily="18" charset="0"/>
                <a:cs typeface="Times New Roman"/>
              </a:rPr>
              <a:t> résistance </a:t>
            </a:r>
            <a:r>
              <a:rPr sz="1600"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600" spc="-4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dirty="0">
                <a:latin typeface="Bookman Old Style" panose="02050604050505020204" pitchFamily="18" charset="0"/>
                <a:cs typeface="Times New Roman"/>
              </a:rPr>
              <a:t>Thévenin</a:t>
            </a:r>
            <a:r>
              <a:rPr sz="1600" spc="2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spc="-20" dirty="0">
                <a:latin typeface="Bookman Old Style" panose="02050604050505020204" pitchFamily="18" charset="0"/>
                <a:cs typeface="Cambria Math"/>
              </a:rPr>
              <a:t>(𝑹</a:t>
            </a:r>
            <a:r>
              <a:rPr sz="1600" spc="-30" baseline="-16666" dirty="0">
                <a:latin typeface="Bookman Old Style" panose="02050604050505020204" pitchFamily="18" charset="0"/>
                <a:cs typeface="Cambria Math"/>
              </a:rPr>
              <a:t>𝑻𝒉</a:t>
            </a:r>
            <a:r>
              <a:rPr sz="1600" b="1" spc="-20" dirty="0" smtClean="0">
                <a:latin typeface="Bookman Old Style" panose="02050604050505020204" pitchFamily="18" charset="0"/>
                <a:cs typeface="Times New Roman"/>
              </a:rPr>
              <a:t>)</a:t>
            </a:r>
            <a:endParaRPr sz="16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E2BBA375-E4F8-5F49-8768-772234C4B945}"/>
              </a:ext>
            </a:extLst>
          </p:cNvPr>
          <p:cNvSpPr/>
          <p:nvPr/>
        </p:nvSpPr>
        <p:spPr>
          <a:xfrm>
            <a:off x="6754368" y="1991867"/>
            <a:ext cx="265430" cy="1844039"/>
          </a:xfrm>
          <a:custGeom>
            <a:avLst/>
            <a:gdLst/>
            <a:ahLst/>
            <a:cxnLst/>
            <a:rect l="l" t="t" r="r" b="b"/>
            <a:pathLst>
              <a:path w="265429" h="1844039">
                <a:moveTo>
                  <a:pt x="0" y="1438656"/>
                </a:moveTo>
                <a:lnTo>
                  <a:pt x="265175" y="1438656"/>
                </a:lnTo>
                <a:lnTo>
                  <a:pt x="265175" y="394716"/>
                </a:lnTo>
                <a:lnTo>
                  <a:pt x="0" y="394716"/>
                </a:lnTo>
                <a:lnTo>
                  <a:pt x="0" y="1438656"/>
                </a:lnTo>
                <a:close/>
              </a:path>
              <a:path w="265429" h="1844039">
                <a:moveTo>
                  <a:pt x="132587" y="1438656"/>
                </a:moveTo>
                <a:lnTo>
                  <a:pt x="132587" y="1843659"/>
                </a:lnTo>
              </a:path>
              <a:path w="265429" h="1844039">
                <a:moveTo>
                  <a:pt x="132587" y="0"/>
                </a:moveTo>
                <a:lnTo>
                  <a:pt x="132587" y="405002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5">
            <a:extLst>
              <a:ext uri="{FF2B5EF4-FFF2-40B4-BE49-F238E27FC236}">
                <a16:creationId xmlns:a16="http://schemas.microsoft.com/office/drawing/2014/main" id="{2489F9FD-6975-51BA-E800-F7FEFA578D3F}"/>
              </a:ext>
            </a:extLst>
          </p:cNvPr>
          <p:cNvGrpSpPr/>
          <p:nvPr/>
        </p:nvGrpSpPr>
        <p:grpSpPr>
          <a:xfrm>
            <a:off x="7829612" y="1890915"/>
            <a:ext cx="196595" cy="1975104"/>
            <a:chOff x="7802879" y="1892807"/>
            <a:chExt cx="196595" cy="1975104"/>
          </a:xfrm>
        </p:grpSpPr>
        <p:pic>
          <p:nvPicPr>
            <p:cNvPr id="21" name="object 17">
              <a:extLst>
                <a:ext uri="{FF2B5EF4-FFF2-40B4-BE49-F238E27FC236}">
                  <a16:creationId xmlns:a16="http://schemas.microsoft.com/office/drawing/2014/main" id="{E0DD2F8C-F275-ACEF-DCCC-4C2A3446378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02879" y="1892807"/>
              <a:ext cx="184403" cy="143256"/>
            </a:xfrm>
            <a:prstGeom prst="rect">
              <a:avLst/>
            </a:prstGeom>
          </p:spPr>
        </p:pic>
        <p:pic>
          <p:nvPicPr>
            <p:cNvPr id="22" name="object 18">
              <a:extLst>
                <a:ext uri="{FF2B5EF4-FFF2-40B4-BE49-F238E27FC236}">
                  <a16:creationId xmlns:a16="http://schemas.microsoft.com/office/drawing/2014/main" id="{84D880F7-0E9E-CA10-AE27-4C86EBDA72F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5071" y="3724655"/>
              <a:ext cx="184403" cy="143256"/>
            </a:xfrm>
            <a:prstGeom prst="rect">
              <a:avLst/>
            </a:prstGeom>
          </p:spPr>
        </p:pic>
      </p:grpSp>
      <p:sp>
        <p:nvSpPr>
          <p:cNvPr id="23" name="object 19">
            <a:extLst>
              <a:ext uri="{FF2B5EF4-FFF2-40B4-BE49-F238E27FC236}">
                <a16:creationId xmlns:a16="http://schemas.microsoft.com/office/drawing/2014/main" id="{1C05DDA1-1A93-B1DE-A45F-527FF56C39F5}"/>
              </a:ext>
            </a:extLst>
          </p:cNvPr>
          <p:cNvSpPr txBox="1"/>
          <p:nvPr/>
        </p:nvSpPr>
        <p:spPr>
          <a:xfrm>
            <a:off x="7852409" y="1567434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E7CACE44-C96B-F53A-9AA3-7D9EFEA52E64}"/>
              </a:ext>
            </a:extLst>
          </p:cNvPr>
          <p:cNvSpPr txBox="1"/>
          <p:nvPr/>
        </p:nvSpPr>
        <p:spPr>
          <a:xfrm>
            <a:off x="7859648" y="3886606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5" name="object 21">
            <a:extLst>
              <a:ext uri="{FF2B5EF4-FFF2-40B4-BE49-F238E27FC236}">
                <a16:creationId xmlns:a16="http://schemas.microsoft.com/office/drawing/2014/main" id="{B3CA2512-2DC0-22D5-8966-78602D06225C}"/>
              </a:ext>
            </a:extLst>
          </p:cNvPr>
          <p:cNvGrpSpPr/>
          <p:nvPr/>
        </p:nvGrpSpPr>
        <p:grpSpPr>
          <a:xfrm>
            <a:off x="4110228" y="1825752"/>
            <a:ext cx="2092705" cy="265430"/>
            <a:chOff x="4110228" y="1825752"/>
            <a:chExt cx="2092705" cy="265430"/>
          </a:xfrm>
        </p:grpSpPr>
        <p:sp>
          <p:nvSpPr>
            <p:cNvPr id="26" name="object 22">
              <a:extLst>
                <a:ext uri="{FF2B5EF4-FFF2-40B4-BE49-F238E27FC236}">
                  <a16:creationId xmlns:a16="http://schemas.microsoft.com/office/drawing/2014/main" id="{56D4C591-F941-A2D2-7459-20333F0C10A7}"/>
                </a:ext>
              </a:extLst>
            </p:cNvPr>
            <p:cNvSpPr/>
            <p:nvPr/>
          </p:nvSpPr>
          <p:spPr>
            <a:xfrm>
              <a:off x="4110228" y="1976628"/>
              <a:ext cx="1028700" cy="0"/>
            </a:xfrm>
            <a:custGeom>
              <a:avLst/>
              <a:gdLst/>
              <a:ahLst/>
              <a:cxnLst/>
              <a:rect l="l" t="t" r="r" b="b"/>
              <a:pathLst>
                <a:path w="1028700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3">
              <a:extLst>
                <a:ext uri="{FF2B5EF4-FFF2-40B4-BE49-F238E27FC236}">
                  <a16:creationId xmlns:a16="http://schemas.microsoft.com/office/drawing/2014/main" id="{D0F4A47E-19C8-1F9C-A0BB-FF4FAA6BA1F9}"/>
                </a:ext>
              </a:extLst>
            </p:cNvPr>
            <p:cNvSpPr/>
            <p:nvPr/>
          </p:nvSpPr>
          <p:spPr>
            <a:xfrm>
              <a:off x="5160264" y="1825752"/>
              <a:ext cx="1042669" cy="265430"/>
            </a:xfrm>
            <a:custGeom>
              <a:avLst/>
              <a:gdLst/>
              <a:ahLst/>
              <a:cxnLst/>
              <a:rect l="l" t="t" r="r" b="b"/>
              <a:pathLst>
                <a:path w="1042670" h="265430">
                  <a:moveTo>
                    <a:pt x="0" y="265175"/>
                  </a:moveTo>
                  <a:lnTo>
                    <a:pt x="1042415" y="265175"/>
                  </a:lnTo>
                  <a:lnTo>
                    <a:pt x="1042415" y="0"/>
                  </a:lnTo>
                  <a:lnTo>
                    <a:pt x="0" y="0"/>
                  </a:lnTo>
                  <a:lnTo>
                    <a:pt x="0" y="265175"/>
                  </a:lnTo>
                  <a:close/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26">
            <a:extLst>
              <a:ext uri="{FF2B5EF4-FFF2-40B4-BE49-F238E27FC236}">
                <a16:creationId xmlns:a16="http://schemas.microsoft.com/office/drawing/2014/main" id="{3E8BCF76-6C38-B577-E8A4-D60A5FEB38AD}"/>
              </a:ext>
            </a:extLst>
          </p:cNvPr>
          <p:cNvSpPr txBox="1"/>
          <p:nvPr/>
        </p:nvSpPr>
        <p:spPr>
          <a:xfrm>
            <a:off x="6409944" y="2707386"/>
            <a:ext cx="2787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mbria Math"/>
                <a:cs typeface="Cambria Math"/>
              </a:rPr>
              <a:t>𝑹</a:t>
            </a:r>
            <a:r>
              <a:rPr sz="1500" spc="-37" baseline="-16666" dirty="0">
                <a:latin typeface="Cambria Math"/>
                <a:cs typeface="Cambria Math"/>
              </a:rPr>
              <a:t>𝟐</a:t>
            </a:r>
            <a:endParaRPr sz="1500" baseline="-16666">
              <a:latin typeface="Cambria Math"/>
              <a:cs typeface="Cambria Math"/>
            </a:endParaRPr>
          </a:p>
        </p:txBody>
      </p:sp>
      <p:sp>
        <p:nvSpPr>
          <p:cNvPr id="31" name="object 27">
            <a:extLst>
              <a:ext uri="{FF2B5EF4-FFF2-40B4-BE49-F238E27FC236}">
                <a16:creationId xmlns:a16="http://schemas.microsoft.com/office/drawing/2014/main" id="{0A5245EB-58A6-379F-883C-7D3F444A9361}"/>
              </a:ext>
            </a:extLst>
          </p:cNvPr>
          <p:cNvSpPr txBox="1"/>
          <p:nvPr/>
        </p:nvSpPr>
        <p:spPr>
          <a:xfrm>
            <a:off x="5539485" y="1508506"/>
            <a:ext cx="2787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Cambria Math"/>
                <a:cs typeface="Cambria Math"/>
              </a:rPr>
              <a:t>𝑹</a:t>
            </a:r>
            <a:r>
              <a:rPr sz="1500" spc="-37" baseline="-16666" dirty="0">
                <a:latin typeface="Cambria Math"/>
                <a:cs typeface="Cambria Math"/>
              </a:rPr>
              <a:t>𝟏</a:t>
            </a:r>
            <a:endParaRPr sz="1500" baseline="-16666">
              <a:latin typeface="Cambria Math"/>
              <a:cs typeface="Cambria Math"/>
            </a:endParaRPr>
          </a:p>
        </p:txBody>
      </p:sp>
      <p:sp>
        <p:nvSpPr>
          <p:cNvPr id="34" name="object 32">
            <a:extLst>
              <a:ext uri="{FF2B5EF4-FFF2-40B4-BE49-F238E27FC236}">
                <a16:creationId xmlns:a16="http://schemas.microsoft.com/office/drawing/2014/main" id="{F50D9ABD-1125-AB40-8C1B-45FFC850001F}"/>
              </a:ext>
            </a:extLst>
          </p:cNvPr>
          <p:cNvSpPr/>
          <p:nvPr/>
        </p:nvSpPr>
        <p:spPr>
          <a:xfrm>
            <a:off x="8403512" y="1991867"/>
            <a:ext cx="161715" cy="1639570"/>
          </a:xfrm>
          <a:custGeom>
            <a:avLst/>
            <a:gdLst/>
            <a:ahLst/>
            <a:cxnLst/>
            <a:rect l="l" t="t" r="r" b="b"/>
            <a:pathLst>
              <a:path w="173990" h="1639570">
                <a:moveTo>
                  <a:pt x="115824" y="144780"/>
                </a:moveTo>
                <a:lnTo>
                  <a:pt x="57911" y="144780"/>
                </a:lnTo>
                <a:lnTo>
                  <a:pt x="57911" y="1639189"/>
                </a:lnTo>
                <a:lnTo>
                  <a:pt x="115824" y="1639189"/>
                </a:lnTo>
                <a:lnTo>
                  <a:pt x="115824" y="144780"/>
                </a:lnTo>
                <a:close/>
              </a:path>
              <a:path w="173990" h="1639570">
                <a:moveTo>
                  <a:pt x="86867" y="0"/>
                </a:moveTo>
                <a:lnTo>
                  <a:pt x="0" y="173736"/>
                </a:lnTo>
                <a:lnTo>
                  <a:pt x="57911" y="173736"/>
                </a:lnTo>
                <a:lnTo>
                  <a:pt x="57911" y="144780"/>
                </a:lnTo>
                <a:lnTo>
                  <a:pt x="159257" y="144780"/>
                </a:lnTo>
                <a:lnTo>
                  <a:pt x="86867" y="0"/>
                </a:lnTo>
                <a:close/>
              </a:path>
              <a:path w="173990" h="1639570">
                <a:moveTo>
                  <a:pt x="159257" y="144780"/>
                </a:moveTo>
                <a:lnTo>
                  <a:pt x="115824" y="144780"/>
                </a:lnTo>
                <a:lnTo>
                  <a:pt x="115824" y="173736"/>
                </a:lnTo>
                <a:lnTo>
                  <a:pt x="173735" y="173736"/>
                </a:lnTo>
                <a:lnTo>
                  <a:pt x="159257" y="144780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8">
            <a:extLst>
              <a:ext uri="{FF2B5EF4-FFF2-40B4-BE49-F238E27FC236}">
                <a16:creationId xmlns:a16="http://schemas.microsoft.com/office/drawing/2014/main" id="{DBFE9ECE-945C-9718-F240-D8D9927DC9CD}"/>
              </a:ext>
            </a:extLst>
          </p:cNvPr>
          <p:cNvSpPr txBox="1"/>
          <p:nvPr/>
        </p:nvSpPr>
        <p:spPr>
          <a:xfrm>
            <a:off x="8516863" y="2786844"/>
            <a:ext cx="356235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490"/>
              </a:lnSpc>
              <a:spcBef>
                <a:spcPts val="100"/>
              </a:spcBef>
            </a:pPr>
            <a:r>
              <a:rPr sz="2100" spc="-37" baseline="11904" dirty="0">
                <a:solidFill>
                  <a:srgbClr val="3333FF"/>
                </a:solidFill>
                <a:latin typeface="Cambria Math"/>
                <a:cs typeface="Cambria Math"/>
              </a:rPr>
              <a:t>𝑬</a:t>
            </a:r>
            <a:r>
              <a:rPr sz="1000" spc="-25" dirty="0">
                <a:solidFill>
                  <a:srgbClr val="3333FF"/>
                </a:solidFill>
                <a:latin typeface="Cambria Math"/>
                <a:cs typeface="Cambria Math"/>
              </a:rPr>
              <a:t>𝑻𝒉</a:t>
            </a:r>
            <a:endParaRPr sz="1000" dirty="0">
              <a:latin typeface="Cambria Math"/>
              <a:cs typeface="Cambria Math"/>
            </a:endParaRPr>
          </a:p>
        </p:txBody>
      </p:sp>
      <p:sp>
        <p:nvSpPr>
          <p:cNvPr id="37" name="object 40">
            <a:extLst>
              <a:ext uri="{FF2B5EF4-FFF2-40B4-BE49-F238E27FC236}">
                <a16:creationId xmlns:a16="http://schemas.microsoft.com/office/drawing/2014/main" id="{0C0F9105-77FB-2E70-4FDF-FC01C9F4585F}"/>
              </a:ext>
            </a:extLst>
          </p:cNvPr>
          <p:cNvSpPr txBox="1"/>
          <p:nvPr/>
        </p:nvSpPr>
        <p:spPr>
          <a:xfrm>
            <a:off x="3723957" y="2893948"/>
            <a:ext cx="1587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40" dirty="0">
                <a:latin typeface="Cambria Math"/>
                <a:cs typeface="Cambria Math"/>
              </a:rPr>
              <a:t>𝑬</a:t>
            </a:r>
            <a:r>
              <a:rPr sz="2100" b="1" spc="-44" baseline="1984" dirty="0">
                <a:latin typeface="Times New Roman"/>
                <a:cs typeface="Times New Roman"/>
              </a:rPr>
              <a:t>E</a:t>
            </a:r>
            <a:endParaRPr sz="2100" baseline="1984" dirty="0">
              <a:latin typeface="Times New Roman"/>
              <a:cs typeface="Times New Roman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DCA06A-8A4E-8161-FFD5-059C1BB1AAAF}"/>
              </a:ext>
            </a:extLst>
          </p:cNvPr>
          <p:cNvSpPr txBox="1"/>
          <p:nvPr/>
        </p:nvSpPr>
        <p:spPr>
          <a:xfrm>
            <a:off x="7692482" y="2744039"/>
            <a:ext cx="739681" cy="272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419">
              <a:lnSpc>
                <a:spcPts val="1490"/>
              </a:lnSpc>
            </a:pPr>
            <a:r>
              <a:rPr lang="fr-FR" sz="1200" b="1" spc="-50" dirty="0">
                <a:latin typeface="Times New Roman"/>
                <a:cs typeface="Times New Roman"/>
              </a:rPr>
              <a:t>R</a:t>
            </a:r>
            <a:endParaRPr lang="fr-FR" sz="1200" dirty="0">
              <a:latin typeface="Times New Roman"/>
              <a:cs typeface="Times New Roman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D485B13-3DE0-86D3-F993-C7EA23D42D10}"/>
              </a:ext>
            </a:extLst>
          </p:cNvPr>
          <p:cNvCxnSpPr>
            <a:cxnSpLocks/>
          </p:cNvCxnSpPr>
          <p:nvPr/>
        </p:nvCxnSpPr>
        <p:spPr>
          <a:xfrm>
            <a:off x="4110228" y="1948729"/>
            <a:ext cx="0" cy="187168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76A9CCF-3F40-E2D7-AD04-467297D199BB}"/>
              </a:ext>
            </a:extLst>
          </p:cNvPr>
          <p:cNvCxnSpPr>
            <a:cxnSpLocks/>
          </p:cNvCxnSpPr>
          <p:nvPr/>
        </p:nvCxnSpPr>
        <p:spPr>
          <a:xfrm flipV="1">
            <a:off x="4085001" y="3807057"/>
            <a:ext cx="2150526" cy="1335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bject 39">
            <a:extLst>
              <a:ext uri="{FF2B5EF4-FFF2-40B4-BE49-F238E27FC236}">
                <a16:creationId xmlns:a16="http://schemas.microsoft.com/office/drawing/2014/main" id="{2358B70B-BBC9-E362-134F-79A8DFF8C5BD}"/>
              </a:ext>
            </a:extLst>
          </p:cNvPr>
          <p:cNvSpPr/>
          <p:nvPr/>
        </p:nvSpPr>
        <p:spPr>
          <a:xfrm>
            <a:off x="3934968" y="2691383"/>
            <a:ext cx="350520" cy="405130"/>
          </a:xfrm>
          <a:custGeom>
            <a:avLst/>
            <a:gdLst/>
            <a:ahLst/>
            <a:cxnLst/>
            <a:rect l="l" t="t" r="r" b="b"/>
            <a:pathLst>
              <a:path w="350520" h="405130">
                <a:moveTo>
                  <a:pt x="0" y="229362"/>
                </a:moveTo>
                <a:lnTo>
                  <a:pt x="8936" y="188659"/>
                </a:lnTo>
                <a:lnTo>
                  <a:pt x="33820" y="153308"/>
                </a:lnTo>
                <a:lnTo>
                  <a:pt x="71762" y="125431"/>
                </a:lnTo>
                <a:lnTo>
                  <a:pt x="119871" y="107149"/>
                </a:lnTo>
                <a:lnTo>
                  <a:pt x="175260" y="100583"/>
                </a:lnTo>
                <a:lnTo>
                  <a:pt x="230648" y="107149"/>
                </a:lnTo>
                <a:lnTo>
                  <a:pt x="278757" y="125431"/>
                </a:lnTo>
                <a:lnTo>
                  <a:pt x="316699" y="153308"/>
                </a:lnTo>
                <a:lnTo>
                  <a:pt x="341583" y="188659"/>
                </a:lnTo>
                <a:lnTo>
                  <a:pt x="350520" y="229362"/>
                </a:lnTo>
                <a:lnTo>
                  <a:pt x="341583" y="270064"/>
                </a:lnTo>
                <a:lnTo>
                  <a:pt x="316699" y="305415"/>
                </a:lnTo>
                <a:lnTo>
                  <a:pt x="278757" y="333292"/>
                </a:lnTo>
                <a:lnTo>
                  <a:pt x="230648" y="351574"/>
                </a:lnTo>
                <a:lnTo>
                  <a:pt x="175260" y="358139"/>
                </a:lnTo>
                <a:lnTo>
                  <a:pt x="119871" y="351574"/>
                </a:lnTo>
                <a:lnTo>
                  <a:pt x="71762" y="333292"/>
                </a:lnTo>
                <a:lnTo>
                  <a:pt x="33820" y="305415"/>
                </a:lnTo>
                <a:lnTo>
                  <a:pt x="8936" y="270064"/>
                </a:lnTo>
                <a:lnTo>
                  <a:pt x="0" y="229362"/>
                </a:lnTo>
                <a:close/>
              </a:path>
              <a:path w="350520" h="405130">
                <a:moveTo>
                  <a:pt x="175260" y="0"/>
                </a:moveTo>
                <a:lnTo>
                  <a:pt x="175260" y="405002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8C7061B-0FEB-D00A-406C-5D62F085841A}"/>
              </a:ext>
            </a:extLst>
          </p:cNvPr>
          <p:cNvCxnSpPr/>
          <p:nvPr/>
        </p:nvCxnSpPr>
        <p:spPr>
          <a:xfrm>
            <a:off x="4118557" y="2675076"/>
            <a:ext cx="0" cy="43774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bject 2">
            <a:extLst>
              <a:ext uri="{FF2B5EF4-FFF2-40B4-BE49-F238E27FC236}">
                <a16:creationId xmlns:a16="http://schemas.microsoft.com/office/drawing/2014/main" id="{67C66285-47F3-1BFB-9EB2-1B1702F3E389}"/>
              </a:ext>
            </a:extLst>
          </p:cNvPr>
          <p:cNvSpPr/>
          <p:nvPr/>
        </p:nvSpPr>
        <p:spPr>
          <a:xfrm>
            <a:off x="7769487" y="1998358"/>
            <a:ext cx="265430" cy="1844039"/>
          </a:xfrm>
          <a:custGeom>
            <a:avLst/>
            <a:gdLst/>
            <a:ahLst/>
            <a:cxnLst/>
            <a:rect l="l" t="t" r="r" b="b"/>
            <a:pathLst>
              <a:path w="265429" h="1844039">
                <a:moveTo>
                  <a:pt x="0" y="1438656"/>
                </a:moveTo>
                <a:lnTo>
                  <a:pt x="265175" y="1438656"/>
                </a:lnTo>
                <a:lnTo>
                  <a:pt x="265175" y="394716"/>
                </a:lnTo>
                <a:lnTo>
                  <a:pt x="0" y="394716"/>
                </a:lnTo>
                <a:lnTo>
                  <a:pt x="0" y="1438656"/>
                </a:lnTo>
                <a:close/>
              </a:path>
              <a:path w="265429" h="1844039">
                <a:moveTo>
                  <a:pt x="132587" y="1438656"/>
                </a:moveTo>
                <a:lnTo>
                  <a:pt x="132587" y="1843659"/>
                </a:lnTo>
              </a:path>
              <a:path w="265429" h="1844039">
                <a:moveTo>
                  <a:pt x="132587" y="0"/>
                </a:moveTo>
                <a:lnTo>
                  <a:pt x="132587" y="405002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A17A791-6435-F94D-09E5-2DEB942DF5AA}"/>
              </a:ext>
            </a:extLst>
          </p:cNvPr>
          <p:cNvCxnSpPr>
            <a:cxnSpLocks/>
          </p:cNvCxnSpPr>
          <p:nvPr/>
        </p:nvCxnSpPr>
        <p:spPr>
          <a:xfrm flipV="1">
            <a:off x="5744554" y="3807057"/>
            <a:ext cx="2150526" cy="1335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59FA6CD-9C97-ED36-1F31-6EC1778693F3}"/>
              </a:ext>
            </a:extLst>
          </p:cNvPr>
          <p:cNvCxnSpPr>
            <a:cxnSpLocks/>
          </p:cNvCxnSpPr>
          <p:nvPr/>
        </p:nvCxnSpPr>
        <p:spPr>
          <a:xfrm>
            <a:off x="6211965" y="1954149"/>
            <a:ext cx="1710304" cy="1464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7490B7B-9581-2F1E-25EB-6575578DE577}"/>
                  </a:ext>
                </a:extLst>
              </p:cNvPr>
              <p:cNvSpPr txBox="1"/>
              <p:nvPr/>
            </p:nvSpPr>
            <p:spPr>
              <a:xfrm>
                <a:off x="1274729" y="4182023"/>
                <a:ext cx="1517851" cy="563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𝒕𝒉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7490B7B-9581-2F1E-25EB-6575578DE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729" y="4182023"/>
                <a:ext cx="1517851" cy="5638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F095821-EA84-2A46-1F9F-BAE9E1B60ED3}"/>
                  </a:ext>
                </a:extLst>
              </p:cNvPr>
              <p:cNvSpPr txBox="1"/>
              <p:nvPr/>
            </p:nvSpPr>
            <p:spPr>
              <a:xfrm>
                <a:off x="3803332" y="4182621"/>
                <a:ext cx="1697388" cy="563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𝒕𝒉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𝑬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F095821-EA84-2A46-1F9F-BAE9E1B60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332" y="4182621"/>
                <a:ext cx="1697388" cy="5638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506580" y="1613861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1910">
              <a:lnSpc>
                <a:spcPct val="100000"/>
              </a:lnSpc>
              <a:spcBef>
                <a:spcPts val="1305"/>
              </a:spcBef>
            </a:pPr>
            <a:r>
              <a:rPr lang="fr-FR" sz="1600" b="1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Étape</a:t>
            </a:r>
            <a:r>
              <a:rPr lang="fr-FR" sz="1600" b="1" spc="-25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sz="1600" b="1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2</a:t>
            </a:r>
            <a:r>
              <a:rPr lang="fr-FR" sz="1600" b="1" spc="-15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sz="1600" b="1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:</a:t>
            </a:r>
            <a:r>
              <a:rPr lang="fr-FR" sz="1600" b="1" spc="-15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sz="1600" dirty="0">
                <a:latin typeface="Bookman Old Style" panose="02050604050505020204" pitchFamily="18" charset="0"/>
                <a:cs typeface="Times New Roman"/>
              </a:rPr>
              <a:t>Déterminer</a:t>
            </a:r>
            <a:r>
              <a:rPr lang="fr-FR" sz="1600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sz="1600" dirty="0">
                <a:latin typeface="Bookman Old Style" panose="02050604050505020204" pitchFamily="18" charset="0"/>
                <a:cs typeface="Times New Roman"/>
              </a:rPr>
              <a:t>la</a:t>
            </a:r>
            <a:r>
              <a:rPr lang="fr-FR" sz="1600" spc="-10" dirty="0">
                <a:latin typeface="Bookman Old Style" panose="02050604050505020204" pitchFamily="18" charset="0"/>
                <a:cs typeface="Times New Roman"/>
              </a:rPr>
              <a:t> tension</a:t>
            </a:r>
            <a:endParaRPr lang="fr-FR" sz="1600" dirty="0">
              <a:latin typeface="Bookman Old Style" panose="02050604050505020204" pitchFamily="18" charset="0"/>
              <a:cs typeface="Times New Roman"/>
            </a:endParaRPr>
          </a:p>
          <a:p>
            <a:pPr marL="753745">
              <a:lnSpc>
                <a:spcPct val="100000"/>
              </a:lnSpc>
            </a:pPr>
            <a:r>
              <a:rPr lang="fr-FR" sz="1600"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lang="fr-FR" sz="1600" spc="-3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sz="1600" dirty="0" err="1">
                <a:latin typeface="Bookman Old Style" panose="02050604050505020204" pitchFamily="18" charset="0"/>
                <a:cs typeface="Times New Roman"/>
              </a:rPr>
              <a:t>Thévenin</a:t>
            </a:r>
            <a:r>
              <a:rPr lang="fr-FR" sz="1600" spc="-8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sz="1600" spc="-30" baseline="5952" dirty="0">
                <a:latin typeface="Bookman Old Style" panose="02050604050505020204" pitchFamily="18" charset="0"/>
                <a:cs typeface="Cambria Math"/>
              </a:rPr>
              <a:t>(𝑬</a:t>
            </a:r>
            <a:r>
              <a:rPr lang="fr-FR" sz="1600" spc="-30" baseline="-8333" dirty="0">
                <a:latin typeface="Bookman Old Style" panose="02050604050505020204" pitchFamily="18" charset="0"/>
                <a:cs typeface="Cambria Math"/>
              </a:rPr>
              <a:t>𝑻𝒉</a:t>
            </a:r>
            <a:r>
              <a:rPr lang="fr-FR" sz="1600" b="1" spc="-30" baseline="5952" dirty="0">
                <a:latin typeface="Bookman Old Style" panose="02050604050505020204" pitchFamily="18" charset="0"/>
                <a:cs typeface="Times New Roman"/>
              </a:rPr>
              <a:t>)</a:t>
            </a:r>
            <a:endParaRPr lang="fr-FR" sz="1600" baseline="5952" dirty="0">
              <a:latin typeface="Bookman Old Style" panose="020506040505050202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34328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4" grpId="0" animBg="1"/>
      <p:bldP spid="36" grpId="0"/>
      <p:bldP spid="37" grpId="0"/>
      <p:bldP spid="37" grpId="1"/>
      <p:bldP spid="44" grpId="0"/>
      <p:bldP spid="55" grpId="0" animBg="1"/>
      <p:bldP spid="55" grpId="1" animBg="1"/>
      <p:bldP spid="59" grpId="0" animBg="1"/>
      <p:bldP spid="73" grpId="0"/>
      <p:bldP spid="75" grpId="0"/>
      <p:bldP spid="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51</a:t>
            </a:fld>
            <a:endParaRPr sz="2400" dirty="0">
              <a:latin typeface="Arial"/>
              <a:cs typeface="Arial"/>
            </a:endParaRPr>
          </a:p>
        </p:txBody>
      </p:sp>
      <p:grpSp>
        <p:nvGrpSpPr>
          <p:cNvPr id="3" name="object 14">
            <a:extLst>
              <a:ext uri="{FF2B5EF4-FFF2-40B4-BE49-F238E27FC236}">
                <a16:creationId xmlns:a16="http://schemas.microsoft.com/office/drawing/2014/main" id="{0BCC0939-7333-D0A9-12C5-4F28BBFD19FD}"/>
              </a:ext>
            </a:extLst>
          </p:cNvPr>
          <p:cNvGrpSpPr/>
          <p:nvPr/>
        </p:nvGrpSpPr>
        <p:grpSpPr>
          <a:xfrm>
            <a:off x="3190660" y="1545272"/>
            <a:ext cx="4505960" cy="2052955"/>
            <a:chOff x="2832861" y="1724914"/>
            <a:chExt cx="4505960" cy="2052955"/>
          </a:xfrm>
        </p:grpSpPr>
        <p:sp>
          <p:nvSpPr>
            <p:cNvPr id="5" name="object 15">
              <a:extLst>
                <a:ext uri="{FF2B5EF4-FFF2-40B4-BE49-F238E27FC236}">
                  <a16:creationId xmlns:a16="http://schemas.microsoft.com/office/drawing/2014/main" id="{CDE34DB0-059A-F0F9-3295-DEC913A4129B}"/>
                </a:ext>
              </a:extLst>
            </p:cNvPr>
            <p:cNvSpPr/>
            <p:nvPr/>
          </p:nvSpPr>
          <p:spPr>
            <a:xfrm>
              <a:off x="3380231" y="1895856"/>
              <a:ext cx="3929379" cy="1852930"/>
            </a:xfrm>
            <a:custGeom>
              <a:avLst/>
              <a:gdLst/>
              <a:ahLst/>
              <a:cxnLst/>
              <a:rect l="l" t="t" r="r" b="b"/>
              <a:pathLst>
                <a:path w="3929379" h="1852929">
                  <a:moveTo>
                    <a:pt x="3663695" y="1447800"/>
                  </a:moveTo>
                  <a:lnTo>
                    <a:pt x="3928871" y="1447800"/>
                  </a:lnTo>
                  <a:lnTo>
                    <a:pt x="3928871" y="405383"/>
                  </a:lnTo>
                  <a:lnTo>
                    <a:pt x="3663695" y="405383"/>
                  </a:lnTo>
                  <a:lnTo>
                    <a:pt x="3663695" y="1447800"/>
                  </a:lnTo>
                  <a:close/>
                </a:path>
                <a:path w="3929379" h="1852929">
                  <a:moveTo>
                    <a:pt x="2078735" y="12192"/>
                  </a:moveTo>
                  <a:lnTo>
                    <a:pt x="3821811" y="12192"/>
                  </a:lnTo>
                </a:path>
                <a:path w="3929379" h="1852929">
                  <a:moveTo>
                    <a:pt x="2078735" y="1840991"/>
                  </a:moveTo>
                  <a:lnTo>
                    <a:pt x="3821811" y="1840991"/>
                  </a:lnTo>
                </a:path>
                <a:path w="3929379" h="1852929">
                  <a:moveTo>
                    <a:pt x="3796284" y="0"/>
                  </a:moveTo>
                  <a:lnTo>
                    <a:pt x="3796284" y="405002"/>
                  </a:lnTo>
                </a:path>
                <a:path w="3929379" h="1852929">
                  <a:moveTo>
                    <a:pt x="3796284" y="1447800"/>
                  </a:moveTo>
                  <a:lnTo>
                    <a:pt x="3796284" y="1852802"/>
                  </a:lnTo>
                </a:path>
                <a:path w="3929379" h="1852929">
                  <a:moveTo>
                    <a:pt x="0" y="9143"/>
                  </a:moveTo>
                  <a:lnTo>
                    <a:pt x="1028700" y="9143"/>
                  </a:lnTo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6">
              <a:extLst>
                <a:ext uri="{FF2B5EF4-FFF2-40B4-BE49-F238E27FC236}">
                  <a16:creationId xmlns:a16="http://schemas.microsoft.com/office/drawing/2014/main" id="{F071204B-FAA4-98D7-EE33-35B9D5442DCF}"/>
                </a:ext>
              </a:extLst>
            </p:cNvPr>
            <p:cNvSpPr/>
            <p:nvPr/>
          </p:nvSpPr>
          <p:spPr>
            <a:xfrm>
              <a:off x="4430267" y="1754124"/>
              <a:ext cx="1042669" cy="265430"/>
            </a:xfrm>
            <a:custGeom>
              <a:avLst/>
              <a:gdLst/>
              <a:ahLst/>
              <a:cxnLst/>
              <a:rect l="l" t="t" r="r" b="b"/>
              <a:pathLst>
                <a:path w="1042670" h="265430">
                  <a:moveTo>
                    <a:pt x="0" y="265175"/>
                  </a:moveTo>
                  <a:lnTo>
                    <a:pt x="1042415" y="265175"/>
                  </a:lnTo>
                  <a:lnTo>
                    <a:pt x="1042415" y="0"/>
                  </a:lnTo>
                  <a:lnTo>
                    <a:pt x="0" y="0"/>
                  </a:lnTo>
                  <a:lnTo>
                    <a:pt x="0" y="265175"/>
                  </a:lnTo>
                  <a:close/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7">
              <a:extLst>
                <a:ext uri="{FF2B5EF4-FFF2-40B4-BE49-F238E27FC236}">
                  <a16:creationId xmlns:a16="http://schemas.microsoft.com/office/drawing/2014/main" id="{F9454E8D-EED0-1809-82C0-1992E63C5D21}"/>
                </a:ext>
              </a:extLst>
            </p:cNvPr>
            <p:cNvSpPr/>
            <p:nvPr/>
          </p:nvSpPr>
          <p:spPr>
            <a:xfrm>
              <a:off x="2862071" y="1892808"/>
              <a:ext cx="2597150" cy="1844675"/>
            </a:xfrm>
            <a:custGeom>
              <a:avLst/>
              <a:gdLst/>
              <a:ahLst/>
              <a:cxnLst/>
              <a:rect l="l" t="t" r="r" b="b"/>
              <a:pathLst>
                <a:path w="2597150" h="1844675">
                  <a:moveTo>
                    <a:pt x="539495" y="12192"/>
                  </a:moveTo>
                  <a:lnTo>
                    <a:pt x="158495" y="12192"/>
                  </a:lnTo>
                </a:path>
                <a:path w="2597150" h="1844675">
                  <a:moveTo>
                    <a:pt x="178307" y="0"/>
                  </a:moveTo>
                  <a:lnTo>
                    <a:pt x="180085" y="1844294"/>
                  </a:lnTo>
                </a:path>
                <a:path w="2597150" h="1844675">
                  <a:moveTo>
                    <a:pt x="0" y="867918"/>
                  </a:moveTo>
                  <a:lnTo>
                    <a:pt x="6261" y="826404"/>
                  </a:lnTo>
                  <a:lnTo>
                    <a:pt x="23932" y="789093"/>
                  </a:lnTo>
                  <a:lnTo>
                    <a:pt x="51339" y="757475"/>
                  </a:lnTo>
                  <a:lnTo>
                    <a:pt x="86811" y="733044"/>
                  </a:lnTo>
                  <a:lnTo>
                    <a:pt x="128675" y="717290"/>
                  </a:lnTo>
                  <a:lnTo>
                    <a:pt x="175259" y="711708"/>
                  </a:lnTo>
                  <a:lnTo>
                    <a:pt x="221844" y="717290"/>
                  </a:lnTo>
                  <a:lnTo>
                    <a:pt x="263708" y="733044"/>
                  </a:lnTo>
                  <a:lnTo>
                    <a:pt x="299180" y="757475"/>
                  </a:lnTo>
                  <a:lnTo>
                    <a:pt x="326587" y="789093"/>
                  </a:lnTo>
                  <a:lnTo>
                    <a:pt x="344258" y="826404"/>
                  </a:lnTo>
                  <a:lnTo>
                    <a:pt x="350519" y="867918"/>
                  </a:lnTo>
                  <a:lnTo>
                    <a:pt x="344258" y="909431"/>
                  </a:lnTo>
                  <a:lnTo>
                    <a:pt x="326587" y="946742"/>
                  </a:lnTo>
                  <a:lnTo>
                    <a:pt x="299180" y="978360"/>
                  </a:lnTo>
                  <a:lnTo>
                    <a:pt x="263708" y="1002792"/>
                  </a:lnTo>
                  <a:lnTo>
                    <a:pt x="221844" y="1018545"/>
                  </a:lnTo>
                  <a:lnTo>
                    <a:pt x="175259" y="1024128"/>
                  </a:lnTo>
                  <a:lnTo>
                    <a:pt x="128675" y="1018545"/>
                  </a:lnTo>
                  <a:lnTo>
                    <a:pt x="86811" y="1002792"/>
                  </a:lnTo>
                  <a:lnTo>
                    <a:pt x="51339" y="978360"/>
                  </a:lnTo>
                  <a:lnTo>
                    <a:pt x="23932" y="946742"/>
                  </a:lnTo>
                  <a:lnTo>
                    <a:pt x="6261" y="909431"/>
                  </a:lnTo>
                  <a:lnTo>
                    <a:pt x="0" y="867918"/>
                  </a:lnTo>
                  <a:close/>
                </a:path>
                <a:path w="2597150" h="1844675">
                  <a:moveTo>
                    <a:pt x="158495" y="1831848"/>
                  </a:moveTo>
                  <a:lnTo>
                    <a:pt x="2596895" y="1840103"/>
                  </a:lnTo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8">
            <a:extLst>
              <a:ext uri="{FF2B5EF4-FFF2-40B4-BE49-F238E27FC236}">
                <a16:creationId xmlns:a16="http://schemas.microsoft.com/office/drawing/2014/main" id="{05D242BF-840D-664E-D39C-DF5221B67BF3}"/>
              </a:ext>
            </a:extLst>
          </p:cNvPr>
          <p:cNvSpPr txBox="1"/>
          <p:nvPr/>
        </p:nvSpPr>
        <p:spPr>
          <a:xfrm>
            <a:off x="5123982" y="1293507"/>
            <a:ext cx="36385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00" spc="-37" baseline="11904" dirty="0">
                <a:latin typeface="Cambria Math"/>
                <a:cs typeface="Cambria Math"/>
              </a:rPr>
              <a:t>𝑹</a:t>
            </a:r>
            <a:r>
              <a:rPr sz="1000" spc="-25" dirty="0">
                <a:latin typeface="Cambria Math"/>
                <a:cs typeface="Cambria Math"/>
              </a:rPr>
              <a:t>𝑻𝒉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6" name="object 19">
            <a:extLst>
              <a:ext uri="{FF2B5EF4-FFF2-40B4-BE49-F238E27FC236}">
                <a16:creationId xmlns:a16="http://schemas.microsoft.com/office/drawing/2014/main" id="{F350BFEF-C9B7-046D-5E1C-C1B3B223964C}"/>
              </a:ext>
            </a:extLst>
          </p:cNvPr>
          <p:cNvSpPr/>
          <p:nvPr/>
        </p:nvSpPr>
        <p:spPr>
          <a:xfrm>
            <a:off x="2890687" y="1780222"/>
            <a:ext cx="173990" cy="1639570"/>
          </a:xfrm>
          <a:custGeom>
            <a:avLst/>
            <a:gdLst/>
            <a:ahLst/>
            <a:cxnLst/>
            <a:rect l="l" t="t" r="r" b="b"/>
            <a:pathLst>
              <a:path w="173989" h="1639570">
                <a:moveTo>
                  <a:pt x="115824" y="144780"/>
                </a:moveTo>
                <a:lnTo>
                  <a:pt x="57912" y="144780"/>
                </a:lnTo>
                <a:lnTo>
                  <a:pt x="57912" y="1639189"/>
                </a:lnTo>
                <a:lnTo>
                  <a:pt x="115824" y="1639189"/>
                </a:lnTo>
                <a:lnTo>
                  <a:pt x="115824" y="144780"/>
                </a:lnTo>
                <a:close/>
              </a:path>
              <a:path w="173989" h="1639570">
                <a:moveTo>
                  <a:pt x="86868" y="0"/>
                </a:moveTo>
                <a:lnTo>
                  <a:pt x="0" y="173736"/>
                </a:lnTo>
                <a:lnTo>
                  <a:pt x="57912" y="173736"/>
                </a:lnTo>
                <a:lnTo>
                  <a:pt x="57912" y="144780"/>
                </a:lnTo>
                <a:lnTo>
                  <a:pt x="159258" y="144780"/>
                </a:lnTo>
                <a:lnTo>
                  <a:pt x="86868" y="0"/>
                </a:lnTo>
                <a:close/>
              </a:path>
              <a:path w="173989" h="1639570">
                <a:moveTo>
                  <a:pt x="159258" y="144780"/>
                </a:moveTo>
                <a:lnTo>
                  <a:pt x="115824" y="144780"/>
                </a:lnTo>
                <a:lnTo>
                  <a:pt x="115824" y="173736"/>
                </a:lnTo>
                <a:lnTo>
                  <a:pt x="173736" y="173736"/>
                </a:lnTo>
                <a:lnTo>
                  <a:pt x="159258" y="144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0">
            <a:extLst>
              <a:ext uri="{FF2B5EF4-FFF2-40B4-BE49-F238E27FC236}">
                <a16:creationId xmlns:a16="http://schemas.microsoft.com/office/drawing/2014/main" id="{762FEE01-FA45-D809-46D0-363AA92CEADF}"/>
              </a:ext>
            </a:extLst>
          </p:cNvPr>
          <p:cNvSpPr txBox="1"/>
          <p:nvPr/>
        </p:nvSpPr>
        <p:spPr>
          <a:xfrm>
            <a:off x="463576" y="633462"/>
            <a:ext cx="4413224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Étape</a:t>
            </a:r>
            <a:r>
              <a:rPr sz="1600" b="1" spc="-25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b="1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3</a:t>
            </a:r>
            <a:r>
              <a:rPr sz="1600" b="1" spc="-20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b="1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:</a:t>
            </a:r>
            <a:r>
              <a:rPr sz="1600" b="1" spc="-15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dirty="0">
                <a:latin typeface="Bookman Old Style" panose="02050604050505020204" pitchFamily="18" charset="0"/>
                <a:cs typeface="Times New Roman"/>
              </a:rPr>
              <a:t>Former</a:t>
            </a:r>
            <a:r>
              <a:rPr sz="1600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dirty="0">
                <a:latin typeface="Bookman Old Style" panose="02050604050505020204" pitchFamily="18" charset="0"/>
                <a:cs typeface="Times New Roman"/>
              </a:rPr>
              <a:t>mon</a:t>
            </a:r>
            <a:r>
              <a:rPr sz="1600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dirty="0">
                <a:latin typeface="Bookman Old Style" panose="02050604050505020204" pitchFamily="18" charset="0"/>
                <a:cs typeface="Times New Roman"/>
              </a:rPr>
              <a:t>circuit</a:t>
            </a:r>
            <a:r>
              <a:rPr sz="1600" spc="-4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spc="-10" dirty="0">
                <a:latin typeface="Bookman Old Style" panose="02050604050505020204" pitchFamily="18" charset="0"/>
                <a:cs typeface="Times New Roman"/>
              </a:rPr>
              <a:t>équivalent</a:t>
            </a:r>
            <a:endParaRPr sz="1600" dirty="0">
              <a:latin typeface="Bookman Old Style" panose="02050604050505020204" pitchFamily="18" charset="0"/>
              <a:cs typeface="Times New Roman"/>
            </a:endParaRPr>
          </a:p>
        </p:txBody>
      </p:sp>
      <p:grpSp>
        <p:nvGrpSpPr>
          <p:cNvPr id="20" name="object 21">
            <a:extLst>
              <a:ext uri="{FF2B5EF4-FFF2-40B4-BE49-F238E27FC236}">
                <a16:creationId xmlns:a16="http://schemas.microsoft.com/office/drawing/2014/main" id="{EC2EFFB1-3E72-E831-687E-1E07C37890F6}"/>
              </a:ext>
            </a:extLst>
          </p:cNvPr>
          <p:cNvGrpSpPr/>
          <p:nvPr/>
        </p:nvGrpSpPr>
        <p:grpSpPr>
          <a:xfrm>
            <a:off x="3190660" y="1630743"/>
            <a:ext cx="4482465" cy="1153795"/>
            <a:chOff x="2832861" y="1810385"/>
            <a:chExt cx="4482465" cy="1153795"/>
          </a:xfrm>
        </p:grpSpPr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1B8AF1AE-D028-8F70-04D9-37F5143F2C76}"/>
                </a:ext>
              </a:extLst>
            </p:cNvPr>
            <p:cNvSpPr/>
            <p:nvPr/>
          </p:nvSpPr>
          <p:spPr>
            <a:xfrm>
              <a:off x="3068573" y="2531364"/>
              <a:ext cx="0" cy="405130"/>
            </a:xfrm>
            <a:custGeom>
              <a:avLst/>
              <a:gdLst/>
              <a:ahLst/>
              <a:cxnLst/>
              <a:rect l="l" t="t" r="r" b="b"/>
              <a:pathLst>
                <a:path h="405130">
                  <a:moveTo>
                    <a:pt x="0" y="0"/>
                  </a:moveTo>
                  <a:lnTo>
                    <a:pt x="0" y="405003"/>
                  </a:lnTo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3">
              <a:extLst>
                <a:ext uri="{FF2B5EF4-FFF2-40B4-BE49-F238E27FC236}">
                  <a16:creationId xmlns:a16="http://schemas.microsoft.com/office/drawing/2014/main" id="{09D3E3EE-057D-AB1B-FF32-6B44E4F93C85}"/>
                </a:ext>
              </a:extLst>
            </p:cNvPr>
            <p:cNvSpPr/>
            <p:nvPr/>
          </p:nvSpPr>
          <p:spPr>
            <a:xfrm>
              <a:off x="2862071" y="2529840"/>
              <a:ext cx="352425" cy="405130"/>
            </a:xfrm>
            <a:custGeom>
              <a:avLst/>
              <a:gdLst/>
              <a:ahLst/>
              <a:cxnLst/>
              <a:rect l="l" t="t" r="r" b="b"/>
              <a:pathLst>
                <a:path w="352425" h="405130">
                  <a:moveTo>
                    <a:pt x="0" y="229362"/>
                  </a:moveTo>
                  <a:lnTo>
                    <a:pt x="8979" y="188659"/>
                  </a:lnTo>
                  <a:lnTo>
                    <a:pt x="33979" y="153308"/>
                  </a:lnTo>
                  <a:lnTo>
                    <a:pt x="72091" y="125431"/>
                  </a:lnTo>
                  <a:lnTo>
                    <a:pt x="120408" y="107149"/>
                  </a:lnTo>
                  <a:lnTo>
                    <a:pt x="176021" y="100584"/>
                  </a:lnTo>
                  <a:lnTo>
                    <a:pt x="231635" y="107149"/>
                  </a:lnTo>
                  <a:lnTo>
                    <a:pt x="279952" y="125431"/>
                  </a:lnTo>
                  <a:lnTo>
                    <a:pt x="318064" y="153308"/>
                  </a:lnTo>
                  <a:lnTo>
                    <a:pt x="343064" y="188659"/>
                  </a:lnTo>
                  <a:lnTo>
                    <a:pt x="352044" y="229362"/>
                  </a:lnTo>
                  <a:lnTo>
                    <a:pt x="343064" y="270064"/>
                  </a:lnTo>
                  <a:lnTo>
                    <a:pt x="318064" y="305415"/>
                  </a:lnTo>
                  <a:lnTo>
                    <a:pt x="279952" y="333292"/>
                  </a:lnTo>
                  <a:lnTo>
                    <a:pt x="231635" y="351574"/>
                  </a:lnTo>
                  <a:lnTo>
                    <a:pt x="176021" y="358140"/>
                  </a:lnTo>
                  <a:lnTo>
                    <a:pt x="120408" y="351574"/>
                  </a:lnTo>
                  <a:lnTo>
                    <a:pt x="72091" y="333292"/>
                  </a:lnTo>
                  <a:lnTo>
                    <a:pt x="33979" y="305415"/>
                  </a:lnTo>
                  <a:lnTo>
                    <a:pt x="8979" y="270064"/>
                  </a:lnTo>
                  <a:lnTo>
                    <a:pt x="0" y="229362"/>
                  </a:lnTo>
                  <a:close/>
                </a:path>
                <a:path w="352425" h="405130">
                  <a:moveTo>
                    <a:pt x="176783" y="0"/>
                  </a:moveTo>
                  <a:lnTo>
                    <a:pt x="176783" y="405003"/>
                  </a:lnTo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4">
              <a:extLst>
                <a:ext uri="{FF2B5EF4-FFF2-40B4-BE49-F238E27FC236}">
                  <a16:creationId xmlns:a16="http://schemas.microsoft.com/office/drawing/2014/main" id="{01640468-1385-2D73-A83A-64BD97D7FBF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3400" y="1815592"/>
              <a:ext cx="101219" cy="200279"/>
            </a:xfrm>
            <a:prstGeom prst="rect">
              <a:avLst/>
            </a:prstGeom>
          </p:spPr>
        </p:pic>
        <p:pic>
          <p:nvPicPr>
            <p:cNvPr id="24" name="object 25">
              <a:extLst>
                <a:ext uri="{FF2B5EF4-FFF2-40B4-BE49-F238E27FC236}">
                  <a16:creationId xmlns:a16="http://schemas.microsoft.com/office/drawing/2014/main" id="{EA0EF1A3-5E3F-0910-F36E-41630966AB3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99173" y="1810385"/>
              <a:ext cx="101219" cy="200406"/>
            </a:xfrm>
            <a:prstGeom prst="rect">
              <a:avLst/>
            </a:prstGeom>
          </p:spPr>
        </p:pic>
        <p:pic>
          <p:nvPicPr>
            <p:cNvPr id="25" name="object 26">
              <a:extLst>
                <a:ext uri="{FF2B5EF4-FFF2-40B4-BE49-F238E27FC236}">
                  <a16:creationId xmlns:a16="http://schemas.microsoft.com/office/drawing/2014/main" id="{F5776C30-1681-2471-B576-62CF029B036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62342" y="2058162"/>
              <a:ext cx="252856" cy="130429"/>
            </a:xfrm>
            <a:prstGeom prst="rect">
              <a:avLst/>
            </a:prstGeom>
          </p:spPr>
        </p:pic>
        <p:pic>
          <p:nvPicPr>
            <p:cNvPr id="26" name="object 27">
              <a:extLst>
                <a:ext uri="{FF2B5EF4-FFF2-40B4-BE49-F238E27FC236}">
                  <a16:creationId xmlns:a16="http://schemas.microsoft.com/office/drawing/2014/main" id="{77871EBB-C2DB-CFAF-3DA5-4B4146592F7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30778" y="2221484"/>
              <a:ext cx="214502" cy="111379"/>
            </a:xfrm>
            <a:prstGeom prst="rect">
              <a:avLst/>
            </a:prstGeom>
          </p:spPr>
        </p:pic>
      </p:grpSp>
      <p:sp>
        <p:nvSpPr>
          <p:cNvPr id="27" name="object 28">
            <a:extLst>
              <a:ext uri="{FF2B5EF4-FFF2-40B4-BE49-F238E27FC236}">
                <a16:creationId xmlns:a16="http://schemas.microsoft.com/office/drawing/2014/main" id="{D67FBD85-4151-C7CD-A750-C433A98194F2}"/>
              </a:ext>
            </a:extLst>
          </p:cNvPr>
          <p:cNvSpPr txBox="1"/>
          <p:nvPr/>
        </p:nvSpPr>
        <p:spPr>
          <a:xfrm>
            <a:off x="507252" y="2873310"/>
            <a:ext cx="184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𝑹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9">
            <a:extLst>
              <a:ext uri="{FF2B5EF4-FFF2-40B4-BE49-F238E27FC236}">
                <a16:creationId xmlns:a16="http://schemas.microsoft.com/office/drawing/2014/main" id="{A38A64F5-6A64-F922-1119-F58ECDD68F81}"/>
              </a:ext>
            </a:extLst>
          </p:cNvPr>
          <p:cNvSpPr txBox="1"/>
          <p:nvPr/>
        </p:nvSpPr>
        <p:spPr>
          <a:xfrm>
            <a:off x="667272" y="2981515"/>
            <a:ext cx="23749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𝑻𝒉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id="{48F7FD89-45CF-16DC-DDBC-5E99CA9BB6C9}"/>
              </a:ext>
            </a:extLst>
          </p:cNvPr>
          <p:cNvSpPr/>
          <p:nvPr/>
        </p:nvSpPr>
        <p:spPr>
          <a:xfrm>
            <a:off x="1027381" y="3040315"/>
            <a:ext cx="532130" cy="15240"/>
          </a:xfrm>
          <a:custGeom>
            <a:avLst/>
            <a:gdLst/>
            <a:ahLst/>
            <a:cxnLst/>
            <a:rect l="l" t="t" r="r" b="b"/>
            <a:pathLst>
              <a:path w="532130" h="15239">
                <a:moveTo>
                  <a:pt x="531876" y="0"/>
                </a:moveTo>
                <a:lnTo>
                  <a:pt x="0" y="0"/>
                </a:lnTo>
                <a:lnTo>
                  <a:pt x="0" y="15240"/>
                </a:lnTo>
                <a:lnTo>
                  <a:pt x="531876" y="15240"/>
                </a:lnTo>
                <a:lnTo>
                  <a:pt x="5318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1">
            <a:extLst>
              <a:ext uri="{FF2B5EF4-FFF2-40B4-BE49-F238E27FC236}">
                <a16:creationId xmlns:a16="http://schemas.microsoft.com/office/drawing/2014/main" id="{65FD774D-E91A-02CF-DF83-F58EEDE42C22}"/>
              </a:ext>
            </a:extLst>
          </p:cNvPr>
          <p:cNvSpPr txBox="1"/>
          <p:nvPr/>
        </p:nvSpPr>
        <p:spPr>
          <a:xfrm>
            <a:off x="859804" y="2739199"/>
            <a:ext cx="671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="1" baseline="-32407" dirty="0">
                <a:latin typeface="Times New Roman"/>
                <a:cs typeface="Times New Roman"/>
              </a:rPr>
              <a:t>=</a:t>
            </a:r>
            <a:r>
              <a:rPr sz="2700" b="1" spc="30" baseline="-32407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Cambria Math"/>
                <a:cs typeface="Cambria Math"/>
              </a:rPr>
              <a:t>𝑹</a:t>
            </a:r>
            <a:r>
              <a:rPr sz="1575" spc="-30" baseline="-13227" dirty="0">
                <a:latin typeface="Cambria Math"/>
                <a:cs typeface="Cambria Math"/>
              </a:rPr>
              <a:t>𝟏</a:t>
            </a:r>
            <a:r>
              <a:rPr sz="1300" spc="-20" dirty="0">
                <a:latin typeface="Cambria Math"/>
                <a:cs typeface="Cambria Math"/>
              </a:rPr>
              <a:t>𝑹</a:t>
            </a:r>
            <a:r>
              <a:rPr sz="1575" spc="-30" baseline="-13227" dirty="0">
                <a:latin typeface="Cambria Math"/>
                <a:cs typeface="Cambria Math"/>
              </a:rPr>
              <a:t>𝟐</a:t>
            </a:r>
            <a:endParaRPr sz="1575" baseline="-13227">
              <a:latin typeface="Cambria Math"/>
              <a:cs typeface="Cambria Math"/>
            </a:endParaRPr>
          </a:p>
        </p:txBody>
      </p:sp>
      <p:sp>
        <p:nvSpPr>
          <p:cNvPr id="31" name="object 32">
            <a:extLst>
              <a:ext uri="{FF2B5EF4-FFF2-40B4-BE49-F238E27FC236}">
                <a16:creationId xmlns:a16="http://schemas.microsoft.com/office/drawing/2014/main" id="{DC75CDDA-7839-F1B8-0955-38064490268A}"/>
              </a:ext>
            </a:extLst>
          </p:cNvPr>
          <p:cNvSpPr txBox="1"/>
          <p:nvPr/>
        </p:nvSpPr>
        <p:spPr>
          <a:xfrm>
            <a:off x="989344" y="3048571"/>
            <a:ext cx="60198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latin typeface="Cambria Math"/>
                <a:cs typeface="Cambria Math"/>
              </a:rPr>
              <a:t>𝑹</a:t>
            </a:r>
            <a:r>
              <a:rPr sz="1575" spc="-15" baseline="-13227" dirty="0">
                <a:latin typeface="Cambria Math"/>
                <a:cs typeface="Cambria Math"/>
              </a:rPr>
              <a:t>𝟏</a:t>
            </a:r>
            <a:r>
              <a:rPr sz="1300" spc="-10" dirty="0">
                <a:latin typeface="Cambria Math"/>
                <a:cs typeface="Cambria Math"/>
              </a:rPr>
              <a:t>+𝑹</a:t>
            </a:r>
            <a:r>
              <a:rPr sz="1575" spc="-15" baseline="-13227" dirty="0">
                <a:latin typeface="Cambria Math"/>
                <a:cs typeface="Cambria Math"/>
              </a:rPr>
              <a:t>𝟐</a:t>
            </a:r>
            <a:endParaRPr sz="1575" baseline="-13227">
              <a:latin typeface="Cambria Math"/>
              <a:cs typeface="Cambria Math"/>
            </a:endParaRPr>
          </a:p>
        </p:txBody>
      </p:sp>
      <p:sp>
        <p:nvSpPr>
          <p:cNvPr id="32" name="object 33">
            <a:extLst>
              <a:ext uri="{FF2B5EF4-FFF2-40B4-BE49-F238E27FC236}">
                <a16:creationId xmlns:a16="http://schemas.microsoft.com/office/drawing/2014/main" id="{28E6A5F6-E139-C4EA-3015-4474319931A6}"/>
              </a:ext>
            </a:extLst>
          </p:cNvPr>
          <p:cNvSpPr txBox="1"/>
          <p:nvPr/>
        </p:nvSpPr>
        <p:spPr>
          <a:xfrm>
            <a:off x="2522641" y="2322004"/>
            <a:ext cx="1428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ambria Math"/>
                <a:cs typeface="Cambria Math"/>
              </a:rPr>
              <a:t>𝑬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3" name="object 34">
            <a:extLst>
              <a:ext uri="{FF2B5EF4-FFF2-40B4-BE49-F238E27FC236}">
                <a16:creationId xmlns:a16="http://schemas.microsoft.com/office/drawing/2014/main" id="{D7CC193B-CBAA-6671-CE44-8CC53C8C90E7}"/>
              </a:ext>
            </a:extLst>
          </p:cNvPr>
          <p:cNvSpPr txBox="1"/>
          <p:nvPr/>
        </p:nvSpPr>
        <p:spPr>
          <a:xfrm>
            <a:off x="2639988" y="2407347"/>
            <a:ext cx="187960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latin typeface="Cambria Math"/>
                <a:cs typeface="Cambria Math"/>
              </a:rPr>
              <a:t>𝑻𝒉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4" name="object 35">
            <a:extLst>
              <a:ext uri="{FF2B5EF4-FFF2-40B4-BE49-F238E27FC236}">
                <a16:creationId xmlns:a16="http://schemas.microsoft.com/office/drawing/2014/main" id="{00215BF0-8015-B412-AA3F-FBE55A5E08D7}"/>
              </a:ext>
            </a:extLst>
          </p:cNvPr>
          <p:cNvSpPr txBox="1"/>
          <p:nvPr/>
        </p:nvSpPr>
        <p:spPr>
          <a:xfrm>
            <a:off x="598692" y="2175953"/>
            <a:ext cx="23749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𝑻𝒉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5" name="object 36">
            <a:extLst>
              <a:ext uri="{FF2B5EF4-FFF2-40B4-BE49-F238E27FC236}">
                <a16:creationId xmlns:a16="http://schemas.microsoft.com/office/drawing/2014/main" id="{A58F6487-81F5-F254-5420-E77C1668B8B1}"/>
              </a:ext>
            </a:extLst>
          </p:cNvPr>
          <p:cNvSpPr txBox="1"/>
          <p:nvPr/>
        </p:nvSpPr>
        <p:spPr>
          <a:xfrm>
            <a:off x="449340" y="2067750"/>
            <a:ext cx="524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1000" algn="l"/>
              </a:tabLst>
            </a:pPr>
            <a:r>
              <a:rPr sz="1800" spc="-50" dirty="0">
                <a:latin typeface="Cambria Math"/>
                <a:cs typeface="Cambria Math"/>
              </a:rPr>
              <a:t>𝑬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b="1" spc="-50" dirty="0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37">
            <a:extLst>
              <a:ext uri="{FF2B5EF4-FFF2-40B4-BE49-F238E27FC236}">
                <a16:creationId xmlns:a16="http://schemas.microsoft.com/office/drawing/2014/main" id="{B6F2247E-7E0B-29C0-F2D7-8D25E19D3D05}"/>
              </a:ext>
            </a:extLst>
          </p:cNvPr>
          <p:cNvSpPr/>
          <p:nvPr/>
        </p:nvSpPr>
        <p:spPr>
          <a:xfrm>
            <a:off x="960375" y="2235009"/>
            <a:ext cx="532130" cy="15240"/>
          </a:xfrm>
          <a:custGeom>
            <a:avLst/>
            <a:gdLst/>
            <a:ahLst/>
            <a:cxnLst/>
            <a:rect l="l" t="t" r="r" b="b"/>
            <a:pathLst>
              <a:path w="532130" h="15239">
                <a:moveTo>
                  <a:pt x="531876" y="0"/>
                </a:moveTo>
                <a:lnTo>
                  <a:pt x="0" y="0"/>
                </a:lnTo>
                <a:lnTo>
                  <a:pt x="0" y="15240"/>
                </a:lnTo>
                <a:lnTo>
                  <a:pt x="531876" y="15240"/>
                </a:lnTo>
                <a:lnTo>
                  <a:pt x="5318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8">
            <a:extLst>
              <a:ext uri="{FF2B5EF4-FFF2-40B4-BE49-F238E27FC236}">
                <a16:creationId xmlns:a16="http://schemas.microsoft.com/office/drawing/2014/main" id="{0B25B638-4C69-B50D-58A0-1BC2B95C6755}"/>
              </a:ext>
            </a:extLst>
          </p:cNvPr>
          <p:cNvSpPr txBox="1"/>
          <p:nvPr/>
        </p:nvSpPr>
        <p:spPr>
          <a:xfrm>
            <a:off x="1085356" y="1994597"/>
            <a:ext cx="27559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𝑹</a:t>
            </a:r>
            <a:r>
              <a:rPr sz="1575" spc="-37" baseline="-13227" dirty="0">
                <a:latin typeface="Cambria Math"/>
                <a:cs typeface="Cambria Math"/>
              </a:rPr>
              <a:t>𝟐</a:t>
            </a:r>
            <a:endParaRPr sz="1575" baseline="-13227">
              <a:latin typeface="Cambria Math"/>
              <a:cs typeface="Cambria Math"/>
            </a:endParaRPr>
          </a:p>
        </p:txBody>
      </p:sp>
      <p:sp>
        <p:nvSpPr>
          <p:cNvPr id="38" name="object 39">
            <a:extLst>
              <a:ext uri="{FF2B5EF4-FFF2-40B4-BE49-F238E27FC236}">
                <a16:creationId xmlns:a16="http://schemas.microsoft.com/office/drawing/2014/main" id="{DCFAFA04-44FD-9806-7AEA-F2924C5DD711}"/>
              </a:ext>
            </a:extLst>
          </p:cNvPr>
          <p:cNvSpPr txBox="1"/>
          <p:nvPr/>
        </p:nvSpPr>
        <p:spPr>
          <a:xfrm>
            <a:off x="922288" y="2243010"/>
            <a:ext cx="60261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latin typeface="Cambria Math"/>
                <a:cs typeface="Cambria Math"/>
              </a:rPr>
              <a:t>𝑹</a:t>
            </a:r>
            <a:r>
              <a:rPr sz="1575" spc="-15" baseline="-13227" dirty="0">
                <a:latin typeface="Cambria Math"/>
                <a:cs typeface="Cambria Math"/>
              </a:rPr>
              <a:t>𝟏</a:t>
            </a:r>
            <a:r>
              <a:rPr sz="1300" spc="-10" dirty="0">
                <a:latin typeface="Cambria Math"/>
                <a:cs typeface="Cambria Math"/>
              </a:rPr>
              <a:t>+𝑹</a:t>
            </a:r>
            <a:r>
              <a:rPr sz="1575" spc="-15" baseline="-13227" dirty="0">
                <a:latin typeface="Cambria Math"/>
                <a:cs typeface="Cambria Math"/>
              </a:rPr>
              <a:t>𝟐</a:t>
            </a:r>
            <a:endParaRPr sz="1575" baseline="-13227">
              <a:latin typeface="Cambria Math"/>
              <a:cs typeface="Cambria Math"/>
            </a:endParaRPr>
          </a:p>
        </p:txBody>
      </p:sp>
      <p:sp>
        <p:nvSpPr>
          <p:cNvPr id="39" name="object 40">
            <a:extLst>
              <a:ext uri="{FF2B5EF4-FFF2-40B4-BE49-F238E27FC236}">
                <a16:creationId xmlns:a16="http://schemas.microsoft.com/office/drawing/2014/main" id="{AF0AEECC-3B3D-5547-A2BB-FAAF22BAA096}"/>
              </a:ext>
            </a:extLst>
          </p:cNvPr>
          <p:cNvSpPr txBox="1"/>
          <p:nvPr/>
        </p:nvSpPr>
        <p:spPr>
          <a:xfrm>
            <a:off x="1479869" y="2067750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0" name="object 41">
            <a:extLst>
              <a:ext uri="{FF2B5EF4-FFF2-40B4-BE49-F238E27FC236}">
                <a16:creationId xmlns:a16="http://schemas.microsoft.com/office/drawing/2014/main" id="{AF51E193-B809-57A0-92A0-8C6B1B46C6E2}"/>
              </a:ext>
            </a:extLst>
          </p:cNvPr>
          <p:cNvSpPr txBox="1"/>
          <p:nvPr/>
        </p:nvSpPr>
        <p:spPr>
          <a:xfrm>
            <a:off x="7876706" y="2410345"/>
            <a:ext cx="1854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𝑹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1" name="object 42">
            <a:extLst>
              <a:ext uri="{FF2B5EF4-FFF2-40B4-BE49-F238E27FC236}">
                <a16:creationId xmlns:a16="http://schemas.microsoft.com/office/drawing/2014/main" id="{F680D911-0DD7-1ADF-09E0-D22252D5C3AC}"/>
              </a:ext>
            </a:extLst>
          </p:cNvPr>
          <p:cNvSpPr txBox="1"/>
          <p:nvPr/>
        </p:nvSpPr>
        <p:spPr>
          <a:xfrm>
            <a:off x="3573184" y="1915045"/>
            <a:ext cx="1250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𝑰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2" name="object 43">
            <a:extLst>
              <a:ext uri="{FF2B5EF4-FFF2-40B4-BE49-F238E27FC236}">
                <a16:creationId xmlns:a16="http://schemas.microsoft.com/office/drawing/2014/main" id="{06C3158E-006E-EA2F-2716-373FA3FDCB38}"/>
              </a:ext>
            </a:extLst>
          </p:cNvPr>
          <p:cNvSpPr txBox="1"/>
          <p:nvPr/>
        </p:nvSpPr>
        <p:spPr>
          <a:xfrm>
            <a:off x="4329089" y="1397443"/>
            <a:ext cx="125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𝑰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3" name="object 44">
            <a:extLst>
              <a:ext uri="{FF2B5EF4-FFF2-40B4-BE49-F238E27FC236}">
                <a16:creationId xmlns:a16="http://schemas.microsoft.com/office/drawing/2014/main" id="{BB87FC5E-C8EF-1215-79B6-22AEAAD92D8A}"/>
              </a:ext>
            </a:extLst>
          </p:cNvPr>
          <p:cNvSpPr txBox="1"/>
          <p:nvPr/>
        </p:nvSpPr>
        <p:spPr>
          <a:xfrm>
            <a:off x="7076860" y="1376184"/>
            <a:ext cx="1250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𝑰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4" name="object 45">
            <a:extLst>
              <a:ext uri="{FF2B5EF4-FFF2-40B4-BE49-F238E27FC236}">
                <a16:creationId xmlns:a16="http://schemas.microsoft.com/office/drawing/2014/main" id="{DA42ADEB-0FEE-9DD8-140D-CEE771654040}"/>
              </a:ext>
            </a:extLst>
          </p:cNvPr>
          <p:cNvSpPr txBox="1"/>
          <p:nvPr/>
        </p:nvSpPr>
        <p:spPr>
          <a:xfrm>
            <a:off x="7742849" y="1724799"/>
            <a:ext cx="1250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𝑰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45" name="object 46">
            <a:extLst>
              <a:ext uri="{FF2B5EF4-FFF2-40B4-BE49-F238E27FC236}">
                <a16:creationId xmlns:a16="http://schemas.microsoft.com/office/drawing/2014/main" id="{5D471AB6-86CC-93DE-F107-B6B7DAA08F04}"/>
              </a:ext>
            </a:extLst>
          </p:cNvPr>
          <p:cNvGrpSpPr/>
          <p:nvPr/>
        </p:nvGrpSpPr>
        <p:grpSpPr>
          <a:xfrm>
            <a:off x="3970434" y="1917830"/>
            <a:ext cx="3303651" cy="1428115"/>
            <a:chOff x="3544823" y="2055748"/>
            <a:chExt cx="3303651" cy="1428115"/>
          </a:xfrm>
        </p:grpSpPr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CB37771C-1537-17CC-C49D-A171BB2C548D}"/>
                </a:ext>
              </a:extLst>
            </p:cNvPr>
            <p:cNvSpPr/>
            <p:nvPr/>
          </p:nvSpPr>
          <p:spPr>
            <a:xfrm>
              <a:off x="3544823" y="2055748"/>
              <a:ext cx="3156585" cy="173990"/>
            </a:xfrm>
            <a:custGeom>
              <a:avLst/>
              <a:gdLst/>
              <a:ahLst/>
              <a:cxnLst/>
              <a:rect l="l" t="t" r="r" b="b"/>
              <a:pathLst>
                <a:path w="3156584" h="173989">
                  <a:moveTo>
                    <a:pt x="173481" y="0"/>
                  </a:moveTo>
                  <a:lnTo>
                    <a:pt x="0" y="87375"/>
                  </a:lnTo>
                  <a:lnTo>
                    <a:pt x="173989" y="173736"/>
                  </a:lnTo>
                  <a:lnTo>
                    <a:pt x="173821" y="115950"/>
                  </a:lnTo>
                  <a:lnTo>
                    <a:pt x="144906" y="115950"/>
                  </a:lnTo>
                  <a:lnTo>
                    <a:pt x="144652" y="58038"/>
                  </a:lnTo>
                  <a:lnTo>
                    <a:pt x="173651" y="57950"/>
                  </a:lnTo>
                  <a:lnTo>
                    <a:pt x="173481" y="0"/>
                  </a:lnTo>
                  <a:close/>
                </a:path>
                <a:path w="3156584" h="173989">
                  <a:moveTo>
                    <a:pt x="173651" y="57950"/>
                  </a:moveTo>
                  <a:lnTo>
                    <a:pt x="144652" y="58038"/>
                  </a:lnTo>
                  <a:lnTo>
                    <a:pt x="144906" y="115950"/>
                  </a:lnTo>
                  <a:lnTo>
                    <a:pt x="173820" y="115863"/>
                  </a:lnTo>
                  <a:lnTo>
                    <a:pt x="173651" y="57950"/>
                  </a:lnTo>
                  <a:close/>
                </a:path>
                <a:path w="3156584" h="173989">
                  <a:moveTo>
                    <a:pt x="173820" y="115863"/>
                  </a:moveTo>
                  <a:lnTo>
                    <a:pt x="144906" y="115950"/>
                  </a:lnTo>
                  <a:lnTo>
                    <a:pt x="173821" y="115950"/>
                  </a:lnTo>
                  <a:close/>
                </a:path>
                <a:path w="3156584" h="173989">
                  <a:moveTo>
                    <a:pt x="3156077" y="48894"/>
                  </a:moveTo>
                  <a:lnTo>
                    <a:pt x="173651" y="57950"/>
                  </a:lnTo>
                  <a:lnTo>
                    <a:pt x="173820" y="115863"/>
                  </a:lnTo>
                  <a:lnTo>
                    <a:pt x="3156330" y="106806"/>
                  </a:lnTo>
                  <a:lnTo>
                    <a:pt x="3156077" y="48894"/>
                  </a:lnTo>
                  <a:close/>
                </a:path>
              </a:pathLst>
            </a:custGeom>
            <a:solidFill>
              <a:srgbClr val="66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33DA17A9-D677-1758-C550-9A458D2E8CE5}"/>
                </a:ext>
              </a:extLst>
            </p:cNvPr>
            <p:cNvSpPr/>
            <p:nvPr/>
          </p:nvSpPr>
          <p:spPr>
            <a:xfrm>
              <a:off x="6674484" y="2218943"/>
              <a:ext cx="173990" cy="1264920"/>
            </a:xfrm>
            <a:custGeom>
              <a:avLst/>
              <a:gdLst/>
              <a:ahLst/>
              <a:cxnLst/>
              <a:rect l="l" t="t" r="r" b="b"/>
              <a:pathLst>
                <a:path w="173990" h="1264920">
                  <a:moveTo>
                    <a:pt x="57849" y="173608"/>
                  </a:moveTo>
                  <a:lnTo>
                    <a:pt x="55499" y="1264285"/>
                  </a:lnTo>
                  <a:lnTo>
                    <a:pt x="113411" y="1264412"/>
                  </a:lnTo>
                  <a:lnTo>
                    <a:pt x="115761" y="173735"/>
                  </a:lnTo>
                  <a:lnTo>
                    <a:pt x="57849" y="173608"/>
                  </a:lnTo>
                  <a:close/>
                </a:path>
                <a:path w="173990" h="1264920">
                  <a:moveTo>
                    <a:pt x="159205" y="144653"/>
                  </a:moveTo>
                  <a:lnTo>
                    <a:pt x="57912" y="144653"/>
                  </a:lnTo>
                  <a:lnTo>
                    <a:pt x="115824" y="144780"/>
                  </a:lnTo>
                  <a:lnTo>
                    <a:pt x="115761" y="173735"/>
                  </a:lnTo>
                  <a:lnTo>
                    <a:pt x="173736" y="173862"/>
                  </a:lnTo>
                  <a:lnTo>
                    <a:pt x="159205" y="144653"/>
                  </a:lnTo>
                  <a:close/>
                </a:path>
                <a:path w="173990" h="1264920">
                  <a:moveTo>
                    <a:pt x="57912" y="144653"/>
                  </a:moveTo>
                  <a:lnTo>
                    <a:pt x="57849" y="173608"/>
                  </a:lnTo>
                  <a:lnTo>
                    <a:pt x="115761" y="173735"/>
                  </a:lnTo>
                  <a:lnTo>
                    <a:pt x="115824" y="144780"/>
                  </a:lnTo>
                  <a:lnTo>
                    <a:pt x="57912" y="144653"/>
                  </a:lnTo>
                  <a:close/>
                </a:path>
                <a:path w="173990" h="1264920">
                  <a:moveTo>
                    <a:pt x="87249" y="0"/>
                  </a:moveTo>
                  <a:lnTo>
                    <a:pt x="0" y="173481"/>
                  </a:lnTo>
                  <a:lnTo>
                    <a:pt x="57849" y="173608"/>
                  </a:lnTo>
                  <a:lnTo>
                    <a:pt x="57912" y="144653"/>
                  </a:lnTo>
                  <a:lnTo>
                    <a:pt x="159205" y="144653"/>
                  </a:lnTo>
                  <a:lnTo>
                    <a:pt x="87249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B603CA74-A5AA-526F-6D9A-29AB771AE6CB}"/>
                </a:ext>
              </a:extLst>
            </p:cNvPr>
            <p:cNvSpPr/>
            <p:nvPr/>
          </p:nvSpPr>
          <p:spPr>
            <a:xfrm flipH="1">
              <a:off x="4618417" y="2465864"/>
              <a:ext cx="499745" cy="614045"/>
            </a:xfrm>
            <a:custGeom>
              <a:avLst/>
              <a:gdLst/>
              <a:ahLst/>
              <a:cxnLst/>
              <a:rect l="l" t="t" r="r" b="b"/>
              <a:pathLst>
                <a:path w="499745" h="614044">
                  <a:moveTo>
                    <a:pt x="461644" y="195326"/>
                  </a:moveTo>
                  <a:lnTo>
                    <a:pt x="430157" y="169161"/>
                  </a:lnTo>
                  <a:lnTo>
                    <a:pt x="391194" y="148996"/>
                  </a:lnTo>
                  <a:lnTo>
                    <a:pt x="345708" y="134970"/>
                  </a:lnTo>
                  <a:lnTo>
                    <a:pt x="294653" y="127219"/>
                  </a:lnTo>
                  <a:lnTo>
                    <a:pt x="238982" y="125883"/>
                  </a:lnTo>
                  <a:lnTo>
                    <a:pt x="179647" y="131098"/>
                  </a:lnTo>
                  <a:lnTo>
                    <a:pt x="117601" y="143002"/>
                  </a:lnTo>
                  <a:lnTo>
                    <a:pt x="136905" y="190754"/>
                  </a:lnTo>
                  <a:lnTo>
                    <a:pt x="0" y="127127"/>
                  </a:lnTo>
                  <a:lnTo>
                    <a:pt x="59436" y="0"/>
                  </a:lnTo>
                  <a:lnTo>
                    <a:pt x="78739" y="47625"/>
                  </a:lnTo>
                  <a:lnTo>
                    <a:pt x="137238" y="36192"/>
                  </a:lnTo>
                  <a:lnTo>
                    <a:pt x="193130" y="30725"/>
                  </a:lnTo>
                  <a:lnTo>
                    <a:pt x="245702" y="31039"/>
                  </a:lnTo>
                  <a:lnTo>
                    <a:pt x="294238" y="36947"/>
                  </a:lnTo>
                  <a:lnTo>
                    <a:pt x="338023" y="48264"/>
                  </a:lnTo>
                  <a:lnTo>
                    <a:pt x="376343" y="64802"/>
                  </a:lnTo>
                  <a:lnTo>
                    <a:pt x="408482" y="86377"/>
                  </a:lnTo>
                  <a:lnTo>
                    <a:pt x="451357" y="143891"/>
                  </a:lnTo>
                  <a:lnTo>
                    <a:pt x="490092" y="239268"/>
                  </a:lnTo>
                  <a:lnTo>
                    <a:pt x="499702" y="309249"/>
                  </a:lnTo>
                  <a:lnTo>
                    <a:pt x="492234" y="346242"/>
                  </a:lnTo>
                  <a:lnTo>
                    <a:pt x="477189" y="383799"/>
                  </a:lnTo>
                  <a:lnTo>
                    <a:pt x="455019" y="421342"/>
                  </a:lnTo>
                  <a:lnTo>
                    <a:pt x="426177" y="458292"/>
                  </a:lnTo>
                  <a:lnTo>
                    <a:pt x="391116" y="494072"/>
                  </a:lnTo>
                  <a:lnTo>
                    <a:pt x="350289" y="528102"/>
                  </a:lnTo>
                  <a:lnTo>
                    <a:pt x="304148" y="559806"/>
                  </a:lnTo>
                  <a:lnTo>
                    <a:pt x="253147" y="588603"/>
                  </a:lnTo>
                  <a:lnTo>
                    <a:pt x="197738" y="613918"/>
                  </a:lnTo>
                  <a:lnTo>
                    <a:pt x="159003" y="518541"/>
                  </a:lnTo>
                  <a:lnTo>
                    <a:pt x="214412" y="493226"/>
                  </a:lnTo>
                  <a:lnTo>
                    <a:pt x="265413" y="464429"/>
                  </a:lnTo>
                  <a:lnTo>
                    <a:pt x="311554" y="432725"/>
                  </a:lnTo>
                  <a:lnTo>
                    <a:pt x="352381" y="398695"/>
                  </a:lnTo>
                  <a:lnTo>
                    <a:pt x="387442" y="362915"/>
                  </a:lnTo>
                  <a:lnTo>
                    <a:pt x="416284" y="325965"/>
                  </a:lnTo>
                  <a:lnTo>
                    <a:pt x="438454" y="288422"/>
                  </a:lnTo>
                  <a:lnTo>
                    <a:pt x="453499" y="250865"/>
                  </a:lnTo>
                  <a:lnTo>
                    <a:pt x="460967" y="213872"/>
                  </a:lnTo>
                  <a:lnTo>
                    <a:pt x="460404" y="178021"/>
                  </a:lnTo>
                  <a:lnTo>
                    <a:pt x="451357" y="143891"/>
                  </a:lnTo>
                </a:path>
              </a:pathLst>
            </a:custGeom>
            <a:ln w="9525">
              <a:solidFill>
                <a:srgbClr val="00C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>
            <a:extLst>
              <a:ext uri="{FF2B5EF4-FFF2-40B4-BE49-F238E27FC236}">
                <a16:creationId xmlns:a16="http://schemas.microsoft.com/office/drawing/2014/main" id="{9143F37E-E4B3-9A21-F7F1-AB52684B271F}"/>
              </a:ext>
            </a:extLst>
          </p:cNvPr>
          <p:cNvSpPr txBox="1"/>
          <p:nvPr/>
        </p:nvSpPr>
        <p:spPr>
          <a:xfrm>
            <a:off x="4990758" y="2038235"/>
            <a:ext cx="531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20061" dirty="0">
                <a:solidFill>
                  <a:srgbClr val="6600FF"/>
                </a:solidFill>
                <a:latin typeface="Cambria Math"/>
                <a:cs typeface="Cambria Math"/>
              </a:rPr>
              <a:t>𝑼</a:t>
            </a:r>
            <a:r>
              <a:rPr sz="1950" spc="-30" baseline="12820" dirty="0">
                <a:solidFill>
                  <a:srgbClr val="6600FF"/>
                </a:solidFill>
                <a:latin typeface="Cambria Math"/>
                <a:cs typeface="Cambria Math"/>
              </a:rPr>
              <a:t>𝑹</a:t>
            </a:r>
            <a:r>
              <a:rPr sz="1050" spc="-20" dirty="0">
                <a:solidFill>
                  <a:srgbClr val="6600FF"/>
                </a:solidFill>
                <a:latin typeface="Cambria Math"/>
                <a:cs typeface="Cambria Math"/>
              </a:rPr>
              <a:t>𝑻𝒉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64F40737-FB60-5BFF-48A7-95AA71D42A2D}"/>
              </a:ext>
            </a:extLst>
          </p:cNvPr>
          <p:cNvSpPr txBox="1"/>
          <p:nvPr/>
        </p:nvSpPr>
        <p:spPr>
          <a:xfrm>
            <a:off x="6599214" y="2414663"/>
            <a:ext cx="3594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9900"/>
                </a:solidFill>
                <a:latin typeface="Cambria Math"/>
                <a:cs typeface="Cambria Math"/>
              </a:rPr>
              <a:t>𝑼</a:t>
            </a:r>
            <a:r>
              <a:rPr sz="1950" spc="-37" baseline="-14957" dirty="0">
                <a:solidFill>
                  <a:srgbClr val="FF9900"/>
                </a:solidFill>
                <a:latin typeface="Cambria Math"/>
                <a:cs typeface="Cambria Math"/>
              </a:rPr>
              <a:t>𝑹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A5B2F5C2-DE1E-87CA-E5FA-245B66BCF768}"/>
              </a:ext>
            </a:extLst>
          </p:cNvPr>
          <p:cNvSpPr txBox="1"/>
          <p:nvPr/>
        </p:nvSpPr>
        <p:spPr>
          <a:xfrm>
            <a:off x="597473" y="3728605"/>
            <a:ext cx="11004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Loi</a:t>
            </a:r>
            <a:r>
              <a:rPr sz="1800" b="1" spc="-10" dirty="0">
                <a:latin typeface="Times New Roman"/>
                <a:cs typeface="Times New Roman"/>
              </a:rPr>
              <a:t> d'Ohm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CA0BBB95-9766-A440-930F-84C58D7DE28D}"/>
              </a:ext>
            </a:extLst>
          </p:cNvPr>
          <p:cNvSpPr/>
          <p:nvPr/>
        </p:nvSpPr>
        <p:spPr>
          <a:xfrm>
            <a:off x="1893990" y="3820858"/>
            <a:ext cx="376555" cy="200025"/>
          </a:xfrm>
          <a:custGeom>
            <a:avLst/>
            <a:gdLst/>
            <a:ahLst/>
            <a:cxnLst/>
            <a:rect l="l" t="t" r="r" b="b"/>
            <a:pathLst>
              <a:path w="376555" h="200025">
                <a:moveTo>
                  <a:pt x="276606" y="0"/>
                </a:moveTo>
                <a:lnTo>
                  <a:pt x="276606" y="49911"/>
                </a:lnTo>
                <a:lnTo>
                  <a:pt x="0" y="49911"/>
                </a:lnTo>
                <a:lnTo>
                  <a:pt x="0" y="149733"/>
                </a:lnTo>
                <a:lnTo>
                  <a:pt x="276606" y="149733"/>
                </a:lnTo>
                <a:lnTo>
                  <a:pt x="276606" y="199644"/>
                </a:lnTo>
                <a:lnTo>
                  <a:pt x="376428" y="99822"/>
                </a:lnTo>
                <a:lnTo>
                  <a:pt x="276606" y="0"/>
                </a:lnTo>
                <a:close/>
              </a:path>
            </a:pathLst>
          </a:custGeom>
          <a:solidFill>
            <a:srgbClr val="00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720E101A-8AE8-CE00-0B2D-0DF3BE53E78D}"/>
              </a:ext>
            </a:extLst>
          </p:cNvPr>
          <p:cNvSpPr txBox="1"/>
          <p:nvPr/>
        </p:nvSpPr>
        <p:spPr>
          <a:xfrm>
            <a:off x="2511465" y="3725557"/>
            <a:ext cx="12211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600FF"/>
                </a:solidFill>
                <a:latin typeface="Cambria Math"/>
                <a:cs typeface="Cambria Math"/>
              </a:rPr>
              <a:t>𝑼</a:t>
            </a:r>
            <a:r>
              <a:rPr sz="1950" baseline="-14957" dirty="0">
                <a:solidFill>
                  <a:srgbClr val="6600FF"/>
                </a:solidFill>
                <a:latin typeface="Cambria Math"/>
                <a:cs typeface="Cambria Math"/>
              </a:rPr>
              <a:t>𝑹</a:t>
            </a:r>
            <a:r>
              <a:rPr sz="1575" baseline="-34391" dirty="0">
                <a:solidFill>
                  <a:srgbClr val="6600FF"/>
                </a:solidFill>
                <a:latin typeface="Cambria Math"/>
                <a:cs typeface="Cambria Math"/>
              </a:rPr>
              <a:t>𝑻𝒉</a:t>
            </a:r>
            <a:r>
              <a:rPr sz="1575" spc="-142" baseline="-34391" dirty="0">
                <a:solidFill>
                  <a:srgbClr val="6600FF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6600FF"/>
                </a:solidFill>
                <a:latin typeface="Calibri"/>
                <a:cs typeface="Calibri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𝑰.</a:t>
            </a:r>
            <a:r>
              <a:rPr sz="1800" spc="-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6600FF"/>
                </a:solidFill>
                <a:latin typeface="Cambria Math"/>
                <a:cs typeface="Cambria Math"/>
              </a:rPr>
              <a:t>𝑹</a:t>
            </a:r>
            <a:r>
              <a:rPr sz="1950" spc="-37" baseline="-14957" dirty="0">
                <a:solidFill>
                  <a:srgbClr val="6600FF"/>
                </a:solidFill>
                <a:latin typeface="Cambria Math"/>
                <a:cs typeface="Cambria Math"/>
              </a:rPr>
              <a:t>𝑻𝒉</a:t>
            </a:r>
            <a:endParaRPr sz="1950" baseline="-14957" dirty="0">
              <a:latin typeface="Cambria Math"/>
              <a:cs typeface="Cambria Math"/>
            </a:endParaRPr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B1305F68-9DAC-BD67-237F-EEC9E54BE953}"/>
              </a:ext>
            </a:extLst>
          </p:cNvPr>
          <p:cNvSpPr txBox="1"/>
          <p:nvPr/>
        </p:nvSpPr>
        <p:spPr>
          <a:xfrm>
            <a:off x="3836456" y="3756646"/>
            <a:ext cx="1162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58140" algn="l"/>
              </a:tabLst>
            </a:pPr>
            <a:r>
              <a:rPr sz="2700" b="1" spc="-37" baseline="1543" dirty="0">
                <a:latin typeface="Times New Roman"/>
                <a:cs typeface="Times New Roman"/>
              </a:rPr>
              <a:t>et</a:t>
            </a:r>
            <a:r>
              <a:rPr sz="2700" b="1" baseline="1543" dirty="0"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FF9900"/>
                </a:solidFill>
                <a:latin typeface="Cambria Math"/>
                <a:cs typeface="Cambria Math"/>
              </a:rPr>
              <a:t>𝑼</a:t>
            </a:r>
            <a:r>
              <a:rPr sz="1950" baseline="-14957" dirty="0">
                <a:solidFill>
                  <a:srgbClr val="FF9900"/>
                </a:solidFill>
                <a:latin typeface="Cambria Math"/>
                <a:cs typeface="Cambria Math"/>
              </a:rPr>
              <a:t>𝑹</a:t>
            </a:r>
            <a:r>
              <a:rPr sz="1800" dirty="0">
                <a:solidFill>
                  <a:srgbClr val="FF9900"/>
                </a:solidFill>
                <a:latin typeface="Calibri"/>
                <a:cs typeface="Calibri"/>
              </a:rPr>
              <a:t>=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𝑰</a:t>
            </a:r>
            <a:r>
              <a:rPr sz="1800" dirty="0">
                <a:solidFill>
                  <a:srgbClr val="FF9900"/>
                </a:solidFill>
                <a:latin typeface="Cambria Math"/>
                <a:cs typeface="Cambria Math"/>
              </a:rPr>
              <a:t>.</a:t>
            </a:r>
            <a:r>
              <a:rPr sz="1800" spc="-35" dirty="0">
                <a:solidFill>
                  <a:srgbClr val="FF990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9900"/>
                </a:solidFill>
                <a:latin typeface="Cambria Math"/>
                <a:cs typeface="Cambria Math"/>
              </a:rPr>
              <a:t>𝑹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A8D18344-DAAC-C824-1FCD-17751711B080}"/>
              </a:ext>
            </a:extLst>
          </p:cNvPr>
          <p:cNvSpPr txBox="1"/>
          <p:nvPr/>
        </p:nvSpPr>
        <p:spPr>
          <a:xfrm>
            <a:off x="5236503" y="3734701"/>
            <a:ext cx="1562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Lois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des </a:t>
            </a:r>
            <a:r>
              <a:rPr sz="1800" b="1" spc="-10" dirty="0">
                <a:latin typeface="Times New Roman"/>
                <a:cs typeface="Times New Roman"/>
              </a:rPr>
              <a:t>mailles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F2CE8817-FF92-FE3D-E51B-52D9A791EEB2}"/>
              </a:ext>
            </a:extLst>
          </p:cNvPr>
          <p:cNvSpPr/>
          <p:nvPr/>
        </p:nvSpPr>
        <p:spPr>
          <a:xfrm>
            <a:off x="6892710" y="3808666"/>
            <a:ext cx="378460" cy="198120"/>
          </a:xfrm>
          <a:custGeom>
            <a:avLst/>
            <a:gdLst/>
            <a:ahLst/>
            <a:cxnLst/>
            <a:rect l="l" t="t" r="r" b="b"/>
            <a:pathLst>
              <a:path w="378459" h="198120">
                <a:moveTo>
                  <a:pt x="278892" y="0"/>
                </a:moveTo>
                <a:lnTo>
                  <a:pt x="278892" y="49529"/>
                </a:lnTo>
                <a:lnTo>
                  <a:pt x="0" y="49529"/>
                </a:lnTo>
                <a:lnTo>
                  <a:pt x="0" y="148589"/>
                </a:lnTo>
                <a:lnTo>
                  <a:pt x="278892" y="148589"/>
                </a:lnTo>
                <a:lnTo>
                  <a:pt x="278892" y="198119"/>
                </a:lnTo>
                <a:lnTo>
                  <a:pt x="377952" y="99059"/>
                </a:lnTo>
                <a:lnTo>
                  <a:pt x="278892" y="0"/>
                </a:lnTo>
                <a:close/>
              </a:path>
            </a:pathLst>
          </a:custGeom>
          <a:solidFill>
            <a:srgbClr val="00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9474F298-5AC1-F7CD-F8D1-47EC4AA492E2}"/>
              </a:ext>
            </a:extLst>
          </p:cNvPr>
          <p:cNvSpPr txBox="1"/>
          <p:nvPr/>
        </p:nvSpPr>
        <p:spPr>
          <a:xfrm>
            <a:off x="7415696" y="3695077"/>
            <a:ext cx="1481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𝑬</a:t>
            </a:r>
            <a:r>
              <a:rPr sz="1950" baseline="-14957" dirty="0">
                <a:latin typeface="Cambria Math"/>
                <a:cs typeface="Cambria Math"/>
              </a:rPr>
              <a:t>𝑻𝒉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dirty="0">
                <a:solidFill>
                  <a:srgbClr val="6600FF"/>
                </a:solidFill>
                <a:latin typeface="Cambria Math"/>
                <a:cs typeface="Cambria Math"/>
              </a:rPr>
              <a:t>𝑼</a:t>
            </a:r>
            <a:r>
              <a:rPr sz="1950" baseline="-14957" dirty="0">
                <a:solidFill>
                  <a:srgbClr val="6600FF"/>
                </a:solidFill>
                <a:latin typeface="Cambria Math"/>
                <a:cs typeface="Cambria Math"/>
              </a:rPr>
              <a:t>𝑹</a:t>
            </a:r>
            <a:r>
              <a:rPr sz="1575" baseline="-34391" dirty="0">
                <a:solidFill>
                  <a:srgbClr val="6600FF"/>
                </a:solidFill>
                <a:latin typeface="Cambria Math"/>
                <a:cs typeface="Cambria Math"/>
              </a:rPr>
              <a:t>𝑻𝒉</a:t>
            </a:r>
            <a:r>
              <a:rPr sz="1575" spc="-112" baseline="-34391" dirty="0">
                <a:solidFill>
                  <a:srgbClr val="6600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70" dirty="0"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9900"/>
                </a:solidFill>
                <a:latin typeface="Cambria Math"/>
                <a:cs typeface="Cambria Math"/>
              </a:rPr>
              <a:t>𝑼</a:t>
            </a:r>
            <a:r>
              <a:rPr sz="1950" spc="-37" baseline="-14957" dirty="0">
                <a:solidFill>
                  <a:srgbClr val="FF9900"/>
                </a:solidFill>
                <a:latin typeface="Cambria Math"/>
                <a:cs typeface="Cambria Math"/>
              </a:rPr>
              <a:t>𝑹</a:t>
            </a:r>
            <a:endParaRPr sz="1950" baseline="-14957" dirty="0">
              <a:latin typeface="Cambria Math"/>
              <a:cs typeface="Cambria Math"/>
            </a:endParaRPr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CC28F943-1306-AAD3-224C-FE54E0B25879}"/>
              </a:ext>
            </a:extLst>
          </p:cNvPr>
          <p:cNvSpPr txBox="1"/>
          <p:nvPr/>
        </p:nvSpPr>
        <p:spPr>
          <a:xfrm>
            <a:off x="4093377" y="4304067"/>
            <a:ext cx="21482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="1" baseline="3086" dirty="0">
                <a:latin typeface="Times New Roman"/>
                <a:cs typeface="Times New Roman"/>
              </a:rPr>
              <a:t>D'où:</a:t>
            </a:r>
            <a:r>
              <a:rPr sz="2700" b="1" spc="-67" baseline="3086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mbria Math"/>
                <a:cs typeface="Cambria Math"/>
              </a:rPr>
              <a:t>𝑬</a:t>
            </a:r>
            <a:r>
              <a:rPr sz="1950" baseline="-14957" dirty="0">
                <a:latin typeface="Cambria Math"/>
                <a:cs typeface="Cambria Math"/>
              </a:rPr>
              <a:t>𝑻𝒉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𝑰</a:t>
            </a:r>
            <a:r>
              <a:rPr sz="1800" spc="-10" dirty="0">
                <a:latin typeface="Cambria Math"/>
                <a:cs typeface="Cambria Math"/>
              </a:rPr>
              <a:t>(</a:t>
            </a:r>
            <a:r>
              <a:rPr sz="1800" spc="-10" dirty="0">
                <a:solidFill>
                  <a:srgbClr val="6600FF"/>
                </a:solidFill>
                <a:latin typeface="Cambria Math"/>
                <a:cs typeface="Cambria Math"/>
              </a:rPr>
              <a:t>𝑹</a:t>
            </a:r>
            <a:r>
              <a:rPr sz="1950" spc="-15" baseline="-14957" dirty="0">
                <a:solidFill>
                  <a:srgbClr val="6600FF"/>
                </a:solidFill>
                <a:latin typeface="Cambria Math"/>
                <a:cs typeface="Cambria Math"/>
              </a:rPr>
              <a:t>𝑻𝒉</a:t>
            </a:r>
            <a:r>
              <a:rPr sz="1800" spc="-10" dirty="0">
                <a:latin typeface="Calibri"/>
                <a:cs typeface="Calibri"/>
              </a:rPr>
              <a:t>+</a:t>
            </a:r>
            <a:r>
              <a:rPr sz="1800" spc="-10" dirty="0">
                <a:solidFill>
                  <a:srgbClr val="FF9900"/>
                </a:solidFill>
                <a:latin typeface="Cambria Math"/>
                <a:cs typeface="Cambria Math"/>
              </a:rPr>
              <a:t>𝑹</a:t>
            </a:r>
            <a:r>
              <a:rPr sz="1800" spc="-10" dirty="0">
                <a:latin typeface="Cambria Math"/>
                <a:cs typeface="Cambria Math"/>
              </a:rPr>
              <a:t>)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F3C9F77B-F72E-C2F4-748A-23B936316D7A}"/>
              </a:ext>
            </a:extLst>
          </p:cNvPr>
          <p:cNvSpPr/>
          <p:nvPr/>
        </p:nvSpPr>
        <p:spPr>
          <a:xfrm>
            <a:off x="6345595" y="4401502"/>
            <a:ext cx="378460" cy="198120"/>
          </a:xfrm>
          <a:custGeom>
            <a:avLst/>
            <a:gdLst/>
            <a:ahLst/>
            <a:cxnLst/>
            <a:rect l="l" t="t" r="r" b="b"/>
            <a:pathLst>
              <a:path w="378460" h="198120">
                <a:moveTo>
                  <a:pt x="278891" y="0"/>
                </a:moveTo>
                <a:lnTo>
                  <a:pt x="278891" y="49529"/>
                </a:lnTo>
                <a:lnTo>
                  <a:pt x="0" y="49529"/>
                </a:lnTo>
                <a:lnTo>
                  <a:pt x="0" y="148589"/>
                </a:lnTo>
                <a:lnTo>
                  <a:pt x="278891" y="148589"/>
                </a:lnTo>
                <a:lnTo>
                  <a:pt x="278891" y="198119"/>
                </a:lnTo>
                <a:lnTo>
                  <a:pt x="377951" y="99059"/>
                </a:lnTo>
                <a:lnTo>
                  <a:pt x="278891" y="0"/>
                </a:lnTo>
                <a:close/>
              </a:path>
            </a:pathLst>
          </a:custGeom>
          <a:solidFill>
            <a:srgbClr val="00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C006A4F6-857A-09FA-DC19-EBD6D0CA7086}"/>
              </a:ext>
            </a:extLst>
          </p:cNvPr>
          <p:cNvGrpSpPr/>
          <p:nvPr/>
        </p:nvGrpSpPr>
        <p:grpSpPr>
          <a:xfrm>
            <a:off x="6956972" y="4147304"/>
            <a:ext cx="1268095" cy="657225"/>
            <a:chOff x="6956972" y="4576571"/>
            <a:chExt cx="1268095" cy="657225"/>
          </a:xfrm>
        </p:grpSpPr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4551B728-DCF4-423B-01A7-F9071E0BDA51}"/>
                </a:ext>
              </a:extLst>
            </p:cNvPr>
            <p:cNvSpPr/>
            <p:nvPr/>
          </p:nvSpPr>
          <p:spPr>
            <a:xfrm>
              <a:off x="7375117" y="4912664"/>
              <a:ext cx="650875" cy="15240"/>
            </a:xfrm>
            <a:custGeom>
              <a:avLst/>
              <a:gdLst/>
              <a:ahLst/>
              <a:cxnLst/>
              <a:rect l="l" t="t" r="r" b="b"/>
              <a:pathLst>
                <a:path w="650875" h="15239">
                  <a:moveTo>
                    <a:pt x="650748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650748" y="15239"/>
                  </a:lnTo>
                  <a:lnTo>
                    <a:pt x="65074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71" name="Groupe 70">
              <a:extLst>
                <a:ext uri="{FF2B5EF4-FFF2-40B4-BE49-F238E27FC236}">
                  <a16:creationId xmlns:a16="http://schemas.microsoft.com/office/drawing/2014/main" id="{648DB720-48B1-E66F-1B38-7A2BF4C8DD48}"/>
                </a:ext>
              </a:extLst>
            </p:cNvPr>
            <p:cNvGrpSpPr/>
            <p:nvPr/>
          </p:nvGrpSpPr>
          <p:grpSpPr>
            <a:xfrm>
              <a:off x="6956972" y="4576571"/>
              <a:ext cx="1268095" cy="657225"/>
              <a:chOff x="6959005" y="4089843"/>
              <a:chExt cx="1268095" cy="657225"/>
            </a:xfrm>
          </p:grpSpPr>
          <p:sp>
            <p:nvSpPr>
              <p:cNvPr id="63" name="object 63">
                <a:extLst>
                  <a:ext uri="{FF2B5EF4-FFF2-40B4-BE49-F238E27FC236}">
                    <a16:creationId xmlns:a16="http://schemas.microsoft.com/office/drawing/2014/main" id="{11408B23-D657-8F39-1DCF-624EBDD5F94F}"/>
                  </a:ext>
                </a:extLst>
              </p:cNvPr>
              <p:cNvSpPr txBox="1"/>
              <p:nvPr/>
            </p:nvSpPr>
            <p:spPr>
              <a:xfrm>
                <a:off x="6993421" y="4256213"/>
                <a:ext cx="360045" cy="3003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800" dirty="0">
                    <a:solidFill>
                      <a:srgbClr val="FF0000"/>
                    </a:solidFill>
                    <a:latin typeface="Cambria Math"/>
                    <a:cs typeface="Cambria Math"/>
                  </a:rPr>
                  <a:t>𝑰</a:t>
                </a:r>
                <a:r>
                  <a:rPr sz="1800" spc="90" dirty="0">
                    <a:solidFill>
                      <a:srgbClr val="FF0000"/>
                    </a:solidFill>
                    <a:latin typeface="Cambria Math"/>
                    <a:cs typeface="Cambria Math"/>
                  </a:rPr>
                  <a:t> </a:t>
                </a:r>
                <a:r>
                  <a:rPr sz="1800" spc="-50" dirty="0">
                    <a:solidFill>
                      <a:srgbClr val="FF0000"/>
                    </a:solidFill>
                    <a:latin typeface="Cambria Math"/>
                    <a:cs typeface="Cambria Math"/>
                  </a:rPr>
                  <a:t>=</a:t>
                </a:r>
                <a:endParaRPr sz="1800">
                  <a:latin typeface="Cambria Math"/>
                  <a:cs typeface="Cambria Math"/>
                </a:endParaRPr>
              </a:p>
            </p:txBody>
          </p:sp>
          <p:sp>
            <p:nvSpPr>
              <p:cNvPr id="65" name="object 65">
                <a:extLst>
                  <a:ext uri="{FF2B5EF4-FFF2-40B4-BE49-F238E27FC236}">
                    <a16:creationId xmlns:a16="http://schemas.microsoft.com/office/drawing/2014/main" id="{35692C08-DB6B-C7CB-6AAB-9202A4EBFE04}"/>
                  </a:ext>
                </a:extLst>
              </p:cNvPr>
              <p:cNvSpPr txBox="1"/>
              <p:nvPr/>
            </p:nvSpPr>
            <p:spPr>
              <a:xfrm>
                <a:off x="7507771" y="4130026"/>
                <a:ext cx="437515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2700" spc="-37" baseline="10802" dirty="0">
                    <a:latin typeface="Cambria Math"/>
                    <a:cs typeface="Cambria Math"/>
                  </a:rPr>
                  <a:t>𝑬</a:t>
                </a:r>
                <a:r>
                  <a:rPr sz="1300" spc="-25" dirty="0">
                    <a:latin typeface="Cambria Math"/>
                    <a:cs typeface="Cambria Math"/>
                  </a:rPr>
                  <a:t>𝑻𝒉</a:t>
                </a:r>
                <a:endParaRPr sz="1300" dirty="0">
                  <a:latin typeface="Cambria Math"/>
                  <a:cs typeface="Cambria Math"/>
                </a:endParaRPr>
              </a:p>
            </p:txBody>
          </p:sp>
          <p:sp>
            <p:nvSpPr>
              <p:cNvPr id="66" name="object 66">
                <a:extLst>
                  <a:ext uri="{FF2B5EF4-FFF2-40B4-BE49-F238E27FC236}">
                    <a16:creationId xmlns:a16="http://schemas.microsoft.com/office/drawing/2014/main" id="{FA9DE9D4-82B8-6D97-E4F7-4E7FEE8B3273}"/>
                  </a:ext>
                </a:extLst>
              </p:cNvPr>
              <p:cNvSpPr txBox="1"/>
              <p:nvPr/>
            </p:nvSpPr>
            <p:spPr>
              <a:xfrm>
                <a:off x="7365785" y="4408613"/>
                <a:ext cx="730250" cy="3003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800" spc="-10" dirty="0">
                    <a:solidFill>
                      <a:srgbClr val="6600FF"/>
                    </a:solidFill>
                    <a:latin typeface="Cambria Math"/>
                    <a:cs typeface="Cambria Math"/>
                  </a:rPr>
                  <a:t>𝑹</a:t>
                </a:r>
                <a:r>
                  <a:rPr sz="1950" spc="-15" baseline="-14957" dirty="0">
                    <a:solidFill>
                      <a:srgbClr val="6600FF"/>
                    </a:solidFill>
                    <a:latin typeface="Cambria Math"/>
                    <a:cs typeface="Cambria Math"/>
                  </a:rPr>
                  <a:t>𝑻𝒉</a:t>
                </a:r>
                <a:r>
                  <a:rPr sz="1800" spc="-10" dirty="0">
                    <a:latin typeface="Calibri"/>
                    <a:cs typeface="Calibri"/>
                  </a:rPr>
                  <a:t>+</a:t>
                </a:r>
                <a:r>
                  <a:rPr sz="1800" spc="-10" dirty="0">
                    <a:solidFill>
                      <a:srgbClr val="FF9900"/>
                    </a:solidFill>
                    <a:latin typeface="Cambria Math"/>
                    <a:cs typeface="Cambria Math"/>
                  </a:rPr>
                  <a:t>𝑹</a:t>
                </a:r>
                <a:endParaRPr sz="1800" dirty="0">
                  <a:latin typeface="Cambria Math"/>
                  <a:cs typeface="Cambria Math"/>
                </a:endParaRPr>
              </a:p>
            </p:txBody>
          </p:sp>
          <p:sp>
            <p:nvSpPr>
              <p:cNvPr id="67" name="object 67">
                <a:extLst>
                  <a:ext uri="{FF2B5EF4-FFF2-40B4-BE49-F238E27FC236}">
                    <a16:creationId xmlns:a16="http://schemas.microsoft.com/office/drawing/2014/main" id="{F7ADF8EC-A9B9-2A76-75BB-58FB59F8BA03}"/>
                  </a:ext>
                </a:extLst>
              </p:cNvPr>
              <p:cNvSpPr/>
              <p:nvPr/>
            </p:nvSpPr>
            <p:spPr>
              <a:xfrm>
                <a:off x="6959005" y="4089843"/>
                <a:ext cx="1268095" cy="657225"/>
              </a:xfrm>
              <a:custGeom>
                <a:avLst/>
                <a:gdLst/>
                <a:ahLst/>
                <a:cxnLst/>
                <a:rect l="l" t="t" r="r" b="b"/>
                <a:pathLst>
                  <a:path w="1268095" h="657225">
                    <a:moveTo>
                      <a:pt x="0" y="109473"/>
                    </a:moveTo>
                    <a:lnTo>
                      <a:pt x="8604" y="66860"/>
                    </a:lnTo>
                    <a:lnTo>
                      <a:pt x="32067" y="32062"/>
                    </a:lnTo>
                    <a:lnTo>
                      <a:pt x="66865" y="8602"/>
                    </a:lnTo>
                    <a:lnTo>
                      <a:pt x="109474" y="0"/>
                    </a:lnTo>
                    <a:lnTo>
                      <a:pt x="1158494" y="0"/>
                    </a:lnTo>
                    <a:lnTo>
                      <a:pt x="1201102" y="8602"/>
                    </a:lnTo>
                    <a:lnTo>
                      <a:pt x="1235900" y="32062"/>
                    </a:lnTo>
                    <a:lnTo>
                      <a:pt x="1259363" y="66860"/>
                    </a:lnTo>
                    <a:lnTo>
                      <a:pt x="1267968" y="109473"/>
                    </a:lnTo>
                    <a:lnTo>
                      <a:pt x="1267968" y="547369"/>
                    </a:lnTo>
                    <a:lnTo>
                      <a:pt x="1259363" y="589983"/>
                    </a:lnTo>
                    <a:lnTo>
                      <a:pt x="1235900" y="624781"/>
                    </a:lnTo>
                    <a:lnTo>
                      <a:pt x="1201102" y="648241"/>
                    </a:lnTo>
                    <a:lnTo>
                      <a:pt x="1158494" y="656843"/>
                    </a:lnTo>
                    <a:lnTo>
                      <a:pt x="109474" y="656843"/>
                    </a:lnTo>
                    <a:lnTo>
                      <a:pt x="66865" y="648241"/>
                    </a:lnTo>
                    <a:lnTo>
                      <a:pt x="32067" y="624781"/>
                    </a:lnTo>
                    <a:lnTo>
                      <a:pt x="8604" y="589983"/>
                    </a:lnTo>
                    <a:lnTo>
                      <a:pt x="0" y="547369"/>
                    </a:lnTo>
                    <a:lnTo>
                      <a:pt x="0" y="109473"/>
                    </a:lnTo>
                    <a:close/>
                  </a:path>
                </a:pathLst>
              </a:custGeom>
              <a:ln w="38100">
                <a:solidFill>
                  <a:srgbClr val="FF00FF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9391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 animBg="1"/>
      <p:bldP spid="56" grpId="0"/>
      <p:bldP spid="57" grpId="0"/>
      <p:bldP spid="58" grpId="0"/>
      <p:bldP spid="59" grpId="0" animBg="1"/>
      <p:bldP spid="60" grpId="0"/>
      <p:bldP spid="61" grpId="0"/>
      <p:bldP spid="6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52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301386" y="36195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sz="20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3.2 </a:t>
            </a:r>
            <a:r>
              <a:rPr lang="fr-FR" altLang="fr-FR" sz="20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Théorème de Norton </a:t>
            </a:r>
          </a:p>
        </p:txBody>
      </p:sp>
      <p:sp>
        <p:nvSpPr>
          <p:cNvPr id="11" name="object 14">
            <a:extLst>
              <a:ext uri="{FF2B5EF4-FFF2-40B4-BE49-F238E27FC236}">
                <a16:creationId xmlns:a16="http://schemas.microsoft.com/office/drawing/2014/main" id="{B4B73903-65CD-57EA-36F3-626108569EE6}"/>
              </a:ext>
            </a:extLst>
          </p:cNvPr>
          <p:cNvSpPr txBox="1"/>
          <p:nvPr/>
        </p:nvSpPr>
        <p:spPr>
          <a:xfrm>
            <a:off x="3590196" y="1219200"/>
            <a:ext cx="2562860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dirty="0">
                <a:latin typeface="Bookman Old Style" panose="02050604050505020204" pitchFamily="18" charset="0"/>
                <a:cs typeface="Times New Roman"/>
              </a:rPr>
              <a:t>Pourquoi</a:t>
            </a:r>
            <a:r>
              <a:rPr sz="1200" b="1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le</a:t>
            </a:r>
            <a:r>
              <a:rPr sz="1200" b="1" spc="-6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théorème</a:t>
            </a:r>
            <a:r>
              <a:rPr sz="1200" b="1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200" b="1"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spc="-10" dirty="0">
                <a:latin typeface="Bookman Old Style" panose="02050604050505020204" pitchFamily="18" charset="0"/>
                <a:cs typeface="Times New Roman"/>
              </a:rPr>
              <a:t>Norton?</a:t>
            </a:r>
            <a:endParaRPr sz="12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3" name="object 16">
            <a:extLst>
              <a:ext uri="{FF2B5EF4-FFF2-40B4-BE49-F238E27FC236}">
                <a16:creationId xmlns:a16="http://schemas.microsoft.com/office/drawing/2014/main" id="{1D1DC92E-5D29-DB29-3437-FE8E4F307157}"/>
              </a:ext>
            </a:extLst>
          </p:cNvPr>
          <p:cNvSpPr txBox="1"/>
          <p:nvPr/>
        </p:nvSpPr>
        <p:spPr>
          <a:xfrm>
            <a:off x="156980" y="1224077"/>
            <a:ext cx="2886710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dirty="0">
                <a:latin typeface="Bookman Old Style" panose="02050604050505020204" pitchFamily="18" charset="0"/>
                <a:cs typeface="Times New Roman"/>
              </a:rPr>
              <a:t>Qu'est-ce</a:t>
            </a:r>
            <a:r>
              <a:rPr sz="1200" b="1" spc="-3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que</a:t>
            </a:r>
            <a:r>
              <a:rPr sz="1200" b="1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le</a:t>
            </a:r>
            <a:r>
              <a:rPr sz="1200" b="1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théorème</a:t>
            </a:r>
            <a:r>
              <a:rPr sz="1200" b="1" spc="-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200" b="1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spc="-10" dirty="0">
                <a:latin typeface="Bookman Old Style" panose="02050604050505020204" pitchFamily="18" charset="0"/>
                <a:cs typeface="Times New Roman"/>
              </a:rPr>
              <a:t>Norton?</a:t>
            </a:r>
            <a:endParaRPr sz="120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579EEB2E-081D-6F5E-CC4C-0CC6753CC689}"/>
              </a:ext>
            </a:extLst>
          </p:cNvPr>
          <p:cNvSpPr txBox="1"/>
          <p:nvPr/>
        </p:nvSpPr>
        <p:spPr>
          <a:xfrm>
            <a:off x="204834" y="1787956"/>
            <a:ext cx="28448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055" indent="-17335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6055" algn="l"/>
              </a:tabLst>
            </a:pPr>
            <a:r>
              <a:rPr sz="1200" dirty="0">
                <a:latin typeface="Bookman Old Style" panose="02050604050505020204" pitchFamily="18" charset="0"/>
                <a:cs typeface="Times New Roman"/>
              </a:rPr>
              <a:t>Ingénieur</a:t>
            </a:r>
            <a:r>
              <a:rPr sz="1200"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américain</a:t>
            </a:r>
            <a:r>
              <a:rPr sz="1200"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Edward</a:t>
            </a:r>
            <a:r>
              <a:rPr sz="1200" spc="-3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Lawry</a:t>
            </a:r>
            <a:r>
              <a:rPr sz="1200" spc="-3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spc="-10" dirty="0">
                <a:latin typeface="Bookman Old Style" panose="02050604050505020204" pitchFamily="18" charset="0"/>
                <a:cs typeface="Times New Roman"/>
              </a:rPr>
              <a:t>Norton</a:t>
            </a:r>
            <a:endParaRPr sz="1200" b="1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BFDEA8DC-D33D-09DA-2C64-6872A9BA3AF9}"/>
              </a:ext>
            </a:extLst>
          </p:cNvPr>
          <p:cNvSpPr txBox="1"/>
          <p:nvPr/>
        </p:nvSpPr>
        <p:spPr>
          <a:xfrm>
            <a:off x="204834" y="2153971"/>
            <a:ext cx="298556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5080" indent="-1524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64465" algn="l"/>
                <a:tab pos="185420" algn="l"/>
              </a:tabLst>
            </a:pPr>
            <a:r>
              <a:rPr sz="1200" dirty="0">
                <a:latin typeface="Bookman Old Style" panose="02050604050505020204" pitchFamily="18" charset="0"/>
                <a:cs typeface="Times New Roman"/>
              </a:rPr>
              <a:t>	C'est</a:t>
            </a:r>
            <a:r>
              <a:rPr sz="1200" spc="-3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un</a:t>
            </a:r>
            <a:r>
              <a:rPr sz="1200" spc="-3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théorème</a:t>
            </a:r>
            <a:r>
              <a:rPr sz="1200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élémentaire</a:t>
            </a:r>
            <a:r>
              <a:rPr sz="1200" b="1" spc="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spc="-25" dirty="0">
                <a:latin typeface="Bookman Old Style" panose="02050604050505020204" pitchFamily="18" charset="0"/>
                <a:cs typeface="Times New Roman"/>
              </a:rPr>
              <a:t>en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électrocinétique</a:t>
            </a:r>
            <a:r>
              <a:rPr sz="1200" b="1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|</a:t>
            </a:r>
            <a:r>
              <a:rPr sz="1200" spc="-6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Principe</a:t>
            </a:r>
            <a:r>
              <a:rPr sz="1200" spc="-3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 err="1">
                <a:latin typeface="Bookman Old Style" panose="02050604050505020204" pitchFamily="18" charset="0"/>
                <a:cs typeface="Times New Roman"/>
              </a:rPr>
              <a:t>fondamental</a:t>
            </a:r>
            <a:r>
              <a:rPr sz="1200"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spc="-25" dirty="0" err="1">
                <a:latin typeface="Bookman Old Style" panose="02050604050505020204" pitchFamily="18" charset="0"/>
                <a:cs typeface="Times New Roman"/>
              </a:rPr>
              <a:t>en</a:t>
            </a:r>
            <a:r>
              <a:rPr lang="fr-FR" sz="1200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 err="1">
                <a:latin typeface="Bookman Old Style" panose="02050604050505020204" pitchFamily="18" charset="0"/>
                <a:cs typeface="Times New Roman"/>
              </a:rPr>
              <a:t>électricité</a:t>
            </a:r>
            <a:r>
              <a:rPr sz="1200" spc="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et</a:t>
            </a:r>
            <a:r>
              <a:rPr sz="1200"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en</a:t>
            </a:r>
            <a:r>
              <a:rPr sz="1200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spc="-10" dirty="0">
                <a:latin typeface="Bookman Old Style" panose="02050604050505020204" pitchFamily="18" charset="0"/>
                <a:cs typeface="Times New Roman"/>
              </a:rPr>
              <a:t>électronique</a:t>
            </a:r>
            <a:endParaRPr sz="12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75D5173F-9303-AECC-CB88-249E0C95AF12}"/>
              </a:ext>
            </a:extLst>
          </p:cNvPr>
          <p:cNvSpPr txBox="1"/>
          <p:nvPr/>
        </p:nvSpPr>
        <p:spPr>
          <a:xfrm>
            <a:off x="3503329" y="1832661"/>
            <a:ext cx="274510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055" indent="-17335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6055" algn="l"/>
              </a:tabLst>
            </a:pPr>
            <a:r>
              <a:rPr sz="1200" dirty="0">
                <a:latin typeface="Bookman Old Style" panose="02050604050505020204" pitchFamily="18" charset="0"/>
                <a:cs typeface="Times New Roman"/>
              </a:rPr>
              <a:t>Simplifier</a:t>
            </a:r>
            <a:r>
              <a:rPr sz="1200" spc="-4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l'analyse de</a:t>
            </a:r>
            <a:r>
              <a:rPr sz="1200" b="1" spc="-4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circuits</a:t>
            </a:r>
            <a:r>
              <a:rPr sz="1200" b="1" spc="-3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spc="-10" dirty="0">
                <a:latin typeface="Bookman Old Style" panose="02050604050505020204" pitchFamily="18" charset="0"/>
                <a:cs typeface="Times New Roman"/>
              </a:rPr>
              <a:t>complexes</a:t>
            </a:r>
            <a:endParaRPr sz="1200" b="1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65BAD9A4-680D-33B7-9A2C-7DC403D31862}"/>
              </a:ext>
            </a:extLst>
          </p:cNvPr>
          <p:cNvSpPr txBox="1"/>
          <p:nvPr/>
        </p:nvSpPr>
        <p:spPr>
          <a:xfrm>
            <a:off x="3503329" y="2198802"/>
            <a:ext cx="267271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4785" algn="l"/>
              </a:tabLst>
            </a:pPr>
            <a:r>
              <a:rPr sz="1200" dirty="0">
                <a:latin typeface="Bookman Old Style" panose="02050604050505020204" pitchFamily="18" charset="0"/>
                <a:cs typeface="Times New Roman"/>
              </a:rPr>
              <a:t>Représentation</a:t>
            </a:r>
            <a:r>
              <a:rPr sz="1200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simple</a:t>
            </a:r>
            <a:r>
              <a:rPr sz="1200" spc="-3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pour</a:t>
            </a:r>
            <a:r>
              <a:rPr sz="1200" spc="-4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le</a:t>
            </a:r>
            <a:r>
              <a:rPr sz="1200" spc="-3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calcul</a:t>
            </a:r>
            <a:r>
              <a:rPr sz="1200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spc="-25" dirty="0">
                <a:latin typeface="Bookman Old Style" panose="02050604050505020204" pitchFamily="18" charset="0"/>
                <a:cs typeface="Times New Roman"/>
              </a:rPr>
              <a:t>des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courants</a:t>
            </a:r>
            <a:r>
              <a:rPr sz="1200" spc="-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et</a:t>
            </a:r>
            <a:r>
              <a:rPr sz="1200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des</a:t>
            </a:r>
            <a:r>
              <a:rPr sz="1200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spc="-10" dirty="0">
                <a:latin typeface="Bookman Old Style" panose="02050604050505020204" pitchFamily="18" charset="0"/>
                <a:cs typeface="Times New Roman"/>
              </a:rPr>
              <a:t>tensions.</a:t>
            </a:r>
            <a:endParaRPr sz="120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0D23FAB5-7363-712F-A0EB-7668ACF92859}"/>
              </a:ext>
            </a:extLst>
          </p:cNvPr>
          <p:cNvSpPr txBox="1"/>
          <p:nvPr/>
        </p:nvSpPr>
        <p:spPr>
          <a:xfrm>
            <a:off x="6488972" y="1200150"/>
            <a:ext cx="2057400" cy="115993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435" marR="5080" algn="ctr">
              <a:lnSpc>
                <a:spcPct val="100000"/>
              </a:lnSpc>
              <a:spcBef>
                <a:spcPts val="105"/>
              </a:spcBef>
            </a:pPr>
            <a:r>
              <a:rPr sz="1200" b="1" dirty="0">
                <a:latin typeface="Bookman Old Style" panose="02050604050505020204" pitchFamily="18" charset="0"/>
                <a:cs typeface="Times New Roman"/>
              </a:rPr>
              <a:t>Quelles</a:t>
            </a:r>
            <a:r>
              <a:rPr sz="1200" b="1" spc="-3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sont</a:t>
            </a:r>
            <a:r>
              <a:rPr sz="1200" b="1" spc="-4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les</a:t>
            </a:r>
            <a:r>
              <a:rPr sz="1200" b="1" spc="-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spc="-10" dirty="0">
                <a:latin typeface="Bookman Old Style" panose="02050604050505020204" pitchFamily="18" charset="0"/>
                <a:cs typeface="Times New Roman"/>
              </a:rPr>
              <a:t>conditions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d'application</a:t>
            </a:r>
            <a:r>
              <a:rPr sz="1200" b="1" spc="-8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spc="-50" dirty="0">
                <a:latin typeface="Bookman Old Style" panose="02050604050505020204" pitchFamily="18" charset="0"/>
                <a:cs typeface="Times New Roman"/>
              </a:rPr>
              <a:t>?</a:t>
            </a:r>
            <a:endParaRPr sz="1200" dirty="0">
              <a:latin typeface="Bookman Old Style" panose="02050604050505020204" pitchFamily="18" charset="0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200" dirty="0">
              <a:latin typeface="Bookman Old Style" panose="02050604050505020204" pitchFamily="18" charset="0"/>
              <a:cs typeface="Times New Roman"/>
            </a:endParaRPr>
          </a:p>
          <a:p>
            <a:pPr marL="186055" indent="-173355">
              <a:lnSpc>
                <a:spcPct val="100000"/>
              </a:lnSpc>
              <a:buFont typeface="Arial MT"/>
              <a:buChar char="•"/>
              <a:tabLst>
                <a:tab pos="186055" algn="l"/>
              </a:tabLst>
            </a:pPr>
            <a:r>
              <a:rPr sz="1200" dirty="0">
                <a:latin typeface="Bookman Old Style" panose="02050604050505020204" pitchFamily="18" charset="0"/>
                <a:cs typeface="Times New Roman"/>
              </a:rPr>
              <a:t>Circuit</a:t>
            </a:r>
            <a:r>
              <a:rPr sz="1200" spc="-3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électrique</a:t>
            </a:r>
            <a:r>
              <a:rPr sz="1200" b="1" spc="-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spc="-10" dirty="0">
                <a:latin typeface="Bookman Old Style" panose="02050604050505020204" pitchFamily="18" charset="0"/>
                <a:cs typeface="Times New Roman"/>
              </a:rPr>
              <a:t>linéaire</a:t>
            </a:r>
            <a:endParaRPr sz="1200" b="1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05F64761-73C0-7B15-6F08-92E098E6C643}"/>
              </a:ext>
            </a:extLst>
          </p:cNvPr>
          <p:cNvSpPr txBox="1"/>
          <p:nvPr/>
        </p:nvSpPr>
        <p:spPr>
          <a:xfrm>
            <a:off x="6488972" y="2499606"/>
            <a:ext cx="2502628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 marR="5080" indent="-1524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65100" algn="l"/>
                <a:tab pos="186055" algn="l"/>
              </a:tabLst>
            </a:pPr>
            <a:r>
              <a:rPr sz="1200" dirty="0">
                <a:latin typeface="Bookman Old Style" panose="02050604050505020204" pitchFamily="18" charset="0"/>
                <a:cs typeface="Times New Roman"/>
              </a:rPr>
              <a:t>	Remplacé</a:t>
            </a:r>
            <a:r>
              <a:rPr sz="1200"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un</a:t>
            </a:r>
            <a:r>
              <a:rPr sz="1200" spc="-3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circuit</a:t>
            </a:r>
            <a:r>
              <a:rPr sz="1200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complexe</a:t>
            </a:r>
            <a:r>
              <a:rPr sz="1200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spc="-25" dirty="0">
                <a:latin typeface="Bookman Old Style" panose="02050604050505020204" pitchFamily="18" charset="0"/>
                <a:cs typeface="Times New Roman"/>
              </a:rPr>
              <a:t>par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une</a:t>
            </a:r>
            <a:r>
              <a:rPr sz="1200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seule</a:t>
            </a:r>
            <a:r>
              <a:rPr sz="1200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source</a:t>
            </a:r>
            <a:r>
              <a:rPr sz="1200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200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courant</a:t>
            </a:r>
            <a:r>
              <a:rPr sz="1200" spc="-3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i="1" spc="-10" dirty="0">
                <a:latin typeface="Bookman Old Style" panose="02050604050505020204" pitchFamily="18" charset="0"/>
                <a:cs typeface="Times New Roman"/>
              </a:rPr>
              <a:t>(appelée </a:t>
            </a:r>
            <a:r>
              <a:rPr sz="1200" i="1" dirty="0">
                <a:latin typeface="Bookman Old Style" panose="02050604050505020204" pitchFamily="18" charset="0"/>
                <a:cs typeface="Times New Roman"/>
              </a:rPr>
              <a:t>le</a:t>
            </a:r>
            <a:r>
              <a:rPr sz="1200" i="1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i="1" dirty="0">
                <a:latin typeface="Bookman Old Style" panose="02050604050505020204" pitchFamily="18" charset="0"/>
                <a:cs typeface="Times New Roman"/>
              </a:rPr>
              <a:t>courant</a:t>
            </a:r>
            <a:r>
              <a:rPr sz="1200" b="1" i="1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i="1"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200" b="1" i="1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i="1" dirty="0">
                <a:latin typeface="Bookman Old Style" panose="02050604050505020204" pitchFamily="18" charset="0"/>
                <a:cs typeface="Times New Roman"/>
              </a:rPr>
              <a:t>Norton</a:t>
            </a:r>
            <a:r>
              <a:rPr sz="1200" i="1" dirty="0">
                <a:latin typeface="Bookman Old Style" panose="02050604050505020204" pitchFamily="18" charset="0"/>
                <a:cs typeface="Times New Roman"/>
              </a:rPr>
              <a:t>)</a:t>
            </a:r>
            <a:r>
              <a:rPr sz="1200" i="1" spc="-4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en</a:t>
            </a:r>
            <a:r>
              <a:rPr sz="1200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parallèle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avec</a:t>
            </a:r>
            <a:r>
              <a:rPr sz="1200" spc="-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une</a:t>
            </a:r>
            <a:r>
              <a:rPr sz="1200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 err="1">
                <a:latin typeface="Bookman Old Style" panose="02050604050505020204" pitchFamily="18" charset="0"/>
                <a:cs typeface="Times New Roman"/>
              </a:rPr>
              <a:t>seule</a:t>
            </a:r>
            <a:r>
              <a:rPr sz="1200" spc="-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spc="-10" dirty="0" err="1">
                <a:latin typeface="Bookman Old Style" panose="02050604050505020204" pitchFamily="18" charset="0"/>
                <a:cs typeface="Times New Roman"/>
              </a:rPr>
              <a:t>résistance</a:t>
            </a:r>
            <a:r>
              <a:rPr lang="fr-FR" sz="1200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i="1" dirty="0">
                <a:latin typeface="Bookman Old Style" panose="02050604050505020204" pitchFamily="18" charset="0"/>
                <a:cs typeface="Times New Roman"/>
              </a:rPr>
              <a:t>(appelée</a:t>
            </a:r>
            <a:r>
              <a:rPr sz="1200" i="1" spc="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i="1" dirty="0">
                <a:latin typeface="Bookman Old Style" panose="02050604050505020204" pitchFamily="18" charset="0"/>
                <a:cs typeface="Times New Roman"/>
              </a:rPr>
              <a:t>la</a:t>
            </a:r>
            <a:r>
              <a:rPr sz="1200" i="1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i="1" dirty="0">
                <a:latin typeface="Bookman Old Style" panose="02050604050505020204" pitchFamily="18" charset="0"/>
                <a:cs typeface="Times New Roman"/>
              </a:rPr>
              <a:t>résistance</a:t>
            </a:r>
            <a:r>
              <a:rPr sz="1200" b="1" i="1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i="1"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200" b="1" i="1"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i="1" dirty="0">
                <a:latin typeface="Bookman Old Style" panose="02050604050505020204" pitchFamily="18" charset="0"/>
                <a:cs typeface="Times New Roman"/>
              </a:rPr>
              <a:t>Norton</a:t>
            </a:r>
            <a:r>
              <a:rPr sz="1200" b="1" i="1" spc="-3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i="1" spc="-25" dirty="0">
                <a:latin typeface="Bookman Old Style" panose="02050604050505020204" pitchFamily="18" charset="0"/>
                <a:cs typeface="Times New Roman"/>
              </a:rPr>
              <a:t>).</a:t>
            </a:r>
            <a:endParaRPr sz="1200" dirty="0">
              <a:latin typeface="Bookman Old Style" panose="020506040505050202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07651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7" grpId="0"/>
      <p:bldP spid="20" grpId="0"/>
      <p:bldP spid="21" grpId="0"/>
      <p:bldP spid="22" grpId="0"/>
      <p:bldP spid="23" grpId="0"/>
      <p:bldP spid="2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53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31" name="object 22">
            <a:extLst>
              <a:ext uri="{FF2B5EF4-FFF2-40B4-BE49-F238E27FC236}">
                <a16:creationId xmlns:a16="http://schemas.microsoft.com/office/drawing/2014/main" id="{2EF5D974-DC92-C99F-26CE-AEB1B5AD136D}"/>
              </a:ext>
            </a:extLst>
          </p:cNvPr>
          <p:cNvSpPr txBox="1"/>
          <p:nvPr/>
        </p:nvSpPr>
        <p:spPr>
          <a:xfrm>
            <a:off x="2904268" y="2736333"/>
            <a:ext cx="2997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mbria Math"/>
                <a:cs typeface="Cambria Math"/>
              </a:rPr>
              <a:t>𝑹</a:t>
            </a:r>
            <a:r>
              <a:rPr sz="1500" spc="-37" baseline="-16666" dirty="0">
                <a:latin typeface="Cambria Math"/>
                <a:cs typeface="Cambria Math"/>
              </a:rPr>
              <a:t>𝑵</a:t>
            </a:r>
            <a:endParaRPr sz="1500" baseline="-16666" dirty="0">
              <a:latin typeface="Cambria Math"/>
              <a:cs typeface="Cambria Math"/>
            </a:endParaRPr>
          </a:p>
        </p:txBody>
      </p:sp>
      <p:sp>
        <p:nvSpPr>
          <p:cNvPr id="32" name="object 23">
            <a:extLst>
              <a:ext uri="{FF2B5EF4-FFF2-40B4-BE49-F238E27FC236}">
                <a16:creationId xmlns:a16="http://schemas.microsoft.com/office/drawing/2014/main" id="{713E72CC-845E-0BEC-D7CB-97686C25E9BD}"/>
              </a:ext>
            </a:extLst>
          </p:cNvPr>
          <p:cNvSpPr txBox="1"/>
          <p:nvPr/>
        </p:nvSpPr>
        <p:spPr>
          <a:xfrm>
            <a:off x="852818" y="2736333"/>
            <a:ext cx="25272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mbria Math"/>
                <a:cs typeface="Cambria Math"/>
              </a:rPr>
              <a:t>𝑰</a:t>
            </a:r>
            <a:r>
              <a:rPr sz="1500" spc="-37" baseline="-16666" dirty="0">
                <a:latin typeface="Cambria Math"/>
                <a:cs typeface="Cambria Math"/>
              </a:rPr>
              <a:t>𝑵</a:t>
            </a:r>
            <a:endParaRPr sz="1500" baseline="-16666" dirty="0">
              <a:latin typeface="Cambria Math"/>
              <a:cs typeface="Cambria Math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D69CA21-7C9E-4E6C-69D6-7DB0D9A4AE07}"/>
              </a:ext>
            </a:extLst>
          </p:cNvPr>
          <p:cNvSpPr/>
          <p:nvPr/>
        </p:nvSpPr>
        <p:spPr>
          <a:xfrm>
            <a:off x="1291262" y="1660474"/>
            <a:ext cx="2438400" cy="246442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object 15">
            <a:extLst>
              <a:ext uri="{FF2B5EF4-FFF2-40B4-BE49-F238E27FC236}">
                <a16:creationId xmlns:a16="http://schemas.microsoft.com/office/drawing/2014/main" id="{449558B6-10CF-DE1B-7212-342DA04875B0}"/>
              </a:ext>
            </a:extLst>
          </p:cNvPr>
          <p:cNvSpPr txBox="1"/>
          <p:nvPr/>
        </p:nvSpPr>
        <p:spPr>
          <a:xfrm>
            <a:off x="1572298" y="2385053"/>
            <a:ext cx="1981200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9075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Circuit Complexe</a:t>
            </a:r>
            <a:endParaRPr sz="28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35" name="object 2">
            <a:extLst>
              <a:ext uri="{FF2B5EF4-FFF2-40B4-BE49-F238E27FC236}">
                <a16:creationId xmlns:a16="http://schemas.microsoft.com/office/drawing/2014/main" id="{35723072-BF46-6FFB-0285-55648B147204}"/>
              </a:ext>
            </a:extLst>
          </p:cNvPr>
          <p:cNvSpPr/>
          <p:nvPr/>
        </p:nvSpPr>
        <p:spPr>
          <a:xfrm>
            <a:off x="5144900" y="1962150"/>
            <a:ext cx="266700" cy="1844039"/>
          </a:xfrm>
          <a:custGeom>
            <a:avLst/>
            <a:gdLst/>
            <a:ahLst/>
            <a:cxnLst/>
            <a:rect l="l" t="t" r="r" b="b"/>
            <a:pathLst>
              <a:path w="266700" h="1844039">
                <a:moveTo>
                  <a:pt x="0" y="1438656"/>
                </a:moveTo>
                <a:lnTo>
                  <a:pt x="266700" y="1438656"/>
                </a:lnTo>
                <a:lnTo>
                  <a:pt x="266700" y="394716"/>
                </a:lnTo>
                <a:lnTo>
                  <a:pt x="0" y="394716"/>
                </a:lnTo>
                <a:lnTo>
                  <a:pt x="0" y="1438656"/>
                </a:lnTo>
                <a:close/>
              </a:path>
              <a:path w="266700" h="1844039">
                <a:moveTo>
                  <a:pt x="132587" y="1438656"/>
                </a:moveTo>
                <a:lnTo>
                  <a:pt x="132587" y="1843671"/>
                </a:lnTo>
              </a:path>
              <a:path w="266700" h="1844039">
                <a:moveTo>
                  <a:pt x="132587" y="0"/>
                </a:moveTo>
                <a:lnTo>
                  <a:pt x="132587" y="405002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F921CC0-AB13-93C8-44A0-BFCF642C0457}"/>
              </a:ext>
            </a:extLst>
          </p:cNvPr>
          <p:cNvCxnSpPr>
            <a:cxnSpLocks/>
          </p:cNvCxnSpPr>
          <p:nvPr/>
        </p:nvCxnSpPr>
        <p:spPr>
          <a:xfrm>
            <a:off x="3728461" y="1962150"/>
            <a:ext cx="154978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51A61EC-677D-F8BF-4664-158E1C99CCF8}"/>
              </a:ext>
            </a:extLst>
          </p:cNvPr>
          <p:cNvCxnSpPr>
            <a:cxnSpLocks/>
          </p:cNvCxnSpPr>
          <p:nvPr/>
        </p:nvCxnSpPr>
        <p:spPr>
          <a:xfrm>
            <a:off x="3728461" y="3814403"/>
            <a:ext cx="154978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ECF3692-76E0-792B-4522-4E3D56816B34}"/>
              </a:ext>
            </a:extLst>
          </p:cNvPr>
          <p:cNvSpPr txBox="1"/>
          <p:nvPr/>
        </p:nvSpPr>
        <p:spPr>
          <a:xfrm flipH="1">
            <a:off x="5441880" y="3710360"/>
            <a:ext cx="591271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090930" algn="r">
              <a:lnSpc>
                <a:spcPts val="2055"/>
              </a:lnSpc>
            </a:pPr>
            <a:r>
              <a:rPr lang="fr-FR" sz="1800" b="1" spc="-50" dirty="0">
                <a:latin typeface="Times New Roman"/>
                <a:cs typeface="Times New Roman"/>
              </a:rPr>
              <a:t>B</a:t>
            </a:r>
            <a:endParaRPr lang="fr-FR" sz="1800" dirty="0">
              <a:latin typeface="Times New Roman"/>
              <a:cs typeface="Times New Roman"/>
            </a:endParaRPr>
          </a:p>
        </p:txBody>
      </p:sp>
      <p:sp>
        <p:nvSpPr>
          <p:cNvPr id="45" name="object 2">
            <a:extLst>
              <a:ext uri="{FF2B5EF4-FFF2-40B4-BE49-F238E27FC236}">
                <a16:creationId xmlns:a16="http://schemas.microsoft.com/office/drawing/2014/main" id="{80209BBE-E944-F20C-40BA-12035557F1C5}"/>
              </a:ext>
            </a:extLst>
          </p:cNvPr>
          <p:cNvSpPr/>
          <p:nvPr/>
        </p:nvSpPr>
        <p:spPr>
          <a:xfrm>
            <a:off x="2580642" y="1971522"/>
            <a:ext cx="266700" cy="1844039"/>
          </a:xfrm>
          <a:custGeom>
            <a:avLst/>
            <a:gdLst/>
            <a:ahLst/>
            <a:cxnLst/>
            <a:rect l="l" t="t" r="r" b="b"/>
            <a:pathLst>
              <a:path w="266700" h="1844039">
                <a:moveTo>
                  <a:pt x="0" y="1438656"/>
                </a:moveTo>
                <a:lnTo>
                  <a:pt x="266700" y="1438656"/>
                </a:lnTo>
                <a:lnTo>
                  <a:pt x="266700" y="394716"/>
                </a:lnTo>
                <a:lnTo>
                  <a:pt x="0" y="394716"/>
                </a:lnTo>
                <a:lnTo>
                  <a:pt x="0" y="1438656"/>
                </a:lnTo>
                <a:close/>
              </a:path>
              <a:path w="266700" h="1844039">
                <a:moveTo>
                  <a:pt x="132587" y="1438656"/>
                </a:moveTo>
                <a:lnTo>
                  <a:pt x="132587" y="1843671"/>
                </a:lnTo>
              </a:path>
              <a:path w="266700" h="1844039">
                <a:moveTo>
                  <a:pt x="132587" y="0"/>
                </a:moveTo>
                <a:lnTo>
                  <a:pt x="132587" y="405002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7" name="object 16">
            <a:extLst>
              <a:ext uri="{FF2B5EF4-FFF2-40B4-BE49-F238E27FC236}">
                <a16:creationId xmlns:a16="http://schemas.microsoft.com/office/drawing/2014/main" id="{328B636B-9179-CE6E-88E6-D92A44496ABA}"/>
              </a:ext>
            </a:extLst>
          </p:cNvPr>
          <p:cNvGrpSpPr/>
          <p:nvPr/>
        </p:nvGrpSpPr>
        <p:grpSpPr>
          <a:xfrm>
            <a:off x="5229492" y="1914551"/>
            <a:ext cx="196850" cy="1976755"/>
            <a:chOff x="5242559" y="2100072"/>
            <a:chExt cx="196850" cy="1976755"/>
          </a:xfrm>
        </p:grpSpPr>
        <p:pic>
          <p:nvPicPr>
            <p:cNvPr id="48" name="object 17">
              <a:extLst>
                <a:ext uri="{FF2B5EF4-FFF2-40B4-BE49-F238E27FC236}">
                  <a16:creationId xmlns:a16="http://schemas.microsoft.com/office/drawing/2014/main" id="{9DF1A535-CF6D-ACEB-2A52-88FF20F1496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42559" y="2100072"/>
              <a:ext cx="184403" cy="143256"/>
            </a:xfrm>
            <a:prstGeom prst="rect">
              <a:avLst/>
            </a:prstGeom>
          </p:spPr>
        </p:pic>
        <p:pic>
          <p:nvPicPr>
            <p:cNvPr id="49" name="object 18">
              <a:extLst>
                <a:ext uri="{FF2B5EF4-FFF2-40B4-BE49-F238E27FC236}">
                  <a16:creationId xmlns:a16="http://schemas.microsoft.com/office/drawing/2014/main" id="{1055665C-5FF8-6B71-CE17-8A024183DBB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56275" y="3933444"/>
              <a:ext cx="182880" cy="143256"/>
            </a:xfrm>
            <a:prstGeom prst="rect">
              <a:avLst/>
            </a:prstGeom>
          </p:spPr>
        </p:pic>
      </p:grpSp>
      <p:sp>
        <p:nvSpPr>
          <p:cNvPr id="50" name="Oval 49">
            <a:extLst>
              <a:ext uri="{FF2B5EF4-FFF2-40B4-BE49-F238E27FC236}">
                <a16:creationId xmlns:a16="http://schemas.microsoft.com/office/drawing/2014/main" id="{DF5EDB34-7828-3B9F-E367-D68F363D3881}"/>
              </a:ext>
            </a:extLst>
          </p:cNvPr>
          <p:cNvSpPr/>
          <p:nvPr/>
        </p:nvSpPr>
        <p:spPr>
          <a:xfrm>
            <a:off x="1237795" y="2644036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CB09A1C-8170-2E6E-847F-3852F615BDC7}"/>
              </a:ext>
            </a:extLst>
          </p:cNvPr>
          <p:cNvSpPr/>
          <p:nvPr/>
        </p:nvSpPr>
        <p:spPr>
          <a:xfrm>
            <a:off x="1240283" y="2869106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E924788-19BC-4C1D-12C9-EB2FCA417D99}"/>
              </a:ext>
            </a:extLst>
          </p:cNvPr>
          <p:cNvCxnSpPr>
            <a:cxnSpLocks/>
            <a:stCxn id="50" idx="0"/>
          </p:cNvCxnSpPr>
          <p:nvPr/>
        </p:nvCxnSpPr>
        <p:spPr>
          <a:xfrm flipH="1" flipV="1">
            <a:off x="1415643" y="1934012"/>
            <a:ext cx="12652" cy="71002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3522740-417E-D0C4-6B45-26E1C601EBFD}"/>
              </a:ext>
            </a:extLst>
          </p:cNvPr>
          <p:cNvCxnSpPr>
            <a:cxnSpLocks/>
          </p:cNvCxnSpPr>
          <p:nvPr/>
        </p:nvCxnSpPr>
        <p:spPr>
          <a:xfrm flipV="1">
            <a:off x="1407604" y="3250107"/>
            <a:ext cx="0" cy="56390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3DB4BFE-4F7C-57DC-F6D9-58B9C4AFA5BA}"/>
              </a:ext>
            </a:extLst>
          </p:cNvPr>
          <p:cNvCxnSpPr>
            <a:cxnSpLocks/>
          </p:cNvCxnSpPr>
          <p:nvPr/>
        </p:nvCxnSpPr>
        <p:spPr>
          <a:xfrm>
            <a:off x="1387395" y="3814016"/>
            <a:ext cx="238649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B4925E3-22F7-538B-8537-9830518542C8}"/>
              </a:ext>
            </a:extLst>
          </p:cNvPr>
          <p:cNvCxnSpPr>
            <a:cxnSpLocks/>
          </p:cNvCxnSpPr>
          <p:nvPr/>
        </p:nvCxnSpPr>
        <p:spPr>
          <a:xfrm>
            <a:off x="1407604" y="1961763"/>
            <a:ext cx="238649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250EE24-A17A-FD68-2022-0B42E89C4B79}"/>
              </a:ext>
            </a:extLst>
          </p:cNvPr>
          <p:cNvCxnSpPr>
            <a:cxnSpLocks/>
          </p:cNvCxnSpPr>
          <p:nvPr/>
        </p:nvCxnSpPr>
        <p:spPr>
          <a:xfrm flipV="1">
            <a:off x="1428295" y="2679680"/>
            <a:ext cx="0" cy="4242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9ECDD20-9F24-0362-88E0-10354D8F1127}"/>
              </a:ext>
            </a:extLst>
          </p:cNvPr>
          <p:cNvSpPr txBox="1"/>
          <p:nvPr/>
        </p:nvSpPr>
        <p:spPr>
          <a:xfrm flipH="1">
            <a:off x="5438165" y="1733732"/>
            <a:ext cx="591271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090930" algn="r">
              <a:lnSpc>
                <a:spcPts val="2055"/>
              </a:lnSpc>
            </a:pPr>
            <a:r>
              <a:rPr lang="fr-FR" sz="1800" b="1" spc="-50" dirty="0">
                <a:latin typeface="Times New Roman"/>
                <a:cs typeface="Times New Roman"/>
              </a:rPr>
              <a:t>A</a:t>
            </a:r>
            <a:endParaRPr lang="fr-FR" sz="1800" dirty="0">
              <a:latin typeface="Times New Roman"/>
              <a:cs typeface="Times New Roman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C607C38-61B0-B338-25D6-F7B869643582}"/>
              </a:ext>
            </a:extLst>
          </p:cNvPr>
          <p:cNvSpPr txBox="1"/>
          <p:nvPr/>
        </p:nvSpPr>
        <p:spPr>
          <a:xfrm flipH="1">
            <a:off x="5464730" y="2663268"/>
            <a:ext cx="591271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090930" algn="r">
              <a:lnSpc>
                <a:spcPts val="2055"/>
              </a:lnSpc>
            </a:pPr>
            <a:r>
              <a:rPr lang="fr-FR" sz="1800" b="1" spc="-50" dirty="0">
                <a:latin typeface="Times New Roman"/>
                <a:cs typeface="Times New Roman"/>
              </a:rPr>
              <a:t>R</a:t>
            </a:r>
            <a:endParaRPr lang="fr-FR" sz="1800" dirty="0">
              <a:latin typeface="Times New Roman"/>
              <a:cs typeface="Times New Roman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76A46B8-AED0-AF6F-AC5A-7988F5BD006A}"/>
              </a:ext>
            </a:extLst>
          </p:cNvPr>
          <p:cNvSpPr txBox="1"/>
          <p:nvPr/>
        </p:nvSpPr>
        <p:spPr>
          <a:xfrm flipH="1">
            <a:off x="4666529" y="2751179"/>
            <a:ext cx="591271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090930" algn="r">
              <a:lnSpc>
                <a:spcPts val="2055"/>
              </a:lnSpc>
            </a:pPr>
            <a:r>
              <a:rPr lang="fr-FR" sz="1800" b="1" spc="-50" dirty="0">
                <a:latin typeface="Times New Roman"/>
                <a:cs typeface="Times New Roman"/>
              </a:rPr>
              <a:t>R</a:t>
            </a:r>
            <a:endParaRPr lang="fr-FR" sz="1800" dirty="0">
              <a:latin typeface="Times New Roman"/>
              <a:cs typeface="Times New Roman"/>
            </a:endParaRPr>
          </a:p>
        </p:txBody>
      </p:sp>
      <p:sp>
        <p:nvSpPr>
          <p:cNvPr id="72" name="object 2">
            <a:extLst>
              <a:ext uri="{FF2B5EF4-FFF2-40B4-BE49-F238E27FC236}">
                <a16:creationId xmlns:a16="http://schemas.microsoft.com/office/drawing/2014/main" id="{E06A8D58-8E96-C928-B2DC-5A2CCBCB5F33}"/>
              </a:ext>
            </a:extLst>
          </p:cNvPr>
          <p:cNvSpPr/>
          <p:nvPr/>
        </p:nvSpPr>
        <p:spPr>
          <a:xfrm>
            <a:off x="5153149" y="1996779"/>
            <a:ext cx="266700" cy="1844039"/>
          </a:xfrm>
          <a:custGeom>
            <a:avLst/>
            <a:gdLst/>
            <a:ahLst/>
            <a:cxnLst/>
            <a:rect l="l" t="t" r="r" b="b"/>
            <a:pathLst>
              <a:path w="266700" h="1844039">
                <a:moveTo>
                  <a:pt x="0" y="1438656"/>
                </a:moveTo>
                <a:lnTo>
                  <a:pt x="266700" y="1438656"/>
                </a:lnTo>
                <a:lnTo>
                  <a:pt x="266700" y="394716"/>
                </a:lnTo>
                <a:lnTo>
                  <a:pt x="0" y="394716"/>
                </a:lnTo>
                <a:lnTo>
                  <a:pt x="0" y="1438656"/>
                </a:lnTo>
                <a:close/>
              </a:path>
              <a:path w="266700" h="1844039">
                <a:moveTo>
                  <a:pt x="132587" y="1438656"/>
                </a:moveTo>
                <a:lnTo>
                  <a:pt x="132587" y="1843671"/>
                </a:lnTo>
              </a:path>
              <a:path w="266700" h="1844039">
                <a:moveTo>
                  <a:pt x="132587" y="0"/>
                </a:moveTo>
                <a:lnTo>
                  <a:pt x="132587" y="405002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lang="fr-FR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269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2.46914E-6 L 0.58941 0.0311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462" y="154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2.22222E-6 L 0.49514 -0.0367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57" y="-18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5" grpId="0" animBg="1"/>
      <p:bldP spid="45" grpId="0" animBg="1"/>
      <p:bldP spid="50" grpId="0" animBg="1"/>
      <p:bldP spid="51" grpId="0" animBg="1"/>
      <p:bldP spid="65" grpId="0"/>
      <p:bldP spid="65" grpId="1"/>
      <p:bldP spid="73" grpId="0"/>
      <p:bldP spid="7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54</a:t>
            </a:fld>
            <a:endParaRPr sz="2400" dirty="0">
              <a:latin typeface="Arial"/>
              <a:cs typeface="Arial"/>
            </a:endParaRPr>
          </a:p>
        </p:txBody>
      </p:sp>
      <p:grpSp>
        <p:nvGrpSpPr>
          <p:cNvPr id="3" name="object 11">
            <a:extLst>
              <a:ext uri="{FF2B5EF4-FFF2-40B4-BE49-F238E27FC236}">
                <a16:creationId xmlns:a16="http://schemas.microsoft.com/office/drawing/2014/main" id="{2C3A1F22-8DCE-F469-487F-0AE2D362B938}"/>
              </a:ext>
            </a:extLst>
          </p:cNvPr>
          <p:cNvGrpSpPr/>
          <p:nvPr/>
        </p:nvGrpSpPr>
        <p:grpSpPr>
          <a:xfrm>
            <a:off x="281960" y="209550"/>
            <a:ext cx="8513445" cy="553720"/>
            <a:chOff x="299465" y="1351025"/>
            <a:chExt cx="8513445" cy="553720"/>
          </a:xfrm>
        </p:grpSpPr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69B8D8B9-10CC-C02E-D373-5EC5727BF7B2}"/>
                </a:ext>
              </a:extLst>
            </p:cNvPr>
            <p:cNvSpPr/>
            <p:nvPr/>
          </p:nvSpPr>
          <p:spPr>
            <a:xfrm>
              <a:off x="299465" y="1351025"/>
              <a:ext cx="8513445" cy="553720"/>
            </a:xfrm>
            <a:custGeom>
              <a:avLst/>
              <a:gdLst/>
              <a:ahLst/>
              <a:cxnLst/>
              <a:rect l="l" t="t" r="r" b="b"/>
              <a:pathLst>
                <a:path w="8513445" h="553719">
                  <a:moveTo>
                    <a:pt x="8236458" y="0"/>
                  </a:moveTo>
                  <a:lnTo>
                    <a:pt x="8236458" y="138302"/>
                  </a:lnTo>
                  <a:lnTo>
                    <a:pt x="0" y="138302"/>
                  </a:lnTo>
                  <a:lnTo>
                    <a:pt x="0" y="414909"/>
                  </a:lnTo>
                  <a:lnTo>
                    <a:pt x="8236458" y="414909"/>
                  </a:lnTo>
                  <a:lnTo>
                    <a:pt x="8236458" y="553212"/>
                  </a:lnTo>
                  <a:lnTo>
                    <a:pt x="8513064" y="276606"/>
                  </a:lnTo>
                  <a:lnTo>
                    <a:pt x="82364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594E54DC-934D-0F37-76E4-A5598DEB6BDB}"/>
                </a:ext>
              </a:extLst>
            </p:cNvPr>
            <p:cNvSpPr/>
            <p:nvPr/>
          </p:nvSpPr>
          <p:spPr>
            <a:xfrm>
              <a:off x="299465" y="1351025"/>
              <a:ext cx="8513445" cy="553720"/>
            </a:xfrm>
            <a:custGeom>
              <a:avLst/>
              <a:gdLst/>
              <a:ahLst/>
              <a:cxnLst/>
              <a:rect l="l" t="t" r="r" b="b"/>
              <a:pathLst>
                <a:path w="8513445" h="553719">
                  <a:moveTo>
                    <a:pt x="0" y="138302"/>
                  </a:moveTo>
                  <a:lnTo>
                    <a:pt x="8236458" y="138302"/>
                  </a:lnTo>
                  <a:lnTo>
                    <a:pt x="8236458" y="0"/>
                  </a:lnTo>
                  <a:lnTo>
                    <a:pt x="8513064" y="276606"/>
                  </a:lnTo>
                  <a:lnTo>
                    <a:pt x="8236458" y="553212"/>
                  </a:lnTo>
                  <a:lnTo>
                    <a:pt x="8236458" y="414909"/>
                  </a:lnTo>
                  <a:lnTo>
                    <a:pt x="0" y="414909"/>
                  </a:lnTo>
                  <a:lnTo>
                    <a:pt x="0" y="138302"/>
                  </a:lnTo>
                  <a:close/>
                </a:path>
              </a:pathLst>
            </a:custGeom>
            <a:ln w="25907">
              <a:solidFill>
                <a:srgbClr val="161F28"/>
              </a:solidFill>
            </a:ln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E8F6B728-418E-6686-990C-64304B9B5612}"/>
              </a:ext>
            </a:extLst>
          </p:cNvPr>
          <p:cNvGrpSpPr/>
          <p:nvPr/>
        </p:nvGrpSpPr>
        <p:grpSpPr>
          <a:xfrm>
            <a:off x="303347" y="877067"/>
            <a:ext cx="2350135" cy="516890"/>
            <a:chOff x="222504" y="2023872"/>
            <a:chExt cx="2350135" cy="516890"/>
          </a:xfrm>
        </p:grpSpPr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9E98A3E7-0ADD-AA2E-E41B-226B987F7B17}"/>
                </a:ext>
              </a:extLst>
            </p:cNvPr>
            <p:cNvSpPr/>
            <p:nvPr/>
          </p:nvSpPr>
          <p:spPr>
            <a:xfrm>
              <a:off x="236982" y="2038350"/>
              <a:ext cx="2321560" cy="487680"/>
            </a:xfrm>
            <a:custGeom>
              <a:avLst/>
              <a:gdLst/>
              <a:ahLst/>
              <a:cxnLst/>
              <a:rect l="l" t="t" r="r" b="b"/>
              <a:pathLst>
                <a:path w="2321560" h="487680">
                  <a:moveTo>
                    <a:pt x="1947672" y="0"/>
                  </a:moveTo>
                  <a:lnTo>
                    <a:pt x="373405" y="0"/>
                  </a:lnTo>
                  <a:lnTo>
                    <a:pt x="318227" y="2644"/>
                  </a:lnTo>
                  <a:lnTo>
                    <a:pt x="265562" y="10327"/>
                  </a:lnTo>
                  <a:lnTo>
                    <a:pt x="215988" y="22671"/>
                  </a:lnTo>
                  <a:lnTo>
                    <a:pt x="170083" y="39296"/>
                  </a:lnTo>
                  <a:lnTo>
                    <a:pt x="128425" y="59826"/>
                  </a:lnTo>
                  <a:lnTo>
                    <a:pt x="91591" y="83882"/>
                  </a:lnTo>
                  <a:lnTo>
                    <a:pt x="60158" y="111088"/>
                  </a:lnTo>
                  <a:lnTo>
                    <a:pt x="34705" y="141064"/>
                  </a:lnTo>
                  <a:lnTo>
                    <a:pt x="4048" y="207818"/>
                  </a:lnTo>
                  <a:lnTo>
                    <a:pt x="0" y="243839"/>
                  </a:lnTo>
                  <a:lnTo>
                    <a:pt x="4048" y="279861"/>
                  </a:lnTo>
                  <a:lnTo>
                    <a:pt x="34705" y="346615"/>
                  </a:lnTo>
                  <a:lnTo>
                    <a:pt x="60158" y="376591"/>
                  </a:lnTo>
                  <a:lnTo>
                    <a:pt x="91591" y="403797"/>
                  </a:lnTo>
                  <a:lnTo>
                    <a:pt x="128425" y="427853"/>
                  </a:lnTo>
                  <a:lnTo>
                    <a:pt x="170083" y="448383"/>
                  </a:lnTo>
                  <a:lnTo>
                    <a:pt x="215988" y="465008"/>
                  </a:lnTo>
                  <a:lnTo>
                    <a:pt x="265562" y="477352"/>
                  </a:lnTo>
                  <a:lnTo>
                    <a:pt x="318227" y="485035"/>
                  </a:lnTo>
                  <a:lnTo>
                    <a:pt x="373405" y="487680"/>
                  </a:lnTo>
                  <a:lnTo>
                    <a:pt x="1947672" y="487680"/>
                  </a:lnTo>
                  <a:lnTo>
                    <a:pt x="2002855" y="485035"/>
                  </a:lnTo>
                  <a:lnTo>
                    <a:pt x="2055522" y="477352"/>
                  </a:lnTo>
                  <a:lnTo>
                    <a:pt x="2105095" y="465008"/>
                  </a:lnTo>
                  <a:lnTo>
                    <a:pt x="2150997" y="448383"/>
                  </a:lnTo>
                  <a:lnTo>
                    <a:pt x="2192651" y="427853"/>
                  </a:lnTo>
                  <a:lnTo>
                    <a:pt x="2229480" y="403797"/>
                  </a:lnTo>
                  <a:lnTo>
                    <a:pt x="2260907" y="376591"/>
                  </a:lnTo>
                  <a:lnTo>
                    <a:pt x="2286354" y="346615"/>
                  </a:lnTo>
                  <a:lnTo>
                    <a:pt x="2317004" y="279861"/>
                  </a:lnTo>
                  <a:lnTo>
                    <a:pt x="2321052" y="243839"/>
                  </a:lnTo>
                  <a:lnTo>
                    <a:pt x="2317004" y="207818"/>
                  </a:lnTo>
                  <a:lnTo>
                    <a:pt x="2286354" y="141064"/>
                  </a:lnTo>
                  <a:lnTo>
                    <a:pt x="2260907" y="111088"/>
                  </a:lnTo>
                  <a:lnTo>
                    <a:pt x="2229480" y="83882"/>
                  </a:lnTo>
                  <a:lnTo>
                    <a:pt x="2192651" y="59826"/>
                  </a:lnTo>
                  <a:lnTo>
                    <a:pt x="2150997" y="39296"/>
                  </a:lnTo>
                  <a:lnTo>
                    <a:pt x="2105095" y="22671"/>
                  </a:lnTo>
                  <a:lnTo>
                    <a:pt x="2055522" y="10327"/>
                  </a:lnTo>
                  <a:lnTo>
                    <a:pt x="2002855" y="2644"/>
                  </a:lnTo>
                  <a:lnTo>
                    <a:pt x="1947672" y="0"/>
                  </a:lnTo>
                  <a:close/>
                </a:path>
              </a:pathLst>
            </a:custGeom>
            <a:solidFill>
              <a:srgbClr val="DFCDE3"/>
            </a:solidFill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621EFB6F-C9B5-790A-0E55-4EEDB3A991AB}"/>
                </a:ext>
              </a:extLst>
            </p:cNvPr>
            <p:cNvSpPr/>
            <p:nvPr/>
          </p:nvSpPr>
          <p:spPr>
            <a:xfrm>
              <a:off x="236982" y="2038350"/>
              <a:ext cx="2321560" cy="487680"/>
            </a:xfrm>
            <a:custGeom>
              <a:avLst/>
              <a:gdLst/>
              <a:ahLst/>
              <a:cxnLst/>
              <a:rect l="l" t="t" r="r" b="b"/>
              <a:pathLst>
                <a:path w="2321560" h="487680">
                  <a:moveTo>
                    <a:pt x="373405" y="0"/>
                  </a:moveTo>
                  <a:lnTo>
                    <a:pt x="1947672" y="0"/>
                  </a:lnTo>
                  <a:lnTo>
                    <a:pt x="2002855" y="2644"/>
                  </a:lnTo>
                  <a:lnTo>
                    <a:pt x="2055522" y="10327"/>
                  </a:lnTo>
                  <a:lnTo>
                    <a:pt x="2105095" y="22671"/>
                  </a:lnTo>
                  <a:lnTo>
                    <a:pt x="2150997" y="39296"/>
                  </a:lnTo>
                  <a:lnTo>
                    <a:pt x="2192651" y="59826"/>
                  </a:lnTo>
                  <a:lnTo>
                    <a:pt x="2229480" y="83882"/>
                  </a:lnTo>
                  <a:lnTo>
                    <a:pt x="2260907" y="111088"/>
                  </a:lnTo>
                  <a:lnTo>
                    <a:pt x="2286354" y="141064"/>
                  </a:lnTo>
                  <a:lnTo>
                    <a:pt x="2317004" y="207818"/>
                  </a:lnTo>
                  <a:lnTo>
                    <a:pt x="2321052" y="243839"/>
                  </a:lnTo>
                  <a:lnTo>
                    <a:pt x="2317004" y="279861"/>
                  </a:lnTo>
                  <a:lnTo>
                    <a:pt x="2286354" y="346615"/>
                  </a:lnTo>
                  <a:lnTo>
                    <a:pt x="2260907" y="376591"/>
                  </a:lnTo>
                  <a:lnTo>
                    <a:pt x="2229480" y="403797"/>
                  </a:lnTo>
                  <a:lnTo>
                    <a:pt x="2192651" y="427853"/>
                  </a:lnTo>
                  <a:lnTo>
                    <a:pt x="2150997" y="448383"/>
                  </a:lnTo>
                  <a:lnTo>
                    <a:pt x="2105095" y="465008"/>
                  </a:lnTo>
                  <a:lnTo>
                    <a:pt x="2055522" y="477352"/>
                  </a:lnTo>
                  <a:lnTo>
                    <a:pt x="2002855" y="485035"/>
                  </a:lnTo>
                  <a:lnTo>
                    <a:pt x="1947672" y="487680"/>
                  </a:lnTo>
                  <a:lnTo>
                    <a:pt x="373405" y="487680"/>
                  </a:lnTo>
                  <a:lnTo>
                    <a:pt x="318227" y="485035"/>
                  </a:lnTo>
                  <a:lnTo>
                    <a:pt x="265562" y="477352"/>
                  </a:lnTo>
                  <a:lnTo>
                    <a:pt x="215988" y="465008"/>
                  </a:lnTo>
                  <a:lnTo>
                    <a:pt x="170083" y="448383"/>
                  </a:lnTo>
                  <a:lnTo>
                    <a:pt x="128425" y="427853"/>
                  </a:lnTo>
                  <a:lnTo>
                    <a:pt x="91591" y="403797"/>
                  </a:lnTo>
                  <a:lnTo>
                    <a:pt x="60158" y="376591"/>
                  </a:lnTo>
                  <a:lnTo>
                    <a:pt x="34705" y="346615"/>
                  </a:lnTo>
                  <a:lnTo>
                    <a:pt x="4048" y="279861"/>
                  </a:lnTo>
                  <a:lnTo>
                    <a:pt x="0" y="243839"/>
                  </a:lnTo>
                  <a:lnTo>
                    <a:pt x="4048" y="207818"/>
                  </a:lnTo>
                  <a:lnTo>
                    <a:pt x="34705" y="141064"/>
                  </a:lnTo>
                  <a:lnTo>
                    <a:pt x="60158" y="111088"/>
                  </a:lnTo>
                  <a:lnTo>
                    <a:pt x="91591" y="83882"/>
                  </a:lnTo>
                  <a:lnTo>
                    <a:pt x="128425" y="59826"/>
                  </a:lnTo>
                  <a:lnTo>
                    <a:pt x="170083" y="39296"/>
                  </a:lnTo>
                  <a:lnTo>
                    <a:pt x="215988" y="22671"/>
                  </a:lnTo>
                  <a:lnTo>
                    <a:pt x="265562" y="10327"/>
                  </a:lnTo>
                  <a:lnTo>
                    <a:pt x="318227" y="2644"/>
                  </a:lnTo>
                  <a:lnTo>
                    <a:pt x="373405" y="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</p:grpSp>
      <p:sp>
        <p:nvSpPr>
          <p:cNvPr id="21" name="object 19">
            <a:extLst>
              <a:ext uri="{FF2B5EF4-FFF2-40B4-BE49-F238E27FC236}">
                <a16:creationId xmlns:a16="http://schemas.microsoft.com/office/drawing/2014/main" id="{7EB0862D-D7FB-F80A-FA02-83B20239C8D5}"/>
              </a:ext>
            </a:extLst>
          </p:cNvPr>
          <p:cNvSpPr txBox="1"/>
          <p:nvPr/>
        </p:nvSpPr>
        <p:spPr>
          <a:xfrm>
            <a:off x="379131" y="969777"/>
            <a:ext cx="1981616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ctr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Bookman Old Style" panose="02050604050505020204" pitchFamily="18" charset="0"/>
                <a:cs typeface="Times New Roman"/>
              </a:rPr>
              <a:t>Déterminer</a:t>
            </a:r>
            <a:r>
              <a:rPr sz="1100" b="1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latin typeface="Bookman Old Style" panose="02050604050505020204" pitchFamily="18" charset="0"/>
                <a:cs typeface="Times New Roman"/>
              </a:rPr>
              <a:t>la</a:t>
            </a:r>
            <a:r>
              <a:rPr sz="1100" b="1" spc="-5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latin typeface="Bookman Old Style" panose="02050604050505020204" pitchFamily="18" charset="0"/>
                <a:cs typeface="Times New Roman"/>
              </a:rPr>
              <a:t>résistance </a:t>
            </a:r>
            <a:r>
              <a:rPr sz="1100" b="1"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100" b="1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latin typeface="Bookman Old Style" panose="02050604050505020204" pitchFamily="18" charset="0"/>
                <a:cs typeface="Times New Roman"/>
              </a:rPr>
              <a:t>Norton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grpSp>
        <p:nvGrpSpPr>
          <p:cNvPr id="22" name="object 20">
            <a:extLst>
              <a:ext uri="{FF2B5EF4-FFF2-40B4-BE49-F238E27FC236}">
                <a16:creationId xmlns:a16="http://schemas.microsoft.com/office/drawing/2014/main" id="{8647F6F1-DD95-B2BE-4337-81B6DB3555B6}"/>
              </a:ext>
            </a:extLst>
          </p:cNvPr>
          <p:cNvGrpSpPr/>
          <p:nvPr/>
        </p:nvGrpSpPr>
        <p:grpSpPr>
          <a:xfrm>
            <a:off x="5187061" y="3167030"/>
            <a:ext cx="390525" cy="253365"/>
            <a:chOff x="5844540" y="2148839"/>
            <a:chExt cx="390525" cy="253365"/>
          </a:xfrm>
        </p:grpSpPr>
        <p:sp>
          <p:nvSpPr>
            <p:cNvPr id="23" name="object 21">
              <a:extLst>
                <a:ext uri="{FF2B5EF4-FFF2-40B4-BE49-F238E27FC236}">
                  <a16:creationId xmlns:a16="http://schemas.microsoft.com/office/drawing/2014/main" id="{711774C4-F9B5-7789-3989-218AC122D9C7}"/>
                </a:ext>
              </a:extLst>
            </p:cNvPr>
            <p:cNvSpPr/>
            <p:nvPr/>
          </p:nvSpPr>
          <p:spPr>
            <a:xfrm>
              <a:off x="5849112" y="2153411"/>
              <a:ext cx="381000" cy="243840"/>
            </a:xfrm>
            <a:custGeom>
              <a:avLst/>
              <a:gdLst/>
              <a:ahLst/>
              <a:cxnLst/>
              <a:rect l="l" t="t" r="r" b="b"/>
              <a:pathLst>
                <a:path w="381000" h="243839">
                  <a:moveTo>
                    <a:pt x="259079" y="0"/>
                  </a:moveTo>
                  <a:lnTo>
                    <a:pt x="259079" y="60960"/>
                  </a:lnTo>
                  <a:lnTo>
                    <a:pt x="0" y="60960"/>
                  </a:lnTo>
                  <a:lnTo>
                    <a:pt x="0" y="182880"/>
                  </a:lnTo>
                  <a:lnTo>
                    <a:pt x="259079" y="182880"/>
                  </a:lnTo>
                  <a:lnTo>
                    <a:pt x="259079" y="243839"/>
                  </a:lnTo>
                  <a:lnTo>
                    <a:pt x="381000" y="121919"/>
                  </a:lnTo>
                  <a:lnTo>
                    <a:pt x="25907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E6CE73D0-0EA1-43BE-C635-0CDC40AA215E}"/>
                </a:ext>
              </a:extLst>
            </p:cNvPr>
            <p:cNvSpPr/>
            <p:nvPr/>
          </p:nvSpPr>
          <p:spPr>
            <a:xfrm>
              <a:off x="5849112" y="2153411"/>
              <a:ext cx="381000" cy="243840"/>
            </a:xfrm>
            <a:custGeom>
              <a:avLst/>
              <a:gdLst/>
              <a:ahLst/>
              <a:cxnLst/>
              <a:rect l="l" t="t" r="r" b="b"/>
              <a:pathLst>
                <a:path w="381000" h="243839">
                  <a:moveTo>
                    <a:pt x="0" y="60960"/>
                  </a:moveTo>
                  <a:lnTo>
                    <a:pt x="259079" y="60960"/>
                  </a:lnTo>
                  <a:lnTo>
                    <a:pt x="259079" y="0"/>
                  </a:lnTo>
                  <a:lnTo>
                    <a:pt x="381000" y="121919"/>
                  </a:lnTo>
                  <a:lnTo>
                    <a:pt x="259079" y="243839"/>
                  </a:lnTo>
                  <a:lnTo>
                    <a:pt x="259079" y="182880"/>
                  </a:lnTo>
                  <a:lnTo>
                    <a:pt x="0" y="182880"/>
                  </a:lnTo>
                  <a:lnTo>
                    <a:pt x="0" y="6096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25" name="object 23">
            <a:extLst>
              <a:ext uri="{FF2B5EF4-FFF2-40B4-BE49-F238E27FC236}">
                <a16:creationId xmlns:a16="http://schemas.microsoft.com/office/drawing/2014/main" id="{0F97249F-B731-7EA7-4127-FBB310170A1A}"/>
              </a:ext>
            </a:extLst>
          </p:cNvPr>
          <p:cNvGrpSpPr/>
          <p:nvPr/>
        </p:nvGrpSpPr>
        <p:grpSpPr>
          <a:xfrm>
            <a:off x="5884520" y="3028909"/>
            <a:ext cx="2350135" cy="516890"/>
            <a:chOff x="6440423" y="2019300"/>
            <a:chExt cx="2350135" cy="516890"/>
          </a:xfrm>
        </p:grpSpPr>
        <p:sp>
          <p:nvSpPr>
            <p:cNvPr id="26" name="object 24">
              <a:extLst>
                <a:ext uri="{FF2B5EF4-FFF2-40B4-BE49-F238E27FC236}">
                  <a16:creationId xmlns:a16="http://schemas.microsoft.com/office/drawing/2014/main" id="{312E0BC1-35C6-C428-FAC4-96B42BF165CD}"/>
                </a:ext>
              </a:extLst>
            </p:cNvPr>
            <p:cNvSpPr/>
            <p:nvPr/>
          </p:nvSpPr>
          <p:spPr>
            <a:xfrm>
              <a:off x="6454901" y="2033777"/>
              <a:ext cx="2321560" cy="487680"/>
            </a:xfrm>
            <a:custGeom>
              <a:avLst/>
              <a:gdLst/>
              <a:ahLst/>
              <a:cxnLst/>
              <a:rect l="l" t="t" r="r" b="b"/>
              <a:pathLst>
                <a:path w="2321559" h="487680">
                  <a:moveTo>
                    <a:pt x="1947672" y="0"/>
                  </a:moveTo>
                  <a:lnTo>
                    <a:pt x="373379" y="0"/>
                  </a:lnTo>
                  <a:lnTo>
                    <a:pt x="318196" y="2644"/>
                  </a:lnTo>
                  <a:lnTo>
                    <a:pt x="265529" y="10327"/>
                  </a:lnTo>
                  <a:lnTo>
                    <a:pt x="215956" y="22671"/>
                  </a:lnTo>
                  <a:lnTo>
                    <a:pt x="170054" y="39296"/>
                  </a:lnTo>
                  <a:lnTo>
                    <a:pt x="128400" y="59826"/>
                  </a:lnTo>
                  <a:lnTo>
                    <a:pt x="91571" y="83882"/>
                  </a:lnTo>
                  <a:lnTo>
                    <a:pt x="60144" y="111088"/>
                  </a:lnTo>
                  <a:lnTo>
                    <a:pt x="34697" y="141064"/>
                  </a:lnTo>
                  <a:lnTo>
                    <a:pt x="4047" y="207818"/>
                  </a:lnTo>
                  <a:lnTo>
                    <a:pt x="0" y="243840"/>
                  </a:lnTo>
                  <a:lnTo>
                    <a:pt x="4047" y="279861"/>
                  </a:lnTo>
                  <a:lnTo>
                    <a:pt x="34697" y="346615"/>
                  </a:lnTo>
                  <a:lnTo>
                    <a:pt x="60144" y="376591"/>
                  </a:lnTo>
                  <a:lnTo>
                    <a:pt x="91571" y="403797"/>
                  </a:lnTo>
                  <a:lnTo>
                    <a:pt x="128400" y="427853"/>
                  </a:lnTo>
                  <a:lnTo>
                    <a:pt x="170054" y="448383"/>
                  </a:lnTo>
                  <a:lnTo>
                    <a:pt x="215956" y="465008"/>
                  </a:lnTo>
                  <a:lnTo>
                    <a:pt x="265529" y="477352"/>
                  </a:lnTo>
                  <a:lnTo>
                    <a:pt x="318196" y="485035"/>
                  </a:lnTo>
                  <a:lnTo>
                    <a:pt x="373379" y="487680"/>
                  </a:lnTo>
                  <a:lnTo>
                    <a:pt x="1947672" y="487680"/>
                  </a:lnTo>
                  <a:lnTo>
                    <a:pt x="2002855" y="485035"/>
                  </a:lnTo>
                  <a:lnTo>
                    <a:pt x="2055522" y="477352"/>
                  </a:lnTo>
                  <a:lnTo>
                    <a:pt x="2105095" y="465008"/>
                  </a:lnTo>
                  <a:lnTo>
                    <a:pt x="2150997" y="448383"/>
                  </a:lnTo>
                  <a:lnTo>
                    <a:pt x="2192651" y="427853"/>
                  </a:lnTo>
                  <a:lnTo>
                    <a:pt x="2229480" y="403797"/>
                  </a:lnTo>
                  <a:lnTo>
                    <a:pt x="2260907" y="376591"/>
                  </a:lnTo>
                  <a:lnTo>
                    <a:pt x="2286354" y="346615"/>
                  </a:lnTo>
                  <a:lnTo>
                    <a:pt x="2317004" y="279861"/>
                  </a:lnTo>
                  <a:lnTo>
                    <a:pt x="2321052" y="243840"/>
                  </a:lnTo>
                  <a:lnTo>
                    <a:pt x="2317004" y="207818"/>
                  </a:lnTo>
                  <a:lnTo>
                    <a:pt x="2286354" y="141064"/>
                  </a:lnTo>
                  <a:lnTo>
                    <a:pt x="2260907" y="111088"/>
                  </a:lnTo>
                  <a:lnTo>
                    <a:pt x="2229480" y="83882"/>
                  </a:lnTo>
                  <a:lnTo>
                    <a:pt x="2192651" y="59826"/>
                  </a:lnTo>
                  <a:lnTo>
                    <a:pt x="2150997" y="39296"/>
                  </a:lnTo>
                  <a:lnTo>
                    <a:pt x="2105095" y="22671"/>
                  </a:lnTo>
                  <a:lnTo>
                    <a:pt x="2055522" y="10327"/>
                  </a:lnTo>
                  <a:lnTo>
                    <a:pt x="2002855" y="2644"/>
                  </a:lnTo>
                  <a:lnTo>
                    <a:pt x="1947672" y="0"/>
                  </a:lnTo>
                  <a:close/>
                </a:path>
              </a:pathLst>
            </a:custGeom>
            <a:solidFill>
              <a:srgbClr val="DFCDE3"/>
            </a:solidFill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  <p:sp>
          <p:nvSpPr>
            <p:cNvPr id="27" name="object 25">
              <a:extLst>
                <a:ext uri="{FF2B5EF4-FFF2-40B4-BE49-F238E27FC236}">
                  <a16:creationId xmlns:a16="http://schemas.microsoft.com/office/drawing/2014/main" id="{D2486BC2-5218-CB9F-9635-0407BDA927F3}"/>
                </a:ext>
              </a:extLst>
            </p:cNvPr>
            <p:cNvSpPr/>
            <p:nvPr/>
          </p:nvSpPr>
          <p:spPr>
            <a:xfrm>
              <a:off x="6454901" y="2033777"/>
              <a:ext cx="2321560" cy="487680"/>
            </a:xfrm>
            <a:custGeom>
              <a:avLst/>
              <a:gdLst/>
              <a:ahLst/>
              <a:cxnLst/>
              <a:rect l="l" t="t" r="r" b="b"/>
              <a:pathLst>
                <a:path w="2321559" h="487680">
                  <a:moveTo>
                    <a:pt x="373379" y="0"/>
                  </a:moveTo>
                  <a:lnTo>
                    <a:pt x="1947672" y="0"/>
                  </a:lnTo>
                  <a:lnTo>
                    <a:pt x="2002855" y="2644"/>
                  </a:lnTo>
                  <a:lnTo>
                    <a:pt x="2055522" y="10327"/>
                  </a:lnTo>
                  <a:lnTo>
                    <a:pt x="2105095" y="22671"/>
                  </a:lnTo>
                  <a:lnTo>
                    <a:pt x="2150997" y="39296"/>
                  </a:lnTo>
                  <a:lnTo>
                    <a:pt x="2192651" y="59826"/>
                  </a:lnTo>
                  <a:lnTo>
                    <a:pt x="2229480" y="83882"/>
                  </a:lnTo>
                  <a:lnTo>
                    <a:pt x="2260907" y="111088"/>
                  </a:lnTo>
                  <a:lnTo>
                    <a:pt x="2286354" y="141064"/>
                  </a:lnTo>
                  <a:lnTo>
                    <a:pt x="2317004" y="207818"/>
                  </a:lnTo>
                  <a:lnTo>
                    <a:pt x="2321052" y="243840"/>
                  </a:lnTo>
                  <a:lnTo>
                    <a:pt x="2317004" y="279861"/>
                  </a:lnTo>
                  <a:lnTo>
                    <a:pt x="2286354" y="346615"/>
                  </a:lnTo>
                  <a:lnTo>
                    <a:pt x="2260907" y="376591"/>
                  </a:lnTo>
                  <a:lnTo>
                    <a:pt x="2229480" y="403797"/>
                  </a:lnTo>
                  <a:lnTo>
                    <a:pt x="2192651" y="427853"/>
                  </a:lnTo>
                  <a:lnTo>
                    <a:pt x="2150997" y="448383"/>
                  </a:lnTo>
                  <a:lnTo>
                    <a:pt x="2105095" y="465008"/>
                  </a:lnTo>
                  <a:lnTo>
                    <a:pt x="2055522" y="477352"/>
                  </a:lnTo>
                  <a:lnTo>
                    <a:pt x="2002855" y="485035"/>
                  </a:lnTo>
                  <a:lnTo>
                    <a:pt x="1947672" y="487680"/>
                  </a:lnTo>
                  <a:lnTo>
                    <a:pt x="373379" y="487680"/>
                  </a:lnTo>
                  <a:lnTo>
                    <a:pt x="318196" y="485035"/>
                  </a:lnTo>
                  <a:lnTo>
                    <a:pt x="265529" y="477352"/>
                  </a:lnTo>
                  <a:lnTo>
                    <a:pt x="215956" y="465008"/>
                  </a:lnTo>
                  <a:lnTo>
                    <a:pt x="170054" y="448383"/>
                  </a:lnTo>
                  <a:lnTo>
                    <a:pt x="128400" y="427853"/>
                  </a:lnTo>
                  <a:lnTo>
                    <a:pt x="91571" y="403797"/>
                  </a:lnTo>
                  <a:lnTo>
                    <a:pt x="60144" y="376591"/>
                  </a:lnTo>
                  <a:lnTo>
                    <a:pt x="34697" y="346615"/>
                  </a:lnTo>
                  <a:lnTo>
                    <a:pt x="4047" y="279861"/>
                  </a:lnTo>
                  <a:lnTo>
                    <a:pt x="0" y="243840"/>
                  </a:lnTo>
                  <a:lnTo>
                    <a:pt x="4047" y="207818"/>
                  </a:lnTo>
                  <a:lnTo>
                    <a:pt x="34697" y="141064"/>
                  </a:lnTo>
                  <a:lnTo>
                    <a:pt x="60144" y="111088"/>
                  </a:lnTo>
                  <a:lnTo>
                    <a:pt x="91571" y="83882"/>
                  </a:lnTo>
                  <a:lnTo>
                    <a:pt x="128400" y="59826"/>
                  </a:lnTo>
                  <a:lnTo>
                    <a:pt x="170054" y="39296"/>
                  </a:lnTo>
                  <a:lnTo>
                    <a:pt x="215956" y="22671"/>
                  </a:lnTo>
                  <a:lnTo>
                    <a:pt x="265529" y="10327"/>
                  </a:lnTo>
                  <a:lnTo>
                    <a:pt x="318196" y="2644"/>
                  </a:lnTo>
                  <a:lnTo>
                    <a:pt x="373379" y="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</p:grpSp>
      <p:sp>
        <p:nvSpPr>
          <p:cNvPr id="28" name="object 26">
            <a:extLst>
              <a:ext uri="{FF2B5EF4-FFF2-40B4-BE49-F238E27FC236}">
                <a16:creationId xmlns:a16="http://schemas.microsoft.com/office/drawing/2014/main" id="{9F626D23-BAE4-29FE-3DF9-EC56184448A7}"/>
              </a:ext>
            </a:extLst>
          </p:cNvPr>
          <p:cNvSpPr txBox="1"/>
          <p:nvPr/>
        </p:nvSpPr>
        <p:spPr>
          <a:xfrm>
            <a:off x="6004903" y="3118024"/>
            <a:ext cx="202565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Bookman Old Style" panose="02050604050505020204" pitchFamily="18" charset="0"/>
                <a:cs typeface="Times New Roman"/>
              </a:rPr>
              <a:t>Former</a:t>
            </a:r>
            <a:r>
              <a:rPr sz="1100" b="1" spc="-4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latin typeface="Bookman Old Style" panose="02050604050505020204" pitchFamily="18" charset="0"/>
                <a:cs typeface="Times New Roman"/>
              </a:rPr>
              <a:t>mon</a:t>
            </a:r>
            <a:r>
              <a:rPr sz="1100" b="1" spc="-5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latin typeface="Bookman Old Style" panose="02050604050505020204" pitchFamily="18" charset="0"/>
                <a:cs typeface="Times New Roman"/>
              </a:rPr>
              <a:t>circuit</a:t>
            </a:r>
            <a:r>
              <a:rPr sz="1100" b="1" spc="-4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latin typeface="Bookman Old Style" panose="02050604050505020204" pitchFamily="18" charset="0"/>
                <a:cs typeface="Times New Roman"/>
              </a:rPr>
              <a:t>équivalent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grpSp>
        <p:nvGrpSpPr>
          <p:cNvPr id="29" name="object 27">
            <a:extLst>
              <a:ext uri="{FF2B5EF4-FFF2-40B4-BE49-F238E27FC236}">
                <a16:creationId xmlns:a16="http://schemas.microsoft.com/office/drawing/2014/main" id="{9703396A-4989-FCCB-5639-24DD8A37E0EB}"/>
              </a:ext>
            </a:extLst>
          </p:cNvPr>
          <p:cNvGrpSpPr/>
          <p:nvPr/>
        </p:nvGrpSpPr>
        <p:grpSpPr>
          <a:xfrm>
            <a:off x="3052643" y="1010160"/>
            <a:ext cx="390525" cy="253365"/>
            <a:chOff x="2667000" y="2125979"/>
            <a:chExt cx="390525" cy="253365"/>
          </a:xfrm>
        </p:grpSpPr>
        <p:sp>
          <p:nvSpPr>
            <p:cNvPr id="30" name="object 28">
              <a:extLst>
                <a:ext uri="{FF2B5EF4-FFF2-40B4-BE49-F238E27FC236}">
                  <a16:creationId xmlns:a16="http://schemas.microsoft.com/office/drawing/2014/main" id="{19630B13-12C1-3CED-A70C-2145871A1691}"/>
                </a:ext>
              </a:extLst>
            </p:cNvPr>
            <p:cNvSpPr/>
            <p:nvPr/>
          </p:nvSpPr>
          <p:spPr>
            <a:xfrm>
              <a:off x="2671572" y="2130551"/>
              <a:ext cx="381000" cy="243840"/>
            </a:xfrm>
            <a:custGeom>
              <a:avLst/>
              <a:gdLst/>
              <a:ahLst/>
              <a:cxnLst/>
              <a:rect l="l" t="t" r="r" b="b"/>
              <a:pathLst>
                <a:path w="381000" h="243839">
                  <a:moveTo>
                    <a:pt x="259079" y="0"/>
                  </a:moveTo>
                  <a:lnTo>
                    <a:pt x="259079" y="60960"/>
                  </a:lnTo>
                  <a:lnTo>
                    <a:pt x="0" y="60960"/>
                  </a:lnTo>
                  <a:lnTo>
                    <a:pt x="0" y="182880"/>
                  </a:lnTo>
                  <a:lnTo>
                    <a:pt x="259079" y="182880"/>
                  </a:lnTo>
                  <a:lnTo>
                    <a:pt x="259079" y="243840"/>
                  </a:lnTo>
                  <a:lnTo>
                    <a:pt x="381000" y="121920"/>
                  </a:lnTo>
                  <a:lnTo>
                    <a:pt x="25907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  <p:sp>
          <p:nvSpPr>
            <p:cNvPr id="38" name="object 29">
              <a:extLst>
                <a:ext uri="{FF2B5EF4-FFF2-40B4-BE49-F238E27FC236}">
                  <a16:creationId xmlns:a16="http://schemas.microsoft.com/office/drawing/2014/main" id="{778B486E-F48A-C2F1-147D-782D67DE5DD5}"/>
                </a:ext>
              </a:extLst>
            </p:cNvPr>
            <p:cNvSpPr/>
            <p:nvPr/>
          </p:nvSpPr>
          <p:spPr>
            <a:xfrm>
              <a:off x="2671572" y="2130551"/>
              <a:ext cx="381000" cy="243840"/>
            </a:xfrm>
            <a:custGeom>
              <a:avLst/>
              <a:gdLst/>
              <a:ahLst/>
              <a:cxnLst/>
              <a:rect l="l" t="t" r="r" b="b"/>
              <a:pathLst>
                <a:path w="381000" h="243839">
                  <a:moveTo>
                    <a:pt x="0" y="60960"/>
                  </a:moveTo>
                  <a:lnTo>
                    <a:pt x="259079" y="60960"/>
                  </a:lnTo>
                  <a:lnTo>
                    <a:pt x="259079" y="0"/>
                  </a:lnTo>
                  <a:lnTo>
                    <a:pt x="381000" y="121920"/>
                  </a:lnTo>
                  <a:lnTo>
                    <a:pt x="259079" y="243840"/>
                  </a:lnTo>
                  <a:lnTo>
                    <a:pt x="259079" y="182880"/>
                  </a:lnTo>
                  <a:lnTo>
                    <a:pt x="0" y="182880"/>
                  </a:lnTo>
                  <a:lnTo>
                    <a:pt x="0" y="6096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40" name="object 30">
            <a:extLst>
              <a:ext uri="{FF2B5EF4-FFF2-40B4-BE49-F238E27FC236}">
                <a16:creationId xmlns:a16="http://schemas.microsoft.com/office/drawing/2014/main" id="{05FACD09-7F73-375D-E537-7DAF6A5C254B}"/>
              </a:ext>
            </a:extLst>
          </p:cNvPr>
          <p:cNvGrpSpPr/>
          <p:nvPr/>
        </p:nvGrpSpPr>
        <p:grpSpPr>
          <a:xfrm>
            <a:off x="3928062" y="876305"/>
            <a:ext cx="2350135" cy="518159"/>
            <a:chOff x="3241548" y="2036064"/>
            <a:chExt cx="2350135" cy="518159"/>
          </a:xfrm>
        </p:grpSpPr>
        <p:sp>
          <p:nvSpPr>
            <p:cNvPr id="41" name="object 31">
              <a:extLst>
                <a:ext uri="{FF2B5EF4-FFF2-40B4-BE49-F238E27FC236}">
                  <a16:creationId xmlns:a16="http://schemas.microsoft.com/office/drawing/2014/main" id="{4310A8D7-7E6A-A5D9-C77A-A0872C3FF6BF}"/>
                </a:ext>
              </a:extLst>
            </p:cNvPr>
            <p:cNvSpPr/>
            <p:nvPr/>
          </p:nvSpPr>
          <p:spPr>
            <a:xfrm>
              <a:off x="3256026" y="2050542"/>
              <a:ext cx="2321560" cy="489584"/>
            </a:xfrm>
            <a:custGeom>
              <a:avLst/>
              <a:gdLst/>
              <a:ahLst/>
              <a:cxnLst/>
              <a:rect l="l" t="t" r="r" b="b"/>
              <a:pathLst>
                <a:path w="2321560" h="489585">
                  <a:moveTo>
                    <a:pt x="1947672" y="0"/>
                  </a:moveTo>
                  <a:lnTo>
                    <a:pt x="373379" y="0"/>
                  </a:lnTo>
                  <a:lnTo>
                    <a:pt x="318196" y="2651"/>
                  </a:lnTo>
                  <a:lnTo>
                    <a:pt x="265529" y="10353"/>
                  </a:lnTo>
                  <a:lnTo>
                    <a:pt x="215956" y="22727"/>
                  </a:lnTo>
                  <a:lnTo>
                    <a:pt x="170054" y="39397"/>
                  </a:lnTo>
                  <a:lnTo>
                    <a:pt x="128400" y="59983"/>
                  </a:lnTo>
                  <a:lnTo>
                    <a:pt x="91571" y="84109"/>
                  </a:lnTo>
                  <a:lnTo>
                    <a:pt x="60144" y="111396"/>
                  </a:lnTo>
                  <a:lnTo>
                    <a:pt x="34697" y="141467"/>
                  </a:lnTo>
                  <a:lnTo>
                    <a:pt x="4047" y="208447"/>
                  </a:lnTo>
                  <a:lnTo>
                    <a:pt x="0" y="244601"/>
                  </a:lnTo>
                  <a:lnTo>
                    <a:pt x="4047" y="280756"/>
                  </a:lnTo>
                  <a:lnTo>
                    <a:pt x="34697" y="347736"/>
                  </a:lnTo>
                  <a:lnTo>
                    <a:pt x="60144" y="377807"/>
                  </a:lnTo>
                  <a:lnTo>
                    <a:pt x="91571" y="405094"/>
                  </a:lnTo>
                  <a:lnTo>
                    <a:pt x="128400" y="429220"/>
                  </a:lnTo>
                  <a:lnTo>
                    <a:pt x="170054" y="449806"/>
                  </a:lnTo>
                  <a:lnTo>
                    <a:pt x="215956" y="466476"/>
                  </a:lnTo>
                  <a:lnTo>
                    <a:pt x="265529" y="478850"/>
                  </a:lnTo>
                  <a:lnTo>
                    <a:pt x="318196" y="486552"/>
                  </a:lnTo>
                  <a:lnTo>
                    <a:pt x="373379" y="489203"/>
                  </a:lnTo>
                  <a:lnTo>
                    <a:pt x="1947672" y="489203"/>
                  </a:lnTo>
                  <a:lnTo>
                    <a:pt x="2002855" y="486552"/>
                  </a:lnTo>
                  <a:lnTo>
                    <a:pt x="2055522" y="478850"/>
                  </a:lnTo>
                  <a:lnTo>
                    <a:pt x="2105095" y="466476"/>
                  </a:lnTo>
                  <a:lnTo>
                    <a:pt x="2150997" y="449806"/>
                  </a:lnTo>
                  <a:lnTo>
                    <a:pt x="2192651" y="429220"/>
                  </a:lnTo>
                  <a:lnTo>
                    <a:pt x="2229480" y="405094"/>
                  </a:lnTo>
                  <a:lnTo>
                    <a:pt x="2260907" y="377807"/>
                  </a:lnTo>
                  <a:lnTo>
                    <a:pt x="2286354" y="347736"/>
                  </a:lnTo>
                  <a:lnTo>
                    <a:pt x="2317004" y="280756"/>
                  </a:lnTo>
                  <a:lnTo>
                    <a:pt x="2321052" y="244601"/>
                  </a:lnTo>
                  <a:lnTo>
                    <a:pt x="2317004" y="208447"/>
                  </a:lnTo>
                  <a:lnTo>
                    <a:pt x="2286354" y="141467"/>
                  </a:lnTo>
                  <a:lnTo>
                    <a:pt x="2260907" y="111396"/>
                  </a:lnTo>
                  <a:lnTo>
                    <a:pt x="2229480" y="84109"/>
                  </a:lnTo>
                  <a:lnTo>
                    <a:pt x="2192651" y="59983"/>
                  </a:lnTo>
                  <a:lnTo>
                    <a:pt x="2150997" y="39397"/>
                  </a:lnTo>
                  <a:lnTo>
                    <a:pt x="2105095" y="22727"/>
                  </a:lnTo>
                  <a:lnTo>
                    <a:pt x="2055522" y="10353"/>
                  </a:lnTo>
                  <a:lnTo>
                    <a:pt x="2002855" y="2651"/>
                  </a:lnTo>
                  <a:lnTo>
                    <a:pt x="1947672" y="0"/>
                  </a:lnTo>
                  <a:close/>
                </a:path>
              </a:pathLst>
            </a:custGeom>
            <a:solidFill>
              <a:srgbClr val="DFCDE3"/>
            </a:solidFill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  <p:sp>
          <p:nvSpPr>
            <p:cNvPr id="42" name="object 32">
              <a:extLst>
                <a:ext uri="{FF2B5EF4-FFF2-40B4-BE49-F238E27FC236}">
                  <a16:creationId xmlns:a16="http://schemas.microsoft.com/office/drawing/2014/main" id="{1D9CDDEB-55B2-CE94-260F-43C8A916DCDE}"/>
                </a:ext>
              </a:extLst>
            </p:cNvPr>
            <p:cNvSpPr/>
            <p:nvPr/>
          </p:nvSpPr>
          <p:spPr>
            <a:xfrm>
              <a:off x="3256026" y="2050542"/>
              <a:ext cx="2321560" cy="489584"/>
            </a:xfrm>
            <a:custGeom>
              <a:avLst/>
              <a:gdLst/>
              <a:ahLst/>
              <a:cxnLst/>
              <a:rect l="l" t="t" r="r" b="b"/>
              <a:pathLst>
                <a:path w="2321560" h="489585">
                  <a:moveTo>
                    <a:pt x="373379" y="0"/>
                  </a:moveTo>
                  <a:lnTo>
                    <a:pt x="1947672" y="0"/>
                  </a:lnTo>
                  <a:lnTo>
                    <a:pt x="2002855" y="2651"/>
                  </a:lnTo>
                  <a:lnTo>
                    <a:pt x="2055522" y="10353"/>
                  </a:lnTo>
                  <a:lnTo>
                    <a:pt x="2105095" y="22727"/>
                  </a:lnTo>
                  <a:lnTo>
                    <a:pt x="2150997" y="39397"/>
                  </a:lnTo>
                  <a:lnTo>
                    <a:pt x="2192651" y="59983"/>
                  </a:lnTo>
                  <a:lnTo>
                    <a:pt x="2229480" y="84109"/>
                  </a:lnTo>
                  <a:lnTo>
                    <a:pt x="2260907" y="111396"/>
                  </a:lnTo>
                  <a:lnTo>
                    <a:pt x="2286354" y="141467"/>
                  </a:lnTo>
                  <a:lnTo>
                    <a:pt x="2317004" y="208447"/>
                  </a:lnTo>
                  <a:lnTo>
                    <a:pt x="2321052" y="244601"/>
                  </a:lnTo>
                  <a:lnTo>
                    <a:pt x="2317004" y="280756"/>
                  </a:lnTo>
                  <a:lnTo>
                    <a:pt x="2286354" y="347736"/>
                  </a:lnTo>
                  <a:lnTo>
                    <a:pt x="2260907" y="377807"/>
                  </a:lnTo>
                  <a:lnTo>
                    <a:pt x="2229480" y="405094"/>
                  </a:lnTo>
                  <a:lnTo>
                    <a:pt x="2192651" y="429220"/>
                  </a:lnTo>
                  <a:lnTo>
                    <a:pt x="2150997" y="449806"/>
                  </a:lnTo>
                  <a:lnTo>
                    <a:pt x="2105095" y="466476"/>
                  </a:lnTo>
                  <a:lnTo>
                    <a:pt x="2055522" y="478850"/>
                  </a:lnTo>
                  <a:lnTo>
                    <a:pt x="2002855" y="486552"/>
                  </a:lnTo>
                  <a:lnTo>
                    <a:pt x="1947672" y="489203"/>
                  </a:lnTo>
                  <a:lnTo>
                    <a:pt x="373379" y="489203"/>
                  </a:lnTo>
                  <a:lnTo>
                    <a:pt x="318196" y="486552"/>
                  </a:lnTo>
                  <a:lnTo>
                    <a:pt x="265529" y="478850"/>
                  </a:lnTo>
                  <a:lnTo>
                    <a:pt x="215956" y="466476"/>
                  </a:lnTo>
                  <a:lnTo>
                    <a:pt x="170054" y="449806"/>
                  </a:lnTo>
                  <a:lnTo>
                    <a:pt x="128400" y="429220"/>
                  </a:lnTo>
                  <a:lnTo>
                    <a:pt x="91571" y="405094"/>
                  </a:lnTo>
                  <a:lnTo>
                    <a:pt x="60144" y="377807"/>
                  </a:lnTo>
                  <a:lnTo>
                    <a:pt x="34697" y="347736"/>
                  </a:lnTo>
                  <a:lnTo>
                    <a:pt x="4047" y="280756"/>
                  </a:lnTo>
                  <a:lnTo>
                    <a:pt x="0" y="244601"/>
                  </a:lnTo>
                  <a:lnTo>
                    <a:pt x="4047" y="208447"/>
                  </a:lnTo>
                  <a:lnTo>
                    <a:pt x="34697" y="141467"/>
                  </a:lnTo>
                  <a:lnTo>
                    <a:pt x="60144" y="111396"/>
                  </a:lnTo>
                  <a:lnTo>
                    <a:pt x="91571" y="84109"/>
                  </a:lnTo>
                  <a:lnTo>
                    <a:pt x="128400" y="59983"/>
                  </a:lnTo>
                  <a:lnTo>
                    <a:pt x="170054" y="39397"/>
                  </a:lnTo>
                  <a:lnTo>
                    <a:pt x="215956" y="22727"/>
                  </a:lnTo>
                  <a:lnTo>
                    <a:pt x="265529" y="10353"/>
                  </a:lnTo>
                  <a:lnTo>
                    <a:pt x="318196" y="2651"/>
                  </a:lnTo>
                  <a:lnTo>
                    <a:pt x="373379" y="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</p:grpSp>
      <p:sp>
        <p:nvSpPr>
          <p:cNvPr id="43" name="object 33">
            <a:extLst>
              <a:ext uri="{FF2B5EF4-FFF2-40B4-BE49-F238E27FC236}">
                <a16:creationId xmlns:a16="http://schemas.microsoft.com/office/drawing/2014/main" id="{2F28E4E5-DD37-0053-FDE2-36DDCF682327}"/>
              </a:ext>
            </a:extLst>
          </p:cNvPr>
          <p:cNvSpPr txBox="1"/>
          <p:nvPr/>
        </p:nvSpPr>
        <p:spPr>
          <a:xfrm>
            <a:off x="3996069" y="1003869"/>
            <a:ext cx="2055497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5080" indent="-305435" algn="ctr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Bookman Old Style" panose="02050604050505020204" pitchFamily="18" charset="0"/>
                <a:cs typeface="Times New Roman"/>
              </a:rPr>
              <a:t>Déterminer</a:t>
            </a:r>
            <a:r>
              <a:rPr sz="1100" b="1"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latin typeface="Bookman Old Style" panose="02050604050505020204" pitchFamily="18" charset="0"/>
                <a:cs typeface="Times New Roman"/>
              </a:rPr>
              <a:t>le</a:t>
            </a:r>
            <a:r>
              <a:rPr sz="1100" b="1" spc="-3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latin typeface="Bookman Old Style" panose="02050604050505020204" pitchFamily="18" charset="0"/>
                <a:cs typeface="Times New Roman"/>
              </a:rPr>
              <a:t>courant </a:t>
            </a:r>
            <a:r>
              <a:rPr sz="1100" b="1"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100" b="1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latin typeface="Bookman Old Style" panose="02050604050505020204" pitchFamily="18" charset="0"/>
                <a:cs typeface="Times New Roman"/>
              </a:rPr>
              <a:t>Norton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44" name="object 34">
            <a:extLst>
              <a:ext uri="{FF2B5EF4-FFF2-40B4-BE49-F238E27FC236}">
                <a16:creationId xmlns:a16="http://schemas.microsoft.com/office/drawing/2014/main" id="{6FE12B2B-7A88-A5F3-7869-EB97FB47EC88}"/>
              </a:ext>
            </a:extLst>
          </p:cNvPr>
          <p:cNvSpPr txBox="1"/>
          <p:nvPr/>
        </p:nvSpPr>
        <p:spPr>
          <a:xfrm>
            <a:off x="567405" y="1519940"/>
            <a:ext cx="1875638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Débrancher</a:t>
            </a:r>
            <a:r>
              <a:rPr sz="1100" b="1" spc="-4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la</a:t>
            </a:r>
            <a:r>
              <a:rPr sz="1100" b="1" spc="-3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charge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52" name="object 35">
            <a:extLst>
              <a:ext uri="{FF2B5EF4-FFF2-40B4-BE49-F238E27FC236}">
                <a16:creationId xmlns:a16="http://schemas.microsoft.com/office/drawing/2014/main" id="{4729E603-B645-2269-3726-9D63BB5C610E}"/>
              </a:ext>
            </a:extLst>
          </p:cNvPr>
          <p:cNvSpPr txBox="1"/>
          <p:nvPr/>
        </p:nvSpPr>
        <p:spPr>
          <a:xfrm>
            <a:off x="567405" y="1885700"/>
            <a:ext cx="2485238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Éteindre</a:t>
            </a:r>
            <a:r>
              <a:rPr sz="1100" b="1" spc="-4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les</a:t>
            </a:r>
            <a:r>
              <a:rPr sz="1100" b="1" spc="-2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sources</a:t>
            </a:r>
            <a:r>
              <a:rPr sz="1100" b="1" spc="-4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d'énergie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56" name="object 36">
            <a:extLst>
              <a:ext uri="{FF2B5EF4-FFF2-40B4-BE49-F238E27FC236}">
                <a16:creationId xmlns:a16="http://schemas.microsoft.com/office/drawing/2014/main" id="{F5452A16-898B-AABF-3035-5FDCD600CAEF}"/>
              </a:ext>
            </a:extLst>
          </p:cNvPr>
          <p:cNvSpPr txBox="1"/>
          <p:nvPr/>
        </p:nvSpPr>
        <p:spPr>
          <a:xfrm>
            <a:off x="617672" y="2329233"/>
            <a:ext cx="295299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 indent="-124460">
              <a:lnSpc>
                <a:spcPct val="100000"/>
              </a:lnSpc>
              <a:spcBef>
                <a:spcPts val="100"/>
              </a:spcBef>
              <a:buChar char="&gt;"/>
              <a:tabLst>
                <a:tab pos="137160" algn="l"/>
              </a:tabLst>
            </a:pPr>
            <a:r>
              <a:rPr sz="1100" b="1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Source</a:t>
            </a:r>
            <a:r>
              <a:rPr sz="1100" b="1" spc="-5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100" b="1" spc="-20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tension</a:t>
            </a:r>
            <a:r>
              <a:rPr sz="1100" b="1" spc="-5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/>
              </a:rPr>
              <a:t>Equi</a:t>
            </a:r>
            <a:r>
              <a:rPr sz="1100" b="1" spc="-35" dirty="0">
                <a:solidFill>
                  <a:srgbClr val="FF00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court-circuit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57" name="object 37">
            <a:extLst>
              <a:ext uri="{FF2B5EF4-FFF2-40B4-BE49-F238E27FC236}">
                <a16:creationId xmlns:a16="http://schemas.microsoft.com/office/drawing/2014/main" id="{3EF213A5-B371-BCF1-A11A-44DABA93AC96}"/>
              </a:ext>
            </a:extLst>
          </p:cNvPr>
          <p:cNvSpPr txBox="1"/>
          <p:nvPr/>
        </p:nvSpPr>
        <p:spPr>
          <a:xfrm>
            <a:off x="618885" y="2950174"/>
            <a:ext cx="364831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890" indent="-123189">
              <a:lnSpc>
                <a:spcPct val="100000"/>
              </a:lnSpc>
              <a:spcBef>
                <a:spcPts val="100"/>
              </a:spcBef>
              <a:buFont typeface="Times New Roman"/>
              <a:buChar char="&gt;"/>
              <a:tabLst>
                <a:tab pos="135890" algn="l"/>
              </a:tabLst>
            </a:pPr>
            <a:r>
              <a:rPr sz="1100" b="1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Source</a:t>
            </a:r>
            <a:r>
              <a:rPr sz="1100" b="1" spc="-5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100" b="1" spc="-20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courant</a:t>
            </a:r>
            <a:r>
              <a:rPr sz="1100" b="1" spc="-5" dirty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 err="1">
                <a:solidFill>
                  <a:srgbClr val="C00000"/>
                </a:solidFill>
                <a:latin typeface="Bookman Old Style" panose="02050604050505020204" pitchFamily="18" charset="0"/>
                <a:cs typeface="Times New Roman"/>
              </a:rPr>
              <a:t>Equi</a:t>
            </a:r>
            <a:r>
              <a:rPr sz="1100" b="1" spc="-30" dirty="0">
                <a:solidFill>
                  <a:srgbClr val="FF00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 smtClean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circuit</a:t>
            </a:r>
            <a:r>
              <a:rPr lang="en-US" sz="1100" b="1" spc="-10" dirty="0" smtClean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en-US" sz="1100" b="1" spc="-10" dirty="0" err="1" smtClean="0">
                <a:solidFill>
                  <a:srgbClr val="2C3D50"/>
                </a:solidFill>
                <a:latin typeface="Bookman Old Style" panose="02050604050505020204" pitchFamily="18" charset="0"/>
                <a:cs typeface="Times New Roman"/>
              </a:rPr>
              <a:t>ouvert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58" name="object 38">
            <a:extLst>
              <a:ext uri="{FF2B5EF4-FFF2-40B4-BE49-F238E27FC236}">
                <a16:creationId xmlns:a16="http://schemas.microsoft.com/office/drawing/2014/main" id="{D28E7DE8-5B74-1491-2FFF-0558F1447E2C}"/>
              </a:ext>
            </a:extLst>
          </p:cNvPr>
          <p:cNvSpPr txBox="1"/>
          <p:nvPr/>
        </p:nvSpPr>
        <p:spPr>
          <a:xfrm>
            <a:off x="4139325" y="1540763"/>
            <a:ext cx="208978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Débrancher</a:t>
            </a:r>
            <a:r>
              <a:rPr sz="1100" b="1" spc="-2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la</a:t>
            </a:r>
            <a:r>
              <a:rPr sz="1100" b="1" spc="-2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charge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60" name="object 39">
            <a:extLst>
              <a:ext uri="{FF2B5EF4-FFF2-40B4-BE49-F238E27FC236}">
                <a16:creationId xmlns:a16="http://schemas.microsoft.com/office/drawing/2014/main" id="{D46D2E8E-45C1-687E-8318-0AA7235C60CC}"/>
              </a:ext>
            </a:extLst>
          </p:cNvPr>
          <p:cNvSpPr txBox="1"/>
          <p:nvPr/>
        </p:nvSpPr>
        <p:spPr>
          <a:xfrm>
            <a:off x="4139324" y="1906524"/>
            <a:ext cx="32520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Court-</a:t>
            </a:r>
            <a:r>
              <a:rPr sz="1100" b="1" dirty="0" err="1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circuité</a:t>
            </a:r>
            <a:r>
              <a:rPr sz="1100" b="1" spc="2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en-US" sz="1100" b="1" spc="20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les </a:t>
            </a:r>
            <a:r>
              <a:rPr sz="1100" b="1" spc="-10" dirty="0" err="1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borne</a:t>
            </a:r>
            <a:r>
              <a:rPr lang="en-US" sz="1100" b="1" spc="-10" dirty="0" err="1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s</a:t>
            </a:r>
            <a:r>
              <a:rPr sz="1100" b="1" spc="-80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A</a:t>
            </a:r>
            <a:r>
              <a:rPr sz="1100" b="1" spc="-7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et</a:t>
            </a:r>
            <a:r>
              <a:rPr sz="11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5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B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61" name="object 40">
            <a:extLst>
              <a:ext uri="{FF2B5EF4-FFF2-40B4-BE49-F238E27FC236}">
                <a16:creationId xmlns:a16="http://schemas.microsoft.com/office/drawing/2014/main" id="{07DCD847-D152-1118-E1B3-668C229560A2}"/>
              </a:ext>
            </a:extLst>
          </p:cNvPr>
          <p:cNvSpPr txBox="1"/>
          <p:nvPr/>
        </p:nvSpPr>
        <p:spPr>
          <a:xfrm>
            <a:off x="5822798" y="3659076"/>
            <a:ext cx="1875638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Brancher</a:t>
            </a:r>
            <a:r>
              <a:rPr sz="1100" b="1" spc="-4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la</a:t>
            </a:r>
            <a:r>
              <a:rPr sz="1100" b="1" spc="-1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charge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62" name="object 41">
            <a:extLst>
              <a:ext uri="{FF2B5EF4-FFF2-40B4-BE49-F238E27FC236}">
                <a16:creationId xmlns:a16="http://schemas.microsoft.com/office/drawing/2014/main" id="{91D9712E-95A8-856C-F688-E91679CA8093}"/>
              </a:ext>
            </a:extLst>
          </p:cNvPr>
          <p:cNvSpPr txBox="1"/>
          <p:nvPr/>
        </p:nvSpPr>
        <p:spPr>
          <a:xfrm>
            <a:off x="5822798" y="4091618"/>
            <a:ext cx="276529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 marR="5080" indent="-2895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17500" algn="l"/>
              </a:tabLst>
            </a:pPr>
            <a:r>
              <a:rPr sz="1100" b="1" dirty="0" err="1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Utiliser</a:t>
            </a:r>
            <a:r>
              <a:rPr sz="1100" b="1" spc="-3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le</a:t>
            </a:r>
            <a:r>
              <a:rPr lang="fr-FR"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générateur de </a:t>
            </a:r>
            <a:r>
              <a:rPr sz="1100" b="1" spc="-1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courant</a:t>
            </a:r>
            <a:r>
              <a:rPr sz="1100" b="1" spc="-2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100" b="1" spc="-2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Norton 	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et</a:t>
            </a:r>
            <a:r>
              <a:rPr sz="1100" b="1" spc="-2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résistance</a:t>
            </a: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100" b="1" spc="-2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Norton</a:t>
            </a:r>
            <a:r>
              <a:rPr sz="1100" b="1" spc="-2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2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pour 	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former</a:t>
            </a:r>
            <a:r>
              <a:rPr sz="1100" b="1" spc="-3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le</a:t>
            </a:r>
            <a:r>
              <a:rPr sz="1100" b="1" spc="-3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circuit</a:t>
            </a:r>
            <a:r>
              <a:rPr sz="11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«</a:t>
            </a:r>
            <a:r>
              <a:rPr sz="1100" b="1" spc="-3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simple</a:t>
            </a:r>
            <a:r>
              <a:rPr sz="1100" b="1" spc="-3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100" b="1" spc="-5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»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grpSp>
        <p:nvGrpSpPr>
          <p:cNvPr id="66" name="object 42">
            <a:extLst>
              <a:ext uri="{FF2B5EF4-FFF2-40B4-BE49-F238E27FC236}">
                <a16:creationId xmlns:a16="http://schemas.microsoft.com/office/drawing/2014/main" id="{45F1B9BD-4CBC-4170-FA55-FBE6681388FF}"/>
              </a:ext>
            </a:extLst>
          </p:cNvPr>
          <p:cNvGrpSpPr/>
          <p:nvPr/>
        </p:nvGrpSpPr>
        <p:grpSpPr>
          <a:xfrm>
            <a:off x="1503850" y="2470458"/>
            <a:ext cx="1257300" cy="1373837"/>
            <a:chOff x="1651254" y="3471671"/>
            <a:chExt cx="1257300" cy="1479236"/>
          </a:xfrm>
        </p:grpSpPr>
        <p:pic>
          <p:nvPicPr>
            <p:cNvPr id="67" name="object 43">
              <a:extLst>
                <a:ext uri="{FF2B5EF4-FFF2-40B4-BE49-F238E27FC236}">
                  <a16:creationId xmlns:a16="http://schemas.microsoft.com/office/drawing/2014/main" id="{5896C3F0-DCB9-63DD-29CA-73B42608B8B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51254" y="4249867"/>
              <a:ext cx="1257300" cy="701040"/>
            </a:xfrm>
            <a:prstGeom prst="rect">
              <a:avLst/>
            </a:prstGeom>
          </p:spPr>
        </p:pic>
        <p:pic>
          <p:nvPicPr>
            <p:cNvPr id="68" name="object 44">
              <a:extLst>
                <a:ext uri="{FF2B5EF4-FFF2-40B4-BE49-F238E27FC236}">
                  <a16:creationId xmlns:a16="http://schemas.microsoft.com/office/drawing/2014/main" id="{68D65B10-53DD-EB37-0D5B-330DCAB0097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7736" y="3471671"/>
              <a:ext cx="1164336" cy="649223"/>
            </a:xfrm>
            <a:prstGeom prst="rect">
              <a:avLst/>
            </a:prstGeom>
          </p:spPr>
        </p:pic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841BEDDF-E5BD-68EF-5040-2D3E5BADC314}"/>
              </a:ext>
            </a:extLst>
          </p:cNvPr>
          <p:cNvSpPr txBox="1"/>
          <p:nvPr/>
        </p:nvSpPr>
        <p:spPr>
          <a:xfrm>
            <a:off x="1972028" y="279925"/>
            <a:ext cx="4588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41605" algn="ctr">
              <a:lnSpc>
                <a:spcPct val="100000"/>
              </a:lnSpc>
            </a:pPr>
            <a:r>
              <a:rPr lang="fr-FR" sz="1800" b="1" spc="-10" dirty="0">
                <a:latin typeface="Bookman Old Style" panose="02050604050505020204" pitchFamily="18" charset="0"/>
                <a:cs typeface="Times New Roman"/>
              </a:rPr>
              <a:t>Etapes</a:t>
            </a:r>
            <a:endParaRPr lang="fr-FR" sz="18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3EF213A5-B371-BCF1-A11A-44DABA93AC96}"/>
              </a:ext>
            </a:extLst>
          </p:cNvPr>
          <p:cNvSpPr txBox="1"/>
          <p:nvPr/>
        </p:nvSpPr>
        <p:spPr>
          <a:xfrm>
            <a:off x="617673" y="3685049"/>
            <a:ext cx="325779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1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135890" algn="l"/>
              </a:tabLst>
            </a:pPr>
            <a:r>
              <a:rPr lang="en-US" sz="11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R</a:t>
            </a:r>
            <a:r>
              <a:rPr lang="en-US" sz="1100" b="1" baseline="-25000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N</a:t>
            </a:r>
            <a:r>
              <a:rPr lang="en-US" sz="11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en-US" sz="1100" b="1" dirty="0" err="1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est</a:t>
            </a:r>
            <a:r>
              <a:rPr lang="en-US" sz="11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la résistance </a:t>
            </a:r>
            <a:r>
              <a:rPr lang="en-US" sz="1100" b="1" dirty="0" err="1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mesurée</a:t>
            </a:r>
            <a:r>
              <a:rPr lang="en-US" sz="11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entre A et B</a:t>
            </a:r>
            <a:endParaRPr sz="1100" dirty="0">
              <a:solidFill>
                <a:srgbClr val="FF0000"/>
              </a:solidFill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39" name="object 37">
            <a:extLst>
              <a:ext uri="{FF2B5EF4-FFF2-40B4-BE49-F238E27FC236}">
                <a16:creationId xmlns:a16="http://schemas.microsoft.com/office/drawing/2014/main" id="{3EF213A5-B371-BCF1-A11A-44DABA93AC96}"/>
              </a:ext>
            </a:extLst>
          </p:cNvPr>
          <p:cNvSpPr txBox="1"/>
          <p:nvPr/>
        </p:nvSpPr>
        <p:spPr>
          <a:xfrm>
            <a:off x="4139325" y="2288212"/>
            <a:ext cx="43188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1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135890" algn="l"/>
              </a:tabLst>
            </a:pPr>
            <a:r>
              <a:rPr lang="en-US" sz="11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I</a:t>
            </a:r>
            <a:r>
              <a:rPr lang="en-US" sz="1100" b="1" baseline="-25000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N</a:t>
            </a:r>
            <a:r>
              <a:rPr lang="en-US" sz="11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en-US" sz="1100" b="1" dirty="0" err="1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est</a:t>
            </a:r>
            <a:r>
              <a:rPr lang="en-US" sz="11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le courant de court-circuit </a:t>
            </a:r>
            <a:r>
              <a:rPr lang="en-US" sz="1100" b="1" dirty="0" err="1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mesuré</a:t>
            </a:r>
            <a:r>
              <a:rPr lang="en-US" sz="11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 entre A et B</a:t>
            </a:r>
            <a:endParaRPr sz="1100" dirty="0">
              <a:solidFill>
                <a:srgbClr val="FF0000"/>
              </a:solidFill>
              <a:latin typeface="Bookman Old Style" panose="020506040505050202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3548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8" grpId="0"/>
      <p:bldP spid="43" grpId="0"/>
      <p:bldP spid="44" grpId="0"/>
      <p:bldP spid="52" grpId="0"/>
      <p:bldP spid="56" grpId="0"/>
      <p:bldP spid="57" grpId="0"/>
      <p:bldP spid="58" grpId="0"/>
      <p:bldP spid="60" grpId="0"/>
      <p:bldP spid="61" grpId="0"/>
      <p:bldP spid="62" grpId="0"/>
      <p:bldP spid="37" grpId="0"/>
      <p:bldP spid="3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55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14">
            <a:extLst>
              <a:ext uri="{FF2B5EF4-FFF2-40B4-BE49-F238E27FC236}">
                <a16:creationId xmlns:a16="http://schemas.microsoft.com/office/drawing/2014/main" id="{198F7E49-08ED-6164-AC44-A89E992FFB12}"/>
              </a:ext>
            </a:extLst>
          </p:cNvPr>
          <p:cNvSpPr txBox="1"/>
          <p:nvPr/>
        </p:nvSpPr>
        <p:spPr>
          <a:xfrm>
            <a:off x="319049" y="404330"/>
            <a:ext cx="211935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u="sng" spc="-10" dirty="0">
                <a:uFill>
                  <a:solidFill>
                    <a:srgbClr val="000000"/>
                  </a:solidFill>
                </a:uFill>
                <a:latin typeface="Bookman Old Style" panose="02050604050505020204" pitchFamily="18" charset="0"/>
                <a:cs typeface="Times New Roman"/>
              </a:rPr>
              <a:t>Exemple:</a:t>
            </a:r>
            <a:endParaRPr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5DB321F4-7E7B-A635-754B-258A6388C1A8}"/>
              </a:ext>
            </a:extLst>
          </p:cNvPr>
          <p:cNvSpPr/>
          <p:nvPr/>
        </p:nvSpPr>
        <p:spPr>
          <a:xfrm>
            <a:off x="6863644" y="1994723"/>
            <a:ext cx="265430" cy="1844039"/>
          </a:xfrm>
          <a:custGeom>
            <a:avLst/>
            <a:gdLst/>
            <a:ahLst/>
            <a:cxnLst/>
            <a:rect l="l" t="t" r="r" b="b"/>
            <a:pathLst>
              <a:path w="265429" h="1844039">
                <a:moveTo>
                  <a:pt x="0" y="1438656"/>
                </a:moveTo>
                <a:lnTo>
                  <a:pt x="265175" y="1438656"/>
                </a:lnTo>
                <a:lnTo>
                  <a:pt x="265175" y="394716"/>
                </a:lnTo>
                <a:lnTo>
                  <a:pt x="0" y="394716"/>
                </a:lnTo>
                <a:lnTo>
                  <a:pt x="0" y="1438656"/>
                </a:lnTo>
                <a:close/>
              </a:path>
              <a:path w="265429" h="1844039">
                <a:moveTo>
                  <a:pt x="132587" y="1438656"/>
                </a:moveTo>
                <a:lnTo>
                  <a:pt x="132587" y="1843659"/>
                </a:lnTo>
              </a:path>
              <a:path w="265429" h="1844039">
                <a:moveTo>
                  <a:pt x="132587" y="0"/>
                </a:moveTo>
                <a:lnTo>
                  <a:pt x="132587" y="405002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100">
              <a:latin typeface="Bookman Old Style" panose="02050604050505020204" pitchFamily="18" charset="0"/>
            </a:endParaRPr>
          </a:p>
        </p:txBody>
      </p:sp>
      <p:sp>
        <p:nvSpPr>
          <p:cNvPr id="37" name="object 20">
            <a:extLst>
              <a:ext uri="{FF2B5EF4-FFF2-40B4-BE49-F238E27FC236}">
                <a16:creationId xmlns:a16="http://schemas.microsoft.com/office/drawing/2014/main" id="{3DB95312-884C-9FA5-42B4-4B06321FA788}"/>
              </a:ext>
            </a:extLst>
          </p:cNvPr>
          <p:cNvSpPr txBox="1"/>
          <p:nvPr/>
        </p:nvSpPr>
        <p:spPr>
          <a:xfrm>
            <a:off x="7840377" y="1792212"/>
            <a:ext cx="1905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A</a:t>
            </a:r>
            <a:endParaRPr sz="1100" dirty="0">
              <a:solidFill>
                <a:srgbClr val="FF0000"/>
              </a:solidFill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39" name="object 21">
            <a:extLst>
              <a:ext uri="{FF2B5EF4-FFF2-40B4-BE49-F238E27FC236}">
                <a16:creationId xmlns:a16="http://schemas.microsoft.com/office/drawing/2014/main" id="{520C4540-F584-0621-147A-F19F384DB445}"/>
              </a:ext>
            </a:extLst>
          </p:cNvPr>
          <p:cNvSpPr txBox="1"/>
          <p:nvPr/>
        </p:nvSpPr>
        <p:spPr>
          <a:xfrm>
            <a:off x="7852442" y="3838762"/>
            <a:ext cx="17843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B</a:t>
            </a:r>
            <a:endParaRPr sz="1100" dirty="0">
              <a:solidFill>
                <a:srgbClr val="FF0000"/>
              </a:solidFill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64" name="object 33">
            <a:extLst>
              <a:ext uri="{FF2B5EF4-FFF2-40B4-BE49-F238E27FC236}">
                <a16:creationId xmlns:a16="http://schemas.microsoft.com/office/drawing/2014/main" id="{19BB5A6B-9F66-418D-9036-25961935AC37}"/>
              </a:ext>
            </a:extLst>
          </p:cNvPr>
          <p:cNvSpPr txBox="1"/>
          <p:nvPr/>
        </p:nvSpPr>
        <p:spPr>
          <a:xfrm>
            <a:off x="6567258" y="2735139"/>
            <a:ext cx="27876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Bookman Old Style" panose="02050604050505020204" pitchFamily="18" charset="0"/>
                <a:cs typeface="Cambria Math"/>
              </a:rPr>
              <a:t>𝑹</a:t>
            </a:r>
            <a:r>
              <a:rPr sz="1100" spc="-37" baseline="-16666" dirty="0">
                <a:latin typeface="Bookman Old Style" panose="02050604050505020204" pitchFamily="18" charset="0"/>
                <a:cs typeface="Cambria Math"/>
              </a:rPr>
              <a:t>𝟐</a:t>
            </a:r>
            <a:endParaRPr sz="1100" baseline="-16666" dirty="0">
              <a:latin typeface="Bookman Old Style" panose="02050604050505020204" pitchFamily="18" charset="0"/>
              <a:cs typeface="Cambria Math"/>
            </a:endParaRPr>
          </a:p>
        </p:txBody>
      </p:sp>
      <p:sp>
        <p:nvSpPr>
          <p:cNvPr id="65" name="object 34">
            <a:extLst>
              <a:ext uri="{FF2B5EF4-FFF2-40B4-BE49-F238E27FC236}">
                <a16:creationId xmlns:a16="http://schemas.microsoft.com/office/drawing/2014/main" id="{D8AB1FA2-5044-BCEB-B2DC-AA5A04CE2C36}"/>
              </a:ext>
            </a:extLst>
          </p:cNvPr>
          <p:cNvSpPr txBox="1"/>
          <p:nvPr/>
        </p:nvSpPr>
        <p:spPr>
          <a:xfrm>
            <a:off x="3957351" y="2699434"/>
            <a:ext cx="1428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Bookman Old Style" panose="02050604050505020204" pitchFamily="18" charset="0"/>
                <a:cs typeface="Cambria Math"/>
              </a:rPr>
              <a:t>𝑬</a:t>
            </a:r>
            <a:endParaRPr sz="1100" dirty="0">
              <a:latin typeface="Bookman Old Style" panose="02050604050505020204" pitchFamily="18" charset="0"/>
              <a:cs typeface="Cambria Math"/>
            </a:endParaRPr>
          </a:p>
        </p:txBody>
      </p:sp>
      <p:sp>
        <p:nvSpPr>
          <p:cNvPr id="69" name="object 35">
            <a:extLst>
              <a:ext uri="{FF2B5EF4-FFF2-40B4-BE49-F238E27FC236}">
                <a16:creationId xmlns:a16="http://schemas.microsoft.com/office/drawing/2014/main" id="{B840BBCC-DF56-91CD-B4FC-23CB7B2EAB75}"/>
              </a:ext>
            </a:extLst>
          </p:cNvPr>
          <p:cNvSpPr txBox="1"/>
          <p:nvPr/>
        </p:nvSpPr>
        <p:spPr>
          <a:xfrm>
            <a:off x="8153400" y="2756117"/>
            <a:ext cx="15494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latin typeface="Bookman Old Style" panose="02050604050505020204" pitchFamily="18" charset="0"/>
                <a:cs typeface="Times New Roman"/>
              </a:rPr>
              <a:t>R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71" name="object 36">
            <a:extLst>
              <a:ext uri="{FF2B5EF4-FFF2-40B4-BE49-F238E27FC236}">
                <a16:creationId xmlns:a16="http://schemas.microsoft.com/office/drawing/2014/main" id="{59907771-301D-B3B2-C5F3-103B62024055}"/>
              </a:ext>
            </a:extLst>
          </p:cNvPr>
          <p:cNvSpPr txBox="1"/>
          <p:nvPr/>
        </p:nvSpPr>
        <p:spPr>
          <a:xfrm>
            <a:off x="5690717" y="1631863"/>
            <a:ext cx="278765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latin typeface="Bookman Old Style" panose="02050604050505020204" pitchFamily="18" charset="0"/>
                <a:cs typeface="Cambria Math"/>
              </a:rPr>
              <a:t>𝑹</a:t>
            </a:r>
            <a:r>
              <a:rPr sz="1100" spc="-37" baseline="-16666" dirty="0">
                <a:latin typeface="Bookman Old Style" panose="02050604050505020204" pitchFamily="18" charset="0"/>
                <a:cs typeface="Cambria Math"/>
              </a:rPr>
              <a:t>𝟏</a:t>
            </a:r>
            <a:endParaRPr sz="1100" baseline="-16666" dirty="0">
              <a:latin typeface="Bookman Old Style" panose="02050604050505020204" pitchFamily="18" charset="0"/>
              <a:cs typeface="Cambria Math"/>
            </a:endParaRPr>
          </a:p>
        </p:txBody>
      </p:sp>
      <p:sp>
        <p:nvSpPr>
          <p:cNvPr id="72" name="object 37">
            <a:extLst>
              <a:ext uri="{FF2B5EF4-FFF2-40B4-BE49-F238E27FC236}">
                <a16:creationId xmlns:a16="http://schemas.microsoft.com/office/drawing/2014/main" id="{70710ED4-1EF5-BD86-9E7C-FB9C964EE12C}"/>
              </a:ext>
            </a:extLst>
          </p:cNvPr>
          <p:cNvSpPr txBox="1"/>
          <p:nvPr/>
        </p:nvSpPr>
        <p:spPr>
          <a:xfrm>
            <a:off x="470654" y="971550"/>
            <a:ext cx="3883307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49935" marR="30480" indent="-712470">
              <a:lnSpc>
                <a:spcPct val="100000"/>
              </a:lnSpc>
              <a:spcBef>
                <a:spcPts val="105"/>
              </a:spcBef>
              <a:tabLst>
                <a:tab pos="1706245" algn="l"/>
              </a:tabLst>
            </a:pPr>
            <a:r>
              <a:rPr sz="1600" b="1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Étape</a:t>
            </a:r>
            <a:r>
              <a:rPr sz="1600" b="1" spc="-20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b="1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1</a:t>
            </a:r>
            <a:r>
              <a:rPr sz="1600" b="1" spc="-15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b="1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:</a:t>
            </a:r>
            <a:r>
              <a:rPr sz="1600" b="1" spc="-15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dirty="0">
                <a:latin typeface="Bookman Old Style" panose="02050604050505020204" pitchFamily="18" charset="0"/>
                <a:cs typeface="Times New Roman"/>
              </a:rPr>
              <a:t>Déterminer</a:t>
            </a:r>
            <a:r>
              <a:rPr sz="1600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dirty="0">
                <a:latin typeface="Bookman Old Style" panose="02050604050505020204" pitchFamily="18" charset="0"/>
                <a:cs typeface="Times New Roman"/>
              </a:rPr>
              <a:t>la</a:t>
            </a:r>
            <a:r>
              <a:rPr sz="1600" spc="-10" dirty="0">
                <a:latin typeface="Bookman Old Style" panose="02050604050505020204" pitchFamily="18" charset="0"/>
                <a:cs typeface="Times New Roman"/>
              </a:rPr>
              <a:t> résistance </a:t>
            </a:r>
            <a:r>
              <a:rPr sz="1600" dirty="0">
                <a:latin typeface="Bookman Old Style" panose="02050604050505020204" pitchFamily="18" charset="0"/>
                <a:cs typeface="Times New Roman"/>
              </a:rPr>
              <a:t>de</a:t>
            </a:r>
            <a:r>
              <a:rPr sz="1600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spc="-10" dirty="0">
                <a:latin typeface="Bookman Old Style" panose="02050604050505020204" pitchFamily="18" charset="0"/>
                <a:cs typeface="Times New Roman"/>
              </a:rPr>
              <a:t>Norton</a:t>
            </a:r>
            <a:r>
              <a:rPr lang="fr-FR" sz="1600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b="1" spc="-20" dirty="0">
                <a:latin typeface="Bookman Old Style" panose="02050604050505020204" pitchFamily="18" charset="0"/>
                <a:cs typeface="Cambria Math"/>
              </a:rPr>
              <a:t>(𝑹</a:t>
            </a:r>
            <a:r>
              <a:rPr sz="1600" b="1" spc="-30" baseline="-16666" dirty="0">
                <a:latin typeface="Bookman Old Style" panose="02050604050505020204" pitchFamily="18" charset="0"/>
                <a:cs typeface="Cambria Math"/>
              </a:rPr>
              <a:t>𝑵</a:t>
            </a:r>
            <a:r>
              <a:rPr sz="1600" b="1" spc="-20" dirty="0">
                <a:latin typeface="Bookman Old Style" panose="02050604050505020204" pitchFamily="18" charset="0"/>
                <a:cs typeface="Times New Roman"/>
              </a:rPr>
              <a:t>)</a:t>
            </a:r>
            <a:endParaRPr sz="1600" b="1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73" name="object 38">
            <a:extLst>
              <a:ext uri="{FF2B5EF4-FFF2-40B4-BE49-F238E27FC236}">
                <a16:creationId xmlns:a16="http://schemas.microsoft.com/office/drawing/2014/main" id="{2076C28B-26A6-DD05-5672-A9A0595B4128}"/>
              </a:ext>
            </a:extLst>
          </p:cNvPr>
          <p:cNvSpPr txBox="1"/>
          <p:nvPr/>
        </p:nvSpPr>
        <p:spPr>
          <a:xfrm>
            <a:off x="493172" y="1673630"/>
            <a:ext cx="360705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algn="just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Étape</a:t>
            </a:r>
            <a:r>
              <a:rPr sz="1600" b="1" spc="-20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b="1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2</a:t>
            </a:r>
            <a:r>
              <a:rPr sz="1600" b="1" spc="-15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b="1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:</a:t>
            </a:r>
            <a:r>
              <a:rPr sz="1600" b="1" spc="-15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dirty="0">
                <a:latin typeface="Bookman Old Style" panose="02050604050505020204" pitchFamily="18" charset="0"/>
                <a:cs typeface="Times New Roman"/>
              </a:rPr>
              <a:t>Déterminer</a:t>
            </a:r>
            <a:r>
              <a:rPr sz="1600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dirty="0">
                <a:latin typeface="Bookman Old Style" panose="02050604050505020204" pitchFamily="18" charset="0"/>
                <a:cs typeface="Times New Roman"/>
              </a:rPr>
              <a:t>le</a:t>
            </a:r>
            <a:r>
              <a:rPr sz="1600" spc="-10" dirty="0">
                <a:latin typeface="Bookman Old Style" panose="02050604050505020204" pitchFamily="18" charset="0"/>
                <a:cs typeface="Times New Roman"/>
              </a:rPr>
              <a:t> courant</a:t>
            </a:r>
            <a:r>
              <a:rPr lang="fr-FR" sz="1600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dirty="0">
                <a:latin typeface="Bookman Old Style" panose="02050604050505020204" pitchFamily="18" charset="0"/>
                <a:cs typeface="Times New Roman"/>
              </a:rPr>
              <a:t>de </a:t>
            </a:r>
            <a:r>
              <a:rPr lang="fr-FR" sz="1600" dirty="0">
                <a:latin typeface="Bookman Old Style" panose="02050604050505020204" pitchFamily="18" charset="0"/>
                <a:cs typeface="Times New Roman"/>
              </a:rPr>
              <a:t>   </a:t>
            </a:r>
            <a:r>
              <a:rPr sz="1600" dirty="0">
                <a:latin typeface="Bookman Old Style" panose="02050604050505020204" pitchFamily="18" charset="0"/>
                <a:cs typeface="Times New Roman"/>
              </a:rPr>
              <a:t>Norton</a:t>
            </a:r>
            <a:r>
              <a:rPr lang="fr-FR" sz="160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fr-FR" sz="1600" b="1" spc="-20" dirty="0">
                <a:latin typeface="Bookman Old Style" panose="02050604050505020204" pitchFamily="18" charset="0"/>
                <a:cs typeface="Cambria Math"/>
              </a:rPr>
              <a:t>(I</a:t>
            </a:r>
            <a:r>
              <a:rPr lang="fr-FR" sz="1600" b="1" spc="-30" baseline="-16666" dirty="0">
                <a:latin typeface="Bookman Old Style" panose="02050604050505020204" pitchFamily="18" charset="0"/>
                <a:cs typeface="Cambria Math"/>
              </a:rPr>
              <a:t>𝑵</a:t>
            </a:r>
            <a:r>
              <a:rPr lang="fr-FR" sz="1600" b="1" spc="-20" dirty="0">
                <a:latin typeface="Bookman Old Style" panose="02050604050505020204" pitchFamily="18" charset="0"/>
                <a:cs typeface="Times New Roman"/>
              </a:rPr>
              <a:t>)</a:t>
            </a:r>
            <a:endParaRPr sz="1600" b="1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84" name="object 49">
            <a:extLst>
              <a:ext uri="{FF2B5EF4-FFF2-40B4-BE49-F238E27FC236}">
                <a16:creationId xmlns:a16="http://schemas.microsoft.com/office/drawing/2014/main" id="{454FC061-15D4-D008-C1A2-D310341A0E31}"/>
              </a:ext>
            </a:extLst>
          </p:cNvPr>
          <p:cNvSpPr txBox="1"/>
          <p:nvPr/>
        </p:nvSpPr>
        <p:spPr>
          <a:xfrm>
            <a:off x="7129074" y="1742002"/>
            <a:ext cx="30289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C00000"/>
                </a:solidFill>
                <a:latin typeface="Bookman Old Style" panose="02050604050505020204" pitchFamily="18" charset="0"/>
                <a:cs typeface="Cambria Math"/>
              </a:rPr>
              <a:t>𝑰</a:t>
            </a:r>
            <a:r>
              <a:rPr sz="1100" spc="-37" baseline="-14957" dirty="0">
                <a:solidFill>
                  <a:srgbClr val="C00000"/>
                </a:solidFill>
                <a:latin typeface="Bookman Old Style" panose="02050604050505020204" pitchFamily="18" charset="0"/>
                <a:cs typeface="Cambria Math"/>
              </a:rPr>
              <a:t>𝑵</a:t>
            </a:r>
            <a:endParaRPr sz="1100" baseline="-14957" dirty="0">
              <a:solidFill>
                <a:srgbClr val="C00000"/>
              </a:solidFill>
              <a:latin typeface="Bookman Old Style" panose="02050604050505020204" pitchFamily="18" charset="0"/>
              <a:cs typeface="Cambria Math"/>
            </a:endParaRPr>
          </a:p>
        </p:txBody>
      </p:sp>
      <p:sp>
        <p:nvSpPr>
          <p:cNvPr id="87" name="object 53">
            <a:extLst>
              <a:ext uri="{FF2B5EF4-FFF2-40B4-BE49-F238E27FC236}">
                <a16:creationId xmlns:a16="http://schemas.microsoft.com/office/drawing/2014/main" id="{F54E70D2-ACA8-ACF1-72FE-8E0261F34E37}"/>
              </a:ext>
            </a:extLst>
          </p:cNvPr>
          <p:cNvSpPr/>
          <p:nvPr/>
        </p:nvSpPr>
        <p:spPr>
          <a:xfrm>
            <a:off x="3799865" y="2126407"/>
            <a:ext cx="173990" cy="1639570"/>
          </a:xfrm>
          <a:custGeom>
            <a:avLst/>
            <a:gdLst/>
            <a:ahLst/>
            <a:cxnLst/>
            <a:rect l="l" t="t" r="r" b="b"/>
            <a:pathLst>
              <a:path w="173989" h="1639570">
                <a:moveTo>
                  <a:pt x="115823" y="144780"/>
                </a:moveTo>
                <a:lnTo>
                  <a:pt x="57912" y="144780"/>
                </a:lnTo>
                <a:lnTo>
                  <a:pt x="57912" y="1639189"/>
                </a:lnTo>
                <a:lnTo>
                  <a:pt x="115823" y="1639189"/>
                </a:lnTo>
                <a:lnTo>
                  <a:pt x="115823" y="144780"/>
                </a:lnTo>
                <a:close/>
              </a:path>
              <a:path w="173989" h="1639570">
                <a:moveTo>
                  <a:pt x="86867" y="0"/>
                </a:moveTo>
                <a:lnTo>
                  <a:pt x="0" y="173736"/>
                </a:lnTo>
                <a:lnTo>
                  <a:pt x="57912" y="173736"/>
                </a:lnTo>
                <a:lnTo>
                  <a:pt x="57912" y="144780"/>
                </a:lnTo>
                <a:lnTo>
                  <a:pt x="159257" y="144780"/>
                </a:lnTo>
                <a:lnTo>
                  <a:pt x="86867" y="0"/>
                </a:lnTo>
                <a:close/>
              </a:path>
              <a:path w="173989" h="1639570">
                <a:moveTo>
                  <a:pt x="159257" y="144780"/>
                </a:moveTo>
                <a:lnTo>
                  <a:pt x="115823" y="144780"/>
                </a:lnTo>
                <a:lnTo>
                  <a:pt x="115823" y="173736"/>
                </a:lnTo>
                <a:lnTo>
                  <a:pt x="173735" y="173736"/>
                </a:lnTo>
                <a:lnTo>
                  <a:pt x="159257" y="144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>
              <a:latin typeface="Bookman Old Style" panose="02050604050505020204" pitchFamily="18" charset="0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8EE6D1D-C83E-2CFC-55A6-36A69364A05A}"/>
              </a:ext>
            </a:extLst>
          </p:cNvPr>
          <p:cNvSpPr/>
          <p:nvPr/>
        </p:nvSpPr>
        <p:spPr>
          <a:xfrm>
            <a:off x="4118376" y="2555287"/>
            <a:ext cx="533400" cy="47692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C92F5500-F317-4483-A2FD-8E3D4A863049}"/>
              </a:ext>
            </a:extLst>
          </p:cNvPr>
          <p:cNvCxnSpPr>
            <a:cxnSpLocks/>
          </p:cNvCxnSpPr>
          <p:nvPr/>
        </p:nvCxnSpPr>
        <p:spPr>
          <a:xfrm>
            <a:off x="4396611" y="3028950"/>
            <a:ext cx="0" cy="80981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3EED9B0E-3263-6CEE-DC68-C22EED07C7F3}"/>
              </a:ext>
            </a:extLst>
          </p:cNvPr>
          <p:cNvCxnSpPr>
            <a:cxnSpLocks/>
          </p:cNvCxnSpPr>
          <p:nvPr/>
        </p:nvCxnSpPr>
        <p:spPr>
          <a:xfrm flipH="1">
            <a:off x="4385076" y="3845294"/>
            <a:ext cx="261128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DCB8F9F-8A97-A1AE-0737-3E2C3EBB68CD}"/>
              </a:ext>
            </a:extLst>
          </p:cNvPr>
          <p:cNvCxnSpPr>
            <a:cxnSpLocks/>
            <a:endCxn id="88" idx="0"/>
          </p:cNvCxnSpPr>
          <p:nvPr/>
        </p:nvCxnSpPr>
        <p:spPr>
          <a:xfrm flipH="1">
            <a:off x="4385076" y="1994723"/>
            <a:ext cx="11535" cy="5605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bject 2">
            <a:extLst>
              <a:ext uri="{FF2B5EF4-FFF2-40B4-BE49-F238E27FC236}">
                <a16:creationId xmlns:a16="http://schemas.microsoft.com/office/drawing/2014/main" id="{19D570B0-8FCF-3DA6-6ED1-BBB34B6CCF31}"/>
              </a:ext>
            </a:extLst>
          </p:cNvPr>
          <p:cNvSpPr/>
          <p:nvPr/>
        </p:nvSpPr>
        <p:spPr>
          <a:xfrm rot="5400000">
            <a:off x="5974481" y="1094279"/>
            <a:ext cx="265430" cy="1844039"/>
          </a:xfrm>
          <a:custGeom>
            <a:avLst/>
            <a:gdLst/>
            <a:ahLst/>
            <a:cxnLst/>
            <a:rect l="l" t="t" r="r" b="b"/>
            <a:pathLst>
              <a:path w="265429" h="1844039">
                <a:moveTo>
                  <a:pt x="0" y="1438656"/>
                </a:moveTo>
                <a:lnTo>
                  <a:pt x="265175" y="1438656"/>
                </a:lnTo>
                <a:lnTo>
                  <a:pt x="265175" y="394716"/>
                </a:lnTo>
                <a:lnTo>
                  <a:pt x="0" y="394716"/>
                </a:lnTo>
                <a:lnTo>
                  <a:pt x="0" y="1438656"/>
                </a:lnTo>
                <a:close/>
              </a:path>
              <a:path w="265429" h="1844039">
                <a:moveTo>
                  <a:pt x="132587" y="1438656"/>
                </a:moveTo>
                <a:lnTo>
                  <a:pt x="132587" y="1843659"/>
                </a:lnTo>
              </a:path>
              <a:path w="265429" h="1844039">
                <a:moveTo>
                  <a:pt x="132587" y="0"/>
                </a:moveTo>
                <a:lnTo>
                  <a:pt x="132587" y="405002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100">
              <a:latin typeface="Bookman Old Style" panose="02050604050505020204" pitchFamily="18" charset="0"/>
            </a:endParaRP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4433585-B6AF-3BC4-2F77-7CCEDF693478}"/>
              </a:ext>
            </a:extLst>
          </p:cNvPr>
          <p:cNvCxnSpPr>
            <a:cxnSpLocks/>
          </p:cNvCxnSpPr>
          <p:nvPr/>
        </p:nvCxnSpPr>
        <p:spPr>
          <a:xfrm flipH="1">
            <a:off x="4385076" y="2016241"/>
            <a:ext cx="87272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AC5EB2A-E74B-2FA4-5A03-7F2BC3F39912}"/>
              </a:ext>
            </a:extLst>
          </p:cNvPr>
          <p:cNvCxnSpPr>
            <a:cxnSpLocks/>
          </p:cNvCxnSpPr>
          <p:nvPr/>
        </p:nvCxnSpPr>
        <p:spPr>
          <a:xfrm flipH="1">
            <a:off x="6996359" y="2010605"/>
            <a:ext cx="8001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F23F1B9-8213-3A55-EB45-71E4DDC94430}"/>
              </a:ext>
            </a:extLst>
          </p:cNvPr>
          <p:cNvCxnSpPr>
            <a:cxnSpLocks/>
          </p:cNvCxnSpPr>
          <p:nvPr/>
        </p:nvCxnSpPr>
        <p:spPr>
          <a:xfrm flipH="1">
            <a:off x="6996359" y="3849442"/>
            <a:ext cx="8001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bject 2">
            <a:extLst>
              <a:ext uri="{FF2B5EF4-FFF2-40B4-BE49-F238E27FC236}">
                <a16:creationId xmlns:a16="http://schemas.microsoft.com/office/drawing/2014/main" id="{E1CA6487-CC56-8A5C-8A24-B001E6B326A2}"/>
              </a:ext>
            </a:extLst>
          </p:cNvPr>
          <p:cNvSpPr/>
          <p:nvPr/>
        </p:nvSpPr>
        <p:spPr>
          <a:xfrm>
            <a:off x="7638825" y="1994722"/>
            <a:ext cx="287395" cy="1850572"/>
          </a:xfrm>
          <a:custGeom>
            <a:avLst/>
            <a:gdLst/>
            <a:ahLst/>
            <a:cxnLst/>
            <a:rect l="l" t="t" r="r" b="b"/>
            <a:pathLst>
              <a:path w="265429" h="1844039">
                <a:moveTo>
                  <a:pt x="0" y="1438656"/>
                </a:moveTo>
                <a:lnTo>
                  <a:pt x="265175" y="1438656"/>
                </a:lnTo>
                <a:lnTo>
                  <a:pt x="265175" y="394716"/>
                </a:lnTo>
                <a:lnTo>
                  <a:pt x="0" y="394716"/>
                </a:lnTo>
                <a:lnTo>
                  <a:pt x="0" y="1438656"/>
                </a:lnTo>
                <a:close/>
              </a:path>
              <a:path w="265429" h="1844039">
                <a:moveTo>
                  <a:pt x="132587" y="1438656"/>
                </a:moveTo>
                <a:lnTo>
                  <a:pt x="132587" y="1843659"/>
                </a:lnTo>
              </a:path>
              <a:path w="265429" h="1844039">
                <a:moveTo>
                  <a:pt x="132587" y="0"/>
                </a:moveTo>
                <a:lnTo>
                  <a:pt x="132587" y="405002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100">
              <a:latin typeface="Bookman Old Style" panose="02050604050505020204" pitchFamily="18" charset="0"/>
            </a:endParaRPr>
          </a:p>
        </p:txBody>
      </p:sp>
      <p:sp>
        <p:nvSpPr>
          <p:cNvPr id="116" name="Half Frame 115">
            <a:extLst>
              <a:ext uri="{FF2B5EF4-FFF2-40B4-BE49-F238E27FC236}">
                <a16:creationId xmlns:a16="http://schemas.microsoft.com/office/drawing/2014/main" id="{A4D75AA0-3921-B49B-47EC-EF7DB5B23D22}"/>
              </a:ext>
            </a:extLst>
          </p:cNvPr>
          <p:cNvSpPr/>
          <p:nvPr/>
        </p:nvSpPr>
        <p:spPr>
          <a:xfrm rot="8433411">
            <a:off x="7322246" y="1955000"/>
            <a:ext cx="121718" cy="126974"/>
          </a:xfrm>
          <a:prstGeom prst="halfFram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E04F943-4DB1-B3C7-3095-4E7F3E4D77D5}"/>
              </a:ext>
            </a:extLst>
          </p:cNvPr>
          <p:cNvCxnSpPr>
            <a:cxnSpLocks/>
            <a:endCxn id="88" idx="4"/>
          </p:cNvCxnSpPr>
          <p:nvPr/>
        </p:nvCxnSpPr>
        <p:spPr>
          <a:xfrm flipH="1">
            <a:off x="4385076" y="2488226"/>
            <a:ext cx="11535" cy="54399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DFF681D-9ECF-885C-F027-08ACB74CBCFB}"/>
                  </a:ext>
                </a:extLst>
              </p:cNvPr>
              <p:cNvSpPr txBox="1"/>
              <p:nvPr/>
            </p:nvSpPr>
            <p:spPr>
              <a:xfrm>
                <a:off x="1398587" y="4156777"/>
                <a:ext cx="1497013" cy="563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DFF681D-9ECF-885C-F027-08ACB74CB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587" y="4156777"/>
                <a:ext cx="1497013" cy="5638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EBE6A4D0-BE14-B78F-2E03-C20D02F69A58}"/>
              </a:ext>
            </a:extLst>
          </p:cNvPr>
          <p:cNvCxnSpPr>
            <a:cxnSpLocks/>
          </p:cNvCxnSpPr>
          <p:nvPr/>
        </p:nvCxnSpPr>
        <p:spPr>
          <a:xfrm>
            <a:off x="7788070" y="2010605"/>
            <a:ext cx="0" cy="18346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Half Frame 124">
            <a:extLst>
              <a:ext uri="{FF2B5EF4-FFF2-40B4-BE49-F238E27FC236}">
                <a16:creationId xmlns:a16="http://schemas.microsoft.com/office/drawing/2014/main" id="{46D635E8-5BBA-1215-9088-78F54020A69E}"/>
              </a:ext>
            </a:extLst>
          </p:cNvPr>
          <p:cNvSpPr/>
          <p:nvPr/>
        </p:nvSpPr>
        <p:spPr>
          <a:xfrm rot="13660986">
            <a:off x="7735599" y="2137032"/>
            <a:ext cx="121718" cy="126974"/>
          </a:xfrm>
          <a:prstGeom prst="halfFram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26" name="object 49">
            <a:extLst>
              <a:ext uri="{FF2B5EF4-FFF2-40B4-BE49-F238E27FC236}">
                <a16:creationId xmlns:a16="http://schemas.microsoft.com/office/drawing/2014/main" id="{C69BDE03-97E2-895E-DA6A-B59BEC3B3622}"/>
              </a:ext>
            </a:extLst>
          </p:cNvPr>
          <p:cNvSpPr txBox="1"/>
          <p:nvPr/>
        </p:nvSpPr>
        <p:spPr>
          <a:xfrm>
            <a:off x="4871795" y="1673630"/>
            <a:ext cx="30289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0000FF"/>
                </a:solidFill>
                <a:latin typeface="Bookman Old Style" panose="02050604050505020204" pitchFamily="18" charset="0"/>
                <a:cs typeface="Cambria Math"/>
              </a:rPr>
              <a:t>𝑰</a:t>
            </a:r>
            <a:r>
              <a:rPr sz="1100" spc="-37" baseline="-14957" dirty="0">
                <a:solidFill>
                  <a:srgbClr val="0000FF"/>
                </a:solidFill>
                <a:latin typeface="Bookman Old Style" panose="02050604050505020204" pitchFamily="18" charset="0"/>
                <a:cs typeface="Cambria Math"/>
              </a:rPr>
              <a:t>𝑵</a:t>
            </a:r>
            <a:endParaRPr sz="1100" baseline="-14957" dirty="0">
              <a:solidFill>
                <a:srgbClr val="0000FF"/>
              </a:solidFill>
              <a:latin typeface="Bookman Old Style" panose="02050604050505020204" pitchFamily="18" charset="0"/>
              <a:cs typeface="Cambria Math"/>
            </a:endParaRPr>
          </a:p>
        </p:txBody>
      </p:sp>
      <p:sp>
        <p:nvSpPr>
          <p:cNvPr id="127" name="Half Frame 126">
            <a:extLst>
              <a:ext uri="{FF2B5EF4-FFF2-40B4-BE49-F238E27FC236}">
                <a16:creationId xmlns:a16="http://schemas.microsoft.com/office/drawing/2014/main" id="{2BE7794F-49C1-CC5A-308C-E3620975E8DC}"/>
              </a:ext>
            </a:extLst>
          </p:cNvPr>
          <p:cNvSpPr/>
          <p:nvPr/>
        </p:nvSpPr>
        <p:spPr>
          <a:xfrm rot="8433411">
            <a:off x="5073500" y="1947118"/>
            <a:ext cx="121718" cy="126974"/>
          </a:xfrm>
          <a:prstGeom prst="halfFram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898FCB18-6E55-8181-6A94-6C624FAC0B38}"/>
                  </a:ext>
                </a:extLst>
              </p:cNvPr>
              <p:cNvSpPr txBox="1"/>
              <p:nvPr/>
            </p:nvSpPr>
            <p:spPr>
              <a:xfrm>
                <a:off x="3164384" y="4110611"/>
                <a:ext cx="4618138" cy="656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898FCB18-6E55-8181-6A94-6C624FAC0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384" y="4110611"/>
                <a:ext cx="4618138" cy="6562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477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5" grpId="1"/>
      <p:bldP spid="69" grpId="0"/>
      <p:bldP spid="72" grpId="0"/>
      <p:bldP spid="73" grpId="0"/>
      <p:bldP spid="84" grpId="0"/>
      <p:bldP spid="87" grpId="0" animBg="1"/>
      <p:bldP spid="87" grpId="1" animBg="1"/>
      <p:bldP spid="88" grpId="0" animBg="1"/>
      <p:bldP spid="88" grpId="1" animBg="1"/>
      <p:bldP spid="115" grpId="0" animBg="1"/>
      <p:bldP spid="116" grpId="0" animBg="1"/>
      <p:bldP spid="122" grpId="0"/>
      <p:bldP spid="125" grpId="0" animBg="1"/>
      <p:bldP spid="126" grpId="0"/>
      <p:bldP spid="12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56</a:t>
            </a:fld>
            <a:endParaRPr sz="2400" dirty="0">
              <a:latin typeface="Arial"/>
              <a:cs typeface="Arial"/>
            </a:endParaRPr>
          </a:p>
        </p:txBody>
      </p:sp>
      <p:grpSp>
        <p:nvGrpSpPr>
          <p:cNvPr id="3" name="object 14">
            <a:extLst>
              <a:ext uri="{FF2B5EF4-FFF2-40B4-BE49-F238E27FC236}">
                <a16:creationId xmlns:a16="http://schemas.microsoft.com/office/drawing/2014/main" id="{B2BC643A-8499-51E7-92B6-A1ABEF723F8E}"/>
              </a:ext>
            </a:extLst>
          </p:cNvPr>
          <p:cNvGrpSpPr/>
          <p:nvPr/>
        </p:nvGrpSpPr>
        <p:grpSpPr>
          <a:xfrm>
            <a:off x="4379721" y="1949195"/>
            <a:ext cx="1910080" cy="1976755"/>
            <a:chOff x="4379721" y="1949195"/>
            <a:chExt cx="1910080" cy="1976755"/>
          </a:xfrm>
        </p:grpSpPr>
        <p:sp>
          <p:nvSpPr>
            <p:cNvPr id="11" name="object 15">
              <a:extLst>
                <a:ext uri="{FF2B5EF4-FFF2-40B4-BE49-F238E27FC236}">
                  <a16:creationId xmlns:a16="http://schemas.microsoft.com/office/drawing/2014/main" id="{5CF9CB86-57FA-1B74-1874-2D53E77799AB}"/>
                </a:ext>
              </a:extLst>
            </p:cNvPr>
            <p:cNvSpPr/>
            <p:nvPr/>
          </p:nvSpPr>
          <p:spPr>
            <a:xfrm>
              <a:off x="4408931" y="2023871"/>
              <a:ext cx="1851660" cy="1852930"/>
            </a:xfrm>
            <a:custGeom>
              <a:avLst/>
              <a:gdLst/>
              <a:ahLst/>
              <a:cxnLst/>
              <a:rect l="l" t="t" r="r" b="b"/>
              <a:pathLst>
                <a:path w="1851660" h="1852929">
                  <a:moveTo>
                    <a:pt x="1586483" y="1447800"/>
                  </a:moveTo>
                  <a:lnTo>
                    <a:pt x="1851659" y="1447800"/>
                  </a:lnTo>
                  <a:lnTo>
                    <a:pt x="1851659" y="405384"/>
                  </a:lnTo>
                  <a:lnTo>
                    <a:pt x="1586483" y="405384"/>
                  </a:lnTo>
                  <a:lnTo>
                    <a:pt x="1586483" y="1447800"/>
                  </a:lnTo>
                  <a:close/>
                </a:path>
                <a:path w="1851660" h="1852929">
                  <a:moveTo>
                    <a:pt x="0" y="12191"/>
                  </a:moveTo>
                  <a:lnTo>
                    <a:pt x="1743075" y="12191"/>
                  </a:lnTo>
                </a:path>
                <a:path w="1851660" h="1852929">
                  <a:moveTo>
                    <a:pt x="10667" y="1831847"/>
                  </a:moveTo>
                  <a:lnTo>
                    <a:pt x="1753742" y="1831847"/>
                  </a:lnTo>
                </a:path>
                <a:path w="1851660" h="1852929">
                  <a:moveTo>
                    <a:pt x="1719071" y="0"/>
                  </a:moveTo>
                  <a:lnTo>
                    <a:pt x="1719071" y="405002"/>
                  </a:lnTo>
                </a:path>
                <a:path w="1851660" h="1852929">
                  <a:moveTo>
                    <a:pt x="1719071" y="1447800"/>
                  </a:moveTo>
                  <a:lnTo>
                    <a:pt x="1719071" y="1852815"/>
                  </a:lnTo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  <p:pic>
          <p:nvPicPr>
            <p:cNvPr id="12" name="object 16">
              <a:extLst>
                <a:ext uri="{FF2B5EF4-FFF2-40B4-BE49-F238E27FC236}">
                  <a16:creationId xmlns:a16="http://schemas.microsoft.com/office/drawing/2014/main" id="{8E2BAC22-9337-D9F4-5673-5CCED6B7C73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22847" y="1949195"/>
              <a:ext cx="184403" cy="143256"/>
            </a:xfrm>
            <a:prstGeom prst="rect">
              <a:avLst/>
            </a:prstGeom>
          </p:spPr>
        </p:pic>
        <p:pic>
          <p:nvPicPr>
            <p:cNvPr id="16" name="object 17">
              <a:extLst>
                <a:ext uri="{FF2B5EF4-FFF2-40B4-BE49-F238E27FC236}">
                  <a16:creationId xmlns:a16="http://schemas.microsoft.com/office/drawing/2014/main" id="{DE939876-7BAE-EDD3-68B6-ADB3A0DD4BB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5039" y="3782567"/>
              <a:ext cx="184404" cy="143256"/>
            </a:xfrm>
            <a:prstGeom prst="rect">
              <a:avLst/>
            </a:prstGeom>
          </p:spPr>
        </p:pic>
      </p:grpSp>
      <p:sp>
        <p:nvSpPr>
          <p:cNvPr id="17" name="object 18">
            <a:extLst>
              <a:ext uri="{FF2B5EF4-FFF2-40B4-BE49-F238E27FC236}">
                <a16:creationId xmlns:a16="http://schemas.microsoft.com/office/drawing/2014/main" id="{F36FFEED-4058-C66D-401D-C896F8FFC407}"/>
              </a:ext>
            </a:extLst>
          </p:cNvPr>
          <p:cNvSpPr txBox="1"/>
          <p:nvPr/>
        </p:nvSpPr>
        <p:spPr>
          <a:xfrm>
            <a:off x="6072378" y="1624329"/>
            <a:ext cx="1905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Bookman Old Style" panose="02050604050505020204" pitchFamily="18" charset="0"/>
                <a:cs typeface="Times New Roman"/>
              </a:rPr>
              <a:t>A</a:t>
            </a:r>
            <a:endParaRPr sz="110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D6D64AD9-192D-2526-73EE-58D6ADE25C23}"/>
              </a:ext>
            </a:extLst>
          </p:cNvPr>
          <p:cNvSpPr txBox="1"/>
          <p:nvPr/>
        </p:nvSpPr>
        <p:spPr>
          <a:xfrm>
            <a:off x="6079363" y="3943603"/>
            <a:ext cx="17843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Bookman Old Style" panose="02050604050505020204" pitchFamily="18" charset="0"/>
                <a:cs typeface="Times New Roman"/>
              </a:rPr>
              <a:t>B</a:t>
            </a:r>
            <a:endParaRPr sz="110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4DA7BA43-85D1-7259-F4C1-05F7F26A95E8}"/>
              </a:ext>
            </a:extLst>
          </p:cNvPr>
          <p:cNvSpPr txBox="1"/>
          <p:nvPr/>
        </p:nvSpPr>
        <p:spPr>
          <a:xfrm>
            <a:off x="6448425" y="2817114"/>
            <a:ext cx="15430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Bookman Old Style" panose="02050604050505020204" pitchFamily="18" charset="0"/>
                <a:cs typeface="Times New Roman"/>
              </a:rPr>
              <a:t>R</a:t>
            </a:r>
            <a:endParaRPr sz="110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4BEB72CD-26C5-C95C-82EE-081A177ECFC9}"/>
              </a:ext>
            </a:extLst>
          </p:cNvPr>
          <p:cNvSpPr txBox="1"/>
          <p:nvPr/>
        </p:nvSpPr>
        <p:spPr>
          <a:xfrm>
            <a:off x="4417821" y="2755773"/>
            <a:ext cx="29972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Bookman Old Style" panose="02050604050505020204" pitchFamily="18" charset="0"/>
                <a:cs typeface="Cambria Math"/>
              </a:rPr>
              <a:t>𝑹</a:t>
            </a:r>
            <a:r>
              <a:rPr sz="1100" spc="-37" baseline="-16666" dirty="0">
                <a:latin typeface="Bookman Old Style" panose="02050604050505020204" pitchFamily="18" charset="0"/>
                <a:cs typeface="Cambria Math"/>
              </a:rPr>
              <a:t>𝑵</a:t>
            </a:r>
            <a:endParaRPr sz="1100" baseline="-16666">
              <a:latin typeface="Bookman Old Style" panose="02050604050505020204" pitchFamily="18" charset="0"/>
              <a:cs typeface="Cambria Math"/>
            </a:endParaRPr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9F885394-728E-B893-7B2A-B19DDA703B87}"/>
              </a:ext>
            </a:extLst>
          </p:cNvPr>
          <p:cNvSpPr txBox="1"/>
          <p:nvPr/>
        </p:nvSpPr>
        <p:spPr>
          <a:xfrm>
            <a:off x="914400" y="895350"/>
            <a:ext cx="5305043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Étape</a:t>
            </a:r>
            <a:r>
              <a:rPr sz="1600" b="1" spc="-25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b="1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3</a:t>
            </a:r>
            <a:r>
              <a:rPr sz="1600" b="1" spc="-20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b="1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:</a:t>
            </a:r>
            <a:r>
              <a:rPr sz="1600" b="1" spc="-15" dirty="0">
                <a:solidFill>
                  <a:srgbClr val="3333FF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dirty="0">
                <a:latin typeface="Bookman Old Style" panose="02050604050505020204" pitchFamily="18" charset="0"/>
                <a:cs typeface="Times New Roman"/>
              </a:rPr>
              <a:t>Former</a:t>
            </a:r>
            <a:r>
              <a:rPr sz="1600" spc="-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dirty="0">
                <a:latin typeface="Bookman Old Style" panose="02050604050505020204" pitchFamily="18" charset="0"/>
                <a:cs typeface="Times New Roman"/>
              </a:rPr>
              <a:t>mon</a:t>
            </a:r>
            <a:r>
              <a:rPr sz="1600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dirty="0">
                <a:latin typeface="Bookman Old Style" panose="02050604050505020204" pitchFamily="18" charset="0"/>
                <a:cs typeface="Times New Roman"/>
              </a:rPr>
              <a:t>circuit</a:t>
            </a:r>
            <a:r>
              <a:rPr sz="1600" spc="-4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600" spc="-10" dirty="0">
                <a:latin typeface="Bookman Old Style" panose="02050604050505020204" pitchFamily="18" charset="0"/>
                <a:cs typeface="Times New Roman"/>
              </a:rPr>
              <a:t>équivalent</a:t>
            </a:r>
            <a:endParaRPr sz="1600" dirty="0">
              <a:latin typeface="Bookman Old Style" panose="02050604050505020204" pitchFamily="18" charset="0"/>
              <a:cs typeface="Times New Roman"/>
            </a:endParaRPr>
          </a:p>
        </p:txBody>
      </p:sp>
      <p:grpSp>
        <p:nvGrpSpPr>
          <p:cNvPr id="24" name="object 24">
            <a:extLst>
              <a:ext uri="{FF2B5EF4-FFF2-40B4-BE49-F238E27FC236}">
                <a16:creationId xmlns:a16="http://schemas.microsoft.com/office/drawing/2014/main" id="{ACB27020-A2DD-C4AA-4F84-5D6154DB2CC3}"/>
              </a:ext>
            </a:extLst>
          </p:cNvPr>
          <p:cNvGrpSpPr/>
          <p:nvPr/>
        </p:nvGrpSpPr>
        <p:grpSpPr>
          <a:xfrm>
            <a:off x="2892551" y="1985772"/>
            <a:ext cx="1577340" cy="1902460"/>
            <a:chOff x="2892551" y="1985772"/>
            <a:chExt cx="1577340" cy="1902460"/>
          </a:xfrm>
        </p:grpSpPr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BF74CE34-3133-7629-08A7-9E4F9AC215DC}"/>
                </a:ext>
              </a:extLst>
            </p:cNvPr>
            <p:cNvSpPr/>
            <p:nvPr/>
          </p:nvSpPr>
          <p:spPr>
            <a:xfrm>
              <a:off x="2921507" y="2014728"/>
              <a:ext cx="1518920" cy="1862455"/>
            </a:xfrm>
            <a:custGeom>
              <a:avLst/>
              <a:gdLst/>
              <a:ahLst/>
              <a:cxnLst/>
              <a:rect l="l" t="t" r="r" b="b"/>
              <a:pathLst>
                <a:path w="1518920" h="1862454">
                  <a:moveTo>
                    <a:pt x="181356" y="0"/>
                  </a:moveTo>
                  <a:lnTo>
                    <a:pt x="183134" y="1844294"/>
                  </a:lnTo>
                </a:path>
                <a:path w="1518920" h="1862454">
                  <a:moveTo>
                    <a:pt x="0" y="936498"/>
                  </a:moveTo>
                  <a:lnTo>
                    <a:pt x="6261" y="894984"/>
                  </a:lnTo>
                  <a:lnTo>
                    <a:pt x="23932" y="857673"/>
                  </a:lnTo>
                  <a:lnTo>
                    <a:pt x="51339" y="826055"/>
                  </a:lnTo>
                  <a:lnTo>
                    <a:pt x="86811" y="801624"/>
                  </a:lnTo>
                  <a:lnTo>
                    <a:pt x="128675" y="785870"/>
                  </a:lnTo>
                  <a:lnTo>
                    <a:pt x="175260" y="780288"/>
                  </a:lnTo>
                  <a:lnTo>
                    <a:pt x="221844" y="785870"/>
                  </a:lnTo>
                  <a:lnTo>
                    <a:pt x="263708" y="801624"/>
                  </a:lnTo>
                  <a:lnTo>
                    <a:pt x="299180" y="826055"/>
                  </a:lnTo>
                  <a:lnTo>
                    <a:pt x="326587" y="857673"/>
                  </a:lnTo>
                  <a:lnTo>
                    <a:pt x="344258" y="894984"/>
                  </a:lnTo>
                  <a:lnTo>
                    <a:pt x="350519" y="936498"/>
                  </a:lnTo>
                  <a:lnTo>
                    <a:pt x="344258" y="978011"/>
                  </a:lnTo>
                  <a:lnTo>
                    <a:pt x="326587" y="1015322"/>
                  </a:lnTo>
                  <a:lnTo>
                    <a:pt x="299180" y="1046940"/>
                  </a:lnTo>
                  <a:lnTo>
                    <a:pt x="263708" y="1071372"/>
                  </a:lnTo>
                  <a:lnTo>
                    <a:pt x="221844" y="1087125"/>
                  </a:lnTo>
                  <a:lnTo>
                    <a:pt x="175260" y="1092708"/>
                  </a:lnTo>
                  <a:lnTo>
                    <a:pt x="128675" y="1087125"/>
                  </a:lnTo>
                  <a:lnTo>
                    <a:pt x="86811" y="1071372"/>
                  </a:lnTo>
                  <a:lnTo>
                    <a:pt x="51339" y="1046940"/>
                  </a:lnTo>
                  <a:lnTo>
                    <a:pt x="23932" y="1015322"/>
                  </a:lnTo>
                  <a:lnTo>
                    <a:pt x="6261" y="978011"/>
                  </a:lnTo>
                  <a:lnTo>
                    <a:pt x="0" y="936498"/>
                  </a:lnTo>
                  <a:close/>
                </a:path>
                <a:path w="1518920" h="1862454">
                  <a:moveTo>
                    <a:pt x="0" y="752094"/>
                  </a:moveTo>
                  <a:lnTo>
                    <a:pt x="6261" y="710580"/>
                  </a:lnTo>
                  <a:lnTo>
                    <a:pt x="23932" y="673269"/>
                  </a:lnTo>
                  <a:lnTo>
                    <a:pt x="51339" y="641651"/>
                  </a:lnTo>
                  <a:lnTo>
                    <a:pt x="86811" y="617219"/>
                  </a:lnTo>
                  <a:lnTo>
                    <a:pt x="128675" y="601466"/>
                  </a:lnTo>
                  <a:lnTo>
                    <a:pt x="175260" y="595884"/>
                  </a:lnTo>
                  <a:lnTo>
                    <a:pt x="221844" y="601466"/>
                  </a:lnTo>
                  <a:lnTo>
                    <a:pt x="263708" y="617220"/>
                  </a:lnTo>
                  <a:lnTo>
                    <a:pt x="299180" y="641651"/>
                  </a:lnTo>
                  <a:lnTo>
                    <a:pt x="326587" y="673269"/>
                  </a:lnTo>
                  <a:lnTo>
                    <a:pt x="344258" y="710580"/>
                  </a:lnTo>
                  <a:lnTo>
                    <a:pt x="350519" y="752094"/>
                  </a:lnTo>
                  <a:lnTo>
                    <a:pt x="344258" y="793607"/>
                  </a:lnTo>
                  <a:lnTo>
                    <a:pt x="326587" y="830918"/>
                  </a:lnTo>
                  <a:lnTo>
                    <a:pt x="299180" y="862536"/>
                  </a:lnTo>
                  <a:lnTo>
                    <a:pt x="263708" y="886968"/>
                  </a:lnTo>
                  <a:lnTo>
                    <a:pt x="221844" y="902721"/>
                  </a:lnTo>
                  <a:lnTo>
                    <a:pt x="175260" y="908304"/>
                  </a:lnTo>
                  <a:lnTo>
                    <a:pt x="128675" y="902721"/>
                  </a:lnTo>
                  <a:lnTo>
                    <a:pt x="86811" y="886968"/>
                  </a:lnTo>
                  <a:lnTo>
                    <a:pt x="51339" y="862536"/>
                  </a:lnTo>
                  <a:lnTo>
                    <a:pt x="23932" y="830918"/>
                  </a:lnTo>
                  <a:lnTo>
                    <a:pt x="6261" y="793607"/>
                  </a:lnTo>
                  <a:lnTo>
                    <a:pt x="0" y="752094"/>
                  </a:lnTo>
                  <a:close/>
                </a:path>
                <a:path w="1518920" h="1862454">
                  <a:moveTo>
                    <a:pt x="201168" y="27686"/>
                  </a:moveTo>
                  <a:lnTo>
                    <a:pt x="1518920" y="21336"/>
                  </a:lnTo>
                </a:path>
                <a:path w="1518920" h="1862454">
                  <a:moveTo>
                    <a:pt x="146304" y="1839468"/>
                  </a:moveTo>
                  <a:lnTo>
                    <a:pt x="1499489" y="1841373"/>
                  </a:lnTo>
                </a:path>
                <a:path w="1518920" h="1862454">
                  <a:moveTo>
                    <a:pt x="1051559" y="1456944"/>
                  </a:moveTo>
                  <a:lnTo>
                    <a:pt x="1316735" y="1456944"/>
                  </a:lnTo>
                  <a:lnTo>
                    <a:pt x="1316735" y="414528"/>
                  </a:lnTo>
                  <a:lnTo>
                    <a:pt x="1051559" y="414528"/>
                  </a:lnTo>
                  <a:lnTo>
                    <a:pt x="1051559" y="1456944"/>
                  </a:lnTo>
                  <a:close/>
                </a:path>
                <a:path w="1518920" h="1862454">
                  <a:moveTo>
                    <a:pt x="1184147" y="9144"/>
                  </a:moveTo>
                  <a:lnTo>
                    <a:pt x="1184147" y="414147"/>
                  </a:lnTo>
                </a:path>
                <a:path w="1518920" h="1862454">
                  <a:moveTo>
                    <a:pt x="1184147" y="1456944"/>
                  </a:moveTo>
                  <a:lnTo>
                    <a:pt x="1184147" y="1861959"/>
                  </a:lnTo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  <p:pic>
          <p:nvPicPr>
            <p:cNvPr id="26" name="object 26">
              <a:extLst>
                <a:ext uri="{FF2B5EF4-FFF2-40B4-BE49-F238E27FC236}">
                  <a16:creationId xmlns:a16="http://schemas.microsoft.com/office/drawing/2014/main" id="{E76E3EE6-92AC-9C5E-FDB2-E351094EA9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01136" y="2230628"/>
              <a:ext cx="214630" cy="111379"/>
            </a:xfrm>
            <a:prstGeom prst="rect">
              <a:avLst/>
            </a:prstGeom>
          </p:spPr>
        </p:pic>
      </p:grpSp>
      <p:sp>
        <p:nvSpPr>
          <p:cNvPr id="27" name="object 27">
            <a:extLst>
              <a:ext uri="{FF2B5EF4-FFF2-40B4-BE49-F238E27FC236}">
                <a16:creationId xmlns:a16="http://schemas.microsoft.com/office/drawing/2014/main" id="{6AAC7BFE-AFF8-91D8-9EE3-244A22CE7BC1}"/>
              </a:ext>
            </a:extLst>
          </p:cNvPr>
          <p:cNvSpPr txBox="1"/>
          <p:nvPr/>
        </p:nvSpPr>
        <p:spPr>
          <a:xfrm>
            <a:off x="2567939" y="2776220"/>
            <a:ext cx="252729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Bookman Old Style" panose="02050604050505020204" pitchFamily="18" charset="0"/>
                <a:cs typeface="Cambria Math"/>
              </a:rPr>
              <a:t>𝑰</a:t>
            </a:r>
            <a:r>
              <a:rPr sz="1100" spc="-37" baseline="-16666" dirty="0">
                <a:latin typeface="Bookman Old Style" panose="02050604050505020204" pitchFamily="18" charset="0"/>
                <a:cs typeface="Cambria Math"/>
              </a:rPr>
              <a:t>𝑵</a:t>
            </a:r>
            <a:endParaRPr sz="1100" baseline="-16666">
              <a:latin typeface="Bookman Old Style" panose="02050604050505020204" pitchFamily="18" charset="0"/>
              <a:cs typeface="Cambria Math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FC732A7B-D052-D81E-960A-4FAB6324514A}"/>
              </a:ext>
            </a:extLst>
          </p:cNvPr>
          <p:cNvSpPr txBox="1"/>
          <p:nvPr/>
        </p:nvSpPr>
        <p:spPr>
          <a:xfrm>
            <a:off x="3207766" y="2212340"/>
            <a:ext cx="2717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0000"/>
                </a:solidFill>
                <a:latin typeface="Bookman Old Style" panose="02050604050505020204" pitchFamily="18" charset="0"/>
                <a:cs typeface="Cambria Math"/>
              </a:rPr>
              <a:t>𝑰</a:t>
            </a:r>
            <a:r>
              <a:rPr sz="1100" spc="-5" dirty="0">
                <a:solidFill>
                  <a:srgbClr val="FF0000"/>
                </a:solidFill>
                <a:latin typeface="Bookman Old Style" panose="02050604050505020204" pitchFamily="18" charset="0"/>
                <a:cs typeface="Cambria Math"/>
              </a:rPr>
              <a:t> </a:t>
            </a:r>
            <a:r>
              <a:rPr sz="1100" spc="-75" baseline="-17361" dirty="0">
                <a:solidFill>
                  <a:srgbClr val="FF0000"/>
                </a:solidFill>
                <a:latin typeface="Bookman Old Style" panose="02050604050505020204" pitchFamily="18" charset="0"/>
                <a:cs typeface="Cambria Math"/>
              </a:rPr>
              <a:t>𝑵</a:t>
            </a:r>
            <a:endParaRPr sz="1100" baseline="-17361">
              <a:latin typeface="Bookman Old Style" panose="02050604050505020204" pitchFamily="18" charset="0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26592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57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368533" y="37331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3.3 </a:t>
            </a:r>
            <a:r>
              <a:rPr lang="fr-FR" altLang="fr-FR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Transformation Thévenin-Norton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EEAE88B-D617-C1F4-1885-7AEDD49A9D05}"/>
                  </a:ext>
                </a:extLst>
              </p:cNvPr>
              <p:cNvSpPr txBox="1"/>
              <p:nvPr/>
            </p:nvSpPr>
            <p:spPr>
              <a:xfrm>
                <a:off x="1020006" y="1447200"/>
                <a:ext cx="7010400" cy="23083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fr-FR"/>
                </a:defPPr>
                <a:lvl1pPr marL="285750" indent="-285750" algn="just">
                  <a:buFont typeface="Wingdings" panose="05000000000000000000" pitchFamily="2" charset="2"/>
                  <a:buChar char="q"/>
                  <a:defRPr sz="1600">
                    <a:latin typeface="Bookman Old Style" panose="02050604050505020204" pitchFamily="18" charset="0"/>
                    <a:cs typeface="Browallia New" panose="020B0604020202020204" pitchFamily="34" charset="-34"/>
                  </a:defRPr>
                </a:lvl1pPr>
                <a:lvl2pPr marL="742950" indent="-285750">
                  <a:defRPr sz="2400"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panose="02020603050405020304" pitchFamily="18" charset="0"/>
                  </a:defRPr>
                </a:lvl9pPr>
              </a:lstStyle>
              <a:p>
                <a:r>
                  <a:rPr lang="fr-FR" altLang="fr-FR" sz="1800" dirty="0"/>
                  <a:t>Il est parfois intéressant de passer d'une représentation </a:t>
                </a:r>
                <a:r>
                  <a:rPr lang="fr-FR" altLang="fr-FR" sz="1800" b="1" dirty="0"/>
                  <a:t>de générateur de tension</a:t>
                </a:r>
                <a:r>
                  <a:rPr lang="fr-FR" altLang="fr-FR" sz="1800" dirty="0"/>
                  <a:t> à celle de </a:t>
                </a:r>
                <a:r>
                  <a:rPr lang="fr-FR" altLang="fr-FR" sz="1800" b="1" dirty="0"/>
                  <a:t>générateur de courant</a:t>
                </a:r>
                <a:r>
                  <a:rPr lang="fr-FR" altLang="fr-FR" sz="1800" dirty="0" smtClean="0"/>
                  <a:t>.</a:t>
                </a:r>
              </a:p>
              <a:p>
                <a:endParaRPr lang="fr-FR" altLang="fr-FR" sz="1800" dirty="0"/>
              </a:p>
              <a:p>
                <a:endParaRPr lang="fr-FR" altLang="fr-FR" sz="1800" dirty="0"/>
              </a:p>
              <a:p>
                <a:pPr marL="0" indent="0">
                  <a:buNone/>
                </a:pPr>
                <a:r>
                  <a:rPr lang="fr-FR" altLang="fr-FR" sz="1800" dirty="0"/>
                  <a:t>     Lorsqu'on transforme un </a:t>
                </a:r>
                <a:r>
                  <a:rPr lang="fr-FR" altLang="fr-FR" sz="1800" b="1" dirty="0"/>
                  <a:t>générateur de tension </a:t>
                </a:r>
                <a:r>
                  <a:rPr lang="fr-FR" altLang="fr-FR" sz="18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altLang="fr-FR" sz="18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fr-FR" sz="1800" b="1" i="1" dirty="0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fr-FR" altLang="fr-FR" sz="1800" b="1" i="1" dirty="0">
                            <a:latin typeface="Cambria Math" panose="02040503050406030204" pitchFamily="18" charset="0"/>
                          </a:rPr>
                          <m:t>𝑻𝒉</m:t>
                        </m:r>
                      </m:sub>
                    </m:sSub>
                  </m:oMath>
                </a14:m>
                <a:r>
                  <a:rPr lang="fr-FR" altLang="fr-FR" sz="18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altLang="fr-FR" sz="18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fr-FR" sz="1800" b="1" i="1" dirty="0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altLang="fr-FR" sz="1800" b="1" i="1" dirty="0">
                            <a:latin typeface="Cambria Math" panose="02040503050406030204" pitchFamily="18" charset="0"/>
                          </a:rPr>
                          <m:t>𝑻𝒉</m:t>
                        </m:r>
                      </m:sub>
                    </m:sSub>
                  </m:oMath>
                </a14:m>
                <a:r>
                  <a:rPr lang="fr-FR" altLang="fr-FR" sz="1800" dirty="0"/>
                  <a:t>) en un </a:t>
                </a:r>
                <a:r>
                  <a:rPr lang="fr-FR" altLang="fr-FR" sz="1800" b="1" dirty="0"/>
                  <a:t>générateur de courant </a:t>
                </a:r>
                <a:r>
                  <a:rPr lang="fr-FR" altLang="fr-FR" sz="18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altLang="fr-FR" sz="18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fr-FR" sz="1800" b="1" i="1" dirty="0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fr-FR" altLang="fr-FR" sz="1800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fr-FR" altLang="fr-FR" sz="1800" b="1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altLang="fr-FR" sz="18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fr-FR" sz="1800" b="1" i="1" dirty="0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altLang="fr-FR" sz="1800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fr-FR" altLang="fr-FR" sz="1800" dirty="0"/>
                  <a:t>), on a les relations :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EEAE88B-D617-C1F4-1885-7AEDD49A9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006" y="1447200"/>
                <a:ext cx="7010400" cy="2308324"/>
              </a:xfrm>
              <a:prstGeom prst="rect">
                <a:avLst/>
              </a:prstGeom>
              <a:blipFill>
                <a:blip r:embed="rId3"/>
                <a:stretch>
                  <a:fillRect l="-696" t="-1055" r="-783" b="-34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rrow: Right 29">
            <a:extLst>
              <a:ext uri="{FF2B5EF4-FFF2-40B4-BE49-F238E27FC236}">
                <a16:creationId xmlns:a16="http://schemas.microsoft.com/office/drawing/2014/main" id="{3647A1CC-9FE1-B78A-295F-0872DF290D55}"/>
              </a:ext>
            </a:extLst>
          </p:cNvPr>
          <p:cNvSpPr/>
          <p:nvPr/>
        </p:nvSpPr>
        <p:spPr>
          <a:xfrm>
            <a:off x="1020006" y="2952750"/>
            <a:ext cx="276640" cy="1524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7818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58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652020-6575-605F-21C8-3979488BE041}"/>
              </a:ext>
            </a:extLst>
          </p:cNvPr>
          <p:cNvSpPr txBox="1"/>
          <p:nvPr/>
        </p:nvSpPr>
        <p:spPr>
          <a:xfrm>
            <a:off x="426755" y="2420400"/>
            <a:ext cx="2051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12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Schéma équivalent de Thévenin</a:t>
            </a:r>
          </a:p>
        </p:txBody>
      </p:sp>
      <p:sp>
        <p:nvSpPr>
          <p:cNvPr id="37" name="Text Box 66">
            <a:extLst>
              <a:ext uri="{FF2B5EF4-FFF2-40B4-BE49-F238E27FC236}">
                <a16:creationId xmlns:a16="http://schemas.microsoft.com/office/drawing/2014/main" id="{FFE6FC4F-8FCA-3C7A-E54E-71ABEA5E2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2088" y="4352004"/>
            <a:ext cx="1427441" cy="279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fr-FR" b="1" dirty="0">
              <a:solidFill>
                <a:schemeClr val="accent2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2E1518-F975-5FFD-B68C-A8BD0290338B}"/>
              </a:ext>
            </a:extLst>
          </p:cNvPr>
          <p:cNvSpPr txBox="1"/>
          <p:nvPr/>
        </p:nvSpPr>
        <p:spPr>
          <a:xfrm>
            <a:off x="5799899" y="4575259"/>
            <a:ext cx="2051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spcBef>
                <a:spcPct val="50000"/>
              </a:spcBef>
              <a:defRPr sz="1200" b="1">
                <a:solidFill>
                  <a:srgbClr val="0000FF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fr-FR" dirty="0"/>
              <a:t>Schéma équivalent de Norton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Box 123">
                <a:extLst>
                  <a:ext uri="{FF2B5EF4-FFF2-40B4-BE49-F238E27FC236}">
                    <a16:creationId xmlns:a16="http://schemas.microsoft.com/office/drawing/2014/main" id="{5D0DB9BC-9D70-1C72-BDF4-9E4C945D8E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85816" y="1090954"/>
                <a:ext cx="1430340" cy="3629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𝑹</m:t>
                      </m:r>
                      <m:r>
                        <a:rPr lang="fr-FR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𝑵</m:t>
                      </m:r>
                      <m:r>
                        <a:rPr lang="fr-FR" b="1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 = </m:t>
                      </m:r>
                      <m:r>
                        <a:rPr lang="fr-FR" b="1" i="1" dirty="0" err="1">
                          <a:latin typeface="Cambria Math" panose="02040503050406030204" pitchFamily="18" charset="0"/>
                          <a:sym typeface="Symbol" pitchFamily="18" charset="2"/>
                        </a:rPr>
                        <m:t>𝑹</m:t>
                      </m:r>
                      <m:r>
                        <a:rPr lang="fr-FR" b="1" i="1" baseline="-25000" dirty="0" err="1">
                          <a:latin typeface="Cambria Math" panose="02040503050406030204" pitchFamily="18" charset="0"/>
                          <a:sym typeface="Symbol" pitchFamily="18" charset="2"/>
                        </a:rPr>
                        <m:t>𝑻𝒉</m:t>
                      </m:r>
                    </m:oMath>
                  </m:oMathPara>
                </a14:m>
                <a:endParaRPr lang="fr-FR" b="1" baseline="-25000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60" name="Text Box 123">
                <a:extLst>
                  <a:ext uri="{FF2B5EF4-FFF2-40B4-BE49-F238E27FC236}">
                    <a16:creationId xmlns:a16="http://schemas.microsoft.com/office/drawing/2014/main" id="{5D0DB9BC-9D70-1C72-BDF4-9E4C945D8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85816" y="1090954"/>
                <a:ext cx="1430340" cy="362984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123">
                <a:extLst>
                  <a:ext uri="{FF2B5EF4-FFF2-40B4-BE49-F238E27FC236}">
                    <a16:creationId xmlns:a16="http://schemas.microsoft.com/office/drawing/2014/main" id="{48EF93E4-887F-0637-FAC3-E0698AC93F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78952" y="3020346"/>
                <a:ext cx="1430340" cy="3629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fr-FR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𝑹</m:t>
                    </m:r>
                    <m:r>
                      <a:rPr lang="fr-FR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𝑻𝒉</m:t>
                    </m:r>
                    <m:r>
                      <a:rPr lang="fr-FR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 = </m:t>
                    </m:r>
                    <m:r>
                      <a:rPr lang="fr-FR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𝑹</m:t>
                    </m:r>
                  </m:oMath>
                </a14:m>
                <a:r>
                  <a:rPr lang="fr-FR" b="1" baseline="-25000" dirty="0" smtClean="0">
                    <a:latin typeface="Bookman Old Style" panose="02050604050505020204" pitchFamily="18" charset="0"/>
                  </a:rPr>
                  <a:t>N</a:t>
                </a:r>
                <a:endParaRPr lang="fr-FR" b="1" baseline="-25000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63" name="Text Box 123">
                <a:extLst>
                  <a:ext uri="{FF2B5EF4-FFF2-40B4-BE49-F238E27FC236}">
                    <a16:creationId xmlns:a16="http://schemas.microsoft.com/office/drawing/2014/main" id="{48EF93E4-887F-0637-FAC3-E0698AC93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8952" y="3020346"/>
                <a:ext cx="1430340" cy="362984"/>
              </a:xfrm>
              <a:prstGeom prst="rect">
                <a:avLst/>
              </a:prstGeom>
              <a:blipFill>
                <a:blip r:embed="rId4"/>
                <a:stretch>
                  <a:fillRect b="-2166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4" name="Text Box 123">
                <a:extLst>
                  <a:ext uri="{FF2B5EF4-FFF2-40B4-BE49-F238E27FC236}">
                    <a16:creationId xmlns:a16="http://schemas.microsoft.com/office/drawing/2014/main" id="{4386B5E4-935A-6AFA-CF6E-856B99D425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0339" y="3407046"/>
                <a:ext cx="2088359" cy="3629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𝑬</m:t>
                      </m:r>
                      <m:r>
                        <a:rPr lang="fr-FR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𝑻𝒉</m:t>
                      </m:r>
                      <m:r>
                        <a:rPr lang="fr-FR" b="1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 =</m:t>
                      </m:r>
                      <m:r>
                        <a:rPr lang="fr-FR" b="1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𝑹</m:t>
                      </m:r>
                      <m:r>
                        <m:rPr>
                          <m:nor/>
                        </m:rPr>
                        <a:rPr lang="fr-FR" b="1" baseline="-25000" dirty="0">
                          <a:latin typeface="Bookman Old Style" panose="02050604050505020204" pitchFamily="18" charset="0"/>
                        </a:rPr>
                        <m:t>N</m:t>
                      </m:r>
                      <m:r>
                        <a:rPr lang="fr-FR" b="1" i="1" baseline="-25000" dirty="0">
                          <a:latin typeface="Cambria Math" panose="02040503050406030204" pitchFamily="18" charset="0"/>
                          <a:sym typeface="Symbol" pitchFamily="18" charset="2"/>
                        </a:rPr>
                        <m:t>.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  <a:sym typeface="Symbol" pitchFamily="18" charset="2"/>
                        </a:rPr>
                        <m:t>𝑰</m:t>
                      </m:r>
                      <m:r>
                        <m:rPr>
                          <m:nor/>
                        </m:rPr>
                        <a:rPr lang="fr-FR" b="1" baseline="-25000" dirty="0">
                          <a:latin typeface="Bookman Old Style" panose="02050604050505020204" pitchFamily="18" charset="0"/>
                        </a:rPr>
                        <m:t>N</m:t>
                      </m:r>
                    </m:oMath>
                  </m:oMathPara>
                </a14:m>
                <a:endParaRPr lang="fr-FR" b="1" baseline="-25000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6144" name="Text Box 123">
                <a:extLst>
                  <a:ext uri="{FF2B5EF4-FFF2-40B4-BE49-F238E27FC236}">
                    <a16:creationId xmlns:a16="http://schemas.microsoft.com/office/drawing/2014/main" id="{4386B5E4-935A-6AFA-CF6E-856B99D42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0339" y="3407046"/>
                <a:ext cx="2088359" cy="362984"/>
              </a:xfrm>
              <a:prstGeom prst="rect">
                <a:avLst/>
              </a:prstGeom>
              <a:blipFill>
                <a:blip r:embed="rId5"/>
                <a:stretch>
                  <a:fillRect b="-339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TextBox 6145">
                <a:extLst>
                  <a:ext uri="{FF2B5EF4-FFF2-40B4-BE49-F238E27FC236}">
                    <a16:creationId xmlns:a16="http://schemas.microsoft.com/office/drawing/2014/main" id="{C38651AA-9403-056C-05F4-6241F6D17C29}"/>
                  </a:ext>
                </a:extLst>
              </p:cNvPr>
              <p:cNvSpPr txBox="1"/>
              <p:nvPr/>
            </p:nvSpPr>
            <p:spPr>
              <a:xfrm>
                <a:off x="5829022" y="1536912"/>
                <a:ext cx="2016578" cy="5651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𝑻𝒉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𝑻𝒉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b="1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6146" name="TextBox 6145">
                <a:extLst>
                  <a:ext uri="{FF2B5EF4-FFF2-40B4-BE49-F238E27FC236}">
                    <a16:creationId xmlns:a16="http://schemas.microsoft.com/office/drawing/2014/main" id="{C38651AA-9403-056C-05F4-6241F6D17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022" y="1536912"/>
                <a:ext cx="2016578" cy="5651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object 14">
            <a:extLst>
              <a:ext uri="{FF2B5EF4-FFF2-40B4-BE49-F238E27FC236}">
                <a16:creationId xmlns:a16="http://schemas.microsoft.com/office/drawing/2014/main" id="{B2BC643A-8499-51E7-92B6-A1ABEF723F8E}"/>
              </a:ext>
            </a:extLst>
          </p:cNvPr>
          <p:cNvGrpSpPr/>
          <p:nvPr/>
        </p:nvGrpSpPr>
        <p:grpSpPr>
          <a:xfrm>
            <a:off x="6788795" y="2537519"/>
            <a:ext cx="1851660" cy="1976628"/>
            <a:chOff x="4408931" y="1949195"/>
            <a:chExt cx="1851660" cy="1976628"/>
          </a:xfrm>
        </p:grpSpPr>
        <p:sp>
          <p:nvSpPr>
            <p:cNvPr id="62" name="object 15">
              <a:extLst>
                <a:ext uri="{FF2B5EF4-FFF2-40B4-BE49-F238E27FC236}">
                  <a16:creationId xmlns:a16="http://schemas.microsoft.com/office/drawing/2014/main" id="{5CF9CB86-57FA-1B74-1874-2D53E77799AB}"/>
                </a:ext>
              </a:extLst>
            </p:cNvPr>
            <p:cNvSpPr/>
            <p:nvPr/>
          </p:nvSpPr>
          <p:spPr>
            <a:xfrm>
              <a:off x="4408931" y="2023871"/>
              <a:ext cx="1851660" cy="1852930"/>
            </a:xfrm>
            <a:custGeom>
              <a:avLst/>
              <a:gdLst/>
              <a:ahLst/>
              <a:cxnLst/>
              <a:rect l="l" t="t" r="r" b="b"/>
              <a:pathLst>
                <a:path w="1851660" h="1852929">
                  <a:moveTo>
                    <a:pt x="1586483" y="1447800"/>
                  </a:moveTo>
                  <a:lnTo>
                    <a:pt x="1851659" y="1447800"/>
                  </a:lnTo>
                  <a:lnTo>
                    <a:pt x="1851659" y="405384"/>
                  </a:lnTo>
                  <a:lnTo>
                    <a:pt x="1586483" y="405384"/>
                  </a:lnTo>
                  <a:lnTo>
                    <a:pt x="1586483" y="1447800"/>
                  </a:lnTo>
                  <a:close/>
                </a:path>
                <a:path w="1851660" h="1852929">
                  <a:moveTo>
                    <a:pt x="0" y="12191"/>
                  </a:moveTo>
                  <a:lnTo>
                    <a:pt x="1743075" y="12191"/>
                  </a:lnTo>
                </a:path>
                <a:path w="1851660" h="1852929">
                  <a:moveTo>
                    <a:pt x="10667" y="1831847"/>
                  </a:moveTo>
                  <a:lnTo>
                    <a:pt x="1753742" y="1831847"/>
                  </a:lnTo>
                </a:path>
                <a:path w="1851660" h="1852929">
                  <a:moveTo>
                    <a:pt x="1719071" y="0"/>
                  </a:moveTo>
                  <a:lnTo>
                    <a:pt x="1719071" y="405002"/>
                  </a:lnTo>
                </a:path>
                <a:path w="1851660" h="1852929">
                  <a:moveTo>
                    <a:pt x="1719071" y="1447800"/>
                  </a:moveTo>
                  <a:lnTo>
                    <a:pt x="1719071" y="1852815"/>
                  </a:lnTo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  <p:pic>
          <p:nvPicPr>
            <p:cNvPr id="64" name="object 16">
              <a:extLst>
                <a:ext uri="{FF2B5EF4-FFF2-40B4-BE49-F238E27FC236}">
                  <a16:creationId xmlns:a16="http://schemas.microsoft.com/office/drawing/2014/main" id="{8E2BAC22-9337-D9F4-5673-5CCED6B7C738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5039" y="1949195"/>
              <a:ext cx="184403" cy="143256"/>
            </a:xfrm>
            <a:prstGeom prst="rect">
              <a:avLst/>
            </a:prstGeom>
          </p:spPr>
        </p:pic>
        <p:pic>
          <p:nvPicPr>
            <p:cNvPr id="65" name="object 17">
              <a:extLst>
                <a:ext uri="{FF2B5EF4-FFF2-40B4-BE49-F238E27FC236}">
                  <a16:creationId xmlns:a16="http://schemas.microsoft.com/office/drawing/2014/main" id="{DE939876-7BAE-EDD3-68B6-ADB3A0DD4BBD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5039" y="3782567"/>
              <a:ext cx="184404" cy="143256"/>
            </a:xfrm>
            <a:prstGeom prst="rect">
              <a:avLst/>
            </a:prstGeom>
          </p:spPr>
        </p:pic>
      </p:grpSp>
      <p:sp>
        <p:nvSpPr>
          <p:cNvPr id="66" name="object 18">
            <a:extLst>
              <a:ext uri="{FF2B5EF4-FFF2-40B4-BE49-F238E27FC236}">
                <a16:creationId xmlns:a16="http://schemas.microsoft.com/office/drawing/2014/main" id="{F36FFEED-4058-C66D-401D-C896F8FFC407}"/>
              </a:ext>
            </a:extLst>
          </p:cNvPr>
          <p:cNvSpPr txBox="1"/>
          <p:nvPr/>
        </p:nvSpPr>
        <p:spPr>
          <a:xfrm>
            <a:off x="8452242" y="2212653"/>
            <a:ext cx="1905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Bookman Old Style" panose="02050604050505020204" pitchFamily="18" charset="0"/>
                <a:cs typeface="Times New Roman"/>
              </a:rPr>
              <a:t>A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67" name="object 19">
            <a:extLst>
              <a:ext uri="{FF2B5EF4-FFF2-40B4-BE49-F238E27FC236}">
                <a16:creationId xmlns:a16="http://schemas.microsoft.com/office/drawing/2014/main" id="{D6D64AD9-192D-2526-73EE-58D6ADE25C23}"/>
              </a:ext>
            </a:extLst>
          </p:cNvPr>
          <p:cNvSpPr txBox="1"/>
          <p:nvPr/>
        </p:nvSpPr>
        <p:spPr>
          <a:xfrm>
            <a:off x="8459227" y="4531927"/>
            <a:ext cx="17843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Bookman Old Style" panose="02050604050505020204" pitchFamily="18" charset="0"/>
                <a:cs typeface="Times New Roman"/>
              </a:rPr>
              <a:t>B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68" name="object 20">
            <a:extLst>
              <a:ext uri="{FF2B5EF4-FFF2-40B4-BE49-F238E27FC236}">
                <a16:creationId xmlns:a16="http://schemas.microsoft.com/office/drawing/2014/main" id="{4DA7BA43-85D1-7259-F4C1-05F7F26A95E8}"/>
              </a:ext>
            </a:extLst>
          </p:cNvPr>
          <p:cNvSpPr txBox="1"/>
          <p:nvPr/>
        </p:nvSpPr>
        <p:spPr>
          <a:xfrm>
            <a:off x="8828289" y="3405438"/>
            <a:ext cx="15430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Bookman Old Style" panose="02050604050505020204" pitchFamily="18" charset="0"/>
                <a:cs typeface="Times New Roman"/>
              </a:rPr>
              <a:t>R</a:t>
            </a:r>
            <a:endParaRPr sz="110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69" name="object 21">
            <a:extLst>
              <a:ext uri="{FF2B5EF4-FFF2-40B4-BE49-F238E27FC236}">
                <a16:creationId xmlns:a16="http://schemas.microsoft.com/office/drawing/2014/main" id="{4BEB72CD-26C5-C95C-82EE-081A177ECFC9}"/>
              </a:ext>
            </a:extLst>
          </p:cNvPr>
          <p:cNvSpPr txBox="1"/>
          <p:nvPr/>
        </p:nvSpPr>
        <p:spPr>
          <a:xfrm>
            <a:off x="6797685" y="3344097"/>
            <a:ext cx="29972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Bookman Old Style" panose="02050604050505020204" pitchFamily="18" charset="0"/>
                <a:cs typeface="Cambria Math"/>
              </a:rPr>
              <a:t>𝑹</a:t>
            </a:r>
            <a:r>
              <a:rPr sz="1100" spc="-37" baseline="-16666" dirty="0">
                <a:latin typeface="Bookman Old Style" panose="02050604050505020204" pitchFamily="18" charset="0"/>
                <a:cs typeface="Cambria Math"/>
              </a:rPr>
              <a:t>𝑵</a:t>
            </a:r>
            <a:endParaRPr sz="1100" baseline="-16666" dirty="0">
              <a:latin typeface="Bookman Old Style" panose="02050604050505020204" pitchFamily="18" charset="0"/>
              <a:cs typeface="Cambria Math"/>
            </a:endParaRPr>
          </a:p>
        </p:txBody>
      </p:sp>
      <p:grpSp>
        <p:nvGrpSpPr>
          <p:cNvPr id="70" name="object 24">
            <a:extLst>
              <a:ext uri="{FF2B5EF4-FFF2-40B4-BE49-F238E27FC236}">
                <a16:creationId xmlns:a16="http://schemas.microsoft.com/office/drawing/2014/main" id="{ACB27020-A2DD-C4AA-4F84-5D6154DB2CC3}"/>
              </a:ext>
            </a:extLst>
          </p:cNvPr>
          <p:cNvGrpSpPr/>
          <p:nvPr/>
        </p:nvGrpSpPr>
        <p:grpSpPr>
          <a:xfrm>
            <a:off x="5272415" y="2574096"/>
            <a:ext cx="1577340" cy="1902460"/>
            <a:chOff x="2892551" y="1985772"/>
            <a:chExt cx="1577340" cy="1902460"/>
          </a:xfrm>
        </p:grpSpPr>
        <p:sp>
          <p:nvSpPr>
            <p:cNvPr id="71" name="object 25">
              <a:extLst>
                <a:ext uri="{FF2B5EF4-FFF2-40B4-BE49-F238E27FC236}">
                  <a16:creationId xmlns:a16="http://schemas.microsoft.com/office/drawing/2014/main" id="{BF74CE34-3133-7629-08A7-9E4F9AC215DC}"/>
                </a:ext>
              </a:extLst>
            </p:cNvPr>
            <p:cNvSpPr/>
            <p:nvPr/>
          </p:nvSpPr>
          <p:spPr>
            <a:xfrm>
              <a:off x="2921507" y="2014728"/>
              <a:ext cx="1518920" cy="1862455"/>
            </a:xfrm>
            <a:custGeom>
              <a:avLst/>
              <a:gdLst/>
              <a:ahLst/>
              <a:cxnLst/>
              <a:rect l="l" t="t" r="r" b="b"/>
              <a:pathLst>
                <a:path w="1518920" h="1862454">
                  <a:moveTo>
                    <a:pt x="181356" y="0"/>
                  </a:moveTo>
                  <a:lnTo>
                    <a:pt x="183134" y="1844294"/>
                  </a:lnTo>
                </a:path>
                <a:path w="1518920" h="1862454">
                  <a:moveTo>
                    <a:pt x="0" y="936498"/>
                  </a:moveTo>
                  <a:lnTo>
                    <a:pt x="6261" y="894984"/>
                  </a:lnTo>
                  <a:lnTo>
                    <a:pt x="23932" y="857673"/>
                  </a:lnTo>
                  <a:lnTo>
                    <a:pt x="51339" y="826055"/>
                  </a:lnTo>
                  <a:lnTo>
                    <a:pt x="86811" y="801624"/>
                  </a:lnTo>
                  <a:lnTo>
                    <a:pt x="128675" y="785870"/>
                  </a:lnTo>
                  <a:lnTo>
                    <a:pt x="175260" y="780288"/>
                  </a:lnTo>
                  <a:lnTo>
                    <a:pt x="221844" y="785870"/>
                  </a:lnTo>
                  <a:lnTo>
                    <a:pt x="263708" y="801624"/>
                  </a:lnTo>
                  <a:lnTo>
                    <a:pt x="299180" y="826055"/>
                  </a:lnTo>
                  <a:lnTo>
                    <a:pt x="326587" y="857673"/>
                  </a:lnTo>
                  <a:lnTo>
                    <a:pt x="344258" y="894984"/>
                  </a:lnTo>
                  <a:lnTo>
                    <a:pt x="350519" y="936498"/>
                  </a:lnTo>
                  <a:lnTo>
                    <a:pt x="344258" y="978011"/>
                  </a:lnTo>
                  <a:lnTo>
                    <a:pt x="326587" y="1015322"/>
                  </a:lnTo>
                  <a:lnTo>
                    <a:pt x="299180" y="1046940"/>
                  </a:lnTo>
                  <a:lnTo>
                    <a:pt x="263708" y="1071372"/>
                  </a:lnTo>
                  <a:lnTo>
                    <a:pt x="221844" y="1087125"/>
                  </a:lnTo>
                  <a:lnTo>
                    <a:pt x="175260" y="1092708"/>
                  </a:lnTo>
                  <a:lnTo>
                    <a:pt x="128675" y="1087125"/>
                  </a:lnTo>
                  <a:lnTo>
                    <a:pt x="86811" y="1071372"/>
                  </a:lnTo>
                  <a:lnTo>
                    <a:pt x="51339" y="1046940"/>
                  </a:lnTo>
                  <a:lnTo>
                    <a:pt x="23932" y="1015322"/>
                  </a:lnTo>
                  <a:lnTo>
                    <a:pt x="6261" y="978011"/>
                  </a:lnTo>
                  <a:lnTo>
                    <a:pt x="0" y="936498"/>
                  </a:lnTo>
                  <a:close/>
                </a:path>
                <a:path w="1518920" h="1862454">
                  <a:moveTo>
                    <a:pt x="0" y="752094"/>
                  </a:moveTo>
                  <a:lnTo>
                    <a:pt x="6261" y="710580"/>
                  </a:lnTo>
                  <a:lnTo>
                    <a:pt x="23932" y="673269"/>
                  </a:lnTo>
                  <a:lnTo>
                    <a:pt x="51339" y="641651"/>
                  </a:lnTo>
                  <a:lnTo>
                    <a:pt x="86811" y="617219"/>
                  </a:lnTo>
                  <a:lnTo>
                    <a:pt x="128675" y="601466"/>
                  </a:lnTo>
                  <a:lnTo>
                    <a:pt x="175260" y="595884"/>
                  </a:lnTo>
                  <a:lnTo>
                    <a:pt x="221844" y="601466"/>
                  </a:lnTo>
                  <a:lnTo>
                    <a:pt x="263708" y="617220"/>
                  </a:lnTo>
                  <a:lnTo>
                    <a:pt x="299180" y="641651"/>
                  </a:lnTo>
                  <a:lnTo>
                    <a:pt x="326587" y="673269"/>
                  </a:lnTo>
                  <a:lnTo>
                    <a:pt x="344258" y="710580"/>
                  </a:lnTo>
                  <a:lnTo>
                    <a:pt x="350519" y="752094"/>
                  </a:lnTo>
                  <a:lnTo>
                    <a:pt x="344258" y="793607"/>
                  </a:lnTo>
                  <a:lnTo>
                    <a:pt x="326587" y="830918"/>
                  </a:lnTo>
                  <a:lnTo>
                    <a:pt x="299180" y="862536"/>
                  </a:lnTo>
                  <a:lnTo>
                    <a:pt x="263708" y="886968"/>
                  </a:lnTo>
                  <a:lnTo>
                    <a:pt x="221844" y="902721"/>
                  </a:lnTo>
                  <a:lnTo>
                    <a:pt x="175260" y="908304"/>
                  </a:lnTo>
                  <a:lnTo>
                    <a:pt x="128675" y="902721"/>
                  </a:lnTo>
                  <a:lnTo>
                    <a:pt x="86811" y="886968"/>
                  </a:lnTo>
                  <a:lnTo>
                    <a:pt x="51339" y="862536"/>
                  </a:lnTo>
                  <a:lnTo>
                    <a:pt x="23932" y="830918"/>
                  </a:lnTo>
                  <a:lnTo>
                    <a:pt x="6261" y="793607"/>
                  </a:lnTo>
                  <a:lnTo>
                    <a:pt x="0" y="752094"/>
                  </a:lnTo>
                  <a:close/>
                </a:path>
                <a:path w="1518920" h="1862454">
                  <a:moveTo>
                    <a:pt x="201168" y="27686"/>
                  </a:moveTo>
                  <a:lnTo>
                    <a:pt x="1518920" y="21336"/>
                  </a:lnTo>
                </a:path>
                <a:path w="1518920" h="1862454">
                  <a:moveTo>
                    <a:pt x="146304" y="1839468"/>
                  </a:moveTo>
                  <a:lnTo>
                    <a:pt x="1499489" y="1841373"/>
                  </a:lnTo>
                </a:path>
                <a:path w="1518920" h="1862454">
                  <a:moveTo>
                    <a:pt x="1051559" y="1456944"/>
                  </a:moveTo>
                  <a:lnTo>
                    <a:pt x="1316735" y="1456944"/>
                  </a:lnTo>
                  <a:lnTo>
                    <a:pt x="1316735" y="414528"/>
                  </a:lnTo>
                  <a:lnTo>
                    <a:pt x="1051559" y="414528"/>
                  </a:lnTo>
                  <a:lnTo>
                    <a:pt x="1051559" y="1456944"/>
                  </a:lnTo>
                  <a:close/>
                </a:path>
                <a:path w="1518920" h="1862454">
                  <a:moveTo>
                    <a:pt x="1184147" y="9144"/>
                  </a:moveTo>
                  <a:lnTo>
                    <a:pt x="1184147" y="414147"/>
                  </a:lnTo>
                </a:path>
                <a:path w="1518920" h="1862454">
                  <a:moveTo>
                    <a:pt x="1184147" y="1456944"/>
                  </a:moveTo>
                  <a:lnTo>
                    <a:pt x="1184147" y="1861959"/>
                  </a:lnTo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100">
                <a:latin typeface="Bookman Old Style" panose="02050604050505020204" pitchFamily="18" charset="0"/>
              </a:endParaRPr>
            </a:p>
          </p:txBody>
        </p:sp>
        <p:pic>
          <p:nvPicPr>
            <p:cNvPr id="72" name="object 26">
              <a:extLst>
                <a:ext uri="{FF2B5EF4-FFF2-40B4-BE49-F238E27FC236}">
                  <a16:creationId xmlns:a16="http://schemas.microsoft.com/office/drawing/2014/main" id="{E76E3EE6-92AC-9C5E-FDB2-E351094EA942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01136" y="2230628"/>
              <a:ext cx="214630" cy="111379"/>
            </a:xfrm>
            <a:prstGeom prst="rect">
              <a:avLst/>
            </a:prstGeom>
          </p:spPr>
        </p:pic>
      </p:grpSp>
      <p:sp>
        <p:nvSpPr>
          <p:cNvPr id="74" name="object 28">
            <a:extLst>
              <a:ext uri="{FF2B5EF4-FFF2-40B4-BE49-F238E27FC236}">
                <a16:creationId xmlns:a16="http://schemas.microsoft.com/office/drawing/2014/main" id="{FC732A7B-D052-D81E-960A-4FAB6324514A}"/>
              </a:ext>
            </a:extLst>
          </p:cNvPr>
          <p:cNvSpPr txBox="1"/>
          <p:nvPr/>
        </p:nvSpPr>
        <p:spPr>
          <a:xfrm>
            <a:off x="5587630" y="2800664"/>
            <a:ext cx="2717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0000"/>
                </a:solidFill>
                <a:latin typeface="Bookman Old Style" panose="02050604050505020204" pitchFamily="18" charset="0"/>
                <a:cs typeface="Cambria Math"/>
              </a:rPr>
              <a:t>𝑰</a:t>
            </a:r>
            <a:r>
              <a:rPr sz="1100" spc="-5" dirty="0">
                <a:solidFill>
                  <a:srgbClr val="FF0000"/>
                </a:solidFill>
                <a:latin typeface="Bookman Old Style" panose="02050604050505020204" pitchFamily="18" charset="0"/>
                <a:cs typeface="Cambria Math"/>
              </a:rPr>
              <a:t> </a:t>
            </a:r>
            <a:r>
              <a:rPr sz="1100" spc="-75" baseline="-17361" dirty="0">
                <a:solidFill>
                  <a:srgbClr val="FF0000"/>
                </a:solidFill>
                <a:latin typeface="Bookman Old Style" panose="02050604050505020204" pitchFamily="18" charset="0"/>
                <a:cs typeface="Cambria Math"/>
              </a:rPr>
              <a:t>𝑵</a:t>
            </a:r>
            <a:endParaRPr sz="1100" baseline="-17361">
              <a:latin typeface="Bookman Old Style" panose="02050604050505020204" pitchFamily="18" charset="0"/>
              <a:cs typeface="Cambria Math"/>
            </a:endParaRPr>
          </a:p>
        </p:txBody>
      </p:sp>
      <p:grpSp>
        <p:nvGrpSpPr>
          <p:cNvPr id="75" name="object 14">
            <a:extLst>
              <a:ext uri="{FF2B5EF4-FFF2-40B4-BE49-F238E27FC236}">
                <a16:creationId xmlns:a16="http://schemas.microsoft.com/office/drawing/2014/main" id="{0BCC0939-7333-D0A9-12C5-4F28BBFD19FD}"/>
              </a:ext>
            </a:extLst>
          </p:cNvPr>
          <p:cNvGrpSpPr/>
          <p:nvPr/>
        </p:nvGrpSpPr>
        <p:grpSpPr>
          <a:xfrm>
            <a:off x="822968" y="282059"/>
            <a:ext cx="4447539" cy="1994662"/>
            <a:chOff x="2862071" y="1754124"/>
            <a:chExt cx="4447539" cy="1994662"/>
          </a:xfrm>
        </p:grpSpPr>
        <p:sp>
          <p:nvSpPr>
            <p:cNvPr id="76" name="object 15">
              <a:extLst>
                <a:ext uri="{FF2B5EF4-FFF2-40B4-BE49-F238E27FC236}">
                  <a16:creationId xmlns:a16="http://schemas.microsoft.com/office/drawing/2014/main" id="{CDE34DB0-059A-F0F9-3295-DEC913A4129B}"/>
                </a:ext>
              </a:extLst>
            </p:cNvPr>
            <p:cNvSpPr/>
            <p:nvPr/>
          </p:nvSpPr>
          <p:spPr>
            <a:xfrm>
              <a:off x="3380231" y="1895856"/>
              <a:ext cx="3929379" cy="1852930"/>
            </a:xfrm>
            <a:custGeom>
              <a:avLst/>
              <a:gdLst/>
              <a:ahLst/>
              <a:cxnLst/>
              <a:rect l="l" t="t" r="r" b="b"/>
              <a:pathLst>
                <a:path w="3929379" h="1852929">
                  <a:moveTo>
                    <a:pt x="3663695" y="1447800"/>
                  </a:moveTo>
                  <a:lnTo>
                    <a:pt x="3928871" y="1447800"/>
                  </a:lnTo>
                  <a:lnTo>
                    <a:pt x="3928871" y="405383"/>
                  </a:lnTo>
                  <a:lnTo>
                    <a:pt x="3663695" y="405383"/>
                  </a:lnTo>
                  <a:lnTo>
                    <a:pt x="3663695" y="1447800"/>
                  </a:lnTo>
                  <a:close/>
                </a:path>
                <a:path w="3929379" h="1852929">
                  <a:moveTo>
                    <a:pt x="2078735" y="12192"/>
                  </a:moveTo>
                  <a:lnTo>
                    <a:pt x="3821811" y="12192"/>
                  </a:lnTo>
                </a:path>
                <a:path w="3929379" h="1852929">
                  <a:moveTo>
                    <a:pt x="2078735" y="1840991"/>
                  </a:moveTo>
                  <a:lnTo>
                    <a:pt x="3821811" y="1840991"/>
                  </a:lnTo>
                </a:path>
                <a:path w="3929379" h="1852929">
                  <a:moveTo>
                    <a:pt x="3796284" y="0"/>
                  </a:moveTo>
                  <a:lnTo>
                    <a:pt x="3796284" y="405002"/>
                  </a:lnTo>
                </a:path>
                <a:path w="3929379" h="1852929">
                  <a:moveTo>
                    <a:pt x="3796284" y="1447800"/>
                  </a:moveTo>
                  <a:lnTo>
                    <a:pt x="3796284" y="1852802"/>
                  </a:lnTo>
                </a:path>
                <a:path w="3929379" h="1852929">
                  <a:moveTo>
                    <a:pt x="0" y="9143"/>
                  </a:moveTo>
                  <a:lnTo>
                    <a:pt x="1028700" y="9143"/>
                  </a:lnTo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16">
              <a:extLst>
                <a:ext uri="{FF2B5EF4-FFF2-40B4-BE49-F238E27FC236}">
                  <a16:creationId xmlns:a16="http://schemas.microsoft.com/office/drawing/2014/main" id="{F071204B-FAA4-98D7-EE33-35B9D5442DCF}"/>
                </a:ext>
              </a:extLst>
            </p:cNvPr>
            <p:cNvSpPr/>
            <p:nvPr/>
          </p:nvSpPr>
          <p:spPr>
            <a:xfrm>
              <a:off x="4430267" y="1754124"/>
              <a:ext cx="1042669" cy="265430"/>
            </a:xfrm>
            <a:custGeom>
              <a:avLst/>
              <a:gdLst/>
              <a:ahLst/>
              <a:cxnLst/>
              <a:rect l="l" t="t" r="r" b="b"/>
              <a:pathLst>
                <a:path w="1042670" h="265430">
                  <a:moveTo>
                    <a:pt x="0" y="265175"/>
                  </a:moveTo>
                  <a:lnTo>
                    <a:pt x="1042415" y="265175"/>
                  </a:lnTo>
                  <a:lnTo>
                    <a:pt x="1042415" y="0"/>
                  </a:lnTo>
                  <a:lnTo>
                    <a:pt x="0" y="0"/>
                  </a:lnTo>
                  <a:lnTo>
                    <a:pt x="0" y="265175"/>
                  </a:lnTo>
                  <a:close/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17">
              <a:extLst>
                <a:ext uri="{FF2B5EF4-FFF2-40B4-BE49-F238E27FC236}">
                  <a16:creationId xmlns:a16="http://schemas.microsoft.com/office/drawing/2014/main" id="{F9454E8D-EED0-1809-82C0-1992E63C5D21}"/>
                </a:ext>
              </a:extLst>
            </p:cNvPr>
            <p:cNvSpPr/>
            <p:nvPr/>
          </p:nvSpPr>
          <p:spPr>
            <a:xfrm>
              <a:off x="2862071" y="1892808"/>
              <a:ext cx="2597150" cy="1844675"/>
            </a:xfrm>
            <a:custGeom>
              <a:avLst/>
              <a:gdLst/>
              <a:ahLst/>
              <a:cxnLst/>
              <a:rect l="l" t="t" r="r" b="b"/>
              <a:pathLst>
                <a:path w="2597150" h="1844675">
                  <a:moveTo>
                    <a:pt x="539495" y="12192"/>
                  </a:moveTo>
                  <a:lnTo>
                    <a:pt x="158495" y="12192"/>
                  </a:lnTo>
                </a:path>
                <a:path w="2597150" h="1844675">
                  <a:moveTo>
                    <a:pt x="178307" y="0"/>
                  </a:moveTo>
                  <a:lnTo>
                    <a:pt x="180085" y="1844294"/>
                  </a:lnTo>
                </a:path>
                <a:path w="2597150" h="1844675">
                  <a:moveTo>
                    <a:pt x="0" y="867918"/>
                  </a:moveTo>
                  <a:lnTo>
                    <a:pt x="6261" y="826404"/>
                  </a:lnTo>
                  <a:lnTo>
                    <a:pt x="23932" y="789093"/>
                  </a:lnTo>
                  <a:lnTo>
                    <a:pt x="51339" y="757475"/>
                  </a:lnTo>
                  <a:lnTo>
                    <a:pt x="86811" y="733044"/>
                  </a:lnTo>
                  <a:lnTo>
                    <a:pt x="128675" y="717290"/>
                  </a:lnTo>
                  <a:lnTo>
                    <a:pt x="175259" y="711708"/>
                  </a:lnTo>
                  <a:lnTo>
                    <a:pt x="221844" y="717290"/>
                  </a:lnTo>
                  <a:lnTo>
                    <a:pt x="263708" y="733044"/>
                  </a:lnTo>
                  <a:lnTo>
                    <a:pt x="299180" y="757475"/>
                  </a:lnTo>
                  <a:lnTo>
                    <a:pt x="326587" y="789093"/>
                  </a:lnTo>
                  <a:lnTo>
                    <a:pt x="344258" y="826404"/>
                  </a:lnTo>
                  <a:lnTo>
                    <a:pt x="350519" y="867918"/>
                  </a:lnTo>
                  <a:lnTo>
                    <a:pt x="344258" y="909431"/>
                  </a:lnTo>
                  <a:lnTo>
                    <a:pt x="326587" y="946742"/>
                  </a:lnTo>
                  <a:lnTo>
                    <a:pt x="299180" y="978360"/>
                  </a:lnTo>
                  <a:lnTo>
                    <a:pt x="263708" y="1002792"/>
                  </a:lnTo>
                  <a:lnTo>
                    <a:pt x="221844" y="1018545"/>
                  </a:lnTo>
                  <a:lnTo>
                    <a:pt x="175259" y="1024128"/>
                  </a:lnTo>
                  <a:lnTo>
                    <a:pt x="128675" y="1018545"/>
                  </a:lnTo>
                  <a:lnTo>
                    <a:pt x="86811" y="1002792"/>
                  </a:lnTo>
                  <a:lnTo>
                    <a:pt x="51339" y="978360"/>
                  </a:lnTo>
                  <a:lnTo>
                    <a:pt x="23932" y="946742"/>
                  </a:lnTo>
                  <a:lnTo>
                    <a:pt x="6261" y="909431"/>
                  </a:lnTo>
                  <a:lnTo>
                    <a:pt x="0" y="867918"/>
                  </a:lnTo>
                  <a:close/>
                </a:path>
                <a:path w="2597150" h="1844675">
                  <a:moveTo>
                    <a:pt x="158495" y="1831848"/>
                  </a:moveTo>
                  <a:lnTo>
                    <a:pt x="2596895" y="1840103"/>
                  </a:lnTo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18">
            <a:extLst>
              <a:ext uri="{FF2B5EF4-FFF2-40B4-BE49-F238E27FC236}">
                <a16:creationId xmlns:a16="http://schemas.microsoft.com/office/drawing/2014/main" id="{05D242BF-840D-664E-D39C-DF5221B67BF3}"/>
              </a:ext>
            </a:extLst>
          </p:cNvPr>
          <p:cNvSpPr txBox="1"/>
          <p:nvPr/>
        </p:nvSpPr>
        <p:spPr>
          <a:xfrm>
            <a:off x="2730570" y="22092"/>
            <a:ext cx="36385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00" spc="-37" baseline="11904" dirty="0">
                <a:latin typeface="Cambria Math"/>
                <a:cs typeface="Cambria Math"/>
              </a:rPr>
              <a:t>𝑹</a:t>
            </a:r>
            <a:r>
              <a:rPr sz="1000" spc="-25" dirty="0">
                <a:latin typeface="Cambria Math"/>
                <a:cs typeface="Cambria Math"/>
              </a:rPr>
              <a:t>𝑻𝒉</a:t>
            </a:r>
            <a:endParaRPr sz="1000" dirty="0">
              <a:latin typeface="Cambria Math"/>
              <a:cs typeface="Cambria Math"/>
            </a:endParaRPr>
          </a:p>
        </p:txBody>
      </p:sp>
      <p:sp>
        <p:nvSpPr>
          <p:cNvPr id="80" name="object 19">
            <a:extLst>
              <a:ext uri="{FF2B5EF4-FFF2-40B4-BE49-F238E27FC236}">
                <a16:creationId xmlns:a16="http://schemas.microsoft.com/office/drawing/2014/main" id="{F350BFEF-C9B7-046D-5E1C-C1B3B223964C}"/>
              </a:ext>
            </a:extLst>
          </p:cNvPr>
          <p:cNvSpPr/>
          <p:nvPr/>
        </p:nvSpPr>
        <p:spPr>
          <a:xfrm>
            <a:off x="493785" y="487799"/>
            <a:ext cx="173990" cy="1639570"/>
          </a:xfrm>
          <a:custGeom>
            <a:avLst/>
            <a:gdLst/>
            <a:ahLst/>
            <a:cxnLst/>
            <a:rect l="l" t="t" r="r" b="b"/>
            <a:pathLst>
              <a:path w="173989" h="1639570">
                <a:moveTo>
                  <a:pt x="115824" y="144780"/>
                </a:moveTo>
                <a:lnTo>
                  <a:pt x="57912" y="144780"/>
                </a:lnTo>
                <a:lnTo>
                  <a:pt x="57912" y="1639189"/>
                </a:lnTo>
                <a:lnTo>
                  <a:pt x="115824" y="1639189"/>
                </a:lnTo>
                <a:lnTo>
                  <a:pt x="115824" y="144780"/>
                </a:lnTo>
                <a:close/>
              </a:path>
              <a:path w="173989" h="1639570">
                <a:moveTo>
                  <a:pt x="86868" y="0"/>
                </a:moveTo>
                <a:lnTo>
                  <a:pt x="0" y="173736"/>
                </a:lnTo>
                <a:lnTo>
                  <a:pt x="57912" y="173736"/>
                </a:lnTo>
                <a:lnTo>
                  <a:pt x="57912" y="144780"/>
                </a:lnTo>
                <a:lnTo>
                  <a:pt x="159258" y="144780"/>
                </a:lnTo>
                <a:lnTo>
                  <a:pt x="86868" y="0"/>
                </a:lnTo>
                <a:close/>
              </a:path>
              <a:path w="173989" h="1639570">
                <a:moveTo>
                  <a:pt x="159258" y="144780"/>
                </a:moveTo>
                <a:lnTo>
                  <a:pt x="115824" y="144780"/>
                </a:lnTo>
                <a:lnTo>
                  <a:pt x="115824" y="173736"/>
                </a:lnTo>
                <a:lnTo>
                  <a:pt x="173736" y="173736"/>
                </a:lnTo>
                <a:lnTo>
                  <a:pt x="159258" y="144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1" name="object 21">
            <a:extLst>
              <a:ext uri="{FF2B5EF4-FFF2-40B4-BE49-F238E27FC236}">
                <a16:creationId xmlns:a16="http://schemas.microsoft.com/office/drawing/2014/main" id="{EC2EFFB1-3E72-E831-687E-1E07C37890F6}"/>
              </a:ext>
            </a:extLst>
          </p:cNvPr>
          <p:cNvGrpSpPr/>
          <p:nvPr/>
        </p:nvGrpSpPr>
        <p:grpSpPr>
          <a:xfrm>
            <a:off x="822968" y="343527"/>
            <a:ext cx="1082548" cy="1120902"/>
            <a:chOff x="2862071" y="1815592"/>
            <a:chExt cx="1082548" cy="1120902"/>
          </a:xfrm>
        </p:grpSpPr>
        <p:sp>
          <p:nvSpPr>
            <p:cNvPr id="82" name="object 22">
              <a:extLst>
                <a:ext uri="{FF2B5EF4-FFF2-40B4-BE49-F238E27FC236}">
                  <a16:creationId xmlns:a16="http://schemas.microsoft.com/office/drawing/2014/main" id="{1B8AF1AE-D028-8F70-04D9-37F5143F2C76}"/>
                </a:ext>
              </a:extLst>
            </p:cNvPr>
            <p:cNvSpPr/>
            <p:nvPr/>
          </p:nvSpPr>
          <p:spPr>
            <a:xfrm>
              <a:off x="3068573" y="2531364"/>
              <a:ext cx="0" cy="405130"/>
            </a:xfrm>
            <a:custGeom>
              <a:avLst/>
              <a:gdLst/>
              <a:ahLst/>
              <a:cxnLst/>
              <a:rect l="l" t="t" r="r" b="b"/>
              <a:pathLst>
                <a:path h="405130">
                  <a:moveTo>
                    <a:pt x="0" y="0"/>
                  </a:moveTo>
                  <a:lnTo>
                    <a:pt x="0" y="405003"/>
                  </a:lnTo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23">
              <a:extLst>
                <a:ext uri="{FF2B5EF4-FFF2-40B4-BE49-F238E27FC236}">
                  <a16:creationId xmlns:a16="http://schemas.microsoft.com/office/drawing/2014/main" id="{09D3E3EE-057D-AB1B-FF32-6B44E4F93C85}"/>
                </a:ext>
              </a:extLst>
            </p:cNvPr>
            <p:cNvSpPr/>
            <p:nvPr/>
          </p:nvSpPr>
          <p:spPr>
            <a:xfrm>
              <a:off x="2862071" y="2529840"/>
              <a:ext cx="352425" cy="405130"/>
            </a:xfrm>
            <a:custGeom>
              <a:avLst/>
              <a:gdLst/>
              <a:ahLst/>
              <a:cxnLst/>
              <a:rect l="l" t="t" r="r" b="b"/>
              <a:pathLst>
                <a:path w="352425" h="405130">
                  <a:moveTo>
                    <a:pt x="0" y="229362"/>
                  </a:moveTo>
                  <a:lnTo>
                    <a:pt x="8979" y="188659"/>
                  </a:lnTo>
                  <a:lnTo>
                    <a:pt x="33979" y="153308"/>
                  </a:lnTo>
                  <a:lnTo>
                    <a:pt x="72091" y="125431"/>
                  </a:lnTo>
                  <a:lnTo>
                    <a:pt x="120408" y="107149"/>
                  </a:lnTo>
                  <a:lnTo>
                    <a:pt x="176021" y="100584"/>
                  </a:lnTo>
                  <a:lnTo>
                    <a:pt x="231635" y="107149"/>
                  </a:lnTo>
                  <a:lnTo>
                    <a:pt x="279952" y="125431"/>
                  </a:lnTo>
                  <a:lnTo>
                    <a:pt x="318064" y="153308"/>
                  </a:lnTo>
                  <a:lnTo>
                    <a:pt x="343064" y="188659"/>
                  </a:lnTo>
                  <a:lnTo>
                    <a:pt x="352044" y="229362"/>
                  </a:lnTo>
                  <a:lnTo>
                    <a:pt x="343064" y="270064"/>
                  </a:lnTo>
                  <a:lnTo>
                    <a:pt x="318064" y="305415"/>
                  </a:lnTo>
                  <a:lnTo>
                    <a:pt x="279952" y="333292"/>
                  </a:lnTo>
                  <a:lnTo>
                    <a:pt x="231635" y="351574"/>
                  </a:lnTo>
                  <a:lnTo>
                    <a:pt x="176021" y="358140"/>
                  </a:lnTo>
                  <a:lnTo>
                    <a:pt x="120408" y="351574"/>
                  </a:lnTo>
                  <a:lnTo>
                    <a:pt x="72091" y="333292"/>
                  </a:lnTo>
                  <a:lnTo>
                    <a:pt x="33979" y="305415"/>
                  </a:lnTo>
                  <a:lnTo>
                    <a:pt x="8979" y="270064"/>
                  </a:lnTo>
                  <a:lnTo>
                    <a:pt x="0" y="229362"/>
                  </a:lnTo>
                  <a:close/>
                </a:path>
                <a:path w="352425" h="405130">
                  <a:moveTo>
                    <a:pt x="176783" y="0"/>
                  </a:moveTo>
                  <a:lnTo>
                    <a:pt x="176783" y="405003"/>
                  </a:lnTo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24">
              <a:extLst>
                <a:ext uri="{FF2B5EF4-FFF2-40B4-BE49-F238E27FC236}">
                  <a16:creationId xmlns:a16="http://schemas.microsoft.com/office/drawing/2014/main" id="{01640468-1385-2D73-A83A-64BD97D7FBF5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43400" y="1815592"/>
              <a:ext cx="101219" cy="200279"/>
            </a:xfrm>
            <a:prstGeom prst="rect">
              <a:avLst/>
            </a:prstGeom>
          </p:spPr>
        </p:pic>
      </p:grpSp>
      <p:sp>
        <p:nvSpPr>
          <p:cNvPr id="88" name="object 33">
            <a:extLst>
              <a:ext uri="{FF2B5EF4-FFF2-40B4-BE49-F238E27FC236}">
                <a16:creationId xmlns:a16="http://schemas.microsoft.com/office/drawing/2014/main" id="{28E6A5F6-E139-C4EA-3015-4474319931A6}"/>
              </a:ext>
            </a:extLst>
          </p:cNvPr>
          <p:cNvSpPr txBox="1"/>
          <p:nvPr/>
        </p:nvSpPr>
        <p:spPr>
          <a:xfrm>
            <a:off x="125739" y="1029581"/>
            <a:ext cx="1428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ambria Math"/>
                <a:cs typeface="Cambria Math"/>
              </a:rPr>
              <a:t>𝑬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89" name="object 34">
            <a:extLst>
              <a:ext uri="{FF2B5EF4-FFF2-40B4-BE49-F238E27FC236}">
                <a16:creationId xmlns:a16="http://schemas.microsoft.com/office/drawing/2014/main" id="{D7CC193B-CBAA-6671-CE44-8CC53C8C90E7}"/>
              </a:ext>
            </a:extLst>
          </p:cNvPr>
          <p:cNvSpPr txBox="1"/>
          <p:nvPr/>
        </p:nvSpPr>
        <p:spPr>
          <a:xfrm>
            <a:off x="243086" y="1114924"/>
            <a:ext cx="187960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latin typeface="Cambria Math"/>
                <a:cs typeface="Cambria Math"/>
              </a:rPr>
              <a:t>𝑻𝒉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0" name="object 41">
            <a:extLst>
              <a:ext uri="{FF2B5EF4-FFF2-40B4-BE49-F238E27FC236}">
                <a16:creationId xmlns:a16="http://schemas.microsoft.com/office/drawing/2014/main" id="{AF51E193-B809-57A0-92A0-8C6B1B46C6E2}"/>
              </a:ext>
            </a:extLst>
          </p:cNvPr>
          <p:cNvSpPr txBox="1"/>
          <p:nvPr/>
        </p:nvSpPr>
        <p:spPr>
          <a:xfrm>
            <a:off x="5377180" y="1205411"/>
            <a:ext cx="1854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𝑹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92" name="object 43">
            <a:extLst>
              <a:ext uri="{FF2B5EF4-FFF2-40B4-BE49-F238E27FC236}">
                <a16:creationId xmlns:a16="http://schemas.microsoft.com/office/drawing/2014/main" id="{06C3158E-006E-EA2F-2716-373FA3FDCB38}"/>
              </a:ext>
            </a:extLst>
          </p:cNvPr>
          <p:cNvSpPr txBox="1"/>
          <p:nvPr/>
        </p:nvSpPr>
        <p:spPr>
          <a:xfrm>
            <a:off x="1932187" y="105020"/>
            <a:ext cx="125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𝑰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5" name="Flèche droite 4"/>
          <p:cNvSpPr/>
          <p:nvPr/>
        </p:nvSpPr>
        <p:spPr>
          <a:xfrm>
            <a:off x="5940968" y="556827"/>
            <a:ext cx="685800" cy="4243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1" name="object 16">
            <a:extLst>
              <a:ext uri="{FF2B5EF4-FFF2-40B4-BE49-F238E27FC236}">
                <a16:creationId xmlns:a16="http://schemas.microsoft.com/office/drawing/2014/main" id="{8E2BAC22-9337-D9F4-5673-5CCED6B7C738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46705" y="354652"/>
            <a:ext cx="184403" cy="143256"/>
          </a:xfrm>
          <a:prstGeom prst="rect">
            <a:avLst/>
          </a:prstGeom>
        </p:spPr>
      </p:pic>
      <p:pic>
        <p:nvPicPr>
          <p:cNvPr id="102" name="object 16">
            <a:extLst>
              <a:ext uri="{FF2B5EF4-FFF2-40B4-BE49-F238E27FC236}">
                <a16:creationId xmlns:a16="http://schemas.microsoft.com/office/drawing/2014/main" id="{8E2BAC22-9337-D9F4-5673-5CCED6B7C738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46705" y="2160447"/>
            <a:ext cx="184403" cy="14325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4098005" y="3194334"/>
            <a:ext cx="719390" cy="481626"/>
          </a:xfrm>
          <a:prstGeom prst="rect">
            <a:avLst/>
          </a:prstGeom>
        </p:spPr>
      </p:pic>
      <p:sp>
        <p:nvSpPr>
          <p:cNvPr id="103" name="object 18">
            <a:extLst>
              <a:ext uri="{FF2B5EF4-FFF2-40B4-BE49-F238E27FC236}">
                <a16:creationId xmlns:a16="http://schemas.microsoft.com/office/drawing/2014/main" id="{F36FFEED-4058-C66D-401D-C896F8FFC407}"/>
              </a:ext>
            </a:extLst>
          </p:cNvPr>
          <p:cNvSpPr txBox="1"/>
          <p:nvPr/>
        </p:nvSpPr>
        <p:spPr>
          <a:xfrm>
            <a:off x="5194002" y="175530"/>
            <a:ext cx="1905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Bookman Old Style" panose="02050604050505020204" pitchFamily="18" charset="0"/>
                <a:cs typeface="Times New Roman"/>
              </a:rPr>
              <a:t>A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04" name="object 19">
            <a:extLst>
              <a:ext uri="{FF2B5EF4-FFF2-40B4-BE49-F238E27FC236}">
                <a16:creationId xmlns:a16="http://schemas.microsoft.com/office/drawing/2014/main" id="{D6D64AD9-192D-2526-73EE-58D6ADE25C23}"/>
              </a:ext>
            </a:extLst>
          </p:cNvPr>
          <p:cNvSpPr txBox="1"/>
          <p:nvPr/>
        </p:nvSpPr>
        <p:spPr>
          <a:xfrm>
            <a:off x="5260164" y="2241756"/>
            <a:ext cx="17843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Bookman Old Style" panose="02050604050505020204" pitchFamily="18" charset="0"/>
                <a:cs typeface="Times New Roman"/>
              </a:rPr>
              <a:t>B</a:t>
            </a:r>
            <a:endParaRPr sz="1100" dirty="0">
              <a:latin typeface="Bookman Old Style" panose="02050604050505020204" pitchFamily="18" charset="0"/>
              <a:cs typeface="Times New Roman"/>
            </a:endParaRPr>
          </a:p>
        </p:txBody>
      </p:sp>
      <p:pic>
        <p:nvPicPr>
          <p:cNvPr id="108" name="object 24">
            <a:extLst>
              <a:ext uri="{FF2B5EF4-FFF2-40B4-BE49-F238E27FC236}">
                <a16:creationId xmlns:a16="http://schemas.microsoft.com/office/drawing/2014/main" id="{01640468-1385-2D73-A83A-64BD97D7FBF5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00961" y="2553854"/>
            <a:ext cx="101219" cy="200279"/>
          </a:xfrm>
          <a:prstGeom prst="rect">
            <a:avLst/>
          </a:prstGeom>
        </p:spPr>
      </p:pic>
      <p:sp>
        <p:nvSpPr>
          <p:cNvPr id="109" name="object 43">
            <a:extLst>
              <a:ext uri="{FF2B5EF4-FFF2-40B4-BE49-F238E27FC236}">
                <a16:creationId xmlns:a16="http://schemas.microsoft.com/office/drawing/2014/main" id="{06C3158E-006E-EA2F-2716-373FA3FDCB38}"/>
              </a:ext>
            </a:extLst>
          </p:cNvPr>
          <p:cNvSpPr txBox="1"/>
          <p:nvPr/>
        </p:nvSpPr>
        <p:spPr>
          <a:xfrm>
            <a:off x="7983029" y="2229501"/>
            <a:ext cx="267178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𝑰</a:t>
            </a:r>
            <a:endParaRPr sz="1800" dirty="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92946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3" grpId="0"/>
      <p:bldP spid="6144" grpId="0"/>
      <p:bldP spid="6146" grpId="0"/>
      <p:bldP spid="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59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409360" y="29250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3.4 </a:t>
            </a:r>
            <a:r>
              <a:rPr lang="fr-FR" altLang="fr-FR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Théorème de Superposition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D3431C-BD96-2637-FB5A-7AEB88D904E5}"/>
              </a:ext>
            </a:extLst>
          </p:cNvPr>
          <p:cNvSpPr txBox="1"/>
          <p:nvPr/>
        </p:nvSpPr>
        <p:spPr>
          <a:xfrm>
            <a:off x="790360" y="760714"/>
            <a:ext cx="4588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2000" b="1" spc="-5">
                <a:solidFill>
                  <a:srgbClr val="CC00CC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800" dirty="0">
                <a:solidFill>
                  <a:srgbClr val="00B050"/>
                </a:solidFill>
              </a:rPr>
              <a:t>A. Principe de superposition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F6B83F-D821-27DE-FC84-A12A8C9E0759}"/>
              </a:ext>
            </a:extLst>
          </p:cNvPr>
          <p:cNvSpPr txBox="1"/>
          <p:nvPr/>
        </p:nvSpPr>
        <p:spPr>
          <a:xfrm>
            <a:off x="790360" y="1428750"/>
            <a:ext cx="7210640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sz="1800" dirty="0"/>
              <a:t>Soit un </a:t>
            </a:r>
            <a:r>
              <a:rPr lang="fr-FR" sz="1800" b="1" dirty="0"/>
              <a:t>circuit linéaire </a:t>
            </a:r>
            <a:r>
              <a:rPr lang="fr-FR" sz="1800" dirty="0"/>
              <a:t>comportant plusieurs </a:t>
            </a:r>
            <a:r>
              <a:rPr lang="fr-FR" sz="1800" b="1" dirty="0"/>
              <a:t>sources autonomes de tension</a:t>
            </a:r>
            <a:r>
              <a:rPr lang="fr-FR" sz="1800" dirty="0"/>
              <a:t> </a:t>
            </a:r>
            <a:r>
              <a:rPr lang="fr-FR" sz="1800" b="1" dirty="0"/>
              <a:t>et de courant</a:t>
            </a:r>
            <a:r>
              <a:rPr lang="fr-FR" sz="1800" dirty="0"/>
              <a:t>. </a:t>
            </a:r>
            <a:r>
              <a:rPr lang="fr-FR" sz="1800" b="1" dirty="0"/>
              <a:t>Le courant dans une branche </a:t>
            </a:r>
            <a:r>
              <a:rPr lang="fr-FR" sz="1800" dirty="0"/>
              <a:t>(ou la tension aux bornes d'une branche) </a:t>
            </a:r>
            <a:r>
              <a:rPr lang="fr-FR" sz="1800" b="1" dirty="0"/>
              <a:t>est égal à la somme algébrique des courants </a:t>
            </a:r>
            <a:r>
              <a:rPr lang="fr-FR" sz="1800" dirty="0"/>
              <a:t>(ou des tensions) produits séparément par chaque source autonome, toutes les autres sources autonomes étant </a:t>
            </a:r>
            <a:r>
              <a:rPr lang="fr-FR" sz="1800" b="1" dirty="0"/>
              <a:t>éteintes</a:t>
            </a:r>
            <a:r>
              <a:rPr lang="fr-F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9113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60</a:t>
            </a:fld>
            <a:endParaRPr sz="2400" dirty="0">
              <a:latin typeface="Arial"/>
              <a:cs typeface="Arial"/>
            </a:endParaRPr>
          </a:p>
        </p:txBody>
      </p:sp>
      <p:grpSp>
        <p:nvGrpSpPr>
          <p:cNvPr id="6" name="Groupe 5"/>
          <p:cNvGrpSpPr/>
          <p:nvPr/>
        </p:nvGrpSpPr>
        <p:grpSpPr>
          <a:xfrm>
            <a:off x="2704111" y="2905125"/>
            <a:ext cx="6322996" cy="1190625"/>
            <a:chOff x="2704111" y="2183746"/>
            <a:chExt cx="6322996" cy="1190625"/>
          </a:xfrm>
        </p:grpSpPr>
        <p:grpSp>
          <p:nvGrpSpPr>
            <p:cNvPr id="38" name="Group 24">
              <a:extLst>
                <a:ext uri="{FF2B5EF4-FFF2-40B4-BE49-F238E27FC236}">
                  <a16:creationId xmlns:a16="http://schemas.microsoft.com/office/drawing/2014/main" id="{89827C7F-CE6B-F43C-0239-750BB048C2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5580" y="2183746"/>
              <a:ext cx="5851527" cy="1162050"/>
              <a:chOff x="2100" y="768"/>
              <a:chExt cx="3686" cy="732"/>
            </a:xfrm>
          </p:grpSpPr>
          <p:sp>
            <p:nvSpPr>
              <p:cNvPr id="39" name="Rectangle 25">
                <a:extLst>
                  <a:ext uri="{FF2B5EF4-FFF2-40B4-BE49-F238E27FC236}">
                    <a16:creationId xmlns:a16="http://schemas.microsoft.com/office/drawing/2014/main" id="{F19DF35A-2108-02E5-8F98-476FE0345E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3" y="768"/>
                <a:ext cx="1290" cy="73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FR" dirty="0"/>
              </a:p>
            </p:txBody>
          </p:sp>
          <p:sp>
            <p:nvSpPr>
              <p:cNvPr id="40" name="Rectangle 26">
                <a:extLst>
                  <a:ext uri="{FF2B5EF4-FFF2-40B4-BE49-F238E27FC236}">
                    <a16:creationId xmlns:a16="http://schemas.microsoft.com/office/drawing/2014/main" id="{02F61EE6-A9F7-B1F3-C9AB-77B51D06FA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3465" y="898"/>
                <a:ext cx="96" cy="15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1" name="Rectangle 27">
                <a:extLst>
                  <a:ext uri="{FF2B5EF4-FFF2-40B4-BE49-F238E27FC236}">
                    <a16:creationId xmlns:a16="http://schemas.microsoft.com/office/drawing/2014/main" id="{7569FF18-2156-F733-F7AF-8C02EAC63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2189" y="898"/>
                <a:ext cx="95" cy="15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2" name="Line 28">
                <a:extLst>
                  <a:ext uri="{FF2B5EF4-FFF2-40B4-BE49-F238E27FC236}">
                    <a16:creationId xmlns:a16="http://schemas.microsoft.com/office/drawing/2014/main" id="{CE3992AA-92BB-0077-B1FA-0E137B5690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80" y="1128"/>
                <a:ext cx="0" cy="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3" name="Oval 29">
                <a:extLst>
                  <a:ext uri="{FF2B5EF4-FFF2-40B4-BE49-F238E27FC236}">
                    <a16:creationId xmlns:a16="http://schemas.microsoft.com/office/drawing/2014/main" id="{476F7DA1-B99C-7E79-5C4C-64251AB03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0" y="1153"/>
                <a:ext cx="246" cy="198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4" name="Line 30">
                <a:extLst>
                  <a:ext uri="{FF2B5EF4-FFF2-40B4-BE49-F238E27FC236}">
                    <a16:creationId xmlns:a16="http://schemas.microsoft.com/office/drawing/2014/main" id="{A080D2C6-06F2-FEB5-820B-18A34B184C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3" y="1172"/>
                <a:ext cx="0" cy="16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5" name="Line 31">
                <a:extLst>
                  <a:ext uri="{FF2B5EF4-FFF2-40B4-BE49-F238E27FC236}">
                    <a16:creationId xmlns:a16="http://schemas.microsoft.com/office/drawing/2014/main" id="{F58F924B-636E-FD2B-5AB8-AC97B01C60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4" y="774"/>
                <a:ext cx="0" cy="72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" name="Rectangle 32">
                <a:extLst>
                  <a:ext uri="{FF2B5EF4-FFF2-40B4-BE49-F238E27FC236}">
                    <a16:creationId xmlns:a16="http://schemas.microsoft.com/office/drawing/2014/main" id="{528E995A-9A6E-8D2B-3A26-5C6AB313F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2776" y="997"/>
                <a:ext cx="95" cy="273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8" name="Text Box 33">
                <a:extLst>
                  <a:ext uri="{FF2B5EF4-FFF2-40B4-BE49-F238E27FC236}">
                    <a16:creationId xmlns:a16="http://schemas.microsoft.com/office/drawing/2014/main" id="{46F96845-4FE9-2DB8-A0AF-F106B4A3EF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0" y="804"/>
                <a:ext cx="26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/>
                  <a:t>r</a:t>
                </a:r>
              </a:p>
            </p:txBody>
          </p:sp>
          <p:sp>
            <p:nvSpPr>
              <p:cNvPr id="50" name="Text Box 35">
                <a:extLst>
                  <a:ext uri="{FF2B5EF4-FFF2-40B4-BE49-F238E27FC236}">
                    <a16:creationId xmlns:a16="http://schemas.microsoft.com/office/drawing/2014/main" id="{FBC9E52F-E056-2314-0C73-B7977AE374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6" y="780"/>
                <a:ext cx="27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>
                    <a:sym typeface="Symbol" pitchFamily="18" charset="2"/>
                  </a:rPr>
                  <a:t></a:t>
                </a:r>
                <a:endParaRPr lang="fr-FR"/>
              </a:p>
            </p:txBody>
          </p:sp>
          <p:sp>
            <p:nvSpPr>
              <p:cNvPr id="69" name="Text Box 34">
                <a:extLst>
                  <a:ext uri="{FF2B5EF4-FFF2-40B4-BE49-F238E27FC236}">
                    <a16:creationId xmlns:a16="http://schemas.microsoft.com/office/drawing/2014/main" id="{96FDA75A-B1D9-5B4E-B0F4-D56529B33C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45" y="1144"/>
                <a:ext cx="341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dirty="0" smtClean="0"/>
                  <a:t>E</a:t>
                </a:r>
                <a:r>
                  <a:rPr lang="fr-FR" baseline="-25000" dirty="0" smtClean="0"/>
                  <a:t>2</a:t>
                </a:r>
                <a:endParaRPr lang="fr-FR" baseline="-25000" dirty="0"/>
              </a:p>
            </p:txBody>
          </p:sp>
        </p:grpSp>
        <p:grpSp>
          <p:nvGrpSpPr>
            <p:cNvPr id="3" name="Groupe 2"/>
            <p:cNvGrpSpPr/>
            <p:nvPr/>
          </p:nvGrpSpPr>
          <p:grpSpPr>
            <a:xfrm>
              <a:off x="2704111" y="2212321"/>
              <a:ext cx="5818391" cy="1162050"/>
              <a:chOff x="2704111" y="2212321"/>
              <a:chExt cx="5818391" cy="1162050"/>
            </a:xfrm>
          </p:grpSpPr>
          <p:sp>
            <p:nvSpPr>
              <p:cNvPr id="21" name="Text Box 7">
                <a:extLst>
                  <a:ext uri="{FF2B5EF4-FFF2-40B4-BE49-F238E27FC236}">
                    <a16:creationId xmlns:a16="http://schemas.microsoft.com/office/drawing/2014/main" id="{81582C03-BD3D-EEE3-E5F1-9362152EB3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4111" y="2309157"/>
                <a:ext cx="533400" cy="7016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sz="4000" b="1" dirty="0">
                    <a:solidFill>
                      <a:srgbClr val="FF0000"/>
                    </a:solidFill>
                  </a:rPr>
                  <a:t>=</a:t>
                </a:r>
              </a:p>
            </p:txBody>
          </p:sp>
          <p:sp>
            <p:nvSpPr>
              <p:cNvPr id="22" name="Text Box 8">
                <a:extLst>
                  <a:ext uri="{FF2B5EF4-FFF2-40B4-BE49-F238E27FC236}">
                    <a16:creationId xmlns:a16="http://schemas.microsoft.com/office/drawing/2014/main" id="{28DD7936-2C0F-3008-A0F5-0749A6BC42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09218" y="2413933"/>
                <a:ext cx="533400" cy="7016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sz="4000" b="1" dirty="0">
                    <a:solidFill>
                      <a:srgbClr val="FF0000"/>
                    </a:solidFill>
                  </a:rPr>
                  <a:t>+</a:t>
                </a:r>
              </a:p>
            </p:txBody>
          </p:sp>
          <p:grpSp>
            <p:nvGrpSpPr>
              <p:cNvPr id="51" name="Group 36">
                <a:extLst>
                  <a:ext uri="{FF2B5EF4-FFF2-40B4-BE49-F238E27FC236}">
                    <a16:creationId xmlns:a16="http://schemas.microsoft.com/office/drawing/2014/main" id="{CEA72CAB-1EC0-633B-70FD-F8B55358E5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25389" y="2212321"/>
                <a:ext cx="2297113" cy="1162050"/>
                <a:chOff x="3989" y="780"/>
                <a:chExt cx="1447" cy="732"/>
              </a:xfrm>
            </p:grpSpPr>
            <p:sp>
              <p:nvSpPr>
                <p:cNvPr id="52" name="Rectangle 37">
                  <a:extLst>
                    <a:ext uri="{FF2B5EF4-FFF2-40B4-BE49-F238E27FC236}">
                      <a16:creationId xmlns:a16="http://schemas.microsoft.com/office/drawing/2014/main" id="{EF3B42B2-72E1-6911-46C7-42796BA289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3" y="780"/>
                  <a:ext cx="1290" cy="73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3" name="Rectangle 38">
                  <a:extLst>
                    <a:ext uri="{FF2B5EF4-FFF2-40B4-BE49-F238E27FC236}">
                      <a16:creationId xmlns:a16="http://schemas.microsoft.com/office/drawing/2014/main" id="{E0AA2B3F-67A0-759E-CE2B-A8FBE6D9BC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5265" y="910"/>
                  <a:ext cx="96" cy="155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4" name="Line 39">
                  <a:extLst>
                    <a:ext uri="{FF2B5EF4-FFF2-40B4-BE49-F238E27FC236}">
                      <a16:creationId xmlns:a16="http://schemas.microsoft.com/office/drawing/2014/main" id="{875DFF5F-C1B5-8AD1-29A7-B31B4A40B9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56" y="1140"/>
                  <a:ext cx="0" cy="25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5" name="Oval 40">
                  <a:extLst>
                    <a:ext uri="{FF2B5EF4-FFF2-40B4-BE49-F238E27FC236}">
                      <a16:creationId xmlns:a16="http://schemas.microsoft.com/office/drawing/2014/main" id="{38BA2958-B260-DAF1-F0CB-FCE710DD01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90" y="1165"/>
                  <a:ext cx="246" cy="198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6" name="Line 41">
                  <a:extLst>
                    <a:ext uri="{FF2B5EF4-FFF2-40B4-BE49-F238E27FC236}">
                      <a16:creationId xmlns:a16="http://schemas.microsoft.com/office/drawing/2014/main" id="{2033B203-18AE-9AFC-45C9-5953F3D176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13" y="1184"/>
                  <a:ext cx="0" cy="16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7" name="Rectangle 42">
                  <a:extLst>
                    <a:ext uri="{FF2B5EF4-FFF2-40B4-BE49-F238E27FC236}">
                      <a16:creationId xmlns:a16="http://schemas.microsoft.com/office/drawing/2014/main" id="{81E47516-831D-88EC-E418-159AB28DB8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3989" y="910"/>
                  <a:ext cx="95" cy="155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58" name="Line 43">
                  <a:extLst>
                    <a:ext uri="{FF2B5EF4-FFF2-40B4-BE49-F238E27FC236}">
                      <a16:creationId xmlns:a16="http://schemas.microsoft.com/office/drawing/2014/main" id="{946F18BC-3961-375D-12D0-8E0E159C87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24" y="786"/>
                  <a:ext cx="0" cy="72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9" name="Rectangle 44">
                  <a:extLst>
                    <a:ext uri="{FF2B5EF4-FFF2-40B4-BE49-F238E27FC236}">
                      <a16:creationId xmlns:a16="http://schemas.microsoft.com/office/drawing/2014/main" id="{DBB95CE4-4B22-6292-ADA6-89AC48EA87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4576" y="1009"/>
                  <a:ext cx="95" cy="273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60" name="Text Box 45">
                  <a:extLst>
                    <a:ext uri="{FF2B5EF4-FFF2-40B4-BE49-F238E27FC236}">
                      <a16:creationId xmlns:a16="http://schemas.microsoft.com/office/drawing/2014/main" id="{1FF439AB-C0D1-97D7-5B68-41D6F6B91DF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68" y="816"/>
                  <a:ext cx="264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fr-FR"/>
                    <a:t>r</a:t>
                  </a:r>
                </a:p>
              </p:txBody>
            </p:sp>
            <p:sp>
              <p:nvSpPr>
                <p:cNvPr id="61" name="Text Box 46">
                  <a:extLst>
                    <a:ext uri="{FF2B5EF4-FFF2-40B4-BE49-F238E27FC236}">
                      <a16:creationId xmlns:a16="http://schemas.microsoft.com/office/drawing/2014/main" id="{94C21247-8373-FB1C-02B2-4DE57CD8D0E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68" y="984"/>
                  <a:ext cx="252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fr-FR"/>
                    <a:t>R</a:t>
                  </a:r>
                </a:p>
              </p:txBody>
            </p:sp>
            <p:sp>
              <p:nvSpPr>
                <p:cNvPr id="62" name="Text Box 47">
                  <a:extLst>
                    <a:ext uri="{FF2B5EF4-FFF2-40B4-BE49-F238E27FC236}">
                      <a16:creationId xmlns:a16="http://schemas.microsoft.com/office/drawing/2014/main" id="{BB119D09-8983-C0D3-8647-039D680619A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064" y="792"/>
                  <a:ext cx="27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fr-FR">
                      <a:sym typeface="Symbol" pitchFamily="18" charset="2"/>
                    </a:rPr>
                    <a:t></a:t>
                  </a:r>
                  <a:endParaRPr lang="fr-FR"/>
                </a:p>
              </p:txBody>
            </p:sp>
          </p:grpSp>
          <p:sp>
            <p:nvSpPr>
              <p:cNvPr id="63" name="Text Box 34">
                <a:extLst>
                  <a:ext uri="{FF2B5EF4-FFF2-40B4-BE49-F238E27FC236}">
                    <a16:creationId xmlns:a16="http://schemas.microsoft.com/office/drawing/2014/main" id="{96FDA75A-B1D9-5B4E-B0F4-D56529B33C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9600" y="2571750"/>
                <a:ext cx="400050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dirty="0"/>
                  <a:t>R</a:t>
                </a:r>
              </a:p>
            </p:txBody>
          </p:sp>
          <p:sp>
            <p:nvSpPr>
              <p:cNvPr id="68" name="Text Box 34">
                <a:extLst>
                  <a:ext uri="{FF2B5EF4-FFF2-40B4-BE49-F238E27FC236}">
                    <a16:creationId xmlns:a16="http://schemas.microsoft.com/office/drawing/2014/main" id="{96FDA75A-B1D9-5B4E-B0F4-D56529B33C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1509" y="2719993"/>
                <a:ext cx="541338" cy="3698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dirty="0" smtClean="0"/>
                  <a:t>E</a:t>
                </a:r>
                <a:r>
                  <a:rPr lang="fr-FR" baseline="-25000" dirty="0" smtClean="0"/>
                  <a:t>1</a:t>
                </a:r>
                <a:endParaRPr lang="fr-FR" baseline="-25000" dirty="0"/>
              </a:p>
            </p:txBody>
          </p:sp>
        </p:grpSp>
      </p:grpSp>
      <p:grpSp>
        <p:nvGrpSpPr>
          <p:cNvPr id="7" name="Groupe 6"/>
          <p:cNvGrpSpPr/>
          <p:nvPr/>
        </p:nvGrpSpPr>
        <p:grpSpPr>
          <a:xfrm>
            <a:off x="516273" y="819150"/>
            <a:ext cx="3364157" cy="1162050"/>
            <a:chOff x="173391" y="176470"/>
            <a:chExt cx="3364157" cy="1162050"/>
          </a:xfrm>
        </p:grpSpPr>
        <p:grpSp>
          <p:nvGrpSpPr>
            <p:cNvPr id="2" name="Groupe 1"/>
            <p:cNvGrpSpPr/>
            <p:nvPr/>
          </p:nvGrpSpPr>
          <p:grpSpPr>
            <a:xfrm>
              <a:off x="173391" y="176470"/>
              <a:ext cx="2797420" cy="1162050"/>
              <a:chOff x="265132" y="742950"/>
              <a:chExt cx="2797420" cy="1162050"/>
            </a:xfrm>
          </p:grpSpPr>
          <p:grpSp>
            <p:nvGrpSpPr>
              <p:cNvPr id="23" name="Group 9">
                <a:extLst>
                  <a:ext uri="{FF2B5EF4-FFF2-40B4-BE49-F238E27FC236}">
                    <a16:creationId xmlns:a16="http://schemas.microsoft.com/office/drawing/2014/main" id="{06B779B2-F8BC-4A33-5552-D69E24BADC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4152" y="742950"/>
                <a:ext cx="2438400" cy="1162050"/>
                <a:chOff x="276" y="768"/>
                <a:chExt cx="1536" cy="732"/>
              </a:xfrm>
            </p:grpSpPr>
            <p:sp>
              <p:nvSpPr>
                <p:cNvPr id="24" name="Rectangle 10">
                  <a:extLst>
                    <a:ext uri="{FF2B5EF4-FFF2-40B4-BE49-F238E27FC236}">
                      <a16:creationId xmlns:a16="http://schemas.microsoft.com/office/drawing/2014/main" id="{D70E4E11-3FCA-80DE-16BD-8FB3D92041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" y="768"/>
                  <a:ext cx="1290" cy="73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25" name="Rectangle 11">
                  <a:extLst>
                    <a:ext uri="{FF2B5EF4-FFF2-40B4-BE49-F238E27FC236}">
                      <a16:creationId xmlns:a16="http://schemas.microsoft.com/office/drawing/2014/main" id="{78AB0362-ACD3-316A-C3C3-C5120BB8AA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1641" y="898"/>
                  <a:ext cx="96" cy="155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26" name="Line 12">
                  <a:extLst>
                    <a:ext uri="{FF2B5EF4-FFF2-40B4-BE49-F238E27FC236}">
                      <a16:creationId xmlns:a16="http://schemas.microsoft.com/office/drawing/2014/main" id="{D706551F-BC61-2049-F6F8-876F4F9D18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532" y="1128"/>
                  <a:ext cx="0" cy="25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7" name="Oval 13">
                  <a:extLst>
                    <a:ext uri="{FF2B5EF4-FFF2-40B4-BE49-F238E27FC236}">
                      <a16:creationId xmlns:a16="http://schemas.microsoft.com/office/drawing/2014/main" id="{CB68CCC5-04AC-8B42-C2FC-F176CE260C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6" y="1153"/>
                  <a:ext cx="246" cy="198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28" name="Line 14">
                  <a:extLst>
                    <a:ext uri="{FF2B5EF4-FFF2-40B4-BE49-F238E27FC236}">
                      <a16:creationId xmlns:a16="http://schemas.microsoft.com/office/drawing/2014/main" id="{8A98082C-B18E-A8F0-13DD-037257DB2E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9" y="1172"/>
                  <a:ext cx="0" cy="16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9" name="Rectangle 15">
                  <a:extLst>
                    <a:ext uri="{FF2B5EF4-FFF2-40B4-BE49-F238E27FC236}">
                      <a16:creationId xmlns:a16="http://schemas.microsoft.com/office/drawing/2014/main" id="{3027AC36-E2CB-5A30-AC46-BAF5630DA8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365" y="898"/>
                  <a:ext cx="95" cy="155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0" name="Line 16">
                  <a:extLst>
                    <a:ext uri="{FF2B5EF4-FFF2-40B4-BE49-F238E27FC236}">
                      <a16:creationId xmlns:a16="http://schemas.microsoft.com/office/drawing/2014/main" id="{F41F65B5-1564-C4C8-103E-7B67561633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56" y="1128"/>
                  <a:ext cx="0" cy="25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1" name="Oval 17">
                  <a:extLst>
                    <a:ext uri="{FF2B5EF4-FFF2-40B4-BE49-F238E27FC236}">
                      <a16:creationId xmlns:a16="http://schemas.microsoft.com/office/drawing/2014/main" id="{E5619E8F-1C71-971A-7593-264CE257FC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6" y="1153"/>
                  <a:ext cx="246" cy="198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2" name="Line 18">
                  <a:extLst>
                    <a:ext uri="{FF2B5EF4-FFF2-40B4-BE49-F238E27FC236}">
                      <a16:creationId xmlns:a16="http://schemas.microsoft.com/office/drawing/2014/main" id="{EE81FB77-E18A-5E81-DFD0-F1FBBD8602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9" y="1172"/>
                  <a:ext cx="0" cy="16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3" name="Line 19">
                  <a:extLst>
                    <a:ext uri="{FF2B5EF4-FFF2-40B4-BE49-F238E27FC236}">
                      <a16:creationId xmlns:a16="http://schemas.microsoft.com/office/drawing/2014/main" id="{AC64FECB-394E-47C4-FEB7-5B689C28EA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0" y="774"/>
                  <a:ext cx="0" cy="72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4" name="Rectangle 20">
                  <a:extLst>
                    <a:ext uri="{FF2B5EF4-FFF2-40B4-BE49-F238E27FC236}">
                      <a16:creationId xmlns:a16="http://schemas.microsoft.com/office/drawing/2014/main" id="{6AADD00D-C16E-320A-6AA0-9D5933138A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952" y="997"/>
                  <a:ext cx="95" cy="273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5" name="Text Box 21">
                  <a:extLst>
                    <a:ext uri="{FF2B5EF4-FFF2-40B4-BE49-F238E27FC236}">
                      <a16:creationId xmlns:a16="http://schemas.microsoft.com/office/drawing/2014/main" id="{235FEA33-EC7B-9D5B-E515-07A21819DA2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4" y="816"/>
                  <a:ext cx="264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fr-FR"/>
                    <a:t>r</a:t>
                  </a:r>
                </a:p>
              </p:txBody>
            </p:sp>
            <p:sp>
              <p:nvSpPr>
                <p:cNvPr id="36" name="Text Box 22">
                  <a:extLst>
                    <a:ext uri="{FF2B5EF4-FFF2-40B4-BE49-F238E27FC236}">
                      <a16:creationId xmlns:a16="http://schemas.microsoft.com/office/drawing/2014/main" id="{24DE6A38-087F-EE2A-B443-ED38E9EB12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44" y="984"/>
                  <a:ext cx="252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fr-FR"/>
                    <a:t>R</a:t>
                  </a:r>
                </a:p>
              </p:txBody>
            </p:sp>
            <p:sp>
              <p:nvSpPr>
                <p:cNvPr id="37" name="Text Box 23">
                  <a:extLst>
                    <a:ext uri="{FF2B5EF4-FFF2-40B4-BE49-F238E27FC236}">
                      <a16:creationId xmlns:a16="http://schemas.microsoft.com/office/drawing/2014/main" id="{E2EEE3E3-583C-FC35-B672-9FD82C675B2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40" y="792"/>
                  <a:ext cx="27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fr-FR">
                      <a:sym typeface="Symbol" pitchFamily="18" charset="2"/>
                    </a:rPr>
                    <a:t></a:t>
                  </a:r>
                  <a:endParaRPr lang="fr-FR"/>
                </a:p>
              </p:txBody>
            </p:sp>
          </p:grpSp>
          <p:sp>
            <p:nvSpPr>
              <p:cNvPr id="67" name="Text Box 34">
                <a:extLst>
                  <a:ext uri="{FF2B5EF4-FFF2-40B4-BE49-F238E27FC236}">
                    <a16:creationId xmlns:a16="http://schemas.microsoft.com/office/drawing/2014/main" id="{96FDA75A-B1D9-5B4E-B0F4-D56529B33C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132" y="1298575"/>
                <a:ext cx="541338" cy="3698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dirty="0" smtClean="0"/>
                  <a:t>E</a:t>
                </a:r>
                <a:r>
                  <a:rPr lang="fr-FR" baseline="-25000" dirty="0" smtClean="0"/>
                  <a:t>1</a:t>
                </a:r>
                <a:endParaRPr lang="fr-FR" baseline="-25000" dirty="0"/>
              </a:p>
            </p:txBody>
          </p:sp>
        </p:grpSp>
        <p:sp>
          <p:nvSpPr>
            <p:cNvPr id="70" name="Text Box 34">
              <a:extLst>
                <a:ext uri="{FF2B5EF4-FFF2-40B4-BE49-F238E27FC236}">
                  <a16:creationId xmlns:a16="http://schemas.microsoft.com/office/drawing/2014/main" id="{96FDA75A-B1D9-5B4E-B0F4-D56529B33C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6210" y="756702"/>
              <a:ext cx="541338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dirty="0" smtClean="0"/>
                <a:t>E</a:t>
              </a:r>
              <a:r>
                <a:rPr lang="fr-FR" baseline="-25000" dirty="0" smtClean="0"/>
                <a:t>2</a:t>
              </a:r>
              <a:endParaRPr lang="fr-FR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54690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61</a:t>
            </a:fld>
            <a:endParaRPr sz="2400" dirty="0">
              <a:latin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5CB00A-3273-99E7-A2AD-E8E315F7A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558" y="313744"/>
            <a:ext cx="4588778" cy="227700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05C527-EDDA-8997-29B8-7F5CF64224C9}"/>
              </a:ext>
            </a:extLst>
          </p:cNvPr>
          <p:cNvSpPr txBox="1"/>
          <p:nvPr/>
        </p:nvSpPr>
        <p:spPr>
          <a:xfrm>
            <a:off x="457200" y="403157"/>
            <a:ext cx="13543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600" b="1" u="sng" spc="-10" dirty="0">
                <a:uFill>
                  <a:solidFill>
                    <a:srgbClr val="000000"/>
                  </a:solidFill>
                </a:uFill>
                <a:latin typeface="Bookman Old Style" panose="02050604050505020204" pitchFamily="18" charset="0"/>
                <a:cs typeface="Times New Roman"/>
              </a:rPr>
              <a:t>Exemple:</a:t>
            </a:r>
            <a:endParaRPr lang="fr-FR" sz="16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C407AB-E44F-D1AD-320E-68D0FECFD57D}"/>
              </a:ext>
            </a:extLst>
          </p:cNvPr>
          <p:cNvSpPr txBox="1"/>
          <p:nvPr/>
        </p:nvSpPr>
        <p:spPr>
          <a:xfrm>
            <a:off x="685800" y="2569929"/>
            <a:ext cx="5867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u="sng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Pour l’application numérique</a:t>
            </a:r>
          </a:p>
          <a:p>
            <a:endParaRPr lang="fr-FR" sz="1600" b="1" i="0" u="sng" dirty="0">
              <a:solidFill>
                <a:srgbClr val="000000"/>
              </a:solidFill>
              <a:effectLst/>
              <a:latin typeface="Bookman Old Style" panose="02050604050505020204" pitchFamily="18" charset="0"/>
            </a:endParaRPr>
          </a:p>
          <a:p>
            <a:r>
              <a:rPr lang="fr-FR" sz="1600" b="1" i="1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On donne :</a:t>
            </a:r>
          </a:p>
          <a:p>
            <a:r>
              <a:rPr lang="fr-FR" sz="1600" b="1" i="1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E</a:t>
            </a:r>
            <a:r>
              <a:rPr lang="fr-FR" sz="1600" b="1" i="1" baseline="-250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1</a:t>
            </a:r>
            <a:r>
              <a:rPr lang="fr-FR" sz="1600" b="1" i="1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 = 6 V, E</a:t>
            </a:r>
            <a:r>
              <a:rPr lang="fr-FR" sz="1600" b="1" i="1" baseline="-250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2</a:t>
            </a:r>
            <a:r>
              <a:rPr lang="fr-FR" sz="1600" b="1" i="1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 = 12 V, R</a:t>
            </a:r>
            <a:r>
              <a:rPr lang="fr-FR" sz="1600" b="1" i="1" baseline="-250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1</a:t>
            </a:r>
            <a:r>
              <a:rPr lang="fr-FR" sz="1600" b="1" i="1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 = 1k</a:t>
            </a:r>
            <a:r>
              <a:rPr lang="el-GR" sz="1600" b="1" i="1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Ω, </a:t>
            </a:r>
            <a:r>
              <a:rPr lang="fr-FR" sz="1600" b="1" i="1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R</a:t>
            </a:r>
            <a:r>
              <a:rPr lang="fr-FR" sz="1600" b="1" i="1" baseline="-250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2</a:t>
            </a:r>
            <a:r>
              <a:rPr lang="fr-FR" sz="1600" b="1" i="1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 = 1k</a:t>
            </a:r>
            <a:r>
              <a:rPr lang="el-GR" sz="1600" b="1" i="1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Ω </a:t>
            </a:r>
            <a:r>
              <a:rPr lang="fr-FR" sz="1600" b="1" i="1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et R=470</a:t>
            </a:r>
            <a:r>
              <a:rPr lang="el-GR" sz="1600" b="1" i="1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Ω</a:t>
            </a:r>
            <a:r>
              <a:rPr lang="el-GR" sz="1600" dirty="0">
                <a:latin typeface="Bookman Old Style" panose="02050604050505020204" pitchFamily="18" charset="0"/>
              </a:rPr>
              <a:t> </a:t>
            </a:r>
            <a:br>
              <a:rPr lang="el-GR" sz="1600" dirty="0">
                <a:latin typeface="Bookman Old Style" panose="02050604050505020204" pitchFamily="18" charset="0"/>
              </a:rPr>
            </a:br>
            <a:endParaRPr lang="fr-FR" sz="1600" dirty="0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C48D52D-3A63-39B5-32CC-E359507708F3}"/>
                  </a:ext>
                </a:extLst>
              </p:cNvPr>
              <p:cNvSpPr txBox="1"/>
              <p:nvPr/>
            </p:nvSpPr>
            <p:spPr>
              <a:xfrm>
                <a:off x="533400" y="888987"/>
                <a:ext cx="382215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Calcule de</a:t>
                </a:r>
                <a14:m>
                  <m:oMath xmlns:m="http://schemas.openxmlformats.org/officeDocument/2006/math">
                    <m:r>
                      <a:rPr lang="fr-FR" sz="1600" b="1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𝑨𝑩</m:t>
                        </m:r>
                      </m:sub>
                    </m:sSub>
                    <m:r>
                      <a:rPr lang="fr-FR" sz="1600" b="1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et les courants</a:t>
                </a:r>
              </a:p>
              <a:p>
                <a:r>
                  <a:rPr lang="fr-FR" sz="1600" b="1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  </a:t>
                </a:r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I, I</a:t>
                </a:r>
                <a:r>
                  <a:rPr lang="fr-FR" sz="1600" b="1" i="0" baseline="-2500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1</a:t>
                </a:r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,et I</a:t>
                </a:r>
                <a:r>
                  <a:rPr lang="fr-FR" sz="1600" b="1" i="0" baseline="-2500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2</a:t>
                </a:r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?</a:t>
                </a:r>
                <a:endParaRPr lang="fr-FR" sz="1600" b="1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C48D52D-3A63-39B5-32CC-E35950770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888987"/>
                <a:ext cx="3822158" cy="584775"/>
              </a:xfrm>
              <a:prstGeom prst="rect">
                <a:avLst/>
              </a:prstGeom>
              <a:blipFill>
                <a:blip r:embed="rId4"/>
                <a:stretch>
                  <a:fillRect l="-639" t="-3125" b="-125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299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62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EC77CD-9FDD-BD80-FB95-742FEBA7FA48}"/>
              </a:ext>
            </a:extLst>
          </p:cNvPr>
          <p:cNvSpPr txBox="1"/>
          <p:nvPr/>
        </p:nvSpPr>
        <p:spPr>
          <a:xfrm>
            <a:off x="266626" y="274276"/>
            <a:ext cx="40609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u="sng" dirty="0">
                <a:solidFill>
                  <a:srgbClr val="0000FF"/>
                </a:solidFill>
                <a:latin typeface="Bookman Old Style" panose="02050604050505020204" pitchFamily="18" charset="0"/>
              </a:rPr>
              <a:t>1er cas : </a:t>
            </a:r>
            <a:r>
              <a:rPr lang="fr-FR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E</a:t>
            </a:r>
            <a:r>
              <a:rPr lang="fr-FR" sz="1600" b="1" baseline="-25000" dirty="0">
                <a:solidFill>
                  <a:srgbClr val="0000FF"/>
                </a:solidFill>
                <a:latin typeface="Bookman Old Style" panose="02050604050505020204" pitchFamily="18" charset="0"/>
              </a:rPr>
              <a:t>1 </a:t>
            </a:r>
            <a:r>
              <a:rPr lang="fr-FR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seule, E</a:t>
            </a:r>
            <a:r>
              <a:rPr lang="fr-FR" sz="1600" b="1" baseline="-25000" dirty="0">
                <a:solidFill>
                  <a:srgbClr val="0000FF"/>
                </a:solidFill>
                <a:latin typeface="Bookman Old Style" panose="02050604050505020204" pitchFamily="18" charset="0"/>
              </a:rPr>
              <a:t>2</a:t>
            </a:r>
            <a:r>
              <a:rPr lang="fr-FR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 </a:t>
            </a:r>
            <a:r>
              <a:rPr lang="fr-FR" sz="1600" b="1" dirty="0" smtClean="0">
                <a:solidFill>
                  <a:srgbClr val="0000FF"/>
                </a:solidFill>
                <a:latin typeface="Bookman Old Style" panose="02050604050505020204" pitchFamily="18" charset="0"/>
              </a:rPr>
              <a:t>supprimée:</a:t>
            </a:r>
            <a:endParaRPr lang="fr-FR" sz="1600" b="1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4DF8B5F7-E358-E6FD-F0BD-FC4F86669DB0}"/>
              </a:ext>
            </a:extLst>
          </p:cNvPr>
          <p:cNvGrpSpPr/>
          <p:nvPr/>
        </p:nvGrpSpPr>
        <p:grpSpPr>
          <a:xfrm>
            <a:off x="4306334" y="1276350"/>
            <a:ext cx="4456666" cy="2463651"/>
            <a:chOff x="5181600" y="165690"/>
            <a:chExt cx="4063007" cy="1995150"/>
          </a:xfrm>
        </p:grpSpPr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688FFDD7-350C-3A9F-B085-0D6ADB02D66D}"/>
                </a:ext>
              </a:extLst>
            </p:cNvPr>
            <p:cNvGrpSpPr/>
            <p:nvPr/>
          </p:nvGrpSpPr>
          <p:grpSpPr>
            <a:xfrm>
              <a:off x="5181600" y="165690"/>
              <a:ext cx="3709696" cy="1995150"/>
              <a:chOff x="5181600" y="165690"/>
              <a:chExt cx="3709696" cy="1995150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2969BE7-AEC5-5C1C-E574-81FEDA3E12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5379832" y="165690"/>
                <a:ext cx="3511464" cy="199515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7CB340-0D45-B55A-6098-D0F58805DD2A}"/>
                  </a:ext>
                </a:extLst>
              </p:cNvPr>
              <p:cNvSpPr txBox="1"/>
              <p:nvPr/>
            </p:nvSpPr>
            <p:spPr>
              <a:xfrm>
                <a:off x="5181600" y="819150"/>
                <a:ext cx="677411" cy="2367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300" b="1" dirty="0">
                    <a:latin typeface="Bookman Old Style" panose="02050604050505020204" pitchFamily="18" charset="0"/>
                  </a:rPr>
                  <a:t>R</a:t>
                </a:r>
                <a:r>
                  <a:rPr lang="fr-FR" sz="1300" b="1" baseline="-25000" dirty="0">
                    <a:latin typeface="Bookman Old Style" panose="02050604050505020204" pitchFamily="18" charset="0"/>
                  </a:rPr>
                  <a:t>1</a:t>
                </a:r>
                <a:endParaRPr lang="fr-FR" sz="1300" b="1" baseline="-25000" dirty="0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C21305A-2B03-7DCF-C18E-9FAA842626BE}"/>
                </a:ext>
              </a:extLst>
            </p:cNvPr>
            <p:cNvSpPr txBox="1"/>
            <p:nvPr/>
          </p:nvSpPr>
          <p:spPr>
            <a:xfrm>
              <a:off x="8567196" y="713257"/>
              <a:ext cx="677411" cy="2367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300" b="1" dirty="0">
                  <a:latin typeface="Bookman Old Style" panose="02050604050505020204" pitchFamily="18" charset="0"/>
                </a:rPr>
                <a:t>R</a:t>
              </a:r>
              <a:r>
                <a:rPr lang="fr-FR" sz="1300" b="1" baseline="-25000" dirty="0">
                  <a:latin typeface="Bookman Old Style" panose="02050604050505020204" pitchFamily="18" charset="0"/>
                </a:rPr>
                <a:t>2</a:t>
              </a:r>
              <a:endParaRPr lang="fr-FR" sz="1300" b="1" baseline="-25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C50CB65-A941-6C9A-20E0-72B272B33737}"/>
                  </a:ext>
                </a:extLst>
              </p:cNvPr>
              <p:cNvSpPr txBox="1"/>
              <p:nvPr/>
            </p:nvSpPr>
            <p:spPr>
              <a:xfrm>
                <a:off x="451935" y="926544"/>
                <a:ext cx="3690353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fr-FR" sz="16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En appliquant les </a:t>
                </a:r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lois de Kirchhoff</a:t>
                </a:r>
                <a:r>
                  <a:rPr lang="fr-FR" sz="16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, déterminer l'expression théorique de la tension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fr-FR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𝑨𝑩</m:t>
                        </m:r>
                      </m:sub>
                      <m:sup>
                        <m: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</a:t>
                </a:r>
                <a:r>
                  <a:rPr lang="fr-FR" sz="16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aux bornes de la résistance </a:t>
                </a:r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R </a:t>
                </a:r>
                <a:r>
                  <a:rPr lang="fr-FR" sz="16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en fonction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fr-FR" sz="16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fr-FR" sz="16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</a:t>
                </a:r>
                <a:r>
                  <a:rPr lang="fr-FR" sz="1600" b="0" i="0" dirty="0" smtClean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et </a:t>
                </a:r>
                <a:r>
                  <a:rPr lang="fr-FR" sz="1600" b="1" i="0" dirty="0" smtClean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R</a:t>
                </a:r>
                <a:r>
                  <a:rPr lang="fr-FR" sz="1600" dirty="0" smtClean="0">
                    <a:latin typeface="Bookman Old Style" panose="02050604050505020204" pitchFamily="18" charset="0"/>
                  </a:rPr>
                  <a:t> </a:t>
                </a:r>
                <a:r>
                  <a:rPr lang="fr-FR" sz="1600" dirty="0">
                    <a:latin typeface="Bookman Old Style" panose="02050604050505020204" pitchFamily="18" charset="0"/>
                  </a:rPr>
                  <a:t/>
                </a:r>
                <a:br>
                  <a:rPr lang="fr-FR" sz="1600" dirty="0">
                    <a:latin typeface="Bookman Old Style" panose="02050604050505020204" pitchFamily="18" charset="0"/>
                  </a:rPr>
                </a:br>
                <a:endParaRPr lang="fr-FR" sz="1600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C50CB65-A941-6C9A-20E0-72B272B33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935" y="926544"/>
                <a:ext cx="3690353" cy="1815882"/>
              </a:xfrm>
              <a:prstGeom prst="rect">
                <a:avLst/>
              </a:prstGeom>
              <a:blipFill>
                <a:blip r:embed="rId4"/>
                <a:stretch>
                  <a:fillRect l="-660" t="-100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AE939E9-F436-DBA3-FEB3-7B89186F99AC}"/>
                  </a:ext>
                </a:extLst>
              </p:cNvPr>
              <p:cNvSpPr txBox="1"/>
              <p:nvPr/>
            </p:nvSpPr>
            <p:spPr>
              <a:xfrm>
                <a:off x="451935" y="2906173"/>
                <a:ext cx="3343632" cy="2062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fr-FR"/>
                </a:defPPr>
                <a:lvl1pPr marL="171450" indent="-171450" algn="just">
                  <a:buFont typeface="Wingdings" panose="05000000000000000000" pitchFamily="2" charset="2"/>
                  <a:buChar char="§"/>
                  <a:defRPr sz="1300" b="0" i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defRPr>
                </a:lvl1pPr>
              </a:lstStyle>
              <a:p>
                <a:pPr algn="l"/>
                <a:r>
                  <a:rPr lang="fr-FR" sz="1600" dirty="0"/>
                  <a:t>En appliquant les lois de Kirchhoff, déterminer l'expression théorique des intensités des courants </a:t>
                </a:r>
                <a14:m>
                  <m:oMath xmlns:m="http://schemas.openxmlformats.org/officeDocument/2006/math">
                    <m:r>
                      <a:rPr lang="fr-FR" sz="1600" b="1" i="1" dirty="0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fr-FR" sz="1600" b="1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fr-FR" sz="1600" i="1" dirty="0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fr-FR" sz="16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1" i="1" dirty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fr-FR" sz="16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fr-FR" sz="1600" b="1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fr-FR" sz="1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600" dirty="0"/>
                  <a:t>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1" i="1" dirty="0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fr-FR" sz="16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fr-FR" sz="1600" b="1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fr-FR" sz="1600" dirty="0"/>
                  <a:t> dans toutes les branches en fonction de </a:t>
                </a:r>
                <a:r>
                  <a:rPr lang="fr-FR" sz="1600" b="1" dirty="0"/>
                  <a:t>E</a:t>
                </a:r>
                <a:r>
                  <a:rPr lang="fr-FR" sz="1600" b="1" baseline="-25000" dirty="0"/>
                  <a:t>1</a:t>
                </a:r>
                <a:r>
                  <a:rPr lang="fr-FR" sz="1600" b="1" dirty="0"/>
                  <a:t>, R</a:t>
                </a:r>
                <a:r>
                  <a:rPr lang="fr-FR" sz="1600" b="1" baseline="-25000" dirty="0"/>
                  <a:t>1</a:t>
                </a:r>
                <a:r>
                  <a:rPr lang="fr-FR" sz="1600" b="1" dirty="0"/>
                  <a:t>, R</a:t>
                </a:r>
                <a:r>
                  <a:rPr lang="fr-FR" sz="1600" b="1" baseline="-25000" dirty="0"/>
                  <a:t>2</a:t>
                </a:r>
                <a:r>
                  <a:rPr lang="fr-FR" sz="1600" dirty="0"/>
                  <a:t>, et </a:t>
                </a:r>
                <a:r>
                  <a:rPr lang="fr-FR" sz="1600" b="1" dirty="0"/>
                  <a:t>R</a:t>
                </a:r>
                <a:r>
                  <a:rPr lang="fr-FR" sz="1600" dirty="0"/>
                  <a:t/>
                </a:r>
                <a:br>
                  <a:rPr lang="fr-FR" sz="1600" dirty="0"/>
                </a:br>
                <a:endParaRPr lang="fr-FR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AE939E9-F436-DBA3-FEB3-7B89186F9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935" y="2906173"/>
                <a:ext cx="3343632" cy="2062103"/>
              </a:xfrm>
              <a:prstGeom prst="rect">
                <a:avLst/>
              </a:prstGeom>
              <a:blipFill>
                <a:blip r:embed="rId5"/>
                <a:stretch>
                  <a:fillRect l="-729" t="-88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4421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63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EC77CD-9FDD-BD80-FB95-742FEBA7FA48}"/>
              </a:ext>
            </a:extLst>
          </p:cNvPr>
          <p:cNvSpPr txBox="1"/>
          <p:nvPr/>
        </p:nvSpPr>
        <p:spPr>
          <a:xfrm>
            <a:off x="457452" y="590550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u="sng" dirty="0">
                <a:solidFill>
                  <a:srgbClr val="0000FF"/>
                </a:solidFill>
                <a:latin typeface="Bookman Old Style" panose="02050604050505020204" pitchFamily="18" charset="0"/>
              </a:rPr>
              <a:t>2ème cas : </a:t>
            </a:r>
            <a:r>
              <a:rPr lang="fr-FR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E2 seule, E1 </a:t>
            </a:r>
            <a:r>
              <a:rPr lang="fr-FR" sz="1600" b="1" dirty="0" smtClean="0">
                <a:solidFill>
                  <a:srgbClr val="0000FF"/>
                </a:solidFill>
                <a:latin typeface="Bookman Old Style" panose="02050604050505020204" pitchFamily="18" charset="0"/>
              </a:rPr>
              <a:t>supprimée </a:t>
            </a:r>
            <a:r>
              <a:rPr lang="fr-FR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:</a:t>
            </a:r>
          </a:p>
        </p:txBody>
      </p:sp>
      <p:grpSp>
        <p:nvGrpSpPr>
          <p:cNvPr id="2" name="Groupe 1"/>
          <p:cNvGrpSpPr/>
          <p:nvPr/>
        </p:nvGrpSpPr>
        <p:grpSpPr>
          <a:xfrm>
            <a:off x="5334000" y="1735092"/>
            <a:ext cx="4012965" cy="1843510"/>
            <a:chOff x="5434574" y="1755594"/>
            <a:chExt cx="4012965" cy="184351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978FB03-1C69-853E-407A-B67D77E85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562600" y="1755594"/>
              <a:ext cx="3436128" cy="184351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7CB340-0D45-B55A-6098-D0F58805DD2A}"/>
                </a:ext>
              </a:extLst>
            </p:cNvPr>
            <p:cNvSpPr txBox="1"/>
            <p:nvPr/>
          </p:nvSpPr>
          <p:spPr>
            <a:xfrm>
              <a:off x="5434574" y="2500770"/>
              <a:ext cx="677411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300" b="1" dirty="0">
                  <a:latin typeface="Bookman Old Style" panose="02050604050505020204" pitchFamily="18" charset="0"/>
                </a:rPr>
                <a:t>R1</a:t>
              </a:r>
              <a:endParaRPr lang="fr-FR" sz="1300" b="1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C21305A-2B03-7DCF-C18E-9FAA842626BE}"/>
                </a:ext>
              </a:extLst>
            </p:cNvPr>
            <p:cNvSpPr txBox="1"/>
            <p:nvPr/>
          </p:nvSpPr>
          <p:spPr>
            <a:xfrm>
              <a:off x="8770128" y="2500770"/>
              <a:ext cx="677411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300" b="1" dirty="0">
                  <a:latin typeface="Bookman Old Style" panose="02050604050505020204" pitchFamily="18" charset="0"/>
                </a:rPr>
                <a:t>R2</a:t>
              </a:r>
              <a:endParaRPr lang="fr-FR" sz="13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F6AA57E-7474-36F7-9C20-A0E00F38D4C7}"/>
                  </a:ext>
                </a:extLst>
              </p:cNvPr>
              <p:cNvSpPr txBox="1"/>
              <p:nvPr/>
            </p:nvSpPr>
            <p:spPr>
              <a:xfrm>
                <a:off x="481941" y="1492844"/>
                <a:ext cx="4583309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fr-FR" sz="16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En appliquant les </a:t>
                </a:r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lois de Kirchhoff</a:t>
                </a:r>
                <a:r>
                  <a:rPr lang="fr-FR" sz="16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, déterminer l'expression théorique de la tension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fr-FR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𝑨𝑩</m:t>
                        </m:r>
                      </m:sub>
                      <m:sup>
                        <m: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</m:oMath>
                </a14:m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</a:t>
                </a:r>
                <a:r>
                  <a:rPr lang="fr-FR" sz="16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aux bornes de la résistance </a:t>
                </a:r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R </a:t>
                </a:r>
                <a:r>
                  <a:rPr lang="fr-FR" sz="16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en fonction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fr-FR" sz="16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fr-FR" sz="16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</a:t>
                </a:r>
                <a:r>
                  <a:rPr lang="fr-FR" sz="16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et </a:t>
                </a:r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R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 </a:t>
                </a:r>
                <a:br>
                  <a:rPr lang="fr-FR" sz="1600" dirty="0">
                    <a:latin typeface="Bookman Old Style" panose="02050604050505020204" pitchFamily="18" charset="0"/>
                  </a:rPr>
                </a:br>
                <a:endParaRPr lang="fr-FR" sz="1600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F6AA57E-7474-36F7-9C20-A0E00F38D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41" y="1492844"/>
                <a:ext cx="4583309" cy="1323439"/>
              </a:xfrm>
              <a:prstGeom prst="rect">
                <a:avLst/>
              </a:prstGeom>
              <a:blipFill>
                <a:blip r:embed="rId4"/>
                <a:stretch>
                  <a:fillRect l="-532" t="-1382" r="-119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0304E9B-3C91-148F-DF05-75E0A2E95CA3}"/>
                  </a:ext>
                </a:extLst>
              </p:cNvPr>
              <p:cNvSpPr txBox="1"/>
              <p:nvPr/>
            </p:nvSpPr>
            <p:spPr>
              <a:xfrm>
                <a:off x="457452" y="2955342"/>
                <a:ext cx="5186664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fr-FR"/>
                </a:defPPr>
                <a:lvl1pPr marL="171450" indent="-171450" algn="just">
                  <a:buFont typeface="Wingdings" panose="05000000000000000000" pitchFamily="2" charset="2"/>
                  <a:buChar char="§"/>
                  <a:defRPr sz="1300" b="0" i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defRPr>
                </a:lvl1pPr>
              </a:lstStyle>
              <a:p>
                <a:pPr algn="l"/>
                <a:r>
                  <a:rPr lang="fr-FR" sz="1600" dirty="0" smtClean="0"/>
                  <a:t>En appliquant les lois de Kirchhoff, déterminer l'expression théorique des intensités des courants </a:t>
                </a:r>
                <a14:m>
                  <m:oMath xmlns:m="http://schemas.openxmlformats.org/officeDocument/2006/math">
                    <m:r>
                      <a:rPr lang="fr-FR" sz="1600" b="1" i="1" dirty="0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fr-FR" sz="1600" b="1" i="1" dirty="0" smtClean="0">
                        <a:latin typeface="Cambria Math" panose="02040503050406030204" pitchFamily="18" charset="0"/>
                      </a:rPr>
                      <m:t>′′</m:t>
                    </m:r>
                    <m:r>
                      <a:rPr lang="fr-FR" sz="1600" i="1" dirty="0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fr-FR" sz="16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1" i="1" dirty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fr-FR" sz="16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fr-FR" sz="1600" b="1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fr-FR" sz="1600" b="1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fr-FR" sz="1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600" dirty="0"/>
                  <a:t>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1" i="1" dirty="0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fr-FR" sz="16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fr-FR" sz="1600" b="1" i="1" dirty="0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</m:oMath>
                </a14:m>
                <a:r>
                  <a:rPr lang="fr-FR" sz="1600" dirty="0"/>
                  <a:t> dans toutes les branches en fonction de </a:t>
                </a:r>
                <a:r>
                  <a:rPr lang="fr-FR" sz="1600" b="1" dirty="0" smtClean="0"/>
                  <a:t>E</a:t>
                </a:r>
                <a:r>
                  <a:rPr lang="fr-FR" sz="1600" b="1" baseline="-25000" dirty="0" smtClean="0"/>
                  <a:t>2</a:t>
                </a:r>
                <a:r>
                  <a:rPr lang="fr-FR" sz="1600" b="1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dirty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sz="16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fr-FR" sz="1600" dirty="0" smtClean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1600" b="1" i="1" dirty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sz="16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fr-FR" sz="1600" dirty="0" smtClean="0"/>
                  <a:t>, </a:t>
                </a:r>
                <a:r>
                  <a:rPr lang="fr-FR" sz="1600" dirty="0"/>
                  <a:t>et </a:t>
                </a:r>
                <a:r>
                  <a:rPr lang="fr-FR" sz="1600" b="1" dirty="0"/>
                  <a:t>R</a:t>
                </a:r>
                <a:r>
                  <a:rPr lang="fr-FR" sz="1600" dirty="0"/>
                  <a:t/>
                </a:r>
                <a:br>
                  <a:rPr lang="fr-FR" sz="1600" dirty="0"/>
                </a:br>
                <a:endParaRPr lang="fr-FR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0304E9B-3C91-148F-DF05-75E0A2E95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52" y="2955342"/>
                <a:ext cx="5186664" cy="1323439"/>
              </a:xfrm>
              <a:prstGeom prst="rect">
                <a:avLst/>
              </a:prstGeom>
              <a:blipFill>
                <a:blip r:embed="rId5"/>
                <a:stretch>
                  <a:fillRect l="-470" t="-1382" r="-94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4524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64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394520" y="329213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20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3.5 </a:t>
            </a:r>
            <a:r>
              <a:rPr lang="fr-FR" altLang="fr-FR" sz="20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Théorème de </a:t>
            </a:r>
            <a:r>
              <a:rPr lang="fr-FR" altLang="fr-FR" sz="2000" b="1" spc="-5" dirty="0" err="1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Millman</a:t>
            </a:r>
            <a:endParaRPr lang="fr-FR" altLang="fr-FR" sz="2000" b="1" spc="-5" dirty="0">
              <a:solidFill>
                <a:srgbClr val="0070C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CCE37-D1A3-7BDE-05D8-618CDFA21B72}"/>
              </a:ext>
            </a:extLst>
          </p:cNvPr>
          <p:cNvSpPr txBox="1"/>
          <p:nvPr/>
        </p:nvSpPr>
        <p:spPr>
          <a:xfrm>
            <a:off x="549037" y="1066084"/>
            <a:ext cx="8567488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dirty="0"/>
              <a:t>Considérons n branches </a:t>
            </a:r>
            <a:r>
              <a:rPr lang="fr-FR" b="1" u="sng" dirty="0">
                <a:solidFill>
                  <a:srgbClr val="FF0000"/>
                </a:solidFill>
              </a:rPr>
              <a:t>en parallèles</a:t>
            </a:r>
            <a:r>
              <a:rPr lang="fr-FR" dirty="0"/>
              <a:t>, comprenant chacune un générateur de tension en série avec une résistance</a:t>
            </a:r>
          </a:p>
        </p:txBody>
      </p:sp>
      <p:grpSp>
        <p:nvGrpSpPr>
          <p:cNvPr id="9224" name="Group 60"/>
          <p:cNvGrpSpPr>
            <a:grpSpLocks/>
          </p:cNvGrpSpPr>
          <p:nvPr/>
        </p:nvGrpSpPr>
        <p:grpSpPr bwMode="auto">
          <a:xfrm>
            <a:off x="2591637" y="1792903"/>
            <a:ext cx="3391524" cy="1187450"/>
            <a:chOff x="1212" y="2316"/>
            <a:chExt cx="3396" cy="1128"/>
          </a:xfrm>
        </p:grpSpPr>
        <p:grpSp>
          <p:nvGrpSpPr>
            <p:cNvPr id="9226" name="Group 37"/>
            <p:cNvGrpSpPr>
              <a:grpSpLocks/>
            </p:cNvGrpSpPr>
            <p:nvPr/>
          </p:nvGrpSpPr>
          <p:grpSpPr bwMode="auto">
            <a:xfrm>
              <a:off x="1212" y="2364"/>
              <a:ext cx="768" cy="1080"/>
              <a:chOff x="1212" y="2364"/>
              <a:chExt cx="768" cy="1080"/>
            </a:xfrm>
          </p:grpSpPr>
          <p:sp>
            <p:nvSpPr>
              <p:cNvPr id="9247" name="Oval 9"/>
              <p:cNvSpPr>
                <a:spLocks noChangeArrowheads="1"/>
              </p:cNvSpPr>
              <p:nvPr/>
            </p:nvSpPr>
            <p:spPr bwMode="auto">
              <a:xfrm>
                <a:off x="1644" y="2892"/>
                <a:ext cx="336" cy="33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9248" name="Line 10"/>
              <p:cNvSpPr>
                <a:spLocks noChangeShapeType="1"/>
              </p:cNvSpPr>
              <p:nvPr/>
            </p:nvSpPr>
            <p:spPr bwMode="auto">
              <a:xfrm>
                <a:off x="1812" y="2364"/>
                <a:ext cx="0" cy="10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249" name="Rectangle 11"/>
              <p:cNvSpPr>
                <a:spLocks noChangeArrowheads="1"/>
              </p:cNvSpPr>
              <p:nvPr/>
            </p:nvSpPr>
            <p:spPr bwMode="auto">
              <a:xfrm>
                <a:off x="1728" y="2508"/>
                <a:ext cx="168" cy="27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9250" name="Line 12"/>
              <p:cNvSpPr>
                <a:spLocks noChangeShapeType="1"/>
              </p:cNvSpPr>
              <p:nvPr/>
            </p:nvSpPr>
            <p:spPr bwMode="auto">
              <a:xfrm flipH="1" flipV="1">
                <a:off x="1584" y="2868"/>
                <a:ext cx="0" cy="3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251" name="Text Box 13"/>
              <p:cNvSpPr txBox="1">
                <a:spLocks noChangeArrowheads="1"/>
              </p:cNvSpPr>
              <p:nvPr/>
            </p:nvSpPr>
            <p:spPr bwMode="auto">
              <a:xfrm>
                <a:off x="1212" y="2868"/>
                <a:ext cx="432" cy="3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dirty="0"/>
                  <a:t>E</a:t>
                </a:r>
                <a:r>
                  <a:rPr lang="fr-FR" baseline="-25000" dirty="0"/>
                  <a:t>1</a:t>
                </a:r>
              </a:p>
            </p:txBody>
          </p:sp>
          <p:sp>
            <p:nvSpPr>
              <p:cNvPr id="9252" name="Text Box 14"/>
              <p:cNvSpPr txBox="1">
                <a:spLocks noChangeArrowheads="1"/>
              </p:cNvSpPr>
              <p:nvPr/>
            </p:nvSpPr>
            <p:spPr bwMode="auto">
              <a:xfrm>
                <a:off x="1301" y="2478"/>
                <a:ext cx="571" cy="3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dirty="0"/>
                  <a:t>R</a:t>
                </a:r>
                <a:r>
                  <a:rPr lang="fr-FR" baseline="-25000" dirty="0"/>
                  <a:t>1</a:t>
                </a:r>
              </a:p>
            </p:txBody>
          </p:sp>
        </p:grpSp>
        <p:grpSp>
          <p:nvGrpSpPr>
            <p:cNvPr id="9227" name="Group 38"/>
            <p:cNvGrpSpPr>
              <a:grpSpLocks/>
            </p:cNvGrpSpPr>
            <p:nvPr/>
          </p:nvGrpSpPr>
          <p:grpSpPr bwMode="auto">
            <a:xfrm>
              <a:off x="1945" y="2364"/>
              <a:ext cx="707" cy="1080"/>
              <a:chOff x="1273" y="2364"/>
              <a:chExt cx="707" cy="1080"/>
            </a:xfrm>
          </p:grpSpPr>
          <p:sp>
            <p:nvSpPr>
              <p:cNvPr id="9241" name="Oval 39"/>
              <p:cNvSpPr>
                <a:spLocks noChangeArrowheads="1"/>
              </p:cNvSpPr>
              <p:nvPr/>
            </p:nvSpPr>
            <p:spPr bwMode="auto">
              <a:xfrm>
                <a:off x="1644" y="2892"/>
                <a:ext cx="336" cy="33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9242" name="Line 40"/>
              <p:cNvSpPr>
                <a:spLocks noChangeShapeType="1"/>
              </p:cNvSpPr>
              <p:nvPr/>
            </p:nvSpPr>
            <p:spPr bwMode="auto">
              <a:xfrm>
                <a:off x="1812" y="2364"/>
                <a:ext cx="0" cy="10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243" name="Rectangle 41"/>
              <p:cNvSpPr>
                <a:spLocks noChangeArrowheads="1"/>
              </p:cNvSpPr>
              <p:nvPr/>
            </p:nvSpPr>
            <p:spPr bwMode="auto">
              <a:xfrm>
                <a:off x="1728" y="2508"/>
                <a:ext cx="168" cy="27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9244" name="Line 42"/>
              <p:cNvSpPr>
                <a:spLocks noChangeShapeType="1"/>
              </p:cNvSpPr>
              <p:nvPr/>
            </p:nvSpPr>
            <p:spPr bwMode="auto">
              <a:xfrm flipH="1" flipV="1">
                <a:off x="1584" y="2868"/>
                <a:ext cx="0" cy="3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245" name="Text Box 43"/>
              <p:cNvSpPr txBox="1">
                <a:spLocks noChangeArrowheads="1"/>
              </p:cNvSpPr>
              <p:nvPr/>
            </p:nvSpPr>
            <p:spPr bwMode="auto">
              <a:xfrm>
                <a:off x="1273" y="2868"/>
                <a:ext cx="420" cy="3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/>
                  <a:t>E</a:t>
                </a:r>
                <a:r>
                  <a:rPr lang="fr-FR" baseline="-25000"/>
                  <a:t>2</a:t>
                </a:r>
              </a:p>
            </p:txBody>
          </p:sp>
          <p:sp>
            <p:nvSpPr>
              <p:cNvPr id="9246" name="Text Box 44"/>
              <p:cNvSpPr txBox="1">
                <a:spLocks noChangeArrowheads="1"/>
              </p:cNvSpPr>
              <p:nvPr/>
            </p:nvSpPr>
            <p:spPr bwMode="auto">
              <a:xfrm>
                <a:off x="1374" y="2489"/>
                <a:ext cx="462" cy="3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dirty="0"/>
                  <a:t>R</a:t>
                </a:r>
                <a:r>
                  <a:rPr lang="fr-FR" baseline="-25000" dirty="0"/>
                  <a:t>2</a:t>
                </a:r>
              </a:p>
            </p:txBody>
          </p:sp>
        </p:grpSp>
        <p:grpSp>
          <p:nvGrpSpPr>
            <p:cNvPr id="9228" name="Group 45"/>
            <p:cNvGrpSpPr>
              <a:grpSpLocks/>
            </p:cNvGrpSpPr>
            <p:nvPr/>
          </p:nvGrpSpPr>
          <p:grpSpPr bwMode="auto">
            <a:xfrm>
              <a:off x="3273" y="2340"/>
              <a:ext cx="867" cy="1080"/>
              <a:chOff x="1113" y="2364"/>
              <a:chExt cx="867" cy="1080"/>
            </a:xfrm>
          </p:grpSpPr>
          <p:sp>
            <p:nvSpPr>
              <p:cNvPr id="9235" name="Oval 46"/>
              <p:cNvSpPr>
                <a:spLocks noChangeArrowheads="1"/>
              </p:cNvSpPr>
              <p:nvPr/>
            </p:nvSpPr>
            <p:spPr bwMode="auto">
              <a:xfrm>
                <a:off x="1644" y="2892"/>
                <a:ext cx="336" cy="33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9236" name="Line 47"/>
              <p:cNvSpPr>
                <a:spLocks noChangeShapeType="1"/>
              </p:cNvSpPr>
              <p:nvPr/>
            </p:nvSpPr>
            <p:spPr bwMode="auto">
              <a:xfrm>
                <a:off x="1812" y="2364"/>
                <a:ext cx="0" cy="10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237" name="Rectangle 48"/>
              <p:cNvSpPr>
                <a:spLocks noChangeArrowheads="1"/>
              </p:cNvSpPr>
              <p:nvPr/>
            </p:nvSpPr>
            <p:spPr bwMode="auto">
              <a:xfrm>
                <a:off x="1728" y="2508"/>
                <a:ext cx="168" cy="27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9238" name="Line 49"/>
              <p:cNvSpPr>
                <a:spLocks noChangeShapeType="1"/>
              </p:cNvSpPr>
              <p:nvPr/>
            </p:nvSpPr>
            <p:spPr bwMode="auto">
              <a:xfrm flipH="1" flipV="1">
                <a:off x="1584" y="2868"/>
                <a:ext cx="0" cy="3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239" name="Text Box 50"/>
              <p:cNvSpPr txBox="1">
                <a:spLocks noChangeArrowheads="1"/>
              </p:cNvSpPr>
              <p:nvPr/>
            </p:nvSpPr>
            <p:spPr bwMode="auto">
              <a:xfrm>
                <a:off x="1113" y="2889"/>
                <a:ext cx="411" cy="3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dirty="0"/>
                  <a:t>E</a:t>
                </a:r>
                <a:r>
                  <a:rPr lang="fr-FR" baseline="-25000" dirty="0"/>
                  <a:t>n</a:t>
                </a:r>
              </a:p>
            </p:txBody>
          </p:sp>
          <p:sp>
            <p:nvSpPr>
              <p:cNvPr id="9240" name="Text Box 51"/>
              <p:cNvSpPr txBox="1">
                <a:spLocks noChangeArrowheads="1"/>
              </p:cNvSpPr>
              <p:nvPr/>
            </p:nvSpPr>
            <p:spPr bwMode="auto">
              <a:xfrm>
                <a:off x="1350" y="2484"/>
                <a:ext cx="546" cy="3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dirty="0"/>
                  <a:t>R</a:t>
                </a:r>
                <a:r>
                  <a:rPr lang="fr-FR" baseline="-25000" dirty="0"/>
                  <a:t>n</a:t>
                </a:r>
              </a:p>
            </p:txBody>
          </p:sp>
        </p:grpSp>
        <p:sp>
          <p:nvSpPr>
            <p:cNvPr id="9229" name="Line 52"/>
            <p:cNvSpPr>
              <a:spLocks noChangeShapeType="1"/>
            </p:cNvSpPr>
            <p:nvPr/>
          </p:nvSpPr>
          <p:spPr bwMode="auto">
            <a:xfrm>
              <a:off x="1800" y="2352"/>
              <a:ext cx="21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230" name="Line 53"/>
            <p:cNvSpPr>
              <a:spLocks noChangeShapeType="1"/>
            </p:cNvSpPr>
            <p:nvPr/>
          </p:nvSpPr>
          <p:spPr bwMode="auto">
            <a:xfrm>
              <a:off x="1824" y="3432"/>
              <a:ext cx="21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231" name="Line 54"/>
            <p:cNvSpPr>
              <a:spLocks noChangeShapeType="1"/>
            </p:cNvSpPr>
            <p:nvPr/>
          </p:nvSpPr>
          <p:spPr bwMode="auto">
            <a:xfrm flipV="1">
              <a:off x="2856" y="2352"/>
              <a:ext cx="528" cy="0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232" name="Line 55"/>
            <p:cNvSpPr>
              <a:spLocks noChangeShapeType="1"/>
            </p:cNvSpPr>
            <p:nvPr/>
          </p:nvSpPr>
          <p:spPr bwMode="auto">
            <a:xfrm flipV="1">
              <a:off x="2856" y="3420"/>
              <a:ext cx="528" cy="0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233" name="Line 58"/>
            <p:cNvSpPr>
              <a:spLocks noChangeShapeType="1"/>
            </p:cNvSpPr>
            <p:nvPr/>
          </p:nvSpPr>
          <p:spPr bwMode="auto">
            <a:xfrm flipV="1">
              <a:off x="4308" y="2316"/>
              <a:ext cx="0" cy="1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234" name="Text Box 59"/>
            <p:cNvSpPr txBox="1">
              <a:spLocks noChangeArrowheads="1"/>
            </p:cNvSpPr>
            <p:nvPr/>
          </p:nvSpPr>
          <p:spPr bwMode="auto">
            <a:xfrm>
              <a:off x="4332" y="2736"/>
              <a:ext cx="2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/>
                <a:t>U</a:t>
              </a:r>
            </a:p>
          </p:txBody>
        </p:sp>
      </p:grpSp>
      <p:graphicFrame>
        <p:nvGraphicFramePr>
          <p:cNvPr id="9218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391878"/>
              </p:ext>
            </p:extLst>
          </p:nvPr>
        </p:nvGraphicFramePr>
        <p:xfrm>
          <a:off x="5444504" y="3826522"/>
          <a:ext cx="1077314" cy="125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Equation" r:id="rId4" imgW="850680" imgH="990360" progId="">
                  <p:embed/>
                </p:oleObj>
              </mc:Choice>
              <mc:Fallback>
                <p:oleObj name="Equation" r:id="rId4" imgW="850680" imgH="990360" progId="">
                  <p:embed/>
                  <p:pic>
                    <p:nvPicPr>
                      <p:cNvPr id="9218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4504" y="3826522"/>
                        <a:ext cx="1077314" cy="125378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089044"/>
              </p:ext>
            </p:extLst>
          </p:nvPr>
        </p:nvGraphicFramePr>
        <p:xfrm>
          <a:off x="1600200" y="3767523"/>
          <a:ext cx="896953" cy="129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Equation" r:id="rId6" imgW="685800" imgH="990360" progId="">
                  <p:embed/>
                </p:oleObj>
              </mc:Choice>
              <mc:Fallback>
                <p:oleObj name="Equation" r:id="rId6" imgW="685800" imgH="990360" progId="">
                  <p:embed/>
                  <p:pic>
                    <p:nvPicPr>
                      <p:cNvPr id="9219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767523"/>
                        <a:ext cx="896953" cy="1295762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Text Box 64"/>
          <p:cNvSpPr txBox="1">
            <a:spLocks noChangeArrowheads="1"/>
          </p:cNvSpPr>
          <p:nvPr/>
        </p:nvSpPr>
        <p:spPr bwMode="auto">
          <a:xfrm>
            <a:off x="2526175" y="4060374"/>
            <a:ext cx="318135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400" b="1" dirty="0">
                <a:latin typeface="Bookman Old Style" panose="02050604050505020204" pitchFamily="18" charset="0"/>
              </a:rPr>
              <a:t>La </a:t>
            </a:r>
            <a:r>
              <a:rPr lang="fr-FR" sz="1400" b="1" u="sng" dirty="0">
                <a:latin typeface="Bookman Old Style" panose="02050604050505020204" pitchFamily="18" charset="0"/>
              </a:rPr>
              <a:t>conductance</a:t>
            </a:r>
            <a:r>
              <a:rPr lang="fr-FR" sz="1400" b="1" dirty="0">
                <a:latin typeface="Bookman Old Style" panose="02050604050505020204" pitchFamily="18" charset="0"/>
              </a:rPr>
              <a:t> Gi </a:t>
            </a:r>
          </a:p>
          <a:p>
            <a:pPr algn="ctr"/>
            <a:r>
              <a:rPr lang="fr-FR" sz="1400" b="1" dirty="0">
                <a:latin typeface="Bookman Old Style" panose="02050604050505020204" pitchFamily="18" charset="0"/>
              </a:rPr>
              <a:t>est l’inverse de </a:t>
            </a:r>
          </a:p>
          <a:p>
            <a:pPr algn="ctr"/>
            <a:r>
              <a:rPr lang="fr-FR" sz="1400" b="1" dirty="0">
                <a:latin typeface="Bookman Old Style" panose="02050604050505020204" pitchFamily="18" charset="0"/>
              </a:rPr>
              <a:t>la résistance Ri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B185AF-744E-2F4C-2593-A8C2A9BFC39E}"/>
              </a:ext>
            </a:extLst>
          </p:cNvPr>
          <p:cNvSpPr txBox="1"/>
          <p:nvPr/>
        </p:nvSpPr>
        <p:spPr>
          <a:xfrm>
            <a:off x="576301" y="3104753"/>
            <a:ext cx="6586519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dirty="0"/>
              <a:t>La tension aux bornes de l’ensemble de ces branches est </a:t>
            </a:r>
            <a:r>
              <a:rPr lang="fr-FR" b="1" dirty="0"/>
              <a:t>U: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8438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5" grpId="0"/>
      <p:bldP spid="1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65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82845F-1B41-40E6-B8DF-9F76F549A5D1}"/>
              </a:ext>
            </a:extLst>
          </p:cNvPr>
          <p:cNvSpPr txBox="1"/>
          <p:nvPr/>
        </p:nvSpPr>
        <p:spPr>
          <a:xfrm>
            <a:off x="514225" y="440921"/>
            <a:ext cx="1354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b="1" u="sng" spc="-10" dirty="0">
                <a:uFill>
                  <a:solidFill>
                    <a:srgbClr val="000000"/>
                  </a:solidFill>
                </a:uFill>
                <a:latin typeface="Bookman Old Style" panose="02050604050505020204" pitchFamily="18" charset="0"/>
                <a:cs typeface="Times New Roman"/>
              </a:rPr>
              <a:t>Exemple:</a:t>
            </a:r>
            <a:endParaRPr lang="fr-FR" dirty="0">
              <a:latin typeface="Bookman Old Style" panose="02050604050505020204" pitchFamily="18" charset="0"/>
              <a:cs typeface="Times New Roman"/>
            </a:endParaRPr>
          </a:p>
        </p:txBody>
      </p:sp>
      <p:grpSp>
        <p:nvGrpSpPr>
          <p:cNvPr id="20" name="Group 5">
            <a:extLst>
              <a:ext uri="{FF2B5EF4-FFF2-40B4-BE49-F238E27FC236}">
                <a16:creationId xmlns:a16="http://schemas.microsoft.com/office/drawing/2014/main" id="{B14FFB9B-5118-6965-9F70-C4CFC9EA57EB}"/>
              </a:ext>
            </a:extLst>
          </p:cNvPr>
          <p:cNvGrpSpPr>
            <a:grpSpLocks/>
          </p:cNvGrpSpPr>
          <p:nvPr/>
        </p:nvGrpSpPr>
        <p:grpSpPr bwMode="auto">
          <a:xfrm>
            <a:off x="431393" y="1071953"/>
            <a:ext cx="4324350" cy="2343150"/>
            <a:chOff x="276" y="708"/>
            <a:chExt cx="2724" cy="1476"/>
          </a:xfrm>
        </p:grpSpPr>
        <p:sp>
          <p:nvSpPr>
            <p:cNvPr id="21" name="Rectangle 6">
              <a:extLst>
                <a:ext uri="{FF2B5EF4-FFF2-40B4-BE49-F238E27FC236}">
                  <a16:creationId xmlns:a16="http://schemas.microsoft.com/office/drawing/2014/main" id="{EEDEC21E-B60F-B50A-0B6E-386591198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" y="768"/>
              <a:ext cx="2268" cy="141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 sz="1100">
                <a:latin typeface="Bookman Old Style" panose="02050604050505020204" pitchFamily="18" charset="0"/>
              </a:endParaRPr>
            </a:p>
          </p:txBody>
        </p:sp>
        <p:sp>
          <p:nvSpPr>
            <p:cNvPr id="22" name="Rectangle 7">
              <a:extLst>
                <a:ext uri="{FF2B5EF4-FFF2-40B4-BE49-F238E27FC236}">
                  <a16:creationId xmlns:a16="http://schemas.microsoft.com/office/drawing/2014/main" id="{07E84CCA-2328-9828-A2B5-C95868AB32A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676" y="1020"/>
              <a:ext cx="168" cy="3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 sz="1100">
                <a:latin typeface="Bookman Old Style" panose="02050604050505020204" pitchFamily="18" charset="0"/>
              </a:endParaRPr>
            </a:p>
          </p:txBody>
        </p:sp>
        <p:sp>
          <p:nvSpPr>
            <p:cNvPr id="23" name="Line 8">
              <a:extLst>
                <a:ext uri="{FF2B5EF4-FFF2-40B4-BE49-F238E27FC236}">
                  <a16:creationId xmlns:a16="http://schemas.microsoft.com/office/drawing/2014/main" id="{C1F033CD-55E8-5F24-ECD4-0A4F044C2B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3" y="1464"/>
              <a:ext cx="0" cy="4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FR" sz="1100">
                <a:latin typeface="Bookman Old Style" panose="02050604050505020204" pitchFamily="18" charset="0"/>
              </a:endParaRPr>
            </a:p>
          </p:txBody>
        </p:sp>
        <p:grpSp>
          <p:nvGrpSpPr>
            <p:cNvPr id="24" name="Group 9">
              <a:extLst>
                <a:ext uri="{FF2B5EF4-FFF2-40B4-BE49-F238E27FC236}">
                  <a16:creationId xmlns:a16="http://schemas.microsoft.com/office/drawing/2014/main" id="{A890982D-44F9-4018-9039-0876DDC09B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1512"/>
              <a:ext cx="432" cy="384"/>
              <a:chOff x="3636" y="2796"/>
              <a:chExt cx="432" cy="384"/>
            </a:xfrm>
          </p:grpSpPr>
          <p:sp>
            <p:nvSpPr>
              <p:cNvPr id="42" name="Oval 10">
                <a:extLst>
                  <a:ext uri="{FF2B5EF4-FFF2-40B4-BE49-F238E27FC236}">
                    <a16:creationId xmlns:a16="http://schemas.microsoft.com/office/drawing/2014/main" id="{B0B93AFD-E57C-EAA8-3DBC-9C3DA3E3D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6" y="2796"/>
                <a:ext cx="432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1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43" name="Line 11">
                <a:extLst>
                  <a:ext uri="{FF2B5EF4-FFF2-40B4-BE49-F238E27FC236}">
                    <a16:creationId xmlns:a16="http://schemas.microsoft.com/office/drawing/2014/main" id="{668B8739-2036-BFC4-C1D8-B687308929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2" y="2832"/>
                <a:ext cx="0" cy="3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 sz="1100"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25" name="Text Box 12">
              <a:extLst>
                <a:ext uri="{FF2B5EF4-FFF2-40B4-BE49-F238E27FC236}">
                  <a16:creationId xmlns:a16="http://schemas.microsoft.com/office/drawing/2014/main" id="{64921AB2-B927-4C3F-4537-5E1224F8A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1" y="1596"/>
              <a:ext cx="780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sz="1100" b="1" dirty="0">
                  <a:latin typeface="Bookman Old Style" panose="02050604050505020204" pitchFamily="18" charset="0"/>
                </a:rPr>
                <a:t>e=100V</a:t>
              </a:r>
            </a:p>
          </p:txBody>
        </p:sp>
        <p:sp>
          <p:nvSpPr>
            <p:cNvPr id="26" name="Text Box 13">
              <a:extLst>
                <a:ext uri="{FF2B5EF4-FFF2-40B4-BE49-F238E27FC236}">
                  <a16:creationId xmlns:a16="http://schemas.microsoft.com/office/drawing/2014/main" id="{DAC3A8FA-056E-1D19-6B3E-4081F14AD9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" y="1044"/>
              <a:ext cx="732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sz="1100" b="1" dirty="0">
                  <a:latin typeface="Bookman Old Style" panose="02050604050505020204" pitchFamily="18" charset="0"/>
                  <a:sym typeface="Symbol" pitchFamily="18" charset="2"/>
                </a:rPr>
                <a:t>=10</a:t>
              </a:r>
              <a:endParaRPr lang="fr-FR" sz="1100" b="1" dirty="0">
                <a:latin typeface="Bookman Old Style" panose="02050604050505020204" pitchFamily="18" charset="0"/>
              </a:endParaRPr>
            </a:p>
          </p:txBody>
        </p:sp>
        <p:sp>
          <p:nvSpPr>
            <p:cNvPr id="27" name="Rectangle 14">
              <a:extLst>
                <a:ext uri="{FF2B5EF4-FFF2-40B4-BE49-F238E27FC236}">
                  <a16:creationId xmlns:a16="http://schemas.microsoft.com/office/drawing/2014/main" id="{9AAA01C0-31A8-79F8-6900-F716906762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32" y="1020"/>
              <a:ext cx="168" cy="3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 sz="1100">
                <a:latin typeface="Bookman Old Style" panose="02050604050505020204" pitchFamily="18" charset="0"/>
              </a:endParaRPr>
            </a:p>
          </p:txBody>
        </p:sp>
        <p:sp>
          <p:nvSpPr>
            <p:cNvPr id="28" name="Line 15">
              <a:extLst>
                <a:ext uri="{FF2B5EF4-FFF2-40B4-BE49-F238E27FC236}">
                  <a16:creationId xmlns:a16="http://schemas.microsoft.com/office/drawing/2014/main" id="{D368E937-D58B-F4B8-D1A2-A19AE6110D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8" y="1464"/>
              <a:ext cx="0" cy="4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FR" sz="1100">
                <a:latin typeface="Bookman Old Style" panose="02050604050505020204" pitchFamily="18" charset="0"/>
              </a:endParaRPr>
            </a:p>
          </p:txBody>
        </p:sp>
        <p:grpSp>
          <p:nvGrpSpPr>
            <p:cNvPr id="29" name="Group 16">
              <a:extLst>
                <a:ext uri="{FF2B5EF4-FFF2-40B4-BE49-F238E27FC236}">
                  <a16:creationId xmlns:a16="http://schemas.microsoft.com/office/drawing/2014/main" id="{4DDE81E4-2DB5-F86A-DD4D-907B07CCF8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" y="1512"/>
              <a:ext cx="432" cy="384"/>
              <a:chOff x="3636" y="2796"/>
              <a:chExt cx="432" cy="384"/>
            </a:xfrm>
          </p:grpSpPr>
          <p:sp>
            <p:nvSpPr>
              <p:cNvPr id="40" name="Oval 17">
                <a:extLst>
                  <a:ext uri="{FF2B5EF4-FFF2-40B4-BE49-F238E27FC236}">
                    <a16:creationId xmlns:a16="http://schemas.microsoft.com/office/drawing/2014/main" id="{56F3429A-69FA-E1FC-8F7C-0CC388A285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6" y="2796"/>
                <a:ext cx="432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1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41" name="Line 18">
                <a:extLst>
                  <a:ext uri="{FF2B5EF4-FFF2-40B4-BE49-F238E27FC236}">
                    <a16:creationId xmlns:a16="http://schemas.microsoft.com/office/drawing/2014/main" id="{04DDB76A-A511-258F-303B-58423837BE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2" y="2832"/>
                <a:ext cx="0" cy="3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 sz="1100">
                  <a:latin typeface="Bookman Old Style" panose="02050604050505020204" pitchFamily="18" charset="0"/>
                </a:endParaRPr>
              </a:p>
            </p:txBody>
          </p:sp>
        </p:grpSp>
        <p:grpSp>
          <p:nvGrpSpPr>
            <p:cNvPr id="30" name="Group 19">
              <a:extLst>
                <a:ext uri="{FF2B5EF4-FFF2-40B4-BE49-F238E27FC236}">
                  <a16:creationId xmlns:a16="http://schemas.microsoft.com/office/drawing/2014/main" id="{E443786D-03FA-40A8-362F-01CB298F7F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780"/>
              <a:ext cx="168" cy="1404"/>
              <a:chOff x="4092" y="2256"/>
              <a:chExt cx="168" cy="1404"/>
            </a:xfrm>
          </p:grpSpPr>
          <p:sp>
            <p:nvSpPr>
              <p:cNvPr id="38" name="Line 20">
                <a:extLst>
                  <a:ext uri="{FF2B5EF4-FFF2-40B4-BE49-F238E27FC236}">
                    <a16:creationId xmlns:a16="http://schemas.microsoft.com/office/drawing/2014/main" id="{D3887AAB-045B-5931-EE0F-753034FEAD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2256"/>
                <a:ext cx="0" cy="14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 sz="11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39" name="Rectangle 21">
                <a:extLst>
                  <a:ext uri="{FF2B5EF4-FFF2-40B4-BE49-F238E27FC236}">
                    <a16:creationId xmlns:a16="http://schemas.microsoft.com/office/drawing/2014/main" id="{27C9D1D4-DD9E-FA28-5EC4-619CA04D4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4092" y="2688"/>
                <a:ext cx="168" cy="52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FR" sz="1100"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31" name="Text Box 22">
              <a:extLst>
                <a:ext uri="{FF2B5EF4-FFF2-40B4-BE49-F238E27FC236}">
                  <a16:creationId xmlns:a16="http://schemas.microsoft.com/office/drawing/2014/main" id="{27EBC7DD-2B5C-6CE7-2F6D-9518C43CCC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584"/>
              <a:ext cx="936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sz="1100" b="1" dirty="0">
                  <a:latin typeface="Bookman Old Style" panose="02050604050505020204" pitchFamily="18" charset="0"/>
                </a:rPr>
                <a:t>E=120V</a:t>
              </a:r>
            </a:p>
          </p:txBody>
        </p:sp>
        <p:sp>
          <p:nvSpPr>
            <p:cNvPr id="32" name="Text Box 23">
              <a:extLst>
                <a:ext uri="{FF2B5EF4-FFF2-40B4-BE49-F238E27FC236}">
                  <a16:creationId xmlns:a16="http://schemas.microsoft.com/office/drawing/2014/main" id="{82A79EE6-1814-0309-9642-1AFCBA67D9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" y="984"/>
              <a:ext cx="876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sz="1100" b="1" dirty="0">
                  <a:latin typeface="Bookman Old Style" panose="02050604050505020204" pitchFamily="18" charset="0"/>
                </a:rPr>
                <a:t> r =2</a:t>
              </a:r>
              <a:r>
                <a:rPr lang="fr-FR" sz="1100" b="1" dirty="0">
                  <a:latin typeface="Bookman Old Style" panose="02050604050505020204" pitchFamily="18" charset="0"/>
                  <a:sym typeface="Symbol" pitchFamily="18" charset="2"/>
                </a:rPr>
                <a:t></a:t>
              </a:r>
              <a:endParaRPr lang="fr-FR" sz="1100" b="1" dirty="0">
                <a:latin typeface="Bookman Old Style" panose="02050604050505020204" pitchFamily="18" charset="0"/>
              </a:endParaRPr>
            </a:p>
          </p:txBody>
        </p:sp>
        <p:sp>
          <p:nvSpPr>
            <p:cNvPr id="33" name="Text Box 24">
              <a:extLst>
                <a:ext uri="{FF2B5EF4-FFF2-40B4-BE49-F238E27FC236}">
                  <a16:creationId xmlns:a16="http://schemas.microsoft.com/office/drawing/2014/main" id="{AF24F8BC-44B8-92AF-1B81-13B656FB06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2" y="1296"/>
              <a:ext cx="816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sz="1100" b="1" dirty="0">
                  <a:latin typeface="Bookman Old Style" panose="02050604050505020204" pitchFamily="18" charset="0"/>
                </a:rPr>
                <a:t>R=38</a:t>
              </a:r>
              <a:r>
                <a:rPr lang="fr-FR" sz="1100" b="1" dirty="0">
                  <a:latin typeface="Bookman Old Style" panose="02050604050505020204" pitchFamily="18" charset="0"/>
                  <a:sym typeface="Symbol" pitchFamily="18" charset="2"/>
                </a:rPr>
                <a:t></a:t>
              </a:r>
              <a:endParaRPr lang="fr-FR" sz="1100" b="1" dirty="0">
                <a:latin typeface="Bookman Old Style" panose="02050604050505020204" pitchFamily="18" charset="0"/>
              </a:endParaRPr>
            </a:p>
          </p:txBody>
        </p:sp>
        <p:sp>
          <p:nvSpPr>
            <p:cNvPr id="34" name="Text Box 25">
              <a:extLst>
                <a:ext uri="{FF2B5EF4-FFF2-40B4-BE49-F238E27FC236}">
                  <a16:creationId xmlns:a16="http://schemas.microsoft.com/office/drawing/2014/main" id="{84EB6E08-3C08-8D33-D224-7313E3499F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8" y="772"/>
              <a:ext cx="276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sz="1100" b="1" dirty="0">
                  <a:solidFill>
                    <a:srgbClr val="FF0000"/>
                  </a:solidFill>
                  <a:latin typeface="Bookman Old Style" panose="02050604050505020204" pitchFamily="18" charset="0"/>
                </a:rPr>
                <a:t>A</a:t>
              </a:r>
            </a:p>
          </p:txBody>
        </p:sp>
        <p:sp>
          <p:nvSpPr>
            <p:cNvPr id="35" name="Text Box 26">
              <a:extLst>
                <a:ext uri="{FF2B5EF4-FFF2-40B4-BE49-F238E27FC236}">
                  <a16:creationId xmlns:a16="http://schemas.microsoft.com/office/drawing/2014/main" id="{DC818053-97C6-B4AB-BE67-AC089F288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4" y="1896"/>
              <a:ext cx="264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sz="1100" b="1" dirty="0">
                  <a:solidFill>
                    <a:srgbClr val="FF0000"/>
                  </a:solidFill>
                  <a:latin typeface="Bookman Old Style" panose="02050604050505020204" pitchFamily="18" charset="0"/>
                </a:rPr>
                <a:t>B</a:t>
              </a:r>
            </a:p>
          </p:txBody>
        </p:sp>
        <p:sp>
          <p:nvSpPr>
            <p:cNvPr id="36" name="Oval 27">
              <a:extLst>
                <a:ext uri="{FF2B5EF4-FFF2-40B4-BE49-F238E27FC236}">
                  <a16:creationId xmlns:a16="http://schemas.microsoft.com/office/drawing/2014/main" id="{06F92C19-9C24-B72D-9D1B-28920ED8A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8" y="2124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fr-FR" sz="1100">
                <a:latin typeface="Bookman Old Style" panose="02050604050505020204" pitchFamily="18" charset="0"/>
              </a:endParaRPr>
            </a:p>
          </p:txBody>
        </p:sp>
        <p:sp>
          <p:nvSpPr>
            <p:cNvPr id="37" name="Oval 28">
              <a:extLst>
                <a:ext uri="{FF2B5EF4-FFF2-40B4-BE49-F238E27FC236}">
                  <a16:creationId xmlns:a16="http://schemas.microsoft.com/office/drawing/2014/main" id="{777B8697-7960-E9E3-1952-241A50CA6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8" y="708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fr-FR" sz="1100">
                <a:latin typeface="Bookman Old Style" panose="02050604050505020204" pitchFamily="18" charset="0"/>
              </a:endParaRPr>
            </a:p>
          </p:txBody>
        </p:sp>
      </p:grpSp>
      <p:graphicFrame>
        <p:nvGraphicFramePr>
          <p:cNvPr id="44" name="Object 29">
            <a:extLst>
              <a:ext uri="{FF2B5EF4-FFF2-40B4-BE49-F238E27FC236}">
                <a16:creationId xmlns:a16="http://schemas.microsoft.com/office/drawing/2014/main" id="{30DDB99B-C925-CD68-A14F-D84DD38E28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301384"/>
              </p:ext>
            </p:extLst>
          </p:nvPr>
        </p:nvGraphicFramePr>
        <p:xfrm>
          <a:off x="5654194" y="1633609"/>
          <a:ext cx="2270605" cy="1459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" name="Equation" r:id="rId4" imgW="1371600" imgH="914400" progId="">
                  <p:embed/>
                </p:oleObj>
              </mc:Choice>
              <mc:Fallback>
                <p:oleObj name="Equation" r:id="rId4" imgW="1371600" imgH="914400" progId="">
                  <p:embed/>
                  <p:pic>
                    <p:nvPicPr>
                      <p:cNvPr id="44" name="Object 29">
                        <a:extLst>
                          <a:ext uri="{FF2B5EF4-FFF2-40B4-BE49-F238E27FC236}">
                            <a16:creationId xmlns:a16="http://schemas.microsoft.com/office/drawing/2014/main" id="{30DDB99B-C925-CD68-A14F-D84DD38E28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4194" y="1633609"/>
                        <a:ext cx="2270605" cy="1459327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 Box 30">
            <a:extLst>
              <a:ext uri="{FF2B5EF4-FFF2-40B4-BE49-F238E27FC236}">
                <a16:creationId xmlns:a16="http://schemas.microsoft.com/office/drawing/2014/main" id="{96E1FFEB-D27E-CF28-9448-4DF1DC75E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043" y="3364303"/>
            <a:ext cx="28384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U</a:t>
            </a:r>
            <a:r>
              <a:rPr lang="fr-FR" sz="1600" b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AB</a:t>
            </a:r>
            <a:r>
              <a:rPr lang="fr-FR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= 111,76 V</a:t>
            </a:r>
          </a:p>
        </p:txBody>
      </p:sp>
      <p:sp>
        <p:nvSpPr>
          <p:cNvPr id="47" name="Text Box 31">
            <a:extLst>
              <a:ext uri="{FF2B5EF4-FFF2-40B4-BE49-F238E27FC236}">
                <a16:creationId xmlns:a16="http://schemas.microsoft.com/office/drawing/2014/main" id="{03A42462-BDED-D9D7-23E8-1215D145B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393" y="4172103"/>
            <a:ext cx="711240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600" b="1" dirty="0">
                <a:latin typeface="Bookman Old Style" panose="02050604050505020204" pitchFamily="18" charset="0"/>
              </a:rPr>
              <a:t>Ensuite on calcule facilement les courants dans chaque branche. </a:t>
            </a:r>
          </a:p>
          <a:p>
            <a:pPr>
              <a:spcBef>
                <a:spcPct val="50000"/>
              </a:spcBef>
            </a:pPr>
            <a:r>
              <a:rPr lang="fr-FR" sz="1600" b="1" dirty="0">
                <a:latin typeface="Bookman Old Style" panose="02050604050505020204" pitchFamily="18" charset="0"/>
              </a:rPr>
              <a:t>Par exemple I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R</a:t>
            </a:r>
            <a:r>
              <a:rPr lang="fr-FR" sz="1600" b="1" dirty="0">
                <a:latin typeface="Bookman Old Style" panose="02050604050505020204" pitchFamily="18" charset="0"/>
              </a:rPr>
              <a:t> = 111,76 </a:t>
            </a:r>
            <a:r>
              <a:rPr lang="fr-FR" sz="1600" b="1" dirty="0">
                <a:latin typeface="Bookman Old Style" panose="02050604050505020204" pitchFamily="18" charset="0"/>
                <a:sym typeface="Symbol" pitchFamily="18" charset="2"/>
              </a:rPr>
              <a:t> 38 = 2,941 A</a:t>
            </a:r>
            <a:endParaRPr lang="fr-FR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59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66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299150" y="28575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2.6 Théorème de </a:t>
            </a:r>
            <a:r>
              <a:rPr lang="fr-FR" b="1" spc="-5" dirty="0" err="1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Kennelly</a:t>
            </a:r>
            <a:endParaRPr lang="fr-FR" altLang="fr-FR" b="1" spc="-5" dirty="0">
              <a:solidFill>
                <a:srgbClr val="0070C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564CDF-0E89-9798-4A7B-A99F5EC4F860}"/>
              </a:ext>
            </a:extLst>
          </p:cNvPr>
          <p:cNvSpPr txBox="1"/>
          <p:nvPr/>
        </p:nvSpPr>
        <p:spPr>
          <a:xfrm>
            <a:off x="456432" y="1123950"/>
            <a:ext cx="8306568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r>
              <a:rPr lang="fr-FR" sz="1800" dirty="0"/>
              <a:t>Le théorème de </a:t>
            </a:r>
            <a:r>
              <a:rPr lang="fr-FR" sz="1800" b="1" dirty="0" err="1"/>
              <a:t>Kennelly</a:t>
            </a:r>
            <a:r>
              <a:rPr lang="fr-FR" sz="1800" dirty="0"/>
              <a:t>, permet la transformation d’un montage de dipôles de type </a:t>
            </a:r>
            <a:r>
              <a:rPr lang="fr-FR" sz="1800" b="1" dirty="0"/>
              <a:t>triangle</a:t>
            </a:r>
            <a:r>
              <a:rPr lang="fr-FR" sz="1800" dirty="0"/>
              <a:t> en montage de type </a:t>
            </a:r>
            <a:r>
              <a:rPr lang="fr-FR" sz="1800" b="1" dirty="0"/>
              <a:t>étoile</a:t>
            </a:r>
            <a:r>
              <a:rPr lang="fr-FR" sz="1800" dirty="0"/>
              <a:t> ou </a:t>
            </a:r>
            <a:r>
              <a:rPr lang="fr-FR" sz="1800" b="1" dirty="0"/>
              <a:t>visse versa</a:t>
            </a:r>
            <a:r>
              <a:rPr lang="fr-FR" sz="1800" dirty="0"/>
              <a:t>.</a:t>
            </a:r>
          </a:p>
          <a:p>
            <a:pPr marL="0" indent="0">
              <a:buNone/>
            </a:pPr>
            <a:r>
              <a:rPr lang="fr-FR" sz="1800" dirty="0"/>
              <a:t> </a:t>
            </a:r>
          </a:p>
          <a:p>
            <a:r>
              <a:rPr lang="fr-FR" sz="1800" dirty="0"/>
              <a:t>Ce théorème est utile dans le cas où l’on souhaite simplifier des schémas. En réalité il s’agit surtout d’équations simples permettant une équivalence du montage.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4C30752-E607-56C3-E3F9-F6F1F2A04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611852" y="1992602"/>
            <a:ext cx="1844040" cy="403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389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67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564CDF-0E89-9798-4A7B-A99F5EC4F860}"/>
              </a:ext>
            </a:extLst>
          </p:cNvPr>
          <p:cNvSpPr txBox="1"/>
          <p:nvPr/>
        </p:nvSpPr>
        <p:spPr>
          <a:xfrm>
            <a:off x="448038" y="696561"/>
            <a:ext cx="8538603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endParaRPr lang="fr-FR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4C30752-E607-56C3-E3F9-F6F1F2A044B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1807" y="608363"/>
            <a:ext cx="1661917" cy="36397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CAAE37-DDCC-F90F-C8D3-6D6142F6714D}"/>
              </a:ext>
            </a:extLst>
          </p:cNvPr>
          <p:cNvSpPr txBox="1"/>
          <p:nvPr/>
        </p:nvSpPr>
        <p:spPr>
          <a:xfrm>
            <a:off x="2422950" y="763905"/>
            <a:ext cx="4588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>
                <a:latin typeface="Bookman Old Style" panose="02050604050505020204" pitchFamily="18" charset="0"/>
              </a:rPr>
              <a:t>Transformation </a:t>
            </a:r>
            <a:r>
              <a:rPr lang="fr-FR" sz="14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Triangle</a:t>
            </a:r>
            <a:r>
              <a:rPr lang="fr-FR" sz="1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-Etoile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6896C0-2D0C-62A5-B65C-C3190B7926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91229" y="1203243"/>
            <a:ext cx="2811472" cy="22297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110D62-682E-1E0F-5E76-50F07FE1EC78}"/>
              </a:ext>
            </a:extLst>
          </p:cNvPr>
          <p:cNvSpPr txBox="1"/>
          <p:nvPr/>
        </p:nvSpPr>
        <p:spPr>
          <a:xfrm>
            <a:off x="5910726" y="823730"/>
            <a:ext cx="31570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>
                <a:latin typeface="Bookman Old Style" panose="02050604050505020204" pitchFamily="18" charset="0"/>
              </a:rPr>
              <a:t>Transformation </a:t>
            </a:r>
            <a:r>
              <a:rPr lang="fr-FR" sz="1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Etoile-</a:t>
            </a:r>
            <a:r>
              <a:rPr lang="fr-FR" sz="14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Triangle</a:t>
            </a:r>
            <a:endParaRPr lang="fr-FR" sz="1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E486796-25F8-A1E3-B938-5E6D1DE4649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43945" y="1162284"/>
            <a:ext cx="3323855" cy="201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370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68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EA6355-E98B-A065-E7DD-7F83AAD04554}"/>
              </a:ext>
            </a:extLst>
          </p:cNvPr>
          <p:cNvSpPr txBox="1"/>
          <p:nvPr/>
        </p:nvSpPr>
        <p:spPr>
          <a:xfrm>
            <a:off x="833318" y="1548920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latin typeface="Bookman Old Style" panose="02050604050505020204" pitchFamily="18" charset="0"/>
              </a:rPr>
              <a:t>Trouvez la représentation en circuit équivalente à la structure suivante: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B6E604-D8F6-BEC6-5236-714AF8527C55}"/>
              </a:ext>
            </a:extLst>
          </p:cNvPr>
          <p:cNvSpPr txBox="1"/>
          <p:nvPr/>
        </p:nvSpPr>
        <p:spPr>
          <a:xfrm>
            <a:off x="533400" y="514350"/>
            <a:ext cx="4588778" cy="6591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12700">
              <a:lnSpc>
                <a:spcPct val="100000"/>
              </a:lnSpc>
              <a:spcBef>
                <a:spcPts val="100"/>
              </a:spcBef>
              <a:defRPr sz="1200" b="1" u="sng" spc="-10">
                <a:uFill>
                  <a:solidFill>
                    <a:srgbClr val="000000"/>
                  </a:solidFill>
                </a:uFill>
                <a:latin typeface="Bookman Old Style" panose="02050604050505020204" pitchFamily="18" charset="0"/>
                <a:cs typeface="Times New Roman"/>
              </a:defRPr>
            </a:lvl1pPr>
          </a:lstStyle>
          <a:p>
            <a:r>
              <a:rPr lang="fr-FR" sz="1800" spc="-5" dirty="0">
                <a:solidFill>
                  <a:srgbClr val="0070C0"/>
                </a:solidFill>
                <a:cs typeface="Arial"/>
              </a:rPr>
              <a:t>Théorème de </a:t>
            </a:r>
            <a:r>
              <a:rPr lang="fr-FR" sz="1800" spc="-5" dirty="0" err="1">
                <a:solidFill>
                  <a:srgbClr val="0070C0"/>
                </a:solidFill>
                <a:cs typeface="Arial"/>
              </a:rPr>
              <a:t>Kennelly</a:t>
            </a:r>
            <a:endParaRPr lang="fr-FR" altLang="fr-FR" sz="1800" spc="-5" dirty="0">
              <a:solidFill>
                <a:srgbClr val="0070C0"/>
              </a:solidFill>
              <a:cs typeface="Arial"/>
            </a:endParaRPr>
          </a:p>
          <a:p>
            <a:r>
              <a:rPr lang="fr-FR" sz="1800" dirty="0" smtClean="0"/>
              <a:t>Application</a:t>
            </a:r>
            <a:r>
              <a:rPr lang="fr-FR" sz="1800" dirty="0"/>
              <a:t>: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F5F24A4-4F1E-B063-AA11-8A9990187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974" y="2262890"/>
            <a:ext cx="4740051" cy="288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93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69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8600" y="153698"/>
            <a:ext cx="4707154" cy="597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Régime sinusoïdale</a:t>
            </a:r>
          </a:p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endParaRPr lang="fr-FR" sz="1600" dirty="0">
              <a:solidFill>
                <a:srgbClr val="CC00CC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296177" y="57327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4.1 Signaux sinusoïdaux</a:t>
            </a:r>
            <a:endParaRPr lang="fr-FR" altLang="fr-FR" sz="1600" b="1" spc="-5" dirty="0">
              <a:solidFill>
                <a:srgbClr val="0070C0"/>
              </a:solidFill>
              <a:latin typeface="Bookman Old Style" panose="02050604050505020204" pitchFamily="18" charset="0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CE6F1B4-6539-4814-9938-B9E04E86E700}"/>
                  </a:ext>
                </a:extLst>
              </p:cNvPr>
              <p:cNvSpPr txBox="1"/>
              <p:nvPr/>
            </p:nvSpPr>
            <p:spPr>
              <a:xfrm>
                <a:off x="431849" y="1177962"/>
                <a:ext cx="8137583" cy="3298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sz="1600" dirty="0">
                    <a:latin typeface="Bookman Old Style" panose="02050604050505020204" pitchFamily="18" charset="0"/>
                  </a:rPr>
                  <a:t>En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régime sinusoïdale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, toutes les grandeurs sont de la forme :</a:t>
                </a:r>
              </a:p>
              <a:p>
                <a:pPr algn="just"/>
                <a:endParaRPr lang="fr-FR" sz="1600" dirty="0">
                  <a:latin typeface="Bookman Old Style" panose="0205060405050502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sSub>
                        <m:sSubPr>
                          <m:ctrlPr>
                            <a:rPr lang="fr-FR" sz="1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1" dirty="0" err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fr-FR" sz="1600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fr-FR" sz="1600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1" i="1" dirty="0">
                          <a:latin typeface="Cambria Math" panose="02040503050406030204" pitchFamily="18" charset="0"/>
                        </a:rPr>
                        <m:t>𝒄𝒐𝒔</m:t>
                      </m:r>
                      <m:r>
                        <a:rPr lang="fr-FR" sz="1600" b="1" i="1" dirty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l-GR" sz="1600" b="1" i="1" dirty="0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fr-FR" sz="1600" b="1" i="1" dirty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sz="1600" b="1" i="1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l-GR" sz="1600" b="1" i="1" dirty="0"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el-GR" sz="1600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600" b="1" dirty="0">
                  <a:latin typeface="Bookman Old Style" panose="02050604050505020204" pitchFamily="18" charset="0"/>
                </a:endParaRPr>
              </a:p>
              <a:p>
                <a:pPr algn="just"/>
                <a:r>
                  <a:rPr lang="fr-FR" sz="1600" b="1" dirty="0">
                    <a:latin typeface="Bookman Old Style" panose="02050604050505020204" pitchFamily="18" charset="0"/>
                  </a:rPr>
                  <a:t>Avec:</a:t>
                </a:r>
              </a:p>
              <a:p>
                <a:pPr algn="just"/>
                <a:r>
                  <a:rPr lang="fr-FR" sz="1600" b="1" dirty="0">
                    <a:latin typeface="Bookman Old Style" panose="02050604050505020204" pitchFamily="18" charset="0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dirty="0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fr-FR" sz="1600" b="1" i="1" dirty="0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fr-FR" sz="1600" b="1" dirty="0">
                    <a:latin typeface="Bookman Old Style" panose="02050604050505020204" pitchFamily="18" charset="0"/>
                  </a:rPr>
                  <a:t> : Amplitude, 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de même unité que la grandeur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16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fr-FR" sz="16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fr-FR" sz="1600" b="1" dirty="0">
                  <a:latin typeface="Bookman Old Style" panose="02050604050505020204" pitchFamily="18" charset="0"/>
                </a:endParaRPr>
              </a:p>
              <a:p>
                <a:pPr algn="just"/>
                <a:endParaRPr lang="fr-FR" sz="1600" b="1" dirty="0">
                  <a:latin typeface="Bookman Old Style" panose="02050604050505020204" pitchFamily="18" charset="0"/>
                </a:endParaRPr>
              </a:p>
              <a:p>
                <a:pPr algn="just"/>
                <a:r>
                  <a:rPr lang="fr-FR" sz="1600" b="1" dirty="0">
                    <a:latin typeface="Bookman Old Style" panose="020506040505050202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fr-FR" sz="1600" b="1" i="1" dirty="0" smtClean="0">
                        <a:latin typeface="Cambria Math" panose="02040503050406030204" pitchFamily="18" charset="0"/>
                      </a:rPr>
                      <m:t>𝝎</m:t>
                    </m:r>
                    <m:r>
                      <a:rPr lang="fr-FR" sz="16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600" b="1" dirty="0">
                    <a:latin typeface="Bookman Old Style" panose="02050604050505020204" pitchFamily="18" charset="0"/>
                  </a:rPr>
                  <a:t>  : Pulsation 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imposée par le générateur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, en </a:t>
                </a:r>
                <a14:m>
                  <m:oMath xmlns:m="http://schemas.openxmlformats.org/officeDocument/2006/math">
                    <m:r>
                      <a:rPr lang="fr-FR" sz="1600" b="1" i="1" dirty="0" smtClean="0">
                        <a:latin typeface="Cambria Math" panose="02040503050406030204" pitchFamily="18" charset="0"/>
                      </a:rPr>
                      <m:t>𝒓𝒂𝒅</m:t>
                    </m:r>
                    <m:r>
                      <a:rPr lang="fr-FR" sz="1600" b="1" i="1" dirty="0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fr-FR" sz="16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1" i="1" dirty="0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p>
                        <m:r>
                          <a:rPr lang="fr-FR" sz="1600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sz="16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fr-FR" sz="1600" b="1" dirty="0">
                    <a:latin typeface="Bookman Old Style" panose="02050604050505020204" pitchFamily="18" charset="0"/>
                  </a:rPr>
                  <a:t>   </a:t>
                </a:r>
              </a:p>
              <a:p>
                <a:pPr algn="just"/>
                <a:endParaRPr lang="fr-FR" sz="1600" b="1" dirty="0">
                  <a:latin typeface="Bookman Old Style" panose="02050604050505020204" pitchFamily="18" charset="0"/>
                </a:endParaRPr>
              </a:p>
              <a:p>
                <a:pPr algn="just"/>
                <a:r>
                  <a:rPr lang="fr-FR" sz="1600" b="1" dirty="0"/>
                  <a:t>              </a:t>
                </a:r>
                <a14:m>
                  <m:oMath xmlns:m="http://schemas.openxmlformats.org/officeDocument/2006/math">
                    <m:r>
                      <a:rPr lang="el-GR" sz="1600" b="1" i="1" dirty="0">
                        <a:latin typeface="Cambria Math" panose="02040503050406030204" pitchFamily="18" charset="0"/>
                      </a:rPr>
                      <m:t>𝝎</m:t>
                    </m:r>
                    <m:r>
                      <a:rPr lang="fr-FR" sz="1600" b="1" i="1" dirty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fr-FR" sz="1600" b="1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l-GR" sz="1600" b="1" i="1" dirty="0">
                        <a:latin typeface="Cambria Math" panose="02040503050406030204" pitchFamily="18" charset="0"/>
                      </a:rPr>
                      <m:t>𝝋</m:t>
                    </m:r>
                    <m:r>
                      <a:rPr lang="el-GR" sz="16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fr-FR" altLang="fr-FR" sz="1600" dirty="0">
                    <a:latin typeface="Bookman Old Style" panose="02050604050505020204" pitchFamily="18" charset="0"/>
                  </a:rPr>
                  <a:t>est la </a:t>
                </a:r>
                <a:r>
                  <a:rPr lang="fr-FR" altLang="fr-FR" sz="1600" b="1" dirty="0">
                    <a:latin typeface="Bookman Old Style" panose="02050604050505020204" pitchFamily="18" charset="0"/>
                  </a:rPr>
                  <a:t>phase instantanée </a:t>
                </a:r>
                <a:r>
                  <a:rPr lang="fr-FR" altLang="fr-FR" sz="1600" dirty="0">
                    <a:latin typeface="Bookman Old Style" panose="02050604050505020204" pitchFamily="18" charset="0"/>
                  </a:rPr>
                  <a:t>en </a:t>
                </a:r>
                <a:r>
                  <a:rPr lang="fr-FR" altLang="fr-FR" sz="1600" b="1" i="1" dirty="0">
                    <a:latin typeface="Bookman Old Style" panose="02050604050505020204" pitchFamily="18" charset="0"/>
                  </a:rPr>
                  <a:t>rad</a:t>
                </a:r>
              </a:p>
              <a:p>
                <a:pPr algn="just"/>
                <a:endParaRPr lang="fr-FR" sz="1600" b="1" i="1" dirty="0">
                  <a:latin typeface="Bookman Old Style" panose="02050604050505020204" pitchFamily="18" charset="0"/>
                </a:endParaRPr>
              </a:p>
              <a:p>
                <a:pPr algn="just"/>
                <a:r>
                  <a:rPr lang="fr-FR" sz="1600" b="1" dirty="0"/>
                  <a:t>               </a:t>
                </a:r>
                <a14:m>
                  <m:oMath xmlns:m="http://schemas.openxmlformats.org/officeDocument/2006/math">
                    <m:r>
                      <a:rPr lang="fr-FR" sz="1600" b="1" i="1" dirty="0" smtClean="0"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fr-FR" sz="1600" b="1" dirty="0">
                    <a:latin typeface="Bookman Old Style" panose="02050604050505020204" pitchFamily="18" charset="0"/>
                  </a:rPr>
                  <a:t>   : Phase à </a:t>
                </a:r>
                <a:r>
                  <a:rPr lang="fr-FR" sz="1600" b="1" dirty="0" smtClean="0">
                    <a:latin typeface="Bookman Old Style" panose="02050604050505020204" pitchFamily="18" charset="0"/>
                  </a:rPr>
                  <a:t>l’origine (t=0),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en rad</a:t>
                </a:r>
              </a:p>
              <a:p>
                <a:pPr algn="just"/>
                <a:endParaRPr lang="fr-FR" sz="1600" b="1" dirty="0">
                  <a:latin typeface="Bookman Old Style" panose="02050604050505020204" pitchFamily="18" charset="0"/>
                </a:endParaRPr>
              </a:p>
              <a:p>
                <a:pPr algn="just"/>
                <a:r>
                  <a:rPr lang="fr-FR" sz="1600" b="1" dirty="0">
                    <a:latin typeface="Bookman Old Style" panose="02050604050505020204" pitchFamily="18" charset="0"/>
                  </a:rPr>
                  <a:t>Pulsation, période et fréquence 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sont reliées par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fr-FR" sz="16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𝝎</m:t>
                    </m:r>
                    <m:r>
                      <a:rPr lang="fr-FR" sz="16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fr-FR" sz="16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fr-FR" sz="16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fr-FR" sz="16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× </m:t>
                    </m:r>
                    <m:r>
                      <a:rPr lang="fr-FR" sz="16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fr-FR" sz="16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fr-FR" sz="16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fr-FR" sz="16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fr-FR" sz="16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fr-FR" sz="16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fr-FR" sz="1600" b="1" dirty="0">
                  <a:latin typeface="Bookman Old Style" panose="02050604050505020204" pitchFamily="18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CE6F1B4-6539-4814-9938-B9E04E86E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49" y="1177962"/>
                <a:ext cx="8137583" cy="3298788"/>
              </a:xfrm>
              <a:prstGeom prst="rect">
                <a:avLst/>
              </a:prstGeom>
              <a:blipFill>
                <a:blip r:embed="rId3"/>
                <a:stretch>
                  <a:fillRect l="-449" t="-555" b="-147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249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70</a:t>
            </a:fld>
            <a:endParaRPr sz="2400" dirty="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564CDF-0E89-9798-4A7B-A99F5EC4F860}"/>
                  </a:ext>
                </a:extLst>
              </p:cNvPr>
              <p:cNvSpPr txBox="1"/>
              <p:nvPr/>
            </p:nvSpPr>
            <p:spPr>
              <a:xfrm>
                <a:off x="457201" y="590550"/>
                <a:ext cx="7830090" cy="13234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fr-FR"/>
                </a:defPPr>
                <a:lvl1pPr marL="285750" indent="-285750" algn="just">
                  <a:buFont typeface="Wingdings" panose="05000000000000000000" pitchFamily="2" charset="2"/>
                  <a:buChar char="q"/>
                  <a:defRPr sz="1600">
                    <a:latin typeface="Bookman Old Style" panose="02050604050505020204" pitchFamily="18" charset="0"/>
                    <a:cs typeface="Browallia New" panose="020B0604020202020204" pitchFamily="34" charset="-34"/>
                  </a:defRPr>
                </a:lvl1pPr>
                <a:lvl2pPr marL="742950" indent="-285750">
                  <a:defRPr sz="2400"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panose="02020603050405020304" pitchFamily="18" charset="0"/>
                  </a:defRPr>
                </a:lvl9pPr>
              </a:lstStyle>
              <a:p>
                <a:r>
                  <a:rPr lang="fr-FR" altLang="fr-FR" sz="1600" dirty="0" smtClean="0"/>
                  <a:t>Une tension est une grandeur </a:t>
                </a:r>
                <a:r>
                  <a:rPr lang="fr-FR" altLang="fr-FR" sz="1600" b="1" dirty="0">
                    <a:solidFill>
                      <a:srgbClr val="0000FF"/>
                    </a:solidFill>
                  </a:rPr>
                  <a:t>périodique</a:t>
                </a:r>
                <a:r>
                  <a:rPr lang="fr-FR" altLang="fr-FR" sz="1600" b="1" i="1" dirty="0">
                    <a:solidFill>
                      <a:srgbClr val="0000FF"/>
                    </a:solidFill>
                  </a:rPr>
                  <a:t> </a:t>
                </a:r>
                <a:r>
                  <a:rPr lang="fr-FR" altLang="fr-FR" sz="1600" dirty="0"/>
                  <a:t>et </a:t>
                </a:r>
                <a:r>
                  <a:rPr lang="fr-FR" altLang="fr-FR" sz="1600" b="1" dirty="0">
                    <a:solidFill>
                      <a:srgbClr val="0000FF"/>
                    </a:solidFill>
                  </a:rPr>
                  <a:t>alternative</a:t>
                </a:r>
                <a:r>
                  <a:rPr lang="fr-FR" altLang="fr-FR" sz="1600" dirty="0"/>
                  <a:t> </a:t>
                </a:r>
                <a:r>
                  <a:rPr lang="fr-FR" altLang="fr-FR" dirty="0"/>
                  <a:t>pouvant s’écrire </a:t>
                </a:r>
                <a:r>
                  <a:rPr lang="fr-FR" altLang="fr-FR" sz="1600" dirty="0"/>
                  <a:t>sous la forme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altLang="fr-FR" sz="1600" b="1" i="1" smtClean="0">
                          <a:latin typeface="Cambria Math" panose="02040503050406030204" pitchFamily="18" charset="0"/>
                        </a:rPr>
                        <m:t>𝒖</m:t>
                      </m:r>
                      <m:d>
                        <m:dPr>
                          <m:ctrlPr>
                            <a:rPr lang="fr-FR" altLang="fr-FR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altLang="fr-F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fr-FR" altLang="fr-F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altLang="fr-F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altLang="fr-FR" sz="16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fr-FR" altLang="fr-FR" sz="16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altLang="fr-FR" sz="1600" b="1" i="0" smtClean="0">
                          <a:latin typeface="Cambria Math" panose="02040503050406030204" pitchFamily="18" charset="0"/>
                        </a:rPr>
                        <m:t>𝐜𝐨𝐬</m:t>
                      </m:r>
                      <m:r>
                        <a:rPr lang="fr-FR" altLang="fr-FR" sz="1600" b="1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fr-FR" altLang="fr-FR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  <m:r>
                        <a:rPr lang="fr-FR" altLang="fr-FR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r>
                        <a:rPr lang="fr-FR" altLang="fr-FR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altLang="fr-FR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  <m:r>
                        <a:rPr lang="fr-FR" altLang="fr-FR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altLang="fr-FR" sz="1600" b="1" dirty="0"/>
              </a:p>
              <a:p>
                <a:pPr marL="0" indent="0">
                  <a:buNone/>
                </a:pPr>
                <a:endParaRPr lang="fr-FR" altLang="fr-FR" sz="1600" b="1" dirty="0"/>
              </a:p>
              <a:p>
                <a:pPr marL="0" indent="0">
                  <a:buNone/>
                </a:pPr>
                <a:endParaRPr lang="fr-FR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564CDF-0E89-9798-4A7B-A99F5EC4F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590550"/>
                <a:ext cx="7830090" cy="1323439"/>
              </a:xfrm>
              <a:prstGeom prst="rect">
                <a:avLst/>
              </a:prstGeom>
              <a:blipFill>
                <a:blip r:embed="rId3"/>
                <a:stretch>
                  <a:fillRect l="-312" t="-1382" r="-3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 26">
            <a:extLst>
              <a:ext uri="{FF2B5EF4-FFF2-40B4-BE49-F238E27FC236}">
                <a16:creationId xmlns:a16="http://schemas.microsoft.com/office/drawing/2014/main" id="{AE3B1E4C-FB65-E6A8-9C13-F6A03079F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042" y="2330360"/>
            <a:ext cx="6001916" cy="2474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782F4E-C68E-4FB2-F7FA-52BCE024CDCD}"/>
                  </a:ext>
                </a:extLst>
              </p:cNvPr>
              <p:cNvSpPr txBox="1"/>
              <p:nvPr/>
            </p:nvSpPr>
            <p:spPr>
              <a:xfrm>
                <a:off x="457201" y="1744712"/>
                <a:ext cx="420801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spcBef>
                    <a:spcPct val="0"/>
                  </a:spcBef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altLang="fr-FR" sz="1600" b="1" i="1" smtClean="0"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</m:ctrlPr>
                      </m:sSubPr>
                      <m:e>
                        <m:r>
                          <a:rPr lang="fr-FR" altLang="fr-FR" sz="1600" b="1" i="1"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𝑼</m:t>
                        </m:r>
                      </m:e>
                      <m:sub>
                        <m:r>
                          <a:rPr lang="fr-FR" altLang="fr-FR" sz="1600" b="1" i="1"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𝒄𝒄</m:t>
                        </m:r>
                      </m:sub>
                    </m:sSub>
                    <m:r>
                      <a:rPr lang="fr-FR" altLang="fr-FR" sz="1600" b="1" i="1" smtClean="0">
                        <a:latin typeface="Cambria Math" panose="02040503050406030204" pitchFamily="18" charset="0"/>
                        <a:cs typeface="Browallia New" panose="020B0604020202020204" pitchFamily="34" charset="-34"/>
                      </a:rPr>
                      <m:t>=</m:t>
                    </m:r>
                    <m:r>
                      <a:rPr lang="fr-FR" altLang="fr-FR" sz="1600" b="1" i="1" smtClean="0">
                        <a:latin typeface="Cambria Math" panose="02040503050406030204" pitchFamily="18" charset="0"/>
                        <a:cs typeface="Browallia New" panose="020B0604020202020204" pitchFamily="34" charset="-34"/>
                      </a:rPr>
                      <m:t>𝟐</m:t>
                    </m:r>
                    <m:sSub>
                      <m:sSubPr>
                        <m:ctrlPr>
                          <a:rPr lang="fr-FR" altLang="fr-FR" sz="1600" b="1" i="1" smtClean="0"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</m:ctrlPr>
                      </m:sSubPr>
                      <m:e>
                        <m:r>
                          <a:rPr lang="fr-FR" altLang="fr-FR" sz="1600" b="1" i="1" smtClean="0"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𝑼</m:t>
                        </m:r>
                      </m:e>
                      <m:sub>
                        <m:r>
                          <a:rPr lang="fr-FR" altLang="fr-FR" sz="1600" b="1" i="1" smtClean="0"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fr-FR" altLang="fr-FR" sz="1600" b="1" i="1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 </a:t>
                </a:r>
                <a:r>
                  <a:rPr lang="fr-FR" altLang="fr-FR" sz="1600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est la valeur </a:t>
                </a:r>
                <a:r>
                  <a:rPr lang="fr-FR" altLang="fr-FR" sz="1600" b="1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crête à crête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782F4E-C68E-4FB2-F7FA-52BCE024C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1744712"/>
                <a:ext cx="4208012" cy="338554"/>
              </a:xfrm>
              <a:prstGeom prst="rect">
                <a:avLst/>
              </a:prstGeom>
              <a:blipFill>
                <a:blip r:embed="rId5"/>
                <a:stretch>
                  <a:fillRect l="-580" t="-5357" b="-2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3096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71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0" y="20955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altLang="fr-FR" sz="1600" b="1" spc="-5" dirty="0" smtClean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    </a:t>
            </a:r>
            <a:r>
              <a:rPr lang="fr-FR" altLang="fr-FR" sz="1600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A. </a:t>
            </a:r>
            <a:r>
              <a:rPr lang="fr-FR" altLang="fr-FR" sz="1600" b="1" dirty="0">
                <a:solidFill>
                  <a:srgbClr val="00B050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valeur moyenne et efficace </a:t>
            </a:r>
            <a:endParaRPr lang="fr-FR" sz="1600" b="1" dirty="0">
              <a:solidFill>
                <a:srgbClr val="00B050"/>
              </a:solidFill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267E165-66AB-54FD-20F1-5A56EA725E51}"/>
                  </a:ext>
                </a:extLst>
              </p:cNvPr>
              <p:cNvSpPr txBox="1"/>
              <p:nvPr/>
            </p:nvSpPr>
            <p:spPr>
              <a:xfrm>
                <a:off x="838200" y="799586"/>
                <a:ext cx="7190534" cy="3658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q"/>
                </a:pPr>
                <a:r>
                  <a:rPr lang="fr-FR" altLang="fr-FR" sz="1600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Les grandeurs </a:t>
                </a:r>
                <a:r>
                  <a:rPr lang="fr-FR" altLang="fr-FR" sz="1600" b="1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alternatives symétrique </a:t>
                </a:r>
                <a:r>
                  <a:rPr lang="fr-FR" altLang="fr-FR" sz="1600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 (quelles soit des courants ou des tensions), présentent toujours une valeur moyenne </a:t>
                </a:r>
                <a:r>
                  <a:rPr lang="fr-FR" altLang="fr-FR" sz="1600" b="1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nulle</a:t>
                </a:r>
                <a:r>
                  <a:rPr lang="fr-FR" altLang="fr-FR" sz="1600" b="1" i="1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. </a:t>
                </a:r>
              </a:p>
              <a:p>
                <a:pPr algn="just"/>
                <a:endParaRPr lang="fr-FR" altLang="fr-FR" sz="1600" b="1" i="1" dirty="0">
                  <a:latin typeface="Bookman Old Style" panose="02050604050505020204" pitchFamily="18" charset="0"/>
                  <a:cs typeface="Browallia New" panose="020B0604020202020204" pitchFamily="34" charset="-34"/>
                </a:endParaRPr>
              </a:p>
              <a:p>
                <a:pPr algn="just"/>
                <a:endParaRPr lang="fr-FR" altLang="fr-FR" sz="1600" dirty="0">
                  <a:latin typeface="Bookman Old Style" panose="02050604050505020204" pitchFamily="18" charset="0"/>
                  <a:cs typeface="Browallia New" panose="020B0604020202020204" pitchFamily="34" charset="-34"/>
                </a:endParaRP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fr-FR" altLang="fr-FR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</m:ctrlPr>
                      </m:dPr>
                      <m:e>
                        <m:r>
                          <a:rPr lang="fr-FR" altLang="fr-FR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𝒖</m:t>
                        </m:r>
                      </m:e>
                    </m:d>
                    <m:r>
                      <a:rPr lang="fr-FR" altLang="fr-FR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Browallia New" panose="020B0604020202020204" pitchFamily="34" charset="-34"/>
                      </a:rPr>
                      <m:t>=</m:t>
                    </m:r>
                    <m:sSub>
                      <m:sSubPr>
                        <m:ctrlPr>
                          <a:rPr lang="fr-FR" altLang="fr-FR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</m:ctrlPr>
                      </m:sSubPr>
                      <m:e>
                        <m:r>
                          <a:rPr lang="fr-FR" altLang="fr-FR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𝒖</m:t>
                        </m:r>
                      </m:e>
                      <m:sub>
                        <m:r>
                          <a:rPr lang="fr-FR" altLang="fr-FR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𝒎𝒐𝒚</m:t>
                        </m:r>
                      </m:sub>
                    </m:sSub>
                    <m:r>
                      <a:rPr lang="fr-FR" altLang="fr-FR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Browallia New" panose="020B0604020202020204" pitchFamily="34" charset="-34"/>
                      </a:rPr>
                      <m:t>=</m:t>
                    </m:r>
                    <m:f>
                      <m:fPr>
                        <m:ctrlPr>
                          <a:rPr lang="fr-FR" altLang="fr-FR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</m:ctrlPr>
                      </m:fPr>
                      <m:num>
                        <m:r>
                          <a:rPr lang="fr-FR" altLang="fr-FR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𝟏</m:t>
                        </m:r>
                      </m:num>
                      <m:den>
                        <m:r>
                          <a:rPr lang="fr-FR" altLang="fr-FR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𝑻</m:t>
                        </m:r>
                      </m:den>
                    </m:f>
                    <m:nary>
                      <m:naryPr>
                        <m:limLoc m:val="undOvr"/>
                        <m:ctrlPr>
                          <a:rPr lang="fr-FR" altLang="fr-FR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fr-FR" altLang="fr-FR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𝟎</m:t>
                        </m:r>
                      </m:sub>
                      <m:sup>
                        <m:r>
                          <a:rPr lang="fr-FR" altLang="fr-FR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𝑻</m:t>
                        </m:r>
                      </m:sup>
                      <m:e>
                        <m:r>
                          <a:rPr lang="fr-FR" altLang="fr-FR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𝒖</m:t>
                        </m:r>
                        <m:d>
                          <m:dPr>
                            <m:ctrlPr>
                              <a:rPr lang="fr-FR" altLang="fr-FR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Browallia New" panose="020B0604020202020204" pitchFamily="34" charset="-34"/>
                              </a:rPr>
                            </m:ctrlPr>
                          </m:dPr>
                          <m:e>
                            <m:r>
                              <a:rPr lang="fr-FR" altLang="fr-FR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Browallia New" panose="020B0604020202020204" pitchFamily="34" charset="-34"/>
                              </a:rPr>
                              <m:t>𝒕</m:t>
                            </m:r>
                          </m:e>
                        </m:d>
                        <m:r>
                          <a:rPr lang="fr-FR" altLang="fr-FR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𝒅𝒕</m:t>
                        </m:r>
                      </m:e>
                    </m:nary>
                  </m:oMath>
                </a14:m>
                <a:r>
                  <a:rPr lang="fr-FR" altLang="fr-FR" sz="1600" b="1" dirty="0">
                    <a:latin typeface="Bodoni MT" panose="02070603080606020203" pitchFamily="18" charset="0"/>
                    <a:cs typeface="Browallia New" panose="020B0604020202020204" pitchFamily="34" charset="-34"/>
                  </a:rPr>
                  <a:t> </a:t>
                </a:r>
                <a:r>
                  <a:rPr lang="fr-FR" altLang="fr-FR" sz="1600" b="1" dirty="0" smtClean="0">
                    <a:solidFill>
                      <a:srgbClr val="FF0000"/>
                    </a:solidFill>
                    <a:latin typeface="Bodoni MT" panose="02070603080606020203" pitchFamily="18" charset="0"/>
                    <a:cs typeface="Browallia New" panose="020B0604020202020204" pitchFamily="34" charset="-34"/>
                  </a:rPr>
                  <a:t>=0</a:t>
                </a:r>
                <a:r>
                  <a:rPr lang="fr-FR" altLang="fr-FR" sz="1600" b="1" dirty="0" smtClean="0">
                    <a:latin typeface="Bodoni MT" panose="02070603080606020203" pitchFamily="18" charset="0"/>
                    <a:cs typeface="Browallia New" panose="020B0604020202020204" pitchFamily="34" charset="-34"/>
                  </a:rPr>
                  <a:t> </a:t>
                </a:r>
                <a:r>
                  <a:rPr lang="fr-FR" altLang="fr-FR" sz="1600" b="1" dirty="0">
                    <a:latin typeface="Bodoni MT" panose="02070603080606020203" pitchFamily="18" charset="0"/>
                    <a:cs typeface="Browallia New" panose="020B0604020202020204" pitchFamily="34" charset="-34"/>
                  </a:rPr>
                  <a:t>, </a:t>
                </a:r>
                <a:r>
                  <a:rPr lang="fr-FR" altLang="fr-FR" sz="1600" b="1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Où </a:t>
                </a:r>
                <a:r>
                  <a:rPr lang="fr-FR" altLang="fr-FR" sz="1600" b="1" dirty="0">
                    <a:solidFill>
                      <a:srgbClr val="FF0000"/>
                    </a:solidFill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T</a:t>
                </a:r>
                <a:r>
                  <a:rPr lang="fr-FR" altLang="fr-FR" sz="1600" b="1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 est la période du </a:t>
                </a:r>
                <a:r>
                  <a:rPr lang="fr-FR" altLang="fr-FR" sz="1600" b="1" dirty="0" smtClean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signal</a:t>
                </a:r>
              </a:p>
              <a:p>
                <a:pPr algn="ctr"/>
                <a:endParaRPr lang="fr-FR" altLang="fr-FR" sz="1600" b="1" dirty="0">
                  <a:latin typeface="Bookman Old Style" panose="02050604050505020204" pitchFamily="18" charset="0"/>
                  <a:cs typeface="Browallia New" panose="020B0604020202020204" pitchFamily="34" charset="-34"/>
                </a:endParaRPr>
              </a:p>
              <a:p>
                <a:pPr algn="ctr"/>
                <a:endParaRPr lang="fr-FR" altLang="fr-FR" sz="1600" b="1" dirty="0">
                  <a:latin typeface="Bookman Old Style" panose="02050604050505020204" pitchFamily="18" charset="0"/>
                  <a:cs typeface="Browallia New" panose="020B0604020202020204" pitchFamily="34" charset="-34"/>
                </a:endParaRPr>
              </a:p>
              <a:p>
                <a:pPr marL="285750" indent="-285750" algn="just">
                  <a:buFont typeface="Wingdings" panose="05000000000000000000" pitchFamily="2" charset="2"/>
                  <a:buChar char="q"/>
                </a:pPr>
                <a:r>
                  <a:rPr lang="fr-FR" altLang="fr-FR" sz="1600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Les signaux alternatifs sont caractérisés par une autre grandeur appelée la </a:t>
                </a:r>
                <a:r>
                  <a:rPr lang="fr-FR" altLang="fr-FR" sz="1600" b="1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valeur efficace</a:t>
                </a:r>
                <a:r>
                  <a:rPr lang="fr-FR" altLang="fr-FR" sz="1600" dirty="0" smtClean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.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q"/>
                </a:pPr>
                <a:endParaRPr lang="fr-FR" altLang="fr-FR" sz="1600" dirty="0">
                  <a:latin typeface="Bookman Old Style" panose="02050604050505020204" pitchFamily="18" charset="0"/>
                  <a:cs typeface="Browallia New" panose="020B0604020202020204" pitchFamily="34" charset="-34"/>
                </a:endParaRPr>
              </a:p>
              <a:p>
                <a:pPr algn="just"/>
                <a:endParaRPr lang="fr-FR" altLang="fr-FR" sz="1600" dirty="0">
                  <a:latin typeface="Bookman Old Style" panose="02050604050505020204" pitchFamily="18" charset="0"/>
                  <a:cs typeface="Browallia New" panose="020B0604020202020204" pitchFamily="34" charset="-34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fr-FR" altLang="fr-FR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</m:ctrlPr>
                      </m:sSubPr>
                      <m:e>
                        <m:r>
                          <a:rPr lang="fr-FR" altLang="fr-FR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𝒖</m:t>
                        </m:r>
                      </m:e>
                      <m:sub>
                        <m:r>
                          <a:rPr lang="fr-FR" altLang="fr-FR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  <m:t>𝒆𝒇𝒇</m:t>
                        </m:r>
                      </m:sub>
                    </m:sSub>
                    <m:r>
                      <a:rPr lang="fr-FR" altLang="fr-FR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Browallia New" panose="020B0604020202020204" pitchFamily="34" charset="-34"/>
                      </a:rPr>
                      <m:t>=</m:t>
                    </m:r>
                    <m:rad>
                      <m:radPr>
                        <m:degHide m:val="on"/>
                        <m:ctrlPr>
                          <a:rPr lang="fr-FR" altLang="fr-FR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Browallia New" panose="020B0604020202020204" pitchFamily="34" charset="-34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fr-FR" altLang="fr-F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Browallia New" panose="020B0604020202020204" pitchFamily="34" charset="-34"/>
                              </a:rPr>
                            </m:ctrlPr>
                          </m:fPr>
                          <m:num>
                            <m:r>
                              <a:rPr lang="fr-FR" altLang="fr-F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Browallia New" panose="020B0604020202020204" pitchFamily="34" charset="-34"/>
                              </a:rPr>
                              <m:t>𝟏</m:t>
                            </m:r>
                          </m:num>
                          <m:den>
                            <m:r>
                              <a:rPr lang="fr-FR" altLang="fr-F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Browallia New" panose="020B0604020202020204" pitchFamily="34" charset="-34"/>
                              </a:rPr>
                              <m:t>𝑻</m:t>
                            </m:r>
                          </m:den>
                        </m:f>
                        <m:nary>
                          <m:naryPr>
                            <m:limLoc m:val="undOvr"/>
                            <m:ctrlPr>
                              <a:rPr lang="fr-FR" altLang="fr-F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Browallia New" panose="020B0604020202020204" pitchFamily="34" charset="-34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fr-FR" altLang="fr-F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Browallia New" panose="020B0604020202020204" pitchFamily="34" charset="-34"/>
                              </a:rPr>
                              <m:t>𝟎</m:t>
                            </m:r>
                          </m:sub>
                          <m:sup>
                            <m:r>
                              <a:rPr lang="fr-FR" altLang="fr-F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Browallia New" panose="020B0604020202020204" pitchFamily="34" charset="-34"/>
                              </a:rPr>
                              <m:t>𝑻</m:t>
                            </m:r>
                          </m:sup>
                          <m:e>
                            <m:sSup>
                              <m:sSupPr>
                                <m:ctrlPr>
                                  <a:rPr lang="fr-FR" altLang="fr-FR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Browallia New" panose="020B0604020202020204" pitchFamily="34" charset="-34"/>
                                  </a:rPr>
                                </m:ctrlPr>
                              </m:sSupPr>
                              <m:e>
                                <m:r>
                                  <a:rPr lang="fr-FR" altLang="fr-FR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Browallia New" panose="020B0604020202020204" pitchFamily="34" charset="-34"/>
                                  </a:rPr>
                                  <m:t>𝒖</m:t>
                                </m:r>
                                <m:d>
                                  <m:dPr>
                                    <m:ctrlPr>
                                      <a:rPr lang="fr-FR" altLang="fr-FR" sz="1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Browallia New" panose="020B0604020202020204" pitchFamily="34" charset="-34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altLang="fr-FR" sz="1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Browallia New" panose="020B0604020202020204" pitchFamily="34" charset="-34"/>
                                      </a:rPr>
                                      <m:t>𝒕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fr-FR" altLang="fr-FR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Browallia New" panose="020B0604020202020204" pitchFamily="34" charset="-34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fr-FR" altLang="fr-F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Browallia New" panose="020B0604020202020204" pitchFamily="34" charset="-34"/>
                              </a:rPr>
                              <m:t>𝒅𝒕</m:t>
                            </m:r>
                          </m:e>
                        </m:nary>
                      </m:e>
                    </m:rad>
                  </m:oMath>
                </a14:m>
                <a:r>
                  <a:rPr lang="fr-FR" altLang="fr-FR" sz="1600" b="1" dirty="0">
                    <a:latin typeface="Bodoni MT" panose="02070603080606020203" pitchFamily="18" charset="0"/>
                    <a:cs typeface="Browallia New" panose="020B0604020202020204" pitchFamily="34" charset="-34"/>
                  </a:rPr>
                  <a:t> , </a:t>
                </a:r>
                <a:r>
                  <a:rPr lang="fr-FR" altLang="fr-FR" sz="1600" b="1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Où </a:t>
                </a:r>
                <a:r>
                  <a:rPr lang="fr-FR" altLang="fr-FR" sz="1600" b="1" dirty="0">
                    <a:solidFill>
                      <a:srgbClr val="FF0000"/>
                    </a:solidFill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T</a:t>
                </a:r>
                <a:r>
                  <a:rPr lang="fr-FR" altLang="fr-FR" sz="1600" b="1" dirty="0">
                    <a:latin typeface="Bookman Old Style" panose="02050604050505020204" pitchFamily="18" charset="0"/>
                    <a:cs typeface="Browallia New" panose="020B0604020202020204" pitchFamily="34" charset="-34"/>
                  </a:rPr>
                  <a:t> est la période du signal </a:t>
                </a:r>
                <a:endParaRPr lang="fr-FR" altLang="fr-FR" sz="1600" dirty="0">
                  <a:latin typeface="Bookman Old Style" panose="02050604050505020204" pitchFamily="18" charset="0"/>
                  <a:cs typeface="Browallia New" panose="020B0604020202020204" pitchFamily="34" charset="-34"/>
                </a:endParaRPr>
              </a:p>
              <a:p>
                <a:pPr algn="just"/>
                <a:endParaRPr lang="fr-FR" altLang="fr-FR" sz="1600" dirty="0">
                  <a:latin typeface="Bookman Old Style" panose="02050604050505020204" pitchFamily="18" charset="0"/>
                  <a:cs typeface="Browallia New" panose="020B0604020202020204" pitchFamily="34" charset="-34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267E165-66AB-54FD-20F1-5A56EA725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799586"/>
                <a:ext cx="7190534" cy="3658502"/>
              </a:xfrm>
              <a:prstGeom prst="rect">
                <a:avLst/>
              </a:prstGeom>
              <a:blipFill>
                <a:blip r:embed="rId3"/>
                <a:stretch>
                  <a:fillRect l="-339" t="-500" r="-42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9333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72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304800" y="13335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4.2 </a:t>
            </a:r>
            <a:r>
              <a:rPr lang="fr-FR" altLang="fr-FR" sz="16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Notation complexe     </a:t>
            </a:r>
            <a:endParaRPr lang="fr-FR" sz="1600" b="1" spc="-5" dirty="0">
              <a:solidFill>
                <a:srgbClr val="0070C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488486-215D-E73C-CB13-49FF53F25DD9}"/>
              </a:ext>
            </a:extLst>
          </p:cNvPr>
          <p:cNvSpPr txBox="1"/>
          <p:nvPr/>
        </p:nvSpPr>
        <p:spPr>
          <a:xfrm>
            <a:off x="533400" y="590550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sz="1600" b="1" u="sng" dirty="0">
                <a:latin typeface="Bookman Old Style" panose="02050604050505020204" pitchFamily="18" charset="0"/>
              </a:rPr>
              <a:t>Rappel: </a:t>
            </a:r>
            <a:endParaRPr lang="fr-FR" sz="1600" b="1" u="sng" dirty="0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49E549-9E87-D928-D64C-49C3DCC3F53E}"/>
                  </a:ext>
                </a:extLst>
              </p:cNvPr>
              <p:cNvSpPr txBox="1"/>
              <p:nvPr/>
            </p:nvSpPr>
            <p:spPr>
              <a:xfrm>
                <a:off x="533400" y="1066030"/>
                <a:ext cx="8145711" cy="4248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600" b="0" i="0" dirty="0" smtClean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Soit un </a:t>
                </a:r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nombre complexe</a:t>
                </a:r>
                <a:r>
                  <a:rPr lang="fr-FR" sz="16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: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fr-FR" sz="1600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fr-FR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bar>
                    <m:r>
                      <a:rPr lang="fr-FR" sz="16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𝒂</m:t>
                    </m:r>
                    <m:r>
                      <a:rPr lang="fr-FR" sz="16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16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𝒋𝒃</m:t>
                    </m:r>
                  </m:oMath>
                </a14:m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</a:t>
                </a:r>
                <a:r>
                  <a:rPr lang="fr-FR" sz="160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(représentation dite </a:t>
                </a:r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algébrique</a:t>
                </a:r>
                <a:r>
                  <a:rPr lang="fr-FR" sz="160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) </a:t>
                </a:r>
              </a:p>
              <a:p>
                <a:pPr algn="l"/>
                <a:endParaRPr lang="fr-FR" sz="1600" b="1" i="0" dirty="0">
                  <a:solidFill>
                    <a:srgbClr val="000000"/>
                  </a:solidFill>
                  <a:effectLst/>
                  <a:latin typeface="Bookman Old Style" panose="0205060405050502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6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On peut le représenter sous une forme </a:t>
                </a:r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trigonométrique</a:t>
                </a:r>
                <a:r>
                  <a:rPr lang="fr-FR" sz="1600" b="0" i="0" dirty="0" smtClean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: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600" i="1" dirty="0" smtClean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fr-FR" sz="1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fr-FR" sz="1600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bar>
                      <m:r>
                        <a:rPr lang="fr-FR" sz="1600" b="1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b="1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𝒁</m:t>
                      </m:r>
                      <m:d>
                        <m:dPr>
                          <m:ctrlPr>
                            <a:rPr lang="fr-FR" sz="1600" b="1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1600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fr-FR" sz="1600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fr-FR" sz="1600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𝝋</m:t>
                          </m:r>
                          <m:r>
                            <a:rPr lang="fr-FR" sz="1600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)+</m:t>
                          </m:r>
                          <m:r>
                            <a:rPr lang="fr-FR" sz="1600" b="1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𝒋𝒔𝒊𝒏</m:t>
                          </m:r>
                          <m:r>
                            <a:rPr lang="fr-FR" sz="1600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600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𝝋</m:t>
                          </m:r>
                          <m:r>
                            <a:rPr lang="fr-FR" sz="1600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fr-FR" sz="1600" dirty="0"/>
                            <m:t> </m:t>
                          </m:r>
                        </m:e>
                      </m:d>
                    </m:oMath>
                  </m:oMathPara>
                </a14:m>
                <a:endParaRPr lang="fr-FR" sz="1600" b="1" i="0" dirty="0">
                  <a:solidFill>
                    <a:srgbClr val="000000"/>
                  </a:solidFill>
                  <a:effectLst/>
                  <a:latin typeface="Bookman Old Style" panose="02050604050505020204" pitchFamily="18" charset="0"/>
                </a:endParaRPr>
              </a:p>
              <a:p>
                <a:endParaRPr lang="fr-FR" sz="1600" b="1" i="0" dirty="0">
                  <a:solidFill>
                    <a:srgbClr val="000000"/>
                  </a:solidFill>
                  <a:effectLst/>
                  <a:latin typeface="Bookman Old Style" panose="0205060405050502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600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On peut le représenter, également, sous une </a:t>
                </a:r>
                <a:r>
                  <a:rPr lang="fr-FR" sz="1600" b="1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forme exponentielle: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fr-FR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fr-FR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bar>
                    <m:r>
                      <a:rPr lang="fr-FR" sz="16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𝒁</m:t>
                    </m:r>
                    <m:sSup>
                      <m:sSupPr>
                        <m:ctrlPr>
                          <a:rPr lang="fr-FR" sz="16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fr-FR" sz="16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FR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𝝋</m:t>
                        </m:r>
                      </m:sup>
                    </m:sSup>
                  </m:oMath>
                </a14:m>
                <a:endParaRPr lang="fr-FR" sz="1600" b="1" dirty="0">
                  <a:solidFill>
                    <a:srgbClr val="000000"/>
                  </a:solidFill>
                  <a:latin typeface="Bookman Old Style" panose="02050604050505020204" pitchFamily="18" charset="0"/>
                </a:endParaRPr>
              </a:p>
              <a:p>
                <a:r>
                  <a:rPr lang="fr-FR" sz="1600" b="1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 </a:t>
                </a:r>
                <a:endParaRPr lang="fr-FR" sz="1600" b="1" dirty="0" smtClean="0">
                  <a:solidFill>
                    <a:srgbClr val="000000"/>
                  </a:solidFill>
                  <a:latin typeface="Bookman Old Style" panose="02050604050505020204" pitchFamily="18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fr-FR" sz="16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fr-FR" sz="1600" b="1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 est le module : </a:t>
                </a:r>
                <a14:m>
                  <m:oMath xmlns:m="http://schemas.openxmlformats.org/officeDocument/2006/math">
                    <m:r>
                      <a:rPr lang="fr-FR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𝒁</m:t>
                    </m:r>
                    <m:r>
                      <a:rPr lang="fr-FR" sz="16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fr-FR" sz="1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fr-FR" sz="1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fr-FR" sz="1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fr-FR" sz="1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fr-FR" sz="1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fr-FR" sz="1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fr-FR" sz="1600" b="1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 </a:t>
                </a:r>
              </a:p>
              <a:p>
                <a:pPr lvl="1"/>
                <a:endParaRPr lang="fr-FR" sz="1600" b="1" dirty="0">
                  <a:solidFill>
                    <a:srgbClr val="000000"/>
                  </a:solidFill>
                  <a:latin typeface="Bookman Old Style" panose="02050604050505020204" pitchFamily="18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fr-FR" sz="16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fr-FR" sz="1600" b="1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 est la phase : </a:t>
                </a:r>
                <a14:m>
                  <m:oMath xmlns:m="http://schemas.openxmlformats.org/officeDocument/2006/math">
                    <m:r>
                      <a:rPr lang="fr-FR" sz="1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  <m:r>
                      <a:rPr lang="fr-FR" sz="1600" b="1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sz="16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fr-FR" sz="16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1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𝐭𝐚𝐧</m:t>
                            </m:r>
                          </m:e>
                          <m:sup>
                            <m:r>
                              <a:rPr lang="fr-FR" sz="16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16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fName>
                      <m:e>
                        <m:r>
                          <a:rPr lang="fr-FR" sz="16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fr-FR" sz="16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6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num>
                          <m:den>
                            <m:r>
                              <a:rPr lang="fr-FR" sz="16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den>
                        </m:f>
                        <m:r>
                          <a:rPr lang="fr-FR" sz="16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fr-FR" sz="1600" b="1" dirty="0">
                  <a:solidFill>
                    <a:srgbClr val="000000"/>
                  </a:solidFill>
                  <a:latin typeface="Bookman Old Style" panose="02050604050505020204" pitchFamily="18" charset="0"/>
                </a:endParaRPr>
              </a:p>
              <a:p>
                <a:pPr lvl="1"/>
                <a:endParaRPr lang="fr-FR" sz="1600" b="1" dirty="0">
                  <a:solidFill>
                    <a:srgbClr val="000000"/>
                  </a:solidFill>
                  <a:latin typeface="Bookman Old Style" panose="02050604050505020204" pitchFamily="18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fr-FR" sz="16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fr-FR" sz="1600" b="1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 est la partie réelle : </a:t>
                </a:r>
                <a14:m>
                  <m:oMath xmlns:m="http://schemas.openxmlformats.org/officeDocument/2006/math">
                    <m:r>
                      <a:rPr lang="fr-FR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fr-FR" sz="16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fr-FR" sz="16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sz="16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𝐜𝐨𝐬</m:t>
                    </m:r>
                    <m:d>
                      <m:dPr>
                        <m:ctrlPr>
                          <a:rPr lang="fr-FR" sz="1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𝝋</m:t>
                        </m:r>
                      </m:e>
                    </m:d>
                  </m:oMath>
                </a14:m>
                <a:endParaRPr lang="fr-FR" sz="1600" b="1" dirty="0">
                  <a:solidFill>
                    <a:srgbClr val="000000"/>
                  </a:solidFill>
                  <a:latin typeface="Bookman Old Style" panose="02050604050505020204" pitchFamily="18" charset="0"/>
                  <a:ea typeface="Cambria Math" panose="02040503050406030204" pitchFamily="18" charset="0"/>
                </a:endParaRPr>
              </a:p>
              <a:p>
                <a:pPr lvl="1"/>
                <a:endParaRPr lang="fr-FR" sz="1600" b="1" dirty="0">
                  <a:solidFill>
                    <a:srgbClr val="000000"/>
                  </a:solidFill>
                  <a:latin typeface="Bookman Old Style" panose="02050604050505020204" pitchFamily="18" charset="0"/>
                  <a:ea typeface="Cambria Math" panose="02040503050406030204" pitchFamily="18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fr-FR" sz="16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fr-FR" sz="1600" b="1" dirty="0">
                    <a:solidFill>
                      <a:srgbClr val="000000"/>
                    </a:solidFill>
                    <a:latin typeface="Bookman Old Style" panose="02050604050505020204" pitchFamily="18" charset="0"/>
                    <a:ea typeface="Cambria Math" panose="02040503050406030204" pitchFamily="18" charset="0"/>
                  </a:rPr>
                  <a:t> est la partie imaginaire : </a:t>
                </a:r>
                <a14:m>
                  <m:oMath xmlns:m="http://schemas.openxmlformats.org/officeDocument/2006/math">
                    <m:r>
                      <a:rPr lang="fr-FR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fr-FR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fr-FR" sz="16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𝒔𝒊𝒏</m:t>
                    </m:r>
                    <m:d>
                      <m:dPr>
                        <m:ctrlPr>
                          <a:rPr lang="fr-FR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𝝋</m:t>
                        </m:r>
                      </m:e>
                    </m:d>
                  </m:oMath>
                </a14:m>
                <a:endParaRPr lang="fr-FR" sz="1600" b="1" dirty="0">
                  <a:solidFill>
                    <a:srgbClr val="000000"/>
                  </a:solidFill>
                  <a:latin typeface="Bookman Old Style" panose="0205060405050502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endParaRPr lang="fr-FR" sz="1600" b="1" dirty="0">
                  <a:solidFill>
                    <a:srgbClr val="000000"/>
                  </a:solidFill>
                  <a:latin typeface="Bookman Old Style" panose="02050604050505020204" pitchFamily="18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49E549-9E87-D928-D64C-49C3DCC3F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066030"/>
                <a:ext cx="8145711" cy="4248920"/>
              </a:xfrm>
              <a:prstGeom prst="rect">
                <a:avLst/>
              </a:prstGeom>
              <a:blipFill>
                <a:blip r:embed="rId3"/>
                <a:stretch>
                  <a:fillRect l="-449" t="-4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1358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73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13C83-592F-2197-E900-EE90997BED06}"/>
              </a:ext>
            </a:extLst>
          </p:cNvPr>
          <p:cNvSpPr txBox="1"/>
          <p:nvPr/>
        </p:nvSpPr>
        <p:spPr>
          <a:xfrm>
            <a:off x="609600" y="590550"/>
            <a:ext cx="716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5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</a:lstStyle>
          <a:p>
            <a:r>
              <a:rPr lang="fr-FR" altLang="fr-FR" sz="1600" dirty="0"/>
              <a:t>A toute fonction sinusoïdale </a:t>
            </a:r>
            <a:r>
              <a:rPr lang="fr-FR" altLang="fr-FR" sz="1600" b="1" dirty="0"/>
              <a:t>y(t) </a:t>
            </a:r>
            <a:r>
              <a:rPr lang="fr-FR" altLang="fr-FR" sz="1600" dirty="0"/>
              <a:t>d'amplitude </a:t>
            </a:r>
            <a:r>
              <a:rPr lang="fr-FR" altLang="fr-FR" sz="1600" b="1" dirty="0"/>
              <a:t>A</a:t>
            </a:r>
            <a:r>
              <a:rPr lang="fr-FR" altLang="fr-FR" sz="1600" dirty="0"/>
              <a:t> et de phase instantanée </a:t>
            </a:r>
            <a:r>
              <a:rPr lang="fr-FR" altLang="fr-FR" sz="1600" b="1" dirty="0"/>
              <a:t>(</a:t>
            </a:r>
            <a:r>
              <a:rPr lang="el-GR" altLang="fr-FR" sz="1600" b="1" dirty="0" smtClean="0"/>
              <a:t>ω</a:t>
            </a:r>
            <a:r>
              <a:rPr lang="fr-FR" altLang="fr-FR" sz="1600" b="1" dirty="0" smtClean="0"/>
              <a:t>t </a:t>
            </a:r>
            <a:r>
              <a:rPr lang="fr-FR" altLang="fr-FR" sz="1600" b="1" dirty="0"/>
              <a:t>+ </a:t>
            </a:r>
            <a:r>
              <a:rPr lang="el-GR" altLang="fr-FR" sz="1600" b="1" dirty="0"/>
              <a:t>φ</a:t>
            </a:r>
            <a:r>
              <a:rPr lang="fr-FR" altLang="fr-FR" sz="1600" b="1" dirty="0"/>
              <a:t>) </a:t>
            </a:r>
            <a:r>
              <a:rPr lang="fr-FR" altLang="fr-FR" sz="1600" dirty="0"/>
              <a:t>nous pouvons faire correspondre une représentation complexe </a:t>
            </a:r>
            <a:r>
              <a:rPr lang="fr-FR" altLang="fr-FR" sz="1600" dirty="0" smtClean="0"/>
              <a:t>définie </a:t>
            </a:r>
            <a:r>
              <a:rPr lang="fr-FR" altLang="fr-FR" sz="1600" dirty="0"/>
              <a:t>par : </a:t>
            </a:r>
            <a:r>
              <a:rPr lang="fr-FR" altLang="fr-FR" sz="1600" dirty="0" smtClean="0"/>
              <a:t> </a:t>
            </a:r>
            <a:endParaRPr lang="fr-FR" altLang="fr-FR" sz="1600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1C0DFDBD-C6CA-217F-82E2-3EEEDB982C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76061"/>
              </p:ext>
            </p:extLst>
          </p:nvPr>
        </p:nvGraphicFramePr>
        <p:xfrm>
          <a:off x="1219200" y="1733550"/>
          <a:ext cx="6978650" cy="197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" name="Equation" r:id="rId4" imgW="3898900" imgH="1104900" progId="Equation.DSMT4">
                  <p:embed/>
                </p:oleObj>
              </mc:Choice>
              <mc:Fallback>
                <p:oleObj name="Equation" r:id="rId4" imgW="3898900" imgH="110490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1C0DFDBD-C6CA-217F-82E2-3EEEDB982C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733550"/>
                        <a:ext cx="6978650" cy="1973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083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74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449560" y="251538"/>
            <a:ext cx="4572000" cy="856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4.3 </a:t>
            </a:r>
            <a:r>
              <a:rPr lang="fr-FR" altLang="fr-FR" sz="16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Impédance et </a:t>
            </a:r>
            <a:r>
              <a:rPr lang="fr-FR" altLang="fr-FR" sz="1600" b="1" spc="-5" dirty="0" smtClean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admittance</a:t>
            </a:r>
          </a:p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endParaRPr lang="fr-FR" altLang="fr-FR" sz="1600" b="1" spc="-5" dirty="0">
              <a:solidFill>
                <a:srgbClr val="0070C0"/>
              </a:solidFill>
              <a:latin typeface="Bookman Old Style" panose="02050604050505020204" pitchFamily="18" charset="0"/>
              <a:cs typeface="Arial"/>
            </a:endParaRP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altLang="fr-FR" sz="16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   </a:t>
            </a:r>
            <a:r>
              <a:rPr lang="fr-FR" altLang="fr-FR" sz="1600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A. Définitions </a:t>
            </a:r>
            <a:endParaRPr lang="fr-FR" sz="1600" b="1" spc="-5" dirty="0">
              <a:solidFill>
                <a:srgbClr val="00B050"/>
              </a:solidFill>
              <a:latin typeface="Bookman Old Style" panose="02050604050505020204" pitchFamily="18" charset="0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113C83-592F-2197-E900-EE90997BED06}"/>
                  </a:ext>
                </a:extLst>
              </p:cNvPr>
              <p:cNvSpPr txBox="1"/>
              <p:nvPr/>
            </p:nvSpPr>
            <p:spPr>
              <a:xfrm>
                <a:off x="449560" y="1181869"/>
                <a:ext cx="7932440" cy="3939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fr-FR"/>
                </a:defPPr>
                <a:lvl1pPr marL="285750" indent="-285750" algn="just">
                  <a:buFont typeface="Wingdings" panose="05000000000000000000" pitchFamily="2" charset="2"/>
                  <a:buChar char="q"/>
                  <a:defRPr sz="1500">
                    <a:latin typeface="Bookman Old Style" panose="02050604050505020204" pitchFamily="18" charset="0"/>
                    <a:cs typeface="Browallia New" panose="020B0604020202020204" pitchFamily="34" charset="-34"/>
                  </a:defRPr>
                </a:lvl1pPr>
              </a:lstStyle>
              <a:p>
                <a:pPr marL="685800"/>
                <a:endParaRPr lang="fr-FR" b="1" dirty="0">
                  <a:cs typeface="Times New Roman" pitchFamily="18" charset="0"/>
                </a:endParaRPr>
              </a:p>
              <a:p>
                <a:pPr marL="685800"/>
                <a:r>
                  <a:rPr lang="fr-FR" sz="1600" b="1" dirty="0">
                    <a:cs typeface="Times New Roman" pitchFamily="18" charset="0"/>
                  </a:rPr>
                  <a:t>L’impédance complexe </a:t>
                </a:r>
                <a:r>
                  <a:rPr lang="fr-FR" sz="1600" b="1" u="sng" dirty="0">
                    <a:cs typeface="Times New Roman" pitchFamily="18" charset="0"/>
                  </a:rPr>
                  <a:t>Z</a:t>
                </a:r>
                <a:r>
                  <a:rPr lang="fr-FR" sz="1600" dirty="0">
                    <a:cs typeface="Times New Roman" pitchFamily="18" charset="0"/>
                  </a:rPr>
                  <a:t> d’un dipôle en régime sinusoïdale est le quotient de la tension complexe </a:t>
                </a:r>
                <a:r>
                  <a:rPr lang="fr-FR" sz="1600" b="1" i="1" u="sng" dirty="0">
                    <a:cs typeface="Times New Roman" pitchFamily="18" charset="0"/>
                  </a:rPr>
                  <a:t>v</a:t>
                </a:r>
                <a:r>
                  <a:rPr lang="fr-FR" sz="1600" dirty="0">
                    <a:cs typeface="Times New Roman" pitchFamily="18" charset="0"/>
                  </a:rPr>
                  <a:t> par le courant complexe </a:t>
                </a:r>
                <a:r>
                  <a:rPr lang="fr-FR" sz="1600" b="1" i="1" u="sng" dirty="0">
                    <a:cs typeface="Times New Roman" pitchFamily="18" charset="0"/>
                  </a:rPr>
                  <a:t>i </a:t>
                </a:r>
                <a:r>
                  <a:rPr lang="fr-FR" sz="1600" dirty="0">
                    <a:cs typeface="Times New Roman" pitchFamily="18" charset="0"/>
                  </a:rPr>
                  <a:t>:</a:t>
                </a:r>
              </a:p>
              <a:p>
                <a:pPr marL="400050" indent="0">
                  <a:buNone/>
                </a:pPr>
                <a:endParaRPr lang="fr-FR" sz="1600" dirty="0">
                  <a:cs typeface="Times New Roman" pitchFamily="18" charset="0"/>
                </a:endParaRPr>
              </a:p>
              <a:p>
                <a:pPr marL="400050" indent="0">
                  <a:buNone/>
                </a:pPr>
                <a:endParaRPr lang="fr-FR" sz="1600" dirty="0">
                  <a:cs typeface="Times New Roman" pitchFamily="18" charset="0"/>
                </a:endParaRPr>
              </a:p>
              <a:p>
                <a:pPr marL="400050" indent="0">
                  <a:buNone/>
                </a:pPr>
                <a:endParaRPr lang="fr-FR" sz="1600" dirty="0">
                  <a:cs typeface="Times New Roman" pitchFamily="18" charset="0"/>
                </a:endParaRPr>
              </a:p>
              <a:p>
                <a:pPr marL="400050" indent="0">
                  <a:buNone/>
                </a:pPr>
                <a:endParaRPr lang="fr-FR" sz="1600" dirty="0">
                  <a:cs typeface="Times New Roman" pitchFamily="18" charset="0"/>
                </a:endParaRPr>
              </a:p>
              <a:p>
                <a:pPr marL="400050" indent="0">
                  <a:buNone/>
                </a:pPr>
                <a:endParaRPr lang="fr-FR" sz="1600" dirty="0">
                  <a:cs typeface="Times New Roman" pitchFamily="18" charset="0"/>
                </a:endParaRPr>
              </a:p>
              <a:p>
                <a:pPr marL="400050" indent="0">
                  <a:buNone/>
                </a:pPr>
                <a:r>
                  <a:rPr lang="fr-FR" sz="1600" dirty="0" smtClean="0">
                    <a:cs typeface="Times New Roman" pitchFamily="18" charset="0"/>
                  </a:rPr>
                  <a:t>     Avec </a:t>
                </a:r>
                <a:r>
                  <a:rPr lang="fr-FR" sz="1600" b="1" dirty="0">
                    <a:cs typeface="Times New Roman" pitchFamily="18" charset="0"/>
                  </a:rPr>
                  <a:t>Z</a:t>
                </a:r>
                <a:r>
                  <a:rPr lang="fr-FR" sz="1600" dirty="0">
                    <a:cs typeface="Times New Roman" pitchFamily="18" charset="0"/>
                  </a:rPr>
                  <a:t> est le module et </a:t>
                </a:r>
                <a14:m>
                  <m:oMath xmlns:m="http://schemas.openxmlformats.org/officeDocument/2006/math">
                    <m:r>
                      <a:rPr lang="fr-FR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𝝋</m:t>
                    </m:r>
                  </m:oMath>
                </a14:m>
                <a:r>
                  <a:rPr lang="fr-FR" sz="1600" dirty="0">
                    <a:cs typeface="Times New Roman" pitchFamily="18" charset="0"/>
                  </a:rPr>
                  <a:t> le déphasage.</a:t>
                </a:r>
              </a:p>
              <a:p>
                <a:pPr marL="400050" indent="0">
                  <a:buNone/>
                </a:pPr>
                <a:endParaRPr lang="fr-FR" sz="1600" dirty="0">
                  <a:cs typeface="Times New Roman" pitchFamily="18" charset="0"/>
                </a:endParaRPr>
              </a:p>
              <a:p>
                <a:pPr marL="685800"/>
                <a:r>
                  <a:rPr lang="fr-FR" sz="1600" dirty="0">
                    <a:cs typeface="Times New Roman" pitchFamily="18" charset="0"/>
                  </a:rPr>
                  <a:t>L’admittance complexe </a:t>
                </a:r>
                <a:r>
                  <a:rPr lang="fr-FR" sz="1600" b="1" dirty="0">
                    <a:cs typeface="Times New Roman" pitchFamily="18" charset="0"/>
                  </a:rPr>
                  <a:t>Y</a:t>
                </a:r>
                <a:r>
                  <a:rPr lang="fr-FR" sz="1600" dirty="0">
                    <a:cs typeface="Times New Roman" pitchFamily="18" charset="0"/>
                  </a:rPr>
                  <a:t> est </a:t>
                </a:r>
                <a:r>
                  <a:rPr lang="fr-FR" sz="1600" b="1" dirty="0">
                    <a:cs typeface="Times New Roman" pitchFamily="18" charset="0"/>
                  </a:rPr>
                  <a:t>l’inverse</a:t>
                </a:r>
                <a:r>
                  <a:rPr lang="fr-FR" sz="1600" dirty="0">
                    <a:cs typeface="Times New Roman" pitchFamily="18" charset="0"/>
                  </a:rPr>
                  <a:t> de l’impédance complexe:</a:t>
                </a:r>
              </a:p>
              <a:p>
                <a:pPr marL="400050" indent="0">
                  <a:buNone/>
                </a:pPr>
                <a:r>
                  <a:rPr lang="fr-FR" dirty="0">
                    <a:cs typeface="Times New Roman" pitchFamily="18" charset="0"/>
                  </a:rPr>
                  <a:t> </a:t>
                </a:r>
              </a:p>
              <a:p>
                <a:pPr marL="400050" indent="0">
                  <a:buNone/>
                </a:pPr>
                <a:endParaRPr lang="fr-FR" dirty="0">
                  <a:cs typeface="Times New Roman" pitchFamily="18" charset="0"/>
                </a:endParaRPr>
              </a:p>
              <a:p>
                <a:pPr marL="400050" indent="0">
                  <a:buNone/>
                </a:pPr>
                <a:endParaRPr lang="fr-FR" dirty="0">
                  <a:cs typeface="Times New Roman" pitchFamily="18" charset="0"/>
                </a:endParaRPr>
              </a:p>
              <a:p>
                <a:pPr marL="400050" indent="0">
                  <a:buNone/>
                </a:pPr>
                <a:endParaRPr lang="fr-FR" dirty="0"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fr-FR" altLang="fr-FR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113C83-592F-2197-E900-EE90997BE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60" y="1181869"/>
                <a:ext cx="7932440" cy="3939540"/>
              </a:xfrm>
              <a:prstGeom prst="rect">
                <a:avLst/>
              </a:prstGeom>
              <a:blipFill>
                <a:blip r:embed="rId4"/>
                <a:stretch>
                  <a:fillRect r="-3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Objet 4">
            <a:extLst>
              <a:ext uri="{FF2B5EF4-FFF2-40B4-BE49-F238E27FC236}">
                <a16:creationId xmlns:a16="http://schemas.microsoft.com/office/drawing/2014/main" id="{6A47B486-42B5-AA5D-C714-8E82473522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9588375"/>
              </p:ext>
            </p:extLst>
          </p:nvPr>
        </p:nvGraphicFramePr>
        <p:xfrm>
          <a:off x="2590800" y="2114550"/>
          <a:ext cx="2935131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6" name="Équation" r:id="rId5" imgW="1955520" imgH="457200" progId="Equation.3">
                  <p:embed/>
                </p:oleObj>
              </mc:Choice>
              <mc:Fallback>
                <p:oleObj name="Équation" r:id="rId5" imgW="1955520" imgH="457200" progId="Equation.3">
                  <p:embed/>
                  <p:pic>
                    <p:nvPicPr>
                      <p:cNvPr id="3" name="Objet 4">
                        <a:extLst>
                          <a:ext uri="{FF2B5EF4-FFF2-40B4-BE49-F238E27FC236}">
                            <a16:creationId xmlns:a16="http://schemas.microsoft.com/office/drawing/2014/main" id="{6A47B486-42B5-AA5D-C714-8E82473522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114550"/>
                        <a:ext cx="2935131" cy="685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BE706B00-C5DC-2D75-8600-90B852AD3A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9883853"/>
              </p:ext>
            </p:extLst>
          </p:nvPr>
        </p:nvGraphicFramePr>
        <p:xfrm>
          <a:off x="3505200" y="4019550"/>
          <a:ext cx="1066800" cy="639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7" name="Equation" r:id="rId7" imgW="698400" imgH="419040" progId="Equation.DSMT4">
                  <p:embed/>
                </p:oleObj>
              </mc:Choice>
              <mc:Fallback>
                <p:oleObj name="Equation" r:id="rId7" imgW="698400" imgH="419040" progId="Equation.DSMT4">
                  <p:embed/>
                  <p:pic>
                    <p:nvPicPr>
                      <p:cNvPr id="11" name="Object 3">
                        <a:extLst>
                          <a:ext uri="{FF2B5EF4-FFF2-40B4-BE49-F238E27FC236}">
                            <a16:creationId xmlns:a16="http://schemas.microsoft.com/office/drawing/2014/main" id="{BE706B00-C5DC-2D75-8600-90B852AD3A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019550"/>
                        <a:ext cx="1066800" cy="6390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424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75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533400" y="461708"/>
            <a:ext cx="3048000" cy="59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altLang="fr-FR" sz="1600" b="1" spc="-5" dirty="0" smtClean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B</a:t>
            </a:r>
            <a:r>
              <a:rPr lang="fr-FR" altLang="fr-FR" sz="1600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. Résistance et réactance </a:t>
            </a:r>
            <a:endParaRPr lang="fr-FR" sz="1600" b="1" spc="-5" dirty="0">
              <a:solidFill>
                <a:srgbClr val="00B050"/>
              </a:solidFill>
              <a:latin typeface="Bookman Old Style" panose="02050604050505020204" pitchFamily="18" charset="0"/>
              <a:cs typeface="Arial"/>
            </a:endParaRP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endParaRPr lang="fr-FR" sz="1600" b="1" spc="-5" dirty="0">
              <a:solidFill>
                <a:srgbClr val="CC00CC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4335E7-8CF7-728B-9130-8D3A45EE757A}"/>
              </a:ext>
            </a:extLst>
          </p:cNvPr>
          <p:cNvSpPr txBox="1"/>
          <p:nvPr/>
        </p:nvSpPr>
        <p:spPr>
          <a:xfrm>
            <a:off x="312344" y="1174516"/>
            <a:ext cx="84831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285750" algn="just">
              <a:buFont typeface="Wingdings" panose="05000000000000000000" pitchFamily="2" charset="2"/>
              <a:buChar char="q"/>
            </a:pPr>
            <a:r>
              <a:rPr lang="fr-FR" sz="1600" dirty="0">
                <a:latin typeface="Bookman Old Style" panose="02050604050505020204" pitchFamily="18" charset="0"/>
                <a:cs typeface="Times New Roman" pitchFamily="18" charset="0"/>
              </a:rPr>
              <a:t>La partie réelle de l’impédance complexe est appelée </a:t>
            </a:r>
            <a:r>
              <a:rPr lang="fr-FR" sz="1600" b="1" dirty="0">
                <a:latin typeface="Bookman Old Style" panose="02050604050505020204" pitchFamily="18" charset="0"/>
                <a:cs typeface="Times New Roman" pitchFamily="18" charset="0"/>
              </a:rPr>
              <a:t>résistance R </a:t>
            </a:r>
            <a:r>
              <a:rPr lang="fr-FR" sz="1600" dirty="0">
                <a:latin typeface="Bookman Old Style" panose="02050604050505020204" pitchFamily="18" charset="0"/>
                <a:cs typeface="Times New Roman" pitchFamily="18" charset="0"/>
              </a:rPr>
              <a:t>du dipôle correspondant :</a:t>
            </a:r>
          </a:p>
        </p:txBody>
      </p:sp>
      <p:graphicFrame>
        <p:nvGraphicFramePr>
          <p:cNvPr id="16" name="Object 2">
            <a:extLst>
              <a:ext uri="{FF2B5EF4-FFF2-40B4-BE49-F238E27FC236}">
                <a16:creationId xmlns:a16="http://schemas.microsoft.com/office/drawing/2014/main" id="{E83AA5A0-DE53-BACE-44CD-A1F97AED1B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6822249"/>
              </p:ext>
            </p:extLst>
          </p:nvPr>
        </p:nvGraphicFramePr>
        <p:xfrm>
          <a:off x="3200399" y="1995610"/>
          <a:ext cx="1917044" cy="576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0" name="Équation" r:id="rId4" imgW="1307880" imgH="393480" progId="Equation.3">
                  <p:embed/>
                </p:oleObj>
              </mc:Choice>
              <mc:Fallback>
                <p:oleObj name="Équation" r:id="rId4" imgW="1307880" imgH="393480" progId="Equation.3">
                  <p:embed/>
                  <p:pic>
                    <p:nvPicPr>
                      <p:cNvPr id="16" name="Object 2">
                        <a:extLst>
                          <a:ext uri="{FF2B5EF4-FFF2-40B4-BE49-F238E27FC236}">
                            <a16:creationId xmlns:a16="http://schemas.microsoft.com/office/drawing/2014/main" id="{E83AA5A0-DE53-BACE-44CD-A1F97AED1B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399" y="1995610"/>
                        <a:ext cx="1917044" cy="57614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3DA217E-0173-D9AC-967C-70311567D305}"/>
              </a:ext>
            </a:extLst>
          </p:cNvPr>
          <p:cNvSpPr txBox="1"/>
          <p:nvPr/>
        </p:nvSpPr>
        <p:spPr>
          <a:xfrm>
            <a:off x="312344" y="2921857"/>
            <a:ext cx="875810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685800" indent="-285750" algn="just">
              <a:buFont typeface="Wingdings" panose="05000000000000000000" pitchFamily="2" charset="2"/>
              <a:buChar char="q"/>
              <a:defRPr sz="1500"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r>
              <a:rPr lang="fr-FR" sz="1600" dirty="0"/>
              <a:t>La partie imaginaire de l’impédance complexe est appelée la réactance X du dipôle correspondant : </a:t>
            </a:r>
          </a:p>
          <a:p>
            <a:pPr marL="400050" indent="0">
              <a:buNone/>
            </a:pPr>
            <a:endParaRPr lang="fr-FR" sz="1600" dirty="0"/>
          </a:p>
          <a:p>
            <a:pPr marL="400050" indent="0">
              <a:buNone/>
            </a:pPr>
            <a:endParaRPr lang="fr-FR" sz="1600" dirty="0"/>
          </a:p>
        </p:txBody>
      </p:sp>
      <p:graphicFrame>
        <p:nvGraphicFramePr>
          <p:cNvPr id="21" name="Object 3">
            <a:extLst>
              <a:ext uri="{FF2B5EF4-FFF2-40B4-BE49-F238E27FC236}">
                <a16:creationId xmlns:a16="http://schemas.microsoft.com/office/drawing/2014/main" id="{ED00B9CE-B132-92EC-487E-38AEDAAD4F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1870106"/>
              </p:ext>
            </p:extLst>
          </p:nvPr>
        </p:nvGraphicFramePr>
        <p:xfrm>
          <a:off x="3200399" y="3831054"/>
          <a:ext cx="1917044" cy="576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1" name="Équation" r:id="rId6" imgW="1307880" imgH="393480" progId="Equation.3">
                  <p:embed/>
                </p:oleObj>
              </mc:Choice>
              <mc:Fallback>
                <p:oleObj name="Équation" r:id="rId6" imgW="1307880" imgH="393480" progId="Equation.3">
                  <p:embed/>
                  <p:pic>
                    <p:nvPicPr>
                      <p:cNvPr id="21" name="Object 3">
                        <a:extLst>
                          <a:ext uri="{FF2B5EF4-FFF2-40B4-BE49-F238E27FC236}">
                            <a16:creationId xmlns:a16="http://schemas.microsoft.com/office/drawing/2014/main" id="{ED00B9CE-B132-92EC-487E-38AEDAAD4F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399" y="3831054"/>
                        <a:ext cx="1917044" cy="57613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7355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76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457200" y="415314"/>
            <a:ext cx="4572000" cy="59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altLang="fr-FR" sz="1600" b="1" spc="-5" dirty="0" smtClean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C</a:t>
            </a:r>
            <a:r>
              <a:rPr lang="fr-FR" altLang="fr-FR" sz="1600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. Représentation complexe</a:t>
            </a:r>
            <a:endParaRPr lang="fr-FR" sz="1600" b="1" spc="-5" dirty="0">
              <a:solidFill>
                <a:srgbClr val="00B050"/>
              </a:solidFill>
              <a:latin typeface="Bookman Old Style" panose="02050604050505020204" pitchFamily="18" charset="0"/>
              <a:cs typeface="Arial"/>
            </a:endParaRP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endParaRPr lang="fr-FR" sz="1600" b="1" spc="-5" dirty="0">
              <a:solidFill>
                <a:srgbClr val="CC00CC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40ACE-36D6-BD19-50FB-84A567DE3B8B}"/>
              </a:ext>
            </a:extLst>
          </p:cNvPr>
          <p:cNvSpPr txBox="1"/>
          <p:nvPr/>
        </p:nvSpPr>
        <p:spPr>
          <a:xfrm>
            <a:off x="364348" y="1083098"/>
            <a:ext cx="837423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685800" indent="-285750" algn="just">
              <a:buFont typeface="Wingdings" panose="05000000000000000000" pitchFamily="2" charset="2"/>
              <a:buChar char="q"/>
              <a:defRPr sz="1500"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r>
              <a:rPr lang="fr-FR" sz="1600" dirty="0"/>
              <a:t>L’impédance complexe peut s’écrire sous les formes équivalentes :</a:t>
            </a:r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pPr marL="400050" indent="0">
              <a:buNone/>
            </a:pPr>
            <a:r>
              <a:rPr lang="fr-FR" sz="1600" dirty="0"/>
              <a:t>Avec les équations de transformation :</a:t>
            </a:r>
          </a:p>
          <a:p>
            <a:pPr marL="400050" indent="0">
              <a:buNone/>
            </a:pPr>
            <a:endParaRPr lang="fr-FR" dirty="0"/>
          </a:p>
          <a:p>
            <a:pPr marL="400050" indent="0">
              <a:buNone/>
            </a:pPr>
            <a:endParaRPr lang="fr-FR" dirty="0"/>
          </a:p>
        </p:txBody>
      </p: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502050DE-69C3-9CA5-09E7-DC2B01E376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899181"/>
              </p:ext>
            </p:extLst>
          </p:nvPr>
        </p:nvGraphicFramePr>
        <p:xfrm>
          <a:off x="2575560" y="1590725"/>
          <a:ext cx="1828801" cy="346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4" name="Équation" r:id="rId4" imgW="1206360" imgH="228600" progId="Equation.3">
                  <p:embed/>
                </p:oleObj>
              </mc:Choice>
              <mc:Fallback>
                <p:oleObj name="Équation" r:id="rId4" imgW="1206360" imgH="228600" progId="Equation.3">
                  <p:embed/>
                  <p:pic>
                    <p:nvPicPr>
                      <p:cNvPr id="11" name="Object 3">
                        <a:extLst>
                          <a:ext uri="{FF2B5EF4-FFF2-40B4-BE49-F238E27FC236}">
                            <a16:creationId xmlns:a16="http://schemas.microsoft.com/office/drawing/2014/main" id="{502050DE-69C3-9CA5-09E7-DC2B01E376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5560" y="1590725"/>
                        <a:ext cx="1828801" cy="3463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>
            <a:extLst>
              <a:ext uri="{FF2B5EF4-FFF2-40B4-BE49-F238E27FC236}">
                <a16:creationId xmlns:a16="http://schemas.microsoft.com/office/drawing/2014/main" id="{68CBA4B3-762D-D9CF-DAE8-B0EE9C7CDB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984858"/>
              </p:ext>
            </p:extLst>
          </p:nvPr>
        </p:nvGraphicFramePr>
        <p:xfrm>
          <a:off x="2590800" y="2559953"/>
          <a:ext cx="2514600" cy="726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5" name="Équation" r:id="rId6" imgW="2108160" imgH="609480" progId="Equation.3">
                  <p:embed/>
                </p:oleObj>
              </mc:Choice>
              <mc:Fallback>
                <p:oleObj name="Équation" r:id="rId6" imgW="2108160" imgH="609480" progId="Equation.3">
                  <p:embed/>
                  <p:pic>
                    <p:nvPicPr>
                      <p:cNvPr id="12" name="Object 4">
                        <a:extLst>
                          <a:ext uri="{FF2B5EF4-FFF2-40B4-BE49-F238E27FC236}">
                            <a16:creationId xmlns:a16="http://schemas.microsoft.com/office/drawing/2014/main" id="{68CBA4B3-762D-D9CF-DAE8-B0EE9C7CDB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559953"/>
                        <a:ext cx="2514600" cy="7260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050155A-98F9-2299-5BC1-D33ED9F02C3F}"/>
              </a:ext>
            </a:extLst>
          </p:cNvPr>
          <p:cNvSpPr txBox="1"/>
          <p:nvPr/>
        </p:nvSpPr>
        <p:spPr>
          <a:xfrm>
            <a:off x="457200" y="3491046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285750" algn="just">
              <a:buFont typeface="Wingdings" panose="05000000000000000000" pitchFamily="2" charset="2"/>
              <a:buChar char="q"/>
            </a:pPr>
            <a:r>
              <a:rPr lang="fr-FR" sz="1600" dirty="0">
                <a:latin typeface="Bookman Old Style" panose="02050604050505020204" pitchFamily="18" charset="0"/>
                <a:cs typeface="Times New Roman" pitchFamily="18" charset="0"/>
              </a:rPr>
              <a:t>On peut le représenter comme suit :</a:t>
            </a:r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DE77255F-FD93-CB78-77BD-3ED073288A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/>
          <a:srcRect t="2112" b="4619"/>
          <a:stretch/>
        </p:blipFill>
        <p:spPr bwMode="auto">
          <a:xfrm>
            <a:off x="5070362" y="3361033"/>
            <a:ext cx="2667000" cy="1597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20746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77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451888" y="335282"/>
            <a:ext cx="56441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altLang="fr-FR" sz="1600" b="1" spc="-5" dirty="0" smtClean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D. </a:t>
            </a:r>
            <a:r>
              <a:rPr lang="fr-FR" altLang="fr-FR" sz="1600" b="1" spc="-5" dirty="0">
                <a:solidFill>
                  <a:srgbClr val="00B050"/>
                </a:solidFill>
                <a:latin typeface="Bookman Old Style" panose="02050604050505020204" pitchFamily="18" charset="0"/>
                <a:cs typeface="Arial"/>
              </a:rPr>
              <a:t>Impédances complexes des dipôles de base</a:t>
            </a:r>
            <a:endParaRPr lang="fr-FR" sz="1600" b="1" spc="-5" dirty="0">
              <a:solidFill>
                <a:srgbClr val="00B05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40ACE-36D6-BD19-50FB-84A567DE3B8B}"/>
              </a:ext>
            </a:extLst>
          </p:cNvPr>
          <p:cNvSpPr txBox="1"/>
          <p:nvPr/>
        </p:nvSpPr>
        <p:spPr>
          <a:xfrm>
            <a:off x="304800" y="837187"/>
            <a:ext cx="83742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685800" indent="-285750" algn="just">
              <a:buFont typeface="Wingdings" panose="05000000000000000000" pitchFamily="2" charset="2"/>
              <a:buChar char="q"/>
              <a:defRPr sz="1500"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pPr marL="400050" indent="0">
              <a:buNone/>
            </a:pPr>
            <a:r>
              <a:rPr lang="fr-FR" altLang="fr-FR" sz="1600" b="1" u="sng" dirty="0">
                <a:solidFill>
                  <a:srgbClr val="0000FF"/>
                </a:solidFill>
                <a:cs typeface="Browallia New" panose="020B0604020202020204" pitchFamily="34" charset="-34"/>
              </a:rPr>
              <a:t>Résistance:</a:t>
            </a:r>
            <a:endParaRPr lang="fr-FR" sz="1600" b="1" u="sng" dirty="0">
              <a:solidFill>
                <a:srgbClr val="0000FF"/>
              </a:solidFill>
            </a:endParaRPr>
          </a:p>
          <a:p>
            <a:pPr marL="400050" indent="0">
              <a:buNone/>
            </a:pPr>
            <a:endParaRPr lang="fr-FR" sz="1600" dirty="0"/>
          </a:p>
          <a:p>
            <a:pPr marL="400050" indent="0">
              <a:buNone/>
            </a:pPr>
            <a:endParaRPr lang="fr-FR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E12645-5035-20A9-4D72-D9CEFBF4605D}"/>
                  </a:ext>
                </a:extLst>
              </p:cNvPr>
              <p:cNvSpPr txBox="1"/>
              <p:nvPr/>
            </p:nvSpPr>
            <p:spPr>
              <a:xfrm>
                <a:off x="914400" y="1326654"/>
                <a:ext cx="701040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q"/>
                </a:pPr>
                <a:r>
                  <a:rPr lang="fr-FR" sz="1600" dirty="0">
                    <a:latin typeface="Bookman Old Style" panose="02050604050505020204" pitchFamily="18" charset="0"/>
                    <a:cs typeface="Times New Roman" pitchFamily="18" charset="0"/>
                  </a:rPr>
                  <a:t>La relation en valeurs instantanées </a:t>
                </a:r>
                <a:r>
                  <a:rPr lang="fr-FR" sz="1600" b="1" i="1" dirty="0">
                    <a:latin typeface="Bookman Old Style" panose="02050604050505020204" pitchFamily="18" charset="0"/>
                    <a:cs typeface="Times New Roman" pitchFamily="18" charset="0"/>
                  </a:rPr>
                  <a:t>v</a:t>
                </a:r>
                <a:r>
                  <a:rPr lang="fr-FR" sz="1600" b="1" dirty="0">
                    <a:latin typeface="Bookman Old Style" panose="02050604050505020204" pitchFamily="18" charset="0"/>
                    <a:cs typeface="Times New Roman" pitchFamily="18" charset="0"/>
                  </a:rPr>
                  <a:t> = R*</a:t>
                </a:r>
                <a:r>
                  <a:rPr lang="fr-FR" sz="1600" b="1" i="1" dirty="0">
                    <a:latin typeface="Bookman Old Style" panose="02050604050505020204" pitchFamily="18" charset="0"/>
                    <a:cs typeface="Times New Roman" pitchFamily="18" charset="0"/>
                  </a:rPr>
                  <a:t>i</a:t>
                </a:r>
                <a:r>
                  <a:rPr lang="fr-FR" sz="1600" b="1" dirty="0">
                    <a:latin typeface="Bookman Old Style" panose="02050604050505020204" pitchFamily="18" charset="0"/>
                    <a:cs typeface="Times New Roman" pitchFamily="18" charset="0"/>
                  </a:rPr>
                  <a:t> </a:t>
                </a:r>
                <a:r>
                  <a:rPr lang="fr-FR" sz="1600" dirty="0">
                    <a:latin typeface="Bookman Old Style" panose="02050604050505020204" pitchFamily="18" charset="0"/>
                    <a:cs typeface="Times New Roman" pitchFamily="18" charset="0"/>
                  </a:rPr>
                  <a:t>entre la tension </a:t>
                </a:r>
                <a:r>
                  <a:rPr lang="fr-FR" sz="1600" b="1" i="1" dirty="0">
                    <a:latin typeface="Bookman Old Style" panose="02050604050505020204" pitchFamily="18" charset="0"/>
                    <a:cs typeface="Times New Roman" pitchFamily="18" charset="0"/>
                  </a:rPr>
                  <a:t>v</a:t>
                </a:r>
                <a:r>
                  <a:rPr lang="fr-FR" sz="1600" dirty="0">
                    <a:latin typeface="Bookman Old Style" panose="02050604050505020204" pitchFamily="18" charset="0"/>
                    <a:cs typeface="Times New Roman" pitchFamily="18" charset="0"/>
                  </a:rPr>
                  <a:t> et le courant</a:t>
                </a:r>
                <a:r>
                  <a:rPr lang="fr-FR" sz="1600" b="1" i="1" dirty="0">
                    <a:latin typeface="Bookman Old Style" panose="02050604050505020204" pitchFamily="18" charset="0"/>
                    <a:cs typeface="Times New Roman" pitchFamily="18" charset="0"/>
                  </a:rPr>
                  <a:t> i </a:t>
                </a:r>
                <a:r>
                  <a:rPr lang="fr-FR" sz="1600" dirty="0">
                    <a:latin typeface="Bookman Old Style" panose="02050604050505020204" pitchFamily="18" charset="0"/>
                    <a:cs typeface="Times New Roman" pitchFamily="18" charset="0"/>
                  </a:rPr>
                  <a:t>dans une résistance </a:t>
                </a:r>
                <a:r>
                  <a:rPr lang="fr-FR" sz="1600" b="1" dirty="0">
                    <a:latin typeface="Bookman Old Style" panose="02050604050505020204" pitchFamily="18" charset="0"/>
                    <a:cs typeface="Times New Roman" pitchFamily="18" charset="0"/>
                  </a:rPr>
                  <a:t>R</a:t>
                </a:r>
                <a:r>
                  <a:rPr lang="fr-FR" sz="1600" dirty="0">
                    <a:latin typeface="Bookman Old Style" panose="02050604050505020204" pitchFamily="18" charset="0"/>
                    <a:cs typeface="Times New Roman" pitchFamily="18" charset="0"/>
                  </a:rPr>
                  <a:t> se traduit pour le régime sinusoïdal en valeur complexe par :</a:t>
                </a:r>
              </a:p>
              <a:p>
                <a:pPr algn="just"/>
                <a:endParaRPr lang="fr-FR" sz="1600" dirty="0">
                  <a:latin typeface="Bookman Old Style" panose="02050604050505020204" pitchFamily="18" charset="0"/>
                  <a:cs typeface="Times New Roman" pitchFamily="18" charset="0"/>
                </a:endParaRPr>
              </a:p>
              <a:p>
                <a:pPr indent="0" algn="ctr">
                  <a:buNone/>
                </a:pPr>
                <a:r>
                  <a:rPr lang="fr-FR" sz="1600" dirty="0">
                    <a:latin typeface="Bookman Old Style" panose="02050604050505020204" pitchFamily="18" charset="0"/>
                    <a:cs typeface="Times New Roman" pitchFamily="18" charset="0"/>
                  </a:rPr>
                  <a:t>  </a:t>
                </a:r>
                <a:r>
                  <a:rPr lang="fr-FR" sz="1600" b="1" u="sng" dirty="0">
                    <a:latin typeface="Bookman Old Style" panose="02050604050505020204" pitchFamily="18" charset="0"/>
                    <a:cs typeface="Times New Roman" pitchFamily="18" charset="0"/>
                  </a:rPr>
                  <a:t>V</a:t>
                </a:r>
                <a:r>
                  <a:rPr lang="fr-FR" sz="1600" b="1" dirty="0">
                    <a:latin typeface="Bookman Old Style" panose="02050604050505020204" pitchFamily="18" charset="0"/>
                    <a:cs typeface="Times New Roman" pitchFamily="18" charset="0"/>
                  </a:rPr>
                  <a:t> = R * </a:t>
                </a:r>
                <a:r>
                  <a:rPr lang="fr-FR" sz="1600" b="1" u="sng" dirty="0">
                    <a:latin typeface="Bookman Old Style" panose="02050604050505020204" pitchFamily="18" charset="0"/>
                    <a:cs typeface="Times New Roman" pitchFamily="18" charset="0"/>
                  </a:rPr>
                  <a:t>I</a:t>
                </a:r>
                <a:r>
                  <a:rPr lang="fr-FR" sz="1600" dirty="0">
                    <a:latin typeface="Bookman Old Style" panose="02050604050505020204" pitchFamily="18" charset="0"/>
                    <a:cs typeface="Times New Roman" pitchFamily="18" charset="0"/>
                  </a:rPr>
                  <a:t> </a:t>
                </a:r>
              </a:p>
              <a:p>
                <a:pPr indent="0" algn="ctr">
                  <a:buNone/>
                </a:pPr>
                <a:endParaRPr lang="fr-FR" sz="1600" dirty="0">
                  <a:latin typeface="Bookman Old Style" panose="02050604050505020204" pitchFamily="18" charset="0"/>
                  <a:cs typeface="Times New Roman" pitchFamily="18" charset="0"/>
                </a:endParaRPr>
              </a:p>
              <a:p>
                <a:pPr marL="285750" indent="-285750" algn="just">
                  <a:buFont typeface="Wingdings" panose="05000000000000000000" pitchFamily="2" charset="2"/>
                  <a:buChar char="q"/>
                </a:pPr>
                <a:r>
                  <a:rPr lang="fr-FR" sz="1600" dirty="0">
                    <a:latin typeface="Bookman Old Style" panose="02050604050505020204" pitchFamily="18" charset="0"/>
                    <a:cs typeface="Times New Roman" pitchFamily="18" charset="0"/>
                  </a:rPr>
                  <a:t>On en déduit que l’impédance d’une résistance pure est donnée par </a:t>
                </a:r>
              </a:p>
              <a:p>
                <a:pPr indent="0" algn="ctr">
                  <a:buNone/>
                </a:pPr>
                <a:r>
                  <a:rPr lang="fr-FR" sz="1600" b="1" u="sng" dirty="0" smtClean="0">
                    <a:latin typeface="Bookman Old Style" panose="02050604050505020204" pitchFamily="18" charset="0"/>
                    <a:cs typeface="Times New Roman" pitchFamily="18" charset="0"/>
                  </a:rPr>
                  <a:t>Z</a:t>
                </a:r>
                <a:r>
                  <a:rPr lang="fr-FR" sz="1600" b="1" baseline="-25000" dirty="0" smtClean="0">
                    <a:latin typeface="Bookman Old Style" panose="02050604050505020204" pitchFamily="18" charset="0"/>
                    <a:cs typeface="Times New Roman" pitchFamily="18" charset="0"/>
                  </a:rPr>
                  <a:t>R </a:t>
                </a:r>
                <a:r>
                  <a:rPr lang="fr-FR" sz="1600" b="1" dirty="0" smtClean="0">
                    <a:latin typeface="Bookman Old Style" panose="02050604050505020204" pitchFamily="18" charset="0"/>
                    <a:cs typeface="Times New Roman" pitchFamily="18" charset="0"/>
                  </a:rPr>
                  <a:t> </a:t>
                </a:r>
                <a:r>
                  <a:rPr lang="fr-FR" sz="1600" b="1" dirty="0">
                    <a:latin typeface="Bookman Old Style" panose="02050604050505020204" pitchFamily="18" charset="0"/>
                    <a:cs typeface="Times New Roman" pitchFamily="18" charset="0"/>
                  </a:rPr>
                  <a:t>= R </a:t>
                </a:r>
                <a:r>
                  <a:rPr lang="fr-FR" sz="1600" dirty="0">
                    <a:latin typeface="Bookman Old Style" panose="02050604050505020204" pitchFamily="18" charset="0"/>
                    <a:cs typeface="Times New Roman" pitchFamily="18" charset="0"/>
                  </a:rPr>
                  <a:t>et  </a:t>
                </a:r>
                <a14:m>
                  <m:oMath xmlns:m="http://schemas.openxmlformats.org/officeDocument/2006/math">
                    <m:r>
                      <a:rPr lang="fr-FR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𝝋</m:t>
                    </m:r>
                  </m:oMath>
                </a14:m>
                <a:r>
                  <a:rPr lang="fr-FR" sz="1600" b="1" baseline="-25000" dirty="0" err="1">
                    <a:latin typeface="Bookman Old Style" panose="02050604050505020204" pitchFamily="18" charset="0"/>
                    <a:cs typeface="Times New Roman" pitchFamily="18" charset="0"/>
                  </a:rPr>
                  <a:t>R</a:t>
                </a:r>
                <a:r>
                  <a:rPr lang="fr-FR" sz="1600" b="1" dirty="0">
                    <a:latin typeface="Bookman Old Style" panose="02050604050505020204" pitchFamily="18" charset="0"/>
                    <a:cs typeface="Times New Roman" pitchFamily="18" charset="0"/>
                  </a:rPr>
                  <a:t> = 0</a:t>
                </a:r>
                <a:endParaRPr lang="fr-FR" sz="1600" dirty="0">
                  <a:latin typeface="Bookman Old Style" panose="0205060405050502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E12645-5035-20A9-4D72-D9CEFBF46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26654"/>
                <a:ext cx="7010400" cy="2308324"/>
              </a:xfrm>
              <a:prstGeom prst="rect">
                <a:avLst/>
              </a:prstGeom>
              <a:blipFill>
                <a:blip r:embed="rId3"/>
                <a:stretch>
                  <a:fillRect l="-348" t="-794" r="-435" b="-264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49966D8-FC1C-A3FF-01A9-D6196B77F781}"/>
                  </a:ext>
                </a:extLst>
              </p:cNvPr>
              <p:cNvSpPr txBox="1"/>
              <p:nvPr/>
            </p:nvSpPr>
            <p:spPr>
              <a:xfrm>
                <a:off x="914400" y="3893612"/>
                <a:ext cx="8335931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q"/>
                </a:pPr>
                <a:r>
                  <a:rPr lang="fr-FR" sz="1600" dirty="0">
                    <a:latin typeface="Bookman Old Style" panose="02050604050505020204" pitchFamily="18" charset="0"/>
                    <a:cs typeface="Times New Roman" pitchFamily="18" charset="0"/>
                  </a:rPr>
                  <a:t>L’impédance d’une résistance est indépendante de la fréquence.</a:t>
                </a:r>
              </a:p>
              <a:p>
                <a:pPr algn="just"/>
                <a:endParaRPr lang="fr-FR" sz="1600" dirty="0">
                  <a:latin typeface="Bookman Old Style" panose="02050604050505020204" pitchFamily="18" charset="0"/>
                  <a:cs typeface="Times New Roman" pitchFamily="18" charset="0"/>
                </a:endParaRPr>
              </a:p>
              <a:p>
                <a:pPr marL="285750" indent="-285750" algn="just">
                  <a:buFont typeface="Wingdings" panose="05000000000000000000" pitchFamily="2" charset="2"/>
                  <a:buChar char="q"/>
                </a:pPr>
                <a:r>
                  <a:rPr lang="fr-FR" sz="1600" dirty="0">
                    <a:latin typeface="Bookman Old Style" panose="02050604050505020204" pitchFamily="18" charset="0"/>
                    <a:cs typeface="Times New Roman" pitchFamily="18" charset="0"/>
                  </a:rPr>
                  <a:t>Son admittance est : </a:t>
                </a:r>
                <a14:m>
                  <m:oMath xmlns:m="http://schemas.openxmlformats.org/officeDocument/2006/math">
                    <m:r>
                      <a:rPr lang="fr-FR" sz="1600" b="1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𝒀</m:t>
                    </m:r>
                  </m:oMath>
                </a14:m>
                <a:r>
                  <a:rPr lang="fr-FR" sz="1600" b="1" baseline="-25000" dirty="0">
                    <a:latin typeface="Bookman Old Style" panose="02050604050505020204" pitchFamily="18" charset="0"/>
                    <a:cs typeface="Times New Roman" pitchFamily="18" charset="0"/>
                  </a:rPr>
                  <a:t>R</a:t>
                </a:r>
                <a:r>
                  <a:rPr lang="fr-FR" sz="1600" b="1" dirty="0">
                    <a:latin typeface="Bookman Old Style" panose="02050604050505020204" pitchFamily="18" charset="0"/>
                    <a:cs typeface="Times New Roman" pitchFamily="18" charset="0"/>
                  </a:rPr>
                  <a:t> =1/R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q"/>
                </a:pPr>
                <a:endParaRPr lang="fr-FR" sz="1600" dirty="0">
                  <a:latin typeface="Bookman Old Style" panose="0205060405050502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49966D8-FC1C-A3FF-01A9-D6196B77F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93612"/>
                <a:ext cx="8335931" cy="1077218"/>
              </a:xfrm>
              <a:prstGeom prst="rect">
                <a:avLst/>
              </a:prstGeom>
              <a:blipFill>
                <a:blip r:embed="rId4"/>
                <a:stretch>
                  <a:fillRect l="-293" t="-17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737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78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40ACE-36D6-BD19-50FB-84A567DE3B8B}"/>
              </a:ext>
            </a:extLst>
          </p:cNvPr>
          <p:cNvSpPr txBox="1"/>
          <p:nvPr/>
        </p:nvSpPr>
        <p:spPr>
          <a:xfrm>
            <a:off x="152400" y="615824"/>
            <a:ext cx="83742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685800" indent="-285750" algn="just">
              <a:buFont typeface="Wingdings" panose="05000000000000000000" pitchFamily="2" charset="2"/>
              <a:buChar char="q"/>
              <a:defRPr sz="1500"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pPr marL="400050" indent="0">
              <a:buNone/>
            </a:pPr>
            <a:r>
              <a:rPr lang="fr-FR" altLang="fr-FR" sz="1600" b="1" u="sng" dirty="0">
                <a:solidFill>
                  <a:srgbClr val="0000FF"/>
                </a:solidFill>
                <a:cs typeface="Browallia New" panose="020B0604020202020204" pitchFamily="34" charset="-34"/>
              </a:rPr>
              <a:t>Inductance:</a:t>
            </a:r>
            <a:endParaRPr lang="fr-FR" sz="1600" b="1" u="sng" dirty="0">
              <a:solidFill>
                <a:srgbClr val="0000FF"/>
              </a:solidFill>
            </a:endParaRPr>
          </a:p>
          <a:p>
            <a:pPr marL="400050" indent="0">
              <a:buNone/>
            </a:pPr>
            <a:endParaRPr lang="fr-FR" sz="1600" dirty="0"/>
          </a:p>
          <a:p>
            <a:pPr marL="400050" indent="0">
              <a:buNone/>
            </a:pPr>
            <a:endParaRPr lang="fr-FR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9AF051-6FAA-08A1-1DBB-CEA4BD09F16B}"/>
                  </a:ext>
                </a:extLst>
              </p:cNvPr>
              <p:cNvSpPr txBox="1"/>
              <p:nvPr/>
            </p:nvSpPr>
            <p:spPr>
              <a:xfrm>
                <a:off x="834317" y="1416043"/>
                <a:ext cx="7010400" cy="14366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q"/>
                </a:pPr>
                <a:r>
                  <a:rPr lang="fr-FR" sz="1600" dirty="0">
                    <a:latin typeface="Bookman Old Style" panose="02050604050505020204" pitchFamily="18" charset="0"/>
                    <a:cs typeface="Times New Roman" pitchFamily="18" charset="0"/>
                  </a:rPr>
                  <a:t>Pour une inductance, la relation en valeurs instantanées entre la tension et le courant est donnée par: </a:t>
                </a:r>
                <a14:m>
                  <m:oMath xmlns:m="http://schemas.openxmlformats.org/officeDocument/2006/math">
                    <m:r>
                      <a:rPr lang="fr-FR" sz="1600" b="1">
                        <a:latin typeface="Cambria Math" panose="02040503050406030204" pitchFamily="18" charset="0"/>
                        <a:cs typeface="Times New Roman" pitchFamily="18" charset="0"/>
                      </a:rPr>
                      <m:t>𝐯</m:t>
                    </m:r>
                    <m:r>
                      <a:rPr lang="fr-FR" sz="1600" b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fr-FR" sz="1600" b="1">
                        <a:latin typeface="Cambria Math" panose="02040503050406030204" pitchFamily="18" charset="0"/>
                        <a:cs typeface="Times New Roman" pitchFamily="18" charset="0"/>
                      </a:rPr>
                      <m:t>𝐋</m:t>
                    </m:r>
                    <m:f>
                      <m:fPr>
                        <m:ctrlPr>
                          <a:rPr lang="fr-FR" sz="1600" b="1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fr-FR" sz="1600" b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𝐝𝐢</m:t>
                        </m:r>
                      </m:num>
                      <m:den>
                        <m:r>
                          <a:rPr lang="fr-FR" sz="1600" b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𝐝𝐭</m:t>
                        </m:r>
                      </m:den>
                    </m:f>
                  </m:oMath>
                </a14:m>
                <a:r>
                  <a:rPr lang="fr-FR" sz="1600" b="1" dirty="0">
                    <a:latin typeface="Bookman Old Style" panose="02050604050505020204" pitchFamily="18" charset="0"/>
                    <a:cs typeface="Times New Roman" pitchFamily="18" charset="0"/>
                  </a:rPr>
                  <a:t>  </a:t>
                </a:r>
                <a:r>
                  <a:rPr lang="fr-FR" sz="1600" dirty="0">
                    <a:latin typeface="Bookman Old Style" panose="02050604050505020204" pitchFamily="18" charset="0"/>
                    <a:cs typeface="Times New Roman" pitchFamily="18" charset="0"/>
                  </a:rPr>
                  <a:t>qui se traduit pour le régime sinusoïdal en valeur complexe : </a:t>
                </a:r>
              </a:p>
              <a:p>
                <a:pPr indent="0" algn="ctr">
                  <a:buNone/>
                </a:pPr>
                <a:endParaRPr lang="fr-FR" sz="1600" dirty="0">
                  <a:latin typeface="Bookman Old Style" panose="02050604050505020204" pitchFamily="18" charset="0"/>
                  <a:cs typeface="Times New Roman" pitchFamily="18" charset="0"/>
                </a:endParaRPr>
              </a:p>
              <a:p>
                <a:pPr indent="0" algn="ctr">
                  <a:buNone/>
                </a:pPr>
                <a:r>
                  <a:rPr lang="fr-FR" sz="1600" b="1" u="sng" dirty="0" smtClean="0">
                    <a:latin typeface="Bookman Old Style" panose="02050604050505020204" pitchFamily="18" charset="0"/>
                    <a:cs typeface="Times New Roman" pitchFamily="18" charset="0"/>
                  </a:rPr>
                  <a:t>V</a:t>
                </a:r>
                <a:r>
                  <a:rPr lang="fr-FR" sz="1600" b="1" dirty="0" smtClean="0">
                    <a:latin typeface="Bookman Old Style" panose="02050604050505020204" pitchFamily="18" charset="0"/>
                    <a:cs typeface="Times New Roman" pitchFamily="18" charset="0"/>
                  </a:rPr>
                  <a:t> </a:t>
                </a:r>
                <a:r>
                  <a:rPr lang="fr-FR" sz="1600" b="1" dirty="0">
                    <a:latin typeface="Bookman Old Style" panose="02050604050505020204" pitchFamily="18" charset="0"/>
                    <a:cs typeface="Times New Roman" pitchFamily="18" charset="0"/>
                  </a:rPr>
                  <a:t>= </a:t>
                </a:r>
                <a:r>
                  <a:rPr lang="fr-FR" sz="1600" b="1" dirty="0" err="1">
                    <a:latin typeface="Bookman Old Style" panose="02050604050505020204" pitchFamily="18" charset="0"/>
                    <a:cs typeface="Times New Roman" pitchFamily="18" charset="0"/>
                  </a:rPr>
                  <a:t>jL</a:t>
                </a:r>
                <a:r>
                  <a:rPr lang="el-GR" sz="1600" b="1" dirty="0">
                    <a:latin typeface="Bookman Old Style" panose="02050604050505020204" pitchFamily="18" charset="0"/>
                    <a:cs typeface="Times New Roman" pitchFamily="18" charset="0"/>
                  </a:rPr>
                  <a:t>ω</a:t>
                </a:r>
                <a:r>
                  <a:rPr lang="fr-FR" sz="1600" b="1" u="sng" dirty="0">
                    <a:latin typeface="Bookman Old Style" panose="02050604050505020204" pitchFamily="18" charset="0"/>
                    <a:cs typeface="Times New Roman" pitchFamily="18" charset="0"/>
                  </a:rPr>
                  <a:t>I</a:t>
                </a:r>
                <a:endParaRPr lang="fr-FR" sz="1600" dirty="0">
                  <a:latin typeface="Bookman Old Style" panose="0205060405050502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9AF051-6FAA-08A1-1DBB-CEA4BD09F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17" y="1416043"/>
                <a:ext cx="7010400" cy="1436612"/>
              </a:xfrm>
              <a:prstGeom prst="rect">
                <a:avLst/>
              </a:prstGeom>
              <a:blipFill>
                <a:blip r:embed="rId3"/>
                <a:stretch>
                  <a:fillRect l="-348" t="-1271" r="-435" b="-423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0A9BAF4E-7443-9FD8-5B65-2E6666D458BF}"/>
              </a:ext>
            </a:extLst>
          </p:cNvPr>
          <p:cNvSpPr txBox="1"/>
          <p:nvPr/>
        </p:nvSpPr>
        <p:spPr>
          <a:xfrm>
            <a:off x="834317" y="3257550"/>
            <a:ext cx="70904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400"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r>
              <a:rPr lang="fr-FR" sz="1600" dirty="0"/>
              <a:t>L’impédance complexe d’une inductance est donnée par:</a:t>
            </a:r>
          </a:p>
          <a:p>
            <a:pPr marL="0" indent="0">
              <a:buNone/>
            </a:pPr>
            <a:r>
              <a:rPr lang="fr-FR" sz="1600" dirty="0"/>
              <a:t>  </a:t>
            </a:r>
          </a:p>
          <a:p>
            <a:pPr indent="0" algn="ctr">
              <a:buNone/>
            </a:pPr>
            <a:r>
              <a:rPr lang="fr-FR" sz="1600" b="1" u="sng" dirty="0">
                <a:latin typeface="Garamond" panose="02020404030301010803" pitchFamily="18" charset="0"/>
              </a:rPr>
              <a:t>Z</a:t>
            </a:r>
            <a:r>
              <a:rPr lang="fr-FR" sz="1600" b="1" baseline="-25000" dirty="0">
                <a:latin typeface="Garamond" panose="02020404030301010803" pitchFamily="18" charset="0"/>
              </a:rPr>
              <a:t>L</a:t>
            </a:r>
            <a:r>
              <a:rPr lang="fr-FR" sz="1600" b="1" dirty="0">
                <a:latin typeface="Garamond" panose="02020404030301010803" pitchFamily="18" charset="0"/>
              </a:rPr>
              <a:t>= </a:t>
            </a:r>
            <a:r>
              <a:rPr lang="fr-FR" sz="1600" b="1" dirty="0" err="1">
                <a:latin typeface="Garamond" panose="02020404030301010803" pitchFamily="18" charset="0"/>
              </a:rPr>
              <a:t>jL</a:t>
            </a:r>
            <a:r>
              <a:rPr lang="el-GR" sz="1600" b="1" dirty="0">
                <a:latin typeface="Garamond" panose="02020404030301010803" pitchFamily="18" charset="0"/>
              </a:rPr>
              <a:t>ω</a:t>
            </a:r>
            <a:r>
              <a:rPr lang="fr-FR" sz="1600" b="1" dirty="0">
                <a:latin typeface="Garamond" panose="02020404030301010803" pitchFamily="18" charset="0"/>
              </a:rPr>
              <a:t> et </a:t>
            </a:r>
            <a:r>
              <a:rPr lang="fr-FR" sz="1600" b="1" dirty="0" err="1">
                <a:latin typeface="Symbol" pitchFamily="18" charset="2"/>
              </a:rPr>
              <a:t>j</a:t>
            </a:r>
            <a:r>
              <a:rPr lang="fr-FR" sz="1600" b="1" baseline="-25000" dirty="0" err="1">
                <a:latin typeface="Garamond" panose="02020404030301010803" pitchFamily="18" charset="0"/>
              </a:rPr>
              <a:t>L</a:t>
            </a:r>
            <a:r>
              <a:rPr lang="fr-FR" sz="1600" b="1" dirty="0">
                <a:latin typeface="Garamond" panose="02020404030301010803" pitchFamily="18" charset="0"/>
              </a:rPr>
              <a:t> = +</a:t>
            </a:r>
            <a:r>
              <a:rPr lang="fr-FR" sz="1600" b="1" dirty="0">
                <a:latin typeface="Symbol" pitchFamily="18" charset="2"/>
              </a:rPr>
              <a:t>p</a:t>
            </a:r>
            <a:r>
              <a:rPr lang="fr-FR" sz="1600" b="1" dirty="0">
                <a:latin typeface="Garamond" panose="02020404030301010803" pitchFamily="18" charset="0"/>
              </a:rPr>
              <a:t>/2</a:t>
            </a:r>
            <a:r>
              <a:rPr lang="fr-FR" sz="16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99186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79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9AF051-6FAA-08A1-1DBB-CEA4BD09F16B}"/>
              </a:ext>
            </a:extLst>
          </p:cNvPr>
          <p:cNvSpPr txBox="1"/>
          <p:nvPr/>
        </p:nvSpPr>
        <p:spPr>
          <a:xfrm>
            <a:off x="276422" y="666750"/>
            <a:ext cx="832929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indent="-285750">
              <a:buFont typeface="Wingdings" panose="05000000000000000000" pitchFamily="2" charset="2"/>
              <a:buChar char="q"/>
            </a:pPr>
            <a:r>
              <a:rPr lang="fr-FR" sz="1600" dirty="0">
                <a:latin typeface="Bookman Old Style" panose="02050604050505020204" pitchFamily="18" charset="0"/>
                <a:cs typeface="Times New Roman" pitchFamily="18" charset="0"/>
              </a:rPr>
              <a:t>L’admittance est  </a:t>
            </a:r>
            <a:r>
              <a:rPr lang="fr-FR" sz="1600" b="1" u="sng" dirty="0">
                <a:latin typeface="Garamond" panose="02020404030301010803" pitchFamily="18" charset="0"/>
                <a:cs typeface="Times New Roman" pitchFamily="18" charset="0"/>
              </a:rPr>
              <a:t>Y</a:t>
            </a:r>
            <a:r>
              <a:rPr lang="fr-FR" sz="1600" b="1" baseline="-25000" dirty="0">
                <a:latin typeface="Garamond" panose="02020404030301010803" pitchFamily="18" charset="0"/>
                <a:cs typeface="Times New Roman" pitchFamily="18" charset="0"/>
              </a:rPr>
              <a:t>L</a:t>
            </a:r>
            <a:r>
              <a:rPr lang="fr-FR" sz="1600" b="1" dirty="0">
                <a:latin typeface="Garamond" panose="02020404030301010803" pitchFamily="18" charset="0"/>
                <a:cs typeface="Times New Roman" pitchFamily="18" charset="0"/>
              </a:rPr>
              <a:t>= 1/</a:t>
            </a:r>
            <a:r>
              <a:rPr lang="fr-FR" sz="1600" b="1" dirty="0" err="1">
                <a:latin typeface="Garamond" panose="02020404030301010803" pitchFamily="18" charset="0"/>
                <a:cs typeface="Times New Roman" pitchFamily="18" charset="0"/>
              </a:rPr>
              <a:t>jL</a:t>
            </a:r>
            <a:r>
              <a:rPr lang="el-GR" sz="1600" b="1" dirty="0" smtClean="0">
                <a:latin typeface="Garamond" panose="02020404030301010803" pitchFamily="18" charset="0"/>
                <a:cs typeface="Times New Roman" pitchFamily="18" charset="0"/>
              </a:rPr>
              <a:t>ω</a:t>
            </a:r>
            <a:endParaRPr lang="en-US" sz="1600" b="1" dirty="0" smtClean="0">
              <a:latin typeface="Garamond" panose="02020404030301010803" pitchFamily="18" charset="0"/>
              <a:cs typeface="Times New Roman" pitchFamily="18" charset="0"/>
            </a:endParaRPr>
          </a:p>
          <a:p>
            <a:pPr marL="857250" indent="-285750">
              <a:buFont typeface="Wingdings" panose="05000000000000000000" pitchFamily="2" charset="2"/>
              <a:buChar char="q"/>
            </a:pPr>
            <a:endParaRPr lang="fr-FR" sz="1600" b="1" dirty="0">
              <a:latin typeface="Garamond" panose="02020404030301010803" pitchFamily="18" charset="0"/>
            </a:endParaRPr>
          </a:p>
          <a:p>
            <a:pPr indent="0">
              <a:buNone/>
            </a:pPr>
            <a:endParaRPr lang="fr-FR" sz="1600" dirty="0"/>
          </a:p>
          <a:p>
            <a:pPr marL="857250" indent="-285750">
              <a:buFont typeface="Wingdings" panose="05000000000000000000" pitchFamily="2" charset="2"/>
              <a:buChar char="q"/>
            </a:pPr>
            <a:r>
              <a:rPr lang="fr-FR" sz="1600" dirty="0">
                <a:latin typeface="Bookman Old Style" panose="02050604050505020204" pitchFamily="18" charset="0"/>
                <a:cs typeface="Times New Roman" pitchFamily="18" charset="0"/>
              </a:rPr>
              <a:t>Elle est purement imaginaire,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390862-0B22-72E1-B010-4CF1DC0BB244}"/>
              </a:ext>
            </a:extLst>
          </p:cNvPr>
          <p:cNvSpPr txBox="1"/>
          <p:nvPr/>
        </p:nvSpPr>
        <p:spPr>
          <a:xfrm>
            <a:off x="276422" y="2132171"/>
            <a:ext cx="7114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indent="-285750" algn="just">
              <a:buFont typeface="Wingdings" panose="05000000000000000000" pitchFamily="2" charset="2"/>
              <a:buChar char="q"/>
            </a:pPr>
            <a:r>
              <a:rPr lang="fr-FR" sz="1600" dirty="0">
                <a:latin typeface="Bookman Old Style" panose="02050604050505020204" pitchFamily="18" charset="0"/>
                <a:cs typeface="Times New Roman" pitchFamily="18" charset="0"/>
              </a:rPr>
              <a:t>On constate que le module de l’impédance d’une inductance varie linéairement en fonction de la fréquence.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024190-7BC2-378A-490E-04DF17C2038B}"/>
              </a:ext>
            </a:extLst>
          </p:cNvPr>
          <p:cNvSpPr txBox="1"/>
          <p:nvPr/>
        </p:nvSpPr>
        <p:spPr>
          <a:xfrm>
            <a:off x="1539523" y="3105150"/>
            <a:ext cx="45887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fr-FR" sz="1600" b="1" dirty="0">
                <a:latin typeface="Bookman Old Style" panose="02050604050505020204" pitchFamily="18" charset="0"/>
                <a:cs typeface="Times New Roman" pitchFamily="18" charset="0"/>
              </a:rPr>
              <a:t>Si </a:t>
            </a:r>
            <a:r>
              <a:rPr lang="fr-FR" sz="1600" b="1" i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f</a:t>
            </a:r>
            <a:r>
              <a:rPr lang="fr-FR" sz="1600" b="1" dirty="0">
                <a:latin typeface="Bookman Old Style" panose="02050604050505020204" pitchFamily="18" charset="0"/>
                <a:cs typeface="Times New Roman" pitchFamily="18" charset="0"/>
              </a:rPr>
              <a:t> → 0         Z</a:t>
            </a:r>
            <a:r>
              <a:rPr lang="fr-FR" sz="1600" b="1" baseline="-25000" dirty="0">
                <a:latin typeface="Bookman Old Style" panose="02050604050505020204" pitchFamily="18" charset="0"/>
                <a:cs typeface="Times New Roman" pitchFamily="18" charset="0"/>
              </a:rPr>
              <a:t>L</a:t>
            </a:r>
            <a:r>
              <a:rPr lang="fr-FR" sz="1600" b="1" dirty="0">
                <a:latin typeface="Bookman Old Style" panose="02050604050505020204" pitchFamily="18" charset="0"/>
                <a:cs typeface="Times New Roman" pitchFamily="18" charset="0"/>
              </a:rPr>
              <a:t> → 0   (Court-circuit)</a:t>
            </a:r>
          </a:p>
          <a:p>
            <a:pPr indent="0">
              <a:buNone/>
            </a:pPr>
            <a:r>
              <a:rPr lang="fr-FR" sz="1600" b="1" dirty="0">
                <a:latin typeface="Bookman Old Style" panose="02050604050505020204" pitchFamily="18" charset="0"/>
                <a:cs typeface="Times New Roman" pitchFamily="18" charset="0"/>
              </a:rPr>
              <a:t>Si </a:t>
            </a:r>
            <a:r>
              <a:rPr lang="fr-FR" sz="1600" b="1" i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f</a:t>
            </a:r>
            <a:r>
              <a:rPr lang="fr-FR" sz="1600" b="1" dirty="0">
                <a:latin typeface="Bookman Old Style" panose="02050604050505020204" pitchFamily="18" charset="0"/>
                <a:cs typeface="Times New Roman" pitchFamily="18" charset="0"/>
              </a:rPr>
              <a:t> → ∞        Z</a:t>
            </a:r>
            <a:r>
              <a:rPr lang="fr-FR" sz="1600" b="1" baseline="-25000" dirty="0">
                <a:latin typeface="Bookman Old Style" panose="02050604050505020204" pitchFamily="18" charset="0"/>
                <a:cs typeface="Times New Roman" pitchFamily="18" charset="0"/>
              </a:rPr>
              <a:t>L</a:t>
            </a:r>
            <a:r>
              <a:rPr lang="fr-FR" sz="1600" b="1" dirty="0">
                <a:latin typeface="Bookman Old Style" panose="02050604050505020204" pitchFamily="18" charset="0"/>
                <a:cs typeface="Times New Roman" pitchFamily="18" charset="0"/>
              </a:rPr>
              <a:t> → ∞  (Circuit ouvert)</a:t>
            </a:r>
            <a:endParaRPr lang="fr-FR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68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80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40ACE-36D6-BD19-50FB-84A567DE3B8B}"/>
              </a:ext>
            </a:extLst>
          </p:cNvPr>
          <p:cNvSpPr txBox="1"/>
          <p:nvPr/>
        </p:nvSpPr>
        <p:spPr>
          <a:xfrm>
            <a:off x="76200" y="514350"/>
            <a:ext cx="83742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685800" indent="-285750" algn="just">
              <a:buFont typeface="Wingdings" panose="05000000000000000000" pitchFamily="2" charset="2"/>
              <a:buChar char="q"/>
              <a:defRPr sz="1500"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pPr marL="400050" indent="0">
              <a:buNone/>
            </a:pPr>
            <a:r>
              <a:rPr lang="fr-FR" altLang="fr-FR" sz="1600" b="1" u="sng" dirty="0">
                <a:solidFill>
                  <a:srgbClr val="0000FF"/>
                </a:solidFill>
                <a:cs typeface="Browallia New" panose="020B0604020202020204" pitchFamily="34" charset="-34"/>
              </a:rPr>
              <a:t>Capacité :</a:t>
            </a:r>
            <a:endParaRPr lang="fr-FR" sz="1600" b="1" u="sng" dirty="0">
              <a:solidFill>
                <a:srgbClr val="0000FF"/>
              </a:solidFill>
              <a:cs typeface="Browallia New" panose="020B0604020202020204" pitchFamily="34" charset="-34"/>
            </a:endParaRPr>
          </a:p>
          <a:p>
            <a:pPr marL="400050" indent="0">
              <a:buNone/>
            </a:pPr>
            <a:endParaRPr lang="fr-FR" sz="1600" dirty="0"/>
          </a:p>
          <a:p>
            <a:pPr marL="400050" indent="0">
              <a:buNone/>
            </a:pPr>
            <a:endParaRPr lang="fr-FR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FFCD2C-45FF-CF2D-647B-D64D0062B038}"/>
                  </a:ext>
                </a:extLst>
              </p:cNvPr>
              <p:cNvSpPr txBox="1"/>
              <p:nvPr/>
            </p:nvSpPr>
            <p:spPr>
              <a:xfrm>
                <a:off x="914400" y="1185720"/>
                <a:ext cx="7086600" cy="3546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fr-FR"/>
                </a:defPPr>
                <a:lvl1pPr marL="285750" indent="-285750" algn="just">
                  <a:buFont typeface="Wingdings" panose="05000000000000000000" pitchFamily="2" charset="2"/>
                  <a:buChar char="q"/>
                  <a:defRPr sz="1400">
                    <a:latin typeface="Bookman Old Style" panose="02050604050505020204" pitchFamily="18" charset="0"/>
                    <a:cs typeface="Times New Roman" pitchFamily="18" charset="0"/>
                  </a:defRPr>
                </a:lvl1pPr>
              </a:lstStyle>
              <a:p>
                <a:r>
                  <a:rPr lang="fr-FR" sz="1600" dirty="0"/>
                  <a:t>Pour une capacité, la relation en valeurs instantanées entre le courant est la tension est donnée par: </a:t>
                </a:r>
                <a14:m>
                  <m:oMath xmlns:m="http://schemas.openxmlformats.org/officeDocument/2006/math">
                    <m:r>
                      <a:rPr lang="fr-FR" sz="1600">
                        <a:latin typeface="Cambria Math" panose="02040503050406030204" pitchFamily="18" charset="0"/>
                      </a:rPr>
                      <m:t>𝐢</m:t>
                    </m:r>
                    <m:r>
                      <a:rPr lang="fr-FR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>
                        <a:latin typeface="Cambria Math" panose="02040503050406030204" pitchFamily="18" charset="0"/>
                      </a:rPr>
                      <m:t>𝐂</m:t>
                    </m:r>
                    <m:f>
                      <m:f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>
                            <a:latin typeface="Cambria Math" panose="02040503050406030204" pitchFamily="18" charset="0"/>
                          </a:rPr>
                          <m:t>𝐝𝐯</m:t>
                        </m:r>
                      </m:num>
                      <m:den>
                        <m:r>
                          <a:rPr lang="fr-FR" sz="1600">
                            <a:latin typeface="Cambria Math" panose="02040503050406030204" pitchFamily="18" charset="0"/>
                          </a:rPr>
                          <m:t>𝐝𝐭</m:t>
                        </m:r>
                      </m:den>
                    </m:f>
                  </m:oMath>
                </a14:m>
                <a:r>
                  <a:rPr lang="fr-FR" sz="1600" dirty="0"/>
                  <a:t> qui se traduit pour le régime sinusoïdal en valeur complexe:</a:t>
                </a:r>
              </a:p>
              <a:p>
                <a:pPr marL="0" indent="0">
                  <a:buNone/>
                </a:pPr>
                <a:endParaRPr lang="fr-FR" sz="1600" dirty="0">
                  <a:latin typeface="Garamond" panose="02020404030301010803" pitchFamily="18" charset="0"/>
                </a:endParaRPr>
              </a:p>
              <a:p>
                <a:pPr marL="0" indent="0" algn="ctr">
                  <a:buNone/>
                </a:pPr>
                <a:r>
                  <a:rPr lang="fr-FR" sz="1600" b="1" u="sng" dirty="0" smtClean="0">
                    <a:latin typeface="Garamond" panose="02020404030301010803" pitchFamily="18" charset="0"/>
                  </a:rPr>
                  <a:t>I</a:t>
                </a:r>
                <a:r>
                  <a:rPr lang="fr-FR" sz="1600" b="1" dirty="0" smtClean="0">
                    <a:latin typeface="Garamond" panose="02020404030301010803" pitchFamily="18" charset="0"/>
                  </a:rPr>
                  <a:t> </a:t>
                </a:r>
                <a:r>
                  <a:rPr lang="fr-FR" sz="1600" b="1" dirty="0">
                    <a:latin typeface="Garamond" panose="02020404030301010803" pitchFamily="18" charset="0"/>
                  </a:rPr>
                  <a:t>= </a:t>
                </a:r>
                <a:r>
                  <a:rPr lang="fr-FR" sz="1600" b="1" dirty="0" err="1">
                    <a:latin typeface="Garamond" panose="02020404030301010803" pitchFamily="18" charset="0"/>
                  </a:rPr>
                  <a:t>jC</a:t>
                </a:r>
                <a:r>
                  <a:rPr lang="el-GR" sz="1600" b="1" dirty="0">
                    <a:latin typeface="Garamond" panose="02020404030301010803" pitchFamily="18" charset="0"/>
                  </a:rPr>
                  <a:t>ω</a:t>
                </a:r>
                <a:r>
                  <a:rPr lang="fr-FR" sz="1600" b="1" u="sng" dirty="0">
                    <a:latin typeface="Garamond" panose="02020404030301010803" pitchFamily="18" charset="0"/>
                  </a:rPr>
                  <a:t>V</a:t>
                </a:r>
              </a:p>
              <a:p>
                <a:pPr marL="0" indent="0" algn="ctr">
                  <a:buNone/>
                </a:pPr>
                <a:endParaRPr lang="fr-FR" sz="1600" b="1" u="sng" dirty="0">
                  <a:latin typeface="Garamond" panose="02020404030301010803" pitchFamily="18" charset="0"/>
                </a:endParaRPr>
              </a:p>
              <a:p>
                <a:r>
                  <a:rPr lang="fr-FR" sz="1600" dirty="0"/>
                  <a:t>L’impédance complexe d’une inductance est donnée par: </a:t>
                </a:r>
              </a:p>
              <a:p>
                <a:endParaRPr lang="fr-FR" sz="1600" dirty="0"/>
              </a:p>
              <a:p>
                <a:pPr marL="0" indent="0">
                  <a:buNone/>
                </a:pPr>
                <a:endParaRPr lang="fr-FR" sz="1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fr-FR" sz="1600" b="1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fr-FR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1" i="0" smtClean="0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fr-FR" sz="16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sub>
                        </m:sSub>
                      </m:e>
                    </m:bar>
                    <m:r>
                      <a:rPr lang="fr-FR" sz="1600" b="1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fr-FR" sz="1600" b="1" i="0" smtClean="0">
                            <a:latin typeface="Cambria Math" panose="02040503050406030204" pitchFamily="18" charset="0"/>
                          </a:rPr>
                          <m:t>𝐣𝐂</m:t>
                        </m:r>
                        <m:r>
                          <m:rPr>
                            <m:nor/>
                          </m:rPr>
                          <a:rPr lang="el-GR" sz="1600" b="1" dirty="0">
                            <a:latin typeface="Garamond" panose="02020404030301010803" pitchFamily="18" charset="0"/>
                          </a:rPr>
                          <m:t>ω</m:t>
                        </m:r>
                      </m:den>
                    </m:f>
                  </m:oMath>
                </a14:m>
                <a:r>
                  <a:rPr lang="fr-FR" sz="1600" b="1" dirty="0">
                    <a:latin typeface="Garamond" panose="02020404030301010803" pitchFamily="18" charset="0"/>
                  </a:rPr>
                  <a:t> et </a:t>
                </a:r>
                <a:r>
                  <a:rPr lang="fr-FR" sz="1600" b="1" dirty="0" err="1">
                    <a:latin typeface="Symbol" pitchFamily="18" charset="2"/>
                  </a:rPr>
                  <a:t>j</a:t>
                </a:r>
                <a:r>
                  <a:rPr lang="fr-FR" sz="1600" b="1" baseline="-25000" dirty="0" err="1">
                    <a:latin typeface="Garamond" panose="02020404030301010803" pitchFamily="18" charset="0"/>
                  </a:rPr>
                  <a:t>C</a:t>
                </a:r>
                <a:r>
                  <a:rPr lang="fr-FR" sz="1600" b="1" dirty="0">
                    <a:latin typeface="Garamond" panose="02020404030301010803" pitchFamily="18" charset="0"/>
                  </a:rPr>
                  <a:t> = -</a:t>
                </a:r>
                <a:r>
                  <a:rPr lang="fr-FR" sz="1600" b="1" dirty="0">
                    <a:latin typeface="Symbol" pitchFamily="18" charset="2"/>
                  </a:rPr>
                  <a:t>p</a:t>
                </a:r>
                <a:r>
                  <a:rPr lang="fr-FR" sz="1600" b="1" dirty="0">
                    <a:latin typeface="Garamond" panose="02020404030301010803" pitchFamily="18" charset="0"/>
                  </a:rPr>
                  <a:t>/2</a:t>
                </a:r>
              </a:p>
              <a:p>
                <a:pPr marL="0" indent="0">
                  <a:buNone/>
                </a:pPr>
                <a:endParaRPr lang="fr-FR" sz="1600" dirty="0"/>
              </a:p>
              <a:p>
                <a:pPr marL="0" indent="0" algn="ctr">
                  <a:buNone/>
                </a:pPr>
                <a:endParaRPr lang="fr-FR" sz="1600" b="1" dirty="0">
                  <a:latin typeface="Garamond" panose="02020404030301010803" pitchFamily="18" charset="0"/>
                </a:endParaRPr>
              </a:p>
              <a:p>
                <a:endParaRPr lang="fr-FR" sz="16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FFCD2C-45FF-CF2D-647B-D64D0062B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185720"/>
                <a:ext cx="7086600" cy="3546997"/>
              </a:xfrm>
              <a:prstGeom prst="rect">
                <a:avLst/>
              </a:prstGeom>
              <a:blipFill>
                <a:blip r:embed="rId3"/>
                <a:stretch>
                  <a:fillRect l="-344" t="-516" r="-34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6232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81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FFCD2C-45FF-CF2D-647B-D64D0062B038}"/>
              </a:ext>
            </a:extLst>
          </p:cNvPr>
          <p:cNvSpPr txBox="1"/>
          <p:nvPr/>
        </p:nvSpPr>
        <p:spPr>
          <a:xfrm>
            <a:off x="381000" y="666750"/>
            <a:ext cx="7620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400"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pPr marL="571500"/>
            <a:r>
              <a:rPr lang="fr-FR" sz="1600" dirty="0"/>
              <a:t>L’admittance</a:t>
            </a:r>
            <a:r>
              <a:rPr lang="fr-FR" sz="1600" dirty="0">
                <a:latin typeface="Garamond" panose="02020404030301010803" pitchFamily="18" charset="0"/>
              </a:rPr>
              <a:t> </a:t>
            </a:r>
            <a:r>
              <a:rPr lang="fr-FR" sz="1600" b="1" u="sng" dirty="0">
                <a:latin typeface="Garamond" panose="02020404030301010803" pitchFamily="18" charset="0"/>
              </a:rPr>
              <a:t>Y</a:t>
            </a:r>
            <a:r>
              <a:rPr lang="fr-FR" sz="1600" b="1" u="sng" baseline="-25000" dirty="0">
                <a:latin typeface="Garamond" panose="02020404030301010803" pitchFamily="18" charset="0"/>
              </a:rPr>
              <a:t>C</a:t>
            </a:r>
            <a:r>
              <a:rPr lang="fr-FR" sz="1600" b="1" dirty="0">
                <a:latin typeface="Garamond" panose="02020404030301010803" pitchFamily="18" charset="0"/>
              </a:rPr>
              <a:t>= </a:t>
            </a:r>
            <a:r>
              <a:rPr lang="fr-FR" sz="1600" b="1" dirty="0" err="1">
                <a:latin typeface="Garamond" panose="02020404030301010803" pitchFamily="18" charset="0"/>
              </a:rPr>
              <a:t>jC</a:t>
            </a:r>
            <a:r>
              <a:rPr lang="el-GR" sz="1600" b="1" dirty="0">
                <a:latin typeface="Garamond" panose="02020404030301010803" pitchFamily="18" charset="0"/>
              </a:rPr>
              <a:t> ω</a:t>
            </a:r>
            <a:endParaRPr lang="fr-FR" sz="1600" b="1" dirty="0">
              <a:latin typeface="Garamond" panose="02020404030301010803" pitchFamily="18" charset="0"/>
            </a:endParaRPr>
          </a:p>
          <a:p>
            <a:pPr marL="571500"/>
            <a:endParaRPr lang="en-US" sz="1600" b="1" dirty="0" smtClean="0">
              <a:latin typeface="Garamond" panose="02020404030301010803" pitchFamily="18" charset="0"/>
            </a:endParaRPr>
          </a:p>
          <a:p>
            <a:pPr marL="571500"/>
            <a:endParaRPr lang="fr-FR" sz="1600" b="1" dirty="0">
              <a:latin typeface="Garamond" panose="02020404030301010803" pitchFamily="18" charset="0"/>
            </a:endParaRPr>
          </a:p>
          <a:p>
            <a:pPr marL="571500"/>
            <a:r>
              <a:rPr lang="fr-FR" sz="1600" dirty="0"/>
              <a:t>Elle est purement imaginaire, </a:t>
            </a:r>
            <a:endParaRPr lang="fr-FR" sz="1600" dirty="0" smtClean="0"/>
          </a:p>
          <a:p>
            <a:pPr marL="571500"/>
            <a:endParaRPr lang="fr-FR" sz="1600" dirty="0"/>
          </a:p>
          <a:p>
            <a:pPr marL="571500"/>
            <a:endParaRPr lang="fr-FR" sz="1600" dirty="0"/>
          </a:p>
          <a:p>
            <a:pPr marL="571500"/>
            <a:r>
              <a:rPr lang="fr-FR" sz="1600" dirty="0"/>
              <a:t>On constate que le module de l’impédance d’une capacité est inversement  proportionnel à  la fréquence</a:t>
            </a:r>
          </a:p>
          <a:p>
            <a:pPr marL="0" indent="0" algn="ctr">
              <a:buNone/>
            </a:pPr>
            <a:endParaRPr lang="fr-FR" sz="1600" b="1" dirty="0">
              <a:latin typeface="Garamond" panose="02020404030301010803" pitchFamily="18" charset="0"/>
            </a:endParaRPr>
          </a:p>
          <a:p>
            <a:endParaRPr lang="fr-FR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A6124E-55B8-39DA-6427-22E21232BE24}"/>
              </a:ext>
            </a:extLst>
          </p:cNvPr>
          <p:cNvSpPr txBox="1"/>
          <p:nvPr/>
        </p:nvSpPr>
        <p:spPr>
          <a:xfrm>
            <a:off x="1524000" y="3129975"/>
            <a:ext cx="52016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fr-FR" sz="1600" b="1" dirty="0">
                <a:latin typeface="Bookman Old Style" panose="02050604050505020204" pitchFamily="18" charset="0"/>
                <a:cs typeface="Times New Roman" pitchFamily="18" charset="0"/>
              </a:rPr>
              <a:t>Si </a:t>
            </a:r>
            <a:r>
              <a:rPr lang="fr-FR" sz="1600" b="1" i="1" dirty="0">
                <a:latin typeface="Bookman Old Style" panose="02050604050505020204" pitchFamily="18" charset="0"/>
                <a:cs typeface="Times New Roman" pitchFamily="18" charset="0"/>
              </a:rPr>
              <a:t>f</a:t>
            </a:r>
            <a:r>
              <a:rPr lang="fr-FR" sz="1600" b="1" dirty="0">
                <a:latin typeface="Bookman Old Style" panose="02050604050505020204" pitchFamily="18" charset="0"/>
                <a:cs typeface="Times New Roman" pitchFamily="18" charset="0"/>
              </a:rPr>
              <a:t> → 0         Z</a:t>
            </a:r>
            <a:r>
              <a:rPr lang="fr-FR" sz="1600" b="1" baseline="-25000" dirty="0">
                <a:latin typeface="Bookman Old Style" panose="02050604050505020204" pitchFamily="18" charset="0"/>
                <a:cs typeface="Times New Roman" pitchFamily="18" charset="0"/>
              </a:rPr>
              <a:t>C</a:t>
            </a:r>
            <a:r>
              <a:rPr lang="fr-FR" sz="1600" b="1" dirty="0">
                <a:latin typeface="Bookman Old Style" panose="02050604050505020204" pitchFamily="18" charset="0"/>
                <a:cs typeface="Times New Roman" pitchFamily="18" charset="0"/>
              </a:rPr>
              <a:t> → ∞   (Circuit ouvert)</a:t>
            </a:r>
          </a:p>
          <a:p>
            <a:pPr indent="0">
              <a:buNone/>
            </a:pPr>
            <a:r>
              <a:rPr lang="fr-FR" sz="1600" b="1" dirty="0">
                <a:latin typeface="Bookman Old Style" panose="02050604050505020204" pitchFamily="18" charset="0"/>
                <a:cs typeface="Times New Roman" pitchFamily="18" charset="0"/>
              </a:rPr>
              <a:t>Si </a:t>
            </a:r>
            <a:r>
              <a:rPr lang="fr-FR" sz="1600" b="1" i="1" dirty="0">
                <a:latin typeface="Bookman Old Style" panose="02050604050505020204" pitchFamily="18" charset="0"/>
                <a:cs typeface="Times New Roman" pitchFamily="18" charset="0"/>
              </a:rPr>
              <a:t>f</a:t>
            </a:r>
            <a:r>
              <a:rPr lang="fr-FR" sz="1600" b="1" dirty="0">
                <a:latin typeface="Bookman Old Style" panose="02050604050505020204" pitchFamily="18" charset="0"/>
                <a:cs typeface="Times New Roman" pitchFamily="18" charset="0"/>
              </a:rPr>
              <a:t> → ∞        Z</a:t>
            </a:r>
            <a:r>
              <a:rPr lang="fr-FR" sz="1600" b="1" baseline="-25000" dirty="0">
                <a:latin typeface="Bookman Old Style" panose="02050604050505020204" pitchFamily="18" charset="0"/>
                <a:cs typeface="Times New Roman" pitchFamily="18" charset="0"/>
              </a:rPr>
              <a:t>C</a:t>
            </a:r>
            <a:r>
              <a:rPr lang="fr-FR" sz="1600" b="1" dirty="0">
                <a:latin typeface="Bookman Old Style" panose="02050604050505020204" pitchFamily="18" charset="0"/>
                <a:cs typeface="Times New Roman" pitchFamily="18" charset="0"/>
              </a:rPr>
              <a:t> → 0    (Court-circuit)</a:t>
            </a:r>
          </a:p>
        </p:txBody>
      </p:sp>
    </p:spTree>
    <p:extLst>
      <p:ext uri="{BB962C8B-B14F-4D97-AF65-F5344CB8AC3E}">
        <p14:creationId xmlns:p14="http://schemas.microsoft.com/office/powerpoint/2010/main" val="375125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82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381000" y="361950"/>
            <a:ext cx="670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4.4 </a:t>
            </a:r>
            <a:r>
              <a:rPr lang="fr-FR" altLang="fr-FR" sz="16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Lois d’Ohm et de Kirchhoff en régime sinusoïdale    </a:t>
            </a:r>
            <a:endParaRPr lang="fr-FR" sz="1600" b="1" spc="-5" dirty="0">
              <a:solidFill>
                <a:srgbClr val="0070C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37AE5D-C18E-87F1-F1E3-B6E8FDC3C683}"/>
              </a:ext>
            </a:extLst>
          </p:cNvPr>
          <p:cNvSpPr txBox="1"/>
          <p:nvPr/>
        </p:nvSpPr>
        <p:spPr>
          <a:xfrm>
            <a:off x="762000" y="1034501"/>
            <a:ext cx="7010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400"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r>
              <a:rPr lang="fr-FR" sz="1600" dirty="0"/>
              <a:t>L’introduction, en régime sinusoïdale, du concept d’impédance permet de généraliser la </a:t>
            </a:r>
            <a:r>
              <a:rPr lang="fr-FR" sz="1600" b="1" dirty="0"/>
              <a:t>loi d’Ohm </a:t>
            </a:r>
            <a:r>
              <a:rPr lang="fr-FR" sz="1600" dirty="0"/>
              <a:t>pour les circuits contenant des éléments linéaires résistifs, inductifs et capacitifs en utilisant la notation complexe :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15AFCC-867A-6A18-CAD0-DDA21584DCC7}"/>
              </a:ext>
            </a:extLst>
          </p:cNvPr>
          <p:cNvSpPr txBox="1"/>
          <p:nvPr/>
        </p:nvSpPr>
        <p:spPr>
          <a:xfrm>
            <a:off x="2133600" y="1968386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u="sng">
                <a:latin typeface="Bookman Old Style" panose="02050604050505020204" pitchFamily="18" charset="0"/>
                <a:cs typeface="Times New Roman" pitchFamily="18" charset="0"/>
              </a:rPr>
              <a:t>V</a:t>
            </a:r>
            <a:r>
              <a:rPr lang="fr-FR" sz="1600">
                <a:latin typeface="Bookman Old Style" panose="02050604050505020204" pitchFamily="18" charset="0"/>
                <a:cs typeface="Times New Roman" pitchFamily="18" charset="0"/>
              </a:rPr>
              <a:t> = </a:t>
            </a:r>
            <a:r>
              <a:rPr lang="fr-FR" sz="1600" b="1" u="sng">
                <a:latin typeface="Bookman Old Style" panose="02050604050505020204" pitchFamily="18" charset="0"/>
                <a:cs typeface="Times New Roman" pitchFamily="18" charset="0"/>
              </a:rPr>
              <a:t>Z</a:t>
            </a:r>
            <a:r>
              <a:rPr lang="fr-FR" sz="1600">
                <a:latin typeface="Bookman Old Style" panose="02050604050505020204" pitchFamily="18" charset="0"/>
                <a:cs typeface="Times New Roman" pitchFamily="18" charset="0"/>
              </a:rPr>
              <a:t> </a:t>
            </a:r>
            <a:r>
              <a:rPr lang="fr-FR" sz="1600" b="1" u="sng">
                <a:latin typeface="Bookman Old Style" panose="02050604050505020204" pitchFamily="18" charset="0"/>
                <a:cs typeface="Times New Roman" pitchFamily="18" charset="0"/>
              </a:rPr>
              <a:t>I</a:t>
            </a:r>
            <a:r>
              <a:rPr lang="fr-FR" sz="1600">
                <a:latin typeface="Bookman Old Style" panose="02050604050505020204" pitchFamily="18" charset="0"/>
                <a:cs typeface="Times New Roman" pitchFamily="18" charset="0"/>
              </a:rPr>
              <a:t> </a:t>
            </a:r>
            <a:endParaRPr lang="fr-FR" sz="1600" dirty="0">
              <a:latin typeface="Bookman Old Style" panose="020506040505050202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B5A1C2-F3E0-1CB3-D439-0780A0366D48}"/>
              </a:ext>
            </a:extLst>
          </p:cNvPr>
          <p:cNvSpPr txBox="1"/>
          <p:nvPr/>
        </p:nvSpPr>
        <p:spPr>
          <a:xfrm>
            <a:off x="762000" y="2520056"/>
            <a:ext cx="71412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400"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r>
              <a:rPr lang="fr-FR" sz="1600" dirty="0"/>
              <a:t>Comme la </a:t>
            </a:r>
            <a:r>
              <a:rPr lang="fr-FR" sz="1600" b="1" dirty="0"/>
              <a:t>loi d’Ohm </a:t>
            </a:r>
            <a:r>
              <a:rPr lang="fr-FR" sz="1600" dirty="0"/>
              <a:t>reste valable dans la représentation complexe d’un circuit, </a:t>
            </a:r>
            <a:r>
              <a:rPr lang="fr-FR" sz="1600" b="1" dirty="0"/>
              <a:t>toutes les lois d’électricité utilisées en régime continu </a:t>
            </a:r>
            <a:r>
              <a:rPr lang="fr-FR" sz="1600" dirty="0"/>
              <a:t>restent valables dans ce modèle.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466F30-B293-CAA3-5D1E-8FD88AB419BD}"/>
              </a:ext>
            </a:extLst>
          </p:cNvPr>
          <p:cNvSpPr txBox="1"/>
          <p:nvPr/>
        </p:nvSpPr>
        <p:spPr>
          <a:xfrm>
            <a:off x="761445" y="3551290"/>
            <a:ext cx="78442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400"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r>
              <a:rPr lang="fr-FR" sz="1600" dirty="0"/>
              <a:t>Les </a:t>
            </a:r>
            <a:r>
              <a:rPr lang="fr-FR" sz="1600" b="1" dirty="0"/>
              <a:t>lois de Kirchhoff </a:t>
            </a:r>
            <a:r>
              <a:rPr lang="fr-FR" sz="1600" dirty="0"/>
              <a:t>s’expriment de manière suivante: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BB1DBC6-A34A-C03A-BB03-7FE08C8E900E}"/>
                  </a:ext>
                </a:extLst>
              </p:cNvPr>
              <p:cNvSpPr txBox="1"/>
              <p:nvPr/>
            </p:nvSpPr>
            <p:spPr>
              <a:xfrm>
                <a:off x="2734006" y="4151638"/>
                <a:ext cx="905184" cy="7182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ba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nary>
                    </m:oMath>
                  </m:oMathPara>
                </a14:m>
                <a:endParaRPr lang="fr-FR" sz="16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BB1DBC6-A34A-C03A-BB03-7FE08C8E9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006" y="4151638"/>
                <a:ext cx="905184" cy="7182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AD84C48-D4B2-211F-3DC6-EEBAC4EFD518}"/>
                  </a:ext>
                </a:extLst>
              </p:cNvPr>
              <p:cNvSpPr txBox="1"/>
              <p:nvPr/>
            </p:nvSpPr>
            <p:spPr>
              <a:xfrm>
                <a:off x="5915277" y="4098272"/>
                <a:ext cx="939616" cy="7182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ba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nary>
                    </m:oMath>
                  </m:oMathPara>
                </a14:m>
                <a:endParaRPr lang="fr-FR" sz="16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AD84C48-D4B2-211F-3DC6-EEBAC4EFD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277" y="4098272"/>
                <a:ext cx="939616" cy="7182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9658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83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447049" y="453154"/>
            <a:ext cx="53352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4.5 </a:t>
            </a:r>
            <a:r>
              <a:rPr lang="fr-FR" altLang="fr-FR" sz="16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Associations d'Impédances (admittances) </a:t>
            </a:r>
            <a:endParaRPr lang="fr-FR" sz="1600" b="1" spc="-5" dirty="0">
              <a:solidFill>
                <a:srgbClr val="0070C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08068-BFBF-EF91-FF51-EA689DE57FFE}"/>
              </a:ext>
            </a:extLst>
          </p:cNvPr>
          <p:cNvSpPr txBox="1"/>
          <p:nvPr/>
        </p:nvSpPr>
        <p:spPr>
          <a:xfrm>
            <a:off x="761575" y="1589076"/>
            <a:ext cx="71632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400"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r>
              <a:rPr lang="fr-FR" sz="1600" dirty="0"/>
              <a:t>L’impédance d’un dipôle constitué de plusieurs impédances en série est égale à la somme (complexe) de celles-ci: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74C04C-1AF1-DBF9-5C6E-78FF4426FC84}"/>
              </a:ext>
            </a:extLst>
          </p:cNvPr>
          <p:cNvSpPr txBox="1"/>
          <p:nvPr/>
        </p:nvSpPr>
        <p:spPr>
          <a:xfrm>
            <a:off x="320229" y="959398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algn="just">
              <a:spcBef>
                <a:spcPct val="0"/>
              </a:spcBef>
            </a:pPr>
            <a:r>
              <a:rPr lang="fr-FR" altLang="fr-FR" sz="1600" b="1" u="sng" dirty="0">
                <a:solidFill>
                  <a:srgbClr val="0000FF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En série</a:t>
            </a:r>
          </a:p>
        </p:txBody>
      </p:sp>
      <p:graphicFrame>
        <p:nvGraphicFramePr>
          <p:cNvPr id="16" name="Objet 4">
            <a:extLst>
              <a:ext uri="{FF2B5EF4-FFF2-40B4-BE49-F238E27FC236}">
                <a16:creationId xmlns:a16="http://schemas.microsoft.com/office/drawing/2014/main" id="{F8170160-D040-49CC-E873-4C69806E03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039840"/>
              </p:ext>
            </p:extLst>
          </p:nvPr>
        </p:nvGraphicFramePr>
        <p:xfrm>
          <a:off x="3760544" y="2259360"/>
          <a:ext cx="1113301" cy="509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8" name="Équation" r:id="rId4" imgW="749160" imgH="342720" progId="Equation.3">
                  <p:embed/>
                </p:oleObj>
              </mc:Choice>
              <mc:Fallback>
                <p:oleObj name="Équation" r:id="rId4" imgW="749160" imgH="342720" progId="Equation.3">
                  <p:embed/>
                  <p:pic>
                    <p:nvPicPr>
                      <p:cNvPr id="16" name="Objet 4">
                        <a:extLst>
                          <a:ext uri="{FF2B5EF4-FFF2-40B4-BE49-F238E27FC236}">
                            <a16:creationId xmlns:a16="http://schemas.microsoft.com/office/drawing/2014/main" id="{F8170160-D040-49CC-E873-4C69806E03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0544" y="2259360"/>
                        <a:ext cx="1113301" cy="5094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3702D0E0-901B-610B-9A6C-C8EA7EA96CB3}"/>
              </a:ext>
            </a:extLst>
          </p:cNvPr>
          <p:cNvSpPr txBox="1"/>
          <p:nvPr/>
        </p:nvSpPr>
        <p:spPr>
          <a:xfrm>
            <a:off x="761575" y="2926534"/>
            <a:ext cx="81121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400"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r>
              <a:rPr lang="fr-FR" sz="1600" dirty="0"/>
              <a:t>L’admittance étant égale à l’inverse de l’impédance :</a:t>
            </a:r>
          </a:p>
        </p:txBody>
      </p:sp>
      <p:grpSp>
        <p:nvGrpSpPr>
          <p:cNvPr id="23" name="Groupe 5">
            <a:extLst>
              <a:ext uri="{FF2B5EF4-FFF2-40B4-BE49-F238E27FC236}">
                <a16:creationId xmlns:a16="http://schemas.microsoft.com/office/drawing/2014/main" id="{972F2D45-9147-C8B1-A2DC-BD4E73E5AF05}"/>
              </a:ext>
            </a:extLst>
          </p:cNvPr>
          <p:cNvGrpSpPr/>
          <p:nvPr/>
        </p:nvGrpSpPr>
        <p:grpSpPr>
          <a:xfrm>
            <a:off x="1828800" y="3360008"/>
            <a:ext cx="6228032" cy="642942"/>
            <a:chOff x="1643042" y="3929066"/>
            <a:chExt cx="6228032" cy="642942"/>
          </a:xfrm>
        </p:grpSpPr>
        <p:cxnSp>
          <p:nvCxnSpPr>
            <p:cNvPr id="25" name="Connecteur droit 7">
              <a:extLst>
                <a:ext uri="{FF2B5EF4-FFF2-40B4-BE49-F238E27FC236}">
                  <a16:creationId xmlns:a16="http://schemas.microsoft.com/office/drawing/2014/main" id="{0372D95A-EE42-EC3A-9E16-A99EE67B139B}"/>
                </a:ext>
              </a:extLst>
            </p:cNvPr>
            <p:cNvCxnSpPr/>
            <p:nvPr/>
          </p:nvCxnSpPr>
          <p:spPr>
            <a:xfrm>
              <a:off x="1643042" y="4429132"/>
              <a:ext cx="24480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A764743-9709-61E1-E385-06999E74BAEF}"/>
                </a:ext>
              </a:extLst>
            </p:cNvPr>
            <p:cNvSpPr/>
            <p:nvPr/>
          </p:nvSpPr>
          <p:spPr>
            <a:xfrm>
              <a:off x="2357422" y="4357694"/>
              <a:ext cx="571504" cy="2143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44ABEA5-B874-1448-CE95-3BBBFAB1DF83}"/>
                </a:ext>
              </a:extLst>
            </p:cNvPr>
            <p:cNvSpPr/>
            <p:nvPr/>
          </p:nvSpPr>
          <p:spPr>
            <a:xfrm>
              <a:off x="3286116" y="4357694"/>
              <a:ext cx="571504" cy="2143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BC87A69-EE0A-F4CA-EA40-83680E11A228}"/>
                </a:ext>
              </a:extLst>
            </p:cNvPr>
            <p:cNvSpPr/>
            <p:nvPr/>
          </p:nvSpPr>
          <p:spPr>
            <a:xfrm>
              <a:off x="6572264" y="4357694"/>
              <a:ext cx="571504" cy="2143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/>
            </a:p>
          </p:txBody>
        </p:sp>
        <p:cxnSp>
          <p:nvCxnSpPr>
            <p:cNvPr id="31" name="Connecteur droit 11">
              <a:extLst>
                <a:ext uri="{FF2B5EF4-FFF2-40B4-BE49-F238E27FC236}">
                  <a16:creationId xmlns:a16="http://schemas.microsoft.com/office/drawing/2014/main" id="{45366B14-5B62-0B57-17EA-118B22592849}"/>
                </a:ext>
              </a:extLst>
            </p:cNvPr>
            <p:cNvCxnSpPr/>
            <p:nvPr/>
          </p:nvCxnSpPr>
          <p:spPr>
            <a:xfrm>
              <a:off x="6215074" y="4429132"/>
              <a:ext cx="16560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12">
              <a:extLst>
                <a:ext uri="{FF2B5EF4-FFF2-40B4-BE49-F238E27FC236}">
                  <a16:creationId xmlns:a16="http://schemas.microsoft.com/office/drawing/2014/main" id="{4107238A-6AC2-B86A-6626-0264C41D31C8}"/>
                </a:ext>
              </a:extLst>
            </p:cNvPr>
            <p:cNvCxnSpPr/>
            <p:nvPr/>
          </p:nvCxnSpPr>
          <p:spPr>
            <a:xfrm>
              <a:off x="4071934" y="4429132"/>
              <a:ext cx="2448000" cy="158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ZoneTexte 13">
              <a:extLst>
                <a:ext uri="{FF2B5EF4-FFF2-40B4-BE49-F238E27FC236}">
                  <a16:creationId xmlns:a16="http://schemas.microsoft.com/office/drawing/2014/main" id="{5735CDA6-78CF-E021-8AA2-511C9D6EC49E}"/>
                </a:ext>
              </a:extLst>
            </p:cNvPr>
            <p:cNvSpPr txBox="1"/>
            <p:nvPr/>
          </p:nvSpPr>
          <p:spPr>
            <a:xfrm>
              <a:off x="2428860" y="3929066"/>
              <a:ext cx="3674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i="1" u="sng" dirty="0">
                  <a:latin typeface="Times New Roman" pitchFamily="18" charset="0"/>
                  <a:cs typeface="Times New Roman" pitchFamily="18" charset="0"/>
                </a:rPr>
                <a:t>Z</a:t>
              </a:r>
              <a:r>
                <a:rPr lang="fr-FR" sz="16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fr-FR" sz="1600" i="1" u="sng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ZoneTexte 14">
              <a:extLst>
                <a:ext uri="{FF2B5EF4-FFF2-40B4-BE49-F238E27FC236}">
                  <a16:creationId xmlns:a16="http://schemas.microsoft.com/office/drawing/2014/main" id="{F3CE0E9C-6F11-8601-DE35-1968E6C2DF0B}"/>
                </a:ext>
              </a:extLst>
            </p:cNvPr>
            <p:cNvSpPr txBox="1"/>
            <p:nvPr/>
          </p:nvSpPr>
          <p:spPr>
            <a:xfrm>
              <a:off x="3357554" y="3929066"/>
              <a:ext cx="3674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i="1" u="sng" dirty="0">
                  <a:latin typeface="Times New Roman" pitchFamily="18" charset="0"/>
                  <a:cs typeface="Times New Roman" pitchFamily="18" charset="0"/>
                </a:rPr>
                <a:t>Z</a:t>
              </a:r>
              <a:r>
                <a:rPr lang="fr-FR" sz="16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fr-FR" sz="1600" i="1" u="sng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ZoneTexte 15">
              <a:extLst>
                <a:ext uri="{FF2B5EF4-FFF2-40B4-BE49-F238E27FC236}">
                  <a16:creationId xmlns:a16="http://schemas.microsoft.com/office/drawing/2014/main" id="{2C1CF801-BF97-1261-94AB-DA3773F67988}"/>
                </a:ext>
              </a:extLst>
            </p:cNvPr>
            <p:cNvSpPr txBox="1"/>
            <p:nvPr/>
          </p:nvSpPr>
          <p:spPr>
            <a:xfrm>
              <a:off x="6643702" y="3929066"/>
              <a:ext cx="3674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i="1" u="sng" dirty="0">
                  <a:latin typeface="Times New Roman" pitchFamily="18" charset="0"/>
                  <a:cs typeface="Times New Roman" pitchFamily="18" charset="0"/>
                </a:rPr>
                <a:t>Z</a:t>
              </a:r>
              <a:r>
                <a:rPr lang="fr-FR" sz="1600" baseline="-25000" dirty="0">
                  <a:latin typeface="Times New Roman" pitchFamily="18" charset="0"/>
                  <a:cs typeface="Times New Roman" pitchFamily="18" charset="0"/>
                </a:rPr>
                <a:t>k</a:t>
              </a:r>
              <a:endParaRPr lang="fr-FR" sz="1600" i="1" u="sng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36" name="Object 3">
            <a:extLst>
              <a:ext uri="{FF2B5EF4-FFF2-40B4-BE49-F238E27FC236}">
                <a16:creationId xmlns:a16="http://schemas.microsoft.com/office/drawing/2014/main" id="{02281D2A-BFEE-D90D-45D5-117B8E6D07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6230567"/>
              </p:ext>
            </p:extLst>
          </p:nvPr>
        </p:nvGraphicFramePr>
        <p:xfrm>
          <a:off x="3755237" y="4229406"/>
          <a:ext cx="1633526" cy="77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9" name="Équation" r:id="rId6" imgW="1117440" imgH="533160" progId="Equation.3">
                  <p:embed/>
                </p:oleObj>
              </mc:Choice>
              <mc:Fallback>
                <p:oleObj name="Équation" r:id="rId6" imgW="1117440" imgH="533160" progId="Equation.3">
                  <p:embed/>
                  <p:pic>
                    <p:nvPicPr>
                      <p:cNvPr id="36" name="Object 3">
                        <a:extLst>
                          <a:ext uri="{FF2B5EF4-FFF2-40B4-BE49-F238E27FC236}">
                            <a16:creationId xmlns:a16="http://schemas.microsoft.com/office/drawing/2014/main" id="{02281D2A-BFEE-D90D-45D5-117B8E6D07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5237" y="4229406"/>
                        <a:ext cx="1633526" cy="7796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53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84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74C04C-1AF1-DBF9-5C6E-78FF4426FC84}"/>
              </a:ext>
            </a:extLst>
          </p:cNvPr>
          <p:cNvSpPr txBox="1"/>
          <p:nvPr/>
        </p:nvSpPr>
        <p:spPr>
          <a:xfrm>
            <a:off x="58612" y="527441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algn="just">
              <a:spcBef>
                <a:spcPct val="0"/>
              </a:spcBef>
            </a:pPr>
            <a:r>
              <a:rPr lang="fr-FR" altLang="fr-FR" sz="1600" b="1" u="sng" dirty="0">
                <a:solidFill>
                  <a:srgbClr val="0000FF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En parallèle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8D0778-C204-0E05-081A-371B21538398}"/>
              </a:ext>
            </a:extLst>
          </p:cNvPr>
          <p:cNvSpPr txBox="1"/>
          <p:nvPr/>
        </p:nvSpPr>
        <p:spPr>
          <a:xfrm>
            <a:off x="533401" y="1088344"/>
            <a:ext cx="6934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400"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r>
              <a:rPr lang="fr-FR" sz="1600" dirty="0"/>
              <a:t>L’admittance d’un dipôle constitué de plusieurs admittances en parallèle est égales à la somme (complexe) de celle-ci:</a:t>
            </a:r>
          </a:p>
        </p:txBody>
      </p:sp>
      <p:graphicFrame>
        <p:nvGraphicFramePr>
          <p:cNvPr id="13" name="Object 2">
            <a:extLst>
              <a:ext uri="{FF2B5EF4-FFF2-40B4-BE49-F238E27FC236}">
                <a16:creationId xmlns:a16="http://schemas.microsoft.com/office/drawing/2014/main" id="{15028FF8-1B63-B17D-55E1-4C2C90C7A3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640459"/>
              </p:ext>
            </p:extLst>
          </p:nvPr>
        </p:nvGraphicFramePr>
        <p:xfrm>
          <a:off x="3657601" y="1908316"/>
          <a:ext cx="950192" cy="434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2" name="Équation" r:id="rId4" imgW="749160" imgH="342720" progId="Equation.3">
                  <p:embed/>
                </p:oleObj>
              </mc:Choice>
              <mc:Fallback>
                <p:oleObj name="Équation" r:id="rId4" imgW="749160" imgH="342720" progId="Equation.3">
                  <p:embed/>
                  <p:pic>
                    <p:nvPicPr>
                      <p:cNvPr id="13" name="Object 2">
                        <a:extLst>
                          <a:ext uri="{FF2B5EF4-FFF2-40B4-BE49-F238E27FC236}">
                            <a16:creationId xmlns:a16="http://schemas.microsoft.com/office/drawing/2014/main" id="{15028FF8-1B63-B17D-55E1-4C2C90C7A3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1" y="1908316"/>
                        <a:ext cx="950192" cy="4348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79A34DA-5B15-8B37-B6FC-16319ABA5376}"/>
              </a:ext>
            </a:extLst>
          </p:cNvPr>
          <p:cNvSpPr txBox="1"/>
          <p:nvPr/>
        </p:nvSpPr>
        <p:spPr>
          <a:xfrm>
            <a:off x="533401" y="2731166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400"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r>
              <a:rPr lang="fr-FR" sz="1600" dirty="0"/>
              <a:t>L’impédance correspondante vaut:</a:t>
            </a:r>
          </a:p>
        </p:txBody>
      </p:sp>
      <p:graphicFrame>
        <p:nvGraphicFramePr>
          <p:cNvPr id="22" name="Object 3">
            <a:extLst>
              <a:ext uri="{FF2B5EF4-FFF2-40B4-BE49-F238E27FC236}">
                <a16:creationId xmlns:a16="http://schemas.microsoft.com/office/drawing/2014/main" id="{8FC28D45-AD85-6256-7672-CA31430D95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711434"/>
              </p:ext>
            </p:extLst>
          </p:nvPr>
        </p:nvGraphicFramePr>
        <p:xfrm>
          <a:off x="2917563" y="3462436"/>
          <a:ext cx="1402665" cy="669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3" name="Équation" r:id="rId6" imgW="1117440" imgH="533160" progId="Equation.3">
                  <p:embed/>
                </p:oleObj>
              </mc:Choice>
              <mc:Fallback>
                <p:oleObj name="Équation" r:id="rId6" imgW="1117440" imgH="533160" progId="Equation.3">
                  <p:embed/>
                  <p:pic>
                    <p:nvPicPr>
                      <p:cNvPr id="22" name="Object 3">
                        <a:extLst>
                          <a:ext uri="{FF2B5EF4-FFF2-40B4-BE49-F238E27FC236}">
                            <a16:creationId xmlns:a16="http://schemas.microsoft.com/office/drawing/2014/main" id="{8FC28D45-AD85-6256-7672-CA31430D95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563" y="3462436"/>
                        <a:ext cx="1402665" cy="6694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" name="Connecteur droit 7">
            <a:extLst>
              <a:ext uri="{FF2B5EF4-FFF2-40B4-BE49-F238E27FC236}">
                <a16:creationId xmlns:a16="http://schemas.microsoft.com/office/drawing/2014/main" id="{0B1DE5EF-A581-6A1B-7791-69FB77D96E27}"/>
              </a:ext>
            </a:extLst>
          </p:cNvPr>
          <p:cNvCxnSpPr/>
          <p:nvPr/>
        </p:nvCxnSpPr>
        <p:spPr>
          <a:xfrm rot="5400000">
            <a:off x="4997300" y="3930050"/>
            <a:ext cx="207170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8">
            <a:extLst>
              <a:ext uri="{FF2B5EF4-FFF2-40B4-BE49-F238E27FC236}">
                <a16:creationId xmlns:a16="http://schemas.microsoft.com/office/drawing/2014/main" id="{B962BE3A-D1A1-3D4C-6AD2-7DA98C69E6DE}"/>
              </a:ext>
            </a:extLst>
          </p:cNvPr>
          <p:cNvCxnSpPr/>
          <p:nvPr/>
        </p:nvCxnSpPr>
        <p:spPr>
          <a:xfrm rot="5400000">
            <a:off x="5496572" y="3930050"/>
            <a:ext cx="207170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9">
            <a:extLst>
              <a:ext uri="{FF2B5EF4-FFF2-40B4-BE49-F238E27FC236}">
                <a16:creationId xmlns:a16="http://schemas.microsoft.com/office/drawing/2014/main" id="{4B3ABF86-DB26-B5EF-B69F-DCAFC7330491}"/>
              </a:ext>
            </a:extLst>
          </p:cNvPr>
          <p:cNvCxnSpPr/>
          <p:nvPr/>
        </p:nvCxnSpPr>
        <p:spPr>
          <a:xfrm rot="5400000">
            <a:off x="6711017" y="3930050"/>
            <a:ext cx="207170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1ECAFFB-1C6A-03E2-7667-9C6D90E2A8AC}"/>
              </a:ext>
            </a:extLst>
          </p:cNvPr>
          <p:cNvSpPr/>
          <p:nvPr/>
        </p:nvSpPr>
        <p:spPr>
          <a:xfrm>
            <a:off x="5961713" y="3537935"/>
            <a:ext cx="142876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4F318F-65E8-62E6-A8ED-2585267314BD}"/>
              </a:ext>
            </a:extLst>
          </p:cNvPr>
          <p:cNvSpPr/>
          <p:nvPr/>
        </p:nvSpPr>
        <p:spPr>
          <a:xfrm>
            <a:off x="6461779" y="3537935"/>
            <a:ext cx="142876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B8F64BB-D001-02C4-C80E-E3B784CD8708}"/>
              </a:ext>
            </a:extLst>
          </p:cNvPr>
          <p:cNvSpPr/>
          <p:nvPr/>
        </p:nvSpPr>
        <p:spPr>
          <a:xfrm>
            <a:off x="7676225" y="3537935"/>
            <a:ext cx="142876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cxnSp>
        <p:nvCxnSpPr>
          <p:cNvPr id="40" name="Connecteur droit 14">
            <a:extLst>
              <a:ext uri="{FF2B5EF4-FFF2-40B4-BE49-F238E27FC236}">
                <a16:creationId xmlns:a16="http://schemas.microsoft.com/office/drawing/2014/main" id="{CD5BB667-A4C7-EA90-E13D-532269ABDF07}"/>
              </a:ext>
            </a:extLst>
          </p:cNvPr>
          <p:cNvCxnSpPr/>
          <p:nvPr/>
        </p:nvCxnSpPr>
        <p:spPr>
          <a:xfrm>
            <a:off x="6033151" y="2893405"/>
            <a:ext cx="71438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15">
            <a:extLst>
              <a:ext uri="{FF2B5EF4-FFF2-40B4-BE49-F238E27FC236}">
                <a16:creationId xmlns:a16="http://schemas.microsoft.com/office/drawing/2014/main" id="{F826AB41-EFC6-234D-F189-121508CE9C3E}"/>
              </a:ext>
            </a:extLst>
          </p:cNvPr>
          <p:cNvCxnSpPr/>
          <p:nvPr/>
        </p:nvCxnSpPr>
        <p:spPr>
          <a:xfrm>
            <a:off x="6033151" y="4965107"/>
            <a:ext cx="71438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16">
            <a:extLst>
              <a:ext uri="{FF2B5EF4-FFF2-40B4-BE49-F238E27FC236}">
                <a16:creationId xmlns:a16="http://schemas.microsoft.com/office/drawing/2014/main" id="{E74FC0A6-04BC-14A2-720F-904D64885793}"/>
              </a:ext>
            </a:extLst>
          </p:cNvPr>
          <p:cNvCxnSpPr/>
          <p:nvPr/>
        </p:nvCxnSpPr>
        <p:spPr>
          <a:xfrm>
            <a:off x="7676225" y="2894993"/>
            <a:ext cx="71438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17">
            <a:extLst>
              <a:ext uri="{FF2B5EF4-FFF2-40B4-BE49-F238E27FC236}">
                <a16:creationId xmlns:a16="http://schemas.microsoft.com/office/drawing/2014/main" id="{27F565DB-485E-B798-18D5-80F34ACB6751}"/>
              </a:ext>
            </a:extLst>
          </p:cNvPr>
          <p:cNvCxnSpPr/>
          <p:nvPr/>
        </p:nvCxnSpPr>
        <p:spPr>
          <a:xfrm>
            <a:off x="7747663" y="4966695"/>
            <a:ext cx="71438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18">
            <a:extLst>
              <a:ext uri="{FF2B5EF4-FFF2-40B4-BE49-F238E27FC236}">
                <a16:creationId xmlns:a16="http://schemas.microsoft.com/office/drawing/2014/main" id="{FB096C2A-F96B-771B-4F43-6C6452D4C85A}"/>
              </a:ext>
            </a:extLst>
          </p:cNvPr>
          <p:cNvCxnSpPr/>
          <p:nvPr/>
        </p:nvCxnSpPr>
        <p:spPr>
          <a:xfrm>
            <a:off x="6818969" y="2894993"/>
            <a:ext cx="714380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19">
            <a:extLst>
              <a:ext uri="{FF2B5EF4-FFF2-40B4-BE49-F238E27FC236}">
                <a16:creationId xmlns:a16="http://schemas.microsoft.com/office/drawing/2014/main" id="{BDC7E586-6BE6-EEEF-9B9F-8751514222D6}"/>
              </a:ext>
            </a:extLst>
          </p:cNvPr>
          <p:cNvCxnSpPr/>
          <p:nvPr/>
        </p:nvCxnSpPr>
        <p:spPr>
          <a:xfrm>
            <a:off x="6890407" y="4965107"/>
            <a:ext cx="714380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ZoneTexte 20">
            <a:extLst>
              <a:ext uri="{FF2B5EF4-FFF2-40B4-BE49-F238E27FC236}">
                <a16:creationId xmlns:a16="http://schemas.microsoft.com/office/drawing/2014/main" id="{B8850579-306F-0B9A-E13B-868BBFDC8017}"/>
              </a:ext>
            </a:extLst>
          </p:cNvPr>
          <p:cNvSpPr txBox="1"/>
          <p:nvPr/>
        </p:nvSpPr>
        <p:spPr>
          <a:xfrm>
            <a:off x="5533085" y="3823687"/>
            <a:ext cx="367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 u="sng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fr-FR" sz="16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fr-FR" sz="1600" i="1" u="sng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ZoneTexte 21">
            <a:extLst>
              <a:ext uri="{FF2B5EF4-FFF2-40B4-BE49-F238E27FC236}">
                <a16:creationId xmlns:a16="http://schemas.microsoft.com/office/drawing/2014/main" id="{BF1465A2-7732-CAD7-AED5-4E183B57F212}"/>
              </a:ext>
            </a:extLst>
          </p:cNvPr>
          <p:cNvSpPr txBox="1"/>
          <p:nvPr/>
        </p:nvSpPr>
        <p:spPr>
          <a:xfrm>
            <a:off x="6143367" y="3823687"/>
            <a:ext cx="367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 u="sng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fr-FR" sz="16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fr-FR" sz="1600" i="1" u="sng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ZoneTexte 22">
            <a:extLst>
              <a:ext uri="{FF2B5EF4-FFF2-40B4-BE49-F238E27FC236}">
                <a16:creationId xmlns:a16="http://schemas.microsoft.com/office/drawing/2014/main" id="{8CFEF6D8-BB8C-A696-8A58-85824943F4C9}"/>
              </a:ext>
            </a:extLst>
          </p:cNvPr>
          <p:cNvSpPr txBox="1"/>
          <p:nvPr/>
        </p:nvSpPr>
        <p:spPr>
          <a:xfrm>
            <a:off x="7319035" y="3895125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 u="sng" dirty="0" err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fr-FR" sz="1600" i="1" u="sng" baseline="-25000" dirty="0" err="1">
                <a:latin typeface="Times New Roman" pitchFamily="18" charset="0"/>
                <a:cs typeface="Times New Roman" pitchFamily="18" charset="0"/>
              </a:rPr>
              <a:t>k</a:t>
            </a:r>
            <a:endParaRPr lang="fr-FR" sz="1600" i="1" u="sng" baseline="-25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006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85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3993" y="393521"/>
            <a:ext cx="4707154" cy="597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</a:t>
            </a:r>
            <a:r>
              <a:rPr lang="fr-FR" altLang="fr-FR" sz="16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Puissance et Energie Electriques</a:t>
            </a:r>
            <a:endParaRPr lang="fr-FR" sz="1600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endParaRPr lang="fr-FR" sz="1600" dirty="0">
              <a:solidFill>
                <a:srgbClr val="CC00CC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762000" y="842169"/>
            <a:ext cx="5335270" cy="59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5.1 Définitions</a:t>
            </a: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endParaRPr lang="fr-FR" sz="1600" b="1" spc="-5" dirty="0">
              <a:solidFill>
                <a:srgbClr val="CC00CC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9C9282-CCCE-DB6E-E532-58A1A0866B4D}"/>
              </a:ext>
            </a:extLst>
          </p:cNvPr>
          <p:cNvSpPr txBox="1"/>
          <p:nvPr/>
        </p:nvSpPr>
        <p:spPr>
          <a:xfrm>
            <a:off x="864993" y="1408991"/>
            <a:ext cx="736460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400"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r>
              <a:rPr lang="fr-FR" sz="1600" dirty="0"/>
              <a:t>La puissance électrique </a:t>
            </a:r>
            <a:r>
              <a:rPr lang="fr-FR" sz="1600" b="1" dirty="0"/>
              <a:t> P </a:t>
            </a:r>
            <a:r>
              <a:rPr lang="fr-FR" sz="1600" dirty="0"/>
              <a:t>d’un dipôle est une grandeur physique qui caractérise la </a:t>
            </a:r>
            <a:r>
              <a:rPr lang="fr-FR" sz="1600" b="1" dirty="0"/>
              <a:t>rapidité du transfert électrique </a:t>
            </a:r>
            <a:r>
              <a:rPr lang="fr-FR" sz="1600" dirty="0"/>
              <a:t>entre ce dipôle et le reste du circuit électrique ou le milieu extérieur.</a:t>
            </a:r>
          </a:p>
          <a:p>
            <a:endParaRPr lang="fr-FR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B47DF8-2E0A-925F-CB64-605AC57935BC}"/>
              </a:ext>
            </a:extLst>
          </p:cNvPr>
          <p:cNvSpPr txBox="1"/>
          <p:nvPr/>
        </p:nvSpPr>
        <p:spPr>
          <a:xfrm>
            <a:off x="864994" y="2800350"/>
            <a:ext cx="73646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400"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r>
              <a:rPr lang="fr-FR" sz="1600" dirty="0"/>
              <a:t>L’instrument de la mesure de la </a:t>
            </a:r>
            <a:r>
              <a:rPr lang="fr-FR" sz="1600" b="1" dirty="0"/>
              <a:t>puissance</a:t>
            </a:r>
            <a:r>
              <a:rPr lang="fr-FR" sz="1600" dirty="0"/>
              <a:t> est le </a:t>
            </a:r>
            <a:r>
              <a:rPr lang="fr-FR" sz="1600" b="1" dirty="0"/>
              <a:t>wattmètre. </a:t>
            </a:r>
            <a:r>
              <a:rPr lang="fr-FR" sz="1600" dirty="0"/>
              <a:t>La puissance s'exprime en </a:t>
            </a:r>
            <a:r>
              <a:rPr lang="fr-FR" sz="1600" b="1" dirty="0"/>
              <a:t>watt</a:t>
            </a:r>
            <a:r>
              <a:rPr lang="fr-FR" sz="1600" dirty="0"/>
              <a:t> (symbole W) </a:t>
            </a:r>
          </a:p>
        </p:txBody>
      </p:sp>
    </p:spTree>
    <p:extLst>
      <p:ext uri="{BB962C8B-B14F-4D97-AF65-F5344CB8AC3E}">
        <p14:creationId xmlns:p14="http://schemas.microsoft.com/office/powerpoint/2010/main" val="962356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86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381000" y="551846"/>
            <a:ext cx="5335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sz="14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5.2 Puissance électrique en courant continu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9C9282-CCCE-DB6E-E532-58A1A0866B4D}"/>
              </a:ext>
            </a:extLst>
          </p:cNvPr>
          <p:cNvSpPr txBox="1"/>
          <p:nvPr/>
        </p:nvSpPr>
        <p:spPr>
          <a:xfrm>
            <a:off x="365761" y="1113875"/>
            <a:ext cx="7711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400"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pPr marL="571500">
              <a:buFont typeface="Wingdings" panose="05000000000000000000" pitchFamily="2" charset="2"/>
              <a:buChar char="Ø"/>
            </a:pPr>
            <a:r>
              <a:rPr lang="fr-FR" sz="1600" dirty="0"/>
              <a:t>Branchons </a:t>
            </a:r>
            <a:r>
              <a:rPr lang="fr-FR" sz="1600" b="1" dirty="0"/>
              <a:t>l'appareil</a:t>
            </a:r>
            <a:r>
              <a:rPr lang="fr-FR" sz="1600" dirty="0"/>
              <a:t> étudié (</a:t>
            </a:r>
            <a:r>
              <a:rPr lang="fr-FR" sz="1600" b="1" dirty="0"/>
              <a:t>lampe</a:t>
            </a:r>
            <a:r>
              <a:rPr lang="fr-FR" sz="1600" dirty="0"/>
              <a:t> 12V - 21W) aux bornes d'un </a:t>
            </a:r>
            <a:r>
              <a:rPr lang="fr-FR" sz="1600" b="1" dirty="0"/>
              <a:t>générateur </a:t>
            </a:r>
            <a:r>
              <a:rPr lang="fr-FR" sz="1600" dirty="0"/>
              <a:t>et réglons la tension à la valeur nominale </a:t>
            </a:r>
            <a:r>
              <a:rPr lang="fr-FR" sz="1600" b="1" dirty="0"/>
              <a:t>U= 12V</a:t>
            </a:r>
            <a:r>
              <a:rPr lang="fr-FR" sz="1600" dirty="0"/>
              <a:t>.</a:t>
            </a:r>
          </a:p>
          <a:p>
            <a:pPr marL="0" indent="0">
              <a:buNone/>
            </a:pPr>
            <a:endParaRPr lang="fr-FR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C40730-D2BB-4BBE-2436-0781ADEE2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1780332"/>
            <a:ext cx="2395566" cy="145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F569B303-9BA9-A0FB-E02E-DA1E00FBF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983105" y="2113254"/>
            <a:ext cx="2093390" cy="975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7A2F0BA-B553-B148-6A06-E8F86C946291}"/>
              </a:ext>
            </a:extLst>
          </p:cNvPr>
          <p:cNvSpPr txBox="1"/>
          <p:nvPr/>
        </p:nvSpPr>
        <p:spPr>
          <a:xfrm>
            <a:off x="381000" y="3388757"/>
            <a:ext cx="78223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571500" indent="-285750" algn="just">
              <a:buFont typeface="Wingdings" panose="05000000000000000000" pitchFamily="2" charset="2"/>
              <a:buChar char="Ø"/>
              <a:defRPr sz="1600"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r>
              <a:rPr lang="fr-FR" dirty="0"/>
              <a:t>Mesurons l'intensité </a:t>
            </a:r>
            <a:r>
              <a:rPr lang="fr-FR" b="1" dirty="0"/>
              <a:t>I </a:t>
            </a:r>
            <a:r>
              <a:rPr lang="fr-FR" dirty="0"/>
              <a:t>qui traverse la lampe : </a:t>
            </a:r>
            <a:r>
              <a:rPr lang="fr-FR" b="1" dirty="0"/>
              <a:t>U = 12V   I = 1,75 A </a:t>
            </a:r>
          </a:p>
          <a:p>
            <a:pPr marL="285750" indent="0">
              <a:buNone/>
            </a:pPr>
            <a:endParaRPr lang="fr-FR" b="1" dirty="0"/>
          </a:p>
          <a:p>
            <a:pPr marL="285750" indent="0">
              <a:buNone/>
            </a:pPr>
            <a:r>
              <a:rPr lang="fr-FR" dirty="0"/>
              <a:t>      </a:t>
            </a:r>
            <a:r>
              <a:rPr lang="fr-FR" b="1" dirty="0"/>
              <a:t>- </a:t>
            </a:r>
            <a:r>
              <a:rPr lang="fr-FR" dirty="0"/>
              <a:t>On admet que : La puissance </a:t>
            </a:r>
            <a:r>
              <a:rPr lang="fr-FR" dirty="0" smtClean="0"/>
              <a:t>P= </a:t>
            </a:r>
            <a:r>
              <a:rPr lang="fr-FR" b="1" dirty="0"/>
              <a:t>U x I = 12V x 1,75 A = 21  V x A </a:t>
            </a:r>
            <a:r>
              <a:rPr lang="fr-FR" dirty="0"/>
              <a:t>consommée par un dipôle récepteur en courant continu est égale au produit de la tension </a:t>
            </a:r>
            <a:r>
              <a:rPr lang="fr-FR" b="1" dirty="0"/>
              <a:t>U</a:t>
            </a:r>
            <a:r>
              <a:rPr lang="fr-FR" dirty="0"/>
              <a:t> à ses bornes par l'intensité </a:t>
            </a:r>
            <a:r>
              <a:rPr lang="fr-FR" b="1" dirty="0"/>
              <a:t>I </a:t>
            </a:r>
            <a:r>
              <a:rPr lang="fr-FR" dirty="0"/>
              <a:t>du courant qui le traverse</a:t>
            </a:r>
          </a:p>
        </p:txBody>
      </p:sp>
    </p:spTree>
    <p:extLst>
      <p:ext uri="{BB962C8B-B14F-4D97-AF65-F5344CB8AC3E}">
        <p14:creationId xmlns:p14="http://schemas.microsoft.com/office/powerpoint/2010/main" val="1920036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87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381000" y="426474"/>
            <a:ext cx="53352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5.3 Puissance instantanée en régime sinusoïdale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85325E-E1E5-E9F6-7A5C-D954339F2B6B}"/>
              </a:ext>
            </a:extLst>
          </p:cNvPr>
          <p:cNvSpPr txBox="1"/>
          <p:nvPr/>
        </p:nvSpPr>
        <p:spPr>
          <a:xfrm>
            <a:off x="692585" y="1065810"/>
            <a:ext cx="76894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400"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r>
              <a:rPr lang="fr-FR" sz="1600" dirty="0"/>
              <a:t>La </a:t>
            </a:r>
            <a:r>
              <a:rPr lang="fr-FR" sz="1600" b="1" dirty="0"/>
              <a:t>valeur instantanée de la puissance p(t) </a:t>
            </a:r>
            <a:r>
              <a:rPr lang="fr-FR" sz="1600" dirty="0"/>
              <a:t>est par définition le produit des valeurs </a:t>
            </a:r>
            <a:r>
              <a:rPr lang="fr-FR" sz="1600" b="1" dirty="0"/>
              <a:t>instantanées</a:t>
            </a:r>
            <a:r>
              <a:rPr lang="fr-FR" sz="1600" dirty="0"/>
              <a:t> la </a:t>
            </a:r>
            <a:r>
              <a:rPr lang="fr-FR" sz="1600" b="1" dirty="0"/>
              <a:t>tension v(t) </a:t>
            </a:r>
            <a:r>
              <a:rPr lang="fr-FR" sz="1600" dirty="0"/>
              <a:t>et du </a:t>
            </a:r>
            <a:r>
              <a:rPr lang="fr-FR" sz="1600" b="1" dirty="0"/>
              <a:t>courant i(t)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98E9B2-EEE9-CE82-E5A2-6DADD85284E5}"/>
              </a:ext>
            </a:extLst>
          </p:cNvPr>
          <p:cNvSpPr txBox="1"/>
          <p:nvPr/>
        </p:nvSpPr>
        <p:spPr>
          <a:xfrm>
            <a:off x="224422" y="2038350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400050" algn="just">
              <a:spcBef>
                <a:spcPct val="0"/>
              </a:spcBef>
              <a:defRPr sz="1600" b="1" u="sng">
                <a:solidFill>
                  <a:srgbClr val="0000FF"/>
                </a:solidFill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Puissance active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61D77A-F75B-EA0F-0DAC-B6E943DC9565}"/>
              </a:ext>
            </a:extLst>
          </p:cNvPr>
          <p:cNvSpPr txBox="1"/>
          <p:nvPr/>
        </p:nvSpPr>
        <p:spPr>
          <a:xfrm>
            <a:off x="762001" y="2571750"/>
            <a:ext cx="762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600" dirty="0">
                <a:latin typeface="Bookman Old Style" panose="02050604050505020204" pitchFamily="18" charset="0"/>
                <a:cs typeface="Times New Roman" pitchFamily="18" charset="0"/>
              </a:rPr>
              <a:t>On appelle </a:t>
            </a:r>
            <a:r>
              <a:rPr lang="fr-FR" sz="1600" b="1" dirty="0">
                <a:latin typeface="Bookman Old Style" panose="02050604050505020204" pitchFamily="18" charset="0"/>
                <a:cs typeface="Times New Roman" pitchFamily="18" charset="0"/>
              </a:rPr>
              <a:t>puissance active </a:t>
            </a:r>
            <a:r>
              <a:rPr lang="fr-FR" sz="1600" b="1" i="1" dirty="0">
                <a:latin typeface="Bookman Old Style" panose="02050604050505020204" pitchFamily="18" charset="0"/>
                <a:cs typeface="Times New Roman" pitchFamily="18" charset="0"/>
              </a:rPr>
              <a:t>P</a:t>
            </a:r>
            <a:r>
              <a:rPr lang="fr-FR" sz="1600" dirty="0">
                <a:latin typeface="Bookman Old Style" panose="02050604050505020204" pitchFamily="18" charset="0"/>
                <a:cs typeface="Times New Roman" pitchFamily="18" charset="0"/>
              </a:rPr>
              <a:t> la valeur </a:t>
            </a:r>
            <a:r>
              <a:rPr lang="fr-FR" sz="1600" b="1" dirty="0">
                <a:latin typeface="Bookman Old Style" panose="02050604050505020204" pitchFamily="18" charset="0"/>
                <a:cs typeface="Times New Roman" pitchFamily="18" charset="0"/>
              </a:rPr>
              <a:t>moyenne de la puissance instantanée</a:t>
            </a:r>
            <a:r>
              <a:rPr lang="fr-FR" sz="1600" dirty="0">
                <a:latin typeface="Bookman Old Style" panose="02050604050505020204" pitchFamily="18" charset="0"/>
                <a:cs typeface="Times New Roman" pitchFamily="18" charset="0"/>
              </a:rPr>
              <a:t>. En régime sinusoïdale, la </a:t>
            </a:r>
            <a:r>
              <a:rPr lang="fr-FR" sz="1600" b="1" dirty="0">
                <a:latin typeface="Bookman Old Style" panose="02050604050505020204" pitchFamily="18" charset="0"/>
                <a:cs typeface="Times New Roman" pitchFamily="18" charset="0"/>
              </a:rPr>
              <a:t>puissance active </a:t>
            </a:r>
            <a:r>
              <a:rPr lang="fr-FR" sz="1600" dirty="0">
                <a:latin typeface="Bookman Old Style" panose="02050604050505020204" pitchFamily="18" charset="0"/>
                <a:cs typeface="Times New Roman" pitchFamily="18" charset="0"/>
              </a:rPr>
              <a:t>vaut:</a:t>
            </a:r>
          </a:p>
        </p:txBody>
      </p:sp>
      <p:graphicFrame>
        <p:nvGraphicFramePr>
          <p:cNvPr id="23" name="Object 2">
            <a:extLst>
              <a:ext uri="{FF2B5EF4-FFF2-40B4-BE49-F238E27FC236}">
                <a16:creationId xmlns:a16="http://schemas.microsoft.com/office/drawing/2014/main" id="{4AEE38B3-46A0-CE04-1A3C-0927210E04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430137"/>
              </p:ext>
            </p:extLst>
          </p:nvPr>
        </p:nvGraphicFramePr>
        <p:xfrm>
          <a:off x="3685332" y="3181350"/>
          <a:ext cx="2200584" cy="668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5" name="Équation" r:id="rId4" imgW="1587240" imgH="482400" progId="Equation.3">
                  <p:embed/>
                </p:oleObj>
              </mc:Choice>
              <mc:Fallback>
                <p:oleObj name="Équation" r:id="rId4" imgW="1587240" imgH="482400" progId="Equation.3">
                  <p:embed/>
                  <p:pic>
                    <p:nvPicPr>
                      <p:cNvPr id="23" name="Object 2">
                        <a:extLst>
                          <a:ext uri="{FF2B5EF4-FFF2-40B4-BE49-F238E27FC236}">
                            <a16:creationId xmlns:a16="http://schemas.microsoft.com/office/drawing/2014/main" id="{4AEE38B3-46A0-CE04-1A3C-0927210E04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5332" y="3181350"/>
                        <a:ext cx="2200584" cy="6688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F8E1887-2486-1C51-499A-E601E59C79EC}"/>
              </a:ext>
            </a:extLst>
          </p:cNvPr>
          <p:cNvSpPr txBox="1"/>
          <p:nvPr/>
        </p:nvSpPr>
        <p:spPr>
          <a:xfrm>
            <a:off x="762001" y="3901921"/>
            <a:ext cx="762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indent="0" algn="just">
              <a:buNone/>
              <a:defRPr sz="1400"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/>
              <a:t>Elle est mesurable à l’aide d’un wattmètre.</a:t>
            </a:r>
          </a:p>
          <a:p>
            <a:endParaRPr lang="fr-FR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/>
              <a:t>Elle correspond à une puissance convertie en travail ou en chaleur.</a:t>
            </a:r>
          </a:p>
        </p:txBody>
      </p:sp>
    </p:spTree>
    <p:extLst>
      <p:ext uri="{BB962C8B-B14F-4D97-AF65-F5344CB8AC3E}">
        <p14:creationId xmlns:p14="http://schemas.microsoft.com/office/powerpoint/2010/main" val="1251089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88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98E9B2-EEE9-CE82-E5A2-6DADD85284E5}"/>
              </a:ext>
            </a:extLst>
          </p:cNvPr>
          <p:cNvSpPr txBox="1"/>
          <p:nvPr/>
        </p:nvSpPr>
        <p:spPr>
          <a:xfrm>
            <a:off x="84491" y="553951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400050" algn="just">
              <a:spcBef>
                <a:spcPct val="0"/>
              </a:spcBef>
              <a:defRPr sz="1600" b="1" u="sng">
                <a:solidFill>
                  <a:srgbClr val="0000FF"/>
                </a:solidFill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Puissance réactive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61D77A-F75B-EA0F-0DAC-B6E943DC9565}"/>
              </a:ext>
            </a:extLst>
          </p:cNvPr>
          <p:cNvSpPr txBox="1"/>
          <p:nvPr/>
        </p:nvSpPr>
        <p:spPr>
          <a:xfrm>
            <a:off x="646049" y="1193133"/>
            <a:ext cx="73549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600" dirty="0">
                <a:latin typeface="Bookman Old Style" panose="02050604050505020204" pitchFamily="18" charset="0"/>
                <a:cs typeface="Times New Roman" pitchFamily="18" charset="0"/>
              </a:rPr>
              <a:t>La </a:t>
            </a:r>
            <a:r>
              <a:rPr lang="fr-FR" sz="1600" b="1" dirty="0">
                <a:latin typeface="Bookman Old Style" panose="02050604050505020204" pitchFamily="18" charset="0"/>
                <a:cs typeface="Times New Roman" pitchFamily="18" charset="0"/>
              </a:rPr>
              <a:t>puissance</a:t>
            </a:r>
            <a:r>
              <a:rPr lang="fr-FR" sz="1600" dirty="0">
                <a:latin typeface="Bookman Old Style" panose="02050604050505020204" pitchFamily="18" charset="0"/>
                <a:cs typeface="Times New Roman" pitchFamily="18" charset="0"/>
              </a:rPr>
              <a:t> </a:t>
            </a:r>
            <a:r>
              <a:rPr lang="fr-FR" sz="1600" b="1" dirty="0">
                <a:latin typeface="Bookman Old Style" panose="02050604050505020204" pitchFamily="18" charset="0"/>
                <a:cs typeface="Times New Roman" pitchFamily="18" charset="0"/>
              </a:rPr>
              <a:t>réactive correspond </a:t>
            </a:r>
            <a:r>
              <a:rPr lang="fr-FR" sz="1600" dirty="0">
                <a:latin typeface="Bookman Old Style" panose="02050604050505020204" pitchFamily="18" charset="0"/>
                <a:cs typeface="Times New Roman" pitchFamily="18" charset="0"/>
              </a:rPr>
              <a:t>à une puissance échangée entre la source et les réactances, elle est consommée par une inductance et produite par une capacité.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500889C-0B89-645D-6089-5963B50B00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378291"/>
              </p:ext>
            </p:extLst>
          </p:nvPr>
        </p:nvGraphicFramePr>
        <p:xfrm>
          <a:off x="2939443" y="2289138"/>
          <a:ext cx="1905975" cy="3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8" name="Equation" r:id="rId4" imgW="2158920" imgH="406080" progId="Equation.DSMT4">
                  <p:embed/>
                </p:oleObj>
              </mc:Choice>
              <mc:Fallback>
                <p:oleObj name="Equation" r:id="rId4" imgW="2158920" imgH="4060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500889C-0B89-645D-6089-5963B50B00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9443" y="2289138"/>
                        <a:ext cx="1905975" cy="3588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024FD3B-66E9-56D7-A2C3-7C4D5B8B4EFF}"/>
              </a:ext>
            </a:extLst>
          </p:cNvPr>
          <p:cNvSpPr txBox="1"/>
          <p:nvPr/>
        </p:nvSpPr>
        <p:spPr>
          <a:xfrm>
            <a:off x="84491" y="2912958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400050" algn="just">
              <a:spcBef>
                <a:spcPct val="0"/>
              </a:spcBef>
              <a:defRPr sz="1600" b="1" u="sng">
                <a:solidFill>
                  <a:srgbClr val="0000FF"/>
                </a:solidFill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Puissance apparente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B4FFC2-0D0A-9B12-86B2-E09F71F2FF7E}"/>
              </a:ext>
            </a:extLst>
          </p:cNvPr>
          <p:cNvSpPr txBox="1"/>
          <p:nvPr/>
        </p:nvSpPr>
        <p:spPr>
          <a:xfrm>
            <a:off x="646049" y="3444011"/>
            <a:ext cx="60744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§"/>
              <a:defRPr sz="1400"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r>
              <a:rPr lang="fr-FR" sz="1600" dirty="0"/>
              <a:t>Par définition la puissance apparente est définie par:</a:t>
            </a:r>
          </a:p>
        </p:txBody>
      </p:sp>
      <p:graphicFrame>
        <p:nvGraphicFramePr>
          <p:cNvPr id="17" name="Object 3">
            <a:extLst>
              <a:ext uri="{FF2B5EF4-FFF2-40B4-BE49-F238E27FC236}">
                <a16:creationId xmlns:a16="http://schemas.microsoft.com/office/drawing/2014/main" id="{581230D4-3D93-9805-403D-B75AB8785C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057805"/>
              </p:ext>
            </p:extLst>
          </p:nvPr>
        </p:nvGraphicFramePr>
        <p:xfrm>
          <a:off x="2945539" y="4009748"/>
          <a:ext cx="2074455" cy="45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" name="Equation" r:id="rId6" imgW="2222280" imgH="482400" progId="Equation.DSMT4">
                  <p:embed/>
                </p:oleObj>
              </mc:Choice>
              <mc:Fallback>
                <p:oleObj name="Equation" r:id="rId6" imgW="2222280" imgH="482400" progId="Equation.DSMT4">
                  <p:embed/>
                  <p:pic>
                    <p:nvPicPr>
                      <p:cNvPr id="17" name="Object 3">
                        <a:extLst>
                          <a:ext uri="{FF2B5EF4-FFF2-40B4-BE49-F238E27FC236}">
                            <a16:creationId xmlns:a16="http://schemas.microsoft.com/office/drawing/2014/main" id="{581230D4-3D93-9805-403D-B75AB8785C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5539" y="4009748"/>
                        <a:ext cx="2074455" cy="4512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6289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89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457200" y="479293"/>
            <a:ext cx="53352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5.4 Puissance dans un circuit élémentaire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202F6C-BC75-EA49-BBF2-954B5C4DCBB2}"/>
              </a:ext>
            </a:extLst>
          </p:cNvPr>
          <p:cNvSpPr txBox="1"/>
          <p:nvPr/>
        </p:nvSpPr>
        <p:spPr>
          <a:xfrm>
            <a:off x="550646" y="1316573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400050" algn="just">
              <a:spcBef>
                <a:spcPct val="0"/>
              </a:spcBef>
              <a:defRPr sz="1600" b="1" u="sng">
                <a:solidFill>
                  <a:srgbClr val="0000FF"/>
                </a:solidFill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</a:lstStyle>
          <a:p>
            <a:r>
              <a:rPr lang="fr-FR" dirty="0">
                <a:solidFill>
                  <a:srgbClr val="00B050"/>
                </a:solidFill>
              </a:rPr>
              <a:t>Résistance pure</a:t>
            </a:r>
          </a:p>
        </p:txBody>
      </p:sp>
      <p:graphicFrame>
        <p:nvGraphicFramePr>
          <p:cNvPr id="16" name="Object 2">
            <a:extLst>
              <a:ext uri="{FF2B5EF4-FFF2-40B4-BE49-F238E27FC236}">
                <a16:creationId xmlns:a16="http://schemas.microsoft.com/office/drawing/2014/main" id="{5764AD8D-B378-8A68-F91E-BFF57A893A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718490"/>
              </p:ext>
            </p:extLst>
          </p:nvPr>
        </p:nvGraphicFramePr>
        <p:xfrm>
          <a:off x="1925637" y="1612620"/>
          <a:ext cx="5058329" cy="623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1" name="Équation" r:id="rId4" imgW="3403440" imgH="419040" progId="Equation.3">
                  <p:embed/>
                </p:oleObj>
              </mc:Choice>
              <mc:Fallback>
                <p:oleObj name="Équation" r:id="rId4" imgW="3403440" imgH="419040" progId="Equation.3">
                  <p:embed/>
                  <p:pic>
                    <p:nvPicPr>
                      <p:cNvPr id="16" name="Object 2">
                        <a:extLst>
                          <a:ext uri="{FF2B5EF4-FFF2-40B4-BE49-F238E27FC236}">
                            <a16:creationId xmlns:a16="http://schemas.microsoft.com/office/drawing/2014/main" id="{5764AD8D-B378-8A68-F91E-BFF57A893A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637" y="1612620"/>
                        <a:ext cx="5058329" cy="6233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62141E73-F90D-EC47-819E-3DD3E1BA5AF4}"/>
              </a:ext>
            </a:extLst>
          </p:cNvPr>
          <p:cNvSpPr txBox="1"/>
          <p:nvPr/>
        </p:nvSpPr>
        <p:spPr>
          <a:xfrm>
            <a:off x="600047" y="2236009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400050" algn="just">
              <a:spcBef>
                <a:spcPct val="0"/>
              </a:spcBef>
              <a:defRPr sz="1600" b="1" u="sng">
                <a:solidFill>
                  <a:srgbClr val="0000FF"/>
                </a:solidFill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</a:lstStyle>
          <a:p>
            <a:r>
              <a:rPr lang="fr-FR" dirty="0">
                <a:solidFill>
                  <a:srgbClr val="00B050"/>
                </a:solidFill>
              </a:rPr>
              <a:t>Inductance pure</a:t>
            </a:r>
          </a:p>
        </p:txBody>
      </p:sp>
      <p:graphicFrame>
        <p:nvGraphicFramePr>
          <p:cNvPr id="24" name="Object 3">
            <a:extLst>
              <a:ext uri="{FF2B5EF4-FFF2-40B4-BE49-F238E27FC236}">
                <a16:creationId xmlns:a16="http://schemas.microsoft.com/office/drawing/2014/main" id="{51C60980-FEFE-F005-6CC2-D4CF7D0389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533794"/>
              </p:ext>
            </p:extLst>
          </p:nvPr>
        </p:nvGraphicFramePr>
        <p:xfrm>
          <a:off x="1925637" y="2775778"/>
          <a:ext cx="5916612" cy="366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2" name="Équation" r:id="rId6" imgW="3898800" imgH="241200" progId="Equation.3">
                  <p:embed/>
                </p:oleObj>
              </mc:Choice>
              <mc:Fallback>
                <p:oleObj name="Équation" r:id="rId6" imgW="3898800" imgH="241200" progId="Equation.3">
                  <p:embed/>
                  <p:pic>
                    <p:nvPicPr>
                      <p:cNvPr id="24" name="Object 3">
                        <a:extLst>
                          <a:ext uri="{FF2B5EF4-FFF2-40B4-BE49-F238E27FC236}">
                            <a16:creationId xmlns:a16="http://schemas.microsoft.com/office/drawing/2014/main" id="{51C60980-FEFE-F005-6CC2-D4CF7D0389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637" y="2775778"/>
                        <a:ext cx="5916612" cy="3661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C698E9AD-53E4-0BD5-148A-6078B9034D66}"/>
              </a:ext>
            </a:extLst>
          </p:cNvPr>
          <p:cNvSpPr txBox="1"/>
          <p:nvPr/>
        </p:nvSpPr>
        <p:spPr>
          <a:xfrm>
            <a:off x="623816" y="3241803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400050" algn="just">
              <a:spcBef>
                <a:spcPct val="0"/>
              </a:spcBef>
              <a:defRPr sz="1600" b="1" u="sng">
                <a:solidFill>
                  <a:srgbClr val="0000FF"/>
                </a:solidFill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</a:lstStyle>
          <a:p>
            <a:r>
              <a:rPr lang="fr-FR" dirty="0">
                <a:solidFill>
                  <a:srgbClr val="00B050"/>
                </a:solidFill>
              </a:rPr>
              <a:t>Capacité pure</a:t>
            </a:r>
          </a:p>
        </p:txBody>
      </p:sp>
      <p:graphicFrame>
        <p:nvGraphicFramePr>
          <p:cNvPr id="28" name="Object 4">
            <a:extLst>
              <a:ext uri="{FF2B5EF4-FFF2-40B4-BE49-F238E27FC236}">
                <a16:creationId xmlns:a16="http://schemas.microsoft.com/office/drawing/2014/main" id="{2335B8A4-24E9-AD4A-3459-B84D53DD85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7574141"/>
              </p:ext>
            </p:extLst>
          </p:nvPr>
        </p:nvGraphicFramePr>
        <p:xfrm>
          <a:off x="1928685" y="3809138"/>
          <a:ext cx="6650038" cy="388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3" name="Équation" r:id="rId8" imgW="4127400" imgH="241200" progId="Equation.3">
                  <p:embed/>
                </p:oleObj>
              </mc:Choice>
              <mc:Fallback>
                <p:oleObj name="Équation" r:id="rId8" imgW="4127400" imgH="241200" progId="Equation.3">
                  <p:embed/>
                  <p:pic>
                    <p:nvPicPr>
                      <p:cNvPr id="28" name="Object 4">
                        <a:extLst>
                          <a:ext uri="{FF2B5EF4-FFF2-40B4-BE49-F238E27FC236}">
                            <a16:creationId xmlns:a16="http://schemas.microsoft.com/office/drawing/2014/main" id="{2335B8A4-24E9-AD4A-3459-B84D53DD85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685" y="3809138"/>
                        <a:ext cx="6650038" cy="3887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2092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90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381000" y="508667"/>
            <a:ext cx="53352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5.5 Energie Electrique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E69FB0-0F93-465A-CDCF-92BC98ADA933}"/>
              </a:ext>
            </a:extLst>
          </p:cNvPr>
          <p:cNvSpPr txBox="1"/>
          <p:nvPr/>
        </p:nvSpPr>
        <p:spPr>
          <a:xfrm>
            <a:off x="630817" y="1122444"/>
            <a:ext cx="73701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r>
              <a:rPr lang="fr-FR" sz="1600" dirty="0"/>
              <a:t>Un appareil électrique « </a:t>
            </a:r>
            <a:r>
              <a:rPr lang="fr-FR" sz="1600" b="1" dirty="0"/>
              <a:t>consomme »</a:t>
            </a:r>
            <a:r>
              <a:rPr lang="fr-FR" sz="1600" dirty="0"/>
              <a:t> une </a:t>
            </a:r>
            <a:r>
              <a:rPr lang="fr-FR" sz="1600" b="1" dirty="0"/>
              <a:t>énergie électrique</a:t>
            </a:r>
            <a:r>
              <a:rPr lang="fr-FR" sz="1600" dirty="0"/>
              <a:t>, cette énergie noté</a:t>
            </a:r>
            <a:r>
              <a:rPr lang="fr-FR" sz="1600" b="1" dirty="0"/>
              <a:t> W </a:t>
            </a:r>
            <a:r>
              <a:rPr lang="fr-FR" sz="1600" dirty="0"/>
              <a:t>dépend de la puissance </a:t>
            </a:r>
            <a:r>
              <a:rPr lang="fr-FR" sz="1600" b="1" dirty="0"/>
              <a:t>P</a:t>
            </a:r>
            <a:r>
              <a:rPr lang="fr-FR" sz="1600" dirty="0"/>
              <a:t> de l’appareil et de la durée </a:t>
            </a:r>
            <a:r>
              <a:rPr lang="fr-FR" sz="1600" b="1" dirty="0"/>
              <a:t>∆t</a:t>
            </a:r>
            <a:r>
              <a:rPr lang="fr-FR" sz="1600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C508B7-3FBB-F605-4DDF-27C4DF783EC9}"/>
              </a:ext>
            </a:extLst>
          </p:cNvPr>
          <p:cNvSpPr txBox="1"/>
          <p:nvPr/>
        </p:nvSpPr>
        <p:spPr>
          <a:xfrm>
            <a:off x="630817" y="2152719"/>
            <a:ext cx="73701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r>
              <a:rPr lang="fr-FR" sz="1600" dirty="0"/>
              <a:t> </a:t>
            </a:r>
            <a:r>
              <a:rPr lang="fr-FR" sz="1600" b="1" dirty="0"/>
              <a:t>L’énergie électrique W</a:t>
            </a:r>
            <a:r>
              <a:rPr lang="fr-FR" sz="1600" dirty="0"/>
              <a:t> consommée par un </a:t>
            </a:r>
            <a:r>
              <a:rPr lang="fr-FR" sz="1600" b="1" dirty="0"/>
              <a:t>appareil de puissance</a:t>
            </a:r>
            <a:r>
              <a:rPr lang="fr-FR" sz="1600" dirty="0"/>
              <a:t> </a:t>
            </a:r>
            <a:r>
              <a:rPr lang="fr-FR" sz="1600" b="1" dirty="0"/>
              <a:t>P</a:t>
            </a:r>
            <a:r>
              <a:rPr lang="fr-FR" sz="1600" dirty="0"/>
              <a:t> pendant une durée</a:t>
            </a:r>
            <a:r>
              <a:rPr lang="fr-FR" sz="1600" b="1" dirty="0"/>
              <a:t> ∆t</a:t>
            </a:r>
            <a:r>
              <a:rPr lang="fr-FR" sz="1600" dirty="0"/>
              <a:t> est donnée par la relation: 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031E40E7-9DB0-BFE1-50CA-942CE7AB5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bg2">
                <a:lumMod val="90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3581400" y="3121938"/>
            <a:ext cx="1376806" cy="53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020D5C4-6BB4-9487-6F5B-10FDC73EF513}"/>
              </a:ext>
            </a:extLst>
          </p:cNvPr>
          <p:cNvSpPr txBox="1"/>
          <p:nvPr/>
        </p:nvSpPr>
        <p:spPr>
          <a:xfrm>
            <a:off x="630817" y="4043492"/>
            <a:ext cx="73701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r>
              <a:rPr lang="fr-FR" sz="1600" dirty="0"/>
              <a:t>Si </a:t>
            </a:r>
            <a:r>
              <a:rPr lang="fr-FR" sz="1600" b="1" dirty="0"/>
              <a:t>P</a:t>
            </a:r>
            <a:r>
              <a:rPr lang="fr-FR" sz="1600" dirty="0"/>
              <a:t> est exprimée en </a:t>
            </a:r>
            <a:r>
              <a:rPr lang="fr-FR" sz="1600" b="1" dirty="0"/>
              <a:t>watt</a:t>
            </a:r>
            <a:r>
              <a:rPr lang="fr-FR" sz="1600" dirty="0"/>
              <a:t> (W) et </a:t>
            </a:r>
            <a:r>
              <a:rPr lang="fr-FR" sz="1600" b="1" dirty="0"/>
              <a:t>∆t</a:t>
            </a:r>
            <a:r>
              <a:rPr lang="fr-FR" sz="1600" dirty="0"/>
              <a:t> est exprimée en seconde (s), l’énergie </a:t>
            </a:r>
            <a:r>
              <a:rPr lang="fr-FR" sz="1600" b="1" dirty="0"/>
              <a:t>W</a:t>
            </a:r>
            <a:r>
              <a:rPr lang="fr-FR" sz="1600" dirty="0"/>
              <a:t> est exprimée en joule (</a:t>
            </a:r>
            <a:r>
              <a:rPr lang="fr-FR" sz="1600" b="1" dirty="0"/>
              <a:t>J</a:t>
            </a:r>
            <a:r>
              <a:rPr lang="fr-FR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20539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91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AA1E2-F3B7-B8B9-5366-1482BBD7CB21}"/>
              </a:ext>
            </a:extLst>
          </p:cNvPr>
          <p:cNvSpPr txBox="1"/>
          <p:nvPr/>
        </p:nvSpPr>
        <p:spPr>
          <a:xfrm>
            <a:off x="152400" y="514350"/>
            <a:ext cx="53352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1" algn="just">
              <a:spcBef>
                <a:spcPct val="0"/>
              </a:spcBef>
              <a:tabLst>
                <a:tab pos="393700" algn="l"/>
              </a:tabLst>
            </a:pPr>
            <a:r>
              <a:rPr lang="fr-FR" sz="1600" b="1" u="sng" dirty="0" smtClean="0">
                <a:solidFill>
                  <a:srgbClr val="00B050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Mesure </a:t>
            </a:r>
            <a:r>
              <a:rPr lang="fr-FR" sz="1600" b="1" u="sng" dirty="0">
                <a:solidFill>
                  <a:srgbClr val="00B050"/>
                </a:solidFill>
                <a:latin typeface="Bookman Old Style" panose="02050604050505020204" pitchFamily="18" charset="0"/>
                <a:cs typeface="Browallia New" panose="020B0604020202020204" pitchFamily="34" charset="-34"/>
              </a:rPr>
              <a:t>de l'énergie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E69FB0-0F93-465A-CDCF-92BC98ADA933}"/>
              </a:ext>
            </a:extLst>
          </p:cNvPr>
          <p:cNvSpPr txBox="1"/>
          <p:nvPr/>
        </p:nvSpPr>
        <p:spPr>
          <a:xfrm>
            <a:off x="763429" y="1047750"/>
            <a:ext cx="72375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r>
              <a:rPr lang="fr-FR" sz="1600" dirty="0"/>
              <a:t>A l’entrée de chaque </a:t>
            </a:r>
            <a:r>
              <a:rPr lang="fr-FR" sz="1600" b="1" dirty="0"/>
              <a:t>réseau électrique domestique </a:t>
            </a:r>
            <a:r>
              <a:rPr lang="fr-FR" sz="1600" dirty="0"/>
              <a:t>ou </a:t>
            </a:r>
            <a:r>
              <a:rPr lang="fr-FR" sz="1600" b="1" dirty="0"/>
              <a:t>industriel</a:t>
            </a:r>
            <a:r>
              <a:rPr lang="fr-FR" sz="1600" dirty="0"/>
              <a:t>, on trouve un compteur </a:t>
            </a:r>
            <a:r>
              <a:rPr lang="fr-FR" sz="1600" b="1" dirty="0"/>
              <a:t>d’énergie électrique </a:t>
            </a:r>
            <a:r>
              <a:rPr lang="fr-FR" sz="1600" dirty="0"/>
              <a:t>installé par l’ONEE.</a:t>
            </a:r>
          </a:p>
          <a:p>
            <a:pPr marL="0" indent="0">
              <a:buNone/>
            </a:pPr>
            <a:endParaRPr lang="fr-F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Le rôle de cet appareil est la mesure de l’énergie électrique consommée par le réseau</a:t>
            </a:r>
          </a:p>
          <a:p>
            <a:pPr marL="0" indent="0">
              <a:buNone/>
            </a:pPr>
            <a:endParaRPr lang="fr-F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Ce compteur mesure l’énergie en </a:t>
            </a:r>
            <a:r>
              <a:rPr lang="fr-FR" sz="1600" b="1" dirty="0"/>
              <a:t>Kilowattheure</a:t>
            </a:r>
            <a:r>
              <a:rPr lang="fr-FR" sz="1600" dirty="0"/>
              <a:t> ( kWh)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Le </a:t>
            </a:r>
            <a:r>
              <a:rPr lang="fr-FR" sz="1600" b="1" dirty="0"/>
              <a:t>Kilowattheure </a:t>
            </a:r>
            <a:r>
              <a:rPr lang="fr-FR" sz="1600" dirty="0"/>
              <a:t>( </a:t>
            </a:r>
            <a:r>
              <a:rPr lang="fr-FR" sz="1600" b="1" dirty="0"/>
              <a:t>kWh</a:t>
            </a:r>
            <a:r>
              <a:rPr lang="fr-FR" sz="1600" dirty="0"/>
              <a:t>) est l’unité usuelle de l’énergie électrique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306C3EC4-3742-24F3-9916-54AF1BF94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bg2">
                <a:lumMod val="90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600200" y="3638550"/>
            <a:ext cx="4267200" cy="637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6BFE4F-F9B0-9B41-B16B-7425142C2E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3382744"/>
            <a:ext cx="2454943" cy="133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09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153285</TotalTime>
  <Words>4502</Words>
  <Application>Microsoft Office PowerPoint</Application>
  <PresentationFormat>Affichage à l'écran (16:9)</PresentationFormat>
  <Paragraphs>856</Paragraphs>
  <Slides>91</Slides>
  <Notes>88</Notes>
  <HiddenSlides>0</HiddenSlides>
  <MMClips>0</MMClips>
  <ScaleCrop>false</ScaleCrop>
  <HeadingPairs>
    <vt:vector size="8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91</vt:i4>
      </vt:variant>
    </vt:vector>
  </HeadingPairs>
  <TitlesOfParts>
    <vt:vector size="105" baseType="lpstr">
      <vt:lpstr>Arial</vt:lpstr>
      <vt:lpstr>Arial MT</vt:lpstr>
      <vt:lpstr>Bodoni MT</vt:lpstr>
      <vt:lpstr>Bookman Old Style</vt:lpstr>
      <vt:lpstr>Browallia New</vt:lpstr>
      <vt:lpstr>Calibri</vt:lpstr>
      <vt:lpstr>Cambria Math</vt:lpstr>
      <vt:lpstr>Garamond</vt:lpstr>
      <vt:lpstr>Symbol</vt:lpstr>
      <vt:lpstr>Times New Roman</vt:lpstr>
      <vt:lpstr>Wingdings</vt:lpstr>
      <vt:lpstr>Office Theme</vt:lpstr>
      <vt:lpstr>Equation</vt:lpstr>
      <vt:lpstr>Équation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Electrostatique et électrocinétique</dc:title>
  <dc:creator>hp</dc:creator>
  <cp:lastModifiedBy>DELL</cp:lastModifiedBy>
  <cp:revision>1956</cp:revision>
  <dcterms:created xsi:type="dcterms:W3CDTF">2023-11-13T11:26:33Z</dcterms:created>
  <dcterms:modified xsi:type="dcterms:W3CDTF">2026-10-09T22:46:05Z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2023-02-20T00:00:00Z</vt:filetime>
  </property>
  <property fmtid="{D5CDD505-2E9C-101B-9397-08002B2CF9AE}" pid="3" name="LastSaved">
    <vt:filetime>2023-11-13T00:00:00Z</vt:filetime>
  </property>
</Properties>
</file>