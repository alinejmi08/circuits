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media/image51.jpg" ContentType="image/jpg"/>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9"/>
  </p:notesMasterIdLst>
  <p:sldIdLst>
    <p:sldId id="256" r:id="rId2"/>
    <p:sldId id="470" r:id="rId3"/>
    <p:sldId id="436" r:id="rId4"/>
    <p:sldId id="438" r:id="rId5"/>
    <p:sldId id="439" r:id="rId6"/>
    <p:sldId id="437" r:id="rId7"/>
    <p:sldId id="257" r:id="rId8"/>
    <p:sldId id="260" r:id="rId9"/>
    <p:sldId id="435" r:id="rId10"/>
    <p:sldId id="440" r:id="rId11"/>
    <p:sldId id="441" r:id="rId12"/>
    <p:sldId id="442" r:id="rId13"/>
    <p:sldId id="443" r:id="rId14"/>
    <p:sldId id="444" r:id="rId15"/>
    <p:sldId id="445" r:id="rId16"/>
    <p:sldId id="258" r:id="rId17"/>
    <p:sldId id="446" r:id="rId18"/>
    <p:sldId id="448" r:id="rId19"/>
    <p:sldId id="447" r:id="rId20"/>
    <p:sldId id="434" r:id="rId21"/>
    <p:sldId id="449" r:id="rId22"/>
    <p:sldId id="450" r:id="rId23"/>
    <p:sldId id="451" r:id="rId24"/>
    <p:sldId id="452" r:id="rId25"/>
    <p:sldId id="453" r:id="rId26"/>
    <p:sldId id="454" r:id="rId27"/>
    <p:sldId id="455" r:id="rId28"/>
    <p:sldId id="457" r:id="rId29"/>
    <p:sldId id="458" r:id="rId30"/>
    <p:sldId id="459" r:id="rId31"/>
    <p:sldId id="460" r:id="rId32"/>
    <p:sldId id="461" r:id="rId33"/>
    <p:sldId id="462" r:id="rId34"/>
    <p:sldId id="463" r:id="rId35"/>
    <p:sldId id="464" r:id="rId36"/>
    <p:sldId id="465" r:id="rId37"/>
    <p:sldId id="466" r:id="rId38"/>
    <p:sldId id="467" r:id="rId39"/>
    <p:sldId id="468" r:id="rId40"/>
    <p:sldId id="469" r:id="rId41"/>
    <p:sldId id="473" r:id="rId42"/>
    <p:sldId id="472" r:id="rId43"/>
    <p:sldId id="474" r:id="rId44"/>
    <p:sldId id="475" r:id="rId45"/>
    <p:sldId id="471" r:id="rId46"/>
    <p:sldId id="476" r:id="rId47"/>
    <p:sldId id="477" r:id="rId48"/>
    <p:sldId id="478" r:id="rId49"/>
    <p:sldId id="479" r:id="rId50"/>
    <p:sldId id="480" r:id="rId51"/>
    <p:sldId id="481" r:id="rId52"/>
    <p:sldId id="482" r:id="rId53"/>
    <p:sldId id="483" r:id="rId54"/>
    <p:sldId id="484" r:id="rId55"/>
    <p:sldId id="486" r:id="rId56"/>
    <p:sldId id="487" r:id="rId57"/>
    <p:sldId id="485" r:id="rId58"/>
    <p:sldId id="488" r:id="rId59"/>
    <p:sldId id="515" r:id="rId60"/>
    <p:sldId id="490" r:id="rId61"/>
    <p:sldId id="491" r:id="rId62"/>
    <p:sldId id="492" r:id="rId63"/>
    <p:sldId id="493" r:id="rId64"/>
    <p:sldId id="494" r:id="rId65"/>
    <p:sldId id="495" r:id="rId66"/>
    <p:sldId id="516" r:id="rId67"/>
    <p:sldId id="496" r:id="rId68"/>
    <p:sldId id="497" r:id="rId69"/>
    <p:sldId id="498" r:id="rId70"/>
    <p:sldId id="499" r:id="rId71"/>
    <p:sldId id="500" r:id="rId72"/>
    <p:sldId id="501" r:id="rId73"/>
    <p:sldId id="502" r:id="rId74"/>
    <p:sldId id="503" r:id="rId75"/>
    <p:sldId id="504" r:id="rId76"/>
    <p:sldId id="505" r:id="rId77"/>
    <p:sldId id="506" r:id="rId78"/>
    <p:sldId id="507" r:id="rId79"/>
    <p:sldId id="508" r:id="rId80"/>
    <p:sldId id="509" r:id="rId81"/>
    <p:sldId id="510" r:id="rId82"/>
    <p:sldId id="511" r:id="rId83"/>
    <p:sldId id="512" r:id="rId84"/>
    <p:sldId id="513" r:id="rId85"/>
    <p:sldId id="514" r:id="rId86"/>
    <p:sldId id="489" r:id="rId87"/>
    <p:sldId id="517" r:id="rId88"/>
  </p:sldIdLst>
  <p:sldSz cx="9144000" cy="5143500" type="screen16x9"/>
  <p:notesSz cx="9144000" cy="51435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houssain elhajjami" initials="le" lastIdx="1" clrIdx="0">
    <p:extLst>
      <p:ext uri="{19B8F6BF-5375-455C-9EA6-DF929625EA0E}">
        <p15:presenceInfo xmlns:p15="http://schemas.microsoft.com/office/powerpoint/2012/main" userId="lhoussain elhajjami"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FF00"/>
    <a:srgbClr val="FF9900"/>
    <a:srgbClr val="00FFFF"/>
    <a:srgbClr val="CC00CC"/>
    <a:srgbClr val="00CC99"/>
    <a:srgbClr val="8064A2"/>
    <a:srgbClr val="33CCCC"/>
    <a:srgbClr val="A87DB5"/>
    <a:srgbClr val="BD75B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Style léger 1 - Accentuation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E9639D4-E3E2-4D34-9284-5A2195B3D0D7}" styleName="Style clair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0A15C55-8517-42AA-B614-E9B94910E393}" styleName="Style moyen 2 - Accentuation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74C1A8A3-306A-4EB7-A6B1-4F7E0EB9C5D6}" styleName="Style moyen 3 - Accentuation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56" autoAdjust="0"/>
    <p:restoredTop sz="80751" autoAdjust="0"/>
  </p:normalViewPr>
  <p:slideViewPr>
    <p:cSldViewPr>
      <p:cViewPr varScale="1">
        <p:scale>
          <a:sx n="91" d="100"/>
          <a:sy n="91" d="100"/>
        </p:scale>
        <p:origin x="1229" y="53"/>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commentAuthors" Target="commentAuthor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962400" cy="257175"/>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5180013" y="0"/>
            <a:ext cx="3962400" cy="257175"/>
          </a:xfrm>
          <a:prstGeom prst="rect">
            <a:avLst/>
          </a:prstGeom>
        </p:spPr>
        <p:txBody>
          <a:bodyPr vert="horz" lIns="91440" tIns="45720" rIns="91440" bIns="45720" rtlCol="0"/>
          <a:lstStyle>
            <a:lvl1pPr algn="r">
              <a:defRPr sz="1200"/>
            </a:lvl1pPr>
          </a:lstStyle>
          <a:p>
            <a:fld id="{17455BB1-077F-4953-B445-56E73AFDDD27}" type="datetimeFigureOut">
              <a:rPr lang="fr-FR" smtClean="0"/>
              <a:t>04/12/2024</a:t>
            </a:fld>
            <a:endParaRPr lang="fr-FR"/>
          </a:p>
        </p:txBody>
      </p:sp>
      <p:sp>
        <p:nvSpPr>
          <p:cNvPr id="4" name="Espace réservé de l'image des diapositives 3"/>
          <p:cNvSpPr>
            <a:spLocks noGrp="1" noRot="1" noChangeAspect="1"/>
          </p:cNvSpPr>
          <p:nvPr>
            <p:ph type="sldImg" idx="2"/>
          </p:nvPr>
        </p:nvSpPr>
        <p:spPr>
          <a:xfrm>
            <a:off x="3028950" y="642938"/>
            <a:ext cx="3086100" cy="173672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914400" y="2474913"/>
            <a:ext cx="7315200" cy="202565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4886325"/>
            <a:ext cx="3962400" cy="25717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5180013" y="4886325"/>
            <a:ext cx="3962400" cy="257175"/>
          </a:xfrm>
          <a:prstGeom prst="rect">
            <a:avLst/>
          </a:prstGeom>
        </p:spPr>
        <p:txBody>
          <a:bodyPr vert="horz" lIns="91440" tIns="45720" rIns="91440" bIns="45720" rtlCol="0" anchor="b"/>
          <a:lstStyle>
            <a:lvl1pPr algn="r">
              <a:defRPr sz="1200"/>
            </a:lvl1pPr>
          </a:lstStyle>
          <a:p>
            <a:fld id="{08A7ADD1-564E-426F-A644-664AEAE70886}" type="slidenum">
              <a:rPr lang="fr-FR" smtClean="0"/>
              <a:t>‹#›</a:t>
            </a:fld>
            <a:endParaRPr lang="fr-FR"/>
          </a:p>
        </p:txBody>
      </p:sp>
    </p:spTree>
    <p:extLst>
      <p:ext uri="{BB962C8B-B14F-4D97-AF65-F5344CB8AC3E}">
        <p14:creationId xmlns:p14="http://schemas.microsoft.com/office/powerpoint/2010/main" val="26210932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1</a:t>
            </a:fld>
            <a:endParaRPr lang="fr-FR" dirty="0"/>
          </a:p>
        </p:txBody>
      </p:sp>
    </p:spTree>
    <p:extLst>
      <p:ext uri="{BB962C8B-B14F-4D97-AF65-F5344CB8AC3E}">
        <p14:creationId xmlns:p14="http://schemas.microsoft.com/office/powerpoint/2010/main" val="10795903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2</a:t>
            </a:fld>
            <a:endParaRPr lang="fr-FR"/>
          </a:p>
        </p:txBody>
      </p:sp>
    </p:spTree>
    <p:extLst>
      <p:ext uri="{BB962C8B-B14F-4D97-AF65-F5344CB8AC3E}">
        <p14:creationId xmlns:p14="http://schemas.microsoft.com/office/powerpoint/2010/main" val="17394762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3</a:t>
            </a:fld>
            <a:endParaRPr lang="fr-FR"/>
          </a:p>
        </p:txBody>
      </p:sp>
    </p:spTree>
    <p:extLst>
      <p:ext uri="{BB962C8B-B14F-4D97-AF65-F5344CB8AC3E}">
        <p14:creationId xmlns:p14="http://schemas.microsoft.com/office/powerpoint/2010/main" val="28799398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Dans courant Electrique on parle sur AC DC</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latin typeface="Bookman Old Style" panose="02050604050505020204" pitchFamily="18" charset="0"/>
              </a:rPr>
              <a:t>Circuits électriques</a:t>
            </a:r>
          </a:p>
          <a:p>
            <a:r>
              <a:rPr lang="fr-FR" dirty="0"/>
              <a:t>(ex : systèmes d'alimentation domestique).</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4</a:t>
            </a:fld>
            <a:endParaRPr lang="fr-FR"/>
          </a:p>
        </p:txBody>
      </p:sp>
    </p:spTree>
    <p:extLst>
      <p:ext uri="{BB962C8B-B14F-4D97-AF65-F5344CB8AC3E}">
        <p14:creationId xmlns:p14="http://schemas.microsoft.com/office/powerpoint/2010/main" val="19915396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5</a:t>
            </a:fld>
            <a:endParaRPr lang="fr-FR"/>
          </a:p>
        </p:txBody>
      </p:sp>
    </p:spTree>
    <p:extLst>
      <p:ext uri="{BB962C8B-B14F-4D97-AF65-F5344CB8AC3E}">
        <p14:creationId xmlns:p14="http://schemas.microsoft.com/office/powerpoint/2010/main" val="17661691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6</a:t>
            </a:fld>
            <a:endParaRPr lang="fr-FR"/>
          </a:p>
        </p:txBody>
      </p:sp>
    </p:spTree>
    <p:extLst>
      <p:ext uri="{BB962C8B-B14F-4D97-AF65-F5344CB8AC3E}">
        <p14:creationId xmlns:p14="http://schemas.microsoft.com/office/powerpoint/2010/main" val="35971781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9</a:t>
            </a:fld>
            <a:endParaRPr lang="fr-FR"/>
          </a:p>
        </p:txBody>
      </p:sp>
    </p:spTree>
    <p:extLst>
      <p:ext uri="{BB962C8B-B14F-4D97-AF65-F5344CB8AC3E}">
        <p14:creationId xmlns:p14="http://schemas.microsoft.com/office/powerpoint/2010/main" val="33612257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10</a:t>
            </a:fld>
            <a:endParaRPr lang="fr-FR"/>
          </a:p>
        </p:txBody>
      </p:sp>
    </p:spTree>
    <p:extLst>
      <p:ext uri="{BB962C8B-B14F-4D97-AF65-F5344CB8AC3E}">
        <p14:creationId xmlns:p14="http://schemas.microsoft.com/office/powerpoint/2010/main" val="119362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11</a:t>
            </a:fld>
            <a:endParaRPr lang="fr-FR"/>
          </a:p>
        </p:txBody>
      </p:sp>
    </p:spTree>
    <p:extLst>
      <p:ext uri="{BB962C8B-B14F-4D97-AF65-F5344CB8AC3E}">
        <p14:creationId xmlns:p14="http://schemas.microsoft.com/office/powerpoint/2010/main" val="25876853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12</a:t>
            </a:fld>
            <a:endParaRPr lang="fr-FR"/>
          </a:p>
        </p:txBody>
      </p:sp>
    </p:spTree>
    <p:extLst>
      <p:ext uri="{BB962C8B-B14F-4D97-AF65-F5344CB8AC3E}">
        <p14:creationId xmlns:p14="http://schemas.microsoft.com/office/powerpoint/2010/main" val="14425676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13</a:t>
            </a:fld>
            <a:endParaRPr lang="fr-FR"/>
          </a:p>
        </p:txBody>
      </p:sp>
    </p:spTree>
    <p:extLst>
      <p:ext uri="{BB962C8B-B14F-4D97-AF65-F5344CB8AC3E}">
        <p14:creationId xmlns:p14="http://schemas.microsoft.com/office/powerpoint/2010/main" val="20541892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14</a:t>
            </a:fld>
            <a:endParaRPr lang="fr-FR"/>
          </a:p>
        </p:txBody>
      </p:sp>
    </p:spTree>
    <p:extLst>
      <p:ext uri="{BB962C8B-B14F-4D97-AF65-F5344CB8AC3E}">
        <p14:creationId xmlns:p14="http://schemas.microsoft.com/office/powerpoint/2010/main" val="6027923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15</a:t>
            </a:fld>
            <a:endParaRPr lang="fr-FR"/>
          </a:p>
        </p:txBody>
      </p:sp>
    </p:spTree>
    <p:extLst>
      <p:ext uri="{BB962C8B-B14F-4D97-AF65-F5344CB8AC3E}">
        <p14:creationId xmlns:p14="http://schemas.microsoft.com/office/powerpoint/2010/main" val="42497653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b="1" dirty="0"/>
              <a:t>AC</a:t>
            </a:r>
            <a:r>
              <a:rPr lang="fr-FR" dirty="0"/>
              <a:t> et </a:t>
            </a:r>
            <a:r>
              <a:rPr lang="fr-FR" b="1" dirty="0"/>
              <a:t>DC</a:t>
            </a:r>
          </a:p>
          <a:p>
            <a:r>
              <a:rPr lang="fr-FR" b="1" dirty="0"/>
              <a:t>DC </a:t>
            </a:r>
            <a:r>
              <a:rPr lang="fr-FR" b="1" dirty="0" err="1"/>
              <a:t>periode</a:t>
            </a:r>
            <a:r>
              <a:rPr lang="fr-FR" b="1" dirty="0"/>
              <a:t> infini (</a:t>
            </a:r>
            <a:r>
              <a:rPr lang="fr-FR" b="1" dirty="0" err="1"/>
              <a:t>frequence</a:t>
            </a:r>
            <a:r>
              <a:rPr lang="fr-FR" b="1" dirty="0"/>
              <a:t> nulle)</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16</a:t>
            </a:fld>
            <a:endParaRPr lang="fr-FR"/>
          </a:p>
        </p:txBody>
      </p:sp>
    </p:spTree>
    <p:extLst>
      <p:ext uri="{BB962C8B-B14F-4D97-AF65-F5344CB8AC3E}">
        <p14:creationId xmlns:p14="http://schemas.microsoft.com/office/powerpoint/2010/main" val="31694211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17</a:t>
            </a:fld>
            <a:endParaRPr lang="fr-FR"/>
          </a:p>
        </p:txBody>
      </p:sp>
    </p:spTree>
    <p:extLst>
      <p:ext uri="{BB962C8B-B14F-4D97-AF65-F5344CB8AC3E}">
        <p14:creationId xmlns:p14="http://schemas.microsoft.com/office/powerpoint/2010/main" val="15734614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18</a:t>
            </a:fld>
            <a:endParaRPr lang="fr-FR"/>
          </a:p>
        </p:txBody>
      </p:sp>
    </p:spTree>
    <p:extLst>
      <p:ext uri="{BB962C8B-B14F-4D97-AF65-F5344CB8AC3E}">
        <p14:creationId xmlns:p14="http://schemas.microsoft.com/office/powerpoint/2010/main" val="30082672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altLang="fr-FR" sz="1200" dirty="0">
                <a:latin typeface="Garamond" panose="02020404030301010803" pitchFamily="18" charset="0"/>
                <a:cs typeface="Browallia New" panose="020B0604020202020204" pitchFamily="34" charset="-34"/>
              </a:rPr>
              <a:t>Les signaux </a:t>
            </a:r>
            <a:r>
              <a:rPr lang="fr-FR" altLang="fr-FR" sz="1200" b="1" dirty="0">
                <a:solidFill>
                  <a:srgbClr val="FF0000"/>
                </a:solidFill>
                <a:latin typeface="Garamond" panose="02020404030301010803" pitchFamily="18" charset="0"/>
                <a:cs typeface="Browallia New" panose="020B0604020202020204" pitchFamily="34" charset="-34"/>
              </a:rPr>
              <a:t>continus</a:t>
            </a:r>
            <a:r>
              <a:rPr lang="fr-FR" altLang="fr-FR" sz="1200" dirty="0">
                <a:latin typeface="Garamond" panose="02020404030301010803" pitchFamily="18" charset="0"/>
                <a:cs typeface="Browallia New" panose="020B0604020202020204" pitchFamily="34" charset="-34"/>
              </a:rPr>
              <a:t> présentent eux aussi une valeur efficace non-nulle. Toutefois, en pratique on préfère les décrire par </a:t>
            </a:r>
            <a:r>
              <a:rPr lang="fr-FR" altLang="fr-FR" sz="1200" b="1" dirty="0">
                <a:solidFill>
                  <a:srgbClr val="FF0000"/>
                </a:solidFill>
                <a:latin typeface="Garamond" panose="02020404030301010803" pitchFamily="18" charset="0"/>
                <a:cs typeface="Browallia New" panose="020B0604020202020204" pitchFamily="34" charset="-34"/>
              </a:rPr>
              <a:t>les valeurs moyennes</a:t>
            </a:r>
            <a:endParaRPr lang="fr-FR" b="1" dirty="0">
              <a:solidFill>
                <a:srgbClr val="FF0000"/>
              </a:solidFill>
            </a:endParaRP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19</a:t>
            </a:fld>
            <a:endParaRPr lang="fr-FR"/>
          </a:p>
        </p:txBody>
      </p:sp>
    </p:spTree>
    <p:extLst>
      <p:ext uri="{BB962C8B-B14F-4D97-AF65-F5344CB8AC3E}">
        <p14:creationId xmlns:p14="http://schemas.microsoft.com/office/powerpoint/2010/main" val="1871612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20</a:t>
            </a:fld>
            <a:endParaRPr lang="fr-FR"/>
          </a:p>
        </p:txBody>
      </p:sp>
    </p:spTree>
    <p:extLst>
      <p:ext uri="{BB962C8B-B14F-4D97-AF65-F5344CB8AC3E}">
        <p14:creationId xmlns:p14="http://schemas.microsoft.com/office/powerpoint/2010/main" val="29093145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21</a:t>
            </a:fld>
            <a:endParaRPr lang="fr-FR"/>
          </a:p>
        </p:txBody>
      </p:sp>
    </p:spTree>
    <p:extLst>
      <p:ext uri="{BB962C8B-B14F-4D97-AF65-F5344CB8AC3E}">
        <p14:creationId xmlns:p14="http://schemas.microsoft.com/office/powerpoint/2010/main" val="346533860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22</a:t>
            </a:fld>
            <a:endParaRPr lang="fr-FR"/>
          </a:p>
        </p:txBody>
      </p:sp>
    </p:spTree>
    <p:extLst>
      <p:ext uri="{BB962C8B-B14F-4D97-AF65-F5344CB8AC3E}">
        <p14:creationId xmlns:p14="http://schemas.microsoft.com/office/powerpoint/2010/main" val="39863013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23</a:t>
            </a:fld>
            <a:endParaRPr lang="fr-FR"/>
          </a:p>
        </p:txBody>
      </p:sp>
    </p:spTree>
    <p:extLst>
      <p:ext uri="{BB962C8B-B14F-4D97-AF65-F5344CB8AC3E}">
        <p14:creationId xmlns:p14="http://schemas.microsoft.com/office/powerpoint/2010/main" val="37876621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24</a:t>
            </a:fld>
            <a:endParaRPr lang="fr-FR"/>
          </a:p>
        </p:txBody>
      </p:sp>
    </p:spTree>
    <p:extLst>
      <p:ext uri="{BB962C8B-B14F-4D97-AF65-F5344CB8AC3E}">
        <p14:creationId xmlns:p14="http://schemas.microsoft.com/office/powerpoint/2010/main" val="37791667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25</a:t>
            </a:fld>
            <a:endParaRPr lang="fr-FR"/>
          </a:p>
        </p:txBody>
      </p:sp>
    </p:spTree>
    <p:extLst>
      <p:ext uri="{BB962C8B-B14F-4D97-AF65-F5344CB8AC3E}">
        <p14:creationId xmlns:p14="http://schemas.microsoft.com/office/powerpoint/2010/main" val="4555370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26</a:t>
            </a:fld>
            <a:endParaRPr lang="fr-FR"/>
          </a:p>
        </p:txBody>
      </p:sp>
    </p:spTree>
    <p:extLst>
      <p:ext uri="{BB962C8B-B14F-4D97-AF65-F5344CB8AC3E}">
        <p14:creationId xmlns:p14="http://schemas.microsoft.com/office/powerpoint/2010/main" val="42517234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27</a:t>
            </a:fld>
            <a:endParaRPr lang="fr-FR"/>
          </a:p>
        </p:txBody>
      </p:sp>
    </p:spTree>
    <p:extLst>
      <p:ext uri="{BB962C8B-B14F-4D97-AF65-F5344CB8AC3E}">
        <p14:creationId xmlns:p14="http://schemas.microsoft.com/office/powerpoint/2010/main" val="23104140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28</a:t>
            </a:fld>
            <a:endParaRPr lang="fr-FR"/>
          </a:p>
        </p:txBody>
      </p:sp>
    </p:spTree>
    <p:extLst>
      <p:ext uri="{BB962C8B-B14F-4D97-AF65-F5344CB8AC3E}">
        <p14:creationId xmlns:p14="http://schemas.microsoft.com/office/powerpoint/2010/main" val="17665255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29</a:t>
            </a:fld>
            <a:endParaRPr lang="fr-FR"/>
          </a:p>
        </p:txBody>
      </p:sp>
    </p:spTree>
    <p:extLst>
      <p:ext uri="{BB962C8B-B14F-4D97-AF65-F5344CB8AC3E}">
        <p14:creationId xmlns:p14="http://schemas.microsoft.com/office/powerpoint/2010/main" val="30401954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30</a:t>
            </a:fld>
            <a:endParaRPr lang="fr-FR"/>
          </a:p>
        </p:txBody>
      </p:sp>
    </p:spTree>
    <p:extLst>
      <p:ext uri="{BB962C8B-B14F-4D97-AF65-F5344CB8AC3E}">
        <p14:creationId xmlns:p14="http://schemas.microsoft.com/office/powerpoint/2010/main" val="22885091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31</a:t>
            </a:fld>
            <a:endParaRPr lang="fr-FR"/>
          </a:p>
        </p:txBody>
      </p:sp>
    </p:spTree>
    <p:extLst>
      <p:ext uri="{BB962C8B-B14F-4D97-AF65-F5344CB8AC3E}">
        <p14:creationId xmlns:p14="http://schemas.microsoft.com/office/powerpoint/2010/main" val="212057971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32</a:t>
            </a:fld>
            <a:endParaRPr lang="fr-FR"/>
          </a:p>
        </p:txBody>
      </p:sp>
    </p:spTree>
    <p:extLst>
      <p:ext uri="{BB962C8B-B14F-4D97-AF65-F5344CB8AC3E}">
        <p14:creationId xmlns:p14="http://schemas.microsoft.com/office/powerpoint/2010/main" val="6763392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33</a:t>
            </a:fld>
            <a:endParaRPr lang="fr-FR"/>
          </a:p>
        </p:txBody>
      </p:sp>
    </p:spTree>
    <p:extLst>
      <p:ext uri="{BB962C8B-B14F-4D97-AF65-F5344CB8AC3E}">
        <p14:creationId xmlns:p14="http://schemas.microsoft.com/office/powerpoint/2010/main" val="8902667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34</a:t>
            </a:fld>
            <a:endParaRPr lang="fr-FR"/>
          </a:p>
        </p:txBody>
      </p:sp>
    </p:spTree>
    <p:extLst>
      <p:ext uri="{BB962C8B-B14F-4D97-AF65-F5344CB8AC3E}">
        <p14:creationId xmlns:p14="http://schemas.microsoft.com/office/powerpoint/2010/main" val="411874197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35</a:t>
            </a:fld>
            <a:endParaRPr lang="fr-FR"/>
          </a:p>
        </p:txBody>
      </p:sp>
    </p:spTree>
    <p:extLst>
      <p:ext uri="{BB962C8B-B14F-4D97-AF65-F5344CB8AC3E}">
        <p14:creationId xmlns:p14="http://schemas.microsoft.com/office/powerpoint/2010/main" val="351166266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36</a:t>
            </a:fld>
            <a:endParaRPr lang="fr-FR"/>
          </a:p>
        </p:txBody>
      </p:sp>
    </p:spTree>
    <p:extLst>
      <p:ext uri="{BB962C8B-B14F-4D97-AF65-F5344CB8AC3E}">
        <p14:creationId xmlns:p14="http://schemas.microsoft.com/office/powerpoint/2010/main" val="26240678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37</a:t>
            </a:fld>
            <a:endParaRPr lang="fr-FR"/>
          </a:p>
        </p:txBody>
      </p:sp>
    </p:spTree>
    <p:extLst>
      <p:ext uri="{BB962C8B-B14F-4D97-AF65-F5344CB8AC3E}">
        <p14:creationId xmlns:p14="http://schemas.microsoft.com/office/powerpoint/2010/main" val="21769159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38</a:t>
            </a:fld>
            <a:endParaRPr lang="fr-FR"/>
          </a:p>
        </p:txBody>
      </p:sp>
    </p:spTree>
    <p:extLst>
      <p:ext uri="{BB962C8B-B14F-4D97-AF65-F5344CB8AC3E}">
        <p14:creationId xmlns:p14="http://schemas.microsoft.com/office/powerpoint/2010/main" val="25939712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39</a:t>
            </a:fld>
            <a:endParaRPr lang="fr-FR"/>
          </a:p>
        </p:txBody>
      </p:sp>
    </p:spTree>
    <p:extLst>
      <p:ext uri="{BB962C8B-B14F-4D97-AF65-F5344CB8AC3E}">
        <p14:creationId xmlns:p14="http://schemas.microsoft.com/office/powerpoint/2010/main" val="243372229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40</a:t>
            </a:fld>
            <a:endParaRPr lang="fr-FR"/>
          </a:p>
        </p:txBody>
      </p:sp>
    </p:spTree>
    <p:extLst>
      <p:ext uri="{BB962C8B-B14F-4D97-AF65-F5344CB8AC3E}">
        <p14:creationId xmlns:p14="http://schemas.microsoft.com/office/powerpoint/2010/main" val="32219337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41</a:t>
            </a:fld>
            <a:endParaRPr lang="fr-FR"/>
          </a:p>
        </p:txBody>
      </p:sp>
    </p:spTree>
    <p:extLst>
      <p:ext uri="{BB962C8B-B14F-4D97-AF65-F5344CB8AC3E}">
        <p14:creationId xmlns:p14="http://schemas.microsoft.com/office/powerpoint/2010/main" val="1648066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42</a:t>
            </a:fld>
            <a:endParaRPr lang="fr-FR"/>
          </a:p>
        </p:txBody>
      </p:sp>
    </p:spTree>
    <p:extLst>
      <p:ext uri="{BB962C8B-B14F-4D97-AF65-F5344CB8AC3E}">
        <p14:creationId xmlns:p14="http://schemas.microsoft.com/office/powerpoint/2010/main" val="14242924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43</a:t>
            </a:fld>
            <a:endParaRPr lang="fr-FR"/>
          </a:p>
        </p:txBody>
      </p:sp>
    </p:spTree>
    <p:extLst>
      <p:ext uri="{BB962C8B-B14F-4D97-AF65-F5344CB8AC3E}">
        <p14:creationId xmlns:p14="http://schemas.microsoft.com/office/powerpoint/2010/main" val="121309200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44</a:t>
            </a:fld>
            <a:endParaRPr lang="fr-FR"/>
          </a:p>
        </p:txBody>
      </p:sp>
    </p:spTree>
    <p:extLst>
      <p:ext uri="{BB962C8B-B14F-4D97-AF65-F5344CB8AC3E}">
        <p14:creationId xmlns:p14="http://schemas.microsoft.com/office/powerpoint/2010/main" val="39734050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Un</a:t>
            </a:r>
            <a:r>
              <a:rPr lang="fr-FR" baseline="0" dirty="0"/>
              <a:t> SE il doit avoir l’architecture d’un ordinateur mais c pas un ordinateur</a:t>
            </a:r>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45</a:t>
            </a:fld>
            <a:endParaRPr lang="fr-FR"/>
          </a:p>
        </p:txBody>
      </p:sp>
    </p:spTree>
    <p:extLst>
      <p:ext uri="{BB962C8B-B14F-4D97-AF65-F5344CB8AC3E}">
        <p14:creationId xmlns:p14="http://schemas.microsoft.com/office/powerpoint/2010/main" val="389887039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46</a:t>
            </a:fld>
            <a:endParaRPr lang="fr-FR"/>
          </a:p>
        </p:txBody>
      </p:sp>
    </p:spTree>
    <p:extLst>
      <p:ext uri="{BB962C8B-B14F-4D97-AF65-F5344CB8AC3E}">
        <p14:creationId xmlns:p14="http://schemas.microsoft.com/office/powerpoint/2010/main" val="24033980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47</a:t>
            </a:fld>
            <a:endParaRPr lang="fr-FR"/>
          </a:p>
        </p:txBody>
      </p:sp>
    </p:spTree>
    <p:extLst>
      <p:ext uri="{BB962C8B-B14F-4D97-AF65-F5344CB8AC3E}">
        <p14:creationId xmlns:p14="http://schemas.microsoft.com/office/powerpoint/2010/main" val="13645764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48</a:t>
            </a:fld>
            <a:endParaRPr lang="fr-FR"/>
          </a:p>
        </p:txBody>
      </p:sp>
    </p:spTree>
    <p:extLst>
      <p:ext uri="{BB962C8B-B14F-4D97-AF65-F5344CB8AC3E}">
        <p14:creationId xmlns:p14="http://schemas.microsoft.com/office/powerpoint/2010/main" val="355886241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49</a:t>
            </a:fld>
            <a:endParaRPr lang="fr-FR"/>
          </a:p>
        </p:txBody>
      </p:sp>
    </p:spTree>
    <p:extLst>
      <p:ext uri="{BB962C8B-B14F-4D97-AF65-F5344CB8AC3E}">
        <p14:creationId xmlns:p14="http://schemas.microsoft.com/office/powerpoint/2010/main" val="203523408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50</a:t>
            </a:fld>
            <a:endParaRPr lang="fr-FR"/>
          </a:p>
        </p:txBody>
      </p:sp>
    </p:spTree>
    <p:extLst>
      <p:ext uri="{BB962C8B-B14F-4D97-AF65-F5344CB8AC3E}">
        <p14:creationId xmlns:p14="http://schemas.microsoft.com/office/powerpoint/2010/main" val="1495751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51</a:t>
            </a:fld>
            <a:endParaRPr lang="fr-FR"/>
          </a:p>
        </p:txBody>
      </p:sp>
    </p:spTree>
    <p:extLst>
      <p:ext uri="{BB962C8B-B14F-4D97-AF65-F5344CB8AC3E}">
        <p14:creationId xmlns:p14="http://schemas.microsoft.com/office/powerpoint/2010/main" val="329533451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52</a:t>
            </a:fld>
            <a:endParaRPr lang="fr-FR"/>
          </a:p>
        </p:txBody>
      </p:sp>
    </p:spTree>
    <p:extLst>
      <p:ext uri="{BB962C8B-B14F-4D97-AF65-F5344CB8AC3E}">
        <p14:creationId xmlns:p14="http://schemas.microsoft.com/office/powerpoint/2010/main" val="389517343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53</a:t>
            </a:fld>
            <a:endParaRPr lang="fr-FR"/>
          </a:p>
        </p:txBody>
      </p:sp>
    </p:spTree>
    <p:extLst>
      <p:ext uri="{BB962C8B-B14F-4D97-AF65-F5344CB8AC3E}">
        <p14:creationId xmlns:p14="http://schemas.microsoft.com/office/powerpoint/2010/main" val="89685831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54</a:t>
            </a:fld>
            <a:endParaRPr lang="fr-FR"/>
          </a:p>
        </p:txBody>
      </p:sp>
    </p:spTree>
    <p:extLst>
      <p:ext uri="{BB962C8B-B14F-4D97-AF65-F5344CB8AC3E}">
        <p14:creationId xmlns:p14="http://schemas.microsoft.com/office/powerpoint/2010/main" val="376134243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55</a:t>
            </a:fld>
            <a:endParaRPr lang="fr-FR"/>
          </a:p>
        </p:txBody>
      </p:sp>
    </p:spTree>
    <p:extLst>
      <p:ext uri="{BB962C8B-B14F-4D97-AF65-F5344CB8AC3E}">
        <p14:creationId xmlns:p14="http://schemas.microsoft.com/office/powerpoint/2010/main" val="161039818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56</a:t>
            </a:fld>
            <a:endParaRPr lang="fr-FR"/>
          </a:p>
        </p:txBody>
      </p:sp>
    </p:spTree>
    <p:extLst>
      <p:ext uri="{BB962C8B-B14F-4D97-AF65-F5344CB8AC3E}">
        <p14:creationId xmlns:p14="http://schemas.microsoft.com/office/powerpoint/2010/main" val="50052285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57</a:t>
            </a:fld>
            <a:endParaRPr lang="fr-FR"/>
          </a:p>
        </p:txBody>
      </p:sp>
    </p:spTree>
    <p:extLst>
      <p:ext uri="{BB962C8B-B14F-4D97-AF65-F5344CB8AC3E}">
        <p14:creationId xmlns:p14="http://schemas.microsoft.com/office/powerpoint/2010/main" val="301941116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58</a:t>
            </a:fld>
            <a:endParaRPr lang="fr-FR"/>
          </a:p>
        </p:txBody>
      </p:sp>
    </p:spTree>
    <p:extLst>
      <p:ext uri="{BB962C8B-B14F-4D97-AF65-F5344CB8AC3E}">
        <p14:creationId xmlns:p14="http://schemas.microsoft.com/office/powerpoint/2010/main" val="272663157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59</a:t>
            </a:fld>
            <a:endParaRPr lang="fr-FR"/>
          </a:p>
        </p:txBody>
      </p:sp>
    </p:spTree>
    <p:extLst>
      <p:ext uri="{BB962C8B-B14F-4D97-AF65-F5344CB8AC3E}">
        <p14:creationId xmlns:p14="http://schemas.microsoft.com/office/powerpoint/2010/main" val="7808433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Amplitude : valeur efficace√2</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60</a:t>
            </a:fld>
            <a:endParaRPr lang="fr-FR"/>
          </a:p>
        </p:txBody>
      </p:sp>
    </p:spTree>
    <p:extLst>
      <p:ext uri="{BB962C8B-B14F-4D97-AF65-F5344CB8AC3E}">
        <p14:creationId xmlns:p14="http://schemas.microsoft.com/office/powerpoint/2010/main" val="56798729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61</a:t>
            </a:fld>
            <a:endParaRPr lang="fr-FR"/>
          </a:p>
        </p:txBody>
      </p:sp>
    </p:spTree>
    <p:extLst>
      <p:ext uri="{BB962C8B-B14F-4D97-AF65-F5344CB8AC3E}">
        <p14:creationId xmlns:p14="http://schemas.microsoft.com/office/powerpoint/2010/main" val="376436738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62</a:t>
            </a:fld>
            <a:endParaRPr lang="fr-FR"/>
          </a:p>
        </p:txBody>
      </p:sp>
    </p:spTree>
    <p:extLst>
      <p:ext uri="{BB962C8B-B14F-4D97-AF65-F5344CB8AC3E}">
        <p14:creationId xmlns:p14="http://schemas.microsoft.com/office/powerpoint/2010/main" val="166226513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63</a:t>
            </a:fld>
            <a:endParaRPr lang="fr-FR"/>
          </a:p>
        </p:txBody>
      </p:sp>
    </p:spTree>
    <p:extLst>
      <p:ext uri="{BB962C8B-B14F-4D97-AF65-F5344CB8AC3E}">
        <p14:creationId xmlns:p14="http://schemas.microsoft.com/office/powerpoint/2010/main" val="354426685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a:p>
                <a:endParaRPr lang="fr-FR" dirty="0"/>
              </a:p>
              <a:p>
                <a:pPr algn="just">
                  <a:spcBef>
                    <a:spcPct val="0"/>
                  </a:spcBef>
                  <a:buFontTx/>
                  <a:buNone/>
                </a:pPr>
                <a:r>
                  <a:rPr lang="fr-FR" altLang="fr-FR" sz="1200" dirty="0">
                    <a:latin typeface="Garamond" panose="02020404030301010803" pitchFamily="18" charset="0"/>
                    <a:cs typeface="Browallia New" panose="020B0604020202020204" pitchFamily="34" charset="-34"/>
                  </a:rPr>
                  <a:t>La représentation vectorielle des relations courant-tension en régime sinusoïdal est une manière de ne garder du signal qu'un déphasage et une amplitude. </a:t>
                </a:r>
                <a14:m>
                  <m:oMath xmlns:m="http://schemas.openxmlformats.org/officeDocument/2006/math">
                    <m:bar>
                      <m:barPr>
                        <m:ctrlPr>
                          <a:rPr lang="fr-FR" altLang="fr-FR" sz="1200" i="1" smtClean="0">
                            <a:latin typeface="Cambria Math" panose="02040503050406030204" pitchFamily="18" charset="0"/>
                            <a:cs typeface="Browallia New" panose="020B0604020202020204" pitchFamily="34" charset="-34"/>
                          </a:rPr>
                        </m:ctrlPr>
                      </m:barPr>
                      <m:e>
                        <m:r>
                          <a:rPr lang="fr-FR" altLang="fr-FR" sz="1200" b="0" i="1" smtClean="0">
                            <a:latin typeface="Cambria Math" panose="02040503050406030204" pitchFamily="18" charset="0"/>
                            <a:cs typeface="Browallia New" panose="020B0604020202020204" pitchFamily="34" charset="-34"/>
                          </a:rPr>
                          <m:t>𝑌</m:t>
                        </m:r>
                      </m:e>
                    </m:bar>
                  </m:oMath>
                </a14:m>
                <a:r>
                  <a:rPr lang="fr-FR" altLang="fr-FR" sz="1200" dirty="0">
                    <a:latin typeface="Garamond" panose="02020404030301010803" pitchFamily="18" charset="0"/>
                    <a:cs typeface="Browallia New" panose="020B0604020202020204" pitchFamily="34" charset="-34"/>
                  </a:rPr>
                  <a:t> est dit phaseur.  </a:t>
                </a:r>
              </a:p>
              <a:p>
                <a:pPr algn="just">
                  <a:spcBef>
                    <a:spcPct val="0"/>
                  </a:spcBef>
                  <a:buFontTx/>
                  <a:buNone/>
                </a:pPr>
                <a:r>
                  <a:rPr lang="fr-FR" altLang="fr-FR" sz="1200" dirty="0">
                    <a:latin typeface="Garamond" panose="02020404030301010803" pitchFamily="18" charset="0"/>
                    <a:cs typeface="Browallia New" panose="020B0604020202020204" pitchFamily="34" charset="-34"/>
                  </a:rPr>
                  <a:t>Ce résultat peut aussi être obtenu grâce à l'utilisation de nombres complexes.</a:t>
                </a:r>
              </a:p>
              <a:p>
                <a:endParaRPr lang="fr-FR" dirty="0"/>
              </a:p>
            </p:txBody>
          </p:sp>
        </mc:Choice>
        <mc:Fallback xmlns="">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a:p>
                <a:endParaRPr lang="fr-FR" dirty="0"/>
              </a:p>
              <a:p>
                <a:pPr algn="just">
                  <a:spcBef>
                    <a:spcPct val="0"/>
                  </a:spcBef>
                  <a:buFontTx/>
                  <a:buNone/>
                </a:pPr>
                <a:r>
                  <a:rPr lang="fr-FR" altLang="fr-FR" sz="1200" dirty="0">
                    <a:latin typeface="Garamond" panose="02020404030301010803" pitchFamily="18" charset="0"/>
                    <a:cs typeface="Browallia New" panose="020B0604020202020204" pitchFamily="34" charset="-34"/>
                  </a:rPr>
                  <a:t>La représentation vectorielle des relations courant-tension en régime sinusoïdal est une manière de ne garder du signal qu'un déphasage et une amplitude. </a:t>
                </a:r>
                <a:r>
                  <a:rPr lang="fr-FR" altLang="fr-FR" sz="1200" i="0">
                    <a:latin typeface="Cambria Math" panose="02040503050406030204" pitchFamily="18" charset="0"/>
                    <a:cs typeface="Browallia New" panose="020B0604020202020204" pitchFamily="34" charset="-34"/>
                  </a:rPr>
                  <a:t>▁</a:t>
                </a:r>
                <a:r>
                  <a:rPr lang="fr-FR" altLang="fr-FR" sz="1200" b="0" i="0">
                    <a:latin typeface="Cambria Math" panose="02040503050406030204" pitchFamily="18" charset="0"/>
                    <a:cs typeface="Browallia New" panose="020B0604020202020204" pitchFamily="34" charset="-34"/>
                  </a:rPr>
                  <a:t>𝑌</a:t>
                </a:r>
                <a:r>
                  <a:rPr lang="fr-FR" altLang="fr-FR" sz="1200" dirty="0">
                    <a:latin typeface="Garamond" panose="02020404030301010803" pitchFamily="18" charset="0"/>
                    <a:cs typeface="Browallia New" panose="020B0604020202020204" pitchFamily="34" charset="-34"/>
                  </a:rPr>
                  <a:t> est dit phaseur.  </a:t>
                </a:r>
              </a:p>
              <a:p>
                <a:pPr algn="just">
                  <a:spcBef>
                    <a:spcPct val="0"/>
                  </a:spcBef>
                  <a:buFontTx/>
                  <a:buNone/>
                </a:pPr>
                <a:r>
                  <a:rPr lang="fr-FR" altLang="fr-FR" sz="1200" dirty="0">
                    <a:latin typeface="Garamond" panose="02020404030301010803" pitchFamily="18" charset="0"/>
                    <a:cs typeface="Browallia New" panose="020B0604020202020204" pitchFamily="34" charset="-34"/>
                  </a:rPr>
                  <a:t>Ce résultat peut aussi être obtenu grâce à l'utilisation de nombres complexes.</a:t>
                </a:r>
              </a:p>
              <a:p>
                <a:endParaRPr lang="fr-FR" dirty="0"/>
              </a:p>
            </p:txBody>
          </p:sp>
        </mc:Fallback>
      </mc:AlternateContent>
      <p:sp>
        <p:nvSpPr>
          <p:cNvPr id="4" name="Espace réservé du numéro de diapositive 3"/>
          <p:cNvSpPr>
            <a:spLocks noGrp="1"/>
          </p:cNvSpPr>
          <p:nvPr>
            <p:ph type="sldNum" sz="quarter" idx="10"/>
          </p:nvPr>
        </p:nvSpPr>
        <p:spPr/>
        <p:txBody>
          <a:bodyPr/>
          <a:lstStyle/>
          <a:p>
            <a:fld id="{08A7ADD1-564E-426F-A644-664AEAE70886}" type="slidenum">
              <a:rPr lang="fr-FR" smtClean="0"/>
              <a:t>64</a:t>
            </a:fld>
            <a:endParaRPr lang="fr-FR"/>
          </a:p>
        </p:txBody>
      </p:sp>
    </p:spTree>
    <p:extLst>
      <p:ext uri="{BB962C8B-B14F-4D97-AF65-F5344CB8AC3E}">
        <p14:creationId xmlns:p14="http://schemas.microsoft.com/office/powerpoint/2010/main" val="27518888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65</a:t>
            </a:fld>
            <a:endParaRPr lang="fr-FR"/>
          </a:p>
        </p:txBody>
      </p:sp>
    </p:spTree>
    <p:extLst>
      <p:ext uri="{BB962C8B-B14F-4D97-AF65-F5344CB8AC3E}">
        <p14:creationId xmlns:p14="http://schemas.microsoft.com/office/powerpoint/2010/main" val="308324072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ce réservé des commentair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Amplitude : valeur efficace√2</a:t>
                </a:r>
              </a:p>
              <a:p>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Delta </a:t>
                </a:r>
                <a14:m>
                  <m:oMath xmlns:m="http://schemas.openxmlformats.org/officeDocument/2006/math">
                    <m:r>
                      <a:rPr lang="fr-FR" b="1" i="1" dirty="0" smtClean="0">
                        <a:latin typeface="Cambria Math" panose="02040503050406030204" pitchFamily="18" charset="0"/>
                      </a:rPr>
                      <m:t>𝝓</m:t>
                    </m:r>
                    <m:r>
                      <a:rPr lang="fr-FR" b="1" i="1" dirty="0" smtClean="0">
                        <a:latin typeface="Cambria Math" panose="02040503050406030204" pitchFamily="18" charset="0"/>
                      </a:rPr>
                      <m:t>=</m:t>
                    </m:r>
                    <m:r>
                      <a:rPr lang="fr-FR" b="1" i="1" dirty="0" smtClean="0">
                        <a:latin typeface="Cambria Math" panose="02040503050406030204" pitchFamily="18" charset="0"/>
                      </a:rPr>
                      <m:t>𝝓</m:t>
                    </m:r>
                    <m:r>
                      <a:rPr lang="fr-FR" b="1" i="1" dirty="0" smtClean="0">
                        <a:latin typeface="Cambria Math" panose="02040503050406030204" pitchFamily="18" charset="0"/>
                      </a:rPr>
                      <m:t>𝟏</m:t>
                    </m:r>
                    <m:r>
                      <a:rPr lang="fr-FR" b="1" i="1" dirty="0" smtClean="0">
                        <a:latin typeface="Cambria Math" panose="02040503050406030204" pitchFamily="18" charset="0"/>
                      </a:rPr>
                      <m:t>−</m:t>
                    </m:r>
                    <m:r>
                      <a:rPr lang="fr-FR" b="1" i="1" dirty="0" smtClean="0">
                        <a:latin typeface="Cambria Math" panose="02040503050406030204" pitchFamily="18" charset="0"/>
                      </a:rPr>
                      <m:t>𝝓</m:t>
                    </m:r>
                    <m:r>
                      <a:rPr lang="fr-FR" b="1" i="1" dirty="0" smtClean="0">
                        <a:latin typeface="Cambria Math" panose="02040503050406030204" pitchFamily="18" charset="0"/>
                      </a:rPr>
                      <m:t>𝟐</m:t>
                    </m:r>
                    <m:r>
                      <a:rPr lang="fr-FR" b="1" i="1" dirty="0" smtClean="0">
                        <a:latin typeface="Cambria Math" panose="02040503050406030204" pitchFamily="18" charset="0"/>
                      </a:rPr>
                      <m:t>=</m:t>
                    </m:r>
                    <m:r>
                      <a:rPr lang="fr-FR" b="1" i="1" dirty="0" smtClean="0">
                        <a:latin typeface="Cambria Math" panose="02040503050406030204" pitchFamily="18" charset="0"/>
                      </a:rPr>
                      <m:t>𝒑𝒊</m:t>
                    </m:r>
                    <m:r>
                      <a:rPr lang="fr-FR" b="1" i="1" dirty="0" smtClean="0">
                        <a:latin typeface="Cambria Math" panose="02040503050406030204" pitchFamily="18" charset="0"/>
                      </a:rPr>
                      <m:t>/</m:t>
                    </m:r>
                    <m:r>
                      <a:rPr lang="fr-FR" b="1" i="1" dirty="0" smtClean="0">
                        <a:latin typeface="Cambria Math" panose="02040503050406030204" pitchFamily="18" charset="0"/>
                      </a:rPr>
                      <m:t>𝟒</m:t>
                    </m:r>
                  </m:oMath>
                </a14:m>
                <a:r>
                  <a:rPr lang="fr-FR" dirty="0"/>
                  <a:t> donc</a:t>
                </a:r>
                <a:r>
                  <a:rPr lang="fr-FR" baseline="0" dirty="0"/>
                  <a:t> u1 est en avance de phase par rapporta u2 par pi/4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baseline="0" dirty="0"/>
                  <a:t>On dit que u2 est en retard de phase % a u1 de pi/4</a:t>
                </a:r>
              </a:p>
              <a:p>
                <a:pPr marL="0" marR="0" lvl="0" indent="0" algn="l" defTabSz="914400" rtl="0" eaLnBrk="1" fontAlgn="auto" latinLnBrk="0" hangingPunct="1">
                  <a:lnSpc>
                    <a:spcPct val="100000"/>
                  </a:lnSpc>
                  <a:spcBef>
                    <a:spcPts val="0"/>
                  </a:spcBef>
                  <a:spcAft>
                    <a:spcPts val="0"/>
                  </a:spcAft>
                  <a:buClrTx/>
                  <a:buSzTx/>
                  <a:buFontTx/>
                  <a:buNone/>
                  <a:tabLst/>
                  <a:defRPr/>
                </a:pPr>
                <a:r>
                  <a:rPr lang="fr-FR" baseline="0" dirty="0"/>
                  <a:t> attention in nous faut même pulsation  </a:t>
                </a:r>
                <a:r>
                  <a:rPr lang="fr-FR" baseline="0" dirty="0" err="1"/>
                  <a:t>omega</a:t>
                </a:r>
                <a:endParaRPr lang="fr-FR" dirty="0"/>
              </a:p>
              <a:p>
                <a:endParaRPr lang="fr-FR" dirty="0"/>
              </a:p>
            </p:txBody>
          </p:sp>
        </mc:Choice>
        <mc:Fallback xmlns="">
          <p:sp>
            <p:nvSpPr>
              <p:cNvPr id="3" name="Espace réservé des commentair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Amplitude : valeur efficace√2</a:t>
                </a:r>
              </a:p>
              <a:p>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Delta </a:t>
                </a:r>
                <a:r>
                  <a:rPr lang="fr-FR" b="1" i="0" dirty="0">
                    <a:latin typeface="Cambria Math" panose="02040503050406030204" pitchFamily="18" charset="0"/>
                  </a:rPr>
                  <a:t>𝝓=𝝓𝟏−𝝓𝟐=𝒑𝒊/𝟒</a:t>
                </a:r>
                <a:r>
                  <a:rPr lang="fr-FR" dirty="0"/>
                  <a:t> donc</a:t>
                </a:r>
                <a:r>
                  <a:rPr lang="fr-FR" baseline="0" dirty="0"/>
                  <a:t> u1 est en avance de phase par rapporta u2 par pi/4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baseline="0" dirty="0"/>
                  <a:t>On dit que u2 est en retard de phase % a u1 de pi/4</a:t>
                </a:r>
              </a:p>
              <a:p>
                <a:pPr marL="0" marR="0" lvl="0" indent="0" algn="l" defTabSz="914400" rtl="0" eaLnBrk="1" fontAlgn="auto" latinLnBrk="0" hangingPunct="1">
                  <a:lnSpc>
                    <a:spcPct val="100000"/>
                  </a:lnSpc>
                  <a:spcBef>
                    <a:spcPts val="0"/>
                  </a:spcBef>
                  <a:spcAft>
                    <a:spcPts val="0"/>
                  </a:spcAft>
                  <a:buClrTx/>
                  <a:buSzTx/>
                  <a:buFontTx/>
                  <a:buNone/>
                  <a:tabLst/>
                  <a:defRPr/>
                </a:pPr>
                <a:r>
                  <a:rPr lang="fr-FR" baseline="0" dirty="0"/>
                  <a:t> attention in nous faut même pulsation  </a:t>
                </a:r>
                <a:r>
                  <a:rPr lang="fr-FR" baseline="0" dirty="0" err="1"/>
                  <a:t>omega</a:t>
                </a:r>
                <a:endParaRPr lang="fr-FR" dirty="0"/>
              </a:p>
              <a:p>
                <a:endParaRPr lang="fr-FR" dirty="0"/>
              </a:p>
            </p:txBody>
          </p:sp>
        </mc:Fallback>
      </mc:AlternateContent>
      <p:sp>
        <p:nvSpPr>
          <p:cNvPr id="4" name="Espace réservé du numéro de diapositive 3"/>
          <p:cNvSpPr>
            <a:spLocks noGrp="1"/>
          </p:cNvSpPr>
          <p:nvPr>
            <p:ph type="sldNum" sz="quarter" idx="10"/>
          </p:nvPr>
        </p:nvSpPr>
        <p:spPr/>
        <p:txBody>
          <a:bodyPr/>
          <a:lstStyle/>
          <a:p>
            <a:fld id="{08A7ADD1-564E-426F-A644-664AEAE70886}" type="slidenum">
              <a:rPr lang="fr-FR" smtClean="0"/>
              <a:t>66</a:t>
            </a:fld>
            <a:endParaRPr lang="fr-FR"/>
          </a:p>
        </p:txBody>
      </p:sp>
    </p:spTree>
    <p:extLst>
      <p:ext uri="{BB962C8B-B14F-4D97-AF65-F5344CB8AC3E}">
        <p14:creationId xmlns:p14="http://schemas.microsoft.com/office/powerpoint/2010/main" val="182371698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67</a:t>
            </a:fld>
            <a:endParaRPr lang="fr-FR"/>
          </a:p>
        </p:txBody>
      </p:sp>
    </p:spTree>
    <p:extLst>
      <p:ext uri="{BB962C8B-B14F-4D97-AF65-F5344CB8AC3E}">
        <p14:creationId xmlns:p14="http://schemas.microsoft.com/office/powerpoint/2010/main" val="313454586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68</a:t>
            </a:fld>
            <a:endParaRPr lang="fr-FR"/>
          </a:p>
        </p:txBody>
      </p:sp>
    </p:spTree>
    <p:extLst>
      <p:ext uri="{BB962C8B-B14F-4D97-AF65-F5344CB8AC3E}">
        <p14:creationId xmlns:p14="http://schemas.microsoft.com/office/powerpoint/2010/main" val="402461520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69</a:t>
            </a:fld>
            <a:endParaRPr lang="fr-FR"/>
          </a:p>
        </p:txBody>
      </p:sp>
    </p:spTree>
    <p:extLst>
      <p:ext uri="{BB962C8B-B14F-4D97-AF65-F5344CB8AC3E}">
        <p14:creationId xmlns:p14="http://schemas.microsoft.com/office/powerpoint/2010/main" val="206723295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70</a:t>
            </a:fld>
            <a:endParaRPr lang="fr-FR"/>
          </a:p>
        </p:txBody>
      </p:sp>
    </p:spTree>
    <p:extLst>
      <p:ext uri="{BB962C8B-B14F-4D97-AF65-F5344CB8AC3E}">
        <p14:creationId xmlns:p14="http://schemas.microsoft.com/office/powerpoint/2010/main" val="301545865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71</a:t>
            </a:fld>
            <a:endParaRPr lang="fr-FR"/>
          </a:p>
        </p:txBody>
      </p:sp>
    </p:spTree>
    <p:extLst>
      <p:ext uri="{BB962C8B-B14F-4D97-AF65-F5344CB8AC3E}">
        <p14:creationId xmlns:p14="http://schemas.microsoft.com/office/powerpoint/2010/main" val="422271564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72</a:t>
            </a:fld>
            <a:endParaRPr lang="fr-FR"/>
          </a:p>
        </p:txBody>
      </p:sp>
    </p:spTree>
    <p:extLst>
      <p:ext uri="{BB962C8B-B14F-4D97-AF65-F5344CB8AC3E}">
        <p14:creationId xmlns:p14="http://schemas.microsoft.com/office/powerpoint/2010/main" val="95208306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73</a:t>
            </a:fld>
            <a:endParaRPr lang="fr-FR"/>
          </a:p>
        </p:txBody>
      </p:sp>
    </p:spTree>
    <p:extLst>
      <p:ext uri="{BB962C8B-B14F-4D97-AF65-F5344CB8AC3E}">
        <p14:creationId xmlns:p14="http://schemas.microsoft.com/office/powerpoint/2010/main" val="296049335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74</a:t>
            </a:fld>
            <a:endParaRPr lang="fr-FR"/>
          </a:p>
        </p:txBody>
      </p:sp>
    </p:spTree>
    <p:extLst>
      <p:ext uri="{BB962C8B-B14F-4D97-AF65-F5344CB8AC3E}">
        <p14:creationId xmlns:p14="http://schemas.microsoft.com/office/powerpoint/2010/main" val="201806937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75</a:t>
            </a:fld>
            <a:endParaRPr lang="fr-FR"/>
          </a:p>
        </p:txBody>
      </p:sp>
    </p:spTree>
    <p:extLst>
      <p:ext uri="{BB962C8B-B14F-4D97-AF65-F5344CB8AC3E}">
        <p14:creationId xmlns:p14="http://schemas.microsoft.com/office/powerpoint/2010/main" val="153837646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76</a:t>
            </a:fld>
            <a:endParaRPr lang="fr-FR"/>
          </a:p>
        </p:txBody>
      </p:sp>
    </p:spTree>
    <p:extLst>
      <p:ext uri="{BB962C8B-B14F-4D97-AF65-F5344CB8AC3E}">
        <p14:creationId xmlns:p14="http://schemas.microsoft.com/office/powerpoint/2010/main" val="248899887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77</a:t>
            </a:fld>
            <a:endParaRPr lang="fr-FR"/>
          </a:p>
        </p:txBody>
      </p:sp>
    </p:spTree>
    <p:extLst>
      <p:ext uri="{BB962C8B-B14F-4D97-AF65-F5344CB8AC3E}">
        <p14:creationId xmlns:p14="http://schemas.microsoft.com/office/powerpoint/2010/main" val="411295828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78</a:t>
            </a:fld>
            <a:endParaRPr lang="fr-FR"/>
          </a:p>
        </p:txBody>
      </p:sp>
    </p:spTree>
    <p:extLst>
      <p:ext uri="{BB962C8B-B14F-4D97-AF65-F5344CB8AC3E}">
        <p14:creationId xmlns:p14="http://schemas.microsoft.com/office/powerpoint/2010/main" val="175128133"/>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79</a:t>
            </a:fld>
            <a:endParaRPr lang="fr-FR"/>
          </a:p>
        </p:txBody>
      </p:sp>
    </p:spTree>
    <p:extLst>
      <p:ext uri="{BB962C8B-B14F-4D97-AF65-F5344CB8AC3E}">
        <p14:creationId xmlns:p14="http://schemas.microsoft.com/office/powerpoint/2010/main" val="16798138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80</a:t>
            </a:fld>
            <a:endParaRPr lang="fr-FR"/>
          </a:p>
        </p:txBody>
      </p:sp>
    </p:spTree>
    <p:extLst>
      <p:ext uri="{BB962C8B-B14F-4D97-AF65-F5344CB8AC3E}">
        <p14:creationId xmlns:p14="http://schemas.microsoft.com/office/powerpoint/2010/main" val="105811077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81</a:t>
            </a:fld>
            <a:endParaRPr lang="fr-FR"/>
          </a:p>
        </p:txBody>
      </p:sp>
    </p:spTree>
    <p:extLst>
      <p:ext uri="{BB962C8B-B14F-4D97-AF65-F5344CB8AC3E}">
        <p14:creationId xmlns:p14="http://schemas.microsoft.com/office/powerpoint/2010/main" val="276152774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82</a:t>
            </a:fld>
            <a:endParaRPr lang="fr-FR"/>
          </a:p>
        </p:txBody>
      </p:sp>
    </p:spTree>
    <p:extLst>
      <p:ext uri="{BB962C8B-B14F-4D97-AF65-F5344CB8AC3E}">
        <p14:creationId xmlns:p14="http://schemas.microsoft.com/office/powerpoint/2010/main" val="106367916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83</a:t>
            </a:fld>
            <a:endParaRPr lang="fr-FR"/>
          </a:p>
        </p:txBody>
      </p:sp>
    </p:spTree>
    <p:extLst>
      <p:ext uri="{BB962C8B-B14F-4D97-AF65-F5344CB8AC3E}">
        <p14:creationId xmlns:p14="http://schemas.microsoft.com/office/powerpoint/2010/main" val="115923724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84</a:t>
            </a:fld>
            <a:endParaRPr lang="fr-FR"/>
          </a:p>
        </p:txBody>
      </p:sp>
    </p:spTree>
    <p:extLst>
      <p:ext uri="{BB962C8B-B14F-4D97-AF65-F5344CB8AC3E}">
        <p14:creationId xmlns:p14="http://schemas.microsoft.com/office/powerpoint/2010/main" val="31296689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a:t>Notation complexe est faites pour </a:t>
            </a:r>
            <a:r>
              <a:rPr lang="fr-FR" dirty="0" err="1"/>
              <a:t>eviter</a:t>
            </a:r>
            <a:r>
              <a:rPr lang="fr-FR" dirty="0"/>
              <a:t> la </a:t>
            </a:r>
            <a:r>
              <a:rPr lang="fr-FR" dirty="0" err="1"/>
              <a:t>representation</a:t>
            </a:r>
            <a:r>
              <a:rPr lang="fr-FR" dirty="0"/>
              <a:t> de </a:t>
            </a:r>
            <a:r>
              <a:rPr lang="fr-FR" dirty="0" err="1"/>
              <a:t>fresnel</a:t>
            </a:r>
            <a:r>
              <a:rPr lang="fr-FR" dirty="0"/>
              <a:t> </a:t>
            </a:r>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85</a:t>
            </a:fld>
            <a:endParaRPr lang="fr-FR"/>
          </a:p>
        </p:txBody>
      </p:sp>
    </p:spTree>
    <p:extLst>
      <p:ext uri="{BB962C8B-B14F-4D97-AF65-F5344CB8AC3E}">
        <p14:creationId xmlns:p14="http://schemas.microsoft.com/office/powerpoint/2010/main" val="324769474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86</a:t>
            </a:fld>
            <a:endParaRPr lang="fr-FR"/>
          </a:p>
        </p:txBody>
      </p:sp>
    </p:spTree>
    <p:extLst>
      <p:ext uri="{BB962C8B-B14F-4D97-AF65-F5344CB8AC3E}">
        <p14:creationId xmlns:p14="http://schemas.microsoft.com/office/powerpoint/2010/main" val="177705419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8A7ADD1-564E-426F-A644-664AEAE70886}" type="slidenum">
              <a:rPr lang="fr-FR" smtClean="0"/>
              <a:t>87</a:t>
            </a:fld>
            <a:endParaRPr lang="fr-FR"/>
          </a:p>
        </p:txBody>
      </p:sp>
    </p:spTree>
    <p:extLst>
      <p:ext uri="{BB962C8B-B14F-4D97-AF65-F5344CB8AC3E}">
        <p14:creationId xmlns:p14="http://schemas.microsoft.com/office/powerpoint/2010/main" val="6608406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685800" y="1594485"/>
            <a:ext cx="7772400" cy="1080135"/>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371600" y="2880360"/>
            <a:ext cx="6400800" cy="1285875"/>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12/4/2024</a:t>
            </a:fld>
            <a:endParaRPr lang="en-US"/>
          </a:p>
        </p:txBody>
      </p:sp>
      <p:sp>
        <p:nvSpPr>
          <p:cNvPr id="6" name="Holder 6"/>
          <p:cNvSpPr>
            <a:spLocks noGrp="1"/>
          </p:cNvSpPr>
          <p:nvPr>
            <p:ph type="sldNum" sz="quarter" idx="7"/>
          </p:nvPr>
        </p:nvSpPr>
        <p:spPr/>
        <p:txBody>
          <a:bodyPr lIns="0" tIns="0" rIns="0" bIns="0"/>
          <a:lstStyle>
            <a:lvl1pPr>
              <a:defRPr sz="2400" b="1" i="0">
                <a:solidFill>
                  <a:schemeClr val="tx1"/>
                </a:solidFill>
                <a:latin typeface="Arial"/>
                <a:cs typeface="Arial"/>
              </a:defRPr>
            </a:lvl1pPr>
          </a:lstStyle>
          <a:p>
            <a:pPr marL="38100">
              <a:lnSpc>
                <a:spcPts val="2430"/>
              </a:lnSpc>
            </a:pPr>
            <a:fld id="{81D60167-4931-47E6-BA6A-407CBD079E47}" type="slidenum">
              <a:rPr dirty="0"/>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8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1800" b="1" i="0">
                <a:solidFill>
                  <a:srgbClr val="4F82B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12/4/2024</a:t>
            </a:fld>
            <a:endParaRPr lang="en-US"/>
          </a:p>
        </p:txBody>
      </p:sp>
      <p:sp>
        <p:nvSpPr>
          <p:cNvPr id="6" name="Holder 6"/>
          <p:cNvSpPr>
            <a:spLocks noGrp="1"/>
          </p:cNvSpPr>
          <p:nvPr>
            <p:ph type="sldNum" sz="quarter" idx="7"/>
          </p:nvPr>
        </p:nvSpPr>
        <p:spPr/>
        <p:txBody>
          <a:bodyPr lIns="0" tIns="0" rIns="0" bIns="0"/>
          <a:lstStyle>
            <a:lvl1pPr>
              <a:defRPr sz="2400" b="1" i="0">
                <a:solidFill>
                  <a:schemeClr val="tx1"/>
                </a:solidFill>
                <a:latin typeface="Arial"/>
                <a:cs typeface="Arial"/>
              </a:defRPr>
            </a:lvl1pPr>
          </a:lstStyle>
          <a:p>
            <a:pPr marL="38100">
              <a:lnSpc>
                <a:spcPts val="2430"/>
              </a:lnSpc>
            </a:pPr>
            <a:fld id="{81D60167-4931-47E6-BA6A-407CBD079E47}" type="slidenum">
              <a:rPr dirty="0"/>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800" b="1" i="0">
                <a:solidFill>
                  <a:schemeClr val="tx1"/>
                </a:solidFill>
                <a:latin typeface="Arial"/>
                <a:cs typeface="Arial"/>
              </a:defRPr>
            </a:lvl1pPr>
          </a:lstStyle>
          <a:p>
            <a:endParaRPr/>
          </a:p>
        </p:txBody>
      </p:sp>
      <p:sp>
        <p:nvSpPr>
          <p:cNvPr id="3" name="Holder 3"/>
          <p:cNvSpPr>
            <a:spLocks noGrp="1"/>
          </p:cNvSpPr>
          <p:nvPr>
            <p:ph sz="half" idx="2"/>
          </p:nvPr>
        </p:nvSpPr>
        <p:spPr>
          <a:xfrm>
            <a:off x="457200" y="1183005"/>
            <a:ext cx="3977640" cy="339471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183005"/>
            <a:ext cx="3977640" cy="339471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12/4/2024</a:t>
            </a:fld>
            <a:endParaRPr lang="en-US"/>
          </a:p>
        </p:txBody>
      </p:sp>
      <p:sp>
        <p:nvSpPr>
          <p:cNvPr id="7" name="Holder 7"/>
          <p:cNvSpPr>
            <a:spLocks noGrp="1"/>
          </p:cNvSpPr>
          <p:nvPr>
            <p:ph type="sldNum" sz="quarter" idx="7"/>
          </p:nvPr>
        </p:nvSpPr>
        <p:spPr/>
        <p:txBody>
          <a:bodyPr lIns="0" tIns="0" rIns="0" bIns="0"/>
          <a:lstStyle>
            <a:lvl1pPr>
              <a:defRPr sz="2400" b="1" i="0">
                <a:solidFill>
                  <a:schemeClr val="tx1"/>
                </a:solidFill>
                <a:latin typeface="Arial"/>
                <a:cs typeface="Arial"/>
              </a:defRPr>
            </a:lvl1pPr>
          </a:lstStyle>
          <a:p>
            <a:pPr marL="38100">
              <a:lnSpc>
                <a:spcPts val="2430"/>
              </a:lnSpc>
            </a:pPr>
            <a:fld id="{81D60167-4931-47E6-BA6A-407CBD079E47}" type="slidenum">
              <a:rPr dirty="0"/>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8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12/4/2024</a:t>
            </a:fld>
            <a:endParaRPr lang="en-US"/>
          </a:p>
        </p:txBody>
      </p:sp>
      <p:sp>
        <p:nvSpPr>
          <p:cNvPr id="5" name="Holder 5"/>
          <p:cNvSpPr>
            <a:spLocks noGrp="1"/>
          </p:cNvSpPr>
          <p:nvPr>
            <p:ph type="sldNum" sz="quarter" idx="7"/>
          </p:nvPr>
        </p:nvSpPr>
        <p:spPr/>
        <p:txBody>
          <a:bodyPr lIns="0" tIns="0" rIns="0" bIns="0"/>
          <a:lstStyle>
            <a:lvl1pPr>
              <a:defRPr sz="2400" b="1" i="0">
                <a:solidFill>
                  <a:schemeClr val="tx1"/>
                </a:solidFill>
                <a:latin typeface="Arial"/>
                <a:cs typeface="Arial"/>
              </a:defRPr>
            </a:lvl1pPr>
          </a:lstStyle>
          <a:p>
            <a:pPr marL="38100">
              <a:lnSpc>
                <a:spcPts val="2430"/>
              </a:lnSpc>
            </a:pPr>
            <a:fld id="{81D60167-4931-47E6-BA6A-407CBD079E47}" type="slidenum">
              <a:rPr dirty="0"/>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12/4/2024</a:t>
            </a:fld>
            <a:endParaRPr lang="en-US"/>
          </a:p>
        </p:txBody>
      </p:sp>
      <p:sp>
        <p:nvSpPr>
          <p:cNvPr id="4" name="Holder 4"/>
          <p:cNvSpPr>
            <a:spLocks noGrp="1"/>
          </p:cNvSpPr>
          <p:nvPr>
            <p:ph type="sldNum" sz="quarter" idx="7"/>
          </p:nvPr>
        </p:nvSpPr>
        <p:spPr/>
        <p:txBody>
          <a:bodyPr lIns="0" tIns="0" rIns="0" bIns="0"/>
          <a:lstStyle>
            <a:lvl1pPr>
              <a:defRPr sz="2400" b="1" i="0">
                <a:solidFill>
                  <a:schemeClr val="tx1"/>
                </a:solidFill>
                <a:latin typeface="Arial"/>
                <a:cs typeface="Arial"/>
              </a:defRPr>
            </a:lvl1pPr>
          </a:lstStyle>
          <a:p>
            <a:pPr marL="38100">
              <a:lnSpc>
                <a:spcPts val="2430"/>
              </a:lnSpc>
            </a:pPr>
            <a:fld id="{81D60167-4931-47E6-BA6A-407CBD079E47}" type="slidenum">
              <a:rPr dirty="0"/>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1648777" y="1521459"/>
            <a:ext cx="5846444" cy="452119"/>
          </a:xfrm>
          <a:prstGeom prst="rect">
            <a:avLst/>
          </a:prstGeom>
        </p:spPr>
        <p:txBody>
          <a:bodyPr wrap="square" lIns="0" tIns="0" rIns="0" bIns="0">
            <a:spAutoFit/>
          </a:bodyPr>
          <a:lstStyle>
            <a:lvl1pPr>
              <a:defRPr sz="2800" b="1" i="0">
                <a:solidFill>
                  <a:schemeClr val="tx1"/>
                </a:solidFill>
                <a:latin typeface="Arial"/>
                <a:cs typeface="Arial"/>
              </a:defRPr>
            </a:lvl1pPr>
          </a:lstStyle>
          <a:p>
            <a:endParaRPr/>
          </a:p>
        </p:txBody>
      </p:sp>
      <p:sp>
        <p:nvSpPr>
          <p:cNvPr id="3" name="Holder 3"/>
          <p:cNvSpPr>
            <a:spLocks noGrp="1"/>
          </p:cNvSpPr>
          <p:nvPr>
            <p:ph type="body" idx="1"/>
          </p:nvPr>
        </p:nvSpPr>
        <p:spPr>
          <a:xfrm>
            <a:off x="302370" y="819403"/>
            <a:ext cx="8539258" cy="3155950"/>
          </a:xfrm>
          <a:prstGeom prst="rect">
            <a:avLst/>
          </a:prstGeom>
        </p:spPr>
        <p:txBody>
          <a:bodyPr wrap="square" lIns="0" tIns="0" rIns="0" bIns="0">
            <a:spAutoFit/>
          </a:bodyPr>
          <a:lstStyle>
            <a:lvl1pPr>
              <a:defRPr sz="1800" b="1" i="0">
                <a:solidFill>
                  <a:srgbClr val="4F82BD"/>
                </a:solidFill>
                <a:latin typeface="Arial"/>
                <a:cs typeface="Arial"/>
              </a:defRPr>
            </a:lvl1pPr>
          </a:lstStyle>
          <a:p>
            <a:endParaRPr/>
          </a:p>
        </p:txBody>
      </p:sp>
      <p:sp>
        <p:nvSpPr>
          <p:cNvPr id="4" name="Holder 4"/>
          <p:cNvSpPr>
            <a:spLocks noGrp="1"/>
          </p:cNvSpPr>
          <p:nvPr>
            <p:ph type="ftr" sz="quarter" idx="5"/>
          </p:nvPr>
        </p:nvSpPr>
        <p:spPr>
          <a:xfrm>
            <a:off x="3108960" y="4783455"/>
            <a:ext cx="2926080" cy="257175"/>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4783455"/>
            <a:ext cx="2103120" cy="257175"/>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12/4/2024</a:t>
            </a:fld>
            <a:endParaRPr lang="en-US"/>
          </a:p>
        </p:txBody>
      </p:sp>
      <p:sp>
        <p:nvSpPr>
          <p:cNvPr id="6" name="Holder 6"/>
          <p:cNvSpPr>
            <a:spLocks noGrp="1"/>
          </p:cNvSpPr>
          <p:nvPr>
            <p:ph type="sldNum" sz="quarter" idx="7"/>
          </p:nvPr>
        </p:nvSpPr>
        <p:spPr>
          <a:xfrm>
            <a:off x="8546282" y="4824469"/>
            <a:ext cx="415925" cy="330200"/>
          </a:xfrm>
          <a:prstGeom prst="rect">
            <a:avLst/>
          </a:prstGeom>
        </p:spPr>
        <p:txBody>
          <a:bodyPr wrap="square" lIns="0" tIns="0" rIns="0" bIns="0">
            <a:spAutoFit/>
          </a:bodyPr>
          <a:lstStyle>
            <a:lvl1pPr>
              <a:defRPr sz="2400" b="1" i="0">
                <a:solidFill>
                  <a:schemeClr val="tx1"/>
                </a:solidFill>
                <a:latin typeface="Arial"/>
                <a:cs typeface="Arial"/>
              </a:defRPr>
            </a:lvl1pPr>
          </a:lstStyle>
          <a:p>
            <a:pPr marL="38100">
              <a:lnSpc>
                <a:spcPts val="2430"/>
              </a:lnSpc>
            </a:pPr>
            <a:fld id="{81D60167-4931-47E6-BA6A-407CBD079E47}" type="slidenum">
              <a:rPr dirty="0"/>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gi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jpeg"/></Relationships>
</file>

<file path=ppt/slides/_rels/slide6.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2.jpg"/><Relationship Id="rId4" Type="http://schemas.openxmlformats.org/officeDocument/2006/relationships/image" Target="../media/image1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11.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jpg"/></Relationships>
</file>

<file path=ppt/slides/_rels/slide1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8.jpg"/></Relationships>
</file>

<file path=ppt/slides/_rels/slide1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jpg"/></Relationships>
</file>

<file path=ppt/slides/_rels/slide14.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8.emf"/></Relationships>
</file>

<file path=ppt/slides/_rels/slide18.xml.rels><?xml version="1.0" encoding="UTF-8" standalone="yes"?>
<Relationships xmlns="http://schemas.openxmlformats.org/package/2006/relationships"><Relationship Id="rId3" Type="http://schemas.openxmlformats.org/officeDocument/2006/relationships/image" Target="../media/image29.gi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35.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2.png"/><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6.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2.emf"/></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8.png"/><Relationship Id="rId4" Type="http://schemas.openxmlformats.org/officeDocument/2006/relationships/image" Target="../media/image43.emf"/></Relationships>
</file>

<file path=ppt/slides/_rels/slide31.xml.rels><?xml version="1.0" encoding="UTF-8" standalone="yes"?>
<Relationships xmlns="http://schemas.openxmlformats.org/package/2006/relationships"><Relationship Id="rId3" Type="http://schemas.openxmlformats.org/officeDocument/2006/relationships/image" Target="../media/image49.emf"/><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50.emf"/></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1.jp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6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60.png"/><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56.png"/><Relationship Id="rId7" Type="http://schemas.openxmlformats.org/officeDocument/2006/relationships/image" Target="../media/image64.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1.png"/><Relationship Id="rId4" Type="http://schemas.openxmlformats.org/officeDocument/2006/relationships/image" Target="../media/image58.png"/></Relationships>
</file>

<file path=ppt/slides/_rels/slide3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66.emf"/><Relationship Id="rId4" Type="http://schemas.openxmlformats.org/officeDocument/2006/relationships/image" Target="../media/image65.wmf"/></Relationships>
</file>

<file path=ppt/slides/_rels/slide39.xml.rels><?xml version="1.0" encoding="UTF-8" standalone="yes"?>
<Relationships xmlns="http://schemas.openxmlformats.org/package/2006/relationships"><Relationship Id="rId3" Type="http://schemas.openxmlformats.org/officeDocument/2006/relationships/image" Target="../media/image67.emf"/><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68.wmf"/><Relationship Id="rId4" Type="http://schemas.openxmlformats.org/officeDocument/2006/relationships/oleObject" Target="../embeddings/oleObject2.bin"/></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7" Type="http://schemas.openxmlformats.org/officeDocument/2006/relationships/image" Target="../media/image70.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76.png"/></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69.png"/></Relationships>
</file>

<file path=ppt/slides/_rels/slide4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7.png"/><Relationship Id="rId4" Type="http://schemas.openxmlformats.org/officeDocument/2006/relationships/image" Target="../media/image75.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4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48.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49.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85.png"/><Relationship Id="rId4" Type="http://schemas.openxmlformats.org/officeDocument/2006/relationships/image" Target="../media/image84.png"/></Relationships>
</file>

<file path=ppt/slides/_rels/slide50.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90.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87.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5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s>
</file>

<file path=ppt/slides/_rels/slide5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98.png"/><Relationship Id="rId4" Type="http://schemas.openxmlformats.org/officeDocument/2006/relationships/image" Target="../media/image97.png"/></Relationships>
</file>

<file path=ppt/slides/_rels/slide5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98.wmf"/><Relationship Id="rId5" Type="http://schemas.openxmlformats.org/officeDocument/2006/relationships/oleObject" Target="../embeddings/oleObject4.bin"/><Relationship Id="rId4" Type="http://schemas.openxmlformats.org/officeDocument/2006/relationships/image" Target="../media/image97.wmf"/></Relationships>
</file>

<file path=ppt/slides/_rels/slide56.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99.wmf"/></Relationships>
</file>

<file path=ppt/slides/_rels/slide5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02.png"/><Relationship Id="rId4" Type="http://schemas.openxmlformats.org/officeDocument/2006/relationships/image" Target="../media/image101.png"/></Relationships>
</file>

<file path=ppt/slides/_rels/slide5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109.png"/><Relationship Id="rId4" Type="http://schemas.openxmlformats.org/officeDocument/2006/relationships/image" Target="../media/image104.png"/></Relationships>
</file>

<file path=ppt/slides/_rels/slide62.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105.wmf"/></Relationships>
</file>

<file path=ppt/slides/_rels/slide65.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08.png"/></Relationships>
</file>

<file path=ppt/slides/_rels/slide66.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119.png"/><Relationship Id="rId4" Type="http://schemas.openxmlformats.org/officeDocument/2006/relationships/image" Target="../media/image118.png"/></Relationships>
</file>

<file path=ppt/slides/_rels/slide67.xml.rels><?xml version="1.0" encoding="UTF-8" standalone="yes"?>
<Relationships xmlns="http://schemas.openxmlformats.org/package/2006/relationships"><Relationship Id="rId3" Type="http://schemas.openxmlformats.org/officeDocument/2006/relationships/image" Target="../media/image120.png"/><Relationship Id="rId7" Type="http://schemas.openxmlformats.org/officeDocument/2006/relationships/image" Target="../media/image110.wmf"/><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oleObject" Target="../embeddings/oleObject8.bin"/><Relationship Id="rId5" Type="http://schemas.openxmlformats.org/officeDocument/2006/relationships/image" Target="../media/image109.wmf"/><Relationship Id="rId4" Type="http://schemas.openxmlformats.org/officeDocument/2006/relationships/oleObject" Target="../embeddings/oleObject7.bin"/></Relationships>
</file>

<file path=ppt/slides/_rels/slide68.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112.wmf"/><Relationship Id="rId5" Type="http://schemas.openxmlformats.org/officeDocument/2006/relationships/oleObject" Target="../embeddings/oleObject10.bin"/><Relationship Id="rId4" Type="http://schemas.openxmlformats.org/officeDocument/2006/relationships/image" Target="../media/image111.wmf"/></Relationships>
</file>

<file path=ppt/slides/_rels/slide69.xml.rels><?xml version="1.0" encoding="UTF-8" standalone="yes"?>
<Relationships xmlns="http://schemas.openxmlformats.org/package/2006/relationships"><Relationship Id="rId3" Type="http://schemas.openxmlformats.org/officeDocument/2006/relationships/oleObject" Target="../embeddings/oleObject11.bin"/><Relationship Id="rId7" Type="http://schemas.openxmlformats.org/officeDocument/2006/relationships/image" Target="../media/image121.pn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114.wmf"/><Relationship Id="rId5" Type="http://schemas.openxmlformats.org/officeDocument/2006/relationships/oleObject" Target="../embeddings/oleObject12.bin"/><Relationship Id="rId4" Type="http://schemas.openxmlformats.org/officeDocument/2006/relationships/image" Target="../media/image113.wmf"/></Relationships>
</file>

<file path=ppt/slides/_rels/slide70.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29.png"/></Relationships>
</file>

<file path=ppt/slides/_rels/slide71.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136.png"/></Relationships>
</file>

<file path=ppt/slides/_rels/slide7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126.wmf"/><Relationship Id="rId5" Type="http://schemas.openxmlformats.org/officeDocument/2006/relationships/oleObject" Target="../embeddings/oleObject14.bin"/><Relationship Id="rId4" Type="http://schemas.openxmlformats.org/officeDocument/2006/relationships/image" Target="../media/image125.wmf"/></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128.wmf"/><Relationship Id="rId5" Type="http://schemas.openxmlformats.org/officeDocument/2006/relationships/oleObject" Target="../embeddings/oleObject16.bin"/><Relationship Id="rId4" Type="http://schemas.openxmlformats.org/officeDocument/2006/relationships/image" Target="../media/image127.wmf"/></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129.wmf"/></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134.png"/></Relationships>
</file>

<file path=ppt/slides/_rels/slide8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135.wmf"/></Relationships>
</file>

<file path=ppt/slides/_rels/slide8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137.wmf"/><Relationship Id="rId5" Type="http://schemas.openxmlformats.org/officeDocument/2006/relationships/oleObject" Target="../embeddings/oleObject20.bin"/><Relationship Id="rId4" Type="http://schemas.openxmlformats.org/officeDocument/2006/relationships/image" Target="../media/image136.wmf"/></Relationships>
</file>

<file path=ppt/slides/_rels/slide83.xml.rels><?xml version="1.0" encoding="UTF-8" standalone="yes"?>
<Relationships xmlns="http://schemas.openxmlformats.org/package/2006/relationships"><Relationship Id="rId8" Type="http://schemas.openxmlformats.org/officeDocument/2006/relationships/image" Target="../media/image140.wmf"/><Relationship Id="rId3" Type="http://schemas.openxmlformats.org/officeDocument/2006/relationships/oleObject" Target="../embeddings/oleObject21.bin"/><Relationship Id="rId7" Type="http://schemas.openxmlformats.org/officeDocument/2006/relationships/oleObject" Target="../embeddings/oleObject23.bin"/><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139.wmf"/><Relationship Id="rId5" Type="http://schemas.openxmlformats.org/officeDocument/2006/relationships/oleObject" Target="../embeddings/oleObject22.bin"/><Relationship Id="rId4" Type="http://schemas.openxmlformats.org/officeDocument/2006/relationships/image" Target="../media/image138.wmf"/></Relationships>
</file>

<file path=ppt/slides/_rels/slide84.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143.jpg"/></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4" name="object 4"/>
          <p:cNvSpPr/>
          <p:nvPr/>
        </p:nvSpPr>
        <p:spPr>
          <a:xfrm>
            <a:off x="-11655" y="4857750"/>
            <a:ext cx="9144000" cy="0"/>
          </a:xfrm>
          <a:custGeom>
            <a:avLst/>
            <a:gdLst/>
            <a:ahLst/>
            <a:cxnLst/>
            <a:rect l="l" t="t" r="r" b="b"/>
            <a:pathLst>
              <a:path w="9144000">
                <a:moveTo>
                  <a:pt x="0" y="0"/>
                </a:moveTo>
                <a:lnTo>
                  <a:pt x="9144000" y="1"/>
                </a:lnTo>
              </a:path>
            </a:pathLst>
          </a:custGeom>
          <a:ln w="25400">
            <a:solidFill>
              <a:schemeClr val="tx1"/>
            </a:solidFill>
          </a:ln>
        </p:spPr>
        <p:txBody>
          <a:bodyPr wrap="square" lIns="0" tIns="0" rIns="0" bIns="0" rtlCol="0"/>
          <a:lstStyle/>
          <a:p>
            <a:endParaRPr dirty="0"/>
          </a:p>
        </p:txBody>
      </p:sp>
      <p:grpSp>
        <p:nvGrpSpPr>
          <p:cNvPr id="6" name="object 6"/>
          <p:cNvGrpSpPr/>
          <p:nvPr/>
        </p:nvGrpSpPr>
        <p:grpSpPr>
          <a:xfrm>
            <a:off x="20881" y="1140531"/>
            <a:ext cx="9123119" cy="3285520"/>
            <a:chOff x="-44576" y="1100670"/>
            <a:chExt cx="9123119" cy="3285520"/>
          </a:xfrm>
        </p:grpSpPr>
        <p:sp>
          <p:nvSpPr>
            <p:cNvPr id="7" name="object 7"/>
            <p:cNvSpPr/>
            <p:nvPr/>
          </p:nvSpPr>
          <p:spPr>
            <a:xfrm>
              <a:off x="3063823" y="1100670"/>
              <a:ext cx="6014720" cy="72390"/>
            </a:xfrm>
            <a:custGeom>
              <a:avLst/>
              <a:gdLst/>
              <a:ahLst/>
              <a:cxnLst/>
              <a:rect l="l" t="t" r="r" b="b"/>
              <a:pathLst>
                <a:path w="6014720" h="72390">
                  <a:moveTo>
                    <a:pt x="5978231" y="0"/>
                  </a:moveTo>
                  <a:lnTo>
                    <a:pt x="35996" y="0"/>
                  </a:lnTo>
                  <a:lnTo>
                    <a:pt x="21985" y="2829"/>
                  </a:lnTo>
                  <a:lnTo>
                    <a:pt x="10543" y="10544"/>
                  </a:lnTo>
                  <a:lnTo>
                    <a:pt x="2828" y="21987"/>
                  </a:lnTo>
                  <a:lnTo>
                    <a:pt x="0" y="36000"/>
                  </a:lnTo>
                  <a:lnTo>
                    <a:pt x="2828" y="50013"/>
                  </a:lnTo>
                  <a:lnTo>
                    <a:pt x="10543" y="61456"/>
                  </a:lnTo>
                  <a:lnTo>
                    <a:pt x="21985" y="69171"/>
                  </a:lnTo>
                  <a:lnTo>
                    <a:pt x="35996" y="72000"/>
                  </a:lnTo>
                  <a:lnTo>
                    <a:pt x="5978231" y="72000"/>
                  </a:lnTo>
                  <a:lnTo>
                    <a:pt x="5992243" y="69171"/>
                  </a:lnTo>
                  <a:lnTo>
                    <a:pt x="6003685" y="61456"/>
                  </a:lnTo>
                  <a:lnTo>
                    <a:pt x="6011399" y="50013"/>
                  </a:lnTo>
                  <a:lnTo>
                    <a:pt x="6014228" y="36000"/>
                  </a:lnTo>
                  <a:lnTo>
                    <a:pt x="6011399" y="21987"/>
                  </a:lnTo>
                  <a:lnTo>
                    <a:pt x="6003685" y="10544"/>
                  </a:lnTo>
                  <a:lnTo>
                    <a:pt x="5992243" y="2829"/>
                  </a:lnTo>
                  <a:lnTo>
                    <a:pt x="5978231" y="0"/>
                  </a:lnTo>
                  <a:close/>
                </a:path>
              </a:pathLst>
            </a:custGeom>
            <a:solidFill>
              <a:schemeClr val="tx1"/>
            </a:solidFill>
            <a:ln>
              <a:solidFill>
                <a:schemeClr val="tx1"/>
              </a:solidFill>
            </a:ln>
          </p:spPr>
          <p:txBody>
            <a:bodyPr wrap="square" lIns="0" tIns="0" rIns="0" bIns="0" rtlCol="0"/>
            <a:lstStyle/>
            <a:p>
              <a:endParaRPr dirty="0"/>
            </a:p>
          </p:txBody>
        </p:sp>
        <p:pic>
          <p:nvPicPr>
            <p:cNvPr id="9" name="object 9"/>
            <p:cNvPicPr/>
            <p:nvPr/>
          </p:nvPicPr>
          <p:blipFill>
            <a:blip r:embed="rId3" cstate="print"/>
            <a:stretch>
              <a:fillRect/>
            </a:stretch>
          </p:blipFill>
          <p:spPr>
            <a:xfrm>
              <a:off x="4277943" y="4060054"/>
              <a:ext cx="326136" cy="326136"/>
            </a:xfrm>
            <a:prstGeom prst="rect">
              <a:avLst/>
            </a:prstGeom>
          </p:spPr>
        </p:pic>
        <p:sp>
          <p:nvSpPr>
            <p:cNvPr id="10" name="object 10"/>
            <p:cNvSpPr/>
            <p:nvPr/>
          </p:nvSpPr>
          <p:spPr>
            <a:xfrm>
              <a:off x="1114297" y="4171433"/>
              <a:ext cx="6652895" cy="83185"/>
            </a:xfrm>
            <a:custGeom>
              <a:avLst/>
              <a:gdLst/>
              <a:ahLst/>
              <a:cxnLst/>
              <a:rect l="l" t="t" r="r" b="b"/>
              <a:pathLst>
                <a:path w="6652895" h="83185">
                  <a:moveTo>
                    <a:pt x="3013265" y="46761"/>
                  </a:moveTo>
                  <a:lnTo>
                    <a:pt x="3010433" y="32753"/>
                  </a:lnTo>
                  <a:lnTo>
                    <a:pt x="3002724" y="21310"/>
                  </a:lnTo>
                  <a:lnTo>
                    <a:pt x="2991281" y="13589"/>
                  </a:lnTo>
                  <a:lnTo>
                    <a:pt x="2977261" y="10756"/>
                  </a:lnTo>
                  <a:lnTo>
                    <a:pt x="36004" y="10756"/>
                  </a:lnTo>
                  <a:lnTo>
                    <a:pt x="21996" y="13589"/>
                  </a:lnTo>
                  <a:lnTo>
                    <a:pt x="10553" y="21310"/>
                  </a:lnTo>
                  <a:lnTo>
                    <a:pt x="2832" y="32753"/>
                  </a:lnTo>
                  <a:lnTo>
                    <a:pt x="0" y="46761"/>
                  </a:lnTo>
                  <a:lnTo>
                    <a:pt x="2832" y="60769"/>
                  </a:lnTo>
                  <a:lnTo>
                    <a:pt x="10553" y="72224"/>
                  </a:lnTo>
                  <a:lnTo>
                    <a:pt x="21996" y="79933"/>
                  </a:lnTo>
                  <a:lnTo>
                    <a:pt x="36004" y="82765"/>
                  </a:lnTo>
                  <a:lnTo>
                    <a:pt x="2977261" y="82765"/>
                  </a:lnTo>
                  <a:lnTo>
                    <a:pt x="2991269" y="79933"/>
                  </a:lnTo>
                  <a:lnTo>
                    <a:pt x="3002711" y="72224"/>
                  </a:lnTo>
                  <a:lnTo>
                    <a:pt x="3010433" y="60782"/>
                  </a:lnTo>
                  <a:lnTo>
                    <a:pt x="3013265" y="46761"/>
                  </a:lnTo>
                  <a:close/>
                </a:path>
                <a:path w="6652895" h="83185">
                  <a:moveTo>
                    <a:pt x="6652679" y="36004"/>
                  </a:moveTo>
                  <a:lnTo>
                    <a:pt x="6649847" y="21983"/>
                  </a:lnTo>
                  <a:lnTo>
                    <a:pt x="6642138" y="10541"/>
                  </a:lnTo>
                  <a:lnTo>
                    <a:pt x="6630695" y="2832"/>
                  </a:lnTo>
                  <a:lnTo>
                    <a:pt x="6616674" y="0"/>
                  </a:lnTo>
                  <a:lnTo>
                    <a:pt x="3675418" y="0"/>
                  </a:lnTo>
                  <a:lnTo>
                    <a:pt x="3661410" y="2832"/>
                  </a:lnTo>
                  <a:lnTo>
                    <a:pt x="3649967" y="10541"/>
                  </a:lnTo>
                  <a:lnTo>
                    <a:pt x="3642245" y="21983"/>
                  </a:lnTo>
                  <a:lnTo>
                    <a:pt x="3639413" y="36004"/>
                  </a:lnTo>
                  <a:lnTo>
                    <a:pt x="3642245" y="50012"/>
                  </a:lnTo>
                  <a:lnTo>
                    <a:pt x="3649967" y="61455"/>
                  </a:lnTo>
                  <a:lnTo>
                    <a:pt x="3661410" y="69176"/>
                  </a:lnTo>
                  <a:lnTo>
                    <a:pt x="3675418" y="71996"/>
                  </a:lnTo>
                  <a:lnTo>
                    <a:pt x="6616674" y="72009"/>
                  </a:lnTo>
                  <a:lnTo>
                    <a:pt x="6630695" y="69176"/>
                  </a:lnTo>
                  <a:lnTo>
                    <a:pt x="6642138" y="61455"/>
                  </a:lnTo>
                  <a:lnTo>
                    <a:pt x="6649847" y="50012"/>
                  </a:lnTo>
                  <a:lnTo>
                    <a:pt x="6652679" y="36004"/>
                  </a:lnTo>
                  <a:close/>
                </a:path>
              </a:pathLst>
            </a:custGeom>
            <a:solidFill>
              <a:schemeClr val="tx1"/>
            </a:solidFill>
            <a:ln>
              <a:solidFill>
                <a:schemeClr val="tx1"/>
              </a:solidFill>
            </a:ln>
          </p:spPr>
          <p:txBody>
            <a:bodyPr wrap="square" lIns="0" tIns="0" rIns="0" bIns="0" rtlCol="0"/>
            <a:lstStyle/>
            <a:p>
              <a:endParaRPr dirty="0"/>
            </a:p>
          </p:txBody>
        </p:sp>
        <p:sp>
          <p:nvSpPr>
            <p:cNvPr id="11" name="object 11"/>
            <p:cNvSpPr/>
            <p:nvPr/>
          </p:nvSpPr>
          <p:spPr>
            <a:xfrm>
              <a:off x="3052168" y="3642513"/>
              <a:ext cx="6014720" cy="72390"/>
            </a:xfrm>
            <a:custGeom>
              <a:avLst/>
              <a:gdLst/>
              <a:ahLst/>
              <a:cxnLst/>
              <a:rect l="l" t="t" r="r" b="b"/>
              <a:pathLst>
                <a:path w="6014720" h="72389">
                  <a:moveTo>
                    <a:pt x="5978231" y="0"/>
                  </a:moveTo>
                  <a:lnTo>
                    <a:pt x="35996" y="0"/>
                  </a:lnTo>
                  <a:lnTo>
                    <a:pt x="21985" y="2829"/>
                  </a:lnTo>
                  <a:lnTo>
                    <a:pt x="10543" y="10544"/>
                  </a:lnTo>
                  <a:lnTo>
                    <a:pt x="2828" y="21986"/>
                  </a:lnTo>
                  <a:lnTo>
                    <a:pt x="0" y="35999"/>
                  </a:lnTo>
                  <a:lnTo>
                    <a:pt x="2828" y="50012"/>
                  </a:lnTo>
                  <a:lnTo>
                    <a:pt x="10543" y="61455"/>
                  </a:lnTo>
                  <a:lnTo>
                    <a:pt x="21985" y="69171"/>
                  </a:lnTo>
                  <a:lnTo>
                    <a:pt x="35996" y="72000"/>
                  </a:lnTo>
                  <a:lnTo>
                    <a:pt x="5978231" y="72000"/>
                  </a:lnTo>
                  <a:lnTo>
                    <a:pt x="5992243" y="69171"/>
                  </a:lnTo>
                  <a:lnTo>
                    <a:pt x="6003685" y="61455"/>
                  </a:lnTo>
                  <a:lnTo>
                    <a:pt x="6011399" y="50012"/>
                  </a:lnTo>
                  <a:lnTo>
                    <a:pt x="6014228" y="35999"/>
                  </a:lnTo>
                  <a:lnTo>
                    <a:pt x="6011399" y="21986"/>
                  </a:lnTo>
                  <a:lnTo>
                    <a:pt x="6003685" y="10544"/>
                  </a:lnTo>
                  <a:lnTo>
                    <a:pt x="5992243" y="2829"/>
                  </a:lnTo>
                  <a:lnTo>
                    <a:pt x="5978231" y="0"/>
                  </a:lnTo>
                  <a:close/>
                </a:path>
              </a:pathLst>
            </a:custGeom>
            <a:solidFill>
              <a:schemeClr val="tx1"/>
            </a:solidFill>
            <a:ln>
              <a:solidFill>
                <a:schemeClr val="tx1"/>
              </a:solidFill>
            </a:ln>
          </p:spPr>
          <p:txBody>
            <a:bodyPr wrap="square" lIns="0" tIns="0" rIns="0" bIns="0" rtlCol="0"/>
            <a:lstStyle/>
            <a:p>
              <a:endParaRPr dirty="0"/>
            </a:p>
          </p:txBody>
        </p:sp>
        <p:sp>
          <p:nvSpPr>
            <p:cNvPr id="18" name="object 7">
              <a:extLst>
                <a:ext uri="{FF2B5EF4-FFF2-40B4-BE49-F238E27FC236}">
                  <a16:creationId xmlns:a16="http://schemas.microsoft.com/office/drawing/2014/main" id="{637AACC0-9889-C865-E520-5EA6CBFCB6BF}"/>
                </a:ext>
              </a:extLst>
            </p:cNvPr>
            <p:cNvSpPr/>
            <p:nvPr/>
          </p:nvSpPr>
          <p:spPr>
            <a:xfrm>
              <a:off x="-44576" y="2778617"/>
              <a:ext cx="6014720" cy="72390"/>
            </a:xfrm>
            <a:custGeom>
              <a:avLst/>
              <a:gdLst/>
              <a:ahLst/>
              <a:cxnLst/>
              <a:rect l="l" t="t" r="r" b="b"/>
              <a:pathLst>
                <a:path w="6014720" h="72390">
                  <a:moveTo>
                    <a:pt x="5978231" y="0"/>
                  </a:moveTo>
                  <a:lnTo>
                    <a:pt x="35996" y="0"/>
                  </a:lnTo>
                  <a:lnTo>
                    <a:pt x="21985" y="2829"/>
                  </a:lnTo>
                  <a:lnTo>
                    <a:pt x="10543" y="10544"/>
                  </a:lnTo>
                  <a:lnTo>
                    <a:pt x="2828" y="21987"/>
                  </a:lnTo>
                  <a:lnTo>
                    <a:pt x="0" y="36000"/>
                  </a:lnTo>
                  <a:lnTo>
                    <a:pt x="2828" y="50013"/>
                  </a:lnTo>
                  <a:lnTo>
                    <a:pt x="10543" y="61456"/>
                  </a:lnTo>
                  <a:lnTo>
                    <a:pt x="21985" y="69171"/>
                  </a:lnTo>
                  <a:lnTo>
                    <a:pt x="35996" y="72000"/>
                  </a:lnTo>
                  <a:lnTo>
                    <a:pt x="5978231" y="72000"/>
                  </a:lnTo>
                  <a:lnTo>
                    <a:pt x="5992243" y="69171"/>
                  </a:lnTo>
                  <a:lnTo>
                    <a:pt x="6003685" y="61456"/>
                  </a:lnTo>
                  <a:lnTo>
                    <a:pt x="6011399" y="50013"/>
                  </a:lnTo>
                  <a:lnTo>
                    <a:pt x="6014228" y="36000"/>
                  </a:lnTo>
                  <a:lnTo>
                    <a:pt x="6011399" y="21987"/>
                  </a:lnTo>
                  <a:lnTo>
                    <a:pt x="6003685" y="10544"/>
                  </a:lnTo>
                  <a:lnTo>
                    <a:pt x="5992243" y="2829"/>
                  </a:lnTo>
                  <a:lnTo>
                    <a:pt x="5978231" y="0"/>
                  </a:lnTo>
                  <a:close/>
                </a:path>
              </a:pathLst>
            </a:custGeom>
            <a:solidFill>
              <a:schemeClr val="tx1"/>
            </a:solidFill>
            <a:ln>
              <a:solidFill>
                <a:schemeClr val="tx1"/>
              </a:solidFill>
            </a:ln>
          </p:spPr>
          <p:txBody>
            <a:bodyPr wrap="square" lIns="0" tIns="0" rIns="0" bIns="0" rtlCol="0"/>
            <a:lstStyle/>
            <a:p>
              <a:endParaRPr dirty="0"/>
            </a:p>
          </p:txBody>
        </p:sp>
      </p:grpSp>
      <p:sp>
        <p:nvSpPr>
          <p:cNvPr id="12" name="object 12"/>
          <p:cNvSpPr txBox="1"/>
          <p:nvPr/>
        </p:nvSpPr>
        <p:spPr>
          <a:xfrm>
            <a:off x="1179754" y="3116920"/>
            <a:ext cx="7239000" cy="351378"/>
          </a:xfrm>
          <a:prstGeom prst="rect">
            <a:avLst/>
          </a:prstGeom>
          <a:solidFill>
            <a:srgbClr val="00FF00"/>
          </a:solidFill>
        </p:spPr>
        <p:txBody>
          <a:bodyPr vert="horz" wrap="square" lIns="0" tIns="12700" rIns="0" bIns="0" rtlCol="0">
            <a:spAutoFit/>
          </a:bodyPr>
          <a:lstStyle/>
          <a:p>
            <a:pPr marL="12700" algn="ctr">
              <a:spcBef>
                <a:spcPts val="100"/>
              </a:spcBef>
            </a:pPr>
            <a:r>
              <a:rPr lang="fr-FR" sz="2200" b="1" dirty="0">
                <a:latin typeface="Bookman Old Style" panose="02050604050505020204" pitchFamily="18" charset="0"/>
                <a:ea typeface="+mj-ea"/>
                <a:cs typeface="Arial"/>
              </a:rPr>
              <a:t>CIRCUITS ELECTRIQUES ET ELECTRONIQUES</a:t>
            </a:r>
            <a:endParaRPr sz="2200" b="1" dirty="0">
              <a:latin typeface="Bookman Old Style" panose="02050604050505020204" pitchFamily="18" charset="0"/>
              <a:ea typeface="+mj-ea"/>
              <a:cs typeface="Arial"/>
            </a:endParaRPr>
          </a:p>
        </p:txBody>
      </p:sp>
      <p:sp>
        <p:nvSpPr>
          <p:cNvPr id="13" name="object 13"/>
          <p:cNvSpPr txBox="1"/>
          <p:nvPr/>
        </p:nvSpPr>
        <p:spPr>
          <a:xfrm>
            <a:off x="2497425" y="4452465"/>
            <a:ext cx="6746774" cy="684803"/>
          </a:xfrm>
          <a:prstGeom prst="rect">
            <a:avLst/>
          </a:prstGeom>
        </p:spPr>
        <p:txBody>
          <a:bodyPr vert="horz" wrap="square" lIns="0" tIns="12700" rIns="0" bIns="0" rtlCol="0">
            <a:spAutoFit/>
          </a:bodyPr>
          <a:lstStyle/>
          <a:p>
            <a:pPr marL="12700">
              <a:lnSpc>
                <a:spcPct val="100000"/>
              </a:lnSpc>
              <a:spcBef>
                <a:spcPts val="100"/>
              </a:spcBef>
            </a:pPr>
            <a:endParaRPr lang="fr-FR" sz="1400" b="1" spc="-5" dirty="0">
              <a:solidFill>
                <a:schemeClr val="bg1"/>
              </a:solidFill>
              <a:latin typeface="Arial"/>
              <a:cs typeface="Arial"/>
            </a:endParaRPr>
          </a:p>
          <a:p>
            <a:pPr marL="12700">
              <a:lnSpc>
                <a:spcPct val="100000"/>
              </a:lnSpc>
              <a:spcBef>
                <a:spcPts val="100"/>
              </a:spcBef>
            </a:pPr>
            <a:endParaRPr lang="fr-FR" sz="1400" b="1" spc="-5" dirty="0">
              <a:solidFill>
                <a:schemeClr val="bg1"/>
              </a:solidFill>
              <a:latin typeface="Arial"/>
              <a:cs typeface="Arial"/>
            </a:endParaRPr>
          </a:p>
          <a:p>
            <a:pPr marL="12700">
              <a:lnSpc>
                <a:spcPct val="100000"/>
              </a:lnSpc>
              <a:spcBef>
                <a:spcPts val="100"/>
              </a:spcBef>
            </a:pPr>
            <a:r>
              <a:rPr lang="fr-FR" sz="1400" b="1" spc="-5" dirty="0">
                <a:solidFill>
                  <a:schemeClr val="bg1"/>
                </a:solidFill>
                <a:latin typeface="Bookman Old Style" panose="02050604050505020204" pitchFamily="18" charset="0"/>
                <a:cs typeface="Arial"/>
              </a:rPr>
              <a:t>                                                           </a:t>
            </a:r>
            <a:r>
              <a:rPr sz="1400" b="1" spc="-5" dirty="0" err="1">
                <a:latin typeface="Bookman Old Style" panose="02050604050505020204" pitchFamily="18" charset="0"/>
                <a:cs typeface="Calibri"/>
              </a:rPr>
              <a:t>Année</a:t>
            </a:r>
            <a:r>
              <a:rPr sz="1400" b="1" spc="-10" dirty="0">
                <a:latin typeface="Bookman Old Style" panose="02050604050505020204" pitchFamily="18" charset="0"/>
                <a:cs typeface="Calibri"/>
              </a:rPr>
              <a:t> universitaire:</a:t>
            </a:r>
            <a:r>
              <a:rPr sz="1400" b="1" spc="310" dirty="0">
                <a:latin typeface="Bookman Old Style" panose="02050604050505020204" pitchFamily="18" charset="0"/>
                <a:cs typeface="Calibri"/>
              </a:rPr>
              <a:t> </a:t>
            </a:r>
            <a:r>
              <a:rPr sz="1400" b="1" spc="-5" dirty="0">
                <a:latin typeface="Bookman Old Style" panose="02050604050505020204" pitchFamily="18" charset="0"/>
                <a:cs typeface="Calibri"/>
              </a:rPr>
              <a:t>202</a:t>
            </a:r>
            <a:r>
              <a:rPr lang="fr-FR" sz="1400" b="1" spc="-5" dirty="0">
                <a:latin typeface="Bookman Old Style" panose="02050604050505020204" pitchFamily="18" charset="0"/>
                <a:cs typeface="Calibri"/>
              </a:rPr>
              <a:t>4</a:t>
            </a:r>
            <a:r>
              <a:rPr sz="1400" b="1" spc="-5" dirty="0">
                <a:latin typeface="Bookman Old Style" panose="02050604050505020204" pitchFamily="18" charset="0"/>
                <a:cs typeface="Calibri"/>
              </a:rPr>
              <a:t>/202</a:t>
            </a:r>
            <a:r>
              <a:rPr lang="fr-FR" sz="1400" b="1" spc="-5" dirty="0">
                <a:latin typeface="Bookman Old Style" panose="02050604050505020204" pitchFamily="18" charset="0"/>
                <a:cs typeface="Calibri"/>
              </a:rPr>
              <a:t>5</a:t>
            </a:r>
            <a:endParaRPr sz="1400" dirty="0">
              <a:latin typeface="Bookman Old Style" panose="02050604050505020204" pitchFamily="18" charset="0"/>
              <a:cs typeface="Calibri"/>
            </a:endParaRPr>
          </a:p>
        </p:txBody>
      </p:sp>
      <p:sp>
        <p:nvSpPr>
          <p:cNvPr id="21" name="object 17"/>
          <p:cNvSpPr/>
          <p:nvPr/>
        </p:nvSpPr>
        <p:spPr>
          <a:xfrm>
            <a:off x="6629400" y="338955"/>
            <a:ext cx="2481438" cy="93344"/>
          </a:xfrm>
          <a:custGeom>
            <a:avLst/>
            <a:gdLst/>
            <a:ahLst/>
            <a:cxnLst/>
            <a:rect l="l" t="t" r="r" b="b"/>
            <a:pathLst>
              <a:path w="2707640" h="93345">
                <a:moveTo>
                  <a:pt x="2660455" y="0"/>
                </a:moveTo>
                <a:lnTo>
                  <a:pt x="46624" y="0"/>
                </a:lnTo>
                <a:lnTo>
                  <a:pt x="28476" y="3664"/>
                </a:lnTo>
                <a:lnTo>
                  <a:pt x="13656" y="13656"/>
                </a:lnTo>
                <a:lnTo>
                  <a:pt x="3664" y="28476"/>
                </a:lnTo>
                <a:lnTo>
                  <a:pt x="0" y="46622"/>
                </a:lnTo>
                <a:lnTo>
                  <a:pt x="3664" y="64771"/>
                </a:lnTo>
                <a:lnTo>
                  <a:pt x="13656" y="79592"/>
                </a:lnTo>
                <a:lnTo>
                  <a:pt x="28476" y="89584"/>
                </a:lnTo>
                <a:lnTo>
                  <a:pt x="46624" y="93248"/>
                </a:lnTo>
                <a:lnTo>
                  <a:pt x="2660451" y="93252"/>
                </a:lnTo>
                <a:lnTo>
                  <a:pt x="2678600" y="89588"/>
                </a:lnTo>
                <a:lnTo>
                  <a:pt x="2693420" y="79595"/>
                </a:lnTo>
                <a:lnTo>
                  <a:pt x="2703413" y="64774"/>
                </a:lnTo>
                <a:lnTo>
                  <a:pt x="2707079" y="46625"/>
                </a:lnTo>
                <a:lnTo>
                  <a:pt x="2703415" y="28476"/>
                </a:lnTo>
                <a:lnTo>
                  <a:pt x="2693424" y="13656"/>
                </a:lnTo>
                <a:lnTo>
                  <a:pt x="2678603" y="3664"/>
                </a:lnTo>
                <a:lnTo>
                  <a:pt x="2660455" y="0"/>
                </a:lnTo>
                <a:close/>
              </a:path>
            </a:pathLst>
          </a:custGeom>
          <a:solidFill>
            <a:schemeClr val="tx1"/>
          </a:solidFill>
          <a:ln>
            <a:solidFill>
              <a:schemeClr val="tx1"/>
            </a:solidFill>
          </a:ln>
        </p:spPr>
        <p:txBody>
          <a:bodyPr wrap="square" lIns="0" tIns="0" rIns="0" bIns="0" rtlCol="0"/>
          <a:lstStyle/>
          <a:p>
            <a:endParaRPr dirty="0"/>
          </a:p>
        </p:txBody>
      </p:sp>
      <p:pic>
        <p:nvPicPr>
          <p:cNvPr id="28" name="Image 2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39778" y="4469"/>
            <a:ext cx="3700570" cy="867770"/>
          </a:xfrm>
          <a:prstGeom prst="rect">
            <a:avLst/>
          </a:prstGeom>
        </p:spPr>
      </p:pic>
      <p:sp>
        <p:nvSpPr>
          <p:cNvPr id="29" name="object 17"/>
          <p:cNvSpPr/>
          <p:nvPr/>
        </p:nvSpPr>
        <p:spPr>
          <a:xfrm>
            <a:off x="33162" y="338955"/>
            <a:ext cx="2481438" cy="93344"/>
          </a:xfrm>
          <a:custGeom>
            <a:avLst/>
            <a:gdLst/>
            <a:ahLst/>
            <a:cxnLst/>
            <a:rect l="l" t="t" r="r" b="b"/>
            <a:pathLst>
              <a:path w="2707640" h="93345">
                <a:moveTo>
                  <a:pt x="2660455" y="0"/>
                </a:moveTo>
                <a:lnTo>
                  <a:pt x="46624" y="0"/>
                </a:lnTo>
                <a:lnTo>
                  <a:pt x="28476" y="3664"/>
                </a:lnTo>
                <a:lnTo>
                  <a:pt x="13656" y="13656"/>
                </a:lnTo>
                <a:lnTo>
                  <a:pt x="3664" y="28476"/>
                </a:lnTo>
                <a:lnTo>
                  <a:pt x="0" y="46622"/>
                </a:lnTo>
                <a:lnTo>
                  <a:pt x="3664" y="64771"/>
                </a:lnTo>
                <a:lnTo>
                  <a:pt x="13656" y="79592"/>
                </a:lnTo>
                <a:lnTo>
                  <a:pt x="28476" y="89584"/>
                </a:lnTo>
                <a:lnTo>
                  <a:pt x="46624" y="93248"/>
                </a:lnTo>
                <a:lnTo>
                  <a:pt x="2660451" y="93252"/>
                </a:lnTo>
                <a:lnTo>
                  <a:pt x="2678600" y="89588"/>
                </a:lnTo>
                <a:lnTo>
                  <a:pt x="2693420" y="79595"/>
                </a:lnTo>
                <a:lnTo>
                  <a:pt x="2703413" y="64774"/>
                </a:lnTo>
                <a:lnTo>
                  <a:pt x="2707079" y="46625"/>
                </a:lnTo>
                <a:lnTo>
                  <a:pt x="2703415" y="28476"/>
                </a:lnTo>
                <a:lnTo>
                  <a:pt x="2693424" y="13656"/>
                </a:lnTo>
                <a:lnTo>
                  <a:pt x="2678603" y="3664"/>
                </a:lnTo>
                <a:lnTo>
                  <a:pt x="2660455" y="0"/>
                </a:lnTo>
                <a:close/>
              </a:path>
            </a:pathLst>
          </a:custGeom>
          <a:solidFill>
            <a:schemeClr val="tx1"/>
          </a:solidFill>
          <a:ln>
            <a:solidFill>
              <a:schemeClr val="tx1"/>
            </a:solidFill>
          </a:ln>
        </p:spPr>
        <p:txBody>
          <a:bodyPr wrap="square" lIns="0" tIns="0" rIns="0" bIns="0" rtlCol="0"/>
          <a:lstStyle/>
          <a:p>
            <a:endParaRPr dirty="0"/>
          </a:p>
        </p:txBody>
      </p:sp>
      <p:sp>
        <p:nvSpPr>
          <p:cNvPr id="17" name="TextBox 16">
            <a:extLst>
              <a:ext uri="{FF2B5EF4-FFF2-40B4-BE49-F238E27FC236}">
                <a16:creationId xmlns:a16="http://schemas.microsoft.com/office/drawing/2014/main" id="{92F5B5D0-6D27-C0B7-6123-6808C4258A70}"/>
              </a:ext>
            </a:extLst>
          </p:cNvPr>
          <p:cNvSpPr txBox="1"/>
          <p:nvPr/>
        </p:nvSpPr>
        <p:spPr>
          <a:xfrm>
            <a:off x="3365802" y="4324699"/>
            <a:ext cx="2607468" cy="800219"/>
          </a:xfrm>
          <a:prstGeom prst="rect">
            <a:avLst/>
          </a:prstGeom>
          <a:noFill/>
        </p:spPr>
        <p:txBody>
          <a:bodyPr wrap="square" rtlCol="0">
            <a:spAutoFit/>
          </a:bodyPr>
          <a:lstStyle/>
          <a:p>
            <a:r>
              <a:rPr lang="fr-FR" sz="1800" b="1" dirty="0">
                <a:latin typeface="Bookman Old Style" panose="02050604050505020204" pitchFamily="18" charset="0"/>
                <a:cs typeface="Arial"/>
              </a:rPr>
              <a:t>Pr.</a:t>
            </a:r>
            <a:r>
              <a:rPr lang="fr-FR" sz="1800" b="1" spc="-35" dirty="0">
                <a:latin typeface="Bookman Old Style" panose="02050604050505020204" pitchFamily="18" charset="0"/>
                <a:cs typeface="Arial"/>
              </a:rPr>
              <a:t> </a:t>
            </a:r>
            <a:r>
              <a:rPr lang="fr-FR" sz="1800" b="1" spc="-5" dirty="0">
                <a:latin typeface="Bookman Old Style" panose="02050604050505020204" pitchFamily="18" charset="0"/>
                <a:cs typeface="Arial"/>
              </a:rPr>
              <a:t>L. EL HAJJAMI</a:t>
            </a:r>
          </a:p>
          <a:p>
            <a:r>
              <a:rPr lang="fr-FR" sz="1000" b="1" spc="-5" dirty="0">
                <a:latin typeface="Bookman Old Style" panose="02050604050505020204" pitchFamily="18" charset="0"/>
                <a:cs typeface="Arial"/>
              </a:rPr>
              <a:t>      l.elhajjami@usms.ac.ma</a:t>
            </a:r>
            <a:endParaRPr lang="fr-FR" sz="1000" b="1" dirty="0">
              <a:latin typeface="Bookman Old Style" panose="02050604050505020204" pitchFamily="18" charset="0"/>
              <a:cs typeface="Arial"/>
            </a:endParaRPr>
          </a:p>
          <a:p>
            <a:endParaRPr lang="fr-FR" dirty="0"/>
          </a:p>
        </p:txBody>
      </p:sp>
      <p:sp>
        <p:nvSpPr>
          <p:cNvPr id="15" name="TextBox 14">
            <a:extLst>
              <a:ext uri="{FF2B5EF4-FFF2-40B4-BE49-F238E27FC236}">
                <a16:creationId xmlns:a16="http://schemas.microsoft.com/office/drawing/2014/main" id="{6CB76610-C08F-972D-F25A-69D8D7B02FE0}"/>
              </a:ext>
            </a:extLst>
          </p:cNvPr>
          <p:cNvSpPr txBox="1"/>
          <p:nvPr/>
        </p:nvSpPr>
        <p:spPr>
          <a:xfrm>
            <a:off x="1227455" y="1243967"/>
            <a:ext cx="6705599" cy="1508105"/>
          </a:xfrm>
          <a:prstGeom prst="rect">
            <a:avLst/>
          </a:prstGeom>
          <a:noFill/>
        </p:spPr>
        <p:txBody>
          <a:bodyPr wrap="square">
            <a:spAutoFit/>
          </a:bodyPr>
          <a:lstStyle/>
          <a:p>
            <a:pPr algn="ctr"/>
            <a:r>
              <a:rPr lang="fr-FR" sz="2000" b="1" u="sng" dirty="0">
                <a:latin typeface="Bookman Old Style" panose="02050604050505020204" pitchFamily="18" charset="0"/>
                <a:ea typeface="+mj-ea"/>
                <a:cs typeface="Arial"/>
              </a:rPr>
              <a:t>DEUST : </a:t>
            </a:r>
          </a:p>
          <a:p>
            <a:pPr marL="171450" indent="-171450" algn="ctr">
              <a:buFont typeface="Arial" panose="020B0604020202020204" pitchFamily="34" charset="0"/>
              <a:buChar char="•"/>
            </a:pPr>
            <a:r>
              <a:rPr lang="fr-FR" sz="1200" b="1" dirty="0">
                <a:latin typeface="Bookman Old Style" panose="02050604050505020204" pitchFamily="18" charset="0"/>
                <a:ea typeface="+mj-ea"/>
                <a:cs typeface="Arial"/>
              </a:rPr>
              <a:t>Génie Electrique et Systèmes Embarqués</a:t>
            </a:r>
          </a:p>
          <a:p>
            <a:pPr marL="171450" indent="-171450" algn="ctr">
              <a:buFont typeface="Arial" panose="020B0604020202020204" pitchFamily="34" charset="0"/>
              <a:buChar char="•"/>
            </a:pPr>
            <a:r>
              <a:rPr lang="fr-FR" sz="1200" dirty="0">
                <a:latin typeface="Bookman Old Style" panose="02050604050505020204" pitchFamily="18" charset="0"/>
                <a:ea typeface="+mj-ea"/>
                <a:cs typeface="Arial"/>
              </a:rPr>
              <a:t>Génie Physique</a:t>
            </a:r>
          </a:p>
          <a:p>
            <a:pPr marL="171450" indent="-171450" algn="ctr">
              <a:buFont typeface="Arial" panose="020B0604020202020204" pitchFamily="34" charset="0"/>
              <a:buChar char="•"/>
            </a:pPr>
            <a:r>
              <a:rPr lang="fr-FR" sz="1200" b="1" dirty="0">
                <a:latin typeface="Bookman Old Style" panose="02050604050505020204" pitchFamily="18" charset="0"/>
                <a:ea typeface="+mj-ea"/>
                <a:cs typeface="Arial"/>
              </a:rPr>
              <a:t>Génie Mécanique et Systèmes Industriels</a:t>
            </a:r>
          </a:p>
          <a:p>
            <a:pPr marL="171450" indent="-171450" algn="ctr">
              <a:buFont typeface="Arial" panose="020B0604020202020204" pitchFamily="34" charset="0"/>
              <a:buChar char="•"/>
            </a:pPr>
            <a:r>
              <a:rPr lang="fr-FR" sz="1200" dirty="0">
                <a:latin typeface="Bookman Old Style" panose="02050604050505020204" pitchFamily="18" charset="0"/>
                <a:ea typeface="+mj-ea"/>
                <a:cs typeface="Arial"/>
              </a:rPr>
              <a:t>Génie Informatique</a:t>
            </a:r>
          </a:p>
          <a:p>
            <a:pPr marL="171450" indent="-171450" algn="ctr">
              <a:buFont typeface="Arial" panose="020B0604020202020204" pitchFamily="34" charset="0"/>
              <a:buChar char="•"/>
            </a:pPr>
            <a:r>
              <a:rPr lang="fr-FR" sz="1200" b="1" dirty="0">
                <a:latin typeface="Bookman Old Style" panose="02050604050505020204" pitchFamily="18" charset="0"/>
                <a:ea typeface="+mj-ea"/>
                <a:cs typeface="Arial"/>
              </a:rPr>
              <a:t>Génie Chimique</a:t>
            </a:r>
          </a:p>
          <a:p>
            <a:pPr marL="171450" indent="-171450" algn="ctr">
              <a:buFont typeface="Arial" panose="020B0604020202020204" pitchFamily="34" charset="0"/>
              <a:buChar char="•"/>
            </a:pPr>
            <a:r>
              <a:rPr lang="fr-FR" sz="1200" dirty="0">
                <a:latin typeface="Bookman Old Style" panose="02050604050505020204" pitchFamily="18" charset="0"/>
                <a:ea typeface="+mj-ea"/>
                <a:cs typeface="Arial"/>
              </a:rPr>
              <a:t>Mathématiques et Sciences des Données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dirty="0">
              <a:latin typeface="Arial"/>
              <a:cs typeface="Arial"/>
            </a:endParaRPr>
          </a:p>
        </p:txBody>
      </p:sp>
      <p:sp>
        <p:nvSpPr>
          <p:cNvPr id="46" name="object 46"/>
          <p:cNvSpPr txBox="1"/>
          <p:nvPr/>
        </p:nvSpPr>
        <p:spPr>
          <a:xfrm>
            <a:off x="8792511" y="4819418"/>
            <a:ext cx="245745" cy="330200"/>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2</a:t>
            </a:fld>
            <a:endParaRPr sz="2400" dirty="0">
              <a:latin typeface="Arial"/>
              <a:cs typeface="Arial"/>
            </a:endParaRPr>
          </a:p>
        </p:txBody>
      </p:sp>
      <p:sp>
        <p:nvSpPr>
          <p:cNvPr id="15" name="Rectangle 14"/>
          <p:cNvSpPr/>
          <p:nvPr/>
        </p:nvSpPr>
        <p:spPr>
          <a:xfrm>
            <a:off x="3038585" y="187064"/>
            <a:ext cx="2997218" cy="430887"/>
          </a:xfrm>
          <a:prstGeom prst="rect">
            <a:avLst/>
          </a:prstGeom>
        </p:spPr>
        <p:txBody>
          <a:bodyPr wrap="square">
            <a:spAutoFit/>
          </a:bodyPr>
          <a:lstStyle/>
          <a:p>
            <a:pPr marL="12065" lvl="1" algn="ctr">
              <a:lnSpc>
                <a:spcPct val="100000"/>
              </a:lnSpc>
              <a:spcBef>
                <a:spcPts val="100"/>
              </a:spcBef>
              <a:tabLst>
                <a:tab pos="393700" algn="l"/>
              </a:tabLst>
            </a:pPr>
            <a:r>
              <a:rPr lang="fr-FR" sz="2200" b="1" spc="-5" dirty="0">
                <a:solidFill>
                  <a:srgbClr val="FF0000"/>
                </a:solidFill>
                <a:latin typeface="Bookman Old Style" panose="02050604050505020204" pitchFamily="18" charset="0"/>
                <a:cs typeface="Arial"/>
              </a:rPr>
              <a:t>Avant-propos</a:t>
            </a: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5817050" y="525499"/>
            <a:ext cx="3200400" cy="14076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grpSp>
        <p:nvGrpSpPr>
          <p:cNvPr id="5" name="object 4">
            <a:extLst>
              <a:ext uri="{FF2B5EF4-FFF2-40B4-BE49-F238E27FC236}">
                <a16:creationId xmlns:a16="http://schemas.microsoft.com/office/drawing/2014/main" id="{BD02F06E-4D81-7F41-A020-343EF520B54D}"/>
              </a:ext>
            </a:extLst>
          </p:cNvPr>
          <p:cNvGrpSpPr/>
          <p:nvPr/>
        </p:nvGrpSpPr>
        <p:grpSpPr>
          <a:xfrm>
            <a:off x="121795" y="508888"/>
            <a:ext cx="3200400" cy="140767"/>
            <a:chOff x="1881480" y="350569"/>
            <a:chExt cx="7147385" cy="156271"/>
          </a:xfrm>
          <a:solidFill>
            <a:schemeClr val="tx1"/>
          </a:solidFill>
        </p:grpSpPr>
        <p:sp>
          <p:nvSpPr>
            <p:cNvPr id="17" name="object 5">
              <a:extLst>
                <a:ext uri="{FF2B5EF4-FFF2-40B4-BE49-F238E27FC236}">
                  <a16:creationId xmlns:a16="http://schemas.microsoft.com/office/drawing/2014/main" id="{84ADDCC2-6672-BAD4-FAE6-491B60846100}"/>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20" name="object 6">
              <a:extLst>
                <a:ext uri="{FF2B5EF4-FFF2-40B4-BE49-F238E27FC236}">
                  <a16:creationId xmlns:a16="http://schemas.microsoft.com/office/drawing/2014/main" id="{209CD14D-0D3D-5325-7633-2BCEE4283023}"/>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2" name="Half Frame 21">
            <a:extLst>
              <a:ext uri="{FF2B5EF4-FFF2-40B4-BE49-F238E27FC236}">
                <a16:creationId xmlns:a16="http://schemas.microsoft.com/office/drawing/2014/main" id="{DF04DACD-FBA3-E903-1A55-0A9DEB0ABAAF}"/>
              </a:ext>
            </a:extLst>
          </p:cNvPr>
          <p:cNvSpPr/>
          <p:nvPr/>
        </p:nvSpPr>
        <p:spPr>
          <a:xfrm rot="2705374">
            <a:off x="4288392" y="892858"/>
            <a:ext cx="497602" cy="472049"/>
          </a:xfrm>
          <a:prstGeom prst="halfFram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solidFill>
                <a:schemeClr val="tx1"/>
              </a:solidFill>
            </a:endParaRPr>
          </a:p>
        </p:txBody>
      </p:sp>
      <p:pic>
        <p:nvPicPr>
          <p:cNvPr id="3" name="Picture 2">
            <a:extLst>
              <a:ext uri="{FF2B5EF4-FFF2-40B4-BE49-F238E27FC236}">
                <a16:creationId xmlns:a16="http://schemas.microsoft.com/office/drawing/2014/main" id="{0DF25455-A923-68DB-1308-C9A5CEA764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75093" y="1734227"/>
            <a:ext cx="3124200" cy="2838561"/>
          </a:xfrm>
          <a:prstGeom prst="rect">
            <a:avLst/>
          </a:prstGeom>
        </p:spPr>
      </p:pic>
      <p:pic>
        <p:nvPicPr>
          <p:cNvPr id="6" name="Picture 5">
            <a:extLst>
              <a:ext uri="{FF2B5EF4-FFF2-40B4-BE49-F238E27FC236}">
                <a16:creationId xmlns:a16="http://schemas.microsoft.com/office/drawing/2014/main" id="{A55AF3DF-0A52-D980-C09D-D6D87ED7D1FC}"/>
              </a:ext>
            </a:extLst>
          </p:cNvPr>
          <p:cNvPicPr>
            <a:picLocks noChangeAspect="1"/>
          </p:cNvPicPr>
          <p:nvPr/>
        </p:nvPicPr>
        <p:blipFill>
          <a:blip r:embed="rId4"/>
          <a:stretch>
            <a:fillRect/>
          </a:stretch>
        </p:blipFill>
        <p:spPr>
          <a:xfrm>
            <a:off x="762000" y="1296489"/>
            <a:ext cx="7686058" cy="2395431"/>
          </a:xfrm>
          <a:prstGeom prst="rect">
            <a:avLst/>
          </a:prstGeom>
        </p:spPr>
      </p:pic>
    </p:spTree>
    <p:extLst>
      <p:ext uri="{BB962C8B-B14F-4D97-AF65-F5344CB8AC3E}">
        <p14:creationId xmlns:p14="http://schemas.microsoft.com/office/powerpoint/2010/main" val="2897823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arn(inVertical)">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 presetClass="exit" presetSubtype="4" fill="hold" nodeType="clickEffect">
                                  <p:stCondLst>
                                    <p:cond delay="0"/>
                                  </p:stCondLst>
                                  <p:childTnLst>
                                    <p:anim calcmode="lin" valueType="num">
                                      <p:cBhvr additive="base">
                                        <p:cTn id="11" dur="500"/>
                                        <p:tgtEl>
                                          <p:spTgt spid="6"/>
                                        </p:tgtEl>
                                        <p:attrNameLst>
                                          <p:attrName>ppt_x</p:attrName>
                                        </p:attrNameLst>
                                      </p:cBhvr>
                                      <p:tavLst>
                                        <p:tav tm="0">
                                          <p:val>
                                            <p:strVal val="ppt_x"/>
                                          </p:val>
                                        </p:tav>
                                        <p:tav tm="100000">
                                          <p:val>
                                            <p:strVal val="ppt_x"/>
                                          </p:val>
                                        </p:tav>
                                      </p:tavLst>
                                    </p:anim>
                                    <p:anim calcmode="lin" valueType="num">
                                      <p:cBhvr additive="base">
                                        <p:cTn id="12" dur="500"/>
                                        <p:tgtEl>
                                          <p:spTgt spid="6"/>
                                        </p:tgtEl>
                                        <p:attrNameLst>
                                          <p:attrName>ppt_y</p:attrName>
                                        </p:attrNameLst>
                                      </p:cBhvr>
                                      <p:tavLst>
                                        <p:tav tm="0">
                                          <p:val>
                                            <p:strVal val="ppt_y"/>
                                          </p:val>
                                        </p:tav>
                                        <p:tav tm="100000">
                                          <p:val>
                                            <p:strVal val="1+ppt_h/2"/>
                                          </p:val>
                                        </p:tav>
                                      </p:tavLst>
                                    </p:anim>
                                    <p:set>
                                      <p:cBhvr>
                                        <p:cTn id="13" dur="1" fill="hold">
                                          <p:stCondLst>
                                            <p:cond delay="499"/>
                                          </p:stCondLst>
                                        </p:cTn>
                                        <p:tgtEl>
                                          <p:spTgt spid="6"/>
                                        </p:tgtEl>
                                        <p:attrNameLst>
                                          <p:attrName>style.visibility</p:attrName>
                                        </p:attrNameLst>
                                      </p:cBhvr>
                                      <p:to>
                                        <p:strVal val="hidden"/>
                                      </p:to>
                                    </p:set>
                                  </p:childTnLst>
                                </p:cTn>
                              </p:par>
                              <p:par>
                                <p:cTn id="14" presetID="6" presetClass="entr" presetSubtype="16" fill="hold" nodeType="with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circle(in)">
                                      <p:cBhvr>
                                        <p:cTn id="16"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dirty="0">
              <a:latin typeface="Arial"/>
              <a:cs typeface="Arial"/>
            </a:endParaRPr>
          </a:p>
        </p:txBody>
      </p:sp>
      <p:grpSp>
        <p:nvGrpSpPr>
          <p:cNvPr id="11" name="object 11"/>
          <p:cNvGrpSpPr/>
          <p:nvPr/>
        </p:nvGrpSpPr>
        <p:grpSpPr>
          <a:xfrm>
            <a:off x="1828800" y="1033334"/>
            <a:ext cx="5715000" cy="1225746"/>
            <a:chOff x="695200" y="1293934"/>
            <a:chExt cx="8225155" cy="690246"/>
          </a:xfrm>
        </p:grpSpPr>
        <p:sp>
          <p:nvSpPr>
            <p:cNvPr id="12" name="object 12"/>
            <p:cNvSpPr/>
            <p:nvPr/>
          </p:nvSpPr>
          <p:spPr>
            <a:xfrm>
              <a:off x="695200" y="1293935"/>
              <a:ext cx="8225155"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13" name="object 13"/>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46" name="object 46"/>
          <p:cNvSpPr txBox="1"/>
          <p:nvPr/>
        </p:nvSpPr>
        <p:spPr>
          <a:xfrm>
            <a:off x="8792511" y="4819418"/>
            <a:ext cx="245745" cy="330200"/>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3</a:t>
            </a:fld>
            <a:endParaRPr sz="2400" dirty="0">
              <a:latin typeface="Arial"/>
              <a:cs typeface="Arial"/>
            </a:endParaRPr>
          </a:p>
        </p:txBody>
      </p:sp>
      <p:sp>
        <p:nvSpPr>
          <p:cNvPr id="15" name="Rectangle 14"/>
          <p:cNvSpPr/>
          <p:nvPr/>
        </p:nvSpPr>
        <p:spPr>
          <a:xfrm>
            <a:off x="3038585" y="187064"/>
            <a:ext cx="2997218" cy="430887"/>
          </a:xfrm>
          <a:prstGeom prst="rect">
            <a:avLst/>
          </a:prstGeom>
        </p:spPr>
        <p:txBody>
          <a:bodyPr wrap="square">
            <a:spAutoFit/>
          </a:bodyPr>
          <a:lstStyle/>
          <a:p>
            <a:pPr marL="12065" lvl="1" algn="ctr">
              <a:lnSpc>
                <a:spcPct val="100000"/>
              </a:lnSpc>
              <a:spcBef>
                <a:spcPts val="100"/>
              </a:spcBef>
              <a:tabLst>
                <a:tab pos="393700" algn="l"/>
              </a:tabLst>
            </a:pPr>
            <a:r>
              <a:rPr lang="fr-FR" sz="2200" b="1" spc="-5" dirty="0">
                <a:solidFill>
                  <a:srgbClr val="FF0000"/>
                </a:solidFill>
                <a:latin typeface="Bookman Old Style" panose="02050604050505020204" pitchFamily="18" charset="0"/>
                <a:cs typeface="Arial"/>
              </a:rPr>
              <a:t>Avant-propos</a:t>
            </a: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5817050" y="525499"/>
            <a:ext cx="3200400" cy="14076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1" name="TextBox 20">
            <a:extLst>
              <a:ext uri="{FF2B5EF4-FFF2-40B4-BE49-F238E27FC236}">
                <a16:creationId xmlns:a16="http://schemas.microsoft.com/office/drawing/2014/main" id="{A8325E06-8A90-68FD-3276-0A5C372BBE8B}"/>
              </a:ext>
            </a:extLst>
          </p:cNvPr>
          <p:cNvSpPr txBox="1"/>
          <p:nvPr/>
        </p:nvSpPr>
        <p:spPr>
          <a:xfrm>
            <a:off x="1905000" y="1010868"/>
            <a:ext cx="5460400" cy="1400383"/>
          </a:xfrm>
          <a:prstGeom prst="rect">
            <a:avLst/>
          </a:prstGeom>
          <a:noFill/>
        </p:spPr>
        <p:txBody>
          <a:bodyPr wrap="square">
            <a:spAutoFit/>
          </a:bodyPr>
          <a:lstStyle/>
          <a:p>
            <a:pPr algn="ctr"/>
            <a:r>
              <a:rPr lang="fr-FR" sz="1500" b="1" spc="-5" dirty="0">
                <a:solidFill>
                  <a:srgbClr val="FF0000"/>
                </a:solidFill>
                <a:latin typeface="Bookman Old Style" panose="02050604050505020204" pitchFamily="18" charset="0"/>
                <a:cs typeface="Arial"/>
              </a:rPr>
              <a:t>Électricité</a:t>
            </a:r>
          </a:p>
          <a:p>
            <a:pPr algn="ctr"/>
            <a:r>
              <a:rPr lang="fr-FR" sz="1400" spc="-5" dirty="0">
                <a:latin typeface="Bookman Old Style" panose="02050604050505020204" pitchFamily="18" charset="0"/>
                <a:cs typeface="Arial"/>
              </a:rPr>
              <a:t>Est</a:t>
            </a:r>
            <a:r>
              <a:rPr lang="fr-FR" sz="1400" b="1" spc="-5" dirty="0">
                <a:solidFill>
                  <a:srgbClr val="FF0000"/>
                </a:solidFill>
                <a:latin typeface="Bookman Old Style" panose="02050604050505020204" pitchFamily="18" charset="0"/>
                <a:cs typeface="Arial"/>
              </a:rPr>
              <a:t> </a:t>
            </a:r>
            <a:r>
              <a:rPr lang="fr-FR" sz="1400" spc="-5" dirty="0">
                <a:latin typeface="Bookman Old Style" panose="02050604050505020204" pitchFamily="18" charset="0"/>
                <a:cs typeface="Arial"/>
              </a:rPr>
              <a:t>l</a:t>
            </a:r>
            <a:r>
              <a:rPr lang="fr-FR" sz="1400" dirty="0">
                <a:latin typeface="Bookman Old Style" panose="02050604050505020204" pitchFamily="18" charset="0"/>
              </a:rPr>
              <a:t>a science qui étudie le fait que lorsque l'on frotte un matériau ou que l'on le touche avec une forme d'énergie.</a:t>
            </a:r>
          </a:p>
          <a:p>
            <a:pPr algn="ctr"/>
            <a:r>
              <a:rPr lang="fr-FR" sz="1400" spc="-5" dirty="0">
                <a:latin typeface="Bookman Old Style" panose="02050604050505020204" pitchFamily="18" charset="0"/>
                <a:cs typeface="Arial"/>
              </a:rPr>
              <a:t>Donc, est un phénomène naturel résultant du mouvement des charges électriques. </a:t>
            </a:r>
          </a:p>
          <a:p>
            <a:pPr algn="ctr"/>
            <a:endParaRPr lang="fr-FR" sz="1400" dirty="0">
              <a:latin typeface="Bookman Old Style" panose="02050604050505020204" pitchFamily="18" charset="0"/>
            </a:endParaRPr>
          </a:p>
        </p:txBody>
      </p:sp>
      <p:grpSp>
        <p:nvGrpSpPr>
          <p:cNvPr id="5" name="object 4">
            <a:extLst>
              <a:ext uri="{FF2B5EF4-FFF2-40B4-BE49-F238E27FC236}">
                <a16:creationId xmlns:a16="http://schemas.microsoft.com/office/drawing/2014/main" id="{BD02F06E-4D81-7F41-A020-343EF520B54D}"/>
              </a:ext>
            </a:extLst>
          </p:cNvPr>
          <p:cNvGrpSpPr/>
          <p:nvPr/>
        </p:nvGrpSpPr>
        <p:grpSpPr>
          <a:xfrm>
            <a:off x="121795" y="508888"/>
            <a:ext cx="3200400" cy="140767"/>
            <a:chOff x="1881480" y="350569"/>
            <a:chExt cx="7147385" cy="156271"/>
          </a:xfrm>
          <a:solidFill>
            <a:schemeClr val="tx1"/>
          </a:solidFill>
        </p:grpSpPr>
        <p:sp>
          <p:nvSpPr>
            <p:cNvPr id="17" name="object 5">
              <a:extLst>
                <a:ext uri="{FF2B5EF4-FFF2-40B4-BE49-F238E27FC236}">
                  <a16:creationId xmlns:a16="http://schemas.microsoft.com/office/drawing/2014/main" id="{84ADDCC2-6672-BAD4-FAE6-491B60846100}"/>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20" name="object 6">
              <a:extLst>
                <a:ext uri="{FF2B5EF4-FFF2-40B4-BE49-F238E27FC236}">
                  <a16:creationId xmlns:a16="http://schemas.microsoft.com/office/drawing/2014/main" id="{209CD14D-0D3D-5325-7633-2BCEE4283023}"/>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2" name="Half Frame 21">
            <a:extLst>
              <a:ext uri="{FF2B5EF4-FFF2-40B4-BE49-F238E27FC236}">
                <a16:creationId xmlns:a16="http://schemas.microsoft.com/office/drawing/2014/main" id="{DF04DACD-FBA3-E903-1A55-0A9DEB0ABAAF}"/>
              </a:ext>
            </a:extLst>
          </p:cNvPr>
          <p:cNvSpPr/>
          <p:nvPr/>
        </p:nvSpPr>
        <p:spPr>
          <a:xfrm rot="2705374">
            <a:off x="4288394" y="688479"/>
            <a:ext cx="497602" cy="472049"/>
          </a:xfrm>
          <a:prstGeom prst="halfFram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solidFill>
                <a:schemeClr val="tx1"/>
              </a:solidFill>
            </a:endParaRPr>
          </a:p>
        </p:txBody>
      </p:sp>
      <p:sp>
        <p:nvSpPr>
          <p:cNvPr id="25" name="TextBox 24">
            <a:extLst>
              <a:ext uri="{FF2B5EF4-FFF2-40B4-BE49-F238E27FC236}">
                <a16:creationId xmlns:a16="http://schemas.microsoft.com/office/drawing/2014/main" id="{5EF1834B-ED11-42EA-D29C-3C9E2615765C}"/>
              </a:ext>
            </a:extLst>
          </p:cNvPr>
          <p:cNvSpPr txBox="1"/>
          <p:nvPr/>
        </p:nvSpPr>
        <p:spPr>
          <a:xfrm>
            <a:off x="2133600" y="2617611"/>
            <a:ext cx="4572000" cy="307777"/>
          </a:xfrm>
          <a:prstGeom prst="rect">
            <a:avLst/>
          </a:prstGeom>
          <a:noFill/>
        </p:spPr>
        <p:txBody>
          <a:bodyPr wrap="square">
            <a:spAutoFit/>
          </a:bodyPr>
          <a:lstStyle/>
          <a:p>
            <a:r>
              <a:rPr lang="fr-FR" sz="1400" b="1" dirty="0">
                <a:latin typeface="Bookman Old Style" panose="02050604050505020204" pitchFamily="18" charset="0"/>
              </a:rPr>
              <a:t>Électricité statique</a:t>
            </a:r>
          </a:p>
        </p:txBody>
      </p:sp>
      <p:sp>
        <p:nvSpPr>
          <p:cNvPr id="26" name="Half Frame 25">
            <a:extLst>
              <a:ext uri="{FF2B5EF4-FFF2-40B4-BE49-F238E27FC236}">
                <a16:creationId xmlns:a16="http://schemas.microsoft.com/office/drawing/2014/main" id="{ADA367BB-D584-025C-73D4-754401947416}"/>
              </a:ext>
            </a:extLst>
          </p:cNvPr>
          <p:cNvSpPr/>
          <p:nvPr/>
        </p:nvSpPr>
        <p:spPr>
          <a:xfrm rot="2685703">
            <a:off x="4305054" y="2462333"/>
            <a:ext cx="703367" cy="697542"/>
          </a:xfrm>
          <a:prstGeom prst="halfFram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27" name="TextBox 26">
            <a:extLst>
              <a:ext uri="{FF2B5EF4-FFF2-40B4-BE49-F238E27FC236}">
                <a16:creationId xmlns:a16="http://schemas.microsoft.com/office/drawing/2014/main" id="{602F787E-48A7-515F-5FBD-70D74CAA4CA8}"/>
              </a:ext>
            </a:extLst>
          </p:cNvPr>
          <p:cNvSpPr txBox="1"/>
          <p:nvPr/>
        </p:nvSpPr>
        <p:spPr>
          <a:xfrm>
            <a:off x="5165559" y="2617611"/>
            <a:ext cx="4572000" cy="307777"/>
          </a:xfrm>
          <a:prstGeom prst="rect">
            <a:avLst/>
          </a:prstGeom>
          <a:noFill/>
        </p:spPr>
        <p:txBody>
          <a:bodyPr wrap="square">
            <a:spAutoFit/>
          </a:bodyPr>
          <a:lstStyle/>
          <a:p>
            <a:r>
              <a:rPr lang="fr-FR" sz="1400" b="1" dirty="0">
                <a:latin typeface="Bookman Old Style" panose="02050604050505020204" pitchFamily="18" charset="0"/>
              </a:rPr>
              <a:t>Électricité dynamique</a:t>
            </a:r>
          </a:p>
        </p:txBody>
      </p:sp>
      <p:grpSp>
        <p:nvGrpSpPr>
          <p:cNvPr id="32" name="object 11">
            <a:extLst>
              <a:ext uri="{FF2B5EF4-FFF2-40B4-BE49-F238E27FC236}">
                <a16:creationId xmlns:a16="http://schemas.microsoft.com/office/drawing/2014/main" id="{B1F050AC-37AB-4CBC-BB14-A842D4A53691}"/>
              </a:ext>
            </a:extLst>
          </p:cNvPr>
          <p:cNvGrpSpPr/>
          <p:nvPr/>
        </p:nvGrpSpPr>
        <p:grpSpPr>
          <a:xfrm>
            <a:off x="762000" y="2949782"/>
            <a:ext cx="3588723" cy="1042406"/>
            <a:chOff x="695200" y="1293934"/>
            <a:chExt cx="8225156" cy="690246"/>
          </a:xfrm>
        </p:grpSpPr>
        <p:sp>
          <p:nvSpPr>
            <p:cNvPr id="33" name="object 12">
              <a:extLst>
                <a:ext uri="{FF2B5EF4-FFF2-40B4-BE49-F238E27FC236}">
                  <a16:creationId xmlns:a16="http://schemas.microsoft.com/office/drawing/2014/main" id="{13ECD0A8-826C-0B02-648E-49254A614035}"/>
                </a:ext>
              </a:extLst>
            </p:cNvPr>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34" name="object 13">
              <a:extLst>
                <a:ext uri="{FF2B5EF4-FFF2-40B4-BE49-F238E27FC236}">
                  <a16:creationId xmlns:a16="http://schemas.microsoft.com/office/drawing/2014/main" id="{DBA17AA8-3B68-A1C4-A51C-26E1D28062A1}"/>
                </a:ext>
              </a:extLst>
            </p:cNvPr>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grpSp>
        <p:nvGrpSpPr>
          <p:cNvPr id="35" name="object 11">
            <a:extLst>
              <a:ext uri="{FF2B5EF4-FFF2-40B4-BE49-F238E27FC236}">
                <a16:creationId xmlns:a16="http://schemas.microsoft.com/office/drawing/2014/main" id="{99C471A2-3A02-40DA-459E-C408F381F0C3}"/>
              </a:ext>
            </a:extLst>
          </p:cNvPr>
          <p:cNvGrpSpPr/>
          <p:nvPr/>
        </p:nvGrpSpPr>
        <p:grpSpPr>
          <a:xfrm>
            <a:off x="4944463" y="2949782"/>
            <a:ext cx="3588723" cy="1042406"/>
            <a:chOff x="695200" y="1293934"/>
            <a:chExt cx="8225156" cy="690246"/>
          </a:xfrm>
        </p:grpSpPr>
        <p:sp>
          <p:nvSpPr>
            <p:cNvPr id="36" name="object 12">
              <a:extLst>
                <a:ext uri="{FF2B5EF4-FFF2-40B4-BE49-F238E27FC236}">
                  <a16:creationId xmlns:a16="http://schemas.microsoft.com/office/drawing/2014/main" id="{EDB7E972-AFDD-929F-65C5-4E9401313E8B}"/>
                </a:ext>
              </a:extLst>
            </p:cNvPr>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37" name="object 13">
              <a:extLst>
                <a:ext uri="{FF2B5EF4-FFF2-40B4-BE49-F238E27FC236}">
                  <a16:creationId xmlns:a16="http://schemas.microsoft.com/office/drawing/2014/main" id="{9F839C78-AA99-4899-0CD6-213137235D77}"/>
                </a:ext>
              </a:extLst>
            </p:cNvPr>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38" name="TextBox 37">
            <a:extLst>
              <a:ext uri="{FF2B5EF4-FFF2-40B4-BE49-F238E27FC236}">
                <a16:creationId xmlns:a16="http://schemas.microsoft.com/office/drawing/2014/main" id="{DCCC3A73-7050-6F30-0522-00A78A63C4A3}"/>
              </a:ext>
            </a:extLst>
          </p:cNvPr>
          <p:cNvSpPr txBox="1"/>
          <p:nvPr/>
        </p:nvSpPr>
        <p:spPr>
          <a:xfrm>
            <a:off x="762000" y="3018198"/>
            <a:ext cx="3588723" cy="830997"/>
          </a:xfrm>
          <a:prstGeom prst="rect">
            <a:avLst/>
          </a:prstGeom>
          <a:noFill/>
        </p:spPr>
        <p:txBody>
          <a:bodyPr wrap="square" rtlCol="0">
            <a:spAutoFit/>
          </a:bodyPr>
          <a:lstStyle/>
          <a:p>
            <a:r>
              <a:rPr lang="fr-FR" sz="1200" b="1" dirty="0">
                <a:solidFill>
                  <a:srgbClr val="FF0000"/>
                </a:solidFill>
                <a:latin typeface="Bookman Old Style" panose="02050604050505020204" pitchFamily="18" charset="0"/>
              </a:rPr>
              <a:t>Charges immobiles</a:t>
            </a:r>
          </a:p>
          <a:p>
            <a:endParaRPr lang="fr-FR" sz="1200" b="1" dirty="0">
              <a:solidFill>
                <a:srgbClr val="FF0000"/>
              </a:solidFill>
              <a:latin typeface="Bookman Old Style" panose="02050604050505020204" pitchFamily="18" charset="0"/>
            </a:endParaRPr>
          </a:p>
          <a:p>
            <a:pPr algn="just"/>
            <a:r>
              <a:rPr lang="fr-FR" sz="1200" b="1" dirty="0">
                <a:latin typeface="Bookman Old Style" panose="02050604050505020204" pitchFamily="18" charset="0"/>
              </a:rPr>
              <a:t>└──Exemple </a:t>
            </a:r>
            <a:r>
              <a:rPr lang="fr-FR" sz="1200" dirty="0">
                <a:latin typeface="Bookman Old Style" panose="02050604050505020204" pitchFamily="18" charset="0"/>
              </a:rPr>
              <a:t>: Frotter un ballon et voir les cheveux se dresser.</a:t>
            </a:r>
          </a:p>
        </p:txBody>
      </p:sp>
      <p:sp>
        <p:nvSpPr>
          <p:cNvPr id="39" name="TextBox 38">
            <a:extLst>
              <a:ext uri="{FF2B5EF4-FFF2-40B4-BE49-F238E27FC236}">
                <a16:creationId xmlns:a16="http://schemas.microsoft.com/office/drawing/2014/main" id="{4DAD9B47-5189-31C5-8B10-19B8B6C8A63A}"/>
              </a:ext>
            </a:extLst>
          </p:cNvPr>
          <p:cNvSpPr txBox="1"/>
          <p:nvPr/>
        </p:nvSpPr>
        <p:spPr>
          <a:xfrm>
            <a:off x="4973109" y="2953101"/>
            <a:ext cx="3509731" cy="1015663"/>
          </a:xfrm>
          <a:prstGeom prst="rect">
            <a:avLst/>
          </a:prstGeom>
          <a:noFill/>
        </p:spPr>
        <p:txBody>
          <a:bodyPr wrap="square" rtlCol="0">
            <a:spAutoFit/>
          </a:bodyPr>
          <a:lstStyle/>
          <a:p>
            <a:pPr algn="just"/>
            <a:r>
              <a:rPr lang="fr-FR" sz="1200" b="1" dirty="0">
                <a:solidFill>
                  <a:srgbClr val="FF0000"/>
                </a:solidFill>
                <a:latin typeface="Bookman Old Style" panose="02050604050505020204" pitchFamily="18" charset="0"/>
              </a:rPr>
              <a:t>Courant </a:t>
            </a:r>
            <a:r>
              <a:rPr lang="fr-FR" sz="1200" b="1" spc="-5" dirty="0">
                <a:solidFill>
                  <a:srgbClr val="FF0000"/>
                </a:solidFill>
                <a:latin typeface="Bookman Old Style" panose="02050604050505020204" pitchFamily="18" charset="0"/>
                <a:cs typeface="Arial"/>
              </a:rPr>
              <a:t>É</a:t>
            </a:r>
            <a:r>
              <a:rPr lang="fr-FR" sz="1200" b="1" dirty="0">
                <a:solidFill>
                  <a:srgbClr val="FF0000"/>
                </a:solidFill>
                <a:latin typeface="Bookman Old Style" panose="02050604050505020204" pitchFamily="18" charset="0"/>
              </a:rPr>
              <a:t>lectrique; </a:t>
            </a:r>
            <a:r>
              <a:rPr lang="fr-FR" sz="1200" b="1" dirty="0">
                <a:latin typeface="Bookman Old Style" panose="02050604050505020204" pitchFamily="18" charset="0"/>
              </a:rPr>
              <a:t>Mouvement des électrons à travers un conducteur.</a:t>
            </a:r>
          </a:p>
          <a:p>
            <a:pPr algn="just"/>
            <a:r>
              <a:rPr lang="fr-FR" sz="1200" dirty="0">
                <a:latin typeface="Bookman Old Style" panose="02050604050505020204" pitchFamily="18" charset="0"/>
              </a:rPr>
              <a:t>  </a:t>
            </a:r>
            <a:r>
              <a:rPr lang="fr-FR" sz="1200" dirty="0">
                <a:solidFill>
                  <a:srgbClr val="FF0000"/>
                </a:solidFill>
                <a:latin typeface="Bookman Old Style" panose="02050604050505020204" pitchFamily="18" charset="0"/>
              </a:rPr>
              <a:t>        </a:t>
            </a:r>
          </a:p>
          <a:p>
            <a:pPr algn="just"/>
            <a:r>
              <a:rPr lang="fr-FR" sz="1200" b="1" dirty="0">
                <a:latin typeface="Bookman Old Style" panose="02050604050505020204" pitchFamily="18" charset="0"/>
              </a:rPr>
              <a:t>└──Exemples: </a:t>
            </a:r>
            <a:r>
              <a:rPr lang="fr-FR" sz="1200" dirty="0">
                <a:latin typeface="Bookman Old Style" panose="02050604050505020204" pitchFamily="18" charset="0"/>
              </a:rPr>
              <a:t>Batterie, circuit d'une ampoule.</a:t>
            </a:r>
          </a:p>
        </p:txBody>
      </p:sp>
      <p:pic>
        <p:nvPicPr>
          <p:cNvPr id="48" name="Picture 47">
            <a:extLst>
              <a:ext uri="{FF2B5EF4-FFF2-40B4-BE49-F238E27FC236}">
                <a16:creationId xmlns:a16="http://schemas.microsoft.com/office/drawing/2014/main" id="{4D8377CF-EE7B-4900-4C15-9F5AC4B23E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32952" y="2818255"/>
            <a:ext cx="1667389" cy="2347862"/>
          </a:xfrm>
          <a:prstGeom prst="rect">
            <a:avLst/>
          </a:prstGeom>
        </p:spPr>
      </p:pic>
      <p:pic>
        <p:nvPicPr>
          <p:cNvPr id="50" name="Picture 49">
            <a:extLst>
              <a:ext uri="{FF2B5EF4-FFF2-40B4-BE49-F238E27FC236}">
                <a16:creationId xmlns:a16="http://schemas.microsoft.com/office/drawing/2014/main" id="{4BA0917B-4854-DCEB-C48B-5DDA17C7078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35803" y="3709770"/>
            <a:ext cx="2447037" cy="1405298"/>
          </a:xfrm>
          <a:prstGeom prst="rect">
            <a:avLst/>
          </a:prstGeom>
        </p:spPr>
      </p:pic>
    </p:spTree>
    <p:extLst>
      <p:ext uri="{BB962C8B-B14F-4D97-AF65-F5344CB8AC3E}">
        <p14:creationId xmlns:p14="http://schemas.microsoft.com/office/powerpoint/2010/main" val="274407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500" fill="hold"/>
                                        <p:tgtEl>
                                          <p:spTgt spid="11"/>
                                        </p:tgtEl>
                                        <p:attrNameLst>
                                          <p:attrName>ppt_x</p:attrName>
                                        </p:attrNameLst>
                                      </p:cBhvr>
                                      <p:tavLst>
                                        <p:tav tm="0">
                                          <p:val>
                                            <p:strVal val="#ppt_x"/>
                                          </p:val>
                                        </p:tav>
                                        <p:tav tm="100000">
                                          <p:val>
                                            <p:strVal val="#ppt_x"/>
                                          </p:val>
                                        </p:tav>
                                      </p:tavLst>
                                    </p:anim>
                                    <p:anim calcmode="lin" valueType="num">
                                      <p:cBhvr additive="base">
                                        <p:cTn id="12"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26"/>
                                        </p:tgtEl>
                                        <p:attrNameLst>
                                          <p:attrName>style.visibility</p:attrName>
                                        </p:attrNameLst>
                                      </p:cBhvr>
                                      <p:to>
                                        <p:strVal val="visible"/>
                                      </p:to>
                                    </p:set>
                                    <p:anim calcmode="lin" valueType="num">
                                      <p:cBhvr additive="base">
                                        <p:cTn id="17" dur="500" fill="hold"/>
                                        <p:tgtEl>
                                          <p:spTgt spid="26"/>
                                        </p:tgtEl>
                                        <p:attrNameLst>
                                          <p:attrName>ppt_x</p:attrName>
                                        </p:attrNameLst>
                                      </p:cBhvr>
                                      <p:tavLst>
                                        <p:tav tm="0">
                                          <p:val>
                                            <p:strVal val="#ppt_x"/>
                                          </p:val>
                                        </p:tav>
                                        <p:tav tm="100000">
                                          <p:val>
                                            <p:strVal val="#ppt_x"/>
                                          </p:val>
                                        </p:tav>
                                      </p:tavLst>
                                    </p:anim>
                                    <p:anim calcmode="lin" valueType="num">
                                      <p:cBhvr additive="base">
                                        <p:cTn id="18" dur="500" fill="hold"/>
                                        <p:tgtEl>
                                          <p:spTgt spid="2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25"/>
                                        </p:tgtEl>
                                        <p:attrNameLst>
                                          <p:attrName>style.visibility</p:attrName>
                                        </p:attrNameLst>
                                      </p:cBhvr>
                                      <p:to>
                                        <p:strVal val="visible"/>
                                      </p:to>
                                    </p:set>
                                    <p:anim calcmode="lin" valueType="num">
                                      <p:cBhvr additive="base">
                                        <p:cTn id="21" dur="500" fill="hold"/>
                                        <p:tgtEl>
                                          <p:spTgt spid="25"/>
                                        </p:tgtEl>
                                        <p:attrNameLst>
                                          <p:attrName>ppt_x</p:attrName>
                                        </p:attrNameLst>
                                      </p:cBhvr>
                                      <p:tavLst>
                                        <p:tav tm="0">
                                          <p:val>
                                            <p:strVal val="#ppt_x"/>
                                          </p:val>
                                        </p:tav>
                                        <p:tav tm="100000">
                                          <p:val>
                                            <p:strVal val="#ppt_x"/>
                                          </p:val>
                                        </p:tav>
                                      </p:tavLst>
                                    </p:anim>
                                    <p:anim calcmode="lin" valueType="num">
                                      <p:cBhvr additive="base">
                                        <p:cTn id="22" dur="500" fill="hold"/>
                                        <p:tgtEl>
                                          <p:spTgt spid="25"/>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27"/>
                                        </p:tgtEl>
                                        <p:attrNameLst>
                                          <p:attrName>style.visibility</p:attrName>
                                        </p:attrNameLst>
                                      </p:cBhvr>
                                      <p:to>
                                        <p:strVal val="visible"/>
                                      </p:to>
                                    </p:set>
                                    <p:anim calcmode="lin" valueType="num">
                                      <p:cBhvr additive="base">
                                        <p:cTn id="25" dur="500" fill="hold"/>
                                        <p:tgtEl>
                                          <p:spTgt spid="27"/>
                                        </p:tgtEl>
                                        <p:attrNameLst>
                                          <p:attrName>ppt_x</p:attrName>
                                        </p:attrNameLst>
                                      </p:cBhvr>
                                      <p:tavLst>
                                        <p:tav tm="0">
                                          <p:val>
                                            <p:strVal val="#ppt_x"/>
                                          </p:val>
                                        </p:tav>
                                        <p:tav tm="100000">
                                          <p:val>
                                            <p:strVal val="#ppt_x"/>
                                          </p:val>
                                        </p:tav>
                                      </p:tavLst>
                                    </p:anim>
                                    <p:anim calcmode="lin" valueType="num">
                                      <p:cBhvr additive="base">
                                        <p:cTn id="26" dur="500" fill="hold"/>
                                        <p:tgtEl>
                                          <p:spTgt spid="2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8"/>
                                        </p:tgtEl>
                                        <p:attrNameLst>
                                          <p:attrName>style.visibility</p:attrName>
                                        </p:attrNameLst>
                                      </p:cBhvr>
                                      <p:to>
                                        <p:strVal val="visible"/>
                                      </p:to>
                                    </p:set>
                                    <p:anim calcmode="lin" valueType="num">
                                      <p:cBhvr additive="base">
                                        <p:cTn id="31" dur="500" fill="hold"/>
                                        <p:tgtEl>
                                          <p:spTgt spid="38"/>
                                        </p:tgtEl>
                                        <p:attrNameLst>
                                          <p:attrName>ppt_x</p:attrName>
                                        </p:attrNameLst>
                                      </p:cBhvr>
                                      <p:tavLst>
                                        <p:tav tm="0">
                                          <p:val>
                                            <p:strVal val="#ppt_x"/>
                                          </p:val>
                                        </p:tav>
                                        <p:tav tm="100000">
                                          <p:val>
                                            <p:strVal val="#ppt_x"/>
                                          </p:val>
                                        </p:tav>
                                      </p:tavLst>
                                    </p:anim>
                                    <p:anim calcmode="lin" valueType="num">
                                      <p:cBhvr additive="base">
                                        <p:cTn id="32" dur="500" fill="hold"/>
                                        <p:tgtEl>
                                          <p:spTgt spid="38"/>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2"/>
                                        </p:tgtEl>
                                        <p:attrNameLst>
                                          <p:attrName>style.visibility</p:attrName>
                                        </p:attrNameLst>
                                      </p:cBhvr>
                                      <p:to>
                                        <p:strVal val="visible"/>
                                      </p:to>
                                    </p:set>
                                    <p:anim calcmode="lin" valueType="num">
                                      <p:cBhvr additive="base">
                                        <p:cTn id="35" dur="500" fill="hold"/>
                                        <p:tgtEl>
                                          <p:spTgt spid="32"/>
                                        </p:tgtEl>
                                        <p:attrNameLst>
                                          <p:attrName>ppt_x</p:attrName>
                                        </p:attrNameLst>
                                      </p:cBhvr>
                                      <p:tavLst>
                                        <p:tav tm="0">
                                          <p:val>
                                            <p:strVal val="#ppt_x"/>
                                          </p:val>
                                        </p:tav>
                                        <p:tav tm="100000">
                                          <p:val>
                                            <p:strVal val="#ppt_x"/>
                                          </p:val>
                                        </p:tav>
                                      </p:tavLst>
                                    </p:anim>
                                    <p:anim calcmode="lin" valueType="num">
                                      <p:cBhvr additive="base">
                                        <p:cTn id="36" dur="500" fill="hold"/>
                                        <p:tgtEl>
                                          <p:spTgt spid="32"/>
                                        </p:tgtEl>
                                        <p:attrNameLst>
                                          <p:attrName>ppt_y</p:attrName>
                                        </p:attrNameLst>
                                      </p:cBhvr>
                                      <p:tavLst>
                                        <p:tav tm="0">
                                          <p:val>
                                            <p:strVal val="1+#ppt_h/2"/>
                                          </p:val>
                                        </p:tav>
                                        <p:tav tm="100000">
                                          <p:val>
                                            <p:strVal val="#ppt_y"/>
                                          </p:val>
                                        </p:tav>
                                      </p:tavLst>
                                    </p:anim>
                                  </p:childTnLst>
                                </p:cTn>
                              </p:par>
                            </p:childTnLst>
                          </p:cTn>
                        </p:par>
                        <p:par>
                          <p:cTn id="37" fill="hold">
                            <p:stCondLst>
                              <p:cond delay="500"/>
                            </p:stCondLst>
                            <p:childTnLst>
                              <p:par>
                                <p:cTn id="38" presetID="14" presetClass="entr" presetSubtype="10" fill="hold" nodeType="afterEffect">
                                  <p:stCondLst>
                                    <p:cond delay="3000"/>
                                  </p:stCondLst>
                                  <p:childTnLst>
                                    <p:set>
                                      <p:cBhvr>
                                        <p:cTn id="39" dur="1" fill="hold">
                                          <p:stCondLst>
                                            <p:cond delay="0"/>
                                          </p:stCondLst>
                                        </p:cTn>
                                        <p:tgtEl>
                                          <p:spTgt spid="48"/>
                                        </p:tgtEl>
                                        <p:attrNameLst>
                                          <p:attrName>style.visibility</p:attrName>
                                        </p:attrNameLst>
                                      </p:cBhvr>
                                      <p:to>
                                        <p:strVal val="visible"/>
                                      </p:to>
                                    </p:set>
                                    <p:animEffect transition="in" filter="randombar(horizontal)">
                                      <p:cBhvr>
                                        <p:cTn id="40" dur="500"/>
                                        <p:tgtEl>
                                          <p:spTgt spid="48"/>
                                        </p:tgtEl>
                                      </p:cBhvr>
                                    </p:animEffect>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grpId="0" nodeType="clickEffect">
                                  <p:stCondLst>
                                    <p:cond delay="0"/>
                                  </p:stCondLst>
                                  <p:childTnLst>
                                    <p:set>
                                      <p:cBhvr>
                                        <p:cTn id="44" dur="1" fill="hold">
                                          <p:stCondLst>
                                            <p:cond delay="0"/>
                                          </p:stCondLst>
                                        </p:cTn>
                                        <p:tgtEl>
                                          <p:spTgt spid="39"/>
                                        </p:tgtEl>
                                        <p:attrNameLst>
                                          <p:attrName>style.visibility</p:attrName>
                                        </p:attrNameLst>
                                      </p:cBhvr>
                                      <p:to>
                                        <p:strVal val="visible"/>
                                      </p:to>
                                    </p:set>
                                    <p:anim calcmode="lin" valueType="num">
                                      <p:cBhvr additive="base">
                                        <p:cTn id="45" dur="500" fill="hold"/>
                                        <p:tgtEl>
                                          <p:spTgt spid="39"/>
                                        </p:tgtEl>
                                        <p:attrNameLst>
                                          <p:attrName>ppt_x</p:attrName>
                                        </p:attrNameLst>
                                      </p:cBhvr>
                                      <p:tavLst>
                                        <p:tav tm="0">
                                          <p:val>
                                            <p:strVal val="#ppt_x"/>
                                          </p:val>
                                        </p:tav>
                                        <p:tav tm="100000">
                                          <p:val>
                                            <p:strVal val="#ppt_x"/>
                                          </p:val>
                                        </p:tav>
                                      </p:tavLst>
                                    </p:anim>
                                    <p:anim calcmode="lin" valueType="num">
                                      <p:cBhvr additive="base">
                                        <p:cTn id="46" dur="500" fill="hold"/>
                                        <p:tgtEl>
                                          <p:spTgt spid="39"/>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 calcmode="lin" valueType="num">
                                      <p:cBhvr additive="base">
                                        <p:cTn id="49" dur="500" fill="hold"/>
                                        <p:tgtEl>
                                          <p:spTgt spid="35"/>
                                        </p:tgtEl>
                                        <p:attrNameLst>
                                          <p:attrName>ppt_x</p:attrName>
                                        </p:attrNameLst>
                                      </p:cBhvr>
                                      <p:tavLst>
                                        <p:tav tm="0">
                                          <p:val>
                                            <p:strVal val="#ppt_x"/>
                                          </p:val>
                                        </p:tav>
                                        <p:tav tm="100000">
                                          <p:val>
                                            <p:strVal val="#ppt_x"/>
                                          </p:val>
                                        </p:tav>
                                      </p:tavLst>
                                    </p:anim>
                                    <p:anim calcmode="lin" valueType="num">
                                      <p:cBhvr additive="base">
                                        <p:cTn id="50" dur="500" fill="hold"/>
                                        <p:tgtEl>
                                          <p:spTgt spid="35"/>
                                        </p:tgtEl>
                                        <p:attrNameLst>
                                          <p:attrName>ppt_y</p:attrName>
                                        </p:attrNameLst>
                                      </p:cBhvr>
                                      <p:tavLst>
                                        <p:tav tm="0">
                                          <p:val>
                                            <p:strVal val="1+#ppt_h/2"/>
                                          </p:val>
                                        </p:tav>
                                        <p:tav tm="100000">
                                          <p:val>
                                            <p:strVal val="#ppt_y"/>
                                          </p:val>
                                        </p:tav>
                                      </p:tavLst>
                                    </p:anim>
                                  </p:childTnLst>
                                </p:cTn>
                              </p:par>
                            </p:childTnLst>
                          </p:cTn>
                        </p:par>
                        <p:par>
                          <p:cTn id="51" fill="hold">
                            <p:stCondLst>
                              <p:cond delay="500"/>
                            </p:stCondLst>
                            <p:childTnLst>
                              <p:par>
                                <p:cTn id="52" presetID="14" presetClass="entr" presetSubtype="10" fill="hold" nodeType="afterEffect">
                                  <p:stCondLst>
                                    <p:cond delay="3000"/>
                                  </p:stCondLst>
                                  <p:childTnLst>
                                    <p:set>
                                      <p:cBhvr>
                                        <p:cTn id="53" dur="1" fill="hold">
                                          <p:stCondLst>
                                            <p:cond delay="0"/>
                                          </p:stCondLst>
                                        </p:cTn>
                                        <p:tgtEl>
                                          <p:spTgt spid="50"/>
                                        </p:tgtEl>
                                        <p:attrNameLst>
                                          <p:attrName>style.visibility</p:attrName>
                                        </p:attrNameLst>
                                      </p:cBhvr>
                                      <p:to>
                                        <p:strVal val="visible"/>
                                      </p:to>
                                    </p:set>
                                    <p:animEffect transition="in" filter="randombar(horizontal)">
                                      <p:cBhvr>
                                        <p:cTn id="54"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5" grpId="0"/>
      <p:bldP spid="26" grpId="0" animBg="1"/>
      <p:bldP spid="27" grpId="0"/>
      <p:bldP spid="38" grpId="0"/>
      <p:bldP spid="3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dirty="0">
              <a:latin typeface="Arial"/>
              <a:cs typeface="Arial"/>
            </a:endParaRPr>
          </a:p>
        </p:txBody>
      </p:sp>
      <p:sp>
        <p:nvSpPr>
          <p:cNvPr id="46" name="object 46"/>
          <p:cNvSpPr txBox="1"/>
          <p:nvPr/>
        </p:nvSpPr>
        <p:spPr>
          <a:xfrm>
            <a:off x="8792511" y="4819418"/>
            <a:ext cx="245745" cy="330200"/>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4</a:t>
            </a:fld>
            <a:endParaRPr sz="2400" dirty="0">
              <a:latin typeface="Arial"/>
              <a:cs typeface="Arial"/>
            </a:endParaRPr>
          </a:p>
        </p:txBody>
      </p:sp>
      <p:sp>
        <p:nvSpPr>
          <p:cNvPr id="15" name="Rectangle 14"/>
          <p:cNvSpPr/>
          <p:nvPr/>
        </p:nvSpPr>
        <p:spPr>
          <a:xfrm>
            <a:off x="3038585" y="187064"/>
            <a:ext cx="2997218" cy="430887"/>
          </a:xfrm>
          <a:prstGeom prst="rect">
            <a:avLst/>
          </a:prstGeom>
        </p:spPr>
        <p:txBody>
          <a:bodyPr wrap="square">
            <a:spAutoFit/>
          </a:bodyPr>
          <a:lstStyle/>
          <a:p>
            <a:pPr marL="12065" lvl="1" algn="ctr">
              <a:lnSpc>
                <a:spcPct val="100000"/>
              </a:lnSpc>
              <a:spcBef>
                <a:spcPts val="100"/>
              </a:spcBef>
              <a:tabLst>
                <a:tab pos="393700" algn="l"/>
              </a:tabLst>
            </a:pPr>
            <a:r>
              <a:rPr lang="fr-FR" sz="2200" b="1" spc="-5" dirty="0">
                <a:solidFill>
                  <a:srgbClr val="FF0000"/>
                </a:solidFill>
                <a:latin typeface="Bookman Old Style" panose="02050604050505020204" pitchFamily="18" charset="0"/>
                <a:cs typeface="Arial"/>
              </a:rPr>
              <a:t>Avant-propos</a:t>
            </a: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5817050" y="525499"/>
            <a:ext cx="3200400" cy="14076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grpSp>
        <p:nvGrpSpPr>
          <p:cNvPr id="5" name="object 4">
            <a:extLst>
              <a:ext uri="{FF2B5EF4-FFF2-40B4-BE49-F238E27FC236}">
                <a16:creationId xmlns:a16="http://schemas.microsoft.com/office/drawing/2014/main" id="{BD02F06E-4D81-7F41-A020-343EF520B54D}"/>
              </a:ext>
            </a:extLst>
          </p:cNvPr>
          <p:cNvGrpSpPr/>
          <p:nvPr/>
        </p:nvGrpSpPr>
        <p:grpSpPr>
          <a:xfrm>
            <a:off x="121795" y="508888"/>
            <a:ext cx="3200400" cy="140767"/>
            <a:chOff x="1881480" y="350569"/>
            <a:chExt cx="7147385" cy="156271"/>
          </a:xfrm>
          <a:solidFill>
            <a:schemeClr val="tx1"/>
          </a:solidFill>
        </p:grpSpPr>
        <p:sp>
          <p:nvSpPr>
            <p:cNvPr id="17" name="object 5">
              <a:extLst>
                <a:ext uri="{FF2B5EF4-FFF2-40B4-BE49-F238E27FC236}">
                  <a16:creationId xmlns:a16="http://schemas.microsoft.com/office/drawing/2014/main" id="{84ADDCC2-6672-BAD4-FAE6-491B60846100}"/>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20" name="object 6">
              <a:extLst>
                <a:ext uri="{FF2B5EF4-FFF2-40B4-BE49-F238E27FC236}">
                  <a16:creationId xmlns:a16="http://schemas.microsoft.com/office/drawing/2014/main" id="{209CD14D-0D3D-5325-7633-2BCEE4283023}"/>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2" name="Half Frame 21">
            <a:extLst>
              <a:ext uri="{FF2B5EF4-FFF2-40B4-BE49-F238E27FC236}">
                <a16:creationId xmlns:a16="http://schemas.microsoft.com/office/drawing/2014/main" id="{DF04DACD-FBA3-E903-1A55-0A9DEB0ABAAF}"/>
              </a:ext>
            </a:extLst>
          </p:cNvPr>
          <p:cNvSpPr/>
          <p:nvPr/>
        </p:nvSpPr>
        <p:spPr>
          <a:xfrm rot="2597524">
            <a:off x="4327052" y="655387"/>
            <a:ext cx="497602" cy="472049"/>
          </a:xfrm>
          <a:prstGeom prst="halfFram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solidFill>
                <a:schemeClr val="tx1"/>
              </a:solidFill>
            </a:endParaRPr>
          </a:p>
        </p:txBody>
      </p:sp>
      <p:grpSp>
        <p:nvGrpSpPr>
          <p:cNvPr id="35" name="object 11">
            <a:extLst>
              <a:ext uri="{FF2B5EF4-FFF2-40B4-BE49-F238E27FC236}">
                <a16:creationId xmlns:a16="http://schemas.microsoft.com/office/drawing/2014/main" id="{99C471A2-3A02-40DA-459E-C408F381F0C3}"/>
              </a:ext>
            </a:extLst>
          </p:cNvPr>
          <p:cNvGrpSpPr/>
          <p:nvPr/>
        </p:nvGrpSpPr>
        <p:grpSpPr>
          <a:xfrm>
            <a:off x="3583666" y="947651"/>
            <a:ext cx="1981200" cy="549329"/>
            <a:chOff x="695200" y="1293934"/>
            <a:chExt cx="8225156" cy="690246"/>
          </a:xfrm>
        </p:grpSpPr>
        <p:sp>
          <p:nvSpPr>
            <p:cNvPr id="36" name="object 12">
              <a:extLst>
                <a:ext uri="{FF2B5EF4-FFF2-40B4-BE49-F238E27FC236}">
                  <a16:creationId xmlns:a16="http://schemas.microsoft.com/office/drawing/2014/main" id="{EDB7E972-AFDD-929F-65C5-4E9401313E8B}"/>
                </a:ext>
              </a:extLst>
            </p:cNvPr>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37" name="object 13">
              <a:extLst>
                <a:ext uri="{FF2B5EF4-FFF2-40B4-BE49-F238E27FC236}">
                  <a16:creationId xmlns:a16="http://schemas.microsoft.com/office/drawing/2014/main" id="{9F839C78-AA99-4899-0CD6-213137235D77}"/>
                </a:ext>
              </a:extLst>
            </p:cNvPr>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39" name="TextBox 38">
            <a:extLst>
              <a:ext uri="{FF2B5EF4-FFF2-40B4-BE49-F238E27FC236}">
                <a16:creationId xmlns:a16="http://schemas.microsoft.com/office/drawing/2014/main" id="{4DAD9B47-5189-31C5-8B10-19B8B6C8A63A}"/>
              </a:ext>
            </a:extLst>
          </p:cNvPr>
          <p:cNvSpPr txBox="1"/>
          <p:nvPr/>
        </p:nvSpPr>
        <p:spPr>
          <a:xfrm>
            <a:off x="2819400" y="962542"/>
            <a:ext cx="3509731" cy="461665"/>
          </a:xfrm>
          <a:prstGeom prst="rect">
            <a:avLst/>
          </a:prstGeom>
          <a:noFill/>
        </p:spPr>
        <p:txBody>
          <a:bodyPr wrap="square" rtlCol="0">
            <a:spAutoFit/>
          </a:bodyPr>
          <a:lstStyle/>
          <a:p>
            <a:pPr algn="ctr"/>
            <a:r>
              <a:rPr lang="fr-FR" sz="1200" b="1" dirty="0">
                <a:latin typeface="Bookman Old Style" panose="02050604050505020204" pitchFamily="18" charset="0"/>
              </a:rPr>
              <a:t>Électricité dynamique </a:t>
            </a:r>
          </a:p>
          <a:p>
            <a:pPr algn="ctr"/>
            <a:r>
              <a:rPr lang="fr-FR" sz="1200" b="1" dirty="0">
                <a:latin typeface="Bookman Old Style" panose="02050604050505020204" pitchFamily="18" charset="0"/>
              </a:rPr>
              <a:t>(Courant </a:t>
            </a:r>
            <a:r>
              <a:rPr lang="fr-FR" sz="1200" b="1" spc="-5" dirty="0">
                <a:latin typeface="Bookman Old Style" panose="02050604050505020204" pitchFamily="18" charset="0"/>
                <a:cs typeface="Arial"/>
              </a:rPr>
              <a:t>É</a:t>
            </a:r>
            <a:r>
              <a:rPr lang="fr-FR" sz="1200" b="1" dirty="0">
                <a:latin typeface="Bookman Old Style" panose="02050604050505020204" pitchFamily="18" charset="0"/>
              </a:rPr>
              <a:t>lectrique )</a:t>
            </a:r>
            <a:endParaRPr lang="fr-FR" sz="1200" dirty="0">
              <a:latin typeface="Bookman Old Style" panose="02050604050505020204" pitchFamily="18" charset="0"/>
            </a:endParaRPr>
          </a:p>
        </p:txBody>
      </p:sp>
      <p:sp>
        <p:nvSpPr>
          <p:cNvPr id="3" name="TextBox 2">
            <a:extLst>
              <a:ext uri="{FF2B5EF4-FFF2-40B4-BE49-F238E27FC236}">
                <a16:creationId xmlns:a16="http://schemas.microsoft.com/office/drawing/2014/main" id="{6D4211AF-5472-2E7D-2868-C6FDFE8E8383}"/>
              </a:ext>
            </a:extLst>
          </p:cNvPr>
          <p:cNvSpPr txBox="1"/>
          <p:nvPr/>
        </p:nvSpPr>
        <p:spPr>
          <a:xfrm>
            <a:off x="473340" y="2179361"/>
            <a:ext cx="4936860" cy="2677656"/>
          </a:xfrm>
          <a:prstGeom prst="rect">
            <a:avLst/>
          </a:prstGeom>
          <a:noFill/>
        </p:spPr>
        <p:txBody>
          <a:bodyPr wrap="square">
            <a:spAutoFit/>
          </a:bodyPr>
          <a:lstStyle/>
          <a:p>
            <a:r>
              <a:rPr lang="fr-FR" sz="1200" b="1" dirty="0">
                <a:latin typeface="Bookman Old Style" panose="02050604050505020204" pitchFamily="18" charset="0"/>
              </a:rPr>
              <a:t>Circuits électriques</a:t>
            </a:r>
          </a:p>
          <a:p>
            <a:endParaRPr lang="fr-FR" sz="1200" dirty="0">
              <a:latin typeface="Bookman Old Style" panose="02050604050505020204" pitchFamily="18" charset="0"/>
            </a:endParaRPr>
          </a:p>
          <a:p>
            <a:pPr marL="171450" indent="-171450">
              <a:buFont typeface="Wingdings" panose="05000000000000000000" pitchFamily="2" charset="2"/>
              <a:buChar char="§"/>
            </a:pPr>
            <a:r>
              <a:rPr lang="fr-FR" sz="1200" dirty="0">
                <a:latin typeface="Bookman Old Style" panose="02050604050505020204" pitchFamily="18" charset="0"/>
              </a:rPr>
              <a:t>Chemin fermé pour le courant électrique</a:t>
            </a:r>
          </a:p>
          <a:p>
            <a:pPr marL="171450" indent="-171450">
              <a:buFont typeface="Wingdings" panose="05000000000000000000" pitchFamily="2" charset="2"/>
              <a:buChar char="§"/>
            </a:pPr>
            <a:r>
              <a:rPr lang="fr-FR" sz="1200" dirty="0">
                <a:latin typeface="Bookman Old Style" panose="02050604050505020204" pitchFamily="18" charset="0"/>
              </a:rPr>
              <a:t>Utilise principalement des composants passifs (résistances, condensateurs, inductances).</a:t>
            </a:r>
          </a:p>
          <a:p>
            <a:pPr marL="171450" indent="-171450">
              <a:buFont typeface="Wingdings" panose="05000000000000000000" pitchFamily="2" charset="2"/>
              <a:buChar char="§"/>
            </a:pPr>
            <a:r>
              <a:rPr lang="fr-FR" sz="1200" dirty="0">
                <a:latin typeface="Bookman Old Style" panose="02050604050505020204" pitchFamily="18" charset="0"/>
              </a:rPr>
              <a:t>Fonctionne souvent avec des courants plus élevés </a:t>
            </a:r>
          </a:p>
          <a:p>
            <a:endParaRPr lang="fr-FR" sz="1200" b="1" dirty="0">
              <a:latin typeface="Bookman Old Style" panose="02050604050505020204" pitchFamily="18" charset="0"/>
            </a:endParaRPr>
          </a:p>
          <a:p>
            <a:r>
              <a:rPr lang="fr-FR" sz="1200" b="1" dirty="0">
                <a:latin typeface="Bookman Old Style" panose="02050604050505020204" pitchFamily="18" charset="0"/>
              </a:rPr>
              <a:t>└── Composants de base :</a:t>
            </a:r>
          </a:p>
          <a:p>
            <a:r>
              <a:rPr lang="fr-FR" sz="1200" b="1" dirty="0">
                <a:latin typeface="Bookman Old Style" panose="02050604050505020204" pitchFamily="18" charset="0"/>
              </a:rPr>
              <a:t>                                         </a:t>
            </a:r>
          </a:p>
          <a:p>
            <a:endParaRPr lang="fr-FR" sz="1200" b="1" dirty="0">
              <a:latin typeface="Bookman Old Style" panose="02050604050505020204" pitchFamily="18" charset="0"/>
            </a:endParaRPr>
          </a:p>
          <a:p>
            <a:endParaRPr lang="fr-FR" sz="1200" b="1" dirty="0">
              <a:latin typeface="Bookman Old Style" panose="02050604050505020204" pitchFamily="18" charset="0"/>
            </a:endParaRPr>
          </a:p>
          <a:p>
            <a:endParaRPr lang="fr-FR" sz="1200" b="1" dirty="0">
              <a:latin typeface="Bookman Old Style" panose="02050604050505020204" pitchFamily="18" charset="0"/>
            </a:endParaRPr>
          </a:p>
          <a:p>
            <a:r>
              <a:rPr lang="fr-FR" sz="1200" dirty="0">
                <a:latin typeface="Bookman Old Style" panose="02050604050505020204" pitchFamily="18" charset="0"/>
              </a:rPr>
              <a:t>└── </a:t>
            </a:r>
            <a:r>
              <a:rPr lang="fr-FR" sz="1200" b="1" dirty="0">
                <a:latin typeface="Bookman Old Style" panose="02050604050505020204" pitchFamily="18" charset="0"/>
              </a:rPr>
              <a:t>Objectif : </a:t>
            </a:r>
            <a:r>
              <a:rPr lang="fr-FR" sz="1200" dirty="0">
                <a:latin typeface="Bookman Old Style" panose="02050604050505020204" pitchFamily="18" charset="0"/>
              </a:rPr>
              <a:t>Faire circuler le courant pour fournir de l'énergie aux appareils </a:t>
            </a:r>
          </a:p>
        </p:txBody>
      </p:sp>
      <p:sp>
        <p:nvSpPr>
          <p:cNvPr id="7" name="TextBox 6">
            <a:extLst>
              <a:ext uri="{FF2B5EF4-FFF2-40B4-BE49-F238E27FC236}">
                <a16:creationId xmlns:a16="http://schemas.microsoft.com/office/drawing/2014/main" id="{57D2AE62-A2A7-495E-41DE-53BC37C7210E}"/>
              </a:ext>
            </a:extLst>
          </p:cNvPr>
          <p:cNvSpPr txBox="1"/>
          <p:nvPr/>
        </p:nvSpPr>
        <p:spPr>
          <a:xfrm>
            <a:off x="5943600" y="2472624"/>
            <a:ext cx="3219735" cy="2492990"/>
          </a:xfrm>
          <a:prstGeom prst="rect">
            <a:avLst/>
          </a:prstGeom>
          <a:noFill/>
        </p:spPr>
        <p:txBody>
          <a:bodyPr wrap="square">
            <a:spAutoFit/>
          </a:bodyPr>
          <a:lstStyle/>
          <a:p>
            <a:pPr marL="171450" indent="-171450" algn="just">
              <a:buFont typeface="Wingdings" panose="05000000000000000000" pitchFamily="2" charset="2"/>
              <a:buChar char="§"/>
            </a:pPr>
            <a:r>
              <a:rPr lang="fr-FR" sz="1200" dirty="0">
                <a:latin typeface="Bookman Old Style" panose="02050604050505020204" pitchFamily="18" charset="0"/>
              </a:rPr>
              <a:t>Utilisation de composants actifs (transistors, diodes, AO…)</a:t>
            </a:r>
          </a:p>
          <a:p>
            <a:pPr marL="171450" indent="-171450" algn="just">
              <a:buFont typeface="Wingdings" panose="05000000000000000000" pitchFamily="2" charset="2"/>
              <a:buChar char="§"/>
            </a:pPr>
            <a:r>
              <a:rPr lang="fr-FR" sz="1200" dirty="0">
                <a:latin typeface="Bookman Old Style" panose="02050604050505020204" pitchFamily="18" charset="0"/>
              </a:rPr>
              <a:t>Est utilisé dans des dispositifs complexes comme les ordinateurs, smartphones, et systèmes de communication.</a:t>
            </a:r>
          </a:p>
          <a:p>
            <a:pPr marL="171450" indent="-171450" algn="just">
              <a:buFont typeface="Wingdings" panose="05000000000000000000" pitchFamily="2" charset="2"/>
              <a:buChar char="§"/>
            </a:pPr>
            <a:r>
              <a:rPr lang="fr-FR" sz="1200" dirty="0">
                <a:latin typeface="Bookman Old Style" panose="02050604050505020204" pitchFamily="18" charset="0"/>
              </a:rPr>
              <a:t>Fonctionne généralement avec des courants et des tensions plus faibles</a:t>
            </a:r>
          </a:p>
          <a:p>
            <a:pPr algn="just"/>
            <a:endParaRPr lang="fr-FR" sz="1200" dirty="0">
              <a:latin typeface="Bookman Old Style" panose="02050604050505020204" pitchFamily="18" charset="0"/>
            </a:endParaRPr>
          </a:p>
          <a:p>
            <a:pPr algn="just"/>
            <a:r>
              <a:rPr lang="fr-FR" sz="1200" b="1" dirty="0">
                <a:latin typeface="Bookman Old Style" panose="02050604050505020204" pitchFamily="18" charset="0"/>
              </a:rPr>
              <a:t>└── Exemples </a:t>
            </a:r>
            <a:r>
              <a:rPr lang="fr-FR" sz="1200" dirty="0">
                <a:latin typeface="Bookman Old Style" panose="02050604050505020204" pitchFamily="18" charset="0"/>
              </a:rPr>
              <a:t>: Amplification de signaux, traitement d'informations</a:t>
            </a:r>
          </a:p>
          <a:p>
            <a:pPr algn="just"/>
            <a:r>
              <a:rPr lang="fr-FR" sz="1200" dirty="0">
                <a:latin typeface="Bookman Old Style" panose="02050604050505020204" pitchFamily="18" charset="0"/>
              </a:rPr>
              <a:t>  (processeur d'ordinateur, carte mère, amplificateur audio).</a:t>
            </a:r>
          </a:p>
        </p:txBody>
      </p:sp>
      <p:sp>
        <p:nvSpPr>
          <p:cNvPr id="12" name="Left Brace 11">
            <a:extLst>
              <a:ext uri="{FF2B5EF4-FFF2-40B4-BE49-F238E27FC236}">
                <a16:creationId xmlns:a16="http://schemas.microsoft.com/office/drawing/2014/main" id="{E08AD0A9-5A7F-F0CA-B630-35940613DA6C}"/>
              </a:ext>
            </a:extLst>
          </p:cNvPr>
          <p:cNvSpPr/>
          <p:nvPr/>
        </p:nvSpPr>
        <p:spPr>
          <a:xfrm rot="5400000">
            <a:off x="4236001" y="-1421850"/>
            <a:ext cx="671998" cy="6553201"/>
          </a:xfrm>
          <a:prstGeom prst="leftBrac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4" name="TextBox 3">
            <a:extLst>
              <a:ext uri="{FF2B5EF4-FFF2-40B4-BE49-F238E27FC236}">
                <a16:creationId xmlns:a16="http://schemas.microsoft.com/office/drawing/2014/main" id="{D0E186B7-7A74-5AFA-60C0-D4E533C7ECF6}"/>
              </a:ext>
            </a:extLst>
          </p:cNvPr>
          <p:cNvSpPr txBox="1"/>
          <p:nvPr/>
        </p:nvSpPr>
        <p:spPr>
          <a:xfrm>
            <a:off x="6705600" y="2179361"/>
            <a:ext cx="2622308" cy="276999"/>
          </a:xfrm>
          <a:prstGeom prst="rect">
            <a:avLst/>
          </a:prstGeom>
          <a:noFill/>
        </p:spPr>
        <p:txBody>
          <a:bodyPr wrap="square">
            <a:spAutoFit/>
          </a:bodyPr>
          <a:lstStyle/>
          <a:p>
            <a:pPr algn="just"/>
            <a:r>
              <a:rPr lang="fr-FR" sz="1200" b="1" dirty="0">
                <a:latin typeface="Bookman Old Style" panose="02050604050505020204" pitchFamily="18" charset="0"/>
              </a:rPr>
              <a:t>Circuits électroniques </a:t>
            </a:r>
          </a:p>
        </p:txBody>
      </p:sp>
      <p:sp>
        <p:nvSpPr>
          <p:cNvPr id="6" name="TextBox 5">
            <a:extLst>
              <a:ext uri="{FF2B5EF4-FFF2-40B4-BE49-F238E27FC236}">
                <a16:creationId xmlns:a16="http://schemas.microsoft.com/office/drawing/2014/main" id="{B4B82F9F-2630-A6D3-A42F-3A0DA80B56F8}"/>
              </a:ext>
            </a:extLst>
          </p:cNvPr>
          <p:cNvSpPr txBox="1"/>
          <p:nvPr/>
        </p:nvSpPr>
        <p:spPr>
          <a:xfrm>
            <a:off x="2715980" y="3638550"/>
            <a:ext cx="3319823" cy="646331"/>
          </a:xfrm>
          <a:prstGeom prst="rect">
            <a:avLst/>
          </a:prstGeom>
          <a:noFill/>
        </p:spPr>
        <p:txBody>
          <a:bodyPr wrap="square" rtlCol="0">
            <a:spAutoFit/>
          </a:bodyPr>
          <a:lstStyle/>
          <a:p>
            <a:pPr marL="171450" indent="-171450">
              <a:buFont typeface="Wingdings" panose="05000000000000000000" pitchFamily="2" charset="2"/>
              <a:buChar char="§"/>
            </a:pPr>
            <a:r>
              <a:rPr lang="fr-FR" sz="1200" dirty="0">
                <a:latin typeface="Bookman Old Style" panose="02050604050505020204" pitchFamily="18" charset="0"/>
              </a:rPr>
              <a:t>Source de tension (batterie)</a:t>
            </a:r>
          </a:p>
          <a:p>
            <a:pPr marL="171450" indent="-171450">
              <a:buFont typeface="Wingdings" panose="05000000000000000000" pitchFamily="2" charset="2"/>
              <a:buChar char="§"/>
            </a:pPr>
            <a:r>
              <a:rPr lang="fr-FR" sz="1200" dirty="0">
                <a:latin typeface="Bookman Old Style" panose="02050604050505020204" pitchFamily="18" charset="0"/>
              </a:rPr>
              <a:t>Conducteurs (fils)</a:t>
            </a:r>
          </a:p>
          <a:p>
            <a:pPr marL="171450" indent="-171450">
              <a:buFont typeface="Wingdings" panose="05000000000000000000" pitchFamily="2" charset="2"/>
              <a:buChar char="§"/>
            </a:pPr>
            <a:r>
              <a:rPr lang="fr-FR" sz="1200" dirty="0">
                <a:latin typeface="Bookman Old Style" panose="02050604050505020204" pitchFamily="18" charset="0"/>
              </a:rPr>
              <a:t>Charges/ appareils (ampoule, moteur)</a:t>
            </a:r>
          </a:p>
        </p:txBody>
      </p:sp>
      <p:sp>
        <p:nvSpPr>
          <p:cNvPr id="8" name="Rectangle: Rounded Corners 7">
            <a:extLst>
              <a:ext uri="{FF2B5EF4-FFF2-40B4-BE49-F238E27FC236}">
                <a16:creationId xmlns:a16="http://schemas.microsoft.com/office/drawing/2014/main" id="{5CBFBB24-5069-3957-34DA-FFB33CFF04E5}"/>
              </a:ext>
            </a:extLst>
          </p:cNvPr>
          <p:cNvSpPr/>
          <p:nvPr/>
        </p:nvSpPr>
        <p:spPr>
          <a:xfrm>
            <a:off x="473340" y="2190750"/>
            <a:ext cx="1736460" cy="265610"/>
          </a:xfrm>
          <a:prstGeom prst="roundRect">
            <a:avLst/>
          </a:prstGeom>
          <a:noFill/>
          <a:ln>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Rounded Corners 10">
            <a:extLst>
              <a:ext uri="{FF2B5EF4-FFF2-40B4-BE49-F238E27FC236}">
                <a16:creationId xmlns:a16="http://schemas.microsoft.com/office/drawing/2014/main" id="{FCD3B84A-697D-D27D-E0E9-1AD38F1881FE}"/>
              </a:ext>
            </a:extLst>
          </p:cNvPr>
          <p:cNvSpPr/>
          <p:nvPr/>
        </p:nvSpPr>
        <p:spPr>
          <a:xfrm>
            <a:off x="6733563" y="2190284"/>
            <a:ext cx="1882655" cy="260420"/>
          </a:xfrm>
          <a:prstGeom prst="roundRect">
            <a:avLst/>
          </a:prstGeom>
          <a:noFill/>
          <a:ln>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Arrow: Striped Right 15">
            <a:extLst>
              <a:ext uri="{FF2B5EF4-FFF2-40B4-BE49-F238E27FC236}">
                <a16:creationId xmlns:a16="http://schemas.microsoft.com/office/drawing/2014/main" id="{9663305D-CDE5-A36F-0F06-232E94716580}"/>
              </a:ext>
            </a:extLst>
          </p:cNvPr>
          <p:cNvSpPr/>
          <p:nvPr/>
        </p:nvSpPr>
        <p:spPr>
          <a:xfrm>
            <a:off x="2287245" y="2190284"/>
            <a:ext cx="751340" cy="282340"/>
          </a:xfrm>
          <a:prstGeom prst="stripedRightArrow">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Arrow: Striped Right 24">
            <a:extLst>
              <a:ext uri="{FF2B5EF4-FFF2-40B4-BE49-F238E27FC236}">
                <a16:creationId xmlns:a16="http://schemas.microsoft.com/office/drawing/2014/main" id="{3814E3B8-7FF7-3674-7998-D1E4DDB63ACA}"/>
              </a:ext>
            </a:extLst>
          </p:cNvPr>
          <p:cNvSpPr/>
          <p:nvPr/>
        </p:nvSpPr>
        <p:spPr>
          <a:xfrm rot="10800000">
            <a:off x="5905126" y="2176690"/>
            <a:ext cx="751340" cy="282340"/>
          </a:xfrm>
          <a:prstGeom prst="stripedRightArrow">
            <a:avLst/>
          </a:prstGeom>
          <a:noFill/>
          <a:ln>
            <a:solidFill>
              <a:srgbClr val="FF000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Rounded Corners 26">
            <a:extLst>
              <a:ext uri="{FF2B5EF4-FFF2-40B4-BE49-F238E27FC236}">
                <a16:creationId xmlns:a16="http://schemas.microsoft.com/office/drawing/2014/main" id="{12311AC4-864B-8E8D-3109-E933A579BBDA}"/>
              </a:ext>
            </a:extLst>
          </p:cNvPr>
          <p:cNvSpPr/>
          <p:nvPr/>
        </p:nvSpPr>
        <p:spPr>
          <a:xfrm>
            <a:off x="3483655" y="2080444"/>
            <a:ext cx="2081211" cy="409699"/>
          </a:xfrm>
          <a:prstGeom prst="roundRect">
            <a:avLst/>
          </a:prstGeom>
          <a:noFill/>
          <a:ln>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Bookman Old Style" panose="02050604050505020204" pitchFamily="18" charset="0"/>
              </a:rPr>
              <a:t>Circuits électriques et électroniques</a:t>
            </a:r>
          </a:p>
        </p:txBody>
      </p:sp>
    </p:spTree>
    <p:extLst>
      <p:ext uri="{BB962C8B-B14F-4D97-AF65-F5344CB8AC3E}">
        <p14:creationId xmlns:p14="http://schemas.microsoft.com/office/powerpoint/2010/main" val="2670562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anim calcmode="lin" valueType="num">
                                      <p:cBhvr>
                                        <p:cTn id="8" dur="1000" fill="hold"/>
                                        <p:tgtEl>
                                          <p:spTgt spid="16"/>
                                        </p:tgtEl>
                                        <p:attrNameLst>
                                          <p:attrName>ppt_x</p:attrName>
                                        </p:attrNameLst>
                                      </p:cBhvr>
                                      <p:tavLst>
                                        <p:tav tm="0">
                                          <p:val>
                                            <p:strVal val="#ppt_x"/>
                                          </p:val>
                                        </p:tav>
                                        <p:tav tm="100000">
                                          <p:val>
                                            <p:strVal val="#ppt_x"/>
                                          </p:val>
                                        </p:tav>
                                      </p:tavLst>
                                    </p:anim>
                                    <p:anim calcmode="lin" valueType="num">
                                      <p:cBhvr>
                                        <p:cTn id="9" dur="1000" fill="hold"/>
                                        <p:tgtEl>
                                          <p:spTgt spid="16"/>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1000"/>
                                        <p:tgtEl>
                                          <p:spTgt spid="25"/>
                                        </p:tgtEl>
                                      </p:cBhvr>
                                    </p:animEffect>
                                    <p:anim calcmode="lin" valueType="num">
                                      <p:cBhvr>
                                        <p:cTn id="18" dur="1000" fill="hold"/>
                                        <p:tgtEl>
                                          <p:spTgt spid="25"/>
                                        </p:tgtEl>
                                        <p:attrNameLst>
                                          <p:attrName>ppt_x</p:attrName>
                                        </p:attrNameLst>
                                      </p:cBhvr>
                                      <p:tavLst>
                                        <p:tav tm="0">
                                          <p:val>
                                            <p:strVal val="#ppt_x"/>
                                          </p:val>
                                        </p:tav>
                                        <p:tav tm="100000">
                                          <p:val>
                                            <p:strVal val="#ppt_x"/>
                                          </p:val>
                                        </p:tav>
                                      </p:tavLst>
                                    </p:anim>
                                    <p:anim calcmode="lin" valueType="num">
                                      <p:cBhvr>
                                        <p:cTn id="19" dur="1000" fill="hold"/>
                                        <p:tgtEl>
                                          <p:spTgt spid="2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anim calcmode="lin" valueType="num">
                                      <p:cBhvr>
                                        <p:cTn id="23" dur="1000" fill="hold"/>
                                        <p:tgtEl>
                                          <p:spTgt spid="11"/>
                                        </p:tgtEl>
                                        <p:attrNameLst>
                                          <p:attrName>ppt_x</p:attrName>
                                        </p:attrNameLst>
                                      </p:cBhvr>
                                      <p:tavLst>
                                        <p:tav tm="0">
                                          <p:val>
                                            <p:strVal val="#ppt_x"/>
                                          </p:val>
                                        </p:tav>
                                        <p:tav tm="100000">
                                          <p:val>
                                            <p:strVal val="#ppt_x"/>
                                          </p:val>
                                        </p:tav>
                                      </p:tavLst>
                                    </p:anim>
                                    <p:anim calcmode="lin" valueType="num">
                                      <p:cBhvr>
                                        <p:cTn id="24"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5" presetClass="entr" presetSubtype="0" fill="hold" grpId="0"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2000"/>
                                        <p:tgtEl>
                                          <p:spTgt spid="27"/>
                                        </p:tgtEl>
                                      </p:cBhvr>
                                    </p:animEffect>
                                    <p:anim calcmode="lin" valueType="num">
                                      <p:cBhvr>
                                        <p:cTn id="30" dur="2000" fill="hold"/>
                                        <p:tgtEl>
                                          <p:spTgt spid="27"/>
                                        </p:tgtEl>
                                        <p:attrNameLst>
                                          <p:attrName>ppt_w</p:attrName>
                                        </p:attrNameLst>
                                      </p:cBhvr>
                                      <p:tavLst>
                                        <p:tav tm="0" fmla="#ppt_w*sin(2.5*pi*$)">
                                          <p:val>
                                            <p:fltVal val="0"/>
                                          </p:val>
                                        </p:tav>
                                        <p:tav tm="100000">
                                          <p:val>
                                            <p:fltVal val="1"/>
                                          </p:val>
                                        </p:tav>
                                      </p:tavLst>
                                    </p:anim>
                                    <p:anim calcmode="lin" valueType="num">
                                      <p:cBhvr>
                                        <p:cTn id="31" dur="2000" fill="hold"/>
                                        <p:tgtEl>
                                          <p:spTgt spid="2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animBg="1"/>
      <p:bldP spid="16" grpId="0" animBg="1"/>
      <p:bldP spid="25" grpId="0" animBg="1"/>
      <p:bldP spid="2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dirty="0">
              <a:latin typeface="Arial"/>
              <a:cs typeface="Arial"/>
            </a:endParaRPr>
          </a:p>
        </p:txBody>
      </p:sp>
      <p:sp>
        <p:nvSpPr>
          <p:cNvPr id="46" name="object 46"/>
          <p:cNvSpPr txBox="1"/>
          <p:nvPr/>
        </p:nvSpPr>
        <p:spPr>
          <a:xfrm>
            <a:off x="8792511" y="4819418"/>
            <a:ext cx="245745" cy="330200"/>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5</a:t>
            </a:fld>
            <a:endParaRPr sz="2400" dirty="0">
              <a:latin typeface="Arial"/>
              <a:cs typeface="Arial"/>
            </a:endParaRPr>
          </a:p>
        </p:txBody>
      </p:sp>
      <p:sp>
        <p:nvSpPr>
          <p:cNvPr id="15" name="Rectangle 14"/>
          <p:cNvSpPr/>
          <p:nvPr/>
        </p:nvSpPr>
        <p:spPr>
          <a:xfrm>
            <a:off x="3038585" y="187064"/>
            <a:ext cx="2997218" cy="430887"/>
          </a:xfrm>
          <a:prstGeom prst="rect">
            <a:avLst/>
          </a:prstGeom>
        </p:spPr>
        <p:txBody>
          <a:bodyPr wrap="square">
            <a:spAutoFit/>
          </a:bodyPr>
          <a:lstStyle/>
          <a:p>
            <a:pPr marL="12065" lvl="1" algn="ctr">
              <a:lnSpc>
                <a:spcPct val="100000"/>
              </a:lnSpc>
              <a:spcBef>
                <a:spcPts val="100"/>
              </a:spcBef>
              <a:tabLst>
                <a:tab pos="393700" algn="l"/>
              </a:tabLst>
            </a:pPr>
            <a:r>
              <a:rPr lang="fr-FR" sz="2200" b="1" spc="-5" dirty="0">
                <a:solidFill>
                  <a:srgbClr val="FF0000"/>
                </a:solidFill>
                <a:latin typeface="Bookman Old Style" panose="02050604050505020204" pitchFamily="18" charset="0"/>
                <a:cs typeface="Arial"/>
              </a:rPr>
              <a:t>Avant-propos</a:t>
            </a: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5817050" y="525499"/>
            <a:ext cx="3200400" cy="14076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grpSp>
        <p:nvGrpSpPr>
          <p:cNvPr id="5" name="object 4">
            <a:extLst>
              <a:ext uri="{FF2B5EF4-FFF2-40B4-BE49-F238E27FC236}">
                <a16:creationId xmlns:a16="http://schemas.microsoft.com/office/drawing/2014/main" id="{BD02F06E-4D81-7F41-A020-343EF520B54D}"/>
              </a:ext>
            </a:extLst>
          </p:cNvPr>
          <p:cNvGrpSpPr/>
          <p:nvPr/>
        </p:nvGrpSpPr>
        <p:grpSpPr>
          <a:xfrm>
            <a:off x="121795" y="508888"/>
            <a:ext cx="3200400" cy="140767"/>
            <a:chOff x="1881480" y="350569"/>
            <a:chExt cx="7147385" cy="156271"/>
          </a:xfrm>
          <a:solidFill>
            <a:schemeClr val="tx1"/>
          </a:solidFill>
        </p:grpSpPr>
        <p:sp>
          <p:nvSpPr>
            <p:cNvPr id="17" name="object 5">
              <a:extLst>
                <a:ext uri="{FF2B5EF4-FFF2-40B4-BE49-F238E27FC236}">
                  <a16:creationId xmlns:a16="http://schemas.microsoft.com/office/drawing/2014/main" id="{84ADDCC2-6672-BAD4-FAE6-491B60846100}"/>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20" name="object 6">
              <a:extLst>
                <a:ext uri="{FF2B5EF4-FFF2-40B4-BE49-F238E27FC236}">
                  <a16:creationId xmlns:a16="http://schemas.microsoft.com/office/drawing/2014/main" id="{209CD14D-0D3D-5325-7633-2BCEE4283023}"/>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grpSp>
        <p:nvGrpSpPr>
          <p:cNvPr id="35" name="object 11">
            <a:extLst>
              <a:ext uri="{FF2B5EF4-FFF2-40B4-BE49-F238E27FC236}">
                <a16:creationId xmlns:a16="http://schemas.microsoft.com/office/drawing/2014/main" id="{99C471A2-3A02-40DA-459E-C408F381F0C3}"/>
              </a:ext>
            </a:extLst>
          </p:cNvPr>
          <p:cNvGrpSpPr/>
          <p:nvPr/>
        </p:nvGrpSpPr>
        <p:grpSpPr>
          <a:xfrm>
            <a:off x="2783566" y="703194"/>
            <a:ext cx="3541034" cy="474645"/>
            <a:chOff x="695200" y="1293934"/>
            <a:chExt cx="8225156" cy="690246"/>
          </a:xfrm>
        </p:grpSpPr>
        <p:sp>
          <p:nvSpPr>
            <p:cNvPr id="36" name="object 12">
              <a:extLst>
                <a:ext uri="{FF2B5EF4-FFF2-40B4-BE49-F238E27FC236}">
                  <a16:creationId xmlns:a16="http://schemas.microsoft.com/office/drawing/2014/main" id="{EDB7E972-AFDD-929F-65C5-4E9401313E8B}"/>
                </a:ext>
              </a:extLst>
            </p:cNvPr>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37" name="object 13">
              <a:extLst>
                <a:ext uri="{FF2B5EF4-FFF2-40B4-BE49-F238E27FC236}">
                  <a16:creationId xmlns:a16="http://schemas.microsoft.com/office/drawing/2014/main" id="{9F839C78-AA99-4899-0CD6-213137235D77}"/>
                </a:ext>
              </a:extLst>
            </p:cNvPr>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39" name="TextBox 38">
            <a:extLst>
              <a:ext uri="{FF2B5EF4-FFF2-40B4-BE49-F238E27FC236}">
                <a16:creationId xmlns:a16="http://schemas.microsoft.com/office/drawing/2014/main" id="{4DAD9B47-5189-31C5-8B10-19B8B6C8A63A}"/>
              </a:ext>
            </a:extLst>
          </p:cNvPr>
          <p:cNvSpPr txBox="1"/>
          <p:nvPr/>
        </p:nvSpPr>
        <p:spPr>
          <a:xfrm>
            <a:off x="2614277" y="754014"/>
            <a:ext cx="3845834" cy="523220"/>
          </a:xfrm>
          <a:prstGeom prst="rect">
            <a:avLst/>
          </a:prstGeom>
          <a:noFill/>
        </p:spPr>
        <p:txBody>
          <a:bodyPr wrap="square" rtlCol="0">
            <a:spAutoFit/>
          </a:bodyPr>
          <a:lstStyle/>
          <a:p>
            <a:pPr algn="ctr"/>
            <a:r>
              <a:rPr lang="fr-FR" sz="1600" b="1" dirty="0">
                <a:solidFill>
                  <a:schemeClr val="tx1"/>
                </a:solidFill>
                <a:latin typeface="Bookman Old Style" panose="02050604050505020204" pitchFamily="18" charset="0"/>
              </a:rPr>
              <a:t>Domaines d’Applications</a:t>
            </a:r>
          </a:p>
          <a:p>
            <a:pPr algn="ctr"/>
            <a:endParaRPr lang="fr-FR" sz="1200" dirty="0">
              <a:latin typeface="Bookman Old Style" panose="02050604050505020204" pitchFamily="18" charset="0"/>
            </a:endParaRPr>
          </a:p>
        </p:txBody>
      </p:sp>
      <p:sp>
        <p:nvSpPr>
          <p:cNvPr id="26" name="TextBox 25">
            <a:extLst>
              <a:ext uri="{FF2B5EF4-FFF2-40B4-BE49-F238E27FC236}">
                <a16:creationId xmlns:a16="http://schemas.microsoft.com/office/drawing/2014/main" id="{714DBF14-D79E-90B4-9757-233125FF6602}"/>
              </a:ext>
            </a:extLst>
          </p:cNvPr>
          <p:cNvSpPr txBox="1"/>
          <p:nvPr/>
        </p:nvSpPr>
        <p:spPr>
          <a:xfrm>
            <a:off x="1905000" y="1390120"/>
            <a:ext cx="6043168" cy="307777"/>
          </a:xfrm>
          <a:prstGeom prst="rect">
            <a:avLst/>
          </a:prstGeom>
          <a:noFill/>
        </p:spPr>
        <p:txBody>
          <a:bodyPr wrap="square">
            <a:spAutoFit/>
          </a:bodyPr>
          <a:lstStyle/>
          <a:p>
            <a:r>
              <a:rPr lang="fr-FR" sz="1400" b="1" dirty="0">
                <a:solidFill>
                  <a:srgbClr val="FF0000"/>
                </a:solidFill>
                <a:latin typeface="Bookman Old Style" panose="02050604050505020204" pitchFamily="18" charset="0"/>
              </a:rPr>
              <a:t>Pourquoi</a:t>
            </a:r>
            <a:r>
              <a:rPr lang="fr-FR" sz="1400" b="1" dirty="0">
                <a:latin typeface="Bookman Old Style" panose="02050604050505020204" pitchFamily="18" charset="0"/>
              </a:rPr>
              <a:t> étudier le ‘’ </a:t>
            </a:r>
            <a:r>
              <a:rPr lang="fr-FR" sz="1400" b="1" dirty="0">
                <a:solidFill>
                  <a:srgbClr val="0000FF"/>
                </a:solidFill>
                <a:latin typeface="Bookman Old Style" panose="02050604050505020204" pitchFamily="18" charset="0"/>
              </a:rPr>
              <a:t>Circuits Électriques et Électroniques </a:t>
            </a:r>
            <a:r>
              <a:rPr lang="fr-FR" sz="1400" b="1" dirty="0">
                <a:solidFill>
                  <a:schemeClr val="tx1"/>
                </a:solidFill>
                <a:latin typeface="Bookman Old Style" panose="02050604050505020204" pitchFamily="18" charset="0"/>
              </a:rPr>
              <a:t>’’ </a:t>
            </a:r>
            <a:r>
              <a:rPr lang="fr-FR" sz="1400" b="1" dirty="0">
                <a:solidFill>
                  <a:srgbClr val="FF0000"/>
                </a:solidFill>
                <a:latin typeface="Bookman Old Style" panose="02050604050505020204" pitchFamily="18" charset="0"/>
              </a:rPr>
              <a:t>?</a:t>
            </a:r>
          </a:p>
        </p:txBody>
      </p:sp>
      <p:sp>
        <p:nvSpPr>
          <p:cNvPr id="28" name="Rectangle: Rounded Corners 27">
            <a:extLst>
              <a:ext uri="{FF2B5EF4-FFF2-40B4-BE49-F238E27FC236}">
                <a16:creationId xmlns:a16="http://schemas.microsoft.com/office/drawing/2014/main" id="{A11B1F32-8E23-E900-AA48-B7100B38255F}"/>
              </a:ext>
            </a:extLst>
          </p:cNvPr>
          <p:cNvSpPr/>
          <p:nvPr/>
        </p:nvSpPr>
        <p:spPr>
          <a:xfrm>
            <a:off x="452136" y="1971100"/>
            <a:ext cx="2586449" cy="17268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0" name="Picture 29">
            <a:extLst>
              <a:ext uri="{FF2B5EF4-FFF2-40B4-BE49-F238E27FC236}">
                <a16:creationId xmlns:a16="http://schemas.microsoft.com/office/drawing/2014/main" id="{94D46590-3955-4487-8A2B-14E4C820C16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1975908"/>
            <a:ext cx="2550919" cy="169968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32" name="TextBox 31">
            <a:extLst>
              <a:ext uri="{FF2B5EF4-FFF2-40B4-BE49-F238E27FC236}">
                <a16:creationId xmlns:a16="http://schemas.microsoft.com/office/drawing/2014/main" id="{FA6DAC9D-9F0E-5019-D410-052A3D3E00C2}"/>
              </a:ext>
            </a:extLst>
          </p:cNvPr>
          <p:cNvSpPr txBox="1"/>
          <p:nvPr/>
        </p:nvSpPr>
        <p:spPr>
          <a:xfrm>
            <a:off x="683802" y="3940219"/>
            <a:ext cx="2123114" cy="461665"/>
          </a:xfrm>
          <a:prstGeom prst="rect">
            <a:avLst/>
          </a:prstGeom>
          <a:noFill/>
        </p:spPr>
        <p:txBody>
          <a:bodyPr wrap="square">
            <a:spAutoFit/>
          </a:bodyPr>
          <a:lstStyle/>
          <a:p>
            <a:pPr algn="ctr"/>
            <a:r>
              <a:rPr lang="fr-FR" sz="1200" b="1" dirty="0">
                <a:latin typeface="Bookman Old Style" panose="02050604050505020204" pitchFamily="18" charset="0"/>
              </a:rPr>
              <a:t>Éclairage et distribution d'énergie</a:t>
            </a:r>
            <a:endParaRPr lang="fr-FR" sz="1200" b="1" dirty="0"/>
          </a:p>
        </p:txBody>
      </p:sp>
      <p:sp>
        <p:nvSpPr>
          <p:cNvPr id="34" name="TextBox 33">
            <a:extLst>
              <a:ext uri="{FF2B5EF4-FFF2-40B4-BE49-F238E27FC236}">
                <a16:creationId xmlns:a16="http://schemas.microsoft.com/office/drawing/2014/main" id="{1C9DBDBA-3B25-C712-B191-8DF02B6E8F56}"/>
              </a:ext>
            </a:extLst>
          </p:cNvPr>
          <p:cNvSpPr txBox="1"/>
          <p:nvPr/>
        </p:nvSpPr>
        <p:spPr>
          <a:xfrm>
            <a:off x="4038600" y="3940219"/>
            <a:ext cx="1463708" cy="276999"/>
          </a:xfrm>
          <a:prstGeom prst="rect">
            <a:avLst/>
          </a:prstGeom>
          <a:noFill/>
        </p:spPr>
        <p:txBody>
          <a:bodyPr wrap="square">
            <a:spAutoFit/>
          </a:bodyPr>
          <a:lstStyle/>
          <a:p>
            <a:r>
              <a:rPr lang="fr-FR" sz="1200" b="1" dirty="0">
                <a:latin typeface="Bookman Old Style" panose="02050604050505020204" pitchFamily="18" charset="0"/>
              </a:rPr>
              <a:t>Électroménager </a:t>
            </a:r>
            <a:endParaRPr lang="fr-FR" sz="1200" b="1" dirty="0"/>
          </a:p>
        </p:txBody>
      </p:sp>
      <p:sp>
        <p:nvSpPr>
          <p:cNvPr id="38" name="Rectangle: Rounded Corners 37">
            <a:extLst>
              <a:ext uri="{FF2B5EF4-FFF2-40B4-BE49-F238E27FC236}">
                <a16:creationId xmlns:a16="http://schemas.microsoft.com/office/drawing/2014/main" id="{A3E7E90A-6D2A-7B4C-6ACE-351A2A5F64D6}"/>
              </a:ext>
            </a:extLst>
          </p:cNvPr>
          <p:cNvSpPr/>
          <p:nvPr/>
        </p:nvSpPr>
        <p:spPr>
          <a:xfrm>
            <a:off x="3357151" y="1958302"/>
            <a:ext cx="2586449" cy="17268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1" name="Picture 40">
            <a:extLst>
              <a:ext uri="{FF2B5EF4-FFF2-40B4-BE49-F238E27FC236}">
                <a16:creationId xmlns:a16="http://schemas.microsoft.com/office/drawing/2014/main" id="{75103C62-F4F1-632E-EEEA-860043881F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80131" y="1965947"/>
            <a:ext cx="2540488" cy="1681886"/>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3" name="TextBox 42">
            <a:extLst>
              <a:ext uri="{FF2B5EF4-FFF2-40B4-BE49-F238E27FC236}">
                <a16:creationId xmlns:a16="http://schemas.microsoft.com/office/drawing/2014/main" id="{EE728B56-7480-2024-FEC3-C40CE14BB2C8}"/>
              </a:ext>
            </a:extLst>
          </p:cNvPr>
          <p:cNvSpPr txBox="1"/>
          <p:nvPr/>
        </p:nvSpPr>
        <p:spPr>
          <a:xfrm>
            <a:off x="6460111" y="3940218"/>
            <a:ext cx="2088066" cy="276999"/>
          </a:xfrm>
          <a:prstGeom prst="rect">
            <a:avLst/>
          </a:prstGeom>
          <a:noFill/>
        </p:spPr>
        <p:txBody>
          <a:bodyPr wrap="square">
            <a:spAutoFit/>
          </a:bodyPr>
          <a:lstStyle>
            <a:defPPr>
              <a:defRPr lang="fr-FR"/>
            </a:defPPr>
            <a:lvl1pPr>
              <a:defRPr sz="1200" b="1">
                <a:latin typeface="Bookman Old Style" panose="02050604050505020204" pitchFamily="18" charset="0"/>
              </a:defRPr>
            </a:lvl1pPr>
          </a:lstStyle>
          <a:p>
            <a:pPr algn="ctr"/>
            <a:r>
              <a:rPr lang="fr-FR" dirty="0"/>
              <a:t>T</a:t>
            </a:r>
            <a:r>
              <a:rPr lang="fr-FR" sz="1200" dirty="0">
                <a:latin typeface="Bookman Old Style" panose="02050604050505020204" pitchFamily="18" charset="0"/>
              </a:rPr>
              <a:t>élécommunications</a:t>
            </a:r>
            <a:endParaRPr lang="fr-FR" dirty="0"/>
          </a:p>
        </p:txBody>
      </p:sp>
      <p:sp>
        <p:nvSpPr>
          <p:cNvPr id="44" name="Rectangle: Rounded Corners 43">
            <a:extLst>
              <a:ext uri="{FF2B5EF4-FFF2-40B4-BE49-F238E27FC236}">
                <a16:creationId xmlns:a16="http://schemas.microsoft.com/office/drawing/2014/main" id="{D07BD62F-B6DD-4FE5-5104-83E283E73EC1}"/>
              </a:ext>
            </a:extLst>
          </p:cNvPr>
          <p:cNvSpPr/>
          <p:nvPr/>
        </p:nvSpPr>
        <p:spPr>
          <a:xfrm>
            <a:off x="6248400" y="1943465"/>
            <a:ext cx="2586449" cy="17268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7" name="Picture 46">
            <a:extLst>
              <a:ext uri="{FF2B5EF4-FFF2-40B4-BE49-F238E27FC236}">
                <a16:creationId xmlns:a16="http://schemas.microsoft.com/office/drawing/2014/main" id="{7DF32545-44D1-67EF-0B76-A86906BA5C5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79932" y="1967411"/>
            <a:ext cx="2546060" cy="169415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extLst>
      <p:ext uri="{BB962C8B-B14F-4D97-AF65-F5344CB8AC3E}">
        <p14:creationId xmlns:p14="http://schemas.microsoft.com/office/powerpoint/2010/main" val="2820818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dirty="0">
              <a:latin typeface="Arial"/>
              <a:cs typeface="Arial"/>
            </a:endParaRPr>
          </a:p>
        </p:txBody>
      </p:sp>
      <p:sp>
        <p:nvSpPr>
          <p:cNvPr id="46" name="object 46"/>
          <p:cNvSpPr txBox="1"/>
          <p:nvPr/>
        </p:nvSpPr>
        <p:spPr>
          <a:xfrm>
            <a:off x="8792511" y="4819418"/>
            <a:ext cx="245745" cy="330200"/>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6</a:t>
            </a:fld>
            <a:endParaRPr sz="2400" dirty="0">
              <a:latin typeface="Arial"/>
              <a:cs typeface="Arial"/>
            </a:endParaRPr>
          </a:p>
        </p:txBody>
      </p:sp>
      <p:sp>
        <p:nvSpPr>
          <p:cNvPr id="15" name="Rectangle 14"/>
          <p:cNvSpPr/>
          <p:nvPr/>
        </p:nvSpPr>
        <p:spPr>
          <a:xfrm>
            <a:off x="3038585" y="187064"/>
            <a:ext cx="2997218" cy="430887"/>
          </a:xfrm>
          <a:prstGeom prst="rect">
            <a:avLst/>
          </a:prstGeom>
        </p:spPr>
        <p:txBody>
          <a:bodyPr wrap="square">
            <a:spAutoFit/>
          </a:bodyPr>
          <a:lstStyle/>
          <a:p>
            <a:pPr marL="12065" lvl="1" algn="ctr">
              <a:lnSpc>
                <a:spcPct val="100000"/>
              </a:lnSpc>
              <a:spcBef>
                <a:spcPts val="100"/>
              </a:spcBef>
              <a:tabLst>
                <a:tab pos="393700" algn="l"/>
              </a:tabLst>
            </a:pPr>
            <a:r>
              <a:rPr lang="fr-FR" sz="2200" b="1" spc="-5" dirty="0">
                <a:solidFill>
                  <a:srgbClr val="FF0000"/>
                </a:solidFill>
                <a:latin typeface="Bookman Old Style" panose="02050604050505020204" pitchFamily="18" charset="0"/>
                <a:cs typeface="Arial"/>
              </a:rPr>
              <a:t>Avant-propos</a:t>
            </a: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5817050" y="525499"/>
            <a:ext cx="3200400" cy="14076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grpSp>
        <p:nvGrpSpPr>
          <p:cNvPr id="5" name="object 4">
            <a:extLst>
              <a:ext uri="{FF2B5EF4-FFF2-40B4-BE49-F238E27FC236}">
                <a16:creationId xmlns:a16="http://schemas.microsoft.com/office/drawing/2014/main" id="{BD02F06E-4D81-7F41-A020-343EF520B54D}"/>
              </a:ext>
            </a:extLst>
          </p:cNvPr>
          <p:cNvGrpSpPr/>
          <p:nvPr/>
        </p:nvGrpSpPr>
        <p:grpSpPr>
          <a:xfrm>
            <a:off x="121795" y="508888"/>
            <a:ext cx="3200400" cy="140767"/>
            <a:chOff x="1881480" y="350569"/>
            <a:chExt cx="7147385" cy="156271"/>
          </a:xfrm>
          <a:solidFill>
            <a:schemeClr val="tx1"/>
          </a:solidFill>
        </p:grpSpPr>
        <p:sp>
          <p:nvSpPr>
            <p:cNvPr id="17" name="object 5">
              <a:extLst>
                <a:ext uri="{FF2B5EF4-FFF2-40B4-BE49-F238E27FC236}">
                  <a16:creationId xmlns:a16="http://schemas.microsoft.com/office/drawing/2014/main" id="{84ADDCC2-6672-BAD4-FAE6-491B60846100}"/>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20" name="object 6">
              <a:extLst>
                <a:ext uri="{FF2B5EF4-FFF2-40B4-BE49-F238E27FC236}">
                  <a16:creationId xmlns:a16="http://schemas.microsoft.com/office/drawing/2014/main" id="{209CD14D-0D3D-5325-7633-2BCEE4283023}"/>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grpSp>
        <p:nvGrpSpPr>
          <p:cNvPr id="35" name="object 11">
            <a:extLst>
              <a:ext uri="{FF2B5EF4-FFF2-40B4-BE49-F238E27FC236}">
                <a16:creationId xmlns:a16="http://schemas.microsoft.com/office/drawing/2014/main" id="{99C471A2-3A02-40DA-459E-C408F381F0C3}"/>
              </a:ext>
            </a:extLst>
          </p:cNvPr>
          <p:cNvGrpSpPr/>
          <p:nvPr/>
        </p:nvGrpSpPr>
        <p:grpSpPr>
          <a:xfrm>
            <a:off x="2783566" y="778510"/>
            <a:ext cx="3541034" cy="474645"/>
            <a:chOff x="695200" y="1293934"/>
            <a:chExt cx="8225156" cy="690246"/>
          </a:xfrm>
        </p:grpSpPr>
        <p:sp>
          <p:nvSpPr>
            <p:cNvPr id="36" name="object 12">
              <a:extLst>
                <a:ext uri="{FF2B5EF4-FFF2-40B4-BE49-F238E27FC236}">
                  <a16:creationId xmlns:a16="http://schemas.microsoft.com/office/drawing/2014/main" id="{EDB7E972-AFDD-929F-65C5-4E9401313E8B}"/>
                </a:ext>
              </a:extLst>
            </p:cNvPr>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37" name="object 13">
              <a:extLst>
                <a:ext uri="{FF2B5EF4-FFF2-40B4-BE49-F238E27FC236}">
                  <a16:creationId xmlns:a16="http://schemas.microsoft.com/office/drawing/2014/main" id="{9F839C78-AA99-4899-0CD6-213137235D77}"/>
                </a:ext>
              </a:extLst>
            </p:cNvPr>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39" name="TextBox 38">
            <a:extLst>
              <a:ext uri="{FF2B5EF4-FFF2-40B4-BE49-F238E27FC236}">
                <a16:creationId xmlns:a16="http://schemas.microsoft.com/office/drawing/2014/main" id="{4DAD9B47-5189-31C5-8B10-19B8B6C8A63A}"/>
              </a:ext>
            </a:extLst>
          </p:cNvPr>
          <p:cNvSpPr txBox="1"/>
          <p:nvPr/>
        </p:nvSpPr>
        <p:spPr>
          <a:xfrm>
            <a:off x="2614277" y="829330"/>
            <a:ext cx="3845834" cy="523220"/>
          </a:xfrm>
          <a:prstGeom prst="rect">
            <a:avLst/>
          </a:prstGeom>
          <a:noFill/>
        </p:spPr>
        <p:txBody>
          <a:bodyPr wrap="square" rtlCol="0">
            <a:spAutoFit/>
          </a:bodyPr>
          <a:lstStyle/>
          <a:p>
            <a:pPr algn="ctr"/>
            <a:r>
              <a:rPr lang="fr-FR" sz="1600" b="1" dirty="0">
                <a:solidFill>
                  <a:schemeClr val="tx1"/>
                </a:solidFill>
                <a:latin typeface="Bookman Old Style" panose="02050604050505020204" pitchFamily="18" charset="0"/>
              </a:rPr>
              <a:t>Domaines d’Applications</a:t>
            </a:r>
          </a:p>
          <a:p>
            <a:pPr algn="ctr"/>
            <a:endParaRPr lang="fr-FR" sz="1200" dirty="0">
              <a:latin typeface="Bookman Old Style" panose="02050604050505020204" pitchFamily="18" charset="0"/>
            </a:endParaRPr>
          </a:p>
        </p:txBody>
      </p:sp>
      <p:sp>
        <p:nvSpPr>
          <p:cNvPr id="26" name="TextBox 25">
            <a:extLst>
              <a:ext uri="{FF2B5EF4-FFF2-40B4-BE49-F238E27FC236}">
                <a16:creationId xmlns:a16="http://schemas.microsoft.com/office/drawing/2014/main" id="{714DBF14-D79E-90B4-9757-233125FF6602}"/>
              </a:ext>
            </a:extLst>
          </p:cNvPr>
          <p:cNvSpPr txBox="1"/>
          <p:nvPr/>
        </p:nvSpPr>
        <p:spPr>
          <a:xfrm>
            <a:off x="1787488" y="1386395"/>
            <a:ext cx="6061112" cy="307777"/>
          </a:xfrm>
          <a:prstGeom prst="rect">
            <a:avLst/>
          </a:prstGeom>
          <a:noFill/>
        </p:spPr>
        <p:txBody>
          <a:bodyPr wrap="square">
            <a:spAutoFit/>
          </a:bodyPr>
          <a:lstStyle/>
          <a:p>
            <a:r>
              <a:rPr lang="fr-FR" sz="1400" b="1" dirty="0">
                <a:solidFill>
                  <a:srgbClr val="FF0000"/>
                </a:solidFill>
                <a:latin typeface="Bookman Old Style" panose="02050604050505020204" pitchFamily="18" charset="0"/>
              </a:rPr>
              <a:t>Pourquoi</a:t>
            </a:r>
            <a:r>
              <a:rPr lang="fr-FR" sz="1400" b="1" dirty="0">
                <a:latin typeface="Bookman Old Style" panose="02050604050505020204" pitchFamily="18" charset="0"/>
              </a:rPr>
              <a:t> étudier le ‘’ </a:t>
            </a:r>
            <a:r>
              <a:rPr lang="fr-FR" sz="1400" b="1" dirty="0">
                <a:solidFill>
                  <a:srgbClr val="0000FF"/>
                </a:solidFill>
                <a:latin typeface="Bookman Old Style" panose="02050604050505020204" pitchFamily="18" charset="0"/>
              </a:rPr>
              <a:t>Circuits Électriques et Électroniques </a:t>
            </a:r>
            <a:r>
              <a:rPr lang="fr-FR" sz="1400" b="1" dirty="0">
                <a:solidFill>
                  <a:schemeClr val="tx1"/>
                </a:solidFill>
                <a:latin typeface="Bookman Old Style" panose="02050604050505020204" pitchFamily="18" charset="0"/>
              </a:rPr>
              <a:t>’’ </a:t>
            </a:r>
            <a:r>
              <a:rPr lang="fr-FR" sz="1400" b="1" dirty="0">
                <a:solidFill>
                  <a:srgbClr val="FF0000"/>
                </a:solidFill>
                <a:latin typeface="Bookman Old Style" panose="02050604050505020204" pitchFamily="18" charset="0"/>
              </a:rPr>
              <a:t>?</a:t>
            </a:r>
          </a:p>
        </p:txBody>
      </p:sp>
      <p:sp>
        <p:nvSpPr>
          <p:cNvPr id="28" name="Rectangle: Rounded Corners 27">
            <a:extLst>
              <a:ext uri="{FF2B5EF4-FFF2-40B4-BE49-F238E27FC236}">
                <a16:creationId xmlns:a16="http://schemas.microsoft.com/office/drawing/2014/main" id="{A11B1F32-8E23-E900-AA48-B7100B38255F}"/>
              </a:ext>
            </a:extLst>
          </p:cNvPr>
          <p:cNvSpPr/>
          <p:nvPr/>
        </p:nvSpPr>
        <p:spPr>
          <a:xfrm>
            <a:off x="452136" y="1971100"/>
            <a:ext cx="2586449" cy="17268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TextBox 31">
            <a:extLst>
              <a:ext uri="{FF2B5EF4-FFF2-40B4-BE49-F238E27FC236}">
                <a16:creationId xmlns:a16="http://schemas.microsoft.com/office/drawing/2014/main" id="{FA6DAC9D-9F0E-5019-D410-052A3D3E00C2}"/>
              </a:ext>
            </a:extLst>
          </p:cNvPr>
          <p:cNvSpPr txBox="1"/>
          <p:nvPr/>
        </p:nvSpPr>
        <p:spPr>
          <a:xfrm>
            <a:off x="597128" y="3983191"/>
            <a:ext cx="2123114" cy="276999"/>
          </a:xfrm>
          <a:prstGeom prst="rect">
            <a:avLst/>
          </a:prstGeom>
          <a:noFill/>
        </p:spPr>
        <p:txBody>
          <a:bodyPr wrap="square">
            <a:spAutoFit/>
          </a:bodyPr>
          <a:lstStyle/>
          <a:p>
            <a:pPr algn="ctr"/>
            <a:r>
              <a:rPr lang="fr-FR" sz="1200" b="1" dirty="0">
                <a:latin typeface="Bookman Old Style" panose="02050604050505020204" pitchFamily="18" charset="0"/>
              </a:rPr>
              <a:t>Systèmes embarqués</a:t>
            </a:r>
            <a:endParaRPr lang="fr-FR" sz="1200" b="1" dirty="0"/>
          </a:p>
        </p:txBody>
      </p:sp>
      <p:sp>
        <p:nvSpPr>
          <p:cNvPr id="34" name="TextBox 33">
            <a:extLst>
              <a:ext uri="{FF2B5EF4-FFF2-40B4-BE49-F238E27FC236}">
                <a16:creationId xmlns:a16="http://schemas.microsoft.com/office/drawing/2014/main" id="{1C9DBDBA-3B25-C712-B191-8DF02B6E8F56}"/>
              </a:ext>
            </a:extLst>
          </p:cNvPr>
          <p:cNvSpPr txBox="1"/>
          <p:nvPr/>
        </p:nvSpPr>
        <p:spPr>
          <a:xfrm>
            <a:off x="3935516" y="3983191"/>
            <a:ext cx="1463708" cy="276999"/>
          </a:xfrm>
          <a:prstGeom prst="rect">
            <a:avLst/>
          </a:prstGeom>
          <a:noFill/>
        </p:spPr>
        <p:txBody>
          <a:bodyPr wrap="square">
            <a:spAutoFit/>
          </a:bodyPr>
          <a:lstStyle/>
          <a:p>
            <a:pPr algn="ctr"/>
            <a:r>
              <a:rPr lang="fr-FR" sz="1200" b="1" dirty="0">
                <a:latin typeface="Bookman Old Style" panose="02050604050505020204" pitchFamily="18" charset="0"/>
              </a:rPr>
              <a:t>Médical</a:t>
            </a:r>
            <a:endParaRPr lang="fr-FR" sz="1200" b="1" dirty="0"/>
          </a:p>
        </p:txBody>
      </p:sp>
      <p:sp>
        <p:nvSpPr>
          <p:cNvPr id="38" name="Rectangle: Rounded Corners 37">
            <a:extLst>
              <a:ext uri="{FF2B5EF4-FFF2-40B4-BE49-F238E27FC236}">
                <a16:creationId xmlns:a16="http://schemas.microsoft.com/office/drawing/2014/main" id="{A3E7E90A-6D2A-7B4C-6ACE-351A2A5F64D6}"/>
              </a:ext>
            </a:extLst>
          </p:cNvPr>
          <p:cNvSpPr/>
          <p:nvPr/>
        </p:nvSpPr>
        <p:spPr>
          <a:xfrm>
            <a:off x="3357151" y="1958302"/>
            <a:ext cx="2586449" cy="17268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TextBox 42">
            <a:extLst>
              <a:ext uri="{FF2B5EF4-FFF2-40B4-BE49-F238E27FC236}">
                <a16:creationId xmlns:a16="http://schemas.microsoft.com/office/drawing/2014/main" id="{EE728B56-7480-2024-FEC3-C40CE14BB2C8}"/>
              </a:ext>
            </a:extLst>
          </p:cNvPr>
          <p:cNvSpPr txBox="1"/>
          <p:nvPr/>
        </p:nvSpPr>
        <p:spPr>
          <a:xfrm>
            <a:off x="6460111" y="3890857"/>
            <a:ext cx="2088066" cy="461665"/>
          </a:xfrm>
          <a:prstGeom prst="rect">
            <a:avLst/>
          </a:prstGeom>
          <a:noFill/>
        </p:spPr>
        <p:txBody>
          <a:bodyPr wrap="square">
            <a:spAutoFit/>
          </a:bodyPr>
          <a:lstStyle>
            <a:defPPr>
              <a:defRPr lang="fr-FR"/>
            </a:defPPr>
            <a:lvl1pPr>
              <a:defRPr sz="1200" b="1">
                <a:latin typeface="Bookman Old Style" panose="02050604050505020204" pitchFamily="18" charset="0"/>
              </a:defRPr>
            </a:lvl1pPr>
          </a:lstStyle>
          <a:p>
            <a:pPr algn="ctr"/>
            <a:r>
              <a:rPr lang="fr-FR" dirty="0"/>
              <a:t>Systèmes de contrôle et d'automatisation</a:t>
            </a:r>
          </a:p>
        </p:txBody>
      </p:sp>
      <p:sp>
        <p:nvSpPr>
          <p:cNvPr id="44" name="Rectangle: Rounded Corners 43">
            <a:extLst>
              <a:ext uri="{FF2B5EF4-FFF2-40B4-BE49-F238E27FC236}">
                <a16:creationId xmlns:a16="http://schemas.microsoft.com/office/drawing/2014/main" id="{D07BD62F-B6DD-4FE5-5104-83E283E73EC1}"/>
              </a:ext>
            </a:extLst>
          </p:cNvPr>
          <p:cNvSpPr/>
          <p:nvPr/>
        </p:nvSpPr>
        <p:spPr>
          <a:xfrm>
            <a:off x="6248400" y="1943465"/>
            <a:ext cx="2586449" cy="17268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9" name="Picture 48">
            <a:extLst>
              <a:ext uri="{FF2B5EF4-FFF2-40B4-BE49-F238E27FC236}">
                <a16:creationId xmlns:a16="http://schemas.microsoft.com/office/drawing/2014/main" id="{C37C80A8-960F-AA97-ECC6-75CF00AB0EC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88248" y="1956933"/>
            <a:ext cx="2526164" cy="1699214"/>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pic>
        <p:nvPicPr>
          <p:cNvPr id="51" name="Picture 50">
            <a:extLst>
              <a:ext uri="{FF2B5EF4-FFF2-40B4-BE49-F238E27FC236}">
                <a16:creationId xmlns:a16="http://schemas.microsoft.com/office/drawing/2014/main" id="{F5074D55-8E1C-565E-2DB6-B2577048866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17565" y="1989758"/>
            <a:ext cx="2499610" cy="1669011"/>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pic>
        <p:nvPicPr>
          <p:cNvPr id="53" name="Picture 52">
            <a:extLst>
              <a:ext uri="{FF2B5EF4-FFF2-40B4-BE49-F238E27FC236}">
                <a16:creationId xmlns:a16="http://schemas.microsoft.com/office/drawing/2014/main" id="{F1D7FD64-C6A3-54A5-13B3-11274F36E4F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68755" y="1989758"/>
            <a:ext cx="2553209" cy="1703676"/>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extLst>
      <p:ext uri="{BB962C8B-B14F-4D97-AF65-F5344CB8AC3E}">
        <p14:creationId xmlns:p14="http://schemas.microsoft.com/office/powerpoint/2010/main" val="14032427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0" y="4832710"/>
            <a:ext cx="9144000" cy="0"/>
          </a:xfrm>
          <a:custGeom>
            <a:avLst/>
            <a:gdLst/>
            <a:ahLst/>
            <a:cxnLst/>
            <a:rect l="l" t="t" r="r" b="b"/>
            <a:pathLst>
              <a:path w="9144000">
                <a:moveTo>
                  <a:pt x="0" y="0"/>
                </a:moveTo>
                <a:lnTo>
                  <a:pt x="9144000" y="1"/>
                </a:lnTo>
              </a:path>
            </a:pathLst>
          </a:custGeom>
          <a:ln w="25400">
            <a:solidFill>
              <a:schemeClr val="tx1"/>
            </a:solidFill>
          </a:ln>
        </p:spPr>
        <p:txBody>
          <a:bodyPr wrap="square" lIns="0" tIns="0" rIns="0" bIns="0" rtlCol="0"/>
          <a:lstStyle/>
          <a:p>
            <a:endParaRPr dirty="0"/>
          </a:p>
        </p:txBody>
      </p:sp>
      <p:sp>
        <p:nvSpPr>
          <p:cNvPr id="3" name="object 3"/>
          <p:cNvSpPr txBox="1">
            <a:spLocks noGrp="1"/>
          </p:cNvSpPr>
          <p:nvPr>
            <p:ph type="title"/>
          </p:nvPr>
        </p:nvSpPr>
        <p:spPr>
          <a:xfrm>
            <a:off x="860497" y="172196"/>
            <a:ext cx="934143" cy="443711"/>
          </a:xfrm>
          <a:prstGeom prst="rect">
            <a:avLst/>
          </a:prstGeom>
        </p:spPr>
        <p:txBody>
          <a:bodyPr vert="horz" wrap="square" lIns="0" tIns="12700" rIns="0" bIns="0" rtlCol="0">
            <a:spAutoFit/>
          </a:bodyPr>
          <a:lstStyle/>
          <a:p>
            <a:pPr marL="12700">
              <a:lnSpc>
                <a:spcPct val="100000"/>
              </a:lnSpc>
              <a:spcBef>
                <a:spcPts val="100"/>
              </a:spcBef>
            </a:pPr>
            <a:r>
              <a:rPr spc="-5" dirty="0">
                <a:latin typeface="Bookman Old Style" panose="02050604050505020204" pitchFamily="18" charset="0"/>
                <a:cs typeface="Arial" panose="020B0604020202020204" pitchFamily="34" charset="0"/>
              </a:rPr>
              <a:t>Pl</a:t>
            </a:r>
            <a:r>
              <a:rPr spc="5" dirty="0">
                <a:latin typeface="Bookman Old Style" panose="02050604050505020204" pitchFamily="18" charset="0"/>
                <a:cs typeface="Arial" panose="020B0604020202020204" pitchFamily="34" charset="0"/>
              </a:rPr>
              <a:t>a</a:t>
            </a:r>
            <a:r>
              <a:rPr dirty="0">
                <a:latin typeface="Bookman Old Style" panose="02050604050505020204" pitchFamily="18" charset="0"/>
                <a:cs typeface="Arial" panose="020B0604020202020204" pitchFamily="34" charset="0"/>
              </a:rPr>
              <a:t>n</a:t>
            </a:r>
          </a:p>
        </p:txBody>
      </p:sp>
      <p:grpSp>
        <p:nvGrpSpPr>
          <p:cNvPr id="4" name="object 4"/>
          <p:cNvGrpSpPr/>
          <p:nvPr/>
        </p:nvGrpSpPr>
        <p:grpSpPr>
          <a:xfrm>
            <a:off x="1875130" y="356345"/>
            <a:ext cx="7149465" cy="156845"/>
            <a:chOff x="1875130" y="356345"/>
            <a:chExt cx="7149465" cy="156845"/>
          </a:xfrm>
          <a:solidFill>
            <a:srgbClr val="00FF00"/>
          </a:solidFill>
        </p:grpSpPr>
        <p:sp>
          <p:nvSpPr>
            <p:cNvPr id="5" name="object 5"/>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dirty="0"/>
            </a:p>
          </p:txBody>
        </p:sp>
        <p:sp>
          <p:nvSpPr>
            <p:cNvPr id="6" name="object 6"/>
            <p:cNvSpPr/>
            <p:nvPr/>
          </p:nvSpPr>
          <p:spPr>
            <a:xfrm>
              <a:off x="1881480" y="362695"/>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dirty="0"/>
            </a:p>
          </p:txBody>
        </p:sp>
      </p:grpSp>
      <p:grpSp>
        <p:nvGrpSpPr>
          <p:cNvPr id="7" name="object 7"/>
          <p:cNvGrpSpPr/>
          <p:nvPr/>
        </p:nvGrpSpPr>
        <p:grpSpPr>
          <a:xfrm>
            <a:off x="82778" y="356345"/>
            <a:ext cx="697230" cy="156845"/>
            <a:chOff x="82778" y="356345"/>
            <a:chExt cx="697230" cy="156845"/>
          </a:xfrm>
          <a:solidFill>
            <a:srgbClr val="00FF00"/>
          </a:solidFill>
        </p:grpSpPr>
        <p:sp>
          <p:nvSpPr>
            <p:cNvPr id="8" name="object 8"/>
            <p:cNvSpPr/>
            <p:nvPr/>
          </p:nvSpPr>
          <p:spPr>
            <a:xfrm>
              <a:off x="89128" y="362695"/>
              <a:ext cx="684530" cy="144145"/>
            </a:xfrm>
            <a:custGeom>
              <a:avLst/>
              <a:gdLst/>
              <a:ahLst/>
              <a:cxnLst/>
              <a:rect l="l" t="t" r="r" b="b"/>
              <a:pathLst>
                <a:path w="684530" h="144145">
                  <a:moveTo>
                    <a:pt x="611999" y="0"/>
                  </a:moveTo>
                  <a:lnTo>
                    <a:pt x="72000" y="0"/>
                  </a:lnTo>
                  <a:lnTo>
                    <a:pt x="43974" y="5658"/>
                  </a:lnTo>
                  <a:lnTo>
                    <a:pt x="21088" y="21088"/>
                  </a:lnTo>
                  <a:lnTo>
                    <a:pt x="5658" y="43974"/>
                  </a:lnTo>
                  <a:lnTo>
                    <a:pt x="0" y="71998"/>
                  </a:lnTo>
                  <a:lnTo>
                    <a:pt x="5658" y="100024"/>
                  </a:lnTo>
                  <a:lnTo>
                    <a:pt x="21088" y="122910"/>
                  </a:lnTo>
                  <a:lnTo>
                    <a:pt x="43974" y="138340"/>
                  </a:lnTo>
                  <a:lnTo>
                    <a:pt x="72000" y="143998"/>
                  </a:lnTo>
                  <a:lnTo>
                    <a:pt x="611998" y="144000"/>
                  </a:lnTo>
                  <a:lnTo>
                    <a:pt x="640024" y="138342"/>
                  </a:lnTo>
                  <a:lnTo>
                    <a:pt x="662910" y="122912"/>
                  </a:lnTo>
                  <a:lnTo>
                    <a:pt x="678340" y="100025"/>
                  </a:lnTo>
                  <a:lnTo>
                    <a:pt x="683999" y="72000"/>
                  </a:lnTo>
                  <a:lnTo>
                    <a:pt x="678341" y="43974"/>
                  </a:lnTo>
                  <a:lnTo>
                    <a:pt x="662911" y="21088"/>
                  </a:lnTo>
                  <a:lnTo>
                    <a:pt x="640025" y="5658"/>
                  </a:lnTo>
                  <a:lnTo>
                    <a:pt x="611999" y="0"/>
                  </a:lnTo>
                  <a:close/>
                </a:path>
              </a:pathLst>
            </a:custGeom>
            <a:grpFill/>
            <a:ln>
              <a:solidFill>
                <a:schemeClr val="tx1"/>
              </a:solidFill>
            </a:ln>
          </p:spPr>
          <p:txBody>
            <a:bodyPr wrap="square" lIns="0" tIns="0" rIns="0" bIns="0" rtlCol="0"/>
            <a:lstStyle/>
            <a:p>
              <a:endParaRPr dirty="0"/>
            </a:p>
          </p:txBody>
        </p:sp>
        <p:sp>
          <p:nvSpPr>
            <p:cNvPr id="9" name="object 9"/>
            <p:cNvSpPr/>
            <p:nvPr/>
          </p:nvSpPr>
          <p:spPr>
            <a:xfrm>
              <a:off x="89128" y="362695"/>
              <a:ext cx="684530" cy="144145"/>
            </a:xfrm>
            <a:custGeom>
              <a:avLst/>
              <a:gdLst/>
              <a:ahLst/>
              <a:cxnLst/>
              <a:rect l="l" t="t" r="r" b="b"/>
              <a:pathLst>
                <a:path w="684530" h="144145">
                  <a:moveTo>
                    <a:pt x="0" y="72000"/>
                  </a:moveTo>
                  <a:lnTo>
                    <a:pt x="5658" y="43974"/>
                  </a:lnTo>
                  <a:lnTo>
                    <a:pt x="21088" y="21088"/>
                  </a:lnTo>
                  <a:lnTo>
                    <a:pt x="43974" y="5658"/>
                  </a:lnTo>
                  <a:lnTo>
                    <a:pt x="72000" y="0"/>
                  </a:lnTo>
                  <a:lnTo>
                    <a:pt x="611999" y="0"/>
                  </a:lnTo>
                  <a:lnTo>
                    <a:pt x="640025" y="5658"/>
                  </a:lnTo>
                  <a:lnTo>
                    <a:pt x="662911" y="21088"/>
                  </a:lnTo>
                  <a:lnTo>
                    <a:pt x="678341" y="43974"/>
                  </a:lnTo>
                  <a:lnTo>
                    <a:pt x="683999" y="72000"/>
                  </a:lnTo>
                  <a:lnTo>
                    <a:pt x="678340" y="100026"/>
                  </a:lnTo>
                  <a:lnTo>
                    <a:pt x="662910" y="122912"/>
                  </a:lnTo>
                  <a:lnTo>
                    <a:pt x="640024" y="138342"/>
                  </a:lnTo>
                  <a:lnTo>
                    <a:pt x="611998" y="144000"/>
                  </a:lnTo>
                  <a:lnTo>
                    <a:pt x="72000" y="144000"/>
                  </a:lnTo>
                  <a:lnTo>
                    <a:pt x="43974" y="138341"/>
                  </a:lnTo>
                  <a:lnTo>
                    <a:pt x="21088" y="122911"/>
                  </a:lnTo>
                  <a:lnTo>
                    <a:pt x="5658" y="100025"/>
                  </a:lnTo>
                  <a:lnTo>
                    <a:pt x="0" y="71999"/>
                  </a:lnTo>
                  <a:close/>
                </a:path>
              </a:pathLst>
            </a:custGeom>
            <a:grpFill/>
            <a:ln w="12700">
              <a:solidFill>
                <a:schemeClr val="tx1"/>
              </a:solidFill>
            </a:ln>
          </p:spPr>
          <p:txBody>
            <a:bodyPr wrap="square" lIns="0" tIns="0" rIns="0" bIns="0" rtlCol="0"/>
            <a:lstStyle/>
            <a:p>
              <a:endParaRPr dirty="0"/>
            </a:p>
          </p:txBody>
        </p:sp>
      </p:grpSp>
      <p:sp>
        <p:nvSpPr>
          <p:cNvPr id="10" name="object 10"/>
          <p:cNvSpPr txBox="1"/>
          <p:nvPr/>
        </p:nvSpPr>
        <p:spPr>
          <a:xfrm>
            <a:off x="1023284" y="888851"/>
            <a:ext cx="8245590" cy="382156"/>
          </a:xfrm>
          <a:prstGeom prst="rect">
            <a:avLst/>
          </a:prstGeom>
        </p:spPr>
        <p:txBody>
          <a:bodyPr vert="horz" wrap="square" lIns="0" tIns="12700" rIns="0" bIns="0" rtlCol="0">
            <a:spAutoFit/>
          </a:bodyPr>
          <a:lstStyle/>
          <a:p>
            <a:pPr marL="12700">
              <a:lnSpc>
                <a:spcPct val="100000"/>
              </a:lnSpc>
              <a:spcBef>
                <a:spcPts val="100"/>
              </a:spcBef>
            </a:pPr>
            <a:r>
              <a:rPr lang="fr-FR" sz="2400" b="1" dirty="0">
                <a:solidFill>
                  <a:schemeClr val="tx2">
                    <a:lumMod val="50000"/>
                  </a:schemeClr>
                </a:solidFill>
                <a:latin typeface="Bookman Old Style" panose="02050604050505020204" pitchFamily="18" charset="0"/>
              </a:rPr>
              <a:t>Chapitre 1 : </a:t>
            </a:r>
            <a:r>
              <a:rPr lang="fr-FR" sz="2000" b="1" dirty="0">
                <a:solidFill>
                  <a:schemeClr val="tx2">
                    <a:lumMod val="50000"/>
                  </a:schemeClr>
                </a:solidFill>
                <a:latin typeface="Bookman Old Style" panose="02050604050505020204" pitchFamily="18" charset="0"/>
              </a:rPr>
              <a:t>Électrocinétique</a:t>
            </a:r>
            <a:endParaRPr sz="2000" dirty="0">
              <a:solidFill>
                <a:schemeClr val="tx2">
                  <a:lumMod val="50000"/>
                </a:schemeClr>
              </a:solidFill>
              <a:latin typeface="Bookman Old Style" panose="02050604050505020204" pitchFamily="18" charset="0"/>
              <a:cs typeface="Calibri"/>
            </a:endParaRPr>
          </a:p>
        </p:txBody>
      </p:sp>
      <p:grpSp>
        <p:nvGrpSpPr>
          <p:cNvPr id="11" name="object 11"/>
          <p:cNvGrpSpPr/>
          <p:nvPr/>
        </p:nvGrpSpPr>
        <p:grpSpPr>
          <a:xfrm>
            <a:off x="274323" y="721958"/>
            <a:ext cx="500380" cy="802640"/>
            <a:chOff x="482739" y="1033930"/>
            <a:chExt cx="500380" cy="802640"/>
          </a:xfrm>
          <a:solidFill>
            <a:schemeClr val="tx2">
              <a:lumMod val="50000"/>
            </a:schemeClr>
          </a:solidFill>
        </p:grpSpPr>
        <p:sp>
          <p:nvSpPr>
            <p:cNvPr id="12" name="object 12"/>
            <p:cNvSpPr/>
            <p:nvPr/>
          </p:nvSpPr>
          <p:spPr>
            <a:xfrm>
              <a:off x="491437" y="1072565"/>
              <a:ext cx="487045" cy="759460"/>
            </a:xfrm>
            <a:custGeom>
              <a:avLst/>
              <a:gdLst/>
              <a:ahLst/>
              <a:cxnLst/>
              <a:rect l="l" t="t" r="r" b="b"/>
              <a:pathLst>
                <a:path w="487044" h="759460">
                  <a:moveTo>
                    <a:pt x="138049" y="0"/>
                  </a:moveTo>
                  <a:lnTo>
                    <a:pt x="149948" y="30211"/>
                  </a:lnTo>
                  <a:lnTo>
                    <a:pt x="155121" y="65214"/>
                  </a:lnTo>
                  <a:lnTo>
                    <a:pt x="154425" y="104347"/>
                  </a:lnTo>
                  <a:lnTo>
                    <a:pt x="148716" y="146947"/>
                  </a:lnTo>
                  <a:lnTo>
                    <a:pt x="138850" y="192353"/>
                  </a:lnTo>
                  <a:lnTo>
                    <a:pt x="125683" y="239903"/>
                  </a:lnTo>
                  <a:lnTo>
                    <a:pt x="110074" y="288935"/>
                  </a:lnTo>
                  <a:lnTo>
                    <a:pt x="92877" y="338787"/>
                  </a:lnTo>
                  <a:lnTo>
                    <a:pt x="57147" y="438303"/>
                  </a:lnTo>
                  <a:lnTo>
                    <a:pt x="40327" y="486644"/>
                  </a:lnTo>
                  <a:lnTo>
                    <a:pt x="25346" y="533157"/>
                  </a:lnTo>
                  <a:lnTo>
                    <a:pt x="13060" y="577181"/>
                  </a:lnTo>
                  <a:lnTo>
                    <a:pt x="4326" y="618053"/>
                  </a:lnTo>
                  <a:lnTo>
                    <a:pt x="0" y="655113"/>
                  </a:lnTo>
                  <a:lnTo>
                    <a:pt x="938" y="687697"/>
                  </a:lnTo>
                  <a:lnTo>
                    <a:pt x="7997" y="715144"/>
                  </a:lnTo>
                  <a:lnTo>
                    <a:pt x="22033" y="736793"/>
                  </a:lnTo>
                  <a:lnTo>
                    <a:pt x="45876" y="753137"/>
                  </a:lnTo>
                  <a:lnTo>
                    <a:pt x="73288" y="759115"/>
                  </a:lnTo>
                  <a:lnTo>
                    <a:pt x="100535" y="754671"/>
                  </a:lnTo>
                  <a:lnTo>
                    <a:pt x="123879" y="739749"/>
                  </a:lnTo>
                  <a:lnTo>
                    <a:pt x="476946" y="386135"/>
                  </a:lnTo>
                  <a:lnTo>
                    <a:pt x="484086" y="375261"/>
                  </a:lnTo>
                  <a:lnTo>
                    <a:pt x="486466" y="362779"/>
                  </a:lnTo>
                  <a:lnTo>
                    <a:pt x="484086" y="350296"/>
                  </a:lnTo>
                  <a:lnTo>
                    <a:pt x="476946" y="339421"/>
                  </a:lnTo>
                  <a:lnTo>
                    <a:pt x="138049" y="0"/>
                  </a:lnTo>
                  <a:close/>
                </a:path>
              </a:pathLst>
            </a:custGeom>
            <a:grpFill/>
          </p:spPr>
          <p:txBody>
            <a:bodyPr wrap="square" lIns="0" tIns="0" rIns="0" bIns="0" rtlCol="0"/>
            <a:lstStyle/>
            <a:p>
              <a:endParaRPr dirty="0"/>
            </a:p>
          </p:txBody>
        </p:sp>
        <p:sp>
          <p:nvSpPr>
            <p:cNvPr id="13" name="object 13"/>
            <p:cNvSpPr/>
            <p:nvPr/>
          </p:nvSpPr>
          <p:spPr>
            <a:xfrm>
              <a:off x="491437" y="1072565"/>
              <a:ext cx="487045" cy="759460"/>
            </a:xfrm>
            <a:custGeom>
              <a:avLst/>
              <a:gdLst/>
              <a:ahLst/>
              <a:cxnLst/>
              <a:rect l="l" t="t" r="r" b="b"/>
              <a:pathLst>
                <a:path w="487044" h="759460">
                  <a:moveTo>
                    <a:pt x="138049" y="0"/>
                  </a:moveTo>
                  <a:lnTo>
                    <a:pt x="149948" y="30211"/>
                  </a:lnTo>
                  <a:lnTo>
                    <a:pt x="155121" y="65214"/>
                  </a:lnTo>
                  <a:lnTo>
                    <a:pt x="154425" y="104347"/>
                  </a:lnTo>
                  <a:lnTo>
                    <a:pt x="148716" y="146947"/>
                  </a:lnTo>
                  <a:lnTo>
                    <a:pt x="138850" y="192353"/>
                  </a:lnTo>
                  <a:lnTo>
                    <a:pt x="125683" y="239903"/>
                  </a:lnTo>
                  <a:lnTo>
                    <a:pt x="110074" y="288935"/>
                  </a:lnTo>
                  <a:lnTo>
                    <a:pt x="92877" y="338787"/>
                  </a:lnTo>
                  <a:lnTo>
                    <a:pt x="74949" y="388797"/>
                  </a:lnTo>
                  <a:lnTo>
                    <a:pt x="57147" y="438303"/>
                  </a:lnTo>
                  <a:lnTo>
                    <a:pt x="40327" y="486644"/>
                  </a:lnTo>
                  <a:lnTo>
                    <a:pt x="25346" y="533157"/>
                  </a:lnTo>
                  <a:lnTo>
                    <a:pt x="13060" y="577181"/>
                  </a:lnTo>
                  <a:lnTo>
                    <a:pt x="4326" y="618053"/>
                  </a:lnTo>
                  <a:lnTo>
                    <a:pt x="0" y="655113"/>
                  </a:lnTo>
                  <a:lnTo>
                    <a:pt x="938" y="687697"/>
                  </a:lnTo>
                  <a:lnTo>
                    <a:pt x="7997" y="715144"/>
                  </a:lnTo>
                  <a:lnTo>
                    <a:pt x="22033" y="736793"/>
                  </a:lnTo>
                  <a:lnTo>
                    <a:pt x="45876" y="753137"/>
                  </a:lnTo>
                  <a:lnTo>
                    <a:pt x="73289" y="759115"/>
                  </a:lnTo>
                  <a:lnTo>
                    <a:pt x="100535" y="754671"/>
                  </a:lnTo>
                  <a:lnTo>
                    <a:pt x="123879" y="739749"/>
                  </a:lnTo>
                  <a:lnTo>
                    <a:pt x="476946" y="386136"/>
                  </a:lnTo>
                  <a:lnTo>
                    <a:pt x="484086" y="375261"/>
                  </a:lnTo>
                  <a:lnTo>
                    <a:pt x="486466" y="362778"/>
                  </a:lnTo>
                  <a:lnTo>
                    <a:pt x="484086" y="350296"/>
                  </a:lnTo>
                  <a:lnTo>
                    <a:pt x="476946" y="339421"/>
                  </a:lnTo>
                  <a:lnTo>
                    <a:pt x="138049" y="0"/>
                  </a:lnTo>
                </a:path>
              </a:pathLst>
            </a:custGeom>
            <a:grpFill/>
            <a:ln w="9525">
              <a:solidFill>
                <a:srgbClr val="254061"/>
              </a:solidFill>
            </a:ln>
          </p:spPr>
          <p:txBody>
            <a:bodyPr wrap="square" lIns="0" tIns="0" rIns="0" bIns="0" rtlCol="0"/>
            <a:lstStyle/>
            <a:p>
              <a:endParaRPr dirty="0"/>
            </a:p>
          </p:txBody>
        </p:sp>
        <p:sp>
          <p:nvSpPr>
            <p:cNvPr id="14" name="object 14"/>
            <p:cNvSpPr/>
            <p:nvPr/>
          </p:nvSpPr>
          <p:spPr>
            <a:xfrm>
              <a:off x="487501" y="1038692"/>
              <a:ext cx="490855" cy="758825"/>
            </a:xfrm>
            <a:custGeom>
              <a:avLst/>
              <a:gdLst/>
              <a:ahLst/>
              <a:cxnLst/>
              <a:rect l="l" t="t" r="r" b="b"/>
              <a:pathLst>
                <a:path w="490855" h="758825">
                  <a:moveTo>
                    <a:pt x="77462" y="0"/>
                  </a:moveTo>
                  <a:lnTo>
                    <a:pt x="25988" y="22240"/>
                  </a:lnTo>
                  <a:lnTo>
                    <a:pt x="1880" y="72863"/>
                  </a:lnTo>
                  <a:lnTo>
                    <a:pt x="0" y="105919"/>
                  </a:lnTo>
                  <a:lnTo>
                    <a:pt x="3709" y="143282"/>
                  </a:lnTo>
                  <a:lnTo>
                    <a:pt x="12116" y="184309"/>
                  </a:lnTo>
                  <a:lnTo>
                    <a:pt x="24326" y="228357"/>
                  </a:lnTo>
                  <a:lnTo>
                    <a:pt x="39446" y="274785"/>
                  </a:lnTo>
                  <a:lnTo>
                    <a:pt x="56582" y="322948"/>
                  </a:lnTo>
                  <a:lnTo>
                    <a:pt x="93332" y="421916"/>
                  </a:lnTo>
                  <a:lnTo>
                    <a:pt x="111157" y="471434"/>
                  </a:lnTo>
                  <a:lnTo>
                    <a:pt x="127425" y="520119"/>
                  </a:lnTo>
                  <a:lnTo>
                    <a:pt x="141242" y="567328"/>
                  </a:lnTo>
                  <a:lnTo>
                    <a:pt x="151715" y="612419"/>
                  </a:lnTo>
                  <a:lnTo>
                    <a:pt x="157950" y="654749"/>
                  </a:lnTo>
                  <a:lnTo>
                    <a:pt x="159054" y="693675"/>
                  </a:lnTo>
                  <a:lnTo>
                    <a:pt x="154133" y="728556"/>
                  </a:lnTo>
                  <a:lnTo>
                    <a:pt x="142294" y="758748"/>
                  </a:lnTo>
                  <a:lnTo>
                    <a:pt x="480882" y="419753"/>
                  </a:lnTo>
                  <a:lnTo>
                    <a:pt x="488022" y="408832"/>
                  </a:lnTo>
                  <a:lnTo>
                    <a:pt x="490402" y="396220"/>
                  </a:lnTo>
                  <a:lnTo>
                    <a:pt x="488022" y="383553"/>
                  </a:lnTo>
                  <a:lnTo>
                    <a:pt x="480882" y="372465"/>
                  </a:lnTo>
                  <a:lnTo>
                    <a:pt x="127830" y="18988"/>
                  </a:lnTo>
                  <a:lnTo>
                    <a:pt x="104569" y="4202"/>
                  </a:lnTo>
                  <a:lnTo>
                    <a:pt x="77462" y="0"/>
                  </a:lnTo>
                  <a:close/>
                </a:path>
              </a:pathLst>
            </a:custGeom>
            <a:grpFill/>
          </p:spPr>
          <p:txBody>
            <a:bodyPr wrap="square" lIns="0" tIns="0" rIns="0" bIns="0" rtlCol="0"/>
            <a:lstStyle/>
            <a:p>
              <a:endParaRPr dirty="0"/>
            </a:p>
          </p:txBody>
        </p:sp>
        <p:sp>
          <p:nvSpPr>
            <p:cNvPr id="15" name="object 15"/>
            <p:cNvSpPr/>
            <p:nvPr/>
          </p:nvSpPr>
          <p:spPr>
            <a:xfrm>
              <a:off x="487501" y="1038692"/>
              <a:ext cx="490855" cy="758825"/>
            </a:xfrm>
            <a:custGeom>
              <a:avLst/>
              <a:gdLst/>
              <a:ahLst/>
              <a:cxnLst/>
              <a:rect l="l" t="t" r="r" b="b"/>
              <a:pathLst>
                <a:path w="490855" h="758825">
                  <a:moveTo>
                    <a:pt x="142294" y="758749"/>
                  </a:moveTo>
                  <a:lnTo>
                    <a:pt x="154133" y="728556"/>
                  </a:lnTo>
                  <a:lnTo>
                    <a:pt x="159054" y="693676"/>
                  </a:lnTo>
                  <a:lnTo>
                    <a:pt x="157950" y="654749"/>
                  </a:lnTo>
                  <a:lnTo>
                    <a:pt x="151715" y="612420"/>
                  </a:lnTo>
                  <a:lnTo>
                    <a:pt x="141242" y="567329"/>
                  </a:lnTo>
                  <a:lnTo>
                    <a:pt x="127425" y="520120"/>
                  </a:lnTo>
                  <a:lnTo>
                    <a:pt x="111157" y="471435"/>
                  </a:lnTo>
                  <a:lnTo>
                    <a:pt x="93332" y="421916"/>
                  </a:lnTo>
                  <a:lnTo>
                    <a:pt x="74842" y="372207"/>
                  </a:lnTo>
                  <a:lnTo>
                    <a:pt x="56582" y="322949"/>
                  </a:lnTo>
                  <a:lnTo>
                    <a:pt x="39446" y="274785"/>
                  </a:lnTo>
                  <a:lnTo>
                    <a:pt x="24326" y="228358"/>
                  </a:lnTo>
                  <a:lnTo>
                    <a:pt x="12116" y="184310"/>
                  </a:lnTo>
                  <a:lnTo>
                    <a:pt x="3709" y="143283"/>
                  </a:lnTo>
                  <a:lnTo>
                    <a:pt x="0" y="105920"/>
                  </a:lnTo>
                  <a:lnTo>
                    <a:pt x="1880" y="72863"/>
                  </a:lnTo>
                  <a:lnTo>
                    <a:pt x="10245" y="44756"/>
                  </a:lnTo>
                  <a:lnTo>
                    <a:pt x="25988" y="22240"/>
                  </a:lnTo>
                  <a:lnTo>
                    <a:pt x="50078" y="6104"/>
                  </a:lnTo>
                  <a:lnTo>
                    <a:pt x="77462" y="0"/>
                  </a:lnTo>
                  <a:lnTo>
                    <a:pt x="104569" y="4202"/>
                  </a:lnTo>
                  <a:lnTo>
                    <a:pt x="127830" y="18989"/>
                  </a:lnTo>
                  <a:lnTo>
                    <a:pt x="480882" y="372466"/>
                  </a:lnTo>
                  <a:lnTo>
                    <a:pt x="488022" y="383553"/>
                  </a:lnTo>
                  <a:lnTo>
                    <a:pt x="490402" y="396220"/>
                  </a:lnTo>
                  <a:lnTo>
                    <a:pt x="488022" y="408832"/>
                  </a:lnTo>
                  <a:lnTo>
                    <a:pt x="480882" y="419753"/>
                  </a:lnTo>
                  <a:lnTo>
                    <a:pt x="142294" y="758749"/>
                  </a:lnTo>
                  <a:close/>
                </a:path>
              </a:pathLst>
            </a:custGeom>
            <a:grpFill/>
            <a:ln w="9525">
              <a:solidFill>
                <a:srgbClr val="254061"/>
              </a:solidFill>
            </a:ln>
          </p:spPr>
          <p:txBody>
            <a:bodyPr wrap="square" lIns="0" tIns="0" rIns="0" bIns="0" rtlCol="0"/>
            <a:lstStyle/>
            <a:p>
              <a:endParaRPr dirty="0"/>
            </a:p>
          </p:txBody>
        </p:sp>
      </p:grpSp>
      <p:sp>
        <p:nvSpPr>
          <p:cNvPr id="16" name="object 16"/>
          <p:cNvSpPr txBox="1"/>
          <p:nvPr/>
        </p:nvSpPr>
        <p:spPr>
          <a:xfrm>
            <a:off x="406125" y="846775"/>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chemeClr val="bg1"/>
                </a:solidFill>
                <a:latin typeface="Arial"/>
                <a:cs typeface="Arial"/>
              </a:rPr>
              <a:t>1</a:t>
            </a:r>
            <a:endParaRPr sz="2800" dirty="0">
              <a:solidFill>
                <a:schemeClr val="bg1"/>
              </a:solidFill>
              <a:latin typeface="Arial"/>
              <a:cs typeface="Arial"/>
            </a:endParaRPr>
          </a:p>
        </p:txBody>
      </p:sp>
      <p:grpSp>
        <p:nvGrpSpPr>
          <p:cNvPr id="17" name="object 17"/>
          <p:cNvGrpSpPr/>
          <p:nvPr/>
        </p:nvGrpSpPr>
        <p:grpSpPr>
          <a:xfrm>
            <a:off x="276190" y="1751328"/>
            <a:ext cx="500380" cy="802640"/>
            <a:chOff x="458377" y="2058221"/>
            <a:chExt cx="500380" cy="802640"/>
          </a:xfrm>
          <a:solidFill>
            <a:srgbClr val="0000FF"/>
          </a:solidFill>
        </p:grpSpPr>
        <p:sp>
          <p:nvSpPr>
            <p:cNvPr id="18" name="object 18"/>
            <p:cNvSpPr/>
            <p:nvPr/>
          </p:nvSpPr>
          <p:spPr>
            <a:xfrm>
              <a:off x="467075" y="2096858"/>
              <a:ext cx="487045" cy="759460"/>
            </a:xfrm>
            <a:custGeom>
              <a:avLst/>
              <a:gdLst/>
              <a:ahLst/>
              <a:cxnLst/>
              <a:rect l="l" t="t" r="r" b="b"/>
              <a:pathLst>
                <a:path w="487044" h="759460">
                  <a:moveTo>
                    <a:pt x="138049" y="0"/>
                  </a:moveTo>
                  <a:lnTo>
                    <a:pt x="149948" y="30211"/>
                  </a:lnTo>
                  <a:lnTo>
                    <a:pt x="155121" y="65214"/>
                  </a:lnTo>
                  <a:lnTo>
                    <a:pt x="154425" y="104347"/>
                  </a:lnTo>
                  <a:lnTo>
                    <a:pt x="148716" y="146947"/>
                  </a:lnTo>
                  <a:lnTo>
                    <a:pt x="138850" y="192353"/>
                  </a:lnTo>
                  <a:lnTo>
                    <a:pt x="125683" y="239903"/>
                  </a:lnTo>
                  <a:lnTo>
                    <a:pt x="110074" y="288935"/>
                  </a:lnTo>
                  <a:lnTo>
                    <a:pt x="92877" y="338787"/>
                  </a:lnTo>
                  <a:lnTo>
                    <a:pt x="57147" y="438303"/>
                  </a:lnTo>
                  <a:lnTo>
                    <a:pt x="40327" y="486644"/>
                  </a:lnTo>
                  <a:lnTo>
                    <a:pt x="25346" y="533157"/>
                  </a:lnTo>
                  <a:lnTo>
                    <a:pt x="13060" y="577181"/>
                  </a:lnTo>
                  <a:lnTo>
                    <a:pt x="4326" y="618053"/>
                  </a:lnTo>
                  <a:lnTo>
                    <a:pt x="0" y="655113"/>
                  </a:lnTo>
                  <a:lnTo>
                    <a:pt x="938" y="687697"/>
                  </a:lnTo>
                  <a:lnTo>
                    <a:pt x="7997" y="715144"/>
                  </a:lnTo>
                  <a:lnTo>
                    <a:pt x="22033" y="736793"/>
                  </a:lnTo>
                  <a:lnTo>
                    <a:pt x="45876" y="753137"/>
                  </a:lnTo>
                  <a:lnTo>
                    <a:pt x="73289" y="759115"/>
                  </a:lnTo>
                  <a:lnTo>
                    <a:pt x="100535" y="754671"/>
                  </a:lnTo>
                  <a:lnTo>
                    <a:pt x="123879" y="739749"/>
                  </a:lnTo>
                  <a:lnTo>
                    <a:pt x="476946" y="386135"/>
                  </a:lnTo>
                  <a:lnTo>
                    <a:pt x="484086" y="375261"/>
                  </a:lnTo>
                  <a:lnTo>
                    <a:pt x="486466" y="362779"/>
                  </a:lnTo>
                  <a:lnTo>
                    <a:pt x="484086" y="350296"/>
                  </a:lnTo>
                  <a:lnTo>
                    <a:pt x="476946" y="339421"/>
                  </a:lnTo>
                  <a:lnTo>
                    <a:pt x="138049" y="0"/>
                  </a:lnTo>
                  <a:close/>
                </a:path>
              </a:pathLst>
            </a:custGeom>
            <a:grpFill/>
          </p:spPr>
          <p:txBody>
            <a:bodyPr wrap="square" lIns="0" tIns="0" rIns="0" bIns="0" rtlCol="0"/>
            <a:lstStyle/>
            <a:p>
              <a:endParaRPr dirty="0"/>
            </a:p>
          </p:txBody>
        </p:sp>
        <p:sp>
          <p:nvSpPr>
            <p:cNvPr id="19" name="object 19"/>
            <p:cNvSpPr/>
            <p:nvPr/>
          </p:nvSpPr>
          <p:spPr>
            <a:xfrm>
              <a:off x="467075" y="2096858"/>
              <a:ext cx="487045" cy="759460"/>
            </a:xfrm>
            <a:custGeom>
              <a:avLst/>
              <a:gdLst/>
              <a:ahLst/>
              <a:cxnLst/>
              <a:rect l="l" t="t" r="r" b="b"/>
              <a:pathLst>
                <a:path w="487044" h="759460">
                  <a:moveTo>
                    <a:pt x="138049" y="0"/>
                  </a:moveTo>
                  <a:lnTo>
                    <a:pt x="149948" y="30211"/>
                  </a:lnTo>
                  <a:lnTo>
                    <a:pt x="155121" y="65214"/>
                  </a:lnTo>
                  <a:lnTo>
                    <a:pt x="154425" y="104347"/>
                  </a:lnTo>
                  <a:lnTo>
                    <a:pt x="148716" y="146947"/>
                  </a:lnTo>
                  <a:lnTo>
                    <a:pt x="138850" y="192353"/>
                  </a:lnTo>
                  <a:lnTo>
                    <a:pt x="125683" y="239903"/>
                  </a:lnTo>
                  <a:lnTo>
                    <a:pt x="110074" y="288935"/>
                  </a:lnTo>
                  <a:lnTo>
                    <a:pt x="92877" y="338787"/>
                  </a:lnTo>
                  <a:lnTo>
                    <a:pt x="74949" y="388797"/>
                  </a:lnTo>
                  <a:lnTo>
                    <a:pt x="57147" y="438303"/>
                  </a:lnTo>
                  <a:lnTo>
                    <a:pt x="40327" y="486644"/>
                  </a:lnTo>
                  <a:lnTo>
                    <a:pt x="25346" y="533157"/>
                  </a:lnTo>
                  <a:lnTo>
                    <a:pt x="13060" y="577181"/>
                  </a:lnTo>
                  <a:lnTo>
                    <a:pt x="4326" y="618053"/>
                  </a:lnTo>
                  <a:lnTo>
                    <a:pt x="0" y="655113"/>
                  </a:lnTo>
                  <a:lnTo>
                    <a:pt x="938" y="687697"/>
                  </a:lnTo>
                  <a:lnTo>
                    <a:pt x="7997" y="715144"/>
                  </a:lnTo>
                  <a:lnTo>
                    <a:pt x="22033" y="736793"/>
                  </a:lnTo>
                  <a:lnTo>
                    <a:pt x="45876" y="753137"/>
                  </a:lnTo>
                  <a:lnTo>
                    <a:pt x="73289" y="759115"/>
                  </a:lnTo>
                  <a:lnTo>
                    <a:pt x="100535" y="754671"/>
                  </a:lnTo>
                  <a:lnTo>
                    <a:pt x="123879" y="739749"/>
                  </a:lnTo>
                  <a:lnTo>
                    <a:pt x="476946" y="386136"/>
                  </a:lnTo>
                  <a:lnTo>
                    <a:pt x="484086" y="375261"/>
                  </a:lnTo>
                  <a:lnTo>
                    <a:pt x="486466" y="362778"/>
                  </a:lnTo>
                  <a:lnTo>
                    <a:pt x="484086" y="350296"/>
                  </a:lnTo>
                  <a:lnTo>
                    <a:pt x="476946" y="339421"/>
                  </a:lnTo>
                  <a:lnTo>
                    <a:pt x="138049" y="0"/>
                  </a:lnTo>
                </a:path>
              </a:pathLst>
            </a:custGeom>
            <a:grpFill/>
            <a:ln w="9525">
              <a:solidFill>
                <a:srgbClr val="403152"/>
              </a:solidFill>
            </a:ln>
          </p:spPr>
          <p:txBody>
            <a:bodyPr wrap="square" lIns="0" tIns="0" rIns="0" bIns="0" rtlCol="0"/>
            <a:lstStyle/>
            <a:p>
              <a:endParaRPr dirty="0"/>
            </a:p>
          </p:txBody>
        </p:sp>
        <p:sp>
          <p:nvSpPr>
            <p:cNvPr id="20" name="object 20"/>
            <p:cNvSpPr/>
            <p:nvPr/>
          </p:nvSpPr>
          <p:spPr>
            <a:xfrm>
              <a:off x="463139" y="2062984"/>
              <a:ext cx="490855" cy="758825"/>
            </a:xfrm>
            <a:custGeom>
              <a:avLst/>
              <a:gdLst/>
              <a:ahLst/>
              <a:cxnLst/>
              <a:rect l="l" t="t" r="r" b="b"/>
              <a:pathLst>
                <a:path w="490855" h="758825">
                  <a:moveTo>
                    <a:pt x="77462" y="0"/>
                  </a:moveTo>
                  <a:lnTo>
                    <a:pt x="25988" y="22239"/>
                  </a:lnTo>
                  <a:lnTo>
                    <a:pt x="1880" y="72863"/>
                  </a:lnTo>
                  <a:lnTo>
                    <a:pt x="0" y="105920"/>
                  </a:lnTo>
                  <a:lnTo>
                    <a:pt x="3709" y="143283"/>
                  </a:lnTo>
                  <a:lnTo>
                    <a:pt x="12116" y="184310"/>
                  </a:lnTo>
                  <a:lnTo>
                    <a:pt x="24326" y="228358"/>
                  </a:lnTo>
                  <a:lnTo>
                    <a:pt x="39446" y="274786"/>
                  </a:lnTo>
                  <a:lnTo>
                    <a:pt x="56583" y="322949"/>
                  </a:lnTo>
                  <a:lnTo>
                    <a:pt x="93332" y="421917"/>
                  </a:lnTo>
                  <a:lnTo>
                    <a:pt x="111157" y="471435"/>
                  </a:lnTo>
                  <a:lnTo>
                    <a:pt x="127425" y="520120"/>
                  </a:lnTo>
                  <a:lnTo>
                    <a:pt x="141242" y="567329"/>
                  </a:lnTo>
                  <a:lnTo>
                    <a:pt x="151715" y="612420"/>
                  </a:lnTo>
                  <a:lnTo>
                    <a:pt x="157950" y="654750"/>
                  </a:lnTo>
                  <a:lnTo>
                    <a:pt x="159054" y="693676"/>
                  </a:lnTo>
                  <a:lnTo>
                    <a:pt x="154133" y="728557"/>
                  </a:lnTo>
                  <a:lnTo>
                    <a:pt x="142294" y="758749"/>
                  </a:lnTo>
                  <a:lnTo>
                    <a:pt x="480882" y="419753"/>
                  </a:lnTo>
                  <a:lnTo>
                    <a:pt x="488022" y="408832"/>
                  </a:lnTo>
                  <a:lnTo>
                    <a:pt x="490402" y="396221"/>
                  </a:lnTo>
                  <a:lnTo>
                    <a:pt x="488022" y="383554"/>
                  </a:lnTo>
                  <a:lnTo>
                    <a:pt x="480882" y="372466"/>
                  </a:lnTo>
                  <a:lnTo>
                    <a:pt x="127830" y="18989"/>
                  </a:lnTo>
                  <a:lnTo>
                    <a:pt x="104569" y="4202"/>
                  </a:lnTo>
                  <a:lnTo>
                    <a:pt x="77462" y="0"/>
                  </a:lnTo>
                  <a:close/>
                </a:path>
              </a:pathLst>
            </a:custGeom>
            <a:grpFill/>
          </p:spPr>
          <p:txBody>
            <a:bodyPr wrap="square" lIns="0" tIns="0" rIns="0" bIns="0" rtlCol="0"/>
            <a:lstStyle/>
            <a:p>
              <a:endParaRPr dirty="0"/>
            </a:p>
          </p:txBody>
        </p:sp>
        <p:sp>
          <p:nvSpPr>
            <p:cNvPr id="21" name="object 21"/>
            <p:cNvSpPr/>
            <p:nvPr/>
          </p:nvSpPr>
          <p:spPr>
            <a:xfrm>
              <a:off x="463139" y="2062984"/>
              <a:ext cx="490855" cy="758825"/>
            </a:xfrm>
            <a:custGeom>
              <a:avLst/>
              <a:gdLst/>
              <a:ahLst/>
              <a:cxnLst/>
              <a:rect l="l" t="t" r="r" b="b"/>
              <a:pathLst>
                <a:path w="490855" h="758825">
                  <a:moveTo>
                    <a:pt x="142294" y="758749"/>
                  </a:moveTo>
                  <a:lnTo>
                    <a:pt x="154133" y="728556"/>
                  </a:lnTo>
                  <a:lnTo>
                    <a:pt x="159054" y="693676"/>
                  </a:lnTo>
                  <a:lnTo>
                    <a:pt x="157950" y="654749"/>
                  </a:lnTo>
                  <a:lnTo>
                    <a:pt x="151715" y="612420"/>
                  </a:lnTo>
                  <a:lnTo>
                    <a:pt x="141242" y="567329"/>
                  </a:lnTo>
                  <a:lnTo>
                    <a:pt x="127425" y="520120"/>
                  </a:lnTo>
                  <a:lnTo>
                    <a:pt x="111157" y="471435"/>
                  </a:lnTo>
                  <a:lnTo>
                    <a:pt x="93332" y="421916"/>
                  </a:lnTo>
                  <a:lnTo>
                    <a:pt x="74842" y="372207"/>
                  </a:lnTo>
                  <a:lnTo>
                    <a:pt x="56582" y="322949"/>
                  </a:lnTo>
                  <a:lnTo>
                    <a:pt x="39446" y="274785"/>
                  </a:lnTo>
                  <a:lnTo>
                    <a:pt x="24326" y="228358"/>
                  </a:lnTo>
                  <a:lnTo>
                    <a:pt x="12116" y="184310"/>
                  </a:lnTo>
                  <a:lnTo>
                    <a:pt x="3709" y="143283"/>
                  </a:lnTo>
                  <a:lnTo>
                    <a:pt x="0" y="105920"/>
                  </a:lnTo>
                  <a:lnTo>
                    <a:pt x="1880" y="72863"/>
                  </a:lnTo>
                  <a:lnTo>
                    <a:pt x="10245" y="44756"/>
                  </a:lnTo>
                  <a:lnTo>
                    <a:pt x="25988" y="22240"/>
                  </a:lnTo>
                  <a:lnTo>
                    <a:pt x="50078" y="6104"/>
                  </a:lnTo>
                  <a:lnTo>
                    <a:pt x="77462" y="0"/>
                  </a:lnTo>
                  <a:lnTo>
                    <a:pt x="104569" y="4202"/>
                  </a:lnTo>
                  <a:lnTo>
                    <a:pt x="127830" y="18989"/>
                  </a:lnTo>
                  <a:lnTo>
                    <a:pt x="480882" y="372466"/>
                  </a:lnTo>
                  <a:lnTo>
                    <a:pt x="488022" y="383553"/>
                  </a:lnTo>
                  <a:lnTo>
                    <a:pt x="490402" y="396220"/>
                  </a:lnTo>
                  <a:lnTo>
                    <a:pt x="488022" y="408832"/>
                  </a:lnTo>
                  <a:lnTo>
                    <a:pt x="480882" y="419753"/>
                  </a:lnTo>
                  <a:lnTo>
                    <a:pt x="142294" y="758749"/>
                  </a:lnTo>
                  <a:close/>
                </a:path>
              </a:pathLst>
            </a:custGeom>
            <a:grpFill/>
            <a:ln w="9525">
              <a:solidFill>
                <a:srgbClr val="403152"/>
              </a:solidFill>
            </a:ln>
          </p:spPr>
          <p:txBody>
            <a:bodyPr wrap="square" lIns="0" tIns="0" rIns="0" bIns="0" rtlCol="0"/>
            <a:lstStyle/>
            <a:p>
              <a:endParaRPr dirty="0"/>
            </a:p>
          </p:txBody>
        </p:sp>
      </p:grpSp>
      <p:sp>
        <p:nvSpPr>
          <p:cNvPr id="22" name="object 22"/>
          <p:cNvSpPr txBox="1"/>
          <p:nvPr/>
        </p:nvSpPr>
        <p:spPr>
          <a:xfrm>
            <a:off x="412752" y="1872244"/>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chemeClr val="bg1"/>
                </a:solidFill>
                <a:latin typeface="Arial"/>
                <a:cs typeface="Arial"/>
              </a:rPr>
              <a:t>2</a:t>
            </a:r>
            <a:endParaRPr sz="2800" dirty="0">
              <a:solidFill>
                <a:schemeClr val="bg1"/>
              </a:solidFill>
              <a:latin typeface="Arial"/>
              <a:cs typeface="Arial"/>
            </a:endParaRPr>
          </a:p>
        </p:txBody>
      </p:sp>
      <p:grpSp>
        <p:nvGrpSpPr>
          <p:cNvPr id="25" name="object 25"/>
          <p:cNvGrpSpPr/>
          <p:nvPr/>
        </p:nvGrpSpPr>
        <p:grpSpPr>
          <a:xfrm>
            <a:off x="284486" y="2810728"/>
            <a:ext cx="500380" cy="802640"/>
            <a:chOff x="482739" y="3001513"/>
            <a:chExt cx="500380" cy="802640"/>
          </a:xfrm>
          <a:solidFill>
            <a:schemeClr val="accent2"/>
          </a:solidFill>
        </p:grpSpPr>
        <p:sp>
          <p:nvSpPr>
            <p:cNvPr id="26" name="object 26"/>
            <p:cNvSpPr/>
            <p:nvPr/>
          </p:nvSpPr>
          <p:spPr>
            <a:xfrm>
              <a:off x="491437" y="3040150"/>
              <a:ext cx="487045" cy="759460"/>
            </a:xfrm>
            <a:custGeom>
              <a:avLst/>
              <a:gdLst/>
              <a:ahLst/>
              <a:cxnLst/>
              <a:rect l="l" t="t" r="r" b="b"/>
              <a:pathLst>
                <a:path w="487044" h="759460">
                  <a:moveTo>
                    <a:pt x="138049" y="0"/>
                  </a:moveTo>
                  <a:lnTo>
                    <a:pt x="149948" y="30211"/>
                  </a:lnTo>
                  <a:lnTo>
                    <a:pt x="155121" y="65214"/>
                  </a:lnTo>
                  <a:lnTo>
                    <a:pt x="154425" y="104347"/>
                  </a:lnTo>
                  <a:lnTo>
                    <a:pt x="148716" y="146947"/>
                  </a:lnTo>
                  <a:lnTo>
                    <a:pt x="138850" y="192353"/>
                  </a:lnTo>
                  <a:lnTo>
                    <a:pt x="125683" y="239903"/>
                  </a:lnTo>
                  <a:lnTo>
                    <a:pt x="110074" y="288935"/>
                  </a:lnTo>
                  <a:lnTo>
                    <a:pt x="92877" y="338787"/>
                  </a:lnTo>
                  <a:lnTo>
                    <a:pt x="57147" y="438303"/>
                  </a:lnTo>
                  <a:lnTo>
                    <a:pt x="40327" y="486644"/>
                  </a:lnTo>
                  <a:lnTo>
                    <a:pt x="25346" y="533157"/>
                  </a:lnTo>
                  <a:lnTo>
                    <a:pt x="13060" y="577181"/>
                  </a:lnTo>
                  <a:lnTo>
                    <a:pt x="4326" y="618053"/>
                  </a:lnTo>
                  <a:lnTo>
                    <a:pt x="0" y="655113"/>
                  </a:lnTo>
                  <a:lnTo>
                    <a:pt x="938" y="687697"/>
                  </a:lnTo>
                  <a:lnTo>
                    <a:pt x="7997" y="715144"/>
                  </a:lnTo>
                  <a:lnTo>
                    <a:pt x="22033" y="736793"/>
                  </a:lnTo>
                  <a:lnTo>
                    <a:pt x="45876" y="753137"/>
                  </a:lnTo>
                  <a:lnTo>
                    <a:pt x="73288" y="759115"/>
                  </a:lnTo>
                  <a:lnTo>
                    <a:pt x="100535" y="754671"/>
                  </a:lnTo>
                  <a:lnTo>
                    <a:pt x="123879" y="739749"/>
                  </a:lnTo>
                  <a:lnTo>
                    <a:pt x="476946" y="386135"/>
                  </a:lnTo>
                  <a:lnTo>
                    <a:pt x="484086" y="375261"/>
                  </a:lnTo>
                  <a:lnTo>
                    <a:pt x="486466" y="362779"/>
                  </a:lnTo>
                  <a:lnTo>
                    <a:pt x="484086" y="350296"/>
                  </a:lnTo>
                  <a:lnTo>
                    <a:pt x="476946" y="339421"/>
                  </a:lnTo>
                  <a:lnTo>
                    <a:pt x="138049" y="0"/>
                  </a:lnTo>
                  <a:close/>
                </a:path>
              </a:pathLst>
            </a:custGeom>
            <a:grpFill/>
          </p:spPr>
          <p:txBody>
            <a:bodyPr wrap="square" lIns="0" tIns="0" rIns="0" bIns="0" rtlCol="0"/>
            <a:lstStyle/>
            <a:p>
              <a:endParaRPr dirty="0"/>
            </a:p>
          </p:txBody>
        </p:sp>
        <p:sp>
          <p:nvSpPr>
            <p:cNvPr id="27" name="object 27"/>
            <p:cNvSpPr/>
            <p:nvPr/>
          </p:nvSpPr>
          <p:spPr>
            <a:xfrm>
              <a:off x="491437" y="3040150"/>
              <a:ext cx="487045" cy="759460"/>
            </a:xfrm>
            <a:custGeom>
              <a:avLst/>
              <a:gdLst/>
              <a:ahLst/>
              <a:cxnLst/>
              <a:rect l="l" t="t" r="r" b="b"/>
              <a:pathLst>
                <a:path w="487044" h="759460">
                  <a:moveTo>
                    <a:pt x="138049" y="0"/>
                  </a:moveTo>
                  <a:lnTo>
                    <a:pt x="149948" y="30211"/>
                  </a:lnTo>
                  <a:lnTo>
                    <a:pt x="155121" y="65214"/>
                  </a:lnTo>
                  <a:lnTo>
                    <a:pt x="154425" y="104347"/>
                  </a:lnTo>
                  <a:lnTo>
                    <a:pt x="148716" y="146947"/>
                  </a:lnTo>
                  <a:lnTo>
                    <a:pt x="138850" y="192353"/>
                  </a:lnTo>
                  <a:lnTo>
                    <a:pt x="125683" y="239903"/>
                  </a:lnTo>
                  <a:lnTo>
                    <a:pt x="110074" y="288935"/>
                  </a:lnTo>
                  <a:lnTo>
                    <a:pt x="92877" y="338787"/>
                  </a:lnTo>
                  <a:lnTo>
                    <a:pt x="74949" y="388797"/>
                  </a:lnTo>
                  <a:lnTo>
                    <a:pt x="57147" y="438303"/>
                  </a:lnTo>
                  <a:lnTo>
                    <a:pt x="40327" y="486644"/>
                  </a:lnTo>
                  <a:lnTo>
                    <a:pt x="25346" y="533157"/>
                  </a:lnTo>
                  <a:lnTo>
                    <a:pt x="13060" y="577181"/>
                  </a:lnTo>
                  <a:lnTo>
                    <a:pt x="4326" y="618053"/>
                  </a:lnTo>
                  <a:lnTo>
                    <a:pt x="0" y="655113"/>
                  </a:lnTo>
                  <a:lnTo>
                    <a:pt x="938" y="687697"/>
                  </a:lnTo>
                  <a:lnTo>
                    <a:pt x="7997" y="715144"/>
                  </a:lnTo>
                  <a:lnTo>
                    <a:pt x="22033" y="736793"/>
                  </a:lnTo>
                  <a:lnTo>
                    <a:pt x="45876" y="753137"/>
                  </a:lnTo>
                  <a:lnTo>
                    <a:pt x="73289" y="759115"/>
                  </a:lnTo>
                  <a:lnTo>
                    <a:pt x="100535" y="754671"/>
                  </a:lnTo>
                  <a:lnTo>
                    <a:pt x="123879" y="739749"/>
                  </a:lnTo>
                  <a:lnTo>
                    <a:pt x="476946" y="386136"/>
                  </a:lnTo>
                  <a:lnTo>
                    <a:pt x="484086" y="375261"/>
                  </a:lnTo>
                  <a:lnTo>
                    <a:pt x="486466" y="362778"/>
                  </a:lnTo>
                  <a:lnTo>
                    <a:pt x="484086" y="350296"/>
                  </a:lnTo>
                  <a:lnTo>
                    <a:pt x="476946" y="339421"/>
                  </a:lnTo>
                  <a:lnTo>
                    <a:pt x="138049" y="0"/>
                  </a:lnTo>
                </a:path>
              </a:pathLst>
            </a:custGeom>
            <a:grpFill/>
            <a:ln w="9525">
              <a:solidFill>
                <a:srgbClr val="215968"/>
              </a:solidFill>
            </a:ln>
          </p:spPr>
          <p:txBody>
            <a:bodyPr wrap="square" lIns="0" tIns="0" rIns="0" bIns="0" rtlCol="0"/>
            <a:lstStyle/>
            <a:p>
              <a:endParaRPr dirty="0"/>
            </a:p>
          </p:txBody>
        </p:sp>
        <p:sp>
          <p:nvSpPr>
            <p:cNvPr id="28" name="object 28"/>
            <p:cNvSpPr/>
            <p:nvPr/>
          </p:nvSpPr>
          <p:spPr>
            <a:xfrm>
              <a:off x="487501" y="3006275"/>
              <a:ext cx="490855" cy="758825"/>
            </a:xfrm>
            <a:custGeom>
              <a:avLst/>
              <a:gdLst/>
              <a:ahLst/>
              <a:cxnLst/>
              <a:rect l="l" t="t" r="r" b="b"/>
              <a:pathLst>
                <a:path w="490855" h="758825">
                  <a:moveTo>
                    <a:pt x="77462" y="0"/>
                  </a:moveTo>
                  <a:lnTo>
                    <a:pt x="25988" y="22240"/>
                  </a:lnTo>
                  <a:lnTo>
                    <a:pt x="1880" y="72863"/>
                  </a:lnTo>
                  <a:lnTo>
                    <a:pt x="0" y="105920"/>
                  </a:lnTo>
                  <a:lnTo>
                    <a:pt x="3709" y="143283"/>
                  </a:lnTo>
                  <a:lnTo>
                    <a:pt x="12116" y="184310"/>
                  </a:lnTo>
                  <a:lnTo>
                    <a:pt x="24326" y="228358"/>
                  </a:lnTo>
                  <a:lnTo>
                    <a:pt x="39446" y="274786"/>
                  </a:lnTo>
                  <a:lnTo>
                    <a:pt x="56582" y="322949"/>
                  </a:lnTo>
                  <a:lnTo>
                    <a:pt x="93332" y="421917"/>
                  </a:lnTo>
                  <a:lnTo>
                    <a:pt x="111157" y="471435"/>
                  </a:lnTo>
                  <a:lnTo>
                    <a:pt x="127425" y="520120"/>
                  </a:lnTo>
                  <a:lnTo>
                    <a:pt x="141242" y="567329"/>
                  </a:lnTo>
                  <a:lnTo>
                    <a:pt x="151715" y="612420"/>
                  </a:lnTo>
                  <a:lnTo>
                    <a:pt x="157950" y="654749"/>
                  </a:lnTo>
                  <a:lnTo>
                    <a:pt x="159054" y="693676"/>
                  </a:lnTo>
                  <a:lnTo>
                    <a:pt x="154133" y="728556"/>
                  </a:lnTo>
                  <a:lnTo>
                    <a:pt x="142294" y="758748"/>
                  </a:lnTo>
                  <a:lnTo>
                    <a:pt x="480882" y="419753"/>
                  </a:lnTo>
                  <a:lnTo>
                    <a:pt x="488022" y="408832"/>
                  </a:lnTo>
                  <a:lnTo>
                    <a:pt x="490402" y="396220"/>
                  </a:lnTo>
                  <a:lnTo>
                    <a:pt x="488022" y="383554"/>
                  </a:lnTo>
                  <a:lnTo>
                    <a:pt x="480882" y="372466"/>
                  </a:lnTo>
                  <a:lnTo>
                    <a:pt x="127830" y="18988"/>
                  </a:lnTo>
                  <a:lnTo>
                    <a:pt x="104569" y="4202"/>
                  </a:lnTo>
                  <a:lnTo>
                    <a:pt x="77462" y="0"/>
                  </a:lnTo>
                  <a:close/>
                </a:path>
              </a:pathLst>
            </a:custGeom>
            <a:grpFill/>
          </p:spPr>
          <p:txBody>
            <a:bodyPr wrap="square" lIns="0" tIns="0" rIns="0" bIns="0" rtlCol="0"/>
            <a:lstStyle/>
            <a:p>
              <a:endParaRPr dirty="0"/>
            </a:p>
          </p:txBody>
        </p:sp>
        <p:sp>
          <p:nvSpPr>
            <p:cNvPr id="29" name="object 29"/>
            <p:cNvSpPr/>
            <p:nvPr/>
          </p:nvSpPr>
          <p:spPr>
            <a:xfrm>
              <a:off x="487501" y="3006275"/>
              <a:ext cx="490855" cy="758825"/>
            </a:xfrm>
            <a:custGeom>
              <a:avLst/>
              <a:gdLst/>
              <a:ahLst/>
              <a:cxnLst/>
              <a:rect l="l" t="t" r="r" b="b"/>
              <a:pathLst>
                <a:path w="490855" h="758825">
                  <a:moveTo>
                    <a:pt x="142294" y="758749"/>
                  </a:moveTo>
                  <a:lnTo>
                    <a:pt x="154133" y="728556"/>
                  </a:lnTo>
                  <a:lnTo>
                    <a:pt x="159054" y="693676"/>
                  </a:lnTo>
                  <a:lnTo>
                    <a:pt x="157950" y="654749"/>
                  </a:lnTo>
                  <a:lnTo>
                    <a:pt x="151715" y="612420"/>
                  </a:lnTo>
                  <a:lnTo>
                    <a:pt x="141242" y="567329"/>
                  </a:lnTo>
                  <a:lnTo>
                    <a:pt x="127425" y="520120"/>
                  </a:lnTo>
                  <a:lnTo>
                    <a:pt x="111157" y="471435"/>
                  </a:lnTo>
                  <a:lnTo>
                    <a:pt x="93332" y="421916"/>
                  </a:lnTo>
                  <a:lnTo>
                    <a:pt x="74842" y="372207"/>
                  </a:lnTo>
                  <a:lnTo>
                    <a:pt x="56582" y="322949"/>
                  </a:lnTo>
                  <a:lnTo>
                    <a:pt x="39446" y="274785"/>
                  </a:lnTo>
                  <a:lnTo>
                    <a:pt x="24326" y="228358"/>
                  </a:lnTo>
                  <a:lnTo>
                    <a:pt x="12116" y="184310"/>
                  </a:lnTo>
                  <a:lnTo>
                    <a:pt x="3709" y="143283"/>
                  </a:lnTo>
                  <a:lnTo>
                    <a:pt x="0" y="105920"/>
                  </a:lnTo>
                  <a:lnTo>
                    <a:pt x="1880" y="72863"/>
                  </a:lnTo>
                  <a:lnTo>
                    <a:pt x="10245" y="44756"/>
                  </a:lnTo>
                  <a:lnTo>
                    <a:pt x="25988" y="22240"/>
                  </a:lnTo>
                  <a:lnTo>
                    <a:pt x="50078" y="6104"/>
                  </a:lnTo>
                  <a:lnTo>
                    <a:pt x="77462" y="0"/>
                  </a:lnTo>
                  <a:lnTo>
                    <a:pt x="104569" y="4202"/>
                  </a:lnTo>
                  <a:lnTo>
                    <a:pt x="127830" y="18989"/>
                  </a:lnTo>
                  <a:lnTo>
                    <a:pt x="480882" y="372466"/>
                  </a:lnTo>
                  <a:lnTo>
                    <a:pt x="488022" y="383553"/>
                  </a:lnTo>
                  <a:lnTo>
                    <a:pt x="490402" y="396220"/>
                  </a:lnTo>
                  <a:lnTo>
                    <a:pt x="488022" y="408832"/>
                  </a:lnTo>
                  <a:lnTo>
                    <a:pt x="480882" y="419753"/>
                  </a:lnTo>
                  <a:lnTo>
                    <a:pt x="142294" y="758749"/>
                  </a:lnTo>
                  <a:close/>
                </a:path>
              </a:pathLst>
            </a:custGeom>
            <a:grpFill/>
            <a:ln w="9525">
              <a:solidFill>
                <a:srgbClr val="254061"/>
              </a:solidFill>
            </a:ln>
          </p:spPr>
          <p:txBody>
            <a:bodyPr wrap="square" lIns="0" tIns="0" rIns="0" bIns="0" rtlCol="0"/>
            <a:lstStyle/>
            <a:p>
              <a:endParaRPr dirty="0"/>
            </a:p>
          </p:txBody>
        </p:sp>
      </p:grpSp>
      <p:sp>
        <p:nvSpPr>
          <p:cNvPr id="30" name="object 30"/>
          <p:cNvSpPr txBox="1"/>
          <p:nvPr/>
        </p:nvSpPr>
        <p:spPr>
          <a:xfrm>
            <a:off x="412752" y="2967159"/>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chemeClr val="bg1"/>
                </a:solidFill>
                <a:latin typeface="Arial"/>
                <a:cs typeface="Arial"/>
              </a:rPr>
              <a:t>3</a:t>
            </a:r>
            <a:endParaRPr sz="2800" dirty="0">
              <a:solidFill>
                <a:schemeClr val="bg1"/>
              </a:solidFill>
              <a:latin typeface="Arial"/>
              <a:cs typeface="Arial"/>
            </a:endParaRPr>
          </a:p>
        </p:txBody>
      </p:sp>
      <p:grpSp>
        <p:nvGrpSpPr>
          <p:cNvPr id="32" name="object 32"/>
          <p:cNvGrpSpPr/>
          <p:nvPr/>
        </p:nvGrpSpPr>
        <p:grpSpPr>
          <a:xfrm>
            <a:off x="259321" y="3817654"/>
            <a:ext cx="500380" cy="802640"/>
            <a:chOff x="482739" y="3962348"/>
            <a:chExt cx="500380" cy="802640"/>
          </a:xfrm>
          <a:solidFill>
            <a:srgbClr val="92D050"/>
          </a:solidFill>
        </p:grpSpPr>
        <p:sp>
          <p:nvSpPr>
            <p:cNvPr id="33" name="object 33"/>
            <p:cNvSpPr/>
            <p:nvPr/>
          </p:nvSpPr>
          <p:spPr>
            <a:xfrm>
              <a:off x="491437" y="4000985"/>
              <a:ext cx="487045" cy="759460"/>
            </a:xfrm>
            <a:custGeom>
              <a:avLst/>
              <a:gdLst/>
              <a:ahLst/>
              <a:cxnLst/>
              <a:rect l="l" t="t" r="r" b="b"/>
              <a:pathLst>
                <a:path w="487044" h="759460">
                  <a:moveTo>
                    <a:pt x="138049" y="0"/>
                  </a:moveTo>
                  <a:lnTo>
                    <a:pt x="149948" y="30211"/>
                  </a:lnTo>
                  <a:lnTo>
                    <a:pt x="155121" y="65214"/>
                  </a:lnTo>
                  <a:lnTo>
                    <a:pt x="154425" y="104347"/>
                  </a:lnTo>
                  <a:lnTo>
                    <a:pt x="148716" y="146947"/>
                  </a:lnTo>
                  <a:lnTo>
                    <a:pt x="138850" y="192353"/>
                  </a:lnTo>
                  <a:lnTo>
                    <a:pt x="125683" y="239903"/>
                  </a:lnTo>
                  <a:lnTo>
                    <a:pt x="110074" y="288935"/>
                  </a:lnTo>
                  <a:lnTo>
                    <a:pt x="92877" y="338787"/>
                  </a:lnTo>
                  <a:lnTo>
                    <a:pt x="57147" y="438303"/>
                  </a:lnTo>
                  <a:lnTo>
                    <a:pt x="40327" y="486644"/>
                  </a:lnTo>
                  <a:lnTo>
                    <a:pt x="25346" y="533157"/>
                  </a:lnTo>
                  <a:lnTo>
                    <a:pt x="13060" y="577181"/>
                  </a:lnTo>
                  <a:lnTo>
                    <a:pt x="4326" y="618053"/>
                  </a:lnTo>
                  <a:lnTo>
                    <a:pt x="0" y="655113"/>
                  </a:lnTo>
                  <a:lnTo>
                    <a:pt x="938" y="687697"/>
                  </a:lnTo>
                  <a:lnTo>
                    <a:pt x="7997" y="715144"/>
                  </a:lnTo>
                  <a:lnTo>
                    <a:pt x="22033" y="736792"/>
                  </a:lnTo>
                  <a:lnTo>
                    <a:pt x="45876" y="753137"/>
                  </a:lnTo>
                  <a:lnTo>
                    <a:pt x="73288" y="759115"/>
                  </a:lnTo>
                  <a:lnTo>
                    <a:pt x="100535" y="754671"/>
                  </a:lnTo>
                  <a:lnTo>
                    <a:pt x="123879" y="739749"/>
                  </a:lnTo>
                  <a:lnTo>
                    <a:pt x="476946" y="386136"/>
                  </a:lnTo>
                  <a:lnTo>
                    <a:pt x="484086" y="375261"/>
                  </a:lnTo>
                  <a:lnTo>
                    <a:pt x="486466" y="362778"/>
                  </a:lnTo>
                  <a:lnTo>
                    <a:pt x="484086" y="350296"/>
                  </a:lnTo>
                  <a:lnTo>
                    <a:pt x="476946" y="339421"/>
                  </a:lnTo>
                  <a:lnTo>
                    <a:pt x="138049" y="0"/>
                  </a:lnTo>
                  <a:close/>
                </a:path>
              </a:pathLst>
            </a:custGeom>
            <a:grpFill/>
          </p:spPr>
          <p:txBody>
            <a:bodyPr wrap="square" lIns="0" tIns="0" rIns="0" bIns="0" rtlCol="0"/>
            <a:lstStyle/>
            <a:p>
              <a:endParaRPr dirty="0"/>
            </a:p>
          </p:txBody>
        </p:sp>
        <p:sp>
          <p:nvSpPr>
            <p:cNvPr id="34" name="object 34"/>
            <p:cNvSpPr/>
            <p:nvPr/>
          </p:nvSpPr>
          <p:spPr>
            <a:xfrm>
              <a:off x="491437" y="4000985"/>
              <a:ext cx="487045" cy="759460"/>
            </a:xfrm>
            <a:custGeom>
              <a:avLst/>
              <a:gdLst/>
              <a:ahLst/>
              <a:cxnLst/>
              <a:rect l="l" t="t" r="r" b="b"/>
              <a:pathLst>
                <a:path w="487044" h="759460">
                  <a:moveTo>
                    <a:pt x="138049" y="0"/>
                  </a:moveTo>
                  <a:lnTo>
                    <a:pt x="149948" y="30211"/>
                  </a:lnTo>
                  <a:lnTo>
                    <a:pt x="155121" y="65214"/>
                  </a:lnTo>
                  <a:lnTo>
                    <a:pt x="154425" y="104347"/>
                  </a:lnTo>
                  <a:lnTo>
                    <a:pt x="148716" y="146947"/>
                  </a:lnTo>
                  <a:lnTo>
                    <a:pt x="138850" y="192353"/>
                  </a:lnTo>
                  <a:lnTo>
                    <a:pt x="125683" y="239903"/>
                  </a:lnTo>
                  <a:lnTo>
                    <a:pt x="110074" y="288935"/>
                  </a:lnTo>
                  <a:lnTo>
                    <a:pt x="92877" y="338787"/>
                  </a:lnTo>
                  <a:lnTo>
                    <a:pt x="74949" y="388797"/>
                  </a:lnTo>
                  <a:lnTo>
                    <a:pt x="57147" y="438303"/>
                  </a:lnTo>
                  <a:lnTo>
                    <a:pt x="40327" y="486644"/>
                  </a:lnTo>
                  <a:lnTo>
                    <a:pt x="25346" y="533157"/>
                  </a:lnTo>
                  <a:lnTo>
                    <a:pt x="13060" y="577181"/>
                  </a:lnTo>
                  <a:lnTo>
                    <a:pt x="4326" y="618053"/>
                  </a:lnTo>
                  <a:lnTo>
                    <a:pt x="0" y="655113"/>
                  </a:lnTo>
                  <a:lnTo>
                    <a:pt x="938" y="687697"/>
                  </a:lnTo>
                  <a:lnTo>
                    <a:pt x="7997" y="715144"/>
                  </a:lnTo>
                  <a:lnTo>
                    <a:pt x="22033" y="736793"/>
                  </a:lnTo>
                  <a:lnTo>
                    <a:pt x="45876" y="753137"/>
                  </a:lnTo>
                  <a:lnTo>
                    <a:pt x="73289" y="759115"/>
                  </a:lnTo>
                  <a:lnTo>
                    <a:pt x="100535" y="754671"/>
                  </a:lnTo>
                  <a:lnTo>
                    <a:pt x="123879" y="739749"/>
                  </a:lnTo>
                  <a:lnTo>
                    <a:pt x="476946" y="386136"/>
                  </a:lnTo>
                  <a:lnTo>
                    <a:pt x="484086" y="375261"/>
                  </a:lnTo>
                  <a:lnTo>
                    <a:pt x="486466" y="362778"/>
                  </a:lnTo>
                  <a:lnTo>
                    <a:pt x="484086" y="350296"/>
                  </a:lnTo>
                  <a:lnTo>
                    <a:pt x="476946" y="339421"/>
                  </a:lnTo>
                  <a:lnTo>
                    <a:pt x="138049" y="0"/>
                  </a:lnTo>
                </a:path>
              </a:pathLst>
            </a:custGeom>
            <a:solidFill>
              <a:srgbClr val="CC00CC"/>
            </a:solidFill>
            <a:ln w="9525">
              <a:solidFill>
                <a:srgbClr val="4F6228"/>
              </a:solidFill>
            </a:ln>
          </p:spPr>
          <p:txBody>
            <a:bodyPr wrap="square" lIns="0" tIns="0" rIns="0" bIns="0" rtlCol="0"/>
            <a:lstStyle/>
            <a:p>
              <a:endParaRPr dirty="0"/>
            </a:p>
          </p:txBody>
        </p:sp>
        <p:sp>
          <p:nvSpPr>
            <p:cNvPr id="35" name="object 35"/>
            <p:cNvSpPr/>
            <p:nvPr/>
          </p:nvSpPr>
          <p:spPr>
            <a:xfrm>
              <a:off x="487501" y="3967110"/>
              <a:ext cx="490855" cy="758825"/>
            </a:xfrm>
            <a:custGeom>
              <a:avLst/>
              <a:gdLst/>
              <a:ahLst/>
              <a:cxnLst/>
              <a:rect l="l" t="t" r="r" b="b"/>
              <a:pathLst>
                <a:path w="490855" h="758825">
                  <a:moveTo>
                    <a:pt x="77462" y="0"/>
                  </a:moveTo>
                  <a:lnTo>
                    <a:pt x="25988" y="22240"/>
                  </a:lnTo>
                  <a:lnTo>
                    <a:pt x="1880" y="72863"/>
                  </a:lnTo>
                  <a:lnTo>
                    <a:pt x="0" y="105920"/>
                  </a:lnTo>
                  <a:lnTo>
                    <a:pt x="3709" y="143283"/>
                  </a:lnTo>
                  <a:lnTo>
                    <a:pt x="12116" y="184310"/>
                  </a:lnTo>
                  <a:lnTo>
                    <a:pt x="24326" y="228358"/>
                  </a:lnTo>
                  <a:lnTo>
                    <a:pt x="39446" y="274785"/>
                  </a:lnTo>
                  <a:lnTo>
                    <a:pt x="56582" y="322949"/>
                  </a:lnTo>
                  <a:lnTo>
                    <a:pt x="93332" y="421916"/>
                  </a:lnTo>
                  <a:lnTo>
                    <a:pt x="111157" y="471435"/>
                  </a:lnTo>
                  <a:lnTo>
                    <a:pt x="127425" y="520120"/>
                  </a:lnTo>
                  <a:lnTo>
                    <a:pt x="141242" y="567329"/>
                  </a:lnTo>
                  <a:lnTo>
                    <a:pt x="151715" y="612420"/>
                  </a:lnTo>
                  <a:lnTo>
                    <a:pt x="157950" y="654749"/>
                  </a:lnTo>
                  <a:lnTo>
                    <a:pt x="159054" y="693676"/>
                  </a:lnTo>
                  <a:lnTo>
                    <a:pt x="154133" y="728556"/>
                  </a:lnTo>
                  <a:lnTo>
                    <a:pt x="142294" y="758748"/>
                  </a:lnTo>
                  <a:lnTo>
                    <a:pt x="480882" y="419753"/>
                  </a:lnTo>
                  <a:lnTo>
                    <a:pt x="488022" y="408832"/>
                  </a:lnTo>
                  <a:lnTo>
                    <a:pt x="490402" y="396220"/>
                  </a:lnTo>
                  <a:lnTo>
                    <a:pt x="488022" y="383553"/>
                  </a:lnTo>
                  <a:lnTo>
                    <a:pt x="480882" y="372466"/>
                  </a:lnTo>
                  <a:lnTo>
                    <a:pt x="127830" y="18989"/>
                  </a:lnTo>
                  <a:lnTo>
                    <a:pt x="104569" y="4202"/>
                  </a:lnTo>
                  <a:lnTo>
                    <a:pt x="77462" y="0"/>
                  </a:lnTo>
                  <a:close/>
                </a:path>
              </a:pathLst>
            </a:custGeom>
            <a:grpFill/>
          </p:spPr>
          <p:txBody>
            <a:bodyPr wrap="square" lIns="0" tIns="0" rIns="0" bIns="0" rtlCol="0"/>
            <a:lstStyle/>
            <a:p>
              <a:endParaRPr dirty="0"/>
            </a:p>
          </p:txBody>
        </p:sp>
        <p:sp>
          <p:nvSpPr>
            <p:cNvPr id="36" name="object 36"/>
            <p:cNvSpPr/>
            <p:nvPr/>
          </p:nvSpPr>
          <p:spPr>
            <a:xfrm>
              <a:off x="487501" y="3967110"/>
              <a:ext cx="490855" cy="758825"/>
            </a:xfrm>
            <a:custGeom>
              <a:avLst/>
              <a:gdLst/>
              <a:ahLst/>
              <a:cxnLst/>
              <a:rect l="l" t="t" r="r" b="b"/>
              <a:pathLst>
                <a:path w="490855" h="758825">
                  <a:moveTo>
                    <a:pt x="142294" y="758749"/>
                  </a:moveTo>
                  <a:lnTo>
                    <a:pt x="154133" y="728556"/>
                  </a:lnTo>
                  <a:lnTo>
                    <a:pt x="159054" y="693676"/>
                  </a:lnTo>
                  <a:lnTo>
                    <a:pt x="157950" y="654749"/>
                  </a:lnTo>
                  <a:lnTo>
                    <a:pt x="151715" y="612420"/>
                  </a:lnTo>
                  <a:lnTo>
                    <a:pt x="141242" y="567329"/>
                  </a:lnTo>
                  <a:lnTo>
                    <a:pt x="127425" y="520120"/>
                  </a:lnTo>
                  <a:lnTo>
                    <a:pt x="111157" y="471435"/>
                  </a:lnTo>
                  <a:lnTo>
                    <a:pt x="93332" y="421916"/>
                  </a:lnTo>
                  <a:lnTo>
                    <a:pt x="74842" y="372207"/>
                  </a:lnTo>
                  <a:lnTo>
                    <a:pt x="56582" y="322949"/>
                  </a:lnTo>
                  <a:lnTo>
                    <a:pt x="39446" y="274785"/>
                  </a:lnTo>
                  <a:lnTo>
                    <a:pt x="24326" y="228358"/>
                  </a:lnTo>
                  <a:lnTo>
                    <a:pt x="12116" y="184310"/>
                  </a:lnTo>
                  <a:lnTo>
                    <a:pt x="3709" y="143283"/>
                  </a:lnTo>
                  <a:lnTo>
                    <a:pt x="0" y="105920"/>
                  </a:lnTo>
                  <a:lnTo>
                    <a:pt x="1880" y="72863"/>
                  </a:lnTo>
                  <a:lnTo>
                    <a:pt x="10245" y="44756"/>
                  </a:lnTo>
                  <a:lnTo>
                    <a:pt x="25988" y="22240"/>
                  </a:lnTo>
                  <a:lnTo>
                    <a:pt x="50078" y="6104"/>
                  </a:lnTo>
                  <a:lnTo>
                    <a:pt x="77462" y="0"/>
                  </a:lnTo>
                  <a:lnTo>
                    <a:pt x="104569" y="4202"/>
                  </a:lnTo>
                  <a:lnTo>
                    <a:pt x="127830" y="18989"/>
                  </a:lnTo>
                  <a:lnTo>
                    <a:pt x="480882" y="372466"/>
                  </a:lnTo>
                  <a:lnTo>
                    <a:pt x="488022" y="383553"/>
                  </a:lnTo>
                  <a:lnTo>
                    <a:pt x="490402" y="396220"/>
                  </a:lnTo>
                  <a:lnTo>
                    <a:pt x="488022" y="408832"/>
                  </a:lnTo>
                  <a:lnTo>
                    <a:pt x="480882" y="419753"/>
                  </a:lnTo>
                  <a:lnTo>
                    <a:pt x="142294" y="758749"/>
                  </a:lnTo>
                  <a:close/>
                </a:path>
              </a:pathLst>
            </a:custGeom>
            <a:solidFill>
              <a:srgbClr val="CC00CC"/>
            </a:solidFill>
            <a:ln w="9525">
              <a:solidFill>
                <a:srgbClr val="254061"/>
              </a:solidFill>
            </a:ln>
          </p:spPr>
          <p:txBody>
            <a:bodyPr wrap="square" lIns="0" tIns="0" rIns="0" bIns="0" rtlCol="0"/>
            <a:lstStyle/>
            <a:p>
              <a:endParaRPr dirty="0"/>
            </a:p>
          </p:txBody>
        </p:sp>
      </p:grpSp>
      <p:sp>
        <p:nvSpPr>
          <p:cNvPr id="37" name="object 37"/>
          <p:cNvSpPr txBox="1"/>
          <p:nvPr/>
        </p:nvSpPr>
        <p:spPr>
          <a:xfrm>
            <a:off x="397750" y="3960197"/>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chemeClr val="bg1"/>
                </a:solidFill>
                <a:latin typeface="Arial"/>
                <a:cs typeface="Arial"/>
              </a:rPr>
              <a:t>4</a:t>
            </a:r>
            <a:endParaRPr sz="2800" dirty="0">
              <a:solidFill>
                <a:schemeClr val="bg1"/>
              </a:solidFill>
              <a:latin typeface="Arial"/>
              <a:cs typeface="Arial"/>
            </a:endParaRPr>
          </a:p>
        </p:txBody>
      </p:sp>
      <p:sp>
        <p:nvSpPr>
          <p:cNvPr id="38" name="object 38"/>
          <p:cNvSpPr txBox="1"/>
          <p:nvPr/>
        </p:nvSpPr>
        <p:spPr>
          <a:xfrm>
            <a:off x="8894655" y="4851687"/>
            <a:ext cx="245745" cy="330200"/>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7</a:t>
            </a:fld>
            <a:endParaRPr sz="2400" dirty="0">
              <a:latin typeface="Arial"/>
              <a:cs typeface="Arial"/>
            </a:endParaRPr>
          </a:p>
        </p:txBody>
      </p:sp>
      <p:sp>
        <p:nvSpPr>
          <p:cNvPr id="47" name="object 10"/>
          <p:cNvSpPr txBox="1"/>
          <p:nvPr/>
        </p:nvSpPr>
        <p:spPr>
          <a:xfrm>
            <a:off x="1053314" y="1888340"/>
            <a:ext cx="7481085" cy="382156"/>
          </a:xfrm>
          <a:prstGeom prst="rect">
            <a:avLst/>
          </a:prstGeom>
        </p:spPr>
        <p:txBody>
          <a:bodyPr vert="horz" wrap="square" lIns="0" tIns="12700" rIns="0" bIns="0" rtlCol="0">
            <a:spAutoFit/>
          </a:bodyPr>
          <a:lstStyle/>
          <a:p>
            <a:pPr marL="12700">
              <a:lnSpc>
                <a:spcPct val="100000"/>
              </a:lnSpc>
              <a:spcBef>
                <a:spcPts val="100"/>
              </a:spcBef>
            </a:pPr>
            <a:r>
              <a:rPr lang="fr-FR" sz="2400" b="1" dirty="0">
                <a:solidFill>
                  <a:srgbClr val="0000FF"/>
                </a:solidFill>
                <a:latin typeface="Bookman Old Style" panose="02050604050505020204" pitchFamily="18" charset="0"/>
              </a:rPr>
              <a:t>Chapitre 2 : </a:t>
            </a:r>
            <a:r>
              <a:rPr lang="fr-FR" sz="2000" b="1" dirty="0">
                <a:solidFill>
                  <a:srgbClr val="0000FF"/>
                </a:solidFill>
                <a:latin typeface="Bookman Old Style" panose="02050604050505020204" pitchFamily="18" charset="0"/>
              </a:rPr>
              <a:t>Quadripôles</a:t>
            </a:r>
            <a:endParaRPr sz="2000" b="1" dirty="0">
              <a:solidFill>
                <a:srgbClr val="0000FF"/>
              </a:solidFill>
              <a:latin typeface="Bookman Old Style" panose="02050604050505020204" pitchFamily="18" charset="0"/>
            </a:endParaRPr>
          </a:p>
        </p:txBody>
      </p:sp>
      <p:sp>
        <p:nvSpPr>
          <p:cNvPr id="48" name="object 10"/>
          <p:cNvSpPr txBox="1"/>
          <p:nvPr/>
        </p:nvSpPr>
        <p:spPr>
          <a:xfrm>
            <a:off x="1048448" y="2975243"/>
            <a:ext cx="8781351" cy="382156"/>
          </a:xfrm>
          <a:prstGeom prst="rect">
            <a:avLst/>
          </a:prstGeom>
        </p:spPr>
        <p:txBody>
          <a:bodyPr vert="horz" wrap="square" lIns="0" tIns="12700" rIns="0" bIns="0" rtlCol="0">
            <a:spAutoFit/>
          </a:bodyPr>
          <a:lstStyle/>
          <a:p>
            <a:pPr marL="12700">
              <a:lnSpc>
                <a:spcPct val="100000"/>
              </a:lnSpc>
              <a:spcBef>
                <a:spcPts val="100"/>
              </a:spcBef>
            </a:pPr>
            <a:r>
              <a:rPr lang="fr-FR" sz="2400" b="1" dirty="0">
                <a:solidFill>
                  <a:schemeClr val="accent6">
                    <a:lumMod val="50000"/>
                  </a:schemeClr>
                </a:solidFill>
                <a:latin typeface="Bookman Old Style" panose="02050604050505020204" pitchFamily="18" charset="0"/>
              </a:rPr>
              <a:t>Chapitre 3 : </a:t>
            </a:r>
            <a:r>
              <a:rPr lang="fr-FR" sz="2000" b="1" dirty="0">
                <a:solidFill>
                  <a:schemeClr val="accent6">
                    <a:lumMod val="50000"/>
                  </a:schemeClr>
                </a:solidFill>
                <a:latin typeface="Bookman Old Style" panose="02050604050505020204" pitchFamily="18" charset="0"/>
              </a:rPr>
              <a:t>Filtres Passifs</a:t>
            </a:r>
            <a:endParaRPr sz="2000" b="1" dirty="0">
              <a:solidFill>
                <a:schemeClr val="accent6">
                  <a:lumMod val="50000"/>
                </a:schemeClr>
              </a:solidFill>
              <a:latin typeface="Bookman Old Style" panose="02050604050505020204" pitchFamily="18" charset="0"/>
            </a:endParaRPr>
          </a:p>
        </p:txBody>
      </p:sp>
      <p:sp>
        <p:nvSpPr>
          <p:cNvPr id="49" name="object 10"/>
          <p:cNvSpPr txBox="1"/>
          <p:nvPr/>
        </p:nvSpPr>
        <p:spPr>
          <a:xfrm>
            <a:off x="1023284" y="3992043"/>
            <a:ext cx="8077200" cy="382156"/>
          </a:xfrm>
          <a:prstGeom prst="rect">
            <a:avLst/>
          </a:prstGeom>
        </p:spPr>
        <p:txBody>
          <a:bodyPr vert="horz" wrap="square" lIns="0" tIns="12700" rIns="0" bIns="0" rtlCol="0">
            <a:spAutoFit/>
          </a:bodyPr>
          <a:lstStyle/>
          <a:p>
            <a:pPr marL="12700">
              <a:spcBef>
                <a:spcPts val="100"/>
              </a:spcBef>
            </a:pPr>
            <a:r>
              <a:rPr lang="fr-FR" sz="2400" b="1" dirty="0">
                <a:solidFill>
                  <a:srgbClr val="CC00CC"/>
                </a:solidFill>
                <a:latin typeface="Bookman Old Style" panose="02050604050505020204" pitchFamily="18" charset="0"/>
              </a:rPr>
              <a:t>Chapitre 4 : Composants Electroniques de base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fill="hold"/>
                                        <p:tgtEl>
                                          <p:spTgt spid="16"/>
                                        </p:tgtEl>
                                        <p:attrNameLst>
                                          <p:attrName>ppt_x</p:attrName>
                                        </p:attrNameLst>
                                      </p:cBhvr>
                                      <p:tavLst>
                                        <p:tav tm="0">
                                          <p:val>
                                            <p:strVal val="#ppt_x"/>
                                          </p:val>
                                        </p:tav>
                                        <p:tav tm="100000">
                                          <p:val>
                                            <p:strVal val="#ppt_x"/>
                                          </p:val>
                                        </p:tav>
                                      </p:tavLst>
                                    </p:anim>
                                    <p:anim calcmode="lin" valueType="num">
                                      <p:cBhvr additive="base">
                                        <p:cTn id="8" dur="500" fill="hold"/>
                                        <p:tgtEl>
                                          <p:spTgt spid="16"/>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500" fill="hold"/>
                                        <p:tgtEl>
                                          <p:spTgt spid="11"/>
                                        </p:tgtEl>
                                        <p:attrNameLst>
                                          <p:attrName>ppt_x</p:attrName>
                                        </p:attrNameLst>
                                      </p:cBhvr>
                                      <p:tavLst>
                                        <p:tav tm="0">
                                          <p:val>
                                            <p:strVal val="#ppt_x"/>
                                          </p:val>
                                        </p:tav>
                                        <p:tav tm="100000">
                                          <p:val>
                                            <p:strVal val="#ppt_x"/>
                                          </p:val>
                                        </p:tav>
                                      </p:tavLst>
                                    </p:anim>
                                    <p:anim calcmode="lin" valueType="num">
                                      <p:cBhvr additive="base">
                                        <p:cTn id="12" dur="500" fill="hold"/>
                                        <p:tgtEl>
                                          <p:spTgt spid="11"/>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ppt_x"/>
                                          </p:val>
                                        </p:tav>
                                        <p:tav tm="100000">
                                          <p:val>
                                            <p:strVal val="#ppt_x"/>
                                          </p:val>
                                        </p:tav>
                                      </p:tavLst>
                                    </p:anim>
                                    <p:anim calcmode="lin" valueType="num">
                                      <p:cBhvr additive="base">
                                        <p:cTn id="16"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2"/>
                                        </p:tgtEl>
                                        <p:attrNameLst>
                                          <p:attrName>style.visibility</p:attrName>
                                        </p:attrNameLst>
                                      </p:cBhvr>
                                      <p:to>
                                        <p:strVal val="visible"/>
                                      </p:to>
                                    </p:set>
                                    <p:anim calcmode="lin" valueType="num">
                                      <p:cBhvr additive="base">
                                        <p:cTn id="21" dur="500" fill="hold"/>
                                        <p:tgtEl>
                                          <p:spTgt spid="22"/>
                                        </p:tgtEl>
                                        <p:attrNameLst>
                                          <p:attrName>ppt_x</p:attrName>
                                        </p:attrNameLst>
                                      </p:cBhvr>
                                      <p:tavLst>
                                        <p:tav tm="0">
                                          <p:val>
                                            <p:strVal val="#ppt_x"/>
                                          </p:val>
                                        </p:tav>
                                        <p:tav tm="100000">
                                          <p:val>
                                            <p:strVal val="#ppt_x"/>
                                          </p:val>
                                        </p:tav>
                                      </p:tavLst>
                                    </p:anim>
                                    <p:anim calcmode="lin" valueType="num">
                                      <p:cBhvr additive="base">
                                        <p:cTn id="22" dur="500" fill="hold"/>
                                        <p:tgtEl>
                                          <p:spTgt spid="22"/>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47"/>
                                        </p:tgtEl>
                                        <p:attrNameLst>
                                          <p:attrName>style.visibility</p:attrName>
                                        </p:attrNameLst>
                                      </p:cBhvr>
                                      <p:to>
                                        <p:strVal val="visible"/>
                                      </p:to>
                                    </p:set>
                                    <p:anim calcmode="lin" valueType="num">
                                      <p:cBhvr additive="base">
                                        <p:cTn id="29" dur="500" fill="hold"/>
                                        <p:tgtEl>
                                          <p:spTgt spid="47"/>
                                        </p:tgtEl>
                                        <p:attrNameLst>
                                          <p:attrName>ppt_x</p:attrName>
                                        </p:attrNameLst>
                                      </p:cBhvr>
                                      <p:tavLst>
                                        <p:tav tm="0">
                                          <p:val>
                                            <p:strVal val="#ppt_x"/>
                                          </p:val>
                                        </p:tav>
                                        <p:tav tm="100000">
                                          <p:val>
                                            <p:strVal val="#ppt_x"/>
                                          </p:val>
                                        </p:tav>
                                      </p:tavLst>
                                    </p:anim>
                                    <p:anim calcmode="lin" valueType="num">
                                      <p:cBhvr additive="base">
                                        <p:cTn id="30" dur="500" fill="hold"/>
                                        <p:tgtEl>
                                          <p:spTgt spid="47"/>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1000"/>
                                        <p:tgtEl>
                                          <p:spTgt spid="30"/>
                                        </p:tgtEl>
                                      </p:cBhvr>
                                    </p:animEffect>
                                    <p:anim calcmode="lin" valueType="num">
                                      <p:cBhvr>
                                        <p:cTn id="36" dur="1000" fill="hold"/>
                                        <p:tgtEl>
                                          <p:spTgt spid="30"/>
                                        </p:tgtEl>
                                        <p:attrNameLst>
                                          <p:attrName>ppt_x</p:attrName>
                                        </p:attrNameLst>
                                      </p:cBhvr>
                                      <p:tavLst>
                                        <p:tav tm="0">
                                          <p:val>
                                            <p:strVal val="#ppt_x"/>
                                          </p:val>
                                        </p:tav>
                                        <p:tav tm="100000">
                                          <p:val>
                                            <p:strVal val="#ppt_x"/>
                                          </p:val>
                                        </p:tav>
                                      </p:tavLst>
                                    </p:anim>
                                    <p:anim calcmode="lin" valueType="num">
                                      <p:cBhvr>
                                        <p:cTn id="37" dur="1000" fill="hold"/>
                                        <p:tgtEl>
                                          <p:spTgt spid="3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1000"/>
                                        <p:tgtEl>
                                          <p:spTgt spid="25"/>
                                        </p:tgtEl>
                                      </p:cBhvr>
                                    </p:animEffect>
                                    <p:anim calcmode="lin" valueType="num">
                                      <p:cBhvr>
                                        <p:cTn id="41" dur="1000" fill="hold"/>
                                        <p:tgtEl>
                                          <p:spTgt spid="25"/>
                                        </p:tgtEl>
                                        <p:attrNameLst>
                                          <p:attrName>ppt_x</p:attrName>
                                        </p:attrNameLst>
                                      </p:cBhvr>
                                      <p:tavLst>
                                        <p:tav tm="0">
                                          <p:val>
                                            <p:strVal val="#ppt_x"/>
                                          </p:val>
                                        </p:tav>
                                        <p:tav tm="100000">
                                          <p:val>
                                            <p:strVal val="#ppt_x"/>
                                          </p:val>
                                        </p:tav>
                                      </p:tavLst>
                                    </p:anim>
                                    <p:anim calcmode="lin" valueType="num">
                                      <p:cBhvr>
                                        <p:cTn id="42" dur="1000" fill="hold"/>
                                        <p:tgtEl>
                                          <p:spTgt spid="25"/>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48"/>
                                        </p:tgtEl>
                                        <p:attrNameLst>
                                          <p:attrName>style.visibility</p:attrName>
                                        </p:attrNameLst>
                                      </p:cBhvr>
                                      <p:to>
                                        <p:strVal val="visible"/>
                                      </p:to>
                                    </p:set>
                                    <p:animEffect transition="in" filter="fade">
                                      <p:cBhvr>
                                        <p:cTn id="45" dur="1000"/>
                                        <p:tgtEl>
                                          <p:spTgt spid="48"/>
                                        </p:tgtEl>
                                      </p:cBhvr>
                                    </p:animEffect>
                                    <p:anim calcmode="lin" valueType="num">
                                      <p:cBhvr>
                                        <p:cTn id="46" dur="1000" fill="hold"/>
                                        <p:tgtEl>
                                          <p:spTgt spid="48"/>
                                        </p:tgtEl>
                                        <p:attrNameLst>
                                          <p:attrName>ppt_x</p:attrName>
                                        </p:attrNameLst>
                                      </p:cBhvr>
                                      <p:tavLst>
                                        <p:tav tm="0">
                                          <p:val>
                                            <p:strVal val="#ppt_x"/>
                                          </p:val>
                                        </p:tav>
                                        <p:tav tm="100000">
                                          <p:val>
                                            <p:strVal val="#ppt_x"/>
                                          </p:val>
                                        </p:tav>
                                      </p:tavLst>
                                    </p:anim>
                                    <p:anim calcmode="lin" valueType="num">
                                      <p:cBhvr>
                                        <p:cTn id="47" dur="10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42" presetClass="entr" presetSubtype="0" fill="hold" grpId="0" nodeType="click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1000"/>
                                        <p:tgtEl>
                                          <p:spTgt spid="37"/>
                                        </p:tgtEl>
                                      </p:cBhvr>
                                    </p:animEffect>
                                    <p:anim calcmode="lin" valueType="num">
                                      <p:cBhvr>
                                        <p:cTn id="53" dur="1000" fill="hold"/>
                                        <p:tgtEl>
                                          <p:spTgt spid="37"/>
                                        </p:tgtEl>
                                        <p:attrNameLst>
                                          <p:attrName>ppt_x</p:attrName>
                                        </p:attrNameLst>
                                      </p:cBhvr>
                                      <p:tavLst>
                                        <p:tav tm="0">
                                          <p:val>
                                            <p:strVal val="#ppt_x"/>
                                          </p:val>
                                        </p:tav>
                                        <p:tav tm="100000">
                                          <p:val>
                                            <p:strVal val="#ppt_x"/>
                                          </p:val>
                                        </p:tav>
                                      </p:tavLst>
                                    </p:anim>
                                    <p:anim calcmode="lin" valueType="num">
                                      <p:cBhvr>
                                        <p:cTn id="54" dur="1000" fill="hold"/>
                                        <p:tgtEl>
                                          <p:spTgt spid="37"/>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1000"/>
                                        <p:tgtEl>
                                          <p:spTgt spid="32"/>
                                        </p:tgtEl>
                                      </p:cBhvr>
                                    </p:animEffect>
                                    <p:anim calcmode="lin" valueType="num">
                                      <p:cBhvr>
                                        <p:cTn id="58" dur="1000" fill="hold"/>
                                        <p:tgtEl>
                                          <p:spTgt spid="32"/>
                                        </p:tgtEl>
                                        <p:attrNameLst>
                                          <p:attrName>ppt_x</p:attrName>
                                        </p:attrNameLst>
                                      </p:cBhvr>
                                      <p:tavLst>
                                        <p:tav tm="0">
                                          <p:val>
                                            <p:strVal val="#ppt_x"/>
                                          </p:val>
                                        </p:tav>
                                        <p:tav tm="100000">
                                          <p:val>
                                            <p:strVal val="#ppt_x"/>
                                          </p:val>
                                        </p:tav>
                                      </p:tavLst>
                                    </p:anim>
                                    <p:anim calcmode="lin" valueType="num">
                                      <p:cBhvr>
                                        <p:cTn id="59" dur="1000" fill="hold"/>
                                        <p:tgtEl>
                                          <p:spTgt spid="32"/>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49"/>
                                        </p:tgtEl>
                                        <p:attrNameLst>
                                          <p:attrName>style.visibility</p:attrName>
                                        </p:attrNameLst>
                                      </p:cBhvr>
                                      <p:to>
                                        <p:strVal val="visible"/>
                                      </p:to>
                                    </p:set>
                                    <p:animEffect transition="in" filter="fade">
                                      <p:cBhvr>
                                        <p:cTn id="62" dur="1000"/>
                                        <p:tgtEl>
                                          <p:spTgt spid="49"/>
                                        </p:tgtEl>
                                      </p:cBhvr>
                                    </p:animEffect>
                                    <p:anim calcmode="lin" valueType="num">
                                      <p:cBhvr>
                                        <p:cTn id="63" dur="1000" fill="hold"/>
                                        <p:tgtEl>
                                          <p:spTgt spid="49"/>
                                        </p:tgtEl>
                                        <p:attrNameLst>
                                          <p:attrName>ppt_x</p:attrName>
                                        </p:attrNameLst>
                                      </p:cBhvr>
                                      <p:tavLst>
                                        <p:tav tm="0">
                                          <p:val>
                                            <p:strVal val="#ppt_x"/>
                                          </p:val>
                                        </p:tav>
                                        <p:tav tm="100000">
                                          <p:val>
                                            <p:strVal val="#ppt_x"/>
                                          </p:val>
                                        </p:tav>
                                      </p:tavLst>
                                    </p:anim>
                                    <p:anim calcmode="lin" valueType="num">
                                      <p:cBhvr>
                                        <p:cTn id="64" dur="1000" fill="hold"/>
                                        <p:tgtEl>
                                          <p:spTgt spid="4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6" grpId="0"/>
      <p:bldP spid="22" grpId="0"/>
      <p:bldP spid="30" grpId="0"/>
      <p:bldP spid="37" grpId="0"/>
      <p:bldP spid="47" grpId="0"/>
      <p:bldP spid="48" grpId="0"/>
      <p:bldP spid="49"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0" y="4781550"/>
            <a:ext cx="9144000" cy="0"/>
          </a:xfrm>
          <a:custGeom>
            <a:avLst/>
            <a:gdLst/>
            <a:ahLst/>
            <a:cxnLst/>
            <a:rect l="l" t="t" r="r" b="b"/>
            <a:pathLst>
              <a:path w="9144000">
                <a:moveTo>
                  <a:pt x="0" y="0"/>
                </a:moveTo>
                <a:lnTo>
                  <a:pt x="9144000" y="1"/>
                </a:lnTo>
              </a:path>
            </a:pathLst>
          </a:custGeom>
          <a:ln w="25400">
            <a:solidFill>
              <a:schemeClr val="tx1"/>
            </a:solidFill>
          </a:ln>
        </p:spPr>
        <p:txBody>
          <a:bodyPr wrap="square" lIns="0" tIns="0" rIns="0" bIns="0" rtlCol="0"/>
          <a:lstStyle/>
          <a:p>
            <a:endParaRPr/>
          </a:p>
        </p:txBody>
      </p:sp>
      <p:sp>
        <p:nvSpPr>
          <p:cNvPr id="3" name="object 3"/>
          <p:cNvSpPr txBox="1">
            <a:spLocks noGrp="1"/>
          </p:cNvSpPr>
          <p:nvPr>
            <p:ph type="title"/>
          </p:nvPr>
        </p:nvSpPr>
        <p:spPr>
          <a:xfrm>
            <a:off x="894657" y="137667"/>
            <a:ext cx="966472" cy="443711"/>
          </a:xfrm>
          <a:prstGeom prst="rect">
            <a:avLst/>
          </a:prstGeom>
        </p:spPr>
        <p:txBody>
          <a:bodyPr vert="horz" wrap="square" lIns="0" tIns="12700" rIns="0" bIns="0" rtlCol="0">
            <a:spAutoFit/>
          </a:bodyPr>
          <a:lstStyle/>
          <a:p>
            <a:pPr marL="12700">
              <a:lnSpc>
                <a:spcPct val="100000"/>
              </a:lnSpc>
              <a:spcBef>
                <a:spcPts val="100"/>
              </a:spcBef>
            </a:pPr>
            <a:r>
              <a:rPr spc="-5" dirty="0">
                <a:latin typeface="Bookman Old Style" panose="02050604050505020204" pitchFamily="18" charset="0"/>
              </a:rPr>
              <a:t>Pl</a:t>
            </a:r>
            <a:r>
              <a:rPr spc="5" dirty="0">
                <a:latin typeface="Bookman Old Style" panose="02050604050505020204" pitchFamily="18" charset="0"/>
              </a:rPr>
              <a:t>a</a:t>
            </a:r>
            <a:r>
              <a:rPr dirty="0">
                <a:latin typeface="Bookman Old Style" panose="02050604050505020204" pitchFamily="18" charset="0"/>
              </a:rPr>
              <a:t>n</a:t>
            </a:r>
          </a:p>
        </p:txBody>
      </p:sp>
      <p:grpSp>
        <p:nvGrpSpPr>
          <p:cNvPr id="4" name="object 4"/>
          <p:cNvGrpSpPr/>
          <p:nvPr/>
        </p:nvGrpSpPr>
        <p:grpSpPr>
          <a:xfrm>
            <a:off x="1854779" y="356344"/>
            <a:ext cx="7149465" cy="156845"/>
            <a:chOff x="1875130" y="356345"/>
            <a:chExt cx="7149465" cy="156845"/>
          </a:xfrm>
          <a:solidFill>
            <a:schemeClr val="tx1"/>
          </a:solidFill>
        </p:grpSpPr>
        <p:sp>
          <p:nvSpPr>
            <p:cNvPr id="5" name="object 5"/>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6" name="object 6"/>
            <p:cNvSpPr/>
            <p:nvPr/>
          </p:nvSpPr>
          <p:spPr>
            <a:xfrm>
              <a:off x="1881480" y="362695"/>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grpSp>
        <p:nvGrpSpPr>
          <p:cNvPr id="7" name="object 7"/>
          <p:cNvGrpSpPr/>
          <p:nvPr/>
        </p:nvGrpSpPr>
        <p:grpSpPr>
          <a:xfrm>
            <a:off x="82778" y="356345"/>
            <a:ext cx="697230" cy="156845"/>
            <a:chOff x="82778" y="356345"/>
            <a:chExt cx="697230" cy="156845"/>
          </a:xfrm>
          <a:solidFill>
            <a:schemeClr val="tx1"/>
          </a:solidFill>
        </p:grpSpPr>
        <p:sp>
          <p:nvSpPr>
            <p:cNvPr id="8" name="object 8"/>
            <p:cNvSpPr/>
            <p:nvPr/>
          </p:nvSpPr>
          <p:spPr>
            <a:xfrm>
              <a:off x="89128" y="362695"/>
              <a:ext cx="684530" cy="144145"/>
            </a:xfrm>
            <a:custGeom>
              <a:avLst/>
              <a:gdLst/>
              <a:ahLst/>
              <a:cxnLst/>
              <a:rect l="l" t="t" r="r" b="b"/>
              <a:pathLst>
                <a:path w="684530" h="144145">
                  <a:moveTo>
                    <a:pt x="611999" y="0"/>
                  </a:moveTo>
                  <a:lnTo>
                    <a:pt x="72000" y="0"/>
                  </a:lnTo>
                  <a:lnTo>
                    <a:pt x="43974" y="5658"/>
                  </a:lnTo>
                  <a:lnTo>
                    <a:pt x="21088" y="21088"/>
                  </a:lnTo>
                  <a:lnTo>
                    <a:pt x="5658" y="43974"/>
                  </a:lnTo>
                  <a:lnTo>
                    <a:pt x="0" y="71998"/>
                  </a:lnTo>
                  <a:lnTo>
                    <a:pt x="5658" y="100024"/>
                  </a:lnTo>
                  <a:lnTo>
                    <a:pt x="21088" y="122910"/>
                  </a:lnTo>
                  <a:lnTo>
                    <a:pt x="43974" y="138340"/>
                  </a:lnTo>
                  <a:lnTo>
                    <a:pt x="72000" y="143998"/>
                  </a:lnTo>
                  <a:lnTo>
                    <a:pt x="611998" y="144000"/>
                  </a:lnTo>
                  <a:lnTo>
                    <a:pt x="640024" y="138342"/>
                  </a:lnTo>
                  <a:lnTo>
                    <a:pt x="662910" y="122912"/>
                  </a:lnTo>
                  <a:lnTo>
                    <a:pt x="678340" y="100025"/>
                  </a:lnTo>
                  <a:lnTo>
                    <a:pt x="683999" y="72000"/>
                  </a:lnTo>
                  <a:lnTo>
                    <a:pt x="678341" y="43974"/>
                  </a:lnTo>
                  <a:lnTo>
                    <a:pt x="662911" y="21088"/>
                  </a:lnTo>
                  <a:lnTo>
                    <a:pt x="640025" y="5658"/>
                  </a:lnTo>
                  <a:lnTo>
                    <a:pt x="611999"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89128" y="362695"/>
              <a:ext cx="684530" cy="144145"/>
            </a:xfrm>
            <a:custGeom>
              <a:avLst/>
              <a:gdLst/>
              <a:ahLst/>
              <a:cxnLst/>
              <a:rect l="l" t="t" r="r" b="b"/>
              <a:pathLst>
                <a:path w="684530" h="144145">
                  <a:moveTo>
                    <a:pt x="0" y="72000"/>
                  </a:moveTo>
                  <a:lnTo>
                    <a:pt x="5658" y="43974"/>
                  </a:lnTo>
                  <a:lnTo>
                    <a:pt x="21088" y="21088"/>
                  </a:lnTo>
                  <a:lnTo>
                    <a:pt x="43974" y="5658"/>
                  </a:lnTo>
                  <a:lnTo>
                    <a:pt x="72000" y="0"/>
                  </a:lnTo>
                  <a:lnTo>
                    <a:pt x="611999" y="0"/>
                  </a:lnTo>
                  <a:lnTo>
                    <a:pt x="640025" y="5658"/>
                  </a:lnTo>
                  <a:lnTo>
                    <a:pt x="662911" y="21088"/>
                  </a:lnTo>
                  <a:lnTo>
                    <a:pt x="678341" y="43974"/>
                  </a:lnTo>
                  <a:lnTo>
                    <a:pt x="683999" y="72000"/>
                  </a:lnTo>
                  <a:lnTo>
                    <a:pt x="678340" y="100026"/>
                  </a:lnTo>
                  <a:lnTo>
                    <a:pt x="662910" y="122912"/>
                  </a:lnTo>
                  <a:lnTo>
                    <a:pt x="640024" y="138342"/>
                  </a:lnTo>
                  <a:lnTo>
                    <a:pt x="611998" y="144000"/>
                  </a:lnTo>
                  <a:lnTo>
                    <a:pt x="72000" y="144000"/>
                  </a:lnTo>
                  <a:lnTo>
                    <a:pt x="43974" y="138341"/>
                  </a:lnTo>
                  <a:lnTo>
                    <a:pt x="21088" y="122911"/>
                  </a:lnTo>
                  <a:lnTo>
                    <a:pt x="5658" y="100025"/>
                  </a:lnTo>
                  <a:lnTo>
                    <a:pt x="0" y="71999"/>
                  </a:lnTo>
                  <a:close/>
                </a:path>
              </a:pathLst>
            </a:custGeom>
            <a:grpFill/>
            <a:ln w="12700">
              <a:solidFill>
                <a:schemeClr val="tx1"/>
              </a:solidFill>
            </a:ln>
          </p:spPr>
          <p:txBody>
            <a:bodyPr wrap="square" lIns="0" tIns="0" rIns="0" bIns="0" rtlCol="0"/>
            <a:lstStyle/>
            <a:p>
              <a:endParaRPr/>
            </a:p>
          </p:txBody>
        </p:sp>
      </p:grpSp>
      <p:sp>
        <p:nvSpPr>
          <p:cNvPr id="22" name="object 22"/>
          <p:cNvSpPr txBox="1"/>
          <p:nvPr/>
        </p:nvSpPr>
        <p:spPr>
          <a:xfrm>
            <a:off x="446881" y="1509049"/>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2</a:t>
            </a:r>
            <a:endParaRPr sz="2800" dirty="0">
              <a:latin typeface="Arial"/>
              <a:cs typeface="Arial"/>
            </a:endParaRPr>
          </a:p>
        </p:txBody>
      </p:sp>
      <p:sp>
        <p:nvSpPr>
          <p:cNvPr id="38" name="object 38"/>
          <p:cNvSpPr txBox="1"/>
          <p:nvPr/>
        </p:nvSpPr>
        <p:spPr>
          <a:xfrm>
            <a:off x="8894655" y="4851687"/>
            <a:ext cx="245745" cy="330200"/>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8</a:t>
            </a:fld>
            <a:endParaRPr sz="2400" dirty="0">
              <a:latin typeface="Arial"/>
              <a:cs typeface="Arial"/>
            </a:endParaRPr>
          </a:p>
        </p:txBody>
      </p:sp>
      <p:sp>
        <p:nvSpPr>
          <p:cNvPr id="17" name="object 10">
            <a:extLst>
              <a:ext uri="{FF2B5EF4-FFF2-40B4-BE49-F238E27FC236}">
                <a16:creationId xmlns:a16="http://schemas.microsoft.com/office/drawing/2014/main" id="{868BE146-27EA-FE43-C50C-5A003F633563}"/>
              </a:ext>
            </a:extLst>
          </p:cNvPr>
          <p:cNvSpPr txBox="1"/>
          <p:nvPr/>
        </p:nvSpPr>
        <p:spPr>
          <a:xfrm>
            <a:off x="1905000" y="1065338"/>
            <a:ext cx="6248400" cy="382156"/>
          </a:xfrm>
          <a:prstGeom prst="rect">
            <a:avLst/>
          </a:prstGeom>
        </p:spPr>
        <p:txBody>
          <a:bodyPr vert="horz" wrap="square" lIns="0" tIns="12700" rIns="0" bIns="0" rtlCol="0">
            <a:spAutoFit/>
          </a:bodyPr>
          <a:lstStyle/>
          <a:p>
            <a:pPr marL="12700">
              <a:lnSpc>
                <a:spcPct val="100000"/>
              </a:lnSpc>
              <a:spcBef>
                <a:spcPts val="100"/>
              </a:spcBef>
            </a:pPr>
            <a:r>
              <a:rPr lang="fr-FR" sz="2400" b="1" dirty="0">
                <a:latin typeface="Bookman Old Style" panose="02050604050505020204" pitchFamily="18" charset="0"/>
              </a:rPr>
              <a:t>Chapitre 1 : </a:t>
            </a:r>
            <a:r>
              <a:rPr lang="fr-FR" sz="2000" b="1" dirty="0">
                <a:latin typeface="Bookman Old Style" panose="02050604050505020204" pitchFamily="18" charset="0"/>
              </a:rPr>
              <a:t>Électrocinétique</a:t>
            </a:r>
            <a:endParaRPr sz="2000" dirty="0">
              <a:latin typeface="Bookman Old Style" panose="02050604050505020204" pitchFamily="18" charset="0"/>
              <a:cs typeface="Calibri"/>
            </a:endParaRPr>
          </a:p>
        </p:txBody>
      </p:sp>
      <p:grpSp>
        <p:nvGrpSpPr>
          <p:cNvPr id="18" name="object 11">
            <a:extLst>
              <a:ext uri="{FF2B5EF4-FFF2-40B4-BE49-F238E27FC236}">
                <a16:creationId xmlns:a16="http://schemas.microsoft.com/office/drawing/2014/main" id="{4C0FFD69-3304-CBE2-A2A2-FFDCF696975D}"/>
              </a:ext>
            </a:extLst>
          </p:cNvPr>
          <p:cNvGrpSpPr/>
          <p:nvPr/>
        </p:nvGrpSpPr>
        <p:grpSpPr>
          <a:xfrm>
            <a:off x="1128513" y="884640"/>
            <a:ext cx="500380" cy="802640"/>
            <a:chOff x="482739" y="1033930"/>
            <a:chExt cx="500380" cy="802640"/>
          </a:xfrm>
          <a:solidFill>
            <a:schemeClr val="tx1"/>
          </a:solidFill>
        </p:grpSpPr>
        <p:sp>
          <p:nvSpPr>
            <p:cNvPr id="19" name="object 12">
              <a:extLst>
                <a:ext uri="{FF2B5EF4-FFF2-40B4-BE49-F238E27FC236}">
                  <a16:creationId xmlns:a16="http://schemas.microsoft.com/office/drawing/2014/main" id="{A7FFF4D5-AC81-E6D7-6415-EC40705A2549}"/>
                </a:ext>
              </a:extLst>
            </p:cNvPr>
            <p:cNvSpPr/>
            <p:nvPr/>
          </p:nvSpPr>
          <p:spPr>
            <a:xfrm>
              <a:off x="491437" y="1072565"/>
              <a:ext cx="487045" cy="759460"/>
            </a:xfrm>
            <a:custGeom>
              <a:avLst/>
              <a:gdLst/>
              <a:ahLst/>
              <a:cxnLst/>
              <a:rect l="l" t="t" r="r" b="b"/>
              <a:pathLst>
                <a:path w="487044" h="759460">
                  <a:moveTo>
                    <a:pt x="138049" y="0"/>
                  </a:moveTo>
                  <a:lnTo>
                    <a:pt x="149948" y="30211"/>
                  </a:lnTo>
                  <a:lnTo>
                    <a:pt x="155121" y="65214"/>
                  </a:lnTo>
                  <a:lnTo>
                    <a:pt x="154425" y="104347"/>
                  </a:lnTo>
                  <a:lnTo>
                    <a:pt x="148716" y="146947"/>
                  </a:lnTo>
                  <a:lnTo>
                    <a:pt x="138850" y="192353"/>
                  </a:lnTo>
                  <a:lnTo>
                    <a:pt x="125683" y="239903"/>
                  </a:lnTo>
                  <a:lnTo>
                    <a:pt x="110074" y="288935"/>
                  </a:lnTo>
                  <a:lnTo>
                    <a:pt x="92877" y="338787"/>
                  </a:lnTo>
                  <a:lnTo>
                    <a:pt x="57147" y="438303"/>
                  </a:lnTo>
                  <a:lnTo>
                    <a:pt x="40327" y="486644"/>
                  </a:lnTo>
                  <a:lnTo>
                    <a:pt x="25346" y="533157"/>
                  </a:lnTo>
                  <a:lnTo>
                    <a:pt x="13060" y="577181"/>
                  </a:lnTo>
                  <a:lnTo>
                    <a:pt x="4326" y="618053"/>
                  </a:lnTo>
                  <a:lnTo>
                    <a:pt x="0" y="655113"/>
                  </a:lnTo>
                  <a:lnTo>
                    <a:pt x="938" y="687697"/>
                  </a:lnTo>
                  <a:lnTo>
                    <a:pt x="7997" y="715144"/>
                  </a:lnTo>
                  <a:lnTo>
                    <a:pt x="22033" y="736793"/>
                  </a:lnTo>
                  <a:lnTo>
                    <a:pt x="45876" y="753137"/>
                  </a:lnTo>
                  <a:lnTo>
                    <a:pt x="73288" y="759115"/>
                  </a:lnTo>
                  <a:lnTo>
                    <a:pt x="100535" y="754671"/>
                  </a:lnTo>
                  <a:lnTo>
                    <a:pt x="123879" y="739749"/>
                  </a:lnTo>
                  <a:lnTo>
                    <a:pt x="476946" y="386135"/>
                  </a:lnTo>
                  <a:lnTo>
                    <a:pt x="484086" y="375261"/>
                  </a:lnTo>
                  <a:lnTo>
                    <a:pt x="486466" y="362779"/>
                  </a:lnTo>
                  <a:lnTo>
                    <a:pt x="484086" y="350296"/>
                  </a:lnTo>
                  <a:lnTo>
                    <a:pt x="476946" y="339421"/>
                  </a:lnTo>
                  <a:lnTo>
                    <a:pt x="138049" y="0"/>
                  </a:lnTo>
                  <a:close/>
                </a:path>
              </a:pathLst>
            </a:custGeom>
            <a:grpFill/>
            <a:ln>
              <a:solidFill>
                <a:schemeClr val="tx1"/>
              </a:solidFill>
            </a:ln>
          </p:spPr>
          <p:txBody>
            <a:bodyPr wrap="square" lIns="0" tIns="0" rIns="0" bIns="0" rtlCol="0"/>
            <a:lstStyle/>
            <a:p>
              <a:endParaRPr/>
            </a:p>
          </p:txBody>
        </p:sp>
        <p:sp>
          <p:nvSpPr>
            <p:cNvPr id="20" name="object 13">
              <a:extLst>
                <a:ext uri="{FF2B5EF4-FFF2-40B4-BE49-F238E27FC236}">
                  <a16:creationId xmlns:a16="http://schemas.microsoft.com/office/drawing/2014/main" id="{8095066D-595C-6F7E-0B0D-60571A5F1785}"/>
                </a:ext>
              </a:extLst>
            </p:cNvPr>
            <p:cNvSpPr/>
            <p:nvPr/>
          </p:nvSpPr>
          <p:spPr>
            <a:xfrm>
              <a:off x="491437" y="1072565"/>
              <a:ext cx="487045" cy="759460"/>
            </a:xfrm>
            <a:custGeom>
              <a:avLst/>
              <a:gdLst/>
              <a:ahLst/>
              <a:cxnLst/>
              <a:rect l="l" t="t" r="r" b="b"/>
              <a:pathLst>
                <a:path w="487044" h="759460">
                  <a:moveTo>
                    <a:pt x="138049" y="0"/>
                  </a:moveTo>
                  <a:lnTo>
                    <a:pt x="149948" y="30211"/>
                  </a:lnTo>
                  <a:lnTo>
                    <a:pt x="155121" y="65214"/>
                  </a:lnTo>
                  <a:lnTo>
                    <a:pt x="154425" y="104347"/>
                  </a:lnTo>
                  <a:lnTo>
                    <a:pt x="148716" y="146947"/>
                  </a:lnTo>
                  <a:lnTo>
                    <a:pt x="138850" y="192353"/>
                  </a:lnTo>
                  <a:lnTo>
                    <a:pt x="125683" y="239903"/>
                  </a:lnTo>
                  <a:lnTo>
                    <a:pt x="110074" y="288935"/>
                  </a:lnTo>
                  <a:lnTo>
                    <a:pt x="92877" y="338787"/>
                  </a:lnTo>
                  <a:lnTo>
                    <a:pt x="74949" y="388797"/>
                  </a:lnTo>
                  <a:lnTo>
                    <a:pt x="57147" y="438303"/>
                  </a:lnTo>
                  <a:lnTo>
                    <a:pt x="40327" y="486644"/>
                  </a:lnTo>
                  <a:lnTo>
                    <a:pt x="25346" y="533157"/>
                  </a:lnTo>
                  <a:lnTo>
                    <a:pt x="13060" y="577181"/>
                  </a:lnTo>
                  <a:lnTo>
                    <a:pt x="4326" y="618053"/>
                  </a:lnTo>
                  <a:lnTo>
                    <a:pt x="0" y="655113"/>
                  </a:lnTo>
                  <a:lnTo>
                    <a:pt x="938" y="687697"/>
                  </a:lnTo>
                  <a:lnTo>
                    <a:pt x="7997" y="715144"/>
                  </a:lnTo>
                  <a:lnTo>
                    <a:pt x="22033" y="736793"/>
                  </a:lnTo>
                  <a:lnTo>
                    <a:pt x="45876" y="753137"/>
                  </a:lnTo>
                  <a:lnTo>
                    <a:pt x="73289" y="759115"/>
                  </a:lnTo>
                  <a:lnTo>
                    <a:pt x="100535" y="754671"/>
                  </a:lnTo>
                  <a:lnTo>
                    <a:pt x="123879" y="739749"/>
                  </a:lnTo>
                  <a:lnTo>
                    <a:pt x="476946" y="386136"/>
                  </a:lnTo>
                  <a:lnTo>
                    <a:pt x="484086" y="375261"/>
                  </a:lnTo>
                  <a:lnTo>
                    <a:pt x="486466" y="362778"/>
                  </a:lnTo>
                  <a:lnTo>
                    <a:pt x="484086" y="350296"/>
                  </a:lnTo>
                  <a:lnTo>
                    <a:pt x="476946" y="339421"/>
                  </a:lnTo>
                  <a:lnTo>
                    <a:pt x="138049" y="0"/>
                  </a:lnTo>
                </a:path>
              </a:pathLst>
            </a:custGeom>
            <a:grpFill/>
            <a:ln w="9525">
              <a:solidFill>
                <a:schemeClr val="tx1"/>
              </a:solidFill>
            </a:ln>
          </p:spPr>
          <p:txBody>
            <a:bodyPr wrap="square" lIns="0" tIns="0" rIns="0" bIns="0" rtlCol="0"/>
            <a:lstStyle/>
            <a:p>
              <a:endParaRPr/>
            </a:p>
          </p:txBody>
        </p:sp>
        <p:sp>
          <p:nvSpPr>
            <p:cNvPr id="21" name="object 14">
              <a:extLst>
                <a:ext uri="{FF2B5EF4-FFF2-40B4-BE49-F238E27FC236}">
                  <a16:creationId xmlns:a16="http://schemas.microsoft.com/office/drawing/2014/main" id="{BC4EB03B-CEE7-5557-90F4-17FE1E0CFC97}"/>
                </a:ext>
              </a:extLst>
            </p:cNvPr>
            <p:cNvSpPr/>
            <p:nvPr/>
          </p:nvSpPr>
          <p:spPr>
            <a:xfrm>
              <a:off x="487501" y="1038692"/>
              <a:ext cx="490855" cy="758825"/>
            </a:xfrm>
            <a:custGeom>
              <a:avLst/>
              <a:gdLst/>
              <a:ahLst/>
              <a:cxnLst/>
              <a:rect l="l" t="t" r="r" b="b"/>
              <a:pathLst>
                <a:path w="490855" h="758825">
                  <a:moveTo>
                    <a:pt x="77462" y="0"/>
                  </a:moveTo>
                  <a:lnTo>
                    <a:pt x="25988" y="22240"/>
                  </a:lnTo>
                  <a:lnTo>
                    <a:pt x="1880" y="72863"/>
                  </a:lnTo>
                  <a:lnTo>
                    <a:pt x="0" y="105919"/>
                  </a:lnTo>
                  <a:lnTo>
                    <a:pt x="3709" y="143282"/>
                  </a:lnTo>
                  <a:lnTo>
                    <a:pt x="12116" y="184309"/>
                  </a:lnTo>
                  <a:lnTo>
                    <a:pt x="24326" y="228357"/>
                  </a:lnTo>
                  <a:lnTo>
                    <a:pt x="39446" y="274785"/>
                  </a:lnTo>
                  <a:lnTo>
                    <a:pt x="56582" y="322948"/>
                  </a:lnTo>
                  <a:lnTo>
                    <a:pt x="93332" y="421916"/>
                  </a:lnTo>
                  <a:lnTo>
                    <a:pt x="111157" y="471434"/>
                  </a:lnTo>
                  <a:lnTo>
                    <a:pt x="127425" y="520119"/>
                  </a:lnTo>
                  <a:lnTo>
                    <a:pt x="141242" y="567328"/>
                  </a:lnTo>
                  <a:lnTo>
                    <a:pt x="151715" y="612419"/>
                  </a:lnTo>
                  <a:lnTo>
                    <a:pt x="157950" y="654749"/>
                  </a:lnTo>
                  <a:lnTo>
                    <a:pt x="159054" y="693675"/>
                  </a:lnTo>
                  <a:lnTo>
                    <a:pt x="154133" y="728556"/>
                  </a:lnTo>
                  <a:lnTo>
                    <a:pt x="142294" y="758748"/>
                  </a:lnTo>
                  <a:lnTo>
                    <a:pt x="480882" y="419753"/>
                  </a:lnTo>
                  <a:lnTo>
                    <a:pt x="488022" y="408832"/>
                  </a:lnTo>
                  <a:lnTo>
                    <a:pt x="490402" y="396220"/>
                  </a:lnTo>
                  <a:lnTo>
                    <a:pt x="488022" y="383553"/>
                  </a:lnTo>
                  <a:lnTo>
                    <a:pt x="480882" y="372465"/>
                  </a:lnTo>
                  <a:lnTo>
                    <a:pt x="127830" y="18988"/>
                  </a:lnTo>
                  <a:lnTo>
                    <a:pt x="104569" y="4202"/>
                  </a:lnTo>
                  <a:lnTo>
                    <a:pt x="77462" y="0"/>
                  </a:lnTo>
                  <a:close/>
                </a:path>
              </a:pathLst>
            </a:custGeom>
            <a:grpFill/>
            <a:ln>
              <a:solidFill>
                <a:schemeClr val="tx1"/>
              </a:solidFill>
            </a:ln>
          </p:spPr>
          <p:txBody>
            <a:bodyPr wrap="square" lIns="0" tIns="0" rIns="0" bIns="0" rtlCol="0"/>
            <a:lstStyle/>
            <a:p>
              <a:endParaRPr/>
            </a:p>
          </p:txBody>
        </p:sp>
        <p:sp>
          <p:nvSpPr>
            <p:cNvPr id="24" name="object 15">
              <a:extLst>
                <a:ext uri="{FF2B5EF4-FFF2-40B4-BE49-F238E27FC236}">
                  <a16:creationId xmlns:a16="http://schemas.microsoft.com/office/drawing/2014/main" id="{6E5B9C91-1EE7-171E-A074-7186C46C6704}"/>
                </a:ext>
              </a:extLst>
            </p:cNvPr>
            <p:cNvSpPr/>
            <p:nvPr/>
          </p:nvSpPr>
          <p:spPr>
            <a:xfrm>
              <a:off x="487501" y="1038692"/>
              <a:ext cx="490855" cy="758825"/>
            </a:xfrm>
            <a:custGeom>
              <a:avLst/>
              <a:gdLst/>
              <a:ahLst/>
              <a:cxnLst/>
              <a:rect l="l" t="t" r="r" b="b"/>
              <a:pathLst>
                <a:path w="490855" h="758825">
                  <a:moveTo>
                    <a:pt x="142294" y="758749"/>
                  </a:moveTo>
                  <a:lnTo>
                    <a:pt x="154133" y="728556"/>
                  </a:lnTo>
                  <a:lnTo>
                    <a:pt x="159054" y="693676"/>
                  </a:lnTo>
                  <a:lnTo>
                    <a:pt x="157950" y="654749"/>
                  </a:lnTo>
                  <a:lnTo>
                    <a:pt x="151715" y="612420"/>
                  </a:lnTo>
                  <a:lnTo>
                    <a:pt x="141242" y="567329"/>
                  </a:lnTo>
                  <a:lnTo>
                    <a:pt x="127425" y="520120"/>
                  </a:lnTo>
                  <a:lnTo>
                    <a:pt x="111157" y="471435"/>
                  </a:lnTo>
                  <a:lnTo>
                    <a:pt x="93332" y="421916"/>
                  </a:lnTo>
                  <a:lnTo>
                    <a:pt x="74842" y="372207"/>
                  </a:lnTo>
                  <a:lnTo>
                    <a:pt x="56582" y="322949"/>
                  </a:lnTo>
                  <a:lnTo>
                    <a:pt x="39446" y="274785"/>
                  </a:lnTo>
                  <a:lnTo>
                    <a:pt x="24326" y="228358"/>
                  </a:lnTo>
                  <a:lnTo>
                    <a:pt x="12116" y="184310"/>
                  </a:lnTo>
                  <a:lnTo>
                    <a:pt x="3709" y="143283"/>
                  </a:lnTo>
                  <a:lnTo>
                    <a:pt x="0" y="105920"/>
                  </a:lnTo>
                  <a:lnTo>
                    <a:pt x="1880" y="72863"/>
                  </a:lnTo>
                  <a:lnTo>
                    <a:pt x="10245" y="44756"/>
                  </a:lnTo>
                  <a:lnTo>
                    <a:pt x="25988" y="22240"/>
                  </a:lnTo>
                  <a:lnTo>
                    <a:pt x="50078" y="6104"/>
                  </a:lnTo>
                  <a:lnTo>
                    <a:pt x="77462" y="0"/>
                  </a:lnTo>
                  <a:lnTo>
                    <a:pt x="104569" y="4202"/>
                  </a:lnTo>
                  <a:lnTo>
                    <a:pt x="127830" y="18989"/>
                  </a:lnTo>
                  <a:lnTo>
                    <a:pt x="480882" y="372466"/>
                  </a:lnTo>
                  <a:lnTo>
                    <a:pt x="488022" y="383553"/>
                  </a:lnTo>
                  <a:lnTo>
                    <a:pt x="490402" y="396220"/>
                  </a:lnTo>
                  <a:lnTo>
                    <a:pt x="488022" y="408832"/>
                  </a:lnTo>
                  <a:lnTo>
                    <a:pt x="480882" y="419753"/>
                  </a:lnTo>
                  <a:lnTo>
                    <a:pt x="142294" y="758749"/>
                  </a:lnTo>
                  <a:close/>
                </a:path>
              </a:pathLst>
            </a:custGeom>
            <a:grpFill/>
            <a:ln w="9525">
              <a:solidFill>
                <a:schemeClr val="tx1"/>
              </a:solidFill>
            </a:ln>
          </p:spPr>
          <p:txBody>
            <a:bodyPr wrap="square" lIns="0" tIns="0" rIns="0" bIns="0" rtlCol="0"/>
            <a:lstStyle/>
            <a:p>
              <a:endParaRPr/>
            </a:p>
          </p:txBody>
        </p:sp>
      </p:grpSp>
      <p:sp>
        <p:nvSpPr>
          <p:cNvPr id="25" name="object 16">
            <a:extLst>
              <a:ext uri="{FF2B5EF4-FFF2-40B4-BE49-F238E27FC236}">
                <a16:creationId xmlns:a16="http://schemas.microsoft.com/office/drawing/2014/main" id="{2660D9D2-E990-F002-5923-B43CDEFE0473}"/>
              </a:ext>
            </a:extLst>
          </p:cNvPr>
          <p:cNvSpPr txBox="1"/>
          <p:nvPr/>
        </p:nvSpPr>
        <p:spPr>
          <a:xfrm>
            <a:off x="1260315" y="1009457"/>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26" name="ZoneTexte 22">
            <a:extLst>
              <a:ext uri="{FF2B5EF4-FFF2-40B4-BE49-F238E27FC236}">
                <a16:creationId xmlns:a16="http://schemas.microsoft.com/office/drawing/2014/main" id="{63D39554-BCBC-8BC3-E6FB-ECFC52B95347}"/>
              </a:ext>
            </a:extLst>
          </p:cNvPr>
          <p:cNvSpPr txBox="1"/>
          <p:nvPr/>
        </p:nvSpPr>
        <p:spPr>
          <a:xfrm>
            <a:off x="1624130" y="1570606"/>
            <a:ext cx="6283485" cy="2800767"/>
          </a:xfrm>
          <a:prstGeom prst="rect">
            <a:avLst/>
          </a:prstGeom>
          <a:noFill/>
        </p:spPr>
        <p:txBody>
          <a:bodyPr wrap="square" rtlCol="0">
            <a:spAutoFit/>
          </a:bodyPr>
          <a:lstStyle/>
          <a:p>
            <a:pPr marL="285750" indent="-285750">
              <a:buFont typeface="Arial" panose="020B0604020202020204" pitchFamily="34" charset="0"/>
              <a:buChar char="•"/>
            </a:pPr>
            <a:r>
              <a:rPr lang="fr-FR" sz="1600" b="1" dirty="0">
                <a:latin typeface="Bookman Old Style" panose="02050604050505020204" pitchFamily="18" charset="0"/>
              </a:rPr>
              <a:t>Généralités</a:t>
            </a:r>
          </a:p>
          <a:p>
            <a:endParaRPr lang="fr-FR" sz="1600" b="1" dirty="0">
              <a:latin typeface="Bookman Old Style" panose="02050604050505020204" pitchFamily="18" charset="0"/>
            </a:endParaRPr>
          </a:p>
          <a:p>
            <a:pPr marL="285750" indent="-285750">
              <a:buFont typeface="Arial" panose="020B0604020202020204" pitchFamily="34" charset="0"/>
              <a:buChar char="•"/>
            </a:pPr>
            <a:r>
              <a:rPr lang="fr-FR" sz="1600" b="1" dirty="0">
                <a:latin typeface="Bookman Old Style" panose="02050604050505020204" pitchFamily="18" charset="0"/>
              </a:rPr>
              <a:t>Composants électriques et dipôles</a:t>
            </a:r>
          </a:p>
          <a:p>
            <a:endParaRPr lang="fr-FR" sz="1600" b="1" dirty="0">
              <a:latin typeface="Bookman Old Style" panose="02050604050505020204" pitchFamily="18" charset="0"/>
            </a:endParaRPr>
          </a:p>
          <a:p>
            <a:pPr marL="285750" indent="-285750">
              <a:buFont typeface="Arial" panose="020B0604020202020204" pitchFamily="34" charset="0"/>
              <a:buChar char="•"/>
            </a:pPr>
            <a:r>
              <a:rPr lang="fr-FR" sz="1600" b="1" dirty="0">
                <a:latin typeface="Bookman Old Style" panose="02050604050505020204" pitchFamily="18" charset="0"/>
              </a:rPr>
              <a:t>Théorèmes généraux</a:t>
            </a:r>
          </a:p>
          <a:p>
            <a:endParaRPr lang="fr-FR" sz="1600" b="1" dirty="0">
              <a:latin typeface="Bookman Old Style" panose="02050604050505020204" pitchFamily="18" charset="0"/>
            </a:endParaRPr>
          </a:p>
          <a:p>
            <a:pPr marL="285750" indent="-285750">
              <a:buFont typeface="Arial" panose="020B0604020202020204" pitchFamily="34" charset="0"/>
              <a:buChar char="•"/>
            </a:pPr>
            <a:r>
              <a:rPr lang="fr-FR" sz="1600" b="1" dirty="0">
                <a:latin typeface="Bookman Old Style" panose="02050604050505020204" pitchFamily="18" charset="0"/>
              </a:rPr>
              <a:t>Réseaux électriques en régime continu</a:t>
            </a:r>
          </a:p>
          <a:p>
            <a:endParaRPr lang="fr-FR" sz="1600" b="1" dirty="0">
              <a:latin typeface="Bookman Old Style" panose="02050604050505020204" pitchFamily="18" charset="0"/>
            </a:endParaRPr>
          </a:p>
          <a:p>
            <a:pPr marL="285750" indent="-285750">
              <a:buFont typeface="Arial" panose="020B0604020202020204" pitchFamily="34" charset="0"/>
              <a:buChar char="•"/>
            </a:pPr>
            <a:r>
              <a:rPr lang="fr-FR" sz="1600" b="1" dirty="0">
                <a:latin typeface="Bookman Old Style" panose="02050604050505020204" pitchFamily="18" charset="0"/>
              </a:rPr>
              <a:t>Etude des réseaux en régime alternatif et sinusoïdal</a:t>
            </a:r>
          </a:p>
          <a:p>
            <a:endParaRPr lang="fr-FR" sz="1600" b="1" dirty="0">
              <a:latin typeface="Bookman Old Style" panose="02050604050505020204" pitchFamily="18" charset="0"/>
            </a:endParaRPr>
          </a:p>
          <a:p>
            <a:pPr marL="285750" indent="-285750">
              <a:buFont typeface="Arial" panose="020B0604020202020204" pitchFamily="34" charset="0"/>
              <a:buChar char="•"/>
            </a:pPr>
            <a:r>
              <a:rPr lang="fr-FR" sz="1600" b="1" dirty="0">
                <a:latin typeface="Bookman Old Style" panose="02050604050505020204" pitchFamily="18" charset="0"/>
              </a:rPr>
              <a:t>Puissance et énergie électriques</a:t>
            </a:r>
          </a:p>
        </p:txBody>
      </p:sp>
    </p:spTree>
    <p:extLst>
      <p:ext uri="{BB962C8B-B14F-4D97-AF65-F5344CB8AC3E}">
        <p14:creationId xmlns:p14="http://schemas.microsoft.com/office/powerpoint/2010/main" val="8971308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84530" y="221665"/>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grpSp>
        <p:nvGrpSpPr>
          <p:cNvPr id="11" name="object 11"/>
          <p:cNvGrpSpPr/>
          <p:nvPr/>
        </p:nvGrpSpPr>
        <p:grpSpPr>
          <a:xfrm>
            <a:off x="430117" y="1257130"/>
            <a:ext cx="8446839" cy="1658136"/>
            <a:chOff x="695200" y="1293934"/>
            <a:chExt cx="8225156" cy="690246"/>
          </a:xfrm>
        </p:grpSpPr>
        <p:sp>
          <p:nvSpPr>
            <p:cNvPr id="12" name="object 12"/>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13" name="object 13"/>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46" name="object 46"/>
          <p:cNvSpPr txBox="1"/>
          <p:nvPr/>
        </p:nvSpPr>
        <p:spPr>
          <a:xfrm>
            <a:off x="8631211" y="4824469"/>
            <a:ext cx="245745" cy="330200"/>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9</a:t>
            </a:fld>
            <a:endParaRPr sz="2400">
              <a:latin typeface="Arial"/>
              <a:cs typeface="Arial"/>
            </a:endParaRPr>
          </a:p>
        </p:txBody>
      </p:sp>
      <p:sp>
        <p:nvSpPr>
          <p:cNvPr id="15" name="Rectangle 14"/>
          <p:cNvSpPr/>
          <p:nvPr/>
        </p:nvSpPr>
        <p:spPr>
          <a:xfrm>
            <a:off x="550646" y="557613"/>
            <a:ext cx="1943481" cy="597599"/>
          </a:xfrm>
          <a:prstGeom prst="rect">
            <a:avLst/>
          </a:prstGeom>
        </p:spPr>
        <p:txBody>
          <a:bodyPr wrap="none">
            <a:spAutoFit/>
          </a:bodyPr>
          <a:lstStyle/>
          <a:p>
            <a:pPr marL="393065" lvl="1" indent="-381000">
              <a:lnSpc>
                <a:spcPct val="100000"/>
              </a:lnSpc>
              <a:spcBef>
                <a:spcPts val="100"/>
              </a:spcBef>
              <a:buAutoNum type="arabicPeriod"/>
              <a:tabLst>
                <a:tab pos="393700" algn="l"/>
              </a:tabLst>
            </a:pPr>
            <a:r>
              <a:rPr lang="fr-FR" b="1" spc="-5" dirty="0">
                <a:solidFill>
                  <a:srgbClr val="FF0000"/>
                </a:solidFill>
                <a:latin typeface="Bookman Old Style" panose="02050604050505020204" pitchFamily="18" charset="0"/>
                <a:cs typeface="Arial"/>
              </a:rPr>
              <a:t>Généralités</a:t>
            </a:r>
          </a:p>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 1.1 Définitions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1" name="TextBox 20">
            <a:extLst>
              <a:ext uri="{FF2B5EF4-FFF2-40B4-BE49-F238E27FC236}">
                <a16:creationId xmlns:a16="http://schemas.microsoft.com/office/drawing/2014/main" id="{A8325E06-8A90-68FD-3276-0A5C372BBE8B}"/>
              </a:ext>
            </a:extLst>
          </p:cNvPr>
          <p:cNvSpPr txBox="1"/>
          <p:nvPr/>
        </p:nvSpPr>
        <p:spPr>
          <a:xfrm>
            <a:off x="576302" y="1345606"/>
            <a:ext cx="8137582" cy="1569660"/>
          </a:xfrm>
          <a:prstGeom prst="rect">
            <a:avLst/>
          </a:prstGeom>
          <a:noFill/>
        </p:spPr>
        <p:txBody>
          <a:bodyPr wrap="square">
            <a:spAutoFit/>
          </a:bodyPr>
          <a:lstStyle/>
          <a:p>
            <a:pPr algn="just"/>
            <a:r>
              <a:rPr lang="fr-FR" sz="1600" dirty="0">
                <a:latin typeface="Bookman Old Style" panose="02050604050505020204" pitchFamily="18" charset="0"/>
              </a:rPr>
              <a:t>Le terme </a:t>
            </a:r>
            <a:r>
              <a:rPr lang="fr-FR" sz="1600" b="1" dirty="0">
                <a:solidFill>
                  <a:srgbClr val="FF0000"/>
                </a:solidFill>
                <a:latin typeface="Bookman Old Style" panose="02050604050505020204" pitchFamily="18" charset="0"/>
              </a:rPr>
              <a:t>électrocinétique</a:t>
            </a:r>
            <a:r>
              <a:rPr lang="fr-FR" sz="1600" dirty="0">
                <a:latin typeface="Bookman Old Style" panose="02050604050505020204" pitchFamily="18" charset="0"/>
              </a:rPr>
              <a:t> peut désigner, soit l'ensemble des phénomènes et des lois relatifs </a:t>
            </a:r>
            <a:r>
              <a:rPr lang="fr-FR" sz="1600" b="1" dirty="0">
                <a:latin typeface="Bookman Old Style" panose="02050604050505020204" pitchFamily="18" charset="0"/>
              </a:rPr>
              <a:t>aux charges électriques en mouvement</a:t>
            </a:r>
            <a:r>
              <a:rPr lang="fr-FR" sz="1600" dirty="0">
                <a:latin typeface="Bookman Old Style" panose="02050604050505020204" pitchFamily="18" charset="0"/>
              </a:rPr>
              <a:t>, soit leur étude, et plus particulièrement celle du déplacement de l'électricité dans les milieux matériels, notamment les </a:t>
            </a:r>
            <a:r>
              <a:rPr lang="fr-FR" sz="1600" b="1" dirty="0">
                <a:latin typeface="Bookman Old Style" panose="02050604050505020204" pitchFamily="18" charset="0"/>
              </a:rPr>
              <a:t>circuits électriques</a:t>
            </a:r>
            <a:r>
              <a:rPr lang="fr-FR" sz="1600" dirty="0">
                <a:latin typeface="Bookman Old Style" panose="02050604050505020204" pitchFamily="18" charset="0"/>
              </a:rPr>
              <a:t>. </a:t>
            </a:r>
            <a:r>
              <a:rPr lang="fr-FR" sz="1600" b="1" dirty="0">
                <a:solidFill>
                  <a:srgbClr val="FF0000"/>
                </a:solidFill>
                <a:latin typeface="Bookman Old Style" panose="02050604050505020204" pitchFamily="18" charset="0"/>
              </a:rPr>
              <a:t>L'électrocinétique</a:t>
            </a:r>
            <a:r>
              <a:rPr lang="fr-FR" sz="1600" dirty="0">
                <a:latin typeface="Bookman Old Style" panose="02050604050505020204" pitchFamily="18" charset="0"/>
              </a:rPr>
              <a:t> s'oppose à </a:t>
            </a:r>
            <a:r>
              <a:rPr lang="fr-FR" sz="1600" b="1" dirty="0">
                <a:latin typeface="Bookman Old Style" panose="02050604050505020204" pitchFamily="18" charset="0"/>
              </a:rPr>
              <a:t>l'électrostatique</a:t>
            </a:r>
            <a:r>
              <a:rPr lang="fr-FR" sz="1600" dirty="0">
                <a:latin typeface="Bookman Old Style" panose="02050604050505020204" pitchFamily="18" charset="0"/>
              </a:rPr>
              <a:t>, ensemble ou étude des phénomènes et des lois relatifs aux charges immobiles.</a:t>
            </a:r>
          </a:p>
        </p:txBody>
      </p:sp>
      <p:grpSp>
        <p:nvGrpSpPr>
          <p:cNvPr id="3" name="object 11"/>
          <p:cNvGrpSpPr/>
          <p:nvPr/>
        </p:nvGrpSpPr>
        <p:grpSpPr>
          <a:xfrm>
            <a:off x="443048" y="3701901"/>
            <a:ext cx="8433907" cy="883986"/>
            <a:chOff x="695200" y="1293934"/>
            <a:chExt cx="8225156" cy="690246"/>
          </a:xfrm>
        </p:grpSpPr>
        <p:sp>
          <p:nvSpPr>
            <p:cNvPr id="4" name="object 12"/>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5" name="object 13"/>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17" name="TextBox 16">
            <a:extLst>
              <a:ext uri="{FF2B5EF4-FFF2-40B4-BE49-F238E27FC236}">
                <a16:creationId xmlns:a16="http://schemas.microsoft.com/office/drawing/2014/main" id="{A8325E06-8A90-68FD-3276-0A5C372BBE8B}"/>
              </a:ext>
            </a:extLst>
          </p:cNvPr>
          <p:cNvSpPr txBox="1"/>
          <p:nvPr/>
        </p:nvSpPr>
        <p:spPr>
          <a:xfrm>
            <a:off x="576301" y="3801057"/>
            <a:ext cx="8137583" cy="784830"/>
          </a:xfrm>
          <a:prstGeom prst="rect">
            <a:avLst/>
          </a:prstGeom>
          <a:noFill/>
        </p:spPr>
        <p:txBody>
          <a:bodyPr wrap="square">
            <a:spAutoFit/>
          </a:bodyPr>
          <a:lstStyle/>
          <a:p>
            <a:pPr algn="just"/>
            <a:r>
              <a:rPr lang="fr-FR" sz="1500" b="1" dirty="0">
                <a:solidFill>
                  <a:srgbClr val="FF0000"/>
                </a:solidFill>
                <a:latin typeface="Bookman Old Style" panose="02050604050505020204" pitchFamily="18" charset="0"/>
              </a:rPr>
              <a:t>L'électrocinétique</a:t>
            </a:r>
            <a:r>
              <a:rPr lang="fr-FR" sz="1500" dirty="0">
                <a:latin typeface="Bookman Old Style" panose="02050604050505020204" pitchFamily="18" charset="0"/>
              </a:rPr>
              <a:t> est l’étude du </a:t>
            </a:r>
            <a:r>
              <a:rPr lang="fr-FR" sz="1500" b="1" dirty="0">
                <a:latin typeface="Bookman Old Style" panose="02050604050505020204" pitchFamily="18" charset="0"/>
              </a:rPr>
              <a:t>mouvement d'ensemble des porteurs de charge</a:t>
            </a:r>
            <a:r>
              <a:rPr lang="fr-FR" sz="1500" dirty="0">
                <a:latin typeface="Bookman Old Style" panose="02050604050505020204" pitchFamily="18" charset="0"/>
              </a:rPr>
              <a:t> dans un circuit, mouvement qui constitue le </a:t>
            </a:r>
            <a:r>
              <a:rPr lang="fr-FR" sz="1500" b="1" dirty="0">
                <a:latin typeface="Bookman Old Style" panose="02050604050505020204" pitchFamily="18" charset="0"/>
              </a:rPr>
              <a:t>courant électrique, </a:t>
            </a:r>
            <a:r>
              <a:rPr lang="fr-FR" sz="1500" dirty="0">
                <a:latin typeface="Bookman Old Style" panose="02050604050505020204" pitchFamily="18" charset="0"/>
              </a:rPr>
              <a:t>Les charges se déplacent sous l’effet d’un champ électrique extérieur</a:t>
            </a:r>
          </a:p>
        </p:txBody>
      </p:sp>
      <p:sp>
        <p:nvSpPr>
          <p:cNvPr id="20" name="Arrow: Striped Right 19">
            <a:extLst>
              <a:ext uri="{FF2B5EF4-FFF2-40B4-BE49-F238E27FC236}">
                <a16:creationId xmlns:a16="http://schemas.microsoft.com/office/drawing/2014/main" id="{BE1D58D1-E9BA-639B-60D4-D6C3B9A913D2}"/>
              </a:ext>
            </a:extLst>
          </p:cNvPr>
          <p:cNvSpPr/>
          <p:nvPr/>
        </p:nvSpPr>
        <p:spPr>
          <a:xfrm rot="5400000">
            <a:off x="4381499" y="3108471"/>
            <a:ext cx="381000" cy="441431"/>
          </a:xfrm>
          <a:prstGeom prst="striped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034047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additive="base">
                                        <p:cTn id="7" dur="500" fill="hold"/>
                                        <p:tgtEl>
                                          <p:spTgt spid="20"/>
                                        </p:tgtEl>
                                        <p:attrNameLst>
                                          <p:attrName>ppt_x</p:attrName>
                                        </p:attrNameLst>
                                      </p:cBhvr>
                                      <p:tavLst>
                                        <p:tav tm="0">
                                          <p:val>
                                            <p:strVal val="#ppt_x"/>
                                          </p:val>
                                        </p:tav>
                                        <p:tav tm="100000">
                                          <p:val>
                                            <p:strVal val="#ppt_x"/>
                                          </p:val>
                                        </p:tav>
                                      </p:tavLst>
                                    </p:anim>
                                    <p:anim calcmode="lin" valueType="num">
                                      <p:cBhvr additive="base">
                                        <p:cTn id="8"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1000"/>
                                        <p:tgtEl>
                                          <p:spTgt spid="17"/>
                                        </p:tgtEl>
                                      </p:cBhvr>
                                    </p:animEffect>
                                    <p:anim calcmode="lin" valueType="num">
                                      <p:cBhvr>
                                        <p:cTn id="14" dur="1000" fill="hold"/>
                                        <p:tgtEl>
                                          <p:spTgt spid="17"/>
                                        </p:tgtEl>
                                        <p:attrNameLst>
                                          <p:attrName>ppt_x</p:attrName>
                                        </p:attrNameLst>
                                      </p:cBhvr>
                                      <p:tavLst>
                                        <p:tav tm="0">
                                          <p:val>
                                            <p:strVal val="#ppt_x"/>
                                          </p:val>
                                        </p:tav>
                                        <p:tav tm="100000">
                                          <p:val>
                                            <p:strVal val="#ppt_x"/>
                                          </p:val>
                                        </p:tav>
                                      </p:tavLst>
                                    </p:anim>
                                    <p:anim calcmode="lin" valueType="num">
                                      <p:cBhvr>
                                        <p:cTn id="15" dur="1000" fill="hold"/>
                                        <p:tgtEl>
                                          <p:spTgt spid="17"/>
                                        </p:tgtEl>
                                        <p:attrNameLst>
                                          <p:attrName>ppt_y</p:attrName>
                                        </p:attrNameLst>
                                      </p:cBhvr>
                                      <p:tavLst>
                                        <p:tav tm="0">
                                          <p:val>
                                            <p:strVal val="#ppt_y+.1"/>
                                          </p:val>
                                        </p:tav>
                                        <p:tav tm="100000">
                                          <p:val>
                                            <p:strVal val="#ppt_y"/>
                                          </p:val>
                                        </p:tav>
                                      </p:tavLst>
                                    </p:anim>
                                  </p:childTnLst>
                                </p:cTn>
                              </p:par>
                              <p:par>
                                <p:cTn id="16" presetID="42" presetClass="entr" presetSubtype="0" fill="hold"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1000"/>
                                        <p:tgtEl>
                                          <p:spTgt spid="3"/>
                                        </p:tgtEl>
                                      </p:cBhvr>
                                    </p:animEffect>
                                    <p:anim calcmode="lin" valueType="num">
                                      <p:cBhvr>
                                        <p:cTn id="19" dur="1000" fill="hold"/>
                                        <p:tgtEl>
                                          <p:spTgt spid="3"/>
                                        </p:tgtEl>
                                        <p:attrNameLst>
                                          <p:attrName>ppt_x</p:attrName>
                                        </p:attrNameLst>
                                      </p:cBhvr>
                                      <p:tavLst>
                                        <p:tav tm="0">
                                          <p:val>
                                            <p:strVal val="#ppt_x"/>
                                          </p:val>
                                        </p:tav>
                                        <p:tav tm="100000">
                                          <p:val>
                                            <p:strVal val="#ppt_x"/>
                                          </p:val>
                                        </p:tav>
                                      </p:tavLst>
                                    </p:anim>
                                    <p:anim calcmode="lin" valueType="num">
                                      <p:cBhvr>
                                        <p:cTn id="20"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0"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73413" y="252370"/>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31211" y="4824469"/>
            <a:ext cx="245745" cy="330200"/>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10</a:t>
            </a:fld>
            <a:endParaRPr sz="2400">
              <a:latin typeface="Arial"/>
              <a:cs typeface="Arial"/>
            </a:endParaRPr>
          </a:p>
        </p:txBody>
      </p:sp>
      <p:sp>
        <p:nvSpPr>
          <p:cNvPr id="15" name="Rectangle 14"/>
          <p:cNvSpPr/>
          <p:nvPr/>
        </p:nvSpPr>
        <p:spPr>
          <a:xfrm>
            <a:off x="550646" y="557613"/>
            <a:ext cx="1943481" cy="597599"/>
          </a:xfrm>
          <a:prstGeom prst="rect">
            <a:avLst/>
          </a:prstGeom>
        </p:spPr>
        <p:txBody>
          <a:bodyPr wrap="none">
            <a:spAutoFit/>
          </a:bodyPr>
          <a:lstStyle/>
          <a:p>
            <a:pPr marL="393065" lvl="1" indent="-381000">
              <a:lnSpc>
                <a:spcPct val="100000"/>
              </a:lnSpc>
              <a:spcBef>
                <a:spcPts val="100"/>
              </a:spcBef>
              <a:buAutoNum type="arabicPeriod"/>
              <a:tabLst>
                <a:tab pos="393700" algn="l"/>
              </a:tabLst>
            </a:pPr>
            <a:r>
              <a:rPr lang="fr-FR" b="1" spc="-5" dirty="0">
                <a:solidFill>
                  <a:srgbClr val="FF0000"/>
                </a:solidFill>
                <a:latin typeface="Bookman Old Style" panose="02050604050505020204" pitchFamily="18" charset="0"/>
                <a:cs typeface="Arial"/>
              </a:rPr>
              <a:t>Généralités</a:t>
            </a:r>
          </a:p>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 1.2 Historiques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2" name="TextBox 21">
            <a:extLst>
              <a:ext uri="{FF2B5EF4-FFF2-40B4-BE49-F238E27FC236}">
                <a16:creationId xmlns:a16="http://schemas.microsoft.com/office/drawing/2014/main" id="{D1ADE827-556F-E015-DB34-4D810BE5C35C}"/>
              </a:ext>
            </a:extLst>
          </p:cNvPr>
          <p:cNvSpPr txBox="1"/>
          <p:nvPr/>
        </p:nvSpPr>
        <p:spPr>
          <a:xfrm>
            <a:off x="2133600" y="1466574"/>
            <a:ext cx="6098097" cy="692497"/>
          </a:xfrm>
          <a:prstGeom prst="rect">
            <a:avLst/>
          </a:prstGeom>
          <a:solidFill>
            <a:srgbClr val="00FF00"/>
          </a:solidFill>
          <a:effectLst/>
        </p:spPr>
        <p:txBody>
          <a:bodyPr wrap="square">
            <a:spAutoFit/>
          </a:bodyPr>
          <a:lstStyle/>
          <a:p>
            <a:pPr algn="just"/>
            <a:r>
              <a:rPr lang="fr-FR" sz="1300" b="1" dirty="0">
                <a:latin typeface="Bookman Old Style" panose="02050604050505020204" pitchFamily="18" charset="0"/>
              </a:rPr>
              <a:t>André-Marie</a:t>
            </a:r>
            <a:r>
              <a:rPr lang="fr-FR" sz="1300" dirty="0">
                <a:latin typeface="Bookman Old Style" panose="02050604050505020204" pitchFamily="18" charset="0"/>
              </a:rPr>
              <a:t> </a:t>
            </a:r>
            <a:r>
              <a:rPr lang="fr-FR" sz="1300" b="1" dirty="0">
                <a:solidFill>
                  <a:srgbClr val="FF0000"/>
                </a:solidFill>
                <a:latin typeface="Bookman Old Style" panose="02050604050505020204" pitchFamily="18" charset="0"/>
              </a:rPr>
              <a:t>Ampère</a:t>
            </a:r>
            <a:r>
              <a:rPr lang="fr-FR" sz="1300" dirty="0">
                <a:latin typeface="Bookman Old Style" panose="02050604050505020204" pitchFamily="18" charset="0"/>
              </a:rPr>
              <a:t> (1775– 1836): est un mathématicien et physicien français. Son nom a été donné à l'unité internationale de l'intensité du courant électrique : l’</a:t>
            </a:r>
            <a:r>
              <a:rPr lang="fr-FR" sz="1300" b="1" dirty="0">
                <a:latin typeface="Bookman Old Style" panose="02050604050505020204" pitchFamily="18" charset="0"/>
              </a:rPr>
              <a:t>Ampère (A)</a:t>
            </a:r>
            <a:r>
              <a:rPr lang="fr-FR" sz="1300" dirty="0">
                <a:latin typeface="Bookman Old Style" panose="02050604050505020204" pitchFamily="18" charset="0"/>
              </a:rPr>
              <a:t>.</a:t>
            </a:r>
          </a:p>
        </p:txBody>
      </p:sp>
      <p:pic>
        <p:nvPicPr>
          <p:cNvPr id="24" name="Picture 23">
            <a:extLst>
              <a:ext uri="{FF2B5EF4-FFF2-40B4-BE49-F238E27FC236}">
                <a16:creationId xmlns:a16="http://schemas.microsoft.com/office/drawing/2014/main" id="{AA26A338-C580-0947-FA80-1DC58651C5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3474" y="1130056"/>
            <a:ext cx="1605264" cy="2058031"/>
          </a:xfrm>
          <a:prstGeom prst="ellipse">
            <a:avLst/>
          </a:prstGeom>
          <a:ln>
            <a:noFill/>
          </a:ln>
          <a:effectLst>
            <a:softEdge rad="112500"/>
          </a:effectLst>
        </p:spPr>
      </p:pic>
      <p:sp>
        <p:nvSpPr>
          <p:cNvPr id="25" name="TextBox 24">
            <a:extLst>
              <a:ext uri="{FF2B5EF4-FFF2-40B4-BE49-F238E27FC236}">
                <a16:creationId xmlns:a16="http://schemas.microsoft.com/office/drawing/2014/main" id="{9AFFE5AE-333E-AB17-5F88-F25382B9BC43}"/>
              </a:ext>
            </a:extLst>
          </p:cNvPr>
          <p:cNvSpPr txBox="1"/>
          <p:nvPr/>
        </p:nvSpPr>
        <p:spPr>
          <a:xfrm>
            <a:off x="423474" y="3667195"/>
            <a:ext cx="6098097" cy="707886"/>
          </a:xfrm>
          <a:prstGeom prst="rect">
            <a:avLst/>
          </a:prstGeom>
          <a:solidFill>
            <a:srgbClr val="00FF00"/>
          </a:solidFill>
          <a:effectLst/>
        </p:spPr>
        <p:txBody>
          <a:bodyPr wrap="square">
            <a:spAutoFit/>
          </a:bodyPr>
          <a:lstStyle/>
          <a:p>
            <a:pPr algn="just"/>
            <a:r>
              <a:rPr lang="fr-FR" sz="1300" b="1" dirty="0">
                <a:latin typeface="Bookman Old Style" panose="02050604050505020204" pitchFamily="18" charset="0"/>
              </a:rPr>
              <a:t>Georg Simon </a:t>
            </a:r>
            <a:r>
              <a:rPr lang="fr-FR" sz="1300" b="1" dirty="0">
                <a:solidFill>
                  <a:srgbClr val="FF0000"/>
                </a:solidFill>
                <a:latin typeface="Bookman Old Style" panose="02050604050505020204" pitchFamily="18" charset="0"/>
              </a:rPr>
              <a:t>Ohm</a:t>
            </a:r>
            <a:r>
              <a:rPr lang="fr-FR" sz="1300" dirty="0">
                <a:latin typeface="Bookman Old Style" panose="02050604050505020204" pitchFamily="18" charset="0"/>
              </a:rPr>
              <a:t> (1789 - 1854): physicien allemand. Il a découvert en 1827 les lois fondamentales des courants électriques et introduit les notions de quantité d’électricité et de différence de potentiel.</a:t>
            </a:r>
          </a:p>
        </p:txBody>
      </p:sp>
      <p:pic>
        <p:nvPicPr>
          <p:cNvPr id="27" name="Picture 26">
            <a:extLst>
              <a:ext uri="{FF2B5EF4-FFF2-40B4-BE49-F238E27FC236}">
                <a16:creationId xmlns:a16="http://schemas.microsoft.com/office/drawing/2014/main" id="{50CFAF4A-00A9-D219-DB41-69AFC3C7FB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823170" y="2638179"/>
            <a:ext cx="1721028" cy="2058031"/>
          </a:xfrm>
          <a:prstGeom prst="ellipse">
            <a:avLst/>
          </a:prstGeom>
          <a:ln>
            <a:noFill/>
          </a:ln>
          <a:effectLst>
            <a:softEdge rad="112500"/>
          </a:effectLst>
        </p:spPr>
      </p:pic>
    </p:spTree>
    <p:extLst>
      <p:ext uri="{BB962C8B-B14F-4D97-AF65-F5344CB8AC3E}">
        <p14:creationId xmlns:p14="http://schemas.microsoft.com/office/powerpoint/2010/main" val="25891324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73413" y="252370"/>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382001" y="4824469"/>
            <a:ext cx="4949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11</a:t>
            </a:fld>
            <a:endParaRPr sz="2400">
              <a:latin typeface="Arial"/>
              <a:cs typeface="Arial"/>
            </a:endParaRPr>
          </a:p>
        </p:txBody>
      </p:sp>
      <p:sp>
        <p:nvSpPr>
          <p:cNvPr id="15" name="Rectangle 14"/>
          <p:cNvSpPr/>
          <p:nvPr/>
        </p:nvSpPr>
        <p:spPr>
          <a:xfrm>
            <a:off x="550646" y="557613"/>
            <a:ext cx="1943481" cy="597599"/>
          </a:xfrm>
          <a:prstGeom prst="rect">
            <a:avLst/>
          </a:prstGeom>
        </p:spPr>
        <p:txBody>
          <a:bodyPr wrap="none">
            <a:spAutoFit/>
          </a:bodyPr>
          <a:lstStyle/>
          <a:p>
            <a:pPr marL="393065" lvl="1" indent="-381000">
              <a:lnSpc>
                <a:spcPct val="100000"/>
              </a:lnSpc>
              <a:spcBef>
                <a:spcPts val="100"/>
              </a:spcBef>
              <a:buAutoNum type="arabicPeriod"/>
              <a:tabLst>
                <a:tab pos="393700" algn="l"/>
              </a:tabLst>
            </a:pPr>
            <a:r>
              <a:rPr lang="fr-FR" b="1" spc="-5" dirty="0">
                <a:solidFill>
                  <a:srgbClr val="FF0000"/>
                </a:solidFill>
                <a:latin typeface="Bookman Old Style" panose="02050604050505020204" pitchFamily="18" charset="0"/>
                <a:cs typeface="Arial"/>
              </a:rPr>
              <a:t>Généralités</a:t>
            </a:r>
          </a:p>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 1.2 Historiques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2" name="TextBox 21">
            <a:extLst>
              <a:ext uri="{FF2B5EF4-FFF2-40B4-BE49-F238E27FC236}">
                <a16:creationId xmlns:a16="http://schemas.microsoft.com/office/drawing/2014/main" id="{D1ADE827-556F-E015-DB34-4D810BE5C35C}"/>
              </a:ext>
            </a:extLst>
          </p:cNvPr>
          <p:cNvSpPr txBox="1"/>
          <p:nvPr/>
        </p:nvSpPr>
        <p:spPr>
          <a:xfrm>
            <a:off x="2133600" y="1466574"/>
            <a:ext cx="6098097" cy="892552"/>
          </a:xfrm>
          <a:prstGeom prst="rect">
            <a:avLst/>
          </a:prstGeom>
          <a:solidFill>
            <a:srgbClr val="00FF00"/>
          </a:solidFill>
          <a:effectLst/>
        </p:spPr>
        <p:txBody>
          <a:bodyPr wrap="square">
            <a:spAutoFit/>
          </a:bodyPr>
          <a:lstStyle/>
          <a:p>
            <a:pPr algn="just"/>
            <a:r>
              <a:rPr lang="fr-FR" sz="1300" b="1" dirty="0">
                <a:latin typeface="Bookman Old Style" panose="02050604050505020204" pitchFamily="18" charset="0"/>
              </a:rPr>
              <a:t>James Prescott </a:t>
            </a:r>
            <a:r>
              <a:rPr lang="fr-FR" sz="1300" b="1" dirty="0">
                <a:solidFill>
                  <a:srgbClr val="FF0000"/>
                </a:solidFill>
                <a:latin typeface="Bookman Old Style" panose="02050604050505020204" pitchFamily="18" charset="0"/>
              </a:rPr>
              <a:t>Joule</a:t>
            </a:r>
            <a:r>
              <a:rPr lang="fr-FR" sz="1300" dirty="0">
                <a:latin typeface="Bookman Old Style" panose="02050604050505020204" pitchFamily="18" charset="0"/>
              </a:rPr>
              <a:t> (1818 -1889): physicien britannique. Il a </a:t>
            </a:r>
            <a:r>
              <a:rPr lang="fr-FR" sz="1300" dirty="0" err="1">
                <a:latin typeface="Bookman Old Style" panose="02050604050505020204" pitchFamily="18" charset="0"/>
              </a:rPr>
              <a:t>égalementénoncé</a:t>
            </a:r>
            <a:r>
              <a:rPr lang="fr-FR" sz="1300" dirty="0">
                <a:latin typeface="Bookman Old Style" panose="02050604050505020204" pitchFamily="18" charset="0"/>
              </a:rPr>
              <a:t> une relation entre le courant électrique traversant une résistance et la chaleur dissipée par celle-ci, appelée au XXème siècle la loi de </a:t>
            </a:r>
            <a:r>
              <a:rPr lang="fr-FR" sz="1300" b="1" dirty="0">
                <a:latin typeface="Bookman Old Style" panose="02050604050505020204" pitchFamily="18" charset="0"/>
              </a:rPr>
              <a:t>Joule</a:t>
            </a:r>
            <a:r>
              <a:rPr lang="fr-FR" sz="1300" dirty="0">
                <a:latin typeface="Bookman Old Style" panose="02050604050505020204" pitchFamily="18" charset="0"/>
              </a:rPr>
              <a:t> (1860).</a:t>
            </a:r>
          </a:p>
        </p:txBody>
      </p:sp>
      <p:sp>
        <p:nvSpPr>
          <p:cNvPr id="25" name="TextBox 24">
            <a:extLst>
              <a:ext uri="{FF2B5EF4-FFF2-40B4-BE49-F238E27FC236}">
                <a16:creationId xmlns:a16="http://schemas.microsoft.com/office/drawing/2014/main" id="{9AFFE5AE-333E-AB17-5F88-F25382B9BC43}"/>
              </a:ext>
            </a:extLst>
          </p:cNvPr>
          <p:cNvSpPr txBox="1"/>
          <p:nvPr/>
        </p:nvSpPr>
        <p:spPr>
          <a:xfrm>
            <a:off x="423474" y="3667195"/>
            <a:ext cx="6098097" cy="692497"/>
          </a:xfrm>
          <a:prstGeom prst="rect">
            <a:avLst/>
          </a:prstGeom>
          <a:solidFill>
            <a:srgbClr val="00FF00"/>
          </a:solidFill>
          <a:effectLst/>
        </p:spPr>
        <p:txBody>
          <a:bodyPr wrap="square">
            <a:spAutoFit/>
          </a:bodyPr>
          <a:lstStyle/>
          <a:p>
            <a:pPr algn="just"/>
            <a:r>
              <a:rPr lang="fr-FR" sz="1300" b="1" dirty="0">
                <a:latin typeface="Bookman Old Style" panose="02050604050505020204" pitchFamily="18" charset="0"/>
              </a:rPr>
              <a:t>Alessandro</a:t>
            </a:r>
            <a:r>
              <a:rPr lang="fr-FR" sz="1300" dirty="0">
                <a:latin typeface="Bookman Old Style" panose="02050604050505020204" pitchFamily="18" charset="0"/>
              </a:rPr>
              <a:t> </a:t>
            </a:r>
            <a:r>
              <a:rPr lang="fr-FR" sz="1300" b="1" dirty="0">
                <a:solidFill>
                  <a:srgbClr val="FF0000"/>
                </a:solidFill>
                <a:latin typeface="Bookman Old Style" panose="02050604050505020204" pitchFamily="18" charset="0"/>
              </a:rPr>
              <a:t>Volta</a:t>
            </a:r>
            <a:r>
              <a:rPr lang="fr-FR" sz="1300" dirty="0">
                <a:latin typeface="Bookman Old Style" panose="02050604050505020204" pitchFamily="18" charset="0"/>
              </a:rPr>
              <a:t> (1745-1827): physicien italien. Il a inventé la pile électrique en 1800. L'unité de tension ou potentiel électrique porte son nom: </a:t>
            </a:r>
            <a:r>
              <a:rPr lang="fr-FR" sz="1300" b="1" dirty="0">
                <a:latin typeface="Bookman Old Style" panose="02050604050505020204" pitchFamily="18" charset="0"/>
              </a:rPr>
              <a:t>Volt (V)</a:t>
            </a:r>
          </a:p>
        </p:txBody>
      </p:sp>
      <p:pic>
        <p:nvPicPr>
          <p:cNvPr id="4" name="Picture 3">
            <a:extLst>
              <a:ext uri="{FF2B5EF4-FFF2-40B4-BE49-F238E27FC236}">
                <a16:creationId xmlns:a16="http://schemas.microsoft.com/office/drawing/2014/main" id="{EFDB3CB5-9002-1AD4-BD9F-2EFE3DCB46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6554" y="1273684"/>
            <a:ext cx="1542381" cy="1542381"/>
          </a:xfrm>
          <a:prstGeom prst="ellipse">
            <a:avLst/>
          </a:prstGeom>
          <a:ln>
            <a:noFill/>
          </a:ln>
          <a:effectLst>
            <a:softEdge rad="112500"/>
          </a:effectLst>
        </p:spPr>
      </p:pic>
      <p:pic>
        <p:nvPicPr>
          <p:cNvPr id="11" name="Picture 10">
            <a:extLst>
              <a:ext uri="{FF2B5EF4-FFF2-40B4-BE49-F238E27FC236}">
                <a16:creationId xmlns:a16="http://schemas.microsoft.com/office/drawing/2014/main" id="{6C8500FE-A887-9B3B-A1D5-FF2A55AAE3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086600" y="2947950"/>
            <a:ext cx="1463040" cy="1865376"/>
          </a:xfrm>
          <a:prstGeom prst="ellipse">
            <a:avLst/>
          </a:prstGeom>
          <a:ln>
            <a:noFill/>
          </a:ln>
          <a:effectLst>
            <a:softEdge rad="112500"/>
          </a:effectLst>
        </p:spPr>
      </p:pic>
    </p:spTree>
    <p:extLst>
      <p:ext uri="{BB962C8B-B14F-4D97-AF65-F5344CB8AC3E}">
        <p14:creationId xmlns:p14="http://schemas.microsoft.com/office/powerpoint/2010/main" val="36539358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73413" y="252370"/>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382001" y="4824469"/>
            <a:ext cx="4949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12</a:t>
            </a:fld>
            <a:endParaRPr sz="2400">
              <a:latin typeface="Arial"/>
              <a:cs typeface="Arial"/>
            </a:endParaRPr>
          </a:p>
        </p:txBody>
      </p:sp>
      <p:sp>
        <p:nvSpPr>
          <p:cNvPr id="15" name="Rectangle 14"/>
          <p:cNvSpPr/>
          <p:nvPr/>
        </p:nvSpPr>
        <p:spPr>
          <a:xfrm>
            <a:off x="550646" y="557613"/>
            <a:ext cx="1943481" cy="597599"/>
          </a:xfrm>
          <a:prstGeom prst="rect">
            <a:avLst/>
          </a:prstGeom>
        </p:spPr>
        <p:txBody>
          <a:bodyPr wrap="none">
            <a:spAutoFit/>
          </a:bodyPr>
          <a:lstStyle/>
          <a:p>
            <a:pPr marL="393065" lvl="1" indent="-381000">
              <a:lnSpc>
                <a:spcPct val="100000"/>
              </a:lnSpc>
              <a:spcBef>
                <a:spcPts val="100"/>
              </a:spcBef>
              <a:buAutoNum type="arabicPeriod"/>
              <a:tabLst>
                <a:tab pos="393700" algn="l"/>
              </a:tabLst>
            </a:pPr>
            <a:r>
              <a:rPr lang="fr-FR" b="1" spc="-5" dirty="0">
                <a:solidFill>
                  <a:srgbClr val="FF0000"/>
                </a:solidFill>
                <a:latin typeface="Bookman Old Style" panose="02050604050505020204" pitchFamily="18" charset="0"/>
                <a:cs typeface="Arial"/>
              </a:rPr>
              <a:t>Généralités</a:t>
            </a:r>
          </a:p>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 1.2 Historiques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2" name="TextBox 21">
            <a:extLst>
              <a:ext uri="{FF2B5EF4-FFF2-40B4-BE49-F238E27FC236}">
                <a16:creationId xmlns:a16="http://schemas.microsoft.com/office/drawing/2014/main" id="{D1ADE827-556F-E015-DB34-4D810BE5C35C}"/>
              </a:ext>
            </a:extLst>
          </p:cNvPr>
          <p:cNvSpPr txBox="1"/>
          <p:nvPr/>
        </p:nvSpPr>
        <p:spPr>
          <a:xfrm>
            <a:off x="2133600" y="1466574"/>
            <a:ext cx="6098097" cy="692497"/>
          </a:xfrm>
          <a:prstGeom prst="rect">
            <a:avLst/>
          </a:prstGeom>
          <a:solidFill>
            <a:srgbClr val="00FF00"/>
          </a:solidFill>
          <a:effectLst/>
        </p:spPr>
        <p:txBody>
          <a:bodyPr wrap="square">
            <a:spAutoFit/>
          </a:bodyPr>
          <a:lstStyle/>
          <a:p>
            <a:pPr algn="just"/>
            <a:r>
              <a:rPr lang="fr-FR" sz="1300" b="1" dirty="0">
                <a:latin typeface="Bookman Old Style" panose="02050604050505020204" pitchFamily="18" charset="0"/>
              </a:rPr>
              <a:t>James</a:t>
            </a:r>
            <a:r>
              <a:rPr lang="fr-FR" sz="1300" dirty="0">
                <a:latin typeface="Bookman Old Style" panose="02050604050505020204" pitchFamily="18" charset="0"/>
              </a:rPr>
              <a:t> </a:t>
            </a:r>
            <a:r>
              <a:rPr lang="fr-FR" sz="1300" b="1" dirty="0">
                <a:solidFill>
                  <a:srgbClr val="FF0000"/>
                </a:solidFill>
                <a:latin typeface="Bookman Old Style" panose="02050604050505020204" pitchFamily="18" charset="0"/>
              </a:rPr>
              <a:t>Watt</a:t>
            </a:r>
            <a:r>
              <a:rPr lang="fr-FR" sz="1300" dirty="0">
                <a:latin typeface="Bookman Old Style" panose="02050604050505020204" pitchFamily="18" charset="0"/>
              </a:rPr>
              <a:t> (1736 - 1819): est un ingénieur écossais dont les améliorations sur la machine à vapeur furent une étape clé dans la révolution industrielle.</a:t>
            </a:r>
          </a:p>
        </p:txBody>
      </p:sp>
      <p:sp>
        <p:nvSpPr>
          <p:cNvPr id="25" name="TextBox 24">
            <a:extLst>
              <a:ext uri="{FF2B5EF4-FFF2-40B4-BE49-F238E27FC236}">
                <a16:creationId xmlns:a16="http://schemas.microsoft.com/office/drawing/2014/main" id="{9AFFE5AE-333E-AB17-5F88-F25382B9BC43}"/>
              </a:ext>
            </a:extLst>
          </p:cNvPr>
          <p:cNvSpPr txBox="1"/>
          <p:nvPr/>
        </p:nvSpPr>
        <p:spPr>
          <a:xfrm>
            <a:off x="423474" y="3667195"/>
            <a:ext cx="6098097" cy="692497"/>
          </a:xfrm>
          <a:prstGeom prst="rect">
            <a:avLst/>
          </a:prstGeom>
          <a:solidFill>
            <a:srgbClr val="00FF00"/>
          </a:solidFill>
          <a:effectLst/>
        </p:spPr>
        <p:txBody>
          <a:bodyPr wrap="square">
            <a:spAutoFit/>
          </a:bodyPr>
          <a:lstStyle/>
          <a:p>
            <a:pPr algn="just"/>
            <a:r>
              <a:rPr lang="fr-FR" sz="1300" b="1" dirty="0">
                <a:latin typeface="Bookman Old Style" panose="02050604050505020204" pitchFamily="18" charset="0"/>
              </a:rPr>
              <a:t>Gustav Robert </a:t>
            </a:r>
            <a:r>
              <a:rPr lang="fr-FR" sz="1300" b="1" dirty="0">
                <a:solidFill>
                  <a:srgbClr val="FF0000"/>
                </a:solidFill>
                <a:latin typeface="Bookman Old Style" panose="02050604050505020204" pitchFamily="18" charset="0"/>
              </a:rPr>
              <a:t>Kirchhoff</a:t>
            </a:r>
            <a:r>
              <a:rPr lang="fr-FR" sz="1300" b="1" dirty="0">
                <a:latin typeface="Bookman Old Style" panose="02050604050505020204" pitchFamily="18" charset="0"/>
              </a:rPr>
              <a:t> </a:t>
            </a:r>
            <a:r>
              <a:rPr lang="fr-FR" sz="1300" dirty="0">
                <a:latin typeface="Bookman Old Style" panose="02050604050505020204" pitchFamily="18" charset="0"/>
              </a:rPr>
              <a:t>(1824 - 1887): Physicien allemand. Il a établi en 1845 deux lois qui fondent tous les calculs sur les circuits électriques.</a:t>
            </a:r>
          </a:p>
        </p:txBody>
      </p:sp>
      <p:pic>
        <p:nvPicPr>
          <p:cNvPr id="5" name="Picture 4">
            <a:extLst>
              <a:ext uri="{FF2B5EF4-FFF2-40B4-BE49-F238E27FC236}">
                <a16:creationId xmlns:a16="http://schemas.microsoft.com/office/drawing/2014/main" id="{EB36E986-3738-B7BD-8B10-41B8A974C7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839" y="1188211"/>
            <a:ext cx="2054761" cy="1383539"/>
          </a:xfrm>
          <a:prstGeom prst="ellipse">
            <a:avLst/>
          </a:prstGeom>
          <a:ln>
            <a:noFill/>
          </a:ln>
          <a:effectLst>
            <a:softEdge rad="112500"/>
          </a:effectLst>
        </p:spPr>
      </p:pic>
      <p:pic>
        <p:nvPicPr>
          <p:cNvPr id="13" name="Picture 12">
            <a:extLst>
              <a:ext uri="{FF2B5EF4-FFF2-40B4-BE49-F238E27FC236}">
                <a16:creationId xmlns:a16="http://schemas.microsoft.com/office/drawing/2014/main" id="{5928363A-342E-3E22-3D41-C5C9FBED71B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96593" y="2871409"/>
            <a:ext cx="1923933" cy="1923933"/>
          </a:xfrm>
          <a:prstGeom prst="ellipse">
            <a:avLst/>
          </a:prstGeom>
          <a:ln>
            <a:noFill/>
          </a:ln>
          <a:effectLst>
            <a:softEdge rad="112500"/>
          </a:effectLst>
        </p:spPr>
      </p:pic>
    </p:spTree>
    <p:extLst>
      <p:ext uri="{BB962C8B-B14F-4D97-AF65-F5344CB8AC3E}">
        <p14:creationId xmlns:p14="http://schemas.microsoft.com/office/powerpoint/2010/main" val="7850638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73413" y="252370"/>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49044" y="4822928"/>
            <a:ext cx="4949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13</a:t>
            </a:fld>
            <a:endParaRPr sz="2400">
              <a:latin typeface="Arial"/>
              <a:cs typeface="Arial"/>
            </a:endParaRPr>
          </a:p>
        </p:txBody>
      </p:sp>
      <p:sp>
        <p:nvSpPr>
          <p:cNvPr id="15" name="Rectangle 14"/>
          <p:cNvSpPr/>
          <p:nvPr/>
        </p:nvSpPr>
        <p:spPr>
          <a:xfrm>
            <a:off x="550646" y="557613"/>
            <a:ext cx="1943481" cy="597599"/>
          </a:xfrm>
          <a:prstGeom prst="rect">
            <a:avLst/>
          </a:prstGeom>
        </p:spPr>
        <p:txBody>
          <a:bodyPr wrap="none">
            <a:spAutoFit/>
          </a:bodyPr>
          <a:lstStyle/>
          <a:p>
            <a:pPr marL="393065" lvl="1" indent="-381000">
              <a:lnSpc>
                <a:spcPct val="100000"/>
              </a:lnSpc>
              <a:spcBef>
                <a:spcPts val="100"/>
              </a:spcBef>
              <a:buAutoNum type="arabicPeriod"/>
              <a:tabLst>
                <a:tab pos="393700" algn="l"/>
              </a:tabLst>
            </a:pPr>
            <a:r>
              <a:rPr lang="fr-FR" b="1" spc="-5" dirty="0">
                <a:solidFill>
                  <a:srgbClr val="FF0000"/>
                </a:solidFill>
                <a:latin typeface="Bookman Old Style" panose="02050604050505020204" pitchFamily="18" charset="0"/>
                <a:cs typeface="Arial"/>
              </a:rPr>
              <a:t>Généralités</a:t>
            </a:r>
          </a:p>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 1.2 Historiques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2" name="TextBox 21">
            <a:extLst>
              <a:ext uri="{FF2B5EF4-FFF2-40B4-BE49-F238E27FC236}">
                <a16:creationId xmlns:a16="http://schemas.microsoft.com/office/drawing/2014/main" id="{D1ADE827-556F-E015-DB34-4D810BE5C35C}"/>
              </a:ext>
            </a:extLst>
          </p:cNvPr>
          <p:cNvSpPr txBox="1"/>
          <p:nvPr/>
        </p:nvSpPr>
        <p:spPr>
          <a:xfrm>
            <a:off x="2133600" y="1466574"/>
            <a:ext cx="6098097" cy="692497"/>
          </a:xfrm>
          <a:prstGeom prst="rect">
            <a:avLst/>
          </a:prstGeom>
          <a:solidFill>
            <a:srgbClr val="00FF00"/>
          </a:solidFill>
          <a:effectLst/>
        </p:spPr>
        <p:txBody>
          <a:bodyPr wrap="square">
            <a:spAutoFit/>
          </a:bodyPr>
          <a:lstStyle/>
          <a:p>
            <a:pPr algn="just"/>
            <a:r>
              <a:rPr lang="fr-FR" sz="1300" b="1" dirty="0">
                <a:latin typeface="Bookman Old Style" panose="02050604050505020204" pitchFamily="18" charset="0"/>
              </a:rPr>
              <a:t>Léon Charles </a:t>
            </a:r>
            <a:r>
              <a:rPr lang="fr-FR" sz="1300" b="1" dirty="0">
                <a:solidFill>
                  <a:srgbClr val="FF0000"/>
                </a:solidFill>
                <a:latin typeface="Bookman Old Style" panose="02050604050505020204" pitchFamily="18" charset="0"/>
              </a:rPr>
              <a:t>Thévenin</a:t>
            </a:r>
            <a:r>
              <a:rPr lang="fr-FR" sz="1300" dirty="0">
                <a:latin typeface="Bookman Old Style" panose="02050604050505020204" pitchFamily="18" charset="0"/>
              </a:rPr>
              <a:t> (30 mars 1857 à Meaux - 21 septembre 1926 à Paris) est un ingénieur en télégraphie français. Il est l'auteur du </a:t>
            </a:r>
            <a:r>
              <a:rPr lang="fr-FR" sz="1300" b="1" dirty="0">
                <a:latin typeface="Bookman Old Style" panose="02050604050505020204" pitchFamily="18" charset="0"/>
              </a:rPr>
              <a:t>théorème de Thévenin</a:t>
            </a:r>
            <a:r>
              <a:rPr lang="fr-FR" sz="1300" dirty="0">
                <a:latin typeface="Bookman Old Style" panose="02050604050505020204" pitchFamily="18" charset="0"/>
              </a:rPr>
              <a:t>.</a:t>
            </a:r>
          </a:p>
        </p:txBody>
      </p:sp>
      <p:sp>
        <p:nvSpPr>
          <p:cNvPr id="25" name="TextBox 24">
            <a:extLst>
              <a:ext uri="{FF2B5EF4-FFF2-40B4-BE49-F238E27FC236}">
                <a16:creationId xmlns:a16="http://schemas.microsoft.com/office/drawing/2014/main" id="{9AFFE5AE-333E-AB17-5F88-F25382B9BC43}"/>
              </a:ext>
            </a:extLst>
          </p:cNvPr>
          <p:cNvSpPr txBox="1"/>
          <p:nvPr/>
        </p:nvSpPr>
        <p:spPr>
          <a:xfrm>
            <a:off x="906011" y="3519878"/>
            <a:ext cx="6098097" cy="492443"/>
          </a:xfrm>
          <a:prstGeom prst="rect">
            <a:avLst/>
          </a:prstGeom>
          <a:solidFill>
            <a:srgbClr val="00FF00"/>
          </a:solidFill>
          <a:effectLst/>
        </p:spPr>
        <p:txBody>
          <a:bodyPr wrap="square">
            <a:spAutoFit/>
          </a:bodyPr>
          <a:lstStyle/>
          <a:p>
            <a:pPr algn="just"/>
            <a:r>
              <a:rPr lang="fr-FR" sz="1300" b="1" dirty="0">
                <a:latin typeface="Bookman Old Style" panose="02050604050505020204" pitchFamily="18" charset="0"/>
              </a:rPr>
              <a:t>Edward </a:t>
            </a:r>
            <a:r>
              <a:rPr lang="fr-FR" sz="1300" b="1" dirty="0" err="1">
                <a:latin typeface="Bookman Old Style" panose="02050604050505020204" pitchFamily="18" charset="0"/>
              </a:rPr>
              <a:t>Lawry</a:t>
            </a:r>
            <a:r>
              <a:rPr lang="fr-FR" sz="1300" b="1" dirty="0">
                <a:latin typeface="Bookman Old Style" panose="02050604050505020204" pitchFamily="18" charset="0"/>
              </a:rPr>
              <a:t> </a:t>
            </a:r>
            <a:r>
              <a:rPr lang="fr-FR" sz="1300" b="1" dirty="0">
                <a:solidFill>
                  <a:srgbClr val="FF0000"/>
                </a:solidFill>
                <a:latin typeface="Bookman Old Style" panose="02050604050505020204" pitchFamily="18" charset="0"/>
              </a:rPr>
              <a:t>Norton</a:t>
            </a:r>
            <a:r>
              <a:rPr lang="fr-FR" sz="1300" b="1" dirty="0">
                <a:latin typeface="Bookman Old Style" panose="02050604050505020204" pitchFamily="18" charset="0"/>
              </a:rPr>
              <a:t> </a:t>
            </a:r>
            <a:r>
              <a:rPr lang="fr-FR" sz="1300" dirty="0">
                <a:latin typeface="Bookman Old Style" panose="02050604050505020204" pitchFamily="18" charset="0"/>
              </a:rPr>
              <a:t>(1898-1983) est un ingénieur en électricité américain. Il est l'auteur du </a:t>
            </a:r>
            <a:r>
              <a:rPr lang="fr-FR" sz="1300" b="1" dirty="0">
                <a:latin typeface="Bookman Old Style" panose="02050604050505020204" pitchFamily="18" charset="0"/>
              </a:rPr>
              <a:t>théorème de  Norton </a:t>
            </a:r>
            <a:r>
              <a:rPr lang="fr-FR" sz="1300" dirty="0">
                <a:latin typeface="Bookman Old Style" panose="02050604050505020204" pitchFamily="18" charset="0"/>
              </a:rPr>
              <a:t>en 1926.</a:t>
            </a:r>
          </a:p>
        </p:txBody>
      </p:sp>
      <p:pic>
        <p:nvPicPr>
          <p:cNvPr id="4" name="Picture 3">
            <a:extLst>
              <a:ext uri="{FF2B5EF4-FFF2-40B4-BE49-F238E27FC236}">
                <a16:creationId xmlns:a16="http://schemas.microsoft.com/office/drawing/2014/main" id="{E529CB78-F6E6-0688-88B1-E1D9A0A30B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9370" y="1107920"/>
            <a:ext cx="1704975" cy="1790613"/>
          </a:xfrm>
          <a:prstGeom prst="ellipse">
            <a:avLst/>
          </a:prstGeom>
          <a:ln>
            <a:noFill/>
          </a:ln>
          <a:effectLst>
            <a:softEdge rad="112500"/>
          </a:effectLst>
        </p:spPr>
      </p:pic>
      <p:pic>
        <p:nvPicPr>
          <p:cNvPr id="12" name="Picture 11">
            <a:extLst>
              <a:ext uri="{FF2B5EF4-FFF2-40B4-BE49-F238E27FC236}">
                <a16:creationId xmlns:a16="http://schemas.microsoft.com/office/drawing/2014/main" id="{D731AFB7-50B2-E03B-15B7-1289E307C0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10400" y="2671863"/>
            <a:ext cx="1539350" cy="2130623"/>
          </a:xfrm>
          <a:prstGeom prst="ellipse">
            <a:avLst/>
          </a:prstGeom>
          <a:ln>
            <a:noFill/>
          </a:ln>
          <a:effectLst>
            <a:softEdge rad="112500"/>
          </a:effectLst>
        </p:spPr>
      </p:pic>
    </p:spTree>
    <p:extLst>
      <p:ext uri="{BB962C8B-B14F-4D97-AF65-F5344CB8AC3E}">
        <p14:creationId xmlns:p14="http://schemas.microsoft.com/office/powerpoint/2010/main" val="15211376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342C57-4BCE-7779-220D-845DBBD159F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78107" y="3181350"/>
            <a:ext cx="2458146" cy="1513322"/>
          </a:xfrm>
          <a:prstGeom prst="rect">
            <a:avLst/>
          </a:prstGeom>
        </p:spPr>
      </p:pic>
      <p:sp>
        <p:nvSpPr>
          <p:cNvPr id="2" name="object 2"/>
          <p:cNvSpPr txBox="1">
            <a:spLocks noGrp="1"/>
          </p:cNvSpPr>
          <p:nvPr>
            <p:ph type="title"/>
          </p:nvPr>
        </p:nvSpPr>
        <p:spPr>
          <a:xfrm>
            <a:off x="697881" y="238590"/>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458201" y="4824469"/>
            <a:ext cx="4187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14</a:t>
            </a:fld>
            <a:endParaRPr sz="2400">
              <a:latin typeface="Arial"/>
              <a:cs typeface="Arial"/>
            </a:endParaRPr>
          </a:p>
        </p:txBody>
      </p:sp>
      <p:sp>
        <p:nvSpPr>
          <p:cNvPr id="15" name="Rectangle 14"/>
          <p:cNvSpPr/>
          <p:nvPr/>
        </p:nvSpPr>
        <p:spPr>
          <a:xfrm>
            <a:off x="550646" y="557613"/>
            <a:ext cx="2400016" cy="597599"/>
          </a:xfrm>
          <a:prstGeom prst="rect">
            <a:avLst/>
          </a:prstGeom>
        </p:spPr>
        <p:txBody>
          <a:bodyPr wrap="none">
            <a:spAutoFit/>
          </a:bodyPr>
          <a:lstStyle/>
          <a:p>
            <a:pPr marL="393065" lvl="1" indent="-381000">
              <a:lnSpc>
                <a:spcPct val="100000"/>
              </a:lnSpc>
              <a:spcBef>
                <a:spcPts val="100"/>
              </a:spcBef>
              <a:buAutoNum type="arabicPeriod"/>
              <a:tabLst>
                <a:tab pos="393700" algn="l"/>
              </a:tabLst>
            </a:pPr>
            <a:r>
              <a:rPr lang="fr-FR" b="1" spc="-5" dirty="0">
                <a:solidFill>
                  <a:srgbClr val="FF0000"/>
                </a:solidFill>
                <a:latin typeface="Bookman Old Style" panose="02050604050505020204" pitchFamily="18" charset="0"/>
                <a:cs typeface="Arial"/>
              </a:rPr>
              <a:t>Généralités</a:t>
            </a:r>
          </a:p>
          <a:p>
            <a:pPr marL="12065" lvl="1">
              <a:lnSpc>
                <a:spcPct val="100000"/>
              </a:lnSpc>
              <a:spcBef>
                <a:spcPts val="100"/>
              </a:spcBef>
              <a:tabLst>
                <a:tab pos="393700" algn="l"/>
              </a:tabLst>
            </a:pPr>
            <a:r>
              <a:rPr lang="fr-FR" sz="1400" b="1" spc="-5" dirty="0">
                <a:solidFill>
                  <a:srgbClr val="CC00CC"/>
                </a:solidFill>
                <a:latin typeface="Garamond" panose="02020404030301010803" pitchFamily="18" charset="0"/>
                <a:cs typeface="Browallia New" panose="020B0604020202020204" pitchFamily="34" charset="-34"/>
              </a:rPr>
              <a:t> </a:t>
            </a:r>
            <a:r>
              <a:rPr lang="fr-FR" sz="1400" b="1" spc="-5" dirty="0">
                <a:solidFill>
                  <a:srgbClr val="CC00CC"/>
                </a:solidFill>
                <a:latin typeface="Bookman Old Style" panose="02050604050505020204" pitchFamily="18" charset="0"/>
                <a:cs typeface="Arial"/>
              </a:rPr>
              <a:t>1.3 C</a:t>
            </a:r>
            <a:r>
              <a:rPr lang="fr-FR" altLang="fr-FR" sz="1400" b="1" spc="-5" dirty="0">
                <a:solidFill>
                  <a:srgbClr val="CC00CC"/>
                </a:solidFill>
                <a:latin typeface="Bookman Old Style" panose="02050604050505020204" pitchFamily="18" charset="0"/>
                <a:cs typeface="Arial"/>
              </a:rPr>
              <a:t>ourant électrique </a:t>
            </a:r>
            <a:endParaRPr lang="fr-FR" sz="1400" b="1" spc="-5"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grpSp>
        <p:nvGrpSpPr>
          <p:cNvPr id="5" name="object 11">
            <a:extLst>
              <a:ext uri="{FF2B5EF4-FFF2-40B4-BE49-F238E27FC236}">
                <a16:creationId xmlns:a16="http://schemas.microsoft.com/office/drawing/2014/main" id="{8549FFDA-BB75-48AB-9D85-4E24A59E2626}"/>
              </a:ext>
            </a:extLst>
          </p:cNvPr>
          <p:cNvGrpSpPr/>
          <p:nvPr/>
        </p:nvGrpSpPr>
        <p:grpSpPr>
          <a:xfrm>
            <a:off x="550646" y="1164797"/>
            <a:ext cx="8438364" cy="1001147"/>
            <a:chOff x="695200" y="1293934"/>
            <a:chExt cx="8225156" cy="690246"/>
          </a:xfrm>
        </p:grpSpPr>
        <p:sp>
          <p:nvSpPr>
            <p:cNvPr id="17" name="object 12">
              <a:extLst>
                <a:ext uri="{FF2B5EF4-FFF2-40B4-BE49-F238E27FC236}">
                  <a16:creationId xmlns:a16="http://schemas.microsoft.com/office/drawing/2014/main" id="{3142A110-21CC-B758-60AB-85670BF83615}"/>
                </a:ext>
              </a:extLst>
            </p:cNvPr>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20" name="object 13">
              <a:extLst>
                <a:ext uri="{FF2B5EF4-FFF2-40B4-BE49-F238E27FC236}">
                  <a16:creationId xmlns:a16="http://schemas.microsoft.com/office/drawing/2014/main" id="{8C6B6AEC-BDBA-A538-B9E7-6F4AC2118ECF}"/>
                </a:ext>
              </a:extLst>
            </p:cNvPr>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22" name="TextBox 21">
            <a:extLst>
              <a:ext uri="{FF2B5EF4-FFF2-40B4-BE49-F238E27FC236}">
                <a16:creationId xmlns:a16="http://schemas.microsoft.com/office/drawing/2014/main" id="{0E6907DE-5A7C-9EF7-3497-782146DC2D16}"/>
              </a:ext>
            </a:extLst>
          </p:cNvPr>
          <p:cNvSpPr txBox="1"/>
          <p:nvPr/>
        </p:nvSpPr>
        <p:spPr>
          <a:xfrm>
            <a:off x="683900" y="1200110"/>
            <a:ext cx="8190466" cy="1061829"/>
          </a:xfrm>
          <a:prstGeom prst="rect">
            <a:avLst/>
          </a:prstGeom>
          <a:noFill/>
        </p:spPr>
        <p:txBody>
          <a:bodyPr wrap="square">
            <a:spAutoFit/>
          </a:bodyPr>
          <a:lstStyle/>
          <a:p>
            <a:pPr algn="just"/>
            <a:r>
              <a:rPr lang="fr-FR" sz="1600" dirty="0">
                <a:latin typeface="Bookman Old Style" panose="02050604050505020204" pitchFamily="18" charset="0"/>
              </a:rPr>
              <a:t>On appelle </a:t>
            </a:r>
            <a:r>
              <a:rPr lang="fr-FR" sz="1600" b="1" dirty="0">
                <a:solidFill>
                  <a:srgbClr val="FF0000"/>
                </a:solidFill>
                <a:latin typeface="Bookman Old Style" panose="02050604050505020204" pitchFamily="18" charset="0"/>
              </a:rPr>
              <a:t>courant électrique </a:t>
            </a:r>
            <a:r>
              <a:rPr lang="fr-FR" sz="1600" dirty="0">
                <a:latin typeface="Bookman Old Style" panose="02050604050505020204" pitchFamily="18" charset="0"/>
              </a:rPr>
              <a:t>le </a:t>
            </a:r>
            <a:r>
              <a:rPr lang="fr-FR" sz="1600" b="1" dirty="0">
                <a:latin typeface="Bookman Old Style" panose="02050604050505020204" pitchFamily="18" charset="0"/>
              </a:rPr>
              <a:t>déplacement</a:t>
            </a:r>
            <a:r>
              <a:rPr lang="fr-FR" sz="1600" dirty="0">
                <a:latin typeface="Bookman Old Style" panose="02050604050505020204" pitchFamily="18" charset="0"/>
              </a:rPr>
              <a:t> de </a:t>
            </a:r>
            <a:r>
              <a:rPr lang="fr-FR" sz="1600" b="1" dirty="0">
                <a:latin typeface="Bookman Old Style" panose="02050604050505020204" pitchFamily="18" charset="0"/>
              </a:rPr>
              <a:t>porteurs de charges</a:t>
            </a:r>
            <a:r>
              <a:rPr lang="fr-FR" sz="1600" dirty="0">
                <a:latin typeface="Bookman Old Style" panose="02050604050505020204" pitchFamily="18" charset="0"/>
              </a:rPr>
              <a:t> dans le circuit électrique. Conventionnellement, le </a:t>
            </a:r>
            <a:r>
              <a:rPr lang="fr-FR" sz="1600" b="1" dirty="0">
                <a:latin typeface="Bookman Old Style" panose="02050604050505020204" pitchFamily="18" charset="0"/>
              </a:rPr>
              <a:t>sens</a:t>
            </a:r>
            <a:r>
              <a:rPr lang="fr-FR" sz="1600" dirty="0">
                <a:latin typeface="Bookman Old Style" panose="02050604050505020204" pitchFamily="18" charset="0"/>
              </a:rPr>
              <a:t> du courant est celui du déplacement des charges positives (et donc </a:t>
            </a:r>
            <a:r>
              <a:rPr lang="fr-FR" sz="1600" b="1" dirty="0">
                <a:latin typeface="Bookman Old Style" panose="02050604050505020204" pitchFamily="18" charset="0"/>
              </a:rPr>
              <a:t>opposé au sens des électrons</a:t>
            </a:r>
            <a:r>
              <a:rPr lang="fr-FR" sz="1600" dirty="0">
                <a:latin typeface="Bookman Old Style" panose="02050604050505020204" pitchFamily="18" charset="0"/>
              </a:rPr>
              <a:t>).</a:t>
            </a:r>
          </a:p>
          <a:p>
            <a:pPr algn="just"/>
            <a:endParaRPr lang="fr-FR" sz="1500" dirty="0">
              <a:latin typeface="Bookman Old Style" panose="02050604050505020204" pitchFamily="18" charset="0"/>
            </a:endParaRP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97409987-1F2C-DB92-4B11-FE2E29D5E1E6}"/>
                  </a:ext>
                </a:extLst>
              </p:cNvPr>
              <p:cNvSpPr txBox="1"/>
              <p:nvPr/>
            </p:nvSpPr>
            <p:spPr>
              <a:xfrm>
                <a:off x="629295" y="2230306"/>
                <a:ext cx="8446119" cy="2831353"/>
              </a:xfrm>
              <a:prstGeom prst="rect">
                <a:avLst/>
              </a:prstGeom>
              <a:noFill/>
            </p:spPr>
            <p:txBody>
              <a:bodyPr wrap="square">
                <a:spAutoFit/>
              </a:bodyPr>
              <a:lstStyle/>
              <a:p>
                <a:pPr marL="285750" indent="-285750">
                  <a:buFont typeface="Wingdings" panose="05000000000000000000" pitchFamily="2" charset="2"/>
                  <a:buChar char="q"/>
                </a:pPr>
                <a:r>
                  <a:rPr lang="fr-FR" altLang="fr-FR" sz="1500" dirty="0">
                    <a:latin typeface="Bookman Old Style" panose="02050604050505020204" pitchFamily="18" charset="0"/>
                    <a:cs typeface="Browallia New" panose="020B0604020202020204" pitchFamily="34" charset="-34"/>
                  </a:rPr>
                  <a:t>On le caractérise par une grandeur appelée </a:t>
                </a:r>
                <a:r>
                  <a:rPr lang="fr-FR" altLang="fr-FR" sz="1500" b="1" dirty="0">
                    <a:solidFill>
                      <a:srgbClr val="FF0000"/>
                    </a:solidFill>
                    <a:latin typeface="Bookman Old Style" panose="02050604050505020204" pitchFamily="18" charset="0"/>
                    <a:cs typeface="Browallia New" panose="020B0604020202020204" pitchFamily="34" charset="-34"/>
                  </a:rPr>
                  <a:t>l’intensité</a:t>
                </a:r>
                <a:r>
                  <a:rPr lang="fr-FR" altLang="fr-FR" sz="1500" dirty="0">
                    <a:latin typeface="Bookman Old Style" panose="02050604050505020204" pitchFamily="18" charset="0"/>
                    <a:cs typeface="Browallia New" panose="020B0604020202020204" pitchFamily="34" charset="-34"/>
                  </a:rPr>
                  <a:t>, définie comme étant le </a:t>
                </a:r>
                <a:r>
                  <a:rPr lang="fr-FR" altLang="fr-FR" sz="1500" b="1" dirty="0">
                    <a:solidFill>
                      <a:srgbClr val="FF0000"/>
                    </a:solidFill>
                    <a:latin typeface="Bookman Old Style" panose="02050604050505020204" pitchFamily="18" charset="0"/>
                    <a:cs typeface="Browallia New" panose="020B0604020202020204" pitchFamily="34" charset="-34"/>
                  </a:rPr>
                  <a:t>débit</a:t>
                </a:r>
                <a:r>
                  <a:rPr lang="fr-FR" altLang="fr-FR" sz="1500" dirty="0">
                    <a:latin typeface="Bookman Old Style" panose="02050604050505020204" pitchFamily="18" charset="0"/>
                    <a:cs typeface="Browallia New" panose="020B0604020202020204" pitchFamily="34" charset="-34"/>
                  </a:rPr>
                  <a:t> de charges électriques dans le conducteur</a:t>
                </a:r>
              </a:p>
              <a:p>
                <a:endParaRPr lang="fr-FR" altLang="fr-FR" sz="1500" dirty="0">
                  <a:latin typeface="Bookman Old Style" panose="02050604050505020204" pitchFamily="18" charset="0"/>
                  <a:cs typeface="Browallia New" panose="020B0604020202020204" pitchFamily="34" charset="-34"/>
                </a:endParaRPr>
              </a:p>
              <a:p>
                <a:pPr marL="285750" indent="-285750">
                  <a:buFont typeface="Wingdings" panose="05000000000000000000" pitchFamily="2" charset="2"/>
                  <a:buChar char="q"/>
                </a:pPr>
                <a:r>
                  <a:rPr lang="fr-FR" altLang="fr-FR" sz="1500" dirty="0">
                    <a:latin typeface="Bookman Old Style" panose="02050604050505020204" pitchFamily="18" charset="0"/>
                    <a:cs typeface="Browallia New" panose="020B0604020202020204" pitchFamily="34" charset="-34"/>
                  </a:rPr>
                  <a:t>Cette grandeur est souvent notée</a:t>
                </a:r>
                <a:r>
                  <a:rPr lang="fr-FR" altLang="fr-FR" sz="1500" i="1" dirty="0">
                    <a:latin typeface="Bookman Old Style" panose="02050604050505020204" pitchFamily="18" charset="0"/>
                    <a:cs typeface="Browallia New" panose="020B0604020202020204" pitchFamily="34" charset="-34"/>
                  </a:rPr>
                  <a:t> </a:t>
                </a:r>
                <a:r>
                  <a:rPr lang="fr-FR" altLang="fr-FR" sz="1500" b="1" dirty="0">
                    <a:latin typeface="Bookman Old Style" panose="02050604050505020204" pitchFamily="18" charset="0"/>
                    <a:cs typeface="Browallia New" panose="020B0604020202020204" pitchFamily="34" charset="-34"/>
                  </a:rPr>
                  <a:t>I </a:t>
                </a:r>
                <a:r>
                  <a:rPr lang="fr-FR" altLang="fr-FR" sz="1500" dirty="0">
                    <a:latin typeface="Bookman Old Style" panose="02050604050505020204" pitchFamily="18" charset="0"/>
                    <a:cs typeface="Browallia New" panose="020B0604020202020204" pitchFamily="34" charset="-34"/>
                  </a:rPr>
                  <a:t>ou</a:t>
                </a:r>
                <a:r>
                  <a:rPr lang="fr-FR" altLang="fr-FR" sz="1500" b="1" dirty="0">
                    <a:latin typeface="Bookman Old Style" panose="02050604050505020204" pitchFamily="18" charset="0"/>
                    <a:cs typeface="Browallia New" panose="020B0604020202020204" pitchFamily="34" charset="-34"/>
                  </a:rPr>
                  <a:t> i </a:t>
                </a:r>
                <a:r>
                  <a:rPr lang="fr-FR" altLang="fr-FR" sz="1500" dirty="0">
                    <a:latin typeface="Bookman Old Style" panose="02050604050505020204" pitchFamily="18" charset="0"/>
                    <a:cs typeface="Browallia New" panose="020B0604020202020204" pitchFamily="34" charset="-34"/>
                  </a:rPr>
                  <a:t>. Quand, pendant un temps </a:t>
                </a:r>
                <a:r>
                  <a:rPr lang="fr-FR" altLang="fr-FR" sz="1500" b="1" dirty="0" err="1">
                    <a:latin typeface="Bookman Old Style" panose="02050604050505020204" pitchFamily="18" charset="0"/>
                    <a:cs typeface="Browallia New" panose="020B0604020202020204" pitchFamily="34" charset="-34"/>
                  </a:rPr>
                  <a:t>dt</a:t>
                </a:r>
                <a:r>
                  <a:rPr lang="fr-FR" altLang="fr-FR" sz="1500" dirty="0">
                    <a:latin typeface="Bookman Old Style" panose="02050604050505020204" pitchFamily="18" charset="0"/>
                    <a:cs typeface="Browallia New" panose="020B0604020202020204" pitchFamily="34" charset="-34"/>
                  </a:rPr>
                  <a:t>, il passe </a:t>
                </a:r>
                <a:r>
                  <a:rPr lang="fr-FR" altLang="fr-FR" sz="1500" b="1" dirty="0" err="1">
                    <a:latin typeface="Bookman Old Style" panose="02050604050505020204" pitchFamily="18" charset="0"/>
                    <a:cs typeface="Browallia New" panose="020B0604020202020204" pitchFamily="34" charset="-34"/>
                  </a:rPr>
                  <a:t>dq</a:t>
                </a:r>
                <a:r>
                  <a:rPr lang="fr-FR" altLang="fr-FR" sz="1500" dirty="0">
                    <a:latin typeface="Bookman Old Style" panose="02050604050505020204" pitchFamily="18" charset="0"/>
                    <a:cs typeface="Browallia New" panose="020B0604020202020204" pitchFamily="34" charset="-34"/>
                  </a:rPr>
                  <a:t> Coulombs, l’intensité vaut :</a:t>
                </a:r>
              </a:p>
              <a:p>
                <a:pPr/>
                <a14:m>
                  <m:oMathPara xmlns:m="http://schemas.openxmlformats.org/officeDocument/2006/math">
                    <m:oMathParaPr>
                      <m:jc m:val="centerGroup"/>
                    </m:oMathParaPr>
                    <m:oMath xmlns:m="http://schemas.openxmlformats.org/officeDocument/2006/math">
                      <m:r>
                        <a:rPr lang="fr-FR" altLang="fr-FR" sz="2000" b="1" i="1" smtClean="0">
                          <a:latin typeface="Cambria Math" panose="02040503050406030204" pitchFamily="18" charset="0"/>
                          <a:cs typeface="Browallia New" panose="020B0604020202020204" pitchFamily="34" charset="-34"/>
                        </a:rPr>
                        <m:t>𝒊</m:t>
                      </m:r>
                      <m:r>
                        <a:rPr lang="fr-FR" altLang="fr-FR" sz="2000" b="1" i="1" smtClean="0">
                          <a:latin typeface="Cambria Math" panose="02040503050406030204" pitchFamily="18" charset="0"/>
                          <a:cs typeface="Browallia New" panose="020B0604020202020204" pitchFamily="34" charset="-34"/>
                        </a:rPr>
                        <m:t>=</m:t>
                      </m:r>
                      <m:f>
                        <m:fPr>
                          <m:ctrlPr>
                            <a:rPr lang="fr-FR" altLang="fr-FR" sz="2000" b="1" i="1" smtClean="0">
                              <a:latin typeface="Cambria Math" panose="02040503050406030204" pitchFamily="18" charset="0"/>
                              <a:cs typeface="Browallia New" panose="020B0604020202020204" pitchFamily="34" charset="-34"/>
                            </a:rPr>
                          </m:ctrlPr>
                        </m:fPr>
                        <m:num>
                          <m:r>
                            <a:rPr lang="fr-FR" altLang="fr-FR" sz="2000" b="1" i="1" smtClean="0">
                              <a:latin typeface="Cambria Math" panose="02040503050406030204" pitchFamily="18" charset="0"/>
                              <a:cs typeface="Browallia New" panose="020B0604020202020204" pitchFamily="34" charset="-34"/>
                            </a:rPr>
                            <m:t>𝒅𝒒</m:t>
                          </m:r>
                        </m:num>
                        <m:den>
                          <m:r>
                            <a:rPr lang="fr-FR" altLang="fr-FR" sz="2000" b="1" i="1" smtClean="0">
                              <a:latin typeface="Cambria Math" panose="02040503050406030204" pitchFamily="18" charset="0"/>
                              <a:cs typeface="Browallia New" panose="020B0604020202020204" pitchFamily="34" charset="-34"/>
                            </a:rPr>
                            <m:t>𝒅𝒕</m:t>
                          </m:r>
                        </m:den>
                      </m:f>
                    </m:oMath>
                  </m:oMathPara>
                </a14:m>
                <a:endParaRPr lang="fr-FR" altLang="fr-FR" sz="2000" b="1" dirty="0">
                  <a:latin typeface="Bookman Old Style" panose="02050604050505020204" pitchFamily="18" charset="0"/>
                  <a:cs typeface="Browallia New" panose="020B0604020202020204" pitchFamily="34" charset="-34"/>
                </a:endParaRPr>
              </a:p>
              <a:p>
                <a:endParaRPr lang="fr-FR" altLang="fr-FR" sz="2000" b="1" dirty="0">
                  <a:latin typeface="Bookman Old Style" panose="02050604050505020204" pitchFamily="18" charset="0"/>
                  <a:cs typeface="Browallia New" panose="020B0604020202020204" pitchFamily="34" charset="-34"/>
                </a:endParaRPr>
              </a:p>
              <a:p>
                <a:endParaRPr lang="fr-FR" altLang="fr-FR" sz="1500" b="1" dirty="0">
                  <a:latin typeface="Bookman Old Style" panose="02050604050505020204" pitchFamily="18" charset="0"/>
                  <a:cs typeface="Browallia New" panose="020B0604020202020204" pitchFamily="34" charset="-34"/>
                </a:endParaRPr>
              </a:p>
              <a:p>
                <a:pPr marL="285750" indent="-285750">
                  <a:buFont typeface="Wingdings" panose="05000000000000000000" pitchFamily="2" charset="2"/>
                  <a:buChar char="q"/>
                </a:pPr>
                <a:r>
                  <a:rPr lang="fr-FR" altLang="fr-FR" sz="1500" dirty="0">
                    <a:latin typeface="Bookman Old Style" panose="02050604050505020204" pitchFamily="18" charset="0"/>
                    <a:cs typeface="Browallia New" panose="020B0604020202020204" pitchFamily="34" charset="-34"/>
                  </a:rPr>
                  <a:t>L’unité dans laquelle s’exprime l’intensité du courant électrique est </a:t>
                </a:r>
                <a:r>
                  <a:rPr lang="fr-FR" altLang="fr-FR" sz="1500" b="1" dirty="0">
                    <a:latin typeface="Bookman Old Style" panose="02050604050505020204" pitchFamily="18" charset="0"/>
                    <a:cs typeface="Browallia New" panose="020B0604020202020204" pitchFamily="34" charset="-34"/>
                  </a:rPr>
                  <a:t>l’Ampère</a:t>
                </a:r>
                <a:r>
                  <a:rPr lang="fr-FR" altLang="fr-FR" sz="1500" dirty="0">
                    <a:latin typeface="Bookman Old Style" panose="02050604050505020204" pitchFamily="18" charset="0"/>
                    <a:cs typeface="Browallia New" panose="020B0604020202020204" pitchFamily="34" charset="-34"/>
                  </a:rPr>
                  <a:t> : </a:t>
                </a:r>
                <a:r>
                  <a:rPr lang="fr-FR" altLang="fr-FR" sz="1500" b="1" dirty="0">
                    <a:solidFill>
                      <a:srgbClr val="FF0000"/>
                    </a:solidFill>
                    <a:latin typeface="Bookman Old Style" panose="02050604050505020204" pitchFamily="18" charset="0"/>
                    <a:cs typeface="Browallia New" panose="020B0604020202020204" pitchFamily="34" charset="-34"/>
                  </a:rPr>
                  <a:t>A</a:t>
                </a:r>
              </a:p>
              <a:p>
                <a:endParaRPr lang="fr-FR" sz="1500" dirty="0">
                  <a:latin typeface="Bookman Old Style" panose="02050604050505020204" pitchFamily="18" charset="0"/>
                </a:endParaRPr>
              </a:p>
            </p:txBody>
          </p:sp>
        </mc:Choice>
        <mc:Fallback xmlns="">
          <p:sp>
            <p:nvSpPr>
              <p:cNvPr id="24" name="TextBox 23">
                <a:extLst>
                  <a:ext uri="{FF2B5EF4-FFF2-40B4-BE49-F238E27FC236}">
                    <a16:creationId xmlns:a16="http://schemas.microsoft.com/office/drawing/2014/main" id="{97409987-1F2C-DB92-4B11-FE2E29D5E1E6}"/>
                  </a:ext>
                </a:extLst>
              </p:cNvPr>
              <p:cNvSpPr txBox="1">
                <a:spLocks noRot="1" noChangeAspect="1" noMove="1" noResize="1" noEditPoints="1" noAdjustHandles="1" noChangeArrowheads="1" noChangeShapeType="1" noTextEdit="1"/>
              </p:cNvSpPr>
              <p:nvPr/>
            </p:nvSpPr>
            <p:spPr>
              <a:xfrm>
                <a:off x="629295" y="2230306"/>
                <a:ext cx="8446119" cy="2831353"/>
              </a:xfrm>
              <a:prstGeom prst="rect">
                <a:avLst/>
              </a:prstGeom>
              <a:blipFill>
                <a:blip r:embed="rId4"/>
                <a:stretch>
                  <a:fillRect l="-216" t="-431"/>
                </a:stretch>
              </a:blipFill>
            </p:spPr>
            <p:txBody>
              <a:bodyPr/>
              <a:lstStyle/>
              <a:p>
                <a:r>
                  <a:rPr lang="fr-FR">
                    <a:noFill/>
                  </a:rPr>
                  <a:t> </a:t>
                </a:r>
              </a:p>
            </p:txBody>
          </p:sp>
        </mc:Fallback>
      </mc:AlternateContent>
    </p:spTree>
    <p:extLst>
      <p:ext uri="{BB962C8B-B14F-4D97-AF65-F5344CB8AC3E}">
        <p14:creationId xmlns:p14="http://schemas.microsoft.com/office/powerpoint/2010/main" val="2609760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 name="TextBox 23">
            <a:extLst>
              <a:ext uri="{FF2B5EF4-FFF2-40B4-BE49-F238E27FC236}">
                <a16:creationId xmlns:a16="http://schemas.microsoft.com/office/drawing/2014/main" id="{97409987-1F2C-DB92-4B11-FE2E29D5E1E6}"/>
              </a:ext>
            </a:extLst>
          </p:cNvPr>
          <p:cNvSpPr txBox="1"/>
          <p:nvPr/>
        </p:nvSpPr>
        <p:spPr>
          <a:xfrm>
            <a:off x="508610" y="1894059"/>
            <a:ext cx="8635390" cy="4078039"/>
          </a:xfrm>
          <a:prstGeom prst="rect">
            <a:avLst/>
          </a:prstGeom>
          <a:noFill/>
        </p:spPr>
        <p:txBody>
          <a:bodyPr wrap="square">
            <a:spAutoFit/>
          </a:bodyPr>
          <a:lstStyle/>
          <a:p>
            <a:pPr marL="285750" indent="-285750" algn="just">
              <a:buFont typeface="Wingdings" panose="05000000000000000000" pitchFamily="2" charset="2"/>
              <a:buChar char="q"/>
            </a:pPr>
            <a:r>
              <a:rPr lang="fr-FR" sz="1500" dirty="0">
                <a:latin typeface="Bookman Old Style" panose="02050604050505020204" pitchFamily="18" charset="0"/>
              </a:rPr>
              <a:t>On représente une différence de potentiel par une flèche à côté du composant, comme sur le schéma suivant :</a:t>
            </a:r>
          </a:p>
          <a:p>
            <a:pPr algn="just"/>
            <a:endParaRPr lang="fr-FR" sz="1500" dirty="0">
              <a:latin typeface="Bookman Old Style" panose="02050604050505020204" pitchFamily="18" charset="0"/>
            </a:endParaRPr>
          </a:p>
          <a:p>
            <a:pPr algn="just"/>
            <a:endParaRPr lang="fr-FR" sz="1500" dirty="0">
              <a:latin typeface="Bookman Old Style" panose="02050604050505020204" pitchFamily="18" charset="0"/>
            </a:endParaRPr>
          </a:p>
          <a:p>
            <a:pPr algn="just"/>
            <a:endParaRPr lang="fr-FR" sz="1500" dirty="0">
              <a:latin typeface="Bookman Old Style" panose="02050604050505020204" pitchFamily="18" charset="0"/>
            </a:endParaRPr>
          </a:p>
          <a:p>
            <a:pPr algn="just"/>
            <a:endParaRPr lang="fr-FR" sz="1500" dirty="0">
              <a:latin typeface="Bookman Old Style" panose="02050604050505020204" pitchFamily="18" charset="0"/>
            </a:endParaRPr>
          </a:p>
          <a:p>
            <a:pPr marL="285750" indent="-285750" algn="just">
              <a:buFont typeface="Wingdings" panose="05000000000000000000" pitchFamily="2" charset="2"/>
              <a:buChar char="q"/>
            </a:pPr>
            <a:endParaRPr lang="fr-FR" sz="1500" dirty="0">
              <a:latin typeface="Bookman Old Style" panose="02050604050505020204" pitchFamily="18" charset="0"/>
            </a:endParaRPr>
          </a:p>
          <a:p>
            <a:pPr marL="285750" indent="-285750" algn="just">
              <a:buFont typeface="Wingdings" panose="05000000000000000000" pitchFamily="2" charset="2"/>
              <a:buChar char="q"/>
            </a:pPr>
            <a:endParaRPr lang="fr-FR" sz="1500" dirty="0">
              <a:latin typeface="Bookman Old Style" panose="02050604050505020204" pitchFamily="18" charset="0"/>
            </a:endParaRPr>
          </a:p>
          <a:p>
            <a:pPr marL="285750" indent="-285750" algn="just">
              <a:buFont typeface="Wingdings" panose="05000000000000000000" pitchFamily="2" charset="2"/>
              <a:buChar char="q"/>
            </a:pPr>
            <a:endParaRPr lang="fr-FR" sz="1500" dirty="0">
              <a:latin typeface="Bookman Old Style" panose="02050604050505020204" pitchFamily="18" charset="0"/>
            </a:endParaRPr>
          </a:p>
          <a:p>
            <a:pPr algn="just"/>
            <a:endParaRPr lang="fr-FR" sz="1500" dirty="0">
              <a:latin typeface="Bookman Old Style" panose="02050604050505020204" pitchFamily="18" charset="0"/>
            </a:endParaRPr>
          </a:p>
          <a:p>
            <a:pPr algn="just"/>
            <a:endParaRPr lang="fr-FR" sz="1500" dirty="0">
              <a:latin typeface="Bookman Old Style" panose="02050604050505020204" pitchFamily="18" charset="0"/>
            </a:endParaRPr>
          </a:p>
          <a:p>
            <a:pPr marL="285750" indent="-285750" algn="just">
              <a:buFont typeface="Wingdings" panose="05000000000000000000" pitchFamily="2" charset="2"/>
              <a:buChar char="q"/>
            </a:pPr>
            <a:r>
              <a:rPr lang="fr-FR" altLang="fr-FR" sz="1400" dirty="0">
                <a:latin typeface="Bookman Old Style" panose="02050604050505020204" pitchFamily="18" charset="0"/>
                <a:cs typeface="Browallia New" panose="020B0604020202020204" pitchFamily="34" charset="-34"/>
              </a:rPr>
              <a:t>Dans ce cas on dit que le « composant/conducteur » est soumis à la </a:t>
            </a:r>
            <a:r>
              <a:rPr lang="fr-FR" altLang="fr-FR" sz="1400" b="1" dirty="0">
                <a:latin typeface="Bookman Old Style" panose="02050604050505020204" pitchFamily="18" charset="0"/>
                <a:cs typeface="Browallia New" panose="020B0604020202020204" pitchFamily="34" charset="-34"/>
              </a:rPr>
              <a:t>différence de potentiel</a:t>
            </a:r>
          </a:p>
          <a:p>
            <a:pPr marL="171450" indent="-171450" algn="just">
              <a:buFont typeface="Wingdings" panose="05000000000000000000" pitchFamily="2" charset="2"/>
              <a:buChar char="§"/>
            </a:pPr>
            <a:endParaRPr lang="fr-FR" sz="1000" b="1" i="1" dirty="0">
              <a:solidFill>
                <a:srgbClr val="C00000"/>
              </a:solidFill>
              <a:latin typeface="Bookman Old Style" panose="02050604050505020204" pitchFamily="18" charset="0"/>
            </a:endParaRPr>
          </a:p>
          <a:p>
            <a:pPr marL="171450" indent="-171450" algn="just">
              <a:buFont typeface="Wingdings" panose="05000000000000000000" pitchFamily="2" charset="2"/>
              <a:buChar char="§"/>
            </a:pPr>
            <a:r>
              <a:rPr lang="fr-FR" sz="1100" b="1" i="1" dirty="0">
                <a:solidFill>
                  <a:srgbClr val="C00000"/>
                </a:solidFill>
                <a:latin typeface="Bookman Old Style" panose="02050604050505020204" pitchFamily="18" charset="0"/>
              </a:rPr>
              <a:t>Par convention : </a:t>
            </a:r>
            <a:r>
              <a:rPr lang="fr-FR" sz="1100" b="1" dirty="0">
                <a:latin typeface="Bookman Old Style" panose="02050604050505020204" pitchFamily="18" charset="0"/>
                <a:cs typeface="Times New Roman"/>
              </a:rPr>
              <a:t>Le</a:t>
            </a:r>
            <a:r>
              <a:rPr lang="fr-FR" sz="1100" b="1" spc="175" dirty="0">
                <a:latin typeface="Bookman Old Style" panose="02050604050505020204" pitchFamily="18" charset="0"/>
                <a:cs typeface="Times New Roman"/>
              </a:rPr>
              <a:t> </a:t>
            </a:r>
            <a:r>
              <a:rPr lang="fr-FR" sz="1100" b="1" dirty="0">
                <a:latin typeface="Bookman Old Style" panose="02050604050505020204" pitchFamily="18" charset="0"/>
                <a:cs typeface="Times New Roman"/>
              </a:rPr>
              <a:t>sens</a:t>
            </a:r>
            <a:r>
              <a:rPr lang="fr-FR" sz="1100" b="1" spc="185" dirty="0">
                <a:latin typeface="Bookman Old Style" panose="02050604050505020204" pitchFamily="18" charset="0"/>
                <a:cs typeface="Times New Roman"/>
              </a:rPr>
              <a:t> </a:t>
            </a:r>
            <a:r>
              <a:rPr lang="fr-FR" sz="1100" b="1" dirty="0">
                <a:latin typeface="Bookman Old Style" panose="02050604050505020204" pitchFamily="18" charset="0"/>
                <a:cs typeface="Times New Roman"/>
              </a:rPr>
              <a:t>de</a:t>
            </a:r>
            <a:r>
              <a:rPr lang="fr-FR" sz="1100" b="1" spc="180" dirty="0">
                <a:latin typeface="Bookman Old Style" panose="02050604050505020204" pitchFamily="18" charset="0"/>
                <a:cs typeface="Times New Roman"/>
              </a:rPr>
              <a:t> </a:t>
            </a:r>
            <a:r>
              <a:rPr lang="fr-FR" sz="1100" b="1" dirty="0">
                <a:latin typeface="Bookman Old Style" panose="02050604050505020204" pitchFamily="18" charset="0"/>
                <a:cs typeface="Times New Roman"/>
              </a:rPr>
              <a:t>la</a:t>
            </a:r>
            <a:r>
              <a:rPr lang="fr-FR" sz="1100" b="1" spc="180" dirty="0">
                <a:latin typeface="Bookman Old Style" panose="02050604050505020204" pitchFamily="18" charset="0"/>
                <a:cs typeface="Times New Roman"/>
              </a:rPr>
              <a:t> </a:t>
            </a:r>
            <a:r>
              <a:rPr lang="fr-FR" sz="1100" b="1" dirty="0">
                <a:latin typeface="Bookman Old Style" panose="02050604050505020204" pitchFamily="18" charset="0"/>
                <a:cs typeface="Times New Roman"/>
              </a:rPr>
              <a:t>différence</a:t>
            </a:r>
            <a:r>
              <a:rPr lang="fr-FR" sz="1100" b="1" spc="180" dirty="0">
                <a:latin typeface="Bookman Old Style" panose="02050604050505020204" pitchFamily="18" charset="0"/>
                <a:cs typeface="Times New Roman"/>
              </a:rPr>
              <a:t> </a:t>
            </a:r>
            <a:r>
              <a:rPr lang="fr-FR" sz="1100" b="1" dirty="0">
                <a:latin typeface="Bookman Old Style" panose="02050604050505020204" pitchFamily="18" charset="0"/>
                <a:cs typeface="Times New Roman"/>
              </a:rPr>
              <a:t>de</a:t>
            </a:r>
            <a:r>
              <a:rPr lang="fr-FR" sz="1100" b="1" spc="180" dirty="0">
                <a:latin typeface="Bookman Old Style" panose="02050604050505020204" pitchFamily="18" charset="0"/>
                <a:cs typeface="Times New Roman"/>
              </a:rPr>
              <a:t> </a:t>
            </a:r>
            <a:r>
              <a:rPr lang="fr-FR" sz="1100" b="1" dirty="0">
                <a:latin typeface="Bookman Old Style" panose="02050604050505020204" pitchFamily="18" charset="0"/>
                <a:cs typeface="Times New Roman"/>
              </a:rPr>
              <a:t>potentiel</a:t>
            </a:r>
            <a:r>
              <a:rPr lang="fr-FR" sz="1100" b="1" spc="185" dirty="0">
                <a:latin typeface="Bookman Old Style" panose="02050604050505020204" pitchFamily="18" charset="0"/>
                <a:cs typeface="Times New Roman"/>
              </a:rPr>
              <a:t> </a:t>
            </a:r>
            <a:r>
              <a:rPr lang="fr-FR" sz="1100" b="1" dirty="0">
                <a:latin typeface="Bookman Old Style" panose="02050604050505020204" pitchFamily="18" charset="0"/>
                <a:cs typeface="Times New Roman"/>
              </a:rPr>
              <a:t>V</a:t>
            </a:r>
            <a:r>
              <a:rPr lang="fr-FR" sz="1100" b="1" spc="165" dirty="0">
                <a:latin typeface="Bookman Old Style" panose="02050604050505020204" pitchFamily="18" charset="0"/>
                <a:cs typeface="Times New Roman"/>
              </a:rPr>
              <a:t> </a:t>
            </a:r>
            <a:r>
              <a:rPr lang="fr-FR" sz="1100" b="1" dirty="0">
                <a:latin typeface="Bookman Old Style" panose="02050604050505020204" pitchFamily="18" charset="0"/>
                <a:cs typeface="Times New Roman"/>
              </a:rPr>
              <a:t>est</a:t>
            </a:r>
            <a:r>
              <a:rPr lang="fr-FR" sz="1100" b="1" spc="170" dirty="0">
                <a:latin typeface="Bookman Old Style" panose="02050604050505020204" pitchFamily="18" charset="0"/>
                <a:cs typeface="Times New Roman"/>
              </a:rPr>
              <a:t> </a:t>
            </a:r>
            <a:r>
              <a:rPr lang="fr-FR" sz="1100" b="1" dirty="0">
                <a:latin typeface="Bookman Old Style" panose="02050604050505020204" pitchFamily="18" charset="0"/>
                <a:cs typeface="Times New Roman"/>
              </a:rPr>
              <a:t>dirigé</a:t>
            </a:r>
            <a:r>
              <a:rPr lang="fr-FR" sz="1100" b="1" spc="195" dirty="0">
                <a:latin typeface="Bookman Old Style" panose="02050604050505020204" pitchFamily="18" charset="0"/>
                <a:cs typeface="Times New Roman"/>
              </a:rPr>
              <a:t> </a:t>
            </a:r>
            <a:r>
              <a:rPr lang="fr-FR" sz="1100" b="1" dirty="0">
                <a:latin typeface="Bookman Old Style" panose="02050604050505020204" pitchFamily="18" charset="0"/>
                <a:cs typeface="Times New Roman"/>
              </a:rPr>
              <a:t>vers</a:t>
            </a:r>
            <a:r>
              <a:rPr lang="fr-FR" sz="1100" b="1" spc="185" dirty="0">
                <a:latin typeface="Bookman Old Style" panose="02050604050505020204" pitchFamily="18" charset="0"/>
                <a:cs typeface="Times New Roman"/>
              </a:rPr>
              <a:t> </a:t>
            </a:r>
            <a:r>
              <a:rPr lang="fr-FR" sz="1100" b="1" dirty="0">
                <a:latin typeface="Bookman Old Style" panose="02050604050505020204" pitchFamily="18" charset="0"/>
                <a:cs typeface="Times New Roman"/>
              </a:rPr>
              <a:t>le</a:t>
            </a:r>
            <a:r>
              <a:rPr lang="fr-FR" sz="1100" b="1" spc="165" dirty="0">
                <a:latin typeface="Bookman Old Style" panose="02050604050505020204" pitchFamily="18" charset="0"/>
                <a:cs typeface="Times New Roman"/>
              </a:rPr>
              <a:t> </a:t>
            </a:r>
            <a:r>
              <a:rPr lang="fr-FR" sz="1100" b="1" spc="-10" dirty="0">
                <a:latin typeface="Bookman Old Style" panose="02050604050505020204" pitchFamily="18" charset="0"/>
                <a:cs typeface="Times New Roman"/>
              </a:rPr>
              <a:t>potentiel croissant </a:t>
            </a:r>
            <a:r>
              <a:rPr lang="fr-FR" sz="1100" b="1" i="1" dirty="0">
                <a:latin typeface="Bookman Old Style" panose="02050604050505020204" pitchFamily="18" charset="0"/>
              </a:rPr>
              <a:t>(vers </a:t>
            </a:r>
            <a:r>
              <a:rPr lang="fr-FR" sz="1100" b="1" i="1" spc="-35" dirty="0">
                <a:solidFill>
                  <a:srgbClr val="C00000"/>
                </a:solidFill>
                <a:latin typeface="Bookman Old Style" panose="02050604050505020204" pitchFamily="18" charset="0"/>
                <a:cs typeface="Times New Roman"/>
              </a:rPr>
              <a:t>V</a:t>
            </a:r>
            <a:r>
              <a:rPr lang="fr-FR" sz="1100" b="1" i="1" spc="-52" baseline="-11574" dirty="0">
                <a:solidFill>
                  <a:srgbClr val="C00000"/>
                </a:solidFill>
                <a:latin typeface="Bookman Old Style" panose="02050604050505020204" pitchFamily="18" charset="0"/>
                <a:cs typeface="Times New Roman"/>
              </a:rPr>
              <a:t>A</a:t>
            </a:r>
            <a:r>
              <a:rPr lang="fr-FR" sz="1100" b="1" i="1" dirty="0">
                <a:latin typeface="Bookman Old Style" panose="02050604050505020204" pitchFamily="18" charset="0"/>
              </a:rPr>
              <a:t>).</a:t>
            </a:r>
          </a:p>
          <a:p>
            <a:pPr marL="285750" indent="-285750" algn="just">
              <a:buFont typeface="Wingdings" panose="05000000000000000000" pitchFamily="2" charset="2"/>
              <a:buChar char="q"/>
            </a:pPr>
            <a:endParaRPr lang="fr-FR" sz="1500" dirty="0">
              <a:latin typeface="Bookman Old Style" panose="02050604050505020204" pitchFamily="18" charset="0"/>
            </a:endParaRPr>
          </a:p>
          <a:p>
            <a:pPr marL="285750" indent="-285750" algn="just">
              <a:buFont typeface="Wingdings" panose="05000000000000000000" pitchFamily="2" charset="2"/>
              <a:buChar char="q"/>
            </a:pPr>
            <a:endParaRPr lang="fr-FR" sz="1500" dirty="0">
              <a:latin typeface="Bookman Old Style" panose="02050604050505020204" pitchFamily="18" charset="0"/>
            </a:endParaRPr>
          </a:p>
          <a:p>
            <a:pPr marL="285750" indent="-285750">
              <a:buFont typeface="Wingdings" panose="05000000000000000000" pitchFamily="2" charset="2"/>
              <a:buChar char="q"/>
            </a:pPr>
            <a:endParaRPr lang="fr-FR" altLang="fr-FR" sz="1500" dirty="0">
              <a:latin typeface="Bookman Old Style" panose="02050604050505020204" pitchFamily="18" charset="0"/>
              <a:cs typeface="Browallia New" panose="020B0604020202020204" pitchFamily="34" charset="-34"/>
            </a:endParaRPr>
          </a:p>
          <a:p>
            <a:endParaRPr lang="fr-FR" sz="1500" dirty="0">
              <a:latin typeface="Bookman Old Style" panose="02050604050505020204" pitchFamily="18" charset="0"/>
            </a:endParaRPr>
          </a:p>
        </p:txBody>
      </p:sp>
      <p:sp>
        <p:nvSpPr>
          <p:cNvPr id="2" name="object 2"/>
          <p:cNvSpPr txBox="1">
            <a:spLocks noGrp="1"/>
          </p:cNvSpPr>
          <p:nvPr>
            <p:ph type="title"/>
          </p:nvPr>
        </p:nvSpPr>
        <p:spPr>
          <a:xfrm>
            <a:off x="697881" y="238590"/>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458201" y="4824469"/>
            <a:ext cx="4187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15</a:t>
            </a:fld>
            <a:endParaRPr sz="2400">
              <a:latin typeface="Arial"/>
              <a:cs typeface="Arial"/>
            </a:endParaRPr>
          </a:p>
        </p:txBody>
      </p:sp>
      <p:sp>
        <p:nvSpPr>
          <p:cNvPr id="15" name="Rectangle 14"/>
          <p:cNvSpPr/>
          <p:nvPr/>
        </p:nvSpPr>
        <p:spPr>
          <a:xfrm>
            <a:off x="550646" y="557613"/>
            <a:ext cx="2385589" cy="597599"/>
          </a:xfrm>
          <a:prstGeom prst="rect">
            <a:avLst/>
          </a:prstGeom>
        </p:spPr>
        <p:txBody>
          <a:bodyPr wrap="none">
            <a:spAutoFit/>
          </a:bodyPr>
          <a:lstStyle/>
          <a:p>
            <a:pPr marL="393065" lvl="1" indent="-381000">
              <a:lnSpc>
                <a:spcPct val="100000"/>
              </a:lnSpc>
              <a:spcBef>
                <a:spcPts val="100"/>
              </a:spcBef>
              <a:buAutoNum type="arabicPeriod"/>
              <a:tabLst>
                <a:tab pos="393700" algn="l"/>
              </a:tabLst>
            </a:pPr>
            <a:r>
              <a:rPr lang="fr-FR" b="1" spc="-5" dirty="0">
                <a:solidFill>
                  <a:srgbClr val="FF0000"/>
                </a:solidFill>
                <a:latin typeface="Bookman Old Style" panose="02050604050505020204" pitchFamily="18" charset="0"/>
                <a:cs typeface="Arial"/>
              </a:rPr>
              <a:t>Généralités</a:t>
            </a:r>
          </a:p>
          <a:p>
            <a:pPr marL="12065" lvl="1">
              <a:lnSpc>
                <a:spcPct val="100000"/>
              </a:lnSpc>
              <a:spcBef>
                <a:spcPts val="100"/>
              </a:spcBef>
              <a:tabLst>
                <a:tab pos="393700" algn="l"/>
              </a:tabLst>
            </a:pPr>
            <a:r>
              <a:rPr lang="fr-FR" sz="1400" b="1" spc="-5" dirty="0">
                <a:solidFill>
                  <a:srgbClr val="CC00CC"/>
                </a:solidFill>
                <a:latin typeface="Garamond" panose="02020404030301010803" pitchFamily="18" charset="0"/>
                <a:cs typeface="Browallia New" panose="020B0604020202020204" pitchFamily="34" charset="-34"/>
              </a:rPr>
              <a:t> </a:t>
            </a:r>
            <a:r>
              <a:rPr lang="fr-FR" sz="1400" b="1" spc="-5" dirty="0">
                <a:solidFill>
                  <a:srgbClr val="CC00CC"/>
                </a:solidFill>
                <a:latin typeface="Bookman Old Style" panose="02050604050505020204" pitchFamily="18" charset="0"/>
                <a:cs typeface="Arial"/>
              </a:rPr>
              <a:t>1.4 Tension électrique </a:t>
            </a: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grpSp>
        <p:nvGrpSpPr>
          <p:cNvPr id="5" name="object 11">
            <a:extLst>
              <a:ext uri="{FF2B5EF4-FFF2-40B4-BE49-F238E27FC236}">
                <a16:creationId xmlns:a16="http://schemas.microsoft.com/office/drawing/2014/main" id="{8549FFDA-BB75-48AB-9D85-4E24A59E2626}"/>
              </a:ext>
            </a:extLst>
          </p:cNvPr>
          <p:cNvGrpSpPr/>
          <p:nvPr/>
        </p:nvGrpSpPr>
        <p:grpSpPr>
          <a:xfrm>
            <a:off x="550646" y="1206155"/>
            <a:ext cx="8446119" cy="597599"/>
            <a:chOff x="695200" y="1293934"/>
            <a:chExt cx="8225156" cy="690246"/>
          </a:xfrm>
        </p:grpSpPr>
        <p:sp>
          <p:nvSpPr>
            <p:cNvPr id="17" name="object 12">
              <a:extLst>
                <a:ext uri="{FF2B5EF4-FFF2-40B4-BE49-F238E27FC236}">
                  <a16:creationId xmlns:a16="http://schemas.microsoft.com/office/drawing/2014/main" id="{3142A110-21CC-B758-60AB-85670BF83615}"/>
                </a:ext>
              </a:extLst>
            </p:cNvPr>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20" name="object 13">
              <a:extLst>
                <a:ext uri="{FF2B5EF4-FFF2-40B4-BE49-F238E27FC236}">
                  <a16:creationId xmlns:a16="http://schemas.microsoft.com/office/drawing/2014/main" id="{8C6B6AEC-BDBA-A538-B9E7-6F4AC2118ECF}"/>
                </a:ext>
              </a:extLst>
            </p:cNvPr>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22" name="TextBox 21">
            <a:extLst>
              <a:ext uri="{FF2B5EF4-FFF2-40B4-BE49-F238E27FC236}">
                <a16:creationId xmlns:a16="http://schemas.microsoft.com/office/drawing/2014/main" id="{0E6907DE-5A7C-9EF7-3497-782146DC2D16}"/>
              </a:ext>
            </a:extLst>
          </p:cNvPr>
          <p:cNvSpPr txBox="1"/>
          <p:nvPr/>
        </p:nvSpPr>
        <p:spPr>
          <a:xfrm>
            <a:off x="683901" y="1241468"/>
            <a:ext cx="8190466" cy="553998"/>
          </a:xfrm>
          <a:prstGeom prst="rect">
            <a:avLst/>
          </a:prstGeom>
          <a:noFill/>
        </p:spPr>
        <p:txBody>
          <a:bodyPr wrap="square">
            <a:spAutoFit/>
          </a:bodyPr>
          <a:lstStyle/>
          <a:p>
            <a:pPr algn="just"/>
            <a:r>
              <a:rPr lang="fr-FR" sz="1500" dirty="0">
                <a:latin typeface="Bookman Old Style" panose="02050604050505020204" pitchFamily="18" charset="0"/>
              </a:rPr>
              <a:t>La présence des charges dans deux extrémités crée ce qu’on appel la </a:t>
            </a:r>
            <a:r>
              <a:rPr lang="fr-FR" sz="1500" b="1" dirty="0">
                <a:latin typeface="Bookman Old Style" panose="02050604050505020204" pitchFamily="18" charset="0"/>
              </a:rPr>
              <a:t>différence de potentiel</a:t>
            </a:r>
            <a:r>
              <a:rPr lang="fr-FR" sz="1500" dirty="0">
                <a:latin typeface="Bookman Old Style" panose="02050604050505020204" pitchFamily="18" charset="0"/>
              </a:rPr>
              <a:t>, appelée encore la </a:t>
            </a:r>
            <a:r>
              <a:rPr lang="fr-FR" sz="1500" b="1" dirty="0">
                <a:solidFill>
                  <a:srgbClr val="FF0000"/>
                </a:solidFill>
                <a:latin typeface="Bookman Old Style" panose="02050604050505020204" pitchFamily="18" charset="0"/>
              </a:rPr>
              <a:t>tension</a:t>
            </a:r>
            <a:r>
              <a:rPr lang="fr-FR" sz="1500" dirty="0">
                <a:latin typeface="Bookman Old Style" panose="02050604050505020204" pitchFamily="18" charset="0"/>
              </a:rPr>
              <a:t>. Son unité est le </a:t>
            </a:r>
            <a:r>
              <a:rPr lang="fr-FR" sz="1500" b="1" dirty="0">
                <a:latin typeface="Bookman Old Style" panose="02050604050505020204" pitchFamily="18" charset="0"/>
              </a:rPr>
              <a:t>V</a:t>
            </a:r>
            <a:r>
              <a:rPr lang="fr-FR" sz="1500" dirty="0">
                <a:latin typeface="Bookman Old Style" panose="02050604050505020204" pitchFamily="18" charset="0"/>
              </a:rPr>
              <a:t>olt (</a:t>
            </a:r>
            <a:r>
              <a:rPr lang="fr-FR" sz="1500" b="1" dirty="0">
                <a:latin typeface="Bookman Old Style" panose="02050604050505020204" pitchFamily="18" charset="0"/>
              </a:rPr>
              <a:t>V</a:t>
            </a:r>
            <a:r>
              <a:rPr lang="fr-FR" sz="1500" dirty="0">
                <a:latin typeface="Bookman Old Style" panose="02050604050505020204" pitchFamily="18" charset="0"/>
              </a:rPr>
              <a:t>). </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81253F5-5A09-9421-FA22-601345FCBEE1}"/>
                  </a:ext>
                </a:extLst>
              </p:cNvPr>
              <p:cNvSpPr txBox="1"/>
              <p:nvPr/>
            </p:nvSpPr>
            <p:spPr>
              <a:xfrm>
                <a:off x="1650385" y="4002311"/>
                <a:ext cx="1413717" cy="2308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fr-FR" sz="1500" b="1" i="1" smtClean="0">
                              <a:latin typeface="Cambria Math" panose="02040503050406030204" pitchFamily="18" charset="0"/>
                            </a:rPr>
                          </m:ctrlPr>
                        </m:sSubPr>
                        <m:e>
                          <m:r>
                            <a:rPr lang="fr-FR" sz="1500" b="1" i="1" smtClean="0">
                              <a:latin typeface="Cambria Math" panose="02040503050406030204" pitchFamily="18" charset="0"/>
                            </a:rPr>
                            <m:t>𝑽</m:t>
                          </m:r>
                          <m:r>
                            <a:rPr lang="fr-FR" sz="1500" b="1" i="1" smtClean="0">
                              <a:latin typeface="Cambria Math" panose="02040503050406030204" pitchFamily="18" charset="0"/>
                            </a:rPr>
                            <m:t>=</m:t>
                          </m:r>
                          <m:r>
                            <a:rPr lang="fr-FR" sz="1500" b="1" i="1" smtClean="0">
                              <a:latin typeface="Cambria Math" panose="02040503050406030204" pitchFamily="18" charset="0"/>
                            </a:rPr>
                            <m:t>𝑽</m:t>
                          </m:r>
                        </m:e>
                        <m:sub>
                          <m:r>
                            <a:rPr lang="fr-FR" sz="1500" b="1" i="1" smtClean="0">
                              <a:latin typeface="Cambria Math" panose="02040503050406030204" pitchFamily="18" charset="0"/>
                            </a:rPr>
                            <m:t>𝟐</m:t>
                          </m:r>
                        </m:sub>
                      </m:sSub>
                      <m:r>
                        <a:rPr lang="fr-FR" sz="1500" b="1" i="1" smtClean="0">
                          <a:latin typeface="Cambria Math" panose="02040503050406030204" pitchFamily="18" charset="0"/>
                        </a:rPr>
                        <m:t>−</m:t>
                      </m:r>
                      <m:sSub>
                        <m:sSubPr>
                          <m:ctrlPr>
                            <a:rPr lang="fr-FR" sz="1500" b="1" i="1">
                              <a:latin typeface="Cambria Math" panose="02040503050406030204" pitchFamily="18" charset="0"/>
                            </a:rPr>
                          </m:ctrlPr>
                        </m:sSubPr>
                        <m:e>
                          <m:r>
                            <a:rPr lang="fr-FR" sz="1500" b="1" i="1">
                              <a:latin typeface="Cambria Math" panose="02040503050406030204" pitchFamily="18" charset="0"/>
                            </a:rPr>
                            <m:t>𝑽</m:t>
                          </m:r>
                        </m:e>
                        <m:sub>
                          <m:r>
                            <a:rPr lang="fr-FR" sz="1500" b="1" i="1" smtClean="0">
                              <a:latin typeface="Cambria Math" panose="02040503050406030204" pitchFamily="18" charset="0"/>
                            </a:rPr>
                            <m:t>𝟏</m:t>
                          </m:r>
                        </m:sub>
                      </m:sSub>
                    </m:oMath>
                  </m:oMathPara>
                </a14:m>
                <a:endParaRPr lang="fr-FR" sz="1500" b="1" dirty="0"/>
              </a:p>
            </p:txBody>
          </p:sp>
        </mc:Choice>
        <mc:Fallback xmlns="">
          <p:sp>
            <p:nvSpPr>
              <p:cNvPr id="11" name="TextBox 10">
                <a:extLst>
                  <a:ext uri="{FF2B5EF4-FFF2-40B4-BE49-F238E27FC236}">
                    <a16:creationId xmlns:a16="http://schemas.microsoft.com/office/drawing/2014/main" id="{B81253F5-5A09-9421-FA22-601345FCBEE1}"/>
                  </a:ext>
                </a:extLst>
              </p:cNvPr>
              <p:cNvSpPr txBox="1">
                <a:spLocks noRot="1" noChangeAspect="1" noMove="1" noResize="1" noEditPoints="1" noAdjustHandles="1" noChangeArrowheads="1" noChangeShapeType="1" noTextEdit="1"/>
              </p:cNvSpPr>
              <p:nvPr/>
            </p:nvSpPr>
            <p:spPr>
              <a:xfrm>
                <a:off x="1650385" y="4002311"/>
                <a:ext cx="1413717" cy="230832"/>
              </a:xfrm>
              <a:prstGeom prst="rect">
                <a:avLst/>
              </a:prstGeom>
              <a:blipFill>
                <a:blip r:embed="rId3"/>
                <a:stretch>
                  <a:fillRect b="-16216"/>
                </a:stretch>
              </a:blipFill>
            </p:spPr>
            <p:txBody>
              <a:bodyPr/>
              <a:lstStyle/>
              <a:p>
                <a:r>
                  <a:rPr lang="fr-FR">
                    <a:noFill/>
                  </a:rPr>
                  <a:t> </a:t>
                </a:r>
              </a:p>
            </p:txBody>
          </p:sp>
        </mc:Fallback>
      </mc:AlternateContent>
      <p:grpSp>
        <p:nvGrpSpPr>
          <p:cNvPr id="13" name="object 19">
            <a:extLst>
              <a:ext uri="{FF2B5EF4-FFF2-40B4-BE49-F238E27FC236}">
                <a16:creationId xmlns:a16="http://schemas.microsoft.com/office/drawing/2014/main" id="{DEE09428-4C7D-DBED-FA08-F7196D9E66C1}"/>
              </a:ext>
            </a:extLst>
          </p:cNvPr>
          <p:cNvGrpSpPr/>
          <p:nvPr/>
        </p:nvGrpSpPr>
        <p:grpSpPr>
          <a:xfrm>
            <a:off x="4869561" y="2675532"/>
            <a:ext cx="2309495" cy="1185545"/>
            <a:chOff x="1043813" y="3229229"/>
            <a:chExt cx="2309495" cy="1185545"/>
          </a:xfrm>
        </p:grpSpPr>
        <p:sp>
          <p:nvSpPr>
            <p:cNvPr id="16" name="object 20">
              <a:extLst>
                <a:ext uri="{FF2B5EF4-FFF2-40B4-BE49-F238E27FC236}">
                  <a16:creationId xmlns:a16="http://schemas.microsoft.com/office/drawing/2014/main" id="{4B6A2531-F5F8-EA7D-8026-5E2DA1C2345B}"/>
                </a:ext>
              </a:extLst>
            </p:cNvPr>
            <p:cNvSpPr/>
            <p:nvPr/>
          </p:nvSpPr>
          <p:spPr>
            <a:xfrm>
              <a:off x="1058418" y="3243834"/>
              <a:ext cx="2273935" cy="1156335"/>
            </a:xfrm>
            <a:custGeom>
              <a:avLst/>
              <a:gdLst/>
              <a:ahLst/>
              <a:cxnLst/>
              <a:rect l="l" t="t" r="r" b="b"/>
              <a:pathLst>
                <a:path w="2273935" h="1156335">
                  <a:moveTo>
                    <a:pt x="197154" y="0"/>
                  </a:moveTo>
                  <a:lnTo>
                    <a:pt x="242315" y="15240"/>
                  </a:lnTo>
                  <a:lnTo>
                    <a:pt x="283844" y="58801"/>
                  </a:lnTo>
                  <a:lnTo>
                    <a:pt x="320420" y="127000"/>
                  </a:lnTo>
                  <a:lnTo>
                    <a:pt x="336550" y="169291"/>
                  </a:lnTo>
                  <a:lnTo>
                    <a:pt x="351028" y="216535"/>
                  </a:lnTo>
                  <a:lnTo>
                    <a:pt x="363600" y="268224"/>
                  </a:lnTo>
                  <a:lnTo>
                    <a:pt x="374269" y="323850"/>
                  </a:lnTo>
                  <a:lnTo>
                    <a:pt x="382778" y="383159"/>
                  </a:lnTo>
                  <a:lnTo>
                    <a:pt x="389128" y="445643"/>
                  </a:lnTo>
                  <a:lnTo>
                    <a:pt x="392938" y="510794"/>
                  </a:lnTo>
                  <a:lnTo>
                    <a:pt x="394334" y="578231"/>
                  </a:lnTo>
                  <a:lnTo>
                    <a:pt x="392938" y="645591"/>
                  </a:lnTo>
                  <a:lnTo>
                    <a:pt x="389128" y="710742"/>
                  </a:lnTo>
                  <a:lnTo>
                    <a:pt x="382778" y="773163"/>
                  </a:lnTo>
                  <a:lnTo>
                    <a:pt x="374269" y="832434"/>
                  </a:lnTo>
                  <a:lnTo>
                    <a:pt x="363600" y="888123"/>
                  </a:lnTo>
                  <a:lnTo>
                    <a:pt x="351028" y="939787"/>
                  </a:lnTo>
                  <a:lnTo>
                    <a:pt x="336550" y="986993"/>
                  </a:lnTo>
                  <a:lnTo>
                    <a:pt x="320420" y="1029322"/>
                  </a:lnTo>
                  <a:lnTo>
                    <a:pt x="302894" y="1066330"/>
                  </a:lnTo>
                  <a:lnTo>
                    <a:pt x="263651" y="1122629"/>
                  </a:lnTo>
                  <a:lnTo>
                    <a:pt x="220090" y="1152448"/>
                  </a:lnTo>
                  <a:lnTo>
                    <a:pt x="197154" y="1156335"/>
                  </a:lnTo>
                  <a:lnTo>
                    <a:pt x="174155" y="1152448"/>
                  </a:lnTo>
                  <a:lnTo>
                    <a:pt x="130657" y="1122629"/>
                  </a:lnTo>
                  <a:lnTo>
                    <a:pt x="91465" y="1066330"/>
                  </a:lnTo>
                  <a:lnTo>
                    <a:pt x="73837" y="1029322"/>
                  </a:lnTo>
                  <a:lnTo>
                    <a:pt x="57746" y="986993"/>
                  </a:lnTo>
                  <a:lnTo>
                    <a:pt x="43306" y="939787"/>
                  </a:lnTo>
                  <a:lnTo>
                    <a:pt x="30695" y="888123"/>
                  </a:lnTo>
                  <a:lnTo>
                    <a:pt x="20040" y="832434"/>
                  </a:lnTo>
                  <a:lnTo>
                    <a:pt x="11493" y="773163"/>
                  </a:lnTo>
                  <a:lnTo>
                    <a:pt x="5206" y="710742"/>
                  </a:lnTo>
                  <a:lnTo>
                    <a:pt x="1320" y="645591"/>
                  </a:lnTo>
                  <a:lnTo>
                    <a:pt x="0" y="578231"/>
                  </a:lnTo>
                  <a:lnTo>
                    <a:pt x="1320" y="510794"/>
                  </a:lnTo>
                  <a:lnTo>
                    <a:pt x="5206" y="445643"/>
                  </a:lnTo>
                  <a:lnTo>
                    <a:pt x="11493" y="383159"/>
                  </a:lnTo>
                  <a:lnTo>
                    <a:pt x="20040" y="323850"/>
                  </a:lnTo>
                  <a:lnTo>
                    <a:pt x="30695" y="268224"/>
                  </a:lnTo>
                  <a:lnTo>
                    <a:pt x="43306" y="216535"/>
                  </a:lnTo>
                  <a:lnTo>
                    <a:pt x="57746" y="169291"/>
                  </a:lnTo>
                  <a:lnTo>
                    <a:pt x="73837" y="127000"/>
                  </a:lnTo>
                  <a:lnTo>
                    <a:pt x="91465" y="90043"/>
                  </a:lnTo>
                  <a:lnTo>
                    <a:pt x="130657" y="33655"/>
                  </a:lnTo>
                  <a:lnTo>
                    <a:pt x="174155" y="3937"/>
                  </a:lnTo>
                  <a:lnTo>
                    <a:pt x="197154" y="0"/>
                  </a:lnTo>
                  <a:close/>
                </a:path>
                <a:path w="2273935" h="1156335">
                  <a:moveTo>
                    <a:pt x="197154" y="0"/>
                  </a:moveTo>
                  <a:lnTo>
                    <a:pt x="2076577" y="0"/>
                  </a:lnTo>
                  <a:lnTo>
                    <a:pt x="2099564" y="3937"/>
                  </a:lnTo>
                  <a:lnTo>
                    <a:pt x="2142998" y="33655"/>
                  </a:lnTo>
                  <a:lnTo>
                    <a:pt x="2182241" y="90043"/>
                  </a:lnTo>
                  <a:lnTo>
                    <a:pt x="2199767" y="127000"/>
                  </a:lnTo>
                  <a:lnTo>
                    <a:pt x="2215896" y="169291"/>
                  </a:lnTo>
                  <a:lnTo>
                    <a:pt x="2230373" y="216535"/>
                  </a:lnTo>
                  <a:lnTo>
                    <a:pt x="2242947" y="268224"/>
                  </a:lnTo>
                  <a:lnTo>
                    <a:pt x="2253615" y="323850"/>
                  </a:lnTo>
                  <a:lnTo>
                    <a:pt x="2262123" y="383159"/>
                  </a:lnTo>
                  <a:lnTo>
                    <a:pt x="2268473" y="445643"/>
                  </a:lnTo>
                  <a:lnTo>
                    <a:pt x="2272284" y="510794"/>
                  </a:lnTo>
                  <a:lnTo>
                    <a:pt x="2273681" y="578231"/>
                  </a:lnTo>
                  <a:lnTo>
                    <a:pt x="2272284" y="645591"/>
                  </a:lnTo>
                  <a:lnTo>
                    <a:pt x="2268473" y="710742"/>
                  </a:lnTo>
                  <a:lnTo>
                    <a:pt x="2262123" y="773163"/>
                  </a:lnTo>
                  <a:lnTo>
                    <a:pt x="2253615" y="832434"/>
                  </a:lnTo>
                  <a:lnTo>
                    <a:pt x="2242947" y="888123"/>
                  </a:lnTo>
                  <a:lnTo>
                    <a:pt x="2230373" y="939787"/>
                  </a:lnTo>
                  <a:lnTo>
                    <a:pt x="2215896" y="986993"/>
                  </a:lnTo>
                  <a:lnTo>
                    <a:pt x="2199767" y="1029322"/>
                  </a:lnTo>
                  <a:lnTo>
                    <a:pt x="2182241" y="1066330"/>
                  </a:lnTo>
                  <a:lnTo>
                    <a:pt x="2142998" y="1122629"/>
                  </a:lnTo>
                  <a:lnTo>
                    <a:pt x="2099564" y="1152448"/>
                  </a:lnTo>
                  <a:lnTo>
                    <a:pt x="2076577" y="1156335"/>
                  </a:lnTo>
                  <a:lnTo>
                    <a:pt x="197154" y="1156335"/>
                  </a:lnTo>
                </a:path>
              </a:pathLst>
            </a:custGeom>
            <a:ln w="28956">
              <a:solidFill>
                <a:srgbClr val="000000"/>
              </a:solidFill>
            </a:ln>
          </p:spPr>
          <p:txBody>
            <a:bodyPr wrap="square" lIns="0" tIns="0" rIns="0" bIns="0" rtlCol="0"/>
            <a:lstStyle/>
            <a:p>
              <a:endParaRPr/>
            </a:p>
          </p:txBody>
        </p:sp>
        <p:sp>
          <p:nvSpPr>
            <p:cNvPr id="21" name="object 21">
              <a:extLst>
                <a:ext uri="{FF2B5EF4-FFF2-40B4-BE49-F238E27FC236}">
                  <a16:creationId xmlns:a16="http://schemas.microsoft.com/office/drawing/2014/main" id="{C9B796F2-771A-509E-C0D4-6DF48D34A069}"/>
                </a:ext>
              </a:extLst>
            </p:cNvPr>
            <p:cNvSpPr/>
            <p:nvPr/>
          </p:nvSpPr>
          <p:spPr>
            <a:xfrm>
              <a:off x="2871977" y="3243834"/>
              <a:ext cx="471170" cy="1156335"/>
            </a:xfrm>
            <a:custGeom>
              <a:avLst/>
              <a:gdLst/>
              <a:ahLst/>
              <a:cxnLst/>
              <a:rect l="l" t="t" r="r" b="b"/>
              <a:pathLst>
                <a:path w="471170" h="1156335">
                  <a:moveTo>
                    <a:pt x="235331" y="1156335"/>
                  </a:moveTo>
                  <a:lnTo>
                    <a:pt x="181356" y="1141069"/>
                  </a:lnTo>
                  <a:lnTo>
                    <a:pt x="131826" y="1097572"/>
                  </a:lnTo>
                  <a:lnTo>
                    <a:pt x="109220" y="1066317"/>
                  </a:lnTo>
                  <a:lnTo>
                    <a:pt x="88138" y="1029322"/>
                  </a:lnTo>
                  <a:lnTo>
                    <a:pt x="68961" y="986993"/>
                  </a:lnTo>
                  <a:lnTo>
                    <a:pt x="51689" y="939787"/>
                  </a:lnTo>
                  <a:lnTo>
                    <a:pt x="36703" y="888123"/>
                  </a:lnTo>
                  <a:lnTo>
                    <a:pt x="23876" y="832434"/>
                  </a:lnTo>
                  <a:lnTo>
                    <a:pt x="13716" y="773163"/>
                  </a:lnTo>
                  <a:lnTo>
                    <a:pt x="6223" y="710742"/>
                  </a:lnTo>
                  <a:lnTo>
                    <a:pt x="1524" y="645591"/>
                  </a:lnTo>
                  <a:lnTo>
                    <a:pt x="0" y="578231"/>
                  </a:lnTo>
                  <a:lnTo>
                    <a:pt x="1524" y="510794"/>
                  </a:lnTo>
                  <a:lnTo>
                    <a:pt x="6223" y="445643"/>
                  </a:lnTo>
                  <a:lnTo>
                    <a:pt x="13716" y="383159"/>
                  </a:lnTo>
                  <a:lnTo>
                    <a:pt x="23876" y="323850"/>
                  </a:lnTo>
                  <a:lnTo>
                    <a:pt x="36703" y="268224"/>
                  </a:lnTo>
                  <a:lnTo>
                    <a:pt x="51689" y="216535"/>
                  </a:lnTo>
                  <a:lnTo>
                    <a:pt x="68961" y="169291"/>
                  </a:lnTo>
                  <a:lnTo>
                    <a:pt x="88138" y="127000"/>
                  </a:lnTo>
                  <a:lnTo>
                    <a:pt x="109220" y="90043"/>
                  </a:lnTo>
                  <a:lnTo>
                    <a:pt x="131826" y="58801"/>
                  </a:lnTo>
                  <a:lnTo>
                    <a:pt x="181356" y="15240"/>
                  </a:lnTo>
                  <a:lnTo>
                    <a:pt x="235331" y="0"/>
                  </a:lnTo>
                  <a:lnTo>
                    <a:pt x="262763" y="3937"/>
                  </a:lnTo>
                  <a:lnTo>
                    <a:pt x="314706" y="33655"/>
                  </a:lnTo>
                  <a:lnTo>
                    <a:pt x="361569" y="90043"/>
                  </a:lnTo>
                  <a:lnTo>
                    <a:pt x="382524" y="127000"/>
                  </a:lnTo>
                  <a:lnTo>
                    <a:pt x="401827" y="169291"/>
                  </a:lnTo>
                  <a:lnTo>
                    <a:pt x="418973" y="216535"/>
                  </a:lnTo>
                  <a:lnTo>
                    <a:pt x="434086" y="268224"/>
                  </a:lnTo>
                  <a:lnTo>
                    <a:pt x="446786" y="323850"/>
                  </a:lnTo>
                  <a:lnTo>
                    <a:pt x="456946" y="383159"/>
                  </a:lnTo>
                  <a:lnTo>
                    <a:pt x="464566" y="445643"/>
                  </a:lnTo>
                  <a:lnTo>
                    <a:pt x="469138" y="510794"/>
                  </a:lnTo>
                  <a:lnTo>
                    <a:pt x="470788" y="578231"/>
                  </a:lnTo>
                  <a:lnTo>
                    <a:pt x="469138" y="645591"/>
                  </a:lnTo>
                  <a:lnTo>
                    <a:pt x="464566" y="710742"/>
                  </a:lnTo>
                  <a:lnTo>
                    <a:pt x="456946" y="773163"/>
                  </a:lnTo>
                  <a:lnTo>
                    <a:pt x="446786" y="832434"/>
                  </a:lnTo>
                  <a:lnTo>
                    <a:pt x="434086" y="888123"/>
                  </a:lnTo>
                  <a:lnTo>
                    <a:pt x="418973" y="939787"/>
                  </a:lnTo>
                  <a:lnTo>
                    <a:pt x="401827" y="986993"/>
                  </a:lnTo>
                  <a:lnTo>
                    <a:pt x="382524" y="1029322"/>
                  </a:lnTo>
                  <a:lnTo>
                    <a:pt x="361569" y="1066317"/>
                  </a:lnTo>
                  <a:lnTo>
                    <a:pt x="338836" y="1097572"/>
                  </a:lnTo>
                  <a:lnTo>
                    <a:pt x="289306" y="1141069"/>
                  </a:lnTo>
                  <a:lnTo>
                    <a:pt x="235331" y="1156335"/>
                  </a:lnTo>
                  <a:close/>
                </a:path>
              </a:pathLst>
            </a:custGeom>
            <a:ln w="19812">
              <a:solidFill>
                <a:srgbClr val="000000"/>
              </a:solidFill>
            </a:ln>
          </p:spPr>
          <p:txBody>
            <a:bodyPr wrap="square" lIns="0" tIns="0" rIns="0" bIns="0" rtlCol="0"/>
            <a:lstStyle/>
            <a:p>
              <a:endParaRPr/>
            </a:p>
          </p:txBody>
        </p:sp>
        <p:pic>
          <p:nvPicPr>
            <p:cNvPr id="23" name="object 22">
              <a:extLst>
                <a:ext uri="{FF2B5EF4-FFF2-40B4-BE49-F238E27FC236}">
                  <a16:creationId xmlns:a16="http://schemas.microsoft.com/office/drawing/2014/main" id="{BBB7704A-F72D-87C3-78DC-F588D4B083F2}"/>
                </a:ext>
              </a:extLst>
            </p:cNvPr>
            <p:cNvPicPr/>
            <p:nvPr/>
          </p:nvPicPr>
          <p:blipFill>
            <a:blip r:embed="rId4" cstate="print"/>
            <a:stretch>
              <a:fillRect/>
            </a:stretch>
          </p:blipFill>
          <p:spPr>
            <a:xfrm>
              <a:off x="1167384" y="3739896"/>
              <a:ext cx="134112" cy="134112"/>
            </a:xfrm>
            <a:prstGeom prst="rect">
              <a:avLst/>
            </a:prstGeom>
          </p:spPr>
        </p:pic>
        <p:pic>
          <p:nvPicPr>
            <p:cNvPr id="25" name="object 23">
              <a:extLst>
                <a:ext uri="{FF2B5EF4-FFF2-40B4-BE49-F238E27FC236}">
                  <a16:creationId xmlns:a16="http://schemas.microsoft.com/office/drawing/2014/main" id="{B057EB90-BBA5-3D1B-CFC9-8930DFB17C44}"/>
                </a:ext>
              </a:extLst>
            </p:cNvPr>
            <p:cNvPicPr/>
            <p:nvPr/>
          </p:nvPicPr>
          <p:blipFill>
            <a:blip r:embed="rId4" cstate="print"/>
            <a:stretch>
              <a:fillRect/>
            </a:stretch>
          </p:blipFill>
          <p:spPr>
            <a:xfrm>
              <a:off x="3055620" y="3739896"/>
              <a:ext cx="134112" cy="134112"/>
            </a:xfrm>
            <a:prstGeom prst="rect">
              <a:avLst/>
            </a:prstGeom>
          </p:spPr>
        </p:pic>
      </p:grpSp>
      <p:sp>
        <p:nvSpPr>
          <p:cNvPr id="26" name="object 24">
            <a:extLst>
              <a:ext uri="{FF2B5EF4-FFF2-40B4-BE49-F238E27FC236}">
                <a16:creationId xmlns:a16="http://schemas.microsoft.com/office/drawing/2014/main" id="{B26C0E83-1DE7-7E32-D8BD-8D6238C47F45}"/>
              </a:ext>
            </a:extLst>
          </p:cNvPr>
          <p:cNvSpPr txBox="1"/>
          <p:nvPr/>
        </p:nvSpPr>
        <p:spPr>
          <a:xfrm>
            <a:off x="4954828" y="3282617"/>
            <a:ext cx="191135" cy="300355"/>
          </a:xfrm>
          <a:prstGeom prst="rect">
            <a:avLst/>
          </a:prstGeom>
        </p:spPr>
        <p:txBody>
          <a:bodyPr vert="horz" wrap="square" lIns="0" tIns="12700" rIns="0" bIns="0" rtlCol="0">
            <a:spAutoFit/>
          </a:bodyPr>
          <a:lstStyle/>
          <a:p>
            <a:pPr marL="12700">
              <a:lnSpc>
                <a:spcPct val="100000"/>
              </a:lnSpc>
              <a:spcBef>
                <a:spcPts val="100"/>
              </a:spcBef>
            </a:pPr>
            <a:r>
              <a:rPr sz="1800" b="1" spc="-50" dirty="0">
                <a:solidFill>
                  <a:srgbClr val="C00000"/>
                </a:solidFill>
                <a:latin typeface="Times New Roman"/>
                <a:cs typeface="Times New Roman"/>
              </a:rPr>
              <a:t>A</a:t>
            </a:r>
            <a:endParaRPr sz="1800" dirty="0">
              <a:solidFill>
                <a:srgbClr val="C00000"/>
              </a:solidFill>
              <a:latin typeface="Times New Roman"/>
              <a:cs typeface="Times New Roman"/>
            </a:endParaRPr>
          </a:p>
        </p:txBody>
      </p:sp>
      <p:sp>
        <p:nvSpPr>
          <p:cNvPr id="27" name="object 25">
            <a:extLst>
              <a:ext uri="{FF2B5EF4-FFF2-40B4-BE49-F238E27FC236}">
                <a16:creationId xmlns:a16="http://schemas.microsoft.com/office/drawing/2014/main" id="{B0A9ECEE-3D26-AC0E-97D2-CFCDA0B218F0}"/>
              </a:ext>
            </a:extLst>
          </p:cNvPr>
          <p:cNvSpPr txBox="1"/>
          <p:nvPr/>
        </p:nvSpPr>
        <p:spPr>
          <a:xfrm>
            <a:off x="6849745" y="3282617"/>
            <a:ext cx="178435" cy="300355"/>
          </a:xfrm>
          <a:prstGeom prst="rect">
            <a:avLst/>
          </a:prstGeom>
        </p:spPr>
        <p:txBody>
          <a:bodyPr vert="horz" wrap="square" lIns="0" tIns="12700" rIns="0" bIns="0" rtlCol="0">
            <a:spAutoFit/>
          </a:bodyPr>
          <a:lstStyle/>
          <a:p>
            <a:pPr marL="12700">
              <a:lnSpc>
                <a:spcPct val="100000"/>
              </a:lnSpc>
              <a:spcBef>
                <a:spcPts val="100"/>
              </a:spcBef>
            </a:pPr>
            <a:r>
              <a:rPr sz="1800" b="1" spc="-50" dirty="0">
                <a:solidFill>
                  <a:srgbClr val="C00000"/>
                </a:solidFill>
                <a:latin typeface="Times New Roman"/>
                <a:cs typeface="Times New Roman"/>
              </a:rPr>
              <a:t>B</a:t>
            </a:r>
            <a:endParaRPr sz="1800" dirty="0">
              <a:solidFill>
                <a:srgbClr val="C00000"/>
              </a:solidFill>
              <a:latin typeface="Times New Roman"/>
              <a:cs typeface="Times New Roman"/>
            </a:endParaRPr>
          </a:p>
        </p:txBody>
      </p:sp>
      <p:sp>
        <p:nvSpPr>
          <p:cNvPr id="28" name="object 26">
            <a:extLst>
              <a:ext uri="{FF2B5EF4-FFF2-40B4-BE49-F238E27FC236}">
                <a16:creationId xmlns:a16="http://schemas.microsoft.com/office/drawing/2014/main" id="{0780B206-35B0-A545-1F2B-47FB544A4C70}"/>
              </a:ext>
            </a:extLst>
          </p:cNvPr>
          <p:cNvSpPr txBox="1"/>
          <p:nvPr/>
        </p:nvSpPr>
        <p:spPr>
          <a:xfrm>
            <a:off x="4908702" y="2825773"/>
            <a:ext cx="321945" cy="299720"/>
          </a:xfrm>
          <a:prstGeom prst="rect">
            <a:avLst/>
          </a:prstGeom>
        </p:spPr>
        <p:txBody>
          <a:bodyPr vert="horz" wrap="square" lIns="0" tIns="12700" rIns="0" bIns="0" rtlCol="0">
            <a:spAutoFit/>
          </a:bodyPr>
          <a:lstStyle/>
          <a:p>
            <a:pPr marL="38100">
              <a:lnSpc>
                <a:spcPct val="100000"/>
              </a:lnSpc>
              <a:spcBef>
                <a:spcPts val="100"/>
              </a:spcBef>
            </a:pPr>
            <a:r>
              <a:rPr sz="1800" b="1" spc="-25" dirty="0">
                <a:solidFill>
                  <a:srgbClr val="FF0000"/>
                </a:solidFill>
                <a:latin typeface="Times New Roman"/>
                <a:cs typeface="Times New Roman"/>
              </a:rPr>
              <a:t>V</a:t>
            </a:r>
            <a:r>
              <a:rPr sz="1800" b="1" spc="-37" baseline="-11574" dirty="0">
                <a:solidFill>
                  <a:srgbClr val="FF0000"/>
                </a:solidFill>
                <a:latin typeface="Times New Roman"/>
                <a:cs typeface="Times New Roman"/>
              </a:rPr>
              <a:t>A</a:t>
            </a:r>
            <a:endParaRPr sz="1800" baseline="-11574" dirty="0">
              <a:latin typeface="Times New Roman"/>
              <a:cs typeface="Times New Roman"/>
            </a:endParaRPr>
          </a:p>
        </p:txBody>
      </p:sp>
      <p:sp>
        <p:nvSpPr>
          <p:cNvPr id="29" name="object 27">
            <a:extLst>
              <a:ext uri="{FF2B5EF4-FFF2-40B4-BE49-F238E27FC236}">
                <a16:creationId xmlns:a16="http://schemas.microsoft.com/office/drawing/2014/main" id="{639C2B90-05B6-BB59-F429-5309B3E95662}"/>
              </a:ext>
            </a:extLst>
          </p:cNvPr>
          <p:cNvSpPr txBox="1"/>
          <p:nvPr/>
        </p:nvSpPr>
        <p:spPr>
          <a:xfrm>
            <a:off x="6753605" y="2822724"/>
            <a:ext cx="342900" cy="299720"/>
          </a:xfrm>
          <a:prstGeom prst="rect">
            <a:avLst/>
          </a:prstGeom>
        </p:spPr>
        <p:txBody>
          <a:bodyPr vert="horz" wrap="square" lIns="0" tIns="12700" rIns="0" bIns="0" rtlCol="0">
            <a:spAutoFit/>
          </a:bodyPr>
          <a:lstStyle/>
          <a:p>
            <a:pPr marL="38100">
              <a:lnSpc>
                <a:spcPct val="100000"/>
              </a:lnSpc>
              <a:spcBef>
                <a:spcPts val="100"/>
              </a:spcBef>
            </a:pPr>
            <a:r>
              <a:rPr sz="1800" b="1" spc="-25" dirty="0">
                <a:solidFill>
                  <a:srgbClr val="FF0000"/>
                </a:solidFill>
                <a:latin typeface="Times New Roman"/>
                <a:cs typeface="Times New Roman"/>
              </a:rPr>
              <a:t>V</a:t>
            </a:r>
            <a:r>
              <a:rPr sz="1800" b="1" spc="-37" baseline="-11574" dirty="0">
                <a:solidFill>
                  <a:srgbClr val="FF0000"/>
                </a:solidFill>
                <a:latin typeface="Times New Roman"/>
                <a:cs typeface="Times New Roman"/>
              </a:rPr>
              <a:t>B</a:t>
            </a:r>
            <a:endParaRPr sz="1800" baseline="-11574">
              <a:latin typeface="Times New Roman"/>
              <a:cs typeface="Times New Roman"/>
            </a:endParaRPr>
          </a:p>
        </p:txBody>
      </p:sp>
      <p:grpSp>
        <p:nvGrpSpPr>
          <p:cNvPr id="30" name="object 28">
            <a:extLst>
              <a:ext uri="{FF2B5EF4-FFF2-40B4-BE49-F238E27FC236}">
                <a16:creationId xmlns:a16="http://schemas.microsoft.com/office/drawing/2014/main" id="{6F4C551C-5877-71A1-D0D7-D4F2E7890607}"/>
              </a:ext>
            </a:extLst>
          </p:cNvPr>
          <p:cNvGrpSpPr/>
          <p:nvPr/>
        </p:nvGrpSpPr>
        <p:grpSpPr>
          <a:xfrm>
            <a:off x="4205986" y="3187723"/>
            <a:ext cx="3555365" cy="132715"/>
            <a:chOff x="380238" y="3741420"/>
            <a:chExt cx="3555365" cy="132715"/>
          </a:xfrm>
        </p:grpSpPr>
        <p:sp>
          <p:nvSpPr>
            <p:cNvPr id="31" name="object 29">
              <a:extLst>
                <a:ext uri="{FF2B5EF4-FFF2-40B4-BE49-F238E27FC236}">
                  <a16:creationId xmlns:a16="http://schemas.microsoft.com/office/drawing/2014/main" id="{DF8A8163-FCC5-78DC-9AC8-E2EE049E37FC}"/>
                </a:ext>
              </a:extLst>
            </p:cNvPr>
            <p:cNvSpPr/>
            <p:nvPr/>
          </p:nvSpPr>
          <p:spPr>
            <a:xfrm>
              <a:off x="380238" y="3810762"/>
              <a:ext cx="3555365" cy="0"/>
            </a:xfrm>
            <a:custGeom>
              <a:avLst/>
              <a:gdLst/>
              <a:ahLst/>
              <a:cxnLst/>
              <a:rect l="l" t="t" r="r" b="b"/>
              <a:pathLst>
                <a:path w="3555365">
                  <a:moveTo>
                    <a:pt x="0" y="0"/>
                  </a:moveTo>
                  <a:lnTo>
                    <a:pt x="3555365" y="0"/>
                  </a:lnTo>
                </a:path>
              </a:pathLst>
            </a:custGeom>
            <a:ln w="19812">
              <a:solidFill>
                <a:srgbClr val="000000"/>
              </a:solidFill>
            </a:ln>
          </p:spPr>
          <p:txBody>
            <a:bodyPr wrap="square" lIns="0" tIns="0" rIns="0" bIns="0" rtlCol="0"/>
            <a:lstStyle/>
            <a:p>
              <a:endParaRPr/>
            </a:p>
          </p:txBody>
        </p:sp>
        <p:pic>
          <p:nvPicPr>
            <p:cNvPr id="32" name="object 30">
              <a:extLst>
                <a:ext uri="{FF2B5EF4-FFF2-40B4-BE49-F238E27FC236}">
                  <a16:creationId xmlns:a16="http://schemas.microsoft.com/office/drawing/2014/main" id="{06BA2839-6DF6-35D2-4832-78FB252B5FE8}"/>
                </a:ext>
              </a:extLst>
            </p:cNvPr>
            <p:cNvPicPr/>
            <p:nvPr/>
          </p:nvPicPr>
          <p:blipFill>
            <a:blip r:embed="rId5" cstate="print"/>
            <a:stretch>
              <a:fillRect/>
            </a:stretch>
          </p:blipFill>
          <p:spPr>
            <a:xfrm>
              <a:off x="2472055" y="3741420"/>
              <a:ext cx="130428" cy="132524"/>
            </a:xfrm>
            <a:prstGeom prst="rect">
              <a:avLst/>
            </a:prstGeom>
          </p:spPr>
        </p:pic>
        <p:sp>
          <p:nvSpPr>
            <p:cNvPr id="33" name="object 31">
              <a:extLst>
                <a:ext uri="{FF2B5EF4-FFF2-40B4-BE49-F238E27FC236}">
                  <a16:creationId xmlns:a16="http://schemas.microsoft.com/office/drawing/2014/main" id="{D98AD279-F837-9067-D4E9-57540115B9BA}"/>
                </a:ext>
              </a:extLst>
            </p:cNvPr>
            <p:cNvSpPr/>
            <p:nvPr/>
          </p:nvSpPr>
          <p:spPr>
            <a:xfrm>
              <a:off x="1967484" y="3793363"/>
              <a:ext cx="607060" cy="28575"/>
            </a:xfrm>
            <a:custGeom>
              <a:avLst/>
              <a:gdLst/>
              <a:ahLst/>
              <a:cxnLst/>
              <a:rect l="l" t="t" r="r" b="b"/>
              <a:pathLst>
                <a:path w="607060" h="28575">
                  <a:moveTo>
                    <a:pt x="606628" y="2019"/>
                  </a:moveTo>
                  <a:lnTo>
                    <a:pt x="606552" y="0"/>
                  </a:lnTo>
                  <a:lnTo>
                    <a:pt x="553720" y="0"/>
                  </a:lnTo>
                  <a:lnTo>
                    <a:pt x="0" y="0"/>
                  </a:lnTo>
                  <a:lnTo>
                    <a:pt x="0" y="28575"/>
                  </a:lnTo>
                  <a:lnTo>
                    <a:pt x="553720" y="28575"/>
                  </a:lnTo>
                  <a:lnTo>
                    <a:pt x="578231" y="14351"/>
                  </a:lnTo>
                  <a:lnTo>
                    <a:pt x="599440" y="26670"/>
                  </a:lnTo>
                  <a:lnTo>
                    <a:pt x="606628" y="26670"/>
                  </a:lnTo>
                  <a:lnTo>
                    <a:pt x="606628" y="2019"/>
                  </a:lnTo>
                  <a:close/>
                </a:path>
              </a:pathLst>
            </a:custGeom>
            <a:solidFill>
              <a:srgbClr val="943735"/>
            </a:solidFill>
          </p:spPr>
          <p:txBody>
            <a:bodyPr wrap="square" lIns="0" tIns="0" rIns="0" bIns="0" rtlCol="0"/>
            <a:lstStyle/>
            <a:p>
              <a:endParaRPr/>
            </a:p>
          </p:txBody>
        </p:sp>
      </p:grpSp>
      <p:sp>
        <p:nvSpPr>
          <p:cNvPr id="34" name="object 32">
            <a:extLst>
              <a:ext uri="{FF2B5EF4-FFF2-40B4-BE49-F238E27FC236}">
                <a16:creationId xmlns:a16="http://schemas.microsoft.com/office/drawing/2014/main" id="{D8D2A4EB-BF17-2C96-F26C-F5C348E80179}"/>
              </a:ext>
            </a:extLst>
          </p:cNvPr>
          <p:cNvSpPr txBox="1"/>
          <p:nvPr/>
        </p:nvSpPr>
        <p:spPr>
          <a:xfrm>
            <a:off x="5450078" y="2428892"/>
            <a:ext cx="1192530" cy="300355"/>
          </a:xfrm>
          <a:prstGeom prst="rect">
            <a:avLst/>
          </a:prstGeom>
        </p:spPr>
        <p:txBody>
          <a:bodyPr vert="horz" wrap="square" lIns="0" tIns="12700" rIns="0" bIns="0" rtlCol="0">
            <a:spAutoFit/>
          </a:bodyPr>
          <a:lstStyle/>
          <a:p>
            <a:pPr marL="12700">
              <a:lnSpc>
                <a:spcPct val="100000"/>
              </a:lnSpc>
              <a:spcBef>
                <a:spcPts val="100"/>
              </a:spcBef>
            </a:pPr>
            <a:r>
              <a:rPr sz="1800" b="1" spc="-10" dirty="0">
                <a:solidFill>
                  <a:srgbClr val="FF0000"/>
                </a:solidFill>
                <a:latin typeface="Times New Roman"/>
                <a:cs typeface="Times New Roman"/>
              </a:rPr>
              <a:t>Conducteur</a:t>
            </a:r>
            <a:endParaRPr sz="1800" dirty="0">
              <a:latin typeface="Times New Roman"/>
              <a:cs typeface="Times New Roman"/>
            </a:endParaRPr>
          </a:p>
        </p:txBody>
      </p:sp>
      <p:sp>
        <p:nvSpPr>
          <p:cNvPr id="35" name="object 33">
            <a:extLst>
              <a:ext uri="{FF2B5EF4-FFF2-40B4-BE49-F238E27FC236}">
                <a16:creationId xmlns:a16="http://schemas.microsoft.com/office/drawing/2014/main" id="{1D5E55D7-531C-A52F-CAA0-392A477EB834}"/>
              </a:ext>
            </a:extLst>
          </p:cNvPr>
          <p:cNvSpPr txBox="1"/>
          <p:nvPr/>
        </p:nvSpPr>
        <p:spPr>
          <a:xfrm>
            <a:off x="4058920" y="3655082"/>
            <a:ext cx="757555" cy="299720"/>
          </a:xfrm>
          <a:prstGeom prst="rect">
            <a:avLst/>
          </a:prstGeom>
        </p:spPr>
        <p:txBody>
          <a:bodyPr vert="horz" wrap="square" lIns="0" tIns="12700" rIns="0" bIns="0" rtlCol="0">
            <a:spAutoFit/>
          </a:bodyPr>
          <a:lstStyle/>
          <a:p>
            <a:pPr marL="38100">
              <a:lnSpc>
                <a:spcPct val="100000"/>
              </a:lnSpc>
              <a:spcBef>
                <a:spcPts val="100"/>
              </a:spcBef>
            </a:pPr>
            <a:r>
              <a:rPr sz="1800" b="1" spc="-250" dirty="0">
                <a:solidFill>
                  <a:srgbClr val="FF0000"/>
                </a:solidFill>
                <a:latin typeface="Times New Roman"/>
                <a:cs typeface="Times New Roman"/>
              </a:rPr>
              <a:t>V</a:t>
            </a:r>
            <a:r>
              <a:rPr sz="1800" b="1" spc="-375" baseline="-11574" dirty="0">
                <a:solidFill>
                  <a:srgbClr val="FF0000"/>
                </a:solidFill>
                <a:latin typeface="Times New Roman"/>
                <a:cs typeface="Times New Roman"/>
              </a:rPr>
              <a:t>A</a:t>
            </a:r>
            <a:r>
              <a:rPr sz="1800" b="1" spc="-202" baseline="-11574" dirty="0">
                <a:solidFill>
                  <a:srgbClr val="FF0000"/>
                </a:solidFill>
                <a:latin typeface="Times New Roman"/>
                <a:cs typeface="Times New Roman"/>
              </a:rPr>
              <a:t> </a:t>
            </a:r>
            <a:r>
              <a:rPr lang="fr-FR" sz="1800" b="1" spc="-202" baseline="-11574" dirty="0">
                <a:solidFill>
                  <a:srgbClr val="FF0000"/>
                </a:solidFill>
                <a:latin typeface="Times New Roman"/>
                <a:cs typeface="Times New Roman"/>
              </a:rPr>
              <a:t> </a:t>
            </a:r>
            <a:r>
              <a:rPr sz="1800" b="1" dirty="0">
                <a:solidFill>
                  <a:srgbClr val="FF0000"/>
                </a:solidFill>
                <a:latin typeface="Times New Roman"/>
                <a:cs typeface="Times New Roman"/>
              </a:rPr>
              <a:t>&gt;</a:t>
            </a:r>
            <a:r>
              <a:rPr sz="1800" b="1" spc="-65" dirty="0">
                <a:solidFill>
                  <a:srgbClr val="FF0000"/>
                </a:solidFill>
                <a:latin typeface="Times New Roman"/>
                <a:cs typeface="Times New Roman"/>
              </a:rPr>
              <a:t> </a:t>
            </a:r>
            <a:r>
              <a:rPr sz="1800" b="1" spc="-25" dirty="0">
                <a:solidFill>
                  <a:srgbClr val="FF0000"/>
                </a:solidFill>
                <a:latin typeface="Times New Roman"/>
                <a:cs typeface="Times New Roman"/>
              </a:rPr>
              <a:t>V</a:t>
            </a:r>
            <a:r>
              <a:rPr sz="1800" b="1" spc="-37" baseline="-11574" dirty="0">
                <a:solidFill>
                  <a:srgbClr val="FF0000"/>
                </a:solidFill>
                <a:latin typeface="Times New Roman"/>
                <a:cs typeface="Times New Roman"/>
              </a:rPr>
              <a:t>B</a:t>
            </a:r>
            <a:endParaRPr sz="1800" baseline="-11574" dirty="0">
              <a:latin typeface="Times New Roman"/>
              <a:cs typeface="Times New Roman"/>
            </a:endParaRPr>
          </a:p>
        </p:txBody>
      </p:sp>
      <p:sp>
        <p:nvSpPr>
          <p:cNvPr id="36" name="object 34">
            <a:extLst>
              <a:ext uri="{FF2B5EF4-FFF2-40B4-BE49-F238E27FC236}">
                <a16:creationId xmlns:a16="http://schemas.microsoft.com/office/drawing/2014/main" id="{20F8FA0E-D6C2-E75F-8DEF-03658DAC0555}"/>
              </a:ext>
            </a:extLst>
          </p:cNvPr>
          <p:cNvSpPr txBox="1"/>
          <p:nvPr/>
        </p:nvSpPr>
        <p:spPr>
          <a:xfrm>
            <a:off x="6046343" y="2908069"/>
            <a:ext cx="114935" cy="299720"/>
          </a:xfrm>
          <a:prstGeom prst="rect">
            <a:avLst/>
          </a:prstGeom>
        </p:spPr>
        <p:txBody>
          <a:bodyPr vert="horz" wrap="square" lIns="0" tIns="12700" rIns="0" bIns="0" rtlCol="0">
            <a:spAutoFit/>
          </a:bodyPr>
          <a:lstStyle/>
          <a:p>
            <a:pPr marL="12700">
              <a:lnSpc>
                <a:spcPct val="100000"/>
              </a:lnSpc>
              <a:spcBef>
                <a:spcPts val="100"/>
              </a:spcBef>
            </a:pPr>
            <a:r>
              <a:rPr sz="1800" b="1" spc="-50" dirty="0">
                <a:solidFill>
                  <a:srgbClr val="943735"/>
                </a:solidFill>
                <a:latin typeface="Times New Roman"/>
                <a:cs typeface="Times New Roman"/>
              </a:rPr>
              <a:t>I</a:t>
            </a:r>
            <a:endParaRPr sz="1800">
              <a:latin typeface="Times New Roman"/>
              <a:cs typeface="Times New Roman"/>
            </a:endParaRPr>
          </a:p>
        </p:txBody>
      </p:sp>
      <p:grpSp>
        <p:nvGrpSpPr>
          <p:cNvPr id="37" name="object 35">
            <a:extLst>
              <a:ext uri="{FF2B5EF4-FFF2-40B4-BE49-F238E27FC236}">
                <a16:creationId xmlns:a16="http://schemas.microsoft.com/office/drawing/2014/main" id="{0AE2D7E8-EFCC-13DC-E809-C89FA7B17194}"/>
              </a:ext>
            </a:extLst>
          </p:cNvPr>
          <p:cNvGrpSpPr/>
          <p:nvPr/>
        </p:nvGrpSpPr>
        <p:grpSpPr>
          <a:xfrm>
            <a:off x="5230647" y="3885474"/>
            <a:ext cx="1644650" cy="132715"/>
            <a:chOff x="1301496" y="4512564"/>
            <a:chExt cx="1644650" cy="132715"/>
          </a:xfrm>
        </p:grpSpPr>
        <p:pic>
          <p:nvPicPr>
            <p:cNvPr id="38" name="object 36">
              <a:extLst>
                <a:ext uri="{FF2B5EF4-FFF2-40B4-BE49-F238E27FC236}">
                  <a16:creationId xmlns:a16="http://schemas.microsoft.com/office/drawing/2014/main" id="{5FB1D029-2137-1A88-1DD8-F499E0B5B089}"/>
                </a:ext>
              </a:extLst>
            </p:cNvPr>
            <p:cNvPicPr/>
            <p:nvPr/>
          </p:nvPicPr>
          <p:blipFill>
            <a:blip r:embed="rId6" cstate="print"/>
            <a:stretch>
              <a:fillRect/>
            </a:stretch>
          </p:blipFill>
          <p:spPr>
            <a:xfrm>
              <a:off x="1301496" y="4512564"/>
              <a:ext cx="130428" cy="132524"/>
            </a:xfrm>
            <a:prstGeom prst="rect">
              <a:avLst/>
            </a:prstGeom>
          </p:spPr>
        </p:pic>
        <p:sp>
          <p:nvSpPr>
            <p:cNvPr id="39" name="object 37">
              <a:extLst>
                <a:ext uri="{FF2B5EF4-FFF2-40B4-BE49-F238E27FC236}">
                  <a16:creationId xmlns:a16="http://schemas.microsoft.com/office/drawing/2014/main" id="{82C4A4C1-8B1C-6D66-4B3F-CA730784CD68}"/>
                </a:ext>
              </a:extLst>
            </p:cNvPr>
            <p:cNvSpPr/>
            <p:nvPr/>
          </p:nvSpPr>
          <p:spPr>
            <a:xfrm>
              <a:off x="1329817" y="4564545"/>
              <a:ext cx="1616075" cy="28575"/>
            </a:xfrm>
            <a:custGeom>
              <a:avLst/>
              <a:gdLst/>
              <a:ahLst/>
              <a:cxnLst/>
              <a:rect l="l" t="t" r="r" b="b"/>
              <a:pathLst>
                <a:path w="1616075" h="28575">
                  <a:moveTo>
                    <a:pt x="1615948" y="0"/>
                  </a:moveTo>
                  <a:lnTo>
                    <a:pt x="52832" y="0"/>
                  </a:lnTo>
                  <a:lnTo>
                    <a:pt x="0" y="0"/>
                  </a:lnTo>
                  <a:lnTo>
                    <a:pt x="0" y="28549"/>
                  </a:lnTo>
                  <a:lnTo>
                    <a:pt x="52832" y="28549"/>
                  </a:lnTo>
                  <a:lnTo>
                    <a:pt x="1615948" y="28549"/>
                  </a:lnTo>
                  <a:lnTo>
                    <a:pt x="1615948" y="0"/>
                  </a:lnTo>
                  <a:close/>
                </a:path>
              </a:pathLst>
            </a:custGeom>
            <a:solidFill>
              <a:srgbClr val="943735"/>
            </a:solidFill>
          </p:spPr>
          <p:txBody>
            <a:bodyPr wrap="square" lIns="0" tIns="0" rIns="0" bIns="0" rtlCol="0"/>
            <a:lstStyle/>
            <a:p>
              <a:endParaRPr/>
            </a:p>
          </p:txBody>
        </p:sp>
      </p:grpSp>
      <p:pic>
        <p:nvPicPr>
          <p:cNvPr id="41" name="Picture 9">
            <a:extLst>
              <a:ext uri="{FF2B5EF4-FFF2-40B4-BE49-F238E27FC236}">
                <a16:creationId xmlns:a16="http://schemas.microsoft.com/office/drawing/2014/main" id="{B51DE328-4F8E-0D00-96FE-24EA3748148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23534" y="2645336"/>
            <a:ext cx="2328181" cy="13653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2" name="object 38">
            <a:extLst>
              <a:ext uri="{FF2B5EF4-FFF2-40B4-BE49-F238E27FC236}">
                <a16:creationId xmlns:a16="http://schemas.microsoft.com/office/drawing/2014/main" id="{C1DACF79-73ED-100F-4D04-3964FEF3F354}"/>
              </a:ext>
            </a:extLst>
          </p:cNvPr>
          <p:cNvSpPr txBox="1"/>
          <p:nvPr/>
        </p:nvSpPr>
        <p:spPr>
          <a:xfrm>
            <a:off x="5519317" y="3978044"/>
            <a:ext cx="1095375" cy="299720"/>
          </a:xfrm>
          <a:prstGeom prst="rect">
            <a:avLst/>
          </a:prstGeom>
        </p:spPr>
        <p:txBody>
          <a:bodyPr vert="horz" wrap="square" lIns="0" tIns="12700" rIns="0" bIns="0" rtlCol="0">
            <a:spAutoFit/>
          </a:bodyPr>
          <a:lstStyle/>
          <a:p>
            <a:pPr marL="38100">
              <a:lnSpc>
                <a:spcPct val="100000"/>
              </a:lnSpc>
              <a:spcBef>
                <a:spcPts val="100"/>
              </a:spcBef>
            </a:pPr>
            <a:r>
              <a:rPr sz="1800" b="1" dirty="0">
                <a:solidFill>
                  <a:srgbClr val="FF0000"/>
                </a:solidFill>
                <a:latin typeface="Times New Roman"/>
                <a:cs typeface="Times New Roman"/>
              </a:rPr>
              <a:t>V</a:t>
            </a:r>
            <a:r>
              <a:rPr sz="1800" b="1" spc="-80" dirty="0">
                <a:solidFill>
                  <a:srgbClr val="FF0000"/>
                </a:solidFill>
                <a:latin typeface="Times New Roman"/>
                <a:cs typeface="Times New Roman"/>
              </a:rPr>
              <a:t> </a:t>
            </a:r>
            <a:r>
              <a:rPr sz="1800" b="1" dirty="0">
                <a:solidFill>
                  <a:srgbClr val="FF0000"/>
                </a:solidFill>
                <a:latin typeface="Times New Roman"/>
                <a:cs typeface="Times New Roman"/>
              </a:rPr>
              <a:t>=</a:t>
            </a:r>
            <a:r>
              <a:rPr sz="1800" b="1" spc="-75" dirty="0">
                <a:solidFill>
                  <a:srgbClr val="FF0000"/>
                </a:solidFill>
                <a:latin typeface="Times New Roman"/>
                <a:cs typeface="Times New Roman"/>
              </a:rPr>
              <a:t> </a:t>
            </a:r>
            <a:r>
              <a:rPr sz="1800" b="1" spc="-245" dirty="0">
                <a:solidFill>
                  <a:srgbClr val="FF0000"/>
                </a:solidFill>
                <a:latin typeface="Times New Roman"/>
                <a:cs typeface="Times New Roman"/>
              </a:rPr>
              <a:t>V</a:t>
            </a:r>
            <a:r>
              <a:rPr sz="1800" b="1" spc="-367" baseline="-11574" dirty="0">
                <a:solidFill>
                  <a:srgbClr val="FF0000"/>
                </a:solidFill>
                <a:latin typeface="Times New Roman"/>
                <a:cs typeface="Times New Roman"/>
              </a:rPr>
              <a:t>A</a:t>
            </a:r>
            <a:r>
              <a:rPr lang="fr-FR" sz="1800" b="1" spc="-367" baseline="-11574" dirty="0">
                <a:solidFill>
                  <a:srgbClr val="FF0000"/>
                </a:solidFill>
                <a:latin typeface="Times New Roman"/>
                <a:cs typeface="Times New Roman"/>
              </a:rPr>
              <a:t>     </a:t>
            </a:r>
            <a:r>
              <a:rPr sz="1800" b="1" spc="-202" baseline="-11574" dirty="0">
                <a:solidFill>
                  <a:srgbClr val="FF0000"/>
                </a:solidFill>
                <a:latin typeface="Times New Roman"/>
                <a:cs typeface="Times New Roman"/>
              </a:rPr>
              <a:t> </a:t>
            </a:r>
            <a:r>
              <a:rPr sz="1800" b="1" dirty="0">
                <a:solidFill>
                  <a:srgbClr val="FF0000"/>
                </a:solidFill>
                <a:latin typeface="Times New Roman"/>
                <a:cs typeface="Times New Roman"/>
              </a:rPr>
              <a:t>-</a:t>
            </a:r>
            <a:r>
              <a:rPr sz="1800" b="1" spc="-70" dirty="0">
                <a:solidFill>
                  <a:srgbClr val="FF0000"/>
                </a:solidFill>
                <a:latin typeface="Times New Roman"/>
                <a:cs typeface="Times New Roman"/>
              </a:rPr>
              <a:t> </a:t>
            </a:r>
            <a:r>
              <a:rPr sz="1800" b="1" spc="-35" dirty="0">
                <a:solidFill>
                  <a:srgbClr val="FF0000"/>
                </a:solidFill>
                <a:latin typeface="Times New Roman"/>
                <a:cs typeface="Times New Roman"/>
              </a:rPr>
              <a:t>V</a:t>
            </a:r>
            <a:r>
              <a:rPr sz="1800" b="1" spc="-52" baseline="-11574" dirty="0">
                <a:solidFill>
                  <a:srgbClr val="FF0000"/>
                </a:solidFill>
                <a:latin typeface="Times New Roman"/>
                <a:cs typeface="Times New Roman"/>
              </a:rPr>
              <a:t>B</a:t>
            </a:r>
            <a:endParaRPr sz="1800" baseline="-11574" dirty="0">
              <a:latin typeface="Times New Roman"/>
              <a:cs typeface="Times New Roman"/>
            </a:endParaRPr>
          </a:p>
        </p:txBody>
      </p:sp>
    </p:spTree>
    <p:extLst>
      <p:ext uri="{BB962C8B-B14F-4D97-AF65-F5344CB8AC3E}">
        <p14:creationId xmlns:p14="http://schemas.microsoft.com/office/powerpoint/2010/main" val="20139792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8590"/>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458201" y="4824469"/>
            <a:ext cx="4187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16</a:t>
            </a:fld>
            <a:endParaRPr sz="2400">
              <a:latin typeface="Arial"/>
              <a:cs typeface="Arial"/>
            </a:endParaRPr>
          </a:p>
        </p:txBody>
      </p:sp>
      <p:sp>
        <p:nvSpPr>
          <p:cNvPr id="15" name="Rectangle 14"/>
          <p:cNvSpPr/>
          <p:nvPr/>
        </p:nvSpPr>
        <p:spPr>
          <a:xfrm>
            <a:off x="550646" y="557613"/>
            <a:ext cx="2476319" cy="597599"/>
          </a:xfrm>
          <a:prstGeom prst="rect">
            <a:avLst/>
          </a:prstGeom>
        </p:spPr>
        <p:txBody>
          <a:bodyPr wrap="none">
            <a:spAutoFit/>
          </a:bodyPr>
          <a:lstStyle/>
          <a:p>
            <a:pPr marL="393065" lvl="1" indent="-381000">
              <a:lnSpc>
                <a:spcPct val="100000"/>
              </a:lnSpc>
              <a:spcBef>
                <a:spcPts val="100"/>
              </a:spcBef>
              <a:buAutoNum type="arabicPeriod"/>
              <a:tabLst>
                <a:tab pos="393700" algn="l"/>
              </a:tabLst>
            </a:pPr>
            <a:r>
              <a:rPr lang="fr-FR" b="1" spc="-5" dirty="0">
                <a:solidFill>
                  <a:srgbClr val="FF0000"/>
                </a:solidFill>
                <a:latin typeface="Bookman Old Style" panose="02050604050505020204" pitchFamily="18" charset="0"/>
                <a:cs typeface="Arial"/>
              </a:rPr>
              <a:t>Généralités</a:t>
            </a:r>
          </a:p>
          <a:p>
            <a:pPr marL="12065" lvl="1">
              <a:lnSpc>
                <a:spcPct val="100000"/>
              </a:lnSpc>
              <a:spcBef>
                <a:spcPts val="100"/>
              </a:spcBef>
              <a:tabLst>
                <a:tab pos="393700" algn="l"/>
              </a:tabLst>
            </a:pPr>
            <a:r>
              <a:rPr lang="fr-FR" sz="1400" b="1" spc="-5" dirty="0">
                <a:solidFill>
                  <a:srgbClr val="CC00CC"/>
                </a:solidFill>
                <a:latin typeface="Garamond" panose="02020404030301010803" pitchFamily="18" charset="0"/>
                <a:cs typeface="Browallia New" panose="020B0604020202020204" pitchFamily="34" charset="-34"/>
              </a:rPr>
              <a:t> </a:t>
            </a:r>
            <a:r>
              <a:rPr lang="fr-FR" sz="1400" b="1" spc="-5" dirty="0">
                <a:solidFill>
                  <a:srgbClr val="CC00CC"/>
                </a:solidFill>
                <a:latin typeface="Bookman Old Style" panose="02050604050505020204" pitchFamily="18" charset="0"/>
                <a:cs typeface="Arial"/>
              </a:rPr>
              <a:t>1.5 Signaux électriques </a:t>
            </a: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6" name="TextBox 25">
            <a:extLst>
              <a:ext uri="{FF2B5EF4-FFF2-40B4-BE49-F238E27FC236}">
                <a16:creationId xmlns:a16="http://schemas.microsoft.com/office/drawing/2014/main" id="{6D8128A1-C4FC-391D-5540-73A10BF86612}"/>
              </a:ext>
            </a:extLst>
          </p:cNvPr>
          <p:cNvSpPr txBox="1"/>
          <p:nvPr/>
        </p:nvSpPr>
        <p:spPr>
          <a:xfrm>
            <a:off x="655580" y="1180632"/>
            <a:ext cx="8378232" cy="584775"/>
          </a:xfrm>
          <a:prstGeom prst="rect">
            <a:avLst/>
          </a:prstGeom>
          <a:noFill/>
        </p:spPr>
        <p:txBody>
          <a:bodyPr wrap="square">
            <a:spAutoFit/>
          </a:bodyPr>
          <a:lstStyle/>
          <a:p>
            <a:pPr algn="just"/>
            <a:r>
              <a:rPr lang="fr-FR" altLang="fr-FR" sz="1500" dirty="0">
                <a:latin typeface="Bookman Old Style" panose="02050604050505020204" pitchFamily="18" charset="0"/>
                <a:cs typeface="Browallia New" panose="020B0604020202020204" pitchFamily="34" charset="-34"/>
              </a:rPr>
              <a:t>La </a:t>
            </a:r>
            <a:r>
              <a:rPr lang="fr-FR" altLang="fr-FR" sz="1500" b="1" dirty="0">
                <a:latin typeface="Bookman Old Style" panose="02050604050505020204" pitchFamily="18" charset="0"/>
                <a:cs typeface="Browallia New" panose="020B0604020202020204" pitchFamily="34" charset="-34"/>
              </a:rPr>
              <a:t>tension</a:t>
            </a:r>
            <a:r>
              <a:rPr lang="fr-FR" altLang="fr-FR" sz="1500" dirty="0">
                <a:latin typeface="Bookman Old Style" panose="02050604050505020204" pitchFamily="18" charset="0"/>
                <a:cs typeface="Browallia New" panose="020B0604020202020204" pitchFamily="34" charset="-34"/>
              </a:rPr>
              <a:t> et le </a:t>
            </a:r>
            <a:r>
              <a:rPr lang="fr-FR" altLang="fr-FR" sz="1500" b="1" dirty="0">
                <a:latin typeface="Bookman Old Style" panose="02050604050505020204" pitchFamily="18" charset="0"/>
                <a:cs typeface="Browallia New" panose="020B0604020202020204" pitchFamily="34" charset="-34"/>
              </a:rPr>
              <a:t>courant</a:t>
            </a:r>
            <a:r>
              <a:rPr lang="fr-FR" altLang="fr-FR" sz="1500" dirty="0">
                <a:latin typeface="Bookman Old Style" panose="02050604050505020204" pitchFamily="18" charset="0"/>
                <a:cs typeface="Browallia New" panose="020B0604020202020204" pitchFamily="34" charset="-34"/>
              </a:rPr>
              <a:t> sont appelés des signaux électriques, </a:t>
            </a:r>
            <a:r>
              <a:rPr lang="fr-FR" sz="1600" dirty="0">
                <a:latin typeface="Bookman Old Style" panose="02050604050505020204" pitchFamily="18" charset="0"/>
              </a:rPr>
              <a:t>et sont souvent présentés sous forme </a:t>
            </a:r>
            <a:r>
              <a:rPr lang="fr-FR" sz="1600" b="1" dirty="0">
                <a:solidFill>
                  <a:srgbClr val="FF0000"/>
                </a:solidFill>
                <a:latin typeface="Bookman Old Style" panose="02050604050505020204" pitchFamily="18" charset="0"/>
              </a:rPr>
              <a:t>continue</a:t>
            </a:r>
            <a:r>
              <a:rPr lang="fr-FR" sz="1600" dirty="0">
                <a:latin typeface="Bookman Old Style" panose="02050604050505020204" pitchFamily="18" charset="0"/>
              </a:rPr>
              <a:t> ou </a:t>
            </a:r>
            <a:r>
              <a:rPr lang="fr-FR" sz="1600" b="1" dirty="0">
                <a:solidFill>
                  <a:srgbClr val="FF0000"/>
                </a:solidFill>
                <a:latin typeface="Bookman Old Style" panose="02050604050505020204" pitchFamily="18" charset="0"/>
              </a:rPr>
              <a:t>alternative</a:t>
            </a:r>
            <a:r>
              <a:rPr lang="fr-FR" sz="1600" dirty="0"/>
              <a:t>. </a:t>
            </a:r>
            <a:endParaRPr lang="fr-FR" altLang="fr-FR" sz="1500" dirty="0">
              <a:solidFill>
                <a:srgbClr val="3F53E9"/>
              </a:solidFill>
              <a:latin typeface="Bookman Old Style" panose="02050604050505020204" pitchFamily="18" charset="0"/>
              <a:cs typeface="Browallia New" panose="020B0604020202020204" pitchFamily="34" charset="-34"/>
            </a:endParaRPr>
          </a:p>
        </p:txBody>
      </p:sp>
      <p:sp>
        <p:nvSpPr>
          <p:cNvPr id="29" name="ZoneTexte 10">
            <a:extLst>
              <a:ext uri="{FF2B5EF4-FFF2-40B4-BE49-F238E27FC236}">
                <a16:creationId xmlns:a16="http://schemas.microsoft.com/office/drawing/2014/main" id="{0C185895-0611-86ED-0243-23294230AC92}"/>
              </a:ext>
            </a:extLst>
          </p:cNvPr>
          <p:cNvSpPr txBox="1">
            <a:spLocks noChangeArrowheads="1"/>
          </p:cNvSpPr>
          <p:nvPr/>
        </p:nvSpPr>
        <p:spPr bwMode="auto">
          <a:xfrm>
            <a:off x="1447800" y="1974587"/>
            <a:ext cx="6572250" cy="40011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fr-FR" altLang="fr-FR" sz="2000" b="1" dirty="0">
                <a:solidFill>
                  <a:srgbClr val="0000FF"/>
                </a:solidFill>
                <a:latin typeface="Bookman Old Style" panose="02050604050505020204" pitchFamily="18" charset="0"/>
                <a:cs typeface="Browallia New" panose="020B0604020202020204" pitchFamily="34" charset="-34"/>
              </a:rPr>
              <a:t>Quelle est la différence entre ces deux formes ?</a:t>
            </a:r>
          </a:p>
        </p:txBody>
      </p:sp>
      <p:sp>
        <p:nvSpPr>
          <p:cNvPr id="31" name="TextBox 30">
            <a:extLst>
              <a:ext uri="{FF2B5EF4-FFF2-40B4-BE49-F238E27FC236}">
                <a16:creationId xmlns:a16="http://schemas.microsoft.com/office/drawing/2014/main" id="{1E84780B-E429-1419-D5CB-84FF074D09FE}"/>
              </a:ext>
            </a:extLst>
          </p:cNvPr>
          <p:cNvSpPr txBox="1"/>
          <p:nvPr/>
        </p:nvSpPr>
        <p:spPr>
          <a:xfrm>
            <a:off x="990599" y="2876550"/>
            <a:ext cx="8153401" cy="2031325"/>
          </a:xfrm>
          <a:prstGeom prst="rect">
            <a:avLst/>
          </a:prstGeom>
          <a:noFill/>
        </p:spPr>
        <p:txBody>
          <a:bodyPr wrap="square">
            <a:spAutoFit/>
          </a:bodyPr>
          <a:lstStyle/>
          <a:p>
            <a:pPr marL="285750" indent="-285750" algn="just">
              <a:buFont typeface="Wingdings" panose="05000000000000000000" pitchFamily="2" charset="2"/>
              <a:buChar char="q"/>
            </a:pPr>
            <a:r>
              <a:rPr lang="fr-FR" sz="1400" b="1" dirty="0">
                <a:solidFill>
                  <a:srgbClr val="FF0000"/>
                </a:solidFill>
                <a:latin typeface="Bookman Old Style" panose="02050604050505020204" pitchFamily="18" charset="0"/>
              </a:rPr>
              <a:t>Grandeur continue: </a:t>
            </a:r>
            <a:r>
              <a:rPr lang="fr-FR" sz="1400" dirty="0">
                <a:latin typeface="Bookman Old Style" panose="02050604050505020204" pitchFamily="18" charset="0"/>
              </a:rPr>
              <a:t>C'est une grandeur qui garde la même valeur ou varie de manière très stable dans le temps. </a:t>
            </a:r>
          </a:p>
          <a:p>
            <a:pPr algn="just"/>
            <a:r>
              <a:rPr lang="fr-FR" sz="1400" dirty="0">
                <a:latin typeface="Bookman Old Style" panose="02050604050505020204" pitchFamily="18" charset="0"/>
              </a:rPr>
              <a:t>                      </a:t>
            </a:r>
            <a:r>
              <a:rPr lang="fr-FR" sz="1400" b="1" dirty="0">
                <a:latin typeface="Bookman Old Style" panose="02050604050505020204" pitchFamily="18" charset="0"/>
              </a:rPr>
              <a:t>Par exemple</a:t>
            </a:r>
            <a:r>
              <a:rPr lang="fr-FR" sz="1400" dirty="0">
                <a:latin typeface="Bookman Old Style" panose="02050604050505020204" pitchFamily="18" charset="0"/>
              </a:rPr>
              <a:t>, une tension ou un courant continu reste </a:t>
            </a:r>
            <a:r>
              <a:rPr lang="fr-FR" sz="1400" b="1" dirty="0">
                <a:latin typeface="Bookman Old Style" panose="02050604050505020204" pitchFamily="18" charset="0"/>
              </a:rPr>
              <a:t>constant</a:t>
            </a:r>
            <a:r>
              <a:rPr lang="fr-FR" sz="1400" dirty="0">
                <a:latin typeface="Bookman Old Style" panose="02050604050505020204" pitchFamily="18" charset="0"/>
              </a:rPr>
              <a:t> (comme dans une pile ou une batterie).</a:t>
            </a:r>
          </a:p>
          <a:p>
            <a:pPr algn="just"/>
            <a:endParaRPr lang="fr-FR" sz="1400" b="1" dirty="0">
              <a:solidFill>
                <a:srgbClr val="FF0000"/>
              </a:solidFill>
              <a:latin typeface="Bookman Old Style" panose="02050604050505020204" pitchFamily="18" charset="0"/>
            </a:endParaRPr>
          </a:p>
          <a:p>
            <a:pPr marL="285750" indent="-285750" algn="just">
              <a:buFont typeface="Wingdings" panose="05000000000000000000" pitchFamily="2" charset="2"/>
              <a:buChar char="q"/>
            </a:pPr>
            <a:r>
              <a:rPr lang="fr-FR" sz="1400" b="1" dirty="0">
                <a:solidFill>
                  <a:srgbClr val="FF0000"/>
                </a:solidFill>
                <a:latin typeface="Bookman Old Style" panose="02050604050505020204" pitchFamily="18" charset="0"/>
              </a:rPr>
              <a:t>Grandeur alternative: </a:t>
            </a:r>
            <a:r>
              <a:rPr lang="fr-FR" sz="1400" dirty="0">
                <a:latin typeface="Bookman Old Style" panose="02050604050505020204" pitchFamily="18" charset="0"/>
              </a:rPr>
              <a:t>C'est une grandeur qui </a:t>
            </a:r>
            <a:r>
              <a:rPr lang="fr-FR" sz="1400" b="1" dirty="0">
                <a:latin typeface="Bookman Old Style" panose="02050604050505020204" pitchFamily="18" charset="0"/>
              </a:rPr>
              <a:t>change périodiquement de valeur</a:t>
            </a:r>
            <a:r>
              <a:rPr lang="fr-FR" sz="1400" dirty="0">
                <a:latin typeface="Bookman Old Style" panose="02050604050505020204" pitchFamily="18" charset="0"/>
              </a:rPr>
              <a:t>, oscillant entre des valeurs positives et négatives.</a:t>
            </a:r>
          </a:p>
          <a:p>
            <a:pPr algn="just"/>
            <a:r>
              <a:rPr lang="fr-FR" sz="1400" dirty="0">
                <a:latin typeface="Bookman Old Style" panose="02050604050505020204" pitchFamily="18" charset="0"/>
              </a:rPr>
              <a:t>                      </a:t>
            </a:r>
            <a:r>
              <a:rPr lang="fr-FR" sz="1400" b="1" dirty="0">
                <a:latin typeface="Bookman Old Style" panose="02050604050505020204" pitchFamily="18" charset="0"/>
              </a:rPr>
              <a:t>Par exemple</a:t>
            </a:r>
            <a:r>
              <a:rPr lang="fr-FR" sz="1400" dirty="0">
                <a:latin typeface="Bookman Old Style" panose="02050604050505020204" pitchFamily="18" charset="0"/>
              </a:rPr>
              <a:t>, la tension ou le courant alternatif varie de façon sinusoïdale, comme celui fourni par le réseau électrique domestique.</a:t>
            </a:r>
          </a:p>
        </p:txBody>
      </p:sp>
      <p:sp>
        <p:nvSpPr>
          <p:cNvPr id="32" name="TextBox 31">
            <a:extLst>
              <a:ext uri="{FF2B5EF4-FFF2-40B4-BE49-F238E27FC236}">
                <a16:creationId xmlns:a16="http://schemas.microsoft.com/office/drawing/2014/main" id="{19200C16-E7D1-E6F1-DADC-2D265987A76F}"/>
              </a:ext>
            </a:extLst>
          </p:cNvPr>
          <p:cNvSpPr txBox="1"/>
          <p:nvPr/>
        </p:nvSpPr>
        <p:spPr>
          <a:xfrm>
            <a:off x="655580" y="2475934"/>
            <a:ext cx="2925820" cy="323165"/>
          </a:xfrm>
          <a:prstGeom prst="rect">
            <a:avLst/>
          </a:prstGeom>
          <a:noFill/>
        </p:spPr>
        <p:txBody>
          <a:bodyPr wrap="square" rtlCol="0">
            <a:spAutoFit/>
          </a:bodyPr>
          <a:lstStyle/>
          <a:p>
            <a:r>
              <a:rPr lang="fr-FR" sz="1500" b="1" dirty="0">
                <a:latin typeface="Bookman Old Style" panose="02050604050505020204" pitchFamily="18" charset="0"/>
              </a:rPr>
              <a:t>D’une manière général :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5"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2000"/>
                                        <p:tgtEl>
                                          <p:spTgt spid="29"/>
                                        </p:tgtEl>
                                      </p:cBhvr>
                                    </p:animEffect>
                                    <p:anim calcmode="lin" valueType="num">
                                      <p:cBhvr>
                                        <p:cTn id="8" dur="2000" fill="hold"/>
                                        <p:tgtEl>
                                          <p:spTgt spid="29"/>
                                        </p:tgtEl>
                                        <p:attrNameLst>
                                          <p:attrName>ppt_w</p:attrName>
                                        </p:attrNameLst>
                                      </p:cBhvr>
                                      <p:tavLst>
                                        <p:tav tm="0" fmla="#ppt_w*sin(2.5*pi*$)">
                                          <p:val>
                                            <p:fltVal val="0"/>
                                          </p:val>
                                        </p:tav>
                                        <p:tav tm="100000">
                                          <p:val>
                                            <p:fltVal val="1"/>
                                          </p:val>
                                        </p:tav>
                                      </p:tavLst>
                                    </p:anim>
                                    <p:anim calcmode="lin" valueType="num">
                                      <p:cBhvr>
                                        <p:cTn id="9" dur="2000" fill="hold"/>
                                        <p:tgtEl>
                                          <p:spTgt spid="29"/>
                                        </p:tgtEl>
                                        <p:attrNameLst>
                                          <p:attrName>ppt_h</p:attrName>
                                        </p:attrNameLst>
                                      </p:cBhvr>
                                      <p:tavLst>
                                        <p:tav tm="0">
                                          <p:val>
                                            <p:strVal val="#ppt_h"/>
                                          </p:val>
                                        </p:tav>
                                        <p:tav tm="100000">
                                          <p:val>
                                            <p:strVal val="#ppt_h"/>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32"/>
                                        </p:tgtEl>
                                        <p:attrNameLst>
                                          <p:attrName>style.visibility</p:attrName>
                                        </p:attrNameLst>
                                      </p:cBhvr>
                                      <p:to>
                                        <p:strVal val="visible"/>
                                      </p:to>
                                    </p:set>
                                    <p:anim calcmode="lin" valueType="num">
                                      <p:cBhvr additive="base">
                                        <p:cTn id="14" dur="500" fill="hold"/>
                                        <p:tgtEl>
                                          <p:spTgt spid="32"/>
                                        </p:tgtEl>
                                        <p:attrNameLst>
                                          <p:attrName>ppt_x</p:attrName>
                                        </p:attrNameLst>
                                      </p:cBhvr>
                                      <p:tavLst>
                                        <p:tav tm="0">
                                          <p:val>
                                            <p:strVal val="#ppt_x"/>
                                          </p:val>
                                        </p:tav>
                                        <p:tav tm="100000">
                                          <p:val>
                                            <p:strVal val="#ppt_x"/>
                                          </p:val>
                                        </p:tav>
                                      </p:tavLst>
                                    </p:anim>
                                    <p:anim calcmode="lin" valueType="num">
                                      <p:cBhvr additive="base">
                                        <p:cTn id="15" dur="500" fill="hold"/>
                                        <p:tgtEl>
                                          <p:spTgt spid="32"/>
                                        </p:tgtEl>
                                        <p:attrNameLst>
                                          <p:attrName>ppt_y</p:attrName>
                                        </p:attrNameLst>
                                      </p:cBhvr>
                                      <p:tavLst>
                                        <p:tav tm="0">
                                          <p:val>
                                            <p:strVal val="1+#ppt_h/2"/>
                                          </p:val>
                                        </p:tav>
                                        <p:tav tm="100000">
                                          <p:val>
                                            <p:strVal val="#ppt_y"/>
                                          </p:val>
                                        </p:tav>
                                      </p:tavLst>
                                    </p:anim>
                                  </p:childTnLst>
                                </p:cTn>
                              </p:par>
                              <p:par>
                                <p:cTn id="16" presetID="2" presetClass="entr" presetSubtype="4" fill="hold" grpId="0" nodeType="withEffect">
                                  <p:stCondLst>
                                    <p:cond delay="0"/>
                                  </p:stCondLst>
                                  <p:childTnLst>
                                    <p:set>
                                      <p:cBhvr>
                                        <p:cTn id="17" dur="1" fill="hold">
                                          <p:stCondLst>
                                            <p:cond delay="0"/>
                                          </p:stCondLst>
                                        </p:cTn>
                                        <p:tgtEl>
                                          <p:spTgt spid="31"/>
                                        </p:tgtEl>
                                        <p:attrNameLst>
                                          <p:attrName>style.visibility</p:attrName>
                                        </p:attrNameLst>
                                      </p:cBhvr>
                                      <p:to>
                                        <p:strVal val="visible"/>
                                      </p:to>
                                    </p:set>
                                    <p:anim calcmode="lin" valueType="num">
                                      <p:cBhvr additive="base">
                                        <p:cTn id="18" dur="500" fill="hold"/>
                                        <p:tgtEl>
                                          <p:spTgt spid="31"/>
                                        </p:tgtEl>
                                        <p:attrNameLst>
                                          <p:attrName>ppt_x</p:attrName>
                                        </p:attrNameLst>
                                      </p:cBhvr>
                                      <p:tavLst>
                                        <p:tav tm="0">
                                          <p:val>
                                            <p:strVal val="#ppt_x"/>
                                          </p:val>
                                        </p:tav>
                                        <p:tav tm="100000">
                                          <p:val>
                                            <p:strVal val="#ppt_x"/>
                                          </p:val>
                                        </p:tav>
                                      </p:tavLst>
                                    </p:anim>
                                    <p:anim calcmode="lin" valueType="num">
                                      <p:cBhvr additive="base">
                                        <p:cTn id="19"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1" grpId="0"/>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8590"/>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458201" y="4824469"/>
            <a:ext cx="4187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17</a:t>
            </a:fld>
            <a:endParaRPr sz="2400">
              <a:latin typeface="Arial"/>
              <a:cs typeface="Arial"/>
            </a:endParaRPr>
          </a:p>
        </p:txBody>
      </p:sp>
      <p:sp>
        <p:nvSpPr>
          <p:cNvPr id="15" name="Rectangle 14"/>
          <p:cNvSpPr/>
          <p:nvPr/>
        </p:nvSpPr>
        <p:spPr>
          <a:xfrm>
            <a:off x="550646" y="557613"/>
            <a:ext cx="4076116" cy="825867"/>
          </a:xfrm>
          <a:prstGeom prst="rect">
            <a:avLst/>
          </a:prstGeom>
        </p:spPr>
        <p:txBody>
          <a:bodyPr wrap="none">
            <a:spAutoFit/>
          </a:bodyPr>
          <a:lstStyle/>
          <a:p>
            <a:pPr marL="393065" lvl="1" indent="-381000">
              <a:lnSpc>
                <a:spcPct val="100000"/>
              </a:lnSpc>
              <a:spcBef>
                <a:spcPts val="100"/>
              </a:spcBef>
              <a:buAutoNum type="arabicPeriod"/>
              <a:tabLst>
                <a:tab pos="393700" algn="l"/>
              </a:tabLst>
            </a:pPr>
            <a:r>
              <a:rPr lang="fr-FR" b="1" spc="-5" dirty="0">
                <a:solidFill>
                  <a:srgbClr val="FF0000"/>
                </a:solidFill>
                <a:latin typeface="Bookman Old Style" panose="02050604050505020204" pitchFamily="18" charset="0"/>
                <a:cs typeface="Arial"/>
              </a:rPr>
              <a:t>Généralités</a:t>
            </a:r>
          </a:p>
          <a:p>
            <a:pPr marL="12065" lvl="1">
              <a:lnSpc>
                <a:spcPct val="100000"/>
              </a:lnSpc>
              <a:spcBef>
                <a:spcPts val="100"/>
              </a:spcBef>
              <a:tabLst>
                <a:tab pos="393700" algn="l"/>
              </a:tabLst>
            </a:pPr>
            <a:r>
              <a:rPr lang="fr-FR" sz="1400" b="1" spc="-5" dirty="0">
                <a:solidFill>
                  <a:srgbClr val="CC00CC"/>
                </a:solidFill>
                <a:latin typeface="Garamond" panose="02020404030301010803" pitchFamily="18" charset="0"/>
                <a:cs typeface="Browallia New" panose="020B0604020202020204" pitchFamily="34" charset="-34"/>
              </a:rPr>
              <a:t> </a:t>
            </a:r>
            <a:r>
              <a:rPr lang="fr-FR" sz="1400" b="1" spc="-5" dirty="0">
                <a:solidFill>
                  <a:srgbClr val="CC00CC"/>
                </a:solidFill>
                <a:latin typeface="Bookman Old Style" panose="02050604050505020204" pitchFamily="18" charset="0"/>
                <a:cs typeface="Arial"/>
              </a:rPr>
              <a:t>1.5 Signaux électriques</a:t>
            </a:r>
          </a:p>
          <a:p>
            <a:pPr marL="12065" lvl="1">
              <a:lnSpc>
                <a:spcPct val="100000"/>
              </a:lnSpc>
              <a:spcBef>
                <a:spcPts val="100"/>
              </a:spcBef>
              <a:tabLst>
                <a:tab pos="393700" algn="l"/>
              </a:tabLst>
            </a:pPr>
            <a:r>
              <a:rPr lang="fr-FR" sz="1400" b="1" spc="-5" dirty="0">
                <a:solidFill>
                  <a:schemeClr val="accent6">
                    <a:lumMod val="50000"/>
                  </a:schemeClr>
                </a:solidFill>
                <a:latin typeface="Bookman Old Style" panose="02050604050505020204" pitchFamily="18" charset="0"/>
                <a:cs typeface="Arial"/>
              </a:rPr>
              <a:t>      </a:t>
            </a:r>
            <a:r>
              <a:rPr lang="fr-FR" sz="1200" b="1" spc="-5" dirty="0">
                <a:solidFill>
                  <a:schemeClr val="accent6">
                    <a:lumMod val="50000"/>
                  </a:schemeClr>
                </a:solidFill>
                <a:latin typeface="Bookman Old Style" panose="02050604050505020204" pitchFamily="18" charset="0"/>
                <a:cs typeface="Arial"/>
              </a:rPr>
              <a:t>A. Notion de la valeurs moyenne et efficace </a:t>
            </a: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6D8128A1-C4FC-391D-5540-73A10BF86612}"/>
                  </a:ext>
                </a:extLst>
              </p:cNvPr>
              <p:cNvSpPr txBox="1"/>
              <p:nvPr/>
            </p:nvSpPr>
            <p:spPr>
              <a:xfrm>
                <a:off x="611954" y="1486766"/>
                <a:ext cx="8378232" cy="1947584"/>
              </a:xfrm>
              <a:prstGeom prst="rect">
                <a:avLst/>
              </a:prstGeom>
              <a:noFill/>
            </p:spPr>
            <p:txBody>
              <a:bodyPr wrap="square">
                <a:spAutoFit/>
              </a:bodyPr>
              <a:lstStyle/>
              <a:p>
                <a:pPr marL="285750" indent="-285750" algn="just">
                  <a:buFont typeface="Wingdings" panose="05000000000000000000" pitchFamily="2" charset="2"/>
                  <a:buChar char="q"/>
                </a:pPr>
                <a:r>
                  <a:rPr lang="fr-FR" altLang="fr-FR" sz="1600" dirty="0">
                    <a:latin typeface="Bookman Old Style" panose="02050604050505020204" pitchFamily="18" charset="0"/>
                    <a:cs typeface="Browallia New" panose="020B0604020202020204" pitchFamily="34" charset="-34"/>
                  </a:rPr>
                  <a:t>Les grandeurs </a:t>
                </a:r>
                <a:r>
                  <a:rPr lang="fr-FR" altLang="fr-FR" sz="1600" b="1" dirty="0">
                    <a:solidFill>
                      <a:srgbClr val="FF0000"/>
                    </a:solidFill>
                    <a:latin typeface="Bookman Old Style" panose="02050604050505020204" pitchFamily="18" charset="0"/>
                    <a:cs typeface="Browallia New" panose="020B0604020202020204" pitchFamily="34" charset="-34"/>
                  </a:rPr>
                  <a:t>alternatives</a:t>
                </a:r>
                <a:r>
                  <a:rPr lang="fr-FR" altLang="fr-FR" sz="1600" dirty="0">
                    <a:latin typeface="Bookman Old Style" panose="02050604050505020204" pitchFamily="18" charset="0"/>
                    <a:cs typeface="Browallia New" panose="020B0604020202020204" pitchFamily="34" charset="-34"/>
                  </a:rPr>
                  <a:t> </a:t>
                </a:r>
                <a:r>
                  <a:rPr lang="fr-FR" sz="1600" dirty="0">
                    <a:latin typeface="Bookman Old Style" panose="02050604050505020204" pitchFamily="18" charset="0"/>
                    <a:cs typeface="Browallia New" panose="020B0604020202020204" pitchFamily="34" charset="-34"/>
                  </a:rPr>
                  <a:t>symétrique</a:t>
                </a:r>
                <a:r>
                  <a:rPr lang="fr-FR" sz="1600" dirty="0"/>
                  <a:t> </a:t>
                </a:r>
                <a:r>
                  <a:rPr lang="fr-FR" altLang="fr-FR" sz="1600" dirty="0">
                    <a:latin typeface="Bookman Old Style" panose="02050604050505020204" pitchFamily="18" charset="0"/>
                    <a:cs typeface="Browallia New" panose="020B0604020202020204" pitchFamily="34" charset="-34"/>
                  </a:rPr>
                  <a:t>(quelles soit des </a:t>
                </a:r>
                <a:r>
                  <a:rPr lang="fr-FR" altLang="fr-FR" sz="1600" b="1" dirty="0">
                    <a:latin typeface="Bookman Old Style" panose="02050604050505020204" pitchFamily="18" charset="0"/>
                    <a:cs typeface="Browallia New" panose="020B0604020202020204" pitchFamily="34" charset="-34"/>
                  </a:rPr>
                  <a:t>courants</a:t>
                </a:r>
                <a:r>
                  <a:rPr lang="fr-FR" altLang="fr-FR" sz="1600" dirty="0">
                    <a:latin typeface="Bookman Old Style" panose="02050604050505020204" pitchFamily="18" charset="0"/>
                    <a:cs typeface="Browallia New" panose="020B0604020202020204" pitchFamily="34" charset="-34"/>
                  </a:rPr>
                  <a:t> ou des </a:t>
                </a:r>
                <a:r>
                  <a:rPr lang="fr-FR" altLang="fr-FR" sz="1600" b="1" dirty="0">
                    <a:latin typeface="Bookman Old Style" panose="02050604050505020204" pitchFamily="18" charset="0"/>
                    <a:cs typeface="Browallia New" panose="020B0604020202020204" pitchFamily="34" charset="-34"/>
                  </a:rPr>
                  <a:t>tensions</a:t>
                </a:r>
                <a:r>
                  <a:rPr lang="fr-FR" altLang="fr-FR" sz="1600" dirty="0">
                    <a:latin typeface="Bookman Old Style" panose="02050604050505020204" pitchFamily="18" charset="0"/>
                    <a:cs typeface="Browallia New" panose="020B0604020202020204" pitchFamily="34" charset="-34"/>
                  </a:rPr>
                  <a:t>), présentent toujours une valeur moyenne </a:t>
                </a:r>
                <a:r>
                  <a:rPr lang="fr-FR" altLang="fr-FR" sz="1600" b="1" dirty="0">
                    <a:solidFill>
                      <a:srgbClr val="FF0000"/>
                    </a:solidFill>
                    <a:latin typeface="Bookman Old Style" panose="02050604050505020204" pitchFamily="18" charset="0"/>
                    <a:cs typeface="Browallia New" panose="020B0604020202020204" pitchFamily="34" charset="-34"/>
                  </a:rPr>
                  <a:t>nulle</a:t>
                </a:r>
                <a:r>
                  <a:rPr lang="fr-FR" altLang="fr-FR" sz="1600" b="1" dirty="0">
                    <a:latin typeface="Bookman Old Style" panose="02050604050505020204" pitchFamily="18" charset="0"/>
                    <a:cs typeface="Browallia New" panose="020B0604020202020204" pitchFamily="34" charset="-34"/>
                  </a:rPr>
                  <a:t>. </a:t>
                </a:r>
              </a:p>
              <a:p>
                <a:pPr algn="just"/>
                <a:endParaRPr lang="fr-FR" altLang="fr-FR" sz="1600" b="1" dirty="0">
                  <a:latin typeface="Bookman Old Style" panose="02050604050505020204" pitchFamily="18" charset="0"/>
                  <a:cs typeface="Browallia New" panose="020B0604020202020204" pitchFamily="34" charset="-34"/>
                </a:endParaRPr>
              </a:p>
              <a:p>
                <a:pPr algn="just"/>
                <a:r>
                  <a:rPr lang="fr-FR" altLang="fr-FR" sz="1600" dirty="0">
                    <a:latin typeface="Bookman Old Style" panose="02050604050505020204" pitchFamily="18" charset="0"/>
                    <a:cs typeface="Browallia New" panose="020B0604020202020204" pitchFamily="34" charset="-34"/>
                  </a:rPr>
                  <a:t>    </a:t>
                </a:r>
                <a:r>
                  <a:rPr lang="fr-FR" altLang="fr-FR" sz="1600" b="1" dirty="0">
                    <a:latin typeface="Bookman Old Style" panose="02050604050505020204" pitchFamily="18" charset="0"/>
                    <a:cs typeface="Browallia New" panose="020B0604020202020204" pitchFamily="34" charset="-34"/>
                  </a:rPr>
                  <a:t>Par définition</a:t>
                </a:r>
                <a:r>
                  <a:rPr lang="fr-FR" altLang="fr-FR" sz="1600" dirty="0">
                    <a:latin typeface="Bookman Old Style" panose="02050604050505020204" pitchFamily="18" charset="0"/>
                    <a:cs typeface="Browallia New" panose="020B0604020202020204" pitchFamily="34" charset="-34"/>
                  </a:rPr>
                  <a:t>, la valeur moyenne d’un signal </a:t>
                </a:r>
                <a:r>
                  <a:rPr lang="fr-FR" altLang="fr-FR" sz="1600" b="1" dirty="0">
                    <a:latin typeface="Bookman Old Style" panose="02050604050505020204" pitchFamily="18" charset="0"/>
                    <a:cs typeface="Browallia New" panose="020B0604020202020204" pitchFamily="34" charset="-34"/>
                  </a:rPr>
                  <a:t>u(t) </a:t>
                </a:r>
                <a:r>
                  <a:rPr lang="fr-FR" altLang="fr-FR" sz="1600" dirty="0">
                    <a:latin typeface="Bookman Old Style" panose="02050604050505020204" pitchFamily="18" charset="0"/>
                    <a:cs typeface="Browallia New" panose="020B0604020202020204" pitchFamily="34" charset="-34"/>
                  </a:rPr>
                  <a:t>est donnée par :</a:t>
                </a:r>
              </a:p>
              <a:p>
                <a:pPr algn="just"/>
                <a:r>
                  <a:rPr lang="fr-FR" altLang="fr-FR" sz="1600" dirty="0">
                    <a:latin typeface="Bookman Old Style" panose="02050604050505020204" pitchFamily="18" charset="0"/>
                    <a:cs typeface="Browallia New" panose="020B0604020202020204" pitchFamily="34" charset="-34"/>
                  </a:rPr>
                  <a:t>   </a:t>
                </a:r>
              </a:p>
              <a:p>
                <a:pPr algn="just"/>
                <a:r>
                  <a:rPr lang="fr-FR" altLang="fr-FR" sz="2800" dirty="0">
                    <a:latin typeface="Bookman Old Style" panose="02050604050505020204" pitchFamily="18" charset="0"/>
                    <a:cs typeface="Browallia New" panose="020B0604020202020204" pitchFamily="34" charset="-34"/>
                  </a:rPr>
                  <a:t>               </a:t>
                </a:r>
                <a14:m>
                  <m:oMath xmlns:m="http://schemas.openxmlformats.org/officeDocument/2006/math">
                    <m:d>
                      <m:dPr>
                        <m:begChr m:val="⟨"/>
                        <m:endChr m:val="⟩"/>
                        <m:ctrlPr>
                          <a:rPr lang="fr-FR" altLang="fr-FR" sz="2800" b="1" i="1" smtClean="0">
                            <a:solidFill>
                              <a:srgbClr val="FF0000"/>
                            </a:solidFill>
                            <a:latin typeface="Cambria Math" panose="02040503050406030204" pitchFamily="18" charset="0"/>
                            <a:cs typeface="Browallia New" panose="020B0604020202020204" pitchFamily="34" charset="-34"/>
                          </a:rPr>
                        </m:ctrlPr>
                      </m:dPr>
                      <m:e>
                        <m:r>
                          <a:rPr lang="fr-FR" altLang="fr-FR" sz="2800" b="1" i="1" smtClean="0">
                            <a:solidFill>
                              <a:srgbClr val="FF0000"/>
                            </a:solidFill>
                            <a:latin typeface="Cambria Math" panose="02040503050406030204" pitchFamily="18" charset="0"/>
                            <a:cs typeface="Browallia New" panose="020B0604020202020204" pitchFamily="34" charset="-34"/>
                          </a:rPr>
                          <m:t>𝒖</m:t>
                        </m:r>
                      </m:e>
                    </m:d>
                    <m:r>
                      <a:rPr lang="fr-FR" altLang="fr-FR" sz="2800" b="1" i="1" smtClean="0">
                        <a:solidFill>
                          <a:srgbClr val="FF0000"/>
                        </a:solidFill>
                        <a:latin typeface="Cambria Math" panose="02040503050406030204" pitchFamily="18" charset="0"/>
                        <a:cs typeface="Browallia New" panose="020B0604020202020204" pitchFamily="34" charset="-34"/>
                      </a:rPr>
                      <m:t>=</m:t>
                    </m:r>
                    <m:sSub>
                      <m:sSubPr>
                        <m:ctrlPr>
                          <a:rPr lang="fr-FR" altLang="fr-FR" sz="2800" b="1" i="1" smtClean="0">
                            <a:solidFill>
                              <a:srgbClr val="FF0000"/>
                            </a:solidFill>
                            <a:latin typeface="Cambria Math" panose="02040503050406030204" pitchFamily="18" charset="0"/>
                            <a:cs typeface="Browallia New" panose="020B0604020202020204" pitchFamily="34" charset="-34"/>
                          </a:rPr>
                        </m:ctrlPr>
                      </m:sSubPr>
                      <m:e>
                        <m:r>
                          <a:rPr lang="fr-FR" altLang="fr-FR" sz="2800" b="1" i="1" smtClean="0">
                            <a:solidFill>
                              <a:srgbClr val="FF0000"/>
                            </a:solidFill>
                            <a:latin typeface="Cambria Math" panose="02040503050406030204" pitchFamily="18" charset="0"/>
                            <a:cs typeface="Browallia New" panose="020B0604020202020204" pitchFamily="34" charset="-34"/>
                          </a:rPr>
                          <m:t>𝒖</m:t>
                        </m:r>
                      </m:e>
                      <m:sub>
                        <m:r>
                          <a:rPr lang="fr-FR" altLang="fr-FR" sz="2800" b="1" i="1" smtClean="0">
                            <a:solidFill>
                              <a:srgbClr val="FF0000"/>
                            </a:solidFill>
                            <a:latin typeface="Cambria Math" panose="02040503050406030204" pitchFamily="18" charset="0"/>
                            <a:cs typeface="Browallia New" panose="020B0604020202020204" pitchFamily="34" charset="-34"/>
                          </a:rPr>
                          <m:t>𝒎𝒐𝒚</m:t>
                        </m:r>
                      </m:sub>
                    </m:sSub>
                    <m:r>
                      <a:rPr lang="fr-FR" altLang="fr-FR" sz="2800" b="1" i="1" smtClean="0">
                        <a:solidFill>
                          <a:srgbClr val="FF0000"/>
                        </a:solidFill>
                        <a:latin typeface="Cambria Math" panose="02040503050406030204" pitchFamily="18" charset="0"/>
                        <a:cs typeface="Browallia New" panose="020B0604020202020204" pitchFamily="34" charset="-34"/>
                      </a:rPr>
                      <m:t>=</m:t>
                    </m:r>
                    <m:f>
                      <m:fPr>
                        <m:ctrlPr>
                          <a:rPr lang="fr-FR" altLang="fr-FR" sz="2800" b="1" i="1" smtClean="0">
                            <a:solidFill>
                              <a:srgbClr val="FF0000"/>
                            </a:solidFill>
                            <a:latin typeface="Cambria Math" panose="02040503050406030204" pitchFamily="18" charset="0"/>
                            <a:cs typeface="Browallia New" panose="020B0604020202020204" pitchFamily="34" charset="-34"/>
                          </a:rPr>
                        </m:ctrlPr>
                      </m:fPr>
                      <m:num>
                        <m:r>
                          <a:rPr lang="fr-FR" altLang="fr-FR" sz="2800" b="1" i="1" smtClean="0">
                            <a:solidFill>
                              <a:srgbClr val="FF0000"/>
                            </a:solidFill>
                            <a:latin typeface="Cambria Math" panose="02040503050406030204" pitchFamily="18" charset="0"/>
                            <a:cs typeface="Browallia New" panose="020B0604020202020204" pitchFamily="34" charset="-34"/>
                          </a:rPr>
                          <m:t>𝟏</m:t>
                        </m:r>
                      </m:num>
                      <m:den>
                        <m:r>
                          <a:rPr lang="fr-FR" altLang="fr-FR" sz="2800" b="1" i="1" smtClean="0">
                            <a:solidFill>
                              <a:srgbClr val="FF0000"/>
                            </a:solidFill>
                            <a:latin typeface="Cambria Math" panose="02040503050406030204" pitchFamily="18" charset="0"/>
                            <a:cs typeface="Browallia New" panose="020B0604020202020204" pitchFamily="34" charset="-34"/>
                          </a:rPr>
                          <m:t>𝑻</m:t>
                        </m:r>
                      </m:den>
                    </m:f>
                    <m:nary>
                      <m:naryPr>
                        <m:limLoc m:val="undOvr"/>
                        <m:ctrlPr>
                          <a:rPr lang="fr-FR" altLang="fr-FR" sz="2800" b="1" i="1" smtClean="0">
                            <a:solidFill>
                              <a:srgbClr val="FF0000"/>
                            </a:solidFill>
                            <a:latin typeface="Cambria Math" panose="02040503050406030204" pitchFamily="18" charset="0"/>
                            <a:cs typeface="Browallia New" panose="020B0604020202020204" pitchFamily="34" charset="-34"/>
                          </a:rPr>
                        </m:ctrlPr>
                      </m:naryPr>
                      <m:sub>
                        <m:r>
                          <m:rPr>
                            <m:brk m:alnAt="24"/>
                          </m:rPr>
                          <a:rPr lang="fr-FR" altLang="fr-FR" sz="2800" b="1" i="1" smtClean="0">
                            <a:solidFill>
                              <a:srgbClr val="FF0000"/>
                            </a:solidFill>
                            <a:latin typeface="Cambria Math" panose="02040503050406030204" pitchFamily="18" charset="0"/>
                            <a:cs typeface="Browallia New" panose="020B0604020202020204" pitchFamily="34" charset="-34"/>
                          </a:rPr>
                          <m:t>𝟎</m:t>
                        </m:r>
                      </m:sub>
                      <m:sup>
                        <m:r>
                          <a:rPr lang="fr-FR" altLang="fr-FR" sz="2800" b="1" i="1" smtClean="0">
                            <a:solidFill>
                              <a:srgbClr val="FF0000"/>
                            </a:solidFill>
                            <a:latin typeface="Cambria Math" panose="02040503050406030204" pitchFamily="18" charset="0"/>
                            <a:cs typeface="Browallia New" panose="020B0604020202020204" pitchFamily="34" charset="-34"/>
                          </a:rPr>
                          <m:t>𝑻</m:t>
                        </m:r>
                      </m:sup>
                      <m:e>
                        <m:r>
                          <a:rPr lang="fr-FR" altLang="fr-FR" sz="2800" b="1" i="1" smtClean="0">
                            <a:solidFill>
                              <a:srgbClr val="FF0000"/>
                            </a:solidFill>
                            <a:latin typeface="Cambria Math" panose="02040503050406030204" pitchFamily="18" charset="0"/>
                            <a:cs typeface="Browallia New" panose="020B0604020202020204" pitchFamily="34" charset="-34"/>
                          </a:rPr>
                          <m:t>𝒖</m:t>
                        </m:r>
                        <m:d>
                          <m:dPr>
                            <m:ctrlPr>
                              <a:rPr lang="fr-FR" altLang="fr-FR" sz="2800" b="1" i="1" smtClean="0">
                                <a:solidFill>
                                  <a:srgbClr val="FF0000"/>
                                </a:solidFill>
                                <a:latin typeface="Cambria Math" panose="02040503050406030204" pitchFamily="18" charset="0"/>
                                <a:cs typeface="Browallia New" panose="020B0604020202020204" pitchFamily="34" charset="-34"/>
                              </a:rPr>
                            </m:ctrlPr>
                          </m:dPr>
                          <m:e>
                            <m:r>
                              <a:rPr lang="fr-FR" altLang="fr-FR" sz="2800" b="1" i="1" smtClean="0">
                                <a:solidFill>
                                  <a:srgbClr val="FF0000"/>
                                </a:solidFill>
                                <a:latin typeface="Cambria Math" panose="02040503050406030204" pitchFamily="18" charset="0"/>
                                <a:cs typeface="Browallia New" panose="020B0604020202020204" pitchFamily="34" charset="-34"/>
                              </a:rPr>
                              <m:t>𝒕</m:t>
                            </m:r>
                          </m:e>
                        </m:d>
                        <m:r>
                          <a:rPr lang="fr-FR" altLang="fr-FR" sz="2800" b="1" i="1" smtClean="0">
                            <a:solidFill>
                              <a:srgbClr val="FF0000"/>
                            </a:solidFill>
                            <a:latin typeface="Cambria Math" panose="02040503050406030204" pitchFamily="18" charset="0"/>
                            <a:cs typeface="Browallia New" panose="020B0604020202020204" pitchFamily="34" charset="-34"/>
                          </a:rPr>
                          <m:t>𝒅𝒕</m:t>
                        </m:r>
                      </m:e>
                    </m:nary>
                  </m:oMath>
                </a14:m>
                <a:r>
                  <a:rPr lang="fr-FR" altLang="fr-FR" sz="2800" b="1" dirty="0">
                    <a:latin typeface="Bodoni MT" panose="02070603080606020203" pitchFamily="18" charset="0"/>
                    <a:cs typeface="Browallia New" panose="020B0604020202020204" pitchFamily="34" charset="-34"/>
                  </a:rPr>
                  <a:t> </a:t>
                </a:r>
                <a:r>
                  <a:rPr lang="fr-FR" altLang="fr-FR" sz="1600" b="1" dirty="0">
                    <a:latin typeface="Bodoni MT" panose="02070603080606020203" pitchFamily="18" charset="0"/>
                    <a:cs typeface="Browallia New" panose="020B0604020202020204" pitchFamily="34" charset="-34"/>
                  </a:rPr>
                  <a:t>,</a:t>
                </a:r>
                <a:r>
                  <a:rPr lang="fr-FR" altLang="fr-FR" sz="1400" b="1" dirty="0">
                    <a:latin typeface="Bodoni MT" panose="02070603080606020203" pitchFamily="18" charset="0"/>
                    <a:cs typeface="Browallia New" panose="020B0604020202020204" pitchFamily="34" charset="-34"/>
                  </a:rPr>
                  <a:t> </a:t>
                </a:r>
                <a:r>
                  <a:rPr lang="fr-FR" altLang="fr-FR" sz="1200" b="1" dirty="0">
                    <a:latin typeface="Bookman Old Style" panose="02050604050505020204" pitchFamily="18" charset="0"/>
                    <a:cs typeface="Browallia New" panose="020B0604020202020204" pitchFamily="34" charset="-34"/>
                  </a:rPr>
                  <a:t>Où </a:t>
                </a:r>
                <a:r>
                  <a:rPr lang="fr-FR" altLang="fr-FR" sz="1200" b="1" dirty="0">
                    <a:solidFill>
                      <a:srgbClr val="FF0000"/>
                    </a:solidFill>
                    <a:latin typeface="Bookman Old Style" panose="02050604050505020204" pitchFamily="18" charset="0"/>
                    <a:cs typeface="Browallia New" panose="020B0604020202020204" pitchFamily="34" charset="-34"/>
                  </a:rPr>
                  <a:t>T</a:t>
                </a:r>
                <a:r>
                  <a:rPr lang="fr-FR" altLang="fr-FR" sz="1200" b="1" dirty="0">
                    <a:latin typeface="Bookman Old Style" panose="02050604050505020204" pitchFamily="18" charset="0"/>
                    <a:cs typeface="Browallia New" panose="020B0604020202020204" pitchFamily="34" charset="-34"/>
                  </a:rPr>
                  <a:t> est la période du signal </a:t>
                </a:r>
              </a:p>
            </p:txBody>
          </p:sp>
        </mc:Choice>
        <mc:Fallback xmlns="">
          <p:sp>
            <p:nvSpPr>
              <p:cNvPr id="26" name="TextBox 25">
                <a:extLst>
                  <a:ext uri="{FF2B5EF4-FFF2-40B4-BE49-F238E27FC236}">
                    <a16:creationId xmlns:a16="http://schemas.microsoft.com/office/drawing/2014/main" id="{6D8128A1-C4FC-391D-5540-73A10BF86612}"/>
                  </a:ext>
                </a:extLst>
              </p:cNvPr>
              <p:cNvSpPr txBox="1">
                <a:spLocks noRot="1" noChangeAspect="1" noMove="1" noResize="1" noEditPoints="1" noAdjustHandles="1" noChangeArrowheads="1" noChangeShapeType="1" noTextEdit="1"/>
              </p:cNvSpPr>
              <p:nvPr/>
            </p:nvSpPr>
            <p:spPr>
              <a:xfrm>
                <a:off x="611954" y="1486766"/>
                <a:ext cx="8378232" cy="1947584"/>
              </a:xfrm>
              <a:prstGeom prst="rect">
                <a:avLst/>
              </a:prstGeom>
              <a:blipFill>
                <a:blip r:embed="rId3"/>
                <a:stretch>
                  <a:fillRect l="-291" t="-1254" r="-364"/>
                </a:stretch>
              </a:blipFill>
            </p:spPr>
            <p:txBody>
              <a:bodyPr/>
              <a:lstStyle/>
              <a:p>
                <a:r>
                  <a:rPr lang="fr-FR">
                    <a:noFill/>
                  </a:rPr>
                  <a:t> </a:t>
                </a:r>
              </a:p>
            </p:txBody>
          </p:sp>
        </mc:Fallback>
      </mc:AlternateContent>
      <p:sp>
        <p:nvSpPr>
          <p:cNvPr id="4" name="TextBox 3">
            <a:extLst>
              <a:ext uri="{FF2B5EF4-FFF2-40B4-BE49-F238E27FC236}">
                <a16:creationId xmlns:a16="http://schemas.microsoft.com/office/drawing/2014/main" id="{55FD8371-5932-3B80-3B68-285474535182}"/>
              </a:ext>
            </a:extLst>
          </p:cNvPr>
          <p:cNvSpPr txBox="1"/>
          <p:nvPr/>
        </p:nvSpPr>
        <p:spPr>
          <a:xfrm>
            <a:off x="881692" y="3396102"/>
            <a:ext cx="4572000" cy="338554"/>
          </a:xfrm>
          <a:prstGeom prst="rect">
            <a:avLst/>
          </a:prstGeom>
          <a:noFill/>
        </p:spPr>
        <p:txBody>
          <a:bodyPr wrap="square">
            <a:spAutoFit/>
          </a:bodyPr>
          <a:lstStyle/>
          <a:p>
            <a:r>
              <a:rPr lang="fr-FR" altLang="fr-FR" sz="1600" b="1" dirty="0">
                <a:latin typeface="Bookman Old Style" panose="02050604050505020204" pitchFamily="18" charset="0"/>
                <a:cs typeface="Browallia New" panose="020B0604020202020204" pitchFamily="34" charset="-34"/>
              </a:rPr>
              <a:t>Exemple de signal alternatif </a:t>
            </a:r>
            <a:r>
              <a:rPr lang="fr-FR" altLang="fr-FR" sz="1600" dirty="0">
                <a:latin typeface="Bookman Old Style" panose="02050604050505020204" pitchFamily="18" charset="0"/>
                <a:cs typeface="Browallia New" panose="020B0604020202020204" pitchFamily="34" charset="-34"/>
              </a:rPr>
              <a:t>:</a:t>
            </a:r>
          </a:p>
        </p:txBody>
      </p:sp>
      <p:pic>
        <p:nvPicPr>
          <p:cNvPr id="5" name="Image 29">
            <a:extLst>
              <a:ext uri="{FF2B5EF4-FFF2-40B4-BE49-F238E27FC236}">
                <a16:creationId xmlns:a16="http://schemas.microsoft.com/office/drawing/2014/main" id="{39B192FB-1DEC-4A82-31C6-84671BF7F0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788846" y="3364119"/>
            <a:ext cx="2334201" cy="17039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TextBox 11">
            <a:extLst>
              <a:ext uri="{FF2B5EF4-FFF2-40B4-BE49-F238E27FC236}">
                <a16:creationId xmlns:a16="http://schemas.microsoft.com/office/drawing/2014/main" id="{21E8BCBD-2CB9-3FF1-F19E-258094547CF8}"/>
              </a:ext>
            </a:extLst>
          </p:cNvPr>
          <p:cNvSpPr txBox="1"/>
          <p:nvPr/>
        </p:nvSpPr>
        <p:spPr>
          <a:xfrm>
            <a:off x="1114195" y="4059641"/>
            <a:ext cx="4502642" cy="323165"/>
          </a:xfrm>
          <a:prstGeom prst="rect">
            <a:avLst/>
          </a:prstGeom>
          <a:noFill/>
        </p:spPr>
        <p:txBody>
          <a:bodyPr wrap="square">
            <a:spAutoFit/>
          </a:bodyPr>
          <a:lstStyle/>
          <a:p>
            <a:pPr algn="just"/>
            <a:r>
              <a:rPr lang="fr-FR" altLang="fr-FR" sz="1500" dirty="0">
                <a:latin typeface="Bookman Old Style" panose="02050604050505020204" pitchFamily="18" charset="0"/>
                <a:cs typeface="Browallia New" panose="020B0604020202020204" pitchFamily="34" charset="-34"/>
              </a:rPr>
              <a:t>La valeur moyenne de ce signal </a:t>
            </a:r>
            <a:r>
              <a:rPr lang="fr-FR" altLang="fr-FR" sz="1500" b="1" dirty="0">
                <a:solidFill>
                  <a:srgbClr val="0000FF"/>
                </a:solidFill>
                <a:latin typeface="Bookman Old Style" panose="02050604050505020204" pitchFamily="18" charset="0"/>
                <a:cs typeface="Browallia New" panose="020B0604020202020204" pitchFamily="34" charset="-34"/>
              </a:rPr>
              <a:t>est nulle</a:t>
            </a:r>
            <a:r>
              <a:rPr lang="fr-FR" altLang="fr-FR" sz="1500" dirty="0">
                <a:latin typeface="Bookman Old Style" panose="02050604050505020204" pitchFamily="18" charset="0"/>
                <a:cs typeface="Browallia New" panose="020B0604020202020204" pitchFamily="34" charset="-34"/>
              </a:rPr>
              <a:t>.</a:t>
            </a:r>
          </a:p>
        </p:txBody>
      </p:sp>
    </p:spTree>
    <p:extLst>
      <p:ext uri="{BB962C8B-B14F-4D97-AF65-F5344CB8AC3E}">
        <p14:creationId xmlns:p14="http://schemas.microsoft.com/office/powerpoint/2010/main" val="1002896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8590"/>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458201" y="4824469"/>
            <a:ext cx="4187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18</a:t>
            </a:fld>
            <a:endParaRPr sz="2400">
              <a:latin typeface="Arial"/>
              <a:cs typeface="Arial"/>
            </a:endParaRPr>
          </a:p>
        </p:txBody>
      </p:sp>
      <p:sp>
        <p:nvSpPr>
          <p:cNvPr id="15" name="Rectangle 14"/>
          <p:cNvSpPr/>
          <p:nvPr/>
        </p:nvSpPr>
        <p:spPr>
          <a:xfrm>
            <a:off x="550646" y="557613"/>
            <a:ext cx="4076116" cy="825867"/>
          </a:xfrm>
          <a:prstGeom prst="rect">
            <a:avLst/>
          </a:prstGeom>
        </p:spPr>
        <p:txBody>
          <a:bodyPr wrap="none">
            <a:spAutoFit/>
          </a:bodyPr>
          <a:lstStyle/>
          <a:p>
            <a:pPr marL="393065" lvl="1" indent="-381000">
              <a:lnSpc>
                <a:spcPct val="100000"/>
              </a:lnSpc>
              <a:spcBef>
                <a:spcPts val="100"/>
              </a:spcBef>
              <a:buAutoNum type="arabicPeriod"/>
              <a:tabLst>
                <a:tab pos="393700" algn="l"/>
              </a:tabLst>
            </a:pPr>
            <a:r>
              <a:rPr lang="fr-FR" b="1" spc="-5" dirty="0">
                <a:solidFill>
                  <a:srgbClr val="FF0000"/>
                </a:solidFill>
                <a:latin typeface="Bookman Old Style" panose="02050604050505020204" pitchFamily="18" charset="0"/>
                <a:cs typeface="Arial"/>
              </a:rPr>
              <a:t>Généralités</a:t>
            </a:r>
          </a:p>
          <a:p>
            <a:pPr marL="12065" lvl="1">
              <a:lnSpc>
                <a:spcPct val="100000"/>
              </a:lnSpc>
              <a:spcBef>
                <a:spcPts val="100"/>
              </a:spcBef>
              <a:tabLst>
                <a:tab pos="393700" algn="l"/>
              </a:tabLst>
            </a:pPr>
            <a:r>
              <a:rPr lang="fr-FR" sz="1400" b="1" spc="-5" dirty="0">
                <a:solidFill>
                  <a:srgbClr val="CC00CC"/>
                </a:solidFill>
                <a:latin typeface="Garamond" panose="02020404030301010803" pitchFamily="18" charset="0"/>
                <a:cs typeface="Browallia New" panose="020B0604020202020204" pitchFamily="34" charset="-34"/>
              </a:rPr>
              <a:t> </a:t>
            </a:r>
            <a:r>
              <a:rPr lang="fr-FR" sz="1400" b="1" spc="-5" dirty="0">
                <a:solidFill>
                  <a:srgbClr val="CC00CC"/>
                </a:solidFill>
                <a:latin typeface="Bookman Old Style" panose="02050604050505020204" pitchFamily="18" charset="0"/>
                <a:cs typeface="Arial"/>
              </a:rPr>
              <a:t>1.5 Signaux électriques</a:t>
            </a:r>
          </a:p>
          <a:p>
            <a:pPr marL="12065" lvl="1">
              <a:lnSpc>
                <a:spcPct val="100000"/>
              </a:lnSpc>
              <a:spcBef>
                <a:spcPts val="100"/>
              </a:spcBef>
              <a:tabLst>
                <a:tab pos="393700" algn="l"/>
              </a:tabLst>
            </a:pPr>
            <a:r>
              <a:rPr lang="fr-FR" sz="1400" b="1" spc="-5" dirty="0">
                <a:solidFill>
                  <a:schemeClr val="accent6">
                    <a:lumMod val="50000"/>
                  </a:schemeClr>
                </a:solidFill>
                <a:latin typeface="Bookman Old Style" panose="02050604050505020204" pitchFamily="18" charset="0"/>
                <a:cs typeface="Arial"/>
              </a:rPr>
              <a:t>      </a:t>
            </a:r>
            <a:r>
              <a:rPr lang="fr-FR" sz="1200" b="1" spc="-5" dirty="0">
                <a:solidFill>
                  <a:schemeClr val="accent6">
                    <a:lumMod val="50000"/>
                  </a:schemeClr>
                </a:solidFill>
                <a:latin typeface="Bookman Old Style" panose="02050604050505020204" pitchFamily="18" charset="0"/>
                <a:cs typeface="Arial"/>
              </a:rPr>
              <a:t>A. Notion de la valeurs moyenne et efficace </a:t>
            </a: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6" name="TextBox 25">
            <a:extLst>
              <a:ext uri="{FF2B5EF4-FFF2-40B4-BE49-F238E27FC236}">
                <a16:creationId xmlns:a16="http://schemas.microsoft.com/office/drawing/2014/main" id="{6D8128A1-C4FC-391D-5540-73A10BF86612}"/>
              </a:ext>
            </a:extLst>
          </p:cNvPr>
          <p:cNvSpPr txBox="1"/>
          <p:nvPr/>
        </p:nvSpPr>
        <p:spPr>
          <a:xfrm>
            <a:off x="611954" y="1486766"/>
            <a:ext cx="8378232" cy="830997"/>
          </a:xfrm>
          <a:prstGeom prst="rect">
            <a:avLst/>
          </a:prstGeom>
          <a:noFill/>
        </p:spPr>
        <p:txBody>
          <a:bodyPr wrap="square">
            <a:spAutoFit/>
          </a:bodyPr>
          <a:lstStyle/>
          <a:p>
            <a:pPr marL="285750" indent="-285750" algn="just">
              <a:buFont typeface="Wingdings" panose="05000000000000000000" pitchFamily="2" charset="2"/>
              <a:buChar char="q"/>
            </a:pPr>
            <a:r>
              <a:rPr lang="fr-FR" altLang="fr-FR" sz="1600" dirty="0">
                <a:latin typeface="Bookman Old Style" panose="02050604050505020204" pitchFamily="18" charset="0"/>
                <a:cs typeface="Browallia New" panose="020B0604020202020204" pitchFamily="34" charset="-34"/>
              </a:rPr>
              <a:t>Contrairement aux signaux alternatifs, les signaux  </a:t>
            </a:r>
            <a:r>
              <a:rPr lang="fr-FR" altLang="fr-FR" sz="1600" b="1" dirty="0">
                <a:solidFill>
                  <a:srgbClr val="FF0000"/>
                </a:solidFill>
                <a:latin typeface="Bookman Old Style" panose="02050604050505020204" pitchFamily="18" charset="0"/>
                <a:cs typeface="Browallia New" panose="020B0604020202020204" pitchFamily="34" charset="-34"/>
              </a:rPr>
              <a:t>continus</a:t>
            </a:r>
            <a:r>
              <a:rPr lang="fr-FR" altLang="fr-FR" sz="1600" dirty="0">
                <a:latin typeface="Bookman Old Style" panose="02050604050505020204" pitchFamily="18" charset="0"/>
                <a:cs typeface="Browallia New" panose="020B0604020202020204" pitchFamily="34" charset="-34"/>
              </a:rPr>
              <a:t> présentent une valeur moyenne </a:t>
            </a:r>
            <a:r>
              <a:rPr lang="fr-FR" altLang="fr-FR" sz="1600" b="1" dirty="0">
                <a:solidFill>
                  <a:srgbClr val="FF0000"/>
                </a:solidFill>
                <a:latin typeface="Bookman Old Style" panose="02050604050505020204" pitchFamily="18" charset="0"/>
                <a:cs typeface="Browallia New" panose="020B0604020202020204" pitchFamily="34" charset="-34"/>
              </a:rPr>
              <a:t>non-nulle</a:t>
            </a:r>
          </a:p>
          <a:p>
            <a:pPr algn="just"/>
            <a:r>
              <a:rPr lang="fr-FR" altLang="fr-FR" sz="1600" dirty="0">
                <a:latin typeface="Bookman Old Style" panose="02050604050505020204" pitchFamily="18" charset="0"/>
                <a:cs typeface="Browallia New" panose="020B0604020202020204" pitchFamily="34" charset="-34"/>
              </a:rPr>
              <a:t>   </a:t>
            </a:r>
          </a:p>
        </p:txBody>
      </p:sp>
      <p:sp>
        <p:nvSpPr>
          <p:cNvPr id="4" name="TextBox 3">
            <a:extLst>
              <a:ext uri="{FF2B5EF4-FFF2-40B4-BE49-F238E27FC236}">
                <a16:creationId xmlns:a16="http://schemas.microsoft.com/office/drawing/2014/main" id="{55FD8371-5932-3B80-3B68-285474535182}"/>
              </a:ext>
            </a:extLst>
          </p:cNvPr>
          <p:cNvSpPr txBox="1"/>
          <p:nvPr/>
        </p:nvSpPr>
        <p:spPr>
          <a:xfrm>
            <a:off x="914400" y="2331936"/>
            <a:ext cx="4572000" cy="338554"/>
          </a:xfrm>
          <a:prstGeom prst="rect">
            <a:avLst/>
          </a:prstGeom>
          <a:noFill/>
        </p:spPr>
        <p:txBody>
          <a:bodyPr wrap="square">
            <a:spAutoFit/>
          </a:bodyPr>
          <a:lstStyle/>
          <a:p>
            <a:r>
              <a:rPr lang="fr-FR" altLang="fr-FR" sz="1600" b="1" dirty="0">
                <a:latin typeface="Bookman Old Style" panose="02050604050505020204" pitchFamily="18" charset="0"/>
                <a:cs typeface="Browallia New" panose="020B0604020202020204" pitchFamily="34" charset="-34"/>
              </a:rPr>
              <a:t>Exemple de signal continu </a:t>
            </a:r>
            <a:r>
              <a:rPr lang="fr-FR" altLang="fr-FR" sz="1600" dirty="0">
                <a:latin typeface="Bookman Old Style" panose="02050604050505020204" pitchFamily="18" charset="0"/>
                <a:cs typeface="Browallia New" panose="020B0604020202020204" pitchFamily="34" charset="-34"/>
              </a:rPr>
              <a:t>:</a:t>
            </a:r>
          </a:p>
        </p:txBody>
      </p:sp>
      <p:sp>
        <p:nvSpPr>
          <p:cNvPr id="12" name="TextBox 11">
            <a:extLst>
              <a:ext uri="{FF2B5EF4-FFF2-40B4-BE49-F238E27FC236}">
                <a16:creationId xmlns:a16="http://schemas.microsoft.com/office/drawing/2014/main" id="{21E8BCBD-2CB9-3FF1-F19E-258094547CF8}"/>
              </a:ext>
            </a:extLst>
          </p:cNvPr>
          <p:cNvSpPr txBox="1"/>
          <p:nvPr/>
        </p:nvSpPr>
        <p:spPr>
          <a:xfrm>
            <a:off x="838200" y="2810183"/>
            <a:ext cx="4876800" cy="323165"/>
          </a:xfrm>
          <a:prstGeom prst="rect">
            <a:avLst/>
          </a:prstGeom>
          <a:noFill/>
        </p:spPr>
        <p:txBody>
          <a:bodyPr wrap="square">
            <a:spAutoFit/>
          </a:bodyPr>
          <a:lstStyle/>
          <a:p>
            <a:pPr algn="just"/>
            <a:r>
              <a:rPr lang="fr-FR" altLang="fr-FR" sz="1500" dirty="0">
                <a:latin typeface="Bookman Old Style" panose="02050604050505020204" pitchFamily="18" charset="0"/>
                <a:cs typeface="Browallia New" panose="020B0604020202020204" pitchFamily="34" charset="-34"/>
              </a:rPr>
              <a:t>La valeur moyenne de ce signal </a:t>
            </a:r>
            <a:r>
              <a:rPr lang="fr-FR" altLang="fr-FR" sz="1500" b="1" dirty="0">
                <a:solidFill>
                  <a:srgbClr val="0000FF"/>
                </a:solidFill>
                <a:latin typeface="Bookman Old Style" panose="02050604050505020204" pitchFamily="18" charset="0"/>
                <a:cs typeface="Browallia New" panose="020B0604020202020204" pitchFamily="34" charset="-34"/>
              </a:rPr>
              <a:t>est </a:t>
            </a:r>
            <a:r>
              <a:rPr lang="fr-FR" altLang="fr-FR" sz="1500" b="1" dirty="0">
                <a:solidFill>
                  <a:srgbClr val="FF0000"/>
                </a:solidFill>
                <a:latin typeface="Bookman Old Style" panose="02050604050505020204" pitchFamily="18" charset="0"/>
                <a:cs typeface="Browallia New" panose="020B0604020202020204" pitchFamily="34" charset="-34"/>
              </a:rPr>
              <a:t>non</a:t>
            </a:r>
            <a:r>
              <a:rPr lang="fr-FR" altLang="fr-FR" sz="1500" b="1" dirty="0">
                <a:solidFill>
                  <a:srgbClr val="0000FF"/>
                </a:solidFill>
                <a:latin typeface="Bookman Old Style" panose="02050604050505020204" pitchFamily="18" charset="0"/>
                <a:cs typeface="Browallia New" panose="020B0604020202020204" pitchFamily="34" charset="-34"/>
              </a:rPr>
              <a:t>-nulle</a:t>
            </a:r>
            <a:r>
              <a:rPr lang="fr-FR" altLang="fr-FR" sz="1500" dirty="0">
                <a:latin typeface="Bookman Old Style" panose="02050604050505020204" pitchFamily="18" charset="0"/>
                <a:cs typeface="Browallia New" panose="020B0604020202020204" pitchFamily="34" charset="-34"/>
              </a:rPr>
              <a:t>.</a:t>
            </a:r>
          </a:p>
        </p:txBody>
      </p:sp>
      <p:pic>
        <p:nvPicPr>
          <p:cNvPr id="11" name="Picture 10">
            <a:extLst>
              <a:ext uri="{FF2B5EF4-FFF2-40B4-BE49-F238E27FC236}">
                <a16:creationId xmlns:a16="http://schemas.microsoft.com/office/drawing/2014/main" id="{58911C7D-B1FF-D4D2-6E0A-7180964947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26151" y="3134147"/>
            <a:ext cx="3601221" cy="2011986"/>
          </a:xfrm>
          <a:prstGeom prst="rect">
            <a:avLst/>
          </a:prstGeom>
        </p:spPr>
      </p:pic>
      <p:sp>
        <p:nvSpPr>
          <p:cNvPr id="16" name="TextBox 15">
            <a:extLst>
              <a:ext uri="{FF2B5EF4-FFF2-40B4-BE49-F238E27FC236}">
                <a16:creationId xmlns:a16="http://schemas.microsoft.com/office/drawing/2014/main" id="{9C460878-56C4-55BA-C859-1B256F980796}"/>
              </a:ext>
            </a:extLst>
          </p:cNvPr>
          <p:cNvSpPr txBox="1"/>
          <p:nvPr/>
        </p:nvSpPr>
        <p:spPr>
          <a:xfrm>
            <a:off x="2696955" y="3824606"/>
            <a:ext cx="762000" cy="307777"/>
          </a:xfrm>
          <a:prstGeom prst="rect">
            <a:avLst/>
          </a:prstGeom>
          <a:noFill/>
        </p:spPr>
        <p:txBody>
          <a:bodyPr wrap="square">
            <a:spAutoFit/>
          </a:bodyPr>
          <a:lstStyle/>
          <a:p>
            <a:r>
              <a:rPr lang="fr-FR" sz="1400" b="1" dirty="0">
                <a:solidFill>
                  <a:srgbClr val="FF0000"/>
                </a:solidFill>
                <a:latin typeface="Bookman Old Style" panose="02050604050505020204" pitchFamily="18" charset="0"/>
                <a:cs typeface="Browallia New" panose="020B0604020202020204" pitchFamily="34" charset="-34"/>
              </a:rPr>
              <a:t>E</a:t>
            </a:r>
            <a:endParaRPr lang="fr-FR" sz="1400" dirty="0">
              <a:solidFill>
                <a:srgbClr val="FF0000"/>
              </a:solidFill>
            </a:endParaRPr>
          </a:p>
        </p:txBody>
      </p:sp>
    </p:spTree>
    <p:extLst>
      <p:ext uri="{BB962C8B-B14F-4D97-AF65-F5344CB8AC3E}">
        <p14:creationId xmlns:p14="http://schemas.microsoft.com/office/powerpoint/2010/main" val="2664558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8590"/>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458201" y="4824469"/>
            <a:ext cx="4187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19</a:t>
            </a:fld>
            <a:endParaRPr sz="2400">
              <a:latin typeface="Arial"/>
              <a:cs typeface="Arial"/>
            </a:endParaRPr>
          </a:p>
        </p:txBody>
      </p:sp>
      <p:sp>
        <p:nvSpPr>
          <p:cNvPr id="15" name="Rectangle 14"/>
          <p:cNvSpPr/>
          <p:nvPr/>
        </p:nvSpPr>
        <p:spPr>
          <a:xfrm>
            <a:off x="550646" y="557613"/>
            <a:ext cx="4076116" cy="825867"/>
          </a:xfrm>
          <a:prstGeom prst="rect">
            <a:avLst/>
          </a:prstGeom>
        </p:spPr>
        <p:txBody>
          <a:bodyPr wrap="none">
            <a:spAutoFit/>
          </a:bodyPr>
          <a:lstStyle/>
          <a:p>
            <a:pPr marL="393065" lvl="1" indent="-381000">
              <a:lnSpc>
                <a:spcPct val="100000"/>
              </a:lnSpc>
              <a:spcBef>
                <a:spcPts val="100"/>
              </a:spcBef>
              <a:buAutoNum type="arabicPeriod"/>
              <a:tabLst>
                <a:tab pos="393700" algn="l"/>
              </a:tabLst>
            </a:pPr>
            <a:r>
              <a:rPr lang="fr-FR" b="1" spc="-5" dirty="0">
                <a:solidFill>
                  <a:srgbClr val="FF0000"/>
                </a:solidFill>
                <a:latin typeface="Bookman Old Style" panose="02050604050505020204" pitchFamily="18" charset="0"/>
                <a:cs typeface="Arial"/>
              </a:rPr>
              <a:t>Généralités</a:t>
            </a:r>
          </a:p>
          <a:p>
            <a:pPr marL="12065" lvl="1">
              <a:lnSpc>
                <a:spcPct val="100000"/>
              </a:lnSpc>
              <a:spcBef>
                <a:spcPts val="100"/>
              </a:spcBef>
              <a:tabLst>
                <a:tab pos="393700" algn="l"/>
              </a:tabLst>
            </a:pPr>
            <a:r>
              <a:rPr lang="fr-FR" sz="1400" b="1" spc="-5" dirty="0">
                <a:solidFill>
                  <a:srgbClr val="CC00CC"/>
                </a:solidFill>
                <a:latin typeface="Garamond" panose="02020404030301010803" pitchFamily="18" charset="0"/>
                <a:cs typeface="Browallia New" panose="020B0604020202020204" pitchFamily="34" charset="-34"/>
              </a:rPr>
              <a:t> </a:t>
            </a:r>
            <a:r>
              <a:rPr lang="fr-FR" sz="1400" b="1" spc="-5" dirty="0">
                <a:solidFill>
                  <a:srgbClr val="CC00CC"/>
                </a:solidFill>
                <a:latin typeface="Bookman Old Style" panose="02050604050505020204" pitchFamily="18" charset="0"/>
                <a:cs typeface="Arial"/>
              </a:rPr>
              <a:t>1.5 Signaux électriques</a:t>
            </a:r>
          </a:p>
          <a:p>
            <a:pPr marL="12065" lvl="1">
              <a:lnSpc>
                <a:spcPct val="100000"/>
              </a:lnSpc>
              <a:spcBef>
                <a:spcPts val="100"/>
              </a:spcBef>
              <a:tabLst>
                <a:tab pos="393700" algn="l"/>
              </a:tabLst>
            </a:pPr>
            <a:r>
              <a:rPr lang="fr-FR" sz="1400" b="1" spc="-5" dirty="0">
                <a:solidFill>
                  <a:schemeClr val="accent6">
                    <a:lumMod val="50000"/>
                  </a:schemeClr>
                </a:solidFill>
                <a:latin typeface="Bookman Old Style" panose="02050604050505020204" pitchFamily="18" charset="0"/>
                <a:cs typeface="Arial"/>
              </a:rPr>
              <a:t>      </a:t>
            </a:r>
            <a:r>
              <a:rPr lang="fr-FR" sz="1200" b="1" spc="-5" dirty="0">
                <a:solidFill>
                  <a:schemeClr val="accent6">
                    <a:lumMod val="50000"/>
                  </a:schemeClr>
                </a:solidFill>
                <a:latin typeface="Bookman Old Style" panose="02050604050505020204" pitchFamily="18" charset="0"/>
                <a:cs typeface="Arial"/>
              </a:rPr>
              <a:t>A. Notion de la valeurs moyenne et efficace </a:t>
            </a: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0" name="TextBox 19">
            <a:extLst>
              <a:ext uri="{FF2B5EF4-FFF2-40B4-BE49-F238E27FC236}">
                <a16:creationId xmlns:a16="http://schemas.microsoft.com/office/drawing/2014/main" id="{44C72FA6-966E-0AE1-2CE0-9A6FC0919D86}"/>
              </a:ext>
            </a:extLst>
          </p:cNvPr>
          <p:cNvSpPr txBox="1"/>
          <p:nvPr/>
        </p:nvSpPr>
        <p:spPr>
          <a:xfrm>
            <a:off x="697880" y="1486766"/>
            <a:ext cx="8217519" cy="1077218"/>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stStyle>
          <a:p>
            <a:r>
              <a:rPr lang="fr-FR" altLang="fr-FR" dirty="0"/>
              <a:t>Les </a:t>
            </a:r>
            <a:r>
              <a:rPr lang="fr-FR" altLang="fr-FR" b="1" dirty="0"/>
              <a:t>signaux alternatifs </a:t>
            </a:r>
            <a:r>
              <a:rPr lang="fr-FR" altLang="fr-FR" dirty="0"/>
              <a:t>sont caractérisés par une autre grandeur appelée la </a:t>
            </a:r>
            <a:r>
              <a:rPr lang="fr-FR" altLang="fr-FR" b="1" dirty="0">
                <a:solidFill>
                  <a:srgbClr val="FF0000"/>
                </a:solidFill>
              </a:rPr>
              <a:t>valeur efficace</a:t>
            </a:r>
            <a:r>
              <a:rPr lang="fr-FR" altLang="fr-FR" dirty="0"/>
              <a:t>.</a:t>
            </a:r>
          </a:p>
          <a:p>
            <a:pPr marL="0" indent="0">
              <a:buNone/>
            </a:pPr>
            <a:endParaRPr lang="fr-FR" altLang="fr-FR" dirty="0"/>
          </a:p>
          <a:p>
            <a:pPr marL="0" indent="0">
              <a:buNone/>
            </a:pPr>
            <a:r>
              <a:rPr lang="fr-FR" altLang="fr-FR" dirty="0"/>
              <a:t>     L’expression de la valeur efficace d’un signal </a:t>
            </a:r>
            <a:r>
              <a:rPr lang="fr-FR" altLang="fr-FR" b="1" dirty="0"/>
              <a:t>u(t)</a:t>
            </a:r>
            <a:r>
              <a:rPr lang="fr-FR" altLang="fr-FR" dirty="0"/>
              <a:t> est donnée par :</a:t>
            </a:r>
            <a:endParaRPr lang="fr-FR" dirty="0"/>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34EFD0B-5E85-B3BC-30C0-C654F46900B2}"/>
                  </a:ext>
                </a:extLst>
              </p:cNvPr>
              <p:cNvSpPr txBox="1"/>
              <p:nvPr/>
            </p:nvSpPr>
            <p:spPr>
              <a:xfrm>
                <a:off x="2133600" y="2723095"/>
                <a:ext cx="5943600" cy="718658"/>
              </a:xfrm>
              <a:prstGeom prst="rect">
                <a:avLst/>
              </a:prstGeom>
              <a:noFill/>
            </p:spPr>
            <p:txBody>
              <a:bodyPr wrap="square">
                <a:spAutoFit/>
              </a:bodyPr>
              <a:lstStyle/>
              <a:p>
                <a:pPr algn="just"/>
                <a14:m>
                  <m:oMath xmlns:m="http://schemas.openxmlformats.org/officeDocument/2006/math">
                    <m:sSub>
                      <m:sSubPr>
                        <m:ctrlPr>
                          <a:rPr lang="fr-FR" altLang="fr-FR" sz="2000" b="1" i="1" smtClean="0">
                            <a:solidFill>
                              <a:srgbClr val="FF0000"/>
                            </a:solidFill>
                            <a:latin typeface="Cambria Math" panose="02040503050406030204" pitchFamily="18" charset="0"/>
                            <a:cs typeface="Browallia New" panose="020B0604020202020204" pitchFamily="34" charset="-34"/>
                          </a:rPr>
                        </m:ctrlPr>
                      </m:sSubPr>
                      <m:e>
                        <m:r>
                          <a:rPr lang="fr-FR" altLang="fr-FR" sz="2000" b="1" i="1" smtClean="0">
                            <a:solidFill>
                              <a:srgbClr val="FF0000"/>
                            </a:solidFill>
                            <a:latin typeface="Cambria Math" panose="02040503050406030204" pitchFamily="18" charset="0"/>
                            <a:cs typeface="Browallia New" panose="020B0604020202020204" pitchFamily="34" charset="-34"/>
                          </a:rPr>
                          <m:t>𝒖</m:t>
                        </m:r>
                      </m:e>
                      <m:sub>
                        <m:r>
                          <a:rPr lang="fr-FR" altLang="fr-FR" sz="2000" b="1" i="1" smtClean="0">
                            <a:solidFill>
                              <a:srgbClr val="FF0000"/>
                            </a:solidFill>
                            <a:latin typeface="Cambria Math" panose="02040503050406030204" pitchFamily="18" charset="0"/>
                            <a:cs typeface="Browallia New" panose="020B0604020202020204" pitchFamily="34" charset="-34"/>
                          </a:rPr>
                          <m:t>𝒆𝒇𝒇</m:t>
                        </m:r>
                      </m:sub>
                    </m:sSub>
                    <m:r>
                      <a:rPr lang="fr-FR" altLang="fr-FR" sz="2000" b="1" i="1" smtClean="0">
                        <a:solidFill>
                          <a:srgbClr val="FF0000"/>
                        </a:solidFill>
                        <a:latin typeface="Cambria Math" panose="02040503050406030204" pitchFamily="18" charset="0"/>
                        <a:cs typeface="Browallia New" panose="020B0604020202020204" pitchFamily="34" charset="-34"/>
                      </a:rPr>
                      <m:t>=</m:t>
                    </m:r>
                    <m:rad>
                      <m:radPr>
                        <m:degHide m:val="on"/>
                        <m:ctrlPr>
                          <a:rPr lang="fr-FR" altLang="fr-FR" sz="2000" b="1" i="1" smtClean="0">
                            <a:solidFill>
                              <a:srgbClr val="FF0000"/>
                            </a:solidFill>
                            <a:latin typeface="Cambria Math" panose="02040503050406030204" pitchFamily="18" charset="0"/>
                            <a:cs typeface="Browallia New" panose="020B0604020202020204" pitchFamily="34" charset="-34"/>
                          </a:rPr>
                        </m:ctrlPr>
                      </m:radPr>
                      <m:deg/>
                      <m:e>
                        <m:f>
                          <m:fPr>
                            <m:ctrlPr>
                              <a:rPr lang="fr-FR" altLang="fr-FR" sz="2000" b="1" i="1">
                                <a:solidFill>
                                  <a:srgbClr val="FF0000"/>
                                </a:solidFill>
                                <a:latin typeface="Cambria Math" panose="02040503050406030204" pitchFamily="18" charset="0"/>
                                <a:cs typeface="Browallia New" panose="020B0604020202020204" pitchFamily="34" charset="-34"/>
                              </a:rPr>
                            </m:ctrlPr>
                          </m:fPr>
                          <m:num>
                            <m:r>
                              <a:rPr lang="fr-FR" altLang="fr-FR" sz="2000" b="1" i="1">
                                <a:solidFill>
                                  <a:srgbClr val="FF0000"/>
                                </a:solidFill>
                                <a:latin typeface="Cambria Math" panose="02040503050406030204" pitchFamily="18" charset="0"/>
                                <a:cs typeface="Browallia New" panose="020B0604020202020204" pitchFamily="34" charset="-34"/>
                              </a:rPr>
                              <m:t>𝟏</m:t>
                            </m:r>
                          </m:num>
                          <m:den>
                            <m:r>
                              <a:rPr lang="fr-FR" altLang="fr-FR" sz="2000" b="1" i="1">
                                <a:solidFill>
                                  <a:srgbClr val="FF0000"/>
                                </a:solidFill>
                                <a:latin typeface="Cambria Math" panose="02040503050406030204" pitchFamily="18" charset="0"/>
                                <a:cs typeface="Browallia New" panose="020B0604020202020204" pitchFamily="34" charset="-34"/>
                              </a:rPr>
                              <m:t>𝑻</m:t>
                            </m:r>
                          </m:den>
                        </m:f>
                        <m:nary>
                          <m:naryPr>
                            <m:limLoc m:val="undOvr"/>
                            <m:ctrlPr>
                              <a:rPr lang="fr-FR" altLang="fr-FR" sz="2000" b="1" i="1">
                                <a:solidFill>
                                  <a:srgbClr val="FF0000"/>
                                </a:solidFill>
                                <a:latin typeface="Cambria Math" panose="02040503050406030204" pitchFamily="18" charset="0"/>
                                <a:cs typeface="Browallia New" panose="020B0604020202020204" pitchFamily="34" charset="-34"/>
                              </a:rPr>
                            </m:ctrlPr>
                          </m:naryPr>
                          <m:sub>
                            <m:r>
                              <m:rPr>
                                <m:brk m:alnAt="24"/>
                              </m:rPr>
                              <a:rPr lang="fr-FR" altLang="fr-FR" sz="2000" b="1" i="1">
                                <a:solidFill>
                                  <a:srgbClr val="FF0000"/>
                                </a:solidFill>
                                <a:latin typeface="Cambria Math" panose="02040503050406030204" pitchFamily="18" charset="0"/>
                                <a:cs typeface="Browallia New" panose="020B0604020202020204" pitchFamily="34" charset="-34"/>
                              </a:rPr>
                              <m:t>𝟎</m:t>
                            </m:r>
                          </m:sub>
                          <m:sup>
                            <m:r>
                              <a:rPr lang="fr-FR" altLang="fr-FR" sz="2000" b="1" i="1">
                                <a:solidFill>
                                  <a:srgbClr val="FF0000"/>
                                </a:solidFill>
                                <a:latin typeface="Cambria Math" panose="02040503050406030204" pitchFamily="18" charset="0"/>
                                <a:cs typeface="Browallia New" panose="020B0604020202020204" pitchFamily="34" charset="-34"/>
                              </a:rPr>
                              <m:t>𝑻</m:t>
                            </m:r>
                          </m:sup>
                          <m:e>
                            <m:sSup>
                              <m:sSupPr>
                                <m:ctrlPr>
                                  <a:rPr lang="fr-FR" altLang="fr-FR" sz="2000" b="1" i="1">
                                    <a:solidFill>
                                      <a:srgbClr val="FF0000"/>
                                    </a:solidFill>
                                    <a:latin typeface="Cambria Math" panose="02040503050406030204" pitchFamily="18" charset="0"/>
                                    <a:cs typeface="Browallia New" panose="020B0604020202020204" pitchFamily="34" charset="-34"/>
                                  </a:rPr>
                                </m:ctrlPr>
                              </m:sSupPr>
                              <m:e>
                                <m:r>
                                  <a:rPr lang="fr-FR" altLang="fr-FR" sz="2000" b="1" i="1">
                                    <a:solidFill>
                                      <a:srgbClr val="FF0000"/>
                                    </a:solidFill>
                                    <a:latin typeface="Cambria Math" panose="02040503050406030204" pitchFamily="18" charset="0"/>
                                    <a:cs typeface="Browallia New" panose="020B0604020202020204" pitchFamily="34" charset="-34"/>
                                  </a:rPr>
                                  <m:t>𝒖</m:t>
                                </m:r>
                                <m:d>
                                  <m:dPr>
                                    <m:ctrlPr>
                                      <a:rPr lang="fr-FR" altLang="fr-FR" sz="2000" b="1" i="1">
                                        <a:solidFill>
                                          <a:srgbClr val="FF0000"/>
                                        </a:solidFill>
                                        <a:latin typeface="Cambria Math" panose="02040503050406030204" pitchFamily="18" charset="0"/>
                                        <a:cs typeface="Browallia New" panose="020B0604020202020204" pitchFamily="34" charset="-34"/>
                                      </a:rPr>
                                    </m:ctrlPr>
                                  </m:dPr>
                                  <m:e>
                                    <m:r>
                                      <a:rPr lang="fr-FR" altLang="fr-FR" sz="2000" b="1" i="1">
                                        <a:solidFill>
                                          <a:srgbClr val="FF0000"/>
                                        </a:solidFill>
                                        <a:latin typeface="Cambria Math" panose="02040503050406030204" pitchFamily="18" charset="0"/>
                                        <a:cs typeface="Browallia New" panose="020B0604020202020204" pitchFamily="34" charset="-34"/>
                                      </a:rPr>
                                      <m:t>𝒕</m:t>
                                    </m:r>
                                  </m:e>
                                </m:d>
                              </m:e>
                              <m:sup>
                                <m:r>
                                  <a:rPr lang="fr-FR" altLang="fr-FR" sz="2000" b="1" i="1">
                                    <a:solidFill>
                                      <a:srgbClr val="FF0000"/>
                                    </a:solidFill>
                                    <a:latin typeface="Cambria Math" panose="02040503050406030204" pitchFamily="18" charset="0"/>
                                    <a:cs typeface="Browallia New" panose="020B0604020202020204" pitchFamily="34" charset="-34"/>
                                  </a:rPr>
                                  <m:t>𝟐</m:t>
                                </m:r>
                              </m:sup>
                            </m:sSup>
                            <m:r>
                              <a:rPr lang="fr-FR" altLang="fr-FR" sz="2000" b="1" i="1">
                                <a:solidFill>
                                  <a:srgbClr val="FF0000"/>
                                </a:solidFill>
                                <a:latin typeface="Cambria Math" panose="02040503050406030204" pitchFamily="18" charset="0"/>
                                <a:cs typeface="Browallia New" panose="020B0604020202020204" pitchFamily="34" charset="-34"/>
                              </a:rPr>
                              <m:t>𝒅𝒕</m:t>
                            </m:r>
                          </m:e>
                        </m:nary>
                      </m:e>
                    </m:rad>
                  </m:oMath>
                </a14:m>
                <a:r>
                  <a:rPr lang="fr-FR" altLang="fr-FR" sz="2000" b="1" dirty="0">
                    <a:latin typeface="Bodoni MT" panose="02070603080606020203" pitchFamily="18" charset="0"/>
                    <a:cs typeface="Browallia New" panose="020B0604020202020204" pitchFamily="34" charset="-34"/>
                  </a:rPr>
                  <a:t> </a:t>
                </a:r>
                <a:r>
                  <a:rPr lang="fr-FR" altLang="fr-FR" b="1" dirty="0">
                    <a:latin typeface="Bodoni MT" panose="02070603080606020203" pitchFamily="18" charset="0"/>
                    <a:cs typeface="Browallia New" panose="020B0604020202020204" pitchFamily="34" charset="-34"/>
                  </a:rPr>
                  <a:t>, </a:t>
                </a:r>
                <a:r>
                  <a:rPr lang="fr-FR" altLang="fr-FR" sz="1600" b="1" dirty="0">
                    <a:latin typeface="Bookman Old Style" panose="02050604050505020204" pitchFamily="18" charset="0"/>
                    <a:cs typeface="Browallia New" panose="020B0604020202020204" pitchFamily="34" charset="-34"/>
                  </a:rPr>
                  <a:t>Où </a:t>
                </a:r>
                <a:r>
                  <a:rPr lang="fr-FR" altLang="fr-FR" sz="1600" b="1" dirty="0">
                    <a:solidFill>
                      <a:srgbClr val="FF0000"/>
                    </a:solidFill>
                    <a:latin typeface="Bookman Old Style" panose="02050604050505020204" pitchFamily="18" charset="0"/>
                    <a:cs typeface="Browallia New" panose="020B0604020202020204" pitchFamily="34" charset="-34"/>
                  </a:rPr>
                  <a:t>T</a:t>
                </a:r>
                <a:r>
                  <a:rPr lang="fr-FR" altLang="fr-FR" sz="1600" b="1" dirty="0">
                    <a:latin typeface="Bookman Old Style" panose="02050604050505020204" pitchFamily="18" charset="0"/>
                    <a:cs typeface="Browallia New" panose="020B0604020202020204" pitchFamily="34" charset="-34"/>
                  </a:rPr>
                  <a:t> est la période du signal </a:t>
                </a:r>
              </a:p>
            </p:txBody>
          </p:sp>
        </mc:Choice>
        <mc:Fallback xmlns="">
          <p:sp>
            <p:nvSpPr>
              <p:cNvPr id="22" name="TextBox 21">
                <a:extLst>
                  <a:ext uri="{FF2B5EF4-FFF2-40B4-BE49-F238E27FC236}">
                    <a16:creationId xmlns:a16="http://schemas.microsoft.com/office/drawing/2014/main" id="{F34EFD0B-5E85-B3BC-30C0-C654F46900B2}"/>
                  </a:ext>
                </a:extLst>
              </p:cNvPr>
              <p:cNvSpPr txBox="1">
                <a:spLocks noRot="1" noChangeAspect="1" noMove="1" noResize="1" noEditPoints="1" noAdjustHandles="1" noChangeArrowheads="1" noChangeShapeType="1" noTextEdit="1"/>
              </p:cNvSpPr>
              <p:nvPr/>
            </p:nvSpPr>
            <p:spPr>
              <a:xfrm>
                <a:off x="2133600" y="2723095"/>
                <a:ext cx="5943600" cy="718658"/>
              </a:xfrm>
              <a:prstGeom prst="rect">
                <a:avLst/>
              </a:prstGeom>
              <a:blipFill>
                <a:blip r:embed="rId3"/>
                <a:stretch>
                  <a:fillRect/>
                </a:stretch>
              </a:blipFill>
            </p:spPr>
            <p:txBody>
              <a:bodyPr/>
              <a:lstStyle/>
              <a:p>
                <a:r>
                  <a:rPr lang="fr-FR">
                    <a:noFill/>
                  </a:rPr>
                  <a:t> </a:t>
                </a:r>
              </a:p>
            </p:txBody>
          </p:sp>
        </mc:Fallback>
      </mc:AlternateContent>
      <p:sp>
        <p:nvSpPr>
          <p:cNvPr id="24" name="TextBox 23">
            <a:extLst>
              <a:ext uri="{FF2B5EF4-FFF2-40B4-BE49-F238E27FC236}">
                <a16:creationId xmlns:a16="http://schemas.microsoft.com/office/drawing/2014/main" id="{3A24FBF3-F40F-388C-58B0-50820B6F58A9}"/>
              </a:ext>
            </a:extLst>
          </p:cNvPr>
          <p:cNvSpPr txBox="1"/>
          <p:nvPr/>
        </p:nvSpPr>
        <p:spPr>
          <a:xfrm>
            <a:off x="813393" y="3465011"/>
            <a:ext cx="8102006" cy="338554"/>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stStyle>
          <a:p>
            <a:r>
              <a:rPr lang="fr-FR" altLang="fr-FR" dirty="0"/>
              <a:t>Les </a:t>
            </a:r>
            <a:r>
              <a:rPr lang="fr-FR" altLang="fr-FR" b="1" dirty="0"/>
              <a:t>signaux continus </a:t>
            </a:r>
            <a:r>
              <a:rPr lang="fr-FR" altLang="fr-FR" dirty="0"/>
              <a:t>présentent eux aussi une valeur efficace </a:t>
            </a:r>
            <a:r>
              <a:rPr lang="fr-FR" altLang="fr-FR" b="1" dirty="0"/>
              <a:t>non-nulle</a:t>
            </a:r>
            <a:r>
              <a:rPr lang="fr-FR" altLang="fr-FR" dirty="0"/>
              <a:t>. </a:t>
            </a:r>
            <a:endParaRPr lang="fr-FR" dirty="0"/>
          </a:p>
        </p:txBody>
      </p:sp>
      <p:sp>
        <p:nvSpPr>
          <p:cNvPr id="27" name="TextBox 26">
            <a:extLst>
              <a:ext uri="{FF2B5EF4-FFF2-40B4-BE49-F238E27FC236}">
                <a16:creationId xmlns:a16="http://schemas.microsoft.com/office/drawing/2014/main" id="{A2EF8C5E-4C5A-2CD4-4803-740B8AE4AD53}"/>
              </a:ext>
            </a:extLst>
          </p:cNvPr>
          <p:cNvSpPr txBox="1"/>
          <p:nvPr/>
        </p:nvSpPr>
        <p:spPr>
          <a:xfrm>
            <a:off x="576301" y="3901139"/>
            <a:ext cx="7835883" cy="1077218"/>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stStyle>
          <a:p>
            <a:pPr marL="0" indent="0">
              <a:buNone/>
            </a:pPr>
            <a:r>
              <a:rPr lang="fr-FR" b="1" u="sng" dirty="0">
                <a:solidFill>
                  <a:srgbClr val="00B050"/>
                </a:solidFill>
              </a:rPr>
              <a:t>Exercice d'application:</a:t>
            </a:r>
          </a:p>
          <a:p>
            <a:pPr marL="0" indent="0">
              <a:buNone/>
            </a:pPr>
            <a:endParaRPr lang="fr-FR" dirty="0"/>
          </a:p>
          <a:p>
            <a:pPr marL="0" indent="0">
              <a:buNone/>
            </a:pPr>
            <a:r>
              <a:rPr lang="fr-FR" dirty="0"/>
              <a:t>  Calculer les </a:t>
            </a:r>
            <a:r>
              <a:rPr lang="fr-FR" b="1" dirty="0"/>
              <a:t>valeurs moyennes et efficaces</a:t>
            </a:r>
            <a:r>
              <a:rPr lang="fr-FR" dirty="0"/>
              <a:t> des signaux présentés précédemment.</a:t>
            </a:r>
          </a:p>
        </p:txBody>
      </p:sp>
    </p:spTree>
    <p:extLst>
      <p:ext uri="{BB962C8B-B14F-4D97-AF65-F5344CB8AC3E}">
        <p14:creationId xmlns:p14="http://schemas.microsoft.com/office/powerpoint/2010/main" val="26774604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3212"/>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grpSp>
        <p:nvGrpSpPr>
          <p:cNvPr id="11" name="object 11"/>
          <p:cNvGrpSpPr/>
          <p:nvPr/>
        </p:nvGrpSpPr>
        <p:grpSpPr>
          <a:xfrm>
            <a:off x="550647" y="1239664"/>
            <a:ext cx="8417418" cy="765787"/>
            <a:chOff x="695200" y="1293934"/>
            <a:chExt cx="8225156" cy="690246"/>
          </a:xfrm>
        </p:grpSpPr>
        <p:sp>
          <p:nvSpPr>
            <p:cNvPr id="12" name="object 12"/>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13" name="object 13"/>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20</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1" name="TextBox 20">
            <a:extLst>
              <a:ext uri="{FF2B5EF4-FFF2-40B4-BE49-F238E27FC236}">
                <a16:creationId xmlns:a16="http://schemas.microsoft.com/office/drawing/2014/main" id="{A8325E06-8A90-68FD-3276-0A5C372BBE8B}"/>
              </a:ext>
            </a:extLst>
          </p:cNvPr>
          <p:cNvSpPr txBox="1"/>
          <p:nvPr/>
        </p:nvSpPr>
        <p:spPr>
          <a:xfrm>
            <a:off x="671176" y="1327899"/>
            <a:ext cx="8296888" cy="646331"/>
          </a:xfrm>
          <a:prstGeom prst="rect">
            <a:avLst/>
          </a:prstGeom>
          <a:noFill/>
        </p:spPr>
        <p:txBody>
          <a:bodyPr wrap="square">
            <a:spAutoFit/>
          </a:bodyPr>
          <a:lstStyle/>
          <a:p>
            <a:pPr algn="just"/>
            <a:r>
              <a:rPr lang="fr-FR" dirty="0">
                <a:latin typeface="Bookman Old Style" panose="02050604050505020204" pitchFamily="18" charset="0"/>
              </a:rPr>
              <a:t>Un </a:t>
            </a:r>
            <a:r>
              <a:rPr lang="fr-FR" b="1" dirty="0">
                <a:solidFill>
                  <a:srgbClr val="FF0000"/>
                </a:solidFill>
                <a:latin typeface="Bookman Old Style" panose="02050604050505020204" pitchFamily="18" charset="0"/>
              </a:rPr>
              <a:t>dipôle</a:t>
            </a:r>
            <a:r>
              <a:rPr lang="fr-FR" dirty="0">
                <a:latin typeface="Bookman Old Style" panose="02050604050505020204" pitchFamily="18" charset="0"/>
              </a:rPr>
              <a:t> est un système </a:t>
            </a:r>
            <a:r>
              <a:rPr lang="fr-FR" b="1" dirty="0">
                <a:latin typeface="Bookman Old Style" panose="02050604050505020204" pitchFamily="18" charset="0"/>
              </a:rPr>
              <a:t>accessible par deux bornes </a:t>
            </a:r>
            <a:r>
              <a:rPr lang="fr-FR" dirty="0">
                <a:latin typeface="Bookman Old Style" panose="02050604050505020204" pitchFamily="18" charset="0"/>
              </a:rPr>
              <a:t>dans lequel peut circuler un </a:t>
            </a:r>
            <a:r>
              <a:rPr lang="fr-FR" b="1" dirty="0">
                <a:latin typeface="Bookman Old Style" panose="02050604050505020204" pitchFamily="18" charset="0"/>
              </a:rPr>
              <a:t>courant électrique</a:t>
            </a:r>
            <a:r>
              <a:rPr lang="fr-FR" dirty="0">
                <a:latin typeface="Bookman Old Style" panose="02050604050505020204" pitchFamily="18" charset="0"/>
              </a:rPr>
              <a:t>. </a:t>
            </a:r>
          </a:p>
        </p:txBody>
      </p:sp>
      <p:sp>
        <p:nvSpPr>
          <p:cNvPr id="4" name="TextBox 3">
            <a:extLst>
              <a:ext uri="{FF2B5EF4-FFF2-40B4-BE49-F238E27FC236}">
                <a16:creationId xmlns:a16="http://schemas.microsoft.com/office/drawing/2014/main" id="{C02AA1E2-F3B7-B8B9-5366-1482BBD7CB21}"/>
              </a:ext>
            </a:extLst>
          </p:cNvPr>
          <p:cNvSpPr txBox="1"/>
          <p:nvPr/>
        </p:nvSpPr>
        <p:spPr>
          <a:xfrm>
            <a:off x="576301" y="813354"/>
            <a:ext cx="4572000" cy="369332"/>
          </a:xfrm>
          <a:prstGeom prst="rect">
            <a:avLst/>
          </a:prstGeom>
          <a:noFill/>
        </p:spPr>
        <p:txBody>
          <a:bodyPr wrap="square">
            <a:spAutoFit/>
          </a:bodyPr>
          <a:lstStyle/>
          <a:p>
            <a:pPr marL="12065" lvl="1">
              <a:lnSpc>
                <a:spcPct val="100000"/>
              </a:lnSpc>
              <a:spcBef>
                <a:spcPts val="100"/>
              </a:spcBef>
              <a:tabLst>
                <a:tab pos="393700" algn="l"/>
              </a:tabLst>
            </a:pPr>
            <a:r>
              <a:rPr lang="fr-FR" b="1" spc="-5" dirty="0">
                <a:solidFill>
                  <a:srgbClr val="CC00CC"/>
                </a:solidFill>
                <a:latin typeface="Bookman Old Style" panose="02050604050505020204" pitchFamily="18" charset="0"/>
                <a:cs typeface="Arial"/>
              </a:rPr>
              <a:t>2</a:t>
            </a:r>
            <a:r>
              <a:rPr lang="fr-FR" sz="1800" b="1" spc="-5" dirty="0">
                <a:solidFill>
                  <a:srgbClr val="CC00CC"/>
                </a:solidFill>
                <a:latin typeface="Bookman Old Style" panose="02050604050505020204" pitchFamily="18" charset="0"/>
                <a:cs typeface="Arial"/>
              </a:rPr>
              <a:t>.1 Dipôle</a:t>
            </a:r>
          </a:p>
        </p:txBody>
      </p:sp>
      <p:sp>
        <p:nvSpPr>
          <p:cNvPr id="17" name="Rectangle 16">
            <a:extLst>
              <a:ext uri="{FF2B5EF4-FFF2-40B4-BE49-F238E27FC236}">
                <a16:creationId xmlns:a16="http://schemas.microsoft.com/office/drawing/2014/main" id="{D3069C8A-9B54-62E6-21F6-78E69C071FB8}"/>
              </a:ext>
            </a:extLst>
          </p:cNvPr>
          <p:cNvSpPr/>
          <p:nvPr/>
        </p:nvSpPr>
        <p:spPr>
          <a:xfrm>
            <a:off x="3505200" y="2383288"/>
            <a:ext cx="2133600" cy="685800"/>
          </a:xfrm>
          <a:prstGeom prst="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22" name="Straight Connector 21">
            <a:extLst>
              <a:ext uri="{FF2B5EF4-FFF2-40B4-BE49-F238E27FC236}">
                <a16:creationId xmlns:a16="http://schemas.microsoft.com/office/drawing/2014/main" id="{D0F20271-7CEC-B2F5-E802-09B12D0AD582}"/>
              </a:ext>
            </a:extLst>
          </p:cNvPr>
          <p:cNvCxnSpPr>
            <a:cxnSpLocks/>
          </p:cNvCxnSpPr>
          <p:nvPr/>
        </p:nvCxnSpPr>
        <p:spPr>
          <a:xfrm>
            <a:off x="2333432" y="2726188"/>
            <a:ext cx="117295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CA222C5-159B-166E-BECD-6E1BDEB20DA2}"/>
              </a:ext>
            </a:extLst>
          </p:cNvPr>
          <p:cNvCxnSpPr>
            <a:cxnSpLocks/>
          </p:cNvCxnSpPr>
          <p:nvPr/>
        </p:nvCxnSpPr>
        <p:spPr>
          <a:xfrm>
            <a:off x="5638800" y="2734109"/>
            <a:ext cx="117295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D2CFADE2-FAE4-AD86-F8A0-EBF175453202}"/>
              </a:ext>
            </a:extLst>
          </p:cNvPr>
          <p:cNvSpPr txBox="1"/>
          <p:nvPr/>
        </p:nvSpPr>
        <p:spPr>
          <a:xfrm>
            <a:off x="3962400" y="2495355"/>
            <a:ext cx="1219200" cy="461665"/>
          </a:xfrm>
          <a:prstGeom prst="rect">
            <a:avLst/>
          </a:prstGeom>
          <a:noFill/>
        </p:spPr>
        <p:txBody>
          <a:bodyPr wrap="square">
            <a:spAutoFit/>
          </a:bodyPr>
          <a:lstStyle/>
          <a:p>
            <a:r>
              <a:rPr lang="fr-FR" sz="2400" b="1" dirty="0">
                <a:solidFill>
                  <a:srgbClr val="FF0000"/>
                </a:solidFill>
                <a:latin typeface="Bookman Old Style" panose="02050604050505020204" pitchFamily="18" charset="0"/>
              </a:rPr>
              <a:t>dipôle</a:t>
            </a:r>
            <a:endParaRPr lang="fr-FR" sz="2400" dirty="0"/>
          </a:p>
        </p:txBody>
      </p:sp>
      <p:sp>
        <p:nvSpPr>
          <p:cNvPr id="27" name="Half Frame 26">
            <a:extLst>
              <a:ext uri="{FF2B5EF4-FFF2-40B4-BE49-F238E27FC236}">
                <a16:creationId xmlns:a16="http://schemas.microsoft.com/office/drawing/2014/main" id="{37860778-A9C4-691C-F4D0-E13E1392F426}"/>
              </a:ext>
            </a:extLst>
          </p:cNvPr>
          <p:cNvSpPr/>
          <p:nvPr/>
        </p:nvSpPr>
        <p:spPr>
          <a:xfrm rot="7980389">
            <a:off x="2513429" y="2643595"/>
            <a:ext cx="228600" cy="181030"/>
          </a:xfrm>
          <a:prstGeom prst="halfFram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29" name="Half Frame 28">
            <a:extLst>
              <a:ext uri="{FF2B5EF4-FFF2-40B4-BE49-F238E27FC236}">
                <a16:creationId xmlns:a16="http://schemas.microsoft.com/office/drawing/2014/main" id="{49707D92-3509-D082-7EB4-0A0F2604C3C1}"/>
              </a:ext>
            </a:extLst>
          </p:cNvPr>
          <p:cNvSpPr/>
          <p:nvPr/>
        </p:nvSpPr>
        <p:spPr>
          <a:xfrm rot="7980389">
            <a:off x="6110977" y="2644819"/>
            <a:ext cx="228600" cy="181030"/>
          </a:xfrm>
          <a:prstGeom prst="halfFram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31" name="TextBox 30">
            <a:extLst>
              <a:ext uri="{FF2B5EF4-FFF2-40B4-BE49-F238E27FC236}">
                <a16:creationId xmlns:a16="http://schemas.microsoft.com/office/drawing/2014/main" id="{509EC6B1-A5EF-A81A-CB81-5E1A7C8CC08F}"/>
              </a:ext>
            </a:extLst>
          </p:cNvPr>
          <p:cNvSpPr txBox="1"/>
          <p:nvPr/>
        </p:nvSpPr>
        <p:spPr>
          <a:xfrm>
            <a:off x="1439721" y="2272444"/>
            <a:ext cx="2495580" cy="923330"/>
          </a:xfrm>
          <a:prstGeom prst="rect">
            <a:avLst/>
          </a:prstGeom>
          <a:noFill/>
        </p:spPr>
        <p:txBody>
          <a:bodyPr wrap="square">
            <a:spAutoFit/>
          </a:bodyPr>
          <a:lstStyle/>
          <a:p>
            <a:pPr algn="ctr"/>
            <a:r>
              <a:rPr lang="fr-FR" b="1" dirty="0">
                <a:latin typeface="Bookman Old Style" panose="02050604050505020204" pitchFamily="18" charset="0"/>
              </a:rPr>
              <a:t>courant </a:t>
            </a:r>
          </a:p>
          <a:p>
            <a:pPr algn="ctr"/>
            <a:endParaRPr lang="fr-FR" b="1" dirty="0">
              <a:latin typeface="Bookman Old Style" panose="02050604050505020204" pitchFamily="18" charset="0"/>
            </a:endParaRPr>
          </a:p>
          <a:p>
            <a:pPr algn="ctr"/>
            <a:r>
              <a:rPr lang="fr-FR" b="1" dirty="0">
                <a:latin typeface="Bookman Old Style" panose="02050604050505020204" pitchFamily="18" charset="0"/>
              </a:rPr>
              <a:t>électrique</a:t>
            </a:r>
            <a:endParaRPr lang="fr-FR" dirty="0"/>
          </a:p>
        </p:txBody>
      </p:sp>
      <p:sp>
        <p:nvSpPr>
          <p:cNvPr id="32" name="TextBox 31">
            <a:extLst>
              <a:ext uri="{FF2B5EF4-FFF2-40B4-BE49-F238E27FC236}">
                <a16:creationId xmlns:a16="http://schemas.microsoft.com/office/drawing/2014/main" id="{BD798D52-4D81-2FC4-8D24-17A585B6B091}"/>
              </a:ext>
            </a:extLst>
          </p:cNvPr>
          <p:cNvSpPr txBox="1"/>
          <p:nvPr/>
        </p:nvSpPr>
        <p:spPr>
          <a:xfrm>
            <a:off x="5121641" y="2225031"/>
            <a:ext cx="2495580" cy="923330"/>
          </a:xfrm>
          <a:prstGeom prst="rect">
            <a:avLst/>
          </a:prstGeom>
          <a:noFill/>
        </p:spPr>
        <p:txBody>
          <a:bodyPr wrap="square">
            <a:spAutoFit/>
          </a:bodyPr>
          <a:lstStyle/>
          <a:p>
            <a:pPr algn="ctr"/>
            <a:r>
              <a:rPr lang="fr-FR" b="1" dirty="0">
                <a:latin typeface="Bookman Old Style" panose="02050604050505020204" pitchFamily="18" charset="0"/>
              </a:rPr>
              <a:t>courant </a:t>
            </a:r>
          </a:p>
          <a:p>
            <a:pPr algn="ctr"/>
            <a:endParaRPr lang="fr-FR" b="1" dirty="0">
              <a:latin typeface="Bookman Old Style" panose="02050604050505020204" pitchFamily="18" charset="0"/>
            </a:endParaRPr>
          </a:p>
          <a:p>
            <a:pPr algn="ctr"/>
            <a:r>
              <a:rPr lang="fr-FR" b="1" dirty="0">
                <a:latin typeface="Bookman Old Style" panose="02050604050505020204" pitchFamily="18" charset="0"/>
              </a:rPr>
              <a:t>électrique</a:t>
            </a:r>
            <a:endParaRPr lang="fr-FR" dirty="0"/>
          </a:p>
        </p:txBody>
      </p:sp>
      <p:sp>
        <p:nvSpPr>
          <p:cNvPr id="34" name="TextBox 33">
            <a:extLst>
              <a:ext uri="{FF2B5EF4-FFF2-40B4-BE49-F238E27FC236}">
                <a16:creationId xmlns:a16="http://schemas.microsoft.com/office/drawing/2014/main" id="{23FA4E7F-BCF4-5B51-F33A-F0DB27D5B1BB}"/>
              </a:ext>
            </a:extLst>
          </p:cNvPr>
          <p:cNvSpPr txBox="1"/>
          <p:nvPr/>
        </p:nvSpPr>
        <p:spPr>
          <a:xfrm>
            <a:off x="473808" y="3397140"/>
            <a:ext cx="8206064" cy="553998"/>
          </a:xfrm>
          <a:prstGeom prst="rect">
            <a:avLst/>
          </a:prstGeom>
          <a:noFill/>
        </p:spPr>
        <p:txBody>
          <a:bodyPr wrap="square">
            <a:spAutoFit/>
          </a:bodyPr>
          <a:lstStyle/>
          <a:p>
            <a:pPr marL="285750" indent="-285750" algn="just">
              <a:buFont typeface="Wingdings" panose="05000000000000000000" pitchFamily="2" charset="2"/>
              <a:buChar char="q"/>
            </a:pPr>
            <a:r>
              <a:rPr lang="fr-FR" altLang="fr-FR" sz="1500" dirty="0">
                <a:latin typeface="Bookman Old Style" panose="02050604050505020204" pitchFamily="18" charset="0"/>
                <a:cs typeface="Browallia New" panose="020B0604020202020204" pitchFamily="34" charset="-34"/>
              </a:rPr>
              <a:t>Pour qu'un </a:t>
            </a:r>
            <a:r>
              <a:rPr lang="fr-FR" altLang="fr-FR" sz="1500" b="1" dirty="0">
                <a:latin typeface="Bookman Old Style" panose="02050604050505020204" pitchFamily="18" charset="0"/>
                <a:cs typeface="Browallia New" panose="020B0604020202020204" pitchFamily="34" charset="-34"/>
              </a:rPr>
              <a:t>courant</a:t>
            </a:r>
            <a:r>
              <a:rPr lang="fr-FR" altLang="fr-FR" sz="1500" dirty="0">
                <a:latin typeface="Bookman Old Style" panose="02050604050505020204" pitchFamily="18" charset="0"/>
                <a:cs typeface="Browallia New" panose="020B0604020202020204" pitchFamily="34" charset="-34"/>
              </a:rPr>
              <a:t> puisse circuler dans un dipôle, il faut </a:t>
            </a:r>
            <a:r>
              <a:rPr lang="fr-FR" altLang="fr-FR" sz="1500" b="1" dirty="0">
                <a:solidFill>
                  <a:srgbClr val="FF0000"/>
                </a:solidFill>
                <a:latin typeface="Bookman Old Style" panose="02050604050505020204" pitchFamily="18" charset="0"/>
                <a:cs typeface="Browallia New" panose="020B0604020202020204" pitchFamily="34" charset="-34"/>
              </a:rPr>
              <a:t>brancher</a:t>
            </a:r>
            <a:r>
              <a:rPr lang="fr-FR" altLang="fr-FR" sz="1500" dirty="0">
                <a:latin typeface="Bookman Old Style" panose="02050604050505020204" pitchFamily="18" charset="0"/>
                <a:cs typeface="Browallia New" panose="020B0604020202020204" pitchFamily="34" charset="-34"/>
              </a:rPr>
              <a:t> celui-ci sur un </a:t>
            </a:r>
            <a:r>
              <a:rPr lang="fr-FR" altLang="fr-FR" sz="1500" b="1" dirty="0">
                <a:latin typeface="Bookman Old Style" panose="02050604050505020204" pitchFamily="18" charset="0"/>
                <a:cs typeface="Browallia New" panose="020B0604020202020204" pitchFamily="34" charset="-34"/>
              </a:rPr>
              <a:t>autre dipôle</a:t>
            </a:r>
            <a:r>
              <a:rPr lang="fr-FR" altLang="fr-FR" sz="1500" dirty="0">
                <a:latin typeface="Bookman Old Style" panose="02050604050505020204" pitchFamily="18" charset="0"/>
                <a:cs typeface="Browallia New" panose="020B0604020202020204" pitchFamily="34" charset="-34"/>
              </a:rPr>
              <a:t>.</a:t>
            </a:r>
          </a:p>
        </p:txBody>
      </p:sp>
      <p:grpSp>
        <p:nvGrpSpPr>
          <p:cNvPr id="35" name="Groupe 16">
            <a:extLst>
              <a:ext uri="{FF2B5EF4-FFF2-40B4-BE49-F238E27FC236}">
                <a16:creationId xmlns:a16="http://schemas.microsoft.com/office/drawing/2014/main" id="{7376BF48-AE49-FBB7-9B60-4E99B55CA093}"/>
              </a:ext>
            </a:extLst>
          </p:cNvPr>
          <p:cNvGrpSpPr>
            <a:grpSpLocks/>
          </p:cNvGrpSpPr>
          <p:nvPr/>
        </p:nvGrpSpPr>
        <p:grpSpPr bwMode="auto">
          <a:xfrm>
            <a:off x="3714750" y="3786188"/>
            <a:ext cx="1714500" cy="785812"/>
            <a:chOff x="3643306" y="3857628"/>
            <a:chExt cx="1714512" cy="785818"/>
          </a:xfrm>
        </p:grpSpPr>
        <p:sp>
          <p:nvSpPr>
            <p:cNvPr id="36" name="Ellipse 15">
              <a:extLst>
                <a:ext uri="{FF2B5EF4-FFF2-40B4-BE49-F238E27FC236}">
                  <a16:creationId xmlns:a16="http://schemas.microsoft.com/office/drawing/2014/main" id="{E4C7F664-50A3-4033-7748-26CC3FBA8577}"/>
                </a:ext>
              </a:extLst>
            </p:cNvPr>
            <p:cNvSpPr>
              <a:spLocks noChangeArrowheads="1"/>
            </p:cNvSpPr>
            <p:nvPr/>
          </p:nvSpPr>
          <p:spPr bwMode="auto">
            <a:xfrm>
              <a:off x="3643306" y="3857628"/>
              <a:ext cx="1714512" cy="785818"/>
            </a:xfrm>
            <a:prstGeom prst="ellipse">
              <a:avLst/>
            </a:prstGeom>
            <a:solidFill>
              <a:srgbClr val="FFFFFF"/>
            </a:solidFill>
            <a:ln w="38100" algn="ctr">
              <a:solidFill>
                <a:schemeClr val="tx1"/>
              </a:solidFill>
              <a:round/>
              <a:headEnd/>
              <a:tailEnd/>
            </a:ln>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fr-FR" altLang="fr-FR"/>
            </a:p>
          </p:txBody>
        </p:sp>
        <p:sp>
          <p:nvSpPr>
            <p:cNvPr id="37" name="ZoneTexte 14">
              <a:extLst>
                <a:ext uri="{FF2B5EF4-FFF2-40B4-BE49-F238E27FC236}">
                  <a16:creationId xmlns:a16="http://schemas.microsoft.com/office/drawing/2014/main" id="{5F282D85-304A-626E-DC58-16E761C5B827}"/>
                </a:ext>
              </a:extLst>
            </p:cNvPr>
            <p:cNvSpPr txBox="1">
              <a:spLocks noChangeArrowheads="1"/>
            </p:cNvSpPr>
            <p:nvPr/>
          </p:nvSpPr>
          <p:spPr bwMode="auto">
            <a:xfrm>
              <a:off x="4000495" y="4071942"/>
              <a:ext cx="1049710" cy="33855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fr-FR" altLang="fr-FR" sz="1600" b="1" dirty="0">
                  <a:latin typeface="Bookman Old Style" panose="02050604050505020204" pitchFamily="18" charset="0"/>
                  <a:cs typeface="Browallia New" panose="020B0604020202020204" pitchFamily="34" charset="-34"/>
                </a:rPr>
                <a:t>Dipôles</a:t>
              </a:r>
            </a:p>
          </p:txBody>
        </p:sp>
      </p:grpSp>
      <p:grpSp>
        <p:nvGrpSpPr>
          <p:cNvPr id="38" name="Groupe 23">
            <a:extLst>
              <a:ext uri="{FF2B5EF4-FFF2-40B4-BE49-F238E27FC236}">
                <a16:creationId xmlns:a16="http://schemas.microsoft.com/office/drawing/2014/main" id="{D4C5436F-6C7D-A52A-E9E6-2C4C01B10A1C}"/>
              </a:ext>
            </a:extLst>
          </p:cNvPr>
          <p:cNvGrpSpPr/>
          <p:nvPr/>
        </p:nvGrpSpPr>
        <p:grpSpPr>
          <a:xfrm>
            <a:off x="542691" y="4217157"/>
            <a:ext cx="2571768" cy="928694"/>
            <a:chOff x="1214414" y="4929198"/>
            <a:chExt cx="2571768" cy="928694"/>
          </a:xfrm>
          <a:solidFill>
            <a:srgbClr val="00FFFF"/>
          </a:solidFill>
        </p:grpSpPr>
        <p:sp>
          <p:nvSpPr>
            <p:cNvPr id="39" name="Ellipse 18">
              <a:extLst>
                <a:ext uri="{FF2B5EF4-FFF2-40B4-BE49-F238E27FC236}">
                  <a16:creationId xmlns:a16="http://schemas.microsoft.com/office/drawing/2014/main" id="{25676103-3153-ACFC-0F6D-D631D10A7734}"/>
                </a:ext>
              </a:extLst>
            </p:cNvPr>
            <p:cNvSpPr/>
            <p:nvPr/>
          </p:nvSpPr>
          <p:spPr bwMode="auto">
            <a:xfrm>
              <a:off x="1214414" y="4929198"/>
              <a:ext cx="2571768" cy="928694"/>
            </a:xfrm>
            <a:prstGeom prst="ellipse">
              <a:avLst/>
            </a:prstGeom>
            <a:grpFill/>
            <a:ln w="9525" cap="flat" cmpd="sng" algn="ctr">
              <a:solidFill>
                <a:schemeClr val="tx1"/>
              </a:solidFill>
              <a:prstDash val="solid"/>
              <a:round/>
              <a:headEnd type="none" w="med" len="med"/>
              <a:tailEnd type="none" w="med" len="med"/>
            </a:ln>
            <a:effectLst/>
          </p:spPr>
          <p:txBody>
            <a:bodyPr/>
            <a:lstStyle/>
            <a:p>
              <a:pPr>
                <a:defRPr/>
              </a:pPr>
              <a:endParaRPr lang="fr-FR"/>
            </a:p>
          </p:txBody>
        </p:sp>
        <p:sp>
          <p:nvSpPr>
            <p:cNvPr id="40" name="ZoneTexte 19">
              <a:extLst>
                <a:ext uri="{FF2B5EF4-FFF2-40B4-BE49-F238E27FC236}">
                  <a16:creationId xmlns:a16="http://schemas.microsoft.com/office/drawing/2014/main" id="{FBB3D0FD-8F5E-5229-00F3-8FE5592750DA}"/>
                </a:ext>
              </a:extLst>
            </p:cNvPr>
            <p:cNvSpPr txBox="1"/>
            <p:nvPr/>
          </p:nvSpPr>
          <p:spPr>
            <a:xfrm>
              <a:off x="1893075" y="5072074"/>
              <a:ext cx="1393041" cy="646331"/>
            </a:xfrm>
            <a:prstGeom prst="rect">
              <a:avLst/>
            </a:prstGeom>
            <a:grpFill/>
          </p:spPr>
          <p:txBody>
            <a:bodyPr>
              <a:spAutoFit/>
            </a:bodyPr>
            <a:lstStyle/>
            <a:p>
              <a:pPr algn="ctr">
                <a:defRPr/>
              </a:pPr>
              <a:r>
                <a:rPr lang="fr-FR" sz="1800" b="1" dirty="0">
                  <a:latin typeface="Bookman Old Style" panose="02050604050505020204" pitchFamily="18" charset="0"/>
                  <a:cs typeface="Browallia New" pitchFamily="34" charset="-34"/>
                </a:rPr>
                <a:t>Dipôles actifs</a:t>
              </a:r>
            </a:p>
          </p:txBody>
        </p:sp>
      </p:grpSp>
      <p:grpSp>
        <p:nvGrpSpPr>
          <p:cNvPr id="41" name="Groupe 24">
            <a:extLst>
              <a:ext uri="{FF2B5EF4-FFF2-40B4-BE49-F238E27FC236}">
                <a16:creationId xmlns:a16="http://schemas.microsoft.com/office/drawing/2014/main" id="{B1D9B470-E416-04A9-B495-D943C95CAC68}"/>
              </a:ext>
            </a:extLst>
          </p:cNvPr>
          <p:cNvGrpSpPr/>
          <p:nvPr/>
        </p:nvGrpSpPr>
        <p:grpSpPr>
          <a:xfrm>
            <a:off x="6155376" y="4105859"/>
            <a:ext cx="2342234" cy="1037641"/>
            <a:chOff x="1214414" y="4929198"/>
            <a:chExt cx="2571768" cy="928694"/>
          </a:xfrm>
          <a:solidFill>
            <a:srgbClr val="00FF00"/>
          </a:solidFill>
        </p:grpSpPr>
        <p:sp>
          <p:nvSpPr>
            <p:cNvPr id="42" name="Ellipse 25">
              <a:extLst>
                <a:ext uri="{FF2B5EF4-FFF2-40B4-BE49-F238E27FC236}">
                  <a16:creationId xmlns:a16="http://schemas.microsoft.com/office/drawing/2014/main" id="{D3650659-C82B-7280-2232-FF1349433F22}"/>
                </a:ext>
              </a:extLst>
            </p:cNvPr>
            <p:cNvSpPr/>
            <p:nvPr/>
          </p:nvSpPr>
          <p:spPr bwMode="auto">
            <a:xfrm>
              <a:off x="1214414" y="4929198"/>
              <a:ext cx="2571768" cy="928694"/>
            </a:xfrm>
            <a:prstGeom prst="ellipse">
              <a:avLst/>
            </a:prstGeom>
            <a:grpFill/>
            <a:ln w="9525" cap="flat" cmpd="sng" algn="ctr">
              <a:solidFill>
                <a:schemeClr val="tx1"/>
              </a:solidFill>
              <a:prstDash val="solid"/>
              <a:round/>
              <a:headEnd type="none" w="med" len="med"/>
              <a:tailEnd type="none" w="med" len="med"/>
            </a:ln>
            <a:effectLst/>
          </p:spPr>
          <p:txBody>
            <a:bodyPr/>
            <a:lstStyle/>
            <a:p>
              <a:pPr>
                <a:defRPr/>
              </a:pPr>
              <a:endParaRPr lang="fr-FR" dirty="0"/>
            </a:p>
          </p:txBody>
        </p:sp>
        <p:sp>
          <p:nvSpPr>
            <p:cNvPr id="43" name="ZoneTexte 26">
              <a:extLst>
                <a:ext uri="{FF2B5EF4-FFF2-40B4-BE49-F238E27FC236}">
                  <a16:creationId xmlns:a16="http://schemas.microsoft.com/office/drawing/2014/main" id="{E601677A-CD5A-272C-071D-0FA3E732596F}"/>
                </a:ext>
              </a:extLst>
            </p:cNvPr>
            <p:cNvSpPr txBox="1"/>
            <p:nvPr/>
          </p:nvSpPr>
          <p:spPr>
            <a:xfrm>
              <a:off x="1893076" y="5072074"/>
              <a:ext cx="1393041" cy="578470"/>
            </a:xfrm>
            <a:prstGeom prst="rect">
              <a:avLst/>
            </a:prstGeom>
            <a:grpFill/>
          </p:spPr>
          <p:txBody>
            <a:bodyPr>
              <a:spAutoFit/>
            </a:bodyPr>
            <a:lstStyle/>
            <a:p>
              <a:pPr algn="ctr">
                <a:defRPr/>
              </a:pPr>
              <a:r>
                <a:rPr lang="fr-FR" sz="1800" b="1" dirty="0">
                  <a:latin typeface="Bookman Old Style" panose="02050604050505020204" pitchFamily="18" charset="0"/>
                  <a:cs typeface="Browallia New" pitchFamily="34" charset="-34"/>
                </a:rPr>
                <a:t>Dipôles passifs</a:t>
              </a:r>
            </a:p>
          </p:txBody>
        </p:sp>
      </p:grpSp>
      <p:cxnSp>
        <p:nvCxnSpPr>
          <p:cNvPr id="44" name="Connecteur droit avec flèche 28">
            <a:extLst>
              <a:ext uri="{FF2B5EF4-FFF2-40B4-BE49-F238E27FC236}">
                <a16:creationId xmlns:a16="http://schemas.microsoft.com/office/drawing/2014/main" id="{619A347D-DF01-38AC-2DD1-2B7086018C97}"/>
              </a:ext>
            </a:extLst>
          </p:cNvPr>
          <p:cNvCxnSpPr>
            <a:cxnSpLocks noChangeShapeType="1"/>
            <a:stCxn id="36" idx="2"/>
          </p:cNvCxnSpPr>
          <p:nvPr/>
        </p:nvCxnSpPr>
        <p:spPr bwMode="auto">
          <a:xfrm flipH="1">
            <a:off x="2895600" y="4179094"/>
            <a:ext cx="819150" cy="221456"/>
          </a:xfrm>
          <a:prstGeom prst="straightConnector1">
            <a:avLst/>
          </a:prstGeom>
          <a:noFill/>
          <a:ln w="38100" algn="ctr">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45" name="Connecteur droit avec flèche 29">
            <a:extLst>
              <a:ext uri="{FF2B5EF4-FFF2-40B4-BE49-F238E27FC236}">
                <a16:creationId xmlns:a16="http://schemas.microsoft.com/office/drawing/2014/main" id="{EAD4248D-0B8F-131A-0598-8CE6D019E345}"/>
              </a:ext>
            </a:extLst>
          </p:cNvPr>
          <p:cNvCxnSpPr>
            <a:cxnSpLocks noChangeShapeType="1"/>
            <a:stCxn id="36" idx="6"/>
          </p:cNvCxnSpPr>
          <p:nvPr/>
        </p:nvCxnSpPr>
        <p:spPr bwMode="auto">
          <a:xfrm>
            <a:off x="5429250" y="4179094"/>
            <a:ext cx="895350" cy="159960"/>
          </a:xfrm>
          <a:prstGeom prst="straightConnector1">
            <a:avLst/>
          </a:prstGeom>
          <a:noFill/>
          <a:ln w="38100" algn="ctr">
            <a:solidFill>
              <a:schemeClr val="tx1"/>
            </a:solidFill>
            <a:round/>
            <a:headEnd/>
            <a:tailEnd type="triangle" w="med" len="me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420576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grpSp>
        <p:nvGrpSpPr>
          <p:cNvPr id="11" name="object 11"/>
          <p:cNvGrpSpPr/>
          <p:nvPr/>
        </p:nvGrpSpPr>
        <p:grpSpPr>
          <a:xfrm>
            <a:off x="550646" y="1371598"/>
            <a:ext cx="8330791" cy="664857"/>
            <a:chOff x="695200" y="1293934"/>
            <a:chExt cx="8225156" cy="690246"/>
          </a:xfrm>
        </p:grpSpPr>
        <p:sp>
          <p:nvSpPr>
            <p:cNvPr id="12" name="object 12"/>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13" name="object 13"/>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21</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1" name="TextBox 20">
            <a:extLst>
              <a:ext uri="{FF2B5EF4-FFF2-40B4-BE49-F238E27FC236}">
                <a16:creationId xmlns:a16="http://schemas.microsoft.com/office/drawing/2014/main" id="{A8325E06-8A90-68FD-3276-0A5C372BBE8B}"/>
              </a:ext>
            </a:extLst>
          </p:cNvPr>
          <p:cNvSpPr txBox="1"/>
          <p:nvPr/>
        </p:nvSpPr>
        <p:spPr>
          <a:xfrm>
            <a:off x="584549" y="1371597"/>
            <a:ext cx="8296888" cy="584775"/>
          </a:xfrm>
          <a:prstGeom prst="rect">
            <a:avLst/>
          </a:prstGeom>
          <a:noFill/>
        </p:spPr>
        <p:txBody>
          <a:bodyPr wrap="square">
            <a:spAutoFit/>
          </a:bodyPr>
          <a:lstStyle/>
          <a:p>
            <a:pPr algn="just"/>
            <a:r>
              <a:rPr lang="fr-FR" sz="1600" dirty="0">
                <a:latin typeface="Bookman Old Style" panose="02050604050505020204" pitchFamily="18" charset="0"/>
              </a:rPr>
              <a:t>Les </a:t>
            </a:r>
            <a:r>
              <a:rPr lang="fr-FR" sz="1600" b="1" dirty="0">
                <a:solidFill>
                  <a:srgbClr val="FF0000"/>
                </a:solidFill>
                <a:latin typeface="Bookman Old Style" panose="02050604050505020204" pitchFamily="18" charset="0"/>
              </a:rPr>
              <a:t>dipôles passifs </a:t>
            </a:r>
            <a:r>
              <a:rPr lang="fr-FR" sz="1600" dirty="0">
                <a:latin typeface="Bookman Old Style" panose="02050604050505020204" pitchFamily="18" charset="0"/>
              </a:rPr>
              <a:t>sont des composants électriques qui ne génèrent pas d'énergie, mais qui en consomment ou la dissipent. </a:t>
            </a:r>
          </a:p>
        </p:txBody>
      </p:sp>
      <p:sp>
        <p:nvSpPr>
          <p:cNvPr id="4" name="TextBox 3">
            <a:extLst>
              <a:ext uri="{FF2B5EF4-FFF2-40B4-BE49-F238E27FC236}">
                <a16:creationId xmlns:a16="http://schemas.microsoft.com/office/drawing/2014/main" id="{C02AA1E2-F3B7-B8B9-5366-1482BBD7CB21}"/>
              </a:ext>
            </a:extLst>
          </p:cNvPr>
          <p:cNvSpPr txBox="1"/>
          <p:nvPr/>
        </p:nvSpPr>
        <p:spPr>
          <a:xfrm>
            <a:off x="576301" y="813354"/>
            <a:ext cx="457200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2.2 Dipôles actifs et dipôles passifs</a:t>
            </a:r>
          </a:p>
          <a:p>
            <a:pPr marL="12065" lvl="1">
              <a:lnSpc>
                <a:spcPct val="100000"/>
              </a:lnSpc>
              <a:spcBef>
                <a:spcPts val="100"/>
              </a:spcBef>
              <a:tabLst>
                <a:tab pos="393700" algn="l"/>
              </a:tabLst>
            </a:pPr>
            <a:r>
              <a:rPr lang="fr-FR" sz="1400" b="1" spc="-5" dirty="0">
                <a:solidFill>
                  <a:schemeClr val="accent6">
                    <a:lumMod val="50000"/>
                  </a:schemeClr>
                </a:solidFill>
                <a:latin typeface="Bookman Old Style" panose="02050604050505020204" pitchFamily="18" charset="0"/>
                <a:cs typeface="Arial"/>
              </a:rPr>
              <a:t>      </a:t>
            </a:r>
            <a:r>
              <a:rPr lang="fr-FR" sz="1200" b="1" spc="-5" dirty="0">
                <a:solidFill>
                  <a:schemeClr val="accent6">
                    <a:lumMod val="50000"/>
                  </a:schemeClr>
                </a:solidFill>
                <a:latin typeface="Bookman Old Style" panose="02050604050505020204" pitchFamily="18" charset="0"/>
                <a:cs typeface="Arial"/>
              </a:rPr>
              <a:t>A. Dipôles passifs</a:t>
            </a:r>
          </a:p>
        </p:txBody>
      </p:sp>
      <p:sp>
        <p:nvSpPr>
          <p:cNvPr id="25" name="TextBox 24">
            <a:extLst>
              <a:ext uri="{FF2B5EF4-FFF2-40B4-BE49-F238E27FC236}">
                <a16:creationId xmlns:a16="http://schemas.microsoft.com/office/drawing/2014/main" id="{3A74E561-D449-93F1-AD2E-282CA8832D61}"/>
              </a:ext>
            </a:extLst>
          </p:cNvPr>
          <p:cNvSpPr txBox="1"/>
          <p:nvPr/>
        </p:nvSpPr>
        <p:spPr>
          <a:xfrm>
            <a:off x="586646" y="2100616"/>
            <a:ext cx="8296888" cy="738664"/>
          </a:xfrm>
          <a:prstGeom prst="rect">
            <a:avLst/>
          </a:prstGeom>
          <a:noFill/>
        </p:spPr>
        <p:txBody>
          <a:bodyPr wrap="square">
            <a:spAutoFit/>
          </a:bodyPr>
          <a:lstStyle/>
          <a:p>
            <a:pPr marL="285750" indent="-285750" algn="just">
              <a:buFont typeface="Wingdings" panose="05000000000000000000" pitchFamily="2" charset="2"/>
              <a:buChar char="q"/>
            </a:pPr>
            <a:r>
              <a:rPr lang="fr-FR" altLang="fr-FR" sz="1400" dirty="0">
                <a:latin typeface="Bookman Old Style" panose="02050604050505020204" pitchFamily="18" charset="0"/>
                <a:cs typeface="Browallia New" panose="020B0604020202020204" pitchFamily="34" charset="-34"/>
              </a:rPr>
              <a:t>Si on branche ensemble deux dipôles identiques et </a:t>
            </a:r>
            <a:r>
              <a:rPr lang="fr-FR" altLang="fr-FR" sz="1400" b="1" dirty="0">
                <a:solidFill>
                  <a:srgbClr val="0000FF"/>
                </a:solidFill>
                <a:latin typeface="Bookman Old Style" panose="02050604050505020204" pitchFamily="18" charset="0"/>
                <a:cs typeface="Browallia New" panose="020B0604020202020204" pitchFamily="34" charset="-34"/>
              </a:rPr>
              <a:t>qu'aucun courant permanent</a:t>
            </a:r>
            <a:r>
              <a:rPr lang="fr-FR" altLang="fr-FR" sz="1400" dirty="0">
                <a:latin typeface="Bookman Old Style" panose="02050604050505020204" pitchFamily="18" charset="0"/>
                <a:cs typeface="Browallia New" panose="020B0604020202020204" pitchFamily="34" charset="-34"/>
              </a:rPr>
              <a:t> </a:t>
            </a:r>
            <a:r>
              <a:rPr lang="fr-FR" altLang="fr-FR" sz="1400" b="1" dirty="0">
                <a:latin typeface="Bookman Old Style" panose="02050604050505020204" pitchFamily="18" charset="0"/>
                <a:cs typeface="Browallia New" panose="020B0604020202020204" pitchFamily="34" charset="-34"/>
              </a:rPr>
              <a:t>ne passe</a:t>
            </a:r>
            <a:r>
              <a:rPr lang="fr-FR" altLang="fr-FR" sz="1400" b="1" dirty="0">
                <a:solidFill>
                  <a:srgbClr val="FF0000"/>
                </a:solidFill>
                <a:latin typeface="Bookman Old Style" panose="02050604050505020204" pitchFamily="18" charset="0"/>
                <a:cs typeface="Browallia New" panose="020B0604020202020204" pitchFamily="34" charset="-34"/>
              </a:rPr>
              <a:t> </a:t>
            </a:r>
            <a:r>
              <a:rPr lang="fr-FR" altLang="fr-FR" sz="1400" dirty="0">
                <a:latin typeface="Bookman Old Style" panose="02050604050505020204" pitchFamily="18" charset="0"/>
                <a:cs typeface="Browallia New" panose="020B0604020202020204" pitchFamily="34" charset="-34"/>
              </a:rPr>
              <a:t>entre les deux dipôles, quel que soit le sens du branchement, ces dipôles sont </a:t>
            </a:r>
            <a:r>
              <a:rPr lang="fr-FR" altLang="fr-FR" sz="1400" b="1" dirty="0">
                <a:solidFill>
                  <a:srgbClr val="0000FF"/>
                </a:solidFill>
                <a:latin typeface="Bookman Old Style" panose="02050604050505020204" pitchFamily="18" charset="0"/>
                <a:cs typeface="Browallia New" panose="020B0604020202020204" pitchFamily="34" charset="-34"/>
              </a:rPr>
              <a:t>passifs</a:t>
            </a:r>
          </a:p>
        </p:txBody>
      </p:sp>
      <p:sp>
        <p:nvSpPr>
          <p:cNvPr id="28" name="ZoneTexte 15">
            <a:extLst>
              <a:ext uri="{FF2B5EF4-FFF2-40B4-BE49-F238E27FC236}">
                <a16:creationId xmlns:a16="http://schemas.microsoft.com/office/drawing/2014/main" id="{6E9C7556-394F-D724-5C40-E362A7EBC663}"/>
              </a:ext>
            </a:extLst>
          </p:cNvPr>
          <p:cNvSpPr txBox="1">
            <a:spLocks noChangeArrowheads="1"/>
          </p:cNvSpPr>
          <p:nvPr/>
        </p:nvSpPr>
        <p:spPr bwMode="auto">
          <a:xfrm>
            <a:off x="1066800" y="2829635"/>
            <a:ext cx="6500813" cy="30777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just"/>
            <a:r>
              <a:rPr lang="fr-FR" altLang="fr-FR" sz="1400" b="1" dirty="0">
                <a:solidFill>
                  <a:srgbClr val="00B050"/>
                </a:solidFill>
                <a:latin typeface="Bookman Old Style" panose="02050604050505020204" pitchFamily="18" charset="0"/>
                <a:cs typeface="Browallia New" panose="020B0604020202020204" pitchFamily="34" charset="-34"/>
              </a:rPr>
              <a:t>Exemples : </a:t>
            </a:r>
            <a:r>
              <a:rPr lang="fr-FR" altLang="fr-FR" sz="1400" dirty="0">
                <a:latin typeface="Bookman Old Style" panose="02050604050505020204" pitchFamily="18" charset="0"/>
                <a:cs typeface="Browallia New" panose="020B0604020202020204" pitchFamily="34" charset="-34"/>
              </a:rPr>
              <a:t>Résistances, condensateurs ….</a:t>
            </a:r>
          </a:p>
        </p:txBody>
      </p:sp>
      <p:grpSp>
        <p:nvGrpSpPr>
          <p:cNvPr id="30" name="object 11">
            <a:extLst>
              <a:ext uri="{FF2B5EF4-FFF2-40B4-BE49-F238E27FC236}">
                <a16:creationId xmlns:a16="http://schemas.microsoft.com/office/drawing/2014/main" id="{1B3F4460-53AD-D377-B272-E7ADB8E74763}"/>
              </a:ext>
            </a:extLst>
          </p:cNvPr>
          <p:cNvGrpSpPr/>
          <p:nvPr/>
        </p:nvGrpSpPr>
        <p:grpSpPr>
          <a:xfrm>
            <a:off x="550645" y="3409806"/>
            <a:ext cx="8330792" cy="821050"/>
            <a:chOff x="695200" y="1293934"/>
            <a:chExt cx="8225156" cy="690246"/>
          </a:xfrm>
        </p:grpSpPr>
        <p:sp>
          <p:nvSpPr>
            <p:cNvPr id="33" name="object 12">
              <a:extLst>
                <a:ext uri="{FF2B5EF4-FFF2-40B4-BE49-F238E27FC236}">
                  <a16:creationId xmlns:a16="http://schemas.microsoft.com/office/drawing/2014/main" id="{EC8A619A-1424-DD7C-477E-F292710DC620}"/>
                </a:ext>
              </a:extLst>
            </p:cNvPr>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47" name="object 13">
              <a:extLst>
                <a:ext uri="{FF2B5EF4-FFF2-40B4-BE49-F238E27FC236}">
                  <a16:creationId xmlns:a16="http://schemas.microsoft.com/office/drawing/2014/main" id="{19523CD0-338B-924C-3794-2D8D3B4AAE81}"/>
                </a:ext>
              </a:extLst>
            </p:cNvPr>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48" name="TextBox 47">
            <a:extLst>
              <a:ext uri="{FF2B5EF4-FFF2-40B4-BE49-F238E27FC236}">
                <a16:creationId xmlns:a16="http://schemas.microsoft.com/office/drawing/2014/main" id="{3E240546-A271-41BC-D013-8FA89A800094}"/>
              </a:ext>
            </a:extLst>
          </p:cNvPr>
          <p:cNvSpPr txBox="1"/>
          <p:nvPr/>
        </p:nvSpPr>
        <p:spPr>
          <a:xfrm>
            <a:off x="584548" y="3501919"/>
            <a:ext cx="8296888" cy="615553"/>
          </a:xfrm>
          <a:prstGeom prst="rect">
            <a:avLst/>
          </a:prstGeom>
          <a:noFill/>
        </p:spPr>
        <p:txBody>
          <a:bodyPr wrap="square">
            <a:spAutoFit/>
          </a:bodyPr>
          <a:lstStyle/>
          <a:p>
            <a:pPr algn="just"/>
            <a:r>
              <a:rPr lang="fr-FR" sz="1600" dirty="0">
                <a:latin typeface="Bookman Old Style" panose="02050604050505020204" pitchFamily="18" charset="0"/>
              </a:rPr>
              <a:t>Les </a:t>
            </a:r>
            <a:r>
              <a:rPr lang="fr-FR" sz="1600" b="1" dirty="0">
                <a:solidFill>
                  <a:srgbClr val="FF0000"/>
                </a:solidFill>
                <a:latin typeface="Bookman Old Style" panose="02050604050505020204" pitchFamily="18" charset="0"/>
              </a:rPr>
              <a:t>dipôles actifs </a:t>
            </a:r>
            <a:r>
              <a:rPr lang="fr-FR" sz="1600" dirty="0">
                <a:latin typeface="Bookman Old Style" panose="02050604050505020204" pitchFamily="18" charset="0"/>
              </a:rPr>
              <a:t>sont des composants électriques qui peuvent produire ou amplifier de l'énergie. Ils nécessitent une source d'alimentation externe</a:t>
            </a:r>
            <a:r>
              <a:rPr lang="fr-FR" dirty="0">
                <a:latin typeface="Bookman Old Style" panose="02050604050505020204" pitchFamily="18" charset="0"/>
              </a:rPr>
              <a:t>.</a:t>
            </a:r>
          </a:p>
        </p:txBody>
      </p:sp>
      <p:sp>
        <p:nvSpPr>
          <p:cNvPr id="50" name="TextBox 49">
            <a:extLst>
              <a:ext uri="{FF2B5EF4-FFF2-40B4-BE49-F238E27FC236}">
                <a16:creationId xmlns:a16="http://schemas.microsoft.com/office/drawing/2014/main" id="{D71DCDC1-C570-EA45-6C67-1FB1ECEF471E}"/>
              </a:ext>
            </a:extLst>
          </p:cNvPr>
          <p:cNvSpPr txBox="1"/>
          <p:nvPr/>
        </p:nvSpPr>
        <p:spPr>
          <a:xfrm>
            <a:off x="838200" y="3111579"/>
            <a:ext cx="4588778" cy="276999"/>
          </a:xfrm>
          <a:prstGeom prst="rect">
            <a:avLst/>
          </a:prstGeom>
          <a:noFill/>
        </p:spPr>
        <p:txBody>
          <a:bodyPr wrap="square">
            <a:spAutoFit/>
          </a:bodyPr>
          <a:lstStyle/>
          <a:p>
            <a:r>
              <a:rPr lang="fr-FR" sz="1200" b="1" spc="-5" dirty="0">
                <a:solidFill>
                  <a:schemeClr val="accent6">
                    <a:lumMod val="50000"/>
                  </a:schemeClr>
                </a:solidFill>
                <a:latin typeface="Bookman Old Style" panose="02050604050505020204" pitchFamily="18" charset="0"/>
                <a:cs typeface="Arial"/>
              </a:rPr>
              <a:t> A. Dipôles actifs</a:t>
            </a:r>
            <a:endParaRPr lang="fr-FR" sz="1200" dirty="0">
              <a:solidFill>
                <a:schemeClr val="accent6">
                  <a:lumMod val="50000"/>
                </a:schemeClr>
              </a:solidFill>
            </a:endParaRPr>
          </a:p>
        </p:txBody>
      </p:sp>
      <p:sp>
        <p:nvSpPr>
          <p:cNvPr id="52" name="TextBox 51">
            <a:extLst>
              <a:ext uri="{FF2B5EF4-FFF2-40B4-BE49-F238E27FC236}">
                <a16:creationId xmlns:a16="http://schemas.microsoft.com/office/drawing/2014/main" id="{2CB5F830-9860-4AA3-4C58-4F6AA06BDDAF}"/>
              </a:ext>
            </a:extLst>
          </p:cNvPr>
          <p:cNvSpPr txBox="1"/>
          <p:nvPr/>
        </p:nvSpPr>
        <p:spPr>
          <a:xfrm>
            <a:off x="576300" y="4281309"/>
            <a:ext cx="8262899" cy="523220"/>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Browallia New" panose="020B0604020202020204" pitchFamily="34" charset="-34"/>
              </a:defRPr>
            </a:lvl1pPr>
          </a:lstStyle>
          <a:p>
            <a:r>
              <a:rPr lang="fr-FR" altLang="fr-FR" dirty="0"/>
              <a:t>Si on branche un dipôle sur une résistance et </a:t>
            </a:r>
            <a:r>
              <a:rPr lang="fr-FR" altLang="fr-FR" b="1" dirty="0">
                <a:solidFill>
                  <a:srgbClr val="0000FF"/>
                </a:solidFill>
              </a:rPr>
              <a:t>qu'un courant permanent circule</a:t>
            </a:r>
            <a:r>
              <a:rPr lang="fr-FR" altLang="fr-FR" dirty="0"/>
              <a:t>, alors ce dipôle est </a:t>
            </a:r>
            <a:r>
              <a:rPr lang="fr-FR" altLang="fr-FR" b="1" dirty="0">
                <a:solidFill>
                  <a:srgbClr val="0000FF"/>
                </a:solidFill>
              </a:rPr>
              <a:t>actif</a:t>
            </a:r>
          </a:p>
        </p:txBody>
      </p:sp>
      <p:sp>
        <p:nvSpPr>
          <p:cNvPr id="53" name="ZoneTexte 15">
            <a:extLst>
              <a:ext uri="{FF2B5EF4-FFF2-40B4-BE49-F238E27FC236}">
                <a16:creationId xmlns:a16="http://schemas.microsoft.com/office/drawing/2014/main" id="{2D2A3F72-3B2F-9F1E-D7C0-2770C37BE69D}"/>
              </a:ext>
            </a:extLst>
          </p:cNvPr>
          <p:cNvSpPr txBox="1">
            <a:spLocks noChangeArrowheads="1"/>
          </p:cNvSpPr>
          <p:nvPr/>
        </p:nvSpPr>
        <p:spPr bwMode="auto">
          <a:xfrm>
            <a:off x="1066800" y="4755072"/>
            <a:ext cx="6500813" cy="30777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just"/>
            <a:r>
              <a:rPr lang="fr-FR" altLang="fr-FR" sz="1400" b="1" dirty="0">
                <a:solidFill>
                  <a:srgbClr val="00B050"/>
                </a:solidFill>
                <a:latin typeface="Bookman Old Style" panose="02050604050505020204" pitchFamily="18" charset="0"/>
                <a:cs typeface="Browallia New" panose="020B0604020202020204" pitchFamily="34" charset="-34"/>
              </a:rPr>
              <a:t>Exemples : </a:t>
            </a:r>
            <a:r>
              <a:rPr lang="fr-FR" altLang="fr-FR" sz="1400" dirty="0">
                <a:latin typeface="Bookman Old Style" panose="02050604050505020204" pitchFamily="18" charset="0"/>
                <a:cs typeface="Browallia New" panose="020B0604020202020204" pitchFamily="34" charset="-34"/>
              </a:rPr>
              <a:t>Piles, Accumulateurs, Transistor ….</a:t>
            </a:r>
          </a:p>
        </p:txBody>
      </p:sp>
    </p:spTree>
    <p:extLst>
      <p:ext uri="{BB962C8B-B14F-4D97-AF65-F5344CB8AC3E}">
        <p14:creationId xmlns:p14="http://schemas.microsoft.com/office/powerpoint/2010/main" val="2158512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3"/>
                                        </p:tgtEl>
                                        <p:attrNameLst>
                                          <p:attrName>style.visibility</p:attrName>
                                        </p:attrNameLst>
                                      </p:cBhvr>
                                      <p:to>
                                        <p:strVal val="visible"/>
                                      </p:to>
                                    </p:set>
                                    <p:anim calcmode="lin" valueType="num">
                                      <p:cBhvr additive="base">
                                        <p:cTn id="11" dur="500" fill="hold"/>
                                        <p:tgtEl>
                                          <p:spTgt spid="53"/>
                                        </p:tgtEl>
                                        <p:attrNameLst>
                                          <p:attrName>ppt_x</p:attrName>
                                        </p:attrNameLst>
                                      </p:cBhvr>
                                      <p:tavLst>
                                        <p:tav tm="0">
                                          <p:val>
                                            <p:strVal val="#ppt_x"/>
                                          </p:val>
                                        </p:tav>
                                        <p:tav tm="100000">
                                          <p:val>
                                            <p:strVal val="#ppt_x"/>
                                          </p:val>
                                        </p:tav>
                                      </p:tavLst>
                                    </p:anim>
                                    <p:anim calcmode="lin" valueType="num">
                                      <p:cBhvr additive="base">
                                        <p:cTn id="12" dur="500" fill="hold"/>
                                        <p:tgtEl>
                                          <p:spTgt spid="53"/>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0"/>
                                        </p:tgtEl>
                                        <p:attrNameLst>
                                          <p:attrName>style.visibility</p:attrName>
                                        </p:attrNameLst>
                                      </p:cBhvr>
                                      <p:to>
                                        <p:strVal val="visible"/>
                                      </p:to>
                                    </p:set>
                                    <p:anim calcmode="lin" valueType="num">
                                      <p:cBhvr additive="base">
                                        <p:cTn id="15" dur="500" fill="hold"/>
                                        <p:tgtEl>
                                          <p:spTgt spid="50"/>
                                        </p:tgtEl>
                                        <p:attrNameLst>
                                          <p:attrName>ppt_x</p:attrName>
                                        </p:attrNameLst>
                                      </p:cBhvr>
                                      <p:tavLst>
                                        <p:tav tm="0">
                                          <p:val>
                                            <p:strVal val="#ppt_x"/>
                                          </p:val>
                                        </p:tav>
                                        <p:tav tm="100000">
                                          <p:val>
                                            <p:strVal val="#ppt_x"/>
                                          </p:val>
                                        </p:tav>
                                      </p:tavLst>
                                    </p:anim>
                                    <p:anim calcmode="lin" valueType="num">
                                      <p:cBhvr additive="base">
                                        <p:cTn id="16" dur="500" fill="hold"/>
                                        <p:tgtEl>
                                          <p:spTgt spid="50"/>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anim calcmode="lin" valueType="num">
                                      <p:cBhvr additive="base">
                                        <p:cTn id="19" dur="500" fill="hold"/>
                                        <p:tgtEl>
                                          <p:spTgt spid="30"/>
                                        </p:tgtEl>
                                        <p:attrNameLst>
                                          <p:attrName>ppt_x</p:attrName>
                                        </p:attrNameLst>
                                      </p:cBhvr>
                                      <p:tavLst>
                                        <p:tav tm="0">
                                          <p:val>
                                            <p:strVal val="#ppt_x"/>
                                          </p:val>
                                        </p:tav>
                                        <p:tav tm="100000">
                                          <p:val>
                                            <p:strVal val="#ppt_x"/>
                                          </p:val>
                                        </p:tav>
                                      </p:tavLst>
                                    </p:anim>
                                    <p:anim calcmode="lin" valueType="num">
                                      <p:cBhvr additive="base">
                                        <p:cTn id="20" dur="500" fill="hold"/>
                                        <p:tgtEl>
                                          <p:spTgt spid="30"/>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anim calcmode="lin" valueType="num">
                                      <p:cBhvr additive="base">
                                        <p:cTn id="23" dur="500" fill="hold"/>
                                        <p:tgtEl>
                                          <p:spTgt spid="48"/>
                                        </p:tgtEl>
                                        <p:attrNameLst>
                                          <p:attrName>ppt_x</p:attrName>
                                        </p:attrNameLst>
                                      </p:cBhvr>
                                      <p:tavLst>
                                        <p:tav tm="0">
                                          <p:val>
                                            <p:strVal val="#ppt_x"/>
                                          </p:val>
                                        </p:tav>
                                        <p:tav tm="100000">
                                          <p:val>
                                            <p:strVal val="#ppt_x"/>
                                          </p:val>
                                        </p:tav>
                                      </p:tavLst>
                                    </p:anim>
                                    <p:anim calcmode="lin" valueType="num">
                                      <p:cBhvr additive="base">
                                        <p:cTn id="24" dur="500" fill="hold"/>
                                        <p:tgtEl>
                                          <p:spTgt spid="48"/>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52"/>
                                        </p:tgtEl>
                                        <p:attrNameLst>
                                          <p:attrName>style.visibility</p:attrName>
                                        </p:attrNameLst>
                                      </p:cBhvr>
                                      <p:to>
                                        <p:strVal val="visible"/>
                                      </p:to>
                                    </p:set>
                                    <p:anim calcmode="lin" valueType="num">
                                      <p:cBhvr additive="base">
                                        <p:cTn id="27" dur="500" fill="hold"/>
                                        <p:tgtEl>
                                          <p:spTgt spid="52"/>
                                        </p:tgtEl>
                                        <p:attrNameLst>
                                          <p:attrName>ppt_x</p:attrName>
                                        </p:attrNameLst>
                                      </p:cBhvr>
                                      <p:tavLst>
                                        <p:tav tm="0">
                                          <p:val>
                                            <p:strVal val="#ppt_x"/>
                                          </p:val>
                                        </p:tav>
                                        <p:tav tm="100000">
                                          <p:val>
                                            <p:strVal val="#ppt_x"/>
                                          </p:val>
                                        </p:tav>
                                      </p:tavLst>
                                    </p:anim>
                                    <p:anim calcmode="lin" valueType="num">
                                      <p:cBhvr additive="base">
                                        <p:cTn id="28" dur="500" fill="hold"/>
                                        <p:tgtEl>
                                          <p:spTgt spid="5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48" grpId="0"/>
      <p:bldP spid="50" grpId="0"/>
      <p:bldP spid="52" grpId="0"/>
      <p:bldP spid="53"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grpSp>
        <p:nvGrpSpPr>
          <p:cNvPr id="11" name="object 11"/>
          <p:cNvGrpSpPr/>
          <p:nvPr/>
        </p:nvGrpSpPr>
        <p:grpSpPr>
          <a:xfrm>
            <a:off x="560505" y="1181351"/>
            <a:ext cx="8330791" cy="664857"/>
            <a:chOff x="695200" y="1293934"/>
            <a:chExt cx="8225156" cy="690246"/>
          </a:xfrm>
        </p:grpSpPr>
        <p:sp>
          <p:nvSpPr>
            <p:cNvPr id="12" name="object 12"/>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13" name="object 13"/>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22</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21" name="TextBox 20">
            <a:extLst>
              <a:ext uri="{FF2B5EF4-FFF2-40B4-BE49-F238E27FC236}">
                <a16:creationId xmlns:a16="http://schemas.microsoft.com/office/drawing/2014/main" id="{A8325E06-8A90-68FD-3276-0A5C372BBE8B}"/>
              </a:ext>
            </a:extLst>
          </p:cNvPr>
          <p:cNvSpPr txBox="1"/>
          <p:nvPr/>
        </p:nvSpPr>
        <p:spPr>
          <a:xfrm>
            <a:off x="594408" y="1181350"/>
            <a:ext cx="8296888" cy="584775"/>
          </a:xfrm>
          <a:prstGeom prst="rect">
            <a:avLst/>
          </a:prstGeom>
          <a:noFill/>
        </p:spPr>
        <p:txBody>
          <a:bodyPr wrap="square">
            <a:spAutoFit/>
          </a:bodyPr>
          <a:lstStyle/>
          <a:p>
            <a:pPr algn="just"/>
            <a:r>
              <a:rPr lang="fr-FR" sz="1600" dirty="0">
                <a:latin typeface="Bookman Old Style" panose="02050604050505020204" pitchFamily="18" charset="0"/>
              </a:rPr>
              <a:t>La </a:t>
            </a:r>
            <a:r>
              <a:rPr lang="fr-FR" sz="1600" b="1" dirty="0">
                <a:solidFill>
                  <a:srgbClr val="FF0000"/>
                </a:solidFill>
                <a:latin typeface="Bookman Old Style" panose="02050604050505020204" pitchFamily="18" charset="0"/>
              </a:rPr>
              <a:t>loi d'Ohm </a:t>
            </a:r>
            <a:r>
              <a:rPr lang="fr-FR" sz="1600" dirty="0">
                <a:latin typeface="Bookman Old Style" panose="02050604050505020204" pitchFamily="18" charset="0"/>
              </a:rPr>
              <a:t>dit que la tension</a:t>
            </a:r>
            <a:r>
              <a:rPr lang="fr-FR" sz="1600" b="1" dirty="0">
                <a:latin typeface="Bookman Old Style" panose="02050604050505020204" pitchFamily="18" charset="0"/>
              </a:rPr>
              <a:t> (V) </a:t>
            </a:r>
            <a:r>
              <a:rPr lang="fr-FR" sz="1600" dirty="0">
                <a:latin typeface="Bookman Old Style" panose="02050604050505020204" pitchFamily="18" charset="0"/>
              </a:rPr>
              <a:t>appliquée entre deux points d'un conducteur, </a:t>
            </a:r>
            <a:r>
              <a:rPr lang="fr-FR" sz="1600" b="1" dirty="0">
                <a:latin typeface="Bookman Old Style" panose="02050604050505020204" pitchFamily="18" charset="0"/>
              </a:rPr>
              <a:t>A</a:t>
            </a:r>
            <a:r>
              <a:rPr lang="fr-FR" sz="1600" dirty="0">
                <a:latin typeface="Bookman Old Style" panose="02050604050505020204" pitchFamily="18" charset="0"/>
              </a:rPr>
              <a:t> et </a:t>
            </a:r>
            <a:r>
              <a:rPr lang="fr-FR" sz="1600" b="1" dirty="0">
                <a:latin typeface="Bookman Old Style" panose="02050604050505020204" pitchFamily="18" charset="0"/>
              </a:rPr>
              <a:t>B</a:t>
            </a:r>
            <a:r>
              <a:rPr lang="fr-FR" sz="1600" dirty="0">
                <a:latin typeface="Bookman Old Style" panose="02050604050505020204" pitchFamily="18" charset="0"/>
              </a:rPr>
              <a:t>, est </a:t>
            </a:r>
            <a:r>
              <a:rPr lang="fr-FR" sz="1600" b="1" dirty="0">
                <a:latin typeface="Bookman Old Style" panose="02050604050505020204" pitchFamily="18" charset="0"/>
              </a:rPr>
              <a:t>proportionnelle</a:t>
            </a:r>
            <a:r>
              <a:rPr lang="fr-FR" sz="1600" dirty="0">
                <a:latin typeface="Bookman Old Style" panose="02050604050505020204" pitchFamily="18" charset="0"/>
              </a:rPr>
              <a:t> au courant </a:t>
            </a:r>
            <a:r>
              <a:rPr lang="fr-FR" sz="1600" b="1" dirty="0">
                <a:latin typeface="Bookman Old Style" panose="02050604050505020204" pitchFamily="18" charset="0"/>
              </a:rPr>
              <a:t>(I) </a:t>
            </a:r>
            <a:r>
              <a:rPr lang="fr-FR" sz="1600" dirty="0">
                <a:latin typeface="Bookman Old Style" panose="02050604050505020204" pitchFamily="18" charset="0"/>
              </a:rPr>
              <a:t>qui le traverse.</a:t>
            </a:r>
          </a:p>
        </p:txBody>
      </p:sp>
      <p:sp>
        <p:nvSpPr>
          <p:cNvPr id="4" name="TextBox 3">
            <a:extLst>
              <a:ext uri="{FF2B5EF4-FFF2-40B4-BE49-F238E27FC236}">
                <a16:creationId xmlns:a16="http://schemas.microsoft.com/office/drawing/2014/main" id="{C02AA1E2-F3B7-B8B9-5366-1482BBD7CB21}"/>
              </a:ext>
            </a:extLst>
          </p:cNvPr>
          <p:cNvSpPr txBox="1"/>
          <p:nvPr/>
        </p:nvSpPr>
        <p:spPr>
          <a:xfrm>
            <a:off x="576301" y="813354"/>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2.3 </a:t>
            </a:r>
            <a:r>
              <a:rPr lang="fr-FR" altLang="fr-FR" sz="1400" b="1" spc="-5" dirty="0">
                <a:solidFill>
                  <a:srgbClr val="CC00CC"/>
                </a:solidFill>
                <a:latin typeface="Bookman Old Style" panose="02050604050505020204" pitchFamily="18" charset="0"/>
                <a:cs typeface="Arial"/>
              </a:rPr>
              <a:t>Loi d’Ohm </a:t>
            </a:r>
            <a:endParaRPr lang="fr-FR" sz="1400" b="1" spc="-5" dirty="0">
              <a:solidFill>
                <a:srgbClr val="CC00CC"/>
              </a:solidFill>
              <a:latin typeface="Bookman Old Style" panose="02050604050505020204" pitchFamily="18" charset="0"/>
              <a:cs typeface="Arial"/>
            </a:endParaRPr>
          </a:p>
        </p:txBody>
      </p:sp>
      <p:sp>
        <p:nvSpPr>
          <p:cNvPr id="25" name="TextBox 24">
            <a:extLst>
              <a:ext uri="{FF2B5EF4-FFF2-40B4-BE49-F238E27FC236}">
                <a16:creationId xmlns:a16="http://schemas.microsoft.com/office/drawing/2014/main" id="{3A74E561-D449-93F1-AD2E-282CA8832D61}"/>
              </a:ext>
            </a:extLst>
          </p:cNvPr>
          <p:cNvSpPr txBox="1"/>
          <p:nvPr/>
        </p:nvSpPr>
        <p:spPr>
          <a:xfrm>
            <a:off x="550646" y="2635214"/>
            <a:ext cx="8296888" cy="523220"/>
          </a:xfrm>
          <a:prstGeom prst="rect">
            <a:avLst/>
          </a:prstGeom>
          <a:noFill/>
        </p:spPr>
        <p:txBody>
          <a:bodyPr wrap="square">
            <a:spAutoFit/>
          </a:bodyPr>
          <a:lstStyle/>
          <a:p>
            <a:pPr marL="285750" indent="-285750" algn="just">
              <a:buFont typeface="Wingdings" panose="05000000000000000000" pitchFamily="2" charset="2"/>
              <a:buChar char="q"/>
            </a:pPr>
            <a:r>
              <a:rPr lang="fr-FR" altLang="fr-FR" sz="1400" dirty="0">
                <a:latin typeface="Bookman Old Style" panose="02050604050505020204" pitchFamily="18" charset="0"/>
                <a:cs typeface="Browallia New" panose="020B0604020202020204" pitchFamily="34" charset="-34"/>
              </a:rPr>
              <a:t>Le rapport, entre la </a:t>
            </a:r>
            <a:r>
              <a:rPr lang="fr-FR" altLang="fr-FR" sz="1400" b="1" dirty="0">
                <a:latin typeface="Bookman Old Style" panose="02050604050505020204" pitchFamily="18" charset="0"/>
                <a:cs typeface="Browallia New" panose="020B0604020202020204" pitchFamily="34" charset="-34"/>
              </a:rPr>
              <a:t>différence de potentiel (V)</a:t>
            </a:r>
            <a:r>
              <a:rPr lang="fr-FR" altLang="fr-FR" sz="1400" dirty="0">
                <a:latin typeface="Bookman Old Style" panose="02050604050505020204" pitchFamily="18" charset="0"/>
                <a:cs typeface="Browallia New" panose="020B0604020202020204" pitchFamily="34" charset="-34"/>
              </a:rPr>
              <a:t> aux extrémités d’un conducteur et le </a:t>
            </a:r>
            <a:r>
              <a:rPr lang="fr-FR" altLang="fr-FR" sz="1400" b="1" dirty="0">
                <a:latin typeface="Bookman Old Style" panose="02050604050505020204" pitchFamily="18" charset="0"/>
                <a:cs typeface="Browallia New" panose="020B0604020202020204" pitchFamily="34" charset="-34"/>
              </a:rPr>
              <a:t>courant</a:t>
            </a:r>
            <a:r>
              <a:rPr lang="fr-FR" altLang="fr-FR" sz="1400" dirty="0">
                <a:latin typeface="Bookman Old Style" panose="02050604050505020204" pitchFamily="18" charset="0"/>
                <a:cs typeface="Browallia New" panose="020B0604020202020204" pitchFamily="34" charset="-34"/>
              </a:rPr>
              <a:t> </a:t>
            </a:r>
            <a:r>
              <a:rPr lang="fr-FR" altLang="fr-FR" sz="1400" b="1" dirty="0">
                <a:latin typeface="Bookman Old Style" panose="02050604050505020204" pitchFamily="18" charset="0"/>
                <a:cs typeface="Browallia New" panose="020B0604020202020204" pitchFamily="34" charset="-34"/>
              </a:rPr>
              <a:t>(I) </a:t>
            </a:r>
            <a:r>
              <a:rPr lang="fr-FR" altLang="fr-FR" sz="1400" dirty="0">
                <a:latin typeface="Bookman Old Style" panose="02050604050505020204" pitchFamily="18" charset="0"/>
                <a:cs typeface="Browallia New" panose="020B0604020202020204" pitchFamily="34" charset="-34"/>
              </a:rPr>
              <a:t>qui le traverse, est </a:t>
            </a:r>
            <a:r>
              <a:rPr lang="fr-FR" altLang="fr-FR" sz="1400" b="1" dirty="0">
                <a:solidFill>
                  <a:srgbClr val="0000FF"/>
                </a:solidFill>
                <a:latin typeface="Bookman Old Style" panose="02050604050505020204" pitchFamily="18" charset="0"/>
                <a:cs typeface="Browallia New" panose="020B0604020202020204" pitchFamily="34" charset="-34"/>
              </a:rPr>
              <a:t>constant</a:t>
            </a:r>
            <a:r>
              <a:rPr lang="fr-FR" altLang="fr-FR" sz="1400" dirty="0">
                <a:latin typeface="Bookman Old Style" panose="02050604050505020204" pitchFamily="18" charset="0"/>
                <a:cs typeface="Browallia New" panose="020B0604020202020204" pitchFamily="34" charset="-34"/>
              </a:rPr>
              <a:t>.</a:t>
            </a:r>
            <a:endParaRPr lang="fr-FR" altLang="fr-FR" sz="1400" b="1" dirty="0">
              <a:solidFill>
                <a:srgbClr val="0000FF"/>
              </a:solidFill>
              <a:latin typeface="Bookman Old Style" panose="02050604050505020204" pitchFamily="18" charset="0"/>
              <a:cs typeface="Browallia New" panose="020B0604020202020204" pitchFamily="34" charset="-34"/>
            </a:endParaRPr>
          </a:p>
        </p:txBody>
      </p:sp>
      <p:sp>
        <p:nvSpPr>
          <p:cNvPr id="3" name="object 15">
            <a:extLst>
              <a:ext uri="{FF2B5EF4-FFF2-40B4-BE49-F238E27FC236}">
                <a16:creationId xmlns:a16="http://schemas.microsoft.com/office/drawing/2014/main" id="{0E8E9885-E66D-05CB-2B52-01F65C23B02D}"/>
              </a:ext>
            </a:extLst>
          </p:cNvPr>
          <p:cNvSpPr txBox="1"/>
          <p:nvPr/>
        </p:nvSpPr>
        <p:spPr>
          <a:xfrm>
            <a:off x="2848576" y="2084922"/>
            <a:ext cx="1247140" cy="399415"/>
          </a:xfrm>
          <a:prstGeom prst="rect">
            <a:avLst/>
          </a:prstGeom>
          <a:noFill/>
          <a:ln w="38100">
            <a:noFill/>
          </a:ln>
        </p:spPr>
        <p:txBody>
          <a:bodyPr vert="horz" wrap="square" lIns="0" tIns="59690" rIns="0" bIns="0" rtlCol="0">
            <a:spAutoFit/>
          </a:bodyPr>
          <a:lstStyle/>
          <a:p>
            <a:pPr marL="143510">
              <a:lnSpc>
                <a:spcPct val="100000"/>
              </a:lnSpc>
              <a:spcBef>
                <a:spcPts val="470"/>
              </a:spcBef>
            </a:pPr>
            <a:r>
              <a:rPr sz="2200" b="1" dirty="0">
                <a:solidFill>
                  <a:srgbClr val="FF0000"/>
                </a:solidFill>
                <a:latin typeface="Bookman Old Style" panose="02050604050505020204" pitchFamily="18" charset="0"/>
                <a:cs typeface="Times New Roman"/>
              </a:rPr>
              <a:t>V</a:t>
            </a:r>
            <a:r>
              <a:rPr sz="2200" b="1" spc="85" dirty="0">
                <a:solidFill>
                  <a:srgbClr val="FF0000"/>
                </a:solidFill>
                <a:latin typeface="Bookman Old Style" panose="02050604050505020204" pitchFamily="18" charset="0"/>
                <a:cs typeface="Times New Roman"/>
              </a:rPr>
              <a:t> </a:t>
            </a:r>
            <a:r>
              <a:rPr lang="fr-FR" sz="2200" b="1" spc="85" dirty="0">
                <a:solidFill>
                  <a:srgbClr val="FF0000"/>
                </a:solidFill>
                <a:latin typeface="Bookman Old Style" panose="02050604050505020204" pitchFamily="18" charset="0"/>
                <a:cs typeface="Times New Roman"/>
              </a:rPr>
              <a:t>=</a:t>
            </a:r>
            <a:r>
              <a:rPr sz="2200" spc="95" dirty="0">
                <a:solidFill>
                  <a:srgbClr val="FF0000"/>
                </a:solidFill>
                <a:latin typeface="Bookman Old Style" panose="02050604050505020204" pitchFamily="18" charset="0"/>
                <a:cs typeface="Times New Roman"/>
              </a:rPr>
              <a:t> </a:t>
            </a:r>
            <a:r>
              <a:rPr sz="2200" b="1" dirty="0">
                <a:solidFill>
                  <a:srgbClr val="FF0000"/>
                </a:solidFill>
                <a:latin typeface="Bookman Old Style" panose="02050604050505020204" pitchFamily="18" charset="0"/>
                <a:cs typeface="Times New Roman"/>
              </a:rPr>
              <a:t>R</a:t>
            </a:r>
            <a:r>
              <a:rPr lang="fr-FR" sz="2200" b="1" spc="355" dirty="0">
                <a:solidFill>
                  <a:srgbClr val="FF0000"/>
                </a:solidFill>
                <a:latin typeface="Bookman Old Style" panose="02050604050505020204" pitchFamily="18" charset="0"/>
                <a:cs typeface="Times New Roman"/>
              </a:rPr>
              <a:t>.</a:t>
            </a:r>
            <a:r>
              <a:rPr sz="2200" b="1" spc="-60" dirty="0">
                <a:solidFill>
                  <a:srgbClr val="FF0000"/>
                </a:solidFill>
                <a:latin typeface="Bookman Old Style" panose="02050604050505020204" pitchFamily="18" charset="0"/>
                <a:cs typeface="Times New Roman"/>
              </a:rPr>
              <a:t>I</a:t>
            </a:r>
            <a:endParaRPr sz="2200" dirty="0">
              <a:solidFill>
                <a:srgbClr val="FF0000"/>
              </a:solidFill>
              <a:latin typeface="Bookman Old Style" panose="02050604050505020204" pitchFamily="18" charset="0"/>
              <a:cs typeface="Times New Roman"/>
            </a:endParaRPr>
          </a:p>
        </p:txBody>
      </p:sp>
      <p:sp>
        <p:nvSpPr>
          <p:cNvPr id="17" name="object 38">
            <a:extLst>
              <a:ext uri="{FF2B5EF4-FFF2-40B4-BE49-F238E27FC236}">
                <a16:creationId xmlns:a16="http://schemas.microsoft.com/office/drawing/2014/main" id="{AACB9E4E-86C5-E793-9836-A3E8CF520DC7}"/>
              </a:ext>
            </a:extLst>
          </p:cNvPr>
          <p:cNvSpPr txBox="1"/>
          <p:nvPr/>
        </p:nvSpPr>
        <p:spPr>
          <a:xfrm>
            <a:off x="5580159" y="2188104"/>
            <a:ext cx="2086778" cy="289823"/>
          </a:xfrm>
          <a:prstGeom prst="rect">
            <a:avLst/>
          </a:prstGeom>
        </p:spPr>
        <p:txBody>
          <a:bodyPr vert="horz" wrap="square" lIns="0" tIns="12700" rIns="0" bIns="0" rtlCol="0">
            <a:spAutoFit/>
          </a:bodyPr>
          <a:lstStyle/>
          <a:p>
            <a:pPr marL="38100">
              <a:lnSpc>
                <a:spcPct val="100000"/>
              </a:lnSpc>
              <a:spcBef>
                <a:spcPts val="100"/>
              </a:spcBef>
            </a:pPr>
            <a:r>
              <a:rPr sz="1800" b="1" dirty="0">
                <a:latin typeface="Bookman Old Style" panose="02050604050505020204" pitchFamily="18" charset="0"/>
                <a:cs typeface="Times New Roman"/>
              </a:rPr>
              <a:t>V</a:t>
            </a:r>
            <a:r>
              <a:rPr sz="1800" b="1" spc="-80" dirty="0">
                <a:latin typeface="Bookman Old Style" panose="02050604050505020204" pitchFamily="18" charset="0"/>
                <a:cs typeface="Times New Roman"/>
              </a:rPr>
              <a:t> </a:t>
            </a:r>
            <a:r>
              <a:rPr sz="1800" b="1" dirty="0">
                <a:latin typeface="Bookman Old Style" panose="02050604050505020204" pitchFamily="18" charset="0"/>
                <a:cs typeface="Times New Roman"/>
              </a:rPr>
              <a:t>=</a:t>
            </a:r>
            <a:r>
              <a:rPr sz="1800" b="1" spc="-75" dirty="0">
                <a:latin typeface="Bookman Old Style" panose="02050604050505020204" pitchFamily="18" charset="0"/>
                <a:cs typeface="Times New Roman"/>
              </a:rPr>
              <a:t> </a:t>
            </a:r>
            <a:r>
              <a:rPr sz="1800" b="1" spc="-245" dirty="0">
                <a:latin typeface="Bookman Old Style" panose="02050604050505020204" pitchFamily="18" charset="0"/>
                <a:cs typeface="Times New Roman"/>
              </a:rPr>
              <a:t>V</a:t>
            </a:r>
            <a:r>
              <a:rPr sz="1800" b="1" spc="-367" baseline="-11574" dirty="0">
                <a:latin typeface="Bookman Old Style" panose="02050604050505020204" pitchFamily="18" charset="0"/>
                <a:cs typeface="Times New Roman"/>
              </a:rPr>
              <a:t>A</a:t>
            </a:r>
            <a:r>
              <a:rPr lang="fr-FR" sz="1800" b="1" spc="-367" baseline="-11574" dirty="0">
                <a:latin typeface="Bookman Old Style" panose="02050604050505020204" pitchFamily="18" charset="0"/>
                <a:cs typeface="Times New Roman"/>
              </a:rPr>
              <a:t>     </a:t>
            </a:r>
            <a:r>
              <a:rPr sz="1800" b="1" spc="-202" baseline="-11574" dirty="0">
                <a:latin typeface="Bookman Old Style" panose="02050604050505020204" pitchFamily="18" charset="0"/>
                <a:cs typeface="Times New Roman"/>
              </a:rPr>
              <a:t> </a:t>
            </a:r>
            <a:r>
              <a:rPr sz="1800" b="1" dirty="0">
                <a:latin typeface="Bookman Old Style" panose="02050604050505020204" pitchFamily="18" charset="0"/>
                <a:cs typeface="Times New Roman"/>
              </a:rPr>
              <a:t>-</a:t>
            </a:r>
            <a:r>
              <a:rPr sz="1800" b="1" spc="-70" dirty="0">
                <a:latin typeface="Bookman Old Style" panose="02050604050505020204" pitchFamily="18" charset="0"/>
                <a:cs typeface="Times New Roman"/>
              </a:rPr>
              <a:t> </a:t>
            </a:r>
            <a:r>
              <a:rPr sz="1800" b="1" spc="-35" dirty="0">
                <a:latin typeface="Bookman Old Style" panose="02050604050505020204" pitchFamily="18" charset="0"/>
                <a:cs typeface="Times New Roman"/>
              </a:rPr>
              <a:t>V</a:t>
            </a:r>
            <a:r>
              <a:rPr sz="1800" b="1" spc="-52" baseline="-11574" dirty="0">
                <a:latin typeface="Bookman Old Style" panose="02050604050505020204" pitchFamily="18" charset="0"/>
                <a:cs typeface="Times New Roman"/>
              </a:rPr>
              <a:t>B</a:t>
            </a:r>
            <a:endParaRPr sz="1800" baseline="-11574" dirty="0">
              <a:latin typeface="Bookman Old Style" panose="02050604050505020204" pitchFamily="18" charset="0"/>
              <a:cs typeface="Times New Roman"/>
            </a:endParaRPr>
          </a:p>
        </p:txBody>
      </p:sp>
      <p:sp>
        <p:nvSpPr>
          <p:cNvPr id="22" name="TextBox 21">
            <a:extLst>
              <a:ext uri="{FF2B5EF4-FFF2-40B4-BE49-F238E27FC236}">
                <a16:creationId xmlns:a16="http://schemas.microsoft.com/office/drawing/2014/main" id="{77B50654-DA70-89C7-05E7-78BCEEA046D6}"/>
              </a:ext>
            </a:extLst>
          </p:cNvPr>
          <p:cNvSpPr txBox="1"/>
          <p:nvPr/>
        </p:nvSpPr>
        <p:spPr>
          <a:xfrm>
            <a:off x="4668043" y="2165824"/>
            <a:ext cx="951899" cy="323165"/>
          </a:xfrm>
          <a:prstGeom prst="rect">
            <a:avLst/>
          </a:prstGeom>
          <a:noFill/>
        </p:spPr>
        <p:txBody>
          <a:bodyPr wrap="square">
            <a:spAutoFit/>
          </a:bodyPr>
          <a:lstStyle/>
          <a:p>
            <a:r>
              <a:rPr lang="fr-FR" altLang="fr-FR" sz="1500" b="1" dirty="0">
                <a:latin typeface="Bookman Old Style" panose="02050604050505020204" pitchFamily="18" charset="0"/>
                <a:cs typeface="Browallia New" panose="020B0604020202020204" pitchFamily="34" charset="-34"/>
              </a:rPr>
              <a:t>Avec</a:t>
            </a:r>
            <a:endParaRPr lang="fr-FR" sz="1500" b="1" dirty="0"/>
          </a:p>
        </p:txBody>
      </p:sp>
      <p:grpSp>
        <p:nvGrpSpPr>
          <p:cNvPr id="23" name="object 19">
            <a:extLst>
              <a:ext uri="{FF2B5EF4-FFF2-40B4-BE49-F238E27FC236}">
                <a16:creationId xmlns:a16="http://schemas.microsoft.com/office/drawing/2014/main" id="{15480DB7-6E5F-0C52-AA56-D08048F44678}"/>
              </a:ext>
            </a:extLst>
          </p:cNvPr>
          <p:cNvGrpSpPr/>
          <p:nvPr/>
        </p:nvGrpSpPr>
        <p:grpSpPr>
          <a:xfrm>
            <a:off x="6173481" y="3297293"/>
            <a:ext cx="2309495" cy="1185545"/>
            <a:chOff x="1043813" y="3229229"/>
            <a:chExt cx="2309495" cy="1185545"/>
          </a:xfrm>
        </p:grpSpPr>
        <p:sp>
          <p:nvSpPr>
            <p:cNvPr id="24" name="object 20">
              <a:extLst>
                <a:ext uri="{FF2B5EF4-FFF2-40B4-BE49-F238E27FC236}">
                  <a16:creationId xmlns:a16="http://schemas.microsoft.com/office/drawing/2014/main" id="{1BC6249B-8D08-9644-8D35-4258D6E7F68D}"/>
                </a:ext>
              </a:extLst>
            </p:cNvPr>
            <p:cNvSpPr/>
            <p:nvPr/>
          </p:nvSpPr>
          <p:spPr>
            <a:xfrm>
              <a:off x="1058418" y="3243834"/>
              <a:ext cx="2273935" cy="1156335"/>
            </a:xfrm>
            <a:custGeom>
              <a:avLst/>
              <a:gdLst/>
              <a:ahLst/>
              <a:cxnLst/>
              <a:rect l="l" t="t" r="r" b="b"/>
              <a:pathLst>
                <a:path w="2273935" h="1156335">
                  <a:moveTo>
                    <a:pt x="197154" y="0"/>
                  </a:moveTo>
                  <a:lnTo>
                    <a:pt x="242315" y="15240"/>
                  </a:lnTo>
                  <a:lnTo>
                    <a:pt x="283844" y="58801"/>
                  </a:lnTo>
                  <a:lnTo>
                    <a:pt x="320420" y="127000"/>
                  </a:lnTo>
                  <a:lnTo>
                    <a:pt x="336550" y="169291"/>
                  </a:lnTo>
                  <a:lnTo>
                    <a:pt x="351028" y="216535"/>
                  </a:lnTo>
                  <a:lnTo>
                    <a:pt x="363600" y="268224"/>
                  </a:lnTo>
                  <a:lnTo>
                    <a:pt x="374269" y="323850"/>
                  </a:lnTo>
                  <a:lnTo>
                    <a:pt x="382778" y="383159"/>
                  </a:lnTo>
                  <a:lnTo>
                    <a:pt x="389128" y="445643"/>
                  </a:lnTo>
                  <a:lnTo>
                    <a:pt x="392938" y="510794"/>
                  </a:lnTo>
                  <a:lnTo>
                    <a:pt x="394334" y="578231"/>
                  </a:lnTo>
                  <a:lnTo>
                    <a:pt x="392938" y="645591"/>
                  </a:lnTo>
                  <a:lnTo>
                    <a:pt x="389128" y="710742"/>
                  </a:lnTo>
                  <a:lnTo>
                    <a:pt x="382778" y="773163"/>
                  </a:lnTo>
                  <a:lnTo>
                    <a:pt x="374269" y="832434"/>
                  </a:lnTo>
                  <a:lnTo>
                    <a:pt x="363600" y="888123"/>
                  </a:lnTo>
                  <a:lnTo>
                    <a:pt x="351028" y="939787"/>
                  </a:lnTo>
                  <a:lnTo>
                    <a:pt x="336550" y="986993"/>
                  </a:lnTo>
                  <a:lnTo>
                    <a:pt x="320420" y="1029322"/>
                  </a:lnTo>
                  <a:lnTo>
                    <a:pt x="302894" y="1066330"/>
                  </a:lnTo>
                  <a:lnTo>
                    <a:pt x="263651" y="1122629"/>
                  </a:lnTo>
                  <a:lnTo>
                    <a:pt x="220090" y="1152448"/>
                  </a:lnTo>
                  <a:lnTo>
                    <a:pt x="197154" y="1156335"/>
                  </a:lnTo>
                  <a:lnTo>
                    <a:pt x="174155" y="1152448"/>
                  </a:lnTo>
                  <a:lnTo>
                    <a:pt x="130657" y="1122629"/>
                  </a:lnTo>
                  <a:lnTo>
                    <a:pt x="91465" y="1066330"/>
                  </a:lnTo>
                  <a:lnTo>
                    <a:pt x="73837" y="1029322"/>
                  </a:lnTo>
                  <a:lnTo>
                    <a:pt x="57746" y="986993"/>
                  </a:lnTo>
                  <a:lnTo>
                    <a:pt x="43306" y="939787"/>
                  </a:lnTo>
                  <a:lnTo>
                    <a:pt x="30695" y="888123"/>
                  </a:lnTo>
                  <a:lnTo>
                    <a:pt x="20040" y="832434"/>
                  </a:lnTo>
                  <a:lnTo>
                    <a:pt x="11493" y="773163"/>
                  </a:lnTo>
                  <a:lnTo>
                    <a:pt x="5206" y="710742"/>
                  </a:lnTo>
                  <a:lnTo>
                    <a:pt x="1320" y="645591"/>
                  </a:lnTo>
                  <a:lnTo>
                    <a:pt x="0" y="578231"/>
                  </a:lnTo>
                  <a:lnTo>
                    <a:pt x="1320" y="510794"/>
                  </a:lnTo>
                  <a:lnTo>
                    <a:pt x="5206" y="445643"/>
                  </a:lnTo>
                  <a:lnTo>
                    <a:pt x="11493" y="383159"/>
                  </a:lnTo>
                  <a:lnTo>
                    <a:pt x="20040" y="323850"/>
                  </a:lnTo>
                  <a:lnTo>
                    <a:pt x="30695" y="268224"/>
                  </a:lnTo>
                  <a:lnTo>
                    <a:pt x="43306" y="216535"/>
                  </a:lnTo>
                  <a:lnTo>
                    <a:pt x="57746" y="169291"/>
                  </a:lnTo>
                  <a:lnTo>
                    <a:pt x="73837" y="127000"/>
                  </a:lnTo>
                  <a:lnTo>
                    <a:pt x="91465" y="90043"/>
                  </a:lnTo>
                  <a:lnTo>
                    <a:pt x="130657" y="33655"/>
                  </a:lnTo>
                  <a:lnTo>
                    <a:pt x="174155" y="3937"/>
                  </a:lnTo>
                  <a:lnTo>
                    <a:pt x="197154" y="0"/>
                  </a:lnTo>
                  <a:close/>
                </a:path>
                <a:path w="2273935" h="1156335">
                  <a:moveTo>
                    <a:pt x="197154" y="0"/>
                  </a:moveTo>
                  <a:lnTo>
                    <a:pt x="2076577" y="0"/>
                  </a:lnTo>
                  <a:lnTo>
                    <a:pt x="2099564" y="3937"/>
                  </a:lnTo>
                  <a:lnTo>
                    <a:pt x="2142998" y="33655"/>
                  </a:lnTo>
                  <a:lnTo>
                    <a:pt x="2182241" y="90043"/>
                  </a:lnTo>
                  <a:lnTo>
                    <a:pt x="2199767" y="127000"/>
                  </a:lnTo>
                  <a:lnTo>
                    <a:pt x="2215896" y="169291"/>
                  </a:lnTo>
                  <a:lnTo>
                    <a:pt x="2230373" y="216535"/>
                  </a:lnTo>
                  <a:lnTo>
                    <a:pt x="2242947" y="268224"/>
                  </a:lnTo>
                  <a:lnTo>
                    <a:pt x="2253615" y="323850"/>
                  </a:lnTo>
                  <a:lnTo>
                    <a:pt x="2262123" y="383159"/>
                  </a:lnTo>
                  <a:lnTo>
                    <a:pt x="2268473" y="445643"/>
                  </a:lnTo>
                  <a:lnTo>
                    <a:pt x="2272284" y="510794"/>
                  </a:lnTo>
                  <a:lnTo>
                    <a:pt x="2273681" y="578231"/>
                  </a:lnTo>
                  <a:lnTo>
                    <a:pt x="2272284" y="645591"/>
                  </a:lnTo>
                  <a:lnTo>
                    <a:pt x="2268473" y="710742"/>
                  </a:lnTo>
                  <a:lnTo>
                    <a:pt x="2262123" y="773163"/>
                  </a:lnTo>
                  <a:lnTo>
                    <a:pt x="2253615" y="832434"/>
                  </a:lnTo>
                  <a:lnTo>
                    <a:pt x="2242947" y="888123"/>
                  </a:lnTo>
                  <a:lnTo>
                    <a:pt x="2230373" y="939787"/>
                  </a:lnTo>
                  <a:lnTo>
                    <a:pt x="2215896" y="986993"/>
                  </a:lnTo>
                  <a:lnTo>
                    <a:pt x="2199767" y="1029322"/>
                  </a:lnTo>
                  <a:lnTo>
                    <a:pt x="2182241" y="1066330"/>
                  </a:lnTo>
                  <a:lnTo>
                    <a:pt x="2142998" y="1122629"/>
                  </a:lnTo>
                  <a:lnTo>
                    <a:pt x="2099564" y="1152448"/>
                  </a:lnTo>
                  <a:lnTo>
                    <a:pt x="2076577" y="1156335"/>
                  </a:lnTo>
                  <a:lnTo>
                    <a:pt x="197154" y="1156335"/>
                  </a:lnTo>
                </a:path>
              </a:pathLst>
            </a:custGeom>
            <a:ln w="28956">
              <a:solidFill>
                <a:srgbClr val="000000"/>
              </a:solidFill>
            </a:ln>
          </p:spPr>
          <p:txBody>
            <a:bodyPr wrap="square" lIns="0" tIns="0" rIns="0" bIns="0" rtlCol="0"/>
            <a:lstStyle/>
            <a:p>
              <a:endParaRPr/>
            </a:p>
          </p:txBody>
        </p:sp>
        <p:sp>
          <p:nvSpPr>
            <p:cNvPr id="26" name="object 21">
              <a:extLst>
                <a:ext uri="{FF2B5EF4-FFF2-40B4-BE49-F238E27FC236}">
                  <a16:creationId xmlns:a16="http://schemas.microsoft.com/office/drawing/2014/main" id="{FD04D7B4-055D-BE0B-E30D-92162F00AC17}"/>
                </a:ext>
              </a:extLst>
            </p:cNvPr>
            <p:cNvSpPr/>
            <p:nvPr/>
          </p:nvSpPr>
          <p:spPr>
            <a:xfrm>
              <a:off x="2871977" y="3243834"/>
              <a:ext cx="471170" cy="1156335"/>
            </a:xfrm>
            <a:custGeom>
              <a:avLst/>
              <a:gdLst/>
              <a:ahLst/>
              <a:cxnLst/>
              <a:rect l="l" t="t" r="r" b="b"/>
              <a:pathLst>
                <a:path w="471170" h="1156335">
                  <a:moveTo>
                    <a:pt x="235331" y="1156335"/>
                  </a:moveTo>
                  <a:lnTo>
                    <a:pt x="181356" y="1141069"/>
                  </a:lnTo>
                  <a:lnTo>
                    <a:pt x="131826" y="1097572"/>
                  </a:lnTo>
                  <a:lnTo>
                    <a:pt x="109220" y="1066317"/>
                  </a:lnTo>
                  <a:lnTo>
                    <a:pt x="88138" y="1029322"/>
                  </a:lnTo>
                  <a:lnTo>
                    <a:pt x="68961" y="986993"/>
                  </a:lnTo>
                  <a:lnTo>
                    <a:pt x="51689" y="939787"/>
                  </a:lnTo>
                  <a:lnTo>
                    <a:pt x="36703" y="888123"/>
                  </a:lnTo>
                  <a:lnTo>
                    <a:pt x="23876" y="832434"/>
                  </a:lnTo>
                  <a:lnTo>
                    <a:pt x="13716" y="773163"/>
                  </a:lnTo>
                  <a:lnTo>
                    <a:pt x="6223" y="710742"/>
                  </a:lnTo>
                  <a:lnTo>
                    <a:pt x="1524" y="645591"/>
                  </a:lnTo>
                  <a:lnTo>
                    <a:pt x="0" y="578231"/>
                  </a:lnTo>
                  <a:lnTo>
                    <a:pt x="1524" y="510794"/>
                  </a:lnTo>
                  <a:lnTo>
                    <a:pt x="6223" y="445643"/>
                  </a:lnTo>
                  <a:lnTo>
                    <a:pt x="13716" y="383159"/>
                  </a:lnTo>
                  <a:lnTo>
                    <a:pt x="23876" y="323850"/>
                  </a:lnTo>
                  <a:lnTo>
                    <a:pt x="36703" y="268224"/>
                  </a:lnTo>
                  <a:lnTo>
                    <a:pt x="51689" y="216535"/>
                  </a:lnTo>
                  <a:lnTo>
                    <a:pt x="68961" y="169291"/>
                  </a:lnTo>
                  <a:lnTo>
                    <a:pt x="88138" y="127000"/>
                  </a:lnTo>
                  <a:lnTo>
                    <a:pt x="109220" y="90043"/>
                  </a:lnTo>
                  <a:lnTo>
                    <a:pt x="131826" y="58801"/>
                  </a:lnTo>
                  <a:lnTo>
                    <a:pt x="181356" y="15240"/>
                  </a:lnTo>
                  <a:lnTo>
                    <a:pt x="235331" y="0"/>
                  </a:lnTo>
                  <a:lnTo>
                    <a:pt x="262763" y="3937"/>
                  </a:lnTo>
                  <a:lnTo>
                    <a:pt x="314706" y="33655"/>
                  </a:lnTo>
                  <a:lnTo>
                    <a:pt x="361569" y="90043"/>
                  </a:lnTo>
                  <a:lnTo>
                    <a:pt x="382524" y="127000"/>
                  </a:lnTo>
                  <a:lnTo>
                    <a:pt x="401827" y="169291"/>
                  </a:lnTo>
                  <a:lnTo>
                    <a:pt x="418973" y="216535"/>
                  </a:lnTo>
                  <a:lnTo>
                    <a:pt x="434086" y="268224"/>
                  </a:lnTo>
                  <a:lnTo>
                    <a:pt x="446786" y="323850"/>
                  </a:lnTo>
                  <a:lnTo>
                    <a:pt x="456946" y="383159"/>
                  </a:lnTo>
                  <a:lnTo>
                    <a:pt x="464566" y="445643"/>
                  </a:lnTo>
                  <a:lnTo>
                    <a:pt x="469138" y="510794"/>
                  </a:lnTo>
                  <a:lnTo>
                    <a:pt x="470788" y="578231"/>
                  </a:lnTo>
                  <a:lnTo>
                    <a:pt x="469138" y="645591"/>
                  </a:lnTo>
                  <a:lnTo>
                    <a:pt x="464566" y="710742"/>
                  </a:lnTo>
                  <a:lnTo>
                    <a:pt x="456946" y="773163"/>
                  </a:lnTo>
                  <a:lnTo>
                    <a:pt x="446786" y="832434"/>
                  </a:lnTo>
                  <a:lnTo>
                    <a:pt x="434086" y="888123"/>
                  </a:lnTo>
                  <a:lnTo>
                    <a:pt x="418973" y="939787"/>
                  </a:lnTo>
                  <a:lnTo>
                    <a:pt x="401827" y="986993"/>
                  </a:lnTo>
                  <a:lnTo>
                    <a:pt x="382524" y="1029322"/>
                  </a:lnTo>
                  <a:lnTo>
                    <a:pt x="361569" y="1066317"/>
                  </a:lnTo>
                  <a:lnTo>
                    <a:pt x="338836" y="1097572"/>
                  </a:lnTo>
                  <a:lnTo>
                    <a:pt x="289306" y="1141069"/>
                  </a:lnTo>
                  <a:lnTo>
                    <a:pt x="235331" y="1156335"/>
                  </a:lnTo>
                  <a:close/>
                </a:path>
              </a:pathLst>
            </a:custGeom>
            <a:ln w="19812">
              <a:solidFill>
                <a:srgbClr val="000000"/>
              </a:solidFill>
            </a:ln>
          </p:spPr>
          <p:txBody>
            <a:bodyPr wrap="square" lIns="0" tIns="0" rIns="0" bIns="0" rtlCol="0"/>
            <a:lstStyle/>
            <a:p>
              <a:endParaRPr/>
            </a:p>
          </p:txBody>
        </p:sp>
        <p:pic>
          <p:nvPicPr>
            <p:cNvPr id="27" name="object 22">
              <a:extLst>
                <a:ext uri="{FF2B5EF4-FFF2-40B4-BE49-F238E27FC236}">
                  <a16:creationId xmlns:a16="http://schemas.microsoft.com/office/drawing/2014/main" id="{DC28403A-4B8D-9D2B-2938-21AC7698D3A6}"/>
                </a:ext>
              </a:extLst>
            </p:cNvPr>
            <p:cNvPicPr/>
            <p:nvPr/>
          </p:nvPicPr>
          <p:blipFill>
            <a:blip r:embed="rId3" cstate="print"/>
            <a:stretch>
              <a:fillRect/>
            </a:stretch>
          </p:blipFill>
          <p:spPr>
            <a:xfrm>
              <a:off x="1167384" y="3739896"/>
              <a:ext cx="134112" cy="134112"/>
            </a:xfrm>
            <a:prstGeom prst="rect">
              <a:avLst/>
            </a:prstGeom>
          </p:spPr>
        </p:pic>
        <p:pic>
          <p:nvPicPr>
            <p:cNvPr id="29" name="object 23">
              <a:extLst>
                <a:ext uri="{FF2B5EF4-FFF2-40B4-BE49-F238E27FC236}">
                  <a16:creationId xmlns:a16="http://schemas.microsoft.com/office/drawing/2014/main" id="{E35FEA33-C170-CD03-83C8-55FE910A2338}"/>
                </a:ext>
              </a:extLst>
            </p:cNvPr>
            <p:cNvPicPr/>
            <p:nvPr/>
          </p:nvPicPr>
          <p:blipFill>
            <a:blip r:embed="rId3" cstate="print"/>
            <a:stretch>
              <a:fillRect/>
            </a:stretch>
          </p:blipFill>
          <p:spPr>
            <a:xfrm>
              <a:off x="3055620" y="3739896"/>
              <a:ext cx="134112" cy="134112"/>
            </a:xfrm>
            <a:prstGeom prst="rect">
              <a:avLst/>
            </a:prstGeom>
          </p:spPr>
        </p:pic>
      </p:grpSp>
      <p:sp>
        <p:nvSpPr>
          <p:cNvPr id="31" name="object 24">
            <a:extLst>
              <a:ext uri="{FF2B5EF4-FFF2-40B4-BE49-F238E27FC236}">
                <a16:creationId xmlns:a16="http://schemas.microsoft.com/office/drawing/2014/main" id="{E59FF0CF-C7EC-EBE4-98E6-808D9283957E}"/>
              </a:ext>
            </a:extLst>
          </p:cNvPr>
          <p:cNvSpPr txBox="1"/>
          <p:nvPr/>
        </p:nvSpPr>
        <p:spPr>
          <a:xfrm>
            <a:off x="6258748" y="3904378"/>
            <a:ext cx="191135" cy="300355"/>
          </a:xfrm>
          <a:prstGeom prst="rect">
            <a:avLst/>
          </a:prstGeom>
        </p:spPr>
        <p:txBody>
          <a:bodyPr vert="horz" wrap="square" lIns="0" tIns="12700" rIns="0" bIns="0" rtlCol="0">
            <a:spAutoFit/>
          </a:bodyPr>
          <a:lstStyle/>
          <a:p>
            <a:pPr marL="12700">
              <a:lnSpc>
                <a:spcPct val="100000"/>
              </a:lnSpc>
              <a:spcBef>
                <a:spcPts val="100"/>
              </a:spcBef>
            </a:pPr>
            <a:r>
              <a:rPr sz="1800" b="1" spc="-50" dirty="0">
                <a:latin typeface="Times New Roman"/>
                <a:cs typeface="Times New Roman"/>
              </a:rPr>
              <a:t>A</a:t>
            </a:r>
            <a:endParaRPr sz="1800" dirty="0">
              <a:latin typeface="Times New Roman"/>
              <a:cs typeface="Times New Roman"/>
            </a:endParaRPr>
          </a:p>
        </p:txBody>
      </p:sp>
      <p:sp>
        <p:nvSpPr>
          <p:cNvPr id="32" name="object 25">
            <a:extLst>
              <a:ext uri="{FF2B5EF4-FFF2-40B4-BE49-F238E27FC236}">
                <a16:creationId xmlns:a16="http://schemas.microsoft.com/office/drawing/2014/main" id="{EDFA0223-4D4F-F5BC-DD80-9477120E8399}"/>
              </a:ext>
            </a:extLst>
          </p:cNvPr>
          <p:cNvSpPr txBox="1"/>
          <p:nvPr/>
        </p:nvSpPr>
        <p:spPr>
          <a:xfrm>
            <a:off x="8153665" y="3904378"/>
            <a:ext cx="178435" cy="300355"/>
          </a:xfrm>
          <a:prstGeom prst="rect">
            <a:avLst/>
          </a:prstGeom>
        </p:spPr>
        <p:txBody>
          <a:bodyPr vert="horz" wrap="square" lIns="0" tIns="12700" rIns="0" bIns="0" rtlCol="0">
            <a:spAutoFit/>
          </a:bodyPr>
          <a:lstStyle/>
          <a:p>
            <a:pPr marL="12700">
              <a:lnSpc>
                <a:spcPct val="100000"/>
              </a:lnSpc>
              <a:spcBef>
                <a:spcPts val="100"/>
              </a:spcBef>
            </a:pPr>
            <a:r>
              <a:rPr sz="1800" b="1" spc="-50" dirty="0">
                <a:latin typeface="Times New Roman"/>
                <a:cs typeface="Times New Roman"/>
              </a:rPr>
              <a:t>B</a:t>
            </a:r>
            <a:endParaRPr sz="1800" dirty="0">
              <a:latin typeface="Times New Roman"/>
              <a:cs typeface="Times New Roman"/>
            </a:endParaRPr>
          </a:p>
        </p:txBody>
      </p:sp>
      <p:sp>
        <p:nvSpPr>
          <p:cNvPr id="34" name="object 26">
            <a:extLst>
              <a:ext uri="{FF2B5EF4-FFF2-40B4-BE49-F238E27FC236}">
                <a16:creationId xmlns:a16="http://schemas.microsoft.com/office/drawing/2014/main" id="{FC843A6C-8641-A5B2-9F3C-C1566C53F8A0}"/>
              </a:ext>
            </a:extLst>
          </p:cNvPr>
          <p:cNvSpPr txBox="1"/>
          <p:nvPr/>
        </p:nvSpPr>
        <p:spPr>
          <a:xfrm>
            <a:off x="6212622" y="3447534"/>
            <a:ext cx="321945" cy="299720"/>
          </a:xfrm>
          <a:prstGeom prst="rect">
            <a:avLst/>
          </a:prstGeom>
        </p:spPr>
        <p:txBody>
          <a:bodyPr vert="horz" wrap="square" lIns="0" tIns="12700" rIns="0" bIns="0" rtlCol="0">
            <a:spAutoFit/>
          </a:bodyPr>
          <a:lstStyle/>
          <a:p>
            <a:pPr marL="38100">
              <a:lnSpc>
                <a:spcPct val="100000"/>
              </a:lnSpc>
              <a:spcBef>
                <a:spcPts val="100"/>
              </a:spcBef>
            </a:pPr>
            <a:r>
              <a:rPr sz="1800" b="1" spc="-25" dirty="0">
                <a:solidFill>
                  <a:srgbClr val="FF0000"/>
                </a:solidFill>
                <a:latin typeface="Times New Roman"/>
                <a:cs typeface="Times New Roman"/>
              </a:rPr>
              <a:t>V</a:t>
            </a:r>
            <a:r>
              <a:rPr sz="1800" b="1" spc="-37" baseline="-11574" dirty="0">
                <a:solidFill>
                  <a:srgbClr val="FF0000"/>
                </a:solidFill>
                <a:latin typeface="Times New Roman"/>
                <a:cs typeface="Times New Roman"/>
              </a:rPr>
              <a:t>A</a:t>
            </a:r>
            <a:endParaRPr sz="1800" baseline="-11574">
              <a:latin typeface="Times New Roman"/>
              <a:cs typeface="Times New Roman"/>
            </a:endParaRPr>
          </a:p>
        </p:txBody>
      </p:sp>
      <p:sp>
        <p:nvSpPr>
          <p:cNvPr id="35" name="object 27">
            <a:extLst>
              <a:ext uri="{FF2B5EF4-FFF2-40B4-BE49-F238E27FC236}">
                <a16:creationId xmlns:a16="http://schemas.microsoft.com/office/drawing/2014/main" id="{BE47DF44-7A30-B612-EB1C-5572843BB5F5}"/>
              </a:ext>
            </a:extLst>
          </p:cNvPr>
          <p:cNvSpPr txBox="1"/>
          <p:nvPr/>
        </p:nvSpPr>
        <p:spPr>
          <a:xfrm>
            <a:off x="8057525" y="3444485"/>
            <a:ext cx="342900" cy="299720"/>
          </a:xfrm>
          <a:prstGeom prst="rect">
            <a:avLst/>
          </a:prstGeom>
        </p:spPr>
        <p:txBody>
          <a:bodyPr vert="horz" wrap="square" lIns="0" tIns="12700" rIns="0" bIns="0" rtlCol="0">
            <a:spAutoFit/>
          </a:bodyPr>
          <a:lstStyle/>
          <a:p>
            <a:pPr marL="38100">
              <a:lnSpc>
                <a:spcPct val="100000"/>
              </a:lnSpc>
              <a:spcBef>
                <a:spcPts val="100"/>
              </a:spcBef>
            </a:pPr>
            <a:r>
              <a:rPr sz="1800" b="1" spc="-25" dirty="0">
                <a:solidFill>
                  <a:srgbClr val="FF0000"/>
                </a:solidFill>
                <a:latin typeface="Times New Roman"/>
                <a:cs typeface="Times New Roman"/>
              </a:rPr>
              <a:t>V</a:t>
            </a:r>
            <a:r>
              <a:rPr sz="1800" b="1" spc="-37" baseline="-11574" dirty="0">
                <a:solidFill>
                  <a:srgbClr val="FF0000"/>
                </a:solidFill>
                <a:latin typeface="Times New Roman"/>
                <a:cs typeface="Times New Roman"/>
              </a:rPr>
              <a:t>B</a:t>
            </a:r>
            <a:endParaRPr sz="1800" baseline="-11574">
              <a:latin typeface="Times New Roman"/>
              <a:cs typeface="Times New Roman"/>
            </a:endParaRPr>
          </a:p>
        </p:txBody>
      </p:sp>
      <p:grpSp>
        <p:nvGrpSpPr>
          <p:cNvPr id="36" name="object 28">
            <a:extLst>
              <a:ext uri="{FF2B5EF4-FFF2-40B4-BE49-F238E27FC236}">
                <a16:creationId xmlns:a16="http://schemas.microsoft.com/office/drawing/2014/main" id="{F714D9FE-04E4-16FC-4EEB-6AB8207A9BCD}"/>
              </a:ext>
            </a:extLst>
          </p:cNvPr>
          <p:cNvGrpSpPr/>
          <p:nvPr/>
        </p:nvGrpSpPr>
        <p:grpSpPr>
          <a:xfrm>
            <a:off x="5509906" y="3809484"/>
            <a:ext cx="3555365" cy="132715"/>
            <a:chOff x="380238" y="3741420"/>
            <a:chExt cx="3555365" cy="132715"/>
          </a:xfrm>
        </p:grpSpPr>
        <p:sp>
          <p:nvSpPr>
            <p:cNvPr id="37" name="object 29">
              <a:extLst>
                <a:ext uri="{FF2B5EF4-FFF2-40B4-BE49-F238E27FC236}">
                  <a16:creationId xmlns:a16="http://schemas.microsoft.com/office/drawing/2014/main" id="{365C9CFD-B760-3009-13CD-59237E5505E6}"/>
                </a:ext>
              </a:extLst>
            </p:cNvPr>
            <p:cNvSpPr/>
            <p:nvPr/>
          </p:nvSpPr>
          <p:spPr>
            <a:xfrm>
              <a:off x="380238" y="3810762"/>
              <a:ext cx="3555365" cy="0"/>
            </a:xfrm>
            <a:custGeom>
              <a:avLst/>
              <a:gdLst/>
              <a:ahLst/>
              <a:cxnLst/>
              <a:rect l="l" t="t" r="r" b="b"/>
              <a:pathLst>
                <a:path w="3555365">
                  <a:moveTo>
                    <a:pt x="0" y="0"/>
                  </a:moveTo>
                  <a:lnTo>
                    <a:pt x="3555365" y="0"/>
                  </a:lnTo>
                </a:path>
              </a:pathLst>
            </a:custGeom>
            <a:ln w="19812">
              <a:solidFill>
                <a:srgbClr val="000000"/>
              </a:solidFill>
            </a:ln>
          </p:spPr>
          <p:txBody>
            <a:bodyPr wrap="square" lIns="0" tIns="0" rIns="0" bIns="0" rtlCol="0"/>
            <a:lstStyle/>
            <a:p>
              <a:endParaRPr/>
            </a:p>
          </p:txBody>
        </p:sp>
        <p:pic>
          <p:nvPicPr>
            <p:cNvPr id="38" name="object 30">
              <a:extLst>
                <a:ext uri="{FF2B5EF4-FFF2-40B4-BE49-F238E27FC236}">
                  <a16:creationId xmlns:a16="http://schemas.microsoft.com/office/drawing/2014/main" id="{AA47ED33-2A12-D80E-6F40-5919BD71B41E}"/>
                </a:ext>
              </a:extLst>
            </p:cNvPr>
            <p:cNvPicPr/>
            <p:nvPr/>
          </p:nvPicPr>
          <p:blipFill>
            <a:blip r:embed="rId4" cstate="print"/>
            <a:stretch>
              <a:fillRect/>
            </a:stretch>
          </p:blipFill>
          <p:spPr>
            <a:xfrm>
              <a:off x="2472055" y="3741420"/>
              <a:ext cx="130428" cy="132524"/>
            </a:xfrm>
            <a:prstGeom prst="rect">
              <a:avLst/>
            </a:prstGeom>
          </p:spPr>
        </p:pic>
        <p:sp>
          <p:nvSpPr>
            <p:cNvPr id="39" name="object 31">
              <a:extLst>
                <a:ext uri="{FF2B5EF4-FFF2-40B4-BE49-F238E27FC236}">
                  <a16:creationId xmlns:a16="http://schemas.microsoft.com/office/drawing/2014/main" id="{7D84ED4A-0FCB-D1F3-3449-2FD6FA8CA1FF}"/>
                </a:ext>
              </a:extLst>
            </p:cNvPr>
            <p:cNvSpPr/>
            <p:nvPr/>
          </p:nvSpPr>
          <p:spPr>
            <a:xfrm>
              <a:off x="1967484" y="3793363"/>
              <a:ext cx="607060" cy="28575"/>
            </a:xfrm>
            <a:custGeom>
              <a:avLst/>
              <a:gdLst/>
              <a:ahLst/>
              <a:cxnLst/>
              <a:rect l="l" t="t" r="r" b="b"/>
              <a:pathLst>
                <a:path w="607060" h="28575">
                  <a:moveTo>
                    <a:pt x="606628" y="2019"/>
                  </a:moveTo>
                  <a:lnTo>
                    <a:pt x="606552" y="0"/>
                  </a:lnTo>
                  <a:lnTo>
                    <a:pt x="553720" y="0"/>
                  </a:lnTo>
                  <a:lnTo>
                    <a:pt x="0" y="0"/>
                  </a:lnTo>
                  <a:lnTo>
                    <a:pt x="0" y="28575"/>
                  </a:lnTo>
                  <a:lnTo>
                    <a:pt x="553720" y="28575"/>
                  </a:lnTo>
                  <a:lnTo>
                    <a:pt x="578231" y="14351"/>
                  </a:lnTo>
                  <a:lnTo>
                    <a:pt x="599440" y="26670"/>
                  </a:lnTo>
                  <a:lnTo>
                    <a:pt x="606628" y="26670"/>
                  </a:lnTo>
                  <a:lnTo>
                    <a:pt x="606628" y="2019"/>
                  </a:lnTo>
                  <a:close/>
                </a:path>
              </a:pathLst>
            </a:custGeom>
            <a:solidFill>
              <a:srgbClr val="943735"/>
            </a:solidFill>
          </p:spPr>
          <p:txBody>
            <a:bodyPr wrap="square" lIns="0" tIns="0" rIns="0" bIns="0" rtlCol="0"/>
            <a:lstStyle/>
            <a:p>
              <a:endParaRPr/>
            </a:p>
          </p:txBody>
        </p:sp>
      </p:grpSp>
      <p:sp>
        <p:nvSpPr>
          <p:cNvPr id="40" name="object 32">
            <a:extLst>
              <a:ext uri="{FF2B5EF4-FFF2-40B4-BE49-F238E27FC236}">
                <a16:creationId xmlns:a16="http://schemas.microsoft.com/office/drawing/2014/main" id="{9986BB62-1491-5AA2-F810-77DC6916A823}"/>
              </a:ext>
            </a:extLst>
          </p:cNvPr>
          <p:cNvSpPr txBox="1"/>
          <p:nvPr/>
        </p:nvSpPr>
        <p:spPr>
          <a:xfrm>
            <a:off x="6671841" y="3026319"/>
            <a:ext cx="1192530" cy="300355"/>
          </a:xfrm>
          <a:prstGeom prst="rect">
            <a:avLst/>
          </a:prstGeom>
        </p:spPr>
        <p:txBody>
          <a:bodyPr vert="horz" wrap="square" lIns="0" tIns="12700" rIns="0" bIns="0" rtlCol="0">
            <a:spAutoFit/>
          </a:bodyPr>
          <a:lstStyle/>
          <a:p>
            <a:pPr marL="12700">
              <a:lnSpc>
                <a:spcPct val="100000"/>
              </a:lnSpc>
              <a:spcBef>
                <a:spcPts val="100"/>
              </a:spcBef>
            </a:pPr>
            <a:r>
              <a:rPr sz="1800" b="1" spc="-10" dirty="0">
                <a:latin typeface="Times New Roman"/>
                <a:cs typeface="Times New Roman"/>
              </a:rPr>
              <a:t>Conducteur</a:t>
            </a:r>
            <a:endParaRPr sz="1800" dirty="0">
              <a:latin typeface="Times New Roman"/>
              <a:cs typeface="Times New Roman"/>
            </a:endParaRPr>
          </a:p>
        </p:txBody>
      </p:sp>
      <p:sp>
        <p:nvSpPr>
          <p:cNvPr id="41" name="object 33">
            <a:extLst>
              <a:ext uri="{FF2B5EF4-FFF2-40B4-BE49-F238E27FC236}">
                <a16:creationId xmlns:a16="http://schemas.microsoft.com/office/drawing/2014/main" id="{FE474499-05BF-DFC9-933E-0D49E24FFA85}"/>
              </a:ext>
            </a:extLst>
          </p:cNvPr>
          <p:cNvSpPr txBox="1"/>
          <p:nvPr/>
        </p:nvSpPr>
        <p:spPr>
          <a:xfrm>
            <a:off x="5362840" y="4276843"/>
            <a:ext cx="757555" cy="299720"/>
          </a:xfrm>
          <a:prstGeom prst="rect">
            <a:avLst/>
          </a:prstGeom>
        </p:spPr>
        <p:txBody>
          <a:bodyPr vert="horz" wrap="square" lIns="0" tIns="12700" rIns="0" bIns="0" rtlCol="0">
            <a:spAutoFit/>
          </a:bodyPr>
          <a:lstStyle/>
          <a:p>
            <a:pPr marL="38100">
              <a:lnSpc>
                <a:spcPct val="100000"/>
              </a:lnSpc>
              <a:spcBef>
                <a:spcPts val="100"/>
              </a:spcBef>
            </a:pPr>
            <a:r>
              <a:rPr sz="1800" b="1" spc="-250" dirty="0">
                <a:solidFill>
                  <a:srgbClr val="FF0000"/>
                </a:solidFill>
                <a:latin typeface="Times New Roman"/>
                <a:cs typeface="Times New Roman"/>
              </a:rPr>
              <a:t>V</a:t>
            </a:r>
            <a:r>
              <a:rPr sz="1800" b="1" spc="-375" baseline="-11574" dirty="0">
                <a:solidFill>
                  <a:srgbClr val="FF0000"/>
                </a:solidFill>
                <a:latin typeface="Times New Roman"/>
                <a:cs typeface="Times New Roman"/>
              </a:rPr>
              <a:t>A</a:t>
            </a:r>
            <a:r>
              <a:rPr sz="1800" b="1" spc="-202" baseline="-11574" dirty="0">
                <a:solidFill>
                  <a:srgbClr val="FF0000"/>
                </a:solidFill>
                <a:latin typeface="Times New Roman"/>
                <a:cs typeface="Times New Roman"/>
              </a:rPr>
              <a:t> </a:t>
            </a:r>
            <a:r>
              <a:rPr sz="1800" b="1" dirty="0">
                <a:solidFill>
                  <a:srgbClr val="FF0000"/>
                </a:solidFill>
                <a:latin typeface="Times New Roman"/>
                <a:cs typeface="Times New Roman"/>
              </a:rPr>
              <a:t>&gt;</a:t>
            </a:r>
            <a:r>
              <a:rPr sz="1800" b="1" spc="-65" dirty="0">
                <a:solidFill>
                  <a:srgbClr val="FF0000"/>
                </a:solidFill>
                <a:latin typeface="Times New Roman"/>
                <a:cs typeface="Times New Roman"/>
              </a:rPr>
              <a:t> </a:t>
            </a:r>
            <a:r>
              <a:rPr sz="1800" b="1" spc="-25" dirty="0">
                <a:solidFill>
                  <a:srgbClr val="FF0000"/>
                </a:solidFill>
                <a:latin typeface="Times New Roman"/>
                <a:cs typeface="Times New Roman"/>
              </a:rPr>
              <a:t>V</a:t>
            </a:r>
            <a:r>
              <a:rPr sz="1800" b="1" spc="-37" baseline="-11574" dirty="0">
                <a:solidFill>
                  <a:srgbClr val="FF0000"/>
                </a:solidFill>
                <a:latin typeface="Times New Roman"/>
                <a:cs typeface="Times New Roman"/>
              </a:rPr>
              <a:t>B</a:t>
            </a:r>
            <a:endParaRPr sz="1800" baseline="-11574">
              <a:latin typeface="Times New Roman"/>
              <a:cs typeface="Times New Roman"/>
            </a:endParaRPr>
          </a:p>
        </p:txBody>
      </p:sp>
      <p:sp>
        <p:nvSpPr>
          <p:cNvPr id="42" name="object 34">
            <a:extLst>
              <a:ext uri="{FF2B5EF4-FFF2-40B4-BE49-F238E27FC236}">
                <a16:creationId xmlns:a16="http://schemas.microsoft.com/office/drawing/2014/main" id="{AE660BB6-1EBE-262F-709B-02BAFF80E1F0}"/>
              </a:ext>
            </a:extLst>
          </p:cNvPr>
          <p:cNvSpPr txBox="1"/>
          <p:nvPr/>
        </p:nvSpPr>
        <p:spPr>
          <a:xfrm>
            <a:off x="7350263" y="3529830"/>
            <a:ext cx="114935" cy="299720"/>
          </a:xfrm>
          <a:prstGeom prst="rect">
            <a:avLst/>
          </a:prstGeom>
        </p:spPr>
        <p:txBody>
          <a:bodyPr vert="horz" wrap="square" lIns="0" tIns="12700" rIns="0" bIns="0" rtlCol="0">
            <a:spAutoFit/>
          </a:bodyPr>
          <a:lstStyle/>
          <a:p>
            <a:pPr marL="12700">
              <a:lnSpc>
                <a:spcPct val="100000"/>
              </a:lnSpc>
              <a:spcBef>
                <a:spcPts val="100"/>
              </a:spcBef>
            </a:pPr>
            <a:r>
              <a:rPr sz="1800" b="1" spc="-50" dirty="0">
                <a:solidFill>
                  <a:srgbClr val="943735"/>
                </a:solidFill>
                <a:latin typeface="Times New Roman"/>
                <a:cs typeface="Times New Roman"/>
              </a:rPr>
              <a:t>I</a:t>
            </a:r>
            <a:endParaRPr sz="1800">
              <a:latin typeface="Times New Roman"/>
              <a:cs typeface="Times New Roman"/>
            </a:endParaRPr>
          </a:p>
        </p:txBody>
      </p:sp>
      <p:grpSp>
        <p:nvGrpSpPr>
          <p:cNvPr id="43" name="object 35">
            <a:extLst>
              <a:ext uri="{FF2B5EF4-FFF2-40B4-BE49-F238E27FC236}">
                <a16:creationId xmlns:a16="http://schemas.microsoft.com/office/drawing/2014/main" id="{74B5912D-66F9-CFC9-AAB7-3E7B05A3C2C6}"/>
              </a:ext>
            </a:extLst>
          </p:cNvPr>
          <p:cNvGrpSpPr/>
          <p:nvPr/>
        </p:nvGrpSpPr>
        <p:grpSpPr>
          <a:xfrm>
            <a:off x="6431164" y="4580628"/>
            <a:ext cx="1644650" cy="132715"/>
            <a:chOff x="1301496" y="4512564"/>
            <a:chExt cx="1644650" cy="132715"/>
          </a:xfrm>
        </p:grpSpPr>
        <p:pic>
          <p:nvPicPr>
            <p:cNvPr id="44" name="object 36">
              <a:extLst>
                <a:ext uri="{FF2B5EF4-FFF2-40B4-BE49-F238E27FC236}">
                  <a16:creationId xmlns:a16="http://schemas.microsoft.com/office/drawing/2014/main" id="{EE7C92BA-E928-266D-1F7D-4BDE6C26727F}"/>
                </a:ext>
              </a:extLst>
            </p:cNvPr>
            <p:cNvPicPr/>
            <p:nvPr/>
          </p:nvPicPr>
          <p:blipFill>
            <a:blip r:embed="rId5" cstate="print"/>
            <a:stretch>
              <a:fillRect/>
            </a:stretch>
          </p:blipFill>
          <p:spPr>
            <a:xfrm>
              <a:off x="1301496" y="4512564"/>
              <a:ext cx="130428" cy="132524"/>
            </a:xfrm>
            <a:prstGeom prst="rect">
              <a:avLst/>
            </a:prstGeom>
          </p:spPr>
        </p:pic>
        <p:sp>
          <p:nvSpPr>
            <p:cNvPr id="45" name="object 37">
              <a:extLst>
                <a:ext uri="{FF2B5EF4-FFF2-40B4-BE49-F238E27FC236}">
                  <a16:creationId xmlns:a16="http://schemas.microsoft.com/office/drawing/2014/main" id="{51B06B23-0076-E514-4AE1-7FAADC69C824}"/>
                </a:ext>
              </a:extLst>
            </p:cNvPr>
            <p:cNvSpPr/>
            <p:nvPr/>
          </p:nvSpPr>
          <p:spPr>
            <a:xfrm>
              <a:off x="1329817" y="4564545"/>
              <a:ext cx="1616075" cy="28575"/>
            </a:xfrm>
            <a:custGeom>
              <a:avLst/>
              <a:gdLst/>
              <a:ahLst/>
              <a:cxnLst/>
              <a:rect l="l" t="t" r="r" b="b"/>
              <a:pathLst>
                <a:path w="1616075" h="28575">
                  <a:moveTo>
                    <a:pt x="1615948" y="0"/>
                  </a:moveTo>
                  <a:lnTo>
                    <a:pt x="52832" y="0"/>
                  </a:lnTo>
                  <a:lnTo>
                    <a:pt x="0" y="0"/>
                  </a:lnTo>
                  <a:lnTo>
                    <a:pt x="0" y="28549"/>
                  </a:lnTo>
                  <a:lnTo>
                    <a:pt x="52832" y="28549"/>
                  </a:lnTo>
                  <a:lnTo>
                    <a:pt x="1615948" y="28549"/>
                  </a:lnTo>
                  <a:lnTo>
                    <a:pt x="1615948" y="0"/>
                  </a:lnTo>
                  <a:close/>
                </a:path>
              </a:pathLst>
            </a:custGeom>
            <a:solidFill>
              <a:srgbClr val="943735"/>
            </a:solidFill>
          </p:spPr>
          <p:txBody>
            <a:bodyPr wrap="square" lIns="0" tIns="0" rIns="0" bIns="0" rtlCol="0"/>
            <a:lstStyle/>
            <a:p>
              <a:endParaRPr/>
            </a:p>
          </p:txBody>
        </p:sp>
      </p:grpSp>
      <p:sp>
        <p:nvSpPr>
          <p:cNvPr id="49" name="object 38">
            <a:extLst>
              <a:ext uri="{FF2B5EF4-FFF2-40B4-BE49-F238E27FC236}">
                <a16:creationId xmlns:a16="http://schemas.microsoft.com/office/drawing/2014/main" id="{F1302673-F69E-BE25-5EE6-E29E3525C304}"/>
              </a:ext>
            </a:extLst>
          </p:cNvPr>
          <p:cNvSpPr txBox="1"/>
          <p:nvPr/>
        </p:nvSpPr>
        <p:spPr>
          <a:xfrm>
            <a:off x="6694181" y="4724899"/>
            <a:ext cx="1095375" cy="299720"/>
          </a:xfrm>
          <a:prstGeom prst="rect">
            <a:avLst/>
          </a:prstGeom>
        </p:spPr>
        <p:txBody>
          <a:bodyPr vert="horz" wrap="square" lIns="0" tIns="12700" rIns="0" bIns="0" rtlCol="0">
            <a:spAutoFit/>
          </a:bodyPr>
          <a:lstStyle/>
          <a:p>
            <a:pPr marL="38100">
              <a:lnSpc>
                <a:spcPct val="100000"/>
              </a:lnSpc>
              <a:spcBef>
                <a:spcPts val="100"/>
              </a:spcBef>
            </a:pPr>
            <a:r>
              <a:rPr sz="1800" b="1" dirty="0">
                <a:solidFill>
                  <a:srgbClr val="FF0000"/>
                </a:solidFill>
                <a:latin typeface="Times New Roman"/>
                <a:cs typeface="Times New Roman"/>
              </a:rPr>
              <a:t>V</a:t>
            </a:r>
            <a:r>
              <a:rPr sz="1800" b="1" spc="-80" dirty="0">
                <a:solidFill>
                  <a:srgbClr val="FF0000"/>
                </a:solidFill>
                <a:latin typeface="Times New Roman"/>
                <a:cs typeface="Times New Roman"/>
              </a:rPr>
              <a:t> </a:t>
            </a:r>
            <a:r>
              <a:rPr sz="1800" b="1" dirty="0">
                <a:solidFill>
                  <a:srgbClr val="FF0000"/>
                </a:solidFill>
                <a:latin typeface="Times New Roman"/>
                <a:cs typeface="Times New Roman"/>
              </a:rPr>
              <a:t>=</a:t>
            </a:r>
            <a:r>
              <a:rPr sz="1800" b="1" spc="-75" dirty="0">
                <a:solidFill>
                  <a:srgbClr val="FF0000"/>
                </a:solidFill>
                <a:latin typeface="Times New Roman"/>
                <a:cs typeface="Times New Roman"/>
              </a:rPr>
              <a:t> </a:t>
            </a:r>
            <a:r>
              <a:rPr sz="1800" b="1" spc="-245" dirty="0">
                <a:solidFill>
                  <a:srgbClr val="FF0000"/>
                </a:solidFill>
                <a:latin typeface="Times New Roman"/>
                <a:cs typeface="Times New Roman"/>
              </a:rPr>
              <a:t>V</a:t>
            </a:r>
            <a:r>
              <a:rPr sz="1800" b="1" spc="-367" baseline="-11574" dirty="0">
                <a:solidFill>
                  <a:srgbClr val="FF0000"/>
                </a:solidFill>
                <a:latin typeface="Times New Roman"/>
                <a:cs typeface="Times New Roman"/>
              </a:rPr>
              <a:t>A</a:t>
            </a:r>
            <a:r>
              <a:rPr sz="1800" b="1" spc="-202" baseline="-11574" dirty="0">
                <a:solidFill>
                  <a:srgbClr val="FF0000"/>
                </a:solidFill>
                <a:latin typeface="Times New Roman"/>
                <a:cs typeface="Times New Roman"/>
              </a:rPr>
              <a:t> </a:t>
            </a:r>
            <a:r>
              <a:rPr sz="1800" b="1" dirty="0">
                <a:solidFill>
                  <a:srgbClr val="FF0000"/>
                </a:solidFill>
                <a:latin typeface="Times New Roman"/>
                <a:cs typeface="Times New Roman"/>
              </a:rPr>
              <a:t>-</a:t>
            </a:r>
            <a:r>
              <a:rPr sz="1800" b="1" spc="-70" dirty="0">
                <a:solidFill>
                  <a:srgbClr val="FF0000"/>
                </a:solidFill>
                <a:latin typeface="Times New Roman"/>
                <a:cs typeface="Times New Roman"/>
              </a:rPr>
              <a:t> </a:t>
            </a:r>
            <a:r>
              <a:rPr sz="1800" b="1" spc="-35" dirty="0">
                <a:solidFill>
                  <a:srgbClr val="FF0000"/>
                </a:solidFill>
                <a:latin typeface="Times New Roman"/>
                <a:cs typeface="Times New Roman"/>
              </a:rPr>
              <a:t>V</a:t>
            </a:r>
            <a:r>
              <a:rPr sz="1800" b="1" spc="-52" baseline="-11574" dirty="0">
                <a:solidFill>
                  <a:srgbClr val="FF0000"/>
                </a:solidFill>
                <a:latin typeface="Times New Roman"/>
                <a:cs typeface="Times New Roman"/>
              </a:rPr>
              <a:t>B</a:t>
            </a:r>
            <a:endParaRPr sz="1800" baseline="-11574">
              <a:latin typeface="Times New Roman"/>
              <a:cs typeface="Times New Roman"/>
            </a:endParaRPr>
          </a:p>
        </p:txBody>
      </p:sp>
      <p:sp>
        <p:nvSpPr>
          <p:cNvPr id="54" name="TextBox 53">
            <a:extLst>
              <a:ext uri="{FF2B5EF4-FFF2-40B4-BE49-F238E27FC236}">
                <a16:creationId xmlns:a16="http://schemas.microsoft.com/office/drawing/2014/main" id="{AB910312-F1DD-1856-B791-EC9C526AD539}"/>
              </a:ext>
            </a:extLst>
          </p:cNvPr>
          <p:cNvSpPr txBox="1"/>
          <p:nvPr/>
        </p:nvSpPr>
        <p:spPr>
          <a:xfrm>
            <a:off x="549564" y="3453942"/>
            <a:ext cx="4729815" cy="738664"/>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Browallia New" panose="020B0604020202020204" pitchFamily="34" charset="-34"/>
              </a:defRPr>
            </a:lvl1pPr>
          </a:lstStyle>
          <a:p>
            <a:r>
              <a:rPr lang="fr-FR" dirty="0"/>
              <a:t>La </a:t>
            </a:r>
            <a:r>
              <a:rPr lang="fr-FR" b="1" dirty="0"/>
              <a:t>constante</a:t>
            </a:r>
            <a:r>
              <a:rPr lang="fr-FR" dirty="0"/>
              <a:t> </a:t>
            </a:r>
            <a:r>
              <a:rPr lang="fr-FR" b="1" dirty="0"/>
              <a:t>R</a:t>
            </a:r>
            <a:r>
              <a:rPr lang="fr-FR" dirty="0"/>
              <a:t> est, par définition, la </a:t>
            </a:r>
            <a:r>
              <a:rPr lang="fr-FR" b="1" dirty="0">
                <a:solidFill>
                  <a:srgbClr val="0000FF"/>
                </a:solidFill>
              </a:rPr>
              <a:t>résistance électrique du conducteur</a:t>
            </a:r>
            <a:r>
              <a:rPr lang="fr-FR" dirty="0"/>
              <a:t>, elle est exprimée en </a:t>
            </a:r>
            <a:r>
              <a:rPr lang="fr-FR" b="1" dirty="0">
                <a:solidFill>
                  <a:srgbClr val="0000FF"/>
                </a:solidFill>
              </a:rPr>
              <a:t>Ohm Ω</a:t>
            </a:r>
          </a:p>
        </p:txBody>
      </p:sp>
    </p:spTree>
    <p:extLst>
      <p:ext uri="{BB962C8B-B14F-4D97-AF65-F5344CB8AC3E}">
        <p14:creationId xmlns:p14="http://schemas.microsoft.com/office/powerpoint/2010/main" val="36202112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23</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76301" y="813354"/>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2.3 </a:t>
            </a:r>
            <a:r>
              <a:rPr lang="fr-FR" altLang="fr-FR" sz="1400" b="1" spc="-5" dirty="0">
                <a:solidFill>
                  <a:srgbClr val="CC00CC"/>
                </a:solidFill>
                <a:latin typeface="Bookman Old Style" panose="02050604050505020204" pitchFamily="18" charset="0"/>
                <a:cs typeface="Arial"/>
              </a:rPr>
              <a:t>Loi d’Ohm </a:t>
            </a:r>
            <a:endParaRPr lang="fr-FR" sz="1400" b="1" spc="-5" dirty="0">
              <a:solidFill>
                <a:srgbClr val="CC00CC"/>
              </a:solidFill>
              <a:latin typeface="Bookman Old Style" panose="02050604050505020204" pitchFamily="18" charset="0"/>
              <a:cs typeface="Arial"/>
            </a:endParaRPr>
          </a:p>
        </p:txBody>
      </p:sp>
      <p:sp>
        <p:nvSpPr>
          <p:cNvPr id="48" name="TextBox 47">
            <a:extLst>
              <a:ext uri="{FF2B5EF4-FFF2-40B4-BE49-F238E27FC236}">
                <a16:creationId xmlns:a16="http://schemas.microsoft.com/office/drawing/2014/main" id="{27BC22C0-BECB-FE81-9B1A-1B62F234F2DE}"/>
              </a:ext>
            </a:extLst>
          </p:cNvPr>
          <p:cNvSpPr txBox="1"/>
          <p:nvPr/>
        </p:nvSpPr>
        <p:spPr>
          <a:xfrm>
            <a:off x="576301" y="1155310"/>
            <a:ext cx="6949720" cy="323165"/>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Browallia New" panose="020B0604020202020204" pitchFamily="34" charset="-34"/>
              </a:defRPr>
            </a:lvl1pPr>
          </a:lstStyle>
          <a:p>
            <a:r>
              <a:rPr lang="fr-FR" sz="1500" dirty="0"/>
              <a:t>Une </a:t>
            </a:r>
            <a:r>
              <a:rPr lang="fr-FR" sz="1500" b="1" dirty="0"/>
              <a:t>résistance</a:t>
            </a:r>
            <a:r>
              <a:rPr lang="fr-FR" sz="1500" dirty="0"/>
              <a:t> est souvent représentée par les </a:t>
            </a:r>
            <a:r>
              <a:rPr lang="fr-FR" sz="1500" b="1" dirty="0"/>
              <a:t>symboles</a:t>
            </a:r>
            <a:r>
              <a:rPr lang="fr-FR" sz="1500" dirty="0"/>
              <a:t> suivants:</a:t>
            </a:r>
          </a:p>
        </p:txBody>
      </p:sp>
      <p:grpSp>
        <p:nvGrpSpPr>
          <p:cNvPr id="50" name="object 12">
            <a:extLst>
              <a:ext uri="{FF2B5EF4-FFF2-40B4-BE49-F238E27FC236}">
                <a16:creationId xmlns:a16="http://schemas.microsoft.com/office/drawing/2014/main" id="{041FACBA-A737-80A3-3B27-507960AFD24E}"/>
              </a:ext>
            </a:extLst>
          </p:cNvPr>
          <p:cNvGrpSpPr/>
          <p:nvPr/>
        </p:nvGrpSpPr>
        <p:grpSpPr>
          <a:xfrm>
            <a:off x="5486400" y="2028772"/>
            <a:ext cx="2875915" cy="246379"/>
            <a:chOff x="5099303" y="2171700"/>
            <a:chExt cx="2875915" cy="246379"/>
          </a:xfrm>
        </p:grpSpPr>
        <p:sp>
          <p:nvSpPr>
            <p:cNvPr id="51" name="object 13">
              <a:extLst>
                <a:ext uri="{FF2B5EF4-FFF2-40B4-BE49-F238E27FC236}">
                  <a16:creationId xmlns:a16="http://schemas.microsoft.com/office/drawing/2014/main" id="{626DFC95-4457-7576-6CDB-207C4FFC2728}"/>
                </a:ext>
              </a:extLst>
            </p:cNvPr>
            <p:cNvSpPr/>
            <p:nvPr/>
          </p:nvSpPr>
          <p:spPr>
            <a:xfrm>
              <a:off x="5112257" y="2184653"/>
              <a:ext cx="2780030" cy="220345"/>
            </a:xfrm>
            <a:custGeom>
              <a:avLst/>
              <a:gdLst/>
              <a:ahLst/>
              <a:cxnLst/>
              <a:rect l="l" t="t" r="r" b="b"/>
              <a:pathLst>
                <a:path w="2780029" h="220344">
                  <a:moveTo>
                    <a:pt x="972312" y="116839"/>
                  </a:moveTo>
                  <a:lnTo>
                    <a:pt x="1059433" y="4444"/>
                  </a:lnTo>
                  <a:lnTo>
                    <a:pt x="1226312" y="220344"/>
                  </a:lnTo>
                  <a:lnTo>
                    <a:pt x="1384427" y="0"/>
                  </a:lnTo>
                  <a:lnTo>
                    <a:pt x="1546987" y="215900"/>
                  </a:lnTo>
                  <a:lnTo>
                    <a:pt x="1709546" y="4444"/>
                  </a:lnTo>
                  <a:lnTo>
                    <a:pt x="1867662" y="220344"/>
                  </a:lnTo>
                  <a:lnTo>
                    <a:pt x="1944496" y="123570"/>
                  </a:lnTo>
                </a:path>
                <a:path w="2780029" h="220344">
                  <a:moveTo>
                    <a:pt x="1933956" y="123443"/>
                  </a:moveTo>
                  <a:lnTo>
                    <a:pt x="2779521" y="123443"/>
                  </a:lnTo>
                </a:path>
                <a:path w="2780029" h="220344">
                  <a:moveTo>
                    <a:pt x="0" y="126364"/>
                  </a:moveTo>
                  <a:lnTo>
                    <a:pt x="982599" y="117347"/>
                  </a:lnTo>
                </a:path>
              </a:pathLst>
            </a:custGeom>
            <a:ln w="25908">
              <a:solidFill>
                <a:srgbClr val="000000"/>
              </a:solidFill>
            </a:ln>
          </p:spPr>
          <p:txBody>
            <a:bodyPr wrap="square" lIns="0" tIns="0" rIns="0" bIns="0" rtlCol="0"/>
            <a:lstStyle/>
            <a:p>
              <a:endParaRPr/>
            </a:p>
          </p:txBody>
        </p:sp>
        <p:pic>
          <p:nvPicPr>
            <p:cNvPr id="52" name="object 14">
              <a:extLst>
                <a:ext uri="{FF2B5EF4-FFF2-40B4-BE49-F238E27FC236}">
                  <a16:creationId xmlns:a16="http://schemas.microsoft.com/office/drawing/2014/main" id="{F0557571-E782-717F-0454-09AF14ED98E8}"/>
                </a:ext>
              </a:extLst>
            </p:cNvPr>
            <p:cNvPicPr/>
            <p:nvPr/>
          </p:nvPicPr>
          <p:blipFill>
            <a:blip r:embed="rId3" cstate="print"/>
            <a:stretch>
              <a:fillRect/>
            </a:stretch>
          </p:blipFill>
          <p:spPr>
            <a:xfrm>
              <a:off x="5111495" y="2243327"/>
              <a:ext cx="134112" cy="134112"/>
            </a:xfrm>
            <a:prstGeom prst="rect">
              <a:avLst/>
            </a:prstGeom>
          </p:spPr>
        </p:pic>
        <p:pic>
          <p:nvPicPr>
            <p:cNvPr id="53" name="object 15">
              <a:extLst>
                <a:ext uri="{FF2B5EF4-FFF2-40B4-BE49-F238E27FC236}">
                  <a16:creationId xmlns:a16="http://schemas.microsoft.com/office/drawing/2014/main" id="{8813B765-2917-3312-78E8-4480F12D7679}"/>
                </a:ext>
              </a:extLst>
            </p:cNvPr>
            <p:cNvPicPr/>
            <p:nvPr/>
          </p:nvPicPr>
          <p:blipFill>
            <a:blip r:embed="rId3" cstate="print"/>
            <a:stretch>
              <a:fillRect/>
            </a:stretch>
          </p:blipFill>
          <p:spPr>
            <a:xfrm>
              <a:off x="7840979" y="2234184"/>
              <a:ext cx="134111" cy="134112"/>
            </a:xfrm>
            <a:prstGeom prst="rect">
              <a:avLst/>
            </a:prstGeom>
          </p:spPr>
        </p:pic>
        <p:pic>
          <p:nvPicPr>
            <p:cNvPr id="55" name="object 16">
              <a:extLst>
                <a:ext uri="{FF2B5EF4-FFF2-40B4-BE49-F238E27FC236}">
                  <a16:creationId xmlns:a16="http://schemas.microsoft.com/office/drawing/2014/main" id="{CEAEBB90-80D9-AC3B-C105-DB44A3963E97}"/>
                </a:ext>
              </a:extLst>
            </p:cNvPr>
            <p:cNvPicPr/>
            <p:nvPr/>
          </p:nvPicPr>
          <p:blipFill>
            <a:blip r:embed="rId4" cstate="print"/>
            <a:stretch>
              <a:fillRect/>
            </a:stretch>
          </p:blipFill>
          <p:spPr>
            <a:xfrm>
              <a:off x="5861430" y="2240280"/>
              <a:ext cx="130429" cy="132461"/>
            </a:xfrm>
            <a:prstGeom prst="rect">
              <a:avLst/>
            </a:prstGeom>
          </p:spPr>
        </p:pic>
        <p:sp>
          <p:nvSpPr>
            <p:cNvPr id="56" name="object 17">
              <a:extLst>
                <a:ext uri="{FF2B5EF4-FFF2-40B4-BE49-F238E27FC236}">
                  <a16:creationId xmlns:a16="http://schemas.microsoft.com/office/drawing/2014/main" id="{2A9CF821-4A5D-9F21-CFFF-C3A8714A94C7}"/>
                </a:ext>
              </a:extLst>
            </p:cNvPr>
            <p:cNvSpPr/>
            <p:nvPr/>
          </p:nvSpPr>
          <p:spPr>
            <a:xfrm>
              <a:off x="5356860" y="2292222"/>
              <a:ext cx="607060" cy="28575"/>
            </a:xfrm>
            <a:custGeom>
              <a:avLst/>
              <a:gdLst/>
              <a:ahLst/>
              <a:cxnLst/>
              <a:rect l="l" t="t" r="r" b="b"/>
              <a:pathLst>
                <a:path w="607060" h="28575">
                  <a:moveTo>
                    <a:pt x="606628" y="2019"/>
                  </a:moveTo>
                  <a:lnTo>
                    <a:pt x="606552" y="0"/>
                  </a:lnTo>
                  <a:lnTo>
                    <a:pt x="553720" y="0"/>
                  </a:lnTo>
                  <a:lnTo>
                    <a:pt x="0" y="0"/>
                  </a:lnTo>
                  <a:lnTo>
                    <a:pt x="0" y="28575"/>
                  </a:lnTo>
                  <a:lnTo>
                    <a:pt x="553720" y="28575"/>
                  </a:lnTo>
                  <a:lnTo>
                    <a:pt x="578231" y="14351"/>
                  </a:lnTo>
                  <a:lnTo>
                    <a:pt x="599440" y="26670"/>
                  </a:lnTo>
                  <a:lnTo>
                    <a:pt x="606628" y="26670"/>
                  </a:lnTo>
                  <a:lnTo>
                    <a:pt x="606628" y="2019"/>
                  </a:lnTo>
                  <a:close/>
                </a:path>
              </a:pathLst>
            </a:custGeom>
            <a:solidFill>
              <a:srgbClr val="943735"/>
            </a:solidFill>
          </p:spPr>
          <p:txBody>
            <a:bodyPr wrap="square" lIns="0" tIns="0" rIns="0" bIns="0" rtlCol="0"/>
            <a:lstStyle/>
            <a:p>
              <a:endParaRPr/>
            </a:p>
          </p:txBody>
        </p:sp>
      </p:grpSp>
      <p:sp>
        <p:nvSpPr>
          <p:cNvPr id="57" name="object 18">
            <a:extLst>
              <a:ext uri="{FF2B5EF4-FFF2-40B4-BE49-F238E27FC236}">
                <a16:creationId xmlns:a16="http://schemas.microsoft.com/office/drawing/2014/main" id="{2CCC05DD-61AE-BD67-CA6B-C890432C8255}"/>
              </a:ext>
            </a:extLst>
          </p:cNvPr>
          <p:cNvSpPr txBox="1"/>
          <p:nvPr/>
        </p:nvSpPr>
        <p:spPr>
          <a:xfrm>
            <a:off x="6839839" y="1605226"/>
            <a:ext cx="190500" cy="299720"/>
          </a:xfrm>
          <a:prstGeom prst="rect">
            <a:avLst/>
          </a:prstGeom>
        </p:spPr>
        <p:txBody>
          <a:bodyPr vert="horz" wrap="square" lIns="0" tIns="12700" rIns="0" bIns="0" rtlCol="0">
            <a:spAutoFit/>
          </a:bodyPr>
          <a:lstStyle/>
          <a:p>
            <a:pPr marL="12700">
              <a:lnSpc>
                <a:spcPct val="100000"/>
              </a:lnSpc>
              <a:spcBef>
                <a:spcPts val="100"/>
              </a:spcBef>
            </a:pPr>
            <a:r>
              <a:rPr sz="1800" b="1" spc="-50" dirty="0">
                <a:latin typeface="Times New Roman"/>
                <a:cs typeface="Times New Roman"/>
              </a:rPr>
              <a:t>R</a:t>
            </a:r>
            <a:endParaRPr sz="1800" dirty="0">
              <a:latin typeface="Times New Roman"/>
              <a:cs typeface="Times New Roman"/>
            </a:endParaRPr>
          </a:p>
        </p:txBody>
      </p:sp>
      <p:sp>
        <p:nvSpPr>
          <p:cNvPr id="58" name="object 19">
            <a:extLst>
              <a:ext uri="{FF2B5EF4-FFF2-40B4-BE49-F238E27FC236}">
                <a16:creationId xmlns:a16="http://schemas.microsoft.com/office/drawing/2014/main" id="{5653E368-D519-F72A-9CC9-2A9143B843CC}"/>
              </a:ext>
            </a:extLst>
          </p:cNvPr>
          <p:cNvSpPr txBox="1"/>
          <p:nvPr/>
        </p:nvSpPr>
        <p:spPr>
          <a:xfrm>
            <a:off x="5919979" y="1787802"/>
            <a:ext cx="114935" cy="300355"/>
          </a:xfrm>
          <a:prstGeom prst="rect">
            <a:avLst/>
          </a:prstGeom>
        </p:spPr>
        <p:txBody>
          <a:bodyPr vert="horz" wrap="square" lIns="0" tIns="12700" rIns="0" bIns="0" rtlCol="0">
            <a:spAutoFit/>
          </a:bodyPr>
          <a:lstStyle/>
          <a:p>
            <a:pPr marL="12700">
              <a:lnSpc>
                <a:spcPct val="100000"/>
              </a:lnSpc>
              <a:spcBef>
                <a:spcPts val="100"/>
              </a:spcBef>
            </a:pPr>
            <a:r>
              <a:rPr sz="1800" b="1" spc="-50" dirty="0">
                <a:solidFill>
                  <a:srgbClr val="943735"/>
                </a:solidFill>
                <a:latin typeface="Times New Roman"/>
                <a:cs typeface="Times New Roman"/>
              </a:rPr>
              <a:t>I</a:t>
            </a:r>
            <a:endParaRPr sz="1800">
              <a:latin typeface="Times New Roman"/>
              <a:cs typeface="Times New Roman"/>
            </a:endParaRPr>
          </a:p>
        </p:txBody>
      </p:sp>
      <p:sp>
        <p:nvSpPr>
          <p:cNvPr id="59" name="object 20">
            <a:extLst>
              <a:ext uri="{FF2B5EF4-FFF2-40B4-BE49-F238E27FC236}">
                <a16:creationId xmlns:a16="http://schemas.microsoft.com/office/drawing/2014/main" id="{705437FD-2061-E98D-37F3-F4D57BD6C04C}"/>
              </a:ext>
            </a:extLst>
          </p:cNvPr>
          <p:cNvSpPr txBox="1"/>
          <p:nvPr/>
        </p:nvSpPr>
        <p:spPr>
          <a:xfrm>
            <a:off x="5435855" y="2215080"/>
            <a:ext cx="306705" cy="299720"/>
          </a:xfrm>
          <a:prstGeom prst="rect">
            <a:avLst/>
          </a:prstGeom>
        </p:spPr>
        <p:txBody>
          <a:bodyPr vert="horz" wrap="square" lIns="0" tIns="12700" rIns="0" bIns="0" rtlCol="0">
            <a:spAutoFit/>
          </a:bodyPr>
          <a:lstStyle/>
          <a:p>
            <a:pPr marL="38100">
              <a:lnSpc>
                <a:spcPct val="100000"/>
              </a:lnSpc>
              <a:spcBef>
                <a:spcPts val="100"/>
              </a:spcBef>
            </a:pPr>
            <a:r>
              <a:rPr sz="1800" b="1" spc="-55" dirty="0">
                <a:solidFill>
                  <a:srgbClr val="C00000"/>
                </a:solidFill>
                <a:latin typeface="Times New Roman"/>
                <a:cs typeface="Times New Roman"/>
              </a:rPr>
              <a:t>V</a:t>
            </a:r>
            <a:r>
              <a:rPr sz="1800" b="1" spc="-82" baseline="-11574" dirty="0">
                <a:solidFill>
                  <a:srgbClr val="C00000"/>
                </a:solidFill>
                <a:latin typeface="Times New Roman"/>
                <a:cs typeface="Times New Roman"/>
              </a:rPr>
              <a:t>A</a:t>
            </a:r>
            <a:endParaRPr sz="1800" baseline="-11574" dirty="0">
              <a:solidFill>
                <a:srgbClr val="C00000"/>
              </a:solidFill>
              <a:latin typeface="Times New Roman"/>
              <a:cs typeface="Times New Roman"/>
            </a:endParaRPr>
          </a:p>
        </p:txBody>
      </p:sp>
      <p:sp>
        <p:nvSpPr>
          <p:cNvPr id="60" name="object 21">
            <a:extLst>
              <a:ext uri="{FF2B5EF4-FFF2-40B4-BE49-F238E27FC236}">
                <a16:creationId xmlns:a16="http://schemas.microsoft.com/office/drawing/2014/main" id="{736161BD-E6F5-70F6-DBBE-95058A89FB93}"/>
              </a:ext>
            </a:extLst>
          </p:cNvPr>
          <p:cNvSpPr txBox="1"/>
          <p:nvPr/>
        </p:nvSpPr>
        <p:spPr>
          <a:xfrm>
            <a:off x="8181467" y="2181552"/>
            <a:ext cx="342900" cy="299720"/>
          </a:xfrm>
          <a:prstGeom prst="rect">
            <a:avLst/>
          </a:prstGeom>
        </p:spPr>
        <p:txBody>
          <a:bodyPr vert="horz" wrap="square" lIns="0" tIns="12700" rIns="0" bIns="0" rtlCol="0">
            <a:spAutoFit/>
          </a:bodyPr>
          <a:lstStyle/>
          <a:p>
            <a:pPr marL="38100">
              <a:lnSpc>
                <a:spcPct val="100000"/>
              </a:lnSpc>
              <a:spcBef>
                <a:spcPts val="100"/>
              </a:spcBef>
            </a:pPr>
            <a:r>
              <a:rPr sz="1800" b="1" spc="-25" dirty="0">
                <a:solidFill>
                  <a:srgbClr val="C00000"/>
                </a:solidFill>
                <a:latin typeface="Times New Roman"/>
                <a:cs typeface="Times New Roman"/>
              </a:rPr>
              <a:t>V</a:t>
            </a:r>
            <a:r>
              <a:rPr sz="1800" b="1" spc="-37" baseline="-11574" dirty="0">
                <a:solidFill>
                  <a:srgbClr val="C00000"/>
                </a:solidFill>
                <a:latin typeface="Times New Roman"/>
                <a:cs typeface="Times New Roman"/>
              </a:rPr>
              <a:t>B</a:t>
            </a:r>
            <a:endParaRPr sz="1800" baseline="-11574" dirty="0">
              <a:solidFill>
                <a:srgbClr val="C00000"/>
              </a:solidFill>
              <a:latin typeface="Times New Roman"/>
              <a:cs typeface="Times New Roman"/>
            </a:endParaRPr>
          </a:p>
        </p:txBody>
      </p:sp>
      <p:grpSp>
        <p:nvGrpSpPr>
          <p:cNvPr id="61" name="object 22">
            <a:extLst>
              <a:ext uri="{FF2B5EF4-FFF2-40B4-BE49-F238E27FC236}">
                <a16:creationId xmlns:a16="http://schemas.microsoft.com/office/drawing/2014/main" id="{0DE5A427-8730-E2EE-F314-FA223C2EE044}"/>
              </a:ext>
            </a:extLst>
          </p:cNvPr>
          <p:cNvGrpSpPr/>
          <p:nvPr/>
        </p:nvGrpSpPr>
        <p:grpSpPr>
          <a:xfrm>
            <a:off x="5902452" y="2463111"/>
            <a:ext cx="2180590" cy="132715"/>
            <a:chOff x="5515355" y="2606039"/>
            <a:chExt cx="2180590" cy="132715"/>
          </a:xfrm>
        </p:grpSpPr>
        <p:pic>
          <p:nvPicPr>
            <p:cNvPr id="62" name="object 23">
              <a:extLst>
                <a:ext uri="{FF2B5EF4-FFF2-40B4-BE49-F238E27FC236}">
                  <a16:creationId xmlns:a16="http://schemas.microsoft.com/office/drawing/2014/main" id="{07C9F710-9387-1164-484A-35AD0112FD2C}"/>
                </a:ext>
              </a:extLst>
            </p:cNvPr>
            <p:cNvPicPr/>
            <p:nvPr/>
          </p:nvPicPr>
          <p:blipFill>
            <a:blip r:embed="rId5" cstate="print"/>
            <a:stretch>
              <a:fillRect/>
            </a:stretch>
          </p:blipFill>
          <p:spPr>
            <a:xfrm>
              <a:off x="5515355" y="2606039"/>
              <a:ext cx="130429" cy="132461"/>
            </a:xfrm>
            <a:prstGeom prst="rect">
              <a:avLst/>
            </a:prstGeom>
          </p:spPr>
        </p:pic>
        <p:sp>
          <p:nvSpPr>
            <p:cNvPr id="63" name="object 24">
              <a:extLst>
                <a:ext uri="{FF2B5EF4-FFF2-40B4-BE49-F238E27FC236}">
                  <a16:creationId xmlns:a16="http://schemas.microsoft.com/office/drawing/2014/main" id="{0AE2D13C-C78D-AA78-521A-67B1EB4A6B4F}"/>
                </a:ext>
              </a:extLst>
            </p:cNvPr>
            <p:cNvSpPr/>
            <p:nvPr/>
          </p:nvSpPr>
          <p:spPr>
            <a:xfrm>
              <a:off x="5543677" y="2657982"/>
              <a:ext cx="2152015" cy="28575"/>
            </a:xfrm>
            <a:custGeom>
              <a:avLst/>
              <a:gdLst/>
              <a:ahLst/>
              <a:cxnLst/>
              <a:rect l="l" t="t" r="r" b="b"/>
              <a:pathLst>
                <a:path w="2152015" h="28575">
                  <a:moveTo>
                    <a:pt x="2152015" y="0"/>
                  </a:moveTo>
                  <a:lnTo>
                    <a:pt x="52832" y="0"/>
                  </a:lnTo>
                  <a:lnTo>
                    <a:pt x="0" y="0"/>
                  </a:lnTo>
                  <a:lnTo>
                    <a:pt x="0" y="28575"/>
                  </a:lnTo>
                  <a:lnTo>
                    <a:pt x="52832" y="28575"/>
                  </a:lnTo>
                  <a:lnTo>
                    <a:pt x="2152015" y="28575"/>
                  </a:lnTo>
                  <a:lnTo>
                    <a:pt x="2152015" y="0"/>
                  </a:lnTo>
                  <a:close/>
                </a:path>
              </a:pathLst>
            </a:custGeom>
            <a:solidFill>
              <a:srgbClr val="943735"/>
            </a:solidFill>
          </p:spPr>
          <p:txBody>
            <a:bodyPr wrap="square" lIns="0" tIns="0" rIns="0" bIns="0" rtlCol="0"/>
            <a:lstStyle/>
            <a:p>
              <a:endParaRPr/>
            </a:p>
          </p:txBody>
        </p:sp>
      </p:grpSp>
      <p:sp>
        <p:nvSpPr>
          <p:cNvPr id="64" name="object 25">
            <a:extLst>
              <a:ext uri="{FF2B5EF4-FFF2-40B4-BE49-F238E27FC236}">
                <a16:creationId xmlns:a16="http://schemas.microsoft.com/office/drawing/2014/main" id="{40D6D696-6F61-8BD1-6AE9-7E4D39664F58}"/>
              </a:ext>
            </a:extLst>
          </p:cNvPr>
          <p:cNvSpPr txBox="1"/>
          <p:nvPr/>
        </p:nvSpPr>
        <p:spPr>
          <a:xfrm>
            <a:off x="6401436" y="2571697"/>
            <a:ext cx="1124585" cy="299720"/>
          </a:xfrm>
          <a:prstGeom prst="rect">
            <a:avLst/>
          </a:prstGeom>
        </p:spPr>
        <p:txBody>
          <a:bodyPr vert="horz" wrap="square" lIns="0" tIns="12700" rIns="0" bIns="0" rtlCol="0">
            <a:spAutoFit/>
          </a:bodyPr>
          <a:lstStyle/>
          <a:p>
            <a:pPr marL="38100">
              <a:lnSpc>
                <a:spcPct val="100000"/>
              </a:lnSpc>
              <a:spcBef>
                <a:spcPts val="100"/>
              </a:spcBef>
            </a:pPr>
            <a:r>
              <a:rPr sz="1800" b="1" dirty="0">
                <a:solidFill>
                  <a:srgbClr val="C00000"/>
                </a:solidFill>
                <a:latin typeface="Times New Roman"/>
                <a:cs typeface="Times New Roman"/>
              </a:rPr>
              <a:t>V</a:t>
            </a:r>
            <a:r>
              <a:rPr sz="1800" b="1" spc="-80" dirty="0">
                <a:solidFill>
                  <a:srgbClr val="C00000"/>
                </a:solidFill>
                <a:latin typeface="Times New Roman"/>
                <a:cs typeface="Times New Roman"/>
              </a:rPr>
              <a:t> </a:t>
            </a:r>
            <a:r>
              <a:rPr sz="1800" b="1" dirty="0">
                <a:solidFill>
                  <a:srgbClr val="C00000"/>
                </a:solidFill>
                <a:latin typeface="Times New Roman"/>
                <a:cs typeface="Times New Roman"/>
              </a:rPr>
              <a:t>=</a:t>
            </a:r>
            <a:r>
              <a:rPr sz="1800" b="1" spc="-75" dirty="0">
                <a:solidFill>
                  <a:srgbClr val="C00000"/>
                </a:solidFill>
                <a:latin typeface="Times New Roman"/>
                <a:cs typeface="Times New Roman"/>
              </a:rPr>
              <a:t> </a:t>
            </a:r>
            <a:r>
              <a:rPr sz="1800" b="1" spc="-125" dirty="0">
                <a:solidFill>
                  <a:srgbClr val="C00000"/>
                </a:solidFill>
                <a:latin typeface="Times New Roman"/>
                <a:cs typeface="Times New Roman"/>
              </a:rPr>
              <a:t>V</a:t>
            </a:r>
            <a:r>
              <a:rPr sz="1800" b="1" spc="-187" baseline="-11574" dirty="0">
                <a:solidFill>
                  <a:srgbClr val="C00000"/>
                </a:solidFill>
                <a:latin typeface="Times New Roman"/>
                <a:cs typeface="Times New Roman"/>
              </a:rPr>
              <a:t>A</a:t>
            </a:r>
            <a:r>
              <a:rPr sz="1800" b="1" spc="-225" baseline="-11574" dirty="0">
                <a:solidFill>
                  <a:srgbClr val="C00000"/>
                </a:solidFill>
                <a:latin typeface="Times New Roman"/>
                <a:cs typeface="Times New Roman"/>
              </a:rPr>
              <a:t> </a:t>
            </a:r>
            <a:r>
              <a:rPr sz="1800" b="1" dirty="0">
                <a:solidFill>
                  <a:srgbClr val="C00000"/>
                </a:solidFill>
                <a:latin typeface="Times New Roman"/>
                <a:cs typeface="Times New Roman"/>
              </a:rPr>
              <a:t>-</a:t>
            </a:r>
            <a:r>
              <a:rPr sz="1800" b="1" spc="-70" dirty="0">
                <a:solidFill>
                  <a:srgbClr val="C00000"/>
                </a:solidFill>
                <a:latin typeface="Times New Roman"/>
                <a:cs typeface="Times New Roman"/>
              </a:rPr>
              <a:t> </a:t>
            </a:r>
            <a:r>
              <a:rPr sz="1800" b="1" spc="-35" dirty="0">
                <a:solidFill>
                  <a:srgbClr val="C00000"/>
                </a:solidFill>
                <a:latin typeface="Times New Roman"/>
                <a:cs typeface="Times New Roman"/>
              </a:rPr>
              <a:t>V</a:t>
            </a:r>
            <a:r>
              <a:rPr sz="1800" b="1" spc="-52" baseline="-11574" dirty="0">
                <a:solidFill>
                  <a:srgbClr val="C00000"/>
                </a:solidFill>
                <a:latin typeface="Times New Roman"/>
                <a:cs typeface="Times New Roman"/>
              </a:rPr>
              <a:t>B</a:t>
            </a:r>
            <a:endParaRPr sz="1800" baseline="-11574" dirty="0">
              <a:solidFill>
                <a:srgbClr val="C00000"/>
              </a:solidFill>
              <a:latin typeface="Times New Roman"/>
              <a:cs typeface="Times New Roman"/>
            </a:endParaRPr>
          </a:p>
        </p:txBody>
      </p:sp>
      <p:sp>
        <p:nvSpPr>
          <p:cNvPr id="65" name="object 48">
            <a:extLst>
              <a:ext uri="{FF2B5EF4-FFF2-40B4-BE49-F238E27FC236}">
                <a16:creationId xmlns:a16="http://schemas.microsoft.com/office/drawing/2014/main" id="{0A35BA75-8D68-38F3-3914-8638829B54FD}"/>
              </a:ext>
            </a:extLst>
          </p:cNvPr>
          <p:cNvSpPr txBox="1"/>
          <p:nvPr/>
        </p:nvSpPr>
        <p:spPr>
          <a:xfrm>
            <a:off x="5451730" y="1732938"/>
            <a:ext cx="191135" cy="300355"/>
          </a:xfrm>
          <a:prstGeom prst="rect">
            <a:avLst/>
          </a:prstGeom>
        </p:spPr>
        <p:txBody>
          <a:bodyPr vert="horz" wrap="square" lIns="0" tIns="12700" rIns="0" bIns="0" rtlCol="0">
            <a:spAutoFit/>
          </a:bodyPr>
          <a:lstStyle/>
          <a:p>
            <a:pPr marL="12700">
              <a:lnSpc>
                <a:spcPct val="100000"/>
              </a:lnSpc>
              <a:spcBef>
                <a:spcPts val="100"/>
              </a:spcBef>
            </a:pPr>
            <a:r>
              <a:rPr sz="1800" b="1" spc="-50" dirty="0">
                <a:solidFill>
                  <a:srgbClr val="FF0000"/>
                </a:solidFill>
                <a:latin typeface="Times New Roman"/>
                <a:cs typeface="Times New Roman"/>
              </a:rPr>
              <a:t>A</a:t>
            </a:r>
            <a:endParaRPr sz="1800">
              <a:latin typeface="Times New Roman"/>
              <a:cs typeface="Times New Roman"/>
            </a:endParaRPr>
          </a:p>
        </p:txBody>
      </p:sp>
      <p:sp>
        <p:nvSpPr>
          <p:cNvPr id="66" name="object 49">
            <a:extLst>
              <a:ext uri="{FF2B5EF4-FFF2-40B4-BE49-F238E27FC236}">
                <a16:creationId xmlns:a16="http://schemas.microsoft.com/office/drawing/2014/main" id="{774CC28E-3F1C-532F-FB80-F92EF32F7A5D}"/>
              </a:ext>
            </a:extLst>
          </p:cNvPr>
          <p:cNvSpPr txBox="1"/>
          <p:nvPr/>
        </p:nvSpPr>
        <p:spPr>
          <a:xfrm>
            <a:off x="8197724" y="1726842"/>
            <a:ext cx="178435" cy="300355"/>
          </a:xfrm>
          <a:prstGeom prst="rect">
            <a:avLst/>
          </a:prstGeom>
        </p:spPr>
        <p:txBody>
          <a:bodyPr vert="horz" wrap="square" lIns="0" tIns="12700" rIns="0" bIns="0" rtlCol="0">
            <a:spAutoFit/>
          </a:bodyPr>
          <a:lstStyle/>
          <a:p>
            <a:pPr marL="12700">
              <a:lnSpc>
                <a:spcPct val="100000"/>
              </a:lnSpc>
              <a:spcBef>
                <a:spcPts val="100"/>
              </a:spcBef>
            </a:pPr>
            <a:r>
              <a:rPr sz="1800" b="1" spc="-50" dirty="0">
                <a:solidFill>
                  <a:srgbClr val="FF0000"/>
                </a:solidFill>
                <a:latin typeface="Times New Roman"/>
                <a:cs typeface="Times New Roman"/>
              </a:rPr>
              <a:t>B</a:t>
            </a:r>
            <a:endParaRPr sz="1800">
              <a:latin typeface="Times New Roman"/>
              <a:cs typeface="Times New Roman"/>
            </a:endParaRPr>
          </a:p>
        </p:txBody>
      </p:sp>
      <p:sp>
        <p:nvSpPr>
          <p:cNvPr id="67" name="Rectangle 66">
            <a:extLst>
              <a:ext uri="{FF2B5EF4-FFF2-40B4-BE49-F238E27FC236}">
                <a16:creationId xmlns:a16="http://schemas.microsoft.com/office/drawing/2014/main" id="{FDA51D03-CC8D-CC05-17E1-51B22FA8D8FD}"/>
              </a:ext>
            </a:extLst>
          </p:cNvPr>
          <p:cNvSpPr/>
          <p:nvPr/>
        </p:nvSpPr>
        <p:spPr>
          <a:xfrm>
            <a:off x="1314582" y="1762744"/>
            <a:ext cx="2147571" cy="67530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9" name="TextBox 68">
            <a:extLst>
              <a:ext uri="{FF2B5EF4-FFF2-40B4-BE49-F238E27FC236}">
                <a16:creationId xmlns:a16="http://schemas.microsoft.com/office/drawing/2014/main" id="{876CF5F8-42FE-61CC-7F74-C504163B1CEF}"/>
              </a:ext>
            </a:extLst>
          </p:cNvPr>
          <p:cNvSpPr txBox="1"/>
          <p:nvPr/>
        </p:nvSpPr>
        <p:spPr>
          <a:xfrm>
            <a:off x="4417957" y="1882180"/>
            <a:ext cx="1566263" cy="400110"/>
          </a:xfrm>
          <a:prstGeom prst="rect">
            <a:avLst/>
          </a:prstGeom>
          <a:noFill/>
        </p:spPr>
        <p:txBody>
          <a:bodyPr wrap="square">
            <a:spAutoFit/>
          </a:bodyPr>
          <a:lstStyle/>
          <a:p>
            <a:r>
              <a:rPr lang="fr-FR" sz="2000" b="1" dirty="0">
                <a:solidFill>
                  <a:srgbClr val="0000FF"/>
                </a:solidFill>
                <a:latin typeface="Bookman Old Style" panose="02050604050505020204" pitchFamily="18" charset="0"/>
              </a:rPr>
              <a:t>OU</a:t>
            </a:r>
          </a:p>
        </p:txBody>
      </p:sp>
      <p:cxnSp>
        <p:nvCxnSpPr>
          <p:cNvPr id="71" name="Straight Connector 70">
            <a:extLst>
              <a:ext uri="{FF2B5EF4-FFF2-40B4-BE49-F238E27FC236}">
                <a16:creationId xmlns:a16="http://schemas.microsoft.com/office/drawing/2014/main" id="{5054CA7E-4DAA-09BC-D6F1-844555912D21}"/>
              </a:ext>
            </a:extLst>
          </p:cNvPr>
          <p:cNvCxnSpPr>
            <a:cxnSpLocks/>
            <a:endCxn id="67" idx="1"/>
          </p:cNvCxnSpPr>
          <p:nvPr/>
        </p:nvCxnSpPr>
        <p:spPr>
          <a:xfrm>
            <a:off x="697881" y="2100399"/>
            <a:ext cx="61670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07CD0977-CBBC-0811-19AC-022FEA805A58}"/>
              </a:ext>
            </a:extLst>
          </p:cNvPr>
          <p:cNvCxnSpPr>
            <a:cxnSpLocks/>
          </p:cNvCxnSpPr>
          <p:nvPr/>
        </p:nvCxnSpPr>
        <p:spPr>
          <a:xfrm>
            <a:off x="3462153" y="2108892"/>
            <a:ext cx="61670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object 48">
            <a:extLst>
              <a:ext uri="{FF2B5EF4-FFF2-40B4-BE49-F238E27FC236}">
                <a16:creationId xmlns:a16="http://schemas.microsoft.com/office/drawing/2014/main" id="{D7C421C0-7587-BDCB-B79C-017DA3198463}"/>
              </a:ext>
            </a:extLst>
          </p:cNvPr>
          <p:cNvSpPr txBox="1"/>
          <p:nvPr/>
        </p:nvSpPr>
        <p:spPr>
          <a:xfrm>
            <a:off x="1040644" y="1747644"/>
            <a:ext cx="191135" cy="300355"/>
          </a:xfrm>
          <a:prstGeom prst="rect">
            <a:avLst/>
          </a:prstGeom>
        </p:spPr>
        <p:txBody>
          <a:bodyPr vert="horz" wrap="square" lIns="0" tIns="12700" rIns="0" bIns="0" rtlCol="0">
            <a:spAutoFit/>
          </a:bodyPr>
          <a:lstStyle/>
          <a:p>
            <a:pPr marL="12700">
              <a:lnSpc>
                <a:spcPct val="100000"/>
              </a:lnSpc>
              <a:spcBef>
                <a:spcPts val="100"/>
              </a:spcBef>
            </a:pPr>
            <a:r>
              <a:rPr sz="1800" b="1" spc="-50" dirty="0">
                <a:solidFill>
                  <a:srgbClr val="FF0000"/>
                </a:solidFill>
                <a:latin typeface="Times New Roman"/>
                <a:cs typeface="Times New Roman"/>
              </a:rPr>
              <a:t>A</a:t>
            </a:r>
            <a:endParaRPr sz="1800">
              <a:latin typeface="Times New Roman"/>
              <a:cs typeface="Times New Roman"/>
            </a:endParaRPr>
          </a:p>
        </p:txBody>
      </p:sp>
      <p:sp>
        <p:nvSpPr>
          <p:cNvPr id="75" name="object 49">
            <a:extLst>
              <a:ext uri="{FF2B5EF4-FFF2-40B4-BE49-F238E27FC236}">
                <a16:creationId xmlns:a16="http://schemas.microsoft.com/office/drawing/2014/main" id="{74B1134F-DB4D-352C-EF32-A9F7285EBBE1}"/>
              </a:ext>
            </a:extLst>
          </p:cNvPr>
          <p:cNvSpPr txBox="1"/>
          <p:nvPr/>
        </p:nvSpPr>
        <p:spPr>
          <a:xfrm>
            <a:off x="3519079" y="1810006"/>
            <a:ext cx="178435" cy="300355"/>
          </a:xfrm>
          <a:prstGeom prst="rect">
            <a:avLst/>
          </a:prstGeom>
        </p:spPr>
        <p:txBody>
          <a:bodyPr vert="horz" wrap="square" lIns="0" tIns="12700" rIns="0" bIns="0" rtlCol="0">
            <a:spAutoFit/>
          </a:bodyPr>
          <a:lstStyle/>
          <a:p>
            <a:pPr marL="12700">
              <a:lnSpc>
                <a:spcPct val="100000"/>
              </a:lnSpc>
              <a:spcBef>
                <a:spcPts val="100"/>
              </a:spcBef>
            </a:pPr>
            <a:r>
              <a:rPr sz="1800" b="1" spc="-50" dirty="0">
                <a:solidFill>
                  <a:srgbClr val="FF0000"/>
                </a:solidFill>
                <a:latin typeface="Times New Roman"/>
                <a:cs typeface="Times New Roman"/>
              </a:rPr>
              <a:t>B</a:t>
            </a:r>
            <a:endParaRPr sz="1800">
              <a:latin typeface="Times New Roman"/>
              <a:cs typeface="Times New Roman"/>
            </a:endParaRPr>
          </a:p>
        </p:txBody>
      </p:sp>
      <p:sp>
        <p:nvSpPr>
          <p:cNvPr id="76" name="object 18">
            <a:extLst>
              <a:ext uri="{FF2B5EF4-FFF2-40B4-BE49-F238E27FC236}">
                <a16:creationId xmlns:a16="http://schemas.microsoft.com/office/drawing/2014/main" id="{A9649CF5-DAC5-559D-1880-6D6541DB483E}"/>
              </a:ext>
            </a:extLst>
          </p:cNvPr>
          <p:cNvSpPr txBox="1"/>
          <p:nvPr/>
        </p:nvSpPr>
        <p:spPr>
          <a:xfrm>
            <a:off x="2226899" y="1834211"/>
            <a:ext cx="190500" cy="351378"/>
          </a:xfrm>
          <a:prstGeom prst="rect">
            <a:avLst/>
          </a:prstGeom>
        </p:spPr>
        <p:txBody>
          <a:bodyPr vert="horz" wrap="square" lIns="0" tIns="12700" rIns="0" bIns="0" rtlCol="0">
            <a:spAutoFit/>
          </a:bodyPr>
          <a:lstStyle/>
          <a:p>
            <a:pPr marL="12700">
              <a:lnSpc>
                <a:spcPct val="100000"/>
              </a:lnSpc>
              <a:spcBef>
                <a:spcPts val="100"/>
              </a:spcBef>
            </a:pPr>
            <a:r>
              <a:rPr sz="2200" b="1" spc="-50" dirty="0">
                <a:latin typeface="Times New Roman"/>
                <a:cs typeface="Times New Roman"/>
              </a:rPr>
              <a:t>R</a:t>
            </a:r>
            <a:endParaRPr sz="2200" dirty="0">
              <a:latin typeface="Times New Roman"/>
              <a:cs typeface="Times New Roman"/>
            </a:endParaRPr>
          </a:p>
        </p:txBody>
      </p:sp>
      <p:sp>
        <p:nvSpPr>
          <p:cNvPr id="82" name="object 20">
            <a:extLst>
              <a:ext uri="{FF2B5EF4-FFF2-40B4-BE49-F238E27FC236}">
                <a16:creationId xmlns:a16="http://schemas.microsoft.com/office/drawing/2014/main" id="{6C7DF6B7-28A7-13A9-07D2-81F3D60EEC89}"/>
              </a:ext>
            </a:extLst>
          </p:cNvPr>
          <p:cNvSpPr txBox="1"/>
          <p:nvPr/>
        </p:nvSpPr>
        <p:spPr>
          <a:xfrm>
            <a:off x="952250" y="2148567"/>
            <a:ext cx="306705" cy="299720"/>
          </a:xfrm>
          <a:prstGeom prst="rect">
            <a:avLst/>
          </a:prstGeom>
        </p:spPr>
        <p:txBody>
          <a:bodyPr vert="horz" wrap="square" lIns="0" tIns="12700" rIns="0" bIns="0" rtlCol="0">
            <a:spAutoFit/>
          </a:bodyPr>
          <a:lstStyle/>
          <a:p>
            <a:pPr marL="38100">
              <a:lnSpc>
                <a:spcPct val="100000"/>
              </a:lnSpc>
              <a:spcBef>
                <a:spcPts val="100"/>
              </a:spcBef>
            </a:pPr>
            <a:r>
              <a:rPr sz="1800" b="1" spc="-55" dirty="0">
                <a:solidFill>
                  <a:srgbClr val="C00000"/>
                </a:solidFill>
                <a:latin typeface="Times New Roman"/>
                <a:cs typeface="Times New Roman"/>
              </a:rPr>
              <a:t>V</a:t>
            </a:r>
            <a:r>
              <a:rPr sz="1800" b="1" spc="-82" baseline="-11574" dirty="0">
                <a:solidFill>
                  <a:srgbClr val="C00000"/>
                </a:solidFill>
                <a:latin typeface="Times New Roman"/>
                <a:cs typeface="Times New Roman"/>
              </a:rPr>
              <a:t>A</a:t>
            </a:r>
            <a:endParaRPr sz="1800" baseline="-11574" dirty="0">
              <a:solidFill>
                <a:srgbClr val="C00000"/>
              </a:solidFill>
              <a:latin typeface="Times New Roman"/>
              <a:cs typeface="Times New Roman"/>
            </a:endParaRPr>
          </a:p>
        </p:txBody>
      </p:sp>
      <p:sp>
        <p:nvSpPr>
          <p:cNvPr id="83" name="object 21">
            <a:extLst>
              <a:ext uri="{FF2B5EF4-FFF2-40B4-BE49-F238E27FC236}">
                <a16:creationId xmlns:a16="http://schemas.microsoft.com/office/drawing/2014/main" id="{610644B3-2A4B-EA18-181D-51D11D1A90C5}"/>
              </a:ext>
            </a:extLst>
          </p:cNvPr>
          <p:cNvSpPr txBox="1"/>
          <p:nvPr/>
        </p:nvSpPr>
        <p:spPr>
          <a:xfrm>
            <a:off x="3530372" y="2100398"/>
            <a:ext cx="342900" cy="299720"/>
          </a:xfrm>
          <a:prstGeom prst="rect">
            <a:avLst/>
          </a:prstGeom>
        </p:spPr>
        <p:txBody>
          <a:bodyPr vert="horz" wrap="square" lIns="0" tIns="12700" rIns="0" bIns="0" rtlCol="0">
            <a:spAutoFit/>
          </a:bodyPr>
          <a:lstStyle/>
          <a:p>
            <a:pPr marL="38100">
              <a:lnSpc>
                <a:spcPct val="100000"/>
              </a:lnSpc>
              <a:spcBef>
                <a:spcPts val="100"/>
              </a:spcBef>
            </a:pPr>
            <a:r>
              <a:rPr sz="1800" b="1" spc="-25" dirty="0">
                <a:solidFill>
                  <a:srgbClr val="C00000"/>
                </a:solidFill>
                <a:latin typeface="Times New Roman"/>
                <a:cs typeface="Times New Roman"/>
              </a:rPr>
              <a:t>V</a:t>
            </a:r>
            <a:r>
              <a:rPr sz="1800" b="1" spc="-37" baseline="-11574" dirty="0">
                <a:solidFill>
                  <a:srgbClr val="C00000"/>
                </a:solidFill>
                <a:latin typeface="Times New Roman"/>
                <a:cs typeface="Times New Roman"/>
              </a:rPr>
              <a:t>B</a:t>
            </a:r>
            <a:endParaRPr sz="1800" baseline="-11574" dirty="0">
              <a:solidFill>
                <a:srgbClr val="C00000"/>
              </a:solidFill>
              <a:latin typeface="Times New Roman"/>
              <a:cs typeface="Times New Roman"/>
            </a:endParaRPr>
          </a:p>
        </p:txBody>
      </p:sp>
      <p:grpSp>
        <p:nvGrpSpPr>
          <p:cNvPr id="84" name="object 22">
            <a:extLst>
              <a:ext uri="{FF2B5EF4-FFF2-40B4-BE49-F238E27FC236}">
                <a16:creationId xmlns:a16="http://schemas.microsoft.com/office/drawing/2014/main" id="{0B5BD9E6-EDDD-9F1D-DBE7-05FF0805CC43}"/>
              </a:ext>
            </a:extLst>
          </p:cNvPr>
          <p:cNvGrpSpPr/>
          <p:nvPr/>
        </p:nvGrpSpPr>
        <p:grpSpPr>
          <a:xfrm>
            <a:off x="1276094" y="2572948"/>
            <a:ext cx="2180590" cy="132715"/>
            <a:chOff x="5515355" y="2606039"/>
            <a:chExt cx="2180590" cy="132715"/>
          </a:xfrm>
        </p:grpSpPr>
        <p:pic>
          <p:nvPicPr>
            <p:cNvPr id="85" name="object 23">
              <a:extLst>
                <a:ext uri="{FF2B5EF4-FFF2-40B4-BE49-F238E27FC236}">
                  <a16:creationId xmlns:a16="http://schemas.microsoft.com/office/drawing/2014/main" id="{892711C1-6155-9750-AB6D-754C2445A92C}"/>
                </a:ext>
              </a:extLst>
            </p:cNvPr>
            <p:cNvPicPr/>
            <p:nvPr/>
          </p:nvPicPr>
          <p:blipFill>
            <a:blip r:embed="rId5" cstate="print"/>
            <a:stretch>
              <a:fillRect/>
            </a:stretch>
          </p:blipFill>
          <p:spPr>
            <a:xfrm>
              <a:off x="5515355" y="2606039"/>
              <a:ext cx="130429" cy="132461"/>
            </a:xfrm>
            <a:prstGeom prst="rect">
              <a:avLst/>
            </a:prstGeom>
          </p:spPr>
        </p:pic>
        <p:sp>
          <p:nvSpPr>
            <p:cNvPr id="86" name="object 24">
              <a:extLst>
                <a:ext uri="{FF2B5EF4-FFF2-40B4-BE49-F238E27FC236}">
                  <a16:creationId xmlns:a16="http://schemas.microsoft.com/office/drawing/2014/main" id="{C5DEA68C-1B12-E2E6-56D9-608CCDA45640}"/>
                </a:ext>
              </a:extLst>
            </p:cNvPr>
            <p:cNvSpPr/>
            <p:nvPr/>
          </p:nvSpPr>
          <p:spPr>
            <a:xfrm>
              <a:off x="5543677" y="2657982"/>
              <a:ext cx="2152015" cy="28575"/>
            </a:xfrm>
            <a:custGeom>
              <a:avLst/>
              <a:gdLst/>
              <a:ahLst/>
              <a:cxnLst/>
              <a:rect l="l" t="t" r="r" b="b"/>
              <a:pathLst>
                <a:path w="2152015" h="28575">
                  <a:moveTo>
                    <a:pt x="2152015" y="0"/>
                  </a:moveTo>
                  <a:lnTo>
                    <a:pt x="52832" y="0"/>
                  </a:lnTo>
                  <a:lnTo>
                    <a:pt x="0" y="0"/>
                  </a:lnTo>
                  <a:lnTo>
                    <a:pt x="0" y="28575"/>
                  </a:lnTo>
                  <a:lnTo>
                    <a:pt x="52832" y="28575"/>
                  </a:lnTo>
                  <a:lnTo>
                    <a:pt x="2152015" y="28575"/>
                  </a:lnTo>
                  <a:lnTo>
                    <a:pt x="2152015" y="0"/>
                  </a:lnTo>
                  <a:close/>
                </a:path>
              </a:pathLst>
            </a:custGeom>
            <a:solidFill>
              <a:srgbClr val="943735"/>
            </a:solidFill>
          </p:spPr>
          <p:txBody>
            <a:bodyPr wrap="square" lIns="0" tIns="0" rIns="0" bIns="0" rtlCol="0"/>
            <a:lstStyle/>
            <a:p>
              <a:endParaRPr/>
            </a:p>
          </p:txBody>
        </p:sp>
      </p:grpSp>
      <p:sp>
        <p:nvSpPr>
          <p:cNvPr id="87" name="object 25">
            <a:extLst>
              <a:ext uri="{FF2B5EF4-FFF2-40B4-BE49-F238E27FC236}">
                <a16:creationId xmlns:a16="http://schemas.microsoft.com/office/drawing/2014/main" id="{028FA390-6728-9B8A-96FB-E74656207996}"/>
              </a:ext>
            </a:extLst>
          </p:cNvPr>
          <p:cNvSpPr txBox="1"/>
          <p:nvPr/>
        </p:nvSpPr>
        <p:spPr>
          <a:xfrm>
            <a:off x="1775078" y="2681534"/>
            <a:ext cx="1124585" cy="299720"/>
          </a:xfrm>
          <a:prstGeom prst="rect">
            <a:avLst/>
          </a:prstGeom>
        </p:spPr>
        <p:txBody>
          <a:bodyPr vert="horz" wrap="square" lIns="0" tIns="12700" rIns="0" bIns="0" rtlCol="0">
            <a:spAutoFit/>
          </a:bodyPr>
          <a:lstStyle/>
          <a:p>
            <a:pPr marL="38100">
              <a:lnSpc>
                <a:spcPct val="100000"/>
              </a:lnSpc>
              <a:spcBef>
                <a:spcPts val="100"/>
              </a:spcBef>
            </a:pPr>
            <a:r>
              <a:rPr sz="1800" b="1" dirty="0">
                <a:solidFill>
                  <a:srgbClr val="C00000"/>
                </a:solidFill>
                <a:latin typeface="Times New Roman"/>
                <a:cs typeface="Times New Roman"/>
              </a:rPr>
              <a:t>V</a:t>
            </a:r>
            <a:r>
              <a:rPr sz="1800" b="1" spc="-80" dirty="0">
                <a:solidFill>
                  <a:srgbClr val="C00000"/>
                </a:solidFill>
                <a:latin typeface="Times New Roman"/>
                <a:cs typeface="Times New Roman"/>
              </a:rPr>
              <a:t> </a:t>
            </a:r>
            <a:r>
              <a:rPr sz="1800" b="1" dirty="0">
                <a:solidFill>
                  <a:srgbClr val="C00000"/>
                </a:solidFill>
                <a:latin typeface="Times New Roman"/>
                <a:cs typeface="Times New Roman"/>
              </a:rPr>
              <a:t>=</a:t>
            </a:r>
            <a:r>
              <a:rPr sz="1800" b="1" spc="-75" dirty="0">
                <a:solidFill>
                  <a:srgbClr val="C00000"/>
                </a:solidFill>
                <a:latin typeface="Times New Roman"/>
                <a:cs typeface="Times New Roman"/>
              </a:rPr>
              <a:t> </a:t>
            </a:r>
            <a:r>
              <a:rPr sz="1800" b="1" spc="-125" dirty="0">
                <a:solidFill>
                  <a:srgbClr val="C00000"/>
                </a:solidFill>
                <a:latin typeface="Times New Roman"/>
                <a:cs typeface="Times New Roman"/>
              </a:rPr>
              <a:t>V</a:t>
            </a:r>
            <a:r>
              <a:rPr sz="1800" b="1" spc="-187" baseline="-11574" dirty="0">
                <a:solidFill>
                  <a:srgbClr val="C00000"/>
                </a:solidFill>
                <a:latin typeface="Times New Roman"/>
                <a:cs typeface="Times New Roman"/>
              </a:rPr>
              <a:t>A</a:t>
            </a:r>
            <a:r>
              <a:rPr sz="1800" b="1" spc="-225" baseline="-11574" dirty="0">
                <a:solidFill>
                  <a:srgbClr val="C00000"/>
                </a:solidFill>
                <a:latin typeface="Times New Roman"/>
                <a:cs typeface="Times New Roman"/>
              </a:rPr>
              <a:t> </a:t>
            </a:r>
            <a:r>
              <a:rPr sz="1800" b="1" dirty="0">
                <a:solidFill>
                  <a:srgbClr val="C00000"/>
                </a:solidFill>
                <a:latin typeface="Times New Roman"/>
                <a:cs typeface="Times New Roman"/>
              </a:rPr>
              <a:t>-</a:t>
            </a:r>
            <a:r>
              <a:rPr sz="1800" b="1" spc="-70" dirty="0">
                <a:solidFill>
                  <a:srgbClr val="C00000"/>
                </a:solidFill>
                <a:latin typeface="Times New Roman"/>
                <a:cs typeface="Times New Roman"/>
              </a:rPr>
              <a:t> </a:t>
            </a:r>
            <a:r>
              <a:rPr sz="1800" b="1" spc="-35" dirty="0">
                <a:solidFill>
                  <a:srgbClr val="C00000"/>
                </a:solidFill>
                <a:latin typeface="Times New Roman"/>
                <a:cs typeface="Times New Roman"/>
              </a:rPr>
              <a:t>V</a:t>
            </a:r>
            <a:r>
              <a:rPr sz="1800" b="1" spc="-52" baseline="-11574" dirty="0">
                <a:solidFill>
                  <a:srgbClr val="C00000"/>
                </a:solidFill>
                <a:latin typeface="Times New Roman"/>
                <a:cs typeface="Times New Roman"/>
              </a:rPr>
              <a:t>B</a:t>
            </a:r>
            <a:endParaRPr sz="1800" baseline="-11574" dirty="0">
              <a:solidFill>
                <a:srgbClr val="C00000"/>
              </a:solidFill>
              <a:latin typeface="Times New Roman"/>
              <a:cs typeface="Times New Roman"/>
            </a:endParaRPr>
          </a:p>
        </p:txBody>
      </p:sp>
      <p:sp>
        <p:nvSpPr>
          <p:cNvPr id="89" name="TextBox 88">
            <a:extLst>
              <a:ext uri="{FF2B5EF4-FFF2-40B4-BE49-F238E27FC236}">
                <a16:creationId xmlns:a16="http://schemas.microsoft.com/office/drawing/2014/main" id="{D1E94EA0-96F9-C29F-58CC-ED43C78314A1}"/>
              </a:ext>
            </a:extLst>
          </p:cNvPr>
          <p:cNvSpPr txBox="1"/>
          <p:nvPr/>
        </p:nvSpPr>
        <p:spPr>
          <a:xfrm>
            <a:off x="636952" y="3083858"/>
            <a:ext cx="6853673" cy="323165"/>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Browallia New" panose="020B0604020202020204" pitchFamily="34" charset="-34"/>
              </a:defRPr>
            </a:lvl1pPr>
          </a:lstStyle>
          <a:p>
            <a:r>
              <a:rPr lang="fr-FR" altLang="fr-FR" sz="1500" dirty="0"/>
              <a:t>Dans la résistance </a:t>
            </a:r>
            <a:r>
              <a:rPr lang="fr-FR" altLang="fr-FR" sz="1500" b="1" dirty="0"/>
              <a:t>R</a:t>
            </a:r>
            <a:r>
              <a:rPr lang="fr-FR" altLang="fr-FR" sz="1500" dirty="0"/>
              <a:t>, la </a:t>
            </a:r>
            <a:r>
              <a:rPr lang="fr-FR" altLang="fr-FR" sz="1500" b="1" dirty="0"/>
              <a:t>loi d’Ohm </a:t>
            </a:r>
            <a:r>
              <a:rPr lang="fr-FR" altLang="fr-FR" sz="1500" dirty="0"/>
              <a:t>s'écrit : </a:t>
            </a:r>
          </a:p>
        </p:txBody>
      </p:sp>
      <mc:AlternateContent xmlns:mc="http://schemas.openxmlformats.org/markup-compatibility/2006" xmlns:a14="http://schemas.microsoft.com/office/drawing/2010/main">
        <mc:Choice Requires="a14">
          <p:sp>
            <p:nvSpPr>
              <p:cNvPr id="92" name="object 15">
                <a:extLst>
                  <a:ext uri="{FF2B5EF4-FFF2-40B4-BE49-F238E27FC236}">
                    <a16:creationId xmlns:a16="http://schemas.microsoft.com/office/drawing/2014/main" id="{744761B9-537F-CD1E-D313-F3537708E012}"/>
                  </a:ext>
                </a:extLst>
              </p:cNvPr>
              <p:cNvSpPr txBox="1"/>
              <p:nvPr/>
            </p:nvSpPr>
            <p:spPr>
              <a:xfrm>
                <a:off x="4559164" y="3038377"/>
                <a:ext cx="4039362" cy="691921"/>
              </a:xfrm>
              <a:prstGeom prst="rect">
                <a:avLst/>
              </a:prstGeom>
              <a:noFill/>
              <a:ln w="38100">
                <a:noFill/>
              </a:ln>
            </p:spPr>
            <p:txBody>
              <a:bodyPr vert="horz" wrap="square" lIns="0" tIns="59690" rIns="0" bIns="0" rtlCol="0">
                <a:spAutoFit/>
              </a:bodyPr>
              <a:lstStyle/>
              <a:p>
                <a:pPr marL="143510">
                  <a:lnSpc>
                    <a:spcPct val="100000"/>
                  </a:lnSpc>
                  <a:spcBef>
                    <a:spcPts val="470"/>
                  </a:spcBef>
                </a:pPr>
                <a14:m>
                  <m:oMathPara xmlns:m="http://schemas.openxmlformats.org/officeDocument/2006/math">
                    <m:oMathParaPr>
                      <m:jc m:val="centerGroup"/>
                    </m:oMathParaPr>
                    <m:oMath xmlns:m="http://schemas.openxmlformats.org/officeDocument/2006/math">
                      <m:r>
                        <a:rPr lang="ar-AE" sz="2200" b="1" i="1" dirty="0" smtClean="0">
                          <a:solidFill>
                            <a:schemeClr val="tx1"/>
                          </a:solidFill>
                          <a:latin typeface="Cambria Math" panose="02040503050406030204" pitchFamily="18" charset="0"/>
                          <a:cs typeface="Times New Roman"/>
                        </a:rPr>
                        <m:t>𝑽</m:t>
                      </m:r>
                      <m:r>
                        <a:rPr lang="ar-AE" sz="2200" b="1" i="1" spc="85" dirty="0">
                          <a:solidFill>
                            <a:schemeClr val="tx1"/>
                          </a:solidFill>
                          <a:latin typeface="Cambria Math" panose="02040503050406030204" pitchFamily="18" charset="0"/>
                          <a:cs typeface="Times New Roman"/>
                        </a:rPr>
                        <m:t> =</m:t>
                      </m:r>
                      <m:r>
                        <a:rPr lang="ar-AE" sz="2200" b="1" i="1" spc="95" dirty="0" smtClean="0">
                          <a:solidFill>
                            <a:schemeClr val="tx1"/>
                          </a:solidFill>
                          <a:latin typeface="Cambria Math" panose="02040503050406030204" pitchFamily="18" charset="0"/>
                          <a:cs typeface="Times New Roman"/>
                        </a:rPr>
                        <m:t> </m:t>
                      </m:r>
                      <m:r>
                        <a:rPr lang="ar-AE" sz="2200" b="1" i="1" dirty="0" smtClean="0">
                          <a:solidFill>
                            <a:schemeClr val="tx1"/>
                          </a:solidFill>
                          <a:latin typeface="Cambria Math" panose="02040503050406030204" pitchFamily="18" charset="0"/>
                          <a:cs typeface="Times New Roman"/>
                        </a:rPr>
                        <m:t>𝑹</m:t>
                      </m:r>
                      <m:r>
                        <a:rPr lang="ar-AE" sz="2200" b="1" i="1" spc="355" dirty="0">
                          <a:solidFill>
                            <a:schemeClr val="tx1"/>
                          </a:solidFill>
                          <a:latin typeface="Cambria Math" panose="02040503050406030204" pitchFamily="18" charset="0"/>
                          <a:cs typeface="Times New Roman"/>
                        </a:rPr>
                        <m:t>.</m:t>
                      </m:r>
                      <m:r>
                        <a:rPr lang="ar-AE" sz="2200" b="1" i="1" spc="-60" dirty="0" smtClean="0">
                          <a:solidFill>
                            <a:schemeClr val="tx1"/>
                          </a:solidFill>
                          <a:latin typeface="Cambria Math" panose="02040503050406030204" pitchFamily="18" charset="0"/>
                          <a:cs typeface="Times New Roman"/>
                        </a:rPr>
                        <m:t>𝑰</m:t>
                      </m:r>
                      <m:r>
                        <a:rPr lang="ar-AE" sz="2200" b="1" i="1" spc="-60" dirty="0" smtClean="0">
                          <a:solidFill>
                            <a:schemeClr val="tx1"/>
                          </a:solidFill>
                          <a:latin typeface="Cambria Math" panose="02040503050406030204" pitchFamily="18" charset="0"/>
                          <a:cs typeface="Times New Roman"/>
                        </a:rPr>
                        <m:t> ⟹</m:t>
                      </m:r>
                      <m:r>
                        <a:rPr lang="ar-AE" sz="2200" b="1" i="0" spc="-60" smtClean="0">
                          <a:solidFill>
                            <a:schemeClr val="tx1"/>
                          </a:solidFill>
                          <a:latin typeface="Cambria Math" panose="02040503050406030204" pitchFamily="18" charset="0"/>
                          <a:ea typeface="Cambria Math" panose="02040503050406030204" pitchFamily="18" charset="0"/>
                          <a:cs typeface="Times New Roman"/>
                        </a:rPr>
                        <m:t>𝐈</m:t>
                      </m:r>
                      <m:r>
                        <a:rPr lang="ar-AE" sz="2200" b="1" i="0" spc="-60" smtClean="0">
                          <a:solidFill>
                            <a:schemeClr val="tx1"/>
                          </a:solidFill>
                          <a:latin typeface="Cambria Math" panose="02040503050406030204" pitchFamily="18" charset="0"/>
                          <a:ea typeface="Cambria Math" panose="02040503050406030204" pitchFamily="18" charset="0"/>
                          <a:cs typeface="Times New Roman"/>
                        </a:rPr>
                        <m:t>=</m:t>
                      </m:r>
                      <m:f>
                        <m:fPr>
                          <m:ctrlPr>
                            <a:rPr lang="ar-AE" sz="2200" b="1" i="1" spc="-60" smtClean="0">
                              <a:solidFill>
                                <a:schemeClr val="tx1"/>
                              </a:solidFill>
                              <a:latin typeface="Cambria Math" panose="02040503050406030204" pitchFamily="18" charset="0"/>
                              <a:ea typeface="Cambria Math" panose="02040503050406030204" pitchFamily="18" charset="0"/>
                              <a:cs typeface="Times New Roman"/>
                            </a:rPr>
                          </m:ctrlPr>
                        </m:fPr>
                        <m:num>
                          <m:r>
                            <a:rPr lang="ar-AE" sz="2200" b="1" i="1" spc="-60" smtClean="0">
                              <a:solidFill>
                                <a:schemeClr val="tx1"/>
                              </a:solidFill>
                              <a:latin typeface="Cambria Math" panose="02040503050406030204" pitchFamily="18" charset="0"/>
                              <a:ea typeface="Cambria Math" panose="02040503050406030204" pitchFamily="18" charset="0"/>
                              <a:cs typeface="Times New Roman"/>
                            </a:rPr>
                            <m:t>𝑽</m:t>
                          </m:r>
                        </m:num>
                        <m:den>
                          <m:r>
                            <a:rPr lang="ar-AE" sz="2200" b="1" i="1" spc="-60" smtClean="0">
                              <a:solidFill>
                                <a:schemeClr val="tx1"/>
                              </a:solidFill>
                              <a:latin typeface="Cambria Math" panose="02040503050406030204" pitchFamily="18" charset="0"/>
                              <a:ea typeface="Cambria Math" panose="02040503050406030204" pitchFamily="18" charset="0"/>
                              <a:cs typeface="Times New Roman"/>
                            </a:rPr>
                            <m:t>𝑹</m:t>
                          </m:r>
                        </m:den>
                      </m:f>
                    </m:oMath>
                  </m:oMathPara>
                </a14:m>
                <a:endParaRPr lang="ar-AE" sz="2200" b="1" dirty="0">
                  <a:solidFill>
                    <a:schemeClr val="tx1"/>
                  </a:solidFill>
                  <a:latin typeface="Bookman Old Style" panose="02050604050505020204" pitchFamily="18" charset="0"/>
                  <a:cs typeface="Times New Roman"/>
                </a:endParaRPr>
              </a:p>
            </p:txBody>
          </p:sp>
        </mc:Choice>
        <mc:Fallback xmlns="">
          <p:sp>
            <p:nvSpPr>
              <p:cNvPr id="92" name="object 15">
                <a:extLst>
                  <a:ext uri="{FF2B5EF4-FFF2-40B4-BE49-F238E27FC236}">
                    <a16:creationId xmlns:a16="http://schemas.microsoft.com/office/drawing/2014/main" id="{744761B9-537F-CD1E-D313-F3537708E012}"/>
                  </a:ext>
                </a:extLst>
              </p:cNvPr>
              <p:cNvSpPr txBox="1">
                <a:spLocks noRot="1" noChangeAspect="1" noMove="1" noResize="1" noEditPoints="1" noAdjustHandles="1" noChangeArrowheads="1" noChangeShapeType="1" noTextEdit="1"/>
              </p:cNvSpPr>
              <p:nvPr/>
            </p:nvSpPr>
            <p:spPr>
              <a:xfrm>
                <a:off x="4559164" y="3038377"/>
                <a:ext cx="4039362" cy="691921"/>
              </a:xfrm>
              <a:prstGeom prst="rect">
                <a:avLst/>
              </a:prstGeom>
              <a:blipFill>
                <a:blip r:embed="rId6"/>
                <a:stretch>
                  <a:fillRect/>
                </a:stretch>
              </a:blipFill>
              <a:ln w="38100">
                <a:noFill/>
              </a:ln>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93" name="ZoneTexte 15">
                <a:extLst>
                  <a:ext uri="{FF2B5EF4-FFF2-40B4-BE49-F238E27FC236}">
                    <a16:creationId xmlns:a16="http://schemas.microsoft.com/office/drawing/2014/main" id="{8BF6E0AD-0151-A4A9-5D83-A2AD0DB8E171}"/>
                  </a:ext>
                </a:extLst>
              </p:cNvPr>
              <p:cNvSpPr txBox="1">
                <a:spLocks noChangeArrowheads="1"/>
              </p:cNvSpPr>
              <p:nvPr/>
            </p:nvSpPr>
            <p:spPr bwMode="auto">
              <a:xfrm>
                <a:off x="636952" y="3988189"/>
                <a:ext cx="8202248" cy="938077"/>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Browallia New" panose="020B0604020202020204" pitchFamily="34" charset="-34"/>
                  </a:defRPr>
                </a:lvl1pPr>
              </a:lstStyle>
              <a:p>
                <a:r>
                  <a:rPr lang="fr-FR" altLang="fr-FR" sz="1600" dirty="0"/>
                  <a:t>Si  </a:t>
                </a:r>
                <a:r>
                  <a:rPr lang="fr-FR" altLang="fr-FR" sz="1600" b="1" dirty="0"/>
                  <a:t>R = 0   </a:t>
                </a:r>
                <a:r>
                  <a:rPr lang="fr-FR" altLang="fr-FR" sz="1600" dirty="0">
                    <a:sym typeface="Wingdings" panose="05000000000000000000" pitchFamily="2" charset="2"/>
                  </a:rPr>
                  <a:t>   </a:t>
                </a:r>
                <a:r>
                  <a:rPr lang="fr-FR" altLang="fr-FR" sz="1600" b="1" dirty="0">
                    <a:sym typeface="Wingdings" panose="05000000000000000000" pitchFamily="2" charset="2"/>
                  </a:rPr>
                  <a:t>R</a:t>
                </a:r>
                <a:r>
                  <a:rPr lang="fr-FR" altLang="fr-FR" sz="1600" dirty="0">
                    <a:sym typeface="Wingdings" panose="05000000000000000000" pitchFamily="2" charset="2"/>
                  </a:rPr>
                  <a:t> ↔ fil conducteur ; </a:t>
                </a:r>
                <a:r>
                  <a:rPr lang="fr-FR" altLang="fr-FR" sz="1600" b="1" dirty="0">
                    <a:sym typeface="Wingdings" panose="05000000000000000000" pitchFamily="2" charset="2"/>
                  </a:rPr>
                  <a:t>Court Circuit</a:t>
                </a:r>
                <a:r>
                  <a:rPr lang="fr-FR" altLang="fr-FR" sz="1600" dirty="0">
                    <a:sym typeface="Wingdings" panose="05000000000000000000" pitchFamily="2" charset="2"/>
                  </a:rPr>
                  <a:t>          </a:t>
                </a:r>
                <a14:m>
                  <m:oMath xmlns:m="http://schemas.openxmlformats.org/officeDocument/2006/math">
                    <m:r>
                      <a:rPr lang="fr-FR" altLang="fr-FR" sz="1600" b="1" i="1" dirty="0" smtClean="0">
                        <a:solidFill>
                          <a:srgbClr val="FF0000"/>
                        </a:solidFill>
                        <a:latin typeface="Cambria Math" panose="02040503050406030204" pitchFamily="18" charset="0"/>
                        <a:sym typeface="Wingdings" panose="05000000000000000000" pitchFamily="2" charset="2"/>
                      </a:rPr>
                      <m:t>𝑼</m:t>
                    </m:r>
                    <m:r>
                      <a:rPr lang="fr-FR" altLang="fr-FR" sz="1600" b="1" i="1" dirty="0" smtClean="0">
                        <a:solidFill>
                          <a:srgbClr val="FF0000"/>
                        </a:solidFill>
                        <a:latin typeface="Cambria Math" panose="02040503050406030204" pitchFamily="18" charset="0"/>
                        <a:sym typeface="Wingdings" panose="05000000000000000000" pitchFamily="2" charset="2"/>
                      </a:rPr>
                      <m:t>=</m:t>
                    </m:r>
                    <m:r>
                      <a:rPr lang="fr-FR" altLang="fr-FR" sz="1600" b="1" i="1" dirty="0" smtClean="0">
                        <a:solidFill>
                          <a:srgbClr val="FF0000"/>
                        </a:solidFill>
                        <a:latin typeface="Cambria Math" panose="02040503050406030204" pitchFamily="18" charset="0"/>
                        <a:sym typeface="Wingdings" panose="05000000000000000000" pitchFamily="2" charset="2"/>
                      </a:rPr>
                      <m:t>𝑹</m:t>
                    </m:r>
                    <m:r>
                      <a:rPr lang="fr-FR" altLang="fr-FR" sz="1600" b="1" i="1" dirty="0" smtClean="0">
                        <a:solidFill>
                          <a:srgbClr val="FF0000"/>
                        </a:solidFill>
                        <a:latin typeface="Cambria Math" panose="02040503050406030204" pitchFamily="18" charset="0"/>
                        <a:sym typeface="Wingdings" panose="05000000000000000000" pitchFamily="2" charset="2"/>
                      </a:rPr>
                      <m:t> . </m:t>
                    </m:r>
                    <m:r>
                      <a:rPr lang="fr-FR" altLang="fr-FR" sz="1600" b="1" i="1" dirty="0" smtClean="0">
                        <a:solidFill>
                          <a:srgbClr val="FF0000"/>
                        </a:solidFill>
                        <a:latin typeface="Cambria Math" panose="02040503050406030204" pitchFamily="18" charset="0"/>
                        <a:sym typeface="Wingdings" panose="05000000000000000000" pitchFamily="2" charset="2"/>
                      </a:rPr>
                      <m:t>𝑰</m:t>
                    </m:r>
                    <m:r>
                      <a:rPr lang="fr-FR" altLang="fr-FR" sz="1600" b="1" i="1" dirty="0" smtClean="0">
                        <a:solidFill>
                          <a:srgbClr val="FF0000"/>
                        </a:solidFill>
                        <a:latin typeface="Cambria Math" panose="02040503050406030204" pitchFamily="18" charset="0"/>
                        <a:sym typeface="Wingdings" panose="05000000000000000000" pitchFamily="2" charset="2"/>
                      </a:rPr>
                      <m:t> = </m:t>
                    </m:r>
                    <m:r>
                      <a:rPr lang="fr-FR" altLang="fr-FR" sz="1600" b="1" i="1" dirty="0" smtClean="0">
                        <a:solidFill>
                          <a:srgbClr val="FF0000"/>
                        </a:solidFill>
                        <a:latin typeface="Cambria Math" panose="02040503050406030204" pitchFamily="18" charset="0"/>
                        <a:sym typeface="Wingdings" panose="05000000000000000000" pitchFamily="2" charset="2"/>
                      </a:rPr>
                      <m:t>𝟎</m:t>
                    </m:r>
                  </m:oMath>
                </a14:m>
                <a:endParaRPr lang="fr-FR" altLang="fr-FR" sz="1600" b="1" dirty="0">
                  <a:solidFill>
                    <a:srgbClr val="FF0000"/>
                  </a:solidFill>
                  <a:sym typeface="Wingdings" panose="05000000000000000000" pitchFamily="2" charset="2"/>
                </a:endParaRPr>
              </a:p>
              <a:p>
                <a:pPr marL="0" indent="0">
                  <a:buNone/>
                </a:pPr>
                <a:endParaRPr lang="fr-FR" altLang="fr-FR" sz="1600" dirty="0">
                  <a:sym typeface="Wingdings" panose="05000000000000000000" pitchFamily="2" charset="2"/>
                </a:endParaRPr>
              </a:p>
              <a:p>
                <a:r>
                  <a:rPr lang="fr-FR" altLang="fr-FR" sz="1600" dirty="0">
                    <a:sym typeface="Wingdings" panose="05000000000000000000" pitchFamily="2" charset="2"/>
                  </a:rPr>
                  <a:t>Si  </a:t>
                </a:r>
                <a:r>
                  <a:rPr lang="fr-FR" altLang="fr-FR" sz="1600" b="1" dirty="0">
                    <a:sym typeface="Wingdings" panose="05000000000000000000" pitchFamily="2" charset="2"/>
                  </a:rPr>
                  <a:t>R →∞  </a:t>
                </a:r>
                <a:r>
                  <a:rPr lang="fr-FR" altLang="fr-FR" sz="1600" dirty="0">
                    <a:sym typeface="Wingdings" panose="05000000000000000000" pitchFamily="2" charset="2"/>
                  </a:rPr>
                  <a:t>   </a:t>
                </a:r>
                <a:r>
                  <a:rPr lang="fr-FR" altLang="fr-FR" sz="1600" b="1" dirty="0">
                    <a:sym typeface="Wingdings" panose="05000000000000000000" pitchFamily="2" charset="2"/>
                  </a:rPr>
                  <a:t>R</a:t>
                </a:r>
                <a:r>
                  <a:rPr lang="fr-FR" altLang="fr-FR" sz="1600" dirty="0">
                    <a:sym typeface="Wingdings" panose="05000000000000000000" pitchFamily="2" charset="2"/>
                  </a:rPr>
                  <a:t> </a:t>
                </a:r>
                <a:r>
                  <a:rPr lang="fr-FR" altLang="fr-FR" sz="1600" b="1" dirty="0">
                    <a:sym typeface="Wingdings" panose="05000000000000000000" pitchFamily="2" charset="2"/>
                  </a:rPr>
                  <a:t>↔</a:t>
                </a:r>
                <a:r>
                  <a:rPr lang="fr-FR" altLang="fr-FR" sz="1600" dirty="0">
                    <a:sym typeface="Wingdings" panose="05000000000000000000" pitchFamily="2" charset="2"/>
                  </a:rPr>
                  <a:t> interrupteur ouvert ; </a:t>
                </a:r>
                <a:r>
                  <a:rPr lang="fr-FR" altLang="fr-FR" sz="1600" b="1" dirty="0">
                    <a:sym typeface="Wingdings" panose="05000000000000000000" pitchFamily="2" charset="2"/>
                  </a:rPr>
                  <a:t>Circuit Ouvert </a:t>
                </a:r>
                <a:r>
                  <a:rPr lang="fr-FR" altLang="fr-FR" sz="1600" dirty="0">
                    <a:sym typeface="Wingdings" panose="05000000000000000000" pitchFamily="2" charset="2"/>
                  </a:rPr>
                  <a:t> </a:t>
                </a:r>
                <a14:m>
                  <m:oMath xmlns:m="http://schemas.openxmlformats.org/officeDocument/2006/math">
                    <m:r>
                      <a:rPr lang="fr-FR" altLang="fr-FR" sz="1600" b="1" i="0" dirty="0" smtClean="0">
                        <a:solidFill>
                          <a:srgbClr val="FF0000"/>
                        </a:solidFill>
                        <a:latin typeface="Cambria Math" panose="02040503050406030204" pitchFamily="18" charset="0"/>
                        <a:sym typeface="Wingdings" panose="05000000000000000000" pitchFamily="2" charset="2"/>
                      </a:rPr>
                      <m:t>𝐈</m:t>
                    </m:r>
                    <m:r>
                      <a:rPr lang="fr-FR" altLang="fr-FR" sz="1600" b="1" i="0" dirty="0" smtClean="0">
                        <a:solidFill>
                          <a:srgbClr val="FF0000"/>
                        </a:solidFill>
                        <a:latin typeface="Cambria Math" panose="02040503050406030204" pitchFamily="18" charset="0"/>
                        <a:sym typeface="Wingdings" panose="05000000000000000000" pitchFamily="2" charset="2"/>
                      </a:rPr>
                      <m:t>=</m:t>
                    </m:r>
                    <m:f>
                      <m:fPr>
                        <m:ctrlPr>
                          <a:rPr lang="ar-AE" sz="1600" b="1" i="1" spc="-60" smtClean="0">
                            <a:solidFill>
                              <a:srgbClr val="FF0000"/>
                            </a:solidFill>
                            <a:latin typeface="Cambria Math" panose="02040503050406030204" pitchFamily="18" charset="0"/>
                            <a:ea typeface="Cambria Math" panose="02040503050406030204" pitchFamily="18" charset="0"/>
                            <a:cs typeface="Times New Roman"/>
                          </a:rPr>
                        </m:ctrlPr>
                      </m:fPr>
                      <m:num>
                        <m:r>
                          <a:rPr lang="ar-AE" sz="1600" b="1" i="1" spc="-60">
                            <a:solidFill>
                              <a:srgbClr val="FF0000"/>
                            </a:solidFill>
                            <a:latin typeface="Cambria Math" panose="02040503050406030204" pitchFamily="18" charset="0"/>
                            <a:ea typeface="Cambria Math" panose="02040503050406030204" pitchFamily="18" charset="0"/>
                            <a:cs typeface="Times New Roman"/>
                          </a:rPr>
                          <m:t>𝑽</m:t>
                        </m:r>
                      </m:num>
                      <m:den>
                        <m:r>
                          <a:rPr lang="ar-AE" sz="1600" b="1" i="1" spc="-60">
                            <a:solidFill>
                              <a:srgbClr val="FF0000"/>
                            </a:solidFill>
                            <a:latin typeface="Cambria Math" panose="02040503050406030204" pitchFamily="18" charset="0"/>
                            <a:ea typeface="Cambria Math" panose="02040503050406030204" pitchFamily="18" charset="0"/>
                            <a:cs typeface="Times New Roman"/>
                          </a:rPr>
                          <m:t>𝑹</m:t>
                        </m:r>
                      </m:den>
                    </m:f>
                    <m:r>
                      <a:rPr lang="fr-FR" altLang="fr-FR" sz="1600" b="1" i="0" dirty="0" smtClean="0">
                        <a:solidFill>
                          <a:srgbClr val="FF0000"/>
                        </a:solidFill>
                        <a:latin typeface="Cambria Math" panose="02040503050406030204" pitchFamily="18" charset="0"/>
                        <a:sym typeface="Wingdings" panose="05000000000000000000" pitchFamily="2" charset="2"/>
                      </a:rPr>
                      <m:t>= </m:t>
                    </m:r>
                    <m:r>
                      <a:rPr lang="fr-FR" altLang="fr-FR" sz="1600" b="1" i="0" dirty="0" smtClean="0">
                        <a:solidFill>
                          <a:srgbClr val="FF0000"/>
                        </a:solidFill>
                        <a:latin typeface="Cambria Math" panose="02040503050406030204" pitchFamily="18" charset="0"/>
                        <a:sym typeface="Wingdings" panose="05000000000000000000" pitchFamily="2" charset="2"/>
                      </a:rPr>
                      <m:t>𝟎</m:t>
                    </m:r>
                  </m:oMath>
                </a14:m>
                <a:endParaRPr lang="fr-FR" altLang="fr-FR" sz="1600" b="1" dirty="0"/>
              </a:p>
            </p:txBody>
          </p:sp>
        </mc:Choice>
        <mc:Fallback xmlns="">
          <p:sp>
            <p:nvSpPr>
              <p:cNvPr id="93" name="ZoneTexte 15">
                <a:extLst>
                  <a:ext uri="{FF2B5EF4-FFF2-40B4-BE49-F238E27FC236}">
                    <a16:creationId xmlns:a16="http://schemas.microsoft.com/office/drawing/2014/main" id="{8BF6E0AD-0151-A4A9-5D83-A2AD0DB8E171}"/>
                  </a:ext>
                </a:extLst>
              </p:cNvPr>
              <p:cNvSpPr txBox="1">
                <a:spLocks noRot="1" noChangeAspect="1" noMove="1" noResize="1" noEditPoints="1" noAdjustHandles="1" noChangeArrowheads="1" noChangeShapeType="1" noTextEdit="1"/>
              </p:cNvSpPr>
              <p:nvPr/>
            </p:nvSpPr>
            <p:spPr bwMode="auto">
              <a:xfrm>
                <a:off x="636952" y="3988189"/>
                <a:ext cx="8202248" cy="938077"/>
              </a:xfrm>
              <a:prstGeom prst="rect">
                <a:avLst/>
              </a:prstGeom>
              <a:blipFill>
                <a:blip r:embed="rId7"/>
                <a:stretch>
                  <a:fillRect l="-297" t="-1948" b="-1948"/>
                </a:stretch>
              </a:blipFill>
            </p:spPr>
            <p:txBody>
              <a:bodyPr/>
              <a:lstStyle/>
              <a:p>
                <a:r>
                  <a:rPr lang="fr-FR">
                    <a:noFill/>
                  </a:rPr>
                  <a:t> </a:t>
                </a:r>
              </a:p>
            </p:txBody>
          </p:sp>
        </mc:Fallback>
      </mc:AlternateContent>
      <p:sp>
        <p:nvSpPr>
          <p:cNvPr id="94" name="Isosceles Triangle 93">
            <a:extLst>
              <a:ext uri="{FF2B5EF4-FFF2-40B4-BE49-F238E27FC236}">
                <a16:creationId xmlns:a16="http://schemas.microsoft.com/office/drawing/2014/main" id="{CA9E4B9A-CA8B-AB57-F0A0-D634B1618502}"/>
              </a:ext>
            </a:extLst>
          </p:cNvPr>
          <p:cNvSpPr/>
          <p:nvPr/>
        </p:nvSpPr>
        <p:spPr>
          <a:xfrm>
            <a:off x="8143367" y="3925511"/>
            <a:ext cx="1000633" cy="723783"/>
          </a:xfrm>
          <a:prstGeom prst="triangl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6" name="TextBox 95">
            <a:extLst>
              <a:ext uri="{FF2B5EF4-FFF2-40B4-BE49-F238E27FC236}">
                <a16:creationId xmlns:a16="http://schemas.microsoft.com/office/drawing/2014/main" id="{3C23916B-9F62-47BC-7160-345C508F4B41}"/>
              </a:ext>
            </a:extLst>
          </p:cNvPr>
          <p:cNvSpPr txBox="1"/>
          <p:nvPr/>
        </p:nvSpPr>
        <p:spPr>
          <a:xfrm>
            <a:off x="8464327" y="4049790"/>
            <a:ext cx="268397" cy="646331"/>
          </a:xfrm>
          <a:prstGeom prst="rect">
            <a:avLst/>
          </a:prstGeom>
          <a:noFill/>
        </p:spPr>
        <p:txBody>
          <a:bodyPr wrap="square">
            <a:spAutoFit/>
          </a:bodyPr>
          <a:lstStyle/>
          <a:p>
            <a:r>
              <a:rPr lang="fr-FR" sz="3600" b="1" dirty="0">
                <a:latin typeface="Bookman Old Style" panose="02050604050505020204" pitchFamily="18" charset="0"/>
              </a:rPr>
              <a:t>!</a:t>
            </a:r>
            <a:endParaRPr lang="fr-FR" sz="3600" dirty="0">
              <a:latin typeface="Bookman Old Style" panose="02050604050505020204" pitchFamily="18" charset="0"/>
            </a:endParaRPr>
          </a:p>
        </p:txBody>
      </p:sp>
    </p:spTree>
    <p:extLst>
      <p:ext uri="{BB962C8B-B14F-4D97-AF65-F5344CB8AC3E}">
        <p14:creationId xmlns:p14="http://schemas.microsoft.com/office/powerpoint/2010/main" val="21613853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24</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76301" y="881439"/>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2.4 </a:t>
            </a:r>
            <a:r>
              <a:rPr lang="fr-FR" altLang="fr-FR" sz="1400" b="1" spc="-5" dirty="0">
                <a:solidFill>
                  <a:srgbClr val="CC00CC"/>
                </a:solidFill>
                <a:latin typeface="Bookman Old Style" panose="02050604050505020204" pitchFamily="18" charset="0"/>
                <a:cs typeface="Arial"/>
              </a:rPr>
              <a:t>Dipôles linéaires et non-linéaires</a:t>
            </a:r>
            <a:endParaRPr lang="fr-FR" sz="1400" b="1" spc="-5" dirty="0">
              <a:solidFill>
                <a:srgbClr val="CC00CC"/>
              </a:solidFill>
              <a:latin typeface="Bookman Old Style" panose="02050604050505020204" pitchFamily="18" charset="0"/>
              <a:cs typeface="Arial"/>
            </a:endParaRPr>
          </a:p>
        </p:txBody>
      </p:sp>
      <p:sp>
        <p:nvSpPr>
          <p:cNvPr id="3" name="ZoneTexte 15">
            <a:extLst>
              <a:ext uri="{FF2B5EF4-FFF2-40B4-BE49-F238E27FC236}">
                <a16:creationId xmlns:a16="http://schemas.microsoft.com/office/drawing/2014/main" id="{CF5F4932-EC58-FE9E-1034-9E9BF1805F9E}"/>
              </a:ext>
            </a:extLst>
          </p:cNvPr>
          <p:cNvSpPr txBox="1">
            <a:spLocks noChangeArrowheads="1"/>
          </p:cNvSpPr>
          <p:nvPr/>
        </p:nvSpPr>
        <p:spPr bwMode="auto">
          <a:xfrm>
            <a:off x="446543" y="1272020"/>
            <a:ext cx="8697457" cy="5847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marL="285750" indent="-285750" algn="just">
              <a:buFont typeface="Wingdings" panose="05000000000000000000" pitchFamily="2" charset="2"/>
              <a:buChar char="q"/>
            </a:pPr>
            <a:r>
              <a:rPr lang="fr-FR" altLang="fr-FR" sz="1600" dirty="0">
                <a:latin typeface="Bookman Old Style" panose="02050604050505020204" pitchFamily="18" charset="0"/>
                <a:cs typeface="Browallia New" panose="020B0604020202020204" pitchFamily="34" charset="-34"/>
              </a:rPr>
              <a:t>On appel </a:t>
            </a:r>
            <a:r>
              <a:rPr lang="fr-FR" altLang="fr-FR" sz="1600" b="1" dirty="0">
                <a:solidFill>
                  <a:srgbClr val="FF0000"/>
                </a:solidFill>
                <a:latin typeface="Bookman Old Style" panose="02050604050505020204" pitchFamily="18" charset="0"/>
                <a:cs typeface="Browallia New" panose="020B0604020202020204" pitchFamily="34" charset="-34"/>
              </a:rPr>
              <a:t>dipôle linéaire</a:t>
            </a:r>
            <a:r>
              <a:rPr lang="fr-FR" altLang="fr-FR" sz="1600" dirty="0">
                <a:latin typeface="Bookman Old Style" panose="02050604050505020204" pitchFamily="18" charset="0"/>
                <a:cs typeface="Browallia New" panose="020B0604020202020204" pitchFamily="34" charset="-34"/>
              </a:rPr>
              <a:t>, tout dipôle dont la relation qui lie la tension à ses bornes au courant qui circule dans ce dipôle, est </a:t>
            </a:r>
            <a:r>
              <a:rPr lang="fr-FR" altLang="fr-FR" sz="1600" b="1" dirty="0">
                <a:latin typeface="Bookman Old Style" panose="02050604050505020204" pitchFamily="18" charset="0"/>
                <a:cs typeface="Browallia New" panose="020B0604020202020204" pitchFamily="34" charset="-34"/>
              </a:rPr>
              <a:t>parfaitement linéaire</a:t>
            </a:r>
          </a:p>
        </p:txBody>
      </p:sp>
      <p:sp>
        <p:nvSpPr>
          <p:cNvPr id="5" name="ZoneTexte 15">
            <a:extLst>
              <a:ext uri="{FF2B5EF4-FFF2-40B4-BE49-F238E27FC236}">
                <a16:creationId xmlns:a16="http://schemas.microsoft.com/office/drawing/2014/main" id="{4156219B-CE10-2482-204C-1C6BBBF60887}"/>
              </a:ext>
            </a:extLst>
          </p:cNvPr>
          <p:cNvSpPr txBox="1">
            <a:spLocks noChangeArrowheads="1"/>
          </p:cNvSpPr>
          <p:nvPr/>
        </p:nvSpPr>
        <p:spPr bwMode="auto">
          <a:xfrm>
            <a:off x="697881" y="1904135"/>
            <a:ext cx="6500812"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just"/>
            <a:r>
              <a:rPr lang="fr-FR" altLang="fr-FR" sz="1600" b="1" dirty="0">
                <a:solidFill>
                  <a:srgbClr val="00B050"/>
                </a:solidFill>
                <a:latin typeface="Bookman Old Style" panose="02050604050505020204" pitchFamily="18" charset="0"/>
                <a:cs typeface="Browallia New" panose="020B0604020202020204" pitchFamily="34" charset="-34"/>
              </a:rPr>
              <a:t>Exemples : </a:t>
            </a:r>
            <a:r>
              <a:rPr lang="fr-FR" altLang="fr-FR" sz="1600" dirty="0">
                <a:latin typeface="Bookman Old Style" panose="02050604050505020204" pitchFamily="18" charset="0"/>
                <a:cs typeface="Browallia New" panose="020B0604020202020204" pitchFamily="34" charset="-34"/>
              </a:rPr>
              <a:t>la résistance</a:t>
            </a:r>
          </a:p>
        </p:txBody>
      </p:sp>
      <p:sp>
        <p:nvSpPr>
          <p:cNvPr id="11" name="ZoneTexte 15">
            <a:extLst>
              <a:ext uri="{FF2B5EF4-FFF2-40B4-BE49-F238E27FC236}">
                <a16:creationId xmlns:a16="http://schemas.microsoft.com/office/drawing/2014/main" id="{87336556-FB38-A40D-AAC2-4D3F36D53B00}"/>
              </a:ext>
            </a:extLst>
          </p:cNvPr>
          <p:cNvSpPr txBox="1">
            <a:spLocks noChangeArrowheads="1"/>
          </p:cNvSpPr>
          <p:nvPr/>
        </p:nvSpPr>
        <p:spPr bwMode="auto">
          <a:xfrm>
            <a:off x="576301" y="4437110"/>
            <a:ext cx="8466955"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Dans le </a:t>
            </a:r>
            <a:r>
              <a:rPr lang="fr-FR" altLang="fr-FR" b="1" dirty="0"/>
              <a:t>cas contraire </a:t>
            </a:r>
            <a:r>
              <a:rPr lang="fr-FR" altLang="fr-FR" dirty="0"/>
              <a:t>on dit que le dipôle est </a:t>
            </a:r>
            <a:r>
              <a:rPr lang="fr-FR" altLang="fr-FR" b="1" dirty="0"/>
              <a:t>non-linéaire.</a:t>
            </a:r>
          </a:p>
        </p:txBody>
      </p:sp>
      <p:pic>
        <p:nvPicPr>
          <p:cNvPr id="12" name="Picture 2">
            <a:extLst>
              <a:ext uri="{FF2B5EF4-FFF2-40B4-BE49-F238E27FC236}">
                <a16:creationId xmlns:a16="http://schemas.microsoft.com/office/drawing/2014/main" id="{2EC00140-9D91-24B9-97F0-276181AE7C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89755" y="2543147"/>
            <a:ext cx="2571750" cy="185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 name="Picture 3">
            <a:extLst>
              <a:ext uri="{FF2B5EF4-FFF2-40B4-BE49-F238E27FC236}">
                <a16:creationId xmlns:a16="http://schemas.microsoft.com/office/drawing/2014/main" id="{4FF223F2-1C3E-30E5-C9D2-8D9722E7CBE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00800" y="2290553"/>
            <a:ext cx="1208088" cy="185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ZoneTexte 15">
            <a:extLst>
              <a:ext uri="{FF2B5EF4-FFF2-40B4-BE49-F238E27FC236}">
                <a16:creationId xmlns:a16="http://schemas.microsoft.com/office/drawing/2014/main" id="{E6F64DF5-9844-0414-A47E-73006C09A45A}"/>
              </a:ext>
            </a:extLst>
          </p:cNvPr>
          <p:cNvSpPr txBox="1">
            <a:spLocks noChangeArrowheads="1"/>
          </p:cNvSpPr>
          <p:nvPr/>
        </p:nvSpPr>
        <p:spPr bwMode="auto">
          <a:xfrm>
            <a:off x="1612144" y="2767143"/>
            <a:ext cx="2500313" cy="5847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fr-FR" altLang="fr-FR" sz="1600" b="1" dirty="0">
                <a:solidFill>
                  <a:srgbClr val="0070C0"/>
                </a:solidFill>
                <a:latin typeface="Bookman Old Style" panose="02050604050505020204" pitchFamily="18" charset="0"/>
                <a:cs typeface="Browallia New" panose="020B0604020202020204" pitchFamily="34" charset="-34"/>
              </a:rPr>
              <a:t>Caractéristique statique</a:t>
            </a:r>
            <a:endParaRPr lang="fr-FR" altLang="fr-FR" sz="1600" dirty="0">
              <a:solidFill>
                <a:srgbClr val="0070C0"/>
              </a:solidFill>
              <a:latin typeface="Bookman Old Style" panose="02050604050505020204" pitchFamily="18" charset="0"/>
              <a:cs typeface="Browallia New" panose="020B0604020202020204" pitchFamily="34" charset="-34"/>
            </a:endParaRPr>
          </a:p>
        </p:txBody>
      </p:sp>
    </p:spTree>
    <p:extLst>
      <p:ext uri="{BB962C8B-B14F-4D97-AF65-F5344CB8AC3E}">
        <p14:creationId xmlns:p14="http://schemas.microsoft.com/office/powerpoint/2010/main" val="2792679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6"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25</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76301" y="881439"/>
            <a:ext cx="4572000" cy="50526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2.5 </a:t>
            </a:r>
            <a:r>
              <a:rPr lang="fr-FR" altLang="fr-FR" sz="1400" b="1" spc="-5" dirty="0">
                <a:solidFill>
                  <a:srgbClr val="CC00CC"/>
                </a:solidFill>
                <a:latin typeface="Bookman Old Style" panose="02050604050505020204" pitchFamily="18" charset="0"/>
                <a:cs typeface="Arial"/>
              </a:rPr>
              <a:t>Convention de signe</a:t>
            </a:r>
          </a:p>
          <a:p>
            <a:pPr marL="12065" lvl="1">
              <a:lnSpc>
                <a:spcPct val="100000"/>
              </a:lnSpc>
              <a:spcBef>
                <a:spcPts val="100"/>
              </a:spcBef>
              <a:tabLst>
                <a:tab pos="393700" algn="l"/>
              </a:tabLst>
            </a:pPr>
            <a:r>
              <a:rPr lang="fr-FR" sz="1200" b="1" spc="-5" dirty="0">
                <a:solidFill>
                  <a:schemeClr val="accent6">
                    <a:lumMod val="50000"/>
                  </a:schemeClr>
                </a:solidFill>
                <a:latin typeface="Bookman Old Style" panose="02050604050505020204" pitchFamily="18" charset="0"/>
                <a:cs typeface="Arial"/>
              </a:rPr>
              <a:t>     A. Convention générateur </a:t>
            </a:r>
            <a:endParaRPr lang="fr-FR" sz="1200" b="1" spc="-5" dirty="0">
              <a:solidFill>
                <a:srgbClr val="CC00CC"/>
              </a:solidFill>
              <a:latin typeface="Bookman Old Style" panose="02050604050505020204" pitchFamily="18" charset="0"/>
              <a:cs typeface="Arial"/>
            </a:endParaRPr>
          </a:p>
        </p:txBody>
      </p:sp>
      <p:sp>
        <p:nvSpPr>
          <p:cNvPr id="23" name="ZoneTexte 10">
            <a:extLst>
              <a:ext uri="{FF2B5EF4-FFF2-40B4-BE49-F238E27FC236}">
                <a16:creationId xmlns:a16="http://schemas.microsoft.com/office/drawing/2014/main" id="{F4DDBE1C-1268-DF0C-1C02-C4861B6AD9CE}"/>
              </a:ext>
            </a:extLst>
          </p:cNvPr>
          <p:cNvSpPr txBox="1">
            <a:spLocks noChangeArrowheads="1"/>
          </p:cNvSpPr>
          <p:nvPr/>
        </p:nvSpPr>
        <p:spPr bwMode="auto">
          <a:xfrm>
            <a:off x="643247" y="1549086"/>
            <a:ext cx="8277826" cy="107721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Un </a:t>
            </a:r>
            <a:r>
              <a:rPr lang="fr-FR" altLang="fr-FR" b="1" dirty="0"/>
              <a:t>dipôle</a:t>
            </a:r>
            <a:r>
              <a:rPr lang="fr-FR" altLang="fr-FR" dirty="0"/>
              <a:t> est </a:t>
            </a:r>
            <a:r>
              <a:rPr lang="fr-FR" altLang="fr-FR" b="1" dirty="0"/>
              <a:t>générateur</a:t>
            </a:r>
            <a:r>
              <a:rPr lang="fr-FR" altLang="fr-FR" dirty="0"/>
              <a:t> lorsqu'il </a:t>
            </a:r>
            <a:r>
              <a:rPr lang="fr-FR" altLang="fr-FR" b="1" dirty="0"/>
              <a:t>fournit de l'énergie au circuit</a:t>
            </a:r>
            <a:r>
              <a:rPr lang="fr-FR" altLang="fr-FR" dirty="0"/>
              <a:t> sur lequel il est connecté.  </a:t>
            </a:r>
          </a:p>
          <a:p>
            <a:pPr marL="0" indent="0">
              <a:buNone/>
            </a:pPr>
            <a:r>
              <a:rPr lang="fr-FR" altLang="fr-FR" dirty="0"/>
              <a:t>     Dans ce cas, le courant sort par le pôle positif du dipôle générateur</a:t>
            </a:r>
            <a:r>
              <a:rPr lang="fr-FR" altLang="fr-FR" b="1" dirty="0"/>
              <a:t>. Les flèches</a:t>
            </a:r>
            <a:r>
              <a:rPr lang="fr-FR" altLang="fr-FR" dirty="0"/>
              <a:t>, représentant, la </a:t>
            </a:r>
            <a:r>
              <a:rPr lang="fr-FR" altLang="fr-FR" b="1" dirty="0"/>
              <a:t>tension</a:t>
            </a:r>
            <a:r>
              <a:rPr lang="fr-FR" altLang="fr-FR" dirty="0"/>
              <a:t> et le </a:t>
            </a:r>
            <a:r>
              <a:rPr lang="fr-FR" altLang="fr-FR" b="1" dirty="0"/>
              <a:t>courant</a:t>
            </a:r>
            <a:r>
              <a:rPr lang="fr-FR" altLang="fr-FR" dirty="0"/>
              <a:t> sont de </a:t>
            </a:r>
            <a:r>
              <a:rPr lang="fr-FR" altLang="fr-FR" b="1" dirty="0">
                <a:solidFill>
                  <a:srgbClr val="FF0000"/>
                </a:solidFill>
              </a:rPr>
              <a:t>même sens</a:t>
            </a:r>
            <a:r>
              <a:rPr lang="fr-FR" altLang="fr-FR" dirty="0"/>
              <a:t>.</a:t>
            </a:r>
          </a:p>
        </p:txBody>
      </p:sp>
      <p:sp>
        <p:nvSpPr>
          <p:cNvPr id="24" name="Rectangle 23">
            <a:extLst>
              <a:ext uri="{FF2B5EF4-FFF2-40B4-BE49-F238E27FC236}">
                <a16:creationId xmlns:a16="http://schemas.microsoft.com/office/drawing/2014/main" id="{30198F2D-6DF7-365F-A4F6-221084F99AC8}"/>
              </a:ext>
            </a:extLst>
          </p:cNvPr>
          <p:cNvSpPr/>
          <p:nvPr/>
        </p:nvSpPr>
        <p:spPr>
          <a:xfrm>
            <a:off x="3505200" y="3129897"/>
            <a:ext cx="2133600" cy="685800"/>
          </a:xfrm>
          <a:prstGeom prst="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25" name="Straight Connector 24">
            <a:extLst>
              <a:ext uri="{FF2B5EF4-FFF2-40B4-BE49-F238E27FC236}">
                <a16:creationId xmlns:a16="http://schemas.microsoft.com/office/drawing/2014/main" id="{43A5488D-DE09-7EC5-474F-34ABCFDC3ADA}"/>
              </a:ext>
            </a:extLst>
          </p:cNvPr>
          <p:cNvCxnSpPr>
            <a:cxnSpLocks/>
          </p:cNvCxnSpPr>
          <p:nvPr/>
        </p:nvCxnSpPr>
        <p:spPr>
          <a:xfrm>
            <a:off x="2333432" y="3472797"/>
            <a:ext cx="117295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3E03E271-1801-A0BE-68E2-CC70554082AF}"/>
              </a:ext>
            </a:extLst>
          </p:cNvPr>
          <p:cNvCxnSpPr>
            <a:cxnSpLocks/>
          </p:cNvCxnSpPr>
          <p:nvPr/>
        </p:nvCxnSpPr>
        <p:spPr>
          <a:xfrm>
            <a:off x="5638800" y="3480718"/>
            <a:ext cx="117295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31C5B4C-E6A1-EA19-8630-DB0940D18748}"/>
              </a:ext>
            </a:extLst>
          </p:cNvPr>
          <p:cNvSpPr txBox="1"/>
          <p:nvPr/>
        </p:nvSpPr>
        <p:spPr>
          <a:xfrm>
            <a:off x="3733800" y="3253006"/>
            <a:ext cx="1676399" cy="400110"/>
          </a:xfrm>
          <a:prstGeom prst="rect">
            <a:avLst/>
          </a:prstGeom>
          <a:noFill/>
        </p:spPr>
        <p:txBody>
          <a:bodyPr wrap="square">
            <a:spAutoFit/>
          </a:bodyPr>
          <a:lstStyle/>
          <a:p>
            <a:r>
              <a:rPr lang="fr-FR" sz="2000" b="1" dirty="0">
                <a:solidFill>
                  <a:srgbClr val="FF0000"/>
                </a:solidFill>
                <a:latin typeface="Bookman Old Style" panose="02050604050505020204" pitchFamily="18" charset="0"/>
              </a:rPr>
              <a:t>Générateur</a:t>
            </a:r>
            <a:endParaRPr lang="fr-FR" sz="2000" dirty="0"/>
          </a:p>
        </p:txBody>
      </p:sp>
      <p:sp>
        <p:nvSpPr>
          <p:cNvPr id="28" name="Half Frame 27">
            <a:extLst>
              <a:ext uri="{FF2B5EF4-FFF2-40B4-BE49-F238E27FC236}">
                <a16:creationId xmlns:a16="http://schemas.microsoft.com/office/drawing/2014/main" id="{1EA45BAA-6BE8-377B-897F-D20C9AB80140}"/>
              </a:ext>
            </a:extLst>
          </p:cNvPr>
          <p:cNvSpPr/>
          <p:nvPr/>
        </p:nvSpPr>
        <p:spPr>
          <a:xfrm rot="7980389">
            <a:off x="2513429" y="3390204"/>
            <a:ext cx="228600" cy="181030"/>
          </a:xfrm>
          <a:prstGeom prst="halfFram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29" name="Half Frame 28">
            <a:extLst>
              <a:ext uri="{FF2B5EF4-FFF2-40B4-BE49-F238E27FC236}">
                <a16:creationId xmlns:a16="http://schemas.microsoft.com/office/drawing/2014/main" id="{3052EC86-E552-90E9-9CB3-7D2C42F8AB3B}"/>
              </a:ext>
            </a:extLst>
          </p:cNvPr>
          <p:cNvSpPr/>
          <p:nvPr/>
        </p:nvSpPr>
        <p:spPr>
          <a:xfrm rot="7980389">
            <a:off x="6110977" y="3391428"/>
            <a:ext cx="228600" cy="181030"/>
          </a:xfrm>
          <a:prstGeom prst="halfFram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30" name="TextBox 29">
            <a:extLst>
              <a:ext uri="{FF2B5EF4-FFF2-40B4-BE49-F238E27FC236}">
                <a16:creationId xmlns:a16="http://schemas.microsoft.com/office/drawing/2014/main" id="{60060721-A596-6C22-D52C-E0D036F1485D}"/>
              </a:ext>
            </a:extLst>
          </p:cNvPr>
          <p:cNvSpPr txBox="1"/>
          <p:nvPr/>
        </p:nvSpPr>
        <p:spPr>
          <a:xfrm>
            <a:off x="1439721" y="3019053"/>
            <a:ext cx="2495580" cy="923330"/>
          </a:xfrm>
          <a:prstGeom prst="rect">
            <a:avLst/>
          </a:prstGeom>
          <a:noFill/>
        </p:spPr>
        <p:txBody>
          <a:bodyPr wrap="square">
            <a:spAutoFit/>
          </a:bodyPr>
          <a:lstStyle/>
          <a:p>
            <a:pPr algn="ctr"/>
            <a:r>
              <a:rPr lang="fr-FR" b="1" dirty="0">
                <a:latin typeface="Bookman Old Style" panose="02050604050505020204" pitchFamily="18" charset="0"/>
              </a:rPr>
              <a:t>Courant </a:t>
            </a:r>
          </a:p>
          <a:p>
            <a:pPr algn="ctr"/>
            <a:endParaRPr lang="fr-FR" b="1" dirty="0">
              <a:latin typeface="Bookman Old Style" panose="02050604050505020204" pitchFamily="18" charset="0"/>
            </a:endParaRPr>
          </a:p>
          <a:p>
            <a:pPr algn="ctr"/>
            <a:r>
              <a:rPr lang="fr-FR" b="1" dirty="0">
                <a:latin typeface="Bookman Old Style" panose="02050604050505020204" pitchFamily="18" charset="0"/>
              </a:rPr>
              <a:t>électrique</a:t>
            </a:r>
            <a:endParaRPr lang="fr-FR" dirty="0"/>
          </a:p>
        </p:txBody>
      </p:sp>
      <p:cxnSp>
        <p:nvCxnSpPr>
          <p:cNvPr id="32" name="Straight Arrow Connector 31">
            <a:extLst>
              <a:ext uri="{FF2B5EF4-FFF2-40B4-BE49-F238E27FC236}">
                <a16:creationId xmlns:a16="http://schemas.microsoft.com/office/drawing/2014/main" id="{C472C01B-7788-1614-9540-4566F46293DE}"/>
              </a:ext>
            </a:extLst>
          </p:cNvPr>
          <p:cNvCxnSpPr/>
          <p:nvPr/>
        </p:nvCxnSpPr>
        <p:spPr>
          <a:xfrm>
            <a:off x="2508883" y="4005608"/>
            <a:ext cx="3925471"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168A1DC3-18C8-FCE1-6839-5B5ECE5E1D45}"/>
              </a:ext>
            </a:extLst>
          </p:cNvPr>
          <p:cNvSpPr txBox="1"/>
          <p:nvPr/>
        </p:nvSpPr>
        <p:spPr>
          <a:xfrm>
            <a:off x="2916808" y="4042448"/>
            <a:ext cx="3494476" cy="369332"/>
          </a:xfrm>
          <a:prstGeom prst="rect">
            <a:avLst/>
          </a:prstGeom>
          <a:noFill/>
        </p:spPr>
        <p:txBody>
          <a:bodyPr wrap="square">
            <a:spAutoFit/>
          </a:bodyPr>
          <a:lstStyle/>
          <a:p>
            <a:pPr algn="ctr"/>
            <a:r>
              <a:rPr lang="fr-FR" b="1" dirty="0">
                <a:latin typeface="Bookman Old Style" panose="02050604050505020204" pitchFamily="18" charset="0"/>
              </a:rPr>
              <a:t>Tension électrique</a:t>
            </a:r>
            <a:endParaRPr lang="fr-FR" dirty="0"/>
          </a:p>
        </p:txBody>
      </p:sp>
    </p:spTree>
    <p:extLst>
      <p:ext uri="{BB962C8B-B14F-4D97-AF65-F5344CB8AC3E}">
        <p14:creationId xmlns:p14="http://schemas.microsoft.com/office/powerpoint/2010/main" val="1627775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26</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76301" y="881439"/>
            <a:ext cx="4572000" cy="50526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2.5 </a:t>
            </a:r>
            <a:r>
              <a:rPr lang="fr-FR" altLang="fr-FR" sz="1400" b="1" spc="-5" dirty="0">
                <a:solidFill>
                  <a:srgbClr val="CC00CC"/>
                </a:solidFill>
                <a:latin typeface="Bookman Old Style" panose="02050604050505020204" pitchFamily="18" charset="0"/>
                <a:cs typeface="Arial"/>
              </a:rPr>
              <a:t>Convention de signe</a:t>
            </a:r>
          </a:p>
          <a:p>
            <a:pPr marL="12065" lvl="1">
              <a:lnSpc>
                <a:spcPct val="100000"/>
              </a:lnSpc>
              <a:spcBef>
                <a:spcPts val="100"/>
              </a:spcBef>
              <a:tabLst>
                <a:tab pos="393700" algn="l"/>
              </a:tabLst>
            </a:pPr>
            <a:r>
              <a:rPr lang="fr-FR" sz="1200" b="1" spc="-5" dirty="0">
                <a:solidFill>
                  <a:schemeClr val="accent6">
                    <a:lumMod val="50000"/>
                  </a:schemeClr>
                </a:solidFill>
                <a:latin typeface="Bookman Old Style" panose="02050604050505020204" pitchFamily="18" charset="0"/>
                <a:cs typeface="Arial"/>
              </a:rPr>
              <a:t>     A. Convention récepteur </a:t>
            </a:r>
            <a:endParaRPr lang="fr-FR" sz="1200" b="1" spc="-5" dirty="0">
              <a:solidFill>
                <a:srgbClr val="CC00CC"/>
              </a:solidFill>
              <a:latin typeface="Bookman Old Style" panose="02050604050505020204" pitchFamily="18" charset="0"/>
              <a:cs typeface="Arial"/>
            </a:endParaRPr>
          </a:p>
        </p:txBody>
      </p:sp>
      <p:sp>
        <p:nvSpPr>
          <p:cNvPr id="23" name="ZoneTexte 10">
            <a:extLst>
              <a:ext uri="{FF2B5EF4-FFF2-40B4-BE49-F238E27FC236}">
                <a16:creationId xmlns:a16="http://schemas.microsoft.com/office/drawing/2014/main" id="{F4DDBE1C-1268-DF0C-1C02-C4861B6AD9CE}"/>
              </a:ext>
            </a:extLst>
          </p:cNvPr>
          <p:cNvSpPr txBox="1">
            <a:spLocks noChangeArrowheads="1"/>
          </p:cNvSpPr>
          <p:nvPr/>
        </p:nvSpPr>
        <p:spPr bwMode="auto">
          <a:xfrm>
            <a:off x="643247" y="1549086"/>
            <a:ext cx="8277826" cy="107721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Un </a:t>
            </a:r>
            <a:r>
              <a:rPr lang="fr-FR" altLang="fr-FR" b="1" dirty="0"/>
              <a:t>dipôle</a:t>
            </a:r>
            <a:r>
              <a:rPr lang="fr-FR" altLang="fr-FR" dirty="0"/>
              <a:t> est un </a:t>
            </a:r>
            <a:r>
              <a:rPr lang="fr-FR" altLang="fr-FR" b="1" dirty="0"/>
              <a:t>récepteur</a:t>
            </a:r>
            <a:r>
              <a:rPr lang="fr-FR" altLang="fr-FR" dirty="0"/>
              <a:t> quand il </a:t>
            </a:r>
            <a:r>
              <a:rPr lang="fr-FR" altLang="fr-FR" b="1" dirty="0"/>
              <a:t>consomme de l'énergie </a:t>
            </a:r>
            <a:r>
              <a:rPr lang="fr-FR" altLang="fr-FR" dirty="0"/>
              <a:t>(fournie par le circuit sur lequel il est connecté).</a:t>
            </a:r>
          </a:p>
          <a:p>
            <a:pPr marL="0" indent="0">
              <a:buNone/>
            </a:pPr>
            <a:r>
              <a:rPr lang="fr-FR" altLang="fr-FR" dirty="0"/>
              <a:t>     Dans ce cas, le </a:t>
            </a:r>
            <a:r>
              <a:rPr lang="fr-FR" altLang="fr-FR" b="1" dirty="0"/>
              <a:t>courant</a:t>
            </a:r>
            <a:r>
              <a:rPr lang="fr-FR" altLang="fr-FR" dirty="0"/>
              <a:t> et la </a:t>
            </a:r>
            <a:r>
              <a:rPr lang="fr-FR" altLang="fr-FR" b="1" dirty="0"/>
              <a:t>tension</a:t>
            </a:r>
            <a:r>
              <a:rPr lang="fr-FR" altLang="fr-FR" dirty="0"/>
              <a:t> sont orientés en </a:t>
            </a:r>
            <a:r>
              <a:rPr lang="fr-FR" altLang="fr-FR" b="1" dirty="0">
                <a:solidFill>
                  <a:srgbClr val="FF0000"/>
                </a:solidFill>
              </a:rPr>
              <a:t>sens inverse</a:t>
            </a:r>
            <a:r>
              <a:rPr lang="fr-FR" altLang="fr-FR" dirty="0"/>
              <a:t>. Le </a:t>
            </a:r>
            <a:r>
              <a:rPr lang="fr-FR" altLang="fr-FR" b="1" dirty="0"/>
              <a:t>pôle positif du dipôle </a:t>
            </a:r>
            <a:r>
              <a:rPr lang="fr-FR" altLang="fr-FR" dirty="0"/>
              <a:t>est celui par </a:t>
            </a:r>
            <a:r>
              <a:rPr lang="fr-FR" altLang="fr-FR" b="1" dirty="0"/>
              <a:t>lequel rentre le courant</a:t>
            </a:r>
            <a:r>
              <a:rPr lang="fr-FR" altLang="fr-FR" dirty="0"/>
              <a:t>.</a:t>
            </a:r>
          </a:p>
        </p:txBody>
      </p:sp>
      <p:sp>
        <p:nvSpPr>
          <p:cNvPr id="24" name="Rectangle 23">
            <a:extLst>
              <a:ext uri="{FF2B5EF4-FFF2-40B4-BE49-F238E27FC236}">
                <a16:creationId xmlns:a16="http://schemas.microsoft.com/office/drawing/2014/main" id="{30198F2D-6DF7-365F-A4F6-221084F99AC8}"/>
              </a:ext>
            </a:extLst>
          </p:cNvPr>
          <p:cNvSpPr/>
          <p:nvPr/>
        </p:nvSpPr>
        <p:spPr>
          <a:xfrm>
            <a:off x="3505200" y="3129897"/>
            <a:ext cx="2133600" cy="685800"/>
          </a:xfrm>
          <a:prstGeom prst="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25" name="Straight Connector 24">
            <a:extLst>
              <a:ext uri="{FF2B5EF4-FFF2-40B4-BE49-F238E27FC236}">
                <a16:creationId xmlns:a16="http://schemas.microsoft.com/office/drawing/2014/main" id="{43A5488D-DE09-7EC5-474F-34ABCFDC3ADA}"/>
              </a:ext>
            </a:extLst>
          </p:cNvPr>
          <p:cNvCxnSpPr>
            <a:cxnSpLocks/>
          </p:cNvCxnSpPr>
          <p:nvPr/>
        </p:nvCxnSpPr>
        <p:spPr>
          <a:xfrm>
            <a:off x="2333432" y="3472797"/>
            <a:ext cx="117295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3E03E271-1801-A0BE-68E2-CC70554082AF}"/>
              </a:ext>
            </a:extLst>
          </p:cNvPr>
          <p:cNvCxnSpPr>
            <a:cxnSpLocks/>
          </p:cNvCxnSpPr>
          <p:nvPr/>
        </p:nvCxnSpPr>
        <p:spPr>
          <a:xfrm>
            <a:off x="5638800" y="3480718"/>
            <a:ext cx="117295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31C5B4C-E6A1-EA19-8630-DB0940D18748}"/>
              </a:ext>
            </a:extLst>
          </p:cNvPr>
          <p:cNvSpPr txBox="1"/>
          <p:nvPr/>
        </p:nvSpPr>
        <p:spPr>
          <a:xfrm>
            <a:off x="3733800" y="3253006"/>
            <a:ext cx="1676399" cy="400110"/>
          </a:xfrm>
          <a:prstGeom prst="rect">
            <a:avLst/>
          </a:prstGeom>
          <a:noFill/>
        </p:spPr>
        <p:txBody>
          <a:bodyPr wrap="square">
            <a:spAutoFit/>
          </a:bodyPr>
          <a:lstStyle/>
          <a:p>
            <a:r>
              <a:rPr lang="fr-FR" sz="2000" b="1" dirty="0">
                <a:solidFill>
                  <a:srgbClr val="FF0000"/>
                </a:solidFill>
                <a:latin typeface="Bookman Old Style" panose="02050604050505020204" pitchFamily="18" charset="0"/>
              </a:rPr>
              <a:t>Récepteur</a:t>
            </a:r>
            <a:endParaRPr lang="fr-FR" sz="2000" dirty="0"/>
          </a:p>
        </p:txBody>
      </p:sp>
      <p:sp>
        <p:nvSpPr>
          <p:cNvPr id="28" name="Half Frame 27">
            <a:extLst>
              <a:ext uri="{FF2B5EF4-FFF2-40B4-BE49-F238E27FC236}">
                <a16:creationId xmlns:a16="http://schemas.microsoft.com/office/drawing/2014/main" id="{1EA45BAA-6BE8-377B-897F-D20C9AB80140}"/>
              </a:ext>
            </a:extLst>
          </p:cNvPr>
          <p:cNvSpPr/>
          <p:nvPr/>
        </p:nvSpPr>
        <p:spPr>
          <a:xfrm rot="7980389">
            <a:off x="2513429" y="3390204"/>
            <a:ext cx="228600" cy="181030"/>
          </a:xfrm>
          <a:prstGeom prst="halfFram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29" name="Half Frame 28">
            <a:extLst>
              <a:ext uri="{FF2B5EF4-FFF2-40B4-BE49-F238E27FC236}">
                <a16:creationId xmlns:a16="http://schemas.microsoft.com/office/drawing/2014/main" id="{3052EC86-E552-90E9-9CB3-7D2C42F8AB3B}"/>
              </a:ext>
            </a:extLst>
          </p:cNvPr>
          <p:cNvSpPr/>
          <p:nvPr/>
        </p:nvSpPr>
        <p:spPr>
          <a:xfrm rot="7980389">
            <a:off x="6110977" y="3391428"/>
            <a:ext cx="228600" cy="181030"/>
          </a:xfrm>
          <a:prstGeom prst="halfFram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30" name="TextBox 29">
            <a:extLst>
              <a:ext uri="{FF2B5EF4-FFF2-40B4-BE49-F238E27FC236}">
                <a16:creationId xmlns:a16="http://schemas.microsoft.com/office/drawing/2014/main" id="{60060721-A596-6C22-D52C-E0D036F1485D}"/>
              </a:ext>
            </a:extLst>
          </p:cNvPr>
          <p:cNvSpPr txBox="1"/>
          <p:nvPr/>
        </p:nvSpPr>
        <p:spPr>
          <a:xfrm>
            <a:off x="1439721" y="3019053"/>
            <a:ext cx="2495580" cy="923330"/>
          </a:xfrm>
          <a:prstGeom prst="rect">
            <a:avLst/>
          </a:prstGeom>
          <a:noFill/>
        </p:spPr>
        <p:txBody>
          <a:bodyPr wrap="square">
            <a:spAutoFit/>
          </a:bodyPr>
          <a:lstStyle/>
          <a:p>
            <a:pPr algn="ctr"/>
            <a:r>
              <a:rPr lang="fr-FR" b="1" dirty="0">
                <a:latin typeface="Bookman Old Style" panose="02050604050505020204" pitchFamily="18" charset="0"/>
              </a:rPr>
              <a:t>Courant </a:t>
            </a:r>
          </a:p>
          <a:p>
            <a:pPr algn="ctr"/>
            <a:endParaRPr lang="fr-FR" b="1" dirty="0">
              <a:latin typeface="Bookman Old Style" panose="02050604050505020204" pitchFamily="18" charset="0"/>
            </a:endParaRPr>
          </a:p>
          <a:p>
            <a:pPr algn="ctr"/>
            <a:r>
              <a:rPr lang="fr-FR" b="1" dirty="0">
                <a:latin typeface="Bookman Old Style" panose="02050604050505020204" pitchFamily="18" charset="0"/>
              </a:rPr>
              <a:t>électrique</a:t>
            </a:r>
            <a:endParaRPr lang="fr-FR" dirty="0"/>
          </a:p>
        </p:txBody>
      </p:sp>
      <p:cxnSp>
        <p:nvCxnSpPr>
          <p:cNvPr id="32" name="Straight Arrow Connector 31">
            <a:extLst>
              <a:ext uri="{FF2B5EF4-FFF2-40B4-BE49-F238E27FC236}">
                <a16:creationId xmlns:a16="http://schemas.microsoft.com/office/drawing/2014/main" id="{C472C01B-7788-1614-9540-4566F46293DE}"/>
              </a:ext>
            </a:extLst>
          </p:cNvPr>
          <p:cNvCxnSpPr>
            <a:cxnSpLocks/>
          </p:cNvCxnSpPr>
          <p:nvPr/>
        </p:nvCxnSpPr>
        <p:spPr>
          <a:xfrm flipH="1">
            <a:off x="2982901" y="4042448"/>
            <a:ext cx="3242376"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168A1DC3-18C8-FCE1-6839-5B5ECE5E1D45}"/>
              </a:ext>
            </a:extLst>
          </p:cNvPr>
          <p:cNvSpPr txBox="1"/>
          <p:nvPr/>
        </p:nvSpPr>
        <p:spPr>
          <a:xfrm>
            <a:off x="2916808" y="4042448"/>
            <a:ext cx="3494476" cy="369332"/>
          </a:xfrm>
          <a:prstGeom prst="rect">
            <a:avLst/>
          </a:prstGeom>
          <a:noFill/>
        </p:spPr>
        <p:txBody>
          <a:bodyPr wrap="square">
            <a:spAutoFit/>
          </a:bodyPr>
          <a:lstStyle/>
          <a:p>
            <a:pPr algn="ctr"/>
            <a:r>
              <a:rPr lang="fr-FR" b="1" dirty="0">
                <a:latin typeface="Bookman Old Style" panose="02050604050505020204" pitchFamily="18" charset="0"/>
              </a:rPr>
              <a:t>Tension électrique</a:t>
            </a:r>
            <a:endParaRPr lang="fr-FR" dirty="0"/>
          </a:p>
        </p:txBody>
      </p:sp>
    </p:spTree>
    <p:extLst>
      <p:ext uri="{BB962C8B-B14F-4D97-AF65-F5344CB8AC3E}">
        <p14:creationId xmlns:p14="http://schemas.microsoft.com/office/powerpoint/2010/main" val="2537126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27</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76301" y="881439"/>
            <a:ext cx="4572000" cy="50526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2.6 </a:t>
            </a:r>
            <a:r>
              <a:rPr lang="fr-FR" altLang="fr-FR" sz="1400" b="1" spc="-5" dirty="0">
                <a:solidFill>
                  <a:srgbClr val="CC00CC"/>
                </a:solidFill>
                <a:latin typeface="Bookman Old Style" panose="02050604050505020204" pitchFamily="18" charset="0"/>
                <a:cs typeface="Arial"/>
              </a:rPr>
              <a:t>Sources d’alimentation</a:t>
            </a:r>
          </a:p>
          <a:p>
            <a:pPr marL="12065" lvl="1">
              <a:lnSpc>
                <a:spcPct val="100000"/>
              </a:lnSpc>
              <a:spcBef>
                <a:spcPts val="100"/>
              </a:spcBef>
              <a:tabLst>
                <a:tab pos="393700" algn="l"/>
              </a:tabLst>
            </a:pPr>
            <a:r>
              <a:rPr lang="fr-FR" sz="1200" b="1" spc="-5" dirty="0">
                <a:solidFill>
                  <a:schemeClr val="accent6">
                    <a:lumMod val="50000"/>
                  </a:schemeClr>
                </a:solidFill>
                <a:latin typeface="Bookman Old Style" panose="02050604050505020204" pitchFamily="18" charset="0"/>
                <a:cs typeface="Arial"/>
              </a:rPr>
              <a:t>      A. Source de tension parfaite </a:t>
            </a:r>
            <a:endParaRPr lang="fr-FR" sz="1200" b="1" spc="-5" dirty="0">
              <a:solidFill>
                <a:srgbClr val="CC00CC"/>
              </a:solidFill>
              <a:latin typeface="Bookman Old Style" panose="02050604050505020204" pitchFamily="18" charset="0"/>
              <a:cs typeface="Arial"/>
            </a:endParaRPr>
          </a:p>
        </p:txBody>
      </p:sp>
      <p:sp>
        <p:nvSpPr>
          <p:cNvPr id="23" name="ZoneTexte 10">
            <a:extLst>
              <a:ext uri="{FF2B5EF4-FFF2-40B4-BE49-F238E27FC236}">
                <a16:creationId xmlns:a16="http://schemas.microsoft.com/office/drawing/2014/main" id="{F4DDBE1C-1268-DF0C-1C02-C4861B6AD9CE}"/>
              </a:ext>
            </a:extLst>
          </p:cNvPr>
          <p:cNvSpPr txBox="1">
            <a:spLocks noChangeArrowheads="1"/>
          </p:cNvSpPr>
          <p:nvPr/>
        </p:nvSpPr>
        <p:spPr bwMode="auto">
          <a:xfrm>
            <a:off x="580706" y="1442097"/>
            <a:ext cx="8453105"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Une </a:t>
            </a:r>
            <a:r>
              <a:rPr lang="fr-FR" altLang="fr-FR" b="1" dirty="0"/>
              <a:t>source de tension </a:t>
            </a:r>
            <a:r>
              <a:rPr lang="fr-FR" altLang="fr-FR" dirty="0"/>
              <a:t>est un </a:t>
            </a:r>
            <a:r>
              <a:rPr lang="fr-FR" altLang="fr-FR" b="1" dirty="0"/>
              <a:t>dipôle actif</a:t>
            </a:r>
            <a:r>
              <a:rPr lang="fr-FR" altLang="fr-FR" dirty="0"/>
              <a:t>. On la représente sous cette forme :</a:t>
            </a:r>
          </a:p>
        </p:txBody>
      </p:sp>
      <p:grpSp>
        <p:nvGrpSpPr>
          <p:cNvPr id="3" name="object 31">
            <a:extLst>
              <a:ext uri="{FF2B5EF4-FFF2-40B4-BE49-F238E27FC236}">
                <a16:creationId xmlns:a16="http://schemas.microsoft.com/office/drawing/2014/main" id="{105F23DB-2662-8EF6-0869-23872ADA9942}"/>
              </a:ext>
            </a:extLst>
          </p:cNvPr>
          <p:cNvGrpSpPr/>
          <p:nvPr/>
        </p:nvGrpSpPr>
        <p:grpSpPr>
          <a:xfrm>
            <a:off x="1299253" y="1908270"/>
            <a:ext cx="1051560" cy="371475"/>
            <a:chOff x="5321808" y="2988576"/>
            <a:chExt cx="1051560" cy="371475"/>
          </a:xfrm>
        </p:grpSpPr>
        <p:sp>
          <p:nvSpPr>
            <p:cNvPr id="5" name="object 32">
              <a:extLst>
                <a:ext uri="{FF2B5EF4-FFF2-40B4-BE49-F238E27FC236}">
                  <a16:creationId xmlns:a16="http://schemas.microsoft.com/office/drawing/2014/main" id="{4C787B1C-6E8A-6B4C-43BE-73CD4B2BFBD7}"/>
                </a:ext>
              </a:extLst>
            </p:cNvPr>
            <p:cNvSpPr/>
            <p:nvPr/>
          </p:nvSpPr>
          <p:spPr>
            <a:xfrm>
              <a:off x="6324600" y="2993148"/>
              <a:ext cx="44450" cy="362585"/>
            </a:xfrm>
            <a:custGeom>
              <a:avLst/>
              <a:gdLst/>
              <a:ahLst/>
              <a:cxnLst/>
              <a:rect l="l" t="t" r="r" b="b"/>
              <a:pathLst>
                <a:path w="44450" h="362585">
                  <a:moveTo>
                    <a:pt x="44171" y="0"/>
                  </a:moveTo>
                  <a:lnTo>
                    <a:pt x="0" y="0"/>
                  </a:lnTo>
                  <a:lnTo>
                    <a:pt x="0" y="362191"/>
                  </a:lnTo>
                  <a:lnTo>
                    <a:pt x="44171" y="362191"/>
                  </a:lnTo>
                  <a:lnTo>
                    <a:pt x="44171" y="0"/>
                  </a:lnTo>
                  <a:close/>
                </a:path>
              </a:pathLst>
            </a:custGeom>
            <a:solidFill>
              <a:srgbClr val="000000"/>
            </a:solidFill>
          </p:spPr>
          <p:txBody>
            <a:bodyPr wrap="square" lIns="0" tIns="0" rIns="0" bIns="0" rtlCol="0"/>
            <a:lstStyle/>
            <a:p>
              <a:endParaRPr sz="2000"/>
            </a:p>
          </p:txBody>
        </p:sp>
        <p:sp>
          <p:nvSpPr>
            <p:cNvPr id="11" name="object 33">
              <a:extLst>
                <a:ext uri="{FF2B5EF4-FFF2-40B4-BE49-F238E27FC236}">
                  <a16:creationId xmlns:a16="http://schemas.microsoft.com/office/drawing/2014/main" id="{3267E426-6350-EEFF-3860-13ED86D321DB}"/>
                </a:ext>
              </a:extLst>
            </p:cNvPr>
            <p:cNvSpPr/>
            <p:nvPr/>
          </p:nvSpPr>
          <p:spPr>
            <a:xfrm>
              <a:off x="6324600" y="2993148"/>
              <a:ext cx="44450" cy="362585"/>
            </a:xfrm>
            <a:custGeom>
              <a:avLst/>
              <a:gdLst/>
              <a:ahLst/>
              <a:cxnLst/>
              <a:rect l="l" t="t" r="r" b="b"/>
              <a:pathLst>
                <a:path w="44450" h="362585">
                  <a:moveTo>
                    <a:pt x="0" y="362191"/>
                  </a:moveTo>
                  <a:lnTo>
                    <a:pt x="44171" y="362191"/>
                  </a:lnTo>
                  <a:lnTo>
                    <a:pt x="44171" y="0"/>
                  </a:lnTo>
                  <a:lnTo>
                    <a:pt x="0" y="0"/>
                  </a:lnTo>
                  <a:lnTo>
                    <a:pt x="0" y="362191"/>
                  </a:lnTo>
                  <a:close/>
                </a:path>
              </a:pathLst>
            </a:custGeom>
            <a:ln w="9143">
              <a:solidFill>
                <a:srgbClr val="000000"/>
              </a:solidFill>
            </a:ln>
          </p:spPr>
          <p:txBody>
            <a:bodyPr wrap="square" lIns="0" tIns="0" rIns="0" bIns="0" rtlCol="0"/>
            <a:lstStyle/>
            <a:p>
              <a:endParaRPr sz="2000"/>
            </a:p>
          </p:txBody>
        </p:sp>
        <p:sp>
          <p:nvSpPr>
            <p:cNvPr id="12" name="object 34">
              <a:extLst>
                <a:ext uri="{FF2B5EF4-FFF2-40B4-BE49-F238E27FC236}">
                  <a16:creationId xmlns:a16="http://schemas.microsoft.com/office/drawing/2014/main" id="{DBE2A274-CBBA-A2EB-7E1A-460F64FB5E2F}"/>
                </a:ext>
              </a:extLst>
            </p:cNvPr>
            <p:cNvSpPr/>
            <p:nvPr/>
          </p:nvSpPr>
          <p:spPr>
            <a:xfrm>
              <a:off x="5431536" y="3183635"/>
              <a:ext cx="890269" cy="0"/>
            </a:xfrm>
            <a:custGeom>
              <a:avLst/>
              <a:gdLst/>
              <a:ahLst/>
              <a:cxnLst/>
              <a:rect l="l" t="t" r="r" b="b"/>
              <a:pathLst>
                <a:path w="890270">
                  <a:moveTo>
                    <a:pt x="0" y="0"/>
                  </a:moveTo>
                  <a:lnTo>
                    <a:pt x="889762" y="0"/>
                  </a:lnTo>
                </a:path>
              </a:pathLst>
            </a:custGeom>
            <a:ln w="18288">
              <a:solidFill>
                <a:srgbClr val="000000"/>
              </a:solidFill>
            </a:ln>
          </p:spPr>
          <p:txBody>
            <a:bodyPr wrap="square" lIns="0" tIns="0" rIns="0" bIns="0" rtlCol="0"/>
            <a:lstStyle/>
            <a:p>
              <a:endParaRPr sz="2000"/>
            </a:p>
          </p:txBody>
        </p:sp>
        <p:pic>
          <p:nvPicPr>
            <p:cNvPr id="13" name="object 35">
              <a:extLst>
                <a:ext uri="{FF2B5EF4-FFF2-40B4-BE49-F238E27FC236}">
                  <a16:creationId xmlns:a16="http://schemas.microsoft.com/office/drawing/2014/main" id="{B8D17D1C-646D-8A2B-5050-F5AA7F070C9C}"/>
                </a:ext>
              </a:extLst>
            </p:cNvPr>
            <p:cNvPicPr/>
            <p:nvPr/>
          </p:nvPicPr>
          <p:blipFill>
            <a:blip r:embed="rId3" cstate="print"/>
            <a:stretch>
              <a:fillRect/>
            </a:stretch>
          </p:blipFill>
          <p:spPr>
            <a:xfrm>
              <a:off x="5321808" y="3131819"/>
              <a:ext cx="111251" cy="111251"/>
            </a:xfrm>
            <a:prstGeom prst="rect">
              <a:avLst/>
            </a:prstGeom>
          </p:spPr>
        </p:pic>
      </p:grpSp>
      <p:grpSp>
        <p:nvGrpSpPr>
          <p:cNvPr id="16" name="object 36">
            <a:extLst>
              <a:ext uri="{FF2B5EF4-FFF2-40B4-BE49-F238E27FC236}">
                <a16:creationId xmlns:a16="http://schemas.microsoft.com/office/drawing/2014/main" id="{2254A475-3FBD-6958-72B9-F7E81D489785}"/>
              </a:ext>
            </a:extLst>
          </p:cNvPr>
          <p:cNvGrpSpPr/>
          <p:nvPr/>
        </p:nvGrpSpPr>
        <p:grpSpPr>
          <a:xfrm>
            <a:off x="2411773" y="1987556"/>
            <a:ext cx="913130" cy="213360"/>
            <a:chOff x="6434328" y="3067862"/>
            <a:chExt cx="913130" cy="213360"/>
          </a:xfrm>
        </p:grpSpPr>
        <p:sp>
          <p:nvSpPr>
            <p:cNvPr id="17" name="object 37">
              <a:extLst>
                <a:ext uri="{FF2B5EF4-FFF2-40B4-BE49-F238E27FC236}">
                  <a16:creationId xmlns:a16="http://schemas.microsoft.com/office/drawing/2014/main" id="{040098DA-50D4-4E85-6896-800C48A35086}"/>
                </a:ext>
              </a:extLst>
            </p:cNvPr>
            <p:cNvSpPr/>
            <p:nvPr/>
          </p:nvSpPr>
          <p:spPr>
            <a:xfrm>
              <a:off x="6438900" y="3072434"/>
              <a:ext cx="44450" cy="203835"/>
            </a:xfrm>
            <a:custGeom>
              <a:avLst/>
              <a:gdLst/>
              <a:ahLst/>
              <a:cxnLst/>
              <a:rect l="l" t="t" r="r" b="b"/>
              <a:pathLst>
                <a:path w="44450" h="203835">
                  <a:moveTo>
                    <a:pt x="44171" y="0"/>
                  </a:moveTo>
                  <a:lnTo>
                    <a:pt x="0" y="0"/>
                  </a:lnTo>
                  <a:lnTo>
                    <a:pt x="0" y="203657"/>
                  </a:lnTo>
                  <a:lnTo>
                    <a:pt x="44171" y="203657"/>
                  </a:lnTo>
                  <a:lnTo>
                    <a:pt x="44171" y="0"/>
                  </a:lnTo>
                  <a:close/>
                </a:path>
              </a:pathLst>
            </a:custGeom>
            <a:solidFill>
              <a:srgbClr val="000000"/>
            </a:solidFill>
          </p:spPr>
          <p:txBody>
            <a:bodyPr wrap="square" lIns="0" tIns="0" rIns="0" bIns="0" rtlCol="0"/>
            <a:lstStyle/>
            <a:p>
              <a:endParaRPr sz="2000"/>
            </a:p>
          </p:txBody>
        </p:sp>
        <p:sp>
          <p:nvSpPr>
            <p:cNvPr id="20" name="object 38">
              <a:extLst>
                <a:ext uri="{FF2B5EF4-FFF2-40B4-BE49-F238E27FC236}">
                  <a16:creationId xmlns:a16="http://schemas.microsoft.com/office/drawing/2014/main" id="{C87C63BF-8A74-9039-73D0-A9692B491802}"/>
                </a:ext>
              </a:extLst>
            </p:cNvPr>
            <p:cNvSpPr/>
            <p:nvPr/>
          </p:nvSpPr>
          <p:spPr>
            <a:xfrm>
              <a:off x="6438900" y="3072434"/>
              <a:ext cx="44450" cy="203835"/>
            </a:xfrm>
            <a:custGeom>
              <a:avLst/>
              <a:gdLst/>
              <a:ahLst/>
              <a:cxnLst/>
              <a:rect l="l" t="t" r="r" b="b"/>
              <a:pathLst>
                <a:path w="44450" h="203835">
                  <a:moveTo>
                    <a:pt x="0" y="203657"/>
                  </a:moveTo>
                  <a:lnTo>
                    <a:pt x="44171" y="203657"/>
                  </a:lnTo>
                  <a:lnTo>
                    <a:pt x="44171" y="0"/>
                  </a:lnTo>
                  <a:lnTo>
                    <a:pt x="0" y="0"/>
                  </a:lnTo>
                  <a:lnTo>
                    <a:pt x="0" y="203657"/>
                  </a:lnTo>
                  <a:close/>
                </a:path>
              </a:pathLst>
            </a:custGeom>
            <a:ln w="9143">
              <a:solidFill>
                <a:srgbClr val="000000"/>
              </a:solidFill>
            </a:ln>
          </p:spPr>
          <p:txBody>
            <a:bodyPr wrap="square" lIns="0" tIns="0" rIns="0" bIns="0" rtlCol="0"/>
            <a:lstStyle/>
            <a:p>
              <a:endParaRPr sz="2000"/>
            </a:p>
          </p:txBody>
        </p:sp>
        <p:sp>
          <p:nvSpPr>
            <p:cNvPr id="21" name="object 39">
              <a:extLst>
                <a:ext uri="{FF2B5EF4-FFF2-40B4-BE49-F238E27FC236}">
                  <a16:creationId xmlns:a16="http://schemas.microsoft.com/office/drawing/2014/main" id="{133EE64C-7FE4-1C75-95C9-30E8A110A845}"/>
                </a:ext>
              </a:extLst>
            </p:cNvPr>
            <p:cNvSpPr/>
            <p:nvPr/>
          </p:nvSpPr>
          <p:spPr>
            <a:xfrm>
              <a:off x="6483096" y="3177539"/>
              <a:ext cx="822960" cy="0"/>
            </a:xfrm>
            <a:custGeom>
              <a:avLst/>
              <a:gdLst/>
              <a:ahLst/>
              <a:cxnLst/>
              <a:rect l="l" t="t" r="r" b="b"/>
              <a:pathLst>
                <a:path w="822959">
                  <a:moveTo>
                    <a:pt x="0" y="0"/>
                  </a:moveTo>
                  <a:lnTo>
                    <a:pt x="822832" y="0"/>
                  </a:lnTo>
                </a:path>
              </a:pathLst>
            </a:custGeom>
            <a:ln w="18288">
              <a:solidFill>
                <a:srgbClr val="000000"/>
              </a:solidFill>
            </a:ln>
          </p:spPr>
          <p:txBody>
            <a:bodyPr wrap="square" lIns="0" tIns="0" rIns="0" bIns="0" rtlCol="0"/>
            <a:lstStyle/>
            <a:p>
              <a:endParaRPr sz="2000"/>
            </a:p>
          </p:txBody>
        </p:sp>
        <p:pic>
          <p:nvPicPr>
            <p:cNvPr id="22" name="object 40">
              <a:extLst>
                <a:ext uri="{FF2B5EF4-FFF2-40B4-BE49-F238E27FC236}">
                  <a16:creationId xmlns:a16="http://schemas.microsoft.com/office/drawing/2014/main" id="{55BAFEB6-E787-82CA-49EB-016623314C17}"/>
                </a:ext>
              </a:extLst>
            </p:cNvPr>
            <p:cNvPicPr/>
            <p:nvPr/>
          </p:nvPicPr>
          <p:blipFill>
            <a:blip r:embed="rId3" cstate="print"/>
            <a:stretch>
              <a:fillRect/>
            </a:stretch>
          </p:blipFill>
          <p:spPr>
            <a:xfrm>
              <a:off x="7235952" y="3116579"/>
              <a:ext cx="111250" cy="109728"/>
            </a:xfrm>
            <a:prstGeom prst="rect">
              <a:avLst/>
            </a:prstGeom>
          </p:spPr>
        </p:pic>
      </p:grpSp>
      <p:sp>
        <p:nvSpPr>
          <p:cNvPr id="34" name="TextBox 33">
            <a:extLst>
              <a:ext uri="{FF2B5EF4-FFF2-40B4-BE49-F238E27FC236}">
                <a16:creationId xmlns:a16="http://schemas.microsoft.com/office/drawing/2014/main" id="{1B124247-96BB-9E06-3E37-C3BD3F2BA8E5}"/>
              </a:ext>
            </a:extLst>
          </p:cNvPr>
          <p:cNvSpPr txBox="1"/>
          <p:nvPr/>
        </p:nvSpPr>
        <p:spPr>
          <a:xfrm>
            <a:off x="2033315" y="1750659"/>
            <a:ext cx="620261" cy="369332"/>
          </a:xfrm>
          <a:prstGeom prst="rect">
            <a:avLst/>
          </a:prstGeom>
          <a:noFill/>
        </p:spPr>
        <p:txBody>
          <a:bodyPr wrap="square">
            <a:spAutoFit/>
          </a:bodyPr>
          <a:lstStyle/>
          <a:p>
            <a:r>
              <a:rPr lang="fr-FR" altLang="fr-FR" b="1" dirty="0">
                <a:latin typeface="Bookman Old Style" panose="02050604050505020204" pitchFamily="18" charset="0"/>
              </a:rPr>
              <a:t>+</a:t>
            </a:r>
            <a:endParaRPr lang="fr-FR" dirty="0">
              <a:latin typeface="Bookman Old Style" panose="02050604050505020204" pitchFamily="18" charset="0"/>
            </a:endParaRPr>
          </a:p>
        </p:txBody>
      </p:sp>
      <p:sp>
        <p:nvSpPr>
          <p:cNvPr id="35" name="TextBox 34">
            <a:extLst>
              <a:ext uri="{FF2B5EF4-FFF2-40B4-BE49-F238E27FC236}">
                <a16:creationId xmlns:a16="http://schemas.microsoft.com/office/drawing/2014/main" id="{6887AA82-79F3-028E-27B0-32E5689831D2}"/>
              </a:ext>
            </a:extLst>
          </p:cNvPr>
          <p:cNvSpPr txBox="1"/>
          <p:nvPr/>
        </p:nvSpPr>
        <p:spPr>
          <a:xfrm>
            <a:off x="2390691" y="1758562"/>
            <a:ext cx="620261" cy="369332"/>
          </a:xfrm>
          <a:prstGeom prst="rect">
            <a:avLst/>
          </a:prstGeom>
          <a:noFill/>
        </p:spPr>
        <p:txBody>
          <a:bodyPr wrap="square">
            <a:spAutoFit/>
          </a:bodyPr>
          <a:lstStyle/>
          <a:p>
            <a:r>
              <a:rPr lang="fr-FR" b="1" dirty="0">
                <a:latin typeface="Bookman Old Style" panose="02050604050505020204" pitchFamily="18" charset="0"/>
              </a:rPr>
              <a:t>-</a:t>
            </a:r>
          </a:p>
        </p:txBody>
      </p:sp>
      <p:sp>
        <p:nvSpPr>
          <p:cNvPr id="37" name="TextBox 36">
            <a:extLst>
              <a:ext uri="{FF2B5EF4-FFF2-40B4-BE49-F238E27FC236}">
                <a16:creationId xmlns:a16="http://schemas.microsoft.com/office/drawing/2014/main" id="{7FC51E04-A303-EC3F-D391-99621DD1EB9E}"/>
              </a:ext>
            </a:extLst>
          </p:cNvPr>
          <p:cNvSpPr txBox="1"/>
          <p:nvPr/>
        </p:nvSpPr>
        <p:spPr>
          <a:xfrm>
            <a:off x="1242739" y="2397603"/>
            <a:ext cx="2201411" cy="523220"/>
          </a:xfrm>
          <a:prstGeom prst="rect">
            <a:avLst/>
          </a:prstGeom>
          <a:noFill/>
        </p:spPr>
        <p:txBody>
          <a:bodyPr wrap="square">
            <a:spAutoFit/>
          </a:bodyPr>
          <a:lstStyle/>
          <a:p>
            <a:pPr algn="ctr"/>
            <a:r>
              <a:rPr lang="fr-FR" altLang="fr-FR" sz="1400" b="1" dirty="0">
                <a:solidFill>
                  <a:srgbClr val="0000FF"/>
                </a:solidFill>
                <a:latin typeface="Bookman Old Style" panose="02050604050505020204" pitchFamily="18" charset="0"/>
                <a:cs typeface="Browallia New" panose="020B0604020202020204" pitchFamily="34" charset="-34"/>
              </a:rPr>
              <a:t>Source de tension </a:t>
            </a:r>
          </a:p>
          <a:p>
            <a:pPr algn="ctr"/>
            <a:r>
              <a:rPr lang="fr-FR" altLang="fr-FR" sz="1400" b="1" dirty="0">
                <a:solidFill>
                  <a:srgbClr val="0000FF"/>
                </a:solidFill>
                <a:latin typeface="Bookman Old Style" panose="02050604050505020204" pitchFamily="18" charset="0"/>
                <a:cs typeface="Browallia New" panose="020B0604020202020204" pitchFamily="34" charset="-34"/>
              </a:rPr>
              <a:t>continue</a:t>
            </a:r>
          </a:p>
        </p:txBody>
      </p:sp>
      <p:sp>
        <p:nvSpPr>
          <p:cNvPr id="38" name="TextBox 37">
            <a:extLst>
              <a:ext uri="{FF2B5EF4-FFF2-40B4-BE49-F238E27FC236}">
                <a16:creationId xmlns:a16="http://schemas.microsoft.com/office/drawing/2014/main" id="{02DFC004-2B59-F869-CF6B-6C6A4BF6AD5F}"/>
              </a:ext>
            </a:extLst>
          </p:cNvPr>
          <p:cNvSpPr txBox="1"/>
          <p:nvPr/>
        </p:nvSpPr>
        <p:spPr>
          <a:xfrm>
            <a:off x="5864514" y="2389596"/>
            <a:ext cx="2201411" cy="523220"/>
          </a:xfrm>
          <a:prstGeom prst="rect">
            <a:avLst/>
          </a:prstGeom>
          <a:noFill/>
        </p:spPr>
        <p:txBody>
          <a:bodyPr wrap="square">
            <a:spAutoFit/>
          </a:bodyPr>
          <a:lstStyle/>
          <a:p>
            <a:pPr algn="ctr"/>
            <a:r>
              <a:rPr lang="fr-FR" altLang="fr-FR" sz="1400" b="1" dirty="0">
                <a:solidFill>
                  <a:srgbClr val="0000FF"/>
                </a:solidFill>
                <a:latin typeface="Bookman Old Style" panose="02050604050505020204" pitchFamily="18" charset="0"/>
                <a:cs typeface="Browallia New" panose="020B0604020202020204" pitchFamily="34" charset="-34"/>
              </a:rPr>
              <a:t>Source de tension alternative</a:t>
            </a:r>
          </a:p>
        </p:txBody>
      </p:sp>
      <p:pic>
        <p:nvPicPr>
          <p:cNvPr id="44" name="Picture 43">
            <a:extLst>
              <a:ext uri="{FF2B5EF4-FFF2-40B4-BE49-F238E27FC236}">
                <a16:creationId xmlns:a16="http://schemas.microsoft.com/office/drawing/2014/main" id="{765A76C3-D62B-AB2D-B194-034F262BE55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172200" y="1733258"/>
            <a:ext cx="1399566" cy="636510"/>
          </a:xfrm>
          <a:prstGeom prst="rect">
            <a:avLst/>
          </a:prstGeom>
        </p:spPr>
      </p:pic>
      <p:sp>
        <p:nvSpPr>
          <p:cNvPr id="47" name="TextBox 46">
            <a:extLst>
              <a:ext uri="{FF2B5EF4-FFF2-40B4-BE49-F238E27FC236}">
                <a16:creationId xmlns:a16="http://schemas.microsoft.com/office/drawing/2014/main" id="{8149896E-6635-E381-FC2D-D393643EF3F4}"/>
              </a:ext>
            </a:extLst>
          </p:cNvPr>
          <p:cNvSpPr txBox="1"/>
          <p:nvPr/>
        </p:nvSpPr>
        <p:spPr>
          <a:xfrm>
            <a:off x="609158" y="3102176"/>
            <a:ext cx="8089503" cy="5847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Elle est dite </a:t>
            </a:r>
            <a:r>
              <a:rPr lang="fr-FR" altLang="fr-FR" b="1" dirty="0">
                <a:solidFill>
                  <a:srgbClr val="FF0000"/>
                </a:solidFill>
              </a:rPr>
              <a:t>source de tension parfaite </a:t>
            </a:r>
            <a:r>
              <a:rPr lang="fr-FR" altLang="fr-FR" dirty="0"/>
              <a:t>s‘elle </a:t>
            </a:r>
            <a:r>
              <a:rPr lang="fr-FR" altLang="fr-FR" b="1" dirty="0"/>
              <a:t>maintient la même tension entre ses bornes</a:t>
            </a:r>
            <a:r>
              <a:rPr lang="fr-FR" altLang="fr-FR" dirty="0"/>
              <a:t>, et ce quel que </a:t>
            </a:r>
            <a:r>
              <a:rPr lang="fr-FR" altLang="fr-FR" b="1" dirty="0"/>
              <a:t>soit le courant qu’elle débite</a:t>
            </a:r>
            <a:r>
              <a:rPr lang="fr-FR" altLang="fr-FR" dirty="0"/>
              <a:t>.</a:t>
            </a:r>
            <a:endParaRPr lang="fr-FR" dirty="0"/>
          </a:p>
        </p:txBody>
      </p:sp>
      <p:pic>
        <p:nvPicPr>
          <p:cNvPr id="48" name="Picture 6">
            <a:extLst>
              <a:ext uri="{FF2B5EF4-FFF2-40B4-BE49-F238E27FC236}">
                <a16:creationId xmlns:a16="http://schemas.microsoft.com/office/drawing/2014/main" id="{57E6966D-4888-42E7-E4BF-7300430C2ED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00140" y="3816889"/>
            <a:ext cx="4596320" cy="1203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48445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28</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76301" y="881439"/>
            <a:ext cx="4572000" cy="50526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2.6 </a:t>
            </a:r>
            <a:r>
              <a:rPr lang="fr-FR" altLang="fr-FR" sz="1400" b="1" spc="-5" dirty="0">
                <a:solidFill>
                  <a:srgbClr val="CC00CC"/>
                </a:solidFill>
                <a:latin typeface="Bookman Old Style" panose="02050604050505020204" pitchFamily="18" charset="0"/>
                <a:cs typeface="Arial"/>
              </a:rPr>
              <a:t>Sources d’alimentation</a:t>
            </a:r>
          </a:p>
          <a:p>
            <a:pPr marL="12065" lvl="1">
              <a:lnSpc>
                <a:spcPct val="100000"/>
              </a:lnSpc>
              <a:spcBef>
                <a:spcPts val="100"/>
              </a:spcBef>
              <a:tabLst>
                <a:tab pos="393700" algn="l"/>
              </a:tabLst>
            </a:pPr>
            <a:r>
              <a:rPr lang="fr-FR" sz="1200" b="1" spc="-5" dirty="0">
                <a:solidFill>
                  <a:schemeClr val="accent6">
                    <a:lumMod val="50000"/>
                  </a:schemeClr>
                </a:solidFill>
                <a:latin typeface="Bookman Old Style" panose="02050604050505020204" pitchFamily="18" charset="0"/>
                <a:cs typeface="Arial"/>
              </a:rPr>
              <a:t>      B. Source de courant parfaite </a:t>
            </a:r>
            <a:endParaRPr lang="fr-FR" sz="1200" b="1" spc="-5" dirty="0">
              <a:solidFill>
                <a:srgbClr val="CC00CC"/>
              </a:solidFill>
              <a:latin typeface="Bookman Old Style" panose="02050604050505020204" pitchFamily="18" charset="0"/>
              <a:cs typeface="Arial"/>
            </a:endParaRPr>
          </a:p>
        </p:txBody>
      </p:sp>
      <p:sp>
        <p:nvSpPr>
          <p:cNvPr id="23" name="ZoneTexte 10">
            <a:extLst>
              <a:ext uri="{FF2B5EF4-FFF2-40B4-BE49-F238E27FC236}">
                <a16:creationId xmlns:a16="http://schemas.microsoft.com/office/drawing/2014/main" id="{F4DDBE1C-1268-DF0C-1C02-C4861B6AD9CE}"/>
              </a:ext>
            </a:extLst>
          </p:cNvPr>
          <p:cNvSpPr txBox="1">
            <a:spLocks noChangeArrowheads="1"/>
          </p:cNvSpPr>
          <p:nvPr/>
        </p:nvSpPr>
        <p:spPr bwMode="auto">
          <a:xfrm>
            <a:off x="580706" y="1442097"/>
            <a:ext cx="8453105"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Une </a:t>
            </a:r>
            <a:r>
              <a:rPr lang="fr-FR" altLang="fr-FR" b="1" dirty="0"/>
              <a:t>source de courant </a:t>
            </a:r>
            <a:r>
              <a:rPr lang="fr-FR" altLang="fr-FR" dirty="0"/>
              <a:t>est un </a:t>
            </a:r>
            <a:r>
              <a:rPr lang="fr-FR" altLang="fr-FR" b="1" dirty="0"/>
              <a:t>dipôle actif</a:t>
            </a:r>
            <a:r>
              <a:rPr lang="fr-FR" altLang="fr-FR" dirty="0"/>
              <a:t>. On la représente sous cette forme :</a:t>
            </a:r>
          </a:p>
        </p:txBody>
      </p:sp>
      <p:sp>
        <p:nvSpPr>
          <p:cNvPr id="37" name="TextBox 36">
            <a:extLst>
              <a:ext uri="{FF2B5EF4-FFF2-40B4-BE49-F238E27FC236}">
                <a16:creationId xmlns:a16="http://schemas.microsoft.com/office/drawing/2014/main" id="{7FC51E04-A303-EC3F-D391-99621DD1EB9E}"/>
              </a:ext>
            </a:extLst>
          </p:cNvPr>
          <p:cNvSpPr txBox="1"/>
          <p:nvPr/>
        </p:nvSpPr>
        <p:spPr>
          <a:xfrm>
            <a:off x="1164105" y="2804936"/>
            <a:ext cx="2201411" cy="523220"/>
          </a:xfrm>
          <a:prstGeom prst="rect">
            <a:avLst/>
          </a:prstGeom>
          <a:noFill/>
        </p:spPr>
        <p:txBody>
          <a:bodyPr wrap="square">
            <a:spAutoFit/>
          </a:bodyPr>
          <a:lstStyle/>
          <a:p>
            <a:pPr algn="ctr"/>
            <a:r>
              <a:rPr lang="fr-FR" altLang="fr-FR" sz="1400" b="1" dirty="0">
                <a:solidFill>
                  <a:srgbClr val="0000FF"/>
                </a:solidFill>
                <a:latin typeface="Bookman Old Style" panose="02050604050505020204" pitchFamily="18" charset="0"/>
                <a:cs typeface="Browallia New" panose="020B0604020202020204" pitchFamily="34" charset="-34"/>
              </a:rPr>
              <a:t>Source de courant </a:t>
            </a:r>
          </a:p>
          <a:p>
            <a:pPr algn="ctr"/>
            <a:r>
              <a:rPr lang="fr-FR" altLang="fr-FR" sz="1400" b="1" dirty="0">
                <a:solidFill>
                  <a:srgbClr val="0000FF"/>
                </a:solidFill>
                <a:latin typeface="Bookman Old Style" panose="02050604050505020204" pitchFamily="18" charset="0"/>
                <a:cs typeface="Browallia New" panose="020B0604020202020204" pitchFamily="34" charset="-34"/>
              </a:rPr>
              <a:t>continue</a:t>
            </a:r>
          </a:p>
        </p:txBody>
      </p:sp>
      <p:sp>
        <p:nvSpPr>
          <p:cNvPr id="38" name="TextBox 37">
            <a:extLst>
              <a:ext uri="{FF2B5EF4-FFF2-40B4-BE49-F238E27FC236}">
                <a16:creationId xmlns:a16="http://schemas.microsoft.com/office/drawing/2014/main" id="{02DFC004-2B59-F869-CF6B-6C6A4BF6AD5F}"/>
              </a:ext>
            </a:extLst>
          </p:cNvPr>
          <p:cNvSpPr txBox="1"/>
          <p:nvPr/>
        </p:nvSpPr>
        <p:spPr>
          <a:xfrm>
            <a:off x="5870105" y="2820389"/>
            <a:ext cx="2201411" cy="523220"/>
          </a:xfrm>
          <a:prstGeom prst="rect">
            <a:avLst/>
          </a:prstGeom>
          <a:noFill/>
        </p:spPr>
        <p:txBody>
          <a:bodyPr wrap="square">
            <a:spAutoFit/>
          </a:bodyPr>
          <a:lstStyle/>
          <a:p>
            <a:pPr algn="ctr"/>
            <a:r>
              <a:rPr lang="fr-FR" altLang="fr-FR" sz="1400" b="1" dirty="0">
                <a:solidFill>
                  <a:srgbClr val="0000FF"/>
                </a:solidFill>
                <a:latin typeface="Bookman Old Style" panose="02050604050505020204" pitchFamily="18" charset="0"/>
                <a:cs typeface="Browallia New" panose="020B0604020202020204" pitchFamily="34" charset="-34"/>
              </a:rPr>
              <a:t>Source de courant alternative</a:t>
            </a:r>
          </a:p>
        </p:txBody>
      </p:sp>
      <p:sp>
        <p:nvSpPr>
          <p:cNvPr id="25" name="TextBox 24">
            <a:extLst>
              <a:ext uri="{FF2B5EF4-FFF2-40B4-BE49-F238E27FC236}">
                <a16:creationId xmlns:a16="http://schemas.microsoft.com/office/drawing/2014/main" id="{3405B857-CCB3-E00B-FDF5-BE73C8A3C700}"/>
              </a:ext>
            </a:extLst>
          </p:cNvPr>
          <p:cNvSpPr txBox="1"/>
          <p:nvPr/>
        </p:nvSpPr>
        <p:spPr>
          <a:xfrm>
            <a:off x="577211" y="3366048"/>
            <a:ext cx="8466045" cy="5847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Elle est dite </a:t>
            </a:r>
            <a:r>
              <a:rPr lang="fr-FR" altLang="fr-FR" b="1" dirty="0">
                <a:solidFill>
                  <a:srgbClr val="FF0000"/>
                </a:solidFill>
              </a:rPr>
              <a:t>source de tension parfaite </a:t>
            </a:r>
            <a:r>
              <a:rPr lang="fr-FR" altLang="fr-FR" dirty="0"/>
              <a:t>s‘elle débite le </a:t>
            </a:r>
            <a:r>
              <a:rPr lang="fr-FR" altLang="fr-FR" b="1" dirty="0"/>
              <a:t>même courant </a:t>
            </a:r>
            <a:r>
              <a:rPr lang="fr-FR" altLang="fr-FR" dirty="0"/>
              <a:t>quel que </a:t>
            </a:r>
            <a:r>
              <a:rPr lang="fr-FR" altLang="fr-FR" b="1" dirty="0"/>
              <a:t>soit la tension présente à ses bornes</a:t>
            </a:r>
            <a:r>
              <a:rPr lang="fr-FR" altLang="fr-FR" dirty="0"/>
              <a:t>.</a:t>
            </a:r>
          </a:p>
        </p:txBody>
      </p:sp>
      <p:pic>
        <p:nvPicPr>
          <p:cNvPr id="26" name="Picture 6">
            <a:extLst>
              <a:ext uri="{FF2B5EF4-FFF2-40B4-BE49-F238E27FC236}">
                <a16:creationId xmlns:a16="http://schemas.microsoft.com/office/drawing/2014/main" id="{801F01AD-A11C-9505-2A06-CE07675AFF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31210" y="3880653"/>
            <a:ext cx="4126790" cy="1036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 name="Oval 26">
            <a:extLst>
              <a:ext uri="{FF2B5EF4-FFF2-40B4-BE49-F238E27FC236}">
                <a16:creationId xmlns:a16="http://schemas.microsoft.com/office/drawing/2014/main" id="{E3ED968F-D126-D0E7-72CE-475F13665729}"/>
              </a:ext>
            </a:extLst>
          </p:cNvPr>
          <p:cNvSpPr/>
          <p:nvPr/>
        </p:nvSpPr>
        <p:spPr>
          <a:xfrm>
            <a:off x="1981200" y="2120810"/>
            <a:ext cx="457200" cy="39924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Oval 27">
            <a:extLst>
              <a:ext uri="{FF2B5EF4-FFF2-40B4-BE49-F238E27FC236}">
                <a16:creationId xmlns:a16="http://schemas.microsoft.com/office/drawing/2014/main" id="{E5E3E9F1-D227-C9DC-A231-7EB5DCB4F86A}"/>
              </a:ext>
            </a:extLst>
          </p:cNvPr>
          <p:cNvSpPr/>
          <p:nvPr/>
        </p:nvSpPr>
        <p:spPr>
          <a:xfrm>
            <a:off x="1981200" y="1903354"/>
            <a:ext cx="457200" cy="39924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2" name="Straight Connector 31">
            <a:extLst>
              <a:ext uri="{FF2B5EF4-FFF2-40B4-BE49-F238E27FC236}">
                <a16:creationId xmlns:a16="http://schemas.microsoft.com/office/drawing/2014/main" id="{B80B30EF-3DFB-021E-ED1C-4B333E137541}"/>
              </a:ext>
            </a:extLst>
          </p:cNvPr>
          <p:cNvCxnSpPr>
            <a:cxnSpLocks/>
          </p:cNvCxnSpPr>
          <p:nvPr/>
        </p:nvCxnSpPr>
        <p:spPr>
          <a:xfrm>
            <a:off x="2209800" y="1733550"/>
            <a:ext cx="0" cy="106480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CB907A97-7357-8D3C-FCCA-1BF7370C98BD}"/>
              </a:ext>
            </a:extLst>
          </p:cNvPr>
          <p:cNvCxnSpPr>
            <a:cxnSpLocks/>
          </p:cNvCxnSpPr>
          <p:nvPr/>
        </p:nvCxnSpPr>
        <p:spPr>
          <a:xfrm flipV="1">
            <a:off x="2209800" y="2120810"/>
            <a:ext cx="0" cy="18215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38C5FFAA-8B3C-C7DB-A022-E890D83E4842}"/>
              </a:ext>
            </a:extLst>
          </p:cNvPr>
          <p:cNvSpPr txBox="1"/>
          <p:nvPr/>
        </p:nvSpPr>
        <p:spPr>
          <a:xfrm>
            <a:off x="1652739" y="2031028"/>
            <a:ext cx="1071124" cy="369332"/>
          </a:xfrm>
          <a:prstGeom prst="rect">
            <a:avLst/>
          </a:prstGeom>
          <a:noFill/>
        </p:spPr>
        <p:txBody>
          <a:bodyPr wrap="square">
            <a:spAutoFit/>
          </a:bodyPr>
          <a:lstStyle/>
          <a:p>
            <a:r>
              <a:rPr lang="fr-FR" altLang="fr-FR" sz="1800" b="1" dirty="0">
                <a:latin typeface="Bookman Old Style" panose="02050604050505020204" pitchFamily="18" charset="0"/>
                <a:cs typeface="Browallia New" panose="020B0604020202020204" pitchFamily="34" charset="-34"/>
              </a:rPr>
              <a:t>I</a:t>
            </a:r>
            <a:endParaRPr lang="fr-FR" dirty="0"/>
          </a:p>
        </p:txBody>
      </p:sp>
      <p:sp>
        <p:nvSpPr>
          <p:cNvPr id="45" name="Oval 44">
            <a:extLst>
              <a:ext uri="{FF2B5EF4-FFF2-40B4-BE49-F238E27FC236}">
                <a16:creationId xmlns:a16="http://schemas.microsoft.com/office/drawing/2014/main" id="{2908EC0D-78A9-FF00-57E9-0AB68A86CC1D}"/>
              </a:ext>
            </a:extLst>
          </p:cNvPr>
          <p:cNvSpPr/>
          <p:nvPr/>
        </p:nvSpPr>
        <p:spPr>
          <a:xfrm>
            <a:off x="6686026" y="1929891"/>
            <a:ext cx="457200" cy="39924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9" name="TextBox 48">
            <a:extLst>
              <a:ext uri="{FF2B5EF4-FFF2-40B4-BE49-F238E27FC236}">
                <a16:creationId xmlns:a16="http://schemas.microsoft.com/office/drawing/2014/main" id="{2934CBCD-24CD-F91E-F128-FB9577D66353}"/>
              </a:ext>
            </a:extLst>
          </p:cNvPr>
          <p:cNvSpPr txBox="1"/>
          <p:nvPr/>
        </p:nvSpPr>
        <p:spPr>
          <a:xfrm>
            <a:off x="6171964" y="1997691"/>
            <a:ext cx="619517" cy="369332"/>
          </a:xfrm>
          <a:prstGeom prst="rect">
            <a:avLst/>
          </a:prstGeom>
          <a:noFill/>
        </p:spPr>
        <p:txBody>
          <a:bodyPr wrap="square">
            <a:spAutoFit/>
          </a:bodyPr>
          <a:lstStyle/>
          <a:p>
            <a:r>
              <a:rPr lang="fr-FR" b="1" dirty="0">
                <a:latin typeface="Bookman Old Style" panose="02050604050505020204" pitchFamily="18" charset="0"/>
                <a:cs typeface="Browallia New" panose="020B0604020202020204" pitchFamily="34" charset="-34"/>
              </a:rPr>
              <a:t>i(t)</a:t>
            </a:r>
            <a:endParaRPr lang="fr-FR" dirty="0"/>
          </a:p>
        </p:txBody>
      </p:sp>
      <p:sp>
        <p:nvSpPr>
          <p:cNvPr id="51" name="Oval 50">
            <a:extLst>
              <a:ext uri="{FF2B5EF4-FFF2-40B4-BE49-F238E27FC236}">
                <a16:creationId xmlns:a16="http://schemas.microsoft.com/office/drawing/2014/main" id="{5B8DC50E-CE59-E8E8-FB4D-8491CC252546}"/>
              </a:ext>
            </a:extLst>
          </p:cNvPr>
          <p:cNvSpPr/>
          <p:nvPr/>
        </p:nvSpPr>
        <p:spPr>
          <a:xfrm>
            <a:off x="6705602" y="2156780"/>
            <a:ext cx="457200" cy="39924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52" name="Straight Connector 51">
            <a:extLst>
              <a:ext uri="{FF2B5EF4-FFF2-40B4-BE49-F238E27FC236}">
                <a16:creationId xmlns:a16="http://schemas.microsoft.com/office/drawing/2014/main" id="{EF6424CF-A76F-0EB8-03C4-3502D10A13B1}"/>
              </a:ext>
            </a:extLst>
          </p:cNvPr>
          <p:cNvCxnSpPr>
            <a:cxnSpLocks/>
          </p:cNvCxnSpPr>
          <p:nvPr/>
        </p:nvCxnSpPr>
        <p:spPr>
          <a:xfrm>
            <a:off x="6934200" y="1712435"/>
            <a:ext cx="0" cy="2174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028FEF27-21FA-943E-9005-BBBDF87C9E24}"/>
              </a:ext>
            </a:extLst>
          </p:cNvPr>
          <p:cNvCxnSpPr>
            <a:cxnSpLocks/>
          </p:cNvCxnSpPr>
          <p:nvPr/>
        </p:nvCxnSpPr>
        <p:spPr>
          <a:xfrm>
            <a:off x="6939094" y="2556020"/>
            <a:ext cx="0" cy="2174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420B6AE7-ACAE-1FA4-7CE6-EFAE0E339145}"/>
              </a:ext>
            </a:extLst>
          </p:cNvPr>
          <p:cNvSpPr txBox="1"/>
          <p:nvPr/>
        </p:nvSpPr>
        <p:spPr>
          <a:xfrm>
            <a:off x="6751780" y="2050989"/>
            <a:ext cx="353696" cy="430887"/>
          </a:xfrm>
          <a:prstGeom prst="rect">
            <a:avLst/>
          </a:prstGeom>
          <a:noFill/>
        </p:spPr>
        <p:txBody>
          <a:bodyPr wrap="square">
            <a:spAutoFit/>
          </a:bodyPr>
          <a:lstStyle/>
          <a:p>
            <a:r>
              <a:rPr lang="fr-FR" sz="2200" b="1" dirty="0">
                <a:latin typeface="Bookman Old Style" panose="02050604050505020204" pitchFamily="18" charset="0"/>
                <a:cs typeface="Browallia New" panose="020B0604020202020204" pitchFamily="34" charset="-34"/>
              </a:rPr>
              <a:t>~</a:t>
            </a:r>
            <a:endParaRPr lang="fr-FR" sz="2200" dirty="0"/>
          </a:p>
        </p:txBody>
      </p:sp>
    </p:spTree>
    <p:extLst>
      <p:ext uri="{BB962C8B-B14F-4D97-AF65-F5344CB8AC3E}">
        <p14:creationId xmlns:p14="http://schemas.microsoft.com/office/powerpoint/2010/main" val="256442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29</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76301" y="881439"/>
            <a:ext cx="4572000" cy="50526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2.6 </a:t>
            </a:r>
            <a:r>
              <a:rPr lang="fr-FR" altLang="fr-FR" sz="1400" b="1" spc="-5" dirty="0">
                <a:solidFill>
                  <a:srgbClr val="CC00CC"/>
                </a:solidFill>
                <a:latin typeface="Bookman Old Style" panose="02050604050505020204" pitchFamily="18" charset="0"/>
                <a:cs typeface="Arial"/>
              </a:rPr>
              <a:t>Sources d’alimentation</a:t>
            </a:r>
          </a:p>
          <a:p>
            <a:pPr marL="12065" lvl="1">
              <a:lnSpc>
                <a:spcPct val="100000"/>
              </a:lnSpc>
              <a:spcBef>
                <a:spcPts val="100"/>
              </a:spcBef>
              <a:tabLst>
                <a:tab pos="393700" algn="l"/>
              </a:tabLst>
            </a:pPr>
            <a:r>
              <a:rPr lang="fr-FR" sz="1200" b="1" spc="-5" dirty="0">
                <a:solidFill>
                  <a:schemeClr val="accent6">
                    <a:lumMod val="50000"/>
                  </a:schemeClr>
                </a:solidFill>
                <a:latin typeface="Bookman Old Style" panose="02050604050505020204" pitchFamily="18" charset="0"/>
                <a:cs typeface="Arial"/>
              </a:rPr>
              <a:t>      C. </a:t>
            </a:r>
            <a:r>
              <a:rPr lang="fr-FR" altLang="fr-FR" sz="1200" b="1" spc="-5" dirty="0">
                <a:solidFill>
                  <a:schemeClr val="accent6">
                    <a:lumMod val="50000"/>
                  </a:schemeClr>
                </a:solidFill>
                <a:latin typeface="Bookman Old Style" panose="02050604050505020204" pitchFamily="18" charset="0"/>
                <a:cs typeface="Arial"/>
              </a:rPr>
              <a:t>Source de tension réelle</a:t>
            </a:r>
            <a:endParaRPr lang="fr-FR" sz="1200" b="1" spc="-5" dirty="0">
              <a:solidFill>
                <a:schemeClr val="accent6">
                  <a:lumMod val="50000"/>
                </a:schemeClr>
              </a:solidFill>
              <a:latin typeface="Bookman Old Style" panose="02050604050505020204" pitchFamily="18" charset="0"/>
              <a:cs typeface="Arial"/>
            </a:endParaRPr>
          </a:p>
        </p:txBody>
      </p:sp>
      <p:sp>
        <p:nvSpPr>
          <p:cNvPr id="23" name="ZoneTexte 10">
            <a:extLst>
              <a:ext uri="{FF2B5EF4-FFF2-40B4-BE49-F238E27FC236}">
                <a16:creationId xmlns:a16="http://schemas.microsoft.com/office/drawing/2014/main" id="{F4DDBE1C-1268-DF0C-1C02-C4861B6AD9CE}"/>
              </a:ext>
            </a:extLst>
          </p:cNvPr>
          <p:cNvSpPr txBox="1">
            <a:spLocks noChangeArrowheads="1"/>
          </p:cNvSpPr>
          <p:nvPr/>
        </p:nvSpPr>
        <p:spPr bwMode="auto">
          <a:xfrm>
            <a:off x="580706" y="1442097"/>
            <a:ext cx="8453105"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Une </a:t>
            </a:r>
            <a:r>
              <a:rPr lang="fr-FR" altLang="fr-FR" b="1" dirty="0"/>
              <a:t>source de tension réelle </a:t>
            </a:r>
            <a:r>
              <a:rPr lang="fr-FR" altLang="fr-FR" dirty="0"/>
              <a:t>aura en réalité une </a:t>
            </a:r>
            <a:r>
              <a:rPr lang="fr-FR" altLang="fr-FR" b="1" dirty="0"/>
              <a:t>impédance</a:t>
            </a:r>
            <a:r>
              <a:rPr lang="fr-FR" altLang="fr-FR" dirty="0"/>
              <a:t> </a:t>
            </a:r>
            <a:r>
              <a:rPr lang="fr-FR" altLang="fr-FR" b="1" dirty="0"/>
              <a:t>série</a:t>
            </a:r>
            <a:r>
              <a:rPr lang="fr-FR" altLang="fr-FR" dirty="0"/>
              <a:t> </a:t>
            </a:r>
            <a:r>
              <a:rPr lang="fr-FR" altLang="fr-FR" b="1" dirty="0"/>
              <a:t>non nulle</a:t>
            </a:r>
            <a:r>
              <a:rPr lang="fr-FR" altLang="fr-FR" dirty="0"/>
              <a:t>.</a:t>
            </a:r>
            <a:endParaRPr lang="fr-FR" altLang="fr-FR" b="1" i="1" dirty="0">
              <a:solidFill>
                <a:srgbClr val="3F53E9"/>
              </a:solidFill>
            </a:endParaRPr>
          </a:p>
        </p:txBody>
      </p:sp>
      <p:pic>
        <p:nvPicPr>
          <p:cNvPr id="3" name="Picture 4">
            <a:extLst>
              <a:ext uri="{FF2B5EF4-FFF2-40B4-BE49-F238E27FC236}">
                <a16:creationId xmlns:a16="http://schemas.microsoft.com/office/drawing/2014/main" id="{585C1DA0-87ED-70D1-5F5C-A4053816DF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34363" y="1879808"/>
            <a:ext cx="2913868" cy="13838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Image 16">
            <a:extLst>
              <a:ext uri="{FF2B5EF4-FFF2-40B4-BE49-F238E27FC236}">
                <a16:creationId xmlns:a16="http://schemas.microsoft.com/office/drawing/2014/main" id="{73B1E819-4CF0-8219-A689-266EE286832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05400" y="1867010"/>
            <a:ext cx="2495862" cy="1460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ZoneTexte 15">
            <a:extLst>
              <a:ext uri="{FF2B5EF4-FFF2-40B4-BE49-F238E27FC236}">
                <a16:creationId xmlns:a16="http://schemas.microsoft.com/office/drawing/2014/main" id="{6344F807-CF5A-BF13-2273-E3BEA1C8C737}"/>
              </a:ext>
            </a:extLst>
          </p:cNvPr>
          <p:cNvSpPr txBox="1">
            <a:spLocks noChangeArrowheads="1"/>
          </p:cNvSpPr>
          <p:nvPr/>
        </p:nvSpPr>
        <p:spPr bwMode="auto">
          <a:xfrm>
            <a:off x="641155" y="3338629"/>
            <a:ext cx="4900284"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Cette Source de tension réelle délivre:</a:t>
            </a:r>
          </a:p>
        </p:txBody>
      </p:sp>
      <mc:AlternateContent xmlns:mc="http://schemas.openxmlformats.org/markup-compatibility/2006" xmlns:a14="http://schemas.microsoft.com/office/drawing/2010/main">
        <mc:Choice Requires="a14">
          <p:sp>
            <p:nvSpPr>
              <p:cNvPr id="12" name="ZoneTexte 15">
                <a:extLst>
                  <a:ext uri="{FF2B5EF4-FFF2-40B4-BE49-F238E27FC236}">
                    <a16:creationId xmlns:a16="http://schemas.microsoft.com/office/drawing/2014/main" id="{92C05FA9-4BF8-D510-A418-8AE87E8C0CF8}"/>
                  </a:ext>
                </a:extLst>
              </p:cNvPr>
              <p:cNvSpPr txBox="1">
                <a:spLocks noChangeArrowheads="1"/>
              </p:cNvSpPr>
              <p:nvPr/>
            </p:nvSpPr>
            <p:spPr bwMode="auto">
              <a:xfrm>
                <a:off x="641154" y="3997932"/>
                <a:ext cx="8121845" cy="1077218"/>
              </a:xfrm>
              <a:prstGeom prst="rect">
                <a:avLst/>
              </a:prstGeom>
              <a:solidFill>
                <a:srgbClr val="FFFFFF"/>
              </a:solidFill>
              <a:ln>
                <a:noFill/>
              </a:ln>
              <a:extLst>
                <a:ext uri="{91240B29-F687-4F45-9708-019B960494DF}">
                  <a14:hiddenLine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Tant que la chute de tension aux bornes de </a:t>
                </a:r>
                <a14:m>
                  <m:oMath xmlns:m="http://schemas.openxmlformats.org/officeDocument/2006/math">
                    <m:sSub>
                      <m:sSubPr>
                        <m:ctrlPr>
                          <a:rPr lang="fr-FR" i="1">
                            <a:latin typeface="Cambria Math" panose="02040503050406030204" pitchFamily="18" charset="0"/>
                          </a:rPr>
                        </m:ctrlPr>
                      </m:sSubPr>
                      <m:e>
                        <m:r>
                          <a:rPr lang="fr-FR">
                            <a:latin typeface="Cambria Math" panose="02040503050406030204" pitchFamily="18" charset="0"/>
                          </a:rPr>
                          <m:t>𝑹</m:t>
                        </m:r>
                      </m:e>
                      <m:sub>
                        <m:r>
                          <a:rPr lang="fr-FR">
                            <a:latin typeface="Cambria Math" panose="02040503050406030204" pitchFamily="18" charset="0"/>
                          </a:rPr>
                          <m:t>𝒊</m:t>
                        </m:r>
                      </m:sub>
                    </m:sSub>
                    <m:r>
                      <a:rPr lang="fr-FR">
                        <a:latin typeface="Cambria Math" panose="02040503050406030204" pitchFamily="18" charset="0"/>
                      </a:rPr>
                      <m:t> </m:t>
                    </m:r>
                  </m:oMath>
                </a14:m>
                <a:r>
                  <a:rPr lang="fr-FR" altLang="fr-FR" dirty="0"/>
                  <a:t>est faible, donc</a:t>
                </a:r>
              </a:p>
              <a:p>
                <a:endParaRPr lang="fr-FR" altLang="fr-FR" dirty="0"/>
              </a:p>
              <a:p>
                <a:r>
                  <a:rPr lang="fr-FR" altLang="fr-FR" dirty="0"/>
                  <a:t>En général les générateurs de </a:t>
                </a:r>
                <a:r>
                  <a:rPr lang="fr-FR" altLang="fr-FR" b="1" dirty="0"/>
                  <a:t>tension réels </a:t>
                </a:r>
                <a:r>
                  <a:rPr lang="fr-FR" altLang="fr-FR" dirty="0"/>
                  <a:t>présentent </a:t>
                </a:r>
                <a:r>
                  <a:rPr lang="fr-FR" altLang="fr-FR" b="1" dirty="0"/>
                  <a:t>une résistance interne faible</a:t>
                </a:r>
                <a:r>
                  <a:rPr lang="fr-FR" altLang="fr-FR" dirty="0"/>
                  <a:t>. </a:t>
                </a:r>
              </a:p>
            </p:txBody>
          </p:sp>
        </mc:Choice>
        <mc:Fallback xmlns="">
          <p:sp>
            <p:nvSpPr>
              <p:cNvPr id="12" name="ZoneTexte 15">
                <a:extLst>
                  <a:ext uri="{FF2B5EF4-FFF2-40B4-BE49-F238E27FC236}">
                    <a16:creationId xmlns:a16="http://schemas.microsoft.com/office/drawing/2014/main" id="{92C05FA9-4BF8-D510-A418-8AE87E8C0CF8}"/>
                  </a:ext>
                </a:extLst>
              </p:cNvPr>
              <p:cNvSpPr txBox="1">
                <a:spLocks noRot="1" noChangeAspect="1" noMove="1" noResize="1" noEditPoints="1" noAdjustHandles="1" noChangeArrowheads="1" noChangeShapeType="1" noTextEdit="1"/>
              </p:cNvSpPr>
              <p:nvPr/>
            </p:nvSpPr>
            <p:spPr bwMode="auto">
              <a:xfrm>
                <a:off x="641154" y="3997932"/>
                <a:ext cx="8121845" cy="1077218"/>
              </a:xfrm>
              <a:prstGeom prst="rect">
                <a:avLst/>
              </a:prstGeom>
              <a:blipFill>
                <a:blip r:embed="rId5"/>
                <a:stretch>
                  <a:fillRect l="-300" t="-1695" r="-450" b="-6215"/>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13" name="ZoneTexte 1">
                <a:extLst>
                  <a:ext uri="{FF2B5EF4-FFF2-40B4-BE49-F238E27FC236}">
                    <a16:creationId xmlns:a16="http://schemas.microsoft.com/office/drawing/2014/main" id="{1CB521D4-21C5-DB31-DA3D-25DEB45D4187}"/>
                  </a:ext>
                </a:extLst>
              </p:cNvPr>
              <p:cNvSpPr txBox="1"/>
              <p:nvPr/>
            </p:nvSpPr>
            <p:spPr>
              <a:xfrm>
                <a:off x="4702077" y="3727310"/>
                <a:ext cx="1244956"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fr-FR" sz="1600" b="1" i="1" smtClean="0">
                          <a:latin typeface="Cambria Math" panose="02040503050406030204" pitchFamily="18" charset="0"/>
                        </a:rPr>
                        <m:t>𝑽</m:t>
                      </m:r>
                      <m:r>
                        <a:rPr lang="fr-FR" sz="1600" b="1" i="1" smtClean="0">
                          <a:latin typeface="Cambria Math" panose="02040503050406030204" pitchFamily="18" charset="0"/>
                        </a:rPr>
                        <m:t>=</m:t>
                      </m:r>
                      <m:sSub>
                        <m:sSubPr>
                          <m:ctrlPr>
                            <a:rPr lang="fr-FR" sz="1600" b="1" i="1" smtClean="0">
                              <a:latin typeface="Cambria Math" panose="02040503050406030204" pitchFamily="18" charset="0"/>
                            </a:rPr>
                          </m:ctrlPr>
                        </m:sSubPr>
                        <m:e>
                          <m:r>
                            <a:rPr lang="fr-FR" sz="1600" b="1" i="1" smtClean="0">
                              <a:latin typeface="Cambria Math" panose="02040503050406030204" pitchFamily="18" charset="0"/>
                            </a:rPr>
                            <m:t>𝑽</m:t>
                          </m:r>
                        </m:e>
                        <m:sub>
                          <m:r>
                            <a:rPr lang="fr-FR" sz="1600" b="1" i="1" smtClean="0">
                              <a:latin typeface="Cambria Math" panose="02040503050406030204" pitchFamily="18" charset="0"/>
                            </a:rPr>
                            <m:t>𝟎</m:t>
                          </m:r>
                        </m:sub>
                      </m:sSub>
                      <m:r>
                        <a:rPr lang="fr-FR" sz="1600" b="1" i="1" smtClean="0">
                          <a:latin typeface="Cambria Math" panose="02040503050406030204" pitchFamily="18" charset="0"/>
                        </a:rPr>
                        <m:t>−</m:t>
                      </m:r>
                      <m:sSub>
                        <m:sSubPr>
                          <m:ctrlPr>
                            <a:rPr lang="fr-FR" sz="1600" b="1" i="1" smtClean="0">
                              <a:latin typeface="Cambria Math" panose="02040503050406030204" pitchFamily="18" charset="0"/>
                            </a:rPr>
                          </m:ctrlPr>
                        </m:sSubPr>
                        <m:e>
                          <m:r>
                            <a:rPr lang="fr-FR" sz="1600" b="1" i="1" smtClean="0">
                              <a:latin typeface="Cambria Math" panose="02040503050406030204" pitchFamily="18" charset="0"/>
                            </a:rPr>
                            <m:t>𝑹</m:t>
                          </m:r>
                        </m:e>
                        <m:sub>
                          <m:r>
                            <a:rPr lang="fr-FR" sz="1600" b="1" i="1" smtClean="0">
                              <a:latin typeface="Cambria Math" panose="02040503050406030204" pitchFamily="18" charset="0"/>
                            </a:rPr>
                            <m:t>𝒊</m:t>
                          </m:r>
                        </m:sub>
                      </m:sSub>
                      <m:r>
                        <a:rPr lang="fr-FR" sz="1600" b="1" i="1" smtClean="0">
                          <a:latin typeface="Cambria Math" panose="02040503050406030204" pitchFamily="18" charset="0"/>
                        </a:rPr>
                        <m:t>𝑰</m:t>
                      </m:r>
                    </m:oMath>
                  </m:oMathPara>
                </a14:m>
                <a:endParaRPr lang="fr-FR" sz="1600" b="1" dirty="0">
                  <a:latin typeface="Bookman Old Style" panose="02050604050505020204" pitchFamily="18" charset="0"/>
                </a:endParaRPr>
              </a:p>
            </p:txBody>
          </p:sp>
        </mc:Choice>
        <mc:Fallback xmlns="">
          <p:sp>
            <p:nvSpPr>
              <p:cNvPr id="13" name="ZoneTexte 1">
                <a:extLst>
                  <a:ext uri="{FF2B5EF4-FFF2-40B4-BE49-F238E27FC236}">
                    <a16:creationId xmlns:a16="http://schemas.microsoft.com/office/drawing/2014/main" id="{1CB521D4-21C5-DB31-DA3D-25DEB45D4187}"/>
                  </a:ext>
                </a:extLst>
              </p:cNvPr>
              <p:cNvSpPr txBox="1">
                <a:spLocks noRot="1" noChangeAspect="1" noMove="1" noResize="1" noEditPoints="1" noAdjustHandles="1" noChangeArrowheads="1" noChangeShapeType="1" noTextEdit="1"/>
              </p:cNvSpPr>
              <p:nvPr/>
            </p:nvSpPr>
            <p:spPr>
              <a:xfrm>
                <a:off x="4702077" y="3727310"/>
                <a:ext cx="1244956" cy="246221"/>
              </a:xfrm>
              <a:prstGeom prst="rect">
                <a:avLst/>
              </a:prstGeom>
              <a:blipFill>
                <a:blip r:embed="rId6"/>
                <a:stretch>
                  <a:fillRect l="-1951" r="-1951" b="-17073"/>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16" name="ZoneTexte 2">
                <a:extLst>
                  <a:ext uri="{FF2B5EF4-FFF2-40B4-BE49-F238E27FC236}">
                    <a16:creationId xmlns:a16="http://schemas.microsoft.com/office/drawing/2014/main" id="{8B85C619-EC11-25C4-141B-0F96A89A1BC2}"/>
                  </a:ext>
                </a:extLst>
              </p:cNvPr>
              <p:cNvSpPr txBox="1"/>
              <p:nvPr/>
            </p:nvSpPr>
            <p:spPr>
              <a:xfrm>
                <a:off x="7245194" y="4019550"/>
                <a:ext cx="1257652"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fr-FR" sz="1600" b="1" i="1" smtClean="0">
                          <a:latin typeface="Cambria Math" panose="02040503050406030204" pitchFamily="18" charset="0"/>
                        </a:rPr>
                        <m:t>𝑽</m:t>
                      </m:r>
                      <m:r>
                        <a:rPr lang="fr-FR" sz="1600" b="1" i="1" smtClean="0">
                          <a:latin typeface="Cambria Math" panose="02040503050406030204" pitchFamily="18" charset="0"/>
                        </a:rPr>
                        <m:t>≈</m:t>
                      </m:r>
                      <m:r>
                        <a:rPr lang="fr-FR" sz="1600" b="1" i="1" smtClean="0">
                          <a:latin typeface="Cambria Math" panose="02040503050406030204" pitchFamily="18" charset="0"/>
                        </a:rPr>
                        <m:t>𝒄𝒔𝒕</m:t>
                      </m:r>
                      <m:r>
                        <a:rPr lang="fr-FR" sz="1600" b="1" i="1" smtClean="0">
                          <a:latin typeface="Cambria Math" panose="02040503050406030204" pitchFamily="18" charset="0"/>
                        </a:rPr>
                        <m:t>≈</m:t>
                      </m:r>
                      <m:sSub>
                        <m:sSubPr>
                          <m:ctrlPr>
                            <a:rPr lang="fr-FR" sz="1600" b="1" i="1" smtClean="0">
                              <a:latin typeface="Cambria Math" panose="02040503050406030204" pitchFamily="18" charset="0"/>
                            </a:rPr>
                          </m:ctrlPr>
                        </m:sSubPr>
                        <m:e>
                          <m:r>
                            <a:rPr lang="fr-FR" sz="1600" b="1" i="1" smtClean="0">
                              <a:latin typeface="Cambria Math" panose="02040503050406030204" pitchFamily="18" charset="0"/>
                            </a:rPr>
                            <m:t>𝑽</m:t>
                          </m:r>
                        </m:e>
                        <m:sub>
                          <m:r>
                            <a:rPr lang="fr-FR" sz="1600" b="1" i="1" smtClean="0">
                              <a:latin typeface="Cambria Math" panose="02040503050406030204" pitchFamily="18" charset="0"/>
                            </a:rPr>
                            <m:t>𝟎</m:t>
                          </m:r>
                        </m:sub>
                      </m:sSub>
                    </m:oMath>
                  </m:oMathPara>
                </a14:m>
                <a:endParaRPr lang="fr-FR" sz="1600" b="1" dirty="0">
                  <a:latin typeface="Bookman Old Style" panose="02050604050505020204" pitchFamily="18" charset="0"/>
                </a:endParaRPr>
              </a:p>
            </p:txBody>
          </p:sp>
        </mc:Choice>
        <mc:Fallback xmlns="">
          <p:sp>
            <p:nvSpPr>
              <p:cNvPr id="16" name="ZoneTexte 2">
                <a:extLst>
                  <a:ext uri="{FF2B5EF4-FFF2-40B4-BE49-F238E27FC236}">
                    <a16:creationId xmlns:a16="http://schemas.microsoft.com/office/drawing/2014/main" id="{8B85C619-EC11-25C4-141B-0F96A89A1BC2}"/>
                  </a:ext>
                </a:extLst>
              </p:cNvPr>
              <p:cNvSpPr txBox="1">
                <a:spLocks noRot="1" noChangeAspect="1" noMove="1" noResize="1" noEditPoints="1" noAdjustHandles="1" noChangeArrowheads="1" noChangeShapeType="1" noTextEdit="1"/>
              </p:cNvSpPr>
              <p:nvPr/>
            </p:nvSpPr>
            <p:spPr>
              <a:xfrm>
                <a:off x="7245194" y="4019550"/>
                <a:ext cx="1257652" cy="246221"/>
              </a:xfrm>
              <a:prstGeom prst="rect">
                <a:avLst/>
              </a:prstGeom>
              <a:blipFill>
                <a:blip r:embed="rId7"/>
                <a:stretch>
                  <a:fillRect l="-2427" b="-17073"/>
                </a:stretch>
              </a:blipFill>
            </p:spPr>
            <p:txBody>
              <a:bodyPr/>
              <a:lstStyle/>
              <a:p>
                <a:r>
                  <a:rPr lang="fr-FR">
                    <a:noFill/>
                  </a:rPr>
                  <a:t> </a:t>
                </a:r>
              </a:p>
            </p:txBody>
          </p:sp>
        </mc:Fallback>
      </mc:AlternateContent>
    </p:spTree>
    <p:extLst>
      <p:ext uri="{BB962C8B-B14F-4D97-AF65-F5344CB8AC3E}">
        <p14:creationId xmlns:p14="http://schemas.microsoft.com/office/powerpoint/2010/main" val="728306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76301" y="881439"/>
            <a:ext cx="4572000" cy="50526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2.6 </a:t>
            </a:r>
            <a:r>
              <a:rPr lang="fr-FR" altLang="fr-FR" sz="1400" b="1" spc="-5" dirty="0">
                <a:solidFill>
                  <a:srgbClr val="CC00CC"/>
                </a:solidFill>
                <a:latin typeface="Bookman Old Style" panose="02050604050505020204" pitchFamily="18" charset="0"/>
                <a:cs typeface="Arial"/>
              </a:rPr>
              <a:t>Sources d’alimentation</a:t>
            </a:r>
          </a:p>
          <a:p>
            <a:pPr marL="12065" lvl="1">
              <a:lnSpc>
                <a:spcPct val="100000"/>
              </a:lnSpc>
              <a:spcBef>
                <a:spcPts val="100"/>
              </a:spcBef>
              <a:tabLst>
                <a:tab pos="393700" algn="l"/>
              </a:tabLst>
            </a:pPr>
            <a:r>
              <a:rPr lang="fr-FR" sz="1200" b="1" spc="-5" dirty="0">
                <a:solidFill>
                  <a:schemeClr val="accent6">
                    <a:lumMod val="50000"/>
                  </a:schemeClr>
                </a:solidFill>
                <a:latin typeface="Bookman Old Style" panose="02050604050505020204" pitchFamily="18" charset="0"/>
                <a:cs typeface="Arial"/>
              </a:rPr>
              <a:t>      D. </a:t>
            </a:r>
            <a:r>
              <a:rPr lang="fr-FR" altLang="fr-FR" sz="1200" b="1" spc="-5" dirty="0">
                <a:solidFill>
                  <a:schemeClr val="accent6">
                    <a:lumMod val="50000"/>
                  </a:schemeClr>
                </a:solidFill>
                <a:latin typeface="Bookman Old Style" panose="02050604050505020204" pitchFamily="18" charset="0"/>
                <a:cs typeface="Arial"/>
              </a:rPr>
              <a:t>Source de courant réelle</a:t>
            </a:r>
            <a:endParaRPr lang="fr-FR" sz="1200" b="1" spc="-5" dirty="0">
              <a:solidFill>
                <a:schemeClr val="accent6">
                  <a:lumMod val="50000"/>
                </a:schemeClr>
              </a:solidFill>
              <a:latin typeface="Bookman Old Style" panose="02050604050505020204" pitchFamily="18" charset="0"/>
              <a:cs typeface="Arial"/>
            </a:endParaRPr>
          </a:p>
        </p:txBody>
      </p:sp>
      <p:sp>
        <p:nvSpPr>
          <p:cNvPr id="23" name="ZoneTexte 10">
            <a:extLst>
              <a:ext uri="{FF2B5EF4-FFF2-40B4-BE49-F238E27FC236}">
                <a16:creationId xmlns:a16="http://schemas.microsoft.com/office/drawing/2014/main" id="{F4DDBE1C-1268-DF0C-1C02-C4861B6AD9CE}"/>
              </a:ext>
            </a:extLst>
          </p:cNvPr>
          <p:cNvSpPr txBox="1">
            <a:spLocks noChangeArrowheads="1"/>
          </p:cNvSpPr>
          <p:nvPr/>
        </p:nvSpPr>
        <p:spPr bwMode="auto">
          <a:xfrm>
            <a:off x="580706" y="1442097"/>
            <a:ext cx="8596168"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Une </a:t>
            </a:r>
            <a:r>
              <a:rPr lang="fr-FR" altLang="fr-FR" b="1" dirty="0"/>
              <a:t>source de courant réelle </a:t>
            </a:r>
            <a:r>
              <a:rPr lang="fr-FR" altLang="fr-FR" dirty="0"/>
              <a:t>présente une </a:t>
            </a:r>
            <a:r>
              <a:rPr lang="fr-FR" altLang="fr-FR" b="1" dirty="0"/>
              <a:t>impédance en parallèle non nulle</a:t>
            </a:r>
            <a:r>
              <a:rPr lang="fr-FR" altLang="fr-FR" dirty="0"/>
              <a:t>.</a:t>
            </a:r>
          </a:p>
        </p:txBody>
      </p:sp>
      <p:sp>
        <p:nvSpPr>
          <p:cNvPr id="11" name="ZoneTexte 15">
            <a:extLst>
              <a:ext uri="{FF2B5EF4-FFF2-40B4-BE49-F238E27FC236}">
                <a16:creationId xmlns:a16="http://schemas.microsoft.com/office/drawing/2014/main" id="{6344F807-CF5A-BF13-2273-E3BEA1C8C737}"/>
              </a:ext>
            </a:extLst>
          </p:cNvPr>
          <p:cNvSpPr txBox="1">
            <a:spLocks noChangeArrowheads="1"/>
          </p:cNvSpPr>
          <p:nvPr/>
        </p:nvSpPr>
        <p:spPr bwMode="auto">
          <a:xfrm>
            <a:off x="641155" y="3338629"/>
            <a:ext cx="4900284"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Cette Source de courant réelle délivre:</a:t>
            </a:r>
          </a:p>
        </p:txBody>
      </p:sp>
      <p:sp>
        <p:nvSpPr>
          <p:cNvPr id="12" name="ZoneTexte 15">
            <a:extLst>
              <a:ext uri="{FF2B5EF4-FFF2-40B4-BE49-F238E27FC236}">
                <a16:creationId xmlns:a16="http://schemas.microsoft.com/office/drawing/2014/main" id="{92C05FA9-4BF8-D510-A418-8AE87E8C0CF8}"/>
              </a:ext>
            </a:extLst>
          </p:cNvPr>
          <p:cNvSpPr txBox="1">
            <a:spLocks noChangeArrowheads="1"/>
          </p:cNvSpPr>
          <p:nvPr/>
        </p:nvSpPr>
        <p:spPr bwMode="auto">
          <a:xfrm>
            <a:off x="617667" y="3924167"/>
            <a:ext cx="8392657" cy="107721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Tant que le courant qui traverse la résistance interne est faible, donc</a:t>
            </a:r>
          </a:p>
          <a:p>
            <a:endParaRPr lang="fr-FR" altLang="fr-FR" dirty="0"/>
          </a:p>
          <a:p>
            <a:r>
              <a:rPr lang="fr-FR" altLang="fr-FR" dirty="0"/>
              <a:t>Les </a:t>
            </a:r>
            <a:r>
              <a:rPr lang="fr-FR" altLang="fr-FR" b="1" dirty="0"/>
              <a:t>générateurs de courant réels</a:t>
            </a:r>
            <a:r>
              <a:rPr lang="fr-FR" altLang="fr-FR" dirty="0"/>
              <a:t> présentent </a:t>
            </a:r>
            <a:r>
              <a:rPr lang="fr-FR" altLang="fr-FR" b="1" dirty="0"/>
              <a:t>une résistance interne importante.</a:t>
            </a:r>
          </a:p>
        </p:txBody>
      </p:sp>
      <mc:AlternateContent xmlns:mc="http://schemas.openxmlformats.org/markup-compatibility/2006" xmlns:a14="http://schemas.microsoft.com/office/drawing/2010/main">
        <mc:Choice Requires="a14">
          <p:sp>
            <p:nvSpPr>
              <p:cNvPr id="16" name="ZoneTexte 2">
                <a:extLst>
                  <a:ext uri="{FF2B5EF4-FFF2-40B4-BE49-F238E27FC236}">
                    <a16:creationId xmlns:a16="http://schemas.microsoft.com/office/drawing/2014/main" id="{8B85C619-EC11-25C4-141B-0F96A89A1BC2}"/>
                  </a:ext>
                </a:extLst>
              </p:cNvPr>
              <p:cNvSpPr txBox="1"/>
              <p:nvPr/>
            </p:nvSpPr>
            <p:spPr>
              <a:xfrm>
                <a:off x="7781092" y="3974224"/>
                <a:ext cx="1490481"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fr-FR" sz="1600" b="1" i="1" smtClean="0">
                          <a:latin typeface="Cambria Math" panose="02040503050406030204" pitchFamily="18" charset="0"/>
                        </a:rPr>
                        <m:t>𝑰</m:t>
                      </m:r>
                      <m:r>
                        <a:rPr lang="fr-FR" sz="1600" b="1" i="1" smtClean="0">
                          <a:latin typeface="Cambria Math" panose="02040503050406030204" pitchFamily="18" charset="0"/>
                        </a:rPr>
                        <m:t>≈</m:t>
                      </m:r>
                      <m:r>
                        <a:rPr lang="fr-FR" sz="1600" b="1" i="1" smtClean="0">
                          <a:latin typeface="Cambria Math" panose="02040503050406030204" pitchFamily="18" charset="0"/>
                        </a:rPr>
                        <m:t>𝒄𝒔𝒕</m:t>
                      </m:r>
                      <m:r>
                        <a:rPr lang="fr-FR" sz="1600" b="1" i="1" smtClean="0">
                          <a:latin typeface="Cambria Math" panose="02040503050406030204" pitchFamily="18" charset="0"/>
                        </a:rPr>
                        <m:t>≈</m:t>
                      </m:r>
                      <m:sSub>
                        <m:sSubPr>
                          <m:ctrlPr>
                            <a:rPr lang="fr-FR" sz="1600" b="1" i="1" smtClean="0">
                              <a:latin typeface="Cambria Math" panose="02040503050406030204" pitchFamily="18" charset="0"/>
                            </a:rPr>
                          </m:ctrlPr>
                        </m:sSubPr>
                        <m:e>
                          <m:r>
                            <a:rPr lang="fr-FR" sz="1600" b="1" i="1" smtClean="0">
                              <a:latin typeface="Cambria Math" panose="02040503050406030204" pitchFamily="18" charset="0"/>
                            </a:rPr>
                            <m:t>𝑰</m:t>
                          </m:r>
                        </m:e>
                        <m:sub>
                          <m:r>
                            <a:rPr lang="fr-FR" sz="1600" b="1" i="1" smtClean="0">
                              <a:latin typeface="Cambria Math" panose="02040503050406030204" pitchFamily="18" charset="0"/>
                            </a:rPr>
                            <m:t>𝟎</m:t>
                          </m:r>
                        </m:sub>
                      </m:sSub>
                    </m:oMath>
                  </m:oMathPara>
                </a14:m>
                <a:endParaRPr lang="fr-FR" sz="1600" b="1" dirty="0">
                  <a:latin typeface="Bookman Old Style" panose="02050604050505020204" pitchFamily="18" charset="0"/>
                </a:endParaRPr>
              </a:p>
            </p:txBody>
          </p:sp>
        </mc:Choice>
        <mc:Fallback xmlns="">
          <p:sp>
            <p:nvSpPr>
              <p:cNvPr id="16" name="ZoneTexte 2">
                <a:extLst>
                  <a:ext uri="{FF2B5EF4-FFF2-40B4-BE49-F238E27FC236}">
                    <a16:creationId xmlns:a16="http://schemas.microsoft.com/office/drawing/2014/main" id="{8B85C619-EC11-25C4-141B-0F96A89A1BC2}"/>
                  </a:ext>
                </a:extLst>
              </p:cNvPr>
              <p:cNvSpPr txBox="1">
                <a:spLocks noRot="1" noChangeAspect="1" noMove="1" noResize="1" noEditPoints="1" noAdjustHandles="1" noChangeArrowheads="1" noChangeShapeType="1" noTextEdit="1"/>
              </p:cNvSpPr>
              <p:nvPr/>
            </p:nvSpPr>
            <p:spPr>
              <a:xfrm>
                <a:off x="7781092" y="3974224"/>
                <a:ext cx="1490481" cy="246221"/>
              </a:xfrm>
              <a:prstGeom prst="rect">
                <a:avLst/>
              </a:prstGeom>
              <a:blipFill>
                <a:blip r:embed="rId3"/>
                <a:stretch>
                  <a:fillRect b="-17500"/>
                </a:stretch>
              </a:blipFill>
            </p:spPr>
            <p:txBody>
              <a:bodyPr/>
              <a:lstStyle/>
              <a:p>
                <a:r>
                  <a:rPr lang="fr-FR">
                    <a:noFill/>
                  </a:rPr>
                  <a:t> </a:t>
                </a:r>
              </a:p>
            </p:txBody>
          </p:sp>
        </mc:Fallback>
      </mc:AlternateContent>
      <p:pic>
        <p:nvPicPr>
          <p:cNvPr id="17" name="Image 13">
            <a:extLst>
              <a:ext uri="{FF2B5EF4-FFF2-40B4-BE49-F238E27FC236}">
                <a16:creationId xmlns:a16="http://schemas.microsoft.com/office/drawing/2014/main" id="{F50B58B8-BD43-BE05-C9AF-F6072B0BF06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702076" y="1896736"/>
            <a:ext cx="1998917" cy="1199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 name="Picture 2">
            <a:extLst>
              <a:ext uri="{FF2B5EF4-FFF2-40B4-BE49-F238E27FC236}">
                <a16:creationId xmlns:a16="http://schemas.microsoft.com/office/drawing/2014/main" id="{FAEEF79B-999A-09AC-04E2-BD34F34E658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41576" y="1844536"/>
            <a:ext cx="2247879" cy="13016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mc:AlternateContent xmlns:mc="http://schemas.openxmlformats.org/markup-compatibility/2006" xmlns:a14="http://schemas.microsoft.com/office/drawing/2010/main">
        <mc:Choice Requires="a14">
          <p:sp>
            <p:nvSpPr>
              <p:cNvPr id="24" name="ZoneTexte 18">
                <a:extLst>
                  <a:ext uri="{FF2B5EF4-FFF2-40B4-BE49-F238E27FC236}">
                    <a16:creationId xmlns:a16="http://schemas.microsoft.com/office/drawing/2014/main" id="{68BE9A36-AF8A-F338-1621-A5CF16BE8649}"/>
                  </a:ext>
                </a:extLst>
              </p:cNvPr>
              <p:cNvSpPr txBox="1"/>
              <p:nvPr/>
            </p:nvSpPr>
            <p:spPr>
              <a:xfrm>
                <a:off x="4915993" y="3517881"/>
                <a:ext cx="1068626" cy="502445"/>
              </a:xfrm>
              <a:prstGeom prst="rect">
                <a:avLst/>
              </a:prstGeom>
              <a:noFill/>
            </p:spPr>
            <p:txBody>
              <a:bodyPr wrap="none" lIns="0" tIns="0" rIns="0" bIns="0" rtlCol="0">
                <a:spAutoFit/>
              </a:bodyPr>
              <a:lstStyle>
                <a:defPPr>
                  <a:defRPr lang="fr-FR"/>
                </a:defPPr>
                <a:lvl1pPr>
                  <a:defRPr sz="1600" b="1" i="1">
                    <a:latin typeface="Cambria Math" panose="02040503050406030204" pitchFamily="18" charset="0"/>
                  </a:defRPr>
                </a:lvl1pPr>
              </a:lstStyle>
              <a:p>
                <a:pPr/>
                <a14:m>
                  <m:oMathPara xmlns:m="http://schemas.openxmlformats.org/officeDocument/2006/math">
                    <m:oMathParaPr>
                      <m:jc m:val="centerGroup"/>
                    </m:oMathParaPr>
                    <m:oMath xmlns:m="http://schemas.openxmlformats.org/officeDocument/2006/math">
                      <m:r>
                        <a:rPr lang="fr-FR" b="1" i="1">
                          <a:latin typeface="Cambria Math" panose="02040503050406030204" pitchFamily="18" charset="0"/>
                        </a:rPr>
                        <m:t>𝑰</m:t>
                      </m:r>
                      <m:r>
                        <a:rPr lang="fr-FR" b="1">
                          <a:latin typeface="Cambria Math" panose="02040503050406030204" pitchFamily="18" charset="0"/>
                        </a:rPr>
                        <m:t>=</m:t>
                      </m:r>
                      <m:sSub>
                        <m:sSubPr>
                          <m:ctrlPr>
                            <a:rPr lang="fr-FR" i="1">
                              <a:latin typeface="Cambria Math" panose="02040503050406030204" pitchFamily="18" charset="0"/>
                            </a:rPr>
                          </m:ctrlPr>
                        </m:sSubPr>
                        <m:e>
                          <m:r>
                            <a:rPr lang="fr-FR" b="1" i="1">
                              <a:latin typeface="Cambria Math" panose="02040503050406030204" pitchFamily="18" charset="0"/>
                            </a:rPr>
                            <m:t>𝑰</m:t>
                          </m:r>
                        </m:e>
                        <m:sub>
                          <m:r>
                            <a:rPr lang="fr-FR" b="1" i="1">
                              <a:latin typeface="Cambria Math" panose="02040503050406030204" pitchFamily="18" charset="0"/>
                            </a:rPr>
                            <m:t>𝟎</m:t>
                          </m:r>
                        </m:sub>
                      </m:sSub>
                      <m:r>
                        <a:rPr lang="fr-FR" b="1">
                          <a:latin typeface="Cambria Math" panose="02040503050406030204" pitchFamily="18" charset="0"/>
                        </a:rPr>
                        <m:t>−</m:t>
                      </m:r>
                      <m:f>
                        <m:fPr>
                          <m:ctrlPr>
                            <a:rPr lang="fr-FR" i="1">
                              <a:latin typeface="Cambria Math" panose="02040503050406030204" pitchFamily="18" charset="0"/>
                            </a:rPr>
                          </m:ctrlPr>
                        </m:fPr>
                        <m:num>
                          <m:r>
                            <a:rPr lang="fr-FR" b="1" i="1">
                              <a:latin typeface="Cambria Math" panose="02040503050406030204" pitchFamily="18" charset="0"/>
                            </a:rPr>
                            <m:t>𝑽</m:t>
                          </m:r>
                        </m:num>
                        <m:den>
                          <m:sSub>
                            <m:sSubPr>
                              <m:ctrlPr>
                                <a:rPr lang="fr-FR" i="1">
                                  <a:latin typeface="Cambria Math" panose="02040503050406030204" pitchFamily="18" charset="0"/>
                                </a:rPr>
                              </m:ctrlPr>
                            </m:sSubPr>
                            <m:e>
                              <m:r>
                                <a:rPr lang="fr-FR" b="1" i="1">
                                  <a:latin typeface="Cambria Math" panose="02040503050406030204" pitchFamily="18" charset="0"/>
                                </a:rPr>
                                <m:t>𝑹</m:t>
                              </m:r>
                            </m:e>
                            <m:sub>
                              <m:r>
                                <a:rPr lang="fr-FR" b="1" i="1">
                                  <a:latin typeface="Cambria Math" panose="02040503050406030204" pitchFamily="18" charset="0"/>
                                </a:rPr>
                                <m:t>𝒊</m:t>
                              </m:r>
                            </m:sub>
                          </m:sSub>
                        </m:den>
                      </m:f>
                    </m:oMath>
                  </m:oMathPara>
                </a14:m>
                <a:endParaRPr lang="fr-FR" dirty="0">
                  <a:latin typeface="Bookman Old Style" panose="02050604050505020204" pitchFamily="18" charset="0"/>
                </a:endParaRPr>
              </a:p>
            </p:txBody>
          </p:sp>
        </mc:Choice>
        <mc:Fallback xmlns="">
          <p:sp>
            <p:nvSpPr>
              <p:cNvPr id="24" name="ZoneTexte 18">
                <a:extLst>
                  <a:ext uri="{FF2B5EF4-FFF2-40B4-BE49-F238E27FC236}">
                    <a16:creationId xmlns:a16="http://schemas.microsoft.com/office/drawing/2014/main" id="{68BE9A36-AF8A-F338-1621-A5CF16BE8649}"/>
                  </a:ext>
                </a:extLst>
              </p:cNvPr>
              <p:cNvSpPr txBox="1">
                <a:spLocks noRot="1" noChangeAspect="1" noMove="1" noResize="1" noEditPoints="1" noAdjustHandles="1" noChangeArrowheads="1" noChangeShapeType="1" noTextEdit="1"/>
              </p:cNvSpPr>
              <p:nvPr/>
            </p:nvSpPr>
            <p:spPr>
              <a:xfrm>
                <a:off x="4915993" y="3517881"/>
                <a:ext cx="1068626" cy="502445"/>
              </a:xfrm>
              <a:prstGeom prst="rect">
                <a:avLst/>
              </a:prstGeom>
              <a:blipFill>
                <a:blip r:embed="rId6"/>
                <a:stretch>
                  <a:fillRect/>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77CB6737-60A4-EC0D-76DF-FB6CE944648E}"/>
                  </a:ext>
                </a:extLst>
              </p:cNvPr>
              <p:cNvSpPr txBox="1"/>
              <p:nvPr/>
            </p:nvSpPr>
            <p:spPr>
              <a:xfrm>
                <a:off x="6208456" y="3574806"/>
                <a:ext cx="2968418" cy="307777"/>
              </a:xfrm>
              <a:prstGeom prst="rect">
                <a:avLst/>
              </a:prstGeom>
              <a:noFill/>
            </p:spPr>
            <p:txBody>
              <a:bodyPr wrap="square">
                <a:spAutoFit/>
              </a:bodyPr>
              <a:lstStyle/>
              <a:p>
                <a:pPr algn="just"/>
                <a14:m>
                  <m:oMath xmlns:m="http://schemas.openxmlformats.org/officeDocument/2006/math">
                    <m:sSub>
                      <m:sSubPr>
                        <m:ctrlPr>
                          <a:rPr lang="fr-FR" sz="1400" i="1" smtClean="0">
                            <a:latin typeface="Cambria Math" panose="02040503050406030204" pitchFamily="18" charset="0"/>
                          </a:rPr>
                        </m:ctrlPr>
                      </m:sSubPr>
                      <m:e>
                        <m:r>
                          <m:rPr>
                            <m:sty m:val="p"/>
                          </m:rPr>
                          <a:rPr lang="fr-FR" sz="1400" b="0" i="0" smtClean="0">
                            <a:latin typeface="Cambria Math" panose="02040503050406030204" pitchFamily="18" charset="0"/>
                          </a:rPr>
                          <m:t>avec</m:t>
                        </m:r>
                        <m:r>
                          <a:rPr lang="fr-FR" sz="1400" b="0" i="0" smtClean="0">
                            <a:latin typeface="Cambria Math" panose="02040503050406030204" pitchFamily="18" charset="0"/>
                          </a:rPr>
                          <m:t>, </m:t>
                        </m:r>
                        <m:r>
                          <a:rPr lang="fr-FR" sz="1400" b="1" i="1">
                            <a:latin typeface="Cambria Math" panose="02040503050406030204" pitchFamily="18" charset="0"/>
                          </a:rPr>
                          <m:t>𝑹</m:t>
                        </m:r>
                      </m:e>
                      <m:sub>
                        <m:r>
                          <a:rPr lang="fr-FR" sz="1400" b="1" i="1">
                            <a:latin typeface="Cambria Math" panose="02040503050406030204" pitchFamily="18" charset="0"/>
                          </a:rPr>
                          <m:t>𝒊</m:t>
                        </m:r>
                      </m:sub>
                    </m:sSub>
                    <m:r>
                      <a:rPr lang="fr-FR" sz="1400" b="1" i="1">
                        <a:latin typeface="Cambria Math" panose="02040503050406030204" pitchFamily="18" charset="0"/>
                      </a:rPr>
                      <m:t> </m:t>
                    </m:r>
                  </m:oMath>
                </a14:m>
                <a:r>
                  <a:rPr lang="fr-FR" altLang="fr-FR" sz="1400" dirty="0">
                    <a:latin typeface="Bookman Old Style" panose="02050604050505020204" pitchFamily="18" charset="0"/>
                    <a:cs typeface="Browallia New" panose="020B0604020202020204" pitchFamily="34" charset="-34"/>
                  </a:rPr>
                  <a:t>est la résistance interne </a:t>
                </a:r>
              </a:p>
            </p:txBody>
          </p:sp>
        </mc:Choice>
        <mc:Fallback xmlns="">
          <p:sp>
            <p:nvSpPr>
              <p:cNvPr id="26" name="TextBox 25">
                <a:extLst>
                  <a:ext uri="{FF2B5EF4-FFF2-40B4-BE49-F238E27FC236}">
                    <a16:creationId xmlns:a16="http://schemas.microsoft.com/office/drawing/2014/main" id="{77CB6737-60A4-EC0D-76DF-FB6CE944648E}"/>
                  </a:ext>
                </a:extLst>
              </p:cNvPr>
              <p:cNvSpPr txBox="1">
                <a:spLocks noRot="1" noChangeAspect="1" noMove="1" noResize="1" noEditPoints="1" noAdjustHandles="1" noChangeArrowheads="1" noChangeShapeType="1" noTextEdit="1"/>
              </p:cNvSpPr>
              <p:nvPr/>
            </p:nvSpPr>
            <p:spPr>
              <a:xfrm>
                <a:off x="6208456" y="3574806"/>
                <a:ext cx="2968418" cy="307777"/>
              </a:xfrm>
              <a:prstGeom prst="rect">
                <a:avLst/>
              </a:prstGeom>
              <a:blipFill>
                <a:blip r:embed="rId7"/>
                <a:stretch>
                  <a:fillRect t="-1961" b="-19608"/>
                </a:stretch>
              </a:blipFill>
            </p:spPr>
            <p:txBody>
              <a:bodyPr/>
              <a:lstStyle/>
              <a:p>
                <a:r>
                  <a:rPr lang="fr-FR">
                    <a:noFill/>
                  </a:rPr>
                  <a:t> </a:t>
                </a:r>
              </a:p>
            </p:txBody>
          </p:sp>
        </mc:Fallback>
      </mc:AlternateContent>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30</a:t>
            </a:fld>
            <a:endParaRPr sz="2400" dirty="0">
              <a:latin typeface="Arial"/>
              <a:cs typeface="Arial"/>
            </a:endParaRPr>
          </a:p>
        </p:txBody>
      </p:sp>
    </p:spTree>
    <p:extLst>
      <p:ext uri="{BB962C8B-B14F-4D97-AF65-F5344CB8AC3E}">
        <p14:creationId xmlns:p14="http://schemas.microsoft.com/office/powerpoint/2010/main" val="1354919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31</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2.7 P</a:t>
            </a:r>
            <a:r>
              <a:rPr lang="fr-FR" altLang="fr-FR" sz="1400" b="1" spc="-5" dirty="0">
                <a:solidFill>
                  <a:srgbClr val="CC00CC"/>
                </a:solidFill>
                <a:latin typeface="Bookman Old Style" panose="02050604050505020204" pitchFamily="18" charset="0"/>
                <a:cs typeface="Arial"/>
              </a:rPr>
              <a:t>oint de fonctionnement </a:t>
            </a:r>
          </a:p>
        </p:txBody>
      </p:sp>
      <p:pic>
        <p:nvPicPr>
          <p:cNvPr id="3" name="Image 10">
            <a:extLst>
              <a:ext uri="{FF2B5EF4-FFF2-40B4-BE49-F238E27FC236}">
                <a16:creationId xmlns:a16="http://schemas.microsoft.com/office/drawing/2014/main" id="{4BD47A82-D71F-DD8C-AB0D-E971A4E2291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19600" y="2083251"/>
            <a:ext cx="2133599" cy="16751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Image 11">
            <a:extLst>
              <a:ext uri="{FF2B5EF4-FFF2-40B4-BE49-F238E27FC236}">
                <a16:creationId xmlns:a16="http://schemas.microsoft.com/office/drawing/2014/main" id="{607A7EE0-CF70-E356-927B-5D87501A6E6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3600" y="1914398"/>
            <a:ext cx="1987748" cy="1766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ZoneTexte 15">
            <a:extLst>
              <a:ext uri="{FF2B5EF4-FFF2-40B4-BE49-F238E27FC236}">
                <a16:creationId xmlns:a16="http://schemas.microsoft.com/office/drawing/2014/main" id="{CDE910EB-2CE3-F18D-CB35-F62668795D8A}"/>
              </a:ext>
            </a:extLst>
          </p:cNvPr>
          <p:cNvSpPr txBox="1">
            <a:spLocks noChangeArrowheads="1"/>
          </p:cNvSpPr>
          <p:nvPr/>
        </p:nvSpPr>
        <p:spPr bwMode="auto">
          <a:xfrm>
            <a:off x="452137" y="1212448"/>
            <a:ext cx="8581676" cy="5853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marL="285750" indent="-285750" algn="just">
              <a:buFont typeface="Wingdings" panose="05000000000000000000" pitchFamily="2" charset="2"/>
              <a:buChar char="q"/>
            </a:pPr>
            <a:r>
              <a:rPr lang="fr-FR" altLang="fr-FR" sz="1600" dirty="0">
                <a:latin typeface="Bookman Old Style" panose="02050604050505020204" pitchFamily="18" charset="0"/>
                <a:cs typeface="Browallia New" panose="020B0604020202020204" pitchFamily="34" charset="-34"/>
              </a:rPr>
              <a:t>Le </a:t>
            </a:r>
            <a:r>
              <a:rPr lang="fr-FR" altLang="fr-FR" sz="1600" b="1" dirty="0">
                <a:latin typeface="Bookman Old Style" panose="02050604050505020204" pitchFamily="18" charset="0"/>
                <a:cs typeface="Browallia New" panose="020B0604020202020204" pitchFamily="34" charset="-34"/>
              </a:rPr>
              <a:t>point de fonctionnement </a:t>
            </a:r>
            <a:r>
              <a:rPr lang="fr-FR" altLang="fr-FR" sz="1600" dirty="0">
                <a:latin typeface="Bookman Old Style" panose="02050604050505020204" pitchFamily="18" charset="0"/>
                <a:cs typeface="Browallia New" panose="020B0604020202020204" pitchFamily="34" charset="-34"/>
              </a:rPr>
              <a:t>d’un dipôle est définit par l’intersection de sa caractéristique statique avec la caractéristique du générateur qu’il l’alimente.</a:t>
            </a:r>
            <a:endParaRPr lang="fr-FR" altLang="fr-FR" sz="1600" b="1" dirty="0">
              <a:solidFill>
                <a:srgbClr val="3F53E9"/>
              </a:solidFill>
              <a:latin typeface="Bookman Old Style" panose="02050604050505020204" pitchFamily="18" charset="0"/>
              <a:cs typeface="Browallia New" panose="020B0604020202020204" pitchFamily="34" charset="-34"/>
            </a:endParaRPr>
          </a:p>
        </p:txBody>
      </p:sp>
      <p:sp>
        <p:nvSpPr>
          <p:cNvPr id="21" name="ZoneTexte 15">
            <a:extLst>
              <a:ext uri="{FF2B5EF4-FFF2-40B4-BE49-F238E27FC236}">
                <a16:creationId xmlns:a16="http://schemas.microsoft.com/office/drawing/2014/main" id="{396233A7-ABCC-C72F-0793-0B912788276A}"/>
              </a:ext>
            </a:extLst>
          </p:cNvPr>
          <p:cNvSpPr txBox="1">
            <a:spLocks noChangeArrowheads="1"/>
          </p:cNvSpPr>
          <p:nvPr/>
        </p:nvSpPr>
        <p:spPr bwMode="auto">
          <a:xfrm>
            <a:off x="421376" y="3797936"/>
            <a:ext cx="8581676" cy="83099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L’intersection des deux caractéristiques permet de définir la tension aux bornes de la charge, et le courant qui la traverse. On parle ici d’une </a:t>
            </a:r>
            <a:r>
              <a:rPr lang="fr-FR" altLang="fr-FR" b="1" dirty="0"/>
              <a:t>méthode graphique </a:t>
            </a:r>
            <a:r>
              <a:rPr lang="fr-FR" altLang="fr-FR" dirty="0"/>
              <a:t>de calcul.</a:t>
            </a:r>
          </a:p>
        </p:txBody>
      </p:sp>
    </p:spTree>
    <p:extLst>
      <p:ext uri="{BB962C8B-B14F-4D97-AF65-F5344CB8AC3E}">
        <p14:creationId xmlns:p14="http://schemas.microsoft.com/office/powerpoint/2010/main" val="28007804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32</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2.8 </a:t>
            </a:r>
            <a:r>
              <a:rPr lang="fr-FR" altLang="fr-FR" sz="1400" b="1" spc="-5" dirty="0">
                <a:solidFill>
                  <a:srgbClr val="CC00CC"/>
                </a:solidFill>
                <a:latin typeface="Bookman Old Style" panose="02050604050505020204" pitchFamily="18" charset="0"/>
                <a:cs typeface="Arial"/>
              </a:rPr>
              <a:t>Lois de Kirchhoff</a:t>
            </a:r>
          </a:p>
          <a:p>
            <a:pPr marL="12065" lvl="1">
              <a:lnSpc>
                <a:spcPct val="100000"/>
              </a:lnSpc>
              <a:spcBef>
                <a:spcPts val="100"/>
              </a:spcBef>
              <a:tabLst>
                <a:tab pos="393700" algn="l"/>
              </a:tabLst>
            </a:pPr>
            <a:r>
              <a:rPr lang="fr-FR" altLang="fr-FR" sz="1400" b="1" spc="-5" dirty="0">
                <a:solidFill>
                  <a:srgbClr val="CC00CC"/>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A</a:t>
            </a:r>
            <a:r>
              <a:rPr lang="fr-FR" sz="1200" b="1" spc="-5" dirty="0">
                <a:solidFill>
                  <a:schemeClr val="accent6">
                    <a:lumMod val="50000"/>
                  </a:schemeClr>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Définitions</a:t>
            </a:r>
            <a:endParaRPr lang="fr-FR" altLang="fr-FR" sz="1200" b="1" spc="-5" dirty="0">
              <a:solidFill>
                <a:srgbClr val="CC00CC"/>
              </a:solidFill>
              <a:latin typeface="Bookman Old Style" panose="02050604050505020204" pitchFamily="18" charset="0"/>
              <a:cs typeface="Arial"/>
            </a:endParaRPr>
          </a:p>
        </p:txBody>
      </p:sp>
      <p:sp>
        <p:nvSpPr>
          <p:cNvPr id="13" name="ZoneTexte 15">
            <a:extLst>
              <a:ext uri="{FF2B5EF4-FFF2-40B4-BE49-F238E27FC236}">
                <a16:creationId xmlns:a16="http://schemas.microsoft.com/office/drawing/2014/main" id="{CDE910EB-2CE3-F18D-CB35-F62668795D8A}"/>
              </a:ext>
            </a:extLst>
          </p:cNvPr>
          <p:cNvSpPr txBox="1">
            <a:spLocks noChangeArrowheads="1"/>
          </p:cNvSpPr>
          <p:nvPr/>
        </p:nvSpPr>
        <p:spPr bwMode="auto">
          <a:xfrm>
            <a:off x="576301" y="1498674"/>
            <a:ext cx="2595864"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marL="285750" indent="-285750" algn="just">
              <a:buFont typeface="Wingdings" panose="05000000000000000000" pitchFamily="2" charset="2"/>
              <a:buChar char="q"/>
            </a:pPr>
            <a:r>
              <a:rPr lang="fr-FR" sz="1600" b="1" dirty="0">
                <a:solidFill>
                  <a:srgbClr val="0000FF"/>
                </a:solidFill>
                <a:latin typeface="Bookman Old Style" panose="02050604050505020204" pitchFamily="18" charset="0"/>
              </a:rPr>
              <a:t>Noeud</a:t>
            </a:r>
            <a:endParaRPr lang="fr-FR" altLang="fr-FR" sz="1600" b="1" dirty="0">
              <a:solidFill>
                <a:srgbClr val="0000FF"/>
              </a:solidFill>
              <a:latin typeface="Bookman Old Style" panose="02050604050505020204" pitchFamily="18" charset="0"/>
              <a:cs typeface="Browallia New" panose="020B0604020202020204" pitchFamily="34" charset="-34"/>
            </a:endParaRPr>
          </a:p>
        </p:txBody>
      </p:sp>
      <p:sp>
        <p:nvSpPr>
          <p:cNvPr id="12" name="TextBox 11">
            <a:extLst>
              <a:ext uri="{FF2B5EF4-FFF2-40B4-BE49-F238E27FC236}">
                <a16:creationId xmlns:a16="http://schemas.microsoft.com/office/drawing/2014/main" id="{4210F2B8-9E29-4B91-45FE-B708E95398BF}"/>
              </a:ext>
            </a:extLst>
          </p:cNvPr>
          <p:cNvSpPr txBox="1"/>
          <p:nvPr/>
        </p:nvSpPr>
        <p:spPr>
          <a:xfrm>
            <a:off x="576301" y="1893131"/>
            <a:ext cx="6667462" cy="307777"/>
          </a:xfrm>
          <a:prstGeom prst="rect">
            <a:avLst/>
          </a:prstGeom>
          <a:noFill/>
        </p:spPr>
        <p:txBody>
          <a:bodyPr wrap="square">
            <a:spAutoFit/>
          </a:bodyPr>
          <a:lstStyle/>
          <a:p>
            <a:pPr algn="just"/>
            <a:r>
              <a:rPr lang="fr-FR" sz="1400" dirty="0">
                <a:latin typeface="Bookman Old Style" panose="02050604050505020204" pitchFamily="18" charset="0"/>
              </a:rPr>
              <a:t>Un </a:t>
            </a:r>
            <a:r>
              <a:rPr lang="fr-FR" sz="1400" b="1" dirty="0">
                <a:latin typeface="Bookman Old Style" panose="02050604050505020204" pitchFamily="18" charset="0"/>
              </a:rPr>
              <a:t>nœud</a:t>
            </a:r>
            <a:r>
              <a:rPr lang="fr-FR" sz="1400" dirty="0">
                <a:latin typeface="Bookman Old Style" panose="02050604050505020204" pitchFamily="18" charset="0"/>
              </a:rPr>
              <a:t> est le </a:t>
            </a:r>
            <a:r>
              <a:rPr lang="fr-FR" sz="1400" b="1" dirty="0">
                <a:latin typeface="Bookman Old Style" panose="02050604050505020204" pitchFamily="18" charset="0"/>
              </a:rPr>
              <a:t>point de jonction</a:t>
            </a:r>
            <a:r>
              <a:rPr lang="fr-FR" sz="1400" dirty="0">
                <a:latin typeface="Bookman Old Style" panose="02050604050505020204" pitchFamily="18" charset="0"/>
              </a:rPr>
              <a:t> entre au moins trois fils de connexion</a:t>
            </a:r>
          </a:p>
        </p:txBody>
      </p:sp>
      <p:grpSp>
        <p:nvGrpSpPr>
          <p:cNvPr id="16" name="Group 36">
            <a:extLst>
              <a:ext uri="{FF2B5EF4-FFF2-40B4-BE49-F238E27FC236}">
                <a16:creationId xmlns:a16="http://schemas.microsoft.com/office/drawing/2014/main" id="{EDBBE945-6593-A6AB-79CA-224D526DDDA6}"/>
              </a:ext>
            </a:extLst>
          </p:cNvPr>
          <p:cNvGrpSpPr>
            <a:grpSpLocks/>
          </p:cNvGrpSpPr>
          <p:nvPr/>
        </p:nvGrpSpPr>
        <p:grpSpPr bwMode="auto">
          <a:xfrm>
            <a:off x="6400800" y="1176110"/>
            <a:ext cx="1730375" cy="2317750"/>
            <a:chOff x="2422" y="1280"/>
            <a:chExt cx="1090" cy="1460"/>
          </a:xfrm>
        </p:grpSpPr>
        <p:grpSp>
          <p:nvGrpSpPr>
            <p:cNvPr id="17" name="Group 22">
              <a:extLst>
                <a:ext uri="{FF2B5EF4-FFF2-40B4-BE49-F238E27FC236}">
                  <a16:creationId xmlns:a16="http://schemas.microsoft.com/office/drawing/2014/main" id="{3362A7EF-FBCC-ABEC-EC1E-4A9569989D9B}"/>
                </a:ext>
              </a:extLst>
            </p:cNvPr>
            <p:cNvGrpSpPr>
              <a:grpSpLocks/>
            </p:cNvGrpSpPr>
            <p:nvPr/>
          </p:nvGrpSpPr>
          <p:grpSpPr bwMode="auto">
            <a:xfrm>
              <a:off x="2422" y="1962"/>
              <a:ext cx="809" cy="97"/>
              <a:chOff x="1522" y="2055"/>
              <a:chExt cx="1045" cy="178"/>
            </a:xfrm>
          </p:grpSpPr>
          <p:sp>
            <p:nvSpPr>
              <p:cNvPr id="30" name="Line 23">
                <a:extLst>
                  <a:ext uri="{FF2B5EF4-FFF2-40B4-BE49-F238E27FC236}">
                    <a16:creationId xmlns:a16="http://schemas.microsoft.com/office/drawing/2014/main" id="{253B3C13-E308-717D-D6D6-7FBFEA09FD8B}"/>
                  </a:ext>
                </a:extLst>
              </p:cNvPr>
              <p:cNvSpPr>
                <a:spLocks noChangeShapeType="1"/>
              </p:cNvSpPr>
              <p:nvPr/>
            </p:nvSpPr>
            <p:spPr bwMode="auto">
              <a:xfrm>
                <a:off x="1522" y="2133"/>
                <a:ext cx="1045" cy="0"/>
              </a:xfrm>
              <a:prstGeom prst="line">
                <a:avLst/>
              </a:prstGeom>
              <a:noFill/>
              <a:ln w="38100">
                <a:solidFill>
                  <a:schemeClr val="tx1"/>
                </a:solidFill>
                <a:round/>
                <a:headEnd/>
                <a:tailEnd/>
              </a:ln>
            </p:spPr>
            <p:txBody>
              <a:bodyPr wrap="none" anchor="ctr"/>
              <a:lstStyle/>
              <a:p>
                <a:endParaRPr lang="fr-FR"/>
              </a:p>
            </p:txBody>
          </p:sp>
          <p:sp>
            <p:nvSpPr>
              <p:cNvPr id="31" name="Rectangle 24">
                <a:extLst>
                  <a:ext uri="{FF2B5EF4-FFF2-40B4-BE49-F238E27FC236}">
                    <a16:creationId xmlns:a16="http://schemas.microsoft.com/office/drawing/2014/main" id="{42137F30-B443-168A-E366-F88D5BB9F400}"/>
                  </a:ext>
                </a:extLst>
              </p:cNvPr>
              <p:cNvSpPr>
                <a:spLocks noChangeArrowheads="1"/>
              </p:cNvSpPr>
              <p:nvPr/>
            </p:nvSpPr>
            <p:spPr bwMode="auto">
              <a:xfrm>
                <a:off x="1811" y="2055"/>
                <a:ext cx="523" cy="178"/>
              </a:xfrm>
              <a:prstGeom prst="rect">
                <a:avLst/>
              </a:prstGeom>
              <a:solidFill>
                <a:schemeClr val="bg1"/>
              </a:solidFill>
              <a:ln w="38100">
                <a:solidFill>
                  <a:schemeClr val="tx1"/>
                </a:solidFill>
                <a:miter lim="800000"/>
                <a:headEnd/>
                <a:tailEnd/>
              </a:ln>
            </p:spPr>
            <p:txBody>
              <a:bodyPr wrap="none" anchor="ctr"/>
              <a:lstStyle/>
              <a:p>
                <a:endParaRPr lang="fr-FR"/>
              </a:p>
            </p:txBody>
          </p:sp>
        </p:grpSp>
        <p:sp>
          <p:nvSpPr>
            <p:cNvPr id="20" name="Oval 25">
              <a:extLst>
                <a:ext uri="{FF2B5EF4-FFF2-40B4-BE49-F238E27FC236}">
                  <a16:creationId xmlns:a16="http://schemas.microsoft.com/office/drawing/2014/main" id="{AA980554-D245-651E-2E8C-25735C16E0DA}"/>
                </a:ext>
              </a:extLst>
            </p:cNvPr>
            <p:cNvSpPr>
              <a:spLocks noChangeArrowheads="1"/>
            </p:cNvSpPr>
            <p:nvPr/>
          </p:nvSpPr>
          <p:spPr bwMode="auto">
            <a:xfrm>
              <a:off x="3189" y="1987"/>
              <a:ext cx="37" cy="25"/>
            </a:xfrm>
            <a:prstGeom prst="ellipse">
              <a:avLst/>
            </a:prstGeom>
            <a:solidFill>
              <a:schemeClr val="tx1"/>
            </a:solidFill>
            <a:ln w="9525">
              <a:solidFill>
                <a:schemeClr val="tx1"/>
              </a:solidFill>
              <a:round/>
              <a:headEnd/>
              <a:tailEnd/>
            </a:ln>
          </p:spPr>
          <p:txBody>
            <a:bodyPr wrap="none" anchor="ctr"/>
            <a:lstStyle/>
            <a:p>
              <a:endParaRPr lang="fr-FR"/>
            </a:p>
          </p:txBody>
        </p:sp>
        <p:grpSp>
          <p:nvGrpSpPr>
            <p:cNvPr id="22" name="Group 26">
              <a:extLst>
                <a:ext uri="{FF2B5EF4-FFF2-40B4-BE49-F238E27FC236}">
                  <a16:creationId xmlns:a16="http://schemas.microsoft.com/office/drawing/2014/main" id="{7D112C0E-7719-1BED-0E56-1067A761681E}"/>
                </a:ext>
              </a:extLst>
            </p:cNvPr>
            <p:cNvGrpSpPr>
              <a:grpSpLocks/>
            </p:cNvGrpSpPr>
            <p:nvPr/>
          </p:nvGrpSpPr>
          <p:grpSpPr bwMode="auto">
            <a:xfrm rot="-3196199">
              <a:off x="3052" y="1636"/>
              <a:ext cx="809" cy="97"/>
              <a:chOff x="1522" y="2055"/>
              <a:chExt cx="1045" cy="178"/>
            </a:xfrm>
          </p:grpSpPr>
          <p:sp>
            <p:nvSpPr>
              <p:cNvPr id="28" name="Line 27">
                <a:extLst>
                  <a:ext uri="{FF2B5EF4-FFF2-40B4-BE49-F238E27FC236}">
                    <a16:creationId xmlns:a16="http://schemas.microsoft.com/office/drawing/2014/main" id="{4D261388-7A16-EC2C-61BE-554DF9DF3C29}"/>
                  </a:ext>
                </a:extLst>
              </p:cNvPr>
              <p:cNvSpPr>
                <a:spLocks noChangeShapeType="1"/>
              </p:cNvSpPr>
              <p:nvPr/>
            </p:nvSpPr>
            <p:spPr bwMode="auto">
              <a:xfrm>
                <a:off x="1522" y="2133"/>
                <a:ext cx="1045" cy="0"/>
              </a:xfrm>
              <a:prstGeom prst="line">
                <a:avLst/>
              </a:prstGeom>
              <a:noFill/>
              <a:ln w="38100">
                <a:solidFill>
                  <a:schemeClr val="tx1"/>
                </a:solidFill>
                <a:round/>
                <a:headEnd/>
                <a:tailEnd/>
              </a:ln>
            </p:spPr>
            <p:txBody>
              <a:bodyPr wrap="none" anchor="ctr"/>
              <a:lstStyle/>
              <a:p>
                <a:endParaRPr lang="fr-FR"/>
              </a:p>
            </p:txBody>
          </p:sp>
          <p:sp>
            <p:nvSpPr>
              <p:cNvPr id="29" name="Rectangle 28">
                <a:extLst>
                  <a:ext uri="{FF2B5EF4-FFF2-40B4-BE49-F238E27FC236}">
                    <a16:creationId xmlns:a16="http://schemas.microsoft.com/office/drawing/2014/main" id="{806E6527-B139-DA1F-AB68-6776AF85D85C}"/>
                  </a:ext>
                </a:extLst>
              </p:cNvPr>
              <p:cNvSpPr>
                <a:spLocks noChangeArrowheads="1"/>
              </p:cNvSpPr>
              <p:nvPr/>
            </p:nvSpPr>
            <p:spPr bwMode="auto">
              <a:xfrm>
                <a:off x="1811" y="2055"/>
                <a:ext cx="523" cy="178"/>
              </a:xfrm>
              <a:prstGeom prst="rect">
                <a:avLst/>
              </a:prstGeom>
              <a:solidFill>
                <a:schemeClr val="bg1"/>
              </a:solidFill>
              <a:ln w="38100">
                <a:solidFill>
                  <a:schemeClr val="tx1"/>
                </a:solidFill>
                <a:miter lim="800000"/>
                <a:headEnd/>
                <a:tailEnd/>
              </a:ln>
            </p:spPr>
            <p:txBody>
              <a:bodyPr wrap="none" anchor="ctr"/>
              <a:lstStyle/>
              <a:p>
                <a:endParaRPr lang="fr-FR" dirty="0"/>
              </a:p>
            </p:txBody>
          </p:sp>
        </p:grpSp>
        <p:grpSp>
          <p:nvGrpSpPr>
            <p:cNvPr id="23" name="Group 29">
              <a:extLst>
                <a:ext uri="{FF2B5EF4-FFF2-40B4-BE49-F238E27FC236}">
                  <a16:creationId xmlns:a16="http://schemas.microsoft.com/office/drawing/2014/main" id="{E2382074-3960-673C-BF4B-0F85E09AD4DA}"/>
                </a:ext>
              </a:extLst>
            </p:cNvPr>
            <p:cNvGrpSpPr>
              <a:grpSpLocks/>
            </p:cNvGrpSpPr>
            <p:nvPr/>
          </p:nvGrpSpPr>
          <p:grpSpPr bwMode="auto">
            <a:xfrm rot="3196199" flipV="1">
              <a:off x="3059" y="2287"/>
              <a:ext cx="809" cy="97"/>
              <a:chOff x="1522" y="2055"/>
              <a:chExt cx="1045" cy="178"/>
            </a:xfrm>
          </p:grpSpPr>
          <p:sp>
            <p:nvSpPr>
              <p:cNvPr id="26" name="Line 30">
                <a:extLst>
                  <a:ext uri="{FF2B5EF4-FFF2-40B4-BE49-F238E27FC236}">
                    <a16:creationId xmlns:a16="http://schemas.microsoft.com/office/drawing/2014/main" id="{787E22EC-B618-43E3-E776-271681E3C2F6}"/>
                  </a:ext>
                </a:extLst>
              </p:cNvPr>
              <p:cNvSpPr>
                <a:spLocks noChangeShapeType="1"/>
              </p:cNvSpPr>
              <p:nvPr/>
            </p:nvSpPr>
            <p:spPr bwMode="auto">
              <a:xfrm>
                <a:off x="1522" y="2133"/>
                <a:ext cx="1045" cy="0"/>
              </a:xfrm>
              <a:prstGeom prst="line">
                <a:avLst/>
              </a:prstGeom>
              <a:noFill/>
              <a:ln w="38100">
                <a:solidFill>
                  <a:schemeClr val="tx1"/>
                </a:solidFill>
                <a:round/>
                <a:headEnd/>
                <a:tailEnd/>
              </a:ln>
            </p:spPr>
            <p:txBody>
              <a:bodyPr wrap="none" anchor="ctr"/>
              <a:lstStyle/>
              <a:p>
                <a:endParaRPr lang="fr-FR"/>
              </a:p>
            </p:txBody>
          </p:sp>
          <p:sp>
            <p:nvSpPr>
              <p:cNvPr id="27" name="Rectangle 31">
                <a:extLst>
                  <a:ext uri="{FF2B5EF4-FFF2-40B4-BE49-F238E27FC236}">
                    <a16:creationId xmlns:a16="http://schemas.microsoft.com/office/drawing/2014/main" id="{1E012A02-3F4F-4C94-6B58-76F274AEAA6A}"/>
                  </a:ext>
                </a:extLst>
              </p:cNvPr>
              <p:cNvSpPr>
                <a:spLocks noChangeArrowheads="1"/>
              </p:cNvSpPr>
              <p:nvPr/>
            </p:nvSpPr>
            <p:spPr bwMode="auto">
              <a:xfrm>
                <a:off x="1811" y="2055"/>
                <a:ext cx="523" cy="178"/>
              </a:xfrm>
              <a:prstGeom prst="rect">
                <a:avLst/>
              </a:prstGeom>
              <a:solidFill>
                <a:schemeClr val="bg1"/>
              </a:solidFill>
              <a:ln w="38100">
                <a:solidFill>
                  <a:schemeClr val="tx1"/>
                </a:solidFill>
                <a:miter lim="800000"/>
                <a:headEnd/>
                <a:tailEnd/>
              </a:ln>
            </p:spPr>
            <p:txBody>
              <a:bodyPr wrap="none" anchor="ctr"/>
              <a:lstStyle/>
              <a:p>
                <a:endParaRPr lang="fr-FR"/>
              </a:p>
            </p:txBody>
          </p:sp>
        </p:grpSp>
        <p:sp>
          <p:nvSpPr>
            <p:cNvPr id="24" name="Line 32">
              <a:extLst>
                <a:ext uri="{FF2B5EF4-FFF2-40B4-BE49-F238E27FC236}">
                  <a16:creationId xmlns:a16="http://schemas.microsoft.com/office/drawing/2014/main" id="{E51899B8-0647-A0DF-8FB6-954316820CDB}"/>
                </a:ext>
              </a:extLst>
            </p:cNvPr>
            <p:cNvSpPr>
              <a:spLocks noChangeShapeType="1"/>
            </p:cNvSpPr>
            <p:nvPr/>
          </p:nvSpPr>
          <p:spPr bwMode="auto">
            <a:xfrm>
              <a:off x="2956" y="1604"/>
              <a:ext cx="217" cy="282"/>
            </a:xfrm>
            <a:prstGeom prst="line">
              <a:avLst/>
            </a:prstGeom>
            <a:noFill/>
            <a:ln w="38100">
              <a:solidFill>
                <a:srgbClr val="FF0000"/>
              </a:solidFill>
              <a:round/>
              <a:headEnd/>
              <a:tailEnd type="arrow" w="med" len="med"/>
            </a:ln>
          </p:spPr>
          <p:txBody>
            <a:bodyPr/>
            <a:lstStyle/>
            <a:p>
              <a:endParaRPr lang="fr-FR"/>
            </a:p>
          </p:txBody>
        </p:sp>
        <p:sp>
          <p:nvSpPr>
            <p:cNvPr id="25" name="Oval 34">
              <a:extLst>
                <a:ext uri="{FF2B5EF4-FFF2-40B4-BE49-F238E27FC236}">
                  <a16:creationId xmlns:a16="http://schemas.microsoft.com/office/drawing/2014/main" id="{29E54B7A-EBB6-731D-5A5E-29B79F6ACC34}"/>
                </a:ext>
              </a:extLst>
            </p:cNvPr>
            <p:cNvSpPr>
              <a:spLocks noChangeArrowheads="1"/>
            </p:cNvSpPr>
            <p:nvPr/>
          </p:nvSpPr>
          <p:spPr bwMode="auto">
            <a:xfrm>
              <a:off x="3198" y="1988"/>
              <a:ext cx="31" cy="22"/>
            </a:xfrm>
            <a:prstGeom prst="ellipse">
              <a:avLst/>
            </a:prstGeom>
            <a:solidFill>
              <a:schemeClr val="tx1"/>
            </a:solidFill>
            <a:ln w="38100">
              <a:solidFill>
                <a:schemeClr val="tx1"/>
              </a:solidFill>
              <a:round/>
              <a:headEnd/>
              <a:tailEnd/>
            </a:ln>
          </p:spPr>
          <p:txBody>
            <a:bodyPr wrap="none" anchor="ctr"/>
            <a:lstStyle/>
            <a:p>
              <a:endParaRPr lang="fr-FR"/>
            </a:p>
          </p:txBody>
        </p:sp>
      </p:grpSp>
      <p:sp>
        <p:nvSpPr>
          <p:cNvPr id="33" name="TextBox 32">
            <a:extLst>
              <a:ext uri="{FF2B5EF4-FFF2-40B4-BE49-F238E27FC236}">
                <a16:creationId xmlns:a16="http://schemas.microsoft.com/office/drawing/2014/main" id="{F3EC34D2-F355-8942-858F-BF08B4DCB49C}"/>
              </a:ext>
            </a:extLst>
          </p:cNvPr>
          <p:cNvSpPr txBox="1"/>
          <p:nvPr/>
        </p:nvSpPr>
        <p:spPr>
          <a:xfrm>
            <a:off x="609515" y="2402473"/>
            <a:ext cx="4589416"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b="1">
                <a:latin typeface="Bookman Old Style" panose="02050604050505020204" pitchFamily="18" charset="0"/>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dirty="0">
                <a:solidFill>
                  <a:srgbClr val="0000FF"/>
                </a:solidFill>
              </a:rPr>
              <a:t>Branche</a:t>
            </a:r>
          </a:p>
        </p:txBody>
      </p:sp>
      <p:sp>
        <p:nvSpPr>
          <p:cNvPr id="35" name="TextBox 34">
            <a:extLst>
              <a:ext uri="{FF2B5EF4-FFF2-40B4-BE49-F238E27FC236}">
                <a16:creationId xmlns:a16="http://schemas.microsoft.com/office/drawing/2014/main" id="{7445022B-D5D4-136E-D009-09910F7EDAE1}"/>
              </a:ext>
            </a:extLst>
          </p:cNvPr>
          <p:cNvSpPr txBox="1"/>
          <p:nvPr/>
        </p:nvSpPr>
        <p:spPr>
          <a:xfrm>
            <a:off x="604604" y="2836326"/>
            <a:ext cx="7398016" cy="307777"/>
          </a:xfrm>
          <a:prstGeom prst="rect">
            <a:avLst/>
          </a:prstGeom>
          <a:noFill/>
        </p:spPr>
        <p:txBody>
          <a:bodyPr wrap="square">
            <a:spAutoFit/>
          </a:bodyPr>
          <a:lstStyle>
            <a:defPPr>
              <a:defRPr lang="fr-FR"/>
            </a:defPPr>
            <a:lvl1pPr algn="just">
              <a:defRPr sz="1400">
                <a:latin typeface="Bookman Old Style" panose="02050604050505020204" pitchFamily="18" charset="0"/>
              </a:defRPr>
            </a:lvl1pPr>
          </a:lstStyle>
          <a:p>
            <a:r>
              <a:rPr lang="fr-FR" dirty="0"/>
              <a:t>Une </a:t>
            </a:r>
            <a:r>
              <a:rPr lang="fr-FR" b="1" dirty="0"/>
              <a:t>branche</a:t>
            </a:r>
            <a:r>
              <a:rPr lang="fr-FR" dirty="0"/>
              <a:t> est un ensemble de</a:t>
            </a:r>
            <a:r>
              <a:rPr lang="fr-FR" b="1" dirty="0"/>
              <a:t> dipôles montés en série entre deux nœuds</a:t>
            </a:r>
          </a:p>
        </p:txBody>
      </p:sp>
      <p:grpSp>
        <p:nvGrpSpPr>
          <p:cNvPr id="36" name="Group 35">
            <a:extLst>
              <a:ext uri="{FF2B5EF4-FFF2-40B4-BE49-F238E27FC236}">
                <a16:creationId xmlns:a16="http://schemas.microsoft.com/office/drawing/2014/main" id="{E5F62C13-81D5-D30C-7E12-02D3A5F3B9A1}"/>
              </a:ext>
            </a:extLst>
          </p:cNvPr>
          <p:cNvGrpSpPr>
            <a:grpSpLocks/>
          </p:cNvGrpSpPr>
          <p:nvPr/>
        </p:nvGrpSpPr>
        <p:grpSpPr bwMode="auto">
          <a:xfrm>
            <a:off x="3416951" y="3102531"/>
            <a:ext cx="2616200" cy="2009775"/>
            <a:chOff x="2517" y="2898"/>
            <a:chExt cx="1648" cy="1266"/>
          </a:xfrm>
        </p:grpSpPr>
        <p:sp>
          <p:nvSpPr>
            <p:cNvPr id="37" name="Line 12">
              <a:extLst>
                <a:ext uri="{FF2B5EF4-FFF2-40B4-BE49-F238E27FC236}">
                  <a16:creationId xmlns:a16="http://schemas.microsoft.com/office/drawing/2014/main" id="{3180E07C-D0E1-7386-6BFA-D3B3CC1DD173}"/>
                </a:ext>
              </a:extLst>
            </p:cNvPr>
            <p:cNvSpPr>
              <a:spLocks noChangeShapeType="1"/>
            </p:cNvSpPr>
            <p:nvPr/>
          </p:nvSpPr>
          <p:spPr bwMode="auto">
            <a:xfrm rot="-3196199">
              <a:off x="3811" y="3248"/>
              <a:ext cx="699" cy="0"/>
            </a:xfrm>
            <a:prstGeom prst="line">
              <a:avLst/>
            </a:prstGeom>
            <a:noFill/>
            <a:ln w="38100">
              <a:solidFill>
                <a:schemeClr val="tx1"/>
              </a:solidFill>
              <a:round/>
              <a:headEnd/>
              <a:tailEnd/>
            </a:ln>
          </p:spPr>
          <p:txBody>
            <a:bodyPr wrap="none" anchor="ctr"/>
            <a:lstStyle/>
            <a:p>
              <a:endParaRPr lang="fr-FR"/>
            </a:p>
          </p:txBody>
        </p:sp>
        <p:sp>
          <p:nvSpPr>
            <p:cNvPr id="38" name="Line 13">
              <a:extLst>
                <a:ext uri="{FF2B5EF4-FFF2-40B4-BE49-F238E27FC236}">
                  <a16:creationId xmlns:a16="http://schemas.microsoft.com/office/drawing/2014/main" id="{BA39C020-D9B5-E8E6-1C6D-A5FD1A66D2E3}"/>
                </a:ext>
              </a:extLst>
            </p:cNvPr>
            <p:cNvSpPr>
              <a:spLocks noChangeShapeType="1"/>
            </p:cNvSpPr>
            <p:nvPr/>
          </p:nvSpPr>
          <p:spPr bwMode="auto">
            <a:xfrm rot="3196199" flipV="1">
              <a:off x="3813" y="3811"/>
              <a:ext cx="702" cy="3"/>
            </a:xfrm>
            <a:prstGeom prst="line">
              <a:avLst/>
            </a:prstGeom>
            <a:noFill/>
            <a:ln w="38100">
              <a:solidFill>
                <a:schemeClr val="tx1"/>
              </a:solidFill>
              <a:round/>
              <a:headEnd/>
              <a:tailEnd/>
            </a:ln>
          </p:spPr>
          <p:txBody>
            <a:bodyPr wrap="none" anchor="ctr"/>
            <a:lstStyle/>
            <a:p>
              <a:endParaRPr lang="fr-FR"/>
            </a:p>
          </p:txBody>
        </p:sp>
        <p:grpSp>
          <p:nvGrpSpPr>
            <p:cNvPr id="39" name="Group 8">
              <a:extLst>
                <a:ext uri="{FF2B5EF4-FFF2-40B4-BE49-F238E27FC236}">
                  <a16:creationId xmlns:a16="http://schemas.microsoft.com/office/drawing/2014/main" id="{B8C6D8D8-EBCE-3C40-D2AA-C6B4A65BC6E5}"/>
                </a:ext>
              </a:extLst>
            </p:cNvPr>
            <p:cNvGrpSpPr>
              <a:grpSpLocks/>
            </p:cNvGrpSpPr>
            <p:nvPr/>
          </p:nvGrpSpPr>
          <p:grpSpPr bwMode="auto">
            <a:xfrm>
              <a:off x="3304" y="3490"/>
              <a:ext cx="673" cy="84"/>
              <a:chOff x="1522" y="2055"/>
              <a:chExt cx="1045" cy="178"/>
            </a:xfrm>
          </p:grpSpPr>
          <p:sp>
            <p:nvSpPr>
              <p:cNvPr id="49" name="Line 9">
                <a:extLst>
                  <a:ext uri="{FF2B5EF4-FFF2-40B4-BE49-F238E27FC236}">
                    <a16:creationId xmlns:a16="http://schemas.microsoft.com/office/drawing/2014/main" id="{106E0202-0A8E-B88D-1532-CD514B40F155}"/>
                  </a:ext>
                </a:extLst>
              </p:cNvPr>
              <p:cNvSpPr>
                <a:spLocks noChangeShapeType="1"/>
              </p:cNvSpPr>
              <p:nvPr/>
            </p:nvSpPr>
            <p:spPr bwMode="auto">
              <a:xfrm>
                <a:off x="1522" y="2133"/>
                <a:ext cx="1045" cy="0"/>
              </a:xfrm>
              <a:prstGeom prst="line">
                <a:avLst/>
              </a:prstGeom>
              <a:noFill/>
              <a:ln w="38100">
                <a:solidFill>
                  <a:schemeClr val="tx1"/>
                </a:solidFill>
                <a:round/>
                <a:headEnd/>
                <a:tailEnd/>
              </a:ln>
            </p:spPr>
            <p:txBody>
              <a:bodyPr wrap="none" anchor="ctr"/>
              <a:lstStyle/>
              <a:p>
                <a:endParaRPr lang="fr-FR"/>
              </a:p>
            </p:txBody>
          </p:sp>
          <p:sp>
            <p:nvSpPr>
              <p:cNvPr id="50" name="Rectangle 10">
                <a:extLst>
                  <a:ext uri="{FF2B5EF4-FFF2-40B4-BE49-F238E27FC236}">
                    <a16:creationId xmlns:a16="http://schemas.microsoft.com/office/drawing/2014/main" id="{7156B808-ADED-9AC4-2007-F021A3830D87}"/>
                  </a:ext>
                </a:extLst>
              </p:cNvPr>
              <p:cNvSpPr>
                <a:spLocks noChangeArrowheads="1"/>
              </p:cNvSpPr>
              <p:nvPr/>
            </p:nvSpPr>
            <p:spPr bwMode="auto">
              <a:xfrm>
                <a:off x="1811" y="2055"/>
                <a:ext cx="523" cy="178"/>
              </a:xfrm>
              <a:prstGeom prst="rect">
                <a:avLst/>
              </a:prstGeom>
              <a:solidFill>
                <a:schemeClr val="bg1"/>
              </a:solidFill>
              <a:ln w="38100">
                <a:solidFill>
                  <a:schemeClr val="tx1"/>
                </a:solidFill>
                <a:miter lim="800000"/>
                <a:headEnd/>
                <a:tailEnd/>
              </a:ln>
            </p:spPr>
            <p:txBody>
              <a:bodyPr wrap="none" anchor="ctr"/>
              <a:lstStyle/>
              <a:p>
                <a:endParaRPr lang="fr-FR"/>
              </a:p>
            </p:txBody>
          </p:sp>
        </p:grpSp>
        <p:sp>
          <p:nvSpPr>
            <p:cNvPr id="40" name="Oval 11">
              <a:extLst>
                <a:ext uri="{FF2B5EF4-FFF2-40B4-BE49-F238E27FC236}">
                  <a16:creationId xmlns:a16="http://schemas.microsoft.com/office/drawing/2014/main" id="{17410D79-9B58-52D8-1588-A7BA1F8AA23B}"/>
                </a:ext>
              </a:extLst>
            </p:cNvPr>
            <p:cNvSpPr>
              <a:spLocks noChangeArrowheads="1"/>
            </p:cNvSpPr>
            <p:nvPr/>
          </p:nvSpPr>
          <p:spPr bwMode="auto">
            <a:xfrm>
              <a:off x="3942" y="3512"/>
              <a:ext cx="31" cy="22"/>
            </a:xfrm>
            <a:prstGeom prst="ellipse">
              <a:avLst/>
            </a:prstGeom>
            <a:solidFill>
              <a:schemeClr val="tx1"/>
            </a:solidFill>
            <a:ln w="38100">
              <a:solidFill>
                <a:schemeClr val="tx1"/>
              </a:solidFill>
              <a:round/>
              <a:headEnd/>
              <a:tailEnd/>
            </a:ln>
          </p:spPr>
          <p:txBody>
            <a:bodyPr wrap="none" anchor="ctr"/>
            <a:lstStyle/>
            <a:p>
              <a:endParaRPr lang="fr-FR"/>
            </a:p>
          </p:txBody>
        </p:sp>
        <p:grpSp>
          <p:nvGrpSpPr>
            <p:cNvPr id="41" name="Group 14">
              <a:extLst>
                <a:ext uri="{FF2B5EF4-FFF2-40B4-BE49-F238E27FC236}">
                  <a16:creationId xmlns:a16="http://schemas.microsoft.com/office/drawing/2014/main" id="{BC7FF754-B7BB-707F-37F0-B48FF0D83BA9}"/>
                </a:ext>
              </a:extLst>
            </p:cNvPr>
            <p:cNvGrpSpPr>
              <a:grpSpLocks/>
            </p:cNvGrpSpPr>
            <p:nvPr/>
          </p:nvGrpSpPr>
          <p:grpSpPr bwMode="auto">
            <a:xfrm flipH="1">
              <a:off x="2707" y="3490"/>
              <a:ext cx="673" cy="84"/>
              <a:chOff x="1522" y="2055"/>
              <a:chExt cx="1045" cy="178"/>
            </a:xfrm>
          </p:grpSpPr>
          <p:sp>
            <p:nvSpPr>
              <p:cNvPr id="47" name="Line 15">
                <a:extLst>
                  <a:ext uri="{FF2B5EF4-FFF2-40B4-BE49-F238E27FC236}">
                    <a16:creationId xmlns:a16="http://schemas.microsoft.com/office/drawing/2014/main" id="{B045CAE3-4BFD-F06D-D7F4-39FD8FA71464}"/>
                  </a:ext>
                </a:extLst>
              </p:cNvPr>
              <p:cNvSpPr>
                <a:spLocks noChangeShapeType="1"/>
              </p:cNvSpPr>
              <p:nvPr/>
            </p:nvSpPr>
            <p:spPr bwMode="auto">
              <a:xfrm>
                <a:off x="1522" y="2133"/>
                <a:ext cx="1045" cy="0"/>
              </a:xfrm>
              <a:prstGeom prst="line">
                <a:avLst/>
              </a:prstGeom>
              <a:noFill/>
              <a:ln w="38100">
                <a:solidFill>
                  <a:schemeClr val="tx1"/>
                </a:solidFill>
                <a:round/>
                <a:headEnd/>
                <a:tailEnd/>
              </a:ln>
            </p:spPr>
            <p:txBody>
              <a:bodyPr wrap="none" anchor="ctr"/>
              <a:lstStyle/>
              <a:p>
                <a:endParaRPr lang="fr-FR"/>
              </a:p>
            </p:txBody>
          </p:sp>
          <p:sp>
            <p:nvSpPr>
              <p:cNvPr id="48" name="Rectangle 16">
                <a:extLst>
                  <a:ext uri="{FF2B5EF4-FFF2-40B4-BE49-F238E27FC236}">
                    <a16:creationId xmlns:a16="http://schemas.microsoft.com/office/drawing/2014/main" id="{54436907-0C3B-DF67-70D2-138661376981}"/>
                  </a:ext>
                </a:extLst>
              </p:cNvPr>
              <p:cNvSpPr>
                <a:spLocks noChangeArrowheads="1"/>
              </p:cNvSpPr>
              <p:nvPr/>
            </p:nvSpPr>
            <p:spPr bwMode="auto">
              <a:xfrm>
                <a:off x="1811" y="2055"/>
                <a:ext cx="523" cy="178"/>
              </a:xfrm>
              <a:prstGeom prst="rect">
                <a:avLst/>
              </a:prstGeom>
              <a:solidFill>
                <a:schemeClr val="bg1"/>
              </a:solidFill>
              <a:ln w="38100">
                <a:solidFill>
                  <a:schemeClr val="tx1"/>
                </a:solidFill>
                <a:miter lim="800000"/>
                <a:headEnd/>
                <a:tailEnd/>
              </a:ln>
            </p:spPr>
            <p:txBody>
              <a:bodyPr wrap="none" anchor="ctr"/>
              <a:lstStyle/>
              <a:p>
                <a:endParaRPr lang="fr-FR"/>
              </a:p>
            </p:txBody>
          </p:sp>
        </p:grpSp>
        <p:sp>
          <p:nvSpPr>
            <p:cNvPr id="42" name="Oval 17">
              <a:extLst>
                <a:ext uri="{FF2B5EF4-FFF2-40B4-BE49-F238E27FC236}">
                  <a16:creationId xmlns:a16="http://schemas.microsoft.com/office/drawing/2014/main" id="{F724D228-1ED3-7B03-2B71-07E4CCDF0B66}"/>
                </a:ext>
              </a:extLst>
            </p:cNvPr>
            <p:cNvSpPr>
              <a:spLocks noChangeArrowheads="1"/>
            </p:cNvSpPr>
            <p:nvPr/>
          </p:nvSpPr>
          <p:spPr bwMode="auto">
            <a:xfrm flipH="1">
              <a:off x="2711" y="3512"/>
              <a:ext cx="31" cy="22"/>
            </a:xfrm>
            <a:prstGeom prst="ellipse">
              <a:avLst/>
            </a:prstGeom>
            <a:solidFill>
              <a:schemeClr val="tx1"/>
            </a:solidFill>
            <a:ln w="38100">
              <a:solidFill>
                <a:schemeClr val="tx1"/>
              </a:solidFill>
              <a:round/>
              <a:headEnd/>
              <a:tailEnd/>
            </a:ln>
          </p:spPr>
          <p:txBody>
            <a:bodyPr wrap="none" anchor="ctr"/>
            <a:lstStyle/>
            <a:p>
              <a:endParaRPr lang="fr-FR"/>
            </a:p>
          </p:txBody>
        </p:sp>
        <p:sp>
          <p:nvSpPr>
            <p:cNvPr id="43" name="Line 18">
              <a:extLst>
                <a:ext uri="{FF2B5EF4-FFF2-40B4-BE49-F238E27FC236}">
                  <a16:creationId xmlns:a16="http://schemas.microsoft.com/office/drawing/2014/main" id="{C51E6DAD-D7F9-B409-AE5E-89FEEEE7A1EA}"/>
                </a:ext>
              </a:extLst>
            </p:cNvPr>
            <p:cNvSpPr>
              <a:spLocks noChangeShapeType="1"/>
            </p:cNvSpPr>
            <p:nvPr/>
          </p:nvSpPr>
          <p:spPr bwMode="auto">
            <a:xfrm rot="3196199" flipH="1">
              <a:off x="2173" y="3248"/>
              <a:ext cx="699" cy="0"/>
            </a:xfrm>
            <a:prstGeom prst="line">
              <a:avLst/>
            </a:prstGeom>
            <a:noFill/>
            <a:ln w="38100">
              <a:solidFill>
                <a:schemeClr val="tx1"/>
              </a:solidFill>
              <a:round/>
              <a:headEnd/>
              <a:tailEnd/>
            </a:ln>
          </p:spPr>
          <p:txBody>
            <a:bodyPr wrap="none" anchor="ctr"/>
            <a:lstStyle/>
            <a:p>
              <a:endParaRPr lang="fr-FR"/>
            </a:p>
          </p:txBody>
        </p:sp>
        <p:sp>
          <p:nvSpPr>
            <p:cNvPr id="44" name="Line 19">
              <a:extLst>
                <a:ext uri="{FF2B5EF4-FFF2-40B4-BE49-F238E27FC236}">
                  <a16:creationId xmlns:a16="http://schemas.microsoft.com/office/drawing/2014/main" id="{BCD4024E-C38E-5EF9-8507-9BF035ADE502}"/>
                </a:ext>
              </a:extLst>
            </p:cNvPr>
            <p:cNvSpPr>
              <a:spLocks noChangeShapeType="1"/>
            </p:cNvSpPr>
            <p:nvPr/>
          </p:nvSpPr>
          <p:spPr bwMode="auto">
            <a:xfrm rot="-3196199" flipH="1" flipV="1">
              <a:off x="2167" y="3815"/>
              <a:ext cx="699" cy="0"/>
            </a:xfrm>
            <a:prstGeom prst="line">
              <a:avLst/>
            </a:prstGeom>
            <a:noFill/>
            <a:ln w="38100">
              <a:solidFill>
                <a:schemeClr val="tx1"/>
              </a:solidFill>
              <a:round/>
              <a:headEnd/>
              <a:tailEnd/>
            </a:ln>
          </p:spPr>
          <p:txBody>
            <a:bodyPr wrap="none" anchor="ctr"/>
            <a:lstStyle/>
            <a:p>
              <a:endParaRPr lang="fr-FR"/>
            </a:p>
          </p:txBody>
        </p:sp>
        <p:sp>
          <p:nvSpPr>
            <p:cNvPr id="45" name="AutoShape 20">
              <a:extLst>
                <a:ext uri="{FF2B5EF4-FFF2-40B4-BE49-F238E27FC236}">
                  <a16:creationId xmlns:a16="http://schemas.microsoft.com/office/drawing/2014/main" id="{EDDC43C8-3AB2-525A-2FEC-614F4CC4E30C}"/>
                </a:ext>
              </a:extLst>
            </p:cNvPr>
            <p:cNvSpPr>
              <a:spLocks/>
            </p:cNvSpPr>
            <p:nvPr/>
          </p:nvSpPr>
          <p:spPr bwMode="auto">
            <a:xfrm rot="5400000" flipV="1">
              <a:off x="3271" y="3311"/>
              <a:ext cx="120" cy="946"/>
            </a:xfrm>
            <a:prstGeom prst="rightBrace">
              <a:avLst>
                <a:gd name="adj1" fmla="val 65694"/>
                <a:gd name="adj2" fmla="val 50000"/>
              </a:avLst>
            </a:prstGeom>
            <a:noFill/>
            <a:ln w="38100">
              <a:solidFill>
                <a:srgbClr val="FF0000"/>
              </a:solidFill>
              <a:round/>
              <a:headEnd/>
              <a:tailEnd/>
            </a:ln>
          </p:spPr>
          <p:txBody>
            <a:bodyPr wrap="none" anchor="ctr"/>
            <a:lstStyle/>
            <a:p>
              <a:endParaRPr lang="fr-FR"/>
            </a:p>
          </p:txBody>
        </p:sp>
      </p:grpSp>
    </p:spTree>
    <p:extLst>
      <p:ext uri="{BB962C8B-B14F-4D97-AF65-F5344CB8AC3E}">
        <p14:creationId xmlns:p14="http://schemas.microsoft.com/office/powerpoint/2010/main" val="4276957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33</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2.8 </a:t>
            </a:r>
            <a:r>
              <a:rPr lang="fr-FR" altLang="fr-FR" sz="1400" b="1" spc="-5" dirty="0">
                <a:solidFill>
                  <a:srgbClr val="CC00CC"/>
                </a:solidFill>
                <a:latin typeface="Bookman Old Style" panose="02050604050505020204" pitchFamily="18" charset="0"/>
                <a:cs typeface="Arial"/>
              </a:rPr>
              <a:t>Lois de Kirchhoff</a:t>
            </a:r>
          </a:p>
          <a:p>
            <a:pPr marL="12065" lvl="1">
              <a:lnSpc>
                <a:spcPct val="100000"/>
              </a:lnSpc>
              <a:spcBef>
                <a:spcPts val="100"/>
              </a:spcBef>
              <a:tabLst>
                <a:tab pos="393700" algn="l"/>
              </a:tabLst>
            </a:pPr>
            <a:r>
              <a:rPr lang="fr-FR" altLang="fr-FR" sz="1400" b="1" spc="-5" dirty="0">
                <a:solidFill>
                  <a:srgbClr val="CC00CC"/>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A</a:t>
            </a:r>
            <a:r>
              <a:rPr lang="fr-FR" sz="1200" b="1" spc="-5" dirty="0">
                <a:solidFill>
                  <a:schemeClr val="accent6">
                    <a:lumMod val="50000"/>
                  </a:schemeClr>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Définitions</a:t>
            </a:r>
            <a:endParaRPr lang="fr-FR" altLang="fr-FR" sz="1200" b="1" spc="-5" dirty="0">
              <a:solidFill>
                <a:srgbClr val="CC00CC"/>
              </a:solidFill>
              <a:latin typeface="Bookman Old Style" panose="02050604050505020204" pitchFamily="18" charset="0"/>
              <a:cs typeface="Arial"/>
            </a:endParaRPr>
          </a:p>
        </p:txBody>
      </p:sp>
      <p:sp>
        <p:nvSpPr>
          <p:cNvPr id="13" name="ZoneTexte 15">
            <a:extLst>
              <a:ext uri="{FF2B5EF4-FFF2-40B4-BE49-F238E27FC236}">
                <a16:creationId xmlns:a16="http://schemas.microsoft.com/office/drawing/2014/main" id="{CDE910EB-2CE3-F18D-CB35-F62668795D8A}"/>
              </a:ext>
            </a:extLst>
          </p:cNvPr>
          <p:cNvSpPr txBox="1">
            <a:spLocks noChangeArrowheads="1"/>
          </p:cNvSpPr>
          <p:nvPr/>
        </p:nvSpPr>
        <p:spPr bwMode="auto">
          <a:xfrm>
            <a:off x="697881" y="1427431"/>
            <a:ext cx="2595864"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b="1">
                <a:solidFill>
                  <a:srgbClr val="0000FF"/>
                </a:solidFill>
                <a:latin typeface="Bookman Old Style" panose="02050604050505020204" pitchFamily="18" charset="0"/>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dirty="0"/>
              <a:t>Maille</a:t>
            </a:r>
            <a:endParaRPr lang="fr-FR" altLang="fr-FR" dirty="0"/>
          </a:p>
        </p:txBody>
      </p:sp>
      <p:sp>
        <p:nvSpPr>
          <p:cNvPr id="5" name="TextBox 4">
            <a:extLst>
              <a:ext uri="{FF2B5EF4-FFF2-40B4-BE49-F238E27FC236}">
                <a16:creationId xmlns:a16="http://schemas.microsoft.com/office/drawing/2014/main" id="{C319E4B3-C672-2386-AADF-C9F4EFCEFB3E}"/>
              </a:ext>
            </a:extLst>
          </p:cNvPr>
          <p:cNvSpPr txBox="1"/>
          <p:nvPr/>
        </p:nvSpPr>
        <p:spPr>
          <a:xfrm>
            <a:off x="697881" y="1718262"/>
            <a:ext cx="8598519" cy="307777"/>
          </a:xfrm>
          <a:prstGeom prst="rect">
            <a:avLst/>
          </a:prstGeom>
          <a:noFill/>
        </p:spPr>
        <p:txBody>
          <a:bodyPr wrap="square">
            <a:spAutoFit/>
          </a:bodyPr>
          <a:lstStyle/>
          <a:p>
            <a:pPr algn="just"/>
            <a:r>
              <a:rPr lang="fr-FR" sz="1400" dirty="0">
                <a:latin typeface="Bookman Old Style" panose="02050604050505020204" pitchFamily="18" charset="0"/>
              </a:rPr>
              <a:t>une </a:t>
            </a:r>
            <a:r>
              <a:rPr lang="fr-FR" sz="1400" b="1" dirty="0">
                <a:latin typeface="Bookman Old Style" panose="02050604050505020204" pitchFamily="18" charset="0"/>
              </a:rPr>
              <a:t>maille</a:t>
            </a:r>
            <a:r>
              <a:rPr lang="fr-FR" sz="1400" dirty="0">
                <a:latin typeface="Bookman Old Style" panose="02050604050505020204" pitchFamily="18" charset="0"/>
              </a:rPr>
              <a:t>  est constituée par un </a:t>
            </a:r>
            <a:r>
              <a:rPr lang="fr-FR" sz="1400" b="1" dirty="0">
                <a:latin typeface="Bookman Old Style" panose="02050604050505020204" pitchFamily="18" charset="0"/>
              </a:rPr>
              <a:t>ensemble de branches</a:t>
            </a:r>
            <a:r>
              <a:rPr lang="fr-FR" sz="1400" dirty="0">
                <a:latin typeface="Bookman Old Style" panose="02050604050505020204" pitchFamily="18" charset="0"/>
              </a:rPr>
              <a:t>, formant un </a:t>
            </a:r>
            <a:r>
              <a:rPr lang="fr-FR" sz="1400" b="1" dirty="0">
                <a:latin typeface="Bookman Old Style" panose="02050604050505020204" pitchFamily="18" charset="0"/>
              </a:rPr>
              <a:t>circuit fermé </a:t>
            </a:r>
          </a:p>
        </p:txBody>
      </p:sp>
      <p:sp>
        <p:nvSpPr>
          <p:cNvPr id="11" name="ZoneTexte 15">
            <a:extLst>
              <a:ext uri="{FF2B5EF4-FFF2-40B4-BE49-F238E27FC236}">
                <a16:creationId xmlns:a16="http://schemas.microsoft.com/office/drawing/2014/main" id="{B355A2D8-AECE-0AD7-686A-4C9EB938F3A4}"/>
              </a:ext>
            </a:extLst>
          </p:cNvPr>
          <p:cNvSpPr txBox="1">
            <a:spLocks noChangeArrowheads="1"/>
          </p:cNvSpPr>
          <p:nvPr/>
        </p:nvSpPr>
        <p:spPr bwMode="auto">
          <a:xfrm>
            <a:off x="697881" y="3009834"/>
            <a:ext cx="2595864"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b="1">
                <a:solidFill>
                  <a:srgbClr val="0000FF"/>
                </a:solidFill>
                <a:latin typeface="Bookman Old Style" panose="02050604050505020204" pitchFamily="18" charset="0"/>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u="sng" dirty="0">
                <a:solidFill>
                  <a:srgbClr val="00B050"/>
                </a:solidFill>
              </a:rPr>
              <a:t>Exemples</a:t>
            </a:r>
            <a:endParaRPr lang="fr-FR" altLang="fr-FR" u="sng" dirty="0">
              <a:solidFill>
                <a:srgbClr val="00B050"/>
              </a:solidFill>
            </a:endParaRPr>
          </a:p>
        </p:txBody>
      </p:sp>
      <p:pic>
        <p:nvPicPr>
          <p:cNvPr id="21" name="object 10">
            <a:extLst>
              <a:ext uri="{FF2B5EF4-FFF2-40B4-BE49-F238E27FC236}">
                <a16:creationId xmlns:a16="http://schemas.microsoft.com/office/drawing/2014/main" id="{83DDB91B-C014-84EF-D8C5-B63622A1919E}"/>
              </a:ext>
            </a:extLst>
          </p:cNvPr>
          <p:cNvPicPr/>
          <p:nvPr/>
        </p:nvPicPr>
        <p:blipFill>
          <a:blip r:embed="rId3" cstate="print"/>
          <a:stretch>
            <a:fillRect/>
          </a:stretch>
        </p:blipFill>
        <p:spPr>
          <a:xfrm>
            <a:off x="3647818" y="3103772"/>
            <a:ext cx="4988212" cy="1932481"/>
          </a:xfrm>
          <a:prstGeom prst="rect">
            <a:avLst/>
          </a:prstGeom>
        </p:spPr>
      </p:pic>
      <p:sp>
        <p:nvSpPr>
          <p:cNvPr id="34" name="TextBox 33">
            <a:extLst>
              <a:ext uri="{FF2B5EF4-FFF2-40B4-BE49-F238E27FC236}">
                <a16:creationId xmlns:a16="http://schemas.microsoft.com/office/drawing/2014/main" id="{EDC4E102-FE47-25FB-9ADC-08E02E3E49FA}"/>
              </a:ext>
            </a:extLst>
          </p:cNvPr>
          <p:cNvSpPr txBox="1"/>
          <p:nvPr/>
        </p:nvSpPr>
        <p:spPr>
          <a:xfrm>
            <a:off x="550646" y="3377516"/>
            <a:ext cx="3973996" cy="1384995"/>
          </a:xfrm>
          <a:prstGeom prst="rect">
            <a:avLst/>
          </a:prstGeom>
          <a:noFill/>
        </p:spPr>
        <p:txBody>
          <a:bodyPr wrap="square">
            <a:spAutoFit/>
          </a:bodyPr>
          <a:lstStyle/>
          <a:p>
            <a:pPr marL="285750" indent="-285750">
              <a:buFont typeface="Wingdings" panose="05000000000000000000" pitchFamily="2" charset="2"/>
              <a:buChar char="ü"/>
            </a:pPr>
            <a:r>
              <a:rPr lang="fr-FR" sz="1400" dirty="0">
                <a:latin typeface="Bookman Old Style" panose="02050604050505020204" pitchFamily="18" charset="0"/>
              </a:rPr>
              <a:t>Le point </a:t>
            </a:r>
            <a:r>
              <a:rPr lang="fr-FR" sz="1400" b="1" dirty="0">
                <a:solidFill>
                  <a:srgbClr val="FF0000"/>
                </a:solidFill>
                <a:latin typeface="Bookman Old Style" panose="02050604050505020204" pitchFamily="18" charset="0"/>
              </a:rPr>
              <a:t>B</a:t>
            </a:r>
            <a:r>
              <a:rPr lang="fr-FR" sz="1400" dirty="0">
                <a:latin typeface="Bookman Old Style" panose="02050604050505020204" pitchFamily="18" charset="0"/>
              </a:rPr>
              <a:t> est un </a:t>
            </a:r>
            <a:r>
              <a:rPr lang="fr-FR" sz="1400" b="1" dirty="0">
                <a:latin typeface="Bookman Old Style" panose="02050604050505020204" pitchFamily="18" charset="0"/>
              </a:rPr>
              <a:t>nœud</a:t>
            </a:r>
          </a:p>
          <a:p>
            <a:r>
              <a:rPr lang="fr-FR" sz="1400" dirty="0">
                <a:latin typeface="Bookman Old Style" panose="02050604050505020204" pitchFamily="18" charset="0"/>
              </a:rPr>
              <a:t> </a:t>
            </a:r>
          </a:p>
          <a:p>
            <a:pPr marL="285750" indent="-285750">
              <a:buFont typeface="Wingdings" panose="05000000000000000000" pitchFamily="2" charset="2"/>
              <a:buChar char="ü"/>
            </a:pPr>
            <a:r>
              <a:rPr lang="fr-FR" sz="1400" dirty="0">
                <a:latin typeface="Bookman Old Style" panose="02050604050505020204" pitchFamily="18" charset="0"/>
              </a:rPr>
              <a:t>La portion </a:t>
            </a:r>
            <a:r>
              <a:rPr lang="fr-FR" sz="1400" b="1" dirty="0">
                <a:solidFill>
                  <a:srgbClr val="FF0000"/>
                </a:solidFill>
                <a:latin typeface="Bookman Old Style" panose="02050604050505020204" pitchFamily="18" charset="0"/>
              </a:rPr>
              <a:t>AB</a:t>
            </a:r>
            <a:r>
              <a:rPr lang="fr-FR" sz="1400" dirty="0">
                <a:latin typeface="Bookman Old Style" panose="02050604050505020204" pitchFamily="18" charset="0"/>
              </a:rPr>
              <a:t> une </a:t>
            </a:r>
            <a:r>
              <a:rPr lang="fr-FR" sz="1400" b="1" dirty="0">
                <a:latin typeface="Bookman Old Style" panose="02050604050505020204" pitchFamily="18" charset="0"/>
              </a:rPr>
              <a:t>branche</a:t>
            </a:r>
          </a:p>
          <a:p>
            <a:pPr algn="just"/>
            <a:endParaRPr lang="fr-FR" sz="1400" b="1" dirty="0">
              <a:latin typeface="Bookman Old Style" panose="02050604050505020204" pitchFamily="18" charset="0"/>
            </a:endParaRPr>
          </a:p>
          <a:p>
            <a:pPr marL="285750" indent="-285750">
              <a:buFont typeface="Wingdings" panose="05000000000000000000" pitchFamily="2" charset="2"/>
              <a:buChar char="ü"/>
            </a:pPr>
            <a:r>
              <a:rPr lang="fr-FR" sz="1400" dirty="0">
                <a:latin typeface="Bookman Old Style" panose="02050604050505020204" pitchFamily="18" charset="0"/>
              </a:rPr>
              <a:t>Le circuit fermé </a:t>
            </a:r>
            <a:r>
              <a:rPr lang="fr-FR" sz="1400" b="1" dirty="0">
                <a:solidFill>
                  <a:srgbClr val="FF0000"/>
                </a:solidFill>
                <a:latin typeface="Bookman Old Style" panose="02050604050505020204" pitchFamily="18" charset="0"/>
              </a:rPr>
              <a:t>ABGH</a:t>
            </a:r>
            <a:r>
              <a:rPr lang="fr-FR" sz="1400" dirty="0">
                <a:latin typeface="Bookman Old Style" panose="02050604050505020204" pitchFamily="18" charset="0"/>
              </a:rPr>
              <a:t> est</a:t>
            </a:r>
          </a:p>
          <a:p>
            <a:r>
              <a:rPr lang="fr-FR" sz="1400" dirty="0">
                <a:latin typeface="Bookman Old Style" panose="02050604050505020204" pitchFamily="18" charset="0"/>
              </a:rPr>
              <a:t>     une </a:t>
            </a:r>
            <a:r>
              <a:rPr lang="fr-FR" sz="1400" b="1" dirty="0">
                <a:latin typeface="Bookman Old Style" panose="02050604050505020204" pitchFamily="18" charset="0"/>
              </a:rPr>
              <a:t>maille</a:t>
            </a:r>
          </a:p>
        </p:txBody>
      </p:sp>
      <p:sp>
        <p:nvSpPr>
          <p:cNvPr id="52" name="TextBox 51">
            <a:extLst>
              <a:ext uri="{FF2B5EF4-FFF2-40B4-BE49-F238E27FC236}">
                <a16:creationId xmlns:a16="http://schemas.microsoft.com/office/drawing/2014/main" id="{1E55EA02-46BA-07CD-DB05-D6D767430509}"/>
              </a:ext>
            </a:extLst>
          </p:cNvPr>
          <p:cNvSpPr txBox="1"/>
          <p:nvPr/>
        </p:nvSpPr>
        <p:spPr>
          <a:xfrm>
            <a:off x="697881" y="1998599"/>
            <a:ext cx="8335931" cy="769441"/>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b="1">
                <a:solidFill>
                  <a:srgbClr val="0000FF"/>
                </a:solidFill>
                <a:latin typeface="Bookman Old Style" panose="02050604050505020204" pitchFamily="18" charset="0"/>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dirty="0"/>
              <a:t>Réseau</a:t>
            </a:r>
          </a:p>
          <a:p>
            <a:pPr marL="0" indent="0">
              <a:buNone/>
            </a:pPr>
            <a:r>
              <a:rPr lang="fr-FR" sz="1400" b="0" dirty="0">
                <a:solidFill>
                  <a:schemeClr val="tx1"/>
                </a:solidFill>
              </a:rPr>
              <a:t>Un </a:t>
            </a:r>
            <a:r>
              <a:rPr lang="fr-FR" sz="1400" dirty="0">
                <a:solidFill>
                  <a:schemeClr val="tx1"/>
                </a:solidFill>
              </a:rPr>
              <a:t>réseau</a:t>
            </a:r>
            <a:r>
              <a:rPr lang="fr-FR" sz="1400" b="0" dirty="0">
                <a:solidFill>
                  <a:schemeClr val="tx1"/>
                </a:solidFill>
              </a:rPr>
              <a:t>, ou </a:t>
            </a:r>
            <a:r>
              <a:rPr lang="fr-FR" sz="1400" dirty="0">
                <a:solidFill>
                  <a:schemeClr val="tx1"/>
                </a:solidFill>
              </a:rPr>
              <a:t>circuit</a:t>
            </a:r>
            <a:r>
              <a:rPr lang="fr-FR" sz="1400" b="0" dirty="0">
                <a:solidFill>
                  <a:schemeClr val="tx1"/>
                </a:solidFill>
              </a:rPr>
              <a:t>, est un ensemble de composants reliés par des fils de connexion qui peut être analysé en termes de </a:t>
            </a:r>
            <a:r>
              <a:rPr lang="fr-FR" sz="1400" dirty="0">
                <a:solidFill>
                  <a:schemeClr val="tx1"/>
                </a:solidFill>
              </a:rPr>
              <a:t>nœuds</a:t>
            </a:r>
            <a:r>
              <a:rPr lang="fr-FR" sz="1400" b="0" dirty="0">
                <a:solidFill>
                  <a:schemeClr val="tx1"/>
                </a:solidFill>
              </a:rPr>
              <a:t>, </a:t>
            </a:r>
            <a:r>
              <a:rPr lang="fr-FR" sz="1400" dirty="0">
                <a:solidFill>
                  <a:schemeClr val="tx1"/>
                </a:solidFill>
              </a:rPr>
              <a:t>branches</a:t>
            </a:r>
            <a:r>
              <a:rPr lang="fr-FR" sz="1400" b="0" dirty="0">
                <a:solidFill>
                  <a:schemeClr val="tx1"/>
                </a:solidFill>
              </a:rPr>
              <a:t> et </a:t>
            </a:r>
            <a:r>
              <a:rPr lang="fr-FR" sz="1400" dirty="0">
                <a:solidFill>
                  <a:schemeClr val="tx1"/>
                </a:solidFill>
              </a:rPr>
              <a:t>mailles</a:t>
            </a:r>
            <a:r>
              <a:rPr lang="fr-FR" sz="1400" b="0" dirty="0">
                <a:solidFill>
                  <a:schemeClr val="tx1"/>
                </a:solidFill>
              </a:rPr>
              <a:t>.</a:t>
            </a:r>
          </a:p>
        </p:txBody>
      </p:sp>
    </p:spTree>
    <p:extLst>
      <p:ext uri="{BB962C8B-B14F-4D97-AF65-F5344CB8AC3E}">
        <p14:creationId xmlns:p14="http://schemas.microsoft.com/office/powerpoint/2010/main" val="1202885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4">
                                            <p:txEl>
                                              <p:pRg st="0" end="0"/>
                                            </p:txEl>
                                          </p:spTgt>
                                        </p:tgtEl>
                                        <p:attrNameLst>
                                          <p:attrName>style.visibility</p:attrName>
                                        </p:attrNameLst>
                                      </p:cBhvr>
                                      <p:to>
                                        <p:strVal val="visible"/>
                                      </p:to>
                                    </p:set>
                                    <p:animEffect transition="in" filter="fade">
                                      <p:cBhvr>
                                        <p:cTn id="7" dur="1000"/>
                                        <p:tgtEl>
                                          <p:spTgt spid="34">
                                            <p:txEl>
                                              <p:pRg st="0" end="0"/>
                                            </p:txEl>
                                          </p:spTgt>
                                        </p:tgtEl>
                                      </p:cBhvr>
                                    </p:animEffect>
                                    <p:anim calcmode="lin" valueType="num">
                                      <p:cBhvr>
                                        <p:cTn id="8" dur="1000" fill="hold"/>
                                        <p:tgtEl>
                                          <p:spTgt spid="3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4">
                                            <p:txEl>
                                              <p:pRg st="2" end="2"/>
                                            </p:txEl>
                                          </p:spTgt>
                                        </p:tgtEl>
                                        <p:attrNameLst>
                                          <p:attrName>style.visibility</p:attrName>
                                        </p:attrNameLst>
                                      </p:cBhvr>
                                      <p:to>
                                        <p:strVal val="visible"/>
                                      </p:to>
                                    </p:set>
                                    <p:animEffect transition="in" filter="fade">
                                      <p:cBhvr>
                                        <p:cTn id="14" dur="1000"/>
                                        <p:tgtEl>
                                          <p:spTgt spid="34">
                                            <p:txEl>
                                              <p:pRg st="2" end="2"/>
                                            </p:txEl>
                                          </p:spTgt>
                                        </p:tgtEl>
                                      </p:cBhvr>
                                    </p:animEffect>
                                    <p:anim calcmode="lin" valueType="num">
                                      <p:cBhvr>
                                        <p:cTn id="15" dur="1000" fill="hold"/>
                                        <p:tgtEl>
                                          <p:spTgt spid="34">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4">
                                            <p:txEl>
                                              <p:pRg st="4" end="4"/>
                                            </p:txEl>
                                          </p:spTgt>
                                        </p:tgtEl>
                                        <p:attrNameLst>
                                          <p:attrName>style.visibility</p:attrName>
                                        </p:attrNameLst>
                                      </p:cBhvr>
                                      <p:to>
                                        <p:strVal val="visible"/>
                                      </p:to>
                                    </p:set>
                                    <p:animEffect transition="in" filter="fade">
                                      <p:cBhvr>
                                        <p:cTn id="21" dur="1000"/>
                                        <p:tgtEl>
                                          <p:spTgt spid="34">
                                            <p:txEl>
                                              <p:pRg st="4" end="4"/>
                                            </p:txEl>
                                          </p:spTgt>
                                        </p:tgtEl>
                                      </p:cBhvr>
                                    </p:animEffect>
                                    <p:anim calcmode="lin" valueType="num">
                                      <p:cBhvr>
                                        <p:cTn id="22" dur="1000" fill="hold"/>
                                        <p:tgtEl>
                                          <p:spTgt spid="34">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4">
                                            <p:txEl>
                                              <p:pRg st="4" end="4"/>
                                            </p:txEl>
                                          </p:spTgt>
                                        </p:tgtEl>
                                        <p:attrNameLst>
                                          <p:attrName>ppt_y</p:attrName>
                                        </p:attrNameLst>
                                      </p:cBhvr>
                                      <p:tavLst>
                                        <p:tav tm="0">
                                          <p:val>
                                            <p:strVal val="#ppt_y+.1"/>
                                          </p:val>
                                        </p:tav>
                                        <p:tav tm="100000">
                                          <p:val>
                                            <p:strVal val="#ppt_y"/>
                                          </p:val>
                                        </p:tav>
                                      </p:tavLst>
                                    </p:anim>
                                  </p:childTnLst>
                                </p:cTn>
                              </p:par>
                              <p:par>
                                <p:cTn id="24" presetID="42" presetClass="entr" presetSubtype="0" fill="hold" nodeType="withEffect">
                                  <p:stCondLst>
                                    <p:cond delay="0"/>
                                  </p:stCondLst>
                                  <p:childTnLst>
                                    <p:set>
                                      <p:cBhvr>
                                        <p:cTn id="25" dur="1" fill="hold">
                                          <p:stCondLst>
                                            <p:cond delay="0"/>
                                          </p:stCondLst>
                                        </p:cTn>
                                        <p:tgtEl>
                                          <p:spTgt spid="34">
                                            <p:txEl>
                                              <p:pRg st="5" end="5"/>
                                            </p:txEl>
                                          </p:spTgt>
                                        </p:tgtEl>
                                        <p:attrNameLst>
                                          <p:attrName>style.visibility</p:attrName>
                                        </p:attrNameLst>
                                      </p:cBhvr>
                                      <p:to>
                                        <p:strVal val="visible"/>
                                      </p:to>
                                    </p:set>
                                    <p:animEffect transition="in" filter="fade">
                                      <p:cBhvr>
                                        <p:cTn id="26" dur="1000"/>
                                        <p:tgtEl>
                                          <p:spTgt spid="34">
                                            <p:txEl>
                                              <p:pRg st="5" end="5"/>
                                            </p:txEl>
                                          </p:spTgt>
                                        </p:tgtEl>
                                      </p:cBhvr>
                                    </p:animEffect>
                                    <p:anim calcmode="lin" valueType="num">
                                      <p:cBhvr>
                                        <p:cTn id="27" dur="1000" fill="hold"/>
                                        <p:tgtEl>
                                          <p:spTgt spid="34">
                                            <p:txEl>
                                              <p:pRg st="5" end="5"/>
                                            </p:txEl>
                                          </p:spTgt>
                                        </p:tgtEl>
                                        <p:attrNameLst>
                                          <p:attrName>ppt_x</p:attrName>
                                        </p:attrNameLst>
                                      </p:cBhvr>
                                      <p:tavLst>
                                        <p:tav tm="0">
                                          <p:val>
                                            <p:strVal val="#ppt_x"/>
                                          </p:val>
                                        </p:tav>
                                        <p:tav tm="100000">
                                          <p:val>
                                            <p:strVal val="#ppt_x"/>
                                          </p:val>
                                        </p:tav>
                                      </p:tavLst>
                                    </p:anim>
                                    <p:anim calcmode="lin" valueType="num">
                                      <p:cBhvr>
                                        <p:cTn id="28" dur="1000" fill="hold"/>
                                        <p:tgtEl>
                                          <p:spTgt spid="34">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34</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2.8 </a:t>
            </a:r>
            <a:r>
              <a:rPr lang="fr-FR" altLang="fr-FR" sz="1400" b="1" spc="-5" dirty="0">
                <a:solidFill>
                  <a:srgbClr val="CC00CC"/>
                </a:solidFill>
                <a:latin typeface="Bookman Old Style" panose="02050604050505020204" pitchFamily="18" charset="0"/>
                <a:cs typeface="Arial"/>
              </a:rPr>
              <a:t>Lois de Kirchhoff</a:t>
            </a:r>
          </a:p>
          <a:p>
            <a:pPr marL="12065" lvl="1">
              <a:lnSpc>
                <a:spcPct val="100000"/>
              </a:lnSpc>
              <a:spcBef>
                <a:spcPts val="100"/>
              </a:spcBef>
              <a:tabLst>
                <a:tab pos="393700" algn="l"/>
              </a:tabLst>
            </a:pPr>
            <a:r>
              <a:rPr lang="fr-FR" altLang="fr-FR" sz="1400" b="1" spc="-5" dirty="0">
                <a:solidFill>
                  <a:srgbClr val="CC00CC"/>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B</a:t>
            </a:r>
            <a:r>
              <a:rPr lang="fr-FR" sz="1200" b="1" spc="-5" dirty="0">
                <a:solidFill>
                  <a:schemeClr val="accent6">
                    <a:lumMod val="50000"/>
                  </a:schemeClr>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Loi des nœuds</a:t>
            </a:r>
            <a:endParaRPr lang="fr-FR" altLang="fr-FR" sz="1200" b="1" spc="-5" dirty="0">
              <a:solidFill>
                <a:srgbClr val="CC00CC"/>
              </a:solidFill>
              <a:latin typeface="Bookman Old Style" panose="02050604050505020204" pitchFamily="18" charset="0"/>
              <a:cs typeface="Arial"/>
            </a:endParaRPr>
          </a:p>
        </p:txBody>
      </p:sp>
      <p:sp>
        <p:nvSpPr>
          <p:cNvPr id="5" name="TextBox 4">
            <a:extLst>
              <a:ext uri="{FF2B5EF4-FFF2-40B4-BE49-F238E27FC236}">
                <a16:creationId xmlns:a16="http://schemas.microsoft.com/office/drawing/2014/main" id="{C319E4B3-C672-2386-AADF-C9F4EFCEFB3E}"/>
              </a:ext>
            </a:extLst>
          </p:cNvPr>
          <p:cNvSpPr txBox="1"/>
          <p:nvPr/>
        </p:nvSpPr>
        <p:spPr>
          <a:xfrm>
            <a:off x="578355" y="1733550"/>
            <a:ext cx="8598519" cy="1195199"/>
          </a:xfrm>
          <a:prstGeom prst="rect">
            <a:avLst/>
          </a:prstGeom>
          <a:noFill/>
        </p:spPr>
        <p:txBody>
          <a:bodyPr wrap="square">
            <a:spAutoFit/>
          </a:bodyPr>
          <a:lstStyle/>
          <a:p>
            <a:pPr marL="298450" marR="5080" indent="-285750">
              <a:lnSpc>
                <a:spcPct val="100000"/>
              </a:lnSpc>
              <a:spcBef>
                <a:spcPts val="100"/>
              </a:spcBef>
              <a:buFont typeface="Wingdings" panose="05000000000000000000" pitchFamily="2" charset="2"/>
              <a:buChar char="q"/>
            </a:pPr>
            <a:r>
              <a:rPr lang="fr-FR" sz="1400" b="1" dirty="0">
                <a:latin typeface="Bookman Old Style" panose="02050604050505020204" pitchFamily="18" charset="0"/>
                <a:cs typeface="Times New Roman"/>
              </a:rPr>
              <a:t>Loi des</a:t>
            </a:r>
            <a:r>
              <a:rPr lang="fr-FR" sz="1400" b="1" spc="-30" dirty="0">
                <a:latin typeface="Bookman Old Style" panose="02050604050505020204" pitchFamily="18" charset="0"/>
                <a:cs typeface="Times New Roman"/>
              </a:rPr>
              <a:t> </a:t>
            </a:r>
            <a:r>
              <a:rPr lang="fr-FR" sz="1400" b="1" dirty="0">
                <a:latin typeface="Bookman Old Style" panose="02050604050505020204" pitchFamily="18" charset="0"/>
                <a:cs typeface="Times New Roman"/>
              </a:rPr>
              <a:t>nœuds</a:t>
            </a:r>
            <a:r>
              <a:rPr lang="fr-FR" sz="1400" b="1" spc="-4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(ou</a:t>
            </a:r>
            <a:r>
              <a:rPr lang="fr-FR" sz="1400" spc="-2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loi</a:t>
            </a:r>
            <a:r>
              <a:rPr lang="fr-FR" sz="1400" spc="-3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de</a:t>
            </a:r>
            <a:r>
              <a:rPr lang="fr-FR" sz="1400" spc="-2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Kirchhoff</a:t>
            </a:r>
            <a:r>
              <a:rPr lang="fr-FR" sz="1400" spc="-1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pour</a:t>
            </a:r>
            <a:r>
              <a:rPr lang="fr-FR" sz="1400" spc="-3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les</a:t>
            </a:r>
            <a:r>
              <a:rPr lang="fr-FR" sz="1400" spc="-2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courants)</a:t>
            </a:r>
            <a:r>
              <a:rPr lang="fr-FR" sz="1400" spc="-2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a:t>
            </a:r>
            <a:r>
              <a:rPr lang="fr-FR" sz="1400" spc="-2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La </a:t>
            </a:r>
            <a:r>
              <a:rPr lang="fr-FR" sz="1400" b="1" dirty="0">
                <a:latin typeface="Bookman Old Style" panose="02050604050505020204" pitchFamily="18" charset="0"/>
                <a:cs typeface="Times New Roman"/>
              </a:rPr>
              <a:t>somme</a:t>
            </a:r>
            <a:r>
              <a:rPr lang="fr-FR" sz="1400" b="1" spc="-35" dirty="0">
                <a:latin typeface="Bookman Old Style" panose="02050604050505020204" pitchFamily="18" charset="0"/>
                <a:cs typeface="Times New Roman"/>
              </a:rPr>
              <a:t> </a:t>
            </a:r>
            <a:r>
              <a:rPr lang="fr-FR" sz="1400" b="1" dirty="0">
                <a:latin typeface="Bookman Old Style" panose="02050604050505020204" pitchFamily="18" charset="0"/>
                <a:cs typeface="Times New Roman"/>
              </a:rPr>
              <a:t>algébrique</a:t>
            </a:r>
            <a:r>
              <a:rPr lang="fr-FR" sz="1400" spc="1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des</a:t>
            </a:r>
            <a:r>
              <a:rPr lang="fr-FR" sz="1400" spc="-2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courants</a:t>
            </a:r>
            <a:r>
              <a:rPr lang="fr-FR" sz="1400" spc="-2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(on</a:t>
            </a:r>
            <a:r>
              <a:rPr lang="fr-FR" sz="1400" spc="-2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tient</a:t>
            </a:r>
            <a:r>
              <a:rPr lang="fr-FR" sz="1400" spc="-2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compte</a:t>
            </a:r>
            <a:r>
              <a:rPr lang="fr-FR" sz="1400" spc="-1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de</a:t>
            </a:r>
            <a:r>
              <a:rPr lang="fr-FR" sz="1400" spc="-3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leur</a:t>
            </a:r>
            <a:r>
              <a:rPr lang="fr-FR" sz="1400" spc="-1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signe)</a:t>
            </a:r>
            <a:r>
              <a:rPr lang="fr-FR" sz="1400" spc="-2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qui</a:t>
            </a:r>
            <a:r>
              <a:rPr lang="fr-FR" sz="1400" spc="10" dirty="0">
                <a:latin typeface="Bookman Old Style" panose="02050604050505020204" pitchFamily="18" charset="0"/>
                <a:cs typeface="Times New Roman"/>
              </a:rPr>
              <a:t> </a:t>
            </a:r>
            <a:r>
              <a:rPr lang="fr-FR" sz="1400" spc="-10" dirty="0">
                <a:latin typeface="Bookman Old Style" panose="02050604050505020204" pitchFamily="18" charset="0"/>
                <a:cs typeface="Times New Roman"/>
              </a:rPr>
              <a:t>convergent </a:t>
            </a:r>
            <a:r>
              <a:rPr lang="fr-FR" sz="1400" dirty="0">
                <a:latin typeface="Bookman Old Style" panose="02050604050505020204" pitchFamily="18" charset="0"/>
                <a:cs typeface="Times New Roman"/>
              </a:rPr>
              <a:t>en</a:t>
            </a:r>
            <a:r>
              <a:rPr lang="fr-FR" sz="1400" spc="-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un</a:t>
            </a:r>
            <a:r>
              <a:rPr lang="fr-FR" sz="1400" spc="-1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même </a:t>
            </a:r>
            <a:r>
              <a:rPr lang="fr-FR" sz="1400" b="1" dirty="0">
                <a:latin typeface="Bookman Old Style" panose="02050604050505020204" pitchFamily="18" charset="0"/>
                <a:cs typeface="Times New Roman"/>
              </a:rPr>
              <a:t>nœud</a:t>
            </a:r>
            <a:r>
              <a:rPr lang="fr-FR" sz="1400" spc="-2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est</a:t>
            </a:r>
            <a:r>
              <a:rPr lang="fr-FR" sz="1400" spc="-5" dirty="0">
                <a:latin typeface="Bookman Old Style" panose="02050604050505020204" pitchFamily="18" charset="0"/>
                <a:cs typeface="Times New Roman"/>
              </a:rPr>
              <a:t> </a:t>
            </a:r>
            <a:r>
              <a:rPr lang="fr-FR" sz="1400" b="1" dirty="0">
                <a:latin typeface="Bookman Old Style" panose="02050604050505020204" pitchFamily="18" charset="0"/>
                <a:cs typeface="Times New Roman"/>
              </a:rPr>
              <a:t>nulle</a:t>
            </a:r>
            <a:r>
              <a:rPr lang="fr-FR" sz="1400" dirty="0">
                <a:latin typeface="Bookman Old Style" panose="02050604050505020204" pitchFamily="18" charset="0"/>
                <a:cs typeface="Times New Roman"/>
              </a:rPr>
              <a:t>.</a:t>
            </a:r>
          </a:p>
          <a:p>
            <a:pPr marL="12700" marR="5080">
              <a:lnSpc>
                <a:spcPct val="100000"/>
              </a:lnSpc>
              <a:spcBef>
                <a:spcPts val="100"/>
              </a:spcBef>
            </a:pPr>
            <a:endParaRPr lang="fr-FR" sz="1400" dirty="0">
              <a:latin typeface="Bookman Old Style" panose="02050604050505020204" pitchFamily="18" charset="0"/>
              <a:cs typeface="Times New Roman"/>
            </a:endParaRPr>
          </a:p>
          <a:p>
            <a:pPr marL="12700" marR="5080">
              <a:lnSpc>
                <a:spcPct val="100000"/>
              </a:lnSpc>
              <a:spcBef>
                <a:spcPts val="100"/>
              </a:spcBef>
            </a:pPr>
            <a:r>
              <a:rPr lang="fr-FR" sz="1400" dirty="0">
                <a:latin typeface="Bookman Old Style" panose="02050604050505020204" pitchFamily="18" charset="0"/>
                <a:cs typeface="Times New Roman"/>
              </a:rPr>
              <a:t>            En d'autres termes, somme des courants qui arrivent à un nœud est égale à la somme des courants qui en repartent.</a:t>
            </a:r>
          </a:p>
        </p:txBody>
      </p:sp>
      <p:sp>
        <p:nvSpPr>
          <p:cNvPr id="16" name="Arrow: Right 15">
            <a:extLst>
              <a:ext uri="{FF2B5EF4-FFF2-40B4-BE49-F238E27FC236}">
                <a16:creationId xmlns:a16="http://schemas.microsoft.com/office/drawing/2014/main" id="{53B27B37-2FCB-5381-DD92-4FA6D3040519}"/>
              </a:ext>
            </a:extLst>
          </p:cNvPr>
          <p:cNvSpPr/>
          <p:nvPr/>
        </p:nvSpPr>
        <p:spPr>
          <a:xfrm>
            <a:off x="914400" y="2488508"/>
            <a:ext cx="276640" cy="15240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TextBox 19">
            <a:extLst>
              <a:ext uri="{FF2B5EF4-FFF2-40B4-BE49-F238E27FC236}">
                <a16:creationId xmlns:a16="http://schemas.microsoft.com/office/drawing/2014/main" id="{58E092B5-78DA-F291-8F34-CDC8C4E25A58}"/>
              </a:ext>
            </a:extLst>
          </p:cNvPr>
          <p:cNvSpPr txBox="1"/>
          <p:nvPr/>
        </p:nvSpPr>
        <p:spPr>
          <a:xfrm>
            <a:off x="1519118" y="2979997"/>
            <a:ext cx="7086600" cy="307777"/>
          </a:xfrm>
          <a:prstGeom prst="rect">
            <a:avLst/>
          </a:prstGeom>
          <a:noFill/>
        </p:spPr>
        <p:txBody>
          <a:bodyPr wrap="square">
            <a:spAutoFit/>
          </a:bodyPr>
          <a:lstStyle/>
          <a:p>
            <a:pPr>
              <a:spcBef>
                <a:spcPct val="50000"/>
              </a:spcBef>
            </a:pPr>
            <a:r>
              <a:rPr lang="fr-FR" sz="1400" b="1" dirty="0">
                <a:latin typeface="Bookman Old Style" panose="02050604050505020204" pitchFamily="18" charset="0"/>
              </a:rPr>
              <a:t>C ’est une conséquence de la conservation de la charge électrique. </a:t>
            </a:r>
          </a:p>
        </p:txBody>
      </p:sp>
      <p:sp>
        <p:nvSpPr>
          <p:cNvPr id="24" name="ZoneTexte 15">
            <a:extLst>
              <a:ext uri="{FF2B5EF4-FFF2-40B4-BE49-F238E27FC236}">
                <a16:creationId xmlns:a16="http://schemas.microsoft.com/office/drawing/2014/main" id="{0C9C773A-921D-11AA-26D4-8F59503B93ED}"/>
              </a:ext>
            </a:extLst>
          </p:cNvPr>
          <p:cNvSpPr txBox="1">
            <a:spLocks noChangeArrowheads="1"/>
          </p:cNvSpPr>
          <p:nvPr/>
        </p:nvSpPr>
        <p:spPr bwMode="auto">
          <a:xfrm>
            <a:off x="697881" y="3287064"/>
            <a:ext cx="2595864" cy="30777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b="1">
                <a:solidFill>
                  <a:srgbClr val="0000FF"/>
                </a:solidFill>
                <a:latin typeface="Bookman Old Style" panose="02050604050505020204" pitchFamily="18" charset="0"/>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sz="1400" u="sng" dirty="0">
                <a:solidFill>
                  <a:srgbClr val="00B050"/>
                </a:solidFill>
              </a:rPr>
              <a:t>Exemple</a:t>
            </a:r>
            <a:endParaRPr lang="fr-FR" altLang="fr-FR" sz="1400" u="sng" dirty="0">
              <a:solidFill>
                <a:srgbClr val="00B050"/>
              </a:solidFill>
            </a:endParaRPr>
          </a:p>
        </p:txBody>
      </p:sp>
      <p:grpSp>
        <p:nvGrpSpPr>
          <p:cNvPr id="25" name="Group 30">
            <a:extLst>
              <a:ext uri="{FF2B5EF4-FFF2-40B4-BE49-F238E27FC236}">
                <a16:creationId xmlns:a16="http://schemas.microsoft.com/office/drawing/2014/main" id="{9510A8E6-3095-45B5-57EF-95B9C3A4F47F}"/>
              </a:ext>
            </a:extLst>
          </p:cNvPr>
          <p:cNvGrpSpPr>
            <a:grpSpLocks/>
          </p:cNvGrpSpPr>
          <p:nvPr/>
        </p:nvGrpSpPr>
        <p:grpSpPr bwMode="auto">
          <a:xfrm>
            <a:off x="2646176" y="3311492"/>
            <a:ext cx="5673965" cy="1649852"/>
            <a:chOff x="1408" y="1944"/>
            <a:chExt cx="3814" cy="1188"/>
          </a:xfrm>
        </p:grpSpPr>
        <p:grpSp>
          <p:nvGrpSpPr>
            <p:cNvPr id="26" name="Group 4">
              <a:extLst>
                <a:ext uri="{FF2B5EF4-FFF2-40B4-BE49-F238E27FC236}">
                  <a16:creationId xmlns:a16="http://schemas.microsoft.com/office/drawing/2014/main" id="{4A3A4F86-64D0-43D8-19B3-01B07F3E0D91}"/>
                </a:ext>
              </a:extLst>
            </p:cNvPr>
            <p:cNvGrpSpPr>
              <a:grpSpLocks/>
            </p:cNvGrpSpPr>
            <p:nvPr/>
          </p:nvGrpSpPr>
          <p:grpSpPr bwMode="auto">
            <a:xfrm>
              <a:off x="1408" y="1944"/>
              <a:ext cx="1445" cy="1188"/>
              <a:chOff x="2056" y="2520"/>
              <a:chExt cx="1445" cy="1188"/>
            </a:xfrm>
          </p:grpSpPr>
          <p:sp>
            <p:nvSpPr>
              <p:cNvPr id="29" name="Line 5">
                <a:extLst>
                  <a:ext uri="{FF2B5EF4-FFF2-40B4-BE49-F238E27FC236}">
                    <a16:creationId xmlns:a16="http://schemas.microsoft.com/office/drawing/2014/main" id="{B58139B2-B460-939A-22B5-24B1DA72D9A0}"/>
                  </a:ext>
                </a:extLst>
              </p:cNvPr>
              <p:cNvSpPr>
                <a:spLocks noChangeShapeType="1"/>
              </p:cNvSpPr>
              <p:nvPr/>
            </p:nvSpPr>
            <p:spPr bwMode="auto">
              <a:xfrm>
                <a:off x="2056" y="2733"/>
                <a:ext cx="655" cy="445"/>
              </a:xfrm>
              <a:prstGeom prst="line">
                <a:avLst/>
              </a:prstGeom>
              <a:noFill/>
              <a:ln w="38100">
                <a:solidFill>
                  <a:schemeClr val="tx1"/>
                </a:solidFill>
                <a:round/>
                <a:headEnd/>
                <a:tailEnd/>
              </a:ln>
            </p:spPr>
            <p:txBody>
              <a:bodyPr wrap="none" anchor="ctr"/>
              <a:lstStyle/>
              <a:p>
                <a:endParaRPr lang="fr-FR"/>
              </a:p>
            </p:txBody>
          </p:sp>
          <p:sp>
            <p:nvSpPr>
              <p:cNvPr id="30" name="Line 6">
                <a:extLst>
                  <a:ext uri="{FF2B5EF4-FFF2-40B4-BE49-F238E27FC236}">
                    <a16:creationId xmlns:a16="http://schemas.microsoft.com/office/drawing/2014/main" id="{90061DB7-5074-024F-AC5C-33AD239E7827}"/>
                  </a:ext>
                </a:extLst>
              </p:cNvPr>
              <p:cNvSpPr>
                <a:spLocks noChangeShapeType="1"/>
              </p:cNvSpPr>
              <p:nvPr/>
            </p:nvSpPr>
            <p:spPr bwMode="auto">
              <a:xfrm>
                <a:off x="2334" y="2922"/>
                <a:ext cx="155" cy="100"/>
              </a:xfrm>
              <a:prstGeom prst="line">
                <a:avLst/>
              </a:prstGeom>
              <a:noFill/>
              <a:ln w="38100">
                <a:solidFill>
                  <a:schemeClr val="tx1"/>
                </a:solidFill>
                <a:round/>
                <a:headEnd/>
                <a:tailEnd type="arrow" w="med" len="med"/>
              </a:ln>
            </p:spPr>
            <p:txBody>
              <a:bodyPr wrap="none" anchor="ctr"/>
              <a:lstStyle/>
              <a:p>
                <a:endParaRPr lang="fr-FR"/>
              </a:p>
            </p:txBody>
          </p:sp>
          <p:sp>
            <p:nvSpPr>
              <p:cNvPr id="31" name="Line 7">
                <a:extLst>
                  <a:ext uri="{FF2B5EF4-FFF2-40B4-BE49-F238E27FC236}">
                    <a16:creationId xmlns:a16="http://schemas.microsoft.com/office/drawing/2014/main" id="{5631C1DC-E728-9BCA-4751-11BA45B2AFC6}"/>
                  </a:ext>
                </a:extLst>
              </p:cNvPr>
              <p:cNvSpPr>
                <a:spLocks noChangeShapeType="1"/>
              </p:cNvSpPr>
              <p:nvPr/>
            </p:nvSpPr>
            <p:spPr bwMode="auto">
              <a:xfrm flipH="1" flipV="1">
                <a:off x="2589" y="2522"/>
                <a:ext cx="123" cy="644"/>
              </a:xfrm>
              <a:prstGeom prst="line">
                <a:avLst/>
              </a:prstGeom>
              <a:noFill/>
              <a:ln w="38100">
                <a:solidFill>
                  <a:schemeClr val="tx1"/>
                </a:solidFill>
                <a:round/>
                <a:headEnd/>
                <a:tailEnd/>
              </a:ln>
            </p:spPr>
            <p:txBody>
              <a:bodyPr wrap="none" anchor="ctr"/>
              <a:lstStyle/>
              <a:p>
                <a:endParaRPr lang="fr-FR"/>
              </a:p>
            </p:txBody>
          </p:sp>
          <p:sp>
            <p:nvSpPr>
              <p:cNvPr id="32" name="Line 8">
                <a:extLst>
                  <a:ext uri="{FF2B5EF4-FFF2-40B4-BE49-F238E27FC236}">
                    <a16:creationId xmlns:a16="http://schemas.microsoft.com/office/drawing/2014/main" id="{5D5069B7-45CF-DFD4-70BE-F4C7E5B93886}"/>
                  </a:ext>
                </a:extLst>
              </p:cNvPr>
              <p:cNvSpPr>
                <a:spLocks noChangeShapeType="1"/>
              </p:cNvSpPr>
              <p:nvPr/>
            </p:nvSpPr>
            <p:spPr bwMode="auto">
              <a:xfrm flipH="1" flipV="1">
                <a:off x="2634" y="2800"/>
                <a:ext cx="33" cy="144"/>
              </a:xfrm>
              <a:prstGeom prst="line">
                <a:avLst/>
              </a:prstGeom>
              <a:noFill/>
              <a:ln w="38100">
                <a:solidFill>
                  <a:schemeClr val="tx1"/>
                </a:solidFill>
                <a:round/>
                <a:headEnd/>
                <a:tailEnd type="arrow" w="med" len="med"/>
              </a:ln>
            </p:spPr>
            <p:txBody>
              <a:bodyPr wrap="none" anchor="ctr"/>
              <a:lstStyle/>
              <a:p>
                <a:endParaRPr lang="fr-FR"/>
              </a:p>
            </p:txBody>
          </p:sp>
          <p:sp>
            <p:nvSpPr>
              <p:cNvPr id="33" name="Line 9">
                <a:extLst>
                  <a:ext uri="{FF2B5EF4-FFF2-40B4-BE49-F238E27FC236}">
                    <a16:creationId xmlns:a16="http://schemas.microsoft.com/office/drawing/2014/main" id="{39F14AB9-34C8-646F-F685-81DBAA67F3CD}"/>
                  </a:ext>
                </a:extLst>
              </p:cNvPr>
              <p:cNvSpPr>
                <a:spLocks noChangeShapeType="1"/>
              </p:cNvSpPr>
              <p:nvPr/>
            </p:nvSpPr>
            <p:spPr bwMode="auto">
              <a:xfrm flipV="1">
                <a:off x="2712" y="2689"/>
                <a:ext cx="600" cy="477"/>
              </a:xfrm>
              <a:prstGeom prst="line">
                <a:avLst/>
              </a:prstGeom>
              <a:noFill/>
              <a:ln w="38100">
                <a:solidFill>
                  <a:schemeClr val="tx1"/>
                </a:solidFill>
                <a:round/>
                <a:headEnd/>
                <a:tailEnd/>
              </a:ln>
            </p:spPr>
            <p:txBody>
              <a:bodyPr wrap="none" anchor="ctr"/>
              <a:lstStyle/>
              <a:p>
                <a:endParaRPr lang="fr-FR"/>
              </a:p>
            </p:txBody>
          </p:sp>
          <p:sp>
            <p:nvSpPr>
              <p:cNvPr id="35" name="Line 10">
                <a:extLst>
                  <a:ext uri="{FF2B5EF4-FFF2-40B4-BE49-F238E27FC236}">
                    <a16:creationId xmlns:a16="http://schemas.microsoft.com/office/drawing/2014/main" id="{0F7FAB40-BE1A-4319-04B4-D9A86271628F}"/>
                  </a:ext>
                </a:extLst>
              </p:cNvPr>
              <p:cNvSpPr>
                <a:spLocks noChangeShapeType="1"/>
              </p:cNvSpPr>
              <p:nvPr/>
            </p:nvSpPr>
            <p:spPr bwMode="auto">
              <a:xfrm flipV="1">
                <a:off x="2934" y="2900"/>
                <a:ext cx="111" cy="89"/>
              </a:xfrm>
              <a:prstGeom prst="line">
                <a:avLst/>
              </a:prstGeom>
              <a:noFill/>
              <a:ln w="38100">
                <a:solidFill>
                  <a:schemeClr val="tx1"/>
                </a:solidFill>
                <a:round/>
                <a:headEnd/>
                <a:tailEnd type="arrow" w="med" len="med"/>
              </a:ln>
            </p:spPr>
            <p:txBody>
              <a:bodyPr wrap="none" anchor="ctr"/>
              <a:lstStyle/>
              <a:p>
                <a:endParaRPr lang="fr-FR"/>
              </a:p>
            </p:txBody>
          </p:sp>
          <p:sp>
            <p:nvSpPr>
              <p:cNvPr id="36" name="Line 11">
                <a:extLst>
                  <a:ext uri="{FF2B5EF4-FFF2-40B4-BE49-F238E27FC236}">
                    <a16:creationId xmlns:a16="http://schemas.microsoft.com/office/drawing/2014/main" id="{273A036B-EA52-0534-EC9F-4C3995043506}"/>
                  </a:ext>
                </a:extLst>
              </p:cNvPr>
              <p:cNvSpPr>
                <a:spLocks noChangeShapeType="1"/>
              </p:cNvSpPr>
              <p:nvPr/>
            </p:nvSpPr>
            <p:spPr bwMode="auto">
              <a:xfrm>
                <a:off x="2712" y="3178"/>
                <a:ext cx="789" cy="0"/>
              </a:xfrm>
              <a:prstGeom prst="line">
                <a:avLst/>
              </a:prstGeom>
              <a:noFill/>
              <a:ln w="38100">
                <a:solidFill>
                  <a:schemeClr val="tx1"/>
                </a:solidFill>
                <a:round/>
                <a:headEnd/>
                <a:tailEnd/>
              </a:ln>
            </p:spPr>
            <p:txBody>
              <a:bodyPr wrap="none" anchor="ctr"/>
              <a:lstStyle/>
              <a:p>
                <a:endParaRPr lang="fr-FR"/>
              </a:p>
            </p:txBody>
          </p:sp>
          <p:sp>
            <p:nvSpPr>
              <p:cNvPr id="37" name="Line 12">
                <a:extLst>
                  <a:ext uri="{FF2B5EF4-FFF2-40B4-BE49-F238E27FC236}">
                    <a16:creationId xmlns:a16="http://schemas.microsoft.com/office/drawing/2014/main" id="{0C299C90-49BA-68FC-B75C-FA7180E57537}"/>
                  </a:ext>
                </a:extLst>
              </p:cNvPr>
              <p:cNvSpPr>
                <a:spLocks noChangeShapeType="1"/>
              </p:cNvSpPr>
              <p:nvPr/>
            </p:nvSpPr>
            <p:spPr bwMode="auto">
              <a:xfrm>
                <a:off x="2989" y="3178"/>
                <a:ext cx="145" cy="0"/>
              </a:xfrm>
              <a:prstGeom prst="line">
                <a:avLst/>
              </a:prstGeom>
              <a:noFill/>
              <a:ln w="38100">
                <a:solidFill>
                  <a:schemeClr val="tx1"/>
                </a:solidFill>
                <a:round/>
                <a:headEnd/>
                <a:tailEnd type="arrow" w="med" len="med"/>
              </a:ln>
            </p:spPr>
            <p:txBody>
              <a:bodyPr wrap="none" anchor="ctr"/>
              <a:lstStyle/>
              <a:p>
                <a:endParaRPr lang="fr-FR"/>
              </a:p>
            </p:txBody>
          </p:sp>
          <p:sp>
            <p:nvSpPr>
              <p:cNvPr id="38" name="Line 13">
                <a:extLst>
                  <a:ext uri="{FF2B5EF4-FFF2-40B4-BE49-F238E27FC236}">
                    <a16:creationId xmlns:a16="http://schemas.microsoft.com/office/drawing/2014/main" id="{99863E92-0C98-928A-0809-A72323EE0FF6}"/>
                  </a:ext>
                </a:extLst>
              </p:cNvPr>
              <p:cNvSpPr>
                <a:spLocks noChangeShapeType="1"/>
              </p:cNvSpPr>
              <p:nvPr/>
            </p:nvSpPr>
            <p:spPr bwMode="auto">
              <a:xfrm>
                <a:off x="2723" y="3178"/>
                <a:ext cx="455" cy="511"/>
              </a:xfrm>
              <a:prstGeom prst="line">
                <a:avLst/>
              </a:prstGeom>
              <a:noFill/>
              <a:ln w="38100">
                <a:solidFill>
                  <a:schemeClr val="tx1"/>
                </a:solidFill>
                <a:round/>
                <a:headEnd/>
                <a:tailEnd/>
              </a:ln>
            </p:spPr>
            <p:txBody>
              <a:bodyPr wrap="none" anchor="ctr"/>
              <a:lstStyle/>
              <a:p>
                <a:endParaRPr lang="fr-FR"/>
              </a:p>
            </p:txBody>
          </p:sp>
          <p:sp>
            <p:nvSpPr>
              <p:cNvPr id="39" name="Line 14">
                <a:extLst>
                  <a:ext uri="{FF2B5EF4-FFF2-40B4-BE49-F238E27FC236}">
                    <a16:creationId xmlns:a16="http://schemas.microsoft.com/office/drawing/2014/main" id="{97B6E4AD-441D-F2CC-A9C2-5ACC08C783E7}"/>
                  </a:ext>
                </a:extLst>
              </p:cNvPr>
              <p:cNvSpPr>
                <a:spLocks noChangeShapeType="1"/>
              </p:cNvSpPr>
              <p:nvPr/>
            </p:nvSpPr>
            <p:spPr bwMode="auto">
              <a:xfrm>
                <a:off x="2878" y="3344"/>
                <a:ext cx="111" cy="145"/>
              </a:xfrm>
              <a:prstGeom prst="line">
                <a:avLst/>
              </a:prstGeom>
              <a:noFill/>
              <a:ln w="38100">
                <a:solidFill>
                  <a:schemeClr val="tx1"/>
                </a:solidFill>
                <a:round/>
                <a:headEnd type="arrow" w="med" len="med"/>
                <a:tailEnd/>
              </a:ln>
            </p:spPr>
            <p:txBody>
              <a:bodyPr wrap="none" anchor="ctr"/>
              <a:lstStyle/>
              <a:p>
                <a:endParaRPr lang="fr-FR"/>
              </a:p>
            </p:txBody>
          </p:sp>
          <p:sp>
            <p:nvSpPr>
              <p:cNvPr id="40" name="Line 15">
                <a:extLst>
                  <a:ext uri="{FF2B5EF4-FFF2-40B4-BE49-F238E27FC236}">
                    <a16:creationId xmlns:a16="http://schemas.microsoft.com/office/drawing/2014/main" id="{B495D205-16B1-5839-D51C-E1D692C1581D}"/>
                  </a:ext>
                </a:extLst>
              </p:cNvPr>
              <p:cNvSpPr>
                <a:spLocks noChangeShapeType="1"/>
              </p:cNvSpPr>
              <p:nvPr/>
            </p:nvSpPr>
            <p:spPr bwMode="auto">
              <a:xfrm flipH="1">
                <a:off x="2490" y="3166"/>
                <a:ext cx="222" cy="455"/>
              </a:xfrm>
              <a:prstGeom prst="line">
                <a:avLst/>
              </a:prstGeom>
              <a:noFill/>
              <a:ln w="38100">
                <a:solidFill>
                  <a:schemeClr val="tx1"/>
                </a:solidFill>
                <a:round/>
                <a:headEnd/>
                <a:tailEnd/>
              </a:ln>
            </p:spPr>
            <p:txBody>
              <a:bodyPr wrap="none" anchor="ctr"/>
              <a:lstStyle/>
              <a:p>
                <a:endParaRPr lang="fr-FR"/>
              </a:p>
            </p:txBody>
          </p:sp>
          <p:sp>
            <p:nvSpPr>
              <p:cNvPr id="41" name="Line 16">
                <a:extLst>
                  <a:ext uri="{FF2B5EF4-FFF2-40B4-BE49-F238E27FC236}">
                    <a16:creationId xmlns:a16="http://schemas.microsoft.com/office/drawing/2014/main" id="{28F160BE-AC0D-C80B-1FCF-02799C640026}"/>
                  </a:ext>
                </a:extLst>
              </p:cNvPr>
              <p:cNvSpPr>
                <a:spLocks noChangeShapeType="1"/>
              </p:cNvSpPr>
              <p:nvPr/>
            </p:nvSpPr>
            <p:spPr bwMode="auto">
              <a:xfrm flipH="1">
                <a:off x="2578" y="3277"/>
                <a:ext cx="78" cy="167"/>
              </a:xfrm>
              <a:prstGeom prst="line">
                <a:avLst/>
              </a:prstGeom>
              <a:noFill/>
              <a:ln w="38100">
                <a:solidFill>
                  <a:schemeClr val="tx1"/>
                </a:solidFill>
                <a:round/>
                <a:headEnd/>
                <a:tailEnd type="arrow" w="med" len="med"/>
              </a:ln>
            </p:spPr>
            <p:txBody>
              <a:bodyPr wrap="none" anchor="ctr"/>
              <a:lstStyle/>
              <a:p>
                <a:endParaRPr lang="fr-FR"/>
              </a:p>
            </p:txBody>
          </p:sp>
          <p:sp>
            <p:nvSpPr>
              <p:cNvPr id="42" name="Text Box 17">
                <a:extLst>
                  <a:ext uri="{FF2B5EF4-FFF2-40B4-BE49-F238E27FC236}">
                    <a16:creationId xmlns:a16="http://schemas.microsoft.com/office/drawing/2014/main" id="{747893D3-B587-7EF5-FBA3-C9FAB5997652}"/>
                  </a:ext>
                </a:extLst>
              </p:cNvPr>
              <p:cNvSpPr txBox="1">
                <a:spLocks noChangeArrowheads="1"/>
              </p:cNvSpPr>
              <p:nvPr/>
            </p:nvSpPr>
            <p:spPr bwMode="auto">
              <a:xfrm>
                <a:off x="2199" y="2889"/>
                <a:ext cx="367" cy="332"/>
              </a:xfrm>
              <a:prstGeom prst="rect">
                <a:avLst/>
              </a:prstGeom>
              <a:noFill/>
              <a:ln w="38100">
                <a:noFill/>
                <a:miter lim="800000"/>
                <a:headEnd/>
                <a:tailEnd/>
              </a:ln>
            </p:spPr>
            <p:txBody>
              <a:bodyPr>
                <a:spAutoFit/>
              </a:bodyPr>
              <a:lstStyle/>
              <a:p>
                <a:pPr>
                  <a:spcBef>
                    <a:spcPct val="50000"/>
                  </a:spcBef>
                </a:pPr>
                <a:r>
                  <a:rPr lang="fr-FR" sz="2400" i="1">
                    <a:latin typeface="Bookman Old Style" panose="02050604050505020204" pitchFamily="18" charset="0"/>
                  </a:rPr>
                  <a:t>i</a:t>
                </a:r>
                <a:r>
                  <a:rPr lang="fr-FR" sz="2400" i="1" baseline="-25000">
                    <a:latin typeface="Bookman Old Style" panose="02050604050505020204" pitchFamily="18" charset="0"/>
                  </a:rPr>
                  <a:t>1</a:t>
                </a:r>
                <a:endParaRPr lang="fr-FR" sz="2400">
                  <a:latin typeface="Bookman Old Style" panose="02050604050505020204" pitchFamily="18" charset="0"/>
                </a:endParaRPr>
              </a:p>
            </p:txBody>
          </p:sp>
          <p:sp>
            <p:nvSpPr>
              <p:cNvPr id="43" name="Text Box 18">
                <a:extLst>
                  <a:ext uri="{FF2B5EF4-FFF2-40B4-BE49-F238E27FC236}">
                    <a16:creationId xmlns:a16="http://schemas.microsoft.com/office/drawing/2014/main" id="{0263E71F-4233-52C1-BEEB-18F90800459B}"/>
                  </a:ext>
                </a:extLst>
              </p:cNvPr>
              <p:cNvSpPr txBox="1">
                <a:spLocks noChangeArrowheads="1"/>
              </p:cNvSpPr>
              <p:nvPr/>
            </p:nvSpPr>
            <p:spPr bwMode="auto">
              <a:xfrm>
                <a:off x="2370" y="2520"/>
                <a:ext cx="367" cy="332"/>
              </a:xfrm>
              <a:prstGeom prst="rect">
                <a:avLst/>
              </a:prstGeom>
              <a:noFill/>
              <a:ln w="38100">
                <a:noFill/>
                <a:miter lim="800000"/>
                <a:headEnd/>
                <a:tailEnd/>
              </a:ln>
            </p:spPr>
            <p:txBody>
              <a:bodyPr>
                <a:spAutoFit/>
              </a:bodyPr>
              <a:lstStyle/>
              <a:p>
                <a:pPr>
                  <a:spcBef>
                    <a:spcPct val="50000"/>
                  </a:spcBef>
                </a:pPr>
                <a:r>
                  <a:rPr lang="fr-FR" sz="2400" i="1" dirty="0">
                    <a:latin typeface="Bookman Old Style" panose="02050604050505020204" pitchFamily="18" charset="0"/>
                  </a:rPr>
                  <a:t>i</a:t>
                </a:r>
                <a:r>
                  <a:rPr lang="fr-FR" sz="2400" i="1" baseline="-25000" dirty="0">
                    <a:latin typeface="Bookman Old Style" panose="02050604050505020204" pitchFamily="18" charset="0"/>
                  </a:rPr>
                  <a:t>2</a:t>
                </a:r>
                <a:endParaRPr lang="fr-FR" sz="2400" dirty="0">
                  <a:latin typeface="Bookman Old Style" panose="02050604050505020204" pitchFamily="18" charset="0"/>
                </a:endParaRPr>
              </a:p>
            </p:txBody>
          </p:sp>
          <p:sp>
            <p:nvSpPr>
              <p:cNvPr id="44" name="Text Box 19">
                <a:extLst>
                  <a:ext uri="{FF2B5EF4-FFF2-40B4-BE49-F238E27FC236}">
                    <a16:creationId xmlns:a16="http://schemas.microsoft.com/office/drawing/2014/main" id="{D4B5F7F7-91A2-2785-C747-69751C5173ED}"/>
                  </a:ext>
                </a:extLst>
              </p:cNvPr>
              <p:cNvSpPr txBox="1">
                <a:spLocks noChangeArrowheads="1"/>
              </p:cNvSpPr>
              <p:nvPr/>
            </p:nvSpPr>
            <p:spPr bwMode="auto">
              <a:xfrm>
                <a:off x="2875" y="2520"/>
                <a:ext cx="367" cy="332"/>
              </a:xfrm>
              <a:prstGeom prst="rect">
                <a:avLst/>
              </a:prstGeom>
              <a:noFill/>
              <a:ln w="38100">
                <a:noFill/>
                <a:miter lim="800000"/>
                <a:headEnd/>
                <a:tailEnd/>
              </a:ln>
            </p:spPr>
            <p:txBody>
              <a:bodyPr>
                <a:spAutoFit/>
              </a:bodyPr>
              <a:lstStyle/>
              <a:p>
                <a:pPr>
                  <a:spcBef>
                    <a:spcPct val="50000"/>
                  </a:spcBef>
                </a:pPr>
                <a:r>
                  <a:rPr lang="fr-FR" sz="2400" i="1">
                    <a:latin typeface="Bookman Old Style" panose="02050604050505020204" pitchFamily="18" charset="0"/>
                  </a:rPr>
                  <a:t>i</a:t>
                </a:r>
                <a:r>
                  <a:rPr lang="fr-FR" sz="2400" i="1" baseline="-25000">
                    <a:latin typeface="Bookman Old Style" panose="02050604050505020204" pitchFamily="18" charset="0"/>
                  </a:rPr>
                  <a:t>3</a:t>
                </a:r>
                <a:endParaRPr lang="fr-FR" sz="2400">
                  <a:latin typeface="Bookman Old Style" panose="02050604050505020204" pitchFamily="18" charset="0"/>
                </a:endParaRPr>
              </a:p>
            </p:txBody>
          </p:sp>
          <p:sp>
            <p:nvSpPr>
              <p:cNvPr id="45" name="Text Box 20">
                <a:extLst>
                  <a:ext uri="{FF2B5EF4-FFF2-40B4-BE49-F238E27FC236}">
                    <a16:creationId xmlns:a16="http://schemas.microsoft.com/office/drawing/2014/main" id="{0332497E-5757-5F67-4012-AEC03B2F2778}"/>
                  </a:ext>
                </a:extLst>
              </p:cNvPr>
              <p:cNvSpPr txBox="1">
                <a:spLocks noChangeArrowheads="1"/>
              </p:cNvSpPr>
              <p:nvPr/>
            </p:nvSpPr>
            <p:spPr bwMode="auto">
              <a:xfrm>
                <a:off x="3107" y="2834"/>
                <a:ext cx="367" cy="332"/>
              </a:xfrm>
              <a:prstGeom prst="rect">
                <a:avLst/>
              </a:prstGeom>
              <a:noFill/>
              <a:ln w="38100">
                <a:noFill/>
                <a:miter lim="800000"/>
                <a:headEnd/>
                <a:tailEnd/>
              </a:ln>
            </p:spPr>
            <p:txBody>
              <a:bodyPr>
                <a:spAutoFit/>
              </a:bodyPr>
              <a:lstStyle/>
              <a:p>
                <a:pPr>
                  <a:spcBef>
                    <a:spcPct val="50000"/>
                  </a:spcBef>
                </a:pPr>
                <a:r>
                  <a:rPr lang="fr-FR" sz="2400" i="1">
                    <a:latin typeface="Bookman Old Style" panose="02050604050505020204" pitchFamily="18" charset="0"/>
                  </a:rPr>
                  <a:t>i</a:t>
                </a:r>
                <a:r>
                  <a:rPr lang="fr-FR" sz="2400" i="1" baseline="-25000">
                    <a:latin typeface="Bookman Old Style" panose="02050604050505020204" pitchFamily="18" charset="0"/>
                  </a:rPr>
                  <a:t>4</a:t>
                </a:r>
                <a:endParaRPr lang="fr-FR" sz="2400">
                  <a:latin typeface="Bookman Old Style" panose="02050604050505020204" pitchFamily="18" charset="0"/>
                </a:endParaRPr>
              </a:p>
            </p:txBody>
          </p:sp>
          <p:sp>
            <p:nvSpPr>
              <p:cNvPr id="47" name="Text Box 21">
                <a:extLst>
                  <a:ext uri="{FF2B5EF4-FFF2-40B4-BE49-F238E27FC236}">
                    <a16:creationId xmlns:a16="http://schemas.microsoft.com/office/drawing/2014/main" id="{15B704F4-A3CD-25B5-D3A1-0A6CAEB6D863}"/>
                  </a:ext>
                </a:extLst>
              </p:cNvPr>
              <p:cNvSpPr txBox="1">
                <a:spLocks noChangeArrowheads="1"/>
              </p:cNvSpPr>
              <p:nvPr/>
            </p:nvSpPr>
            <p:spPr bwMode="auto">
              <a:xfrm>
                <a:off x="3034" y="3240"/>
                <a:ext cx="367" cy="332"/>
              </a:xfrm>
              <a:prstGeom prst="rect">
                <a:avLst/>
              </a:prstGeom>
              <a:noFill/>
              <a:ln w="38100">
                <a:noFill/>
                <a:miter lim="800000"/>
                <a:headEnd/>
                <a:tailEnd/>
              </a:ln>
            </p:spPr>
            <p:txBody>
              <a:bodyPr>
                <a:spAutoFit/>
              </a:bodyPr>
              <a:lstStyle/>
              <a:p>
                <a:pPr>
                  <a:spcBef>
                    <a:spcPct val="50000"/>
                  </a:spcBef>
                </a:pPr>
                <a:r>
                  <a:rPr lang="fr-FR" sz="2400" i="1">
                    <a:latin typeface="Bookman Old Style" panose="02050604050505020204" pitchFamily="18" charset="0"/>
                  </a:rPr>
                  <a:t>i</a:t>
                </a:r>
                <a:r>
                  <a:rPr lang="fr-FR" sz="2400" i="1" baseline="-25000">
                    <a:latin typeface="Bookman Old Style" panose="02050604050505020204" pitchFamily="18" charset="0"/>
                  </a:rPr>
                  <a:t>5</a:t>
                </a:r>
                <a:endParaRPr lang="fr-FR" sz="2400">
                  <a:latin typeface="Bookman Old Style" panose="02050604050505020204" pitchFamily="18" charset="0"/>
                </a:endParaRPr>
              </a:p>
            </p:txBody>
          </p:sp>
          <p:sp>
            <p:nvSpPr>
              <p:cNvPr id="48" name="Text Box 22">
                <a:extLst>
                  <a:ext uri="{FF2B5EF4-FFF2-40B4-BE49-F238E27FC236}">
                    <a16:creationId xmlns:a16="http://schemas.microsoft.com/office/drawing/2014/main" id="{DE028B15-FB7A-25F0-E0FC-0578608AD1CA}"/>
                  </a:ext>
                </a:extLst>
              </p:cNvPr>
              <p:cNvSpPr txBox="1">
                <a:spLocks noChangeArrowheads="1"/>
              </p:cNvSpPr>
              <p:nvPr/>
            </p:nvSpPr>
            <p:spPr bwMode="auto">
              <a:xfrm>
                <a:off x="2611" y="3376"/>
                <a:ext cx="367" cy="332"/>
              </a:xfrm>
              <a:prstGeom prst="rect">
                <a:avLst/>
              </a:prstGeom>
              <a:noFill/>
              <a:ln w="38100">
                <a:noFill/>
                <a:miter lim="800000"/>
                <a:headEnd/>
                <a:tailEnd/>
              </a:ln>
            </p:spPr>
            <p:txBody>
              <a:bodyPr>
                <a:spAutoFit/>
              </a:bodyPr>
              <a:lstStyle/>
              <a:p>
                <a:pPr>
                  <a:spcBef>
                    <a:spcPct val="50000"/>
                  </a:spcBef>
                </a:pPr>
                <a:r>
                  <a:rPr lang="fr-FR" sz="2400" i="1">
                    <a:latin typeface="Bookman Old Style" panose="02050604050505020204" pitchFamily="18" charset="0"/>
                  </a:rPr>
                  <a:t>i</a:t>
                </a:r>
                <a:r>
                  <a:rPr lang="fr-FR" sz="2400" i="1" baseline="-25000">
                    <a:latin typeface="Bookman Old Style" panose="02050604050505020204" pitchFamily="18" charset="0"/>
                  </a:rPr>
                  <a:t>6</a:t>
                </a:r>
                <a:endParaRPr lang="fr-FR" sz="2400">
                  <a:latin typeface="Bookman Old Style" panose="02050604050505020204" pitchFamily="18" charset="0"/>
                </a:endParaRPr>
              </a:p>
            </p:txBody>
          </p:sp>
        </p:grpSp>
        <p:sp>
          <p:nvSpPr>
            <p:cNvPr id="27" name="Text Box 23">
              <a:extLst>
                <a:ext uri="{FF2B5EF4-FFF2-40B4-BE49-F238E27FC236}">
                  <a16:creationId xmlns:a16="http://schemas.microsoft.com/office/drawing/2014/main" id="{0CBE88EE-49E0-49B1-6C70-0941202EC751}"/>
                </a:ext>
              </a:extLst>
            </p:cNvPr>
            <p:cNvSpPr txBox="1">
              <a:spLocks noChangeArrowheads="1"/>
            </p:cNvSpPr>
            <p:nvPr/>
          </p:nvSpPr>
          <p:spPr bwMode="auto">
            <a:xfrm>
              <a:off x="3133" y="2342"/>
              <a:ext cx="2089" cy="332"/>
            </a:xfrm>
            <a:prstGeom prst="rect">
              <a:avLst/>
            </a:prstGeom>
            <a:noFill/>
            <a:ln w="9525">
              <a:noFill/>
              <a:miter lim="800000"/>
              <a:headEnd/>
              <a:tailEnd/>
            </a:ln>
          </p:spPr>
          <p:txBody>
            <a:bodyPr>
              <a:spAutoFit/>
            </a:bodyPr>
            <a:lstStyle/>
            <a:p>
              <a:pPr>
                <a:spcBef>
                  <a:spcPct val="50000"/>
                </a:spcBef>
              </a:pPr>
              <a:r>
                <a:rPr lang="fr-FR" sz="2400" i="1">
                  <a:latin typeface="Bookman Old Style" panose="02050604050505020204" pitchFamily="18" charset="0"/>
                </a:rPr>
                <a:t>i</a:t>
              </a:r>
              <a:r>
                <a:rPr lang="fr-FR" sz="2400" i="1" baseline="-25000">
                  <a:latin typeface="Bookman Old Style" panose="02050604050505020204" pitchFamily="18" charset="0"/>
                </a:rPr>
                <a:t>1</a:t>
              </a:r>
              <a:r>
                <a:rPr lang="fr-FR" sz="2400">
                  <a:latin typeface="Bookman Old Style" panose="02050604050505020204" pitchFamily="18" charset="0"/>
                </a:rPr>
                <a:t>+</a:t>
              </a:r>
              <a:r>
                <a:rPr lang="fr-FR" sz="2400" i="1">
                  <a:latin typeface="Bookman Old Style" panose="02050604050505020204" pitchFamily="18" charset="0"/>
                </a:rPr>
                <a:t>i</a:t>
              </a:r>
              <a:r>
                <a:rPr lang="fr-FR" sz="2400" i="1" baseline="-25000">
                  <a:latin typeface="Bookman Old Style" panose="02050604050505020204" pitchFamily="18" charset="0"/>
                </a:rPr>
                <a:t>5</a:t>
              </a:r>
              <a:r>
                <a:rPr lang="fr-FR" sz="2400">
                  <a:latin typeface="Bookman Old Style" panose="02050604050505020204" pitchFamily="18" charset="0"/>
                </a:rPr>
                <a:t>=</a:t>
              </a:r>
              <a:r>
                <a:rPr lang="fr-FR" sz="2400" i="1">
                  <a:latin typeface="Bookman Old Style" panose="02050604050505020204" pitchFamily="18" charset="0"/>
                </a:rPr>
                <a:t>i</a:t>
              </a:r>
              <a:r>
                <a:rPr lang="fr-FR" sz="2400" i="1" baseline="-25000">
                  <a:latin typeface="Bookman Old Style" panose="02050604050505020204" pitchFamily="18" charset="0"/>
                </a:rPr>
                <a:t>2</a:t>
              </a:r>
              <a:r>
                <a:rPr lang="fr-FR" sz="2400">
                  <a:latin typeface="Bookman Old Style" panose="02050604050505020204" pitchFamily="18" charset="0"/>
                </a:rPr>
                <a:t>+</a:t>
              </a:r>
              <a:r>
                <a:rPr lang="fr-FR" sz="2400" i="1">
                  <a:latin typeface="Bookman Old Style" panose="02050604050505020204" pitchFamily="18" charset="0"/>
                </a:rPr>
                <a:t>i</a:t>
              </a:r>
              <a:r>
                <a:rPr lang="fr-FR" sz="2400" i="1" baseline="-25000">
                  <a:latin typeface="Bookman Old Style" panose="02050604050505020204" pitchFamily="18" charset="0"/>
                </a:rPr>
                <a:t>3</a:t>
              </a:r>
              <a:r>
                <a:rPr lang="fr-FR" sz="2400">
                  <a:latin typeface="Bookman Old Style" panose="02050604050505020204" pitchFamily="18" charset="0"/>
                </a:rPr>
                <a:t>+</a:t>
              </a:r>
              <a:r>
                <a:rPr lang="fr-FR" sz="2400" i="1">
                  <a:latin typeface="Bookman Old Style" panose="02050604050505020204" pitchFamily="18" charset="0"/>
                </a:rPr>
                <a:t>i</a:t>
              </a:r>
              <a:r>
                <a:rPr lang="fr-FR" sz="2400" i="1" baseline="-25000">
                  <a:latin typeface="Bookman Old Style" panose="02050604050505020204" pitchFamily="18" charset="0"/>
                </a:rPr>
                <a:t>4</a:t>
              </a:r>
              <a:r>
                <a:rPr lang="fr-FR" sz="2400">
                  <a:latin typeface="Bookman Old Style" panose="02050604050505020204" pitchFamily="18" charset="0"/>
                </a:rPr>
                <a:t>+</a:t>
              </a:r>
              <a:r>
                <a:rPr lang="fr-FR" sz="2400" i="1">
                  <a:latin typeface="Bookman Old Style" panose="02050604050505020204" pitchFamily="18" charset="0"/>
                </a:rPr>
                <a:t>i</a:t>
              </a:r>
              <a:r>
                <a:rPr lang="fr-FR" sz="2400" i="1" baseline="-25000">
                  <a:latin typeface="Bookman Old Style" panose="02050604050505020204" pitchFamily="18" charset="0"/>
                </a:rPr>
                <a:t>6</a:t>
              </a:r>
              <a:endParaRPr lang="fr-FR" sz="2400">
                <a:latin typeface="Bookman Old Style" panose="02050604050505020204" pitchFamily="18" charset="0"/>
              </a:endParaRPr>
            </a:p>
          </p:txBody>
        </p:sp>
      </p:grpSp>
    </p:spTree>
    <p:extLst>
      <p:ext uri="{BB962C8B-B14F-4D97-AF65-F5344CB8AC3E}">
        <p14:creationId xmlns:p14="http://schemas.microsoft.com/office/powerpoint/2010/main" val="1200582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35</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2.8 </a:t>
            </a:r>
            <a:r>
              <a:rPr lang="fr-FR" altLang="fr-FR" sz="1400" b="1" spc="-5" dirty="0">
                <a:solidFill>
                  <a:srgbClr val="CC00CC"/>
                </a:solidFill>
                <a:latin typeface="Bookman Old Style" panose="02050604050505020204" pitchFamily="18" charset="0"/>
                <a:cs typeface="Arial"/>
              </a:rPr>
              <a:t>Lois de Kirchhoff</a:t>
            </a:r>
          </a:p>
          <a:p>
            <a:pPr marL="12065" lvl="1">
              <a:lnSpc>
                <a:spcPct val="100000"/>
              </a:lnSpc>
              <a:spcBef>
                <a:spcPts val="100"/>
              </a:spcBef>
              <a:tabLst>
                <a:tab pos="393700" algn="l"/>
              </a:tabLst>
            </a:pPr>
            <a:r>
              <a:rPr lang="fr-FR" altLang="fr-FR" sz="1400" b="1" spc="-5" dirty="0">
                <a:solidFill>
                  <a:srgbClr val="CC00CC"/>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C</a:t>
            </a:r>
            <a:r>
              <a:rPr lang="fr-FR" sz="1200" b="1" spc="-5" dirty="0">
                <a:solidFill>
                  <a:schemeClr val="accent6">
                    <a:lumMod val="50000"/>
                  </a:schemeClr>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Loi des Mailles</a:t>
            </a:r>
            <a:endParaRPr lang="fr-FR" altLang="fr-FR" sz="1200" b="1" spc="-5" dirty="0">
              <a:solidFill>
                <a:srgbClr val="CC00CC"/>
              </a:solidFill>
              <a:latin typeface="Bookman Old Style" panose="02050604050505020204" pitchFamily="18" charset="0"/>
              <a:cs typeface="Aria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319E4B3-C672-2386-AADF-C9F4EFCEFB3E}"/>
                  </a:ext>
                </a:extLst>
              </p:cNvPr>
              <p:cNvSpPr txBox="1"/>
              <p:nvPr/>
            </p:nvSpPr>
            <p:spPr>
              <a:xfrm>
                <a:off x="672714" y="1482143"/>
                <a:ext cx="8623686" cy="1515800"/>
              </a:xfrm>
              <a:prstGeom prst="rect">
                <a:avLst/>
              </a:prstGeom>
              <a:noFill/>
            </p:spPr>
            <p:txBody>
              <a:bodyPr wrap="square">
                <a:spAutoFit/>
              </a:bodyPr>
              <a:lstStyle/>
              <a:p>
                <a:pPr marL="298450" marR="5080" indent="-285750">
                  <a:spcBef>
                    <a:spcPts val="100"/>
                  </a:spcBef>
                  <a:buFont typeface="Wingdings" panose="05000000000000000000" pitchFamily="2" charset="2"/>
                  <a:buChar char="q"/>
                </a:pPr>
                <a:r>
                  <a:rPr lang="fr-FR" sz="1400" b="1" dirty="0">
                    <a:latin typeface="Bookman Old Style" panose="02050604050505020204" pitchFamily="18" charset="0"/>
                    <a:cs typeface="Times New Roman"/>
                  </a:rPr>
                  <a:t>Loi</a:t>
                </a:r>
                <a:r>
                  <a:rPr lang="fr-FR" sz="1400" b="1" spc="-25" dirty="0">
                    <a:latin typeface="Bookman Old Style" panose="02050604050505020204" pitchFamily="18" charset="0"/>
                    <a:cs typeface="Times New Roman"/>
                  </a:rPr>
                  <a:t> </a:t>
                </a:r>
                <a:r>
                  <a:rPr lang="fr-FR" sz="1400" b="1" dirty="0">
                    <a:latin typeface="Bookman Old Style" panose="02050604050505020204" pitchFamily="18" charset="0"/>
                    <a:cs typeface="Times New Roman"/>
                  </a:rPr>
                  <a:t>des</a:t>
                </a:r>
                <a:r>
                  <a:rPr lang="fr-FR" sz="1400" b="1" spc="-30" dirty="0">
                    <a:latin typeface="Bookman Old Style" panose="02050604050505020204" pitchFamily="18" charset="0"/>
                    <a:cs typeface="Times New Roman"/>
                  </a:rPr>
                  <a:t> </a:t>
                </a:r>
                <a:r>
                  <a:rPr lang="fr-FR" sz="1400" b="1" dirty="0">
                    <a:latin typeface="Bookman Old Style" panose="02050604050505020204" pitchFamily="18" charset="0"/>
                    <a:cs typeface="Times New Roman"/>
                  </a:rPr>
                  <a:t>mailles</a:t>
                </a:r>
                <a:r>
                  <a:rPr lang="fr-FR" sz="1400" b="1" spc="-5" dirty="0">
                    <a:latin typeface="Bookman Old Style" panose="02050604050505020204" pitchFamily="18" charset="0"/>
                    <a:cs typeface="Times New Roman"/>
                  </a:rPr>
                  <a:t> </a:t>
                </a:r>
                <a:r>
                  <a:rPr lang="fr-FR" sz="1400" b="1" dirty="0">
                    <a:latin typeface="Bookman Old Style" panose="02050604050505020204" pitchFamily="18" charset="0"/>
                    <a:cs typeface="Times New Roman"/>
                  </a:rPr>
                  <a:t>:</a:t>
                </a:r>
                <a:r>
                  <a:rPr lang="fr-FR" sz="1400" b="1" spc="-3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dans</a:t>
                </a:r>
                <a:r>
                  <a:rPr lang="fr-FR" sz="1400" spc="-2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une</a:t>
                </a:r>
                <a:r>
                  <a:rPr lang="fr-FR" sz="1400" spc="-3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maille,</a:t>
                </a:r>
                <a:r>
                  <a:rPr lang="fr-FR" sz="1400" spc="-1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la</a:t>
                </a:r>
                <a:r>
                  <a:rPr lang="fr-FR" sz="1400" spc="-25" dirty="0">
                    <a:latin typeface="Bookman Old Style" panose="02050604050505020204" pitchFamily="18" charset="0"/>
                    <a:cs typeface="Times New Roman"/>
                  </a:rPr>
                  <a:t> </a:t>
                </a:r>
                <a:r>
                  <a:rPr lang="fr-FR" sz="1400" spc="-10" dirty="0">
                    <a:latin typeface="Bookman Old Style" panose="02050604050505020204" pitchFamily="18" charset="0"/>
                    <a:cs typeface="Times New Roman"/>
                  </a:rPr>
                  <a:t>somme </a:t>
                </a:r>
                <a:r>
                  <a:rPr lang="fr-FR" sz="1400" dirty="0">
                    <a:latin typeface="Bookman Old Style" panose="02050604050505020204" pitchFamily="18" charset="0"/>
                    <a:cs typeface="Times New Roman"/>
                  </a:rPr>
                  <a:t>algébrique</a:t>
                </a:r>
                <a:r>
                  <a:rPr lang="fr-FR" sz="1400" spc="1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(on</a:t>
                </a:r>
                <a:r>
                  <a:rPr lang="fr-FR" sz="1400" spc="-2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tient</a:t>
                </a:r>
                <a:r>
                  <a:rPr lang="fr-FR" sz="1400" spc="-2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compte</a:t>
                </a:r>
                <a:r>
                  <a:rPr lang="fr-FR" sz="1400" spc="-1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de</a:t>
                </a:r>
                <a:r>
                  <a:rPr lang="fr-FR" sz="1400" spc="-2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leur</a:t>
                </a:r>
                <a:r>
                  <a:rPr lang="fr-FR" sz="1400" spc="-2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signe)</a:t>
                </a:r>
                <a:r>
                  <a:rPr lang="fr-FR" sz="1400" spc="-1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des</a:t>
                </a:r>
                <a:r>
                  <a:rPr lang="fr-FR" sz="1400" spc="-3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tensions</a:t>
                </a:r>
                <a:r>
                  <a:rPr lang="fr-FR" sz="1400" spc="-1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est</a:t>
                </a:r>
                <a:r>
                  <a:rPr lang="fr-FR" sz="1400" spc="-2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nulle</a:t>
                </a:r>
                <a:r>
                  <a:rPr lang="fr-FR" sz="1400" spc="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a:t>
                </a:r>
                <a:r>
                  <a:rPr lang="fr-FR" sz="1400" spc="-30" dirty="0">
                    <a:latin typeface="Bookman Old Style" panose="02050604050505020204" pitchFamily="18" charset="0"/>
                    <a:cs typeface="Times New Roman"/>
                  </a:rPr>
                  <a:t> </a:t>
                </a:r>
                <a14:m>
                  <m:oMath xmlns:m="http://schemas.openxmlformats.org/officeDocument/2006/math">
                    <m:r>
                      <a:rPr lang="fr-FR" sz="2000" b="1" i="0" spc="-20" dirty="0" smtClean="0">
                        <a:latin typeface="Cambria Math" panose="02040503050406030204" pitchFamily="18" charset="0"/>
                        <a:cs typeface="Times New Roman"/>
                      </a:rPr>
                      <m:t>𝚺</m:t>
                    </m:r>
                    <m:r>
                      <a:rPr lang="fr-FR" sz="2000" b="1" i="1" spc="-20" dirty="0" smtClean="0">
                        <a:latin typeface="Cambria Math" panose="02040503050406030204" pitchFamily="18" charset="0"/>
                        <a:cs typeface="Times New Roman"/>
                      </a:rPr>
                      <m:t>𝑼</m:t>
                    </m:r>
                    <m:r>
                      <a:rPr lang="fr-FR" sz="2000" b="1" i="1" spc="-20" dirty="0" smtClean="0">
                        <a:latin typeface="Cambria Math" panose="02040503050406030204" pitchFamily="18" charset="0"/>
                        <a:cs typeface="Times New Roman"/>
                      </a:rPr>
                      <m:t>=</m:t>
                    </m:r>
                    <m:r>
                      <a:rPr lang="fr-FR" sz="2000" b="1" i="1" spc="-20" dirty="0" smtClean="0">
                        <a:latin typeface="Cambria Math" panose="02040503050406030204" pitchFamily="18" charset="0"/>
                        <a:cs typeface="Times New Roman"/>
                      </a:rPr>
                      <m:t>𝟎</m:t>
                    </m:r>
                  </m:oMath>
                </a14:m>
                <a:endParaRPr lang="fr-FR" sz="2000" dirty="0">
                  <a:latin typeface="Bookman Old Style" panose="02050604050505020204" pitchFamily="18" charset="0"/>
                  <a:cs typeface="Times New Roman"/>
                </a:endParaRPr>
              </a:p>
              <a:p>
                <a:pPr marL="12700" marR="5080">
                  <a:spcBef>
                    <a:spcPts val="100"/>
                  </a:spcBef>
                </a:pPr>
                <a:r>
                  <a:rPr lang="fr-FR" sz="1400" b="1" dirty="0">
                    <a:latin typeface="Bookman Old Style" panose="02050604050505020204" pitchFamily="18" charset="0"/>
                    <a:cs typeface="Times New Roman"/>
                  </a:rPr>
                  <a:t>          Une maille,</a:t>
                </a:r>
                <a:r>
                  <a:rPr lang="fr-FR" sz="1400" spc="-1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est</a:t>
                </a:r>
                <a:r>
                  <a:rPr lang="fr-FR" sz="1400" spc="-3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un</a:t>
                </a:r>
                <a:r>
                  <a:rPr lang="fr-FR" sz="1400" spc="-3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circuit</a:t>
                </a:r>
                <a:r>
                  <a:rPr lang="fr-FR" sz="1400" spc="-1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électrique</a:t>
                </a:r>
                <a:r>
                  <a:rPr lang="fr-FR" sz="1400" spc="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fermé,</a:t>
                </a:r>
                <a:r>
                  <a:rPr lang="fr-FR" sz="1400" spc="-5"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pouvant</a:t>
                </a:r>
                <a:r>
                  <a:rPr lang="fr-FR" sz="1400" spc="-2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contenir</a:t>
                </a:r>
                <a:r>
                  <a:rPr lang="fr-FR" sz="1400" spc="-20" dirty="0">
                    <a:latin typeface="Bookman Old Style" panose="02050604050505020204" pitchFamily="18" charset="0"/>
                    <a:cs typeface="Times New Roman"/>
                  </a:rPr>
                  <a:t> </a:t>
                </a:r>
                <a:r>
                  <a:rPr lang="fr-FR" sz="1400" dirty="0">
                    <a:latin typeface="Bookman Old Style" panose="02050604050505020204" pitchFamily="18" charset="0"/>
                    <a:cs typeface="Times New Roman"/>
                  </a:rPr>
                  <a:t>des</a:t>
                </a:r>
                <a:r>
                  <a:rPr lang="fr-FR" sz="1400" spc="-30" dirty="0">
                    <a:latin typeface="Bookman Old Style" panose="02050604050505020204" pitchFamily="18" charset="0"/>
                    <a:cs typeface="Times New Roman"/>
                  </a:rPr>
                  <a:t> </a:t>
                </a:r>
                <a:r>
                  <a:rPr lang="fr-FR" sz="1400" b="1" dirty="0">
                    <a:latin typeface="Bookman Old Style" panose="02050604050505020204" pitchFamily="18" charset="0"/>
                    <a:cs typeface="Times New Roman"/>
                  </a:rPr>
                  <a:t>générateurs</a:t>
                </a:r>
                <a:r>
                  <a:rPr lang="fr-FR" sz="1400" b="1" spc="25" dirty="0">
                    <a:latin typeface="Bookman Old Style" panose="02050604050505020204" pitchFamily="18" charset="0"/>
                    <a:cs typeface="Times New Roman"/>
                  </a:rPr>
                  <a:t> </a:t>
                </a:r>
                <a:r>
                  <a:rPr lang="fr-FR" sz="1400" b="1" dirty="0">
                    <a:latin typeface="Bookman Old Style" panose="02050604050505020204" pitchFamily="18" charset="0"/>
                    <a:cs typeface="Times New Roman"/>
                  </a:rPr>
                  <a:t>et/ou</a:t>
                </a:r>
                <a:r>
                  <a:rPr lang="fr-FR" sz="1400" b="1" spc="-25" dirty="0">
                    <a:latin typeface="Bookman Old Style" panose="02050604050505020204" pitchFamily="18" charset="0"/>
                    <a:cs typeface="Times New Roman"/>
                  </a:rPr>
                  <a:t> </a:t>
                </a:r>
                <a:r>
                  <a:rPr lang="fr-FR" sz="1400" b="1" dirty="0">
                    <a:latin typeface="Bookman Old Style" panose="02050604050505020204" pitchFamily="18" charset="0"/>
                    <a:cs typeface="Times New Roman"/>
                  </a:rPr>
                  <a:t>des</a:t>
                </a:r>
                <a:r>
                  <a:rPr lang="fr-FR" sz="1400" b="1" spc="-5" dirty="0">
                    <a:latin typeface="Bookman Old Style" panose="02050604050505020204" pitchFamily="18" charset="0"/>
                    <a:cs typeface="Times New Roman"/>
                  </a:rPr>
                  <a:t> </a:t>
                </a:r>
                <a:r>
                  <a:rPr lang="fr-FR" sz="1400" b="1" dirty="0">
                    <a:latin typeface="Bookman Old Style" panose="02050604050505020204" pitchFamily="18" charset="0"/>
                    <a:cs typeface="Times New Roman"/>
                  </a:rPr>
                  <a:t>récepteurs</a:t>
                </a:r>
                <a:r>
                  <a:rPr lang="fr-FR" sz="1400" dirty="0">
                    <a:latin typeface="Bookman Old Style" panose="02050604050505020204" pitchFamily="18" charset="0"/>
                    <a:cs typeface="Times New Roman"/>
                  </a:rPr>
                  <a:t>.</a:t>
                </a:r>
              </a:p>
              <a:p>
                <a:pPr marL="12700" marR="5080">
                  <a:spcBef>
                    <a:spcPts val="100"/>
                  </a:spcBef>
                </a:pPr>
                <a:endParaRPr lang="fr-FR" sz="1400" dirty="0">
                  <a:latin typeface="Bookman Old Style" panose="02050604050505020204" pitchFamily="18" charset="0"/>
                  <a:cs typeface="Times New Roman"/>
                </a:endParaRPr>
              </a:p>
              <a:p>
                <a:pPr marL="298450" marR="5080" indent="-285750">
                  <a:lnSpc>
                    <a:spcPct val="100000"/>
                  </a:lnSpc>
                  <a:spcBef>
                    <a:spcPts val="100"/>
                  </a:spcBef>
                  <a:buFont typeface="Wingdings" panose="05000000000000000000" pitchFamily="2" charset="2"/>
                  <a:buChar char="Ø"/>
                </a:pPr>
                <a:r>
                  <a:rPr lang="fr-FR" sz="1400" b="1" dirty="0">
                    <a:solidFill>
                      <a:srgbClr val="0000FF"/>
                    </a:solidFill>
                    <a:latin typeface="Bookman Old Style" panose="02050604050505020204" pitchFamily="18" charset="0"/>
                    <a:cs typeface="Times New Roman"/>
                  </a:rPr>
                  <a:t>Étapes clés pour appliquer la loi des mailles</a:t>
                </a:r>
              </a:p>
            </p:txBody>
          </p:sp>
        </mc:Choice>
        <mc:Fallback xmlns="">
          <p:sp>
            <p:nvSpPr>
              <p:cNvPr id="5" name="TextBox 4">
                <a:extLst>
                  <a:ext uri="{FF2B5EF4-FFF2-40B4-BE49-F238E27FC236}">
                    <a16:creationId xmlns:a16="http://schemas.microsoft.com/office/drawing/2014/main" id="{C319E4B3-C672-2386-AADF-C9F4EFCEFB3E}"/>
                  </a:ext>
                </a:extLst>
              </p:cNvPr>
              <p:cNvSpPr txBox="1">
                <a:spLocks noRot="1" noChangeAspect="1" noMove="1" noResize="1" noEditPoints="1" noAdjustHandles="1" noChangeArrowheads="1" noChangeShapeType="1" noTextEdit="1"/>
              </p:cNvSpPr>
              <p:nvPr/>
            </p:nvSpPr>
            <p:spPr>
              <a:xfrm>
                <a:off x="672714" y="1482143"/>
                <a:ext cx="8623686" cy="1515800"/>
              </a:xfrm>
              <a:prstGeom prst="rect">
                <a:avLst/>
              </a:prstGeom>
              <a:blipFill>
                <a:blip r:embed="rId3"/>
                <a:stretch>
                  <a:fillRect l="-71" t="-803" b="-3213"/>
                </a:stretch>
              </a:blipFill>
            </p:spPr>
            <p:txBody>
              <a:bodyPr/>
              <a:lstStyle/>
              <a:p>
                <a:r>
                  <a:rPr lang="fr-FR">
                    <a:noFill/>
                  </a:rPr>
                  <a:t> </a:t>
                </a:r>
              </a:p>
            </p:txBody>
          </p:sp>
        </mc:Fallback>
      </mc:AlternateContent>
      <p:sp>
        <p:nvSpPr>
          <p:cNvPr id="16" name="Arrow: Right 15">
            <a:extLst>
              <a:ext uri="{FF2B5EF4-FFF2-40B4-BE49-F238E27FC236}">
                <a16:creationId xmlns:a16="http://schemas.microsoft.com/office/drawing/2014/main" id="{53B27B37-2FCB-5381-DD92-4FA6D3040519}"/>
              </a:ext>
            </a:extLst>
          </p:cNvPr>
          <p:cNvSpPr/>
          <p:nvPr/>
        </p:nvSpPr>
        <p:spPr>
          <a:xfrm>
            <a:off x="990600" y="2099609"/>
            <a:ext cx="276640" cy="15240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15">
            <a:extLst>
              <a:ext uri="{FF2B5EF4-FFF2-40B4-BE49-F238E27FC236}">
                <a16:creationId xmlns:a16="http://schemas.microsoft.com/office/drawing/2014/main" id="{0C9C773A-921D-11AA-26D4-8F59503B93ED}"/>
              </a:ext>
            </a:extLst>
          </p:cNvPr>
          <p:cNvSpPr txBox="1">
            <a:spLocks noChangeArrowheads="1"/>
          </p:cNvSpPr>
          <p:nvPr/>
        </p:nvSpPr>
        <p:spPr bwMode="auto">
          <a:xfrm>
            <a:off x="6464869" y="2727266"/>
            <a:ext cx="2595864" cy="30777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b="1">
                <a:solidFill>
                  <a:srgbClr val="0000FF"/>
                </a:solidFill>
                <a:latin typeface="Bookman Old Style" panose="02050604050505020204" pitchFamily="18" charset="0"/>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sz="1400" u="sng" dirty="0">
                <a:solidFill>
                  <a:schemeClr val="accent2"/>
                </a:solidFill>
              </a:rPr>
              <a:t>Exemple</a:t>
            </a:r>
            <a:endParaRPr lang="fr-FR" altLang="fr-FR" sz="1400" u="sng" dirty="0">
              <a:solidFill>
                <a:schemeClr val="accent2"/>
              </a:solidFill>
            </a:endParaRPr>
          </a:p>
        </p:txBody>
      </p:sp>
      <p:sp>
        <p:nvSpPr>
          <p:cNvPr id="11" name="TextBox 10">
            <a:extLst>
              <a:ext uri="{FF2B5EF4-FFF2-40B4-BE49-F238E27FC236}">
                <a16:creationId xmlns:a16="http://schemas.microsoft.com/office/drawing/2014/main" id="{35A5E8F5-D29D-6B2E-CBE9-126FAD83F141}"/>
              </a:ext>
            </a:extLst>
          </p:cNvPr>
          <p:cNvSpPr txBox="1"/>
          <p:nvPr/>
        </p:nvSpPr>
        <p:spPr>
          <a:xfrm>
            <a:off x="1018446" y="2976305"/>
            <a:ext cx="4647500" cy="954107"/>
          </a:xfrm>
          <a:prstGeom prst="rect">
            <a:avLst/>
          </a:prstGeom>
          <a:noFill/>
        </p:spPr>
        <p:txBody>
          <a:bodyPr wrap="square">
            <a:spAutoFit/>
          </a:bodyPr>
          <a:lstStyle/>
          <a:p>
            <a:pPr marL="342900" indent="-342900">
              <a:buFont typeface="+mj-lt"/>
              <a:buAutoNum type="arabicPeriod"/>
            </a:pPr>
            <a:r>
              <a:rPr lang="fr-FR" sz="1400" b="1" dirty="0">
                <a:latin typeface="Bookman Old Style" panose="02050604050505020204" pitchFamily="18" charset="0"/>
              </a:rPr>
              <a:t>On flèche les courants</a:t>
            </a:r>
          </a:p>
          <a:p>
            <a:pPr marL="342900" indent="-342900">
              <a:buFont typeface="+mj-lt"/>
              <a:buAutoNum type="arabicPeriod"/>
            </a:pPr>
            <a:r>
              <a:rPr lang="fr-FR" sz="1400" b="1" dirty="0">
                <a:latin typeface="Bookman Old Style" panose="02050604050505020204" pitchFamily="18" charset="0"/>
              </a:rPr>
              <a:t>On flèche les tensions</a:t>
            </a:r>
          </a:p>
          <a:p>
            <a:pPr marL="342900" indent="-342900">
              <a:buFont typeface="+mj-lt"/>
              <a:buAutoNum type="arabicPeriod"/>
            </a:pPr>
            <a:r>
              <a:rPr lang="fr-FR" sz="1400" b="1" dirty="0">
                <a:latin typeface="Bookman Old Style" panose="02050604050505020204" pitchFamily="18" charset="0"/>
              </a:rPr>
              <a:t>On choisir un sens de parcours des mailles</a:t>
            </a:r>
          </a:p>
          <a:p>
            <a:pPr marL="342900" indent="-342900">
              <a:buFont typeface="+mj-lt"/>
              <a:buAutoNum type="arabicPeriod"/>
            </a:pPr>
            <a:r>
              <a:rPr lang="fr-FR" sz="1400" b="1" dirty="0">
                <a:latin typeface="Bookman Old Style" panose="02050604050505020204" pitchFamily="18" charset="0"/>
              </a:rPr>
              <a:t>On écrit les équations de mailles</a:t>
            </a:r>
          </a:p>
        </p:txBody>
      </p:sp>
      <p:pic>
        <p:nvPicPr>
          <p:cNvPr id="12" name="object 10">
            <a:extLst>
              <a:ext uri="{FF2B5EF4-FFF2-40B4-BE49-F238E27FC236}">
                <a16:creationId xmlns:a16="http://schemas.microsoft.com/office/drawing/2014/main" id="{DD845D28-ACA8-D8F9-734C-39B9B39577B7}"/>
              </a:ext>
            </a:extLst>
          </p:cNvPr>
          <p:cNvPicPr/>
          <p:nvPr/>
        </p:nvPicPr>
        <p:blipFill>
          <a:blip r:embed="rId4" cstate="print"/>
          <a:stretch>
            <a:fillRect/>
          </a:stretch>
        </p:blipFill>
        <p:spPr>
          <a:xfrm>
            <a:off x="6156876" y="3139441"/>
            <a:ext cx="2755392" cy="1836420"/>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A68C1AA-302E-F1BC-867E-F3A2750CD200}"/>
                  </a:ext>
                </a:extLst>
              </p:cNvPr>
              <p:cNvSpPr txBox="1"/>
              <p:nvPr/>
            </p:nvSpPr>
            <p:spPr>
              <a:xfrm>
                <a:off x="762000" y="4177654"/>
                <a:ext cx="4647500" cy="954107"/>
              </a:xfrm>
              <a:prstGeom prst="rect">
                <a:avLst/>
              </a:prstGeom>
              <a:noFill/>
            </p:spPr>
            <p:txBody>
              <a:bodyPr wrap="square">
                <a:spAutoFit/>
              </a:bodyPr>
              <a:lstStyle/>
              <a:p>
                <a:r>
                  <a:rPr lang="fr-FR" sz="1400" dirty="0">
                    <a:latin typeface="Bookman Old Style" panose="02050604050505020204" pitchFamily="18" charset="0"/>
                  </a:rPr>
                  <a:t>On peut écrire 3 mailles :</a:t>
                </a:r>
              </a:p>
              <a:p>
                <a:pPr/>
                <a14:m>
                  <m:oMathPara xmlns:m="http://schemas.openxmlformats.org/officeDocument/2006/math">
                    <m:oMathParaPr>
                      <m:jc m:val="centerGroup"/>
                    </m:oMathParaPr>
                    <m:oMath xmlns:m="http://schemas.openxmlformats.org/officeDocument/2006/math">
                      <m:sSub>
                        <m:sSubPr>
                          <m:ctrlPr>
                            <a:rPr lang="fr-FR" sz="1400" b="1" i="1" dirty="0" smtClean="0">
                              <a:latin typeface="Cambria Math" panose="02040503050406030204" pitchFamily="18" charset="0"/>
                            </a:rPr>
                          </m:ctrlPr>
                        </m:sSubPr>
                        <m:e>
                          <m:r>
                            <a:rPr lang="fr-FR" sz="1400" b="1" i="1" dirty="0" smtClean="0">
                              <a:latin typeface="Cambria Math" panose="02040503050406030204" pitchFamily="18" charset="0"/>
                            </a:rPr>
                            <m:t>𝑼</m:t>
                          </m:r>
                        </m:e>
                        <m:sub>
                          <m:r>
                            <a:rPr lang="fr-FR" sz="1400" b="1" i="1" dirty="0" smtClean="0">
                              <a:latin typeface="Cambria Math" panose="02040503050406030204" pitchFamily="18" charset="0"/>
                            </a:rPr>
                            <m:t>𝟐</m:t>
                          </m:r>
                        </m:sub>
                      </m:sSub>
                      <m:r>
                        <a:rPr lang="fr-FR" sz="1400" b="1" i="1" dirty="0">
                          <a:latin typeface="Cambria Math" panose="02040503050406030204" pitchFamily="18" charset="0"/>
                        </a:rPr>
                        <m:t>+</m:t>
                      </m:r>
                      <m:sSub>
                        <m:sSubPr>
                          <m:ctrlPr>
                            <a:rPr lang="fr-FR" sz="1400" b="1" i="1" dirty="0">
                              <a:latin typeface="Cambria Math" panose="02040503050406030204" pitchFamily="18" charset="0"/>
                            </a:rPr>
                          </m:ctrlPr>
                        </m:sSubPr>
                        <m:e>
                          <m:r>
                            <a:rPr lang="fr-FR" sz="1400" b="1" i="1" dirty="0">
                              <a:latin typeface="Cambria Math" panose="02040503050406030204" pitchFamily="18" charset="0"/>
                            </a:rPr>
                            <m:t>𝑼</m:t>
                          </m:r>
                        </m:e>
                        <m:sub>
                          <m:r>
                            <a:rPr lang="fr-FR" sz="1400" b="1" i="1" dirty="0" smtClean="0">
                              <a:latin typeface="Cambria Math" panose="02040503050406030204" pitchFamily="18" charset="0"/>
                            </a:rPr>
                            <m:t>𝟏</m:t>
                          </m:r>
                        </m:sub>
                      </m:sSub>
                      <m:r>
                        <a:rPr lang="fr-FR" sz="1400" b="1" i="1" dirty="0">
                          <a:latin typeface="Cambria Math" panose="02040503050406030204" pitchFamily="18" charset="0"/>
                        </a:rPr>
                        <m:t>– </m:t>
                      </m:r>
                      <m:r>
                        <a:rPr lang="fr-FR" sz="1400" b="1" i="1" dirty="0">
                          <a:latin typeface="Cambria Math" panose="02040503050406030204" pitchFamily="18" charset="0"/>
                        </a:rPr>
                        <m:t>𝑬</m:t>
                      </m:r>
                      <m:r>
                        <a:rPr lang="fr-FR" sz="1400" b="1" i="1" dirty="0">
                          <a:latin typeface="Cambria Math" panose="02040503050406030204" pitchFamily="18" charset="0"/>
                        </a:rPr>
                        <m:t> = </m:t>
                      </m:r>
                      <m:r>
                        <a:rPr lang="fr-FR" sz="1400" b="1" i="1" dirty="0" smtClean="0">
                          <a:latin typeface="Cambria Math" panose="02040503050406030204" pitchFamily="18" charset="0"/>
                        </a:rPr>
                        <m:t>𝟎</m:t>
                      </m:r>
                    </m:oMath>
                  </m:oMathPara>
                </a14:m>
                <a:endParaRPr lang="fr-FR" sz="1400" b="1" dirty="0">
                  <a:latin typeface="Bookman Old Style" panose="02050604050505020204" pitchFamily="18" charset="0"/>
                </a:endParaRPr>
              </a:p>
              <a:p>
                <a:pPr/>
                <a14:m>
                  <m:oMathPara xmlns:m="http://schemas.openxmlformats.org/officeDocument/2006/math">
                    <m:oMathParaPr>
                      <m:jc m:val="centerGroup"/>
                    </m:oMathParaPr>
                    <m:oMath xmlns:m="http://schemas.openxmlformats.org/officeDocument/2006/math">
                      <m:sSub>
                        <m:sSubPr>
                          <m:ctrlPr>
                            <a:rPr lang="fr-FR" sz="1400" b="1" i="1" dirty="0">
                              <a:latin typeface="Cambria Math" panose="02040503050406030204" pitchFamily="18" charset="0"/>
                            </a:rPr>
                          </m:ctrlPr>
                        </m:sSubPr>
                        <m:e>
                          <m:r>
                            <a:rPr lang="fr-FR" sz="1400" b="1" i="1" dirty="0">
                              <a:latin typeface="Cambria Math" panose="02040503050406030204" pitchFamily="18" charset="0"/>
                            </a:rPr>
                            <m:t>𝑼</m:t>
                          </m:r>
                        </m:e>
                        <m:sub>
                          <m:r>
                            <a:rPr lang="fr-FR" sz="1400" b="1" i="1" dirty="0" smtClean="0">
                              <a:latin typeface="Cambria Math" panose="02040503050406030204" pitchFamily="18" charset="0"/>
                            </a:rPr>
                            <m:t>𝟒</m:t>
                          </m:r>
                        </m:sub>
                      </m:sSub>
                      <m:r>
                        <a:rPr lang="fr-FR" sz="1400" b="1" i="1" dirty="0">
                          <a:latin typeface="Cambria Math" panose="02040503050406030204" pitchFamily="18" charset="0"/>
                        </a:rPr>
                        <m:t>+</m:t>
                      </m:r>
                      <m:sSub>
                        <m:sSubPr>
                          <m:ctrlPr>
                            <a:rPr lang="fr-FR" sz="1400" b="1" i="1" dirty="0">
                              <a:latin typeface="Cambria Math" panose="02040503050406030204" pitchFamily="18" charset="0"/>
                            </a:rPr>
                          </m:ctrlPr>
                        </m:sSubPr>
                        <m:e>
                          <m:r>
                            <a:rPr lang="fr-FR" sz="1400" b="1" i="1" dirty="0">
                              <a:latin typeface="Cambria Math" panose="02040503050406030204" pitchFamily="18" charset="0"/>
                            </a:rPr>
                            <m:t>𝑼</m:t>
                          </m:r>
                        </m:e>
                        <m:sub>
                          <m:r>
                            <a:rPr lang="fr-FR" sz="1400" b="1" i="1" dirty="0" smtClean="0">
                              <a:latin typeface="Cambria Math" panose="02040503050406030204" pitchFamily="18" charset="0"/>
                            </a:rPr>
                            <m:t>𝟑</m:t>
                          </m:r>
                        </m:sub>
                      </m:sSub>
                      <m:r>
                        <a:rPr lang="fr-FR" sz="1400" b="1" i="1" dirty="0">
                          <a:latin typeface="Cambria Math" panose="02040503050406030204" pitchFamily="18" charset="0"/>
                        </a:rPr>
                        <m:t>+</m:t>
                      </m:r>
                      <m:sSub>
                        <m:sSubPr>
                          <m:ctrlPr>
                            <a:rPr lang="fr-FR" sz="1400" b="1" i="1" dirty="0">
                              <a:latin typeface="Cambria Math" panose="02040503050406030204" pitchFamily="18" charset="0"/>
                            </a:rPr>
                          </m:ctrlPr>
                        </m:sSubPr>
                        <m:e>
                          <m:r>
                            <a:rPr lang="fr-FR" sz="1400" b="1" i="1" dirty="0">
                              <a:latin typeface="Cambria Math" panose="02040503050406030204" pitchFamily="18" charset="0"/>
                            </a:rPr>
                            <m:t>𝑼</m:t>
                          </m:r>
                        </m:e>
                        <m:sub>
                          <m:r>
                            <a:rPr lang="fr-FR" sz="1400" b="1" i="1" dirty="0" smtClean="0">
                              <a:latin typeface="Cambria Math" panose="02040503050406030204" pitchFamily="18" charset="0"/>
                            </a:rPr>
                            <m:t>𝟏</m:t>
                          </m:r>
                        </m:sub>
                      </m:sSub>
                      <m:r>
                        <a:rPr lang="fr-FR" sz="1400" b="1" i="1" dirty="0">
                          <a:latin typeface="Cambria Math" panose="02040503050406030204" pitchFamily="18" charset="0"/>
                        </a:rPr>
                        <m:t>– </m:t>
                      </m:r>
                      <m:r>
                        <a:rPr lang="fr-FR" sz="1400" b="1" i="1" dirty="0">
                          <a:latin typeface="Cambria Math" panose="02040503050406030204" pitchFamily="18" charset="0"/>
                        </a:rPr>
                        <m:t>𝑬</m:t>
                      </m:r>
                      <m:r>
                        <a:rPr lang="fr-FR" sz="1400" b="1" i="1" dirty="0">
                          <a:latin typeface="Cambria Math" panose="02040503050406030204" pitchFamily="18" charset="0"/>
                        </a:rPr>
                        <m:t> = </m:t>
                      </m:r>
                      <m:r>
                        <a:rPr lang="fr-FR" sz="1400" b="1" i="1" dirty="0" smtClean="0">
                          <a:latin typeface="Cambria Math" panose="02040503050406030204" pitchFamily="18" charset="0"/>
                        </a:rPr>
                        <m:t>𝟎</m:t>
                      </m:r>
                    </m:oMath>
                  </m:oMathPara>
                </a14:m>
                <a:endParaRPr lang="fr-FR" sz="1400" b="1" dirty="0">
                  <a:latin typeface="Bookman Old Style" panose="02050604050505020204" pitchFamily="18" charset="0"/>
                </a:endParaRPr>
              </a:p>
              <a:p>
                <a:pPr/>
                <a14:m>
                  <m:oMathPara xmlns:m="http://schemas.openxmlformats.org/officeDocument/2006/math">
                    <m:oMathParaPr>
                      <m:jc m:val="centerGroup"/>
                    </m:oMathParaPr>
                    <m:oMath xmlns:m="http://schemas.openxmlformats.org/officeDocument/2006/math">
                      <m:sSub>
                        <m:sSubPr>
                          <m:ctrlPr>
                            <a:rPr lang="fr-FR" sz="1400" b="1" i="1" dirty="0">
                              <a:latin typeface="Cambria Math" panose="02040503050406030204" pitchFamily="18" charset="0"/>
                            </a:rPr>
                          </m:ctrlPr>
                        </m:sSubPr>
                        <m:e>
                          <m:r>
                            <a:rPr lang="fr-FR" sz="1400" b="1" i="1" dirty="0">
                              <a:latin typeface="Cambria Math" panose="02040503050406030204" pitchFamily="18" charset="0"/>
                            </a:rPr>
                            <m:t>𝑼</m:t>
                          </m:r>
                        </m:e>
                        <m:sub>
                          <m:r>
                            <a:rPr lang="fr-FR" sz="1400" b="1" i="1" dirty="0" smtClean="0">
                              <a:latin typeface="Cambria Math" panose="02040503050406030204" pitchFamily="18" charset="0"/>
                            </a:rPr>
                            <m:t>𝟒</m:t>
                          </m:r>
                        </m:sub>
                      </m:sSub>
                      <m:r>
                        <a:rPr lang="fr-FR" sz="1400" b="1" i="1" dirty="0">
                          <a:latin typeface="Cambria Math" panose="02040503050406030204" pitchFamily="18" charset="0"/>
                        </a:rPr>
                        <m:t> +</m:t>
                      </m:r>
                      <m:sSub>
                        <m:sSubPr>
                          <m:ctrlPr>
                            <a:rPr lang="fr-FR" sz="1400" b="1" i="1" dirty="0">
                              <a:latin typeface="Cambria Math" panose="02040503050406030204" pitchFamily="18" charset="0"/>
                            </a:rPr>
                          </m:ctrlPr>
                        </m:sSubPr>
                        <m:e>
                          <m:r>
                            <a:rPr lang="fr-FR" sz="1400" b="1" i="1" dirty="0">
                              <a:latin typeface="Cambria Math" panose="02040503050406030204" pitchFamily="18" charset="0"/>
                            </a:rPr>
                            <m:t>𝑼</m:t>
                          </m:r>
                        </m:e>
                        <m:sub>
                          <m:r>
                            <a:rPr lang="fr-FR" sz="1400" b="1" i="1" dirty="0" smtClean="0">
                              <a:latin typeface="Cambria Math" panose="02040503050406030204" pitchFamily="18" charset="0"/>
                            </a:rPr>
                            <m:t>𝟑</m:t>
                          </m:r>
                        </m:sub>
                      </m:sSub>
                      <m:r>
                        <a:rPr lang="fr-FR" sz="1400" b="1" i="1" dirty="0">
                          <a:latin typeface="Cambria Math" panose="02040503050406030204" pitchFamily="18" charset="0"/>
                        </a:rPr>
                        <m:t>–</m:t>
                      </m:r>
                      <m:sSub>
                        <m:sSubPr>
                          <m:ctrlPr>
                            <a:rPr lang="fr-FR" sz="1400" b="1" i="1" dirty="0">
                              <a:latin typeface="Cambria Math" panose="02040503050406030204" pitchFamily="18" charset="0"/>
                            </a:rPr>
                          </m:ctrlPr>
                        </m:sSubPr>
                        <m:e>
                          <m:r>
                            <a:rPr lang="fr-FR" sz="1400" b="1" i="1" dirty="0">
                              <a:latin typeface="Cambria Math" panose="02040503050406030204" pitchFamily="18" charset="0"/>
                            </a:rPr>
                            <m:t>𝑼</m:t>
                          </m:r>
                        </m:e>
                        <m:sub>
                          <m:r>
                            <a:rPr lang="fr-FR" sz="1400" b="1" i="1" dirty="0">
                              <a:latin typeface="Cambria Math" panose="02040503050406030204" pitchFamily="18" charset="0"/>
                            </a:rPr>
                            <m:t>𝟐</m:t>
                          </m:r>
                        </m:sub>
                      </m:sSub>
                      <m:r>
                        <a:rPr lang="fr-FR" sz="1400" b="1" i="1" dirty="0">
                          <a:latin typeface="Cambria Math" panose="02040503050406030204" pitchFamily="18" charset="0"/>
                        </a:rPr>
                        <m:t>= </m:t>
                      </m:r>
                      <m:r>
                        <a:rPr lang="fr-FR" sz="1400" b="1" i="1" dirty="0">
                          <a:latin typeface="Cambria Math" panose="02040503050406030204" pitchFamily="18" charset="0"/>
                        </a:rPr>
                        <m:t>𝟎</m:t>
                      </m:r>
                    </m:oMath>
                  </m:oMathPara>
                </a14:m>
                <a:endParaRPr lang="fr-FR" sz="1400" b="1" dirty="0">
                  <a:latin typeface="Bookman Old Style" panose="02050604050505020204" pitchFamily="18" charset="0"/>
                </a:endParaRPr>
              </a:p>
            </p:txBody>
          </p:sp>
        </mc:Choice>
        <mc:Fallback xmlns="">
          <p:sp>
            <p:nvSpPr>
              <p:cNvPr id="17" name="TextBox 16">
                <a:extLst>
                  <a:ext uri="{FF2B5EF4-FFF2-40B4-BE49-F238E27FC236}">
                    <a16:creationId xmlns:a16="http://schemas.microsoft.com/office/drawing/2014/main" id="{6A68C1AA-302E-F1BC-867E-F3A2750CD200}"/>
                  </a:ext>
                </a:extLst>
              </p:cNvPr>
              <p:cNvSpPr txBox="1">
                <a:spLocks noRot="1" noChangeAspect="1" noMove="1" noResize="1" noEditPoints="1" noAdjustHandles="1" noChangeArrowheads="1" noChangeShapeType="1" noTextEdit="1"/>
              </p:cNvSpPr>
              <p:nvPr/>
            </p:nvSpPr>
            <p:spPr>
              <a:xfrm>
                <a:off x="762000" y="4177654"/>
                <a:ext cx="4647500" cy="954107"/>
              </a:xfrm>
              <a:prstGeom prst="rect">
                <a:avLst/>
              </a:prstGeom>
              <a:blipFill>
                <a:blip r:embed="rId5"/>
                <a:stretch>
                  <a:fillRect l="-394" t="-637"/>
                </a:stretch>
              </a:blipFill>
            </p:spPr>
            <p:txBody>
              <a:bodyPr/>
              <a:lstStyle/>
              <a:p>
                <a:r>
                  <a:rPr lang="fr-FR">
                    <a:noFill/>
                  </a:rPr>
                  <a:t> </a:t>
                </a:r>
              </a:p>
            </p:txBody>
          </p:sp>
        </mc:Fallback>
      </mc:AlternateContent>
      <p:sp>
        <p:nvSpPr>
          <p:cNvPr id="22" name="Rectangle: Rounded Corners 21">
            <a:extLst>
              <a:ext uri="{FF2B5EF4-FFF2-40B4-BE49-F238E27FC236}">
                <a16:creationId xmlns:a16="http://schemas.microsoft.com/office/drawing/2014/main" id="{9A06A815-7C5B-E8C5-CEBC-7A18A7BA10B5}"/>
              </a:ext>
            </a:extLst>
          </p:cNvPr>
          <p:cNvSpPr/>
          <p:nvPr/>
        </p:nvSpPr>
        <p:spPr>
          <a:xfrm flipH="1">
            <a:off x="5846551" y="2727266"/>
            <a:ext cx="45719" cy="2135617"/>
          </a:xfrm>
          <a:prstGeom prst="round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107306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wipe(down)">
                                      <p:cBhvr>
                                        <p:cTn id="7" dur="5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6" presetClass="entr" presetSubtype="16" fill="hold" nodeType="clickEffect">
                                  <p:stCondLst>
                                    <p:cond delay="0"/>
                                  </p:stCondLst>
                                  <p:childTnLst>
                                    <p:set>
                                      <p:cBhvr>
                                        <p:cTn id="11" dur="1" fill="hold">
                                          <p:stCondLst>
                                            <p:cond delay="0"/>
                                          </p:stCondLst>
                                        </p:cTn>
                                        <p:tgtEl>
                                          <p:spTgt spid="11">
                                            <p:txEl>
                                              <p:pRg st="1" end="1"/>
                                            </p:txEl>
                                          </p:spTgt>
                                        </p:tgtEl>
                                        <p:attrNameLst>
                                          <p:attrName>style.visibility</p:attrName>
                                        </p:attrNameLst>
                                      </p:cBhvr>
                                      <p:to>
                                        <p:strVal val="visible"/>
                                      </p:to>
                                    </p:set>
                                    <p:animEffect transition="in" filter="circle(in)">
                                      <p:cBhvr>
                                        <p:cTn id="12" dur="2000"/>
                                        <p:tgtEl>
                                          <p:spTgt spid="1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11">
                                            <p:txEl>
                                              <p:pRg st="2" end="2"/>
                                            </p:txEl>
                                          </p:spTgt>
                                        </p:tgtEl>
                                        <p:attrNameLst>
                                          <p:attrName>style.visibility</p:attrName>
                                        </p:attrNameLst>
                                      </p:cBhvr>
                                      <p:to>
                                        <p:strVal val="visible"/>
                                      </p:to>
                                    </p:set>
                                    <p:animEffect transition="in" filter="wipe(down)">
                                      <p:cBhvr>
                                        <p:cTn id="17" dur="500"/>
                                        <p:tgtEl>
                                          <p:spTgt spid="1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1" presetClass="entr" presetSubtype="1" fill="hold" nodeType="click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animEffect transition="in" filter="wheel(1)">
                                      <p:cBhvr>
                                        <p:cTn id="22" dur="2000"/>
                                        <p:tgtEl>
                                          <p:spTgt spid="1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anim calcmode="lin" valueType="num">
                                      <p:cBhvr>
                                        <p:cTn id="28" dur="1000" fill="hold"/>
                                        <p:tgtEl>
                                          <p:spTgt spid="12"/>
                                        </p:tgtEl>
                                        <p:attrNameLst>
                                          <p:attrName>ppt_x</p:attrName>
                                        </p:attrNameLst>
                                      </p:cBhvr>
                                      <p:tavLst>
                                        <p:tav tm="0">
                                          <p:val>
                                            <p:strVal val="#ppt_x"/>
                                          </p:val>
                                        </p:tav>
                                        <p:tav tm="100000">
                                          <p:val>
                                            <p:strVal val="#ppt_x"/>
                                          </p:val>
                                        </p:tav>
                                      </p:tavLst>
                                    </p:anim>
                                    <p:anim calcmode="lin" valueType="num">
                                      <p:cBhvr>
                                        <p:cTn id="29" dur="1000" fill="hold"/>
                                        <p:tgtEl>
                                          <p:spTgt spid="12"/>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1000"/>
                                        <p:tgtEl>
                                          <p:spTgt spid="22"/>
                                        </p:tgtEl>
                                      </p:cBhvr>
                                    </p:animEffect>
                                    <p:anim calcmode="lin" valueType="num">
                                      <p:cBhvr>
                                        <p:cTn id="33" dur="1000" fill="hold"/>
                                        <p:tgtEl>
                                          <p:spTgt spid="22"/>
                                        </p:tgtEl>
                                        <p:attrNameLst>
                                          <p:attrName>ppt_x</p:attrName>
                                        </p:attrNameLst>
                                      </p:cBhvr>
                                      <p:tavLst>
                                        <p:tav tm="0">
                                          <p:val>
                                            <p:strVal val="#ppt_x"/>
                                          </p:val>
                                        </p:tav>
                                        <p:tav tm="100000">
                                          <p:val>
                                            <p:strVal val="#ppt_x"/>
                                          </p:val>
                                        </p:tav>
                                      </p:tavLst>
                                    </p:anim>
                                    <p:anim calcmode="lin" valueType="num">
                                      <p:cBhvr>
                                        <p:cTn id="34" dur="1000" fill="hold"/>
                                        <p:tgtEl>
                                          <p:spTgt spid="22"/>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anim calcmode="lin" valueType="num">
                                      <p:cBhvr>
                                        <p:cTn id="38" dur="1000" fill="hold"/>
                                        <p:tgtEl>
                                          <p:spTgt spid="24"/>
                                        </p:tgtEl>
                                        <p:attrNameLst>
                                          <p:attrName>ppt_x</p:attrName>
                                        </p:attrNameLst>
                                      </p:cBhvr>
                                      <p:tavLst>
                                        <p:tav tm="0">
                                          <p:val>
                                            <p:strVal val="#ppt_x"/>
                                          </p:val>
                                        </p:tav>
                                        <p:tav tm="100000">
                                          <p:val>
                                            <p:strVal val="#ppt_x"/>
                                          </p:val>
                                        </p:tav>
                                      </p:tavLst>
                                    </p:anim>
                                    <p:anim calcmode="lin" valueType="num">
                                      <p:cBhvr>
                                        <p:cTn id="39" dur="10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2" presetClass="entr" presetSubtype="4" fill="hold" grpId="0" nodeType="clickEffect">
                                  <p:stCondLst>
                                    <p:cond delay="0"/>
                                  </p:stCondLst>
                                  <p:childTnLst>
                                    <p:set>
                                      <p:cBhvr>
                                        <p:cTn id="43" dur="1" fill="hold">
                                          <p:stCondLst>
                                            <p:cond delay="0"/>
                                          </p:stCondLst>
                                        </p:cTn>
                                        <p:tgtEl>
                                          <p:spTgt spid="17"/>
                                        </p:tgtEl>
                                        <p:attrNameLst>
                                          <p:attrName>style.visibility</p:attrName>
                                        </p:attrNameLst>
                                      </p:cBhvr>
                                      <p:to>
                                        <p:strVal val="visible"/>
                                      </p:to>
                                    </p:set>
                                    <p:anim calcmode="lin" valueType="num">
                                      <p:cBhvr additive="base">
                                        <p:cTn id="44" dur="500" fill="hold"/>
                                        <p:tgtEl>
                                          <p:spTgt spid="17"/>
                                        </p:tgtEl>
                                        <p:attrNameLst>
                                          <p:attrName>ppt_x</p:attrName>
                                        </p:attrNameLst>
                                      </p:cBhvr>
                                      <p:tavLst>
                                        <p:tav tm="0">
                                          <p:val>
                                            <p:strVal val="#ppt_x"/>
                                          </p:val>
                                        </p:tav>
                                        <p:tav tm="100000">
                                          <p:val>
                                            <p:strVal val="#ppt_x"/>
                                          </p:val>
                                        </p:tav>
                                      </p:tavLst>
                                    </p:anim>
                                    <p:anim calcmode="lin" valueType="num">
                                      <p:cBhvr additive="base">
                                        <p:cTn id="45"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17" grpId="0"/>
      <p:bldP spid="22"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36</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2.9 </a:t>
            </a:r>
            <a:r>
              <a:rPr lang="fr-FR" altLang="fr-FR" sz="1400" b="1" spc="-5" dirty="0">
                <a:solidFill>
                  <a:srgbClr val="CC00CC"/>
                </a:solidFill>
                <a:latin typeface="Bookman Old Style" panose="02050604050505020204" pitchFamily="18" charset="0"/>
                <a:cs typeface="Arial"/>
              </a:rPr>
              <a:t>Association de résistances</a:t>
            </a:r>
          </a:p>
          <a:p>
            <a:pPr marL="12065" lvl="1">
              <a:lnSpc>
                <a:spcPct val="100000"/>
              </a:lnSpc>
              <a:spcBef>
                <a:spcPts val="100"/>
              </a:spcBef>
              <a:tabLst>
                <a:tab pos="393700" algn="l"/>
              </a:tabLst>
            </a:pPr>
            <a:r>
              <a:rPr lang="fr-FR" altLang="fr-FR" sz="1400" b="1" spc="-5" dirty="0">
                <a:solidFill>
                  <a:srgbClr val="CC00CC"/>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A</a:t>
            </a:r>
            <a:r>
              <a:rPr lang="fr-FR" sz="1200" b="1" spc="-5" dirty="0">
                <a:solidFill>
                  <a:schemeClr val="accent6">
                    <a:lumMod val="50000"/>
                  </a:schemeClr>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Associations parallèle </a:t>
            </a:r>
          </a:p>
        </p:txBody>
      </p:sp>
      <p:pic>
        <p:nvPicPr>
          <p:cNvPr id="28" name="Image 2">
            <a:extLst>
              <a:ext uri="{FF2B5EF4-FFF2-40B4-BE49-F238E27FC236}">
                <a16:creationId xmlns:a16="http://schemas.microsoft.com/office/drawing/2014/main" id="{856A908B-517A-D445-DC84-46D66AB3CC05}"/>
              </a:ext>
            </a:extLst>
          </p:cNvPr>
          <p:cNvPicPr>
            <a:picLocks noChangeAspect="1"/>
          </p:cNvPicPr>
          <p:nvPr/>
        </p:nvPicPr>
        <p:blipFill>
          <a:blip r:embed="rId3"/>
          <a:stretch>
            <a:fillRect/>
          </a:stretch>
        </p:blipFill>
        <p:spPr>
          <a:xfrm>
            <a:off x="2372943" y="1513155"/>
            <a:ext cx="4398114" cy="1232297"/>
          </a:xfrm>
          <a:prstGeom prst="rect">
            <a:avLst/>
          </a:prstGeom>
        </p:spPr>
      </p:pic>
      <mc:AlternateContent xmlns:mc="http://schemas.openxmlformats.org/markup-compatibility/2006" xmlns:a14="http://schemas.microsoft.com/office/drawing/2010/main">
        <mc:Choice Requires="a14">
          <p:sp>
            <p:nvSpPr>
              <p:cNvPr id="29" name="ZoneTexte 1">
                <a:extLst>
                  <a:ext uri="{FF2B5EF4-FFF2-40B4-BE49-F238E27FC236}">
                    <a16:creationId xmlns:a16="http://schemas.microsoft.com/office/drawing/2014/main" id="{8CB769EF-4867-EC8B-A45F-EF9D4C8E4320}"/>
                  </a:ext>
                </a:extLst>
              </p:cNvPr>
              <p:cNvSpPr txBox="1"/>
              <p:nvPr/>
            </p:nvSpPr>
            <p:spPr>
              <a:xfrm>
                <a:off x="228616" y="2996768"/>
                <a:ext cx="3710568" cy="56521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fr-FR" b="1" i="0" smtClean="0">
                          <a:solidFill>
                            <a:srgbClr val="0000FF"/>
                          </a:solidFill>
                          <a:latin typeface="Cambria Math" panose="02040503050406030204" pitchFamily="18" charset="0"/>
                        </a:rPr>
                        <m:t>𝐈</m:t>
                      </m:r>
                      <m:r>
                        <a:rPr lang="fr-FR" b="1" i="0" smtClean="0">
                          <a:solidFill>
                            <a:srgbClr val="0000FF"/>
                          </a:solidFill>
                          <a:latin typeface="Cambria Math" panose="02040503050406030204" pitchFamily="18" charset="0"/>
                        </a:rPr>
                        <m:t>=</m:t>
                      </m:r>
                      <m:sSub>
                        <m:sSubPr>
                          <m:ctrlPr>
                            <a:rPr lang="fr-FR" b="1" i="1" smtClean="0">
                              <a:solidFill>
                                <a:srgbClr val="0000FF"/>
                              </a:solidFill>
                              <a:latin typeface="Cambria Math" panose="02040503050406030204" pitchFamily="18" charset="0"/>
                            </a:rPr>
                          </m:ctrlPr>
                        </m:sSubPr>
                        <m:e>
                          <m:r>
                            <a:rPr lang="fr-FR" b="1" i="1" smtClean="0">
                              <a:solidFill>
                                <a:srgbClr val="0000FF"/>
                              </a:solidFill>
                              <a:latin typeface="Cambria Math" panose="02040503050406030204" pitchFamily="18" charset="0"/>
                            </a:rPr>
                            <m:t>𝑰</m:t>
                          </m:r>
                        </m:e>
                        <m:sub>
                          <m:r>
                            <a:rPr lang="fr-FR" b="1" i="1" smtClean="0">
                              <a:solidFill>
                                <a:srgbClr val="0000FF"/>
                              </a:solidFill>
                              <a:latin typeface="Cambria Math" panose="02040503050406030204" pitchFamily="18" charset="0"/>
                            </a:rPr>
                            <m:t>𝟏</m:t>
                          </m:r>
                        </m:sub>
                      </m:sSub>
                      <m:r>
                        <a:rPr lang="fr-FR" b="1" i="1" smtClean="0">
                          <a:solidFill>
                            <a:srgbClr val="0000FF"/>
                          </a:solidFill>
                          <a:latin typeface="Cambria Math" panose="02040503050406030204" pitchFamily="18" charset="0"/>
                        </a:rPr>
                        <m:t>+</m:t>
                      </m:r>
                      <m:sSub>
                        <m:sSubPr>
                          <m:ctrlPr>
                            <a:rPr lang="fr-FR" b="1" i="1" smtClean="0">
                              <a:solidFill>
                                <a:srgbClr val="0000FF"/>
                              </a:solidFill>
                              <a:latin typeface="Cambria Math" panose="02040503050406030204" pitchFamily="18" charset="0"/>
                            </a:rPr>
                          </m:ctrlPr>
                        </m:sSubPr>
                        <m:e>
                          <m:r>
                            <a:rPr lang="fr-FR" b="1" i="1">
                              <a:solidFill>
                                <a:srgbClr val="0000FF"/>
                              </a:solidFill>
                              <a:latin typeface="Cambria Math" panose="02040503050406030204" pitchFamily="18" charset="0"/>
                            </a:rPr>
                            <m:t>𝑰</m:t>
                          </m:r>
                        </m:e>
                        <m:sub>
                          <m:r>
                            <a:rPr lang="fr-FR" b="1" i="1" smtClean="0">
                              <a:solidFill>
                                <a:srgbClr val="0000FF"/>
                              </a:solidFill>
                              <a:latin typeface="Cambria Math" panose="02040503050406030204" pitchFamily="18" charset="0"/>
                            </a:rPr>
                            <m:t>𝟐</m:t>
                          </m:r>
                        </m:sub>
                      </m:sSub>
                      <m:r>
                        <a:rPr lang="fr-FR" b="1" i="1" smtClean="0">
                          <a:solidFill>
                            <a:srgbClr val="0000FF"/>
                          </a:solidFill>
                          <a:latin typeface="Cambria Math" panose="02040503050406030204" pitchFamily="18" charset="0"/>
                        </a:rPr>
                        <m:t>+</m:t>
                      </m:r>
                      <m:sSub>
                        <m:sSubPr>
                          <m:ctrlPr>
                            <a:rPr lang="fr-FR" b="1" i="1" smtClean="0">
                              <a:solidFill>
                                <a:srgbClr val="0000FF"/>
                              </a:solidFill>
                              <a:latin typeface="Cambria Math" panose="02040503050406030204" pitchFamily="18" charset="0"/>
                            </a:rPr>
                          </m:ctrlPr>
                        </m:sSubPr>
                        <m:e>
                          <m:r>
                            <a:rPr lang="fr-FR" b="1" i="1">
                              <a:solidFill>
                                <a:srgbClr val="0000FF"/>
                              </a:solidFill>
                              <a:latin typeface="Cambria Math" panose="02040503050406030204" pitchFamily="18" charset="0"/>
                            </a:rPr>
                            <m:t>𝑰</m:t>
                          </m:r>
                        </m:e>
                        <m:sub>
                          <m:r>
                            <a:rPr lang="fr-FR" b="1" i="1" smtClean="0">
                              <a:solidFill>
                                <a:srgbClr val="0000FF"/>
                              </a:solidFill>
                              <a:latin typeface="Cambria Math" panose="02040503050406030204" pitchFamily="18" charset="0"/>
                            </a:rPr>
                            <m:t>𝟑</m:t>
                          </m:r>
                        </m:sub>
                      </m:sSub>
                      <m:r>
                        <a:rPr lang="fr-FR" b="1" i="0" smtClean="0">
                          <a:solidFill>
                            <a:srgbClr val="0000FF"/>
                          </a:solidFill>
                          <a:latin typeface="Cambria Math" panose="02040503050406030204" pitchFamily="18" charset="0"/>
                        </a:rPr>
                        <m:t>= </m:t>
                      </m:r>
                      <m:f>
                        <m:fPr>
                          <m:ctrlPr>
                            <a:rPr lang="fr-FR" b="1" i="1" smtClean="0">
                              <a:solidFill>
                                <a:srgbClr val="0000FF"/>
                              </a:solidFill>
                              <a:latin typeface="Cambria Math" panose="02040503050406030204" pitchFamily="18" charset="0"/>
                            </a:rPr>
                          </m:ctrlPr>
                        </m:fPr>
                        <m:num>
                          <m:sSub>
                            <m:sSubPr>
                              <m:ctrlPr>
                                <a:rPr lang="fr-FR" b="1" i="1" smtClean="0">
                                  <a:solidFill>
                                    <a:srgbClr val="0000FF"/>
                                  </a:solidFill>
                                  <a:latin typeface="Cambria Math" panose="02040503050406030204" pitchFamily="18" charset="0"/>
                                </a:rPr>
                              </m:ctrlPr>
                            </m:sSubPr>
                            <m:e>
                              <m:r>
                                <a:rPr lang="fr-FR" b="1" i="0" smtClean="0">
                                  <a:solidFill>
                                    <a:srgbClr val="0000FF"/>
                                  </a:solidFill>
                                  <a:latin typeface="Cambria Math" panose="02040503050406030204" pitchFamily="18" charset="0"/>
                                </a:rPr>
                                <m:t>𝐔</m:t>
                              </m:r>
                            </m:e>
                            <m:sub>
                              <m:r>
                                <a:rPr lang="fr-FR" b="1" i="0" smtClean="0">
                                  <a:solidFill>
                                    <a:srgbClr val="0000FF"/>
                                  </a:solidFill>
                                  <a:latin typeface="Cambria Math" panose="02040503050406030204" pitchFamily="18" charset="0"/>
                                </a:rPr>
                                <m:t>𝐀𝐁</m:t>
                              </m:r>
                            </m:sub>
                          </m:sSub>
                        </m:num>
                        <m:den>
                          <m:sSub>
                            <m:sSubPr>
                              <m:ctrlPr>
                                <a:rPr lang="fr-FR" b="1" i="1" smtClean="0">
                                  <a:solidFill>
                                    <a:srgbClr val="0000FF"/>
                                  </a:solidFill>
                                  <a:latin typeface="Cambria Math" panose="02040503050406030204" pitchFamily="18" charset="0"/>
                                </a:rPr>
                              </m:ctrlPr>
                            </m:sSubPr>
                            <m:e>
                              <m:r>
                                <a:rPr lang="fr-FR" b="1" i="0" smtClean="0">
                                  <a:solidFill>
                                    <a:srgbClr val="0000FF"/>
                                  </a:solidFill>
                                  <a:latin typeface="Cambria Math" panose="02040503050406030204" pitchFamily="18" charset="0"/>
                                </a:rPr>
                                <m:t>𝐑</m:t>
                              </m:r>
                            </m:e>
                            <m:sub>
                              <m:r>
                                <a:rPr lang="fr-FR" b="1" i="0" smtClean="0">
                                  <a:solidFill>
                                    <a:srgbClr val="0000FF"/>
                                  </a:solidFill>
                                  <a:latin typeface="Cambria Math" panose="02040503050406030204" pitchFamily="18" charset="0"/>
                                </a:rPr>
                                <m:t>𝟏</m:t>
                              </m:r>
                            </m:sub>
                          </m:sSub>
                        </m:den>
                      </m:f>
                      <m:r>
                        <a:rPr lang="fr-FR" b="1" i="0" smtClean="0">
                          <a:solidFill>
                            <a:srgbClr val="0000FF"/>
                          </a:solidFill>
                          <a:latin typeface="Cambria Math" panose="02040503050406030204" pitchFamily="18" charset="0"/>
                        </a:rPr>
                        <m:t>+</m:t>
                      </m:r>
                      <m:f>
                        <m:fPr>
                          <m:ctrlPr>
                            <a:rPr lang="fr-FR" b="1" i="1" smtClean="0">
                              <a:solidFill>
                                <a:srgbClr val="0000FF"/>
                              </a:solidFill>
                              <a:latin typeface="Cambria Math" panose="02040503050406030204" pitchFamily="18" charset="0"/>
                            </a:rPr>
                          </m:ctrlPr>
                        </m:fPr>
                        <m:num>
                          <m:sSub>
                            <m:sSubPr>
                              <m:ctrlPr>
                                <a:rPr lang="fr-FR" b="1" i="1">
                                  <a:solidFill>
                                    <a:srgbClr val="0000FF"/>
                                  </a:solidFill>
                                  <a:latin typeface="Cambria Math" panose="02040503050406030204" pitchFamily="18" charset="0"/>
                                </a:rPr>
                              </m:ctrlPr>
                            </m:sSubPr>
                            <m:e>
                              <m:r>
                                <a:rPr lang="fr-FR" b="1" i="0">
                                  <a:solidFill>
                                    <a:srgbClr val="0000FF"/>
                                  </a:solidFill>
                                  <a:latin typeface="Cambria Math" panose="02040503050406030204" pitchFamily="18" charset="0"/>
                                </a:rPr>
                                <m:t>𝐔</m:t>
                              </m:r>
                            </m:e>
                            <m:sub>
                              <m:r>
                                <a:rPr lang="fr-FR" b="1" i="0">
                                  <a:solidFill>
                                    <a:srgbClr val="0000FF"/>
                                  </a:solidFill>
                                  <a:latin typeface="Cambria Math" panose="02040503050406030204" pitchFamily="18" charset="0"/>
                                </a:rPr>
                                <m:t>𝐀𝐁</m:t>
                              </m:r>
                            </m:sub>
                          </m:sSub>
                        </m:num>
                        <m:den>
                          <m:sSub>
                            <m:sSubPr>
                              <m:ctrlPr>
                                <a:rPr lang="fr-FR" b="1" i="1">
                                  <a:solidFill>
                                    <a:srgbClr val="0000FF"/>
                                  </a:solidFill>
                                  <a:latin typeface="Cambria Math" panose="02040503050406030204" pitchFamily="18" charset="0"/>
                                </a:rPr>
                              </m:ctrlPr>
                            </m:sSubPr>
                            <m:e>
                              <m:r>
                                <a:rPr lang="fr-FR" b="1" i="0">
                                  <a:solidFill>
                                    <a:srgbClr val="0000FF"/>
                                  </a:solidFill>
                                  <a:latin typeface="Cambria Math" panose="02040503050406030204" pitchFamily="18" charset="0"/>
                                </a:rPr>
                                <m:t>𝐑</m:t>
                              </m:r>
                            </m:e>
                            <m:sub>
                              <m:r>
                                <a:rPr lang="fr-FR" b="1" i="0" smtClean="0">
                                  <a:solidFill>
                                    <a:srgbClr val="0000FF"/>
                                  </a:solidFill>
                                  <a:latin typeface="Cambria Math" panose="02040503050406030204" pitchFamily="18" charset="0"/>
                                </a:rPr>
                                <m:t>𝟐</m:t>
                              </m:r>
                            </m:sub>
                          </m:sSub>
                        </m:den>
                      </m:f>
                      <m:r>
                        <a:rPr lang="fr-FR" b="1" i="0" smtClean="0">
                          <a:solidFill>
                            <a:srgbClr val="0000FF"/>
                          </a:solidFill>
                          <a:latin typeface="Cambria Math" panose="02040503050406030204" pitchFamily="18" charset="0"/>
                        </a:rPr>
                        <m:t>+</m:t>
                      </m:r>
                      <m:f>
                        <m:fPr>
                          <m:ctrlPr>
                            <a:rPr lang="fr-FR" b="1" i="1" smtClean="0">
                              <a:solidFill>
                                <a:srgbClr val="0000FF"/>
                              </a:solidFill>
                              <a:latin typeface="Cambria Math" panose="02040503050406030204" pitchFamily="18" charset="0"/>
                            </a:rPr>
                          </m:ctrlPr>
                        </m:fPr>
                        <m:num>
                          <m:sSub>
                            <m:sSubPr>
                              <m:ctrlPr>
                                <a:rPr lang="fr-FR" b="1" i="1">
                                  <a:solidFill>
                                    <a:srgbClr val="0000FF"/>
                                  </a:solidFill>
                                  <a:latin typeface="Cambria Math" panose="02040503050406030204" pitchFamily="18" charset="0"/>
                                </a:rPr>
                              </m:ctrlPr>
                            </m:sSubPr>
                            <m:e>
                              <m:r>
                                <a:rPr lang="fr-FR" b="1" i="0">
                                  <a:solidFill>
                                    <a:srgbClr val="0000FF"/>
                                  </a:solidFill>
                                  <a:latin typeface="Cambria Math" panose="02040503050406030204" pitchFamily="18" charset="0"/>
                                </a:rPr>
                                <m:t>𝐔</m:t>
                              </m:r>
                            </m:e>
                            <m:sub>
                              <m:r>
                                <a:rPr lang="fr-FR" b="1" i="0">
                                  <a:solidFill>
                                    <a:srgbClr val="0000FF"/>
                                  </a:solidFill>
                                  <a:latin typeface="Cambria Math" panose="02040503050406030204" pitchFamily="18" charset="0"/>
                                </a:rPr>
                                <m:t>𝐀𝐁</m:t>
                              </m:r>
                            </m:sub>
                          </m:sSub>
                        </m:num>
                        <m:den>
                          <m:sSub>
                            <m:sSubPr>
                              <m:ctrlPr>
                                <a:rPr lang="fr-FR" b="1" i="1">
                                  <a:solidFill>
                                    <a:srgbClr val="0000FF"/>
                                  </a:solidFill>
                                  <a:latin typeface="Cambria Math" panose="02040503050406030204" pitchFamily="18" charset="0"/>
                                </a:rPr>
                              </m:ctrlPr>
                            </m:sSubPr>
                            <m:e>
                              <m:r>
                                <a:rPr lang="fr-FR" b="1" i="0">
                                  <a:solidFill>
                                    <a:srgbClr val="0000FF"/>
                                  </a:solidFill>
                                  <a:latin typeface="Cambria Math" panose="02040503050406030204" pitchFamily="18" charset="0"/>
                                </a:rPr>
                                <m:t>𝐑</m:t>
                              </m:r>
                            </m:e>
                            <m:sub>
                              <m:r>
                                <a:rPr lang="fr-FR" b="1" i="0" smtClean="0">
                                  <a:solidFill>
                                    <a:srgbClr val="0000FF"/>
                                  </a:solidFill>
                                  <a:latin typeface="Cambria Math" panose="02040503050406030204" pitchFamily="18" charset="0"/>
                                </a:rPr>
                                <m:t>𝟑</m:t>
                              </m:r>
                            </m:sub>
                          </m:sSub>
                        </m:den>
                      </m:f>
                    </m:oMath>
                  </m:oMathPara>
                </a14:m>
                <a:endParaRPr lang="fr-FR" b="1" dirty="0">
                  <a:solidFill>
                    <a:srgbClr val="0000FF"/>
                  </a:solidFill>
                  <a:latin typeface="+mj-lt"/>
                </a:endParaRPr>
              </a:p>
            </p:txBody>
          </p:sp>
        </mc:Choice>
        <mc:Fallback xmlns="">
          <p:sp>
            <p:nvSpPr>
              <p:cNvPr id="29" name="ZoneTexte 1">
                <a:extLst>
                  <a:ext uri="{FF2B5EF4-FFF2-40B4-BE49-F238E27FC236}">
                    <a16:creationId xmlns:a16="http://schemas.microsoft.com/office/drawing/2014/main" id="{8CB769EF-4867-EC8B-A45F-EF9D4C8E4320}"/>
                  </a:ext>
                </a:extLst>
              </p:cNvPr>
              <p:cNvSpPr txBox="1">
                <a:spLocks noRot="1" noChangeAspect="1" noMove="1" noResize="1" noEditPoints="1" noAdjustHandles="1" noChangeArrowheads="1" noChangeShapeType="1" noTextEdit="1"/>
              </p:cNvSpPr>
              <p:nvPr/>
            </p:nvSpPr>
            <p:spPr>
              <a:xfrm>
                <a:off x="228616" y="2996768"/>
                <a:ext cx="3710568" cy="565219"/>
              </a:xfrm>
              <a:prstGeom prst="rect">
                <a:avLst/>
              </a:prstGeom>
              <a:blipFill>
                <a:blip r:embed="rId4"/>
                <a:stretch>
                  <a:fillRect/>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0" name="ZoneTexte 11">
                <a:extLst>
                  <a:ext uri="{FF2B5EF4-FFF2-40B4-BE49-F238E27FC236}">
                    <a16:creationId xmlns:a16="http://schemas.microsoft.com/office/drawing/2014/main" id="{0E59956E-8C42-C427-0282-E82593B0A272}"/>
                  </a:ext>
                </a:extLst>
              </p:cNvPr>
              <p:cNvSpPr txBox="1"/>
              <p:nvPr/>
            </p:nvSpPr>
            <p:spPr>
              <a:xfrm>
                <a:off x="5306849" y="2963873"/>
                <a:ext cx="3736407" cy="6310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fr-FR" b="1" i="0" smtClean="0">
                          <a:solidFill>
                            <a:srgbClr val="0000FF"/>
                          </a:solidFill>
                          <a:latin typeface="Cambria Math" panose="02040503050406030204" pitchFamily="18" charset="0"/>
                        </a:rPr>
                        <m:t>𝐈</m:t>
                      </m:r>
                      <m:r>
                        <a:rPr lang="fr-FR" b="1" i="0" smtClean="0">
                          <a:solidFill>
                            <a:srgbClr val="0000FF"/>
                          </a:solidFill>
                          <a:latin typeface="Cambria Math" panose="02040503050406030204" pitchFamily="18" charset="0"/>
                        </a:rPr>
                        <m:t>= </m:t>
                      </m:r>
                      <m:sSub>
                        <m:sSubPr>
                          <m:ctrlPr>
                            <a:rPr lang="fr-FR" b="1" i="1" smtClean="0">
                              <a:solidFill>
                                <a:srgbClr val="0000FF"/>
                              </a:solidFill>
                              <a:latin typeface="Cambria Math" panose="02040503050406030204" pitchFamily="18" charset="0"/>
                            </a:rPr>
                          </m:ctrlPr>
                        </m:sSubPr>
                        <m:e>
                          <m:r>
                            <a:rPr lang="fr-FR" b="1" i="0" smtClean="0">
                              <a:solidFill>
                                <a:srgbClr val="0000FF"/>
                              </a:solidFill>
                              <a:latin typeface="Cambria Math" panose="02040503050406030204" pitchFamily="18" charset="0"/>
                            </a:rPr>
                            <m:t>𝐔</m:t>
                          </m:r>
                        </m:e>
                        <m:sub>
                          <m:r>
                            <a:rPr lang="fr-FR" b="1" i="0" smtClean="0">
                              <a:solidFill>
                                <a:srgbClr val="0000FF"/>
                              </a:solidFill>
                              <a:latin typeface="Cambria Math" panose="02040503050406030204" pitchFamily="18" charset="0"/>
                            </a:rPr>
                            <m:t>𝐀𝐁</m:t>
                          </m:r>
                        </m:sub>
                      </m:sSub>
                      <m:d>
                        <m:dPr>
                          <m:ctrlPr>
                            <a:rPr lang="fr-FR" b="1" i="1" smtClean="0">
                              <a:solidFill>
                                <a:srgbClr val="0000FF"/>
                              </a:solidFill>
                              <a:latin typeface="Cambria Math" panose="02040503050406030204" pitchFamily="18" charset="0"/>
                            </a:rPr>
                          </m:ctrlPr>
                        </m:dPr>
                        <m:e>
                          <m:f>
                            <m:fPr>
                              <m:ctrlPr>
                                <a:rPr lang="fr-FR" b="1" i="1" smtClean="0">
                                  <a:solidFill>
                                    <a:srgbClr val="0000FF"/>
                                  </a:solidFill>
                                  <a:latin typeface="Cambria Math" panose="02040503050406030204" pitchFamily="18" charset="0"/>
                                </a:rPr>
                              </m:ctrlPr>
                            </m:fPr>
                            <m:num>
                              <m:r>
                                <a:rPr lang="fr-FR" b="1" i="0" smtClean="0">
                                  <a:solidFill>
                                    <a:srgbClr val="0000FF"/>
                                  </a:solidFill>
                                  <a:latin typeface="Cambria Math" panose="02040503050406030204" pitchFamily="18" charset="0"/>
                                </a:rPr>
                                <m:t>𝟏</m:t>
                              </m:r>
                            </m:num>
                            <m:den>
                              <m:sSub>
                                <m:sSubPr>
                                  <m:ctrlPr>
                                    <a:rPr lang="fr-FR" b="1" i="1" smtClean="0">
                                      <a:solidFill>
                                        <a:srgbClr val="0000FF"/>
                                      </a:solidFill>
                                      <a:latin typeface="Cambria Math" panose="02040503050406030204" pitchFamily="18" charset="0"/>
                                    </a:rPr>
                                  </m:ctrlPr>
                                </m:sSubPr>
                                <m:e>
                                  <m:r>
                                    <a:rPr lang="fr-FR" b="1" i="0" smtClean="0">
                                      <a:solidFill>
                                        <a:srgbClr val="0000FF"/>
                                      </a:solidFill>
                                      <a:latin typeface="Cambria Math" panose="02040503050406030204" pitchFamily="18" charset="0"/>
                                    </a:rPr>
                                    <m:t>𝐑</m:t>
                                  </m:r>
                                </m:e>
                                <m:sub>
                                  <m:r>
                                    <a:rPr lang="fr-FR" b="1" i="0" smtClean="0">
                                      <a:solidFill>
                                        <a:srgbClr val="0000FF"/>
                                      </a:solidFill>
                                      <a:latin typeface="Cambria Math" panose="02040503050406030204" pitchFamily="18" charset="0"/>
                                    </a:rPr>
                                    <m:t>𝟏</m:t>
                                  </m:r>
                                </m:sub>
                              </m:sSub>
                            </m:den>
                          </m:f>
                          <m:r>
                            <a:rPr lang="fr-FR" b="1" i="0" smtClean="0">
                              <a:solidFill>
                                <a:srgbClr val="0000FF"/>
                              </a:solidFill>
                              <a:latin typeface="Cambria Math" panose="02040503050406030204" pitchFamily="18" charset="0"/>
                            </a:rPr>
                            <m:t>+</m:t>
                          </m:r>
                          <m:f>
                            <m:fPr>
                              <m:ctrlPr>
                                <a:rPr lang="fr-FR" b="1" i="1">
                                  <a:solidFill>
                                    <a:srgbClr val="0000FF"/>
                                  </a:solidFill>
                                  <a:latin typeface="Cambria Math" panose="02040503050406030204" pitchFamily="18" charset="0"/>
                                </a:rPr>
                              </m:ctrlPr>
                            </m:fPr>
                            <m:num>
                              <m:r>
                                <a:rPr lang="fr-FR" b="1" i="0" smtClean="0">
                                  <a:solidFill>
                                    <a:srgbClr val="0000FF"/>
                                  </a:solidFill>
                                  <a:latin typeface="Cambria Math" panose="02040503050406030204" pitchFamily="18" charset="0"/>
                                </a:rPr>
                                <m:t>𝟏</m:t>
                              </m:r>
                            </m:num>
                            <m:den>
                              <m:sSub>
                                <m:sSubPr>
                                  <m:ctrlPr>
                                    <a:rPr lang="fr-FR" b="1" i="1">
                                      <a:solidFill>
                                        <a:srgbClr val="0000FF"/>
                                      </a:solidFill>
                                      <a:latin typeface="Cambria Math" panose="02040503050406030204" pitchFamily="18" charset="0"/>
                                    </a:rPr>
                                  </m:ctrlPr>
                                </m:sSubPr>
                                <m:e>
                                  <m:r>
                                    <a:rPr lang="fr-FR" b="1" i="0">
                                      <a:solidFill>
                                        <a:srgbClr val="0000FF"/>
                                      </a:solidFill>
                                      <a:latin typeface="Cambria Math" panose="02040503050406030204" pitchFamily="18" charset="0"/>
                                    </a:rPr>
                                    <m:t>𝐑</m:t>
                                  </m:r>
                                </m:e>
                                <m:sub>
                                  <m:r>
                                    <a:rPr lang="fr-FR" b="1" i="0" smtClean="0">
                                      <a:solidFill>
                                        <a:srgbClr val="0000FF"/>
                                      </a:solidFill>
                                      <a:latin typeface="Cambria Math" panose="02040503050406030204" pitchFamily="18" charset="0"/>
                                    </a:rPr>
                                    <m:t>𝟐</m:t>
                                  </m:r>
                                </m:sub>
                              </m:sSub>
                            </m:den>
                          </m:f>
                          <m:r>
                            <a:rPr lang="fr-FR" b="1" i="0" smtClean="0">
                              <a:solidFill>
                                <a:srgbClr val="0000FF"/>
                              </a:solidFill>
                              <a:latin typeface="Cambria Math" panose="02040503050406030204" pitchFamily="18" charset="0"/>
                            </a:rPr>
                            <m:t>+</m:t>
                          </m:r>
                          <m:f>
                            <m:fPr>
                              <m:ctrlPr>
                                <a:rPr lang="fr-FR" b="1" i="1">
                                  <a:solidFill>
                                    <a:srgbClr val="0000FF"/>
                                  </a:solidFill>
                                  <a:latin typeface="Cambria Math" panose="02040503050406030204" pitchFamily="18" charset="0"/>
                                </a:rPr>
                              </m:ctrlPr>
                            </m:fPr>
                            <m:num>
                              <m:r>
                                <a:rPr lang="fr-FR" b="1" i="0" smtClean="0">
                                  <a:solidFill>
                                    <a:srgbClr val="0000FF"/>
                                  </a:solidFill>
                                  <a:latin typeface="Cambria Math" panose="02040503050406030204" pitchFamily="18" charset="0"/>
                                </a:rPr>
                                <m:t>𝟏</m:t>
                              </m:r>
                            </m:num>
                            <m:den>
                              <m:sSub>
                                <m:sSubPr>
                                  <m:ctrlPr>
                                    <a:rPr lang="fr-FR" b="1" i="1">
                                      <a:solidFill>
                                        <a:srgbClr val="0000FF"/>
                                      </a:solidFill>
                                      <a:latin typeface="Cambria Math" panose="02040503050406030204" pitchFamily="18" charset="0"/>
                                    </a:rPr>
                                  </m:ctrlPr>
                                </m:sSubPr>
                                <m:e>
                                  <m:r>
                                    <a:rPr lang="fr-FR" b="1" i="0">
                                      <a:solidFill>
                                        <a:srgbClr val="0000FF"/>
                                      </a:solidFill>
                                      <a:latin typeface="Cambria Math" panose="02040503050406030204" pitchFamily="18" charset="0"/>
                                    </a:rPr>
                                    <m:t>𝐑</m:t>
                                  </m:r>
                                </m:e>
                                <m:sub>
                                  <m:r>
                                    <a:rPr lang="fr-FR" b="1" i="0" smtClean="0">
                                      <a:solidFill>
                                        <a:srgbClr val="0000FF"/>
                                      </a:solidFill>
                                      <a:latin typeface="Cambria Math" panose="02040503050406030204" pitchFamily="18" charset="0"/>
                                    </a:rPr>
                                    <m:t>𝟑</m:t>
                                  </m:r>
                                </m:sub>
                              </m:sSub>
                            </m:den>
                          </m:f>
                        </m:e>
                      </m:d>
                      <m:r>
                        <a:rPr lang="fr-FR" b="1">
                          <a:solidFill>
                            <a:srgbClr val="0000FF"/>
                          </a:solidFill>
                          <a:latin typeface="Cambria Math" panose="02040503050406030204" pitchFamily="18" charset="0"/>
                        </a:rPr>
                        <m:t>= </m:t>
                      </m:r>
                      <m:sSub>
                        <m:sSubPr>
                          <m:ctrlPr>
                            <a:rPr lang="fr-FR" b="1" i="1">
                              <a:solidFill>
                                <a:srgbClr val="0000FF"/>
                              </a:solidFill>
                              <a:latin typeface="Cambria Math" panose="02040503050406030204" pitchFamily="18" charset="0"/>
                            </a:rPr>
                          </m:ctrlPr>
                        </m:sSubPr>
                        <m:e>
                          <m:r>
                            <a:rPr lang="fr-FR" b="1" i="1">
                              <a:solidFill>
                                <a:srgbClr val="0000FF"/>
                              </a:solidFill>
                              <a:latin typeface="Cambria Math" panose="02040503050406030204" pitchFamily="18" charset="0"/>
                            </a:rPr>
                            <m:t>𝑼</m:t>
                          </m:r>
                        </m:e>
                        <m:sub>
                          <m:r>
                            <a:rPr lang="fr-FR" b="1" i="1">
                              <a:solidFill>
                                <a:srgbClr val="0000FF"/>
                              </a:solidFill>
                              <a:latin typeface="Cambria Math" panose="02040503050406030204" pitchFamily="18" charset="0"/>
                            </a:rPr>
                            <m:t>𝑨𝑩</m:t>
                          </m:r>
                        </m:sub>
                      </m:sSub>
                      <m:f>
                        <m:fPr>
                          <m:ctrlPr>
                            <a:rPr lang="fr-FR" b="1" i="1">
                              <a:solidFill>
                                <a:srgbClr val="0000FF"/>
                              </a:solidFill>
                              <a:latin typeface="Cambria Math" panose="02040503050406030204" pitchFamily="18" charset="0"/>
                            </a:rPr>
                          </m:ctrlPr>
                        </m:fPr>
                        <m:num>
                          <m:r>
                            <a:rPr lang="fr-FR" b="1" i="1">
                              <a:solidFill>
                                <a:srgbClr val="0000FF"/>
                              </a:solidFill>
                              <a:latin typeface="Cambria Math" panose="02040503050406030204" pitchFamily="18" charset="0"/>
                            </a:rPr>
                            <m:t>𝟏</m:t>
                          </m:r>
                        </m:num>
                        <m:den>
                          <m:sSub>
                            <m:sSubPr>
                              <m:ctrlPr>
                                <a:rPr lang="fr-FR" b="1" i="1">
                                  <a:solidFill>
                                    <a:srgbClr val="0000FF"/>
                                  </a:solidFill>
                                  <a:latin typeface="Cambria Math" panose="02040503050406030204" pitchFamily="18" charset="0"/>
                                </a:rPr>
                              </m:ctrlPr>
                            </m:sSubPr>
                            <m:e>
                              <m:r>
                                <a:rPr lang="fr-FR" b="1" i="1">
                                  <a:solidFill>
                                    <a:srgbClr val="0000FF"/>
                                  </a:solidFill>
                                  <a:latin typeface="Cambria Math" panose="02040503050406030204" pitchFamily="18" charset="0"/>
                                </a:rPr>
                                <m:t>𝑹</m:t>
                              </m:r>
                            </m:e>
                            <m:sub>
                              <m:r>
                                <a:rPr lang="fr-FR" b="1" i="1">
                                  <a:solidFill>
                                    <a:srgbClr val="0000FF"/>
                                  </a:solidFill>
                                  <a:latin typeface="Cambria Math" panose="02040503050406030204" pitchFamily="18" charset="0"/>
                                </a:rPr>
                                <m:t>𝒆𝒒</m:t>
                              </m:r>
                            </m:sub>
                          </m:sSub>
                        </m:den>
                      </m:f>
                    </m:oMath>
                  </m:oMathPara>
                </a14:m>
                <a:endParaRPr lang="fr-FR" b="1" dirty="0">
                  <a:solidFill>
                    <a:srgbClr val="0000FF"/>
                  </a:solidFill>
                  <a:latin typeface="+mj-lt"/>
                </a:endParaRPr>
              </a:p>
            </p:txBody>
          </p:sp>
        </mc:Choice>
        <mc:Fallback xmlns="">
          <p:sp>
            <p:nvSpPr>
              <p:cNvPr id="30" name="ZoneTexte 11">
                <a:extLst>
                  <a:ext uri="{FF2B5EF4-FFF2-40B4-BE49-F238E27FC236}">
                    <a16:creationId xmlns:a16="http://schemas.microsoft.com/office/drawing/2014/main" id="{0E59956E-8C42-C427-0282-E82593B0A272}"/>
                  </a:ext>
                </a:extLst>
              </p:cNvPr>
              <p:cNvSpPr txBox="1">
                <a:spLocks noRot="1" noChangeAspect="1" noMove="1" noResize="1" noEditPoints="1" noAdjustHandles="1" noChangeArrowheads="1" noChangeShapeType="1" noTextEdit="1"/>
              </p:cNvSpPr>
              <p:nvPr/>
            </p:nvSpPr>
            <p:spPr>
              <a:xfrm>
                <a:off x="5306849" y="2963873"/>
                <a:ext cx="3736407" cy="631007"/>
              </a:xfrm>
              <a:prstGeom prst="rect">
                <a:avLst/>
              </a:prstGeom>
              <a:blipFill>
                <a:blip r:embed="rId5"/>
                <a:stretch>
                  <a:fillRect/>
                </a:stretch>
              </a:blipFill>
            </p:spPr>
            <p:txBody>
              <a:bodyPr/>
              <a:lstStyle/>
              <a:p>
                <a:r>
                  <a:rPr lang="fr-FR">
                    <a:noFill/>
                  </a:rPr>
                  <a:t> </a:t>
                </a:r>
              </a:p>
            </p:txBody>
          </p:sp>
        </mc:Fallback>
      </mc:AlternateContent>
      <p:pic>
        <p:nvPicPr>
          <p:cNvPr id="32" name="Image 9">
            <a:extLst>
              <a:ext uri="{FF2B5EF4-FFF2-40B4-BE49-F238E27FC236}">
                <a16:creationId xmlns:a16="http://schemas.microsoft.com/office/drawing/2014/main" id="{01845236-4F80-6C41-FE02-0A55C4AFD3E7}"/>
              </a:ext>
            </a:extLst>
          </p:cNvPr>
          <p:cNvPicPr>
            <a:picLocks noChangeAspect="1"/>
          </p:cNvPicPr>
          <p:nvPr/>
        </p:nvPicPr>
        <p:blipFill>
          <a:blip r:embed="rId6"/>
          <a:stretch>
            <a:fillRect/>
          </a:stretch>
        </p:blipFill>
        <p:spPr>
          <a:xfrm>
            <a:off x="2514600" y="4009134"/>
            <a:ext cx="4391025" cy="933450"/>
          </a:xfrm>
          <a:prstGeom prst="rect">
            <a:avLst/>
          </a:prstGeom>
          <a:ln w="28575">
            <a:solidFill>
              <a:schemeClr val="tx1"/>
            </a:solidFill>
          </a:ln>
        </p:spPr>
      </p:pic>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B18123C-992C-832D-DAAB-631F5ECA7FD2}"/>
                  </a:ext>
                </a:extLst>
              </p:cNvPr>
              <p:cNvSpPr txBox="1"/>
              <p:nvPr/>
            </p:nvSpPr>
            <p:spPr>
              <a:xfrm>
                <a:off x="2336318" y="3063353"/>
                <a:ext cx="45887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fr-FR" b="1" i="0" smtClean="0">
                          <a:latin typeface="Cambria Math" panose="02040503050406030204" pitchFamily="18" charset="0"/>
                        </a:rPr>
                        <m:t>𝐃𝐨𝐧𝐜</m:t>
                      </m:r>
                    </m:oMath>
                  </m:oMathPara>
                </a14:m>
                <a:endParaRPr lang="fr-FR" dirty="0"/>
              </a:p>
            </p:txBody>
          </p:sp>
        </mc:Choice>
        <mc:Fallback xmlns="">
          <p:sp>
            <p:nvSpPr>
              <p:cNvPr id="34" name="TextBox 33">
                <a:extLst>
                  <a:ext uri="{FF2B5EF4-FFF2-40B4-BE49-F238E27FC236}">
                    <a16:creationId xmlns:a16="http://schemas.microsoft.com/office/drawing/2014/main" id="{7B18123C-992C-832D-DAAB-631F5ECA7FD2}"/>
                  </a:ext>
                </a:extLst>
              </p:cNvPr>
              <p:cNvSpPr txBox="1">
                <a:spLocks noRot="1" noChangeAspect="1" noMove="1" noResize="1" noEditPoints="1" noAdjustHandles="1" noChangeArrowheads="1" noChangeShapeType="1" noTextEdit="1"/>
              </p:cNvSpPr>
              <p:nvPr/>
            </p:nvSpPr>
            <p:spPr>
              <a:xfrm>
                <a:off x="2336318" y="3063353"/>
                <a:ext cx="4588778" cy="369332"/>
              </a:xfrm>
              <a:prstGeom prst="rect">
                <a:avLst/>
              </a:prstGeom>
              <a:blipFill>
                <a:blip r:embed="rId7"/>
                <a:stretch>
                  <a:fillRect/>
                </a:stretch>
              </a:blipFill>
            </p:spPr>
            <p:txBody>
              <a:bodyPr/>
              <a:lstStyle/>
              <a:p>
                <a:r>
                  <a:rPr lang="fr-FR">
                    <a:noFill/>
                  </a:rPr>
                  <a:t> </a:t>
                </a:r>
              </a:p>
            </p:txBody>
          </p:sp>
        </mc:Fallback>
      </mc:AlternateContent>
    </p:spTree>
    <p:extLst>
      <p:ext uri="{BB962C8B-B14F-4D97-AF65-F5344CB8AC3E}">
        <p14:creationId xmlns:p14="http://schemas.microsoft.com/office/powerpoint/2010/main" val="33945958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37</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2.9 </a:t>
            </a:r>
            <a:r>
              <a:rPr lang="fr-FR" altLang="fr-FR" sz="1400" b="1" spc="-5" dirty="0">
                <a:solidFill>
                  <a:srgbClr val="CC00CC"/>
                </a:solidFill>
                <a:latin typeface="Bookman Old Style" panose="02050604050505020204" pitchFamily="18" charset="0"/>
                <a:cs typeface="Arial"/>
              </a:rPr>
              <a:t>Association de résistances</a:t>
            </a:r>
          </a:p>
          <a:p>
            <a:pPr marL="12065" lvl="1">
              <a:lnSpc>
                <a:spcPct val="100000"/>
              </a:lnSpc>
              <a:spcBef>
                <a:spcPts val="100"/>
              </a:spcBef>
              <a:tabLst>
                <a:tab pos="393700" algn="l"/>
              </a:tabLst>
            </a:pPr>
            <a:r>
              <a:rPr lang="fr-FR" altLang="fr-FR" sz="1400" b="1" spc="-5" dirty="0">
                <a:solidFill>
                  <a:srgbClr val="CC00CC"/>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A</a:t>
            </a:r>
            <a:r>
              <a:rPr lang="fr-FR" sz="1200" b="1" spc="-5" dirty="0">
                <a:solidFill>
                  <a:schemeClr val="accent6">
                    <a:lumMod val="50000"/>
                  </a:schemeClr>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Associations série </a:t>
            </a:r>
          </a:p>
        </p:txBody>
      </p:sp>
      <p:pic>
        <p:nvPicPr>
          <p:cNvPr id="3" name="Image 1">
            <a:extLst>
              <a:ext uri="{FF2B5EF4-FFF2-40B4-BE49-F238E27FC236}">
                <a16:creationId xmlns:a16="http://schemas.microsoft.com/office/drawing/2014/main" id="{B7D3A502-F993-2A7F-3E73-000C190858D9}"/>
              </a:ext>
            </a:extLst>
          </p:cNvPr>
          <p:cNvPicPr>
            <a:picLocks noChangeAspect="1"/>
          </p:cNvPicPr>
          <p:nvPr/>
        </p:nvPicPr>
        <p:blipFill>
          <a:blip r:embed="rId3"/>
          <a:stretch>
            <a:fillRect/>
          </a:stretch>
        </p:blipFill>
        <p:spPr>
          <a:xfrm>
            <a:off x="1455576" y="1523450"/>
            <a:ext cx="5695608" cy="1115744"/>
          </a:xfrm>
          <a:prstGeom prst="rect">
            <a:avLst/>
          </a:prstGeom>
        </p:spPr>
      </p:pic>
      <p:pic>
        <p:nvPicPr>
          <p:cNvPr id="5" name="Image 6">
            <a:extLst>
              <a:ext uri="{FF2B5EF4-FFF2-40B4-BE49-F238E27FC236}">
                <a16:creationId xmlns:a16="http://schemas.microsoft.com/office/drawing/2014/main" id="{49CE8AF9-5184-9C28-33FC-ED4A6D93585D}"/>
              </a:ext>
            </a:extLst>
          </p:cNvPr>
          <p:cNvPicPr>
            <a:picLocks noChangeAspect="1"/>
          </p:cNvPicPr>
          <p:nvPr/>
        </p:nvPicPr>
        <p:blipFill>
          <a:blip r:embed="rId4"/>
          <a:stretch>
            <a:fillRect/>
          </a:stretch>
        </p:blipFill>
        <p:spPr>
          <a:xfrm>
            <a:off x="914400" y="2888081"/>
            <a:ext cx="2138664" cy="433715"/>
          </a:xfrm>
          <a:prstGeom prst="rect">
            <a:avLst/>
          </a:prstGeom>
        </p:spPr>
      </p:pic>
      <p:pic>
        <p:nvPicPr>
          <p:cNvPr id="11" name="Image 8">
            <a:extLst>
              <a:ext uri="{FF2B5EF4-FFF2-40B4-BE49-F238E27FC236}">
                <a16:creationId xmlns:a16="http://schemas.microsoft.com/office/drawing/2014/main" id="{7916C264-FA8F-48B8-5437-B3FB7F51140A}"/>
              </a:ext>
            </a:extLst>
          </p:cNvPr>
          <p:cNvPicPr>
            <a:picLocks noChangeAspect="1"/>
          </p:cNvPicPr>
          <p:nvPr/>
        </p:nvPicPr>
        <p:blipFill>
          <a:blip r:embed="rId5"/>
          <a:stretch>
            <a:fillRect/>
          </a:stretch>
        </p:blipFill>
        <p:spPr>
          <a:xfrm>
            <a:off x="3053064" y="2888081"/>
            <a:ext cx="2822505" cy="510092"/>
          </a:xfrm>
          <a:prstGeom prst="rect">
            <a:avLst/>
          </a:prstGeom>
        </p:spPr>
      </p:pic>
      <p:pic>
        <p:nvPicPr>
          <p:cNvPr id="12" name="Image 11">
            <a:extLst>
              <a:ext uri="{FF2B5EF4-FFF2-40B4-BE49-F238E27FC236}">
                <a16:creationId xmlns:a16="http://schemas.microsoft.com/office/drawing/2014/main" id="{4AB4BCD3-6DEE-0F0F-E520-DA60C9CA0384}"/>
              </a:ext>
            </a:extLst>
          </p:cNvPr>
          <p:cNvPicPr>
            <a:picLocks noChangeAspect="1"/>
          </p:cNvPicPr>
          <p:nvPr/>
        </p:nvPicPr>
        <p:blipFill>
          <a:blip r:embed="rId6"/>
          <a:stretch>
            <a:fillRect/>
          </a:stretch>
        </p:blipFill>
        <p:spPr>
          <a:xfrm>
            <a:off x="3085222" y="3487221"/>
            <a:ext cx="4065962" cy="510093"/>
          </a:xfrm>
          <a:prstGeom prst="rect">
            <a:avLst/>
          </a:prstGeom>
        </p:spPr>
      </p:pic>
      <p:pic>
        <p:nvPicPr>
          <p:cNvPr id="13" name="Image 12">
            <a:extLst>
              <a:ext uri="{FF2B5EF4-FFF2-40B4-BE49-F238E27FC236}">
                <a16:creationId xmlns:a16="http://schemas.microsoft.com/office/drawing/2014/main" id="{E958C5EF-A13B-E41D-FBAB-4EC2AA8583A4}"/>
              </a:ext>
            </a:extLst>
          </p:cNvPr>
          <p:cNvPicPr>
            <a:picLocks noChangeAspect="1"/>
          </p:cNvPicPr>
          <p:nvPr/>
        </p:nvPicPr>
        <p:blipFill>
          <a:blip r:embed="rId7"/>
          <a:stretch>
            <a:fillRect/>
          </a:stretch>
        </p:blipFill>
        <p:spPr>
          <a:xfrm>
            <a:off x="1343025" y="4288506"/>
            <a:ext cx="6457950" cy="695325"/>
          </a:xfrm>
          <a:prstGeom prst="rect">
            <a:avLst/>
          </a:prstGeom>
          <a:ln w="28575">
            <a:solidFill>
              <a:schemeClr val="tx1"/>
            </a:solidFill>
          </a:ln>
        </p:spPr>
      </p:pic>
    </p:spTree>
    <p:extLst>
      <p:ext uri="{BB962C8B-B14F-4D97-AF65-F5344CB8AC3E}">
        <p14:creationId xmlns:p14="http://schemas.microsoft.com/office/powerpoint/2010/main" val="31889367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38</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2.10 </a:t>
            </a:r>
            <a:r>
              <a:rPr lang="fr-FR" altLang="fr-FR" sz="1400" b="1" spc="-5" dirty="0">
                <a:solidFill>
                  <a:srgbClr val="CC00CC"/>
                </a:solidFill>
                <a:latin typeface="Bookman Old Style" panose="02050604050505020204" pitchFamily="18" charset="0"/>
                <a:cs typeface="Arial"/>
              </a:rPr>
              <a:t>Montages usuels     </a:t>
            </a:r>
          </a:p>
          <a:p>
            <a:pPr marL="12065" lvl="1">
              <a:lnSpc>
                <a:spcPct val="100000"/>
              </a:lnSpc>
              <a:spcBef>
                <a:spcPts val="100"/>
              </a:spcBef>
              <a:tabLst>
                <a:tab pos="393700" algn="l"/>
              </a:tabLst>
            </a:pPr>
            <a:r>
              <a:rPr lang="fr-FR" altLang="fr-FR" sz="1400" b="1" spc="-5" dirty="0">
                <a:solidFill>
                  <a:srgbClr val="CC00CC"/>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A</a:t>
            </a:r>
            <a:r>
              <a:rPr lang="fr-FR" sz="1200" b="1" spc="-5" dirty="0">
                <a:solidFill>
                  <a:schemeClr val="accent6">
                    <a:lumMod val="50000"/>
                  </a:schemeClr>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Diviseur de tension</a:t>
            </a:r>
          </a:p>
        </p:txBody>
      </p:sp>
      <p:sp>
        <p:nvSpPr>
          <p:cNvPr id="16" name="ZoneTexte 15">
            <a:extLst>
              <a:ext uri="{FF2B5EF4-FFF2-40B4-BE49-F238E27FC236}">
                <a16:creationId xmlns:a16="http://schemas.microsoft.com/office/drawing/2014/main" id="{D1F9945C-31D6-9369-3D7A-388D8B2FA469}"/>
              </a:ext>
            </a:extLst>
          </p:cNvPr>
          <p:cNvSpPr txBox="1">
            <a:spLocks noChangeArrowheads="1"/>
          </p:cNvSpPr>
          <p:nvPr/>
        </p:nvSpPr>
        <p:spPr bwMode="auto">
          <a:xfrm>
            <a:off x="461225" y="1459543"/>
            <a:ext cx="8572588" cy="156966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marL="285750" indent="-285750" algn="just">
              <a:buFont typeface="Wingdings" panose="05000000000000000000" pitchFamily="2" charset="2"/>
              <a:buChar char="q"/>
            </a:pPr>
            <a:r>
              <a:rPr lang="fr-FR" altLang="fr-FR" sz="1600" dirty="0">
                <a:latin typeface="Bookman Old Style" panose="02050604050505020204" pitchFamily="18" charset="0"/>
                <a:cs typeface="Browallia New" panose="020B0604020202020204" pitchFamily="34" charset="-34"/>
              </a:rPr>
              <a:t>Le diviseur de tension est le montage de base dans le circuit électrique/électronique. </a:t>
            </a:r>
          </a:p>
          <a:p>
            <a:pPr algn="just"/>
            <a:r>
              <a:rPr lang="fr-FR" altLang="fr-FR" sz="1600" dirty="0">
                <a:latin typeface="Bookman Old Style" panose="02050604050505020204" pitchFamily="18" charset="0"/>
                <a:cs typeface="Browallia New" panose="020B0604020202020204" pitchFamily="34" charset="-34"/>
              </a:rPr>
              <a:t>        Ce montage permet de simplifier considérablement les calculs. Cependant, l’application de cette méthode n’est valable que lorsque les deux résistances (</a:t>
            </a:r>
            <a:r>
              <a:rPr lang="fr-FR" altLang="fr-FR" sz="1600" b="1" dirty="0">
                <a:latin typeface="Bookman Old Style" panose="02050604050505020204" pitchFamily="18" charset="0"/>
                <a:cs typeface="Browallia New" panose="020B0604020202020204" pitchFamily="34" charset="-34"/>
              </a:rPr>
              <a:t>respectivement impédances</a:t>
            </a:r>
            <a:r>
              <a:rPr lang="fr-FR" altLang="fr-FR" sz="1600" dirty="0">
                <a:latin typeface="Bookman Old Style" panose="02050604050505020204" pitchFamily="18" charset="0"/>
                <a:cs typeface="Browallia New" panose="020B0604020202020204" pitchFamily="34" charset="-34"/>
              </a:rPr>
              <a:t>), sont parcourues par </a:t>
            </a:r>
            <a:r>
              <a:rPr lang="fr-FR" altLang="fr-FR" sz="1600" b="1" dirty="0">
                <a:latin typeface="Bookman Old Style" panose="02050604050505020204" pitchFamily="18" charset="0"/>
                <a:cs typeface="Browallia New" panose="020B0604020202020204" pitchFamily="34" charset="-34"/>
              </a:rPr>
              <a:t>la même valeur de l’intensité.</a:t>
            </a:r>
          </a:p>
        </p:txBody>
      </p:sp>
      <p:graphicFrame>
        <p:nvGraphicFramePr>
          <p:cNvPr id="17" name="Object 4">
            <a:extLst>
              <a:ext uri="{FF2B5EF4-FFF2-40B4-BE49-F238E27FC236}">
                <a16:creationId xmlns:a16="http://schemas.microsoft.com/office/drawing/2014/main" id="{2718F883-AA0A-58C4-F65A-699007CACBFC}"/>
              </a:ext>
            </a:extLst>
          </p:cNvPr>
          <p:cNvGraphicFramePr>
            <a:graphicFrameLocks noChangeAspect="1"/>
          </p:cNvGraphicFramePr>
          <p:nvPr>
            <p:extLst>
              <p:ext uri="{D42A27DB-BD31-4B8C-83A1-F6EECF244321}">
                <p14:modId xmlns:p14="http://schemas.microsoft.com/office/powerpoint/2010/main" val="4014203955"/>
              </p:ext>
            </p:extLst>
          </p:nvPr>
        </p:nvGraphicFramePr>
        <p:xfrm>
          <a:off x="4267200" y="3364848"/>
          <a:ext cx="2857500" cy="915988"/>
        </p:xfrm>
        <a:graphic>
          <a:graphicData uri="http://schemas.openxmlformats.org/presentationml/2006/ole">
            <mc:AlternateContent xmlns:mc="http://schemas.openxmlformats.org/markup-compatibility/2006">
              <mc:Choice xmlns:v="urn:schemas-microsoft-com:vml" Requires="v">
                <p:oleObj name="Equation" r:id="rId3" imgW="1346040" imgH="431640" progId="Equation.DSMT4">
                  <p:embed/>
                </p:oleObj>
              </mc:Choice>
              <mc:Fallback>
                <p:oleObj name="Equation" r:id="rId3" imgW="1346040" imgH="431640" progId="Equation.DSMT4">
                  <p:embed/>
                  <p:pic>
                    <p:nvPicPr>
                      <p:cNvPr id="11266"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7200" y="3364848"/>
                        <a:ext cx="2857500" cy="915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pic>
        <p:nvPicPr>
          <p:cNvPr id="20" name="Image 10">
            <a:extLst>
              <a:ext uri="{FF2B5EF4-FFF2-40B4-BE49-F238E27FC236}">
                <a16:creationId xmlns:a16="http://schemas.microsoft.com/office/drawing/2014/main" id="{86CCB8B4-0FC4-81BF-A081-0A10AE7CE8C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905000" y="2930068"/>
            <a:ext cx="2209796" cy="1525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939214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39</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2. Dipôles et Composants électriques</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2.10 </a:t>
            </a:r>
            <a:r>
              <a:rPr lang="fr-FR" altLang="fr-FR" sz="1400" b="1" spc="-5" dirty="0">
                <a:solidFill>
                  <a:srgbClr val="CC00CC"/>
                </a:solidFill>
                <a:latin typeface="Bookman Old Style" panose="02050604050505020204" pitchFamily="18" charset="0"/>
                <a:cs typeface="Arial"/>
              </a:rPr>
              <a:t>Montages usuels     </a:t>
            </a:r>
          </a:p>
          <a:p>
            <a:pPr marL="12065" lvl="1">
              <a:lnSpc>
                <a:spcPct val="100000"/>
              </a:lnSpc>
              <a:spcBef>
                <a:spcPts val="100"/>
              </a:spcBef>
              <a:tabLst>
                <a:tab pos="393700" algn="l"/>
              </a:tabLst>
            </a:pPr>
            <a:r>
              <a:rPr lang="fr-FR" altLang="fr-FR" sz="1400" b="1" spc="-5" dirty="0">
                <a:solidFill>
                  <a:srgbClr val="CC00CC"/>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B</a:t>
            </a:r>
            <a:r>
              <a:rPr lang="fr-FR" sz="1200" b="1" spc="-5" dirty="0">
                <a:solidFill>
                  <a:schemeClr val="accent6">
                    <a:lumMod val="50000"/>
                  </a:schemeClr>
                </a:solidFill>
                <a:latin typeface="Bookman Old Style" panose="02050604050505020204" pitchFamily="18" charset="0"/>
                <a:cs typeface="Arial"/>
              </a:rPr>
              <a:t>. </a:t>
            </a:r>
            <a:r>
              <a:rPr lang="fr-FR" altLang="fr-FR" sz="1200" b="1" spc="-5" dirty="0">
                <a:solidFill>
                  <a:schemeClr val="accent6">
                    <a:lumMod val="50000"/>
                  </a:schemeClr>
                </a:solidFill>
                <a:latin typeface="Bookman Old Style" panose="02050604050505020204" pitchFamily="18" charset="0"/>
                <a:cs typeface="Arial"/>
              </a:rPr>
              <a:t>Diviseur de courant</a:t>
            </a:r>
          </a:p>
        </p:txBody>
      </p:sp>
      <p:sp>
        <p:nvSpPr>
          <p:cNvPr id="16" name="ZoneTexte 15">
            <a:extLst>
              <a:ext uri="{FF2B5EF4-FFF2-40B4-BE49-F238E27FC236}">
                <a16:creationId xmlns:a16="http://schemas.microsoft.com/office/drawing/2014/main" id="{D1F9945C-31D6-9369-3D7A-388D8B2FA469}"/>
              </a:ext>
            </a:extLst>
          </p:cNvPr>
          <p:cNvSpPr txBox="1">
            <a:spLocks noChangeArrowheads="1"/>
          </p:cNvSpPr>
          <p:nvPr/>
        </p:nvSpPr>
        <p:spPr bwMode="auto">
          <a:xfrm>
            <a:off x="461225" y="1459543"/>
            <a:ext cx="8572588" cy="107721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marL="285750" indent="-285750" algn="just">
              <a:buFont typeface="Wingdings" panose="05000000000000000000" pitchFamily="2" charset="2"/>
              <a:buChar char="q"/>
            </a:pPr>
            <a:r>
              <a:rPr lang="fr-FR" altLang="fr-FR" sz="1600" dirty="0">
                <a:latin typeface="Bookman Old Style" panose="02050604050505020204" pitchFamily="18" charset="0"/>
                <a:cs typeface="Browallia New" panose="020B0604020202020204" pitchFamily="34" charset="-34"/>
              </a:rPr>
              <a:t>Le diviseur de courant est appliqué lorsque deux résistances (respectivement impédances), sont connectées en parallèle et alimentées par un générateur de courant, et soumises </a:t>
            </a:r>
            <a:r>
              <a:rPr lang="fr-FR" altLang="fr-FR" sz="1600" b="1" dirty="0">
                <a:latin typeface="Bookman Old Style" panose="02050604050505020204" pitchFamily="18" charset="0"/>
                <a:cs typeface="Browallia New" panose="020B0604020202020204" pitchFamily="34" charset="-34"/>
              </a:rPr>
              <a:t>toutes les deux à la même tension</a:t>
            </a:r>
            <a:r>
              <a:rPr lang="fr-FR" altLang="fr-FR" sz="1600" dirty="0">
                <a:latin typeface="Bookman Old Style" panose="02050604050505020204" pitchFamily="18" charset="0"/>
                <a:cs typeface="Browallia New" panose="020B0604020202020204" pitchFamily="34" charset="-34"/>
              </a:rPr>
              <a:t>.</a:t>
            </a:r>
          </a:p>
          <a:p>
            <a:pPr algn="just"/>
            <a:endParaRPr lang="fr-FR" altLang="fr-FR" sz="1600" b="1" dirty="0">
              <a:latin typeface="Bookman Old Style" panose="02050604050505020204" pitchFamily="18" charset="0"/>
              <a:cs typeface="Browallia New" panose="020B0604020202020204" pitchFamily="34" charset="-34"/>
            </a:endParaRPr>
          </a:p>
        </p:txBody>
      </p:sp>
      <p:pic>
        <p:nvPicPr>
          <p:cNvPr id="3" name="Image 11">
            <a:extLst>
              <a:ext uri="{FF2B5EF4-FFF2-40B4-BE49-F238E27FC236}">
                <a16:creationId xmlns:a16="http://schemas.microsoft.com/office/drawing/2014/main" id="{DA012C41-C0C2-E528-2FAF-08052E3A6D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2596079"/>
            <a:ext cx="3214688" cy="2143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5" name="Object 4">
            <a:extLst>
              <a:ext uri="{FF2B5EF4-FFF2-40B4-BE49-F238E27FC236}">
                <a16:creationId xmlns:a16="http://schemas.microsoft.com/office/drawing/2014/main" id="{DEC55298-F583-9931-2C09-D0FC548AB2D8}"/>
              </a:ext>
            </a:extLst>
          </p:cNvPr>
          <p:cNvGraphicFramePr>
            <a:graphicFrameLocks noChangeAspect="1"/>
          </p:cNvGraphicFramePr>
          <p:nvPr>
            <p:extLst>
              <p:ext uri="{D42A27DB-BD31-4B8C-83A1-F6EECF244321}">
                <p14:modId xmlns:p14="http://schemas.microsoft.com/office/powerpoint/2010/main" val="2365203038"/>
              </p:ext>
            </p:extLst>
          </p:nvPr>
        </p:nvGraphicFramePr>
        <p:xfrm>
          <a:off x="4648200" y="2595563"/>
          <a:ext cx="3214688" cy="2143125"/>
        </p:xfrm>
        <a:graphic>
          <a:graphicData uri="http://schemas.openxmlformats.org/presentationml/2006/ole">
            <mc:AlternateContent xmlns:mc="http://schemas.openxmlformats.org/markup-compatibility/2006">
              <mc:Choice xmlns:v="urn:schemas-microsoft-com:vml" Requires="v">
                <p:oleObj name="Equation" r:id="rId4" imgW="1333440" imgH="888840" progId="Equation.DSMT4">
                  <p:embed/>
                </p:oleObj>
              </mc:Choice>
              <mc:Fallback>
                <p:oleObj name="Equation" r:id="rId4" imgW="1333440" imgH="888840" progId="Equation.DSMT4">
                  <p:embed/>
                  <p:pic>
                    <p:nvPicPr>
                      <p:cNvPr id="13314"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48200" y="2595563"/>
                        <a:ext cx="3214688" cy="21431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2984495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40</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2.1 </a:t>
            </a:r>
            <a:r>
              <a:rPr lang="fr-FR" altLang="fr-FR" sz="1400" b="1" spc="-5" dirty="0">
                <a:solidFill>
                  <a:srgbClr val="CC00CC"/>
                </a:solidFill>
                <a:latin typeface="Bookman Old Style" panose="02050604050505020204" pitchFamily="18" charset="0"/>
                <a:cs typeface="Arial"/>
              </a:rPr>
              <a:t>Théorème de Thévenin </a:t>
            </a:r>
          </a:p>
        </p:txBody>
      </p:sp>
      <p:sp>
        <p:nvSpPr>
          <p:cNvPr id="33" name="object 13">
            <a:extLst>
              <a:ext uri="{FF2B5EF4-FFF2-40B4-BE49-F238E27FC236}">
                <a16:creationId xmlns:a16="http://schemas.microsoft.com/office/drawing/2014/main" id="{982975B3-5125-9734-283F-BDE800E44DE4}"/>
              </a:ext>
            </a:extLst>
          </p:cNvPr>
          <p:cNvSpPr txBox="1"/>
          <p:nvPr/>
        </p:nvSpPr>
        <p:spPr>
          <a:xfrm>
            <a:off x="3590607" y="1639707"/>
            <a:ext cx="2891281" cy="198131"/>
          </a:xfrm>
          <a:prstGeom prst="rect">
            <a:avLst/>
          </a:prstGeom>
        </p:spPr>
        <p:txBody>
          <a:bodyPr vert="horz" wrap="square" lIns="0" tIns="13335" rIns="0" bIns="0" rtlCol="0">
            <a:spAutoFit/>
          </a:bodyPr>
          <a:lstStyle/>
          <a:p>
            <a:pPr marL="12700" algn="ctr">
              <a:lnSpc>
                <a:spcPct val="100000"/>
              </a:lnSpc>
              <a:spcBef>
                <a:spcPts val="105"/>
              </a:spcBef>
            </a:pPr>
            <a:r>
              <a:rPr sz="1200" b="1" dirty="0">
                <a:latin typeface="Bookman Old Style" panose="02050604050505020204" pitchFamily="18" charset="0"/>
                <a:cs typeface="Times New Roman"/>
              </a:rPr>
              <a:t>Pourquoi</a:t>
            </a:r>
            <a:r>
              <a:rPr sz="1200" b="1" spc="-25" dirty="0">
                <a:latin typeface="Bookman Old Style" panose="02050604050505020204" pitchFamily="18" charset="0"/>
                <a:cs typeface="Times New Roman"/>
              </a:rPr>
              <a:t> </a:t>
            </a:r>
            <a:r>
              <a:rPr sz="1200" b="1" dirty="0">
                <a:latin typeface="Bookman Old Style" panose="02050604050505020204" pitchFamily="18" charset="0"/>
                <a:cs typeface="Times New Roman"/>
              </a:rPr>
              <a:t>le</a:t>
            </a:r>
            <a:r>
              <a:rPr sz="1200" b="1" spc="-55" dirty="0">
                <a:latin typeface="Bookman Old Style" panose="02050604050505020204" pitchFamily="18" charset="0"/>
                <a:cs typeface="Times New Roman"/>
              </a:rPr>
              <a:t> </a:t>
            </a:r>
            <a:r>
              <a:rPr sz="1200" b="1" dirty="0">
                <a:latin typeface="Bookman Old Style" panose="02050604050505020204" pitchFamily="18" charset="0"/>
                <a:cs typeface="Times New Roman"/>
              </a:rPr>
              <a:t>théorème</a:t>
            </a:r>
            <a:r>
              <a:rPr sz="1200" b="1" spc="-15" dirty="0">
                <a:latin typeface="Bookman Old Style" panose="02050604050505020204" pitchFamily="18" charset="0"/>
                <a:cs typeface="Times New Roman"/>
              </a:rPr>
              <a:t> </a:t>
            </a:r>
            <a:r>
              <a:rPr sz="1200" b="1" dirty="0">
                <a:latin typeface="Bookman Old Style" panose="02050604050505020204" pitchFamily="18" charset="0"/>
                <a:cs typeface="Times New Roman"/>
              </a:rPr>
              <a:t>de</a:t>
            </a:r>
            <a:r>
              <a:rPr sz="1200" b="1" spc="-40" dirty="0">
                <a:latin typeface="Bookman Old Style" panose="02050604050505020204" pitchFamily="18" charset="0"/>
                <a:cs typeface="Times New Roman"/>
              </a:rPr>
              <a:t> </a:t>
            </a:r>
            <a:r>
              <a:rPr sz="1200" b="1" dirty="0">
                <a:latin typeface="Bookman Old Style" panose="02050604050505020204" pitchFamily="18" charset="0"/>
                <a:cs typeface="Times New Roman"/>
              </a:rPr>
              <a:t>Thevenin</a:t>
            </a:r>
            <a:r>
              <a:rPr sz="1200" b="1" spc="-40" dirty="0">
                <a:latin typeface="Bookman Old Style" panose="02050604050505020204" pitchFamily="18" charset="0"/>
                <a:cs typeface="Times New Roman"/>
              </a:rPr>
              <a:t> </a:t>
            </a:r>
            <a:r>
              <a:rPr sz="1200" b="1" spc="-50" dirty="0">
                <a:latin typeface="Bookman Old Style" panose="02050604050505020204" pitchFamily="18" charset="0"/>
                <a:cs typeface="Times New Roman"/>
              </a:rPr>
              <a:t>?</a:t>
            </a:r>
            <a:endParaRPr sz="1200" dirty="0">
              <a:latin typeface="Bookman Old Style" panose="02050604050505020204" pitchFamily="18" charset="0"/>
              <a:cs typeface="Times New Roman"/>
            </a:endParaRPr>
          </a:p>
        </p:txBody>
      </p:sp>
      <p:sp>
        <p:nvSpPr>
          <p:cNvPr id="34" name="object 14">
            <a:extLst>
              <a:ext uri="{FF2B5EF4-FFF2-40B4-BE49-F238E27FC236}">
                <a16:creationId xmlns:a16="http://schemas.microsoft.com/office/drawing/2014/main" id="{5AEFB7EB-B69E-9530-AB55-02C518AFF96F}"/>
              </a:ext>
            </a:extLst>
          </p:cNvPr>
          <p:cNvSpPr/>
          <p:nvPr/>
        </p:nvSpPr>
        <p:spPr>
          <a:xfrm>
            <a:off x="3467032" y="1775595"/>
            <a:ext cx="0" cy="2286000"/>
          </a:xfrm>
          <a:custGeom>
            <a:avLst/>
            <a:gdLst/>
            <a:ahLst/>
            <a:cxnLst/>
            <a:rect l="l" t="t" r="r" b="b"/>
            <a:pathLst>
              <a:path h="2286000">
                <a:moveTo>
                  <a:pt x="0" y="0"/>
                </a:moveTo>
                <a:lnTo>
                  <a:pt x="0" y="2286000"/>
                </a:lnTo>
              </a:path>
            </a:pathLst>
          </a:custGeom>
          <a:ln w="76200">
            <a:solidFill>
              <a:srgbClr val="FF9900"/>
            </a:solidFill>
            <a:prstDash val="sysDash"/>
          </a:ln>
        </p:spPr>
        <p:txBody>
          <a:bodyPr wrap="square" lIns="0" tIns="0" rIns="0" bIns="0" rtlCol="0"/>
          <a:lstStyle/>
          <a:p>
            <a:endParaRPr/>
          </a:p>
        </p:txBody>
      </p:sp>
      <p:sp>
        <p:nvSpPr>
          <p:cNvPr id="35" name="object 15">
            <a:extLst>
              <a:ext uri="{FF2B5EF4-FFF2-40B4-BE49-F238E27FC236}">
                <a16:creationId xmlns:a16="http://schemas.microsoft.com/office/drawing/2014/main" id="{DBC0A8F4-F0EE-61A8-C271-094B54ACB27D}"/>
              </a:ext>
            </a:extLst>
          </p:cNvPr>
          <p:cNvSpPr/>
          <p:nvPr/>
        </p:nvSpPr>
        <p:spPr>
          <a:xfrm>
            <a:off x="6557705" y="1775595"/>
            <a:ext cx="0" cy="2286000"/>
          </a:xfrm>
          <a:custGeom>
            <a:avLst/>
            <a:gdLst/>
            <a:ahLst/>
            <a:cxnLst/>
            <a:rect l="l" t="t" r="r" b="b"/>
            <a:pathLst>
              <a:path h="2286000">
                <a:moveTo>
                  <a:pt x="0" y="0"/>
                </a:moveTo>
                <a:lnTo>
                  <a:pt x="0" y="2286000"/>
                </a:lnTo>
              </a:path>
            </a:pathLst>
          </a:custGeom>
          <a:ln w="76200">
            <a:solidFill>
              <a:srgbClr val="FF9900"/>
            </a:solidFill>
            <a:prstDash val="sysDash"/>
          </a:ln>
        </p:spPr>
        <p:txBody>
          <a:bodyPr wrap="square" lIns="0" tIns="0" rIns="0" bIns="0" rtlCol="0"/>
          <a:lstStyle/>
          <a:p>
            <a:endParaRPr/>
          </a:p>
        </p:txBody>
      </p:sp>
      <p:sp>
        <p:nvSpPr>
          <p:cNvPr id="36" name="object 16">
            <a:extLst>
              <a:ext uri="{FF2B5EF4-FFF2-40B4-BE49-F238E27FC236}">
                <a16:creationId xmlns:a16="http://schemas.microsoft.com/office/drawing/2014/main" id="{95B0BCAC-B410-AE7E-D2C7-381742E37150}"/>
              </a:ext>
            </a:extLst>
          </p:cNvPr>
          <p:cNvSpPr txBox="1"/>
          <p:nvPr/>
        </p:nvSpPr>
        <p:spPr>
          <a:xfrm>
            <a:off x="231626" y="1592412"/>
            <a:ext cx="3094355" cy="382797"/>
          </a:xfrm>
          <a:prstGeom prst="rect">
            <a:avLst/>
          </a:prstGeom>
        </p:spPr>
        <p:txBody>
          <a:bodyPr vert="horz" wrap="square" lIns="0" tIns="13335" rIns="0" bIns="0" rtlCol="0">
            <a:spAutoFit/>
          </a:bodyPr>
          <a:lstStyle/>
          <a:p>
            <a:pPr marL="12700" algn="ctr">
              <a:lnSpc>
                <a:spcPct val="100000"/>
              </a:lnSpc>
              <a:spcBef>
                <a:spcPts val="105"/>
              </a:spcBef>
            </a:pPr>
            <a:r>
              <a:rPr sz="1200" b="1" dirty="0">
                <a:latin typeface="Bookman Old Style" panose="02050604050505020204" pitchFamily="18" charset="0"/>
                <a:cs typeface="Times New Roman"/>
              </a:rPr>
              <a:t>Qu'est-ce</a:t>
            </a:r>
            <a:r>
              <a:rPr sz="1200" b="1" spc="-35" dirty="0">
                <a:latin typeface="Bookman Old Style" panose="02050604050505020204" pitchFamily="18" charset="0"/>
                <a:cs typeface="Times New Roman"/>
              </a:rPr>
              <a:t> </a:t>
            </a:r>
            <a:r>
              <a:rPr sz="1200" b="1" dirty="0">
                <a:latin typeface="Bookman Old Style" panose="02050604050505020204" pitchFamily="18" charset="0"/>
                <a:cs typeface="Times New Roman"/>
              </a:rPr>
              <a:t>que</a:t>
            </a:r>
            <a:r>
              <a:rPr sz="1200" b="1" spc="-20" dirty="0">
                <a:latin typeface="Bookman Old Style" panose="02050604050505020204" pitchFamily="18" charset="0"/>
                <a:cs typeface="Times New Roman"/>
              </a:rPr>
              <a:t> </a:t>
            </a:r>
            <a:r>
              <a:rPr sz="1200" b="1" dirty="0">
                <a:latin typeface="Bookman Old Style" panose="02050604050505020204" pitchFamily="18" charset="0"/>
                <a:cs typeface="Times New Roman"/>
              </a:rPr>
              <a:t>le</a:t>
            </a:r>
            <a:r>
              <a:rPr sz="1200" b="1" spc="-10" dirty="0">
                <a:latin typeface="Bookman Old Style" panose="02050604050505020204" pitchFamily="18" charset="0"/>
                <a:cs typeface="Times New Roman"/>
              </a:rPr>
              <a:t> </a:t>
            </a:r>
            <a:r>
              <a:rPr sz="1200" b="1" dirty="0">
                <a:latin typeface="Bookman Old Style" panose="02050604050505020204" pitchFamily="18" charset="0"/>
                <a:cs typeface="Times New Roman"/>
              </a:rPr>
              <a:t>théorème</a:t>
            </a:r>
            <a:r>
              <a:rPr sz="1200" b="1" spc="-5" dirty="0">
                <a:latin typeface="Bookman Old Style" panose="02050604050505020204" pitchFamily="18" charset="0"/>
                <a:cs typeface="Times New Roman"/>
              </a:rPr>
              <a:t> </a:t>
            </a:r>
            <a:r>
              <a:rPr sz="1200" b="1" dirty="0">
                <a:latin typeface="Bookman Old Style" panose="02050604050505020204" pitchFamily="18" charset="0"/>
                <a:cs typeface="Times New Roman"/>
              </a:rPr>
              <a:t>de</a:t>
            </a:r>
            <a:r>
              <a:rPr sz="1200" b="1" spc="-45" dirty="0">
                <a:latin typeface="Bookman Old Style" panose="02050604050505020204" pitchFamily="18" charset="0"/>
                <a:cs typeface="Times New Roman"/>
              </a:rPr>
              <a:t> </a:t>
            </a:r>
            <a:r>
              <a:rPr sz="1200" b="1" dirty="0">
                <a:latin typeface="Bookman Old Style" panose="02050604050505020204" pitchFamily="18" charset="0"/>
                <a:cs typeface="Times New Roman"/>
              </a:rPr>
              <a:t>Thevenin</a:t>
            </a:r>
            <a:r>
              <a:rPr sz="1200" b="1" spc="-30" dirty="0">
                <a:latin typeface="Bookman Old Style" panose="02050604050505020204" pitchFamily="18" charset="0"/>
                <a:cs typeface="Times New Roman"/>
              </a:rPr>
              <a:t> </a:t>
            </a:r>
            <a:r>
              <a:rPr sz="1200" b="1" spc="-50" dirty="0">
                <a:latin typeface="Bookman Old Style" panose="02050604050505020204" pitchFamily="18" charset="0"/>
                <a:cs typeface="Times New Roman"/>
              </a:rPr>
              <a:t>?</a:t>
            </a:r>
            <a:endParaRPr sz="1200" dirty="0">
              <a:latin typeface="Bookman Old Style" panose="02050604050505020204" pitchFamily="18" charset="0"/>
              <a:cs typeface="Times New Roman"/>
            </a:endParaRPr>
          </a:p>
        </p:txBody>
      </p:sp>
      <p:sp>
        <p:nvSpPr>
          <p:cNvPr id="37" name="object 17">
            <a:extLst>
              <a:ext uri="{FF2B5EF4-FFF2-40B4-BE49-F238E27FC236}">
                <a16:creationId xmlns:a16="http://schemas.microsoft.com/office/drawing/2014/main" id="{1DA386BF-F2D8-B304-D8EC-67CD36101819}"/>
              </a:ext>
            </a:extLst>
          </p:cNvPr>
          <p:cNvSpPr txBox="1"/>
          <p:nvPr/>
        </p:nvSpPr>
        <p:spPr>
          <a:xfrm>
            <a:off x="263380" y="2550495"/>
            <a:ext cx="2781300" cy="382156"/>
          </a:xfrm>
          <a:prstGeom prst="rect">
            <a:avLst/>
          </a:prstGeom>
        </p:spPr>
        <p:txBody>
          <a:bodyPr vert="horz" wrap="square" lIns="0" tIns="12700" rIns="0" bIns="0" rtlCol="0">
            <a:spAutoFit/>
          </a:bodyPr>
          <a:lstStyle/>
          <a:p>
            <a:pPr marL="186055" indent="-173355">
              <a:lnSpc>
                <a:spcPct val="100000"/>
              </a:lnSpc>
              <a:spcBef>
                <a:spcPts val="100"/>
              </a:spcBef>
              <a:buFont typeface="Arial MT"/>
              <a:buChar char="•"/>
              <a:tabLst>
                <a:tab pos="186055" algn="l"/>
              </a:tabLst>
            </a:pPr>
            <a:r>
              <a:rPr sz="1200" dirty="0">
                <a:latin typeface="Bookman Old Style" panose="02050604050505020204" pitchFamily="18" charset="0"/>
                <a:cs typeface="Times New Roman"/>
              </a:rPr>
              <a:t>Physicien</a:t>
            </a:r>
            <a:r>
              <a:rPr sz="1200" spc="-15" dirty="0">
                <a:latin typeface="Bookman Old Style" panose="02050604050505020204" pitchFamily="18" charset="0"/>
                <a:cs typeface="Times New Roman"/>
              </a:rPr>
              <a:t> </a:t>
            </a:r>
            <a:r>
              <a:rPr sz="1200" dirty="0">
                <a:latin typeface="Bookman Old Style" panose="02050604050505020204" pitchFamily="18" charset="0"/>
                <a:cs typeface="Times New Roman"/>
              </a:rPr>
              <a:t>français</a:t>
            </a:r>
            <a:r>
              <a:rPr sz="1200" spc="-25" dirty="0">
                <a:latin typeface="Bookman Old Style" panose="02050604050505020204" pitchFamily="18" charset="0"/>
                <a:cs typeface="Times New Roman"/>
              </a:rPr>
              <a:t> </a:t>
            </a:r>
            <a:r>
              <a:rPr sz="1200" dirty="0">
                <a:latin typeface="Bookman Old Style" panose="02050604050505020204" pitchFamily="18" charset="0"/>
                <a:cs typeface="Times New Roman"/>
              </a:rPr>
              <a:t>Léon</a:t>
            </a:r>
            <a:r>
              <a:rPr sz="1200" spc="-10" dirty="0">
                <a:latin typeface="Bookman Old Style" panose="02050604050505020204" pitchFamily="18" charset="0"/>
                <a:cs typeface="Times New Roman"/>
              </a:rPr>
              <a:t> </a:t>
            </a:r>
            <a:r>
              <a:rPr sz="1200" dirty="0">
                <a:latin typeface="Bookman Old Style" panose="02050604050505020204" pitchFamily="18" charset="0"/>
                <a:cs typeface="Times New Roman"/>
              </a:rPr>
              <a:t>Charles</a:t>
            </a:r>
            <a:r>
              <a:rPr sz="1200" spc="-50" dirty="0">
                <a:latin typeface="Bookman Old Style" panose="02050604050505020204" pitchFamily="18" charset="0"/>
                <a:cs typeface="Times New Roman"/>
              </a:rPr>
              <a:t> </a:t>
            </a:r>
            <a:r>
              <a:rPr sz="1200" b="1" spc="-10" dirty="0">
                <a:latin typeface="Bookman Old Style" panose="02050604050505020204" pitchFamily="18" charset="0"/>
                <a:cs typeface="Times New Roman"/>
              </a:rPr>
              <a:t>Thévenin</a:t>
            </a:r>
            <a:endParaRPr sz="1200" b="1" dirty="0">
              <a:latin typeface="Bookman Old Style" panose="02050604050505020204" pitchFamily="18" charset="0"/>
              <a:cs typeface="Times New Roman"/>
            </a:endParaRPr>
          </a:p>
        </p:txBody>
      </p:sp>
      <p:sp>
        <p:nvSpPr>
          <p:cNvPr id="38" name="object 18">
            <a:extLst>
              <a:ext uri="{FF2B5EF4-FFF2-40B4-BE49-F238E27FC236}">
                <a16:creationId xmlns:a16="http://schemas.microsoft.com/office/drawing/2014/main" id="{398EE445-0636-EA0D-5ADE-079C7A713238}"/>
              </a:ext>
            </a:extLst>
          </p:cNvPr>
          <p:cNvSpPr txBox="1"/>
          <p:nvPr/>
        </p:nvSpPr>
        <p:spPr>
          <a:xfrm>
            <a:off x="263380" y="2194463"/>
            <a:ext cx="2914723" cy="197490"/>
          </a:xfrm>
          <a:prstGeom prst="rect">
            <a:avLst/>
          </a:prstGeom>
        </p:spPr>
        <p:txBody>
          <a:bodyPr vert="horz" wrap="square" lIns="0" tIns="12700" rIns="0" bIns="0" rtlCol="0">
            <a:spAutoFit/>
          </a:bodyPr>
          <a:lstStyle/>
          <a:p>
            <a:pPr marL="185420" indent="-172720">
              <a:lnSpc>
                <a:spcPct val="100000"/>
              </a:lnSpc>
              <a:spcBef>
                <a:spcPts val="100"/>
              </a:spcBef>
              <a:buFont typeface="Arial MT"/>
              <a:buChar char="•"/>
              <a:tabLst>
                <a:tab pos="185420" algn="l"/>
              </a:tabLst>
            </a:pPr>
            <a:r>
              <a:rPr sz="1200" dirty="0">
                <a:latin typeface="Bookman Old Style" panose="02050604050505020204" pitchFamily="18" charset="0"/>
                <a:cs typeface="Times New Roman"/>
              </a:rPr>
              <a:t>Théorème</a:t>
            </a:r>
            <a:r>
              <a:rPr sz="1200" spc="-15" dirty="0">
                <a:latin typeface="Bookman Old Style" panose="02050604050505020204" pitchFamily="18" charset="0"/>
                <a:cs typeface="Times New Roman"/>
              </a:rPr>
              <a:t> </a:t>
            </a:r>
            <a:r>
              <a:rPr sz="1200" dirty="0">
                <a:latin typeface="Bookman Old Style" panose="02050604050505020204" pitchFamily="18" charset="0"/>
                <a:cs typeface="Times New Roman"/>
              </a:rPr>
              <a:t>formulée</a:t>
            </a:r>
            <a:r>
              <a:rPr sz="1200" spc="-10" dirty="0">
                <a:latin typeface="Bookman Old Style" panose="02050604050505020204" pitchFamily="18" charset="0"/>
                <a:cs typeface="Times New Roman"/>
              </a:rPr>
              <a:t> </a:t>
            </a:r>
            <a:r>
              <a:rPr sz="1200" dirty="0" err="1">
                <a:latin typeface="Bookman Old Style" panose="02050604050505020204" pitchFamily="18" charset="0"/>
                <a:cs typeface="Times New Roman"/>
              </a:rPr>
              <a:t>en</a:t>
            </a:r>
            <a:r>
              <a:rPr sz="1200" spc="-25" dirty="0">
                <a:latin typeface="Bookman Old Style" panose="02050604050505020204" pitchFamily="18" charset="0"/>
                <a:cs typeface="Times New Roman"/>
              </a:rPr>
              <a:t> </a:t>
            </a:r>
            <a:r>
              <a:rPr sz="1200" b="1" dirty="0">
                <a:latin typeface="Bookman Old Style" panose="02050604050505020204" pitchFamily="18" charset="0"/>
                <a:cs typeface="Times New Roman"/>
              </a:rPr>
              <a:t>19</a:t>
            </a:r>
            <a:r>
              <a:rPr lang="fr-FR" sz="1200" b="1" dirty="0" err="1">
                <a:latin typeface="Bookman Old Style" panose="02050604050505020204" pitchFamily="18" charset="0"/>
                <a:cs typeface="Times New Roman"/>
              </a:rPr>
              <a:t>ème</a:t>
            </a:r>
            <a:r>
              <a:rPr sz="1200" b="1" spc="-45" dirty="0">
                <a:latin typeface="Bookman Old Style" panose="02050604050505020204" pitchFamily="18" charset="0"/>
                <a:cs typeface="Times New Roman"/>
              </a:rPr>
              <a:t> </a:t>
            </a:r>
            <a:r>
              <a:rPr sz="1200" b="1" spc="-10" dirty="0">
                <a:latin typeface="Bookman Old Style" panose="02050604050505020204" pitchFamily="18" charset="0"/>
                <a:cs typeface="Times New Roman"/>
              </a:rPr>
              <a:t>siècle</a:t>
            </a:r>
            <a:endParaRPr sz="1200" b="1" dirty="0">
              <a:latin typeface="Bookman Old Style" panose="02050604050505020204" pitchFamily="18" charset="0"/>
              <a:cs typeface="Times New Roman"/>
            </a:endParaRPr>
          </a:p>
        </p:txBody>
      </p:sp>
      <p:sp>
        <p:nvSpPr>
          <p:cNvPr id="39" name="object 19">
            <a:extLst>
              <a:ext uri="{FF2B5EF4-FFF2-40B4-BE49-F238E27FC236}">
                <a16:creationId xmlns:a16="http://schemas.microsoft.com/office/drawing/2014/main" id="{4C44DE75-2F18-F98F-A758-88F26AF1DF2A}"/>
              </a:ext>
            </a:extLst>
          </p:cNvPr>
          <p:cNvSpPr txBox="1"/>
          <p:nvPr/>
        </p:nvSpPr>
        <p:spPr>
          <a:xfrm>
            <a:off x="263380" y="3041277"/>
            <a:ext cx="3157933" cy="948978"/>
          </a:xfrm>
          <a:prstGeom prst="rect">
            <a:avLst/>
          </a:prstGeom>
        </p:spPr>
        <p:txBody>
          <a:bodyPr vert="horz" wrap="square" lIns="0" tIns="12700" rIns="0" bIns="0" rtlCol="0">
            <a:spAutoFit/>
          </a:bodyPr>
          <a:lstStyle/>
          <a:p>
            <a:pPr marL="165100" marR="5080" indent="-152400">
              <a:spcBef>
                <a:spcPts val="100"/>
              </a:spcBef>
              <a:buFont typeface="Arial MT"/>
              <a:buChar char="•"/>
              <a:tabLst>
                <a:tab pos="165100" algn="l"/>
                <a:tab pos="186055" algn="l"/>
              </a:tabLst>
            </a:pPr>
            <a:r>
              <a:rPr sz="1200" dirty="0">
                <a:latin typeface="Bookman Old Style" panose="02050604050505020204" pitchFamily="18" charset="0"/>
                <a:cs typeface="Times New Roman"/>
              </a:rPr>
              <a:t>	C'est</a:t>
            </a:r>
            <a:r>
              <a:rPr sz="1200" spc="-25" dirty="0">
                <a:latin typeface="Bookman Old Style" panose="02050604050505020204" pitchFamily="18" charset="0"/>
                <a:cs typeface="Times New Roman"/>
              </a:rPr>
              <a:t> </a:t>
            </a:r>
            <a:r>
              <a:rPr sz="1200" dirty="0">
                <a:latin typeface="Bookman Old Style" panose="02050604050505020204" pitchFamily="18" charset="0"/>
                <a:cs typeface="Times New Roman"/>
              </a:rPr>
              <a:t>un</a:t>
            </a:r>
            <a:r>
              <a:rPr sz="1200" spc="-35" dirty="0">
                <a:latin typeface="Bookman Old Style" panose="02050604050505020204" pitchFamily="18" charset="0"/>
                <a:cs typeface="Times New Roman"/>
              </a:rPr>
              <a:t> </a:t>
            </a:r>
            <a:r>
              <a:rPr sz="1200" dirty="0">
                <a:latin typeface="Bookman Old Style" panose="02050604050505020204" pitchFamily="18" charset="0"/>
                <a:cs typeface="Times New Roman"/>
              </a:rPr>
              <a:t>théorème</a:t>
            </a:r>
            <a:r>
              <a:rPr sz="1200" spc="-5" dirty="0">
                <a:latin typeface="Bookman Old Style" panose="02050604050505020204" pitchFamily="18" charset="0"/>
                <a:cs typeface="Times New Roman"/>
              </a:rPr>
              <a:t> </a:t>
            </a:r>
            <a:r>
              <a:rPr sz="1200" b="1" dirty="0">
                <a:latin typeface="Bookman Old Style" panose="02050604050505020204" pitchFamily="18" charset="0"/>
                <a:cs typeface="Times New Roman"/>
              </a:rPr>
              <a:t>élémentaire</a:t>
            </a:r>
            <a:r>
              <a:rPr sz="1200" b="1" spc="15" dirty="0">
                <a:latin typeface="Bookman Old Style" panose="02050604050505020204" pitchFamily="18" charset="0"/>
                <a:cs typeface="Times New Roman"/>
              </a:rPr>
              <a:t> </a:t>
            </a:r>
            <a:r>
              <a:rPr sz="1200" b="1" spc="-25" dirty="0">
                <a:latin typeface="Bookman Old Style" panose="02050604050505020204" pitchFamily="18" charset="0"/>
                <a:cs typeface="Times New Roman"/>
              </a:rPr>
              <a:t>en </a:t>
            </a:r>
            <a:r>
              <a:rPr sz="1200" b="1" dirty="0">
                <a:latin typeface="Bookman Old Style" panose="02050604050505020204" pitchFamily="18" charset="0"/>
                <a:cs typeface="Times New Roman"/>
              </a:rPr>
              <a:t>électrocinétique</a:t>
            </a:r>
            <a:r>
              <a:rPr sz="1200" spc="105" dirty="0">
                <a:latin typeface="Bookman Old Style" panose="02050604050505020204" pitchFamily="18" charset="0"/>
                <a:cs typeface="Times New Roman"/>
              </a:rPr>
              <a:t>  </a:t>
            </a:r>
            <a:r>
              <a:rPr sz="1200" dirty="0">
                <a:latin typeface="Bookman Old Style" panose="02050604050505020204" pitchFamily="18" charset="0"/>
                <a:cs typeface="Times New Roman"/>
              </a:rPr>
              <a:t>|</a:t>
            </a:r>
            <a:r>
              <a:rPr sz="1200" spc="484" dirty="0">
                <a:latin typeface="Bookman Old Style" panose="02050604050505020204" pitchFamily="18" charset="0"/>
                <a:cs typeface="Times New Roman"/>
              </a:rPr>
              <a:t> </a:t>
            </a:r>
            <a:r>
              <a:rPr sz="1200" dirty="0">
                <a:latin typeface="Bookman Old Style" panose="02050604050505020204" pitchFamily="18" charset="0"/>
                <a:cs typeface="Times New Roman"/>
              </a:rPr>
              <a:t>Principe</a:t>
            </a:r>
            <a:r>
              <a:rPr sz="1200" spc="490" dirty="0">
                <a:latin typeface="Bookman Old Style" panose="02050604050505020204" pitchFamily="18" charset="0"/>
                <a:cs typeface="Times New Roman"/>
              </a:rPr>
              <a:t> </a:t>
            </a:r>
            <a:r>
              <a:rPr sz="1200" dirty="0" err="1">
                <a:latin typeface="Bookman Old Style" panose="02050604050505020204" pitchFamily="18" charset="0"/>
                <a:cs typeface="Times New Roman"/>
              </a:rPr>
              <a:t>fondamental</a:t>
            </a:r>
            <a:r>
              <a:rPr sz="1200" spc="105" dirty="0">
                <a:latin typeface="Bookman Old Style" panose="02050604050505020204" pitchFamily="18" charset="0"/>
                <a:cs typeface="Times New Roman"/>
              </a:rPr>
              <a:t>  </a:t>
            </a:r>
            <a:r>
              <a:rPr sz="1200" spc="-25" dirty="0" err="1">
                <a:latin typeface="Bookman Old Style" panose="02050604050505020204" pitchFamily="18" charset="0"/>
                <a:cs typeface="Times New Roman"/>
              </a:rPr>
              <a:t>en</a:t>
            </a:r>
            <a:r>
              <a:rPr lang="fr-FR" sz="1200" spc="-25" dirty="0">
                <a:latin typeface="Bookman Old Style" panose="02050604050505020204" pitchFamily="18" charset="0"/>
                <a:cs typeface="Times New Roman"/>
              </a:rPr>
              <a:t> </a:t>
            </a:r>
            <a:r>
              <a:rPr lang="fr-FR" sz="1200" dirty="0">
                <a:latin typeface="Bookman Old Style" panose="02050604050505020204" pitchFamily="18" charset="0"/>
                <a:cs typeface="Times New Roman"/>
              </a:rPr>
              <a:t>électricité</a:t>
            </a:r>
            <a:r>
              <a:rPr lang="fr-FR" sz="1200" spc="10" dirty="0">
                <a:latin typeface="Bookman Old Style" panose="02050604050505020204" pitchFamily="18" charset="0"/>
                <a:cs typeface="Times New Roman"/>
              </a:rPr>
              <a:t> </a:t>
            </a:r>
            <a:r>
              <a:rPr lang="fr-FR" sz="1200" dirty="0">
                <a:latin typeface="Bookman Old Style" panose="02050604050505020204" pitchFamily="18" charset="0"/>
                <a:cs typeface="Times New Roman"/>
              </a:rPr>
              <a:t>et</a:t>
            </a:r>
            <a:r>
              <a:rPr lang="fr-FR" sz="1200" spc="-25" dirty="0">
                <a:latin typeface="Bookman Old Style" panose="02050604050505020204" pitchFamily="18" charset="0"/>
                <a:cs typeface="Times New Roman"/>
              </a:rPr>
              <a:t> </a:t>
            </a:r>
            <a:r>
              <a:rPr lang="fr-FR" sz="1200" dirty="0">
                <a:latin typeface="Bookman Old Style" panose="02050604050505020204" pitchFamily="18" charset="0"/>
                <a:cs typeface="Times New Roman"/>
              </a:rPr>
              <a:t>en</a:t>
            </a:r>
            <a:r>
              <a:rPr lang="fr-FR" sz="1200" spc="-25" dirty="0">
                <a:latin typeface="Bookman Old Style" panose="02050604050505020204" pitchFamily="18" charset="0"/>
                <a:cs typeface="Times New Roman"/>
              </a:rPr>
              <a:t> </a:t>
            </a:r>
            <a:r>
              <a:rPr lang="fr-FR" sz="1200" spc="-10" dirty="0">
                <a:latin typeface="Bookman Old Style" panose="02050604050505020204" pitchFamily="18" charset="0"/>
                <a:cs typeface="Times New Roman"/>
              </a:rPr>
              <a:t>électronique</a:t>
            </a:r>
            <a:endParaRPr lang="fr-FR" sz="1200" dirty="0">
              <a:latin typeface="Bookman Old Style" panose="02050604050505020204" pitchFamily="18" charset="0"/>
              <a:cs typeface="Times New Roman"/>
            </a:endParaRPr>
          </a:p>
          <a:p>
            <a:pPr marL="165100" marR="5080" indent="-152400">
              <a:lnSpc>
                <a:spcPct val="100000"/>
              </a:lnSpc>
              <a:spcBef>
                <a:spcPts val="100"/>
              </a:spcBef>
              <a:buFont typeface="Arial MT"/>
              <a:buChar char="•"/>
              <a:tabLst>
                <a:tab pos="165100" algn="l"/>
                <a:tab pos="186055" algn="l"/>
              </a:tabLst>
            </a:pPr>
            <a:endParaRPr sz="1200" dirty="0">
              <a:latin typeface="Bookman Old Style" panose="02050604050505020204" pitchFamily="18" charset="0"/>
              <a:cs typeface="Times New Roman"/>
            </a:endParaRPr>
          </a:p>
        </p:txBody>
      </p:sp>
      <p:sp>
        <p:nvSpPr>
          <p:cNvPr id="41" name="object 21">
            <a:extLst>
              <a:ext uri="{FF2B5EF4-FFF2-40B4-BE49-F238E27FC236}">
                <a16:creationId xmlns:a16="http://schemas.microsoft.com/office/drawing/2014/main" id="{332EFE92-CE44-54AF-DBDF-B49AEEAFD39B}"/>
              </a:ext>
            </a:extLst>
          </p:cNvPr>
          <p:cNvSpPr txBox="1"/>
          <p:nvPr/>
        </p:nvSpPr>
        <p:spPr>
          <a:xfrm>
            <a:off x="6787954" y="1599192"/>
            <a:ext cx="2122837" cy="382797"/>
          </a:xfrm>
          <a:prstGeom prst="rect">
            <a:avLst/>
          </a:prstGeom>
        </p:spPr>
        <p:txBody>
          <a:bodyPr vert="horz" wrap="square" lIns="0" tIns="13335" rIns="0" bIns="0" rtlCol="0">
            <a:spAutoFit/>
          </a:bodyPr>
          <a:lstStyle/>
          <a:p>
            <a:pPr marL="12700" marR="5080" algn="ctr">
              <a:lnSpc>
                <a:spcPct val="100000"/>
              </a:lnSpc>
              <a:spcBef>
                <a:spcPts val="105"/>
              </a:spcBef>
            </a:pPr>
            <a:r>
              <a:rPr sz="1200" b="1" dirty="0">
                <a:latin typeface="Bookman Old Style" panose="02050604050505020204" pitchFamily="18" charset="0"/>
                <a:cs typeface="Times New Roman"/>
              </a:rPr>
              <a:t>Quelles</a:t>
            </a:r>
            <a:r>
              <a:rPr sz="1200" b="1" spc="-35" dirty="0">
                <a:latin typeface="Bookman Old Style" panose="02050604050505020204" pitchFamily="18" charset="0"/>
                <a:cs typeface="Times New Roman"/>
              </a:rPr>
              <a:t> </a:t>
            </a:r>
            <a:r>
              <a:rPr sz="1200" b="1" dirty="0">
                <a:latin typeface="Bookman Old Style" panose="02050604050505020204" pitchFamily="18" charset="0"/>
                <a:cs typeface="Times New Roman"/>
              </a:rPr>
              <a:t>sont</a:t>
            </a:r>
            <a:r>
              <a:rPr sz="1200" b="1" spc="-40" dirty="0">
                <a:latin typeface="Bookman Old Style" panose="02050604050505020204" pitchFamily="18" charset="0"/>
                <a:cs typeface="Times New Roman"/>
              </a:rPr>
              <a:t> </a:t>
            </a:r>
            <a:r>
              <a:rPr sz="1200" b="1" dirty="0">
                <a:latin typeface="Bookman Old Style" panose="02050604050505020204" pitchFamily="18" charset="0"/>
                <a:cs typeface="Times New Roman"/>
              </a:rPr>
              <a:t>les</a:t>
            </a:r>
            <a:r>
              <a:rPr sz="1200" b="1" spc="-5" dirty="0">
                <a:latin typeface="Bookman Old Style" panose="02050604050505020204" pitchFamily="18" charset="0"/>
                <a:cs typeface="Times New Roman"/>
              </a:rPr>
              <a:t> </a:t>
            </a:r>
            <a:r>
              <a:rPr sz="1200" b="1" spc="-10" dirty="0">
                <a:latin typeface="Bookman Old Style" panose="02050604050505020204" pitchFamily="18" charset="0"/>
                <a:cs typeface="Times New Roman"/>
              </a:rPr>
              <a:t>conditions </a:t>
            </a:r>
            <a:r>
              <a:rPr sz="1200" b="1" dirty="0">
                <a:latin typeface="Bookman Old Style" panose="02050604050505020204" pitchFamily="18" charset="0"/>
                <a:cs typeface="Times New Roman"/>
              </a:rPr>
              <a:t>d'application</a:t>
            </a:r>
            <a:r>
              <a:rPr sz="1200" b="1" spc="-85" dirty="0">
                <a:latin typeface="Bookman Old Style" panose="02050604050505020204" pitchFamily="18" charset="0"/>
                <a:cs typeface="Times New Roman"/>
              </a:rPr>
              <a:t> </a:t>
            </a:r>
            <a:r>
              <a:rPr sz="1200" b="1" spc="-50" dirty="0">
                <a:latin typeface="Bookman Old Style" panose="02050604050505020204" pitchFamily="18" charset="0"/>
                <a:cs typeface="Times New Roman"/>
              </a:rPr>
              <a:t>?</a:t>
            </a:r>
            <a:endParaRPr sz="1200" dirty="0">
              <a:latin typeface="Bookman Old Style" panose="02050604050505020204" pitchFamily="18" charset="0"/>
              <a:cs typeface="Times New Roman"/>
            </a:endParaRPr>
          </a:p>
        </p:txBody>
      </p:sp>
      <p:sp>
        <p:nvSpPr>
          <p:cNvPr id="42" name="object 22">
            <a:extLst>
              <a:ext uri="{FF2B5EF4-FFF2-40B4-BE49-F238E27FC236}">
                <a16:creationId xmlns:a16="http://schemas.microsoft.com/office/drawing/2014/main" id="{527A6A31-E207-BA5C-63BE-EEC3D5DDBC4A}"/>
              </a:ext>
            </a:extLst>
          </p:cNvPr>
          <p:cNvSpPr txBox="1"/>
          <p:nvPr/>
        </p:nvSpPr>
        <p:spPr>
          <a:xfrm>
            <a:off x="3587811" y="2263041"/>
            <a:ext cx="2745740" cy="382156"/>
          </a:xfrm>
          <a:prstGeom prst="rect">
            <a:avLst/>
          </a:prstGeom>
        </p:spPr>
        <p:txBody>
          <a:bodyPr vert="horz" wrap="square" lIns="0" tIns="12700" rIns="0" bIns="0" rtlCol="0">
            <a:spAutoFit/>
          </a:bodyPr>
          <a:lstStyle/>
          <a:p>
            <a:pPr marL="185420" indent="-172720">
              <a:lnSpc>
                <a:spcPct val="100000"/>
              </a:lnSpc>
              <a:spcBef>
                <a:spcPts val="100"/>
              </a:spcBef>
              <a:buFont typeface="Arial MT"/>
              <a:buChar char="•"/>
              <a:tabLst>
                <a:tab pos="185420" algn="l"/>
              </a:tabLst>
            </a:pPr>
            <a:r>
              <a:rPr sz="1200" b="1" dirty="0">
                <a:latin typeface="Bookman Old Style" panose="02050604050505020204" pitchFamily="18" charset="0"/>
                <a:cs typeface="Times New Roman"/>
              </a:rPr>
              <a:t>Simplifier</a:t>
            </a:r>
            <a:r>
              <a:rPr sz="1200" spc="-45" dirty="0">
                <a:latin typeface="Bookman Old Style" panose="02050604050505020204" pitchFamily="18" charset="0"/>
                <a:cs typeface="Times New Roman"/>
              </a:rPr>
              <a:t> </a:t>
            </a:r>
            <a:r>
              <a:rPr sz="1200" dirty="0">
                <a:latin typeface="Bookman Old Style" panose="02050604050505020204" pitchFamily="18" charset="0"/>
                <a:cs typeface="Times New Roman"/>
              </a:rPr>
              <a:t>l'analyse</a:t>
            </a:r>
            <a:r>
              <a:rPr sz="1200" spc="-5" dirty="0">
                <a:latin typeface="Bookman Old Style" panose="02050604050505020204" pitchFamily="18" charset="0"/>
                <a:cs typeface="Times New Roman"/>
              </a:rPr>
              <a:t> </a:t>
            </a:r>
            <a:r>
              <a:rPr sz="1200" dirty="0">
                <a:latin typeface="Bookman Old Style" panose="02050604050505020204" pitchFamily="18" charset="0"/>
                <a:cs typeface="Times New Roman"/>
              </a:rPr>
              <a:t>de</a:t>
            </a:r>
            <a:r>
              <a:rPr sz="1200" spc="-45" dirty="0">
                <a:latin typeface="Bookman Old Style" panose="02050604050505020204" pitchFamily="18" charset="0"/>
                <a:cs typeface="Times New Roman"/>
              </a:rPr>
              <a:t> </a:t>
            </a:r>
            <a:r>
              <a:rPr sz="1200" b="1" dirty="0">
                <a:latin typeface="Bookman Old Style" panose="02050604050505020204" pitchFamily="18" charset="0"/>
                <a:cs typeface="Times New Roman"/>
              </a:rPr>
              <a:t>circuits</a:t>
            </a:r>
            <a:r>
              <a:rPr sz="1200" b="1" spc="-30" dirty="0">
                <a:latin typeface="Bookman Old Style" panose="02050604050505020204" pitchFamily="18" charset="0"/>
                <a:cs typeface="Times New Roman"/>
              </a:rPr>
              <a:t> </a:t>
            </a:r>
            <a:r>
              <a:rPr sz="1200" b="1" spc="-10" dirty="0">
                <a:latin typeface="Bookman Old Style" panose="02050604050505020204" pitchFamily="18" charset="0"/>
                <a:cs typeface="Times New Roman"/>
              </a:rPr>
              <a:t>complexes</a:t>
            </a:r>
            <a:endParaRPr sz="1200" b="1" dirty="0">
              <a:latin typeface="Bookman Old Style" panose="02050604050505020204" pitchFamily="18" charset="0"/>
              <a:cs typeface="Times New Roman"/>
            </a:endParaRPr>
          </a:p>
        </p:txBody>
      </p:sp>
      <p:sp>
        <p:nvSpPr>
          <p:cNvPr id="43" name="object 23">
            <a:extLst>
              <a:ext uri="{FF2B5EF4-FFF2-40B4-BE49-F238E27FC236}">
                <a16:creationId xmlns:a16="http://schemas.microsoft.com/office/drawing/2014/main" id="{344C7084-1F1D-A3E7-14E5-F30596D5A88B}"/>
              </a:ext>
            </a:extLst>
          </p:cNvPr>
          <p:cNvSpPr txBox="1"/>
          <p:nvPr/>
        </p:nvSpPr>
        <p:spPr>
          <a:xfrm>
            <a:off x="3596063" y="2866157"/>
            <a:ext cx="2915922" cy="382156"/>
          </a:xfrm>
          <a:prstGeom prst="rect">
            <a:avLst/>
          </a:prstGeom>
        </p:spPr>
        <p:txBody>
          <a:bodyPr vert="horz" wrap="square" lIns="0" tIns="12700" rIns="0" bIns="0" rtlCol="0">
            <a:spAutoFit/>
          </a:bodyPr>
          <a:lstStyle/>
          <a:p>
            <a:pPr marL="184785" marR="5080" indent="-172720">
              <a:lnSpc>
                <a:spcPct val="100000"/>
              </a:lnSpc>
              <a:spcBef>
                <a:spcPts val="100"/>
              </a:spcBef>
              <a:buFont typeface="Arial MT"/>
              <a:buChar char="•"/>
              <a:tabLst>
                <a:tab pos="184785" algn="l"/>
              </a:tabLst>
            </a:pPr>
            <a:r>
              <a:rPr sz="1200" dirty="0">
                <a:latin typeface="Bookman Old Style" panose="02050604050505020204" pitchFamily="18" charset="0"/>
                <a:cs typeface="Times New Roman"/>
              </a:rPr>
              <a:t>Représentation</a:t>
            </a:r>
            <a:r>
              <a:rPr sz="1200" spc="-10" dirty="0">
                <a:latin typeface="Bookman Old Style" panose="02050604050505020204" pitchFamily="18" charset="0"/>
                <a:cs typeface="Times New Roman"/>
              </a:rPr>
              <a:t> </a:t>
            </a:r>
            <a:r>
              <a:rPr sz="1200" dirty="0">
                <a:latin typeface="Bookman Old Style" panose="02050604050505020204" pitchFamily="18" charset="0"/>
                <a:cs typeface="Times New Roman"/>
              </a:rPr>
              <a:t>simple</a:t>
            </a:r>
            <a:r>
              <a:rPr sz="1200" spc="-30" dirty="0">
                <a:latin typeface="Bookman Old Style" panose="02050604050505020204" pitchFamily="18" charset="0"/>
                <a:cs typeface="Times New Roman"/>
              </a:rPr>
              <a:t> </a:t>
            </a:r>
            <a:r>
              <a:rPr sz="1200" dirty="0">
                <a:latin typeface="Bookman Old Style" panose="02050604050505020204" pitchFamily="18" charset="0"/>
                <a:cs typeface="Times New Roman"/>
              </a:rPr>
              <a:t>pour</a:t>
            </a:r>
            <a:r>
              <a:rPr sz="1200" spc="-45" dirty="0">
                <a:latin typeface="Bookman Old Style" panose="02050604050505020204" pitchFamily="18" charset="0"/>
                <a:cs typeface="Times New Roman"/>
              </a:rPr>
              <a:t> </a:t>
            </a:r>
            <a:r>
              <a:rPr sz="1200" dirty="0">
                <a:latin typeface="Bookman Old Style" panose="02050604050505020204" pitchFamily="18" charset="0"/>
                <a:cs typeface="Times New Roman"/>
              </a:rPr>
              <a:t>le</a:t>
            </a:r>
            <a:r>
              <a:rPr sz="1200" spc="-30" dirty="0">
                <a:latin typeface="Bookman Old Style" panose="02050604050505020204" pitchFamily="18" charset="0"/>
                <a:cs typeface="Times New Roman"/>
              </a:rPr>
              <a:t> </a:t>
            </a:r>
            <a:r>
              <a:rPr sz="1200" dirty="0">
                <a:latin typeface="Bookman Old Style" panose="02050604050505020204" pitchFamily="18" charset="0"/>
                <a:cs typeface="Times New Roman"/>
              </a:rPr>
              <a:t>calcul</a:t>
            </a:r>
            <a:r>
              <a:rPr sz="1200" spc="-10" dirty="0">
                <a:latin typeface="Bookman Old Style" panose="02050604050505020204" pitchFamily="18" charset="0"/>
                <a:cs typeface="Times New Roman"/>
              </a:rPr>
              <a:t> </a:t>
            </a:r>
            <a:r>
              <a:rPr sz="1200" spc="-25" dirty="0">
                <a:latin typeface="Bookman Old Style" panose="02050604050505020204" pitchFamily="18" charset="0"/>
                <a:cs typeface="Times New Roman"/>
              </a:rPr>
              <a:t>des </a:t>
            </a:r>
            <a:r>
              <a:rPr sz="1200" dirty="0">
                <a:latin typeface="Bookman Old Style" panose="02050604050505020204" pitchFamily="18" charset="0"/>
                <a:cs typeface="Times New Roman"/>
              </a:rPr>
              <a:t>courants</a:t>
            </a:r>
            <a:r>
              <a:rPr sz="1200" spc="-5" dirty="0">
                <a:latin typeface="Bookman Old Style" panose="02050604050505020204" pitchFamily="18" charset="0"/>
                <a:cs typeface="Times New Roman"/>
              </a:rPr>
              <a:t> </a:t>
            </a:r>
            <a:r>
              <a:rPr sz="1200" dirty="0">
                <a:latin typeface="Bookman Old Style" panose="02050604050505020204" pitchFamily="18" charset="0"/>
                <a:cs typeface="Times New Roman"/>
              </a:rPr>
              <a:t>et</a:t>
            </a:r>
            <a:r>
              <a:rPr sz="1200" spc="-25" dirty="0">
                <a:latin typeface="Bookman Old Style" panose="02050604050505020204" pitchFamily="18" charset="0"/>
                <a:cs typeface="Times New Roman"/>
              </a:rPr>
              <a:t> </a:t>
            </a:r>
            <a:r>
              <a:rPr sz="1200" dirty="0">
                <a:latin typeface="Bookman Old Style" panose="02050604050505020204" pitchFamily="18" charset="0"/>
                <a:cs typeface="Times New Roman"/>
              </a:rPr>
              <a:t>des</a:t>
            </a:r>
            <a:r>
              <a:rPr sz="1200" spc="-15" dirty="0">
                <a:latin typeface="Bookman Old Style" panose="02050604050505020204" pitchFamily="18" charset="0"/>
                <a:cs typeface="Times New Roman"/>
              </a:rPr>
              <a:t> </a:t>
            </a:r>
            <a:r>
              <a:rPr sz="1200" spc="-10" dirty="0">
                <a:latin typeface="Bookman Old Style" panose="02050604050505020204" pitchFamily="18" charset="0"/>
                <a:cs typeface="Times New Roman"/>
              </a:rPr>
              <a:t>tensions.</a:t>
            </a:r>
            <a:endParaRPr sz="1200" dirty="0">
              <a:latin typeface="Bookman Old Style" panose="02050604050505020204" pitchFamily="18" charset="0"/>
              <a:cs typeface="Times New Roman"/>
            </a:endParaRPr>
          </a:p>
        </p:txBody>
      </p:sp>
      <p:sp>
        <p:nvSpPr>
          <p:cNvPr id="44" name="object 24">
            <a:extLst>
              <a:ext uri="{FF2B5EF4-FFF2-40B4-BE49-F238E27FC236}">
                <a16:creationId xmlns:a16="http://schemas.microsoft.com/office/drawing/2014/main" id="{67D19D6B-6F9E-BC7A-2F67-D3C86DAA311F}"/>
              </a:ext>
            </a:extLst>
          </p:cNvPr>
          <p:cNvSpPr txBox="1"/>
          <p:nvPr/>
        </p:nvSpPr>
        <p:spPr>
          <a:xfrm>
            <a:off x="6732456" y="2143575"/>
            <a:ext cx="2122835" cy="197490"/>
          </a:xfrm>
          <a:prstGeom prst="rect">
            <a:avLst/>
          </a:prstGeom>
        </p:spPr>
        <p:txBody>
          <a:bodyPr vert="horz" wrap="square" lIns="0" tIns="12700" rIns="0" bIns="0" rtlCol="0">
            <a:spAutoFit/>
          </a:bodyPr>
          <a:lstStyle/>
          <a:p>
            <a:pPr marL="186055" indent="-173355">
              <a:lnSpc>
                <a:spcPct val="100000"/>
              </a:lnSpc>
              <a:spcBef>
                <a:spcPts val="100"/>
              </a:spcBef>
              <a:buFont typeface="Arial MT"/>
              <a:buChar char="•"/>
              <a:tabLst>
                <a:tab pos="186055" algn="l"/>
              </a:tabLst>
            </a:pPr>
            <a:r>
              <a:rPr sz="1200" dirty="0">
                <a:latin typeface="Bookman Old Style" panose="02050604050505020204" pitchFamily="18" charset="0"/>
                <a:cs typeface="Times New Roman"/>
              </a:rPr>
              <a:t>Circuit</a:t>
            </a:r>
            <a:r>
              <a:rPr sz="1200" spc="-35" dirty="0">
                <a:latin typeface="Bookman Old Style" panose="02050604050505020204" pitchFamily="18" charset="0"/>
                <a:cs typeface="Times New Roman"/>
              </a:rPr>
              <a:t> </a:t>
            </a:r>
            <a:r>
              <a:rPr sz="1200" dirty="0">
                <a:latin typeface="Bookman Old Style" panose="02050604050505020204" pitchFamily="18" charset="0"/>
                <a:cs typeface="Times New Roman"/>
              </a:rPr>
              <a:t>électrique</a:t>
            </a:r>
            <a:r>
              <a:rPr sz="1200" spc="-5" dirty="0">
                <a:latin typeface="Bookman Old Style" panose="02050604050505020204" pitchFamily="18" charset="0"/>
                <a:cs typeface="Times New Roman"/>
              </a:rPr>
              <a:t> </a:t>
            </a:r>
            <a:r>
              <a:rPr sz="1200" spc="-10" dirty="0">
                <a:latin typeface="Bookman Old Style" panose="02050604050505020204" pitchFamily="18" charset="0"/>
                <a:cs typeface="Times New Roman"/>
              </a:rPr>
              <a:t>linéaire</a:t>
            </a:r>
            <a:endParaRPr sz="1200" dirty="0">
              <a:latin typeface="Bookman Old Style" panose="02050604050505020204" pitchFamily="18" charset="0"/>
              <a:cs typeface="Times New Roman"/>
            </a:endParaRPr>
          </a:p>
        </p:txBody>
      </p:sp>
      <p:sp>
        <p:nvSpPr>
          <p:cNvPr id="45" name="object 25">
            <a:extLst>
              <a:ext uri="{FF2B5EF4-FFF2-40B4-BE49-F238E27FC236}">
                <a16:creationId xmlns:a16="http://schemas.microsoft.com/office/drawing/2014/main" id="{AB80660B-FCD0-66AD-FF5B-65DC7F007E1F}"/>
              </a:ext>
            </a:extLst>
          </p:cNvPr>
          <p:cNvSpPr txBox="1"/>
          <p:nvPr/>
        </p:nvSpPr>
        <p:spPr>
          <a:xfrm>
            <a:off x="6732456" y="2657736"/>
            <a:ext cx="2411544" cy="1490152"/>
          </a:xfrm>
          <a:prstGeom prst="rect">
            <a:avLst/>
          </a:prstGeom>
        </p:spPr>
        <p:txBody>
          <a:bodyPr vert="horz" wrap="square" lIns="0" tIns="12700" rIns="0" bIns="0" rtlCol="0">
            <a:spAutoFit/>
          </a:bodyPr>
          <a:lstStyle/>
          <a:p>
            <a:pPr marL="127000" marR="53340" indent="-114300">
              <a:lnSpc>
                <a:spcPct val="100000"/>
              </a:lnSpc>
              <a:spcBef>
                <a:spcPts val="100"/>
              </a:spcBef>
              <a:buFont typeface="Arial MT"/>
              <a:buChar char="•"/>
              <a:tabLst>
                <a:tab pos="127000" algn="l"/>
                <a:tab pos="186055" algn="l"/>
              </a:tabLst>
            </a:pPr>
            <a:r>
              <a:rPr sz="1200" dirty="0">
                <a:latin typeface="Bookman Old Style" panose="02050604050505020204" pitchFamily="18" charset="0"/>
                <a:cs typeface="Times New Roman"/>
              </a:rPr>
              <a:t>	Remplacé</a:t>
            </a:r>
            <a:r>
              <a:rPr sz="1200" spc="-5" dirty="0">
                <a:latin typeface="Bookman Old Style" panose="02050604050505020204" pitchFamily="18" charset="0"/>
                <a:cs typeface="Times New Roman"/>
              </a:rPr>
              <a:t> </a:t>
            </a:r>
            <a:r>
              <a:rPr sz="1200" dirty="0">
                <a:latin typeface="Bookman Old Style" panose="02050604050505020204" pitchFamily="18" charset="0"/>
                <a:cs typeface="Times New Roman"/>
              </a:rPr>
              <a:t>un</a:t>
            </a:r>
            <a:r>
              <a:rPr sz="1200" spc="-35" dirty="0">
                <a:latin typeface="Bookman Old Style" panose="02050604050505020204" pitchFamily="18" charset="0"/>
                <a:cs typeface="Times New Roman"/>
              </a:rPr>
              <a:t> </a:t>
            </a:r>
            <a:r>
              <a:rPr sz="1200" dirty="0">
                <a:latin typeface="Bookman Old Style" panose="02050604050505020204" pitchFamily="18" charset="0"/>
                <a:cs typeface="Times New Roman"/>
              </a:rPr>
              <a:t>circuit</a:t>
            </a:r>
            <a:r>
              <a:rPr sz="1200" spc="-10" dirty="0">
                <a:latin typeface="Bookman Old Style" panose="02050604050505020204" pitchFamily="18" charset="0"/>
                <a:cs typeface="Times New Roman"/>
              </a:rPr>
              <a:t> </a:t>
            </a:r>
            <a:r>
              <a:rPr sz="1200" dirty="0">
                <a:latin typeface="Bookman Old Style" panose="02050604050505020204" pitchFamily="18" charset="0"/>
                <a:cs typeface="Times New Roman"/>
              </a:rPr>
              <a:t>complexe</a:t>
            </a:r>
            <a:r>
              <a:rPr sz="1200" spc="-20" dirty="0">
                <a:latin typeface="Bookman Old Style" panose="02050604050505020204" pitchFamily="18" charset="0"/>
                <a:cs typeface="Times New Roman"/>
              </a:rPr>
              <a:t> </a:t>
            </a:r>
            <a:r>
              <a:rPr sz="1200" spc="-25" dirty="0">
                <a:latin typeface="Bookman Old Style" panose="02050604050505020204" pitchFamily="18" charset="0"/>
                <a:cs typeface="Times New Roman"/>
              </a:rPr>
              <a:t>par </a:t>
            </a:r>
            <a:r>
              <a:rPr sz="1200" dirty="0">
                <a:latin typeface="Bookman Old Style" panose="02050604050505020204" pitchFamily="18" charset="0"/>
                <a:cs typeface="Times New Roman"/>
              </a:rPr>
              <a:t>une</a:t>
            </a:r>
            <a:r>
              <a:rPr sz="1200" spc="-25" dirty="0">
                <a:latin typeface="Bookman Old Style" panose="02050604050505020204" pitchFamily="18" charset="0"/>
                <a:cs typeface="Times New Roman"/>
              </a:rPr>
              <a:t> </a:t>
            </a:r>
            <a:r>
              <a:rPr sz="1200" dirty="0">
                <a:latin typeface="Bookman Old Style" panose="02050604050505020204" pitchFamily="18" charset="0"/>
                <a:cs typeface="Times New Roman"/>
              </a:rPr>
              <a:t>seule</a:t>
            </a:r>
            <a:r>
              <a:rPr sz="1200" spc="-15" dirty="0">
                <a:latin typeface="Bookman Old Style" panose="02050604050505020204" pitchFamily="18" charset="0"/>
                <a:cs typeface="Times New Roman"/>
              </a:rPr>
              <a:t> </a:t>
            </a:r>
            <a:r>
              <a:rPr sz="1200" dirty="0">
                <a:latin typeface="Bookman Old Style" panose="02050604050505020204" pitchFamily="18" charset="0"/>
                <a:cs typeface="Times New Roman"/>
              </a:rPr>
              <a:t>source</a:t>
            </a:r>
            <a:r>
              <a:rPr sz="1200" spc="-20" dirty="0">
                <a:latin typeface="Bookman Old Style" panose="02050604050505020204" pitchFamily="18" charset="0"/>
                <a:cs typeface="Times New Roman"/>
              </a:rPr>
              <a:t> </a:t>
            </a:r>
            <a:r>
              <a:rPr sz="1200" dirty="0">
                <a:latin typeface="Bookman Old Style" panose="02050604050505020204" pitchFamily="18" charset="0"/>
                <a:cs typeface="Times New Roman"/>
              </a:rPr>
              <a:t>de</a:t>
            </a:r>
            <a:r>
              <a:rPr sz="1200" spc="-20" dirty="0">
                <a:latin typeface="Bookman Old Style" panose="02050604050505020204" pitchFamily="18" charset="0"/>
                <a:cs typeface="Times New Roman"/>
              </a:rPr>
              <a:t> </a:t>
            </a:r>
            <a:r>
              <a:rPr sz="1200" spc="-10" dirty="0">
                <a:latin typeface="Bookman Old Style" panose="02050604050505020204" pitchFamily="18" charset="0"/>
                <a:cs typeface="Times New Roman"/>
              </a:rPr>
              <a:t>tension </a:t>
            </a:r>
            <a:r>
              <a:rPr sz="1200" i="1" dirty="0">
                <a:latin typeface="Bookman Old Style" panose="02050604050505020204" pitchFamily="18" charset="0"/>
                <a:cs typeface="Times New Roman"/>
              </a:rPr>
              <a:t>(appelée</a:t>
            </a:r>
            <a:r>
              <a:rPr sz="1200" i="1" spc="5" dirty="0">
                <a:latin typeface="Bookman Old Style" panose="02050604050505020204" pitchFamily="18" charset="0"/>
                <a:cs typeface="Times New Roman"/>
              </a:rPr>
              <a:t> </a:t>
            </a:r>
            <a:r>
              <a:rPr sz="1200" b="1" i="1" dirty="0">
                <a:latin typeface="Bookman Old Style" panose="02050604050505020204" pitchFamily="18" charset="0"/>
                <a:cs typeface="Times New Roman"/>
              </a:rPr>
              <a:t>la</a:t>
            </a:r>
            <a:r>
              <a:rPr sz="1200" i="1" spc="-30" dirty="0">
                <a:latin typeface="Bookman Old Style" panose="02050604050505020204" pitchFamily="18" charset="0"/>
                <a:cs typeface="Times New Roman"/>
              </a:rPr>
              <a:t> </a:t>
            </a:r>
            <a:r>
              <a:rPr sz="1200" b="1" i="1" dirty="0">
                <a:latin typeface="Bookman Old Style" panose="02050604050505020204" pitchFamily="18" charset="0"/>
                <a:cs typeface="Times New Roman"/>
              </a:rPr>
              <a:t>tension</a:t>
            </a:r>
            <a:r>
              <a:rPr sz="1200" b="1" i="1" spc="-15" dirty="0">
                <a:latin typeface="Bookman Old Style" panose="02050604050505020204" pitchFamily="18" charset="0"/>
                <a:cs typeface="Times New Roman"/>
              </a:rPr>
              <a:t> </a:t>
            </a:r>
            <a:r>
              <a:rPr sz="1200" b="1" i="1" dirty="0">
                <a:latin typeface="Bookman Old Style" panose="02050604050505020204" pitchFamily="18" charset="0"/>
                <a:cs typeface="Times New Roman"/>
              </a:rPr>
              <a:t>de</a:t>
            </a:r>
            <a:r>
              <a:rPr sz="1200" b="1" i="1" spc="-45" dirty="0">
                <a:latin typeface="Bookman Old Style" panose="02050604050505020204" pitchFamily="18" charset="0"/>
                <a:cs typeface="Times New Roman"/>
              </a:rPr>
              <a:t> </a:t>
            </a:r>
            <a:r>
              <a:rPr sz="1200" b="1" i="1" spc="-10" dirty="0">
                <a:latin typeface="Bookman Old Style" panose="02050604050505020204" pitchFamily="18" charset="0"/>
                <a:cs typeface="Times New Roman"/>
              </a:rPr>
              <a:t>Thévenin</a:t>
            </a:r>
            <a:r>
              <a:rPr sz="1200" i="1" spc="-10" dirty="0">
                <a:latin typeface="Bookman Old Style" panose="02050604050505020204" pitchFamily="18" charset="0"/>
                <a:cs typeface="Times New Roman"/>
              </a:rPr>
              <a:t>)</a:t>
            </a:r>
            <a:r>
              <a:rPr sz="1200" i="1" spc="500" dirty="0">
                <a:latin typeface="Bookman Old Style" panose="02050604050505020204" pitchFamily="18" charset="0"/>
                <a:cs typeface="Times New Roman"/>
              </a:rPr>
              <a:t> </a:t>
            </a:r>
            <a:r>
              <a:rPr sz="1200" dirty="0">
                <a:solidFill>
                  <a:srgbClr val="FF0000"/>
                </a:solidFill>
                <a:latin typeface="Bookman Old Style" panose="02050604050505020204" pitchFamily="18" charset="0"/>
                <a:cs typeface="Times New Roman"/>
              </a:rPr>
              <a:t>en</a:t>
            </a:r>
            <a:r>
              <a:rPr sz="1200" spc="-15" dirty="0">
                <a:solidFill>
                  <a:srgbClr val="FF0000"/>
                </a:solidFill>
                <a:latin typeface="Bookman Old Style" panose="02050604050505020204" pitchFamily="18" charset="0"/>
                <a:cs typeface="Times New Roman"/>
              </a:rPr>
              <a:t> </a:t>
            </a:r>
            <a:r>
              <a:rPr sz="1200" dirty="0">
                <a:solidFill>
                  <a:srgbClr val="FF0000"/>
                </a:solidFill>
                <a:latin typeface="Bookman Old Style" panose="02050604050505020204" pitchFamily="18" charset="0"/>
                <a:cs typeface="Times New Roman"/>
              </a:rPr>
              <a:t>série</a:t>
            </a:r>
            <a:r>
              <a:rPr sz="1200" spc="-20" dirty="0">
                <a:solidFill>
                  <a:srgbClr val="FF0000"/>
                </a:solidFill>
                <a:latin typeface="Bookman Old Style" panose="02050604050505020204" pitchFamily="18" charset="0"/>
                <a:cs typeface="Times New Roman"/>
              </a:rPr>
              <a:t> </a:t>
            </a:r>
            <a:r>
              <a:rPr sz="1200" dirty="0">
                <a:latin typeface="Bookman Old Style" panose="02050604050505020204" pitchFamily="18" charset="0"/>
                <a:cs typeface="Times New Roman"/>
              </a:rPr>
              <a:t>avec</a:t>
            </a:r>
            <a:r>
              <a:rPr sz="1200" spc="5" dirty="0">
                <a:latin typeface="Bookman Old Style" panose="02050604050505020204" pitchFamily="18" charset="0"/>
                <a:cs typeface="Times New Roman"/>
              </a:rPr>
              <a:t> </a:t>
            </a:r>
            <a:r>
              <a:rPr sz="1200" dirty="0">
                <a:latin typeface="Bookman Old Style" panose="02050604050505020204" pitchFamily="18" charset="0"/>
                <a:cs typeface="Times New Roman"/>
              </a:rPr>
              <a:t>une</a:t>
            </a:r>
            <a:r>
              <a:rPr sz="1200" spc="-15" dirty="0">
                <a:latin typeface="Bookman Old Style" panose="02050604050505020204" pitchFamily="18" charset="0"/>
                <a:cs typeface="Times New Roman"/>
              </a:rPr>
              <a:t> </a:t>
            </a:r>
            <a:r>
              <a:rPr sz="1200" dirty="0">
                <a:latin typeface="Bookman Old Style" panose="02050604050505020204" pitchFamily="18" charset="0"/>
                <a:cs typeface="Times New Roman"/>
              </a:rPr>
              <a:t>seule</a:t>
            </a:r>
            <a:r>
              <a:rPr sz="1200" spc="-20" dirty="0">
                <a:latin typeface="Bookman Old Style" panose="02050604050505020204" pitchFamily="18" charset="0"/>
                <a:cs typeface="Times New Roman"/>
              </a:rPr>
              <a:t> </a:t>
            </a:r>
            <a:r>
              <a:rPr sz="1200" spc="-10" dirty="0">
                <a:latin typeface="Bookman Old Style" panose="02050604050505020204" pitchFamily="18" charset="0"/>
                <a:cs typeface="Times New Roman"/>
              </a:rPr>
              <a:t>résistance</a:t>
            </a:r>
            <a:endParaRPr sz="1200" dirty="0">
              <a:latin typeface="Bookman Old Style" panose="02050604050505020204" pitchFamily="18" charset="0"/>
              <a:cs typeface="Times New Roman"/>
            </a:endParaRPr>
          </a:p>
          <a:p>
            <a:pPr marL="127000">
              <a:lnSpc>
                <a:spcPct val="100000"/>
              </a:lnSpc>
            </a:pPr>
            <a:r>
              <a:rPr sz="1200" i="1" dirty="0">
                <a:latin typeface="Bookman Old Style" panose="02050604050505020204" pitchFamily="18" charset="0"/>
                <a:cs typeface="Times New Roman"/>
              </a:rPr>
              <a:t>(appelée </a:t>
            </a:r>
            <a:r>
              <a:rPr sz="1200" b="1" i="1" dirty="0">
                <a:latin typeface="Bookman Old Style" panose="02050604050505020204" pitchFamily="18" charset="0"/>
                <a:cs typeface="Times New Roman"/>
              </a:rPr>
              <a:t>la</a:t>
            </a:r>
            <a:r>
              <a:rPr sz="1200" b="1" i="1" spc="-25" dirty="0">
                <a:latin typeface="Bookman Old Style" panose="02050604050505020204" pitchFamily="18" charset="0"/>
                <a:cs typeface="Times New Roman"/>
              </a:rPr>
              <a:t> </a:t>
            </a:r>
            <a:r>
              <a:rPr sz="1200" b="1" i="1" dirty="0">
                <a:latin typeface="Bookman Old Style" panose="02050604050505020204" pitchFamily="18" charset="0"/>
                <a:cs typeface="Times New Roman"/>
              </a:rPr>
              <a:t>résistance</a:t>
            </a:r>
            <a:r>
              <a:rPr sz="1200" b="1" i="1" spc="-30" dirty="0">
                <a:latin typeface="Bookman Old Style" panose="02050604050505020204" pitchFamily="18" charset="0"/>
                <a:cs typeface="Times New Roman"/>
              </a:rPr>
              <a:t> </a:t>
            </a:r>
            <a:r>
              <a:rPr sz="1200" b="1" i="1" dirty="0">
                <a:latin typeface="Bookman Old Style" panose="02050604050505020204" pitchFamily="18" charset="0"/>
                <a:cs typeface="Times New Roman"/>
              </a:rPr>
              <a:t>de</a:t>
            </a:r>
            <a:r>
              <a:rPr sz="1200" b="1" i="1" spc="-15" dirty="0">
                <a:latin typeface="Bookman Old Style" panose="02050604050505020204" pitchFamily="18" charset="0"/>
                <a:cs typeface="Times New Roman"/>
              </a:rPr>
              <a:t> </a:t>
            </a:r>
            <a:r>
              <a:rPr sz="1200" b="1" i="1" spc="-10" dirty="0">
                <a:latin typeface="Bookman Old Style" panose="02050604050505020204" pitchFamily="18" charset="0"/>
                <a:cs typeface="Times New Roman"/>
              </a:rPr>
              <a:t>Thévenin</a:t>
            </a:r>
            <a:r>
              <a:rPr sz="1200" i="1" spc="-10" dirty="0">
                <a:latin typeface="Bookman Old Style" panose="02050604050505020204" pitchFamily="18" charset="0"/>
                <a:cs typeface="Times New Roman"/>
              </a:rPr>
              <a:t>).</a:t>
            </a:r>
            <a:endParaRPr sz="1200" dirty="0">
              <a:latin typeface="Bookman Old Style" panose="02050604050505020204" pitchFamily="18" charset="0"/>
              <a:cs typeface="Times New Roman"/>
            </a:endParaRPr>
          </a:p>
        </p:txBody>
      </p:sp>
    </p:spTree>
    <p:extLst>
      <p:ext uri="{BB962C8B-B14F-4D97-AF65-F5344CB8AC3E}">
        <p14:creationId xmlns:p14="http://schemas.microsoft.com/office/powerpoint/2010/main" val="6260174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41</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3.1 </a:t>
            </a:r>
            <a:r>
              <a:rPr lang="fr-FR" altLang="fr-FR" sz="1400" b="1" spc="-5" dirty="0">
                <a:solidFill>
                  <a:srgbClr val="CC00CC"/>
                </a:solidFill>
                <a:latin typeface="Bookman Old Style" panose="02050604050505020204" pitchFamily="18" charset="0"/>
                <a:cs typeface="Arial"/>
              </a:rPr>
              <a:t>Théorème de Thévenin </a:t>
            </a:r>
          </a:p>
        </p:txBody>
      </p:sp>
      <p:sp>
        <p:nvSpPr>
          <p:cNvPr id="5" name="TextBox 4">
            <a:extLst>
              <a:ext uri="{FF2B5EF4-FFF2-40B4-BE49-F238E27FC236}">
                <a16:creationId xmlns:a16="http://schemas.microsoft.com/office/drawing/2014/main" id="{BEE2EB4A-5DDB-3300-57A4-67D778C58080}"/>
              </a:ext>
            </a:extLst>
          </p:cNvPr>
          <p:cNvSpPr txBox="1"/>
          <p:nvPr/>
        </p:nvSpPr>
        <p:spPr>
          <a:xfrm>
            <a:off x="914400" y="1156683"/>
            <a:ext cx="4588778" cy="276999"/>
          </a:xfrm>
          <a:prstGeom prst="rect">
            <a:avLst/>
          </a:prstGeom>
          <a:noFill/>
        </p:spPr>
        <p:txBody>
          <a:bodyPr wrap="square">
            <a:spAutoFit/>
          </a:bodyPr>
          <a:lstStyle/>
          <a:p>
            <a:pPr marL="12700">
              <a:lnSpc>
                <a:spcPct val="100000"/>
              </a:lnSpc>
              <a:spcBef>
                <a:spcPts val="160"/>
              </a:spcBef>
            </a:pPr>
            <a:r>
              <a:rPr lang="fr-FR" sz="1200" b="1" spc="-5" dirty="0">
                <a:solidFill>
                  <a:schemeClr val="accent6">
                    <a:lumMod val="50000"/>
                  </a:schemeClr>
                </a:solidFill>
                <a:latin typeface="Bookman Old Style" panose="02050604050505020204" pitchFamily="18" charset="0"/>
                <a:cs typeface="Arial"/>
              </a:rPr>
              <a:t>A. Étapes de l'application de ce théorème</a:t>
            </a:r>
          </a:p>
        </p:txBody>
      </p:sp>
      <p:sp>
        <p:nvSpPr>
          <p:cNvPr id="3" name="Rectangle 2">
            <a:extLst>
              <a:ext uri="{FF2B5EF4-FFF2-40B4-BE49-F238E27FC236}">
                <a16:creationId xmlns:a16="http://schemas.microsoft.com/office/drawing/2014/main" id="{45C04E86-E520-7C11-491E-8CACC9B62B03}"/>
              </a:ext>
            </a:extLst>
          </p:cNvPr>
          <p:cNvSpPr/>
          <p:nvPr/>
        </p:nvSpPr>
        <p:spPr>
          <a:xfrm>
            <a:off x="1326556" y="1696522"/>
            <a:ext cx="2438400" cy="2464424"/>
          </a:xfrm>
          <a:prstGeom prst="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object 15">
            <a:extLst>
              <a:ext uri="{FF2B5EF4-FFF2-40B4-BE49-F238E27FC236}">
                <a16:creationId xmlns:a16="http://schemas.microsoft.com/office/drawing/2014/main" id="{491C6B74-7958-146B-3779-E902E14E62A3}"/>
              </a:ext>
            </a:extLst>
          </p:cNvPr>
          <p:cNvSpPr txBox="1"/>
          <p:nvPr/>
        </p:nvSpPr>
        <p:spPr>
          <a:xfrm>
            <a:off x="1600200" y="2267481"/>
            <a:ext cx="1981200" cy="873957"/>
          </a:xfrm>
          <a:prstGeom prst="rect">
            <a:avLst/>
          </a:prstGeom>
        </p:spPr>
        <p:txBody>
          <a:bodyPr vert="horz" wrap="square" lIns="0" tIns="12065" rIns="0" bIns="0" rtlCol="0">
            <a:spAutoFit/>
          </a:bodyPr>
          <a:lstStyle/>
          <a:p>
            <a:pPr marL="12700" marR="5080" indent="219075">
              <a:lnSpc>
                <a:spcPct val="100000"/>
              </a:lnSpc>
              <a:spcBef>
                <a:spcPts val="95"/>
              </a:spcBef>
            </a:pPr>
            <a:r>
              <a:rPr sz="2800" b="1" spc="-10" dirty="0">
                <a:solidFill>
                  <a:srgbClr val="FF0000"/>
                </a:solidFill>
                <a:latin typeface="Bookman Old Style" panose="02050604050505020204" pitchFamily="18" charset="0"/>
                <a:cs typeface="Times New Roman"/>
              </a:rPr>
              <a:t>Circuit Complexe</a:t>
            </a:r>
            <a:endParaRPr sz="2800" dirty="0">
              <a:latin typeface="Bookman Old Style" panose="02050604050505020204" pitchFamily="18" charset="0"/>
              <a:cs typeface="Times New Roman"/>
            </a:endParaRPr>
          </a:p>
        </p:txBody>
      </p:sp>
      <p:sp>
        <p:nvSpPr>
          <p:cNvPr id="33" name="object 2">
            <a:extLst>
              <a:ext uri="{FF2B5EF4-FFF2-40B4-BE49-F238E27FC236}">
                <a16:creationId xmlns:a16="http://schemas.microsoft.com/office/drawing/2014/main" id="{FDE56509-5205-C60D-F450-F6BB224E54AE}"/>
              </a:ext>
            </a:extLst>
          </p:cNvPr>
          <p:cNvSpPr/>
          <p:nvPr/>
        </p:nvSpPr>
        <p:spPr>
          <a:xfrm>
            <a:off x="5144900" y="1962150"/>
            <a:ext cx="266700" cy="1844039"/>
          </a:xfrm>
          <a:custGeom>
            <a:avLst/>
            <a:gdLst/>
            <a:ahLst/>
            <a:cxnLst/>
            <a:rect l="l" t="t" r="r" b="b"/>
            <a:pathLst>
              <a:path w="266700" h="1844039">
                <a:moveTo>
                  <a:pt x="0" y="1438656"/>
                </a:moveTo>
                <a:lnTo>
                  <a:pt x="266700" y="1438656"/>
                </a:lnTo>
                <a:lnTo>
                  <a:pt x="266700" y="394716"/>
                </a:lnTo>
                <a:lnTo>
                  <a:pt x="0" y="394716"/>
                </a:lnTo>
                <a:lnTo>
                  <a:pt x="0" y="1438656"/>
                </a:lnTo>
                <a:close/>
              </a:path>
              <a:path w="266700" h="1844039">
                <a:moveTo>
                  <a:pt x="132587" y="1438656"/>
                </a:moveTo>
                <a:lnTo>
                  <a:pt x="132587" y="1843671"/>
                </a:lnTo>
              </a:path>
              <a:path w="266700" h="1844039">
                <a:moveTo>
                  <a:pt x="132587" y="0"/>
                </a:moveTo>
                <a:lnTo>
                  <a:pt x="132587" y="405002"/>
                </a:lnTo>
              </a:path>
            </a:pathLst>
          </a:custGeom>
          <a:ln w="57912">
            <a:solidFill>
              <a:srgbClr val="000000"/>
            </a:solidFill>
          </a:ln>
        </p:spPr>
        <p:txBody>
          <a:bodyPr wrap="square" lIns="0" tIns="0" rIns="0" bIns="0" rtlCol="0"/>
          <a:lstStyle/>
          <a:p>
            <a:endParaRPr/>
          </a:p>
        </p:txBody>
      </p:sp>
      <p:cxnSp>
        <p:nvCxnSpPr>
          <p:cNvPr id="35" name="Straight Connector 34">
            <a:extLst>
              <a:ext uri="{FF2B5EF4-FFF2-40B4-BE49-F238E27FC236}">
                <a16:creationId xmlns:a16="http://schemas.microsoft.com/office/drawing/2014/main" id="{1340B846-6445-B6F8-3A1C-8B55052BB1AC}"/>
              </a:ext>
            </a:extLst>
          </p:cNvPr>
          <p:cNvCxnSpPr>
            <a:cxnSpLocks/>
          </p:cNvCxnSpPr>
          <p:nvPr/>
        </p:nvCxnSpPr>
        <p:spPr>
          <a:xfrm>
            <a:off x="3728461" y="1962150"/>
            <a:ext cx="1549789"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6FEABA7B-8AED-38A2-642D-BF90107AB8E7}"/>
              </a:ext>
            </a:extLst>
          </p:cNvPr>
          <p:cNvCxnSpPr>
            <a:cxnSpLocks/>
          </p:cNvCxnSpPr>
          <p:nvPr/>
        </p:nvCxnSpPr>
        <p:spPr>
          <a:xfrm>
            <a:off x="3728461" y="3814403"/>
            <a:ext cx="1549789"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object 24">
            <a:extLst>
              <a:ext uri="{FF2B5EF4-FFF2-40B4-BE49-F238E27FC236}">
                <a16:creationId xmlns:a16="http://schemas.microsoft.com/office/drawing/2014/main" id="{EF424C93-7119-B65C-D62F-77A812BA265D}"/>
              </a:ext>
            </a:extLst>
          </p:cNvPr>
          <p:cNvSpPr txBox="1"/>
          <p:nvPr/>
        </p:nvSpPr>
        <p:spPr>
          <a:xfrm>
            <a:off x="5367036" y="1527906"/>
            <a:ext cx="1253539" cy="386644"/>
          </a:xfrm>
          <a:prstGeom prst="rect">
            <a:avLst/>
          </a:prstGeom>
        </p:spPr>
        <p:txBody>
          <a:bodyPr vert="horz" wrap="square" lIns="0" tIns="116205" rIns="0" bIns="0" rtlCol="0">
            <a:spAutoFit/>
          </a:bodyPr>
          <a:lstStyle/>
          <a:p>
            <a:pPr marR="1090930" algn="r">
              <a:lnSpc>
                <a:spcPts val="2055"/>
              </a:lnSpc>
            </a:pPr>
            <a:r>
              <a:rPr lang="fr-FR" sz="1800" b="1" spc="-50" dirty="0">
                <a:latin typeface="Times New Roman"/>
                <a:cs typeface="Times New Roman"/>
              </a:rPr>
              <a:t>A</a:t>
            </a:r>
            <a:endParaRPr lang="fr-FR" sz="1800" dirty="0">
              <a:latin typeface="Times New Roman"/>
              <a:cs typeface="Times New Roman"/>
            </a:endParaRPr>
          </a:p>
        </p:txBody>
      </p:sp>
      <p:sp>
        <p:nvSpPr>
          <p:cNvPr id="45" name="TextBox 44">
            <a:extLst>
              <a:ext uri="{FF2B5EF4-FFF2-40B4-BE49-F238E27FC236}">
                <a16:creationId xmlns:a16="http://schemas.microsoft.com/office/drawing/2014/main" id="{DC9B16B3-9FC1-5293-315A-AC529F3FFB68}"/>
              </a:ext>
            </a:extLst>
          </p:cNvPr>
          <p:cNvSpPr txBox="1"/>
          <p:nvPr/>
        </p:nvSpPr>
        <p:spPr>
          <a:xfrm>
            <a:off x="2626522" y="2155773"/>
            <a:ext cx="897622" cy="339580"/>
          </a:xfrm>
          <a:prstGeom prst="rect">
            <a:avLst/>
          </a:prstGeom>
          <a:noFill/>
        </p:spPr>
        <p:txBody>
          <a:bodyPr wrap="square">
            <a:spAutoFit/>
          </a:bodyPr>
          <a:lstStyle/>
          <a:p>
            <a:pPr marL="63500">
              <a:lnSpc>
                <a:spcPts val="1575"/>
              </a:lnSpc>
              <a:spcBef>
                <a:spcPts val="5"/>
              </a:spcBef>
            </a:pPr>
            <a:r>
              <a:rPr lang="fr-FR" sz="4800" spc="-37" baseline="11904" dirty="0">
                <a:latin typeface="Cambria Math"/>
                <a:cs typeface="Cambria Math"/>
              </a:rPr>
              <a:t>𝑹</a:t>
            </a:r>
            <a:r>
              <a:rPr lang="fr-FR" sz="1800" spc="-25" dirty="0">
                <a:latin typeface="Cambria Math"/>
                <a:cs typeface="Cambria Math"/>
              </a:rPr>
              <a:t>𝑻𝒉</a:t>
            </a:r>
            <a:endParaRPr lang="fr-FR" sz="1800" dirty="0">
              <a:latin typeface="Cambria Math"/>
              <a:cs typeface="Cambria Math"/>
            </a:endParaRPr>
          </a:p>
        </p:txBody>
      </p:sp>
      <p:sp>
        <p:nvSpPr>
          <p:cNvPr id="63" name="TextBox 62">
            <a:extLst>
              <a:ext uri="{FF2B5EF4-FFF2-40B4-BE49-F238E27FC236}">
                <a16:creationId xmlns:a16="http://schemas.microsoft.com/office/drawing/2014/main" id="{5404A32D-FE16-9C98-FDFF-982320D43600}"/>
              </a:ext>
            </a:extLst>
          </p:cNvPr>
          <p:cNvSpPr txBox="1"/>
          <p:nvPr/>
        </p:nvSpPr>
        <p:spPr>
          <a:xfrm flipH="1">
            <a:off x="5441880" y="3710360"/>
            <a:ext cx="591271" cy="361637"/>
          </a:xfrm>
          <a:prstGeom prst="rect">
            <a:avLst/>
          </a:prstGeom>
          <a:noFill/>
        </p:spPr>
        <p:txBody>
          <a:bodyPr wrap="square">
            <a:spAutoFit/>
          </a:bodyPr>
          <a:lstStyle/>
          <a:p>
            <a:pPr marR="1090930" algn="r">
              <a:lnSpc>
                <a:spcPts val="2055"/>
              </a:lnSpc>
            </a:pPr>
            <a:r>
              <a:rPr lang="fr-FR" sz="1800" b="1" spc="-50" dirty="0">
                <a:latin typeface="Times New Roman"/>
                <a:cs typeface="Times New Roman"/>
              </a:rPr>
              <a:t>B</a:t>
            </a:r>
            <a:endParaRPr lang="fr-FR" sz="1800" dirty="0">
              <a:latin typeface="Times New Roman"/>
              <a:cs typeface="Times New Roman"/>
            </a:endParaRPr>
          </a:p>
        </p:txBody>
      </p:sp>
      <p:grpSp>
        <p:nvGrpSpPr>
          <p:cNvPr id="64" name="object 20">
            <a:extLst>
              <a:ext uri="{FF2B5EF4-FFF2-40B4-BE49-F238E27FC236}">
                <a16:creationId xmlns:a16="http://schemas.microsoft.com/office/drawing/2014/main" id="{E0C92F9D-76BC-7169-8685-D5AB952F2DE0}"/>
              </a:ext>
            </a:extLst>
          </p:cNvPr>
          <p:cNvGrpSpPr/>
          <p:nvPr/>
        </p:nvGrpSpPr>
        <p:grpSpPr>
          <a:xfrm>
            <a:off x="1067803" y="1802221"/>
            <a:ext cx="2712972" cy="2017270"/>
            <a:chOff x="1030223" y="2045207"/>
            <a:chExt cx="2613660" cy="1971167"/>
          </a:xfrm>
        </p:grpSpPr>
        <p:sp>
          <p:nvSpPr>
            <p:cNvPr id="65" name="object 21">
              <a:extLst>
                <a:ext uri="{FF2B5EF4-FFF2-40B4-BE49-F238E27FC236}">
                  <a16:creationId xmlns:a16="http://schemas.microsoft.com/office/drawing/2014/main" id="{116B3A82-C86F-23E0-B8A7-FDB6EAB5504F}"/>
                </a:ext>
              </a:extLst>
            </p:cNvPr>
            <p:cNvSpPr/>
            <p:nvPr/>
          </p:nvSpPr>
          <p:spPr>
            <a:xfrm>
              <a:off x="2615183" y="2201481"/>
              <a:ext cx="1028700" cy="0"/>
            </a:xfrm>
            <a:custGeom>
              <a:avLst/>
              <a:gdLst/>
              <a:ahLst/>
              <a:cxnLst/>
              <a:rect l="l" t="t" r="r" b="b"/>
              <a:pathLst>
                <a:path w="1028700">
                  <a:moveTo>
                    <a:pt x="0" y="0"/>
                  </a:moveTo>
                  <a:lnTo>
                    <a:pt x="1028700" y="0"/>
                  </a:lnTo>
                </a:path>
              </a:pathLst>
            </a:custGeom>
            <a:ln w="57912">
              <a:solidFill>
                <a:srgbClr val="000000"/>
              </a:solidFill>
            </a:ln>
          </p:spPr>
          <p:txBody>
            <a:bodyPr wrap="square" lIns="0" tIns="0" rIns="0" bIns="0" rtlCol="0"/>
            <a:lstStyle/>
            <a:p>
              <a:endParaRPr/>
            </a:p>
          </p:txBody>
        </p:sp>
        <p:sp>
          <p:nvSpPr>
            <p:cNvPr id="66" name="object 22">
              <a:extLst>
                <a:ext uri="{FF2B5EF4-FFF2-40B4-BE49-F238E27FC236}">
                  <a16:creationId xmlns:a16="http://schemas.microsoft.com/office/drawing/2014/main" id="{609A1CF1-2C38-AF05-FC47-5B2429B8DF97}"/>
                </a:ext>
              </a:extLst>
            </p:cNvPr>
            <p:cNvSpPr/>
            <p:nvPr/>
          </p:nvSpPr>
          <p:spPr>
            <a:xfrm>
              <a:off x="1571243" y="2045207"/>
              <a:ext cx="1043940" cy="265430"/>
            </a:xfrm>
            <a:custGeom>
              <a:avLst/>
              <a:gdLst/>
              <a:ahLst/>
              <a:cxnLst/>
              <a:rect l="l" t="t" r="r" b="b"/>
              <a:pathLst>
                <a:path w="1043939" h="265430">
                  <a:moveTo>
                    <a:pt x="0" y="265175"/>
                  </a:moveTo>
                  <a:lnTo>
                    <a:pt x="1043940" y="265175"/>
                  </a:lnTo>
                  <a:lnTo>
                    <a:pt x="1043940" y="0"/>
                  </a:lnTo>
                  <a:lnTo>
                    <a:pt x="0" y="0"/>
                  </a:lnTo>
                  <a:lnTo>
                    <a:pt x="0" y="265175"/>
                  </a:lnTo>
                  <a:close/>
                </a:path>
              </a:pathLst>
            </a:custGeom>
            <a:ln w="57911">
              <a:solidFill>
                <a:srgbClr val="000000"/>
              </a:solidFill>
            </a:ln>
          </p:spPr>
          <p:txBody>
            <a:bodyPr wrap="square" lIns="0" tIns="0" rIns="0" bIns="0" rtlCol="0"/>
            <a:lstStyle/>
            <a:p>
              <a:endParaRPr/>
            </a:p>
          </p:txBody>
        </p:sp>
        <p:sp>
          <p:nvSpPr>
            <p:cNvPr id="67" name="object 23">
              <a:extLst>
                <a:ext uri="{FF2B5EF4-FFF2-40B4-BE49-F238E27FC236}">
                  <a16:creationId xmlns:a16="http://schemas.microsoft.com/office/drawing/2014/main" id="{8EFC607E-125B-718F-D4AA-82A6C55292A9}"/>
                </a:ext>
              </a:extLst>
            </p:cNvPr>
            <p:cNvSpPr/>
            <p:nvPr/>
          </p:nvSpPr>
          <p:spPr>
            <a:xfrm>
              <a:off x="1030223" y="2171699"/>
              <a:ext cx="2598420" cy="1844675"/>
            </a:xfrm>
            <a:custGeom>
              <a:avLst/>
              <a:gdLst/>
              <a:ahLst/>
              <a:cxnLst/>
              <a:rect l="l" t="t" r="r" b="b"/>
              <a:pathLst>
                <a:path w="2598420" h="1844675">
                  <a:moveTo>
                    <a:pt x="541019" y="10668"/>
                  </a:moveTo>
                  <a:lnTo>
                    <a:pt x="160019" y="10668"/>
                  </a:lnTo>
                </a:path>
                <a:path w="2598420" h="1844675">
                  <a:moveTo>
                    <a:pt x="181356" y="0"/>
                  </a:moveTo>
                  <a:lnTo>
                    <a:pt x="183095" y="1844268"/>
                  </a:lnTo>
                </a:path>
                <a:path w="2598420" h="1844675">
                  <a:moveTo>
                    <a:pt x="0" y="936498"/>
                  </a:moveTo>
                  <a:lnTo>
                    <a:pt x="6260" y="894984"/>
                  </a:lnTo>
                  <a:lnTo>
                    <a:pt x="23926" y="857673"/>
                  </a:lnTo>
                  <a:lnTo>
                    <a:pt x="51330" y="826055"/>
                  </a:lnTo>
                  <a:lnTo>
                    <a:pt x="86800" y="801623"/>
                  </a:lnTo>
                  <a:lnTo>
                    <a:pt x="128666" y="785870"/>
                  </a:lnTo>
                  <a:lnTo>
                    <a:pt x="175259" y="780288"/>
                  </a:lnTo>
                  <a:lnTo>
                    <a:pt x="221844" y="785870"/>
                  </a:lnTo>
                  <a:lnTo>
                    <a:pt x="263708" y="801624"/>
                  </a:lnTo>
                  <a:lnTo>
                    <a:pt x="299180" y="826055"/>
                  </a:lnTo>
                  <a:lnTo>
                    <a:pt x="326587" y="857673"/>
                  </a:lnTo>
                  <a:lnTo>
                    <a:pt x="344258" y="894984"/>
                  </a:lnTo>
                  <a:lnTo>
                    <a:pt x="350519" y="936498"/>
                  </a:lnTo>
                  <a:lnTo>
                    <a:pt x="344258" y="978011"/>
                  </a:lnTo>
                  <a:lnTo>
                    <a:pt x="326587" y="1015322"/>
                  </a:lnTo>
                  <a:lnTo>
                    <a:pt x="299180" y="1046940"/>
                  </a:lnTo>
                  <a:lnTo>
                    <a:pt x="263708" y="1071371"/>
                  </a:lnTo>
                  <a:lnTo>
                    <a:pt x="221844" y="1087125"/>
                  </a:lnTo>
                  <a:lnTo>
                    <a:pt x="175259" y="1092708"/>
                  </a:lnTo>
                  <a:lnTo>
                    <a:pt x="128666" y="1087125"/>
                  </a:lnTo>
                  <a:lnTo>
                    <a:pt x="86800" y="1071371"/>
                  </a:lnTo>
                  <a:lnTo>
                    <a:pt x="51330" y="1046940"/>
                  </a:lnTo>
                  <a:lnTo>
                    <a:pt x="23926" y="1015322"/>
                  </a:lnTo>
                  <a:lnTo>
                    <a:pt x="6260" y="978011"/>
                  </a:lnTo>
                  <a:lnTo>
                    <a:pt x="0" y="936498"/>
                  </a:lnTo>
                  <a:close/>
                </a:path>
                <a:path w="2598420" h="1844675">
                  <a:moveTo>
                    <a:pt x="160019" y="1833372"/>
                  </a:moveTo>
                  <a:lnTo>
                    <a:pt x="2598420" y="1841677"/>
                  </a:lnTo>
                </a:path>
              </a:pathLst>
            </a:custGeom>
            <a:ln w="57912">
              <a:solidFill>
                <a:srgbClr val="000000"/>
              </a:solidFill>
            </a:ln>
          </p:spPr>
          <p:txBody>
            <a:bodyPr wrap="square" lIns="0" tIns="0" rIns="0" bIns="0" rtlCol="0"/>
            <a:lstStyle/>
            <a:p>
              <a:endParaRPr/>
            </a:p>
          </p:txBody>
        </p:sp>
      </p:gr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AC27D86F-3CE4-31C6-1DA1-5FFEAC2C7168}"/>
                  </a:ext>
                </a:extLst>
              </p:cNvPr>
              <p:cNvSpPr txBox="1"/>
              <p:nvPr/>
            </p:nvSpPr>
            <p:spPr>
              <a:xfrm>
                <a:off x="593199" y="2730280"/>
                <a:ext cx="518282" cy="33855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fr-FR" sz="2200" b="1" i="1" smtClean="0">
                              <a:latin typeface="Cambria Math" panose="02040503050406030204" pitchFamily="18" charset="0"/>
                            </a:rPr>
                          </m:ctrlPr>
                        </m:sSubPr>
                        <m:e>
                          <m:r>
                            <a:rPr lang="fr-FR" sz="2200" b="1" i="1" smtClean="0">
                              <a:latin typeface="Cambria Math" panose="02040503050406030204" pitchFamily="18" charset="0"/>
                            </a:rPr>
                            <m:t>𝑬</m:t>
                          </m:r>
                        </m:e>
                        <m:sub>
                          <m:r>
                            <a:rPr lang="fr-FR" sz="2200" b="1" i="1" smtClean="0">
                              <a:latin typeface="Cambria Math" panose="02040503050406030204" pitchFamily="18" charset="0"/>
                            </a:rPr>
                            <m:t>𝑻𝒉</m:t>
                          </m:r>
                        </m:sub>
                      </m:sSub>
                    </m:oMath>
                  </m:oMathPara>
                </a14:m>
                <a:endParaRPr lang="fr-FR" sz="2200" b="1" dirty="0"/>
              </a:p>
            </p:txBody>
          </p:sp>
        </mc:Choice>
        <mc:Fallback xmlns="">
          <p:sp>
            <p:nvSpPr>
              <p:cNvPr id="69" name="TextBox 68">
                <a:extLst>
                  <a:ext uri="{FF2B5EF4-FFF2-40B4-BE49-F238E27FC236}">
                    <a16:creationId xmlns:a16="http://schemas.microsoft.com/office/drawing/2014/main" id="{AC27D86F-3CE4-31C6-1DA1-5FFEAC2C7168}"/>
                  </a:ext>
                </a:extLst>
              </p:cNvPr>
              <p:cNvSpPr txBox="1">
                <a:spLocks noRot="1" noChangeAspect="1" noMove="1" noResize="1" noEditPoints="1" noAdjustHandles="1" noChangeArrowheads="1" noChangeShapeType="1" noTextEdit="1"/>
              </p:cNvSpPr>
              <p:nvPr/>
            </p:nvSpPr>
            <p:spPr>
              <a:xfrm>
                <a:off x="593199" y="2730280"/>
                <a:ext cx="518282" cy="338554"/>
              </a:xfrm>
              <a:prstGeom prst="rect">
                <a:avLst/>
              </a:prstGeom>
              <a:blipFill>
                <a:blip r:embed="rId5"/>
                <a:stretch>
                  <a:fillRect l="-11765" r="-7059" b="-18182"/>
                </a:stretch>
              </a:blipFill>
            </p:spPr>
            <p:txBody>
              <a:bodyPr/>
              <a:lstStyle/>
              <a:p>
                <a:r>
                  <a:rPr lang="fr-FR">
                    <a:noFill/>
                  </a:rPr>
                  <a:t> </a:t>
                </a:r>
              </a:p>
            </p:txBody>
          </p:sp>
        </mc:Fallback>
      </mc:AlternateContent>
      <p:sp>
        <p:nvSpPr>
          <p:cNvPr id="70" name="object 2">
            <a:extLst>
              <a:ext uri="{FF2B5EF4-FFF2-40B4-BE49-F238E27FC236}">
                <a16:creationId xmlns:a16="http://schemas.microsoft.com/office/drawing/2014/main" id="{A2C06771-3F18-BAFF-F0BE-D9F41B15BDF4}"/>
              </a:ext>
            </a:extLst>
          </p:cNvPr>
          <p:cNvSpPr/>
          <p:nvPr/>
        </p:nvSpPr>
        <p:spPr>
          <a:xfrm>
            <a:off x="9372600" y="1782439"/>
            <a:ext cx="266700" cy="1844039"/>
          </a:xfrm>
          <a:custGeom>
            <a:avLst/>
            <a:gdLst/>
            <a:ahLst/>
            <a:cxnLst/>
            <a:rect l="l" t="t" r="r" b="b"/>
            <a:pathLst>
              <a:path w="266700" h="1844039">
                <a:moveTo>
                  <a:pt x="0" y="1438656"/>
                </a:moveTo>
                <a:lnTo>
                  <a:pt x="266700" y="1438656"/>
                </a:lnTo>
                <a:lnTo>
                  <a:pt x="266700" y="394716"/>
                </a:lnTo>
                <a:lnTo>
                  <a:pt x="0" y="394716"/>
                </a:lnTo>
                <a:lnTo>
                  <a:pt x="0" y="1438656"/>
                </a:lnTo>
                <a:close/>
              </a:path>
              <a:path w="266700" h="1844039">
                <a:moveTo>
                  <a:pt x="132587" y="1438656"/>
                </a:moveTo>
                <a:lnTo>
                  <a:pt x="132587" y="1843671"/>
                </a:lnTo>
              </a:path>
              <a:path w="266700" h="1844039">
                <a:moveTo>
                  <a:pt x="132587" y="0"/>
                </a:moveTo>
                <a:lnTo>
                  <a:pt x="132587" y="405002"/>
                </a:lnTo>
              </a:path>
            </a:pathLst>
          </a:custGeom>
          <a:ln w="57912">
            <a:solidFill>
              <a:srgbClr val="000000"/>
            </a:solidFill>
          </a:ln>
        </p:spPr>
        <p:txBody>
          <a:bodyPr wrap="square" lIns="0" tIns="0" rIns="0" bIns="0" rtlCol="0"/>
          <a:lstStyle/>
          <a:p>
            <a:endParaRPr/>
          </a:p>
        </p:txBody>
      </p:sp>
      <p:grpSp>
        <p:nvGrpSpPr>
          <p:cNvPr id="39" name="object 16">
            <a:extLst>
              <a:ext uri="{FF2B5EF4-FFF2-40B4-BE49-F238E27FC236}">
                <a16:creationId xmlns:a16="http://schemas.microsoft.com/office/drawing/2014/main" id="{058C3492-2759-8EB3-F040-FDA678B4E5A4}"/>
              </a:ext>
            </a:extLst>
          </p:cNvPr>
          <p:cNvGrpSpPr/>
          <p:nvPr/>
        </p:nvGrpSpPr>
        <p:grpSpPr>
          <a:xfrm>
            <a:off x="5229492" y="1914551"/>
            <a:ext cx="196850" cy="1976755"/>
            <a:chOff x="5242559" y="2100072"/>
            <a:chExt cx="196850" cy="1976755"/>
          </a:xfrm>
        </p:grpSpPr>
        <p:pic>
          <p:nvPicPr>
            <p:cNvPr id="41" name="object 17">
              <a:extLst>
                <a:ext uri="{FF2B5EF4-FFF2-40B4-BE49-F238E27FC236}">
                  <a16:creationId xmlns:a16="http://schemas.microsoft.com/office/drawing/2014/main" id="{818CEF79-7461-8B2E-E255-FC82A03D1638}"/>
                </a:ext>
              </a:extLst>
            </p:cNvPr>
            <p:cNvPicPr/>
            <p:nvPr/>
          </p:nvPicPr>
          <p:blipFill>
            <a:blip r:embed="rId6" cstate="print"/>
            <a:stretch>
              <a:fillRect/>
            </a:stretch>
          </p:blipFill>
          <p:spPr>
            <a:xfrm>
              <a:off x="5242559" y="2100072"/>
              <a:ext cx="184403" cy="143256"/>
            </a:xfrm>
            <a:prstGeom prst="rect">
              <a:avLst/>
            </a:prstGeom>
          </p:spPr>
        </p:pic>
        <p:pic>
          <p:nvPicPr>
            <p:cNvPr id="42" name="object 18">
              <a:extLst>
                <a:ext uri="{FF2B5EF4-FFF2-40B4-BE49-F238E27FC236}">
                  <a16:creationId xmlns:a16="http://schemas.microsoft.com/office/drawing/2014/main" id="{3BB077B2-D7DD-971E-E42B-04A0D62B637C}"/>
                </a:ext>
              </a:extLst>
            </p:cNvPr>
            <p:cNvPicPr/>
            <p:nvPr/>
          </p:nvPicPr>
          <p:blipFill>
            <a:blip r:embed="rId7" cstate="print"/>
            <a:stretch>
              <a:fillRect/>
            </a:stretch>
          </p:blipFill>
          <p:spPr>
            <a:xfrm>
              <a:off x="5256275" y="3933444"/>
              <a:ext cx="182880" cy="143256"/>
            </a:xfrm>
            <a:prstGeom prst="rect">
              <a:avLst/>
            </a:prstGeom>
          </p:spPr>
        </p:pic>
      </p:grpSp>
    </p:spTree>
    <p:extLst>
      <p:ext uri="{BB962C8B-B14F-4D97-AF65-F5344CB8AC3E}">
        <p14:creationId xmlns:p14="http://schemas.microsoft.com/office/powerpoint/2010/main" val="3943461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3.05556E-6 -2.46914E-6 L 0.45607 -0.00463 " pathEditMode="relative" rAng="0" ptsTypes="AA">
                                      <p:cBhvr>
                                        <p:cTn id="6" dur="2000" fill="hold"/>
                                        <p:tgtEl>
                                          <p:spTgt spid="33"/>
                                        </p:tgtEl>
                                        <p:attrNameLst>
                                          <p:attrName>ppt_x</p:attrName>
                                          <p:attrName>ppt_y</p:attrName>
                                        </p:attrNameLst>
                                      </p:cBhvr>
                                      <p:rCtr x="22795" y="-247"/>
                                    </p:animMotion>
                                  </p:childTnLst>
                                </p:cTn>
                              </p:par>
                            </p:childTnLst>
                          </p:cTn>
                        </p:par>
                      </p:childTnLst>
                    </p:cTn>
                  </p:par>
                  <p:par>
                    <p:cTn id="7" fill="hold">
                      <p:stCondLst>
                        <p:cond delay="indefinite"/>
                      </p:stCondLst>
                      <p:childTnLst>
                        <p:par>
                          <p:cTn id="8" fill="hold">
                            <p:stCondLst>
                              <p:cond delay="0"/>
                            </p:stCondLst>
                            <p:childTnLst>
                              <p:par>
                                <p:cTn id="9" presetID="2" presetClass="exit" presetSubtype="4" fill="hold" grpId="0" nodeType="clickEffect">
                                  <p:stCondLst>
                                    <p:cond delay="0"/>
                                  </p:stCondLst>
                                  <p:childTnLst>
                                    <p:anim calcmode="lin" valueType="num">
                                      <p:cBhvr additive="base">
                                        <p:cTn id="10" dur="500"/>
                                        <p:tgtEl>
                                          <p:spTgt spid="3"/>
                                        </p:tgtEl>
                                        <p:attrNameLst>
                                          <p:attrName>ppt_x</p:attrName>
                                        </p:attrNameLst>
                                      </p:cBhvr>
                                      <p:tavLst>
                                        <p:tav tm="0">
                                          <p:val>
                                            <p:strVal val="ppt_x"/>
                                          </p:val>
                                        </p:tav>
                                        <p:tav tm="100000">
                                          <p:val>
                                            <p:strVal val="ppt_x"/>
                                          </p:val>
                                        </p:tav>
                                      </p:tavLst>
                                    </p:anim>
                                    <p:anim calcmode="lin" valueType="num">
                                      <p:cBhvr additive="base">
                                        <p:cTn id="11" dur="500"/>
                                        <p:tgtEl>
                                          <p:spTgt spid="3"/>
                                        </p:tgtEl>
                                        <p:attrNameLst>
                                          <p:attrName>ppt_y</p:attrName>
                                        </p:attrNameLst>
                                      </p:cBhvr>
                                      <p:tavLst>
                                        <p:tav tm="0">
                                          <p:val>
                                            <p:strVal val="ppt_y"/>
                                          </p:val>
                                        </p:tav>
                                        <p:tav tm="100000">
                                          <p:val>
                                            <p:strVal val="1+ppt_h/2"/>
                                          </p:val>
                                        </p:tav>
                                      </p:tavLst>
                                    </p:anim>
                                    <p:set>
                                      <p:cBhvr>
                                        <p:cTn id="12" dur="1" fill="hold">
                                          <p:stCondLst>
                                            <p:cond delay="499"/>
                                          </p:stCondLst>
                                        </p:cTn>
                                        <p:tgtEl>
                                          <p:spTgt spid="3"/>
                                        </p:tgtEl>
                                        <p:attrNameLst>
                                          <p:attrName>style.visibility</p:attrName>
                                        </p:attrNameLst>
                                      </p:cBhvr>
                                      <p:to>
                                        <p:strVal val="hidden"/>
                                      </p:to>
                                    </p:set>
                                  </p:childTnLst>
                                </p:cTn>
                              </p:par>
                              <p:par>
                                <p:cTn id="13" presetID="2" presetClass="exit" presetSubtype="4" fill="hold" grpId="0" nodeType="withEffect">
                                  <p:stCondLst>
                                    <p:cond delay="0"/>
                                  </p:stCondLst>
                                  <p:childTnLst>
                                    <p:anim calcmode="lin" valueType="num">
                                      <p:cBhvr additive="base">
                                        <p:cTn id="14" dur="500"/>
                                        <p:tgtEl>
                                          <p:spTgt spid="12"/>
                                        </p:tgtEl>
                                        <p:attrNameLst>
                                          <p:attrName>ppt_x</p:attrName>
                                        </p:attrNameLst>
                                      </p:cBhvr>
                                      <p:tavLst>
                                        <p:tav tm="0">
                                          <p:val>
                                            <p:strVal val="ppt_x"/>
                                          </p:val>
                                        </p:tav>
                                        <p:tav tm="100000">
                                          <p:val>
                                            <p:strVal val="ppt_x"/>
                                          </p:val>
                                        </p:tav>
                                      </p:tavLst>
                                    </p:anim>
                                    <p:anim calcmode="lin" valueType="num">
                                      <p:cBhvr additive="base">
                                        <p:cTn id="15" dur="500"/>
                                        <p:tgtEl>
                                          <p:spTgt spid="12"/>
                                        </p:tgtEl>
                                        <p:attrNameLst>
                                          <p:attrName>ppt_y</p:attrName>
                                        </p:attrNameLst>
                                      </p:cBhvr>
                                      <p:tavLst>
                                        <p:tav tm="0">
                                          <p:val>
                                            <p:strVal val="ppt_y"/>
                                          </p:val>
                                        </p:tav>
                                        <p:tav tm="100000">
                                          <p:val>
                                            <p:strVal val="1+ppt_h/2"/>
                                          </p:val>
                                        </p:tav>
                                      </p:tavLst>
                                    </p:anim>
                                    <p:set>
                                      <p:cBhvr>
                                        <p:cTn id="16" dur="1" fill="hold">
                                          <p:stCondLst>
                                            <p:cond delay="499"/>
                                          </p:stCondLst>
                                        </p:cTn>
                                        <p:tgtEl>
                                          <p:spTgt spid="12"/>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35" presetClass="path" presetSubtype="0" accel="50000" decel="50000" fill="hold" grpId="0" nodeType="clickEffect">
                                  <p:stCondLst>
                                    <p:cond delay="0"/>
                                  </p:stCondLst>
                                  <p:childTnLst>
                                    <p:animMotion origin="layout" path="M -3.33333E-6 2.71605E-6 L -0.46232 0.03518 " pathEditMode="relative" rAng="0" ptsTypes="AA">
                                      <p:cBhvr>
                                        <p:cTn id="28" dur="2000" fill="hold"/>
                                        <p:tgtEl>
                                          <p:spTgt spid="70"/>
                                        </p:tgtEl>
                                        <p:attrNameLst>
                                          <p:attrName>ppt_x</p:attrName>
                                          <p:attrName>ppt_y</p:attrName>
                                        </p:attrNameLst>
                                      </p:cBhvr>
                                      <p:rCtr x="-23125" y="197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2" grpId="0"/>
      <p:bldP spid="33" grpId="0" animBg="1"/>
      <p:bldP spid="45" grpId="0"/>
      <p:bldP spid="69" grpId="0"/>
      <p:bldP spid="70" grpId="0" animBg="1"/>
    </p:bldLst>
  </p:timing>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42</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3.1 </a:t>
            </a:r>
            <a:r>
              <a:rPr lang="fr-FR" altLang="fr-FR" sz="1400" b="1" spc="-5" dirty="0">
                <a:solidFill>
                  <a:srgbClr val="CC00CC"/>
                </a:solidFill>
                <a:latin typeface="Bookman Old Style" panose="02050604050505020204" pitchFamily="18" charset="0"/>
                <a:cs typeface="Arial"/>
              </a:rPr>
              <a:t>Théorème de Thévenin </a:t>
            </a:r>
          </a:p>
        </p:txBody>
      </p:sp>
      <p:sp>
        <p:nvSpPr>
          <p:cNvPr id="5" name="TextBox 4">
            <a:extLst>
              <a:ext uri="{FF2B5EF4-FFF2-40B4-BE49-F238E27FC236}">
                <a16:creationId xmlns:a16="http://schemas.microsoft.com/office/drawing/2014/main" id="{BEE2EB4A-5DDB-3300-57A4-67D778C58080}"/>
              </a:ext>
            </a:extLst>
          </p:cNvPr>
          <p:cNvSpPr txBox="1"/>
          <p:nvPr/>
        </p:nvSpPr>
        <p:spPr>
          <a:xfrm>
            <a:off x="914400" y="1156683"/>
            <a:ext cx="4588778" cy="276999"/>
          </a:xfrm>
          <a:prstGeom prst="rect">
            <a:avLst/>
          </a:prstGeom>
          <a:noFill/>
        </p:spPr>
        <p:txBody>
          <a:bodyPr wrap="square">
            <a:spAutoFit/>
          </a:bodyPr>
          <a:lstStyle/>
          <a:p>
            <a:pPr marL="12700">
              <a:lnSpc>
                <a:spcPct val="100000"/>
              </a:lnSpc>
              <a:spcBef>
                <a:spcPts val="160"/>
              </a:spcBef>
            </a:pPr>
            <a:r>
              <a:rPr lang="fr-FR" sz="1200" b="1" spc="-5" dirty="0">
                <a:solidFill>
                  <a:schemeClr val="accent6">
                    <a:lumMod val="50000"/>
                  </a:schemeClr>
                </a:solidFill>
                <a:latin typeface="Bookman Old Style" panose="02050604050505020204" pitchFamily="18" charset="0"/>
                <a:cs typeface="Arial"/>
              </a:rPr>
              <a:t>A. Étapes de l'application de ce théorème</a:t>
            </a:r>
          </a:p>
        </p:txBody>
      </p:sp>
      <p:grpSp>
        <p:nvGrpSpPr>
          <p:cNvPr id="11" name="object 12">
            <a:extLst>
              <a:ext uri="{FF2B5EF4-FFF2-40B4-BE49-F238E27FC236}">
                <a16:creationId xmlns:a16="http://schemas.microsoft.com/office/drawing/2014/main" id="{F2F55DA3-2144-85E8-9EB7-E850C139FBE9}"/>
              </a:ext>
            </a:extLst>
          </p:cNvPr>
          <p:cNvGrpSpPr/>
          <p:nvPr/>
        </p:nvGrpSpPr>
        <p:grpSpPr>
          <a:xfrm>
            <a:off x="286702" y="1581139"/>
            <a:ext cx="8513445" cy="553720"/>
            <a:chOff x="299465" y="1351025"/>
            <a:chExt cx="8513445" cy="553720"/>
          </a:xfrm>
        </p:grpSpPr>
        <p:sp>
          <p:nvSpPr>
            <p:cNvPr id="13" name="object 14">
              <a:extLst>
                <a:ext uri="{FF2B5EF4-FFF2-40B4-BE49-F238E27FC236}">
                  <a16:creationId xmlns:a16="http://schemas.microsoft.com/office/drawing/2014/main" id="{C2E0212E-53BA-FD3A-4E4A-F513BD6F7DB0}"/>
                </a:ext>
              </a:extLst>
            </p:cNvPr>
            <p:cNvSpPr/>
            <p:nvPr/>
          </p:nvSpPr>
          <p:spPr>
            <a:xfrm>
              <a:off x="299465" y="1351025"/>
              <a:ext cx="8513445" cy="553720"/>
            </a:xfrm>
            <a:custGeom>
              <a:avLst/>
              <a:gdLst/>
              <a:ahLst/>
              <a:cxnLst/>
              <a:rect l="l" t="t" r="r" b="b"/>
              <a:pathLst>
                <a:path w="8513445" h="553719">
                  <a:moveTo>
                    <a:pt x="8236458" y="0"/>
                  </a:moveTo>
                  <a:lnTo>
                    <a:pt x="8236458" y="138302"/>
                  </a:lnTo>
                  <a:lnTo>
                    <a:pt x="0" y="138302"/>
                  </a:lnTo>
                  <a:lnTo>
                    <a:pt x="0" y="414909"/>
                  </a:lnTo>
                  <a:lnTo>
                    <a:pt x="8236458" y="414909"/>
                  </a:lnTo>
                  <a:lnTo>
                    <a:pt x="8236458" y="553212"/>
                  </a:lnTo>
                  <a:lnTo>
                    <a:pt x="8513064" y="276606"/>
                  </a:lnTo>
                  <a:lnTo>
                    <a:pt x="8236458" y="0"/>
                  </a:lnTo>
                  <a:close/>
                </a:path>
              </a:pathLst>
            </a:custGeom>
            <a:solidFill>
              <a:srgbClr val="D9D9D9"/>
            </a:solidFill>
          </p:spPr>
          <p:txBody>
            <a:bodyPr wrap="square" lIns="0" tIns="0" rIns="0" bIns="0" rtlCol="0"/>
            <a:lstStyle/>
            <a:p>
              <a:endParaRPr/>
            </a:p>
          </p:txBody>
        </p:sp>
        <p:sp>
          <p:nvSpPr>
            <p:cNvPr id="16" name="object 15">
              <a:extLst>
                <a:ext uri="{FF2B5EF4-FFF2-40B4-BE49-F238E27FC236}">
                  <a16:creationId xmlns:a16="http://schemas.microsoft.com/office/drawing/2014/main" id="{B71A15A8-59A3-2D61-E318-297EBEEF4A71}"/>
                </a:ext>
              </a:extLst>
            </p:cNvPr>
            <p:cNvSpPr/>
            <p:nvPr/>
          </p:nvSpPr>
          <p:spPr>
            <a:xfrm>
              <a:off x="299465" y="1351025"/>
              <a:ext cx="8513445" cy="553720"/>
            </a:xfrm>
            <a:custGeom>
              <a:avLst/>
              <a:gdLst/>
              <a:ahLst/>
              <a:cxnLst/>
              <a:rect l="l" t="t" r="r" b="b"/>
              <a:pathLst>
                <a:path w="8513445" h="553719">
                  <a:moveTo>
                    <a:pt x="0" y="138302"/>
                  </a:moveTo>
                  <a:lnTo>
                    <a:pt x="8236458" y="138302"/>
                  </a:lnTo>
                  <a:lnTo>
                    <a:pt x="8236458" y="0"/>
                  </a:lnTo>
                  <a:lnTo>
                    <a:pt x="8513064" y="276606"/>
                  </a:lnTo>
                  <a:lnTo>
                    <a:pt x="8236458" y="553212"/>
                  </a:lnTo>
                  <a:lnTo>
                    <a:pt x="8236458" y="414909"/>
                  </a:lnTo>
                  <a:lnTo>
                    <a:pt x="0" y="414909"/>
                  </a:lnTo>
                  <a:lnTo>
                    <a:pt x="0" y="138302"/>
                  </a:lnTo>
                  <a:close/>
                </a:path>
              </a:pathLst>
            </a:custGeom>
            <a:ln w="25907">
              <a:solidFill>
                <a:srgbClr val="161F28"/>
              </a:solidFill>
            </a:ln>
          </p:spPr>
          <p:txBody>
            <a:bodyPr wrap="square" lIns="0" tIns="0" rIns="0" bIns="0" rtlCol="0"/>
            <a:lstStyle/>
            <a:p>
              <a:endParaRPr/>
            </a:p>
          </p:txBody>
        </p:sp>
      </p:grpSp>
      <p:grpSp>
        <p:nvGrpSpPr>
          <p:cNvPr id="17" name="object 17">
            <a:extLst>
              <a:ext uri="{FF2B5EF4-FFF2-40B4-BE49-F238E27FC236}">
                <a16:creationId xmlns:a16="http://schemas.microsoft.com/office/drawing/2014/main" id="{9D461ACC-977B-8A99-A988-B121E12E2C87}"/>
              </a:ext>
            </a:extLst>
          </p:cNvPr>
          <p:cNvGrpSpPr/>
          <p:nvPr/>
        </p:nvGrpSpPr>
        <p:grpSpPr>
          <a:xfrm>
            <a:off x="209741" y="2253986"/>
            <a:ext cx="2350135" cy="516890"/>
            <a:chOff x="222504" y="2023872"/>
            <a:chExt cx="2350135" cy="516890"/>
          </a:xfrm>
        </p:grpSpPr>
        <p:sp>
          <p:nvSpPr>
            <p:cNvPr id="20" name="object 18">
              <a:extLst>
                <a:ext uri="{FF2B5EF4-FFF2-40B4-BE49-F238E27FC236}">
                  <a16:creationId xmlns:a16="http://schemas.microsoft.com/office/drawing/2014/main" id="{7D6FC0BE-F931-D1D0-F021-4999D6EE79E3}"/>
                </a:ext>
              </a:extLst>
            </p:cNvPr>
            <p:cNvSpPr/>
            <p:nvPr/>
          </p:nvSpPr>
          <p:spPr>
            <a:xfrm>
              <a:off x="236982" y="2038350"/>
              <a:ext cx="2321560" cy="487680"/>
            </a:xfrm>
            <a:custGeom>
              <a:avLst/>
              <a:gdLst/>
              <a:ahLst/>
              <a:cxnLst/>
              <a:rect l="l" t="t" r="r" b="b"/>
              <a:pathLst>
                <a:path w="2321560" h="487680">
                  <a:moveTo>
                    <a:pt x="1947672" y="0"/>
                  </a:moveTo>
                  <a:lnTo>
                    <a:pt x="373405" y="0"/>
                  </a:lnTo>
                  <a:lnTo>
                    <a:pt x="318227" y="2644"/>
                  </a:lnTo>
                  <a:lnTo>
                    <a:pt x="265562" y="10327"/>
                  </a:lnTo>
                  <a:lnTo>
                    <a:pt x="215988" y="22671"/>
                  </a:lnTo>
                  <a:lnTo>
                    <a:pt x="170083" y="39296"/>
                  </a:lnTo>
                  <a:lnTo>
                    <a:pt x="128425" y="59826"/>
                  </a:lnTo>
                  <a:lnTo>
                    <a:pt x="91591" y="83882"/>
                  </a:lnTo>
                  <a:lnTo>
                    <a:pt x="60158" y="111088"/>
                  </a:lnTo>
                  <a:lnTo>
                    <a:pt x="34705" y="141064"/>
                  </a:lnTo>
                  <a:lnTo>
                    <a:pt x="4048" y="207818"/>
                  </a:lnTo>
                  <a:lnTo>
                    <a:pt x="0" y="243839"/>
                  </a:lnTo>
                  <a:lnTo>
                    <a:pt x="4048" y="279861"/>
                  </a:lnTo>
                  <a:lnTo>
                    <a:pt x="34705" y="346615"/>
                  </a:lnTo>
                  <a:lnTo>
                    <a:pt x="60158" y="376591"/>
                  </a:lnTo>
                  <a:lnTo>
                    <a:pt x="91591" y="403797"/>
                  </a:lnTo>
                  <a:lnTo>
                    <a:pt x="128425" y="427853"/>
                  </a:lnTo>
                  <a:lnTo>
                    <a:pt x="170083" y="448383"/>
                  </a:lnTo>
                  <a:lnTo>
                    <a:pt x="215988" y="465008"/>
                  </a:lnTo>
                  <a:lnTo>
                    <a:pt x="265562" y="477352"/>
                  </a:lnTo>
                  <a:lnTo>
                    <a:pt x="318227" y="485035"/>
                  </a:lnTo>
                  <a:lnTo>
                    <a:pt x="373405" y="487680"/>
                  </a:lnTo>
                  <a:lnTo>
                    <a:pt x="1947672" y="487680"/>
                  </a:lnTo>
                  <a:lnTo>
                    <a:pt x="2002855" y="485035"/>
                  </a:lnTo>
                  <a:lnTo>
                    <a:pt x="2055522" y="477352"/>
                  </a:lnTo>
                  <a:lnTo>
                    <a:pt x="2105095" y="465008"/>
                  </a:lnTo>
                  <a:lnTo>
                    <a:pt x="2150997" y="448383"/>
                  </a:lnTo>
                  <a:lnTo>
                    <a:pt x="2192651" y="427853"/>
                  </a:lnTo>
                  <a:lnTo>
                    <a:pt x="2229480" y="403797"/>
                  </a:lnTo>
                  <a:lnTo>
                    <a:pt x="2260907" y="376591"/>
                  </a:lnTo>
                  <a:lnTo>
                    <a:pt x="2286354" y="346615"/>
                  </a:lnTo>
                  <a:lnTo>
                    <a:pt x="2317004" y="279861"/>
                  </a:lnTo>
                  <a:lnTo>
                    <a:pt x="2321052" y="243839"/>
                  </a:lnTo>
                  <a:lnTo>
                    <a:pt x="2317004" y="207818"/>
                  </a:lnTo>
                  <a:lnTo>
                    <a:pt x="2286354" y="141064"/>
                  </a:lnTo>
                  <a:lnTo>
                    <a:pt x="2260907" y="111088"/>
                  </a:lnTo>
                  <a:lnTo>
                    <a:pt x="2229480" y="83882"/>
                  </a:lnTo>
                  <a:lnTo>
                    <a:pt x="2192651" y="59826"/>
                  </a:lnTo>
                  <a:lnTo>
                    <a:pt x="2150997" y="39296"/>
                  </a:lnTo>
                  <a:lnTo>
                    <a:pt x="2105095" y="22671"/>
                  </a:lnTo>
                  <a:lnTo>
                    <a:pt x="2055522" y="10327"/>
                  </a:lnTo>
                  <a:lnTo>
                    <a:pt x="2002855" y="2644"/>
                  </a:lnTo>
                  <a:lnTo>
                    <a:pt x="1947672" y="0"/>
                  </a:lnTo>
                  <a:close/>
                </a:path>
              </a:pathLst>
            </a:custGeom>
            <a:solidFill>
              <a:srgbClr val="DFCDE3"/>
            </a:solidFill>
          </p:spPr>
          <p:txBody>
            <a:bodyPr wrap="square" lIns="0" tIns="0" rIns="0" bIns="0" rtlCol="0"/>
            <a:lstStyle/>
            <a:p>
              <a:endParaRPr/>
            </a:p>
          </p:txBody>
        </p:sp>
        <p:sp>
          <p:nvSpPr>
            <p:cNvPr id="21" name="object 19">
              <a:extLst>
                <a:ext uri="{FF2B5EF4-FFF2-40B4-BE49-F238E27FC236}">
                  <a16:creationId xmlns:a16="http://schemas.microsoft.com/office/drawing/2014/main" id="{5A3C694B-D4BE-6A9A-F652-CCFD201CCF27}"/>
                </a:ext>
              </a:extLst>
            </p:cNvPr>
            <p:cNvSpPr/>
            <p:nvPr/>
          </p:nvSpPr>
          <p:spPr>
            <a:xfrm>
              <a:off x="236982" y="2038350"/>
              <a:ext cx="2321560" cy="487680"/>
            </a:xfrm>
            <a:custGeom>
              <a:avLst/>
              <a:gdLst/>
              <a:ahLst/>
              <a:cxnLst/>
              <a:rect l="l" t="t" r="r" b="b"/>
              <a:pathLst>
                <a:path w="2321560" h="487680">
                  <a:moveTo>
                    <a:pt x="373405" y="0"/>
                  </a:moveTo>
                  <a:lnTo>
                    <a:pt x="1947672" y="0"/>
                  </a:lnTo>
                  <a:lnTo>
                    <a:pt x="2002855" y="2644"/>
                  </a:lnTo>
                  <a:lnTo>
                    <a:pt x="2055522" y="10327"/>
                  </a:lnTo>
                  <a:lnTo>
                    <a:pt x="2105095" y="22671"/>
                  </a:lnTo>
                  <a:lnTo>
                    <a:pt x="2150997" y="39296"/>
                  </a:lnTo>
                  <a:lnTo>
                    <a:pt x="2192651" y="59826"/>
                  </a:lnTo>
                  <a:lnTo>
                    <a:pt x="2229480" y="83882"/>
                  </a:lnTo>
                  <a:lnTo>
                    <a:pt x="2260907" y="111088"/>
                  </a:lnTo>
                  <a:lnTo>
                    <a:pt x="2286354" y="141064"/>
                  </a:lnTo>
                  <a:lnTo>
                    <a:pt x="2317004" y="207818"/>
                  </a:lnTo>
                  <a:lnTo>
                    <a:pt x="2321052" y="243839"/>
                  </a:lnTo>
                  <a:lnTo>
                    <a:pt x="2317004" y="279861"/>
                  </a:lnTo>
                  <a:lnTo>
                    <a:pt x="2286354" y="346615"/>
                  </a:lnTo>
                  <a:lnTo>
                    <a:pt x="2260907" y="376591"/>
                  </a:lnTo>
                  <a:lnTo>
                    <a:pt x="2229480" y="403797"/>
                  </a:lnTo>
                  <a:lnTo>
                    <a:pt x="2192651" y="427853"/>
                  </a:lnTo>
                  <a:lnTo>
                    <a:pt x="2150997" y="448383"/>
                  </a:lnTo>
                  <a:lnTo>
                    <a:pt x="2105095" y="465008"/>
                  </a:lnTo>
                  <a:lnTo>
                    <a:pt x="2055522" y="477352"/>
                  </a:lnTo>
                  <a:lnTo>
                    <a:pt x="2002855" y="485035"/>
                  </a:lnTo>
                  <a:lnTo>
                    <a:pt x="1947672" y="487680"/>
                  </a:lnTo>
                  <a:lnTo>
                    <a:pt x="373405" y="487680"/>
                  </a:lnTo>
                  <a:lnTo>
                    <a:pt x="318227" y="485035"/>
                  </a:lnTo>
                  <a:lnTo>
                    <a:pt x="265562" y="477352"/>
                  </a:lnTo>
                  <a:lnTo>
                    <a:pt x="215988" y="465008"/>
                  </a:lnTo>
                  <a:lnTo>
                    <a:pt x="170083" y="448383"/>
                  </a:lnTo>
                  <a:lnTo>
                    <a:pt x="128425" y="427853"/>
                  </a:lnTo>
                  <a:lnTo>
                    <a:pt x="91591" y="403797"/>
                  </a:lnTo>
                  <a:lnTo>
                    <a:pt x="60158" y="376591"/>
                  </a:lnTo>
                  <a:lnTo>
                    <a:pt x="34705" y="346615"/>
                  </a:lnTo>
                  <a:lnTo>
                    <a:pt x="4048" y="279861"/>
                  </a:lnTo>
                  <a:lnTo>
                    <a:pt x="0" y="243839"/>
                  </a:lnTo>
                  <a:lnTo>
                    <a:pt x="4048" y="207818"/>
                  </a:lnTo>
                  <a:lnTo>
                    <a:pt x="34705" y="141064"/>
                  </a:lnTo>
                  <a:lnTo>
                    <a:pt x="60158" y="111088"/>
                  </a:lnTo>
                  <a:lnTo>
                    <a:pt x="91591" y="83882"/>
                  </a:lnTo>
                  <a:lnTo>
                    <a:pt x="128425" y="59826"/>
                  </a:lnTo>
                  <a:lnTo>
                    <a:pt x="170083" y="39296"/>
                  </a:lnTo>
                  <a:lnTo>
                    <a:pt x="215988" y="22671"/>
                  </a:lnTo>
                  <a:lnTo>
                    <a:pt x="265562" y="10327"/>
                  </a:lnTo>
                  <a:lnTo>
                    <a:pt x="318227" y="2644"/>
                  </a:lnTo>
                  <a:lnTo>
                    <a:pt x="373405" y="0"/>
                  </a:lnTo>
                  <a:close/>
                </a:path>
              </a:pathLst>
            </a:custGeom>
            <a:ln w="28956">
              <a:solidFill>
                <a:srgbClr val="000000"/>
              </a:solidFill>
            </a:ln>
          </p:spPr>
          <p:txBody>
            <a:bodyPr wrap="square" lIns="0" tIns="0" rIns="0" bIns="0" rtlCol="0"/>
            <a:lstStyle/>
            <a:p>
              <a:endParaRPr/>
            </a:p>
          </p:txBody>
        </p:sp>
      </p:grpSp>
      <p:sp>
        <p:nvSpPr>
          <p:cNvPr id="22" name="object 20">
            <a:extLst>
              <a:ext uri="{FF2B5EF4-FFF2-40B4-BE49-F238E27FC236}">
                <a16:creationId xmlns:a16="http://schemas.microsoft.com/office/drawing/2014/main" id="{853C3A68-0A22-F21F-5119-79F19F59DEA7}"/>
              </a:ext>
            </a:extLst>
          </p:cNvPr>
          <p:cNvSpPr txBox="1"/>
          <p:nvPr/>
        </p:nvSpPr>
        <p:spPr>
          <a:xfrm>
            <a:off x="452136" y="2325051"/>
            <a:ext cx="2029003" cy="382156"/>
          </a:xfrm>
          <a:prstGeom prst="rect">
            <a:avLst/>
          </a:prstGeom>
        </p:spPr>
        <p:txBody>
          <a:bodyPr vert="horz" wrap="square" lIns="0" tIns="12700" rIns="0" bIns="0" rtlCol="0">
            <a:spAutoFit/>
          </a:bodyPr>
          <a:lstStyle/>
          <a:p>
            <a:pPr marL="241300" marR="5080" indent="-228600">
              <a:lnSpc>
                <a:spcPct val="100000"/>
              </a:lnSpc>
              <a:spcBef>
                <a:spcPts val="100"/>
              </a:spcBef>
            </a:pPr>
            <a:r>
              <a:rPr sz="1200" b="1" dirty="0">
                <a:latin typeface="Bookman Old Style" panose="02050604050505020204" pitchFamily="18" charset="0"/>
                <a:cs typeface="Times New Roman"/>
              </a:rPr>
              <a:t>Déterminer</a:t>
            </a:r>
            <a:r>
              <a:rPr sz="1200" b="1" spc="-25" dirty="0">
                <a:latin typeface="Bookman Old Style" panose="02050604050505020204" pitchFamily="18" charset="0"/>
                <a:cs typeface="Times New Roman"/>
              </a:rPr>
              <a:t> </a:t>
            </a:r>
            <a:r>
              <a:rPr sz="1200" b="1" dirty="0">
                <a:latin typeface="Bookman Old Style" panose="02050604050505020204" pitchFamily="18" charset="0"/>
                <a:cs typeface="Times New Roman"/>
              </a:rPr>
              <a:t>la</a:t>
            </a:r>
            <a:r>
              <a:rPr sz="1200" b="1" spc="-50" dirty="0">
                <a:latin typeface="Bookman Old Style" panose="02050604050505020204" pitchFamily="18" charset="0"/>
                <a:cs typeface="Times New Roman"/>
              </a:rPr>
              <a:t> </a:t>
            </a:r>
            <a:r>
              <a:rPr sz="1200" b="1" spc="-10" dirty="0">
                <a:latin typeface="Bookman Old Style" panose="02050604050505020204" pitchFamily="18" charset="0"/>
                <a:cs typeface="Times New Roman"/>
              </a:rPr>
              <a:t>résistance </a:t>
            </a:r>
            <a:r>
              <a:rPr sz="1200" b="1" dirty="0">
                <a:latin typeface="Bookman Old Style" panose="02050604050505020204" pitchFamily="18" charset="0"/>
                <a:cs typeface="Times New Roman"/>
              </a:rPr>
              <a:t>de</a:t>
            </a:r>
            <a:r>
              <a:rPr sz="1200" b="1" spc="-40" dirty="0">
                <a:latin typeface="Bookman Old Style" panose="02050604050505020204" pitchFamily="18" charset="0"/>
                <a:cs typeface="Times New Roman"/>
              </a:rPr>
              <a:t> </a:t>
            </a:r>
            <a:r>
              <a:rPr sz="1200" b="1" spc="-10" dirty="0">
                <a:latin typeface="Bookman Old Style" panose="02050604050505020204" pitchFamily="18" charset="0"/>
                <a:cs typeface="Times New Roman"/>
              </a:rPr>
              <a:t>Thévenin</a:t>
            </a:r>
            <a:endParaRPr sz="1200" dirty="0">
              <a:latin typeface="Bookman Old Style" panose="02050604050505020204" pitchFamily="18" charset="0"/>
              <a:cs typeface="Times New Roman"/>
            </a:endParaRPr>
          </a:p>
        </p:txBody>
      </p:sp>
      <p:grpSp>
        <p:nvGrpSpPr>
          <p:cNvPr id="23" name="object 21">
            <a:extLst>
              <a:ext uri="{FF2B5EF4-FFF2-40B4-BE49-F238E27FC236}">
                <a16:creationId xmlns:a16="http://schemas.microsoft.com/office/drawing/2014/main" id="{AE25CA16-7445-3C8B-16A8-F49339E641F1}"/>
              </a:ext>
            </a:extLst>
          </p:cNvPr>
          <p:cNvGrpSpPr/>
          <p:nvPr/>
        </p:nvGrpSpPr>
        <p:grpSpPr>
          <a:xfrm>
            <a:off x="5831777" y="2378953"/>
            <a:ext cx="390525" cy="253365"/>
            <a:chOff x="5844540" y="2148839"/>
            <a:chExt cx="390525" cy="253365"/>
          </a:xfrm>
        </p:grpSpPr>
        <p:sp>
          <p:nvSpPr>
            <p:cNvPr id="24" name="object 22">
              <a:extLst>
                <a:ext uri="{FF2B5EF4-FFF2-40B4-BE49-F238E27FC236}">
                  <a16:creationId xmlns:a16="http://schemas.microsoft.com/office/drawing/2014/main" id="{36BA5D1E-484F-30B2-6DF9-DC7B4068E5AC}"/>
                </a:ext>
              </a:extLst>
            </p:cNvPr>
            <p:cNvSpPr/>
            <p:nvPr/>
          </p:nvSpPr>
          <p:spPr>
            <a:xfrm>
              <a:off x="5849112" y="2153411"/>
              <a:ext cx="381000" cy="243840"/>
            </a:xfrm>
            <a:custGeom>
              <a:avLst/>
              <a:gdLst/>
              <a:ahLst/>
              <a:cxnLst/>
              <a:rect l="l" t="t" r="r" b="b"/>
              <a:pathLst>
                <a:path w="381000" h="243839">
                  <a:moveTo>
                    <a:pt x="259079" y="0"/>
                  </a:moveTo>
                  <a:lnTo>
                    <a:pt x="259079" y="60960"/>
                  </a:lnTo>
                  <a:lnTo>
                    <a:pt x="0" y="60960"/>
                  </a:lnTo>
                  <a:lnTo>
                    <a:pt x="0" y="182880"/>
                  </a:lnTo>
                  <a:lnTo>
                    <a:pt x="259079" y="182880"/>
                  </a:lnTo>
                  <a:lnTo>
                    <a:pt x="259079" y="243839"/>
                  </a:lnTo>
                  <a:lnTo>
                    <a:pt x="381000" y="121919"/>
                  </a:lnTo>
                  <a:lnTo>
                    <a:pt x="259079" y="0"/>
                  </a:lnTo>
                  <a:close/>
                </a:path>
              </a:pathLst>
            </a:custGeom>
            <a:solidFill>
              <a:srgbClr val="BEBEBE"/>
            </a:solidFill>
          </p:spPr>
          <p:txBody>
            <a:bodyPr wrap="square" lIns="0" tIns="0" rIns="0" bIns="0" rtlCol="0"/>
            <a:lstStyle/>
            <a:p>
              <a:endParaRPr/>
            </a:p>
          </p:txBody>
        </p:sp>
        <p:sp>
          <p:nvSpPr>
            <p:cNvPr id="25" name="object 23">
              <a:extLst>
                <a:ext uri="{FF2B5EF4-FFF2-40B4-BE49-F238E27FC236}">
                  <a16:creationId xmlns:a16="http://schemas.microsoft.com/office/drawing/2014/main" id="{3E0226BC-2372-3648-80DF-2D577EFDB24B}"/>
                </a:ext>
              </a:extLst>
            </p:cNvPr>
            <p:cNvSpPr/>
            <p:nvPr/>
          </p:nvSpPr>
          <p:spPr>
            <a:xfrm>
              <a:off x="5849112" y="2153411"/>
              <a:ext cx="381000" cy="243840"/>
            </a:xfrm>
            <a:custGeom>
              <a:avLst/>
              <a:gdLst/>
              <a:ahLst/>
              <a:cxnLst/>
              <a:rect l="l" t="t" r="r" b="b"/>
              <a:pathLst>
                <a:path w="381000" h="243839">
                  <a:moveTo>
                    <a:pt x="0" y="60960"/>
                  </a:moveTo>
                  <a:lnTo>
                    <a:pt x="259079" y="60960"/>
                  </a:lnTo>
                  <a:lnTo>
                    <a:pt x="259079" y="0"/>
                  </a:lnTo>
                  <a:lnTo>
                    <a:pt x="381000" y="121919"/>
                  </a:lnTo>
                  <a:lnTo>
                    <a:pt x="259079" y="243839"/>
                  </a:lnTo>
                  <a:lnTo>
                    <a:pt x="259079" y="182880"/>
                  </a:lnTo>
                  <a:lnTo>
                    <a:pt x="0" y="182880"/>
                  </a:lnTo>
                  <a:lnTo>
                    <a:pt x="0" y="60960"/>
                  </a:lnTo>
                  <a:close/>
                </a:path>
              </a:pathLst>
            </a:custGeom>
            <a:ln w="9144">
              <a:solidFill>
                <a:srgbClr val="000000"/>
              </a:solidFill>
            </a:ln>
          </p:spPr>
          <p:txBody>
            <a:bodyPr wrap="square" lIns="0" tIns="0" rIns="0" bIns="0" rtlCol="0"/>
            <a:lstStyle/>
            <a:p>
              <a:endParaRPr/>
            </a:p>
          </p:txBody>
        </p:sp>
      </p:grpSp>
      <p:grpSp>
        <p:nvGrpSpPr>
          <p:cNvPr id="26" name="object 24">
            <a:extLst>
              <a:ext uri="{FF2B5EF4-FFF2-40B4-BE49-F238E27FC236}">
                <a16:creationId xmlns:a16="http://schemas.microsoft.com/office/drawing/2014/main" id="{E304E594-3572-D32C-7E00-B214B8EF46BD}"/>
              </a:ext>
            </a:extLst>
          </p:cNvPr>
          <p:cNvGrpSpPr/>
          <p:nvPr/>
        </p:nvGrpSpPr>
        <p:grpSpPr>
          <a:xfrm>
            <a:off x="6427660" y="2249414"/>
            <a:ext cx="2350135" cy="516890"/>
            <a:chOff x="6440423" y="2019300"/>
            <a:chExt cx="2350135" cy="516890"/>
          </a:xfrm>
        </p:grpSpPr>
        <p:sp>
          <p:nvSpPr>
            <p:cNvPr id="27" name="object 25">
              <a:extLst>
                <a:ext uri="{FF2B5EF4-FFF2-40B4-BE49-F238E27FC236}">
                  <a16:creationId xmlns:a16="http://schemas.microsoft.com/office/drawing/2014/main" id="{9C380DE4-8347-96B0-DBDA-2CCC6BEB61B4}"/>
                </a:ext>
              </a:extLst>
            </p:cNvPr>
            <p:cNvSpPr/>
            <p:nvPr/>
          </p:nvSpPr>
          <p:spPr>
            <a:xfrm>
              <a:off x="6454901" y="2033777"/>
              <a:ext cx="2321560" cy="487680"/>
            </a:xfrm>
            <a:custGeom>
              <a:avLst/>
              <a:gdLst/>
              <a:ahLst/>
              <a:cxnLst/>
              <a:rect l="l" t="t" r="r" b="b"/>
              <a:pathLst>
                <a:path w="2321559" h="487680">
                  <a:moveTo>
                    <a:pt x="1947672" y="0"/>
                  </a:moveTo>
                  <a:lnTo>
                    <a:pt x="373379" y="0"/>
                  </a:lnTo>
                  <a:lnTo>
                    <a:pt x="318196" y="2644"/>
                  </a:lnTo>
                  <a:lnTo>
                    <a:pt x="265529" y="10327"/>
                  </a:lnTo>
                  <a:lnTo>
                    <a:pt x="215956" y="22671"/>
                  </a:lnTo>
                  <a:lnTo>
                    <a:pt x="170054" y="39296"/>
                  </a:lnTo>
                  <a:lnTo>
                    <a:pt x="128400" y="59826"/>
                  </a:lnTo>
                  <a:lnTo>
                    <a:pt x="91571" y="83882"/>
                  </a:lnTo>
                  <a:lnTo>
                    <a:pt x="60144" y="111088"/>
                  </a:lnTo>
                  <a:lnTo>
                    <a:pt x="34697" y="141064"/>
                  </a:lnTo>
                  <a:lnTo>
                    <a:pt x="4047" y="207818"/>
                  </a:lnTo>
                  <a:lnTo>
                    <a:pt x="0" y="243840"/>
                  </a:lnTo>
                  <a:lnTo>
                    <a:pt x="4047" y="279861"/>
                  </a:lnTo>
                  <a:lnTo>
                    <a:pt x="34697" y="346615"/>
                  </a:lnTo>
                  <a:lnTo>
                    <a:pt x="60144" y="376591"/>
                  </a:lnTo>
                  <a:lnTo>
                    <a:pt x="91571" y="403797"/>
                  </a:lnTo>
                  <a:lnTo>
                    <a:pt x="128400" y="427853"/>
                  </a:lnTo>
                  <a:lnTo>
                    <a:pt x="170054" y="448383"/>
                  </a:lnTo>
                  <a:lnTo>
                    <a:pt x="215956" y="465008"/>
                  </a:lnTo>
                  <a:lnTo>
                    <a:pt x="265529" y="477352"/>
                  </a:lnTo>
                  <a:lnTo>
                    <a:pt x="318196" y="485035"/>
                  </a:lnTo>
                  <a:lnTo>
                    <a:pt x="373379" y="487680"/>
                  </a:lnTo>
                  <a:lnTo>
                    <a:pt x="1947672" y="487680"/>
                  </a:lnTo>
                  <a:lnTo>
                    <a:pt x="2002855" y="485035"/>
                  </a:lnTo>
                  <a:lnTo>
                    <a:pt x="2055522" y="477352"/>
                  </a:lnTo>
                  <a:lnTo>
                    <a:pt x="2105095" y="465008"/>
                  </a:lnTo>
                  <a:lnTo>
                    <a:pt x="2150997" y="448383"/>
                  </a:lnTo>
                  <a:lnTo>
                    <a:pt x="2192651" y="427853"/>
                  </a:lnTo>
                  <a:lnTo>
                    <a:pt x="2229480" y="403797"/>
                  </a:lnTo>
                  <a:lnTo>
                    <a:pt x="2260907" y="376591"/>
                  </a:lnTo>
                  <a:lnTo>
                    <a:pt x="2286354" y="346615"/>
                  </a:lnTo>
                  <a:lnTo>
                    <a:pt x="2317004" y="279861"/>
                  </a:lnTo>
                  <a:lnTo>
                    <a:pt x="2321052" y="243840"/>
                  </a:lnTo>
                  <a:lnTo>
                    <a:pt x="2317004" y="207818"/>
                  </a:lnTo>
                  <a:lnTo>
                    <a:pt x="2286354" y="141064"/>
                  </a:lnTo>
                  <a:lnTo>
                    <a:pt x="2260907" y="111088"/>
                  </a:lnTo>
                  <a:lnTo>
                    <a:pt x="2229480" y="83882"/>
                  </a:lnTo>
                  <a:lnTo>
                    <a:pt x="2192651" y="59826"/>
                  </a:lnTo>
                  <a:lnTo>
                    <a:pt x="2150997" y="39296"/>
                  </a:lnTo>
                  <a:lnTo>
                    <a:pt x="2105095" y="22671"/>
                  </a:lnTo>
                  <a:lnTo>
                    <a:pt x="2055522" y="10327"/>
                  </a:lnTo>
                  <a:lnTo>
                    <a:pt x="2002855" y="2644"/>
                  </a:lnTo>
                  <a:lnTo>
                    <a:pt x="1947672" y="0"/>
                  </a:lnTo>
                  <a:close/>
                </a:path>
              </a:pathLst>
            </a:custGeom>
            <a:solidFill>
              <a:srgbClr val="DFCDE3"/>
            </a:solidFill>
          </p:spPr>
          <p:txBody>
            <a:bodyPr wrap="square" lIns="0" tIns="0" rIns="0" bIns="0" rtlCol="0"/>
            <a:lstStyle/>
            <a:p>
              <a:endParaRPr/>
            </a:p>
          </p:txBody>
        </p:sp>
        <p:sp>
          <p:nvSpPr>
            <p:cNvPr id="28" name="object 26">
              <a:extLst>
                <a:ext uri="{FF2B5EF4-FFF2-40B4-BE49-F238E27FC236}">
                  <a16:creationId xmlns:a16="http://schemas.microsoft.com/office/drawing/2014/main" id="{B7A1217D-B296-E205-0FBE-035B73523B5D}"/>
                </a:ext>
              </a:extLst>
            </p:cNvPr>
            <p:cNvSpPr/>
            <p:nvPr/>
          </p:nvSpPr>
          <p:spPr>
            <a:xfrm>
              <a:off x="6454901" y="2033777"/>
              <a:ext cx="2321560" cy="487680"/>
            </a:xfrm>
            <a:custGeom>
              <a:avLst/>
              <a:gdLst/>
              <a:ahLst/>
              <a:cxnLst/>
              <a:rect l="l" t="t" r="r" b="b"/>
              <a:pathLst>
                <a:path w="2321559" h="487680">
                  <a:moveTo>
                    <a:pt x="373379" y="0"/>
                  </a:moveTo>
                  <a:lnTo>
                    <a:pt x="1947672" y="0"/>
                  </a:lnTo>
                  <a:lnTo>
                    <a:pt x="2002855" y="2644"/>
                  </a:lnTo>
                  <a:lnTo>
                    <a:pt x="2055522" y="10327"/>
                  </a:lnTo>
                  <a:lnTo>
                    <a:pt x="2105095" y="22671"/>
                  </a:lnTo>
                  <a:lnTo>
                    <a:pt x="2150997" y="39296"/>
                  </a:lnTo>
                  <a:lnTo>
                    <a:pt x="2192651" y="59826"/>
                  </a:lnTo>
                  <a:lnTo>
                    <a:pt x="2229480" y="83882"/>
                  </a:lnTo>
                  <a:lnTo>
                    <a:pt x="2260907" y="111088"/>
                  </a:lnTo>
                  <a:lnTo>
                    <a:pt x="2286354" y="141064"/>
                  </a:lnTo>
                  <a:lnTo>
                    <a:pt x="2317004" y="207818"/>
                  </a:lnTo>
                  <a:lnTo>
                    <a:pt x="2321052" y="243840"/>
                  </a:lnTo>
                  <a:lnTo>
                    <a:pt x="2317004" y="279861"/>
                  </a:lnTo>
                  <a:lnTo>
                    <a:pt x="2286354" y="346615"/>
                  </a:lnTo>
                  <a:lnTo>
                    <a:pt x="2260907" y="376591"/>
                  </a:lnTo>
                  <a:lnTo>
                    <a:pt x="2229480" y="403797"/>
                  </a:lnTo>
                  <a:lnTo>
                    <a:pt x="2192651" y="427853"/>
                  </a:lnTo>
                  <a:lnTo>
                    <a:pt x="2150997" y="448383"/>
                  </a:lnTo>
                  <a:lnTo>
                    <a:pt x="2105095" y="465008"/>
                  </a:lnTo>
                  <a:lnTo>
                    <a:pt x="2055522" y="477352"/>
                  </a:lnTo>
                  <a:lnTo>
                    <a:pt x="2002855" y="485035"/>
                  </a:lnTo>
                  <a:lnTo>
                    <a:pt x="1947672" y="487680"/>
                  </a:lnTo>
                  <a:lnTo>
                    <a:pt x="373379" y="487680"/>
                  </a:lnTo>
                  <a:lnTo>
                    <a:pt x="318196" y="485035"/>
                  </a:lnTo>
                  <a:lnTo>
                    <a:pt x="265529" y="477352"/>
                  </a:lnTo>
                  <a:lnTo>
                    <a:pt x="215956" y="465008"/>
                  </a:lnTo>
                  <a:lnTo>
                    <a:pt x="170054" y="448383"/>
                  </a:lnTo>
                  <a:lnTo>
                    <a:pt x="128400" y="427853"/>
                  </a:lnTo>
                  <a:lnTo>
                    <a:pt x="91571" y="403797"/>
                  </a:lnTo>
                  <a:lnTo>
                    <a:pt x="60144" y="376591"/>
                  </a:lnTo>
                  <a:lnTo>
                    <a:pt x="34697" y="346615"/>
                  </a:lnTo>
                  <a:lnTo>
                    <a:pt x="4047" y="279861"/>
                  </a:lnTo>
                  <a:lnTo>
                    <a:pt x="0" y="243840"/>
                  </a:lnTo>
                  <a:lnTo>
                    <a:pt x="4047" y="207818"/>
                  </a:lnTo>
                  <a:lnTo>
                    <a:pt x="34697" y="141064"/>
                  </a:lnTo>
                  <a:lnTo>
                    <a:pt x="60144" y="111088"/>
                  </a:lnTo>
                  <a:lnTo>
                    <a:pt x="91571" y="83882"/>
                  </a:lnTo>
                  <a:lnTo>
                    <a:pt x="128400" y="59826"/>
                  </a:lnTo>
                  <a:lnTo>
                    <a:pt x="170054" y="39296"/>
                  </a:lnTo>
                  <a:lnTo>
                    <a:pt x="215956" y="22671"/>
                  </a:lnTo>
                  <a:lnTo>
                    <a:pt x="265529" y="10327"/>
                  </a:lnTo>
                  <a:lnTo>
                    <a:pt x="318196" y="2644"/>
                  </a:lnTo>
                  <a:lnTo>
                    <a:pt x="373379" y="0"/>
                  </a:lnTo>
                  <a:close/>
                </a:path>
              </a:pathLst>
            </a:custGeom>
            <a:ln w="28956">
              <a:solidFill>
                <a:srgbClr val="000000"/>
              </a:solidFill>
            </a:ln>
          </p:spPr>
          <p:txBody>
            <a:bodyPr wrap="square" lIns="0" tIns="0" rIns="0" bIns="0" rtlCol="0"/>
            <a:lstStyle/>
            <a:p>
              <a:endParaRPr/>
            </a:p>
          </p:txBody>
        </p:sp>
      </p:grpSp>
      <p:sp>
        <p:nvSpPr>
          <p:cNvPr id="29" name="object 27">
            <a:extLst>
              <a:ext uri="{FF2B5EF4-FFF2-40B4-BE49-F238E27FC236}">
                <a16:creationId xmlns:a16="http://schemas.microsoft.com/office/drawing/2014/main" id="{43E9A6B2-481C-3BF0-D284-68245297341B}"/>
              </a:ext>
            </a:extLst>
          </p:cNvPr>
          <p:cNvSpPr txBox="1"/>
          <p:nvPr/>
        </p:nvSpPr>
        <p:spPr>
          <a:xfrm>
            <a:off x="6311114" y="2308402"/>
            <a:ext cx="2630233" cy="394980"/>
          </a:xfrm>
          <a:prstGeom prst="rect">
            <a:avLst/>
          </a:prstGeom>
        </p:spPr>
        <p:txBody>
          <a:bodyPr vert="horz" wrap="square" lIns="0" tIns="12700" rIns="0" bIns="0" rtlCol="0">
            <a:spAutoFit/>
          </a:bodyPr>
          <a:lstStyle>
            <a:defPPr>
              <a:defRPr lang="fr-FR"/>
            </a:defPPr>
            <a:lvl1pPr marL="241300" marR="5080" indent="-228600">
              <a:lnSpc>
                <a:spcPct val="100000"/>
              </a:lnSpc>
              <a:spcBef>
                <a:spcPts val="100"/>
              </a:spcBef>
              <a:defRPr sz="1200" b="1">
                <a:latin typeface="Bookman Old Style" panose="02050604050505020204" pitchFamily="18" charset="0"/>
                <a:cs typeface="Times New Roman"/>
              </a:defRPr>
            </a:lvl1pPr>
          </a:lstStyle>
          <a:p>
            <a:pPr algn="ctr"/>
            <a:r>
              <a:rPr dirty="0"/>
              <a:t>Former </a:t>
            </a:r>
            <a:r>
              <a:rPr dirty="0" err="1"/>
              <a:t>mon</a:t>
            </a:r>
            <a:r>
              <a:rPr dirty="0"/>
              <a:t> circuit</a:t>
            </a:r>
            <a:endParaRPr lang="fr-FR" dirty="0"/>
          </a:p>
          <a:p>
            <a:pPr algn="ctr"/>
            <a:r>
              <a:rPr dirty="0"/>
              <a:t> équivalent</a:t>
            </a:r>
          </a:p>
        </p:txBody>
      </p:sp>
      <p:grpSp>
        <p:nvGrpSpPr>
          <p:cNvPr id="30" name="object 28">
            <a:extLst>
              <a:ext uri="{FF2B5EF4-FFF2-40B4-BE49-F238E27FC236}">
                <a16:creationId xmlns:a16="http://schemas.microsoft.com/office/drawing/2014/main" id="{92AAE79A-A420-6DE3-EC58-32513CB6CFF4}"/>
              </a:ext>
            </a:extLst>
          </p:cNvPr>
          <p:cNvGrpSpPr/>
          <p:nvPr/>
        </p:nvGrpSpPr>
        <p:grpSpPr>
          <a:xfrm>
            <a:off x="2654237" y="2356093"/>
            <a:ext cx="390525" cy="253365"/>
            <a:chOff x="2667000" y="2125979"/>
            <a:chExt cx="390525" cy="253365"/>
          </a:xfrm>
        </p:grpSpPr>
        <p:sp>
          <p:nvSpPr>
            <p:cNvPr id="31" name="object 29">
              <a:extLst>
                <a:ext uri="{FF2B5EF4-FFF2-40B4-BE49-F238E27FC236}">
                  <a16:creationId xmlns:a16="http://schemas.microsoft.com/office/drawing/2014/main" id="{4FA832E3-2EC8-5801-36CC-AAF0082E8C09}"/>
                </a:ext>
              </a:extLst>
            </p:cNvPr>
            <p:cNvSpPr/>
            <p:nvPr/>
          </p:nvSpPr>
          <p:spPr>
            <a:xfrm>
              <a:off x="2671572" y="2130551"/>
              <a:ext cx="381000" cy="243840"/>
            </a:xfrm>
            <a:custGeom>
              <a:avLst/>
              <a:gdLst/>
              <a:ahLst/>
              <a:cxnLst/>
              <a:rect l="l" t="t" r="r" b="b"/>
              <a:pathLst>
                <a:path w="381000" h="243839">
                  <a:moveTo>
                    <a:pt x="259079" y="0"/>
                  </a:moveTo>
                  <a:lnTo>
                    <a:pt x="259079" y="60960"/>
                  </a:lnTo>
                  <a:lnTo>
                    <a:pt x="0" y="60960"/>
                  </a:lnTo>
                  <a:lnTo>
                    <a:pt x="0" y="182880"/>
                  </a:lnTo>
                  <a:lnTo>
                    <a:pt x="259079" y="182880"/>
                  </a:lnTo>
                  <a:lnTo>
                    <a:pt x="259079" y="243840"/>
                  </a:lnTo>
                  <a:lnTo>
                    <a:pt x="381000" y="121920"/>
                  </a:lnTo>
                  <a:lnTo>
                    <a:pt x="259079" y="0"/>
                  </a:lnTo>
                  <a:close/>
                </a:path>
              </a:pathLst>
            </a:custGeom>
            <a:solidFill>
              <a:srgbClr val="BEBEBE"/>
            </a:solidFill>
          </p:spPr>
          <p:txBody>
            <a:bodyPr wrap="square" lIns="0" tIns="0" rIns="0" bIns="0" rtlCol="0"/>
            <a:lstStyle/>
            <a:p>
              <a:endParaRPr/>
            </a:p>
          </p:txBody>
        </p:sp>
        <p:sp>
          <p:nvSpPr>
            <p:cNvPr id="32" name="object 30">
              <a:extLst>
                <a:ext uri="{FF2B5EF4-FFF2-40B4-BE49-F238E27FC236}">
                  <a16:creationId xmlns:a16="http://schemas.microsoft.com/office/drawing/2014/main" id="{B0A9F30D-B031-CEA7-FB37-E4C685FB7B43}"/>
                </a:ext>
              </a:extLst>
            </p:cNvPr>
            <p:cNvSpPr/>
            <p:nvPr/>
          </p:nvSpPr>
          <p:spPr>
            <a:xfrm>
              <a:off x="2671572" y="2130551"/>
              <a:ext cx="381000" cy="243840"/>
            </a:xfrm>
            <a:custGeom>
              <a:avLst/>
              <a:gdLst/>
              <a:ahLst/>
              <a:cxnLst/>
              <a:rect l="l" t="t" r="r" b="b"/>
              <a:pathLst>
                <a:path w="381000" h="243839">
                  <a:moveTo>
                    <a:pt x="0" y="60960"/>
                  </a:moveTo>
                  <a:lnTo>
                    <a:pt x="259079" y="60960"/>
                  </a:lnTo>
                  <a:lnTo>
                    <a:pt x="259079" y="0"/>
                  </a:lnTo>
                  <a:lnTo>
                    <a:pt x="381000" y="121920"/>
                  </a:lnTo>
                  <a:lnTo>
                    <a:pt x="259079" y="243840"/>
                  </a:lnTo>
                  <a:lnTo>
                    <a:pt x="259079" y="182880"/>
                  </a:lnTo>
                  <a:lnTo>
                    <a:pt x="0" y="182880"/>
                  </a:lnTo>
                  <a:lnTo>
                    <a:pt x="0" y="60960"/>
                  </a:lnTo>
                  <a:close/>
                </a:path>
              </a:pathLst>
            </a:custGeom>
            <a:ln w="9143">
              <a:solidFill>
                <a:srgbClr val="000000"/>
              </a:solidFill>
            </a:ln>
          </p:spPr>
          <p:txBody>
            <a:bodyPr wrap="square" lIns="0" tIns="0" rIns="0" bIns="0" rtlCol="0"/>
            <a:lstStyle/>
            <a:p>
              <a:endParaRPr/>
            </a:p>
          </p:txBody>
        </p:sp>
      </p:grpSp>
      <p:grpSp>
        <p:nvGrpSpPr>
          <p:cNvPr id="40" name="object 31">
            <a:extLst>
              <a:ext uri="{FF2B5EF4-FFF2-40B4-BE49-F238E27FC236}">
                <a16:creationId xmlns:a16="http://schemas.microsoft.com/office/drawing/2014/main" id="{92504503-6907-DD0C-DFB6-D086E4CA83D6}"/>
              </a:ext>
            </a:extLst>
          </p:cNvPr>
          <p:cNvGrpSpPr/>
          <p:nvPr/>
        </p:nvGrpSpPr>
        <p:grpSpPr>
          <a:xfrm>
            <a:off x="3228785" y="2266178"/>
            <a:ext cx="2350135" cy="518159"/>
            <a:chOff x="3241548" y="2036064"/>
            <a:chExt cx="2350135" cy="518159"/>
          </a:xfrm>
        </p:grpSpPr>
        <p:sp>
          <p:nvSpPr>
            <p:cNvPr id="47" name="object 32">
              <a:extLst>
                <a:ext uri="{FF2B5EF4-FFF2-40B4-BE49-F238E27FC236}">
                  <a16:creationId xmlns:a16="http://schemas.microsoft.com/office/drawing/2014/main" id="{7EDB3BF2-B014-A00A-E5BB-E9F9BDF3B984}"/>
                </a:ext>
              </a:extLst>
            </p:cNvPr>
            <p:cNvSpPr/>
            <p:nvPr/>
          </p:nvSpPr>
          <p:spPr>
            <a:xfrm>
              <a:off x="3256026" y="2050542"/>
              <a:ext cx="2321560" cy="489584"/>
            </a:xfrm>
            <a:custGeom>
              <a:avLst/>
              <a:gdLst/>
              <a:ahLst/>
              <a:cxnLst/>
              <a:rect l="l" t="t" r="r" b="b"/>
              <a:pathLst>
                <a:path w="2321560" h="489585">
                  <a:moveTo>
                    <a:pt x="1947672" y="0"/>
                  </a:moveTo>
                  <a:lnTo>
                    <a:pt x="373379" y="0"/>
                  </a:lnTo>
                  <a:lnTo>
                    <a:pt x="318196" y="2651"/>
                  </a:lnTo>
                  <a:lnTo>
                    <a:pt x="265529" y="10353"/>
                  </a:lnTo>
                  <a:lnTo>
                    <a:pt x="215956" y="22727"/>
                  </a:lnTo>
                  <a:lnTo>
                    <a:pt x="170054" y="39397"/>
                  </a:lnTo>
                  <a:lnTo>
                    <a:pt x="128400" y="59983"/>
                  </a:lnTo>
                  <a:lnTo>
                    <a:pt x="91571" y="84109"/>
                  </a:lnTo>
                  <a:lnTo>
                    <a:pt x="60144" y="111396"/>
                  </a:lnTo>
                  <a:lnTo>
                    <a:pt x="34697" y="141467"/>
                  </a:lnTo>
                  <a:lnTo>
                    <a:pt x="4047" y="208447"/>
                  </a:lnTo>
                  <a:lnTo>
                    <a:pt x="0" y="244601"/>
                  </a:lnTo>
                  <a:lnTo>
                    <a:pt x="4047" y="280756"/>
                  </a:lnTo>
                  <a:lnTo>
                    <a:pt x="34697" y="347736"/>
                  </a:lnTo>
                  <a:lnTo>
                    <a:pt x="60144" y="377807"/>
                  </a:lnTo>
                  <a:lnTo>
                    <a:pt x="91571" y="405094"/>
                  </a:lnTo>
                  <a:lnTo>
                    <a:pt x="128400" y="429220"/>
                  </a:lnTo>
                  <a:lnTo>
                    <a:pt x="170054" y="449806"/>
                  </a:lnTo>
                  <a:lnTo>
                    <a:pt x="215956" y="466476"/>
                  </a:lnTo>
                  <a:lnTo>
                    <a:pt x="265529" y="478850"/>
                  </a:lnTo>
                  <a:lnTo>
                    <a:pt x="318196" y="486552"/>
                  </a:lnTo>
                  <a:lnTo>
                    <a:pt x="373379" y="489203"/>
                  </a:lnTo>
                  <a:lnTo>
                    <a:pt x="1947672" y="489203"/>
                  </a:lnTo>
                  <a:lnTo>
                    <a:pt x="2002855" y="486552"/>
                  </a:lnTo>
                  <a:lnTo>
                    <a:pt x="2055522" y="478850"/>
                  </a:lnTo>
                  <a:lnTo>
                    <a:pt x="2105095" y="466476"/>
                  </a:lnTo>
                  <a:lnTo>
                    <a:pt x="2150997" y="449806"/>
                  </a:lnTo>
                  <a:lnTo>
                    <a:pt x="2192651" y="429220"/>
                  </a:lnTo>
                  <a:lnTo>
                    <a:pt x="2229480" y="405094"/>
                  </a:lnTo>
                  <a:lnTo>
                    <a:pt x="2260907" y="377807"/>
                  </a:lnTo>
                  <a:lnTo>
                    <a:pt x="2286354" y="347736"/>
                  </a:lnTo>
                  <a:lnTo>
                    <a:pt x="2317004" y="280756"/>
                  </a:lnTo>
                  <a:lnTo>
                    <a:pt x="2321052" y="244601"/>
                  </a:lnTo>
                  <a:lnTo>
                    <a:pt x="2317004" y="208447"/>
                  </a:lnTo>
                  <a:lnTo>
                    <a:pt x="2286354" y="141467"/>
                  </a:lnTo>
                  <a:lnTo>
                    <a:pt x="2260907" y="111396"/>
                  </a:lnTo>
                  <a:lnTo>
                    <a:pt x="2229480" y="84109"/>
                  </a:lnTo>
                  <a:lnTo>
                    <a:pt x="2192651" y="59983"/>
                  </a:lnTo>
                  <a:lnTo>
                    <a:pt x="2150997" y="39397"/>
                  </a:lnTo>
                  <a:lnTo>
                    <a:pt x="2105095" y="22727"/>
                  </a:lnTo>
                  <a:lnTo>
                    <a:pt x="2055522" y="10353"/>
                  </a:lnTo>
                  <a:lnTo>
                    <a:pt x="2002855" y="2651"/>
                  </a:lnTo>
                  <a:lnTo>
                    <a:pt x="1947672" y="0"/>
                  </a:lnTo>
                  <a:close/>
                </a:path>
              </a:pathLst>
            </a:custGeom>
            <a:solidFill>
              <a:srgbClr val="DFCDE3"/>
            </a:solidFill>
          </p:spPr>
          <p:txBody>
            <a:bodyPr wrap="square" lIns="0" tIns="0" rIns="0" bIns="0" rtlCol="0"/>
            <a:lstStyle/>
            <a:p>
              <a:endParaRPr/>
            </a:p>
          </p:txBody>
        </p:sp>
        <p:sp>
          <p:nvSpPr>
            <p:cNvPr id="48" name="object 33">
              <a:extLst>
                <a:ext uri="{FF2B5EF4-FFF2-40B4-BE49-F238E27FC236}">
                  <a16:creationId xmlns:a16="http://schemas.microsoft.com/office/drawing/2014/main" id="{BAB46B38-D302-552E-B67D-7FDF7C15C98F}"/>
                </a:ext>
              </a:extLst>
            </p:cNvPr>
            <p:cNvSpPr/>
            <p:nvPr/>
          </p:nvSpPr>
          <p:spPr>
            <a:xfrm>
              <a:off x="3256026" y="2050542"/>
              <a:ext cx="2321560" cy="489584"/>
            </a:xfrm>
            <a:custGeom>
              <a:avLst/>
              <a:gdLst/>
              <a:ahLst/>
              <a:cxnLst/>
              <a:rect l="l" t="t" r="r" b="b"/>
              <a:pathLst>
                <a:path w="2321560" h="489585">
                  <a:moveTo>
                    <a:pt x="373379" y="0"/>
                  </a:moveTo>
                  <a:lnTo>
                    <a:pt x="1947672" y="0"/>
                  </a:lnTo>
                  <a:lnTo>
                    <a:pt x="2002855" y="2651"/>
                  </a:lnTo>
                  <a:lnTo>
                    <a:pt x="2055522" y="10353"/>
                  </a:lnTo>
                  <a:lnTo>
                    <a:pt x="2105095" y="22727"/>
                  </a:lnTo>
                  <a:lnTo>
                    <a:pt x="2150997" y="39397"/>
                  </a:lnTo>
                  <a:lnTo>
                    <a:pt x="2192651" y="59983"/>
                  </a:lnTo>
                  <a:lnTo>
                    <a:pt x="2229480" y="84109"/>
                  </a:lnTo>
                  <a:lnTo>
                    <a:pt x="2260907" y="111396"/>
                  </a:lnTo>
                  <a:lnTo>
                    <a:pt x="2286354" y="141467"/>
                  </a:lnTo>
                  <a:lnTo>
                    <a:pt x="2317004" y="208447"/>
                  </a:lnTo>
                  <a:lnTo>
                    <a:pt x="2321052" y="244601"/>
                  </a:lnTo>
                  <a:lnTo>
                    <a:pt x="2317004" y="280756"/>
                  </a:lnTo>
                  <a:lnTo>
                    <a:pt x="2286354" y="347736"/>
                  </a:lnTo>
                  <a:lnTo>
                    <a:pt x="2260907" y="377807"/>
                  </a:lnTo>
                  <a:lnTo>
                    <a:pt x="2229480" y="405094"/>
                  </a:lnTo>
                  <a:lnTo>
                    <a:pt x="2192651" y="429220"/>
                  </a:lnTo>
                  <a:lnTo>
                    <a:pt x="2150997" y="449806"/>
                  </a:lnTo>
                  <a:lnTo>
                    <a:pt x="2105095" y="466476"/>
                  </a:lnTo>
                  <a:lnTo>
                    <a:pt x="2055522" y="478850"/>
                  </a:lnTo>
                  <a:lnTo>
                    <a:pt x="2002855" y="486552"/>
                  </a:lnTo>
                  <a:lnTo>
                    <a:pt x="1947672" y="489203"/>
                  </a:lnTo>
                  <a:lnTo>
                    <a:pt x="373379" y="489203"/>
                  </a:lnTo>
                  <a:lnTo>
                    <a:pt x="318196" y="486552"/>
                  </a:lnTo>
                  <a:lnTo>
                    <a:pt x="265529" y="478850"/>
                  </a:lnTo>
                  <a:lnTo>
                    <a:pt x="215956" y="466476"/>
                  </a:lnTo>
                  <a:lnTo>
                    <a:pt x="170054" y="449806"/>
                  </a:lnTo>
                  <a:lnTo>
                    <a:pt x="128400" y="429220"/>
                  </a:lnTo>
                  <a:lnTo>
                    <a:pt x="91571" y="405094"/>
                  </a:lnTo>
                  <a:lnTo>
                    <a:pt x="60144" y="377807"/>
                  </a:lnTo>
                  <a:lnTo>
                    <a:pt x="34697" y="347736"/>
                  </a:lnTo>
                  <a:lnTo>
                    <a:pt x="4047" y="280756"/>
                  </a:lnTo>
                  <a:lnTo>
                    <a:pt x="0" y="244601"/>
                  </a:lnTo>
                  <a:lnTo>
                    <a:pt x="4047" y="208447"/>
                  </a:lnTo>
                  <a:lnTo>
                    <a:pt x="34697" y="141467"/>
                  </a:lnTo>
                  <a:lnTo>
                    <a:pt x="60144" y="111396"/>
                  </a:lnTo>
                  <a:lnTo>
                    <a:pt x="91571" y="84109"/>
                  </a:lnTo>
                  <a:lnTo>
                    <a:pt x="128400" y="59983"/>
                  </a:lnTo>
                  <a:lnTo>
                    <a:pt x="170054" y="39397"/>
                  </a:lnTo>
                  <a:lnTo>
                    <a:pt x="215956" y="22727"/>
                  </a:lnTo>
                  <a:lnTo>
                    <a:pt x="265529" y="10353"/>
                  </a:lnTo>
                  <a:lnTo>
                    <a:pt x="318196" y="2651"/>
                  </a:lnTo>
                  <a:lnTo>
                    <a:pt x="373379" y="0"/>
                  </a:lnTo>
                  <a:close/>
                </a:path>
              </a:pathLst>
            </a:custGeom>
            <a:ln w="28956">
              <a:solidFill>
                <a:srgbClr val="000000"/>
              </a:solidFill>
            </a:ln>
          </p:spPr>
          <p:txBody>
            <a:bodyPr wrap="square" lIns="0" tIns="0" rIns="0" bIns="0" rtlCol="0"/>
            <a:lstStyle/>
            <a:p>
              <a:endParaRPr/>
            </a:p>
          </p:txBody>
        </p:sp>
      </p:grpSp>
      <p:sp>
        <p:nvSpPr>
          <p:cNvPr id="49" name="object 34">
            <a:extLst>
              <a:ext uri="{FF2B5EF4-FFF2-40B4-BE49-F238E27FC236}">
                <a16:creationId xmlns:a16="http://schemas.microsoft.com/office/drawing/2014/main" id="{7CED4641-3B2B-C19E-F81E-7B731BBA65CF}"/>
              </a:ext>
            </a:extLst>
          </p:cNvPr>
          <p:cNvSpPr txBox="1"/>
          <p:nvPr/>
        </p:nvSpPr>
        <p:spPr>
          <a:xfrm>
            <a:off x="3524389" y="2321226"/>
            <a:ext cx="1978789" cy="382156"/>
          </a:xfrm>
          <a:prstGeom prst="rect">
            <a:avLst/>
          </a:prstGeom>
        </p:spPr>
        <p:txBody>
          <a:bodyPr vert="horz" wrap="square" lIns="0" tIns="12700" rIns="0" bIns="0" rtlCol="0">
            <a:spAutoFit/>
          </a:bodyPr>
          <a:lstStyle>
            <a:defPPr>
              <a:defRPr lang="fr-FR"/>
            </a:defPPr>
            <a:lvl1pPr marL="241300" marR="5080" indent="-228600">
              <a:lnSpc>
                <a:spcPct val="100000"/>
              </a:lnSpc>
              <a:spcBef>
                <a:spcPts val="100"/>
              </a:spcBef>
              <a:defRPr sz="1200" b="1">
                <a:latin typeface="Bookman Old Style" panose="02050604050505020204" pitchFamily="18" charset="0"/>
                <a:cs typeface="Times New Roman"/>
              </a:defRPr>
            </a:lvl1pPr>
          </a:lstStyle>
          <a:p>
            <a:r>
              <a:rPr dirty="0"/>
              <a:t>Déterminer la tension de Thévenin</a:t>
            </a:r>
          </a:p>
        </p:txBody>
      </p:sp>
      <p:sp>
        <p:nvSpPr>
          <p:cNvPr id="50" name="object 35">
            <a:extLst>
              <a:ext uri="{FF2B5EF4-FFF2-40B4-BE49-F238E27FC236}">
                <a16:creationId xmlns:a16="http://schemas.microsoft.com/office/drawing/2014/main" id="{A6974A6C-8065-CEB2-DB39-9D8D12151921}"/>
              </a:ext>
            </a:extLst>
          </p:cNvPr>
          <p:cNvSpPr txBox="1"/>
          <p:nvPr/>
        </p:nvSpPr>
        <p:spPr>
          <a:xfrm>
            <a:off x="473799" y="2896859"/>
            <a:ext cx="2071980" cy="182101"/>
          </a:xfrm>
          <a:prstGeom prst="rect">
            <a:avLst/>
          </a:prstGeom>
        </p:spPr>
        <p:txBody>
          <a:bodyPr vert="horz" wrap="square" lIns="0" tIns="12700" rIns="0" bIns="0" rtlCol="0">
            <a:spAutoFit/>
          </a:bodyPr>
          <a:lstStyle/>
          <a:p>
            <a:pPr marL="299085" indent="-286385">
              <a:lnSpc>
                <a:spcPct val="100000"/>
              </a:lnSpc>
              <a:spcBef>
                <a:spcPts val="100"/>
              </a:spcBef>
              <a:buFont typeface="Arial MT"/>
              <a:buChar char="•"/>
              <a:tabLst>
                <a:tab pos="299085" algn="l"/>
              </a:tabLst>
            </a:pPr>
            <a:r>
              <a:rPr sz="1100" b="1" dirty="0">
                <a:solidFill>
                  <a:srgbClr val="FF0000"/>
                </a:solidFill>
                <a:latin typeface="Bookman Old Style" panose="02050604050505020204" pitchFamily="18" charset="0"/>
                <a:cs typeface="Times New Roman"/>
              </a:rPr>
              <a:t>Débrancher</a:t>
            </a:r>
            <a:r>
              <a:rPr sz="1100" b="1" spc="-4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la</a:t>
            </a:r>
            <a:r>
              <a:rPr sz="1100" b="1" spc="-35" dirty="0">
                <a:solidFill>
                  <a:srgbClr val="FF0000"/>
                </a:solidFill>
                <a:latin typeface="Bookman Old Style" panose="02050604050505020204" pitchFamily="18" charset="0"/>
                <a:cs typeface="Times New Roman"/>
              </a:rPr>
              <a:t> </a:t>
            </a:r>
            <a:r>
              <a:rPr sz="1100" b="1" spc="-10" dirty="0">
                <a:solidFill>
                  <a:srgbClr val="FF0000"/>
                </a:solidFill>
                <a:latin typeface="Bookman Old Style" panose="02050604050505020204" pitchFamily="18" charset="0"/>
                <a:cs typeface="Times New Roman"/>
              </a:rPr>
              <a:t>charge</a:t>
            </a:r>
            <a:endParaRPr sz="1100" dirty="0">
              <a:latin typeface="Bookman Old Style" panose="02050604050505020204" pitchFamily="18" charset="0"/>
              <a:cs typeface="Times New Roman"/>
            </a:endParaRPr>
          </a:p>
        </p:txBody>
      </p:sp>
      <p:sp>
        <p:nvSpPr>
          <p:cNvPr id="51" name="object 36">
            <a:extLst>
              <a:ext uri="{FF2B5EF4-FFF2-40B4-BE49-F238E27FC236}">
                <a16:creationId xmlns:a16="http://schemas.microsoft.com/office/drawing/2014/main" id="{222E249E-AF5B-8F7B-7D7B-B6C8817F6FAD}"/>
              </a:ext>
            </a:extLst>
          </p:cNvPr>
          <p:cNvSpPr txBox="1"/>
          <p:nvPr/>
        </p:nvSpPr>
        <p:spPr>
          <a:xfrm>
            <a:off x="473799" y="3262619"/>
            <a:ext cx="2242185" cy="351378"/>
          </a:xfrm>
          <a:prstGeom prst="rect">
            <a:avLst/>
          </a:prstGeom>
        </p:spPr>
        <p:txBody>
          <a:bodyPr vert="horz" wrap="square" lIns="0" tIns="12700" rIns="0" bIns="0" rtlCol="0">
            <a:spAutoFit/>
          </a:bodyPr>
          <a:lstStyle/>
          <a:p>
            <a:pPr marL="299085" indent="-286385">
              <a:lnSpc>
                <a:spcPct val="100000"/>
              </a:lnSpc>
              <a:spcBef>
                <a:spcPts val="100"/>
              </a:spcBef>
              <a:buFont typeface="Arial MT"/>
              <a:buChar char="•"/>
              <a:tabLst>
                <a:tab pos="299085" algn="l"/>
              </a:tabLst>
            </a:pPr>
            <a:r>
              <a:rPr sz="1100" b="1" dirty="0">
                <a:solidFill>
                  <a:srgbClr val="FF0000"/>
                </a:solidFill>
                <a:latin typeface="Bookman Old Style" panose="02050604050505020204" pitchFamily="18" charset="0"/>
                <a:cs typeface="Times New Roman"/>
              </a:rPr>
              <a:t>Éteindre</a:t>
            </a:r>
            <a:r>
              <a:rPr sz="1100" b="1" spc="-4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les</a:t>
            </a:r>
            <a:r>
              <a:rPr sz="1100" b="1" spc="-2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sources</a:t>
            </a:r>
            <a:r>
              <a:rPr sz="1100" b="1" spc="-40" dirty="0">
                <a:solidFill>
                  <a:srgbClr val="FF0000"/>
                </a:solidFill>
                <a:latin typeface="Bookman Old Style" panose="02050604050505020204" pitchFamily="18" charset="0"/>
                <a:cs typeface="Times New Roman"/>
              </a:rPr>
              <a:t> </a:t>
            </a:r>
            <a:r>
              <a:rPr sz="1100" b="1" spc="-10" dirty="0">
                <a:solidFill>
                  <a:srgbClr val="FF0000"/>
                </a:solidFill>
                <a:latin typeface="Bookman Old Style" panose="02050604050505020204" pitchFamily="18" charset="0"/>
                <a:cs typeface="Times New Roman"/>
              </a:rPr>
              <a:t>d'énergie</a:t>
            </a:r>
            <a:endParaRPr sz="1100" dirty="0">
              <a:latin typeface="Bookman Old Style" panose="02050604050505020204" pitchFamily="18" charset="0"/>
              <a:cs typeface="Times New Roman"/>
            </a:endParaRPr>
          </a:p>
        </p:txBody>
      </p:sp>
      <p:sp>
        <p:nvSpPr>
          <p:cNvPr id="52" name="object 37">
            <a:extLst>
              <a:ext uri="{FF2B5EF4-FFF2-40B4-BE49-F238E27FC236}">
                <a16:creationId xmlns:a16="http://schemas.microsoft.com/office/drawing/2014/main" id="{A11AB0D2-BDD5-BB49-F371-DF445AA4E0B6}"/>
              </a:ext>
            </a:extLst>
          </p:cNvPr>
          <p:cNvSpPr txBox="1"/>
          <p:nvPr/>
        </p:nvSpPr>
        <p:spPr>
          <a:xfrm>
            <a:off x="778599" y="3628760"/>
            <a:ext cx="2497455" cy="351378"/>
          </a:xfrm>
          <a:prstGeom prst="rect">
            <a:avLst/>
          </a:prstGeom>
        </p:spPr>
        <p:txBody>
          <a:bodyPr vert="horz" wrap="square" lIns="0" tIns="12700" rIns="0" bIns="0" rtlCol="0">
            <a:spAutoFit/>
          </a:bodyPr>
          <a:lstStyle/>
          <a:p>
            <a:pPr marL="137160" indent="-124460">
              <a:lnSpc>
                <a:spcPct val="100000"/>
              </a:lnSpc>
              <a:spcBef>
                <a:spcPts val="100"/>
              </a:spcBef>
              <a:buChar char="&gt;"/>
              <a:tabLst>
                <a:tab pos="137160" algn="l"/>
              </a:tabLst>
            </a:pPr>
            <a:r>
              <a:rPr sz="1100" b="1" dirty="0">
                <a:solidFill>
                  <a:srgbClr val="2C3D50"/>
                </a:solidFill>
                <a:latin typeface="Bookman Old Style" panose="02050604050505020204" pitchFamily="18" charset="0"/>
                <a:cs typeface="Times New Roman"/>
              </a:rPr>
              <a:t>Source</a:t>
            </a:r>
            <a:r>
              <a:rPr sz="1100" b="1" spc="-5" dirty="0">
                <a:solidFill>
                  <a:srgbClr val="2C3D50"/>
                </a:solidFill>
                <a:latin typeface="Bookman Old Style" panose="02050604050505020204" pitchFamily="18" charset="0"/>
                <a:cs typeface="Times New Roman"/>
              </a:rPr>
              <a:t> </a:t>
            </a:r>
            <a:r>
              <a:rPr sz="1100" b="1" dirty="0">
                <a:solidFill>
                  <a:srgbClr val="2C3D50"/>
                </a:solidFill>
                <a:latin typeface="Bookman Old Style" panose="02050604050505020204" pitchFamily="18" charset="0"/>
                <a:cs typeface="Times New Roman"/>
              </a:rPr>
              <a:t>de</a:t>
            </a:r>
            <a:r>
              <a:rPr sz="1100" b="1" spc="-20" dirty="0">
                <a:solidFill>
                  <a:srgbClr val="2C3D50"/>
                </a:solidFill>
                <a:latin typeface="Bookman Old Style" panose="02050604050505020204" pitchFamily="18" charset="0"/>
                <a:cs typeface="Times New Roman"/>
              </a:rPr>
              <a:t> </a:t>
            </a:r>
            <a:r>
              <a:rPr sz="1100" b="1" dirty="0">
                <a:solidFill>
                  <a:srgbClr val="2C3D50"/>
                </a:solidFill>
                <a:latin typeface="Bookman Old Style" panose="02050604050505020204" pitchFamily="18" charset="0"/>
                <a:cs typeface="Times New Roman"/>
              </a:rPr>
              <a:t>tension</a:t>
            </a:r>
            <a:r>
              <a:rPr sz="1100" b="1" spc="-5" dirty="0">
                <a:solidFill>
                  <a:srgbClr val="2C3D50"/>
                </a:solidFill>
                <a:latin typeface="Bookman Old Style" panose="02050604050505020204" pitchFamily="18" charset="0"/>
                <a:cs typeface="Times New Roman"/>
              </a:rPr>
              <a:t> </a:t>
            </a:r>
            <a:r>
              <a:rPr sz="1100" b="1" dirty="0" err="1">
                <a:solidFill>
                  <a:schemeClr val="accent2"/>
                </a:solidFill>
                <a:latin typeface="Bookman Old Style" panose="02050604050505020204" pitchFamily="18" charset="0"/>
                <a:cs typeface="Times New Roman"/>
              </a:rPr>
              <a:t>Equi</a:t>
            </a:r>
            <a:r>
              <a:rPr sz="1100" b="1" spc="-35" dirty="0">
                <a:solidFill>
                  <a:srgbClr val="FF00FF"/>
                </a:solidFill>
                <a:latin typeface="Bookman Old Style" panose="02050604050505020204" pitchFamily="18" charset="0"/>
                <a:cs typeface="Times New Roman"/>
              </a:rPr>
              <a:t> </a:t>
            </a:r>
            <a:r>
              <a:rPr sz="1100" b="1" spc="-10" dirty="0">
                <a:solidFill>
                  <a:srgbClr val="2C3D50"/>
                </a:solidFill>
                <a:latin typeface="Bookman Old Style" panose="02050604050505020204" pitchFamily="18" charset="0"/>
                <a:cs typeface="Times New Roman"/>
              </a:rPr>
              <a:t>court-circuit</a:t>
            </a:r>
            <a:endParaRPr sz="1100" dirty="0">
              <a:latin typeface="Bookman Old Style" panose="02050604050505020204" pitchFamily="18" charset="0"/>
              <a:cs typeface="Times New Roman"/>
            </a:endParaRPr>
          </a:p>
        </p:txBody>
      </p:sp>
      <p:sp>
        <p:nvSpPr>
          <p:cNvPr id="53" name="object 38">
            <a:extLst>
              <a:ext uri="{FF2B5EF4-FFF2-40B4-BE49-F238E27FC236}">
                <a16:creationId xmlns:a16="http://schemas.microsoft.com/office/drawing/2014/main" id="{A4843965-5032-9A7C-3769-CD144E4B454F}"/>
              </a:ext>
            </a:extLst>
          </p:cNvPr>
          <p:cNvSpPr txBox="1"/>
          <p:nvPr/>
        </p:nvSpPr>
        <p:spPr>
          <a:xfrm>
            <a:off x="740499" y="4177375"/>
            <a:ext cx="2506980" cy="351378"/>
          </a:xfrm>
          <a:prstGeom prst="rect">
            <a:avLst/>
          </a:prstGeom>
        </p:spPr>
        <p:txBody>
          <a:bodyPr vert="horz" wrap="square" lIns="0" tIns="12700" rIns="0" bIns="0" rtlCol="0">
            <a:spAutoFit/>
          </a:bodyPr>
          <a:lstStyle/>
          <a:p>
            <a:pPr marL="135890" indent="-123189">
              <a:lnSpc>
                <a:spcPct val="100000"/>
              </a:lnSpc>
              <a:spcBef>
                <a:spcPts val="100"/>
              </a:spcBef>
              <a:buFont typeface="Times New Roman"/>
              <a:buChar char="&gt;"/>
              <a:tabLst>
                <a:tab pos="135890" algn="l"/>
              </a:tabLst>
            </a:pPr>
            <a:r>
              <a:rPr sz="1100" b="1" dirty="0">
                <a:solidFill>
                  <a:srgbClr val="2C3D50"/>
                </a:solidFill>
                <a:latin typeface="Bookman Old Style" panose="02050604050505020204" pitchFamily="18" charset="0"/>
                <a:cs typeface="Times New Roman"/>
              </a:rPr>
              <a:t>Source</a:t>
            </a:r>
            <a:r>
              <a:rPr sz="1100" b="1" spc="-5" dirty="0">
                <a:solidFill>
                  <a:srgbClr val="2C3D50"/>
                </a:solidFill>
                <a:latin typeface="Bookman Old Style" panose="02050604050505020204" pitchFamily="18" charset="0"/>
                <a:cs typeface="Times New Roman"/>
              </a:rPr>
              <a:t> </a:t>
            </a:r>
            <a:r>
              <a:rPr sz="1100" b="1" dirty="0">
                <a:solidFill>
                  <a:srgbClr val="2C3D50"/>
                </a:solidFill>
                <a:latin typeface="Bookman Old Style" panose="02050604050505020204" pitchFamily="18" charset="0"/>
                <a:cs typeface="Times New Roman"/>
              </a:rPr>
              <a:t>de</a:t>
            </a:r>
            <a:r>
              <a:rPr sz="1100" b="1" spc="-20" dirty="0">
                <a:solidFill>
                  <a:srgbClr val="2C3D50"/>
                </a:solidFill>
                <a:latin typeface="Bookman Old Style" panose="02050604050505020204" pitchFamily="18" charset="0"/>
                <a:cs typeface="Times New Roman"/>
              </a:rPr>
              <a:t> </a:t>
            </a:r>
            <a:r>
              <a:rPr sz="1100" b="1" dirty="0">
                <a:solidFill>
                  <a:srgbClr val="2C3D50"/>
                </a:solidFill>
                <a:latin typeface="Bookman Old Style" panose="02050604050505020204" pitchFamily="18" charset="0"/>
                <a:cs typeface="Times New Roman"/>
              </a:rPr>
              <a:t>courant</a:t>
            </a:r>
            <a:r>
              <a:rPr sz="1100" b="1" spc="-5" dirty="0">
                <a:solidFill>
                  <a:srgbClr val="2C3D50"/>
                </a:solidFill>
                <a:latin typeface="Bookman Old Style" panose="02050604050505020204" pitchFamily="18" charset="0"/>
                <a:cs typeface="Times New Roman"/>
              </a:rPr>
              <a:t> </a:t>
            </a:r>
            <a:r>
              <a:rPr sz="1100" b="1" dirty="0">
                <a:solidFill>
                  <a:schemeClr val="accent2"/>
                </a:solidFill>
                <a:latin typeface="Bookman Old Style" panose="02050604050505020204" pitchFamily="18" charset="0"/>
                <a:cs typeface="Times New Roman"/>
              </a:rPr>
              <a:t>Equi</a:t>
            </a:r>
            <a:r>
              <a:rPr sz="1100" b="1" spc="-30" dirty="0">
                <a:solidFill>
                  <a:schemeClr val="accent2"/>
                </a:solidFill>
                <a:latin typeface="Bookman Old Style" panose="02050604050505020204" pitchFamily="18" charset="0"/>
                <a:cs typeface="Times New Roman"/>
              </a:rPr>
              <a:t> </a:t>
            </a:r>
            <a:r>
              <a:rPr sz="1100" b="1" spc="-10" dirty="0">
                <a:solidFill>
                  <a:srgbClr val="2C3D50"/>
                </a:solidFill>
                <a:latin typeface="Bookman Old Style" panose="02050604050505020204" pitchFamily="18" charset="0"/>
                <a:cs typeface="Times New Roman"/>
              </a:rPr>
              <a:t>coup-circuit</a:t>
            </a:r>
            <a:endParaRPr sz="1100" dirty="0">
              <a:latin typeface="Bookman Old Style" panose="02050604050505020204" pitchFamily="18" charset="0"/>
              <a:cs typeface="Times New Roman"/>
            </a:endParaRPr>
          </a:p>
        </p:txBody>
      </p:sp>
      <p:sp>
        <p:nvSpPr>
          <p:cNvPr id="54" name="object 39">
            <a:extLst>
              <a:ext uri="{FF2B5EF4-FFF2-40B4-BE49-F238E27FC236}">
                <a16:creationId xmlns:a16="http://schemas.microsoft.com/office/drawing/2014/main" id="{90BF6D90-87DF-D3ED-93A0-C77A61EBD4D2}"/>
              </a:ext>
            </a:extLst>
          </p:cNvPr>
          <p:cNvSpPr txBox="1"/>
          <p:nvPr/>
        </p:nvSpPr>
        <p:spPr>
          <a:xfrm>
            <a:off x="3365516" y="2895625"/>
            <a:ext cx="3176904" cy="182101"/>
          </a:xfrm>
          <a:prstGeom prst="rect">
            <a:avLst/>
          </a:prstGeom>
        </p:spPr>
        <p:txBody>
          <a:bodyPr vert="horz" wrap="square" lIns="0" tIns="12700" rIns="0" bIns="0" rtlCol="0">
            <a:spAutoFit/>
          </a:bodyPr>
          <a:lstStyle/>
          <a:p>
            <a:pPr marL="299085" indent="-286385">
              <a:lnSpc>
                <a:spcPct val="100000"/>
              </a:lnSpc>
              <a:spcBef>
                <a:spcPts val="100"/>
              </a:spcBef>
              <a:buFont typeface="Arial MT"/>
              <a:buChar char="•"/>
              <a:tabLst>
                <a:tab pos="299085" algn="l"/>
              </a:tabLst>
            </a:pPr>
            <a:r>
              <a:rPr sz="1100" b="1" dirty="0">
                <a:solidFill>
                  <a:srgbClr val="FF0000"/>
                </a:solidFill>
                <a:latin typeface="Bookman Old Style" panose="02050604050505020204" pitchFamily="18" charset="0"/>
                <a:cs typeface="Times New Roman"/>
              </a:rPr>
              <a:t>Débrancher</a:t>
            </a:r>
            <a:r>
              <a:rPr sz="1100" b="1" spc="-3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la</a:t>
            </a:r>
            <a:r>
              <a:rPr sz="1100" b="1" spc="-3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charge</a:t>
            </a:r>
            <a:r>
              <a:rPr sz="1100" b="1" spc="-1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(tension</a:t>
            </a:r>
            <a:r>
              <a:rPr sz="1100" b="1" spc="-1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a</a:t>
            </a:r>
            <a:r>
              <a:rPr sz="1100" b="1" spc="-15" dirty="0">
                <a:solidFill>
                  <a:srgbClr val="FF0000"/>
                </a:solidFill>
                <a:latin typeface="Bookman Old Style" panose="02050604050505020204" pitchFamily="18" charset="0"/>
                <a:cs typeface="Times New Roman"/>
              </a:rPr>
              <a:t> </a:t>
            </a:r>
            <a:r>
              <a:rPr sz="1100" b="1" spc="-20" dirty="0">
                <a:solidFill>
                  <a:srgbClr val="FF0000"/>
                </a:solidFill>
                <a:latin typeface="Bookman Old Style" panose="02050604050505020204" pitchFamily="18" charset="0"/>
                <a:cs typeface="Times New Roman"/>
              </a:rPr>
              <a:t>vide)</a:t>
            </a:r>
            <a:endParaRPr sz="1100" dirty="0">
              <a:latin typeface="Bookman Old Style" panose="02050604050505020204" pitchFamily="18" charset="0"/>
              <a:cs typeface="Times New Roman"/>
            </a:endParaRPr>
          </a:p>
        </p:txBody>
      </p:sp>
      <p:sp>
        <p:nvSpPr>
          <p:cNvPr id="55" name="object 40">
            <a:extLst>
              <a:ext uri="{FF2B5EF4-FFF2-40B4-BE49-F238E27FC236}">
                <a16:creationId xmlns:a16="http://schemas.microsoft.com/office/drawing/2014/main" id="{3CC8AD80-4666-6B42-A389-42601CF7EC41}"/>
              </a:ext>
            </a:extLst>
          </p:cNvPr>
          <p:cNvSpPr txBox="1"/>
          <p:nvPr/>
        </p:nvSpPr>
        <p:spPr>
          <a:xfrm>
            <a:off x="3292754" y="3210611"/>
            <a:ext cx="2924595" cy="351378"/>
          </a:xfrm>
          <a:prstGeom prst="rect">
            <a:avLst/>
          </a:prstGeom>
        </p:spPr>
        <p:txBody>
          <a:bodyPr vert="horz" wrap="square" lIns="0" tIns="12700" rIns="0" bIns="0" rtlCol="0">
            <a:spAutoFit/>
          </a:bodyPr>
          <a:lstStyle/>
          <a:p>
            <a:pPr marL="286385" indent="-286385" algn="ctr">
              <a:lnSpc>
                <a:spcPct val="100000"/>
              </a:lnSpc>
              <a:spcBef>
                <a:spcPts val="100"/>
              </a:spcBef>
              <a:buFont typeface="Arial MT"/>
              <a:buChar char="•"/>
              <a:tabLst>
                <a:tab pos="286385" algn="l"/>
              </a:tabLst>
            </a:pPr>
            <a:r>
              <a:rPr sz="1100" b="1" dirty="0">
                <a:solidFill>
                  <a:srgbClr val="FF0000"/>
                </a:solidFill>
                <a:latin typeface="Bookman Old Style" panose="02050604050505020204" pitchFamily="18" charset="0"/>
                <a:cs typeface="Times New Roman"/>
              </a:rPr>
              <a:t>Appliquer</a:t>
            </a:r>
            <a:r>
              <a:rPr sz="1100" b="1" spc="-6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différent</a:t>
            </a:r>
            <a:r>
              <a:rPr sz="1100" b="1" spc="-1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outil</a:t>
            </a:r>
            <a:r>
              <a:rPr sz="1100" b="1" spc="-1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de</a:t>
            </a:r>
            <a:r>
              <a:rPr sz="1100" b="1" spc="-15" dirty="0">
                <a:solidFill>
                  <a:srgbClr val="FF0000"/>
                </a:solidFill>
                <a:latin typeface="Bookman Old Style" panose="02050604050505020204" pitchFamily="18" charset="0"/>
                <a:cs typeface="Times New Roman"/>
              </a:rPr>
              <a:t> </a:t>
            </a:r>
            <a:r>
              <a:rPr sz="1100" b="1" spc="-10" dirty="0">
                <a:solidFill>
                  <a:srgbClr val="FF0000"/>
                </a:solidFill>
                <a:latin typeface="Bookman Old Style" panose="02050604050505020204" pitchFamily="18" charset="0"/>
                <a:cs typeface="Times New Roman"/>
              </a:rPr>
              <a:t>calcule</a:t>
            </a:r>
            <a:endParaRPr sz="1100" dirty="0">
              <a:latin typeface="Bookman Old Style" panose="02050604050505020204" pitchFamily="18" charset="0"/>
              <a:cs typeface="Times New Roman"/>
            </a:endParaRPr>
          </a:p>
          <a:p>
            <a:pPr marL="22860" algn="ctr">
              <a:lnSpc>
                <a:spcPct val="100000"/>
              </a:lnSpc>
            </a:pPr>
            <a:r>
              <a:rPr sz="1100" b="1" dirty="0">
                <a:solidFill>
                  <a:srgbClr val="FF0000"/>
                </a:solidFill>
                <a:latin typeface="Bookman Old Style" panose="02050604050505020204" pitchFamily="18" charset="0"/>
                <a:cs typeface="Times New Roman"/>
              </a:rPr>
              <a:t>(Pont</a:t>
            </a:r>
            <a:r>
              <a:rPr sz="1100" b="1" spc="-1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deviseur</a:t>
            </a:r>
            <a:r>
              <a:rPr sz="1100" b="1" spc="-3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de</a:t>
            </a:r>
            <a:r>
              <a:rPr sz="1100" b="1" spc="-1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tension</a:t>
            </a:r>
            <a:r>
              <a:rPr sz="1100" b="1" spc="-20" dirty="0">
                <a:solidFill>
                  <a:srgbClr val="FF0000"/>
                </a:solidFill>
                <a:latin typeface="Bookman Old Style" panose="02050604050505020204" pitchFamily="18" charset="0"/>
                <a:cs typeface="Times New Roman"/>
              </a:rPr>
              <a:t> etc)</a:t>
            </a:r>
            <a:endParaRPr sz="1100" dirty="0">
              <a:latin typeface="Bookman Old Style" panose="02050604050505020204" pitchFamily="18" charset="0"/>
              <a:cs typeface="Times New Roman"/>
            </a:endParaRPr>
          </a:p>
        </p:txBody>
      </p:sp>
      <p:sp>
        <p:nvSpPr>
          <p:cNvPr id="56" name="object 41">
            <a:extLst>
              <a:ext uri="{FF2B5EF4-FFF2-40B4-BE49-F238E27FC236}">
                <a16:creationId xmlns:a16="http://schemas.microsoft.com/office/drawing/2014/main" id="{C93684AE-65EE-B03D-3398-86AC5B27B5CB}"/>
              </a:ext>
            </a:extLst>
          </p:cNvPr>
          <p:cNvSpPr txBox="1"/>
          <p:nvPr/>
        </p:nvSpPr>
        <p:spPr>
          <a:xfrm>
            <a:off x="6563423" y="2888350"/>
            <a:ext cx="2106778" cy="182101"/>
          </a:xfrm>
          <a:prstGeom prst="rect">
            <a:avLst/>
          </a:prstGeom>
        </p:spPr>
        <p:txBody>
          <a:bodyPr vert="horz" wrap="square" lIns="0" tIns="12700" rIns="0" bIns="0" rtlCol="0">
            <a:spAutoFit/>
          </a:bodyPr>
          <a:lstStyle/>
          <a:p>
            <a:pPr marL="299085" indent="-286385">
              <a:lnSpc>
                <a:spcPct val="100000"/>
              </a:lnSpc>
              <a:spcBef>
                <a:spcPts val="100"/>
              </a:spcBef>
              <a:buFont typeface="Arial MT"/>
              <a:buChar char="•"/>
              <a:tabLst>
                <a:tab pos="299085" algn="l"/>
              </a:tabLst>
            </a:pPr>
            <a:r>
              <a:rPr sz="1100" b="1" dirty="0">
                <a:solidFill>
                  <a:srgbClr val="FF0000"/>
                </a:solidFill>
                <a:latin typeface="Bookman Old Style" panose="02050604050505020204" pitchFamily="18" charset="0"/>
                <a:cs typeface="Times New Roman"/>
              </a:rPr>
              <a:t>Brancher</a:t>
            </a:r>
            <a:r>
              <a:rPr sz="1100" b="1" spc="-4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la</a:t>
            </a:r>
            <a:r>
              <a:rPr sz="1100" b="1" spc="-15" dirty="0">
                <a:solidFill>
                  <a:srgbClr val="FF0000"/>
                </a:solidFill>
                <a:latin typeface="Bookman Old Style" panose="02050604050505020204" pitchFamily="18" charset="0"/>
                <a:cs typeface="Times New Roman"/>
              </a:rPr>
              <a:t> </a:t>
            </a:r>
            <a:r>
              <a:rPr sz="1100" b="1" spc="-10" dirty="0">
                <a:solidFill>
                  <a:srgbClr val="FF0000"/>
                </a:solidFill>
                <a:latin typeface="Bookman Old Style" panose="02050604050505020204" pitchFamily="18" charset="0"/>
                <a:cs typeface="Times New Roman"/>
              </a:rPr>
              <a:t>charge</a:t>
            </a:r>
            <a:endParaRPr sz="1100" dirty="0">
              <a:latin typeface="Bookman Old Style" panose="02050604050505020204" pitchFamily="18" charset="0"/>
              <a:cs typeface="Times New Roman"/>
            </a:endParaRPr>
          </a:p>
        </p:txBody>
      </p:sp>
      <p:sp>
        <p:nvSpPr>
          <p:cNvPr id="57" name="object 42">
            <a:extLst>
              <a:ext uri="{FF2B5EF4-FFF2-40B4-BE49-F238E27FC236}">
                <a16:creationId xmlns:a16="http://schemas.microsoft.com/office/drawing/2014/main" id="{0F028ABE-9618-2F40-9A1E-02F049BDBA0D}"/>
              </a:ext>
            </a:extLst>
          </p:cNvPr>
          <p:cNvSpPr txBox="1"/>
          <p:nvPr/>
        </p:nvSpPr>
        <p:spPr>
          <a:xfrm>
            <a:off x="6563423" y="3301662"/>
            <a:ext cx="2497455" cy="689932"/>
          </a:xfrm>
          <a:prstGeom prst="rect">
            <a:avLst/>
          </a:prstGeom>
        </p:spPr>
        <p:txBody>
          <a:bodyPr vert="horz" wrap="square" lIns="0" tIns="12700" rIns="0" bIns="0" rtlCol="0">
            <a:spAutoFit/>
          </a:bodyPr>
          <a:lstStyle/>
          <a:p>
            <a:pPr marL="301625" marR="5080" indent="-289560" algn="just">
              <a:lnSpc>
                <a:spcPct val="100000"/>
              </a:lnSpc>
              <a:spcBef>
                <a:spcPts val="100"/>
              </a:spcBef>
              <a:buFont typeface="Arial MT"/>
              <a:buChar char="•"/>
              <a:tabLst>
                <a:tab pos="317500" algn="l"/>
              </a:tabLst>
            </a:pPr>
            <a:r>
              <a:rPr sz="1100" b="1" dirty="0">
                <a:solidFill>
                  <a:srgbClr val="FF0000"/>
                </a:solidFill>
                <a:latin typeface="Bookman Old Style" panose="02050604050505020204" pitchFamily="18" charset="0"/>
                <a:cs typeface="Times New Roman"/>
              </a:rPr>
              <a:t>Utiliser</a:t>
            </a:r>
            <a:r>
              <a:rPr sz="1100" b="1" spc="-3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de</a:t>
            </a:r>
            <a:r>
              <a:rPr sz="1100" b="1" spc="-2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tension</a:t>
            </a:r>
            <a:r>
              <a:rPr sz="1100" b="1" spc="-2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de</a:t>
            </a:r>
            <a:r>
              <a:rPr sz="1100" b="1" spc="-40" dirty="0">
                <a:solidFill>
                  <a:srgbClr val="FF0000"/>
                </a:solidFill>
                <a:latin typeface="Bookman Old Style" panose="02050604050505020204" pitchFamily="18" charset="0"/>
                <a:cs typeface="Times New Roman"/>
              </a:rPr>
              <a:t> </a:t>
            </a:r>
            <a:r>
              <a:rPr sz="1100" b="1" spc="-10" dirty="0">
                <a:solidFill>
                  <a:srgbClr val="FF0000"/>
                </a:solidFill>
                <a:latin typeface="Bookman Old Style" panose="02050604050505020204" pitchFamily="18" charset="0"/>
                <a:cs typeface="Times New Roman"/>
              </a:rPr>
              <a:t>Thévenin 	</a:t>
            </a:r>
            <a:r>
              <a:rPr sz="1100" b="1" dirty="0">
                <a:solidFill>
                  <a:srgbClr val="FF0000"/>
                </a:solidFill>
                <a:latin typeface="Bookman Old Style" panose="02050604050505020204" pitchFamily="18" charset="0"/>
                <a:cs typeface="Times New Roman"/>
              </a:rPr>
              <a:t>et</a:t>
            </a:r>
            <a:r>
              <a:rPr sz="1100" b="1" spc="-2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résistance</a:t>
            </a:r>
            <a:r>
              <a:rPr sz="1100" b="1" spc="-1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de</a:t>
            </a:r>
            <a:r>
              <a:rPr sz="1100" b="1" spc="-4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Thévenin</a:t>
            </a:r>
            <a:r>
              <a:rPr sz="1100" b="1" spc="-30" dirty="0">
                <a:solidFill>
                  <a:srgbClr val="FF0000"/>
                </a:solidFill>
                <a:latin typeface="Bookman Old Style" panose="02050604050505020204" pitchFamily="18" charset="0"/>
                <a:cs typeface="Times New Roman"/>
              </a:rPr>
              <a:t> </a:t>
            </a:r>
            <a:r>
              <a:rPr sz="1100" b="1" spc="-20" dirty="0">
                <a:solidFill>
                  <a:srgbClr val="FF0000"/>
                </a:solidFill>
                <a:latin typeface="Bookman Old Style" panose="02050604050505020204" pitchFamily="18" charset="0"/>
                <a:cs typeface="Times New Roman"/>
              </a:rPr>
              <a:t>pour 	</a:t>
            </a:r>
            <a:r>
              <a:rPr sz="1100" b="1" dirty="0">
                <a:solidFill>
                  <a:srgbClr val="FF0000"/>
                </a:solidFill>
                <a:latin typeface="Bookman Old Style" panose="02050604050505020204" pitchFamily="18" charset="0"/>
                <a:cs typeface="Times New Roman"/>
              </a:rPr>
              <a:t>former</a:t>
            </a:r>
            <a:r>
              <a:rPr sz="1100" b="1" spc="-3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le</a:t>
            </a:r>
            <a:r>
              <a:rPr sz="1100" b="1" spc="-3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circuit</a:t>
            </a:r>
            <a:r>
              <a:rPr sz="1100" b="1" spc="-1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a:t>
            </a:r>
            <a:r>
              <a:rPr sz="1100" b="1" spc="-3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simple</a:t>
            </a:r>
            <a:r>
              <a:rPr sz="1100" b="1" spc="-30" dirty="0">
                <a:solidFill>
                  <a:srgbClr val="FF0000"/>
                </a:solidFill>
                <a:latin typeface="Bookman Old Style" panose="02050604050505020204" pitchFamily="18" charset="0"/>
                <a:cs typeface="Times New Roman"/>
              </a:rPr>
              <a:t> </a:t>
            </a:r>
            <a:r>
              <a:rPr sz="1100" b="1" spc="-50" dirty="0">
                <a:solidFill>
                  <a:srgbClr val="FF0000"/>
                </a:solidFill>
                <a:latin typeface="Bookman Old Style" panose="02050604050505020204" pitchFamily="18" charset="0"/>
                <a:cs typeface="Times New Roman"/>
              </a:rPr>
              <a:t>»</a:t>
            </a:r>
            <a:endParaRPr sz="1100" dirty="0">
              <a:latin typeface="Bookman Old Style" panose="02050604050505020204" pitchFamily="18" charset="0"/>
              <a:cs typeface="Times New Roman"/>
            </a:endParaRPr>
          </a:p>
        </p:txBody>
      </p:sp>
      <p:grpSp>
        <p:nvGrpSpPr>
          <p:cNvPr id="58" name="object 43">
            <a:extLst>
              <a:ext uri="{FF2B5EF4-FFF2-40B4-BE49-F238E27FC236}">
                <a16:creationId xmlns:a16="http://schemas.microsoft.com/office/drawing/2014/main" id="{6E4B3D51-13D2-93F6-DCE2-B25426365C4C}"/>
              </a:ext>
            </a:extLst>
          </p:cNvPr>
          <p:cNvGrpSpPr/>
          <p:nvPr/>
        </p:nvGrpSpPr>
        <p:grpSpPr>
          <a:xfrm>
            <a:off x="1579817" y="3652761"/>
            <a:ext cx="1269492" cy="1338328"/>
            <a:chOff x="1592580" y="3422647"/>
            <a:chExt cx="1269492" cy="1338328"/>
          </a:xfrm>
        </p:grpSpPr>
        <p:pic>
          <p:nvPicPr>
            <p:cNvPr id="59" name="object 44">
              <a:extLst>
                <a:ext uri="{FF2B5EF4-FFF2-40B4-BE49-F238E27FC236}">
                  <a16:creationId xmlns:a16="http://schemas.microsoft.com/office/drawing/2014/main" id="{D0E3236B-AE3E-6E2D-D192-DED4FC2452B2}"/>
                </a:ext>
              </a:extLst>
            </p:cNvPr>
            <p:cNvPicPr/>
            <p:nvPr/>
          </p:nvPicPr>
          <p:blipFill>
            <a:blip r:embed="rId3" cstate="print"/>
            <a:stretch>
              <a:fillRect/>
            </a:stretch>
          </p:blipFill>
          <p:spPr>
            <a:xfrm>
              <a:off x="1592580" y="4059935"/>
              <a:ext cx="1257300" cy="701040"/>
            </a:xfrm>
            <a:prstGeom prst="rect">
              <a:avLst/>
            </a:prstGeom>
          </p:spPr>
        </p:pic>
        <p:pic>
          <p:nvPicPr>
            <p:cNvPr id="60" name="object 45">
              <a:extLst>
                <a:ext uri="{FF2B5EF4-FFF2-40B4-BE49-F238E27FC236}">
                  <a16:creationId xmlns:a16="http://schemas.microsoft.com/office/drawing/2014/main" id="{9324F98C-E17C-B051-B0F1-5607239C03E2}"/>
                </a:ext>
              </a:extLst>
            </p:cNvPr>
            <p:cNvPicPr/>
            <p:nvPr/>
          </p:nvPicPr>
          <p:blipFill>
            <a:blip r:embed="rId4" cstate="print"/>
            <a:stretch>
              <a:fillRect/>
            </a:stretch>
          </p:blipFill>
          <p:spPr>
            <a:xfrm>
              <a:off x="1697736" y="3422647"/>
              <a:ext cx="1164336" cy="649223"/>
            </a:xfrm>
            <a:prstGeom prst="rect">
              <a:avLst/>
            </a:prstGeom>
          </p:spPr>
        </p:pic>
      </p:grpSp>
      <p:sp>
        <p:nvSpPr>
          <p:cNvPr id="62" name="TextBox 61">
            <a:extLst>
              <a:ext uri="{FF2B5EF4-FFF2-40B4-BE49-F238E27FC236}">
                <a16:creationId xmlns:a16="http://schemas.microsoft.com/office/drawing/2014/main" id="{7824BEA4-CA66-E9E5-7B2E-37F081D57A30}"/>
              </a:ext>
            </a:extLst>
          </p:cNvPr>
          <p:cNvSpPr txBox="1"/>
          <p:nvPr/>
        </p:nvSpPr>
        <p:spPr>
          <a:xfrm>
            <a:off x="4031621" y="1663420"/>
            <a:ext cx="1547883" cy="338554"/>
          </a:xfrm>
          <a:prstGeom prst="rect">
            <a:avLst/>
          </a:prstGeom>
          <a:noFill/>
        </p:spPr>
        <p:txBody>
          <a:bodyPr wrap="square">
            <a:spAutoFit/>
          </a:bodyPr>
          <a:lstStyle/>
          <a:p>
            <a:r>
              <a:rPr lang="fr-FR" sz="1600" b="1" spc="-10" dirty="0">
                <a:latin typeface="Bookman Old Style" panose="02050604050505020204" pitchFamily="18" charset="0"/>
                <a:cs typeface="Times New Roman"/>
              </a:rPr>
              <a:t>Etapes</a:t>
            </a:r>
            <a:endParaRPr lang="fr-FR" sz="1600" dirty="0">
              <a:latin typeface="Bookman Old Style" panose="02050604050505020204" pitchFamily="18" charset="0"/>
            </a:endParaRPr>
          </a:p>
        </p:txBody>
      </p:sp>
    </p:spTree>
    <p:extLst>
      <p:ext uri="{BB962C8B-B14F-4D97-AF65-F5344CB8AC3E}">
        <p14:creationId xmlns:p14="http://schemas.microsoft.com/office/powerpoint/2010/main" val="3447146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1000"/>
                                        <p:tgtEl>
                                          <p:spTgt spid="17"/>
                                        </p:tgtEl>
                                      </p:cBhvr>
                                    </p:animEffect>
                                    <p:anim calcmode="lin" valueType="num">
                                      <p:cBhvr>
                                        <p:cTn id="8" dur="1000" fill="hold"/>
                                        <p:tgtEl>
                                          <p:spTgt spid="17"/>
                                        </p:tgtEl>
                                        <p:attrNameLst>
                                          <p:attrName>ppt_x</p:attrName>
                                        </p:attrNameLst>
                                      </p:cBhvr>
                                      <p:tavLst>
                                        <p:tav tm="0">
                                          <p:val>
                                            <p:strVal val="#ppt_x"/>
                                          </p:val>
                                        </p:tav>
                                        <p:tav tm="100000">
                                          <p:val>
                                            <p:strVal val="#ppt_x"/>
                                          </p:val>
                                        </p:tav>
                                      </p:tavLst>
                                    </p:anim>
                                    <p:anim calcmode="lin" valueType="num">
                                      <p:cBhvr>
                                        <p:cTn id="9" dur="1000" fill="hold"/>
                                        <p:tgtEl>
                                          <p:spTgt spid="1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anim calcmode="lin" valueType="num">
                                      <p:cBhvr>
                                        <p:cTn id="13" dur="1000" fill="hold"/>
                                        <p:tgtEl>
                                          <p:spTgt spid="22"/>
                                        </p:tgtEl>
                                        <p:attrNameLst>
                                          <p:attrName>ppt_x</p:attrName>
                                        </p:attrNameLst>
                                      </p:cBhvr>
                                      <p:tavLst>
                                        <p:tav tm="0">
                                          <p:val>
                                            <p:strVal val="#ppt_x"/>
                                          </p:val>
                                        </p:tav>
                                        <p:tav tm="100000">
                                          <p:val>
                                            <p:strVal val="#ppt_x"/>
                                          </p:val>
                                        </p:tav>
                                      </p:tavLst>
                                    </p:anim>
                                    <p:anim calcmode="lin" valueType="num">
                                      <p:cBhvr>
                                        <p:cTn id="14" dur="1000" fill="hold"/>
                                        <p:tgtEl>
                                          <p:spTgt spid="22"/>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0"/>
                                        </p:tgtEl>
                                        <p:attrNameLst>
                                          <p:attrName>style.visibility</p:attrName>
                                        </p:attrNameLst>
                                      </p:cBhvr>
                                      <p:to>
                                        <p:strVal val="visible"/>
                                      </p:to>
                                    </p:set>
                                    <p:animEffect transition="in" filter="fade">
                                      <p:cBhvr>
                                        <p:cTn id="17" dur="1000"/>
                                        <p:tgtEl>
                                          <p:spTgt spid="50"/>
                                        </p:tgtEl>
                                      </p:cBhvr>
                                    </p:animEffect>
                                    <p:anim calcmode="lin" valueType="num">
                                      <p:cBhvr>
                                        <p:cTn id="18" dur="1000" fill="hold"/>
                                        <p:tgtEl>
                                          <p:spTgt spid="50"/>
                                        </p:tgtEl>
                                        <p:attrNameLst>
                                          <p:attrName>ppt_x</p:attrName>
                                        </p:attrNameLst>
                                      </p:cBhvr>
                                      <p:tavLst>
                                        <p:tav tm="0">
                                          <p:val>
                                            <p:strVal val="#ppt_x"/>
                                          </p:val>
                                        </p:tav>
                                        <p:tav tm="100000">
                                          <p:val>
                                            <p:strVal val="#ppt_x"/>
                                          </p:val>
                                        </p:tav>
                                      </p:tavLst>
                                    </p:anim>
                                    <p:anim calcmode="lin" valueType="num">
                                      <p:cBhvr>
                                        <p:cTn id="19" dur="1000" fill="hold"/>
                                        <p:tgtEl>
                                          <p:spTgt spid="50"/>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51"/>
                                        </p:tgtEl>
                                        <p:attrNameLst>
                                          <p:attrName>style.visibility</p:attrName>
                                        </p:attrNameLst>
                                      </p:cBhvr>
                                      <p:to>
                                        <p:strVal val="visible"/>
                                      </p:to>
                                    </p:set>
                                    <p:animEffect transition="in" filter="fade">
                                      <p:cBhvr>
                                        <p:cTn id="22" dur="1000"/>
                                        <p:tgtEl>
                                          <p:spTgt spid="51"/>
                                        </p:tgtEl>
                                      </p:cBhvr>
                                    </p:animEffect>
                                    <p:anim calcmode="lin" valueType="num">
                                      <p:cBhvr>
                                        <p:cTn id="23" dur="1000" fill="hold"/>
                                        <p:tgtEl>
                                          <p:spTgt spid="51"/>
                                        </p:tgtEl>
                                        <p:attrNameLst>
                                          <p:attrName>ppt_x</p:attrName>
                                        </p:attrNameLst>
                                      </p:cBhvr>
                                      <p:tavLst>
                                        <p:tav tm="0">
                                          <p:val>
                                            <p:strVal val="#ppt_x"/>
                                          </p:val>
                                        </p:tav>
                                        <p:tav tm="100000">
                                          <p:val>
                                            <p:strVal val="#ppt_x"/>
                                          </p:val>
                                        </p:tav>
                                      </p:tavLst>
                                    </p:anim>
                                    <p:anim calcmode="lin" valueType="num">
                                      <p:cBhvr>
                                        <p:cTn id="24" dur="1000" fill="hold"/>
                                        <p:tgtEl>
                                          <p:spTgt spid="51"/>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52"/>
                                        </p:tgtEl>
                                        <p:attrNameLst>
                                          <p:attrName>style.visibility</p:attrName>
                                        </p:attrNameLst>
                                      </p:cBhvr>
                                      <p:to>
                                        <p:strVal val="visible"/>
                                      </p:to>
                                    </p:set>
                                    <p:animEffect transition="in" filter="fade">
                                      <p:cBhvr>
                                        <p:cTn id="27" dur="1000"/>
                                        <p:tgtEl>
                                          <p:spTgt spid="52"/>
                                        </p:tgtEl>
                                      </p:cBhvr>
                                    </p:animEffect>
                                    <p:anim calcmode="lin" valueType="num">
                                      <p:cBhvr>
                                        <p:cTn id="28" dur="1000" fill="hold"/>
                                        <p:tgtEl>
                                          <p:spTgt spid="52"/>
                                        </p:tgtEl>
                                        <p:attrNameLst>
                                          <p:attrName>ppt_x</p:attrName>
                                        </p:attrNameLst>
                                      </p:cBhvr>
                                      <p:tavLst>
                                        <p:tav tm="0">
                                          <p:val>
                                            <p:strVal val="#ppt_x"/>
                                          </p:val>
                                        </p:tav>
                                        <p:tav tm="100000">
                                          <p:val>
                                            <p:strVal val="#ppt_x"/>
                                          </p:val>
                                        </p:tav>
                                      </p:tavLst>
                                    </p:anim>
                                    <p:anim calcmode="lin" valueType="num">
                                      <p:cBhvr>
                                        <p:cTn id="29" dur="1000" fill="hold"/>
                                        <p:tgtEl>
                                          <p:spTgt spid="52"/>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8"/>
                                        </p:tgtEl>
                                        <p:attrNameLst>
                                          <p:attrName>style.visibility</p:attrName>
                                        </p:attrNameLst>
                                      </p:cBhvr>
                                      <p:to>
                                        <p:strVal val="visible"/>
                                      </p:to>
                                    </p:set>
                                    <p:animEffect transition="in" filter="fade">
                                      <p:cBhvr>
                                        <p:cTn id="32" dur="1000"/>
                                        <p:tgtEl>
                                          <p:spTgt spid="58"/>
                                        </p:tgtEl>
                                      </p:cBhvr>
                                    </p:animEffect>
                                    <p:anim calcmode="lin" valueType="num">
                                      <p:cBhvr>
                                        <p:cTn id="33" dur="1000" fill="hold"/>
                                        <p:tgtEl>
                                          <p:spTgt spid="58"/>
                                        </p:tgtEl>
                                        <p:attrNameLst>
                                          <p:attrName>ppt_x</p:attrName>
                                        </p:attrNameLst>
                                      </p:cBhvr>
                                      <p:tavLst>
                                        <p:tav tm="0">
                                          <p:val>
                                            <p:strVal val="#ppt_x"/>
                                          </p:val>
                                        </p:tav>
                                        <p:tav tm="100000">
                                          <p:val>
                                            <p:strVal val="#ppt_x"/>
                                          </p:val>
                                        </p:tav>
                                      </p:tavLst>
                                    </p:anim>
                                    <p:anim calcmode="lin" valueType="num">
                                      <p:cBhvr>
                                        <p:cTn id="34" dur="1000" fill="hold"/>
                                        <p:tgtEl>
                                          <p:spTgt spid="58"/>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53"/>
                                        </p:tgtEl>
                                        <p:attrNameLst>
                                          <p:attrName>style.visibility</p:attrName>
                                        </p:attrNameLst>
                                      </p:cBhvr>
                                      <p:to>
                                        <p:strVal val="visible"/>
                                      </p:to>
                                    </p:set>
                                    <p:animEffect transition="in" filter="fade">
                                      <p:cBhvr>
                                        <p:cTn id="37" dur="1000"/>
                                        <p:tgtEl>
                                          <p:spTgt spid="53"/>
                                        </p:tgtEl>
                                      </p:cBhvr>
                                    </p:animEffect>
                                    <p:anim calcmode="lin" valueType="num">
                                      <p:cBhvr>
                                        <p:cTn id="38" dur="1000" fill="hold"/>
                                        <p:tgtEl>
                                          <p:spTgt spid="53"/>
                                        </p:tgtEl>
                                        <p:attrNameLst>
                                          <p:attrName>ppt_x</p:attrName>
                                        </p:attrNameLst>
                                      </p:cBhvr>
                                      <p:tavLst>
                                        <p:tav tm="0">
                                          <p:val>
                                            <p:strVal val="#ppt_x"/>
                                          </p:val>
                                        </p:tav>
                                        <p:tav tm="100000">
                                          <p:val>
                                            <p:strVal val="#ppt_x"/>
                                          </p:val>
                                        </p:tav>
                                      </p:tavLst>
                                    </p:anim>
                                    <p:anim calcmode="lin" valueType="num">
                                      <p:cBhvr>
                                        <p:cTn id="39" dur="10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2" presetClass="entr" presetSubtype="4" fill="hold" grpId="0" nodeType="clickEffect">
                                  <p:stCondLst>
                                    <p:cond delay="0"/>
                                  </p:stCondLst>
                                  <p:childTnLst>
                                    <p:set>
                                      <p:cBhvr>
                                        <p:cTn id="43" dur="1" fill="hold">
                                          <p:stCondLst>
                                            <p:cond delay="0"/>
                                          </p:stCondLst>
                                        </p:cTn>
                                        <p:tgtEl>
                                          <p:spTgt spid="49"/>
                                        </p:tgtEl>
                                        <p:attrNameLst>
                                          <p:attrName>style.visibility</p:attrName>
                                        </p:attrNameLst>
                                      </p:cBhvr>
                                      <p:to>
                                        <p:strVal val="visible"/>
                                      </p:to>
                                    </p:set>
                                    <p:anim calcmode="lin" valueType="num">
                                      <p:cBhvr additive="base">
                                        <p:cTn id="44" dur="500" fill="hold"/>
                                        <p:tgtEl>
                                          <p:spTgt spid="49"/>
                                        </p:tgtEl>
                                        <p:attrNameLst>
                                          <p:attrName>ppt_x</p:attrName>
                                        </p:attrNameLst>
                                      </p:cBhvr>
                                      <p:tavLst>
                                        <p:tav tm="0">
                                          <p:val>
                                            <p:strVal val="#ppt_x"/>
                                          </p:val>
                                        </p:tav>
                                        <p:tav tm="100000">
                                          <p:val>
                                            <p:strVal val="#ppt_x"/>
                                          </p:val>
                                        </p:tav>
                                      </p:tavLst>
                                    </p:anim>
                                    <p:anim calcmode="lin" valueType="num">
                                      <p:cBhvr additive="base">
                                        <p:cTn id="45" dur="500" fill="hold"/>
                                        <p:tgtEl>
                                          <p:spTgt spid="49"/>
                                        </p:tgtEl>
                                        <p:attrNameLst>
                                          <p:attrName>ppt_y</p:attrName>
                                        </p:attrNameLst>
                                      </p:cBhvr>
                                      <p:tavLst>
                                        <p:tav tm="0">
                                          <p:val>
                                            <p:strVal val="1+#ppt_h/2"/>
                                          </p:val>
                                        </p:tav>
                                        <p:tav tm="100000">
                                          <p:val>
                                            <p:strVal val="#ppt_y"/>
                                          </p:val>
                                        </p:tav>
                                      </p:tavLst>
                                    </p:anim>
                                  </p:childTnLst>
                                </p:cTn>
                              </p:par>
                              <p:par>
                                <p:cTn id="46" presetID="2" presetClass="entr" presetSubtype="4" fill="hold" nodeType="withEffect">
                                  <p:stCondLst>
                                    <p:cond delay="0"/>
                                  </p:stCondLst>
                                  <p:childTnLst>
                                    <p:set>
                                      <p:cBhvr>
                                        <p:cTn id="47" dur="1" fill="hold">
                                          <p:stCondLst>
                                            <p:cond delay="0"/>
                                          </p:stCondLst>
                                        </p:cTn>
                                        <p:tgtEl>
                                          <p:spTgt spid="40"/>
                                        </p:tgtEl>
                                        <p:attrNameLst>
                                          <p:attrName>style.visibility</p:attrName>
                                        </p:attrNameLst>
                                      </p:cBhvr>
                                      <p:to>
                                        <p:strVal val="visible"/>
                                      </p:to>
                                    </p:set>
                                    <p:anim calcmode="lin" valueType="num">
                                      <p:cBhvr additive="base">
                                        <p:cTn id="48" dur="500" fill="hold"/>
                                        <p:tgtEl>
                                          <p:spTgt spid="40"/>
                                        </p:tgtEl>
                                        <p:attrNameLst>
                                          <p:attrName>ppt_x</p:attrName>
                                        </p:attrNameLst>
                                      </p:cBhvr>
                                      <p:tavLst>
                                        <p:tav tm="0">
                                          <p:val>
                                            <p:strVal val="#ppt_x"/>
                                          </p:val>
                                        </p:tav>
                                        <p:tav tm="100000">
                                          <p:val>
                                            <p:strVal val="#ppt_x"/>
                                          </p:val>
                                        </p:tav>
                                      </p:tavLst>
                                    </p:anim>
                                    <p:anim calcmode="lin" valueType="num">
                                      <p:cBhvr additive="base">
                                        <p:cTn id="49" dur="500" fill="hold"/>
                                        <p:tgtEl>
                                          <p:spTgt spid="40"/>
                                        </p:tgtEl>
                                        <p:attrNameLst>
                                          <p:attrName>ppt_y</p:attrName>
                                        </p:attrNameLst>
                                      </p:cBhvr>
                                      <p:tavLst>
                                        <p:tav tm="0">
                                          <p:val>
                                            <p:strVal val="1+#ppt_h/2"/>
                                          </p:val>
                                        </p:tav>
                                        <p:tav tm="100000">
                                          <p:val>
                                            <p:strVal val="#ppt_y"/>
                                          </p:val>
                                        </p:tav>
                                      </p:tavLst>
                                    </p:anim>
                                  </p:childTnLst>
                                </p:cTn>
                              </p:par>
                              <p:par>
                                <p:cTn id="50" presetID="2" presetClass="entr" presetSubtype="4" fill="hold" nodeType="withEffect">
                                  <p:stCondLst>
                                    <p:cond delay="0"/>
                                  </p:stCondLst>
                                  <p:childTnLst>
                                    <p:set>
                                      <p:cBhvr>
                                        <p:cTn id="51" dur="1" fill="hold">
                                          <p:stCondLst>
                                            <p:cond delay="0"/>
                                          </p:stCondLst>
                                        </p:cTn>
                                        <p:tgtEl>
                                          <p:spTgt spid="30"/>
                                        </p:tgtEl>
                                        <p:attrNameLst>
                                          <p:attrName>style.visibility</p:attrName>
                                        </p:attrNameLst>
                                      </p:cBhvr>
                                      <p:to>
                                        <p:strVal val="visible"/>
                                      </p:to>
                                    </p:set>
                                    <p:anim calcmode="lin" valueType="num">
                                      <p:cBhvr additive="base">
                                        <p:cTn id="52" dur="500" fill="hold"/>
                                        <p:tgtEl>
                                          <p:spTgt spid="30"/>
                                        </p:tgtEl>
                                        <p:attrNameLst>
                                          <p:attrName>ppt_x</p:attrName>
                                        </p:attrNameLst>
                                      </p:cBhvr>
                                      <p:tavLst>
                                        <p:tav tm="0">
                                          <p:val>
                                            <p:strVal val="#ppt_x"/>
                                          </p:val>
                                        </p:tav>
                                        <p:tav tm="100000">
                                          <p:val>
                                            <p:strVal val="#ppt_x"/>
                                          </p:val>
                                        </p:tav>
                                      </p:tavLst>
                                    </p:anim>
                                    <p:anim calcmode="lin" valueType="num">
                                      <p:cBhvr additive="base">
                                        <p:cTn id="53" dur="500" fill="hold"/>
                                        <p:tgtEl>
                                          <p:spTgt spid="30"/>
                                        </p:tgtEl>
                                        <p:attrNameLst>
                                          <p:attrName>ppt_y</p:attrName>
                                        </p:attrNameLst>
                                      </p:cBhvr>
                                      <p:tavLst>
                                        <p:tav tm="0">
                                          <p:val>
                                            <p:strVal val="1+#ppt_h/2"/>
                                          </p:val>
                                        </p:tav>
                                        <p:tav tm="100000">
                                          <p:val>
                                            <p:strVal val="#ppt_y"/>
                                          </p:val>
                                        </p:tav>
                                      </p:tavLst>
                                    </p:anim>
                                  </p:childTnLst>
                                </p:cTn>
                              </p:par>
                              <p:par>
                                <p:cTn id="54" presetID="2" presetClass="entr" presetSubtype="4" fill="hold" grpId="0" nodeType="withEffect">
                                  <p:stCondLst>
                                    <p:cond delay="0"/>
                                  </p:stCondLst>
                                  <p:childTnLst>
                                    <p:set>
                                      <p:cBhvr>
                                        <p:cTn id="55" dur="1" fill="hold">
                                          <p:stCondLst>
                                            <p:cond delay="0"/>
                                          </p:stCondLst>
                                        </p:cTn>
                                        <p:tgtEl>
                                          <p:spTgt spid="54"/>
                                        </p:tgtEl>
                                        <p:attrNameLst>
                                          <p:attrName>style.visibility</p:attrName>
                                        </p:attrNameLst>
                                      </p:cBhvr>
                                      <p:to>
                                        <p:strVal val="visible"/>
                                      </p:to>
                                    </p:set>
                                    <p:anim calcmode="lin" valueType="num">
                                      <p:cBhvr additive="base">
                                        <p:cTn id="56" dur="500" fill="hold"/>
                                        <p:tgtEl>
                                          <p:spTgt spid="54"/>
                                        </p:tgtEl>
                                        <p:attrNameLst>
                                          <p:attrName>ppt_x</p:attrName>
                                        </p:attrNameLst>
                                      </p:cBhvr>
                                      <p:tavLst>
                                        <p:tav tm="0">
                                          <p:val>
                                            <p:strVal val="#ppt_x"/>
                                          </p:val>
                                        </p:tav>
                                        <p:tav tm="100000">
                                          <p:val>
                                            <p:strVal val="#ppt_x"/>
                                          </p:val>
                                        </p:tav>
                                      </p:tavLst>
                                    </p:anim>
                                    <p:anim calcmode="lin" valueType="num">
                                      <p:cBhvr additive="base">
                                        <p:cTn id="57" dur="500" fill="hold"/>
                                        <p:tgtEl>
                                          <p:spTgt spid="54"/>
                                        </p:tgtEl>
                                        <p:attrNameLst>
                                          <p:attrName>ppt_y</p:attrName>
                                        </p:attrNameLst>
                                      </p:cBhvr>
                                      <p:tavLst>
                                        <p:tav tm="0">
                                          <p:val>
                                            <p:strVal val="1+#ppt_h/2"/>
                                          </p:val>
                                        </p:tav>
                                        <p:tav tm="100000">
                                          <p:val>
                                            <p:strVal val="#ppt_y"/>
                                          </p:val>
                                        </p:tav>
                                      </p:tavLst>
                                    </p:anim>
                                  </p:childTnLst>
                                </p:cTn>
                              </p:par>
                              <p:par>
                                <p:cTn id="58" presetID="2" presetClass="entr" presetSubtype="4" fill="hold" grpId="0" nodeType="withEffect">
                                  <p:stCondLst>
                                    <p:cond delay="0"/>
                                  </p:stCondLst>
                                  <p:childTnLst>
                                    <p:set>
                                      <p:cBhvr>
                                        <p:cTn id="59" dur="1" fill="hold">
                                          <p:stCondLst>
                                            <p:cond delay="0"/>
                                          </p:stCondLst>
                                        </p:cTn>
                                        <p:tgtEl>
                                          <p:spTgt spid="55"/>
                                        </p:tgtEl>
                                        <p:attrNameLst>
                                          <p:attrName>style.visibility</p:attrName>
                                        </p:attrNameLst>
                                      </p:cBhvr>
                                      <p:to>
                                        <p:strVal val="visible"/>
                                      </p:to>
                                    </p:set>
                                    <p:anim calcmode="lin" valueType="num">
                                      <p:cBhvr additive="base">
                                        <p:cTn id="60" dur="500" fill="hold"/>
                                        <p:tgtEl>
                                          <p:spTgt spid="55"/>
                                        </p:tgtEl>
                                        <p:attrNameLst>
                                          <p:attrName>ppt_x</p:attrName>
                                        </p:attrNameLst>
                                      </p:cBhvr>
                                      <p:tavLst>
                                        <p:tav tm="0">
                                          <p:val>
                                            <p:strVal val="#ppt_x"/>
                                          </p:val>
                                        </p:tav>
                                        <p:tav tm="100000">
                                          <p:val>
                                            <p:strVal val="#ppt_x"/>
                                          </p:val>
                                        </p:tav>
                                      </p:tavLst>
                                    </p:anim>
                                    <p:anim calcmode="lin" valueType="num">
                                      <p:cBhvr additive="base">
                                        <p:cTn id="61" dur="500" fill="hold"/>
                                        <p:tgtEl>
                                          <p:spTgt spid="55"/>
                                        </p:tgtEl>
                                        <p:attrNameLst>
                                          <p:attrName>ppt_y</p:attrName>
                                        </p:attrNameLst>
                                      </p:cBhvr>
                                      <p:tavLst>
                                        <p:tav tm="0">
                                          <p:val>
                                            <p:strVal val="1+#ppt_h/2"/>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2" presetClass="entr" presetSubtype="4" fill="hold" nodeType="clickEffect">
                                  <p:stCondLst>
                                    <p:cond delay="0"/>
                                  </p:stCondLst>
                                  <p:childTnLst>
                                    <p:set>
                                      <p:cBhvr>
                                        <p:cTn id="65" dur="1" fill="hold">
                                          <p:stCondLst>
                                            <p:cond delay="0"/>
                                          </p:stCondLst>
                                        </p:cTn>
                                        <p:tgtEl>
                                          <p:spTgt spid="23"/>
                                        </p:tgtEl>
                                        <p:attrNameLst>
                                          <p:attrName>style.visibility</p:attrName>
                                        </p:attrNameLst>
                                      </p:cBhvr>
                                      <p:to>
                                        <p:strVal val="visible"/>
                                      </p:to>
                                    </p:set>
                                    <p:anim calcmode="lin" valueType="num">
                                      <p:cBhvr additive="base">
                                        <p:cTn id="66" dur="500" fill="hold"/>
                                        <p:tgtEl>
                                          <p:spTgt spid="23"/>
                                        </p:tgtEl>
                                        <p:attrNameLst>
                                          <p:attrName>ppt_x</p:attrName>
                                        </p:attrNameLst>
                                      </p:cBhvr>
                                      <p:tavLst>
                                        <p:tav tm="0">
                                          <p:val>
                                            <p:strVal val="#ppt_x"/>
                                          </p:val>
                                        </p:tav>
                                        <p:tav tm="100000">
                                          <p:val>
                                            <p:strVal val="#ppt_x"/>
                                          </p:val>
                                        </p:tav>
                                      </p:tavLst>
                                    </p:anim>
                                    <p:anim calcmode="lin" valueType="num">
                                      <p:cBhvr additive="base">
                                        <p:cTn id="67" dur="500" fill="hold"/>
                                        <p:tgtEl>
                                          <p:spTgt spid="23"/>
                                        </p:tgtEl>
                                        <p:attrNameLst>
                                          <p:attrName>ppt_y</p:attrName>
                                        </p:attrNameLst>
                                      </p:cBhvr>
                                      <p:tavLst>
                                        <p:tav tm="0">
                                          <p:val>
                                            <p:strVal val="1+#ppt_h/2"/>
                                          </p:val>
                                        </p:tav>
                                        <p:tav tm="100000">
                                          <p:val>
                                            <p:strVal val="#ppt_y"/>
                                          </p:val>
                                        </p:tav>
                                      </p:tavLst>
                                    </p:anim>
                                  </p:childTnLst>
                                </p:cTn>
                              </p:par>
                              <p:par>
                                <p:cTn id="68" presetID="2" presetClass="entr" presetSubtype="4"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 calcmode="lin" valueType="num">
                                      <p:cBhvr additive="base">
                                        <p:cTn id="70" dur="500" fill="hold"/>
                                        <p:tgtEl>
                                          <p:spTgt spid="56"/>
                                        </p:tgtEl>
                                        <p:attrNameLst>
                                          <p:attrName>ppt_x</p:attrName>
                                        </p:attrNameLst>
                                      </p:cBhvr>
                                      <p:tavLst>
                                        <p:tav tm="0">
                                          <p:val>
                                            <p:strVal val="#ppt_x"/>
                                          </p:val>
                                        </p:tav>
                                        <p:tav tm="100000">
                                          <p:val>
                                            <p:strVal val="#ppt_x"/>
                                          </p:val>
                                        </p:tav>
                                      </p:tavLst>
                                    </p:anim>
                                    <p:anim calcmode="lin" valueType="num">
                                      <p:cBhvr additive="base">
                                        <p:cTn id="71" dur="500" fill="hold"/>
                                        <p:tgtEl>
                                          <p:spTgt spid="56"/>
                                        </p:tgtEl>
                                        <p:attrNameLst>
                                          <p:attrName>ppt_y</p:attrName>
                                        </p:attrNameLst>
                                      </p:cBhvr>
                                      <p:tavLst>
                                        <p:tav tm="0">
                                          <p:val>
                                            <p:strVal val="1+#ppt_h/2"/>
                                          </p:val>
                                        </p:tav>
                                        <p:tav tm="100000">
                                          <p:val>
                                            <p:strVal val="#ppt_y"/>
                                          </p:val>
                                        </p:tav>
                                      </p:tavLst>
                                    </p:anim>
                                  </p:childTnLst>
                                </p:cTn>
                              </p:par>
                              <p:par>
                                <p:cTn id="72" presetID="2" presetClass="entr" presetSubtype="4" fill="hold" grpId="0" nodeType="withEffect">
                                  <p:stCondLst>
                                    <p:cond delay="0"/>
                                  </p:stCondLst>
                                  <p:childTnLst>
                                    <p:set>
                                      <p:cBhvr>
                                        <p:cTn id="73" dur="1" fill="hold">
                                          <p:stCondLst>
                                            <p:cond delay="0"/>
                                          </p:stCondLst>
                                        </p:cTn>
                                        <p:tgtEl>
                                          <p:spTgt spid="57"/>
                                        </p:tgtEl>
                                        <p:attrNameLst>
                                          <p:attrName>style.visibility</p:attrName>
                                        </p:attrNameLst>
                                      </p:cBhvr>
                                      <p:to>
                                        <p:strVal val="visible"/>
                                      </p:to>
                                    </p:set>
                                    <p:anim calcmode="lin" valueType="num">
                                      <p:cBhvr additive="base">
                                        <p:cTn id="74" dur="500" fill="hold"/>
                                        <p:tgtEl>
                                          <p:spTgt spid="57"/>
                                        </p:tgtEl>
                                        <p:attrNameLst>
                                          <p:attrName>ppt_x</p:attrName>
                                        </p:attrNameLst>
                                      </p:cBhvr>
                                      <p:tavLst>
                                        <p:tav tm="0">
                                          <p:val>
                                            <p:strVal val="#ppt_x"/>
                                          </p:val>
                                        </p:tav>
                                        <p:tav tm="100000">
                                          <p:val>
                                            <p:strVal val="#ppt_x"/>
                                          </p:val>
                                        </p:tav>
                                      </p:tavLst>
                                    </p:anim>
                                    <p:anim calcmode="lin" valueType="num">
                                      <p:cBhvr additive="base">
                                        <p:cTn id="75" dur="500" fill="hold"/>
                                        <p:tgtEl>
                                          <p:spTgt spid="57"/>
                                        </p:tgtEl>
                                        <p:attrNameLst>
                                          <p:attrName>ppt_y</p:attrName>
                                        </p:attrNameLst>
                                      </p:cBhvr>
                                      <p:tavLst>
                                        <p:tav tm="0">
                                          <p:val>
                                            <p:strVal val="1+#ppt_h/2"/>
                                          </p:val>
                                        </p:tav>
                                        <p:tav tm="100000">
                                          <p:val>
                                            <p:strVal val="#ppt_y"/>
                                          </p:val>
                                        </p:tav>
                                      </p:tavLst>
                                    </p:anim>
                                  </p:childTnLst>
                                </p:cTn>
                              </p:par>
                              <p:par>
                                <p:cTn id="76" presetID="2" presetClass="entr" presetSubtype="4" fill="hold" nodeType="withEffect">
                                  <p:stCondLst>
                                    <p:cond delay="0"/>
                                  </p:stCondLst>
                                  <p:childTnLst>
                                    <p:set>
                                      <p:cBhvr>
                                        <p:cTn id="77" dur="1" fill="hold">
                                          <p:stCondLst>
                                            <p:cond delay="0"/>
                                          </p:stCondLst>
                                        </p:cTn>
                                        <p:tgtEl>
                                          <p:spTgt spid="26"/>
                                        </p:tgtEl>
                                        <p:attrNameLst>
                                          <p:attrName>style.visibility</p:attrName>
                                        </p:attrNameLst>
                                      </p:cBhvr>
                                      <p:to>
                                        <p:strVal val="visible"/>
                                      </p:to>
                                    </p:set>
                                    <p:anim calcmode="lin" valueType="num">
                                      <p:cBhvr additive="base">
                                        <p:cTn id="78" dur="500" fill="hold"/>
                                        <p:tgtEl>
                                          <p:spTgt spid="26"/>
                                        </p:tgtEl>
                                        <p:attrNameLst>
                                          <p:attrName>ppt_x</p:attrName>
                                        </p:attrNameLst>
                                      </p:cBhvr>
                                      <p:tavLst>
                                        <p:tav tm="0">
                                          <p:val>
                                            <p:strVal val="#ppt_x"/>
                                          </p:val>
                                        </p:tav>
                                        <p:tav tm="100000">
                                          <p:val>
                                            <p:strVal val="#ppt_x"/>
                                          </p:val>
                                        </p:tav>
                                      </p:tavLst>
                                    </p:anim>
                                    <p:anim calcmode="lin" valueType="num">
                                      <p:cBhvr additive="base">
                                        <p:cTn id="79" dur="500" fill="hold"/>
                                        <p:tgtEl>
                                          <p:spTgt spid="26"/>
                                        </p:tgtEl>
                                        <p:attrNameLst>
                                          <p:attrName>ppt_y</p:attrName>
                                        </p:attrNameLst>
                                      </p:cBhvr>
                                      <p:tavLst>
                                        <p:tav tm="0">
                                          <p:val>
                                            <p:strVal val="1+#ppt_h/2"/>
                                          </p:val>
                                        </p:tav>
                                        <p:tav tm="100000">
                                          <p:val>
                                            <p:strVal val="#ppt_y"/>
                                          </p:val>
                                        </p:tav>
                                      </p:tavLst>
                                    </p:anim>
                                  </p:childTnLst>
                                </p:cTn>
                              </p:par>
                              <p:par>
                                <p:cTn id="80" presetID="2" presetClass="entr" presetSubtype="4" fill="hold" grpId="0" nodeType="withEffect">
                                  <p:stCondLst>
                                    <p:cond delay="0"/>
                                  </p:stCondLst>
                                  <p:childTnLst>
                                    <p:set>
                                      <p:cBhvr>
                                        <p:cTn id="81" dur="1" fill="hold">
                                          <p:stCondLst>
                                            <p:cond delay="0"/>
                                          </p:stCondLst>
                                        </p:cTn>
                                        <p:tgtEl>
                                          <p:spTgt spid="29"/>
                                        </p:tgtEl>
                                        <p:attrNameLst>
                                          <p:attrName>style.visibility</p:attrName>
                                        </p:attrNameLst>
                                      </p:cBhvr>
                                      <p:to>
                                        <p:strVal val="visible"/>
                                      </p:to>
                                    </p:set>
                                    <p:anim calcmode="lin" valueType="num">
                                      <p:cBhvr additive="base">
                                        <p:cTn id="82" dur="500" fill="hold"/>
                                        <p:tgtEl>
                                          <p:spTgt spid="29"/>
                                        </p:tgtEl>
                                        <p:attrNameLst>
                                          <p:attrName>ppt_x</p:attrName>
                                        </p:attrNameLst>
                                      </p:cBhvr>
                                      <p:tavLst>
                                        <p:tav tm="0">
                                          <p:val>
                                            <p:strVal val="#ppt_x"/>
                                          </p:val>
                                        </p:tav>
                                        <p:tav tm="100000">
                                          <p:val>
                                            <p:strVal val="#ppt_x"/>
                                          </p:val>
                                        </p:tav>
                                      </p:tavLst>
                                    </p:anim>
                                    <p:anim calcmode="lin" valueType="num">
                                      <p:cBhvr additive="base">
                                        <p:cTn id="83"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9" grpId="0"/>
      <p:bldP spid="49" grpId="0"/>
      <p:bldP spid="50" grpId="0"/>
      <p:bldP spid="51" grpId="0"/>
      <p:bldP spid="52" grpId="0"/>
      <p:bldP spid="53" grpId="0"/>
      <p:bldP spid="54" grpId="0"/>
      <p:bldP spid="55" grpId="0"/>
      <p:bldP spid="56" grpId="0"/>
      <p:bldP spid="57" grpId="0"/>
    </p:bldLst>
  </p:timing>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43</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3.1 </a:t>
            </a:r>
            <a:r>
              <a:rPr lang="fr-FR" altLang="fr-FR" sz="1400" b="1" spc="-5" dirty="0">
                <a:solidFill>
                  <a:srgbClr val="CC00CC"/>
                </a:solidFill>
                <a:latin typeface="Bookman Old Style" panose="02050604050505020204" pitchFamily="18" charset="0"/>
                <a:cs typeface="Arial"/>
              </a:rPr>
              <a:t>Théorème de Thévenin </a:t>
            </a:r>
          </a:p>
        </p:txBody>
      </p:sp>
      <p:sp>
        <p:nvSpPr>
          <p:cNvPr id="5" name="TextBox 4">
            <a:extLst>
              <a:ext uri="{FF2B5EF4-FFF2-40B4-BE49-F238E27FC236}">
                <a16:creationId xmlns:a16="http://schemas.microsoft.com/office/drawing/2014/main" id="{BEE2EB4A-5DDB-3300-57A4-67D778C58080}"/>
              </a:ext>
            </a:extLst>
          </p:cNvPr>
          <p:cNvSpPr txBox="1"/>
          <p:nvPr/>
        </p:nvSpPr>
        <p:spPr>
          <a:xfrm>
            <a:off x="914400" y="1156683"/>
            <a:ext cx="4588778" cy="276999"/>
          </a:xfrm>
          <a:prstGeom prst="rect">
            <a:avLst/>
          </a:prstGeom>
          <a:noFill/>
        </p:spPr>
        <p:txBody>
          <a:bodyPr wrap="square">
            <a:spAutoFit/>
          </a:bodyPr>
          <a:lstStyle/>
          <a:p>
            <a:pPr marL="12700">
              <a:lnSpc>
                <a:spcPct val="100000"/>
              </a:lnSpc>
              <a:spcBef>
                <a:spcPts val="160"/>
              </a:spcBef>
            </a:pPr>
            <a:r>
              <a:rPr lang="fr-FR" sz="1200" b="1" spc="-5" dirty="0">
                <a:solidFill>
                  <a:schemeClr val="accent6">
                    <a:lumMod val="50000"/>
                  </a:schemeClr>
                </a:solidFill>
                <a:latin typeface="Bookman Old Style" panose="02050604050505020204" pitchFamily="18" charset="0"/>
                <a:cs typeface="Arial"/>
              </a:rPr>
              <a:t>A. Étapes de l'application de ce théorème</a:t>
            </a:r>
          </a:p>
        </p:txBody>
      </p:sp>
      <p:sp>
        <p:nvSpPr>
          <p:cNvPr id="11" name="object 14">
            <a:extLst>
              <a:ext uri="{FF2B5EF4-FFF2-40B4-BE49-F238E27FC236}">
                <a16:creationId xmlns:a16="http://schemas.microsoft.com/office/drawing/2014/main" id="{2EE7D070-8261-8148-CA91-F0E1EBE3230B}"/>
              </a:ext>
            </a:extLst>
          </p:cNvPr>
          <p:cNvSpPr txBox="1"/>
          <p:nvPr/>
        </p:nvSpPr>
        <p:spPr>
          <a:xfrm>
            <a:off x="217200" y="1735850"/>
            <a:ext cx="953769" cy="212879"/>
          </a:xfrm>
          <a:prstGeom prst="rect">
            <a:avLst/>
          </a:prstGeom>
        </p:spPr>
        <p:txBody>
          <a:bodyPr vert="horz" wrap="square" lIns="0" tIns="12700" rIns="0" bIns="0" rtlCol="0">
            <a:spAutoFit/>
          </a:bodyPr>
          <a:lstStyle/>
          <a:p>
            <a:pPr marL="12700">
              <a:lnSpc>
                <a:spcPct val="100000"/>
              </a:lnSpc>
              <a:spcBef>
                <a:spcPts val="100"/>
              </a:spcBef>
            </a:pPr>
            <a:r>
              <a:rPr sz="1300" b="1" u="sng" spc="-10" dirty="0">
                <a:uFill>
                  <a:solidFill>
                    <a:srgbClr val="000000"/>
                  </a:solidFill>
                </a:uFill>
                <a:latin typeface="Bookman Old Style" panose="02050604050505020204" pitchFamily="18" charset="0"/>
                <a:cs typeface="Times New Roman"/>
              </a:rPr>
              <a:t>Exemple:</a:t>
            </a:r>
            <a:endParaRPr sz="1300" dirty="0">
              <a:latin typeface="Bookman Old Style" panose="02050604050505020204" pitchFamily="18" charset="0"/>
              <a:cs typeface="Times New Roman"/>
            </a:endParaRPr>
          </a:p>
        </p:txBody>
      </p:sp>
      <p:sp>
        <p:nvSpPr>
          <p:cNvPr id="13" name="object 29">
            <a:extLst>
              <a:ext uri="{FF2B5EF4-FFF2-40B4-BE49-F238E27FC236}">
                <a16:creationId xmlns:a16="http://schemas.microsoft.com/office/drawing/2014/main" id="{CD358E02-EB5D-0782-4976-85CDCD9076FE}"/>
              </a:ext>
            </a:extLst>
          </p:cNvPr>
          <p:cNvSpPr txBox="1"/>
          <p:nvPr/>
        </p:nvSpPr>
        <p:spPr>
          <a:xfrm>
            <a:off x="228616" y="2072226"/>
            <a:ext cx="3124184" cy="1429237"/>
          </a:xfrm>
          <a:prstGeom prst="rect">
            <a:avLst/>
          </a:prstGeom>
        </p:spPr>
        <p:txBody>
          <a:bodyPr vert="horz" wrap="square" lIns="0" tIns="13335" rIns="0" bIns="0" rtlCol="0">
            <a:spAutoFit/>
          </a:bodyPr>
          <a:lstStyle/>
          <a:p>
            <a:pPr marL="749935" marR="484505" indent="-712470">
              <a:lnSpc>
                <a:spcPct val="100000"/>
              </a:lnSpc>
              <a:spcBef>
                <a:spcPts val="105"/>
              </a:spcBef>
            </a:pPr>
            <a:r>
              <a:rPr sz="1200" b="1" dirty="0">
                <a:solidFill>
                  <a:srgbClr val="3333FF"/>
                </a:solidFill>
                <a:latin typeface="Bookman Old Style" panose="02050604050505020204" pitchFamily="18" charset="0"/>
                <a:cs typeface="Times New Roman"/>
              </a:rPr>
              <a:t>Étape</a:t>
            </a:r>
            <a:r>
              <a:rPr sz="1200" b="1" spc="-20" dirty="0">
                <a:solidFill>
                  <a:srgbClr val="3333FF"/>
                </a:solidFill>
                <a:latin typeface="Bookman Old Style" panose="02050604050505020204" pitchFamily="18" charset="0"/>
                <a:cs typeface="Times New Roman"/>
              </a:rPr>
              <a:t> </a:t>
            </a:r>
            <a:r>
              <a:rPr sz="1200" b="1" dirty="0">
                <a:solidFill>
                  <a:srgbClr val="3333FF"/>
                </a:solidFill>
                <a:latin typeface="Bookman Old Style" panose="02050604050505020204" pitchFamily="18" charset="0"/>
                <a:cs typeface="Times New Roman"/>
              </a:rPr>
              <a:t>1</a:t>
            </a:r>
            <a:r>
              <a:rPr sz="1200" b="1" spc="-15" dirty="0">
                <a:solidFill>
                  <a:srgbClr val="3333FF"/>
                </a:solidFill>
                <a:latin typeface="Bookman Old Style" panose="02050604050505020204" pitchFamily="18" charset="0"/>
                <a:cs typeface="Times New Roman"/>
              </a:rPr>
              <a:t> </a:t>
            </a:r>
            <a:r>
              <a:rPr sz="1200" b="1" dirty="0">
                <a:solidFill>
                  <a:srgbClr val="3333FF"/>
                </a:solidFill>
                <a:latin typeface="Bookman Old Style" panose="02050604050505020204" pitchFamily="18" charset="0"/>
                <a:cs typeface="Times New Roman"/>
              </a:rPr>
              <a:t>:</a:t>
            </a:r>
            <a:r>
              <a:rPr sz="1200" b="1" spc="-15" dirty="0">
                <a:solidFill>
                  <a:srgbClr val="3333FF"/>
                </a:solidFill>
                <a:latin typeface="Bookman Old Style" panose="02050604050505020204" pitchFamily="18" charset="0"/>
                <a:cs typeface="Times New Roman"/>
              </a:rPr>
              <a:t> </a:t>
            </a:r>
            <a:r>
              <a:rPr sz="1200" dirty="0">
                <a:latin typeface="Bookman Old Style" panose="02050604050505020204" pitchFamily="18" charset="0"/>
                <a:cs typeface="Times New Roman"/>
              </a:rPr>
              <a:t>Déterminer</a:t>
            </a:r>
            <a:r>
              <a:rPr sz="1200" spc="-15" dirty="0">
                <a:latin typeface="Bookman Old Style" panose="02050604050505020204" pitchFamily="18" charset="0"/>
                <a:cs typeface="Times New Roman"/>
              </a:rPr>
              <a:t> </a:t>
            </a:r>
            <a:r>
              <a:rPr sz="1200" dirty="0">
                <a:latin typeface="Bookman Old Style" panose="02050604050505020204" pitchFamily="18" charset="0"/>
                <a:cs typeface="Times New Roman"/>
              </a:rPr>
              <a:t>la</a:t>
            </a:r>
            <a:r>
              <a:rPr sz="1200" spc="-10" dirty="0">
                <a:latin typeface="Bookman Old Style" panose="02050604050505020204" pitchFamily="18" charset="0"/>
                <a:cs typeface="Times New Roman"/>
              </a:rPr>
              <a:t> résistance </a:t>
            </a:r>
            <a:r>
              <a:rPr sz="1200" dirty="0">
                <a:latin typeface="Bookman Old Style" panose="02050604050505020204" pitchFamily="18" charset="0"/>
                <a:cs typeface="Times New Roman"/>
              </a:rPr>
              <a:t>de</a:t>
            </a:r>
            <a:r>
              <a:rPr sz="1200" spc="-45" dirty="0">
                <a:latin typeface="Bookman Old Style" panose="02050604050505020204" pitchFamily="18" charset="0"/>
                <a:cs typeface="Times New Roman"/>
              </a:rPr>
              <a:t> </a:t>
            </a:r>
            <a:r>
              <a:rPr sz="1200" dirty="0">
                <a:latin typeface="Bookman Old Style" panose="02050604050505020204" pitchFamily="18" charset="0"/>
                <a:cs typeface="Times New Roman"/>
              </a:rPr>
              <a:t>Thévenin</a:t>
            </a:r>
            <a:r>
              <a:rPr sz="1200" spc="215" dirty="0">
                <a:latin typeface="Bookman Old Style" panose="02050604050505020204" pitchFamily="18" charset="0"/>
                <a:cs typeface="Times New Roman"/>
              </a:rPr>
              <a:t> </a:t>
            </a:r>
            <a:r>
              <a:rPr sz="1200" spc="-20" dirty="0">
                <a:latin typeface="Bookman Old Style" panose="02050604050505020204" pitchFamily="18" charset="0"/>
                <a:cs typeface="Cambria Math"/>
              </a:rPr>
              <a:t>(𝑹</a:t>
            </a:r>
            <a:r>
              <a:rPr sz="1200" spc="-30" baseline="-16666" dirty="0">
                <a:latin typeface="Bookman Old Style" panose="02050604050505020204" pitchFamily="18" charset="0"/>
                <a:cs typeface="Cambria Math"/>
              </a:rPr>
              <a:t>𝑻𝒉</a:t>
            </a:r>
            <a:r>
              <a:rPr sz="1200" b="1" spc="-20" dirty="0">
                <a:latin typeface="Bookman Old Style" panose="02050604050505020204" pitchFamily="18" charset="0"/>
                <a:cs typeface="Times New Roman"/>
              </a:rPr>
              <a:t>)</a:t>
            </a:r>
            <a:endParaRPr sz="1200" dirty="0">
              <a:latin typeface="Bookman Old Style" panose="02050604050505020204" pitchFamily="18" charset="0"/>
              <a:cs typeface="Times New Roman"/>
            </a:endParaRPr>
          </a:p>
          <a:p>
            <a:pPr marL="41910">
              <a:lnSpc>
                <a:spcPct val="100000"/>
              </a:lnSpc>
              <a:spcBef>
                <a:spcPts val="1305"/>
              </a:spcBef>
            </a:pPr>
            <a:r>
              <a:rPr sz="1200" b="1" dirty="0">
                <a:solidFill>
                  <a:srgbClr val="3333FF"/>
                </a:solidFill>
                <a:latin typeface="Bookman Old Style" panose="02050604050505020204" pitchFamily="18" charset="0"/>
                <a:cs typeface="Times New Roman"/>
              </a:rPr>
              <a:t>Étape</a:t>
            </a:r>
            <a:r>
              <a:rPr sz="1200" b="1" spc="-25" dirty="0">
                <a:solidFill>
                  <a:srgbClr val="3333FF"/>
                </a:solidFill>
                <a:latin typeface="Bookman Old Style" panose="02050604050505020204" pitchFamily="18" charset="0"/>
                <a:cs typeface="Times New Roman"/>
              </a:rPr>
              <a:t> </a:t>
            </a:r>
            <a:r>
              <a:rPr sz="1200" b="1" dirty="0">
                <a:solidFill>
                  <a:srgbClr val="3333FF"/>
                </a:solidFill>
                <a:latin typeface="Bookman Old Style" panose="02050604050505020204" pitchFamily="18" charset="0"/>
                <a:cs typeface="Times New Roman"/>
              </a:rPr>
              <a:t>2</a:t>
            </a:r>
            <a:r>
              <a:rPr sz="1200" b="1" spc="-15" dirty="0">
                <a:solidFill>
                  <a:srgbClr val="3333FF"/>
                </a:solidFill>
                <a:latin typeface="Bookman Old Style" panose="02050604050505020204" pitchFamily="18" charset="0"/>
                <a:cs typeface="Times New Roman"/>
              </a:rPr>
              <a:t> </a:t>
            </a:r>
            <a:r>
              <a:rPr sz="1200" b="1" dirty="0">
                <a:solidFill>
                  <a:srgbClr val="3333FF"/>
                </a:solidFill>
                <a:latin typeface="Bookman Old Style" panose="02050604050505020204" pitchFamily="18" charset="0"/>
                <a:cs typeface="Times New Roman"/>
              </a:rPr>
              <a:t>:</a:t>
            </a:r>
            <a:r>
              <a:rPr sz="1200" b="1" spc="-15" dirty="0">
                <a:solidFill>
                  <a:srgbClr val="3333FF"/>
                </a:solidFill>
                <a:latin typeface="Bookman Old Style" panose="02050604050505020204" pitchFamily="18" charset="0"/>
                <a:cs typeface="Times New Roman"/>
              </a:rPr>
              <a:t> </a:t>
            </a:r>
            <a:r>
              <a:rPr sz="1200" dirty="0">
                <a:latin typeface="Bookman Old Style" panose="02050604050505020204" pitchFamily="18" charset="0"/>
                <a:cs typeface="Times New Roman"/>
              </a:rPr>
              <a:t>Déterminer</a:t>
            </a:r>
            <a:r>
              <a:rPr sz="1200" spc="-10" dirty="0">
                <a:latin typeface="Bookman Old Style" panose="02050604050505020204" pitchFamily="18" charset="0"/>
                <a:cs typeface="Times New Roman"/>
              </a:rPr>
              <a:t> </a:t>
            </a:r>
            <a:r>
              <a:rPr sz="1200" dirty="0">
                <a:latin typeface="Bookman Old Style" panose="02050604050505020204" pitchFamily="18" charset="0"/>
                <a:cs typeface="Times New Roman"/>
              </a:rPr>
              <a:t>la</a:t>
            </a:r>
            <a:r>
              <a:rPr sz="1200" spc="-10" dirty="0">
                <a:latin typeface="Bookman Old Style" panose="02050604050505020204" pitchFamily="18" charset="0"/>
                <a:cs typeface="Times New Roman"/>
              </a:rPr>
              <a:t> tension</a:t>
            </a:r>
            <a:endParaRPr sz="1200" dirty="0">
              <a:latin typeface="Bookman Old Style" panose="02050604050505020204" pitchFamily="18" charset="0"/>
              <a:cs typeface="Times New Roman"/>
            </a:endParaRPr>
          </a:p>
          <a:p>
            <a:pPr marL="753745">
              <a:lnSpc>
                <a:spcPct val="100000"/>
              </a:lnSpc>
            </a:pPr>
            <a:r>
              <a:rPr sz="1200" dirty="0">
                <a:latin typeface="Bookman Old Style" panose="02050604050505020204" pitchFamily="18" charset="0"/>
                <a:cs typeface="Times New Roman"/>
              </a:rPr>
              <a:t>de</a:t>
            </a:r>
            <a:r>
              <a:rPr sz="1200" spc="-35" dirty="0">
                <a:latin typeface="Bookman Old Style" panose="02050604050505020204" pitchFamily="18" charset="0"/>
                <a:cs typeface="Times New Roman"/>
              </a:rPr>
              <a:t> </a:t>
            </a:r>
            <a:r>
              <a:rPr sz="1200" dirty="0">
                <a:latin typeface="Bookman Old Style" panose="02050604050505020204" pitchFamily="18" charset="0"/>
                <a:cs typeface="Times New Roman"/>
              </a:rPr>
              <a:t>Thévenin</a:t>
            </a:r>
            <a:r>
              <a:rPr sz="1200" spc="-85" dirty="0">
                <a:latin typeface="Bookman Old Style" panose="02050604050505020204" pitchFamily="18" charset="0"/>
                <a:cs typeface="Times New Roman"/>
              </a:rPr>
              <a:t> </a:t>
            </a:r>
            <a:r>
              <a:rPr sz="1200" spc="-30" baseline="5952" dirty="0">
                <a:latin typeface="Bookman Old Style" panose="02050604050505020204" pitchFamily="18" charset="0"/>
                <a:cs typeface="Cambria Math"/>
              </a:rPr>
              <a:t>(𝑬</a:t>
            </a:r>
            <a:r>
              <a:rPr sz="1200" spc="-30" baseline="-8333" dirty="0">
                <a:latin typeface="Bookman Old Style" panose="02050604050505020204" pitchFamily="18" charset="0"/>
                <a:cs typeface="Cambria Math"/>
              </a:rPr>
              <a:t>𝑻𝒉</a:t>
            </a:r>
            <a:r>
              <a:rPr sz="1200" b="1" spc="-30" baseline="5952" dirty="0">
                <a:latin typeface="Bookman Old Style" panose="02050604050505020204" pitchFamily="18" charset="0"/>
                <a:cs typeface="Times New Roman"/>
              </a:rPr>
              <a:t>)</a:t>
            </a:r>
            <a:endParaRPr sz="1200" baseline="5952" dirty="0">
              <a:latin typeface="Bookman Old Style" panose="02050604050505020204" pitchFamily="18" charset="0"/>
              <a:cs typeface="Times New Roman"/>
            </a:endParaRPr>
          </a:p>
          <a:p>
            <a:pPr marL="810260" marR="30480" indent="-756285">
              <a:lnSpc>
                <a:spcPct val="100000"/>
              </a:lnSpc>
              <a:spcBef>
                <a:spcPts val="1055"/>
              </a:spcBef>
            </a:pPr>
            <a:r>
              <a:rPr sz="1200" b="1" dirty="0">
                <a:solidFill>
                  <a:srgbClr val="3333FF"/>
                </a:solidFill>
                <a:latin typeface="Bookman Old Style" panose="02050604050505020204" pitchFamily="18" charset="0"/>
                <a:cs typeface="Times New Roman"/>
              </a:rPr>
              <a:t>Étape</a:t>
            </a:r>
            <a:r>
              <a:rPr sz="1200" b="1" spc="-20" dirty="0">
                <a:solidFill>
                  <a:srgbClr val="3333FF"/>
                </a:solidFill>
                <a:latin typeface="Bookman Old Style" panose="02050604050505020204" pitchFamily="18" charset="0"/>
                <a:cs typeface="Times New Roman"/>
              </a:rPr>
              <a:t> </a:t>
            </a:r>
            <a:r>
              <a:rPr sz="1200" b="1" dirty="0">
                <a:solidFill>
                  <a:srgbClr val="3333FF"/>
                </a:solidFill>
                <a:latin typeface="Bookman Old Style" panose="02050604050505020204" pitchFamily="18" charset="0"/>
                <a:cs typeface="Times New Roman"/>
              </a:rPr>
              <a:t>3</a:t>
            </a:r>
            <a:r>
              <a:rPr sz="1200" b="1" spc="-15" dirty="0">
                <a:solidFill>
                  <a:srgbClr val="3333FF"/>
                </a:solidFill>
                <a:latin typeface="Bookman Old Style" panose="02050604050505020204" pitchFamily="18" charset="0"/>
                <a:cs typeface="Times New Roman"/>
              </a:rPr>
              <a:t> </a:t>
            </a:r>
            <a:r>
              <a:rPr sz="1200" b="1" dirty="0">
                <a:solidFill>
                  <a:srgbClr val="3333FF"/>
                </a:solidFill>
                <a:latin typeface="Bookman Old Style" panose="02050604050505020204" pitchFamily="18" charset="0"/>
                <a:cs typeface="Times New Roman"/>
              </a:rPr>
              <a:t>:</a:t>
            </a:r>
            <a:r>
              <a:rPr sz="1200" b="1" spc="-15" dirty="0">
                <a:solidFill>
                  <a:srgbClr val="3333FF"/>
                </a:solidFill>
                <a:latin typeface="Bookman Old Style" panose="02050604050505020204" pitchFamily="18" charset="0"/>
                <a:cs typeface="Times New Roman"/>
              </a:rPr>
              <a:t> </a:t>
            </a:r>
            <a:r>
              <a:rPr sz="1200" dirty="0">
                <a:latin typeface="Bookman Old Style" panose="02050604050505020204" pitchFamily="18" charset="0"/>
                <a:cs typeface="Times New Roman"/>
              </a:rPr>
              <a:t>Former</a:t>
            </a:r>
            <a:r>
              <a:rPr sz="1200" spc="-10" dirty="0">
                <a:latin typeface="Bookman Old Style" panose="02050604050505020204" pitchFamily="18" charset="0"/>
                <a:cs typeface="Times New Roman"/>
              </a:rPr>
              <a:t> </a:t>
            </a:r>
            <a:r>
              <a:rPr sz="1200" dirty="0">
                <a:latin typeface="Bookman Old Style" panose="02050604050505020204" pitchFamily="18" charset="0"/>
                <a:cs typeface="Times New Roman"/>
              </a:rPr>
              <a:t>mon circuit</a:t>
            </a:r>
            <a:r>
              <a:rPr sz="1200" spc="-35" dirty="0">
                <a:latin typeface="Bookman Old Style" panose="02050604050505020204" pitchFamily="18" charset="0"/>
                <a:cs typeface="Times New Roman"/>
              </a:rPr>
              <a:t> </a:t>
            </a:r>
            <a:r>
              <a:rPr sz="1200" spc="-10" dirty="0">
                <a:latin typeface="Bookman Old Style" panose="02050604050505020204" pitchFamily="18" charset="0"/>
                <a:cs typeface="Times New Roman"/>
              </a:rPr>
              <a:t>équivalent </a:t>
            </a:r>
            <a:r>
              <a:rPr sz="1200" dirty="0">
                <a:latin typeface="Bookman Old Style" panose="02050604050505020204" pitchFamily="18" charset="0"/>
                <a:cs typeface="Times New Roman"/>
              </a:rPr>
              <a:t>Déterminer</a:t>
            </a:r>
            <a:r>
              <a:rPr sz="1200" spc="-40" dirty="0">
                <a:latin typeface="Bookman Old Style" panose="02050604050505020204" pitchFamily="18" charset="0"/>
                <a:cs typeface="Times New Roman"/>
              </a:rPr>
              <a:t> </a:t>
            </a:r>
            <a:r>
              <a:rPr sz="1200" dirty="0">
                <a:latin typeface="Bookman Old Style" panose="02050604050505020204" pitchFamily="18" charset="0"/>
                <a:cs typeface="Times New Roman"/>
              </a:rPr>
              <a:t>le</a:t>
            </a:r>
            <a:r>
              <a:rPr sz="1200" spc="-20" dirty="0">
                <a:latin typeface="Bookman Old Style" panose="02050604050505020204" pitchFamily="18" charset="0"/>
                <a:cs typeface="Times New Roman"/>
              </a:rPr>
              <a:t> </a:t>
            </a:r>
            <a:r>
              <a:rPr sz="1200" spc="-10" dirty="0">
                <a:latin typeface="Bookman Old Style" panose="02050604050505020204" pitchFamily="18" charset="0"/>
                <a:cs typeface="Times New Roman"/>
              </a:rPr>
              <a:t>courant</a:t>
            </a:r>
            <a:endParaRPr sz="1200" dirty="0">
              <a:latin typeface="Bookman Old Style" panose="02050604050505020204" pitchFamily="18" charset="0"/>
              <a:cs typeface="Times New Roman"/>
            </a:endParaRPr>
          </a:p>
        </p:txBody>
      </p:sp>
      <p:sp>
        <p:nvSpPr>
          <p:cNvPr id="16" name="object 2">
            <a:extLst>
              <a:ext uri="{FF2B5EF4-FFF2-40B4-BE49-F238E27FC236}">
                <a16:creationId xmlns:a16="http://schemas.microsoft.com/office/drawing/2014/main" id="{E2BBA375-E4F8-5F49-8768-772234C4B945}"/>
              </a:ext>
            </a:extLst>
          </p:cNvPr>
          <p:cNvSpPr/>
          <p:nvPr/>
        </p:nvSpPr>
        <p:spPr>
          <a:xfrm>
            <a:off x="6754368" y="1991867"/>
            <a:ext cx="265430" cy="1844039"/>
          </a:xfrm>
          <a:custGeom>
            <a:avLst/>
            <a:gdLst/>
            <a:ahLst/>
            <a:cxnLst/>
            <a:rect l="l" t="t" r="r" b="b"/>
            <a:pathLst>
              <a:path w="265429" h="1844039">
                <a:moveTo>
                  <a:pt x="0" y="1438656"/>
                </a:moveTo>
                <a:lnTo>
                  <a:pt x="265175" y="1438656"/>
                </a:lnTo>
                <a:lnTo>
                  <a:pt x="265175" y="394716"/>
                </a:lnTo>
                <a:lnTo>
                  <a:pt x="0" y="394716"/>
                </a:lnTo>
                <a:lnTo>
                  <a:pt x="0" y="1438656"/>
                </a:lnTo>
                <a:close/>
              </a:path>
              <a:path w="265429" h="1844039">
                <a:moveTo>
                  <a:pt x="132587" y="1438656"/>
                </a:moveTo>
                <a:lnTo>
                  <a:pt x="132587" y="1843659"/>
                </a:lnTo>
              </a:path>
              <a:path w="265429" h="1844039">
                <a:moveTo>
                  <a:pt x="132587" y="0"/>
                </a:moveTo>
                <a:lnTo>
                  <a:pt x="132587" y="405002"/>
                </a:lnTo>
              </a:path>
            </a:pathLst>
          </a:custGeom>
          <a:ln w="57912">
            <a:solidFill>
              <a:srgbClr val="000000"/>
            </a:solidFill>
          </a:ln>
        </p:spPr>
        <p:txBody>
          <a:bodyPr wrap="square" lIns="0" tIns="0" rIns="0" bIns="0" rtlCol="0"/>
          <a:lstStyle/>
          <a:p>
            <a:endParaRPr/>
          </a:p>
        </p:txBody>
      </p:sp>
      <p:grpSp>
        <p:nvGrpSpPr>
          <p:cNvPr id="17" name="object 15">
            <a:extLst>
              <a:ext uri="{FF2B5EF4-FFF2-40B4-BE49-F238E27FC236}">
                <a16:creationId xmlns:a16="http://schemas.microsoft.com/office/drawing/2014/main" id="{2489F9FD-6975-51BA-E800-F7FEFA578D3F}"/>
              </a:ext>
            </a:extLst>
          </p:cNvPr>
          <p:cNvGrpSpPr/>
          <p:nvPr/>
        </p:nvGrpSpPr>
        <p:grpSpPr>
          <a:xfrm>
            <a:off x="7829612" y="1890915"/>
            <a:ext cx="196595" cy="1975104"/>
            <a:chOff x="7802879" y="1892807"/>
            <a:chExt cx="196595" cy="1975104"/>
          </a:xfrm>
        </p:grpSpPr>
        <p:pic>
          <p:nvPicPr>
            <p:cNvPr id="21" name="object 17">
              <a:extLst>
                <a:ext uri="{FF2B5EF4-FFF2-40B4-BE49-F238E27FC236}">
                  <a16:creationId xmlns:a16="http://schemas.microsoft.com/office/drawing/2014/main" id="{E0DD2F8C-F275-ACEF-DCCC-4C2A34463783}"/>
                </a:ext>
              </a:extLst>
            </p:cNvPr>
            <p:cNvPicPr/>
            <p:nvPr/>
          </p:nvPicPr>
          <p:blipFill>
            <a:blip r:embed="rId3" cstate="print"/>
            <a:stretch>
              <a:fillRect/>
            </a:stretch>
          </p:blipFill>
          <p:spPr>
            <a:xfrm>
              <a:off x="7802879" y="1892807"/>
              <a:ext cx="184403" cy="143256"/>
            </a:xfrm>
            <a:prstGeom prst="rect">
              <a:avLst/>
            </a:prstGeom>
          </p:spPr>
        </p:pic>
        <p:pic>
          <p:nvPicPr>
            <p:cNvPr id="22" name="object 18">
              <a:extLst>
                <a:ext uri="{FF2B5EF4-FFF2-40B4-BE49-F238E27FC236}">
                  <a16:creationId xmlns:a16="http://schemas.microsoft.com/office/drawing/2014/main" id="{84D880F7-0E9E-CA10-AE27-4C86EBDA72F5}"/>
                </a:ext>
              </a:extLst>
            </p:cNvPr>
            <p:cNvPicPr/>
            <p:nvPr/>
          </p:nvPicPr>
          <p:blipFill>
            <a:blip r:embed="rId4" cstate="print"/>
            <a:stretch>
              <a:fillRect/>
            </a:stretch>
          </p:blipFill>
          <p:spPr>
            <a:xfrm>
              <a:off x="7815071" y="3724655"/>
              <a:ext cx="184403" cy="143256"/>
            </a:xfrm>
            <a:prstGeom prst="rect">
              <a:avLst/>
            </a:prstGeom>
          </p:spPr>
        </p:pic>
      </p:grpSp>
      <p:sp>
        <p:nvSpPr>
          <p:cNvPr id="23" name="object 19">
            <a:extLst>
              <a:ext uri="{FF2B5EF4-FFF2-40B4-BE49-F238E27FC236}">
                <a16:creationId xmlns:a16="http://schemas.microsoft.com/office/drawing/2014/main" id="{1C05DDA1-1A93-B1DE-A45F-527FF56C39F5}"/>
              </a:ext>
            </a:extLst>
          </p:cNvPr>
          <p:cNvSpPr txBox="1"/>
          <p:nvPr/>
        </p:nvSpPr>
        <p:spPr>
          <a:xfrm>
            <a:off x="7852409" y="1567434"/>
            <a:ext cx="190500" cy="299720"/>
          </a:xfrm>
          <a:prstGeom prst="rect">
            <a:avLst/>
          </a:prstGeom>
        </p:spPr>
        <p:txBody>
          <a:bodyPr vert="horz" wrap="square" lIns="0" tIns="12700" rIns="0" bIns="0" rtlCol="0">
            <a:spAutoFit/>
          </a:bodyPr>
          <a:lstStyle/>
          <a:p>
            <a:pPr marL="12700">
              <a:lnSpc>
                <a:spcPct val="100000"/>
              </a:lnSpc>
              <a:spcBef>
                <a:spcPts val="100"/>
              </a:spcBef>
            </a:pPr>
            <a:r>
              <a:rPr sz="1800" b="1" spc="-50" dirty="0">
                <a:latin typeface="Times New Roman"/>
                <a:cs typeface="Times New Roman"/>
              </a:rPr>
              <a:t>A</a:t>
            </a:r>
            <a:endParaRPr sz="1800">
              <a:latin typeface="Times New Roman"/>
              <a:cs typeface="Times New Roman"/>
            </a:endParaRPr>
          </a:p>
        </p:txBody>
      </p:sp>
      <p:sp>
        <p:nvSpPr>
          <p:cNvPr id="24" name="object 20">
            <a:extLst>
              <a:ext uri="{FF2B5EF4-FFF2-40B4-BE49-F238E27FC236}">
                <a16:creationId xmlns:a16="http://schemas.microsoft.com/office/drawing/2014/main" id="{E7CACE44-C96B-F53A-9AA3-7D9EFEA52E64}"/>
              </a:ext>
            </a:extLst>
          </p:cNvPr>
          <p:cNvSpPr txBox="1"/>
          <p:nvPr/>
        </p:nvSpPr>
        <p:spPr>
          <a:xfrm>
            <a:off x="7859648" y="3886606"/>
            <a:ext cx="178435" cy="299720"/>
          </a:xfrm>
          <a:prstGeom prst="rect">
            <a:avLst/>
          </a:prstGeom>
        </p:spPr>
        <p:txBody>
          <a:bodyPr vert="horz" wrap="square" lIns="0" tIns="12700" rIns="0" bIns="0" rtlCol="0">
            <a:spAutoFit/>
          </a:bodyPr>
          <a:lstStyle/>
          <a:p>
            <a:pPr marL="12700">
              <a:lnSpc>
                <a:spcPct val="100000"/>
              </a:lnSpc>
              <a:spcBef>
                <a:spcPts val="100"/>
              </a:spcBef>
            </a:pPr>
            <a:r>
              <a:rPr sz="1800" b="1" spc="-50" dirty="0">
                <a:latin typeface="Times New Roman"/>
                <a:cs typeface="Times New Roman"/>
              </a:rPr>
              <a:t>B</a:t>
            </a:r>
            <a:endParaRPr sz="1800">
              <a:latin typeface="Times New Roman"/>
              <a:cs typeface="Times New Roman"/>
            </a:endParaRPr>
          </a:p>
        </p:txBody>
      </p:sp>
      <p:grpSp>
        <p:nvGrpSpPr>
          <p:cNvPr id="25" name="object 21">
            <a:extLst>
              <a:ext uri="{FF2B5EF4-FFF2-40B4-BE49-F238E27FC236}">
                <a16:creationId xmlns:a16="http://schemas.microsoft.com/office/drawing/2014/main" id="{B3CA2512-2DC0-22D5-8966-78602D06225C}"/>
              </a:ext>
            </a:extLst>
          </p:cNvPr>
          <p:cNvGrpSpPr/>
          <p:nvPr/>
        </p:nvGrpSpPr>
        <p:grpSpPr>
          <a:xfrm>
            <a:off x="4110228" y="1825752"/>
            <a:ext cx="2092705" cy="265430"/>
            <a:chOff x="4110228" y="1825752"/>
            <a:chExt cx="2092705" cy="265430"/>
          </a:xfrm>
        </p:grpSpPr>
        <p:sp>
          <p:nvSpPr>
            <p:cNvPr id="26" name="object 22">
              <a:extLst>
                <a:ext uri="{FF2B5EF4-FFF2-40B4-BE49-F238E27FC236}">
                  <a16:creationId xmlns:a16="http://schemas.microsoft.com/office/drawing/2014/main" id="{56D4C591-F941-A2D2-7459-20333F0C10A7}"/>
                </a:ext>
              </a:extLst>
            </p:cNvPr>
            <p:cNvSpPr/>
            <p:nvPr/>
          </p:nvSpPr>
          <p:spPr>
            <a:xfrm>
              <a:off x="4110228" y="1976628"/>
              <a:ext cx="1028700" cy="0"/>
            </a:xfrm>
            <a:custGeom>
              <a:avLst/>
              <a:gdLst/>
              <a:ahLst/>
              <a:cxnLst/>
              <a:rect l="l" t="t" r="r" b="b"/>
              <a:pathLst>
                <a:path w="1028700">
                  <a:moveTo>
                    <a:pt x="0" y="0"/>
                  </a:moveTo>
                  <a:lnTo>
                    <a:pt x="1028700" y="0"/>
                  </a:lnTo>
                </a:path>
              </a:pathLst>
            </a:custGeom>
            <a:ln w="57912">
              <a:solidFill>
                <a:srgbClr val="000000"/>
              </a:solidFill>
            </a:ln>
          </p:spPr>
          <p:txBody>
            <a:bodyPr wrap="square" lIns="0" tIns="0" rIns="0" bIns="0" rtlCol="0"/>
            <a:lstStyle/>
            <a:p>
              <a:endParaRPr/>
            </a:p>
          </p:txBody>
        </p:sp>
        <p:sp>
          <p:nvSpPr>
            <p:cNvPr id="27" name="object 23">
              <a:extLst>
                <a:ext uri="{FF2B5EF4-FFF2-40B4-BE49-F238E27FC236}">
                  <a16:creationId xmlns:a16="http://schemas.microsoft.com/office/drawing/2014/main" id="{D0F4A47E-19C8-1F9C-A0BB-FF4FAA6BA1F9}"/>
                </a:ext>
              </a:extLst>
            </p:cNvPr>
            <p:cNvSpPr/>
            <p:nvPr/>
          </p:nvSpPr>
          <p:spPr>
            <a:xfrm>
              <a:off x="5160264" y="1825752"/>
              <a:ext cx="1042669" cy="265430"/>
            </a:xfrm>
            <a:custGeom>
              <a:avLst/>
              <a:gdLst/>
              <a:ahLst/>
              <a:cxnLst/>
              <a:rect l="l" t="t" r="r" b="b"/>
              <a:pathLst>
                <a:path w="1042670" h="265430">
                  <a:moveTo>
                    <a:pt x="0" y="265175"/>
                  </a:moveTo>
                  <a:lnTo>
                    <a:pt x="1042415" y="265175"/>
                  </a:lnTo>
                  <a:lnTo>
                    <a:pt x="1042415" y="0"/>
                  </a:lnTo>
                  <a:lnTo>
                    <a:pt x="0" y="0"/>
                  </a:lnTo>
                  <a:lnTo>
                    <a:pt x="0" y="265175"/>
                  </a:lnTo>
                  <a:close/>
                </a:path>
              </a:pathLst>
            </a:custGeom>
            <a:ln w="57912">
              <a:solidFill>
                <a:srgbClr val="000000"/>
              </a:solidFill>
            </a:ln>
          </p:spPr>
          <p:txBody>
            <a:bodyPr wrap="square" lIns="0" tIns="0" rIns="0" bIns="0" rtlCol="0"/>
            <a:lstStyle/>
            <a:p>
              <a:endParaRPr/>
            </a:p>
          </p:txBody>
        </p:sp>
      </p:grpSp>
      <p:sp>
        <p:nvSpPr>
          <p:cNvPr id="30" name="object 26">
            <a:extLst>
              <a:ext uri="{FF2B5EF4-FFF2-40B4-BE49-F238E27FC236}">
                <a16:creationId xmlns:a16="http://schemas.microsoft.com/office/drawing/2014/main" id="{3E8BCF76-6C38-B577-E8A4-D60A5FEB38AD}"/>
              </a:ext>
            </a:extLst>
          </p:cNvPr>
          <p:cNvSpPr txBox="1"/>
          <p:nvPr/>
        </p:nvSpPr>
        <p:spPr>
          <a:xfrm>
            <a:off x="6409944" y="2707386"/>
            <a:ext cx="278765" cy="239395"/>
          </a:xfrm>
          <a:prstGeom prst="rect">
            <a:avLst/>
          </a:prstGeom>
        </p:spPr>
        <p:txBody>
          <a:bodyPr vert="horz" wrap="square" lIns="0" tIns="12700" rIns="0" bIns="0" rtlCol="0">
            <a:spAutoFit/>
          </a:bodyPr>
          <a:lstStyle/>
          <a:p>
            <a:pPr marL="38100">
              <a:lnSpc>
                <a:spcPct val="100000"/>
              </a:lnSpc>
              <a:spcBef>
                <a:spcPts val="100"/>
              </a:spcBef>
            </a:pPr>
            <a:r>
              <a:rPr sz="1400" spc="-25" dirty="0">
                <a:latin typeface="Cambria Math"/>
                <a:cs typeface="Cambria Math"/>
              </a:rPr>
              <a:t>𝑹</a:t>
            </a:r>
            <a:r>
              <a:rPr sz="1500" spc="-37" baseline="-16666" dirty="0">
                <a:latin typeface="Cambria Math"/>
                <a:cs typeface="Cambria Math"/>
              </a:rPr>
              <a:t>𝟐</a:t>
            </a:r>
            <a:endParaRPr sz="1500" baseline="-16666">
              <a:latin typeface="Cambria Math"/>
              <a:cs typeface="Cambria Math"/>
            </a:endParaRPr>
          </a:p>
        </p:txBody>
      </p:sp>
      <p:sp>
        <p:nvSpPr>
          <p:cNvPr id="31" name="object 27">
            <a:extLst>
              <a:ext uri="{FF2B5EF4-FFF2-40B4-BE49-F238E27FC236}">
                <a16:creationId xmlns:a16="http://schemas.microsoft.com/office/drawing/2014/main" id="{0A5245EB-58A6-379F-883C-7D3F444A9361}"/>
              </a:ext>
            </a:extLst>
          </p:cNvPr>
          <p:cNvSpPr txBox="1"/>
          <p:nvPr/>
        </p:nvSpPr>
        <p:spPr>
          <a:xfrm>
            <a:off x="5539485" y="1508506"/>
            <a:ext cx="278765" cy="239395"/>
          </a:xfrm>
          <a:prstGeom prst="rect">
            <a:avLst/>
          </a:prstGeom>
        </p:spPr>
        <p:txBody>
          <a:bodyPr vert="horz" wrap="square" lIns="0" tIns="13335" rIns="0" bIns="0" rtlCol="0">
            <a:spAutoFit/>
          </a:bodyPr>
          <a:lstStyle/>
          <a:p>
            <a:pPr marL="38100">
              <a:lnSpc>
                <a:spcPct val="100000"/>
              </a:lnSpc>
              <a:spcBef>
                <a:spcPts val="105"/>
              </a:spcBef>
            </a:pPr>
            <a:r>
              <a:rPr sz="1400" spc="-25" dirty="0">
                <a:latin typeface="Cambria Math"/>
                <a:cs typeface="Cambria Math"/>
              </a:rPr>
              <a:t>𝑹</a:t>
            </a:r>
            <a:r>
              <a:rPr sz="1500" spc="-37" baseline="-16666" dirty="0">
                <a:latin typeface="Cambria Math"/>
                <a:cs typeface="Cambria Math"/>
              </a:rPr>
              <a:t>𝟏</a:t>
            </a:r>
            <a:endParaRPr sz="1500" baseline="-16666">
              <a:latin typeface="Cambria Math"/>
              <a:cs typeface="Cambria Math"/>
            </a:endParaRPr>
          </a:p>
        </p:txBody>
      </p:sp>
      <p:sp>
        <p:nvSpPr>
          <p:cNvPr id="34" name="object 32">
            <a:extLst>
              <a:ext uri="{FF2B5EF4-FFF2-40B4-BE49-F238E27FC236}">
                <a16:creationId xmlns:a16="http://schemas.microsoft.com/office/drawing/2014/main" id="{F50D9ABD-1125-AB40-8C1B-45FFC850001F}"/>
              </a:ext>
            </a:extLst>
          </p:cNvPr>
          <p:cNvSpPr/>
          <p:nvPr/>
        </p:nvSpPr>
        <p:spPr>
          <a:xfrm>
            <a:off x="8403512" y="1991867"/>
            <a:ext cx="161715" cy="1639570"/>
          </a:xfrm>
          <a:custGeom>
            <a:avLst/>
            <a:gdLst/>
            <a:ahLst/>
            <a:cxnLst/>
            <a:rect l="l" t="t" r="r" b="b"/>
            <a:pathLst>
              <a:path w="173990" h="1639570">
                <a:moveTo>
                  <a:pt x="115824" y="144780"/>
                </a:moveTo>
                <a:lnTo>
                  <a:pt x="57911" y="144780"/>
                </a:lnTo>
                <a:lnTo>
                  <a:pt x="57911" y="1639189"/>
                </a:lnTo>
                <a:lnTo>
                  <a:pt x="115824" y="1639189"/>
                </a:lnTo>
                <a:lnTo>
                  <a:pt x="115824" y="144780"/>
                </a:lnTo>
                <a:close/>
              </a:path>
              <a:path w="173990" h="1639570">
                <a:moveTo>
                  <a:pt x="86867" y="0"/>
                </a:moveTo>
                <a:lnTo>
                  <a:pt x="0" y="173736"/>
                </a:lnTo>
                <a:lnTo>
                  <a:pt x="57911" y="173736"/>
                </a:lnTo>
                <a:lnTo>
                  <a:pt x="57911" y="144780"/>
                </a:lnTo>
                <a:lnTo>
                  <a:pt x="159257" y="144780"/>
                </a:lnTo>
                <a:lnTo>
                  <a:pt x="86867" y="0"/>
                </a:lnTo>
                <a:close/>
              </a:path>
              <a:path w="173990" h="1639570">
                <a:moveTo>
                  <a:pt x="159257" y="144780"/>
                </a:moveTo>
                <a:lnTo>
                  <a:pt x="115824" y="144780"/>
                </a:lnTo>
                <a:lnTo>
                  <a:pt x="115824" y="173736"/>
                </a:lnTo>
                <a:lnTo>
                  <a:pt x="173735" y="173736"/>
                </a:lnTo>
                <a:lnTo>
                  <a:pt x="159257" y="144780"/>
                </a:lnTo>
                <a:close/>
              </a:path>
            </a:pathLst>
          </a:custGeom>
          <a:solidFill>
            <a:srgbClr val="3333FF"/>
          </a:solidFill>
        </p:spPr>
        <p:txBody>
          <a:bodyPr wrap="square" lIns="0" tIns="0" rIns="0" bIns="0" rtlCol="0"/>
          <a:lstStyle/>
          <a:p>
            <a:endParaRPr/>
          </a:p>
        </p:txBody>
      </p:sp>
      <p:sp>
        <p:nvSpPr>
          <p:cNvPr id="36" name="object 38">
            <a:extLst>
              <a:ext uri="{FF2B5EF4-FFF2-40B4-BE49-F238E27FC236}">
                <a16:creationId xmlns:a16="http://schemas.microsoft.com/office/drawing/2014/main" id="{DBFE9ECE-945C-9718-F240-D8D9927DC9CD}"/>
              </a:ext>
            </a:extLst>
          </p:cNvPr>
          <p:cNvSpPr txBox="1"/>
          <p:nvPr/>
        </p:nvSpPr>
        <p:spPr>
          <a:xfrm>
            <a:off x="8516863" y="2786844"/>
            <a:ext cx="356235" cy="205184"/>
          </a:xfrm>
          <a:prstGeom prst="rect">
            <a:avLst/>
          </a:prstGeom>
        </p:spPr>
        <p:txBody>
          <a:bodyPr vert="horz" wrap="square" lIns="0" tIns="12700" rIns="0" bIns="0" rtlCol="0">
            <a:spAutoFit/>
          </a:bodyPr>
          <a:lstStyle/>
          <a:p>
            <a:pPr marL="38100">
              <a:lnSpc>
                <a:spcPts val="1490"/>
              </a:lnSpc>
              <a:spcBef>
                <a:spcPts val="100"/>
              </a:spcBef>
            </a:pPr>
            <a:r>
              <a:rPr sz="2100" spc="-37" baseline="11904" dirty="0">
                <a:solidFill>
                  <a:srgbClr val="3333FF"/>
                </a:solidFill>
                <a:latin typeface="Cambria Math"/>
                <a:cs typeface="Cambria Math"/>
              </a:rPr>
              <a:t>𝑬</a:t>
            </a:r>
            <a:r>
              <a:rPr sz="1000" spc="-25" dirty="0">
                <a:solidFill>
                  <a:srgbClr val="3333FF"/>
                </a:solidFill>
                <a:latin typeface="Cambria Math"/>
                <a:cs typeface="Cambria Math"/>
              </a:rPr>
              <a:t>𝑻𝒉</a:t>
            </a:r>
            <a:endParaRPr sz="1000" dirty="0">
              <a:latin typeface="Cambria Math"/>
              <a:cs typeface="Cambria Math"/>
            </a:endParaRPr>
          </a:p>
        </p:txBody>
      </p:sp>
      <p:sp>
        <p:nvSpPr>
          <p:cNvPr id="37" name="object 40">
            <a:extLst>
              <a:ext uri="{FF2B5EF4-FFF2-40B4-BE49-F238E27FC236}">
                <a16:creationId xmlns:a16="http://schemas.microsoft.com/office/drawing/2014/main" id="{0C0F9105-77FB-2E70-4FDF-FC01C9F4585F}"/>
              </a:ext>
            </a:extLst>
          </p:cNvPr>
          <p:cNvSpPr txBox="1"/>
          <p:nvPr/>
        </p:nvSpPr>
        <p:spPr>
          <a:xfrm>
            <a:off x="3723957" y="2893948"/>
            <a:ext cx="158750" cy="239395"/>
          </a:xfrm>
          <a:prstGeom prst="rect">
            <a:avLst/>
          </a:prstGeom>
        </p:spPr>
        <p:txBody>
          <a:bodyPr vert="horz" wrap="square" lIns="0" tIns="12700" rIns="0" bIns="0" rtlCol="0">
            <a:spAutoFit/>
          </a:bodyPr>
          <a:lstStyle/>
          <a:p>
            <a:pPr marL="12700">
              <a:lnSpc>
                <a:spcPct val="100000"/>
              </a:lnSpc>
              <a:spcBef>
                <a:spcPts val="100"/>
              </a:spcBef>
            </a:pPr>
            <a:r>
              <a:rPr sz="1400" spc="-840" dirty="0">
                <a:latin typeface="Cambria Math"/>
                <a:cs typeface="Cambria Math"/>
              </a:rPr>
              <a:t>𝑬</a:t>
            </a:r>
            <a:r>
              <a:rPr sz="2100" b="1" spc="-44" baseline="1984" dirty="0">
                <a:latin typeface="Times New Roman"/>
                <a:cs typeface="Times New Roman"/>
              </a:rPr>
              <a:t>E</a:t>
            </a:r>
            <a:endParaRPr sz="2100" baseline="1984" dirty="0">
              <a:latin typeface="Times New Roman"/>
              <a:cs typeface="Times New Roman"/>
            </a:endParaRPr>
          </a:p>
        </p:txBody>
      </p:sp>
      <p:sp>
        <p:nvSpPr>
          <p:cNvPr id="44" name="TextBox 43">
            <a:extLst>
              <a:ext uri="{FF2B5EF4-FFF2-40B4-BE49-F238E27FC236}">
                <a16:creationId xmlns:a16="http://schemas.microsoft.com/office/drawing/2014/main" id="{AEDCA06A-8A4E-8161-FFD5-059C1BB1AAAF}"/>
              </a:ext>
            </a:extLst>
          </p:cNvPr>
          <p:cNvSpPr txBox="1"/>
          <p:nvPr/>
        </p:nvSpPr>
        <p:spPr>
          <a:xfrm>
            <a:off x="7692482" y="2744039"/>
            <a:ext cx="739681" cy="272639"/>
          </a:xfrm>
          <a:prstGeom prst="rect">
            <a:avLst/>
          </a:prstGeom>
          <a:noFill/>
        </p:spPr>
        <p:txBody>
          <a:bodyPr wrap="square">
            <a:spAutoFit/>
          </a:bodyPr>
          <a:lstStyle/>
          <a:p>
            <a:pPr marL="58419">
              <a:lnSpc>
                <a:spcPts val="1490"/>
              </a:lnSpc>
            </a:pPr>
            <a:r>
              <a:rPr lang="fr-FR" sz="1200" b="1" spc="-50" dirty="0">
                <a:latin typeface="Times New Roman"/>
                <a:cs typeface="Times New Roman"/>
              </a:rPr>
              <a:t>R</a:t>
            </a:r>
            <a:endParaRPr lang="fr-FR" sz="1200" dirty="0">
              <a:latin typeface="Times New Roman"/>
              <a:cs typeface="Times New Roman"/>
            </a:endParaRPr>
          </a:p>
        </p:txBody>
      </p:sp>
      <p:cxnSp>
        <p:nvCxnSpPr>
          <p:cNvPr id="48" name="Straight Connector 47">
            <a:extLst>
              <a:ext uri="{FF2B5EF4-FFF2-40B4-BE49-F238E27FC236}">
                <a16:creationId xmlns:a16="http://schemas.microsoft.com/office/drawing/2014/main" id="{ED485B13-3DE0-86D3-F993-C7EA23D42D10}"/>
              </a:ext>
            </a:extLst>
          </p:cNvPr>
          <p:cNvCxnSpPr>
            <a:cxnSpLocks/>
          </p:cNvCxnSpPr>
          <p:nvPr/>
        </p:nvCxnSpPr>
        <p:spPr>
          <a:xfrm>
            <a:off x="4110228" y="1948729"/>
            <a:ext cx="0" cy="1871684"/>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176A9CCF-3F40-E2D7-AD04-467297D199BB}"/>
              </a:ext>
            </a:extLst>
          </p:cNvPr>
          <p:cNvCxnSpPr>
            <a:cxnSpLocks/>
          </p:cNvCxnSpPr>
          <p:nvPr/>
        </p:nvCxnSpPr>
        <p:spPr>
          <a:xfrm flipV="1">
            <a:off x="4085001" y="3807057"/>
            <a:ext cx="2150526" cy="13356"/>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object 39">
            <a:extLst>
              <a:ext uri="{FF2B5EF4-FFF2-40B4-BE49-F238E27FC236}">
                <a16:creationId xmlns:a16="http://schemas.microsoft.com/office/drawing/2014/main" id="{2358B70B-BBC9-E362-134F-79A8DFF8C5BD}"/>
              </a:ext>
            </a:extLst>
          </p:cNvPr>
          <p:cNvSpPr/>
          <p:nvPr/>
        </p:nvSpPr>
        <p:spPr>
          <a:xfrm>
            <a:off x="3934968" y="2691383"/>
            <a:ext cx="350520" cy="405130"/>
          </a:xfrm>
          <a:custGeom>
            <a:avLst/>
            <a:gdLst/>
            <a:ahLst/>
            <a:cxnLst/>
            <a:rect l="l" t="t" r="r" b="b"/>
            <a:pathLst>
              <a:path w="350520" h="405130">
                <a:moveTo>
                  <a:pt x="0" y="229362"/>
                </a:moveTo>
                <a:lnTo>
                  <a:pt x="8936" y="188659"/>
                </a:lnTo>
                <a:lnTo>
                  <a:pt x="33820" y="153308"/>
                </a:lnTo>
                <a:lnTo>
                  <a:pt x="71762" y="125431"/>
                </a:lnTo>
                <a:lnTo>
                  <a:pt x="119871" y="107149"/>
                </a:lnTo>
                <a:lnTo>
                  <a:pt x="175260" y="100583"/>
                </a:lnTo>
                <a:lnTo>
                  <a:pt x="230648" y="107149"/>
                </a:lnTo>
                <a:lnTo>
                  <a:pt x="278757" y="125431"/>
                </a:lnTo>
                <a:lnTo>
                  <a:pt x="316699" y="153308"/>
                </a:lnTo>
                <a:lnTo>
                  <a:pt x="341583" y="188659"/>
                </a:lnTo>
                <a:lnTo>
                  <a:pt x="350520" y="229362"/>
                </a:lnTo>
                <a:lnTo>
                  <a:pt x="341583" y="270064"/>
                </a:lnTo>
                <a:lnTo>
                  <a:pt x="316699" y="305415"/>
                </a:lnTo>
                <a:lnTo>
                  <a:pt x="278757" y="333292"/>
                </a:lnTo>
                <a:lnTo>
                  <a:pt x="230648" y="351574"/>
                </a:lnTo>
                <a:lnTo>
                  <a:pt x="175260" y="358139"/>
                </a:lnTo>
                <a:lnTo>
                  <a:pt x="119871" y="351574"/>
                </a:lnTo>
                <a:lnTo>
                  <a:pt x="71762" y="333292"/>
                </a:lnTo>
                <a:lnTo>
                  <a:pt x="33820" y="305415"/>
                </a:lnTo>
                <a:lnTo>
                  <a:pt x="8936" y="270064"/>
                </a:lnTo>
                <a:lnTo>
                  <a:pt x="0" y="229362"/>
                </a:lnTo>
                <a:close/>
              </a:path>
              <a:path w="350520" h="405130">
                <a:moveTo>
                  <a:pt x="175260" y="0"/>
                </a:moveTo>
                <a:lnTo>
                  <a:pt x="175260" y="405002"/>
                </a:lnTo>
              </a:path>
            </a:pathLst>
          </a:custGeom>
          <a:ln w="57912">
            <a:solidFill>
              <a:srgbClr val="000000"/>
            </a:solidFill>
          </a:ln>
        </p:spPr>
        <p:txBody>
          <a:bodyPr wrap="square" lIns="0" tIns="0" rIns="0" bIns="0" rtlCol="0"/>
          <a:lstStyle/>
          <a:p>
            <a:endParaRPr/>
          </a:p>
        </p:txBody>
      </p:sp>
      <p:cxnSp>
        <p:nvCxnSpPr>
          <p:cNvPr id="58" name="Straight Connector 57">
            <a:extLst>
              <a:ext uri="{FF2B5EF4-FFF2-40B4-BE49-F238E27FC236}">
                <a16:creationId xmlns:a16="http://schemas.microsoft.com/office/drawing/2014/main" id="{28C7061B-0FEB-D00A-406C-5D62F085841A}"/>
              </a:ext>
            </a:extLst>
          </p:cNvPr>
          <p:cNvCxnSpPr/>
          <p:nvPr/>
        </p:nvCxnSpPr>
        <p:spPr>
          <a:xfrm>
            <a:off x="4118557" y="2675076"/>
            <a:ext cx="0" cy="437744"/>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59" name="object 2">
            <a:extLst>
              <a:ext uri="{FF2B5EF4-FFF2-40B4-BE49-F238E27FC236}">
                <a16:creationId xmlns:a16="http://schemas.microsoft.com/office/drawing/2014/main" id="{67C66285-47F3-1BFB-9EB2-1B1702F3E389}"/>
              </a:ext>
            </a:extLst>
          </p:cNvPr>
          <p:cNvSpPr/>
          <p:nvPr/>
        </p:nvSpPr>
        <p:spPr>
          <a:xfrm>
            <a:off x="7769487" y="1998358"/>
            <a:ext cx="265430" cy="1844039"/>
          </a:xfrm>
          <a:custGeom>
            <a:avLst/>
            <a:gdLst/>
            <a:ahLst/>
            <a:cxnLst/>
            <a:rect l="l" t="t" r="r" b="b"/>
            <a:pathLst>
              <a:path w="265429" h="1844039">
                <a:moveTo>
                  <a:pt x="0" y="1438656"/>
                </a:moveTo>
                <a:lnTo>
                  <a:pt x="265175" y="1438656"/>
                </a:lnTo>
                <a:lnTo>
                  <a:pt x="265175" y="394716"/>
                </a:lnTo>
                <a:lnTo>
                  <a:pt x="0" y="394716"/>
                </a:lnTo>
                <a:lnTo>
                  <a:pt x="0" y="1438656"/>
                </a:lnTo>
                <a:close/>
              </a:path>
              <a:path w="265429" h="1844039">
                <a:moveTo>
                  <a:pt x="132587" y="1438656"/>
                </a:moveTo>
                <a:lnTo>
                  <a:pt x="132587" y="1843659"/>
                </a:lnTo>
              </a:path>
              <a:path w="265429" h="1844039">
                <a:moveTo>
                  <a:pt x="132587" y="0"/>
                </a:moveTo>
                <a:lnTo>
                  <a:pt x="132587" y="405002"/>
                </a:lnTo>
              </a:path>
            </a:pathLst>
          </a:custGeom>
          <a:ln w="57912">
            <a:solidFill>
              <a:srgbClr val="000000"/>
            </a:solidFill>
          </a:ln>
        </p:spPr>
        <p:txBody>
          <a:bodyPr wrap="square" lIns="0" tIns="0" rIns="0" bIns="0" rtlCol="0"/>
          <a:lstStyle/>
          <a:p>
            <a:endParaRPr/>
          </a:p>
        </p:txBody>
      </p:sp>
      <p:cxnSp>
        <p:nvCxnSpPr>
          <p:cNvPr id="60" name="Straight Connector 59">
            <a:extLst>
              <a:ext uri="{FF2B5EF4-FFF2-40B4-BE49-F238E27FC236}">
                <a16:creationId xmlns:a16="http://schemas.microsoft.com/office/drawing/2014/main" id="{8A17A791-6435-F94D-09E5-2DEB942DF5AA}"/>
              </a:ext>
            </a:extLst>
          </p:cNvPr>
          <p:cNvCxnSpPr>
            <a:cxnSpLocks/>
          </p:cNvCxnSpPr>
          <p:nvPr/>
        </p:nvCxnSpPr>
        <p:spPr>
          <a:xfrm flipV="1">
            <a:off x="5744554" y="3807057"/>
            <a:ext cx="2150526" cy="13356"/>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659FA6CD-9C97-ED36-1F31-6EC1778693F3}"/>
              </a:ext>
            </a:extLst>
          </p:cNvPr>
          <p:cNvCxnSpPr>
            <a:cxnSpLocks/>
          </p:cNvCxnSpPr>
          <p:nvPr/>
        </p:nvCxnSpPr>
        <p:spPr>
          <a:xfrm>
            <a:off x="6211965" y="1954149"/>
            <a:ext cx="1710304" cy="14641"/>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27490B7B-9581-2F1E-25EB-6575578DE577}"/>
                  </a:ext>
                </a:extLst>
              </p:cNvPr>
              <p:cNvSpPr txBox="1"/>
              <p:nvPr/>
            </p:nvSpPr>
            <p:spPr>
              <a:xfrm>
                <a:off x="576301" y="3842397"/>
                <a:ext cx="1517851" cy="56387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𝒕𝒉</m:t>
                          </m:r>
                        </m:sub>
                      </m:sSub>
                      <m:r>
                        <a:rPr lang="fr-FR" b="1" i="1" smtClean="0">
                          <a:latin typeface="Cambria Math" panose="02040503050406030204" pitchFamily="18" charset="0"/>
                        </a:rPr>
                        <m:t>=</m:t>
                      </m:r>
                      <m:f>
                        <m:fPr>
                          <m:ctrlPr>
                            <a:rPr lang="fr-FR" b="1" i="1" smtClean="0">
                              <a:latin typeface="Cambria Math" panose="02040503050406030204" pitchFamily="18" charset="0"/>
                            </a:rPr>
                          </m:ctrlPr>
                        </m:fPr>
                        <m:num>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𝟏</m:t>
                              </m:r>
                            </m:sub>
                          </m:sSub>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𝟐</m:t>
                              </m:r>
                            </m:sub>
                          </m:sSub>
                        </m:num>
                        <m:den>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𝟏</m:t>
                              </m:r>
                            </m:sub>
                          </m:sSub>
                          <m:r>
                            <a:rPr lang="fr-FR" b="1" i="1" smtClean="0">
                              <a:latin typeface="Cambria Math" panose="02040503050406030204" pitchFamily="18" charset="0"/>
                            </a:rPr>
                            <m:t>+</m:t>
                          </m:r>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𝟐</m:t>
                              </m:r>
                            </m:sub>
                          </m:sSub>
                        </m:den>
                      </m:f>
                    </m:oMath>
                  </m:oMathPara>
                </a14:m>
                <a:endParaRPr lang="fr-FR" b="1" dirty="0"/>
              </a:p>
            </p:txBody>
          </p:sp>
        </mc:Choice>
        <mc:Fallback xmlns="">
          <p:sp>
            <p:nvSpPr>
              <p:cNvPr id="73" name="TextBox 72">
                <a:extLst>
                  <a:ext uri="{FF2B5EF4-FFF2-40B4-BE49-F238E27FC236}">
                    <a16:creationId xmlns:a16="http://schemas.microsoft.com/office/drawing/2014/main" id="{27490B7B-9581-2F1E-25EB-6575578DE577}"/>
                  </a:ext>
                </a:extLst>
              </p:cNvPr>
              <p:cNvSpPr txBox="1">
                <a:spLocks noRot="1" noChangeAspect="1" noMove="1" noResize="1" noEditPoints="1" noAdjustHandles="1" noChangeArrowheads="1" noChangeShapeType="1" noTextEdit="1"/>
              </p:cNvSpPr>
              <p:nvPr/>
            </p:nvSpPr>
            <p:spPr>
              <a:xfrm>
                <a:off x="576301" y="3842397"/>
                <a:ext cx="1517851" cy="563872"/>
              </a:xfrm>
              <a:prstGeom prst="rect">
                <a:avLst/>
              </a:prstGeom>
              <a:blipFill>
                <a:blip r:embed="rId5"/>
                <a:stretch>
                  <a:fillRect/>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2F095821-EA84-2A46-1F9F-BAE9E1B60ED3}"/>
                  </a:ext>
                </a:extLst>
              </p:cNvPr>
              <p:cNvSpPr txBox="1"/>
              <p:nvPr/>
            </p:nvSpPr>
            <p:spPr>
              <a:xfrm>
                <a:off x="3803332" y="4182621"/>
                <a:ext cx="1697388" cy="56387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𝑬</m:t>
                          </m:r>
                        </m:e>
                        <m:sub>
                          <m:r>
                            <a:rPr lang="fr-FR" b="1" i="1" smtClean="0">
                              <a:latin typeface="Cambria Math" panose="02040503050406030204" pitchFamily="18" charset="0"/>
                            </a:rPr>
                            <m:t>𝒕𝒉</m:t>
                          </m:r>
                        </m:sub>
                      </m:sSub>
                      <m:r>
                        <a:rPr lang="fr-FR" b="1" i="1" smtClean="0">
                          <a:latin typeface="Cambria Math" panose="02040503050406030204" pitchFamily="18" charset="0"/>
                        </a:rPr>
                        <m:t>=</m:t>
                      </m:r>
                      <m:f>
                        <m:fPr>
                          <m:ctrlPr>
                            <a:rPr lang="fr-FR" b="1" i="1" smtClean="0">
                              <a:latin typeface="Cambria Math" panose="02040503050406030204" pitchFamily="18" charset="0"/>
                            </a:rPr>
                          </m:ctrlPr>
                        </m:fPr>
                        <m:num>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𝟐</m:t>
                              </m:r>
                            </m:sub>
                          </m:sSub>
                        </m:num>
                        <m:den>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𝟏</m:t>
                              </m:r>
                            </m:sub>
                          </m:sSub>
                          <m:r>
                            <a:rPr lang="fr-FR" b="1" i="1" smtClean="0">
                              <a:latin typeface="Cambria Math" panose="02040503050406030204" pitchFamily="18" charset="0"/>
                            </a:rPr>
                            <m:t>+</m:t>
                          </m:r>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𝟐</m:t>
                              </m:r>
                            </m:sub>
                          </m:sSub>
                        </m:den>
                      </m:f>
                      <m:r>
                        <a:rPr lang="fr-FR" b="1" i="1" smtClean="0">
                          <a:latin typeface="Cambria Math" panose="02040503050406030204" pitchFamily="18" charset="0"/>
                        </a:rPr>
                        <m:t>𝑬</m:t>
                      </m:r>
                    </m:oMath>
                  </m:oMathPara>
                </a14:m>
                <a:endParaRPr lang="fr-FR" b="1" dirty="0"/>
              </a:p>
            </p:txBody>
          </p:sp>
        </mc:Choice>
        <mc:Fallback xmlns="">
          <p:sp>
            <p:nvSpPr>
              <p:cNvPr id="75" name="TextBox 74">
                <a:extLst>
                  <a:ext uri="{FF2B5EF4-FFF2-40B4-BE49-F238E27FC236}">
                    <a16:creationId xmlns:a16="http://schemas.microsoft.com/office/drawing/2014/main" id="{2F095821-EA84-2A46-1F9F-BAE9E1B60ED3}"/>
                  </a:ext>
                </a:extLst>
              </p:cNvPr>
              <p:cNvSpPr txBox="1">
                <a:spLocks noRot="1" noChangeAspect="1" noMove="1" noResize="1" noEditPoints="1" noAdjustHandles="1" noChangeArrowheads="1" noChangeShapeType="1" noTextEdit="1"/>
              </p:cNvSpPr>
              <p:nvPr/>
            </p:nvSpPr>
            <p:spPr>
              <a:xfrm>
                <a:off x="3803332" y="4182621"/>
                <a:ext cx="1697388" cy="563872"/>
              </a:xfrm>
              <a:prstGeom prst="rect">
                <a:avLst/>
              </a:prstGeom>
              <a:blipFill>
                <a:blip r:embed="rId6"/>
                <a:stretch>
                  <a:fillRect/>
                </a:stretch>
              </a:blipFill>
            </p:spPr>
            <p:txBody>
              <a:bodyPr/>
              <a:lstStyle/>
              <a:p>
                <a:r>
                  <a:rPr lang="fr-FR">
                    <a:noFill/>
                  </a:rPr>
                  <a:t> </a:t>
                </a:r>
              </a:p>
            </p:txBody>
          </p:sp>
        </mc:Fallback>
      </mc:AlternateContent>
    </p:spTree>
    <p:extLst>
      <p:ext uri="{BB962C8B-B14F-4D97-AF65-F5344CB8AC3E}">
        <p14:creationId xmlns:p14="http://schemas.microsoft.com/office/powerpoint/2010/main" val="413432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xit" presetSubtype="0" fill="hold" grpId="0" nodeType="clickEffect">
                                  <p:stCondLst>
                                    <p:cond delay="0"/>
                                  </p:stCondLst>
                                  <p:childTnLst>
                                    <p:animEffect transition="out" filter="fade">
                                      <p:cBhvr>
                                        <p:cTn id="6" dur="1000"/>
                                        <p:tgtEl>
                                          <p:spTgt spid="59"/>
                                        </p:tgtEl>
                                      </p:cBhvr>
                                    </p:animEffect>
                                    <p:anim calcmode="lin" valueType="num">
                                      <p:cBhvr>
                                        <p:cTn id="7" dur="1000"/>
                                        <p:tgtEl>
                                          <p:spTgt spid="59"/>
                                        </p:tgtEl>
                                        <p:attrNameLst>
                                          <p:attrName>ppt_x</p:attrName>
                                        </p:attrNameLst>
                                      </p:cBhvr>
                                      <p:tavLst>
                                        <p:tav tm="0">
                                          <p:val>
                                            <p:strVal val="ppt_x"/>
                                          </p:val>
                                        </p:tav>
                                        <p:tav tm="100000">
                                          <p:val>
                                            <p:strVal val="ppt_x"/>
                                          </p:val>
                                        </p:tav>
                                      </p:tavLst>
                                    </p:anim>
                                    <p:anim calcmode="lin" valueType="num">
                                      <p:cBhvr>
                                        <p:cTn id="8" dur="1000"/>
                                        <p:tgtEl>
                                          <p:spTgt spid="59"/>
                                        </p:tgtEl>
                                        <p:attrNameLst>
                                          <p:attrName>ppt_y</p:attrName>
                                        </p:attrNameLst>
                                      </p:cBhvr>
                                      <p:tavLst>
                                        <p:tav tm="0">
                                          <p:val>
                                            <p:strVal val="ppt_y"/>
                                          </p:val>
                                        </p:tav>
                                        <p:tav tm="100000">
                                          <p:val>
                                            <p:strVal val="ppt_y+.1"/>
                                          </p:val>
                                        </p:tav>
                                      </p:tavLst>
                                    </p:anim>
                                    <p:set>
                                      <p:cBhvr>
                                        <p:cTn id="9" dur="1" fill="hold">
                                          <p:stCondLst>
                                            <p:cond delay="999"/>
                                          </p:stCondLst>
                                        </p:cTn>
                                        <p:tgtEl>
                                          <p:spTgt spid="59"/>
                                        </p:tgtEl>
                                        <p:attrNameLst>
                                          <p:attrName>style.visibility</p:attrName>
                                        </p:attrNameLst>
                                      </p:cBhvr>
                                      <p:to>
                                        <p:strVal val="hidden"/>
                                      </p:to>
                                    </p:set>
                                  </p:childTnLst>
                                </p:cTn>
                              </p:par>
                              <p:par>
                                <p:cTn id="10" presetID="42" presetClass="exit" presetSubtype="0" fill="hold" grpId="0" nodeType="withEffect">
                                  <p:stCondLst>
                                    <p:cond delay="0"/>
                                  </p:stCondLst>
                                  <p:childTnLst>
                                    <p:animEffect transition="out" filter="fade">
                                      <p:cBhvr>
                                        <p:cTn id="11" dur="1000"/>
                                        <p:tgtEl>
                                          <p:spTgt spid="44"/>
                                        </p:tgtEl>
                                      </p:cBhvr>
                                    </p:animEffect>
                                    <p:anim calcmode="lin" valueType="num">
                                      <p:cBhvr>
                                        <p:cTn id="12" dur="1000"/>
                                        <p:tgtEl>
                                          <p:spTgt spid="44"/>
                                        </p:tgtEl>
                                        <p:attrNameLst>
                                          <p:attrName>ppt_x</p:attrName>
                                        </p:attrNameLst>
                                      </p:cBhvr>
                                      <p:tavLst>
                                        <p:tav tm="0">
                                          <p:val>
                                            <p:strVal val="ppt_x"/>
                                          </p:val>
                                        </p:tav>
                                        <p:tav tm="100000">
                                          <p:val>
                                            <p:strVal val="ppt_x"/>
                                          </p:val>
                                        </p:tav>
                                      </p:tavLst>
                                    </p:anim>
                                    <p:anim calcmode="lin" valueType="num">
                                      <p:cBhvr>
                                        <p:cTn id="13" dur="1000"/>
                                        <p:tgtEl>
                                          <p:spTgt spid="44"/>
                                        </p:tgtEl>
                                        <p:attrNameLst>
                                          <p:attrName>ppt_y</p:attrName>
                                        </p:attrNameLst>
                                      </p:cBhvr>
                                      <p:tavLst>
                                        <p:tav tm="0">
                                          <p:val>
                                            <p:strVal val="ppt_y"/>
                                          </p:val>
                                        </p:tav>
                                        <p:tav tm="100000">
                                          <p:val>
                                            <p:strVal val="ppt_y+.1"/>
                                          </p:val>
                                        </p:tav>
                                      </p:tavLst>
                                    </p:anim>
                                    <p:set>
                                      <p:cBhvr>
                                        <p:cTn id="14" dur="1" fill="hold">
                                          <p:stCondLst>
                                            <p:cond delay="999"/>
                                          </p:stCondLst>
                                        </p:cTn>
                                        <p:tgtEl>
                                          <p:spTgt spid="44"/>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6" presetClass="exit" presetSubtype="21" fill="hold" grpId="0" nodeType="clickEffect">
                                  <p:stCondLst>
                                    <p:cond delay="0"/>
                                  </p:stCondLst>
                                  <p:childTnLst>
                                    <p:animEffect transition="out" filter="barn(inVertical)">
                                      <p:cBhvr>
                                        <p:cTn id="18" dur="500"/>
                                        <p:tgtEl>
                                          <p:spTgt spid="55"/>
                                        </p:tgtEl>
                                      </p:cBhvr>
                                    </p:animEffect>
                                    <p:set>
                                      <p:cBhvr>
                                        <p:cTn id="19" dur="1" fill="hold">
                                          <p:stCondLst>
                                            <p:cond delay="499"/>
                                          </p:stCondLst>
                                        </p:cTn>
                                        <p:tgtEl>
                                          <p:spTgt spid="55"/>
                                        </p:tgtEl>
                                        <p:attrNameLst>
                                          <p:attrName>style.visibility</p:attrName>
                                        </p:attrNameLst>
                                      </p:cBhvr>
                                      <p:to>
                                        <p:strVal val="hidden"/>
                                      </p:to>
                                    </p:set>
                                  </p:childTnLst>
                                </p:cTn>
                              </p:par>
                              <p:par>
                                <p:cTn id="20" presetID="16" presetClass="exit" presetSubtype="21" fill="hold" grpId="0" nodeType="withEffect">
                                  <p:stCondLst>
                                    <p:cond delay="0"/>
                                  </p:stCondLst>
                                  <p:childTnLst>
                                    <p:animEffect transition="out" filter="barn(inVertical)">
                                      <p:cBhvr>
                                        <p:cTn id="21" dur="500"/>
                                        <p:tgtEl>
                                          <p:spTgt spid="37"/>
                                        </p:tgtEl>
                                      </p:cBhvr>
                                    </p:animEffect>
                                    <p:set>
                                      <p:cBhvr>
                                        <p:cTn id="22" dur="1" fill="hold">
                                          <p:stCondLst>
                                            <p:cond delay="499"/>
                                          </p:stCondLst>
                                        </p:cTn>
                                        <p:tgtEl>
                                          <p:spTgt spid="37"/>
                                        </p:tgtEl>
                                        <p:attrNameLst>
                                          <p:attrName>style.visibility</p:attrName>
                                        </p:attrNameLst>
                                      </p:cBhvr>
                                      <p:to>
                                        <p:strVal val="hidden"/>
                                      </p:to>
                                    </p:set>
                                  </p:childTnLst>
                                </p:cTn>
                              </p:par>
                              <p:par>
                                <p:cTn id="23" presetID="2" presetClass="entr" presetSubtype="4" fill="hold" nodeType="withEffect">
                                  <p:stCondLst>
                                    <p:cond delay="0"/>
                                  </p:stCondLst>
                                  <p:childTnLst>
                                    <p:set>
                                      <p:cBhvr>
                                        <p:cTn id="24" dur="1" fill="hold">
                                          <p:stCondLst>
                                            <p:cond delay="0"/>
                                          </p:stCondLst>
                                        </p:cTn>
                                        <p:tgtEl>
                                          <p:spTgt spid="58"/>
                                        </p:tgtEl>
                                        <p:attrNameLst>
                                          <p:attrName>style.visibility</p:attrName>
                                        </p:attrNameLst>
                                      </p:cBhvr>
                                      <p:to>
                                        <p:strVal val="visible"/>
                                      </p:to>
                                    </p:set>
                                    <p:anim calcmode="lin" valueType="num">
                                      <p:cBhvr additive="base">
                                        <p:cTn id="25" dur="500" fill="hold"/>
                                        <p:tgtEl>
                                          <p:spTgt spid="58"/>
                                        </p:tgtEl>
                                        <p:attrNameLst>
                                          <p:attrName>ppt_x</p:attrName>
                                        </p:attrNameLst>
                                      </p:cBhvr>
                                      <p:tavLst>
                                        <p:tav tm="0">
                                          <p:val>
                                            <p:strVal val="#ppt_x"/>
                                          </p:val>
                                        </p:tav>
                                        <p:tav tm="100000">
                                          <p:val>
                                            <p:strVal val="#ppt_x"/>
                                          </p:val>
                                        </p:tav>
                                      </p:tavLst>
                                    </p:anim>
                                    <p:anim calcmode="lin" valueType="num">
                                      <p:cBhvr additive="base">
                                        <p:cTn id="26" dur="500" fill="hold"/>
                                        <p:tgtEl>
                                          <p:spTgt spid="5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73"/>
                                        </p:tgtEl>
                                        <p:attrNameLst>
                                          <p:attrName>style.visibility</p:attrName>
                                        </p:attrNameLst>
                                      </p:cBhvr>
                                      <p:to>
                                        <p:strVal val="visible"/>
                                      </p:to>
                                    </p:set>
                                    <p:anim calcmode="lin" valueType="num">
                                      <p:cBhvr additive="base">
                                        <p:cTn id="31" dur="500" fill="hold"/>
                                        <p:tgtEl>
                                          <p:spTgt spid="73"/>
                                        </p:tgtEl>
                                        <p:attrNameLst>
                                          <p:attrName>ppt_x</p:attrName>
                                        </p:attrNameLst>
                                      </p:cBhvr>
                                      <p:tavLst>
                                        <p:tav tm="0">
                                          <p:val>
                                            <p:strVal val="#ppt_x"/>
                                          </p:val>
                                        </p:tav>
                                        <p:tav tm="100000">
                                          <p:val>
                                            <p:strVal val="#ppt_x"/>
                                          </p:val>
                                        </p:tav>
                                      </p:tavLst>
                                    </p:anim>
                                    <p:anim calcmode="lin" valueType="num">
                                      <p:cBhvr additive="base">
                                        <p:cTn id="32"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10" presetClass="exit" presetSubtype="0" fill="hold" nodeType="clickEffect">
                                  <p:stCondLst>
                                    <p:cond delay="0"/>
                                  </p:stCondLst>
                                  <p:childTnLst>
                                    <p:animEffect transition="out" filter="fade">
                                      <p:cBhvr>
                                        <p:cTn id="36" dur="500"/>
                                        <p:tgtEl>
                                          <p:spTgt spid="58"/>
                                        </p:tgtEl>
                                      </p:cBhvr>
                                    </p:animEffect>
                                    <p:set>
                                      <p:cBhvr>
                                        <p:cTn id="37" dur="1" fill="hold">
                                          <p:stCondLst>
                                            <p:cond delay="499"/>
                                          </p:stCondLst>
                                        </p:cTn>
                                        <p:tgtEl>
                                          <p:spTgt spid="58"/>
                                        </p:tgtEl>
                                        <p:attrNameLst>
                                          <p:attrName>style.visibility</p:attrName>
                                        </p:attrNameLst>
                                      </p:cBhvr>
                                      <p:to>
                                        <p:strVal val="hidden"/>
                                      </p:to>
                                    </p:set>
                                  </p:childTnLst>
                                </p:cTn>
                              </p:par>
                              <p:par>
                                <p:cTn id="38" presetID="1" presetClass="entr" presetSubtype="0" fill="hold" grpId="1" nodeType="withEffect">
                                  <p:stCondLst>
                                    <p:cond delay="0"/>
                                  </p:stCondLst>
                                  <p:childTnLst>
                                    <p:set>
                                      <p:cBhvr>
                                        <p:cTn id="39" dur="1" fill="hold">
                                          <p:stCondLst>
                                            <p:cond delay="0"/>
                                          </p:stCondLst>
                                        </p:cTn>
                                        <p:tgtEl>
                                          <p:spTgt spid="55"/>
                                        </p:tgtEl>
                                        <p:attrNameLst>
                                          <p:attrName>style.visibility</p:attrName>
                                        </p:attrNameLst>
                                      </p:cBhvr>
                                      <p:to>
                                        <p:strVal val="visible"/>
                                      </p:to>
                                    </p:set>
                                  </p:childTnLst>
                                </p:cTn>
                              </p:par>
                              <p:par>
                                <p:cTn id="40" presetID="1" presetClass="entr" presetSubtype="0" fill="hold" grpId="1" nodeType="withEffect">
                                  <p:stCondLst>
                                    <p:cond delay="0"/>
                                  </p:stCondLst>
                                  <p:childTnLst>
                                    <p:set>
                                      <p:cBhvr>
                                        <p:cTn id="41" dur="1" fill="hold">
                                          <p:stCondLst>
                                            <p:cond delay="0"/>
                                          </p:stCondLst>
                                        </p:cTn>
                                        <p:tgtEl>
                                          <p:spTgt spid="37"/>
                                        </p:tgtEl>
                                        <p:attrNameLst>
                                          <p:attrName>style.visibility</p:attrName>
                                        </p:attrNameLst>
                                      </p:cBhvr>
                                      <p:to>
                                        <p:strVal val="visible"/>
                                      </p:to>
                                    </p:set>
                                  </p:childTnLst>
                                </p:cTn>
                              </p:par>
                              <p:par>
                                <p:cTn id="42" presetID="2" presetClass="entr" presetSubtype="4" fill="hold" grpId="0" nodeType="withEffect">
                                  <p:stCondLst>
                                    <p:cond delay="0"/>
                                  </p:stCondLst>
                                  <p:childTnLst>
                                    <p:set>
                                      <p:cBhvr>
                                        <p:cTn id="43" dur="1" fill="hold">
                                          <p:stCondLst>
                                            <p:cond delay="0"/>
                                          </p:stCondLst>
                                        </p:cTn>
                                        <p:tgtEl>
                                          <p:spTgt spid="75"/>
                                        </p:tgtEl>
                                        <p:attrNameLst>
                                          <p:attrName>style.visibility</p:attrName>
                                        </p:attrNameLst>
                                      </p:cBhvr>
                                      <p:to>
                                        <p:strVal val="visible"/>
                                      </p:to>
                                    </p:set>
                                    <p:anim calcmode="lin" valueType="num">
                                      <p:cBhvr additive="base">
                                        <p:cTn id="44" dur="500" fill="hold"/>
                                        <p:tgtEl>
                                          <p:spTgt spid="75"/>
                                        </p:tgtEl>
                                        <p:attrNameLst>
                                          <p:attrName>ppt_x</p:attrName>
                                        </p:attrNameLst>
                                      </p:cBhvr>
                                      <p:tavLst>
                                        <p:tav tm="0">
                                          <p:val>
                                            <p:strVal val="#ppt_x"/>
                                          </p:val>
                                        </p:tav>
                                        <p:tav tm="100000">
                                          <p:val>
                                            <p:strVal val="#ppt_x"/>
                                          </p:val>
                                        </p:tav>
                                      </p:tavLst>
                                    </p:anim>
                                    <p:anim calcmode="lin" valueType="num">
                                      <p:cBhvr additive="base">
                                        <p:cTn id="45" dur="500" fill="hold"/>
                                        <p:tgtEl>
                                          <p:spTgt spid="7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7" grpId="1"/>
      <p:bldP spid="44" grpId="0"/>
      <p:bldP spid="55" grpId="0" animBg="1"/>
      <p:bldP spid="55" grpId="1" animBg="1"/>
      <p:bldP spid="59" grpId="0" animBg="1"/>
      <p:bldP spid="73" grpId="0"/>
      <p:bldP spid="75" grpId="0"/>
    </p:bldLst>
  </p:timing>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44</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3.2 </a:t>
            </a:r>
            <a:r>
              <a:rPr lang="fr-FR" altLang="fr-FR" sz="1400" b="1" spc="-5" dirty="0">
                <a:solidFill>
                  <a:srgbClr val="CC00CC"/>
                </a:solidFill>
                <a:latin typeface="Bookman Old Style" panose="02050604050505020204" pitchFamily="18" charset="0"/>
                <a:cs typeface="Arial"/>
              </a:rPr>
              <a:t>Théorème de Thévenin </a:t>
            </a:r>
          </a:p>
        </p:txBody>
      </p:sp>
      <p:grpSp>
        <p:nvGrpSpPr>
          <p:cNvPr id="3" name="object 14">
            <a:extLst>
              <a:ext uri="{FF2B5EF4-FFF2-40B4-BE49-F238E27FC236}">
                <a16:creationId xmlns:a16="http://schemas.microsoft.com/office/drawing/2014/main" id="{0BCC0939-7333-D0A9-12C5-4F28BBFD19FD}"/>
              </a:ext>
            </a:extLst>
          </p:cNvPr>
          <p:cNvGrpSpPr/>
          <p:nvPr/>
        </p:nvGrpSpPr>
        <p:grpSpPr>
          <a:xfrm>
            <a:off x="3190660" y="1545272"/>
            <a:ext cx="4505960" cy="2052955"/>
            <a:chOff x="2832861" y="1724914"/>
            <a:chExt cx="4505960" cy="2052955"/>
          </a:xfrm>
        </p:grpSpPr>
        <p:sp>
          <p:nvSpPr>
            <p:cNvPr id="5" name="object 15">
              <a:extLst>
                <a:ext uri="{FF2B5EF4-FFF2-40B4-BE49-F238E27FC236}">
                  <a16:creationId xmlns:a16="http://schemas.microsoft.com/office/drawing/2014/main" id="{CDE34DB0-059A-F0F9-3295-DEC913A4129B}"/>
                </a:ext>
              </a:extLst>
            </p:cNvPr>
            <p:cNvSpPr/>
            <p:nvPr/>
          </p:nvSpPr>
          <p:spPr>
            <a:xfrm>
              <a:off x="3380231" y="1895856"/>
              <a:ext cx="3929379" cy="1852930"/>
            </a:xfrm>
            <a:custGeom>
              <a:avLst/>
              <a:gdLst/>
              <a:ahLst/>
              <a:cxnLst/>
              <a:rect l="l" t="t" r="r" b="b"/>
              <a:pathLst>
                <a:path w="3929379" h="1852929">
                  <a:moveTo>
                    <a:pt x="3663695" y="1447800"/>
                  </a:moveTo>
                  <a:lnTo>
                    <a:pt x="3928871" y="1447800"/>
                  </a:lnTo>
                  <a:lnTo>
                    <a:pt x="3928871" y="405383"/>
                  </a:lnTo>
                  <a:lnTo>
                    <a:pt x="3663695" y="405383"/>
                  </a:lnTo>
                  <a:lnTo>
                    <a:pt x="3663695" y="1447800"/>
                  </a:lnTo>
                  <a:close/>
                </a:path>
                <a:path w="3929379" h="1852929">
                  <a:moveTo>
                    <a:pt x="2078735" y="12192"/>
                  </a:moveTo>
                  <a:lnTo>
                    <a:pt x="3821811" y="12192"/>
                  </a:lnTo>
                </a:path>
                <a:path w="3929379" h="1852929">
                  <a:moveTo>
                    <a:pt x="2078735" y="1840991"/>
                  </a:moveTo>
                  <a:lnTo>
                    <a:pt x="3821811" y="1840991"/>
                  </a:lnTo>
                </a:path>
                <a:path w="3929379" h="1852929">
                  <a:moveTo>
                    <a:pt x="3796284" y="0"/>
                  </a:moveTo>
                  <a:lnTo>
                    <a:pt x="3796284" y="405002"/>
                  </a:lnTo>
                </a:path>
                <a:path w="3929379" h="1852929">
                  <a:moveTo>
                    <a:pt x="3796284" y="1447800"/>
                  </a:moveTo>
                  <a:lnTo>
                    <a:pt x="3796284" y="1852802"/>
                  </a:lnTo>
                </a:path>
                <a:path w="3929379" h="1852929">
                  <a:moveTo>
                    <a:pt x="0" y="9143"/>
                  </a:moveTo>
                  <a:lnTo>
                    <a:pt x="1028700" y="9143"/>
                  </a:lnTo>
                </a:path>
              </a:pathLst>
            </a:custGeom>
            <a:ln w="57912">
              <a:solidFill>
                <a:srgbClr val="000000"/>
              </a:solidFill>
            </a:ln>
          </p:spPr>
          <p:txBody>
            <a:bodyPr wrap="square" lIns="0" tIns="0" rIns="0" bIns="0" rtlCol="0"/>
            <a:lstStyle/>
            <a:p>
              <a:endParaRPr/>
            </a:p>
          </p:txBody>
        </p:sp>
        <p:sp>
          <p:nvSpPr>
            <p:cNvPr id="11" name="object 16">
              <a:extLst>
                <a:ext uri="{FF2B5EF4-FFF2-40B4-BE49-F238E27FC236}">
                  <a16:creationId xmlns:a16="http://schemas.microsoft.com/office/drawing/2014/main" id="{F071204B-FAA4-98D7-EE33-35B9D5442DCF}"/>
                </a:ext>
              </a:extLst>
            </p:cNvPr>
            <p:cNvSpPr/>
            <p:nvPr/>
          </p:nvSpPr>
          <p:spPr>
            <a:xfrm>
              <a:off x="4430267" y="1754124"/>
              <a:ext cx="1042669" cy="265430"/>
            </a:xfrm>
            <a:custGeom>
              <a:avLst/>
              <a:gdLst/>
              <a:ahLst/>
              <a:cxnLst/>
              <a:rect l="l" t="t" r="r" b="b"/>
              <a:pathLst>
                <a:path w="1042670" h="265430">
                  <a:moveTo>
                    <a:pt x="0" y="265175"/>
                  </a:moveTo>
                  <a:lnTo>
                    <a:pt x="1042415" y="265175"/>
                  </a:lnTo>
                  <a:lnTo>
                    <a:pt x="1042415" y="0"/>
                  </a:lnTo>
                  <a:lnTo>
                    <a:pt x="0" y="0"/>
                  </a:lnTo>
                  <a:lnTo>
                    <a:pt x="0" y="265175"/>
                  </a:lnTo>
                  <a:close/>
                </a:path>
              </a:pathLst>
            </a:custGeom>
            <a:ln w="57912">
              <a:solidFill>
                <a:srgbClr val="000000"/>
              </a:solidFill>
            </a:ln>
          </p:spPr>
          <p:txBody>
            <a:bodyPr wrap="square" lIns="0" tIns="0" rIns="0" bIns="0" rtlCol="0"/>
            <a:lstStyle/>
            <a:p>
              <a:endParaRPr/>
            </a:p>
          </p:txBody>
        </p:sp>
        <p:sp>
          <p:nvSpPr>
            <p:cNvPr id="12" name="object 17">
              <a:extLst>
                <a:ext uri="{FF2B5EF4-FFF2-40B4-BE49-F238E27FC236}">
                  <a16:creationId xmlns:a16="http://schemas.microsoft.com/office/drawing/2014/main" id="{F9454E8D-EED0-1809-82C0-1992E63C5D21}"/>
                </a:ext>
              </a:extLst>
            </p:cNvPr>
            <p:cNvSpPr/>
            <p:nvPr/>
          </p:nvSpPr>
          <p:spPr>
            <a:xfrm>
              <a:off x="2862071" y="1892808"/>
              <a:ext cx="2597150" cy="1844675"/>
            </a:xfrm>
            <a:custGeom>
              <a:avLst/>
              <a:gdLst/>
              <a:ahLst/>
              <a:cxnLst/>
              <a:rect l="l" t="t" r="r" b="b"/>
              <a:pathLst>
                <a:path w="2597150" h="1844675">
                  <a:moveTo>
                    <a:pt x="539495" y="12192"/>
                  </a:moveTo>
                  <a:lnTo>
                    <a:pt x="158495" y="12192"/>
                  </a:lnTo>
                </a:path>
                <a:path w="2597150" h="1844675">
                  <a:moveTo>
                    <a:pt x="178307" y="0"/>
                  </a:moveTo>
                  <a:lnTo>
                    <a:pt x="180085" y="1844294"/>
                  </a:lnTo>
                </a:path>
                <a:path w="2597150" h="1844675">
                  <a:moveTo>
                    <a:pt x="0" y="867918"/>
                  </a:moveTo>
                  <a:lnTo>
                    <a:pt x="6261" y="826404"/>
                  </a:lnTo>
                  <a:lnTo>
                    <a:pt x="23932" y="789093"/>
                  </a:lnTo>
                  <a:lnTo>
                    <a:pt x="51339" y="757475"/>
                  </a:lnTo>
                  <a:lnTo>
                    <a:pt x="86811" y="733044"/>
                  </a:lnTo>
                  <a:lnTo>
                    <a:pt x="128675" y="717290"/>
                  </a:lnTo>
                  <a:lnTo>
                    <a:pt x="175259" y="711708"/>
                  </a:lnTo>
                  <a:lnTo>
                    <a:pt x="221844" y="717290"/>
                  </a:lnTo>
                  <a:lnTo>
                    <a:pt x="263708" y="733044"/>
                  </a:lnTo>
                  <a:lnTo>
                    <a:pt x="299180" y="757475"/>
                  </a:lnTo>
                  <a:lnTo>
                    <a:pt x="326587" y="789093"/>
                  </a:lnTo>
                  <a:lnTo>
                    <a:pt x="344258" y="826404"/>
                  </a:lnTo>
                  <a:lnTo>
                    <a:pt x="350519" y="867918"/>
                  </a:lnTo>
                  <a:lnTo>
                    <a:pt x="344258" y="909431"/>
                  </a:lnTo>
                  <a:lnTo>
                    <a:pt x="326587" y="946742"/>
                  </a:lnTo>
                  <a:lnTo>
                    <a:pt x="299180" y="978360"/>
                  </a:lnTo>
                  <a:lnTo>
                    <a:pt x="263708" y="1002792"/>
                  </a:lnTo>
                  <a:lnTo>
                    <a:pt x="221844" y="1018545"/>
                  </a:lnTo>
                  <a:lnTo>
                    <a:pt x="175259" y="1024128"/>
                  </a:lnTo>
                  <a:lnTo>
                    <a:pt x="128675" y="1018545"/>
                  </a:lnTo>
                  <a:lnTo>
                    <a:pt x="86811" y="1002792"/>
                  </a:lnTo>
                  <a:lnTo>
                    <a:pt x="51339" y="978360"/>
                  </a:lnTo>
                  <a:lnTo>
                    <a:pt x="23932" y="946742"/>
                  </a:lnTo>
                  <a:lnTo>
                    <a:pt x="6261" y="909431"/>
                  </a:lnTo>
                  <a:lnTo>
                    <a:pt x="0" y="867918"/>
                  </a:lnTo>
                  <a:close/>
                </a:path>
                <a:path w="2597150" h="1844675">
                  <a:moveTo>
                    <a:pt x="158495" y="1831848"/>
                  </a:moveTo>
                  <a:lnTo>
                    <a:pt x="2596895" y="1840103"/>
                  </a:lnTo>
                </a:path>
              </a:pathLst>
            </a:custGeom>
            <a:ln w="57912">
              <a:solidFill>
                <a:srgbClr val="000000"/>
              </a:solidFill>
            </a:ln>
          </p:spPr>
          <p:txBody>
            <a:bodyPr wrap="square" lIns="0" tIns="0" rIns="0" bIns="0" rtlCol="0"/>
            <a:lstStyle/>
            <a:p>
              <a:endParaRPr/>
            </a:p>
          </p:txBody>
        </p:sp>
      </p:grpSp>
      <p:sp>
        <p:nvSpPr>
          <p:cNvPr id="13" name="object 18">
            <a:extLst>
              <a:ext uri="{FF2B5EF4-FFF2-40B4-BE49-F238E27FC236}">
                <a16:creationId xmlns:a16="http://schemas.microsoft.com/office/drawing/2014/main" id="{05D242BF-840D-664E-D39C-DF5221B67BF3}"/>
              </a:ext>
            </a:extLst>
          </p:cNvPr>
          <p:cNvSpPr txBox="1"/>
          <p:nvPr/>
        </p:nvSpPr>
        <p:spPr>
          <a:xfrm>
            <a:off x="5123982" y="1293507"/>
            <a:ext cx="363855" cy="240029"/>
          </a:xfrm>
          <a:prstGeom prst="rect">
            <a:avLst/>
          </a:prstGeom>
        </p:spPr>
        <p:txBody>
          <a:bodyPr vert="horz" wrap="square" lIns="0" tIns="13335" rIns="0" bIns="0" rtlCol="0">
            <a:spAutoFit/>
          </a:bodyPr>
          <a:lstStyle/>
          <a:p>
            <a:pPr marL="38100">
              <a:lnSpc>
                <a:spcPct val="100000"/>
              </a:lnSpc>
              <a:spcBef>
                <a:spcPts val="105"/>
              </a:spcBef>
            </a:pPr>
            <a:r>
              <a:rPr sz="2100" spc="-37" baseline="11904" dirty="0">
                <a:latin typeface="Cambria Math"/>
                <a:cs typeface="Cambria Math"/>
              </a:rPr>
              <a:t>𝑹</a:t>
            </a:r>
            <a:r>
              <a:rPr sz="1000" spc="-25" dirty="0">
                <a:latin typeface="Cambria Math"/>
                <a:cs typeface="Cambria Math"/>
              </a:rPr>
              <a:t>𝑻𝒉</a:t>
            </a:r>
            <a:endParaRPr sz="1000">
              <a:latin typeface="Cambria Math"/>
              <a:cs typeface="Cambria Math"/>
            </a:endParaRPr>
          </a:p>
        </p:txBody>
      </p:sp>
      <p:sp>
        <p:nvSpPr>
          <p:cNvPr id="16" name="object 19">
            <a:extLst>
              <a:ext uri="{FF2B5EF4-FFF2-40B4-BE49-F238E27FC236}">
                <a16:creationId xmlns:a16="http://schemas.microsoft.com/office/drawing/2014/main" id="{F350BFEF-C9B7-046D-5E1C-C1B3B223964C}"/>
              </a:ext>
            </a:extLst>
          </p:cNvPr>
          <p:cNvSpPr/>
          <p:nvPr/>
        </p:nvSpPr>
        <p:spPr>
          <a:xfrm>
            <a:off x="2890687" y="1780222"/>
            <a:ext cx="173990" cy="1639570"/>
          </a:xfrm>
          <a:custGeom>
            <a:avLst/>
            <a:gdLst/>
            <a:ahLst/>
            <a:cxnLst/>
            <a:rect l="l" t="t" r="r" b="b"/>
            <a:pathLst>
              <a:path w="173989" h="1639570">
                <a:moveTo>
                  <a:pt x="115824" y="144780"/>
                </a:moveTo>
                <a:lnTo>
                  <a:pt x="57912" y="144780"/>
                </a:lnTo>
                <a:lnTo>
                  <a:pt x="57912" y="1639189"/>
                </a:lnTo>
                <a:lnTo>
                  <a:pt x="115824" y="1639189"/>
                </a:lnTo>
                <a:lnTo>
                  <a:pt x="115824" y="144780"/>
                </a:lnTo>
                <a:close/>
              </a:path>
              <a:path w="173989" h="1639570">
                <a:moveTo>
                  <a:pt x="86868" y="0"/>
                </a:moveTo>
                <a:lnTo>
                  <a:pt x="0" y="173736"/>
                </a:lnTo>
                <a:lnTo>
                  <a:pt x="57912" y="173736"/>
                </a:lnTo>
                <a:lnTo>
                  <a:pt x="57912" y="144780"/>
                </a:lnTo>
                <a:lnTo>
                  <a:pt x="159258" y="144780"/>
                </a:lnTo>
                <a:lnTo>
                  <a:pt x="86868" y="0"/>
                </a:lnTo>
                <a:close/>
              </a:path>
              <a:path w="173989" h="1639570">
                <a:moveTo>
                  <a:pt x="159258" y="144780"/>
                </a:moveTo>
                <a:lnTo>
                  <a:pt x="115824" y="144780"/>
                </a:lnTo>
                <a:lnTo>
                  <a:pt x="115824" y="173736"/>
                </a:lnTo>
                <a:lnTo>
                  <a:pt x="173736" y="173736"/>
                </a:lnTo>
                <a:lnTo>
                  <a:pt x="159258" y="144780"/>
                </a:lnTo>
                <a:close/>
              </a:path>
            </a:pathLst>
          </a:custGeom>
          <a:solidFill>
            <a:srgbClr val="000000"/>
          </a:solidFill>
        </p:spPr>
        <p:txBody>
          <a:bodyPr wrap="square" lIns="0" tIns="0" rIns="0" bIns="0" rtlCol="0"/>
          <a:lstStyle/>
          <a:p>
            <a:endParaRPr/>
          </a:p>
        </p:txBody>
      </p:sp>
      <p:sp>
        <p:nvSpPr>
          <p:cNvPr id="17" name="object 20">
            <a:extLst>
              <a:ext uri="{FF2B5EF4-FFF2-40B4-BE49-F238E27FC236}">
                <a16:creationId xmlns:a16="http://schemas.microsoft.com/office/drawing/2014/main" id="{762FEE01-FA45-D809-46D0-363AA92CEADF}"/>
              </a:ext>
            </a:extLst>
          </p:cNvPr>
          <p:cNvSpPr txBox="1"/>
          <p:nvPr/>
        </p:nvSpPr>
        <p:spPr>
          <a:xfrm>
            <a:off x="166766" y="1531527"/>
            <a:ext cx="3237382" cy="198131"/>
          </a:xfrm>
          <a:prstGeom prst="rect">
            <a:avLst/>
          </a:prstGeom>
        </p:spPr>
        <p:txBody>
          <a:bodyPr vert="horz" wrap="square" lIns="0" tIns="13335" rIns="0" bIns="0" rtlCol="0">
            <a:spAutoFit/>
          </a:bodyPr>
          <a:lstStyle/>
          <a:p>
            <a:pPr marL="12700">
              <a:lnSpc>
                <a:spcPct val="100000"/>
              </a:lnSpc>
              <a:spcBef>
                <a:spcPts val="105"/>
              </a:spcBef>
            </a:pPr>
            <a:r>
              <a:rPr sz="1200" b="1" dirty="0">
                <a:solidFill>
                  <a:srgbClr val="3333FF"/>
                </a:solidFill>
                <a:latin typeface="Bookman Old Style" panose="02050604050505020204" pitchFamily="18" charset="0"/>
                <a:cs typeface="Times New Roman"/>
              </a:rPr>
              <a:t>Étape</a:t>
            </a:r>
            <a:r>
              <a:rPr sz="1200" b="1" spc="-25" dirty="0">
                <a:solidFill>
                  <a:srgbClr val="3333FF"/>
                </a:solidFill>
                <a:latin typeface="Bookman Old Style" panose="02050604050505020204" pitchFamily="18" charset="0"/>
                <a:cs typeface="Times New Roman"/>
              </a:rPr>
              <a:t> </a:t>
            </a:r>
            <a:r>
              <a:rPr sz="1200" b="1" dirty="0">
                <a:solidFill>
                  <a:srgbClr val="3333FF"/>
                </a:solidFill>
                <a:latin typeface="Bookman Old Style" panose="02050604050505020204" pitchFamily="18" charset="0"/>
                <a:cs typeface="Times New Roman"/>
              </a:rPr>
              <a:t>3</a:t>
            </a:r>
            <a:r>
              <a:rPr sz="1200" b="1" spc="-20" dirty="0">
                <a:solidFill>
                  <a:srgbClr val="3333FF"/>
                </a:solidFill>
                <a:latin typeface="Bookman Old Style" panose="02050604050505020204" pitchFamily="18" charset="0"/>
                <a:cs typeface="Times New Roman"/>
              </a:rPr>
              <a:t> </a:t>
            </a:r>
            <a:r>
              <a:rPr sz="1200" b="1" dirty="0">
                <a:solidFill>
                  <a:srgbClr val="3333FF"/>
                </a:solidFill>
                <a:latin typeface="Bookman Old Style" panose="02050604050505020204" pitchFamily="18" charset="0"/>
                <a:cs typeface="Times New Roman"/>
              </a:rPr>
              <a:t>:</a:t>
            </a:r>
            <a:r>
              <a:rPr sz="1200" b="1" spc="-15" dirty="0">
                <a:solidFill>
                  <a:srgbClr val="3333FF"/>
                </a:solidFill>
                <a:latin typeface="Bookman Old Style" panose="02050604050505020204" pitchFamily="18" charset="0"/>
                <a:cs typeface="Times New Roman"/>
              </a:rPr>
              <a:t> </a:t>
            </a:r>
            <a:r>
              <a:rPr sz="1200" dirty="0">
                <a:latin typeface="Bookman Old Style" panose="02050604050505020204" pitchFamily="18" charset="0"/>
                <a:cs typeface="Times New Roman"/>
              </a:rPr>
              <a:t>Former</a:t>
            </a:r>
            <a:r>
              <a:rPr sz="1200" spc="-10" dirty="0">
                <a:latin typeface="Bookman Old Style" panose="02050604050505020204" pitchFamily="18" charset="0"/>
                <a:cs typeface="Times New Roman"/>
              </a:rPr>
              <a:t> </a:t>
            </a:r>
            <a:r>
              <a:rPr sz="1200" dirty="0">
                <a:latin typeface="Bookman Old Style" panose="02050604050505020204" pitchFamily="18" charset="0"/>
                <a:cs typeface="Times New Roman"/>
              </a:rPr>
              <a:t>mon</a:t>
            </a:r>
            <a:r>
              <a:rPr sz="1200" spc="-10" dirty="0">
                <a:latin typeface="Bookman Old Style" panose="02050604050505020204" pitchFamily="18" charset="0"/>
                <a:cs typeface="Times New Roman"/>
              </a:rPr>
              <a:t> </a:t>
            </a:r>
            <a:r>
              <a:rPr sz="1200" dirty="0">
                <a:latin typeface="Bookman Old Style" panose="02050604050505020204" pitchFamily="18" charset="0"/>
                <a:cs typeface="Times New Roman"/>
              </a:rPr>
              <a:t>circuit</a:t>
            </a:r>
            <a:r>
              <a:rPr sz="1200" spc="-40" dirty="0">
                <a:latin typeface="Bookman Old Style" panose="02050604050505020204" pitchFamily="18" charset="0"/>
                <a:cs typeface="Times New Roman"/>
              </a:rPr>
              <a:t> </a:t>
            </a:r>
            <a:r>
              <a:rPr sz="1200" spc="-10" dirty="0">
                <a:latin typeface="Bookman Old Style" panose="02050604050505020204" pitchFamily="18" charset="0"/>
                <a:cs typeface="Times New Roman"/>
              </a:rPr>
              <a:t>équivalent</a:t>
            </a:r>
            <a:endParaRPr sz="1200" dirty="0">
              <a:latin typeface="Bookman Old Style" panose="02050604050505020204" pitchFamily="18" charset="0"/>
              <a:cs typeface="Times New Roman"/>
            </a:endParaRPr>
          </a:p>
        </p:txBody>
      </p:sp>
      <p:grpSp>
        <p:nvGrpSpPr>
          <p:cNvPr id="20" name="object 21">
            <a:extLst>
              <a:ext uri="{FF2B5EF4-FFF2-40B4-BE49-F238E27FC236}">
                <a16:creationId xmlns:a16="http://schemas.microsoft.com/office/drawing/2014/main" id="{EC2EFFB1-3E72-E831-687E-1E07C37890F6}"/>
              </a:ext>
            </a:extLst>
          </p:cNvPr>
          <p:cNvGrpSpPr/>
          <p:nvPr/>
        </p:nvGrpSpPr>
        <p:grpSpPr>
          <a:xfrm>
            <a:off x="3190660" y="1630743"/>
            <a:ext cx="4482465" cy="1153795"/>
            <a:chOff x="2832861" y="1810385"/>
            <a:chExt cx="4482465" cy="1153795"/>
          </a:xfrm>
        </p:grpSpPr>
        <p:sp>
          <p:nvSpPr>
            <p:cNvPr id="21" name="object 22">
              <a:extLst>
                <a:ext uri="{FF2B5EF4-FFF2-40B4-BE49-F238E27FC236}">
                  <a16:creationId xmlns:a16="http://schemas.microsoft.com/office/drawing/2014/main" id="{1B8AF1AE-D028-8F70-04D9-37F5143F2C76}"/>
                </a:ext>
              </a:extLst>
            </p:cNvPr>
            <p:cNvSpPr/>
            <p:nvPr/>
          </p:nvSpPr>
          <p:spPr>
            <a:xfrm>
              <a:off x="3068573" y="2531364"/>
              <a:ext cx="0" cy="405130"/>
            </a:xfrm>
            <a:custGeom>
              <a:avLst/>
              <a:gdLst/>
              <a:ahLst/>
              <a:cxnLst/>
              <a:rect l="l" t="t" r="r" b="b"/>
              <a:pathLst>
                <a:path h="405130">
                  <a:moveTo>
                    <a:pt x="0" y="0"/>
                  </a:moveTo>
                  <a:lnTo>
                    <a:pt x="0" y="405003"/>
                  </a:lnTo>
                </a:path>
              </a:pathLst>
            </a:custGeom>
            <a:ln w="3175">
              <a:solidFill>
                <a:srgbClr val="FF0000"/>
              </a:solidFill>
            </a:ln>
          </p:spPr>
          <p:txBody>
            <a:bodyPr wrap="square" lIns="0" tIns="0" rIns="0" bIns="0" rtlCol="0"/>
            <a:lstStyle/>
            <a:p>
              <a:endParaRPr/>
            </a:p>
          </p:txBody>
        </p:sp>
        <p:sp>
          <p:nvSpPr>
            <p:cNvPr id="22" name="object 23">
              <a:extLst>
                <a:ext uri="{FF2B5EF4-FFF2-40B4-BE49-F238E27FC236}">
                  <a16:creationId xmlns:a16="http://schemas.microsoft.com/office/drawing/2014/main" id="{09D3E3EE-057D-AB1B-FF32-6B44E4F93C85}"/>
                </a:ext>
              </a:extLst>
            </p:cNvPr>
            <p:cNvSpPr/>
            <p:nvPr/>
          </p:nvSpPr>
          <p:spPr>
            <a:xfrm>
              <a:off x="2862071" y="2529840"/>
              <a:ext cx="352425" cy="405130"/>
            </a:xfrm>
            <a:custGeom>
              <a:avLst/>
              <a:gdLst/>
              <a:ahLst/>
              <a:cxnLst/>
              <a:rect l="l" t="t" r="r" b="b"/>
              <a:pathLst>
                <a:path w="352425" h="405130">
                  <a:moveTo>
                    <a:pt x="0" y="229362"/>
                  </a:moveTo>
                  <a:lnTo>
                    <a:pt x="8979" y="188659"/>
                  </a:lnTo>
                  <a:lnTo>
                    <a:pt x="33979" y="153308"/>
                  </a:lnTo>
                  <a:lnTo>
                    <a:pt x="72091" y="125431"/>
                  </a:lnTo>
                  <a:lnTo>
                    <a:pt x="120408" y="107149"/>
                  </a:lnTo>
                  <a:lnTo>
                    <a:pt x="176021" y="100584"/>
                  </a:lnTo>
                  <a:lnTo>
                    <a:pt x="231635" y="107149"/>
                  </a:lnTo>
                  <a:lnTo>
                    <a:pt x="279952" y="125431"/>
                  </a:lnTo>
                  <a:lnTo>
                    <a:pt x="318064" y="153308"/>
                  </a:lnTo>
                  <a:lnTo>
                    <a:pt x="343064" y="188659"/>
                  </a:lnTo>
                  <a:lnTo>
                    <a:pt x="352044" y="229362"/>
                  </a:lnTo>
                  <a:lnTo>
                    <a:pt x="343064" y="270064"/>
                  </a:lnTo>
                  <a:lnTo>
                    <a:pt x="318064" y="305415"/>
                  </a:lnTo>
                  <a:lnTo>
                    <a:pt x="279952" y="333292"/>
                  </a:lnTo>
                  <a:lnTo>
                    <a:pt x="231635" y="351574"/>
                  </a:lnTo>
                  <a:lnTo>
                    <a:pt x="176021" y="358140"/>
                  </a:lnTo>
                  <a:lnTo>
                    <a:pt x="120408" y="351574"/>
                  </a:lnTo>
                  <a:lnTo>
                    <a:pt x="72091" y="333292"/>
                  </a:lnTo>
                  <a:lnTo>
                    <a:pt x="33979" y="305415"/>
                  </a:lnTo>
                  <a:lnTo>
                    <a:pt x="8979" y="270064"/>
                  </a:lnTo>
                  <a:lnTo>
                    <a:pt x="0" y="229362"/>
                  </a:lnTo>
                  <a:close/>
                </a:path>
                <a:path w="352425" h="405130">
                  <a:moveTo>
                    <a:pt x="176783" y="0"/>
                  </a:moveTo>
                  <a:lnTo>
                    <a:pt x="176783" y="405003"/>
                  </a:lnTo>
                </a:path>
              </a:pathLst>
            </a:custGeom>
            <a:ln w="57912">
              <a:solidFill>
                <a:srgbClr val="000000"/>
              </a:solidFill>
            </a:ln>
          </p:spPr>
          <p:txBody>
            <a:bodyPr wrap="square" lIns="0" tIns="0" rIns="0" bIns="0" rtlCol="0"/>
            <a:lstStyle/>
            <a:p>
              <a:endParaRPr/>
            </a:p>
          </p:txBody>
        </p:sp>
        <p:pic>
          <p:nvPicPr>
            <p:cNvPr id="23" name="object 24">
              <a:extLst>
                <a:ext uri="{FF2B5EF4-FFF2-40B4-BE49-F238E27FC236}">
                  <a16:creationId xmlns:a16="http://schemas.microsoft.com/office/drawing/2014/main" id="{01640468-1385-2D73-A83A-64BD97D7FBF5}"/>
                </a:ext>
              </a:extLst>
            </p:cNvPr>
            <p:cNvPicPr/>
            <p:nvPr/>
          </p:nvPicPr>
          <p:blipFill>
            <a:blip r:embed="rId3" cstate="print"/>
            <a:stretch>
              <a:fillRect/>
            </a:stretch>
          </p:blipFill>
          <p:spPr>
            <a:xfrm>
              <a:off x="3843400" y="1815592"/>
              <a:ext cx="101219" cy="200279"/>
            </a:xfrm>
            <a:prstGeom prst="rect">
              <a:avLst/>
            </a:prstGeom>
          </p:spPr>
        </p:pic>
        <p:pic>
          <p:nvPicPr>
            <p:cNvPr id="24" name="object 25">
              <a:extLst>
                <a:ext uri="{FF2B5EF4-FFF2-40B4-BE49-F238E27FC236}">
                  <a16:creationId xmlns:a16="http://schemas.microsoft.com/office/drawing/2014/main" id="{EA0EF1A3-5E3F-0910-F36E-41630966AB3B}"/>
                </a:ext>
              </a:extLst>
            </p:cNvPr>
            <p:cNvPicPr/>
            <p:nvPr/>
          </p:nvPicPr>
          <p:blipFill>
            <a:blip r:embed="rId4" cstate="print"/>
            <a:stretch>
              <a:fillRect/>
            </a:stretch>
          </p:blipFill>
          <p:spPr>
            <a:xfrm>
              <a:off x="6599173" y="1810385"/>
              <a:ext cx="101219" cy="200406"/>
            </a:xfrm>
            <a:prstGeom prst="rect">
              <a:avLst/>
            </a:prstGeom>
          </p:spPr>
        </p:pic>
        <p:pic>
          <p:nvPicPr>
            <p:cNvPr id="25" name="object 26">
              <a:extLst>
                <a:ext uri="{FF2B5EF4-FFF2-40B4-BE49-F238E27FC236}">
                  <a16:creationId xmlns:a16="http://schemas.microsoft.com/office/drawing/2014/main" id="{F5776C30-1681-2471-B576-62CF029B0365}"/>
                </a:ext>
              </a:extLst>
            </p:cNvPr>
            <p:cNvPicPr/>
            <p:nvPr/>
          </p:nvPicPr>
          <p:blipFill>
            <a:blip r:embed="rId5" cstate="print"/>
            <a:stretch>
              <a:fillRect/>
            </a:stretch>
          </p:blipFill>
          <p:spPr>
            <a:xfrm>
              <a:off x="7062342" y="2058162"/>
              <a:ext cx="252856" cy="130429"/>
            </a:xfrm>
            <a:prstGeom prst="rect">
              <a:avLst/>
            </a:prstGeom>
          </p:spPr>
        </p:pic>
        <p:pic>
          <p:nvPicPr>
            <p:cNvPr id="26" name="object 27">
              <a:extLst>
                <a:ext uri="{FF2B5EF4-FFF2-40B4-BE49-F238E27FC236}">
                  <a16:creationId xmlns:a16="http://schemas.microsoft.com/office/drawing/2014/main" id="{77871EBB-C2DB-CFAF-3DA5-4B4146592F7A}"/>
                </a:ext>
              </a:extLst>
            </p:cNvPr>
            <p:cNvPicPr/>
            <p:nvPr/>
          </p:nvPicPr>
          <p:blipFill>
            <a:blip r:embed="rId6" cstate="print"/>
            <a:stretch>
              <a:fillRect/>
            </a:stretch>
          </p:blipFill>
          <p:spPr>
            <a:xfrm>
              <a:off x="2930778" y="2221484"/>
              <a:ext cx="214502" cy="111379"/>
            </a:xfrm>
            <a:prstGeom prst="rect">
              <a:avLst/>
            </a:prstGeom>
          </p:spPr>
        </p:pic>
      </p:grpSp>
      <p:sp>
        <p:nvSpPr>
          <p:cNvPr id="27" name="object 28">
            <a:extLst>
              <a:ext uri="{FF2B5EF4-FFF2-40B4-BE49-F238E27FC236}">
                <a16:creationId xmlns:a16="http://schemas.microsoft.com/office/drawing/2014/main" id="{D67FBD85-4151-C7CD-A750-C433A98194F2}"/>
              </a:ext>
            </a:extLst>
          </p:cNvPr>
          <p:cNvSpPr txBox="1"/>
          <p:nvPr/>
        </p:nvSpPr>
        <p:spPr>
          <a:xfrm>
            <a:off x="507252" y="2873310"/>
            <a:ext cx="184785" cy="299720"/>
          </a:xfrm>
          <a:prstGeom prst="rect">
            <a:avLst/>
          </a:prstGeom>
        </p:spPr>
        <p:txBody>
          <a:bodyPr vert="horz" wrap="square" lIns="0" tIns="12700" rIns="0" bIns="0" rtlCol="0">
            <a:spAutoFit/>
          </a:bodyPr>
          <a:lstStyle/>
          <a:p>
            <a:pPr marL="12700">
              <a:lnSpc>
                <a:spcPct val="100000"/>
              </a:lnSpc>
              <a:spcBef>
                <a:spcPts val="100"/>
              </a:spcBef>
            </a:pPr>
            <a:r>
              <a:rPr sz="1800" spc="-50" dirty="0">
                <a:latin typeface="Cambria Math"/>
                <a:cs typeface="Cambria Math"/>
              </a:rPr>
              <a:t>𝑹</a:t>
            </a:r>
            <a:endParaRPr sz="1800">
              <a:latin typeface="Cambria Math"/>
              <a:cs typeface="Cambria Math"/>
            </a:endParaRPr>
          </a:p>
        </p:txBody>
      </p:sp>
      <p:sp>
        <p:nvSpPr>
          <p:cNvPr id="28" name="object 29">
            <a:extLst>
              <a:ext uri="{FF2B5EF4-FFF2-40B4-BE49-F238E27FC236}">
                <a16:creationId xmlns:a16="http://schemas.microsoft.com/office/drawing/2014/main" id="{A38A64F5-6A64-F922-1119-F58ECDD68F81}"/>
              </a:ext>
            </a:extLst>
          </p:cNvPr>
          <p:cNvSpPr txBox="1"/>
          <p:nvPr/>
        </p:nvSpPr>
        <p:spPr>
          <a:xfrm>
            <a:off x="667272" y="2981515"/>
            <a:ext cx="237490" cy="226695"/>
          </a:xfrm>
          <a:prstGeom prst="rect">
            <a:avLst/>
          </a:prstGeom>
        </p:spPr>
        <p:txBody>
          <a:bodyPr vert="horz" wrap="square" lIns="0" tIns="15240" rIns="0" bIns="0" rtlCol="0">
            <a:spAutoFit/>
          </a:bodyPr>
          <a:lstStyle/>
          <a:p>
            <a:pPr marL="12700">
              <a:lnSpc>
                <a:spcPct val="100000"/>
              </a:lnSpc>
              <a:spcBef>
                <a:spcPts val="120"/>
              </a:spcBef>
            </a:pPr>
            <a:r>
              <a:rPr sz="1300" spc="-25" dirty="0">
                <a:latin typeface="Cambria Math"/>
                <a:cs typeface="Cambria Math"/>
              </a:rPr>
              <a:t>𝑻𝒉</a:t>
            </a:r>
            <a:endParaRPr sz="1300">
              <a:latin typeface="Cambria Math"/>
              <a:cs typeface="Cambria Math"/>
            </a:endParaRPr>
          </a:p>
        </p:txBody>
      </p:sp>
      <p:sp>
        <p:nvSpPr>
          <p:cNvPr id="29" name="object 30">
            <a:extLst>
              <a:ext uri="{FF2B5EF4-FFF2-40B4-BE49-F238E27FC236}">
                <a16:creationId xmlns:a16="http://schemas.microsoft.com/office/drawing/2014/main" id="{48F7FD89-45CF-16DC-DDBC-5E99CA9BB6C9}"/>
              </a:ext>
            </a:extLst>
          </p:cNvPr>
          <p:cNvSpPr/>
          <p:nvPr/>
        </p:nvSpPr>
        <p:spPr>
          <a:xfrm>
            <a:off x="1027381" y="3040315"/>
            <a:ext cx="532130" cy="15240"/>
          </a:xfrm>
          <a:custGeom>
            <a:avLst/>
            <a:gdLst/>
            <a:ahLst/>
            <a:cxnLst/>
            <a:rect l="l" t="t" r="r" b="b"/>
            <a:pathLst>
              <a:path w="532130" h="15239">
                <a:moveTo>
                  <a:pt x="531876" y="0"/>
                </a:moveTo>
                <a:lnTo>
                  <a:pt x="0" y="0"/>
                </a:lnTo>
                <a:lnTo>
                  <a:pt x="0" y="15240"/>
                </a:lnTo>
                <a:lnTo>
                  <a:pt x="531876" y="15240"/>
                </a:lnTo>
                <a:lnTo>
                  <a:pt x="531876" y="0"/>
                </a:lnTo>
                <a:close/>
              </a:path>
            </a:pathLst>
          </a:custGeom>
          <a:solidFill>
            <a:srgbClr val="000000"/>
          </a:solidFill>
        </p:spPr>
        <p:txBody>
          <a:bodyPr wrap="square" lIns="0" tIns="0" rIns="0" bIns="0" rtlCol="0"/>
          <a:lstStyle/>
          <a:p>
            <a:endParaRPr/>
          </a:p>
        </p:txBody>
      </p:sp>
      <p:sp>
        <p:nvSpPr>
          <p:cNvPr id="30" name="object 31">
            <a:extLst>
              <a:ext uri="{FF2B5EF4-FFF2-40B4-BE49-F238E27FC236}">
                <a16:creationId xmlns:a16="http://schemas.microsoft.com/office/drawing/2014/main" id="{65FD774D-E91A-02CF-DF83-F58EEDE42C22}"/>
              </a:ext>
            </a:extLst>
          </p:cNvPr>
          <p:cNvSpPr txBox="1"/>
          <p:nvPr/>
        </p:nvSpPr>
        <p:spPr>
          <a:xfrm>
            <a:off x="859804" y="2739199"/>
            <a:ext cx="671830" cy="299720"/>
          </a:xfrm>
          <a:prstGeom prst="rect">
            <a:avLst/>
          </a:prstGeom>
        </p:spPr>
        <p:txBody>
          <a:bodyPr vert="horz" wrap="square" lIns="0" tIns="12700" rIns="0" bIns="0" rtlCol="0">
            <a:spAutoFit/>
          </a:bodyPr>
          <a:lstStyle/>
          <a:p>
            <a:pPr marL="38100">
              <a:lnSpc>
                <a:spcPct val="100000"/>
              </a:lnSpc>
              <a:spcBef>
                <a:spcPts val="100"/>
              </a:spcBef>
            </a:pPr>
            <a:r>
              <a:rPr sz="2700" b="1" baseline="-32407" dirty="0">
                <a:latin typeface="Times New Roman"/>
                <a:cs typeface="Times New Roman"/>
              </a:rPr>
              <a:t>=</a:t>
            </a:r>
            <a:r>
              <a:rPr sz="2700" b="1" spc="30" baseline="-32407" dirty="0">
                <a:latin typeface="Times New Roman"/>
                <a:cs typeface="Times New Roman"/>
              </a:rPr>
              <a:t> </a:t>
            </a:r>
            <a:r>
              <a:rPr sz="1300" spc="-20" dirty="0">
                <a:latin typeface="Cambria Math"/>
                <a:cs typeface="Cambria Math"/>
              </a:rPr>
              <a:t>𝑹</a:t>
            </a:r>
            <a:r>
              <a:rPr sz="1575" spc="-30" baseline="-13227" dirty="0">
                <a:latin typeface="Cambria Math"/>
                <a:cs typeface="Cambria Math"/>
              </a:rPr>
              <a:t>𝟏</a:t>
            </a:r>
            <a:r>
              <a:rPr sz="1300" spc="-20" dirty="0">
                <a:latin typeface="Cambria Math"/>
                <a:cs typeface="Cambria Math"/>
              </a:rPr>
              <a:t>𝑹</a:t>
            </a:r>
            <a:r>
              <a:rPr sz="1575" spc="-30" baseline="-13227" dirty="0">
                <a:latin typeface="Cambria Math"/>
                <a:cs typeface="Cambria Math"/>
              </a:rPr>
              <a:t>𝟐</a:t>
            </a:r>
            <a:endParaRPr sz="1575" baseline="-13227">
              <a:latin typeface="Cambria Math"/>
              <a:cs typeface="Cambria Math"/>
            </a:endParaRPr>
          </a:p>
        </p:txBody>
      </p:sp>
      <p:sp>
        <p:nvSpPr>
          <p:cNvPr id="31" name="object 32">
            <a:extLst>
              <a:ext uri="{FF2B5EF4-FFF2-40B4-BE49-F238E27FC236}">
                <a16:creationId xmlns:a16="http://schemas.microsoft.com/office/drawing/2014/main" id="{DC75CDDA-7839-F1B8-0955-38064490268A}"/>
              </a:ext>
            </a:extLst>
          </p:cNvPr>
          <p:cNvSpPr txBox="1"/>
          <p:nvPr/>
        </p:nvSpPr>
        <p:spPr>
          <a:xfrm>
            <a:off x="989344" y="3048571"/>
            <a:ext cx="601980" cy="226695"/>
          </a:xfrm>
          <a:prstGeom prst="rect">
            <a:avLst/>
          </a:prstGeom>
        </p:spPr>
        <p:txBody>
          <a:bodyPr vert="horz" wrap="square" lIns="0" tIns="15240" rIns="0" bIns="0" rtlCol="0">
            <a:spAutoFit/>
          </a:bodyPr>
          <a:lstStyle/>
          <a:p>
            <a:pPr marL="38100">
              <a:lnSpc>
                <a:spcPct val="100000"/>
              </a:lnSpc>
              <a:spcBef>
                <a:spcPts val="120"/>
              </a:spcBef>
            </a:pPr>
            <a:r>
              <a:rPr sz="1300" spc="-10" dirty="0">
                <a:latin typeface="Cambria Math"/>
                <a:cs typeface="Cambria Math"/>
              </a:rPr>
              <a:t>𝑹</a:t>
            </a:r>
            <a:r>
              <a:rPr sz="1575" spc="-15" baseline="-13227" dirty="0">
                <a:latin typeface="Cambria Math"/>
                <a:cs typeface="Cambria Math"/>
              </a:rPr>
              <a:t>𝟏</a:t>
            </a:r>
            <a:r>
              <a:rPr sz="1300" spc="-10" dirty="0">
                <a:latin typeface="Cambria Math"/>
                <a:cs typeface="Cambria Math"/>
              </a:rPr>
              <a:t>+𝑹</a:t>
            </a:r>
            <a:r>
              <a:rPr sz="1575" spc="-15" baseline="-13227" dirty="0">
                <a:latin typeface="Cambria Math"/>
                <a:cs typeface="Cambria Math"/>
              </a:rPr>
              <a:t>𝟐</a:t>
            </a:r>
            <a:endParaRPr sz="1575" baseline="-13227">
              <a:latin typeface="Cambria Math"/>
              <a:cs typeface="Cambria Math"/>
            </a:endParaRPr>
          </a:p>
        </p:txBody>
      </p:sp>
      <p:sp>
        <p:nvSpPr>
          <p:cNvPr id="32" name="object 33">
            <a:extLst>
              <a:ext uri="{FF2B5EF4-FFF2-40B4-BE49-F238E27FC236}">
                <a16:creationId xmlns:a16="http://schemas.microsoft.com/office/drawing/2014/main" id="{28E6A5F6-E139-C4EA-3015-4474319931A6}"/>
              </a:ext>
            </a:extLst>
          </p:cNvPr>
          <p:cNvSpPr txBox="1"/>
          <p:nvPr/>
        </p:nvSpPr>
        <p:spPr>
          <a:xfrm>
            <a:off x="2522641" y="2322004"/>
            <a:ext cx="142875" cy="239395"/>
          </a:xfrm>
          <a:prstGeom prst="rect">
            <a:avLst/>
          </a:prstGeom>
        </p:spPr>
        <p:txBody>
          <a:bodyPr vert="horz" wrap="square" lIns="0" tIns="12700" rIns="0" bIns="0" rtlCol="0">
            <a:spAutoFit/>
          </a:bodyPr>
          <a:lstStyle/>
          <a:p>
            <a:pPr marL="12700">
              <a:lnSpc>
                <a:spcPct val="100000"/>
              </a:lnSpc>
              <a:spcBef>
                <a:spcPts val="100"/>
              </a:spcBef>
            </a:pPr>
            <a:r>
              <a:rPr sz="1400" spc="-50" dirty="0">
                <a:latin typeface="Cambria Math"/>
                <a:cs typeface="Cambria Math"/>
              </a:rPr>
              <a:t>𝑬</a:t>
            </a:r>
            <a:endParaRPr sz="1400">
              <a:latin typeface="Cambria Math"/>
              <a:cs typeface="Cambria Math"/>
            </a:endParaRPr>
          </a:p>
        </p:txBody>
      </p:sp>
      <p:sp>
        <p:nvSpPr>
          <p:cNvPr id="33" name="object 34">
            <a:extLst>
              <a:ext uri="{FF2B5EF4-FFF2-40B4-BE49-F238E27FC236}">
                <a16:creationId xmlns:a16="http://schemas.microsoft.com/office/drawing/2014/main" id="{D7CC193B-CBAA-6671-CE44-8CC53C8C90E7}"/>
              </a:ext>
            </a:extLst>
          </p:cNvPr>
          <p:cNvSpPr txBox="1"/>
          <p:nvPr/>
        </p:nvSpPr>
        <p:spPr>
          <a:xfrm>
            <a:off x="2639988" y="2407347"/>
            <a:ext cx="187960" cy="180975"/>
          </a:xfrm>
          <a:prstGeom prst="rect">
            <a:avLst/>
          </a:prstGeom>
        </p:spPr>
        <p:txBody>
          <a:bodyPr vert="horz" wrap="square" lIns="0" tIns="15240" rIns="0" bIns="0" rtlCol="0">
            <a:spAutoFit/>
          </a:bodyPr>
          <a:lstStyle/>
          <a:p>
            <a:pPr marL="12700">
              <a:lnSpc>
                <a:spcPct val="100000"/>
              </a:lnSpc>
              <a:spcBef>
                <a:spcPts val="120"/>
              </a:spcBef>
            </a:pPr>
            <a:r>
              <a:rPr sz="1000" spc="-25" dirty="0">
                <a:latin typeface="Cambria Math"/>
                <a:cs typeface="Cambria Math"/>
              </a:rPr>
              <a:t>𝑻𝒉</a:t>
            </a:r>
            <a:endParaRPr sz="1000">
              <a:latin typeface="Cambria Math"/>
              <a:cs typeface="Cambria Math"/>
            </a:endParaRPr>
          </a:p>
        </p:txBody>
      </p:sp>
      <p:sp>
        <p:nvSpPr>
          <p:cNvPr id="34" name="object 35">
            <a:extLst>
              <a:ext uri="{FF2B5EF4-FFF2-40B4-BE49-F238E27FC236}">
                <a16:creationId xmlns:a16="http://schemas.microsoft.com/office/drawing/2014/main" id="{00215BF0-8015-B412-AA3F-FBE55A5E08D7}"/>
              </a:ext>
            </a:extLst>
          </p:cNvPr>
          <p:cNvSpPr txBox="1"/>
          <p:nvPr/>
        </p:nvSpPr>
        <p:spPr>
          <a:xfrm>
            <a:off x="598692" y="2175953"/>
            <a:ext cx="237490" cy="226695"/>
          </a:xfrm>
          <a:prstGeom prst="rect">
            <a:avLst/>
          </a:prstGeom>
        </p:spPr>
        <p:txBody>
          <a:bodyPr vert="horz" wrap="square" lIns="0" tIns="15240" rIns="0" bIns="0" rtlCol="0">
            <a:spAutoFit/>
          </a:bodyPr>
          <a:lstStyle/>
          <a:p>
            <a:pPr marL="12700">
              <a:lnSpc>
                <a:spcPct val="100000"/>
              </a:lnSpc>
              <a:spcBef>
                <a:spcPts val="120"/>
              </a:spcBef>
            </a:pPr>
            <a:r>
              <a:rPr sz="1300" spc="-25" dirty="0">
                <a:latin typeface="Cambria Math"/>
                <a:cs typeface="Cambria Math"/>
              </a:rPr>
              <a:t>𝑻𝒉</a:t>
            </a:r>
            <a:endParaRPr sz="1300">
              <a:latin typeface="Cambria Math"/>
              <a:cs typeface="Cambria Math"/>
            </a:endParaRPr>
          </a:p>
        </p:txBody>
      </p:sp>
      <p:sp>
        <p:nvSpPr>
          <p:cNvPr id="35" name="object 36">
            <a:extLst>
              <a:ext uri="{FF2B5EF4-FFF2-40B4-BE49-F238E27FC236}">
                <a16:creationId xmlns:a16="http://schemas.microsoft.com/office/drawing/2014/main" id="{A58F6487-81F5-F254-5420-E77C1668B8B1}"/>
              </a:ext>
            </a:extLst>
          </p:cNvPr>
          <p:cNvSpPr txBox="1"/>
          <p:nvPr/>
        </p:nvSpPr>
        <p:spPr>
          <a:xfrm>
            <a:off x="449340" y="2067750"/>
            <a:ext cx="524510" cy="299720"/>
          </a:xfrm>
          <a:prstGeom prst="rect">
            <a:avLst/>
          </a:prstGeom>
        </p:spPr>
        <p:txBody>
          <a:bodyPr vert="horz" wrap="square" lIns="0" tIns="12700" rIns="0" bIns="0" rtlCol="0">
            <a:spAutoFit/>
          </a:bodyPr>
          <a:lstStyle/>
          <a:p>
            <a:pPr marL="12700">
              <a:lnSpc>
                <a:spcPct val="100000"/>
              </a:lnSpc>
              <a:spcBef>
                <a:spcPts val="100"/>
              </a:spcBef>
              <a:tabLst>
                <a:tab pos="381000" algn="l"/>
              </a:tabLst>
            </a:pPr>
            <a:r>
              <a:rPr sz="1800" spc="-50" dirty="0">
                <a:latin typeface="Cambria Math"/>
                <a:cs typeface="Cambria Math"/>
              </a:rPr>
              <a:t>𝑬</a:t>
            </a:r>
            <a:r>
              <a:rPr sz="1800" dirty="0">
                <a:latin typeface="Cambria Math"/>
                <a:cs typeface="Cambria Math"/>
              </a:rPr>
              <a:t>	</a:t>
            </a:r>
            <a:r>
              <a:rPr sz="1800" b="1" spc="-50" dirty="0">
                <a:latin typeface="Times New Roman"/>
                <a:cs typeface="Times New Roman"/>
              </a:rPr>
              <a:t>=</a:t>
            </a:r>
            <a:endParaRPr sz="1800">
              <a:latin typeface="Times New Roman"/>
              <a:cs typeface="Times New Roman"/>
            </a:endParaRPr>
          </a:p>
        </p:txBody>
      </p:sp>
      <p:sp>
        <p:nvSpPr>
          <p:cNvPr id="36" name="object 37">
            <a:extLst>
              <a:ext uri="{FF2B5EF4-FFF2-40B4-BE49-F238E27FC236}">
                <a16:creationId xmlns:a16="http://schemas.microsoft.com/office/drawing/2014/main" id="{B6F2247E-7E0B-29C0-F2D7-8D25E19D3D05}"/>
              </a:ext>
            </a:extLst>
          </p:cNvPr>
          <p:cNvSpPr/>
          <p:nvPr/>
        </p:nvSpPr>
        <p:spPr>
          <a:xfrm>
            <a:off x="960375" y="2235009"/>
            <a:ext cx="532130" cy="15240"/>
          </a:xfrm>
          <a:custGeom>
            <a:avLst/>
            <a:gdLst/>
            <a:ahLst/>
            <a:cxnLst/>
            <a:rect l="l" t="t" r="r" b="b"/>
            <a:pathLst>
              <a:path w="532130" h="15239">
                <a:moveTo>
                  <a:pt x="531876" y="0"/>
                </a:moveTo>
                <a:lnTo>
                  <a:pt x="0" y="0"/>
                </a:lnTo>
                <a:lnTo>
                  <a:pt x="0" y="15240"/>
                </a:lnTo>
                <a:lnTo>
                  <a:pt x="531876" y="15240"/>
                </a:lnTo>
                <a:lnTo>
                  <a:pt x="531876" y="0"/>
                </a:lnTo>
                <a:close/>
              </a:path>
            </a:pathLst>
          </a:custGeom>
          <a:solidFill>
            <a:srgbClr val="000000"/>
          </a:solidFill>
        </p:spPr>
        <p:txBody>
          <a:bodyPr wrap="square" lIns="0" tIns="0" rIns="0" bIns="0" rtlCol="0"/>
          <a:lstStyle/>
          <a:p>
            <a:endParaRPr/>
          </a:p>
        </p:txBody>
      </p:sp>
      <p:sp>
        <p:nvSpPr>
          <p:cNvPr id="37" name="object 38">
            <a:extLst>
              <a:ext uri="{FF2B5EF4-FFF2-40B4-BE49-F238E27FC236}">
                <a16:creationId xmlns:a16="http://schemas.microsoft.com/office/drawing/2014/main" id="{0B25B638-4C69-B50D-58A0-1BC2B95C6755}"/>
              </a:ext>
            </a:extLst>
          </p:cNvPr>
          <p:cNvSpPr txBox="1"/>
          <p:nvPr/>
        </p:nvSpPr>
        <p:spPr>
          <a:xfrm>
            <a:off x="1085356" y="1994597"/>
            <a:ext cx="275590" cy="226695"/>
          </a:xfrm>
          <a:prstGeom prst="rect">
            <a:avLst/>
          </a:prstGeom>
        </p:spPr>
        <p:txBody>
          <a:bodyPr vert="horz" wrap="square" lIns="0" tIns="15240" rIns="0" bIns="0" rtlCol="0">
            <a:spAutoFit/>
          </a:bodyPr>
          <a:lstStyle/>
          <a:p>
            <a:pPr marL="38100">
              <a:lnSpc>
                <a:spcPct val="100000"/>
              </a:lnSpc>
              <a:spcBef>
                <a:spcPts val="120"/>
              </a:spcBef>
            </a:pPr>
            <a:r>
              <a:rPr sz="1300" spc="-25" dirty="0">
                <a:latin typeface="Cambria Math"/>
                <a:cs typeface="Cambria Math"/>
              </a:rPr>
              <a:t>𝑹</a:t>
            </a:r>
            <a:r>
              <a:rPr sz="1575" spc="-37" baseline="-13227" dirty="0">
                <a:latin typeface="Cambria Math"/>
                <a:cs typeface="Cambria Math"/>
              </a:rPr>
              <a:t>𝟐</a:t>
            </a:r>
            <a:endParaRPr sz="1575" baseline="-13227">
              <a:latin typeface="Cambria Math"/>
              <a:cs typeface="Cambria Math"/>
            </a:endParaRPr>
          </a:p>
        </p:txBody>
      </p:sp>
      <p:sp>
        <p:nvSpPr>
          <p:cNvPr id="38" name="object 39">
            <a:extLst>
              <a:ext uri="{FF2B5EF4-FFF2-40B4-BE49-F238E27FC236}">
                <a16:creationId xmlns:a16="http://schemas.microsoft.com/office/drawing/2014/main" id="{DCFAFA04-44FD-9806-7AEA-F2924C5DD711}"/>
              </a:ext>
            </a:extLst>
          </p:cNvPr>
          <p:cNvSpPr txBox="1"/>
          <p:nvPr/>
        </p:nvSpPr>
        <p:spPr>
          <a:xfrm>
            <a:off x="922288" y="2243010"/>
            <a:ext cx="602615" cy="226695"/>
          </a:xfrm>
          <a:prstGeom prst="rect">
            <a:avLst/>
          </a:prstGeom>
        </p:spPr>
        <p:txBody>
          <a:bodyPr vert="horz" wrap="square" lIns="0" tIns="15240" rIns="0" bIns="0" rtlCol="0">
            <a:spAutoFit/>
          </a:bodyPr>
          <a:lstStyle/>
          <a:p>
            <a:pPr marL="38100">
              <a:lnSpc>
                <a:spcPct val="100000"/>
              </a:lnSpc>
              <a:spcBef>
                <a:spcPts val="120"/>
              </a:spcBef>
            </a:pPr>
            <a:r>
              <a:rPr sz="1300" spc="-10" dirty="0">
                <a:latin typeface="Cambria Math"/>
                <a:cs typeface="Cambria Math"/>
              </a:rPr>
              <a:t>𝑹</a:t>
            </a:r>
            <a:r>
              <a:rPr sz="1575" spc="-15" baseline="-13227" dirty="0">
                <a:latin typeface="Cambria Math"/>
                <a:cs typeface="Cambria Math"/>
              </a:rPr>
              <a:t>𝟏</a:t>
            </a:r>
            <a:r>
              <a:rPr sz="1300" spc="-10" dirty="0">
                <a:latin typeface="Cambria Math"/>
                <a:cs typeface="Cambria Math"/>
              </a:rPr>
              <a:t>+𝑹</a:t>
            </a:r>
            <a:r>
              <a:rPr sz="1575" spc="-15" baseline="-13227" dirty="0">
                <a:latin typeface="Cambria Math"/>
                <a:cs typeface="Cambria Math"/>
              </a:rPr>
              <a:t>𝟐</a:t>
            </a:r>
            <a:endParaRPr sz="1575" baseline="-13227">
              <a:latin typeface="Cambria Math"/>
              <a:cs typeface="Cambria Math"/>
            </a:endParaRPr>
          </a:p>
        </p:txBody>
      </p:sp>
      <p:sp>
        <p:nvSpPr>
          <p:cNvPr id="39" name="object 40">
            <a:extLst>
              <a:ext uri="{FF2B5EF4-FFF2-40B4-BE49-F238E27FC236}">
                <a16:creationId xmlns:a16="http://schemas.microsoft.com/office/drawing/2014/main" id="{AF0AEECC-3B3D-5547-A2BB-FAAF22BAA096}"/>
              </a:ext>
            </a:extLst>
          </p:cNvPr>
          <p:cNvSpPr txBox="1"/>
          <p:nvPr/>
        </p:nvSpPr>
        <p:spPr>
          <a:xfrm>
            <a:off x="1479869" y="2067750"/>
            <a:ext cx="178435" cy="299720"/>
          </a:xfrm>
          <a:prstGeom prst="rect">
            <a:avLst/>
          </a:prstGeom>
        </p:spPr>
        <p:txBody>
          <a:bodyPr vert="horz" wrap="square" lIns="0" tIns="12700" rIns="0" bIns="0" rtlCol="0">
            <a:spAutoFit/>
          </a:bodyPr>
          <a:lstStyle/>
          <a:p>
            <a:pPr marL="12700">
              <a:lnSpc>
                <a:spcPct val="100000"/>
              </a:lnSpc>
              <a:spcBef>
                <a:spcPts val="100"/>
              </a:spcBef>
            </a:pPr>
            <a:r>
              <a:rPr sz="1800" b="1" spc="-50" dirty="0">
                <a:latin typeface="Times New Roman"/>
                <a:cs typeface="Times New Roman"/>
              </a:rPr>
              <a:t>E</a:t>
            </a:r>
            <a:endParaRPr sz="1800">
              <a:latin typeface="Times New Roman"/>
              <a:cs typeface="Times New Roman"/>
            </a:endParaRPr>
          </a:p>
        </p:txBody>
      </p:sp>
      <p:sp>
        <p:nvSpPr>
          <p:cNvPr id="40" name="object 41">
            <a:extLst>
              <a:ext uri="{FF2B5EF4-FFF2-40B4-BE49-F238E27FC236}">
                <a16:creationId xmlns:a16="http://schemas.microsoft.com/office/drawing/2014/main" id="{AF51E193-B809-57A0-92A0-8C6B1B46C6E2}"/>
              </a:ext>
            </a:extLst>
          </p:cNvPr>
          <p:cNvSpPr txBox="1"/>
          <p:nvPr/>
        </p:nvSpPr>
        <p:spPr>
          <a:xfrm>
            <a:off x="7876706" y="2410345"/>
            <a:ext cx="185420" cy="300355"/>
          </a:xfrm>
          <a:prstGeom prst="rect">
            <a:avLst/>
          </a:prstGeom>
        </p:spPr>
        <p:txBody>
          <a:bodyPr vert="horz" wrap="square" lIns="0" tIns="12700" rIns="0" bIns="0" rtlCol="0">
            <a:spAutoFit/>
          </a:bodyPr>
          <a:lstStyle/>
          <a:p>
            <a:pPr marL="12700">
              <a:lnSpc>
                <a:spcPct val="100000"/>
              </a:lnSpc>
              <a:spcBef>
                <a:spcPts val="100"/>
              </a:spcBef>
            </a:pPr>
            <a:r>
              <a:rPr sz="1800" spc="-50" dirty="0">
                <a:latin typeface="Cambria Math"/>
                <a:cs typeface="Cambria Math"/>
              </a:rPr>
              <a:t>𝑹</a:t>
            </a:r>
            <a:endParaRPr sz="1800">
              <a:latin typeface="Cambria Math"/>
              <a:cs typeface="Cambria Math"/>
            </a:endParaRPr>
          </a:p>
        </p:txBody>
      </p:sp>
      <p:sp>
        <p:nvSpPr>
          <p:cNvPr id="41" name="object 42">
            <a:extLst>
              <a:ext uri="{FF2B5EF4-FFF2-40B4-BE49-F238E27FC236}">
                <a16:creationId xmlns:a16="http://schemas.microsoft.com/office/drawing/2014/main" id="{F680D911-0DD7-1ADF-09E0-D22252D5C3AC}"/>
              </a:ext>
            </a:extLst>
          </p:cNvPr>
          <p:cNvSpPr txBox="1"/>
          <p:nvPr/>
        </p:nvSpPr>
        <p:spPr>
          <a:xfrm>
            <a:off x="3573184" y="1915045"/>
            <a:ext cx="125095" cy="300355"/>
          </a:xfrm>
          <a:prstGeom prst="rect">
            <a:avLst/>
          </a:prstGeom>
        </p:spPr>
        <p:txBody>
          <a:bodyPr vert="horz" wrap="square" lIns="0" tIns="12700" rIns="0" bIns="0" rtlCol="0">
            <a:spAutoFit/>
          </a:bodyPr>
          <a:lstStyle/>
          <a:p>
            <a:pPr marL="12700">
              <a:lnSpc>
                <a:spcPct val="100000"/>
              </a:lnSpc>
              <a:spcBef>
                <a:spcPts val="100"/>
              </a:spcBef>
            </a:pPr>
            <a:r>
              <a:rPr sz="1800" spc="-50" dirty="0">
                <a:solidFill>
                  <a:srgbClr val="FF0000"/>
                </a:solidFill>
                <a:latin typeface="Cambria Math"/>
                <a:cs typeface="Cambria Math"/>
              </a:rPr>
              <a:t>𝑰</a:t>
            </a:r>
            <a:endParaRPr sz="1800">
              <a:latin typeface="Cambria Math"/>
              <a:cs typeface="Cambria Math"/>
            </a:endParaRPr>
          </a:p>
        </p:txBody>
      </p:sp>
      <p:sp>
        <p:nvSpPr>
          <p:cNvPr id="42" name="object 43">
            <a:extLst>
              <a:ext uri="{FF2B5EF4-FFF2-40B4-BE49-F238E27FC236}">
                <a16:creationId xmlns:a16="http://schemas.microsoft.com/office/drawing/2014/main" id="{06C3158E-006E-EA2F-2716-373FA3FDCB38}"/>
              </a:ext>
            </a:extLst>
          </p:cNvPr>
          <p:cNvSpPr txBox="1"/>
          <p:nvPr/>
        </p:nvSpPr>
        <p:spPr>
          <a:xfrm>
            <a:off x="4329089" y="1397443"/>
            <a:ext cx="125095" cy="299720"/>
          </a:xfrm>
          <a:prstGeom prst="rect">
            <a:avLst/>
          </a:prstGeom>
        </p:spPr>
        <p:txBody>
          <a:bodyPr vert="horz" wrap="square" lIns="0" tIns="12700" rIns="0" bIns="0" rtlCol="0">
            <a:spAutoFit/>
          </a:bodyPr>
          <a:lstStyle/>
          <a:p>
            <a:pPr marL="12700">
              <a:lnSpc>
                <a:spcPct val="100000"/>
              </a:lnSpc>
              <a:spcBef>
                <a:spcPts val="100"/>
              </a:spcBef>
            </a:pPr>
            <a:r>
              <a:rPr sz="1800" spc="-50" dirty="0">
                <a:solidFill>
                  <a:srgbClr val="FF0000"/>
                </a:solidFill>
                <a:latin typeface="Cambria Math"/>
                <a:cs typeface="Cambria Math"/>
              </a:rPr>
              <a:t>𝑰</a:t>
            </a:r>
            <a:endParaRPr sz="1800">
              <a:latin typeface="Cambria Math"/>
              <a:cs typeface="Cambria Math"/>
            </a:endParaRPr>
          </a:p>
        </p:txBody>
      </p:sp>
      <p:sp>
        <p:nvSpPr>
          <p:cNvPr id="43" name="object 44">
            <a:extLst>
              <a:ext uri="{FF2B5EF4-FFF2-40B4-BE49-F238E27FC236}">
                <a16:creationId xmlns:a16="http://schemas.microsoft.com/office/drawing/2014/main" id="{BB87FC5E-C8EF-1215-79B6-22AEAAD92D8A}"/>
              </a:ext>
            </a:extLst>
          </p:cNvPr>
          <p:cNvSpPr txBox="1"/>
          <p:nvPr/>
        </p:nvSpPr>
        <p:spPr>
          <a:xfrm>
            <a:off x="7076860" y="1376184"/>
            <a:ext cx="125095" cy="300355"/>
          </a:xfrm>
          <a:prstGeom prst="rect">
            <a:avLst/>
          </a:prstGeom>
        </p:spPr>
        <p:txBody>
          <a:bodyPr vert="horz" wrap="square" lIns="0" tIns="12700" rIns="0" bIns="0" rtlCol="0">
            <a:spAutoFit/>
          </a:bodyPr>
          <a:lstStyle/>
          <a:p>
            <a:pPr marL="12700">
              <a:lnSpc>
                <a:spcPct val="100000"/>
              </a:lnSpc>
              <a:spcBef>
                <a:spcPts val="100"/>
              </a:spcBef>
            </a:pPr>
            <a:r>
              <a:rPr sz="1800" spc="-50" dirty="0">
                <a:solidFill>
                  <a:srgbClr val="FF0000"/>
                </a:solidFill>
                <a:latin typeface="Cambria Math"/>
                <a:cs typeface="Cambria Math"/>
              </a:rPr>
              <a:t>𝑰</a:t>
            </a:r>
            <a:endParaRPr sz="1800">
              <a:latin typeface="Cambria Math"/>
              <a:cs typeface="Cambria Math"/>
            </a:endParaRPr>
          </a:p>
        </p:txBody>
      </p:sp>
      <p:sp>
        <p:nvSpPr>
          <p:cNvPr id="44" name="object 45">
            <a:extLst>
              <a:ext uri="{FF2B5EF4-FFF2-40B4-BE49-F238E27FC236}">
                <a16:creationId xmlns:a16="http://schemas.microsoft.com/office/drawing/2014/main" id="{DA42ADEB-0FEE-9DD8-140D-CEE771654040}"/>
              </a:ext>
            </a:extLst>
          </p:cNvPr>
          <p:cNvSpPr txBox="1"/>
          <p:nvPr/>
        </p:nvSpPr>
        <p:spPr>
          <a:xfrm>
            <a:off x="7742849" y="1724799"/>
            <a:ext cx="125095" cy="300355"/>
          </a:xfrm>
          <a:prstGeom prst="rect">
            <a:avLst/>
          </a:prstGeom>
        </p:spPr>
        <p:txBody>
          <a:bodyPr vert="horz" wrap="square" lIns="0" tIns="12700" rIns="0" bIns="0" rtlCol="0">
            <a:spAutoFit/>
          </a:bodyPr>
          <a:lstStyle/>
          <a:p>
            <a:pPr marL="12700">
              <a:lnSpc>
                <a:spcPct val="100000"/>
              </a:lnSpc>
              <a:spcBef>
                <a:spcPts val="100"/>
              </a:spcBef>
            </a:pPr>
            <a:r>
              <a:rPr sz="1800" spc="-50" dirty="0">
                <a:solidFill>
                  <a:srgbClr val="FF0000"/>
                </a:solidFill>
                <a:latin typeface="Cambria Math"/>
                <a:cs typeface="Cambria Math"/>
              </a:rPr>
              <a:t>𝑰</a:t>
            </a:r>
            <a:endParaRPr sz="1800">
              <a:latin typeface="Cambria Math"/>
              <a:cs typeface="Cambria Math"/>
            </a:endParaRPr>
          </a:p>
        </p:txBody>
      </p:sp>
      <p:grpSp>
        <p:nvGrpSpPr>
          <p:cNvPr id="45" name="object 46">
            <a:extLst>
              <a:ext uri="{FF2B5EF4-FFF2-40B4-BE49-F238E27FC236}">
                <a16:creationId xmlns:a16="http://schemas.microsoft.com/office/drawing/2014/main" id="{5D471AB6-86CC-93DE-F107-B6B7DAA08F04}"/>
              </a:ext>
            </a:extLst>
          </p:cNvPr>
          <p:cNvGrpSpPr/>
          <p:nvPr/>
        </p:nvGrpSpPr>
        <p:grpSpPr>
          <a:xfrm>
            <a:off x="3902622" y="1876106"/>
            <a:ext cx="3303904" cy="1428115"/>
            <a:chOff x="3544823" y="2055748"/>
            <a:chExt cx="3303904" cy="1428115"/>
          </a:xfrm>
        </p:grpSpPr>
        <p:sp>
          <p:nvSpPr>
            <p:cNvPr id="47" name="object 47">
              <a:extLst>
                <a:ext uri="{FF2B5EF4-FFF2-40B4-BE49-F238E27FC236}">
                  <a16:creationId xmlns:a16="http://schemas.microsoft.com/office/drawing/2014/main" id="{CB37771C-1537-17CC-C49D-A171BB2C548D}"/>
                </a:ext>
              </a:extLst>
            </p:cNvPr>
            <p:cNvSpPr/>
            <p:nvPr/>
          </p:nvSpPr>
          <p:spPr>
            <a:xfrm>
              <a:off x="3544823" y="2055748"/>
              <a:ext cx="3156585" cy="173990"/>
            </a:xfrm>
            <a:custGeom>
              <a:avLst/>
              <a:gdLst/>
              <a:ahLst/>
              <a:cxnLst/>
              <a:rect l="l" t="t" r="r" b="b"/>
              <a:pathLst>
                <a:path w="3156584" h="173989">
                  <a:moveTo>
                    <a:pt x="173481" y="0"/>
                  </a:moveTo>
                  <a:lnTo>
                    <a:pt x="0" y="87375"/>
                  </a:lnTo>
                  <a:lnTo>
                    <a:pt x="173989" y="173736"/>
                  </a:lnTo>
                  <a:lnTo>
                    <a:pt x="173821" y="115950"/>
                  </a:lnTo>
                  <a:lnTo>
                    <a:pt x="144906" y="115950"/>
                  </a:lnTo>
                  <a:lnTo>
                    <a:pt x="144652" y="58038"/>
                  </a:lnTo>
                  <a:lnTo>
                    <a:pt x="173651" y="57950"/>
                  </a:lnTo>
                  <a:lnTo>
                    <a:pt x="173481" y="0"/>
                  </a:lnTo>
                  <a:close/>
                </a:path>
                <a:path w="3156584" h="173989">
                  <a:moveTo>
                    <a:pt x="173651" y="57950"/>
                  </a:moveTo>
                  <a:lnTo>
                    <a:pt x="144652" y="58038"/>
                  </a:lnTo>
                  <a:lnTo>
                    <a:pt x="144906" y="115950"/>
                  </a:lnTo>
                  <a:lnTo>
                    <a:pt x="173820" y="115863"/>
                  </a:lnTo>
                  <a:lnTo>
                    <a:pt x="173651" y="57950"/>
                  </a:lnTo>
                  <a:close/>
                </a:path>
                <a:path w="3156584" h="173989">
                  <a:moveTo>
                    <a:pt x="173820" y="115863"/>
                  </a:moveTo>
                  <a:lnTo>
                    <a:pt x="144906" y="115950"/>
                  </a:lnTo>
                  <a:lnTo>
                    <a:pt x="173821" y="115950"/>
                  </a:lnTo>
                  <a:close/>
                </a:path>
                <a:path w="3156584" h="173989">
                  <a:moveTo>
                    <a:pt x="3156077" y="48894"/>
                  </a:moveTo>
                  <a:lnTo>
                    <a:pt x="173651" y="57950"/>
                  </a:lnTo>
                  <a:lnTo>
                    <a:pt x="173820" y="115863"/>
                  </a:lnTo>
                  <a:lnTo>
                    <a:pt x="3156330" y="106806"/>
                  </a:lnTo>
                  <a:lnTo>
                    <a:pt x="3156077" y="48894"/>
                  </a:lnTo>
                  <a:close/>
                </a:path>
              </a:pathLst>
            </a:custGeom>
            <a:solidFill>
              <a:srgbClr val="6600FF"/>
            </a:solidFill>
          </p:spPr>
          <p:txBody>
            <a:bodyPr wrap="square" lIns="0" tIns="0" rIns="0" bIns="0" rtlCol="0"/>
            <a:lstStyle/>
            <a:p>
              <a:endParaRPr/>
            </a:p>
          </p:txBody>
        </p:sp>
        <p:sp>
          <p:nvSpPr>
            <p:cNvPr id="48" name="object 48">
              <a:extLst>
                <a:ext uri="{FF2B5EF4-FFF2-40B4-BE49-F238E27FC236}">
                  <a16:creationId xmlns:a16="http://schemas.microsoft.com/office/drawing/2014/main" id="{33DA17A9-D677-1758-C550-9A458D2E8CE5}"/>
                </a:ext>
              </a:extLst>
            </p:cNvPr>
            <p:cNvSpPr/>
            <p:nvPr/>
          </p:nvSpPr>
          <p:spPr>
            <a:xfrm>
              <a:off x="6674484" y="2218943"/>
              <a:ext cx="173990" cy="1264920"/>
            </a:xfrm>
            <a:custGeom>
              <a:avLst/>
              <a:gdLst/>
              <a:ahLst/>
              <a:cxnLst/>
              <a:rect l="l" t="t" r="r" b="b"/>
              <a:pathLst>
                <a:path w="173990" h="1264920">
                  <a:moveTo>
                    <a:pt x="57849" y="173608"/>
                  </a:moveTo>
                  <a:lnTo>
                    <a:pt x="55499" y="1264285"/>
                  </a:lnTo>
                  <a:lnTo>
                    <a:pt x="113411" y="1264412"/>
                  </a:lnTo>
                  <a:lnTo>
                    <a:pt x="115761" y="173735"/>
                  </a:lnTo>
                  <a:lnTo>
                    <a:pt x="57849" y="173608"/>
                  </a:lnTo>
                  <a:close/>
                </a:path>
                <a:path w="173990" h="1264920">
                  <a:moveTo>
                    <a:pt x="159205" y="144653"/>
                  </a:moveTo>
                  <a:lnTo>
                    <a:pt x="57912" y="144653"/>
                  </a:lnTo>
                  <a:lnTo>
                    <a:pt x="115824" y="144780"/>
                  </a:lnTo>
                  <a:lnTo>
                    <a:pt x="115761" y="173735"/>
                  </a:lnTo>
                  <a:lnTo>
                    <a:pt x="173736" y="173862"/>
                  </a:lnTo>
                  <a:lnTo>
                    <a:pt x="159205" y="144653"/>
                  </a:lnTo>
                  <a:close/>
                </a:path>
                <a:path w="173990" h="1264920">
                  <a:moveTo>
                    <a:pt x="57912" y="144653"/>
                  </a:moveTo>
                  <a:lnTo>
                    <a:pt x="57849" y="173608"/>
                  </a:lnTo>
                  <a:lnTo>
                    <a:pt x="115761" y="173735"/>
                  </a:lnTo>
                  <a:lnTo>
                    <a:pt x="115824" y="144780"/>
                  </a:lnTo>
                  <a:lnTo>
                    <a:pt x="57912" y="144653"/>
                  </a:lnTo>
                  <a:close/>
                </a:path>
                <a:path w="173990" h="1264920">
                  <a:moveTo>
                    <a:pt x="87249" y="0"/>
                  </a:moveTo>
                  <a:lnTo>
                    <a:pt x="0" y="173481"/>
                  </a:lnTo>
                  <a:lnTo>
                    <a:pt x="57849" y="173608"/>
                  </a:lnTo>
                  <a:lnTo>
                    <a:pt x="57912" y="144653"/>
                  </a:lnTo>
                  <a:lnTo>
                    <a:pt x="159205" y="144653"/>
                  </a:lnTo>
                  <a:lnTo>
                    <a:pt x="87249" y="0"/>
                  </a:lnTo>
                  <a:close/>
                </a:path>
              </a:pathLst>
            </a:custGeom>
            <a:solidFill>
              <a:srgbClr val="FF9900"/>
            </a:solidFill>
          </p:spPr>
          <p:txBody>
            <a:bodyPr wrap="square" lIns="0" tIns="0" rIns="0" bIns="0" rtlCol="0"/>
            <a:lstStyle/>
            <a:p>
              <a:endParaRPr/>
            </a:p>
          </p:txBody>
        </p:sp>
        <p:sp>
          <p:nvSpPr>
            <p:cNvPr id="49" name="object 49">
              <a:extLst>
                <a:ext uri="{FF2B5EF4-FFF2-40B4-BE49-F238E27FC236}">
                  <a16:creationId xmlns:a16="http://schemas.microsoft.com/office/drawing/2014/main" id="{B9385A6F-E59E-1C46-27DB-90F040233398}"/>
                </a:ext>
              </a:extLst>
            </p:cNvPr>
            <p:cNvSpPr/>
            <p:nvPr/>
          </p:nvSpPr>
          <p:spPr>
            <a:xfrm>
              <a:off x="5163057" y="2520695"/>
              <a:ext cx="461645" cy="195580"/>
            </a:xfrm>
            <a:custGeom>
              <a:avLst/>
              <a:gdLst/>
              <a:ahLst/>
              <a:cxnLst/>
              <a:rect l="l" t="t" r="r" b="b"/>
              <a:pathLst>
                <a:path w="461645" h="195580">
                  <a:moveTo>
                    <a:pt x="59436" y="0"/>
                  </a:moveTo>
                  <a:lnTo>
                    <a:pt x="0" y="127127"/>
                  </a:lnTo>
                  <a:lnTo>
                    <a:pt x="136905" y="190754"/>
                  </a:lnTo>
                  <a:lnTo>
                    <a:pt x="117601" y="143002"/>
                  </a:lnTo>
                  <a:lnTo>
                    <a:pt x="179647" y="131098"/>
                  </a:lnTo>
                  <a:lnTo>
                    <a:pt x="238982" y="125883"/>
                  </a:lnTo>
                  <a:lnTo>
                    <a:pt x="294653" y="127219"/>
                  </a:lnTo>
                  <a:lnTo>
                    <a:pt x="345708" y="134970"/>
                  </a:lnTo>
                  <a:lnTo>
                    <a:pt x="391194" y="148996"/>
                  </a:lnTo>
                  <a:lnTo>
                    <a:pt x="430157" y="169161"/>
                  </a:lnTo>
                  <a:lnTo>
                    <a:pt x="461644" y="195326"/>
                  </a:lnTo>
                  <a:lnTo>
                    <a:pt x="456070" y="157308"/>
                  </a:lnTo>
                  <a:lnTo>
                    <a:pt x="417846" y="94750"/>
                  </a:lnTo>
                  <a:lnTo>
                    <a:pt x="386700" y="70786"/>
                  </a:lnTo>
                  <a:lnTo>
                    <a:pt x="348535" y="52085"/>
                  </a:lnTo>
                  <a:lnTo>
                    <a:pt x="304103" y="38936"/>
                  </a:lnTo>
                  <a:lnTo>
                    <a:pt x="254155" y="31626"/>
                  </a:lnTo>
                  <a:lnTo>
                    <a:pt x="199443" y="30445"/>
                  </a:lnTo>
                  <a:lnTo>
                    <a:pt x="140721" y="35682"/>
                  </a:lnTo>
                  <a:lnTo>
                    <a:pt x="78739" y="47625"/>
                  </a:lnTo>
                  <a:lnTo>
                    <a:pt x="59436" y="0"/>
                  </a:lnTo>
                  <a:close/>
                </a:path>
              </a:pathLst>
            </a:custGeom>
            <a:solidFill>
              <a:srgbClr val="00CC00"/>
            </a:solidFill>
          </p:spPr>
          <p:txBody>
            <a:bodyPr wrap="square" lIns="0" tIns="0" rIns="0" bIns="0" rtlCol="0"/>
            <a:lstStyle/>
            <a:p>
              <a:endParaRPr/>
            </a:p>
          </p:txBody>
        </p:sp>
        <p:sp>
          <p:nvSpPr>
            <p:cNvPr id="50" name="object 50">
              <a:extLst>
                <a:ext uri="{FF2B5EF4-FFF2-40B4-BE49-F238E27FC236}">
                  <a16:creationId xmlns:a16="http://schemas.microsoft.com/office/drawing/2014/main" id="{83039A16-4217-6A31-4159-C1B835E4F674}"/>
                </a:ext>
              </a:extLst>
            </p:cNvPr>
            <p:cNvSpPr/>
            <p:nvPr/>
          </p:nvSpPr>
          <p:spPr>
            <a:xfrm>
              <a:off x="5322061" y="2664586"/>
              <a:ext cx="340995" cy="470534"/>
            </a:xfrm>
            <a:custGeom>
              <a:avLst/>
              <a:gdLst/>
              <a:ahLst/>
              <a:cxnLst/>
              <a:rect l="l" t="t" r="r" b="b"/>
              <a:pathLst>
                <a:path w="340995" h="470535">
                  <a:moveTo>
                    <a:pt x="292353" y="0"/>
                  </a:moveTo>
                  <a:lnTo>
                    <a:pt x="301400" y="34130"/>
                  </a:lnTo>
                  <a:lnTo>
                    <a:pt x="301963" y="69981"/>
                  </a:lnTo>
                  <a:lnTo>
                    <a:pt x="294495" y="106974"/>
                  </a:lnTo>
                  <a:lnTo>
                    <a:pt x="279450" y="144531"/>
                  </a:lnTo>
                  <a:lnTo>
                    <a:pt x="257280" y="182074"/>
                  </a:lnTo>
                  <a:lnTo>
                    <a:pt x="228438" y="219024"/>
                  </a:lnTo>
                  <a:lnTo>
                    <a:pt x="193377" y="254804"/>
                  </a:lnTo>
                  <a:lnTo>
                    <a:pt x="152550" y="288834"/>
                  </a:lnTo>
                  <a:lnTo>
                    <a:pt x="106409" y="320538"/>
                  </a:lnTo>
                  <a:lnTo>
                    <a:pt x="55408" y="349335"/>
                  </a:lnTo>
                  <a:lnTo>
                    <a:pt x="0" y="374650"/>
                  </a:lnTo>
                  <a:lnTo>
                    <a:pt x="38735" y="470026"/>
                  </a:lnTo>
                  <a:lnTo>
                    <a:pt x="94143" y="444712"/>
                  </a:lnTo>
                  <a:lnTo>
                    <a:pt x="145144" y="415915"/>
                  </a:lnTo>
                  <a:lnTo>
                    <a:pt x="191285" y="384211"/>
                  </a:lnTo>
                  <a:lnTo>
                    <a:pt x="232112" y="350181"/>
                  </a:lnTo>
                  <a:lnTo>
                    <a:pt x="267173" y="314401"/>
                  </a:lnTo>
                  <a:lnTo>
                    <a:pt x="296015" y="277451"/>
                  </a:lnTo>
                  <a:lnTo>
                    <a:pt x="318185" y="239908"/>
                  </a:lnTo>
                  <a:lnTo>
                    <a:pt x="333230" y="202351"/>
                  </a:lnTo>
                  <a:lnTo>
                    <a:pt x="340698" y="165358"/>
                  </a:lnTo>
                  <a:lnTo>
                    <a:pt x="340135" y="129507"/>
                  </a:lnTo>
                  <a:lnTo>
                    <a:pt x="331088" y="95376"/>
                  </a:lnTo>
                  <a:lnTo>
                    <a:pt x="292353" y="0"/>
                  </a:lnTo>
                  <a:close/>
                </a:path>
              </a:pathLst>
            </a:custGeom>
            <a:solidFill>
              <a:srgbClr val="00A300"/>
            </a:solidFill>
          </p:spPr>
          <p:txBody>
            <a:bodyPr wrap="square" lIns="0" tIns="0" rIns="0" bIns="0" rtlCol="0"/>
            <a:lstStyle/>
            <a:p>
              <a:endParaRPr/>
            </a:p>
          </p:txBody>
        </p:sp>
        <p:sp>
          <p:nvSpPr>
            <p:cNvPr id="51" name="object 51">
              <a:extLst>
                <a:ext uri="{FF2B5EF4-FFF2-40B4-BE49-F238E27FC236}">
                  <a16:creationId xmlns:a16="http://schemas.microsoft.com/office/drawing/2014/main" id="{B603CA74-A5AA-526F-6D9A-29AB771AE6CB}"/>
                </a:ext>
              </a:extLst>
            </p:cNvPr>
            <p:cNvSpPr/>
            <p:nvPr/>
          </p:nvSpPr>
          <p:spPr>
            <a:xfrm>
              <a:off x="5163057" y="2520695"/>
              <a:ext cx="499745" cy="614045"/>
            </a:xfrm>
            <a:custGeom>
              <a:avLst/>
              <a:gdLst/>
              <a:ahLst/>
              <a:cxnLst/>
              <a:rect l="l" t="t" r="r" b="b"/>
              <a:pathLst>
                <a:path w="499745" h="614044">
                  <a:moveTo>
                    <a:pt x="461644" y="195326"/>
                  </a:moveTo>
                  <a:lnTo>
                    <a:pt x="430157" y="169161"/>
                  </a:lnTo>
                  <a:lnTo>
                    <a:pt x="391194" y="148996"/>
                  </a:lnTo>
                  <a:lnTo>
                    <a:pt x="345708" y="134970"/>
                  </a:lnTo>
                  <a:lnTo>
                    <a:pt x="294653" y="127219"/>
                  </a:lnTo>
                  <a:lnTo>
                    <a:pt x="238982" y="125883"/>
                  </a:lnTo>
                  <a:lnTo>
                    <a:pt x="179647" y="131098"/>
                  </a:lnTo>
                  <a:lnTo>
                    <a:pt x="117601" y="143002"/>
                  </a:lnTo>
                  <a:lnTo>
                    <a:pt x="136905" y="190754"/>
                  </a:lnTo>
                  <a:lnTo>
                    <a:pt x="0" y="127127"/>
                  </a:lnTo>
                  <a:lnTo>
                    <a:pt x="59436" y="0"/>
                  </a:lnTo>
                  <a:lnTo>
                    <a:pt x="78739" y="47625"/>
                  </a:lnTo>
                  <a:lnTo>
                    <a:pt x="137238" y="36192"/>
                  </a:lnTo>
                  <a:lnTo>
                    <a:pt x="193130" y="30725"/>
                  </a:lnTo>
                  <a:lnTo>
                    <a:pt x="245702" y="31039"/>
                  </a:lnTo>
                  <a:lnTo>
                    <a:pt x="294238" y="36947"/>
                  </a:lnTo>
                  <a:lnTo>
                    <a:pt x="338023" y="48264"/>
                  </a:lnTo>
                  <a:lnTo>
                    <a:pt x="376343" y="64802"/>
                  </a:lnTo>
                  <a:lnTo>
                    <a:pt x="408482" y="86377"/>
                  </a:lnTo>
                  <a:lnTo>
                    <a:pt x="451357" y="143891"/>
                  </a:lnTo>
                  <a:lnTo>
                    <a:pt x="490092" y="239268"/>
                  </a:lnTo>
                  <a:lnTo>
                    <a:pt x="499702" y="309249"/>
                  </a:lnTo>
                  <a:lnTo>
                    <a:pt x="492234" y="346242"/>
                  </a:lnTo>
                  <a:lnTo>
                    <a:pt x="477189" y="383799"/>
                  </a:lnTo>
                  <a:lnTo>
                    <a:pt x="455019" y="421342"/>
                  </a:lnTo>
                  <a:lnTo>
                    <a:pt x="426177" y="458292"/>
                  </a:lnTo>
                  <a:lnTo>
                    <a:pt x="391116" y="494072"/>
                  </a:lnTo>
                  <a:lnTo>
                    <a:pt x="350289" y="528102"/>
                  </a:lnTo>
                  <a:lnTo>
                    <a:pt x="304148" y="559806"/>
                  </a:lnTo>
                  <a:lnTo>
                    <a:pt x="253147" y="588603"/>
                  </a:lnTo>
                  <a:lnTo>
                    <a:pt x="197738" y="613918"/>
                  </a:lnTo>
                  <a:lnTo>
                    <a:pt x="159003" y="518541"/>
                  </a:lnTo>
                  <a:lnTo>
                    <a:pt x="214412" y="493226"/>
                  </a:lnTo>
                  <a:lnTo>
                    <a:pt x="265413" y="464429"/>
                  </a:lnTo>
                  <a:lnTo>
                    <a:pt x="311554" y="432725"/>
                  </a:lnTo>
                  <a:lnTo>
                    <a:pt x="352381" y="398695"/>
                  </a:lnTo>
                  <a:lnTo>
                    <a:pt x="387442" y="362915"/>
                  </a:lnTo>
                  <a:lnTo>
                    <a:pt x="416284" y="325965"/>
                  </a:lnTo>
                  <a:lnTo>
                    <a:pt x="438454" y="288422"/>
                  </a:lnTo>
                  <a:lnTo>
                    <a:pt x="453499" y="250865"/>
                  </a:lnTo>
                  <a:lnTo>
                    <a:pt x="460967" y="213872"/>
                  </a:lnTo>
                  <a:lnTo>
                    <a:pt x="460404" y="178021"/>
                  </a:lnTo>
                  <a:lnTo>
                    <a:pt x="451357" y="143891"/>
                  </a:lnTo>
                </a:path>
              </a:pathLst>
            </a:custGeom>
            <a:ln w="9525">
              <a:solidFill>
                <a:srgbClr val="00CC00"/>
              </a:solidFill>
            </a:ln>
          </p:spPr>
          <p:txBody>
            <a:bodyPr wrap="square" lIns="0" tIns="0" rIns="0" bIns="0" rtlCol="0"/>
            <a:lstStyle/>
            <a:p>
              <a:endParaRPr/>
            </a:p>
          </p:txBody>
        </p:sp>
      </p:grpSp>
      <p:sp>
        <p:nvSpPr>
          <p:cNvPr id="52" name="object 52">
            <a:extLst>
              <a:ext uri="{FF2B5EF4-FFF2-40B4-BE49-F238E27FC236}">
                <a16:creationId xmlns:a16="http://schemas.microsoft.com/office/drawing/2014/main" id="{9143F37E-E4B3-9A21-F7F1-AB52684B271F}"/>
              </a:ext>
            </a:extLst>
          </p:cNvPr>
          <p:cNvSpPr txBox="1"/>
          <p:nvPr/>
        </p:nvSpPr>
        <p:spPr>
          <a:xfrm>
            <a:off x="4990758" y="2038235"/>
            <a:ext cx="531495" cy="300355"/>
          </a:xfrm>
          <a:prstGeom prst="rect">
            <a:avLst/>
          </a:prstGeom>
        </p:spPr>
        <p:txBody>
          <a:bodyPr vert="horz" wrap="square" lIns="0" tIns="12700" rIns="0" bIns="0" rtlCol="0">
            <a:spAutoFit/>
          </a:bodyPr>
          <a:lstStyle/>
          <a:p>
            <a:pPr marL="38100">
              <a:lnSpc>
                <a:spcPct val="100000"/>
              </a:lnSpc>
              <a:spcBef>
                <a:spcPts val="100"/>
              </a:spcBef>
            </a:pPr>
            <a:r>
              <a:rPr sz="2700" spc="-30" baseline="20061" dirty="0">
                <a:solidFill>
                  <a:srgbClr val="6600FF"/>
                </a:solidFill>
                <a:latin typeface="Cambria Math"/>
                <a:cs typeface="Cambria Math"/>
              </a:rPr>
              <a:t>𝑼</a:t>
            </a:r>
            <a:r>
              <a:rPr sz="1950" spc="-30" baseline="12820" dirty="0">
                <a:solidFill>
                  <a:srgbClr val="6600FF"/>
                </a:solidFill>
                <a:latin typeface="Cambria Math"/>
                <a:cs typeface="Cambria Math"/>
              </a:rPr>
              <a:t>𝑹</a:t>
            </a:r>
            <a:r>
              <a:rPr sz="1050" spc="-20" dirty="0">
                <a:solidFill>
                  <a:srgbClr val="6600FF"/>
                </a:solidFill>
                <a:latin typeface="Cambria Math"/>
                <a:cs typeface="Cambria Math"/>
              </a:rPr>
              <a:t>𝑻𝒉</a:t>
            </a:r>
            <a:endParaRPr sz="1050">
              <a:latin typeface="Cambria Math"/>
              <a:cs typeface="Cambria Math"/>
            </a:endParaRPr>
          </a:p>
        </p:txBody>
      </p:sp>
      <p:sp>
        <p:nvSpPr>
          <p:cNvPr id="53" name="object 53">
            <a:extLst>
              <a:ext uri="{FF2B5EF4-FFF2-40B4-BE49-F238E27FC236}">
                <a16:creationId xmlns:a16="http://schemas.microsoft.com/office/drawing/2014/main" id="{64F40737-FB60-5BFF-48A7-95AA71D42A2D}"/>
              </a:ext>
            </a:extLst>
          </p:cNvPr>
          <p:cNvSpPr txBox="1"/>
          <p:nvPr/>
        </p:nvSpPr>
        <p:spPr>
          <a:xfrm>
            <a:off x="6599214" y="2414663"/>
            <a:ext cx="359410" cy="300355"/>
          </a:xfrm>
          <a:prstGeom prst="rect">
            <a:avLst/>
          </a:prstGeom>
        </p:spPr>
        <p:txBody>
          <a:bodyPr vert="horz" wrap="square" lIns="0" tIns="12700" rIns="0" bIns="0" rtlCol="0">
            <a:spAutoFit/>
          </a:bodyPr>
          <a:lstStyle/>
          <a:p>
            <a:pPr marL="38100">
              <a:lnSpc>
                <a:spcPct val="100000"/>
              </a:lnSpc>
              <a:spcBef>
                <a:spcPts val="100"/>
              </a:spcBef>
            </a:pPr>
            <a:r>
              <a:rPr sz="1800" spc="-25" dirty="0">
                <a:solidFill>
                  <a:srgbClr val="FF9900"/>
                </a:solidFill>
                <a:latin typeface="Cambria Math"/>
                <a:cs typeface="Cambria Math"/>
              </a:rPr>
              <a:t>𝑼</a:t>
            </a:r>
            <a:r>
              <a:rPr sz="1950" spc="-37" baseline="-14957" dirty="0">
                <a:solidFill>
                  <a:srgbClr val="FF9900"/>
                </a:solidFill>
                <a:latin typeface="Cambria Math"/>
                <a:cs typeface="Cambria Math"/>
              </a:rPr>
              <a:t>𝑹</a:t>
            </a:r>
            <a:endParaRPr sz="1950" baseline="-14957">
              <a:latin typeface="Cambria Math"/>
              <a:cs typeface="Cambria Math"/>
            </a:endParaRPr>
          </a:p>
        </p:txBody>
      </p:sp>
      <p:sp>
        <p:nvSpPr>
          <p:cNvPr id="54" name="object 54">
            <a:extLst>
              <a:ext uri="{FF2B5EF4-FFF2-40B4-BE49-F238E27FC236}">
                <a16:creationId xmlns:a16="http://schemas.microsoft.com/office/drawing/2014/main" id="{A5B2F5C2-DE1E-87CA-E5FA-245B66BCF768}"/>
              </a:ext>
            </a:extLst>
          </p:cNvPr>
          <p:cNvSpPr txBox="1"/>
          <p:nvPr/>
        </p:nvSpPr>
        <p:spPr>
          <a:xfrm>
            <a:off x="597473" y="3728605"/>
            <a:ext cx="1100455" cy="300355"/>
          </a:xfrm>
          <a:prstGeom prst="rect">
            <a:avLst/>
          </a:prstGeom>
        </p:spPr>
        <p:txBody>
          <a:bodyPr vert="horz" wrap="square" lIns="0" tIns="12700" rIns="0" bIns="0" rtlCol="0">
            <a:spAutoFit/>
          </a:bodyPr>
          <a:lstStyle/>
          <a:p>
            <a:pPr marL="12700">
              <a:lnSpc>
                <a:spcPct val="100000"/>
              </a:lnSpc>
              <a:spcBef>
                <a:spcPts val="100"/>
              </a:spcBef>
            </a:pPr>
            <a:r>
              <a:rPr sz="1800" b="1" dirty="0">
                <a:latin typeface="Times New Roman"/>
                <a:cs typeface="Times New Roman"/>
              </a:rPr>
              <a:t>Loi</a:t>
            </a:r>
            <a:r>
              <a:rPr sz="1800" b="1" spc="-10" dirty="0">
                <a:latin typeface="Times New Roman"/>
                <a:cs typeface="Times New Roman"/>
              </a:rPr>
              <a:t> d'Ohm</a:t>
            </a:r>
            <a:endParaRPr sz="1800">
              <a:latin typeface="Times New Roman"/>
              <a:cs typeface="Times New Roman"/>
            </a:endParaRPr>
          </a:p>
        </p:txBody>
      </p:sp>
      <p:sp>
        <p:nvSpPr>
          <p:cNvPr id="55" name="object 55">
            <a:extLst>
              <a:ext uri="{FF2B5EF4-FFF2-40B4-BE49-F238E27FC236}">
                <a16:creationId xmlns:a16="http://schemas.microsoft.com/office/drawing/2014/main" id="{CA0BBB95-9766-A440-930F-84C58D7DE28D}"/>
              </a:ext>
            </a:extLst>
          </p:cNvPr>
          <p:cNvSpPr/>
          <p:nvPr/>
        </p:nvSpPr>
        <p:spPr>
          <a:xfrm>
            <a:off x="1893990" y="3820858"/>
            <a:ext cx="376555" cy="200025"/>
          </a:xfrm>
          <a:custGeom>
            <a:avLst/>
            <a:gdLst/>
            <a:ahLst/>
            <a:cxnLst/>
            <a:rect l="l" t="t" r="r" b="b"/>
            <a:pathLst>
              <a:path w="376555" h="200025">
                <a:moveTo>
                  <a:pt x="276606" y="0"/>
                </a:moveTo>
                <a:lnTo>
                  <a:pt x="276606" y="49911"/>
                </a:lnTo>
                <a:lnTo>
                  <a:pt x="0" y="49911"/>
                </a:lnTo>
                <a:lnTo>
                  <a:pt x="0" y="149733"/>
                </a:lnTo>
                <a:lnTo>
                  <a:pt x="276606" y="149733"/>
                </a:lnTo>
                <a:lnTo>
                  <a:pt x="276606" y="199644"/>
                </a:lnTo>
                <a:lnTo>
                  <a:pt x="376428" y="99822"/>
                </a:lnTo>
                <a:lnTo>
                  <a:pt x="276606" y="0"/>
                </a:lnTo>
                <a:close/>
              </a:path>
            </a:pathLst>
          </a:custGeom>
          <a:solidFill>
            <a:srgbClr val="00CC00"/>
          </a:solidFill>
        </p:spPr>
        <p:txBody>
          <a:bodyPr wrap="square" lIns="0" tIns="0" rIns="0" bIns="0" rtlCol="0"/>
          <a:lstStyle/>
          <a:p>
            <a:endParaRPr/>
          </a:p>
        </p:txBody>
      </p:sp>
      <p:sp>
        <p:nvSpPr>
          <p:cNvPr id="56" name="object 56">
            <a:extLst>
              <a:ext uri="{FF2B5EF4-FFF2-40B4-BE49-F238E27FC236}">
                <a16:creationId xmlns:a16="http://schemas.microsoft.com/office/drawing/2014/main" id="{720E101A-8AE8-CE00-0B2D-0DF3BE53E78D}"/>
              </a:ext>
            </a:extLst>
          </p:cNvPr>
          <p:cNvSpPr txBox="1"/>
          <p:nvPr/>
        </p:nvSpPr>
        <p:spPr>
          <a:xfrm>
            <a:off x="2511465" y="3725557"/>
            <a:ext cx="1221105" cy="300355"/>
          </a:xfrm>
          <a:prstGeom prst="rect">
            <a:avLst/>
          </a:prstGeom>
        </p:spPr>
        <p:txBody>
          <a:bodyPr vert="horz" wrap="square" lIns="0" tIns="12700" rIns="0" bIns="0" rtlCol="0">
            <a:spAutoFit/>
          </a:bodyPr>
          <a:lstStyle/>
          <a:p>
            <a:pPr marL="38100">
              <a:lnSpc>
                <a:spcPct val="100000"/>
              </a:lnSpc>
              <a:spcBef>
                <a:spcPts val="100"/>
              </a:spcBef>
            </a:pPr>
            <a:r>
              <a:rPr sz="1800" dirty="0">
                <a:solidFill>
                  <a:srgbClr val="6600FF"/>
                </a:solidFill>
                <a:latin typeface="Cambria Math"/>
                <a:cs typeface="Cambria Math"/>
              </a:rPr>
              <a:t>𝑼</a:t>
            </a:r>
            <a:r>
              <a:rPr sz="1950" baseline="-14957" dirty="0">
                <a:solidFill>
                  <a:srgbClr val="6600FF"/>
                </a:solidFill>
                <a:latin typeface="Cambria Math"/>
                <a:cs typeface="Cambria Math"/>
              </a:rPr>
              <a:t>𝑹</a:t>
            </a:r>
            <a:r>
              <a:rPr sz="1575" baseline="-34391" dirty="0">
                <a:solidFill>
                  <a:srgbClr val="6600FF"/>
                </a:solidFill>
                <a:latin typeface="Cambria Math"/>
                <a:cs typeface="Cambria Math"/>
              </a:rPr>
              <a:t>𝑻𝒉</a:t>
            </a:r>
            <a:r>
              <a:rPr sz="1575" spc="-142" baseline="-34391" dirty="0">
                <a:solidFill>
                  <a:srgbClr val="6600FF"/>
                </a:solidFill>
                <a:latin typeface="Cambria Math"/>
                <a:cs typeface="Cambria Math"/>
              </a:rPr>
              <a:t> </a:t>
            </a:r>
            <a:r>
              <a:rPr sz="1800" spc="-10" dirty="0">
                <a:solidFill>
                  <a:srgbClr val="6600FF"/>
                </a:solidFill>
                <a:latin typeface="Calibri"/>
                <a:cs typeface="Calibri"/>
              </a:rPr>
              <a:t>=</a:t>
            </a:r>
            <a:r>
              <a:rPr sz="1800" spc="-10" dirty="0">
                <a:solidFill>
                  <a:srgbClr val="FF0000"/>
                </a:solidFill>
                <a:latin typeface="Cambria Math"/>
                <a:cs typeface="Cambria Math"/>
              </a:rPr>
              <a:t>𝑰.</a:t>
            </a:r>
            <a:r>
              <a:rPr sz="1800" spc="-60" dirty="0">
                <a:solidFill>
                  <a:srgbClr val="FF0000"/>
                </a:solidFill>
                <a:latin typeface="Cambria Math"/>
                <a:cs typeface="Cambria Math"/>
              </a:rPr>
              <a:t> </a:t>
            </a:r>
            <a:r>
              <a:rPr sz="1800" spc="-25" dirty="0">
                <a:solidFill>
                  <a:srgbClr val="6600FF"/>
                </a:solidFill>
                <a:latin typeface="Cambria Math"/>
                <a:cs typeface="Cambria Math"/>
              </a:rPr>
              <a:t>𝑹</a:t>
            </a:r>
            <a:r>
              <a:rPr sz="1950" spc="-37" baseline="-14957" dirty="0">
                <a:solidFill>
                  <a:srgbClr val="6600FF"/>
                </a:solidFill>
                <a:latin typeface="Cambria Math"/>
                <a:cs typeface="Cambria Math"/>
              </a:rPr>
              <a:t>𝑻𝒉</a:t>
            </a:r>
            <a:endParaRPr sz="1950" baseline="-14957">
              <a:latin typeface="Cambria Math"/>
              <a:cs typeface="Cambria Math"/>
            </a:endParaRPr>
          </a:p>
        </p:txBody>
      </p:sp>
      <p:sp>
        <p:nvSpPr>
          <p:cNvPr id="57" name="object 57">
            <a:extLst>
              <a:ext uri="{FF2B5EF4-FFF2-40B4-BE49-F238E27FC236}">
                <a16:creationId xmlns:a16="http://schemas.microsoft.com/office/drawing/2014/main" id="{B1305F68-9DAC-BD67-237F-EEC9E54BE953}"/>
              </a:ext>
            </a:extLst>
          </p:cNvPr>
          <p:cNvSpPr txBox="1"/>
          <p:nvPr/>
        </p:nvSpPr>
        <p:spPr>
          <a:xfrm>
            <a:off x="3836456" y="3756646"/>
            <a:ext cx="1162050" cy="299720"/>
          </a:xfrm>
          <a:prstGeom prst="rect">
            <a:avLst/>
          </a:prstGeom>
        </p:spPr>
        <p:txBody>
          <a:bodyPr vert="horz" wrap="square" lIns="0" tIns="12700" rIns="0" bIns="0" rtlCol="0">
            <a:spAutoFit/>
          </a:bodyPr>
          <a:lstStyle/>
          <a:p>
            <a:pPr marL="38100">
              <a:lnSpc>
                <a:spcPct val="100000"/>
              </a:lnSpc>
              <a:spcBef>
                <a:spcPts val="100"/>
              </a:spcBef>
              <a:tabLst>
                <a:tab pos="358140" algn="l"/>
              </a:tabLst>
            </a:pPr>
            <a:r>
              <a:rPr sz="2700" b="1" spc="-37" baseline="1543" dirty="0">
                <a:latin typeface="Times New Roman"/>
                <a:cs typeface="Times New Roman"/>
              </a:rPr>
              <a:t>et</a:t>
            </a:r>
            <a:r>
              <a:rPr sz="2700" b="1" baseline="1543" dirty="0">
                <a:latin typeface="Times New Roman"/>
                <a:cs typeface="Times New Roman"/>
              </a:rPr>
              <a:t>	</a:t>
            </a:r>
            <a:r>
              <a:rPr sz="1800" dirty="0">
                <a:solidFill>
                  <a:srgbClr val="FF9900"/>
                </a:solidFill>
                <a:latin typeface="Cambria Math"/>
                <a:cs typeface="Cambria Math"/>
              </a:rPr>
              <a:t>𝑼</a:t>
            </a:r>
            <a:r>
              <a:rPr sz="1950" baseline="-14957" dirty="0">
                <a:solidFill>
                  <a:srgbClr val="FF9900"/>
                </a:solidFill>
                <a:latin typeface="Cambria Math"/>
                <a:cs typeface="Cambria Math"/>
              </a:rPr>
              <a:t>𝑹</a:t>
            </a:r>
            <a:r>
              <a:rPr sz="1800" dirty="0">
                <a:solidFill>
                  <a:srgbClr val="FF9900"/>
                </a:solidFill>
                <a:latin typeface="Calibri"/>
                <a:cs typeface="Calibri"/>
              </a:rPr>
              <a:t>=</a:t>
            </a:r>
            <a:r>
              <a:rPr sz="1800" dirty="0">
                <a:solidFill>
                  <a:srgbClr val="FF0000"/>
                </a:solidFill>
                <a:latin typeface="Cambria Math"/>
                <a:cs typeface="Cambria Math"/>
              </a:rPr>
              <a:t>𝑰</a:t>
            </a:r>
            <a:r>
              <a:rPr sz="1800" dirty="0">
                <a:solidFill>
                  <a:srgbClr val="FF9900"/>
                </a:solidFill>
                <a:latin typeface="Cambria Math"/>
                <a:cs typeface="Cambria Math"/>
              </a:rPr>
              <a:t>.</a:t>
            </a:r>
            <a:r>
              <a:rPr sz="1800" spc="-35" dirty="0">
                <a:solidFill>
                  <a:srgbClr val="FF9900"/>
                </a:solidFill>
                <a:latin typeface="Cambria Math"/>
                <a:cs typeface="Cambria Math"/>
              </a:rPr>
              <a:t> </a:t>
            </a:r>
            <a:r>
              <a:rPr sz="1800" spc="-50" dirty="0">
                <a:solidFill>
                  <a:srgbClr val="FF9900"/>
                </a:solidFill>
                <a:latin typeface="Cambria Math"/>
                <a:cs typeface="Cambria Math"/>
              </a:rPr>
              <a:t>𝑹</a:t>
            </a:r>
            <a:endParaRPr sz="1800">
              <a:latin typeface="Cambria Math"/>
              <a:cs typeface="Cambria Math"/>
            </a:endParaRPr>
          </a:p>
        </p:txBody>
      </p:sp>
      <p:sp>
        <p:nvSpPr>
          <p:cNvPr id="58" name="object 58">
            <a:extLst>
              <a:ext uri="{FF2B5EF4-FFF2-40B4-BE49-F238E27FC236}">
                <a16:creationId xmlns:a16="http://schemas.microsoft.com/office/drawing/2014/main" id="{A8D18344-DAAC-C824-1FCD-17751711B080}"/>
              </a:ext>
            </a:extLst>
          </p:cNvPr>
          <p:cNvSpPr txBox="1"/>
          <p:nvPr/>
        </p:nvSpPr>
        <p:spPr>
          <a:xfrm>
            <a:off x="5236503" y="3734701"/>
            <a:ext cx="1562735" cy="299720"/>
          </a:xfrm>
          <a:prstGeom prst="rect">
            <a:avLst/>
          </a:prstGeom>
        </p:spPr>
        <p:txBody>
          <a:bodyPr vert="horz" wrap="square" lIns="0" tIns="12700" rIns="0" bIns="0" rtlCol="0">
            <a:spAutoFit/>
          </a:bodyPr>
          <a:lstStyle/>
          <a:p>
            <a:pPr marL="12700">
              <a:lnSpc>
                <a:spcPct val="100000"/>
              </a:lnSpc>
              <a:spcBef>
                <a:spcPts val="100"/>
              </a:spcBef>
            </a:pPr>
            <a:r>
              <a:rPr sz="1800" b="1" dirty="0">
                <a:latin typeface="Times New Roman"/>
                <a:cs typeface="Times New Roman"/>
              </a:rPr>
              <a:t>Lois</a:t>
            </a:r>
            <a:r>
              <a:rPr sz="1800" b="1" spc="-10" dirty="0">
                <a:latin typeface="Times New Roman"/>
                <a:cs typeface="Times New Roman"/>
              </a:rPr>
              <a:t> </a:t>
            </a:r>
            <a:r>
              <a:rPr sz="1800" b="1" dirty="0">
                <a:latin typeface="Times New Roman"/>
                <a:cs typeface="Times New Roman"/>
              </a:rPr>
              <a:t>des </a:t>
            </a:r>
            <a:r>
              <a:rPr sz="1800" b="1" spc="-10" dirty="0">
                <a:latin typeface="Times New Roman"/>
                <a:cs typeface="Times New Roman"/>
              </a:rPr>
              <a:t>mailles</a:t>
            </a:r>
            <a:endParaRPr sz="1800">
              <a:latin typeface="Times New Roman"/>
              <a:cs typeface="Times New Roman"/>
            </a:endParaRPr>
          </a:p>
        </p:txBody>
      </p:sp>
      <p:sp>
        <p:nvSpPr>
          <p:cNvPr id="59" name="object 59">
            <a:extLst>
              <a:ext uri="{FF2B5EF4-FFF2-40B4-BE49-F238E27FC236}">
                <a16:creationId xmlns:a16="http://schemas.microsoft.com/office/drawing/2014/main" id="{F2CE8817-FF92-FE3D-E51B-52D9A791EEB2}"/>
              </a:ext>
            </a:extLst>
          </p:cNvPr>
          <p:cNvSpPr/>
          <p:nvPr/>
        </p:nvSpPr>
        <p:spPr>
          <a:xfrm>
            <a:off x="6892710" y="3808666"/>
            <a:ext cx="378460" cy="198120"/>
          </a:xfrm>
          <a:custGeom>
            <a:avLst/>
            <a:gdLst/>
            <a:ahLst/>
            <a:cxnLst/>
            <a:rect l="l" t="t" r="r" b="b"/>
            <a:pathLst>
              <a:path w="378459" h="198120">
                <a:moveTo>
                  <a:pt x="278892" y="0"/>
                </a:moveTo>
                <a:lnTo>
                  <a:pt x="278892" y="49529"/>
                </a:lnTo>
                <a:lnTo>
                  <a:pt x="0" y="49529"/>
                </a:lnTo>
                <a:lnTo>
                  <a:pt x="0" y="148589"/>
                </a:lnTo>
                <a:lnTo>
                  <a:pt x="278892" y="148589"/>
                </a:lnTo>
                <a:lnTo>
                  <a:pt x="278892" y="198119"/>
                </a:lnTo>
                <a:lnTo>
                  <a:pt x="377952" y="99059"/>
                </a:lnTo>
                <a:lnTo>
                  <a:pt x="278892" y="0"/>
                </a:lnTo>
                <a:close/>
              </a:path>
            </a:pathLst>
          </a:custGeom>
          <a:solidFill>
            <a:srgbClr val="00CC00"/>
          </a:solidFill>
        </p:spPr>
        <p:txBody>
          <a:bodyPr wrap="square" lIns="0" tIns="0" rIns="0" bIns="0" rtlCol="0"/>
          <a:lstStyle/>
          <a:p>
            <a:endParaRPr/>
          </a:p>
        </p:txBody>
      </p:sp>
      <p:sp>
        <p:nvSpPr>
          <p:cNvPr id="60" name="object 60">
            <a:extLst>
              <a:ext uri="{FF2B5EF4-FFF2-40B4-BE49-F238E27FC236}">
                <a16:creationId xmlns:a16="http://schemas.microsoft.com/office/drawing/2014/main" id="{9474F298-5AC1-F7CD-F8D1-47EC4AA492E2}"/>
              </a:ext>
            </a:extLst>
          </p:cNvPr>
          <p:cNvSpPr txBox="1"/>
          <p:nvPr/>
        </p:nvSpPr>
        <p:spPr>
          <a:xfrm>
            <a:off x="7415696" y="3695077"/>
            <a:ext cx="1481455" cy="299720"/>
          </a:xfrm>
          <a:prstGeom prst="rect">
            <a:avLst/>
          </a:prstGeom>
        </p:spPr>
        <p:txBody>
          <a:bodyPr vert="horz" wrap="square" lIns="0" tIns="12700" rIns="0" bIns="0" rtlCol="0">
            <a:spAutoFit/>
          </a:bodyPr>
          <a:lstStyle/>
          <a:p>
            <a:pPr marL="38100">
              <a:lnSpc>
                <a:spcPct val="100000"/>
              </a:lnSpc>
              <a:spcBef>
                <a:spcPts val="100"/>
              </a:spcBef>
            </a:pPr>
            <a:r>
              <a:rPr sz="1800" dirty="0">
                <a:latin typeface="Cambria Math"/>
                <a:cs typeface="Cambria Math"/>
              </a:rPr>
              <a:t>𝑬</a:t>
            </a:r>
            <a:r>
              <a:rPr sz="1950" baseline="-14957" dirty="0">
                <a:latin typeface="Cambria Math"/>
                <a:cs typeface="Cambria Math"/>
              </a:rPr>
              <a:t>𝑻𝒉</a:t>
            </a:r>
            <a:r>
              <a:rPr sz="1800" dirty="0">
                <a:latin typeface="Calibri"/>
                <a:cs typeface="Calibri"/>
              </a:rPr>
              <a:t>=</a:t>
            </a:r>
            <a:r>
              <a:rPr sz="1800" dirty="0">
                <a:solidFill>
                  <a:srgbClr val="6600FF"/>
                </a:solidFill>
                <a:latin typeface="Cambria Math"/>
                <a:cs typeface="Cambria Math"/>
              </a:rPr>
              <a:t>𝑼</a:t>
            </a:r>
            <a:r>
              <a:rPr sz="1950" baseline="-14957" dirty="0">
                <a:solidFill>
                  <a:srgbClr val="6600FF"/>
                </a:solidFill>
                <a:latin typeface="Cambria Math"/>
                <a:cs typeface="Cambria Math"/>
              </a:rPr>
              <a:t>𝑹</a:t>
            </a:r>
            <a:r>
              <a:rPr sz="1575" baseline="-34391" dirty="0">
                <a:solidFill>
                  <a:srgbClr val="6600FF"/>
                </a:solidFill>
                <a:latin typeface="Cambria Math"/>
                <a:cs typeface="Cambria Math"/>
              </a:rPr>
              <a:t>𝑻𝒉</a:t>
            </a:r>
            <a:r>
              <a:rPr sz="1575" spc="-112" baseline="-34391" dirty="0">
                <a:solidFill>
                  <a:srgbClr val="6600FF"/>
                </a:solidFill>
                <a:latin typeface="Cambria Math"/>
                <a:cs typeface="Cambria Math"/>
              </a:rPr>
              <a:t> </a:t>
            </a:r>
            <a:r>
              <a:rPr sz="1800" dirty="0">
                <a:latin typeface="Calibri"/>
                <a:cs typeface="Calibri"/>
              </a:rPr>
              <a:t>+</a:t>
            </a:r>
            <a:r>
              <a:rPr sz="1800" spc="70" dirty="0">
                <a:latin typeface="Calibri"/>
                <a:cs typeface="Calibri"/>
              </a:rPr>
              <a:t> </a:t>
            </a:r>
            <a:r>
              <a:rPr sz="1800" spc="-25" dirty="0">
                <a:solidFill>
                  <a:srgbClr val="FF9900"/>
                </a:solidFill>
                <a:latin typeface="Cambria Math"/>
                <a:cs typeface="Cambria Math"/>
              </a:rPr>
              <a:t>𝑼</a:t>
            </a:r>
            <a:r>
              <a:rPr sz="1950" spc="-37" baseline="-14957" dirty="0">
                <a:solidFill>
                  <a:srgbClr val="FF9900"/>
                </a:solidFill>
                <a:latin typeface="Cambria Math"/>
                <a:cs typeface="Cambria Math"/>
              </a:rPr>
              <a:t>𝑹</a:t>
            </a:r>
            <a:endParaRPr sz="1950" baseline="-14957">
              <a:latin typeface="Cambria Math"/>
              <a:cs typeface="Cambria Math"/>
            </a:endParaRPr>
          </a:p>
        </p:txBody>
      </p:sp>
      <p:sp>
        <p:nvSpPr>
          <p:cNvPr id="61" name="object 61">
            <a:extLst>
              <a:ext uri="{FF2B5EF4-FFF2-40B4-BE49-F238E27FC236}">
                <a16:creationId xmlns:a16="http://schemas.microsoft.com/office/drawing/2014/main" id="{CC28F943-1306-AAD3-224C-FE54E0B25879}"/>
              </a:ext>
            </a:extLst>
          </p:cNvPr>
          <p:cNvSpPr txBox="1"/>
          <p:nvPr/>
        </p:nvSpPr>
        <p:spPr>
          <a:xfrm>
            <a:off x="4093377" y="4304067"/>
            <a:ext cx="2148205" cy="300355"/>
          </a:xfrm>
          <a:prstGeom prst="rect">
            <a:avLst/>
          </a:prstGeom>
        </p:spPr>
        <p:txBody>
          <a:bodyPr vert="horz" wrap="square" lIns="0" tIns="12700" rIns="0" bIns="0" rtlCol="0">
            <a:spAutoFit/>
          </a:bodyPr>
          <a:lstStyle/>
          <a:p>
            <a:pPr marL="38100">
              <a:lnSpc>
                <a:spcPct val="100000"/>
              </a:lnSpc>
              <a:spcBef>
                <a:spcPts val="100"/>
              </a:spcBef>
            </a:pPr>
            <a:r>
              <a:rPr sz="2700" b="1" baseline="3086" dirty="0">
                <a:latin typeface="Times New Roman"/>
                <a:cs typeface="Times New Roman"/>
              </a:rPr>
              <a:t>D'où:</a:t>
            </a:r>
            <a:r>
              <a:rPr sz="2700" b="1" spc="-67" baseline="3086" dirty="0">
                <a:latin typeface="Times New Roman"/>
                <a:cs typeface="Times New Roman"/>
              </a:rPr>
              <a:t> </a:t>
            </a:r>
            <a:r>
              <a:rPr sz="1800" dirty="0">
                <a:latin typeface="Cambria Math"/>
                <a:cs typeface="Cambria Math"/>
              </a:rPr>
              <a:t>𝑬</a:t>
            </a:r>
            <a:r>
              <a:rPr sz="1950" baseline="-14957" dirty="0">
                <a:latin typeface="Cambria Math"/>
                <a:cs typeface="Cambria Math"/>
              </a:rPr>
              <a:t>𝑻𝒉</a:t>
            </a:r>
            <a:r>
              <a:rPr sz="1800" dirty="0">
                <a:latin typeface="Calibri"/>
                <a:cs typeface="Calibri"/>
              </a:rPr>
              <a:t>=</a:t>
            </a:r>
            <a:r>
              <a:rPr sz="1800" spc="25" dirty="0">
                <a:latin typeface="Calibri"/>
                <a:cs typeface="Calibri"/>
              </a:rPr>
              <a:t> </a:t>
            </a:r>
            <a:r>
              <a:rPr sz="1800" spc="-10" dirty="0">
                <a:solidFill>
                  <a:srgbClr val="FF0000"/>
                </a:solidFill>
                <a:latin typeface="Cambria Math"/>
                <a:cs typeface="Cambria Math"/>
              </a:rPr>
              <a:t>𝑰</a:t>
            </a:r>
            <a:r>
              <a:rPr sz="1800" spc="-10" dirty="0">
                <a:latin typeface="Cambria Math"/>
                <a:cs typeface="Cambria Math"/>
              </a:rPr>
              <a:t>(</a:t>
            </a:r>
            <a:r>
              <a:rPr sz="1800" spc="-10" dirty="0">
                <a:solidFill>
                  <a:srgbClr val="6600FF"/>
                </a:solidFill>
                <a:latin typeface="Cambria Math"/>
                <a:cs typeface="Cambria Math"/>
              </a:rPr>
              <a:t>𝑹</a:t>
            </a:r>
            <a:r>
              <a:rPr sz="1950" spc="-15" baseline="-14957" dirty="0">
                <a:solidFill>
                  <a:srgbClr val="6600FF"/>
                </a:solidFill>
                <a:latin typeface="Cambria Math"/>
                <a:cs typeface="Cambria Math"/>
              </a:rPr>
              <a:t>𝑻𝒉</a:t>
            </a:r>
            <a:r>
              <a:rPr sz="1800" spc="-10" dirty="0">
                <a:latin typeface="Calibri"/>
                <a:cs typeface="Calibri"/>
              </a:rPr>
              <a:t>+</a:t>
            </a:r>
            <a:r>
              <a:rPr sz="1800" spc="-10" dirty="0">
                <a:solidFill>
                  <a:srgbClr val="FF9900"/>
                </a:solidFill>
                <a:latin typeface="Cambria Math"/>
                <a:cs typeface="Cambria Math"/>
              </a:rPr>
              <a:t>𝑹</a:t>
            </a:r>
            <a:r>
              <a:rPr sz="1800" spc="-10" dirty="0">
                <a:latin typeface="Cambria Math"/>
                <a:cs typeface="Cambria Math"/>
              </a:rPr>
              <a:t>)</a:t>
            </a:r>
            <a:endParaRPr sz="1800">
              <a:latin typeface="Cambria Math"/>
              <a:cs typeface="Cambria Math"/>
            </a:endParaRPr>
          </a:p>
        </p:txBody>
      </p:sp>
      <p:sp>
        <p:nvSpPr>
          <p:cNvPr id="62" name="object 62">
            <a:extLst>
              <a:ext uri="{FF2B5EF4-FFF2-40B4-BE49-F238E27FC236}">
                <a16:creationId xmlns:a16="http://schemas.microsoft.com/office/drawing/2014/main" id="{F3C9F77B-F72E-C2F4-748A-23B936316D7A}"/>
              </a:ext>
            </a:extLst>
          </p:cNvPr>
          <p:cNvSpPr/>
          <p:nvPr/>
        </p:nvSpPr>
        <p:spPr>
          <a:xfrm>
            <a:off x="6345595" y="4401502"/>
            <a:ext cx="378460" cy="198120"/>
          </a:xfrm>
          <a:custGeom>
            <a:avLst/>
            <a:gdLst/>
            <a:ahLst/>
            <a:cxnLst/>
            <a:rect l="l" t="t" r="r" b="b"/>
            <a:pathLst>
              <a:path w="378460" h="198120">
                <a:moveTo>
                  <a:pt x="278891" y="0"/>
                </a:moveTo>
                <a:lnTo>
                  <a:pt x="278891" y="49529"/>
                </a:lnTo>
                <a:lnTo>
                  <a:pt x="0" y="49529"/>
                </a:lnTo>
                <a:lnTo>
                  <a:pt x="0" y="148589"/>
                </a:lnTo>
                <a:lnTo>
                  <a:pt x="278891" y="148589"/>
                </a:lnTo>
                <a:lnTo>
                  <a:pt x="278891" y="198119"/>
                </a:lnTo>
                <a:lnTo>
                  <a:pt x="377951" y="99059"/>
                </a:lnTo>
                <a:lnTo>
                  <a:pt x="278891" y="0"/>
                </a:lnTo>
                <a:close/>
              </a:path>
            </a:pathLst>
          </a:custGeom>
          <a:solidFill>
            <a:srgbClr val="00CC00"/>
          </a:solidFill>
        </p:spPr>
        <p:txBody>
          <a:bodyPr wrap="square" lIns="0" tIns="0" rIns="0" bIns="0" rtlCol="0"/>
          <a:lstStyle/>
          <a:p>
            <a:endParaRPr/>
          </a:p>
        </p:txBody>
      </p:sp>
      <p:sp>
        <p:nvSpPr>
          <p:cNvPr id="63" name="object 63">
            <a:extLst>
              <a:ext uri="{FF2B5EF4-FFF2-40B4-BE49-F238E27FC236}">
                <a16:creationId xmlns:a16="http://schemas.microsoft.com/office/drawing/2014/main" id="{11408B23-D657-8F39-1DCF-624EBDD5F94F}"/>
              </a:ext>
            </a:extLst>
          </p:cNvPr>
          <p:cNvSpPr txBox="1"/>
          <p:nvPr/>
        </p:nvSpPr>
        <p:spPr>
          <a:xfrm>
            <a:off x="6993421" y="4256213"/>
            <a:ext cx="360045" cy="300355"/>
          </a:xfrm>
          <a:prstGeom prst="rect">
            <a:avLst/>
          </a:prstGeom>
        </p:spPr>
        <p:txBody>
          <a:bodyPr vert="horz" wrap="square" lIns="0" tIns="12700" rIns="0" bIns="0" rtlCol="0">
            <a:spAutoFit/>
          </a:bodyPr>
          <a:lstStyle/>
          <a:p>
            <a:pPr marL="12700">
              <a:lnSpc>
                <a:spcPct val="100000"/>
              </a:lnSpc>
              <a:spcBef>
                <a:spcPts val="100"/>
              </a:spcBef>
            </a:pPr>
            <a:r>
              <a:rPr sz="1800" dirty="0">
                <a:solidFill>
                  <a:srgbClr val="FF0000"/>
                </a:solidFill>
                <a:latin typeface="Cambria Math"/>
                <a:cs typeface="Cambria Math"/>
              </a:rPr>
              <a:t>𝑰</a:t>
            </a:r>
            <a:r>
              <a:rPr sz="1800" spc="90" dirty="0">
                <a:solidFill>
                  <a:srgbClr val="FF0000"/>
                </a:solidFill>
                <a:latin typeface="Cambria Math"/>
                <a:cs typeface="Cambria Math"/>
              </a:rPr>
              <a:t> </a:t>
            </a:r>
            <a:r>
              <a:rPr sz="1800" spc="-50" dirty="0">
                <a:solidFill>
                  <a:srgbClr val="FF0000"/>
                </a:solidFill>
                <a:latin typeface="Cambria Math"/>
                <a:cs typeface="Cambria Math"/>
              </a:rPr>
              <a:t>=</a:t>
            </a:r>
            <a:endParaRPr sz="1800">
              <a:latin typeface="Cambria Math"/>
              <a:cs typeface="Cambria Math"/>
            </a:endParaRPr>
          </a:p>
        </p:txBody>
      </p:sp>
      <p:sp>
        <p:nvSpPr>
          <p:cNvPr id="64" name="object 64">
            <a:extLst>
              <a:ext uri="{FF2B5EF4-FFF2-40B4-BE49-F238E27FC236}">
                <a16:creationId xmlns:a16="http://schemas.microsoft.com/office/drawing/2014/main" id="{4551B728-DCF4-423B-01A7-F9071E0BDA51}"/>
              </a:ext>
            </a:extLst>
          </p:cNvPr>
          <p:cNvSpPr/>
          <p:nvPr/>
        </p:nvSpPr>
        <p:spPr>
          <a:xfrm>
            <a:off x="7402869" y="4423244"/>
            <a:ext cx="650875" cy="15240"/>
          </a:xfrm>
          <a:custGeom>
            <a:avLst/>
            <a:gdLst/>
            <a:ahLst/>
            <a:cxnLst/>
            <a:rect l="l" t="t" r="r" b="b"/>
            <a:pathLst>
              <a:path w="650875" h="15239">
                <a:moveTo>
                  <a:pt x="650748" y="0"/>
                </a:moveTo>
                <a:lnTo>
                  <a:pt x="0" y="0"/>
                </a:lnTo>
                <a:lnTo>
                  <a:pt x="0" y="15239"/>
                </a:lnTo>
                <a:lnTo>
                  <a:pt x="650748" y="15239"/>
                </a:lnTo>
                <a:lnTo>
                  <a:pt x="650748" y="0"/>
                </a:lnTo>
                <a:close/>
              </a:path>
            </a:pathLst>
          </a:custGeom>
          <a:solidFill>
            <a:srgbClr val="FF0000"/>
          </a:solidFill>
        </p:spPr>
        <p:txBody>
          <a:bodyPr wrap="square" lIns="0" tIns="0" rIns="0" bIns="0" rtlCol="0"/>
          <a:lstStyle/>
          <a:p>
            <a:endParaRPr/>
          </a:p>
        </p:txBody>
      </p:sp>
      <p:sp>
        <p:nvSpPr>
          <p:cNvPr id="65" name="object 65">
            <a:extLst>
              <a:ext uri="{FF2B5EF4-FFF2-40B4-BE49-F238E27FC236}">
                <a16:creationId xmlns:a16="http://schemas.microsoft.com/office/drawing/2014/main" id="{35692C08-DB6B-C7CB-6AAB-9202A4EBFE04}"/>
              </a:ext>
            </a:extLst>
          </p:cNvPr>
          <p:cNvSpPr txBox="1"/>
          <p:nvPr/>
        </p:nvSpPr>
        <p:spPr>
          <a:xfrm>
            <a:off x="7507771" y="4130026"/>
            <a:ext cx="437515" cy="299720"/>
          </a:xfrm>
          <a:prstGeom prst="rect">
            <a:avLst/>
          </a:prstGeom>
        </p:spPr>
        <p:txBody>
          <a:bodyPr vert="horz" wrap="square" lIns="0" tIns="12700" rIns="0" bIns="0" rtlCol="0">
            <a:spAutoFit/>
          </a:bodyPr>
          <a:lstStyle/>
          <a:p>
            <a:pPr marL="38100">
              <a:lnSpc>
                <a:spcPct val="100000"/>
              </a:lnSpc>
              <a:spcBef>
                <a:spcPts val="100"/>
              </a:spcBef>
            </a:pPr>
            <a:r>
              <a:rPr sz="2700" spc="-37" baseline="10802" dirty="0">
                <a:latin typeface="Cambria Math"/>
                <a:cs typeface="Cambria Math"/>
              </a:rPr>
              <a:t>𝑬</a:t>
            </a:r>
            <a:r>
              <a:rPr sz="1300" spc="-25" dirty="0">
                <a:latin typeface="Cambria Math"/>
                <a:cs typeface="Cambria Math"/>
              </a:rPr>
              <a:t>𝑻𝒉</a:t>
            </a:r>
            <a:endParaRPr sz="1300">
              <a:latin typeface="Cambria Math"/>
              <a:cs typeface="Cambria Math"/>
            </a:endParaRPr>
          </a:p>
        </p:txBody>
      </p:sp>
      <p:sp>
        <p:nvSpPr>
          <p:cNvPr id="66" name="object 66">
            <a:extLst>
              <a:ext uri="{FF2B5EF4-FFF2-40B4-BE49-F238E27FC236}">
                <a16:creationId xmlns:a16="http://schemas.microsoft.com/office/drawing/2014/main" id="{FA9DE9D4-82B8-6D97-E4F7-4E7FEE8B3273}"/>
              </a:ext>
            </a:extLst>
          </p:cNvPr>
          <p:cNvSpPr txBox="1"/>
          <p:nvPr/>
        </p:nvSpPr>
        <p:spPr>
          <a:xfrm>
            <a:off x="7365785" y="4408613"/>
            <a:ext cx="730250" cy="300355"/>
          </a:xfrm>
          <a:prstGeom prst="rect">
            <a:avLst/>
          </a:prstGeom>
        </p:spPr>
        <p:txBody>
          <a:bodyPr vert="horz" wrap="square" lIns="0" tIns="12700" rIns="0" bIns="0" rtlCol="0">
            <a:spAutoFit/>
          </a:bodyPr>
          <a:lstStyle/>
          <a:p>
            <a:pPr marL="38100">
              <a:lnSpc>
                <a:spcPct val="100000"/>
              </a:lnSpc>
              <a:spcBef>
                <a:spcPts val="100"/>
              </a:spcBef>
            </a:pPr>
            <a:r>
              <a:rPr sz="1800" spc="-10" dirty="0">
                <a:solidFill>
                  <a:srgbClr val="6600FF"/>
                </a:solidFill>
                <a:latin typeface="Cambria Math"/>
                <a:cs typeface="Cambria Math"/>
              </a:rPr>
              <a:t>𝑹</a:t>
            </a:r>
            <a:r>
              <a:rPr sz="1950" spc="-15" baseline="-14957" dirty="0">
                <a:solidFill>
                  <a:srgbClr val="6600FF"/>
                </a:solidFill>
                <a:latin typeface="Cambria Math"/>
                <a:cs typeface="Cambria Math"/>
              </a:rPr>
              <a:t>𝑻𝒉</a:t>
            </a:r>
            <a:r>
              <a:rPr sz="1800" spc="-10" dirty="0">
                <a:latin typeface="Calibri"/>
                <a:cs typeface="Calibri"/>
              </a:rPr>
              <a:t>+</a:t>
            </a:r>
            <a:r>
              <a:rPr sz="1800" spc="-10" dirty="0">
                <a:solidFill>
                  <a:srgbClr val="FF9900"/>
                </a:solidFill>
                <a:latin typeface="Cambria Math"/>
                <a:cs typeface="Cambria Math"/>
              </a:rPr>
              <a:t>𝑹</a:t>
            </a:r>
            <a:endParaRPr sz="1800">
              <a:latin typeface="Cambria Math"/>
              <a:cs typeface="Cambria Math"/>
            </a:endParaRPr>
          </a:p>
        </p:txBody>
      </p:sp>
      <p:sp>
        <p:nvSpPr>
          <p:cNvPr id="67" name="object 67">
            <a:extLst>
              <a:ext uri="{FF2B5EF4-FFF2-40B4-BE49-F238E27FC236}">
                <a16:creationId xmlns:a16="http://schemas.microsoft.com/office/drawing/2014/main" id="{F7ADF8EC-A9B9-2A76-75BB-58FB59F8BA03}"/>
              </a:ext>
            </a:extLst>
          </p:cNvPr>
          <p:cNvSpPr/>
          <p:nvPr/>
        </p:nvSpPr>
        <p:spPr>
          <a:xfrm>
            <a:off x="6959005" y="4089843"/>
            <a:ext cx="1268095" cy="657225"/>
          </a:xfrm>
          <a:custGeom>
            <a:avLst/>
            <a:gdLst/>
            <a:ahLst/>
            <a:cxnLst/>
            <a:rect l="l" t="t" r="r" b="b"/>
            <a:pathLst>
              <a:path w="1268095" h="657225">
                <a:moveTo>
                  <a:pt x="0" y="109473"/>
                </a:moveTo>
                <a:lnTo>
                  <a:pt x="8604" y="66860"/>
                </a:lnTo>
                <a:lnTo>
                  <a:pt x="32067" y="32062"/>
                </a:lnTo>
                <a:lnTo>
                  <a:pt x="66865" y="8602"/>
                </a:lnTo>
                <a:lnTo>
                  <a:pt x="109474" y="0"/>
                </a:lnTo>
                <a:lnTo>
                  <a:pt x="1158494" y="0"/>
                </a:lnTo>
                <a:lnTo>
                  <a:pt x="1201102" y="8602"/>
                </a:lnTo>
                <a:lnTo>
                  <a:pt x="1235900" y="32062"/>
                </a:lnTo>
                <a:lnTo>
                  <a:pt x="1259363" y="66860"/>
                </a:lnTo>
                <a:lnTo>
                  <a:pt x="1267968" y="109473"/>
                </a:lnTo>
                <a:lnTo>
                  <a:pt x="1267968" y="547369"/>
                </a:lnTo>
                <a:lnTo>
                  <a:pt x="1259363" y="589983"/>
                </a:lnTo>
                <a:lnTo>
                  <a:pt x="1235900" y="624781"/>
                </a:lnTo>
                <a:lnTo>
                  <a:pt x="1201102" y="648241"/>
                </a:lnTo>
                <a:lnTo>
                  <a:pt x="1158494" y="656843"/>
                </a:lnTo>
                <a:lnTo>
                  <a:pt x="109474" y="656843"/>
                </a:lnTo>
                <a:lnTo>
                  <a:pt x="66865" y="648241"/>
                </a:lnTo>
                <a:lnTo>
                  <a:pt x="32067" y="624781"/>
                </a:lnTo>
                <a:lnTo>
                  <a:pt x="8604" y="589983"/>
                </a:lnTo>
                <a:lnTo>
                  <a:pt x="0" y="547369"/>
                </a:lnTo>
                <a:lnTo>
                  <a:pt x="0" y="109473"/>
                </a:lnTo>
                <a:close/>
              </a:path>
            </a:pathLst>
          </a:custGeom>
          <a:ln w="38100">
            <a:solidFill>
              <a:srgbClr val="FF00FF"/>
            </a:solidFill>
            <a:prstDash val="sysDash"/>
          </a:ln>
        </p:spPr>
        <p:txBody>
          <a:bodyPr wrap="square" lIns="0" tIns="0" rIns="0" bIns="0" rtlCol="0"/>
          <a:lstStyle/>
          <a:p>
            <a:endParaRPr/>
          </a:p>
        </p:txBody>
      </p:sp>
      <p:sp>
        <p:nvSpPr>
          <p:cNvPr id="68" name="object 14">
            <a:extLst>
              <a:ext uri="{FF2B5EF4-FFF2-40B4-BE49-F238E27FC236}">
                <a16:creationId xmlns:a16="http://schemas.microsoft.com/office/drawing/2014/main" id="{32B9984B-638B-B264-3C42-391A4EDF2DAE}"/>
              </a:ext>
            </a:extLst>
          </p:cNvPr>
          <p:cNvSpPr txBox="1"/>
          <p:nvPr/>
        </p:nvSpPr>
        <p:spPr>
          <a:xfrm>
            <a:off x="154037" y="1189377"/>
            <a:ext cx="953769" cy="212879"/>
          </a:xfrm>
          <a:prstGeom prst="rect">
            <a:avLst/>
          </a:prstGeom>
        </p:spPr>
        <p:txBody>
          <a:bodyPr vert="horz" wrap="square" lIns="0" tIns="12700" rIns="0" bIns="0" rtlCol="0">
            <a:spAutoFit/>
          </a:bodyPr>
          <a:lstStyle/>
          <a:p>
            <a:pPr marL="12700">
              <a:lnSpc>
                <a:spcPct val="100000"/>
              </a:lnSpc>
              <a:spcBef>
                <a:spcPts val="100"/>
              </a:spcBef>
            </a:pPr>
            <a:r>
              <a:rPr sz="1300" b="1" u="sng" spc="-10" dirty="0">
                <a:uFill>
                  <a:solidFill>
                    <a:srgbClr val="000000"/>
                  </a:solidFill>
                </a:uFill>
                <a:latin typeface="Bookman Old Style" panose="02050604050505020204" pitchFamily="18" charset="0"/>
                <a:cs typeface="Times New Roman"/>
              </a:rPr>
              <a:t>Exemple:</a:t>
            </a:r>
            <a:endParaRPr sz="1300" dirty="0">
              <a:latin typeface="Bookman Old Style" panose="02050604050505020204" pitchFamily="18" charset="0"/>
              <a:cs typeface="Times New Roman"/>
            </a:endParaRPr>
          </a:p>
        </p:txBody>
      </p:sp>
    </p:spTree>
    <p:extLst>
      <p:ext uri="{BB962C8B-B14F-4D97-AF65-F5344CB8AC3E}">
        <p14:creationId xmlns:p14="http://schemas.microsoft.com/office/powerpoint/2010/main" val="31939173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45</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3.3 </a:t>
            </a:r>
            <a:r>
              <a:rPr lang="fr-FR" altLang="fr-FR" sz="1400" b="1" spc="-5" dirty="0">
                <a:solidFill>
                  <a:srgbClr val="CC00CC"/>
                </a:solidFill>
                <a:latin typeface="Bookman Old Style" panose="02050604050505020204" pitchFamily="18" charset="0"/>
                <a:cs typeface="Arial"/>
              </a:rPr>
              <a:t>Théorème de Norton </a:t>
            </a:r>
          </a:p>
        </p:txBody>
      </p:sp>
      <p:sp>
        <p:nvSpPr>
          <p:cNvPr id="11" name="object 14">
            <a:extLst>
              <a:ext uri="{FF2B5EF4-FFF2-40B4-BE49-F238E27FC236}">
                <a16:creationId xmlns:a16="http://schemas.microsoft.com/office/drawing/2014/main" id="{B4B73903-65CD-57EA-36F3-626108569EE6}"/>
              </a:ext>
            </a:extLst>
          </p:cNvPr>
          <p:cNvSpPr txBox="1"/>
          <p:nvPr/>
        </p:nvSpPr>
        <p:spPr>
          <a:xfrm>
            <a:off x="3558826" y="1777886"/>
            <a:ext cx="2562860" cy="182742"/>
          </a:xfrm>
          <a:prstGeom prst="rect">
            <a:avLst/>
          </a:prstGeom>
        </p:spPr>
        <p:txBody>
          <a:bodyPr vert="horz" wrap="square" lIns="0" tIns="13335" rIns="0" bIns="0" rtlCol="0">
            <a:spAutoFit/>
          </a:bodyPr>
          <a:lstStyle/>
          <a:p>
            <a:pPr marL="12700">
              <a:lnSpc>
                <a:spcPct val="100000"/>
              </a:lnSpc>
              <a:spcBef>
                <a:spcPts val="105"/>
              </a:spcBef>
            </a:pPr>
            <a:r>
              <a:rPr sz="1100" b="1" dirty="0">
                <a:latin typeface="Bookman Old Style" panose="02050604050505020204" pitchFamily="18" charset="0"/>
                <a:cs typeface="Times New Roman"/>
              </a:rPr>
              <a:t>Pourquoi</a:t>
            </a:r>
            <a:r>
              <a:rPr sz="1100" b="1" spc="-25" dirty="0">
                <a:latin typeface="Bookman Old Style" panose="02050604050505020204" pitchFamily="18" charset="0"/>
                <a:cs typeface="Times New Roman"/>
              </a:rPr>
              <a:t> </a:t>
            </a:r>
            <a:r>
              <a:rPr sz="1100" b="1" dirty="0">
                <a:latin typeface="Bookman Old Style" panose="02050604050505020204" pitchFamily="18" charset="0"/>
                <a:cs typeface="Times New Roman"/>
              </a:rPr>
              <a:t>le</a:t>
            </a:r>
            <a:r>
              <a:rPr sz="1100" b="1" spc="-60" dirty="0">
                <a:latin typeface="Bookman Old Style" panose="02050604050505020204" pitchFamily="18" charset="0"/>
                <a:cs typeface="Times New Roman"/>
              </a:rPr>
              <a:t> </a:t>
            </a:r>
            <a:r>
              <a:rPr sz="1100" b="1" dirty="0">
                <a:latin typeface="Bookman Old Style" panose="02050604050505020204" pitchFamily="18" charset="0"/>
                <a:cs typeface="Times New Roman"/>
              </a:rPr>
              <a:t>théorème</a:t>
            </a:r>
            <a:r>
              <a:rPr sz="1100" b="1" spc="-15" dirty="0">
                <a:latin typeface="Bookman Old Style" panose="02050604050505020204" pitchFamily="18" charset="0"/>
                <a:cs typeface="Times New Roman"/>
              </a:rPr>
              <a:t> </a:t>
            </a:r>
            <a:r>
              <a:rPr sz="1100" b="1" dirty="0">
                <a:latin typeface="Bookman Old Style" panose="02050604050505020204" pitchFamily="18" charset="0"/>
                <a:cs typeface="Times New Roman"/>
              </a:rPr>
              <a:t>de</a:t>
            </a:r>
            <a:r>
              <a:rPr sz="1100" b="1" spc="-20" dirty="0">
                <a:latin typeface="Bookman Old Style" panose="02050604050505020204" pitchFamily="18" charset="0"/>
                <a:cs typeface="Times New Roman"/>
              </a:rPr>
              <a:t> </a:t>
            </a:r>
            <a:r>
              <a:rPr sz="1100" b="1" spc="-10" dirty="0">
                <a:latin typeface="Bookman Old Style" panose="02050604050505020204" pitchFamily="18" charset="0"/>
                <a:cs typeface="Times New Roman"/>
              </a:rPr>
              <a:t>Norton?</a:t>
            </a:r>
            <a:endParaRPr sz="1100">
              <a:latin typeface="Bookman Old Style" panose="02050604050505020204" pitchFamily="18" charset="0"/>
              <a:cs typeface="Times New Roman"/>
            </a:endParaRPr>
          </a:p>
        </p:txBody>
      </p:sp>
      <p:sp>
        <p:nvSpPr>
          <p:cNvPr id="12" name="object 15">
            <a:extLst>
              <a:ext uri="{FF2B5EF4-FFF2-40B4-BE49-F238E27FC236}">
                <a16:creationId xmlns:a16="http://schemas.microsoft.com/office/drawing/2014/main" id="{C9DA4B8F-0C30-D852-2DDD-6B1B18C5F8F1}"/>
              </a:ext>
            </a:extLst>
          </p:cNvPr>
          <p:cNvSpPr/>
          <p:nvPr/>
        </p:nvSpPr>
        <p:spPr>
          <a:xfrm>
            <a:off x="3359436" y="1935925"/>
            <a:ext cx="0" cy="2286000"/>
          </a:xfrm>
          <a:custGeom>
            <a:avLst/>
            <a:gdLst/>
            <a:ahLst/>
            <a:cxnLst/>
            <a:rect l="l" t="t" r="r" b="b"/>
            <a:pathLst>
              <a:path h="2286000">
                <a:moveTo>
                  <a:pt x="0" y="0"/>
                </a:moveTo>
                <a:lnTo>
                  <a:pt x="0" y="2286000"/>
                </a:lnTo>
              </a:path>
            </a:pathLst>
          </a:custGeom>
          <a:ln w="76200">
            <a:solidFill>
              <a:srgbClr val="FF9900"/>
            </a:solidFill>
            <a:prstDash val="sysDash"/>
          </a:ln>
        </p:spPr>
        <p:txBody>
          <a:bodyPr wrap="square" lIns="0" tIns="0" rIns="0" bIns="0" rtlCol="0"/>
          <a:lstStyle/>
          <a:p>
            <a:endParaRPr/>
          </a:p>
        </p:txBody>
      </p:sp>
      <p:sp>
        <p:nvSpPr>
          <p:cNvPr id="13" name="object 16">
            <a:extLst>
              <a:ext uri="{FF2B5EF4-FFF2-40B4-BE49-F238E27FC236}">
                <a16:creationId xmlns:a16="http://schemas.microsoft.com/office/drawing/2014/main" id="{1D1DC92E-5D29-DB29-3437-FE8E4F307157}"/>
              </a:ext>
            </a:extLst>
          </p:cNvPr>
          <p:cNvSpPr txBox="1"/>
          <p:nvPr/>
        </p:nvSpPr>
        <p:spPr>
          <a:xfrm>
            <a:off x="125610" y="1782763"/>
            <a:ext cx="2886710" cy="182742"/>
          </a:xfrm>
          <a:prstGeom prst="rect">
            <a:avLst/>
          </a:prstGeom>
        </p:spPr>
        <p:txBody>
          <a:bodyPr vert="horz" wrap="square" lIns="0" tIns="13335" rIns="0" bIns="0" rtlCol="0">
            <a:spAutoFit/>
          </a:bodyPr>
          <a:lstStyle/>
          <a:p>
            <a:pPr marL="12700">
              <a:lnSpc>
                <a:spcPct val="100000"/>
              </a:lnSpc>
              <a:spcBef>
                <a:spcPts val="105"/>
              </a:spcBef>
            </a:pPr>
            <a:r>
              <a:rPr sz="1100" b="1" dirty="0">
                <a:latin typeface="Bookman Old Style" panose="02050604050505020204" pitchFamily="18" charset="0"/>
                <a:cs typeface="Times New Roman"/>
              </a:rPr>
              <a:t>Qu'est-ce</a:t>
            </a:r>
            <a:r>
              <a:rPr sz="1100" b="1" spc="-35" dirty="0">
                <a:latin typeface="Bookman Old Style" panose="02050604050505020204" pitchFamily="18" charset="0"/>
                <a:cs typeface="Times New Roman"/>
              </a:rPr>
              <a:t> </a:t>
            </a:r>
            <a:r>
              <a:rPr sz="1100" b="1" dirty="0">
                <a:latin typeface="Bookman Old Style" panose="02050604050505020204" pitchFamily="18" charset="0"/>
                <a:cs typeface="Times New Roman"/>
              </a:rPr>
              <a:t>que</a:t>
            </a:r>
            <a:r>
              <a:rPr sz="1100" b="1" spc="-25" dirty="0">
                <a:latin typeface="Bookman Old Style" panose="02050604050505020204" pitchFamily="18" charset="0"/>
                <a:cs typeface="Times New Roman"/>
              </a:rPr>
              <a:t> </a:t>
            </a:r>
            <a:r>
              <a:rPr sz="1100" b="1" dirty="0">
                <a:latin typeface="Bookman Old Style" panose="02050604050505020204" pitchFamily="18" charset="0"/>
                <a:cs typeface="Times New Roman"/>
              </a:rPr>
              <a:t>le</a:t>
            </a:r>
            <a:r>
              <a:rPr sz="1100" b="1" spc="-10" dirty="0">
                <a:latin typeface="Bookman Old Style" panose="02050604050505020204" pitchFamily="18" charset="0"/>
                <a:cs typeface="Times New Roman"/>
              </a:rPr>
              <a:t> </a:t>
            </a:r>
            <a:r>
              <a:rPr sz="1100" b="1" dirty="0">
                <a:latin typeface="Bookman Old Style" panose="02050604050505020204" pitchFamily="18" charset="0"/>
                <a:cs typeface="Times New Roman"/>
              </a:rPr>
              <a:t>théorème</a:t>
            </a:r>
            <a:r>
              <a:rPr sz="1100" b="1" spc="-5" dirty="0">
                <a:latin typeface="Bookman Old Style" panose="02050604050505020204" pitchFamily="18" charset="0"/>
                <a:cs typeface="Times New Roman"/>
              </a:rPr>
              <a:t> </a:t>
            </a:r>
            <a:r>
              <a:rPr sz="1100" b="1" dirty="0">
                <a:latin typeface="Bookman Old Style" panose="02050604050505020204" pitchFamily="18" charset="0"/>
                <a:cs typeface="Times New Roman"/>
              </a:rPr>
              <a:t>de</a:t>
            </a:r>
            <a:r>
              <a:rPr sz="1100" b="1" spc="-25" dirty="0">
                <a:latin typeface="Bookman Old Style" panose="02050604050505020204" pitchFamily="18" charset="0"/>
                <a:cs typeface="Times New Roman"/>
              </a:rPr>
              <a:t> </a:t>
            </a:r>
            <a:r>
              <a:rPr sz="1100" b="1" spc="-10" dirty="0">
                <a:latin typeface="Bookman Old Style" panose="02050604050505020204" pitchFamily="18" charset="0"/>
                <a:cs typeface="Times New Roman"/>
              </a:rPr>
              <a:t>Norton?</a:t>
            </a:r>
            <a:endParaRPr sz="1100">
              <a:latin typeface="Bookman Old Style" panose="02050604050505020204" pitchFamily="18" charset="0"/>
              <a:cs typeface="Times New Roman"/>
            </a:endParaRPr>
          </a:p>
        </p:txBody>
      </p:sp>
      <p:sp>
        <p:nvSpPr>
          <p:cNvPr id="17" name="object 17">
            <a:extLst>
              <a:ext uri="{FF2B5EF4-FFF2-40B4-BE49-F238E27FC236}">
                <a16:creationId xmlns:a16="http://schemas.microsoft.com/office/drawing/2014/main" id="{579EEB2E-081D-6F5E-CC4C-0CC6753CC689}"/>
              </a:ext>
            </a:extLst>
          </p:cNvPr>
          <p:cNvSpPr txBox="1"/>
          <p:nvPr/>
        </p:nvSpPr>
        <p:spPr>
          <a:xfrm>
            <a:off x="173464" y="2346642"/>
            <a:ext cx="2844800" cy="351378"/>
          </a:xfrm>
          <a:prstGeom prst="rect">
            <a:avLst/>
          </a:prstGeom>
        </p:spPr>
        <p:txBody>
          <a:bodyPr vert="horz" wrap="square" lIns="0" tIns="12700" rIns="0" bIns="0" rtlCol="0">
            <a:spAutoFit/>
          </a:bodyPr>
          <a:lstStyle/>
          <a:p>
            <a:pPr marL="186055" indent="-173355">
              <a:lnSpc>
                <a:spcPct val="100000"/>
              </a:lnSpc>
              <a:spcBef>
                <a:spcPts val="100"/>
              </a:spcBef>
              <a:buFont typeface="Arial MT"/>
              <a:buChar char="•"/>
              <a:tabLst>
                <a:tab pos="186055" algn="l"/>
              </a:tabLst>
            </a:pPr>
            <a:r>
              <a:rPr sz="1100" dirty="0">
                <a:latin typeface="Bookman Old Style" panose="02050604050505020204" pitchFamily="18" charset="0"/>
                <a:cs typeface="Times New Roman"/>
              </a:rPr>
              <a:t>Ingénieur</a:t>
            </a:r>
            <a:r>
              <a:rPr sz="1100" spc="-20" dirty="0">
                <a:latin typeface="Bookman Old Style" panose="02050604050505020204" pitchFamily="18" charset="0"/>
                <a:cs typeface="Times New Roman"/>
              </a:rPr>
              <a:t> </a:t>
            </a:r>
            <a:r>
              <a:rPr sz="1100" dirty="0">
                <a:latin typeface="Bookman Old Style" panose="02050604050505020204" pitchFamily="18" charset="0"/>
                <a:cs typeface="Times New Roman"/>
              </a:rPr>
              <a:t>américain</a:t>
            </a:r>
            <a:r>
              <a:rPr sz="1100" spc="-20" dirty="0">
                <a:latin typeface="Bookman Old Style" panose="02050604050505020204" pitchFamily="18" charset="0"/>
                <a:cs typeface="Times New Roman"/>
              </a:rPr>
              <a:t> </a:t>
            </a:r>
            <a:r>
              <a:rPr sz="1100" dirty="0">
                <a:latin typeface="Bookman Old Style" panose="02050604050505020204" pitchFamily="18" charset="0"/>
                <a:cs typeface="Times New Roman"/>
              </a:rPr>
              <a:t>Edward</a:t>
            </a:r>
            <a:r>
              <a:rPr sz="1100" spc="-35" dirty="0">
                <a:latin typeface="Bookman Old Style" panose="02050604050505020204" pitchFamily="18" charset="0"/>
                <a:cs typeface="Times New Roman"/>
              </a:rPr>
              <a:t> </a:t>
            </a:r>
            <a:r>
              <a:rPr sz="1100" dirty="0">
                <a:latin typeface="Bookman Old Style" panose="02050604050505020204" pitchFamily="18" charset="0"/>
                <a:cs typeface="Times New Roman"/>
              </a:rPr>
              <a:t>Lawry</a:t>
            </a:r>
            <a:r>
              <a:rPr sz="1100" spc="-35" dirty="0">
                <a:latin typeface="Bookman Old Style" panose="02050604050505020204" pitchFamily="18" charset="0"/>
                <a:cs typeface="Times New Roman"/>
              </a:rPr>
              <a:t> </a:t>
            </a:r>
            <a:r>
              <a:rPr sz="1100" b="1" spc="-10" dirty="0">
                <a:latin typeface="Bookman Old Style" panose="02050604050505020204" pitchFamily="18" charset="0"/>
                <a:cs typeface="Times New Roman"/>
              </a:rPr>
              <a:t>Norton</a:t>
            </a:r>
            <a:endParaRPr sz="1100" b="1" dirty="0">
              <a:latin typeface="Bookman Old Style" panose="02050604050505020204" pitchFamily="18" charset="0"/>
              <a:cs typeface="Times New Roman"/>
            </a:endParaRPr>
          </a:p>
        </p:txBody>
      </p:sp>
      <p:sp>
        <p:nvSpPr>
          <p:cNvPr id="20" name="object 18">
            <a:extLst>
              <a:ext uri="{FF2B5EF4-FFF2-40B4-BE49-F238E27FC236}">
                <a16:creationId xmlns:a16="http://schemas.microsoft.com/office/drawing/2014/main" id="{BFDEA8DC-D33D-09DA-2C64-6872A9BA3AF9}"/>
              </a:ext>
            </a:extLst>
          </p:cNvPr>
          <p:cNvSpPr txBox="1"/>
          <p:nvPr/>
        </p:nvSpPr>
        <p:spPr>
          <a:xfrm>
            <a:off x="173464" y="2712657"/>
            <a:ext cx="2985567" cy="520655"/>
          </a:xfrm>
          <a:prstGeom prst="rect">
            <a:avLst/>
          </a:prstGeom>
        </p:spPr>
        <p:txBody>
          <a:bodyPr vert="horz" wrap="square" lIns="0" tIns="12700" rIns="0" bIns="0" rtlCol="0">
            <a:spAutoFit/>
          </a:bodyPr>
          <a:lstStyle/>
          <a:p>
            <a:pPr marL="164465" marR="5080" indent="-152400">
              <a:lnSpc>
                <a:spcPct val="100000"/>
              </a:lnSpc>
              <a:spcBef>
                <a:spcPts val="100"/>
              </a:spcBef>
              <a:buFont typeface="Arial MT"/>
              <a:buChar char="•"/>
              <a:tabLst>
                <a:tab pos="164465" algn="l"/>
                <a:tab pos="185420" algn="l"/>
              </a:tabLst>
            </a:pPr>
            <a:r>
              <a:rPr sz="1100" dirty="0">
                <a:latin typeface="Bookman Old Style" panose="02050604050505020204" pitchFamily="18" charset="0"/>
                <a:cs typeface="Times New Roman"/>
              </a:rPr>
              <a:t>	C'est</a:t>
            </a:r>
            <a:r>
              <a:rPr sz="1100" spc="-30" dirty="0">
                <a:latin typeface="Bookman Old Style" panose="02050604050505020204" pitchFamily="18" charset="0"/>
                <a:cs typeface="Times New Roman"/>
              </a:rPr>
              <a:t> </a:t>
            </a:r>
            <a:r>
              <a:rPr sz="1100" dirty="0">
                <a:latin typeface="Bookman Old Style" panose="02050604050505020204" pitchFamily="18" charset="0"/>
                <a:cs typeface="Times New Roman"/>
              </a:rPr>
              <a:t>un</a:t>
            </a:r>
            <a:r>
              <a:rPr sz="1100" spc="-35" dirty="0">
                <a:latin typeface="Bookman Old Style" panose="02050604050505020204" pitchFamily="18" charset="0"/>
                <a:cs typeface="Times New Roman"/>
              </a:rPr>
              <a:t> </a:t>
            </a:r>
            <a:r>
              <a:rPr sz="1100" dirty="0">
                <a:latin typeface="Bookman Old Style" panose="02050604050505020204" pitchFamily="18" charset="0"/>
                <a:cs typeface="Times New Roman"/>
              </a:rPr>
              <a:t>théorème</a:t>
            </a:r>
            <a:r>
              <a:rPr sz="1100" spc="-10" dirty="0">
                <a:latin typeface="Bookman Old Style" panose="02050604050505020204" pitchFamily="18" charset="0"/>
                <a:cs typeface="Times New Roman"/>
              </a:rPr>
              <a:t> </a:t>
            </a:r>
            <a:r>
              <a:rPr sz="1100" b="1" dirty="0">
                <a:latin typeface="Bookman Old Style" panose="02050604050505020204" pitchFamily="18" charset="0"/>
                <a:cs typeface="Times New Roman"/>
              </a:rPr>
              <a:t>élémentaire</a:t>
            </a:r>
            <a:r>
              <a:rPr sz="1100" b="1" spc="10" dirty="0">
                <a:latin typeface="Bookman Old Style" panose="02050604050505020204" pitchFamily="18" charset="0"/>
                <a:cs typeface="Times New Roman"/>
              </a:rPr>
              <a:t> </a:t>
            </a:r>
            <a:r>
              <a:rPr sz="1100" b="1" spc="-25" dirty="0">
                <a:latin typeface="Bookman Old Style" panose="02050604050505020204" pitchFamily="18" charset="0"/>
                <a:cs typeface="Times New Roman"/>
              </a:rPr>
              <a:t>en </a:t>
            </a:r>
            <a:r>
              <a:rPr sz="1100" b="1" dirty="0">
                <a:latin typeface="Bookman Old Style" panose="02050604050505020204" pitchFamily="18" charset="0"/>
                <a:cs typeface="Times New Roman"/>
              </a:rPr>
              <a:t>électrocinétique</a:t>
            </a:r>
            <a:r>
              <a:rPr sz="1100" b="1" spc="-10" dirty="0">
                <a:latin typeface="Bookman Old Style" panose="02050604050505020204" pitchFamily="18" charset="0"/>
                <a:cs typeface="Times New Roman"/>
              </a:rPr>
              <a:t> </a:t>
            </a:r>
            <a:r>
              <a:rPr sz="1100" dirty="0">
                <a:latin typeface="Bookman Old Style" panose="02050604050505020204" pitchFamily="18" charset="0"/>
                <a:cs typeface="Times New Roman"/>
              </a:rPr>
              <a:t>|</a:t>
            </a:r>
            <a:r>
              <a:rPr sz="1100" spc="-60" dirty="0">
                <a:latin typeface="Bookman Old Style" panose="02050604050505020204" pitchFamily="18" charset="0"/>
                <a:cs typeface="Times New Roman"/>
              </a:rPr>
              <a:t> </a:t>
            </a:r>
            <a:r>
              <a:rPr sz="1100" dirty="0">
                <a:latin typeface="Bookman Old Style" panose="02050604050505020204" pitchFamily="18" charset="0"/>
                <a:cs typeface="Times New Roman"/>
              </a:rPr>
              <a:t>Principe</a:t>
            </a:r>
            <a:r>
              <a:rPr sz="1100" spc="-35" dirty="0">
                <a:latin typeface="Bookman Old Style" panose="02050604050505020204" pitchFamily="18" charset="0"/>
                <a:cs typeface="Times New Roman"/>
              </a:rPr>
              <a:t> </a:t>
            </a:r>
            <a:r>
              <a:rPr sz="1100" dirty="0" err="1">
                <a:latin typeface="Bookman Old Style" panose="02050604050505020204" pitchFamily="18" charset="0"/>
                <a:cs typeface="Times New Roman"/>
              </a:rPr>
              <a:t>fondamental</a:t>
            </a:r>
            <a:r>
              <a:rPr sz="1100" spc="-20" dirty="0">
                <a:latin typeface="Bookman Old Style" panose="02050604050505020204" pitchFamily="18" charset="0"/>
                <a:cs typeface="Times New Roman"/>
              </a:rPr>
              <a:t> </a:t>
            </a:r>
            <a:r>
              <a:rPr sz="1100" spc="-25" dirty="0" err="1">
                <a:latin typeface="Bookman Old Style" panose="02050604050505020204" pitchFamily="18" charset="0"/>
                <a:cs typeface="Times New Roman"/>
              </a:rPr>
              <a:t>en</a:t>
            </a:r>
            <a:r>
              <a:rPr lang="fr-FR" sz="1100" spc="-25" dirty="0">
                <a:latin typeface="Bookman Old Style" panose="02050604050505020204" pitchFamily="18" charset="0"/>
                <a:cs typeface="Times New Roman"/>
              </a:rPr>
              <a:t> </a:t>
            </a:r>
            <a:r>
              <a:rPr sz="1100" dirty="0" err="1">
                <a:latin typeface="Bookman Old Style" panose="02050604050505020204" pitchFamily="18" charset="0"/>
                <a:cs typeface="Times New Roman"/>
              </a:rPr>
              <a:t>électricité</a:t>
            </a:r>
            <a:r>
              <a:rPr sz="1100" spc="10" dirty="0">
                <a:latin typeface="Bookman Old Style" panose="02050604050505020204" pitchFamily="18" charset="0"/>
                <a:cs typeface="Times New Roman"/>
              </a:rPr>
              <a:t> </a:t>
            </a:r>
            <a:r>
              <a:rPr sz="1100" dirty="0">
                <a:latin typeface="Bookman Old Style" panose="02050604050505020204" pitchFamily="18" charset="0"/>
                <a:cs typeface="Times New Roman"/>
              </a:rPr>
              <a:t>et</a:t>
            </a:r>
            <a:r>
              <a:rPr sz="1100" spc="-20" dirty="0">
                <a:latin typeface="Bookman Old Style" panose="02050604050505020204" pitchFamily="18" charset="0"/>
                <a:cs typeface="Times New Roman"/>
              </a:rPr>
              <a:t> </a:t>
            </a:r>
            <a:r>
              <a:rPr sz="1100" dirty="0">
                <a:latin typeface="Bookman Old Style" panose="02050604050505020204" pitchFamily="18" charset="0"/>
                <a:cs typeface="Times New Roman"/>
              </a:rPr>
              <a:t>en</a:t>
            </a:r>
            <a:r>
              <a:rPr sz="1100" spc="-25" dirty="0">
                <a:latin typeface="Bookman Old Style" panose="02050604050505020204" pitchFamily="18" charset="0"/>
                <a:cs typeface="Times New Roman"/>
              </a:rPr>
              <a:t> </a:t>
            </a:r>
            <a:r>
              <a:rPr sz="1100" spc="-10" dirty="0">
                <a:latin typeface="Bookman Old Style" panose="02050604050505020204" pitchFamily="18" charset="0"/>
                <a:cs typeface="Times New Roman"/>
              </a:rPr>
              <a:t>électronique</a:t>
            </a:r>
            <a:endParaRPr sz="1100" dirty="0">
              <a:latin typeface="Bookman Old Style" panose="02050604050505020204" pitchFamily="18" charset="0"/>
              <a:cs typeface="Times New Roman"/>
            </a:endParaRPr>
          </a:p>
        </p:txBody>
      </p:sp>
      <p:sp>
        <p:nvSpPr>
          <p:cNvPr id="21" name="object 19">
            <a:extLst>
              <a:ext uri="{FF2B5EF4-FFF2-40B4-BE49-F238E27FC236}">
                <a16:creationId xmlns:a16="http://schemas.microsoft.com/office/drawing/2014/main" id="{75D5173F-9303-AECC-CB88-249E0C95AF12}"/>
              </a:ext>
            </a:extLst>
          </p:cNvPr>
          <p:cNvSpPr txBox="1"/>
          <p:nvPr/>
        </p:nvSpPr>
        <p:spPr>
          <a:xfrm>
            <a:off x="3471959" y="2391347"/>
            <a:ext cx="2745105" cy="351378"/>
          </a:xfrm>
          <a:prstGeom prst="rect">
            <a:avLst/>
          </a:prstGeom>
        </p:spPr>
        <p:txBody>
          <a:bodyPr vert="horz" wrap="square" lIns="0" tIns="12700" rIns="0" bIns="0" rtlCol="0">
            <a:spAutoFit/>
          </a:bodyPr>
          <a:lstStyle/>
          <a:p>
            <a:pPr marL="186055" indent="-173355">
              <a:lnSpc>
                <a:spcPct val="100000"/>
              </a:lnSpc>
              <a:spcBef>
                <a:spcPts val="100"/>
              </a:spcBef>
              <a:buFont typeface="Arial MT"/>
              <a:buChar char="•"/>
              <a:tabLst>
                <a:tab pos="186055" algn="l"/>
              </a:tabLst>
            </a:pPr>
            <a:r>
              <a:rPr sz="1100" dirty="0">
                <a:latin typeface="Bookman Old Style" panose="02050604050505020204" pitchFamily="18" charset="0"/>
                <a:cs typeface="Times New Roman"/>
              </a:rPr>
              <a:t>Simplifier</a:t>
            </a:r>
            <a:r>
              <a:rPr sz="1100" spc="-45" dirty="0">
                <a:latin typeface="Bookman Old Style" panose="02050604050505020204" pitchFamily="18" charset="0"/>
                <a:cs typeface="Times New Roman"/>
              </a:rPr>
              <a:t> </a:t>
            </a:r>
            <a:r>
              <a:rPr sz="1100" b="1" dirty="0">
                <a:latin typeface="Bookman Old Style" panose="02050604050505020204" pitchFamily="18" charset="0"/>
                <a:cs typeface="Times New Roman"/>
              </a:rPr>
              <a:t>l'analyse de</a:t>
            </a:r>
            <a:r>
              <a:rPr sz="1100" b="1" spc="-40" dirty="0">
                <a:latin typeface="Bookman Old Style" panose="02050604050505020204" pitchFamily="18" charset="0"/>
                <a:cs typeface="Times New Roman"/>
              </a:rPr>
              <a:t> </a:t>
            </a:r>
            <a:r>
              <a:rPr sz="1100" b="1" dirty="0">
                <a:latin typeface="Bookman Old Style" panose="02050604050505020204" pitchFamily="18" charset="0"/>
                <a:cs typeface="Times New Roman"/>
              </a:rPr>
              <a:t>circuits</a:t>
            </a:r>
            <a:r>
              <a:rPr sz="1100" b="1" spc="-30" dirty="0">
                <a:latin typeface="Bookman Old Style" panose="02050604050505020204" pitchFamily="18" charset="0"/>
                <a:cs typeface="Times New Roman"/>
              </a:rPr>
              <a:t> </a:t>
            </a:r>
            <a:r>
              <a:rPr sz="1100" b="1" spc="-10" dirty="0">
                <a:latin typeface="Bookman Old Style" panose="02050604050505020204" pitchFamily="18" charset="0"/>
                <a:cs typeface="Times New Roman"/>
              </a:rPr>
              <a:t>complexes</a:t>
            </a:r>
            <a:endParaRPr sz="1100" b="1" dirty="0">
              <a:latin typeface="Bookman Old Style" panose="02050604050505020204" pitchFamily="18" charset="0"/>
              <a:cs typeface="Times New Roman"/>
            </a:endParaRPr>
          </a:p>
        </p:txBody>
      </p:sp>
      <p:sp>
        <p:nvSpPr>
          <p:cNvPr id="22" name="object 20">
            <a:extLst>
              <a:ext uri="{FF2B5EF4-FFF2-40B4-BE49-F238E27FC236}">
                <a16:creationId xmlns:a16="http://schemas.microsoft.com/office/drawing/2014/main" id="{65BAD9A4-680D-33B7-9A2C-7DC403D31862}"/>
              </a:ext>
            </a:extLst>
          </p:cNvPr>
          <p:cNvSpPr txBox="1"/>
          <p:nvPr/>
        </p:nvSpPr>
        <p:spPr>
          <a:xfrm>
            <a:off x="3471959" y="2757488"/>
            <a:ext cx="2672715" cy="351378"/>
          </a:xfrm>
          <a:prstGeom prst="rect">
            <a:avLst/>
          </a:prstGeom>
        </p:spPr>
        <p:txBody>
          <a:bodyPr vert="horz" wrap="square" lIns="0" tIns="12700" rIns="0" bIns="0" rtlCol="0">
            <a:spAutoFit/>
          </a:bodyPr>
          <a:lstStyle/>
          <a:p>
            <a:pPr marL="184785" marR="5080" indent="-172720">
              <a:lnSpc>
                <a:spcPct val="100000"/>
              </a:lnSpc>
              <a:spcBef>
                <a:spcPts val="100"/>
              </a:spcBef>
              <a:buFont typeface="Arial MT"/>
              <a:buChar char="•"/>
              <a:tabLst>
                <a:tab pos="184785" algn="l"/>
              </a:tabLst>
            </a:pPr>
            <a:r>
              <a:rPr sz="1100" dirty="0">
                <a:latin typeface="Bookman Old Style" panose="02050604050505020204" pitchFamily="18" charset="0"/>
                <a:cs typeface="Times New Roman"/>
              </a:rPr>
              <a:t>Représentation</a:t>
            </a:r>
            <a:r>
              <a:rPr sz="1100" spc="-10" dirty="0">
                <a:latin typeface="Bookman Old Style" panose="02050604050505020204" pitchFamily="18" charset="0"/>
                <a:cs typeface="Times New Roman"/>
              </a:rPr>
              <a:t> </a:t>
            </a:r>
            <a:r>
              <a:rPr sz="1100" dirty="0">
                <a:latin typeface="Bookman Old Style" panose="02050604050505020204" pitchFamily="18" charset="0"/>
                <a:cs typeface="Times New Roman"/>
              </a:rPr>
              <a:t>simple</a:t>
            </a:r>
            <a:r>
              <a:rPr sz="1100" spc="-30" dirty="0">
                <a:latin typeface="Bookman Old Style" panose="02050604050505020204" pitchFamily="18" charset="0"/>
                <a:cs typeface="Times New Roman"/>
              </a:rPr>
              <a:t> </a:t>
            </a:r>
            <a:r>
              <a:rPr sz="1100" dirty="0">
                <a:latin typeface="Bookman Old Style" panose="02050604050505020204" pitchFamily="18" charset="0"/>
                <a:cs typeface="Times New Roman"/>
              </a:rPr>
              <a:t>pour</a:t>
            </a:r>
            <a:r>
              <a:rPr sz="1100" spc="-45" dirty="0">
                <a:latin typeface="Bookman Old Style" panose="02050604050505020204" pitchFamily="18" charset="0"/>
                <a:cs typeface="Times New Roman"/>
              </a:rPr>
              <a:t> </a:t>
            </a:r>
            <a:r>
              <a:rPr sz="1100" dirty="0">
                <a:latin typeface="Bookman Old Style" panose="02050604050505020204" pitchFamily="18" charset="0"/>
                <a:cs typeface="Times New Roman"/>
              </a:rPr>
              <a:t>le</a:t>
            </a:r>
            <a:r>
              <a:rPr sz="1100" spc="-30" dirty="0">
                <a:latin typeface="Bookman Old Style" panose="02050604050505020204" pitchFamily="18" charset="0"/>
                <a:cs typeface="Times New Roman"/>
              </a:rPr>
              <a:t> </a:t>
            </a:r>
            <a:r>
              <a:rPr sz="1100" dirty="0">
                <a:latin typeface="Bookman Old Style" panose="02050604050505020204" pitchFamily="18" charset="0"/>
                <a:cs typeface="Times New Roman"/>
              </a:rPr>
              <a:t>calcul</a:t>
            </a:r>
            <a:r>
              <a:rPr sz="1100" spc="-10" dirty="0">
                <a:latin typeface="Bookman Old Style" panose="02050604050505020204" pitchFamily="18" charset="0"/>
                <a:cs typeface="Times New Roman"/>
              </a:rPr>
              <a:t> </a:t>
            </a:r>
            <a:r>
              <a:rPr sz="1100" spc="-25" dirty="0">
                <a:latin typeface="Bookman Old Style" panose="02050604050505020204" pitchFamily="18" charset="0"/>
                <a:cs typeface="Times New Roman"/>
              </a:rPr>
              <a:t>des </a:t>
            </a:r>
            <a:r>
              <a:rPr sz="1100" dirty="0">
                <a:latin typeface="Bookman Old Style" panose="02050604050505020204" pitchFamily="18" charset="0"/>
                <a:cs typeface="Times New Roman"/>
              </a:rPr>
              <a:t>courants</a:t>
            </a:r>
            <a:r>
              <a:rPr sz="1100" spc="-5" dirty="0">
                <a:latin typeface="Bookman Old Style" panose="02050604050505020204" pitchFamily="18" charset="0"/>
                <a:cs typeface="Times New Roman"/>
              </a:rPr>
              <a:t> </a:t>
            </a:r>
            <a:r>
              <a:rPr sz="1100" dirty="0">
                <a:latin typeface="Bookman Old Style" panose="02050604050505020204" pitchFamily="18" charset="0"/>
                <a:cs typeface="Times New Roman"/>
              </a:rPr>
              <a:t>et</a:t>
            </a:r>
            <a:r>
              <a:rPr sz="1100" spc="-25" dirty="0">
                <a:latin typeface="Bookman Old Style" panose="02050604050505020204" pitchFamily="18" charset="0"/>
                <a:cs typeface="Times New Roman"/>
              </a:rPr>
              <a:t> </a:t>
            </a:r>
            <a:r>
              <a:rPr sz="1100" dirty="0">
                <a:latin typeface="Bookman Old Style" panose="02050604050505020204" pitchFamily="18" charset="0"/>
                <a:cs typeface="Times New Roman"/>
              </a:rPr>
              <a:t>des</a:t>
            </a:r>
            <a:r>
              <a:rPr sz="1100" spc="-15" dirty="0">
                <a:latin typeface="Bookman Old Style" panose="02050604050505020204" pitchFamily="18" charset="0"/>
                <a:cs typeface="Times New Roman"/>
              </a:rPr>
              <a:t> </a:t>
            </a:r>
            <a:r>
              <a:rPr sz="1100" spc="-10" dirty="0">
                <a:latin typeface="Bookman Old Style" panose="02050604050505020204" pitchFamily="18" charset="0"/>
                <a:cs typeface="Times New Roman"/>
              </a:rPr>
              <a:t>tensions.</a:t>
            </a:r>
            <a:endParaRPr sz="1100">
              <a:latin typeface="Bookman Old Style" panose="02050604050505020204" pitchFamily="18" charset="0"/>
              <a:cs typeface="Times New Roman"/>
            </a:endParaRPr>
          </a:p>
        </p:txBody>
      </p:sp>
      <p:sp>
        <p:nvSpPr>
          <p:cNvPr id="23" name="object 21">
            <a:extLst>
              <a:ext uri="{FF2B5EF4-FFF2-40B4-BE49-F238E27FC236}">
                <a16:creationId xmlns:a16="http://schemas.microsoft.com/office/drawing/2014/main" id="{0D23FAB5-7363-712F-A0EB-7668ACF92859}"/>
              </a:ext>
            </a:extLst>
          </p:cNvPr>
          <p:cNvSpPr txBox="1"/>
          <p:nvPr/>
        </p:nvSpPr>
        <p:spPr>
          <a:xfrm>
            <a:off x="6641371" y="1759522"/>
            <a:ext cx="2057400" cy="729046"/>
          </a:xfrm>
          <a:prstGeom prst="rect">
            <a:avLst/>
          </a:prstGeom>
        </p:spPr>
        <p:txBody>
          <a:bodyPr vert="horz" wrap="square" lIns="0" tIns="13335" rIns="0" bIns="0" rtlCol="0">
            <a:spAutoFit/>
          </a:bodyPr>
          <a:lstStyle/>
          <a:p>
            <a:pPr marL="51435" marR="5080" algn="ctr">
              <a:lnSpc>
                <a:spcPct val="100000"/>
              </a:lnSpc>
              <a:spcBef>
                <a:spcPts val="105"/>
              </a:spcBef>
            </a:pPr>
            <a:r>
              <a:rPr sz="1100" b="1" dirty="0">
                <a:latin typeface="Bookman Old Style" panose="02050604050505020204" pitchFamily="18" charset="0"/>
                <a:cs typeface="Times New Roman"/>
              </a:rPr>
              <a:t>Quelles</a:t>
            </a:r>
            <a:r>
              <a:rPr sz="1100" b="1" spc="-35" dirty="0">
                <a:latin typeface="Bookman Old Style" panose="02050604050505020204" pitchFamily="18" charset="0"/>
                <a:cs typeface="Times New Roman"/>
              </a:rPr>
              <a:t> </a:t>
            </a:r>
            <a:r>
              <a:rPr sz="1100" b="1" dirty="0">
                <a:latin typeface="Bookman Old Style" panose="02050604050505020204" pitchFamily="18" charset="0"/>
                <a:cs typeface="Times New Roman"/>
              </a:rPr>
              <a:t>sont</a:t>
            </a:r>
            <a:r>
              <a:rPr sz="1100" b="1" spc="-40" dirty="0">
                <a:latin typeface="Bookman Old Style" panose="02050604050505020204" pitchFamily="18" charset="0"/>
                <a:cs typeface="Times New Roman"/>
              </a:rPr>
              <a:t> </a:t>
            </a:r>
            <a:r>
              <a:rPr sz="1100" b="1" dirty="0">
                <a:latin typeface="Bookman Old Style" panose="02050604050505020204" pitchFamily="18" charset="0"/>
                <a:cs typeface="Times New Roman"/>
              </a:rPr>
              <a:t>les</a:t>
            </a:r>
            <a:r>
              <a:rPr sz="1100" b="1" spc="-5" dirty="0">
                <a:latin typeface="Bookman Old Style" panose="02050604050505020204" pitchFamily="18" charset="0"/>
                <a:cs typeface="Times New Roman"/>
              </a:rPr>
              <a:t> </a:t>
            </a:r>
            <a:r>
              <a:rPr sz="1100" b="1" spc="-10" dirty="0">
                <a:latin typeface="Bookman Old Style" panose="02050604050505020204" pitchFamily="18" charset="0"/>
                <a:cs typeface="Times New Roman"/>
              </a:rPr>
              <a:t>conditions </a:t>
            </a:r>
            <a:r>
              <a:rPr sz="1100" b="1" dirty="0">
                <a:latin typeface="Bookman Old Style" panose="02050604050505020204" pitchFamily="18" charset="0"/>
                <a:cs typeface="Times New Roman"/>
              </a:rPr>
              <a:t>d'application</a:t>
            </a:r>
            <a:r>
              <a:rPr sz="1100" b="1" spc="-85" dirty="0">
                <a:latin typeface="Bookman Old Style" panose="02050604050505020204" pitchFamily="18" charset="0"/>
                <a:cs typeface="Times New Roman"/>
              </a:rPr>
              <a:t> </a:t>
            </a:r>
            <a:r>
              <a:rPr sz="1100" b="1" spc="-50" dirty="0">
                <a:latin typeface="Bookman Old Style" panose="02050604050505020204" pitchFamily="18" charset="0"/>
                <a:cs typeface="Times New Roman"/>
              </a:rPr>
              <a:t>?</a:t>
            </a:r>
            <a:endParaRPr sz="1100" dirty="0">
              <a:latin typeface="Bookman Old Style" panose="02050604050505020204" pitchFamily="18" charset="0"/>
              <a:cs typeface="Times New Roman"/>
            </a:endParaRPr>
          </a:p>
          <a:p>
            <a:pPr>
              <a:lnSpc>
                <a:spcPct val="100000"/>
              </a:lnSpc>
              <a:spcBef>
                <a:spcPts val="280"/>
              </a:spcBef>
            </a:pPr>
            <a:endParaRPr sz="1100" dirty="0">
              <a:latin typeface="Bookman Old Style" panose="02050604050505020204" pitchFamily="18" charset="0"/>
              <a:cs typeface="Times New Roman"/>
            </a:endParaRPr>
          </a:p>
          <a:p>
            <a:pPr marL="186055" indent="-173355">
              <a:lnSpc>
                <a:spcPct val="100000"/>
              </a:lnSpc>
              <a:buFont typeface="Arial MT"/>
              <a:buChar char="•"/>
              <a:tabLst>
                <a:tab pos="186055" algn="l"/>
              </a:tabLst>
            </a:pPr>
            <a:r>
              <a:rPr sz="1100" dirty="0">
                <a:latin typeface="Bookman Old Style" panose="02050604050505020204" pitchFamily="18" charset="0"/>
                <a:cs typeface="Times New Roman"/>
              </a:rPr>
              <a:t>Circuit</a:t>
            </a:r>
            <a:r>
              <a:rPr sz="1100" spc="-30" dirty="0">
                <a:latin typeface="Bookman Old Style" panose="02050604050505020204" pitchFamily="18" charset="0"/>
                <a:cs typeface="Times New Roman"/>
              </a:rPr>
              <a:t> </a:t>
            </a:r>
            <a:r>
              <a:rPr sz="1100" b="1" dirty="0">
                <a:latin typeface="Bookman Old Style" panose="02050604050505020204" pitchFamily="18" charset="0"/>
                <a:cs typeface="Times New Roman"/>
              </a:rPr>
              <a:t>électrique</a:t>
            </a:r>
            <a:r>
              <a:rPr sz="1100" b="1" spc="-5" dirty="0">
                <a:latin typeface="Bookman Old Style" panose="02050604050505020204" pitchFamily="18" charset="0"/>
                <a:cs typeface="Times New Roman"/>
              </a:rPr>
              <a:t> </a:t>
            </a:r>
            <a:r>
              <a:rPr sz="1100" b="1" spc="-10" dirty="0">
                <a:latin typeface="Bookman Old Style" panose="02050604050505020204" pitchFamily="18" charset="0"/>
                <a:cs typeface="Times New Roman"/>
              </a:rPr>
              <a:t>linéaire</a:t>
            </a:r>
            <a:endParaRPr sz="1100" b="1" dirty="0">
              <a:latin typeface="Bookman Old Style" panose="02050604050505020204" pitchFamily="18" charset="0"/>
              <a:cs typeface="Times New Roman"/>
            </a:endParaRPr>
          </a:p>
        </p:txBody>
      </p:sp>
      <p:sp>
        <p:nvSpPr>
          <p:cNvPr id="24" name="object 22">
            <a:extLst>
              <a:ext uri="{FF2B5EF4-FFF2-40B4-BE49-F238E27FC236}">
                <a16:creationId xmlns:a16="http://schemas.microsoft.com/office/drawing/2014/main" id="{05F64761-73C0-7B15-6F08-92E098E6C643}"/>
              </a:ext>
            </a:extLst>
          </p:cNvPr>
          <p:cNvSpPr txBox="1"/>
          <p:nvPr/>
        </p:nvSpPr>
        <p:spPr>
          <a:xfrm>
            <a:off x="6641371" y="2793175"/>
            <a:ext cx="2502628" cy="1028487"/>
          </a:xfrm>
          <a:prstGeom prst="rect">
            <a:avLst/>
          </a:prstGeom>
        </p:spPr>
        <p:txBody>
          <a:bodyPr vert="horz" wrap="square" lIns="0" tIns="12700" rIns="0" bIns="0" rtlCol="0">
            <a:spAutoFit/>
          </a:bodyPr>
          <a:lstStyle/>
          <a:p>
            <a:pPr marL="165100" marR="5080" indent="-152400">
              <a:lnSpc>
                <a:spcPct val="100000"/>
              </a:lnSpc>
              <a:spcBef>
                <a:spcPts val="100"/>
              </a:spcBef>
              <a:buFont typeface="Arial MT"/>
              <a:buChar char="•"/>
              <a:tabLst>
                <a:tab pos="165100" algn="l"/>
                <a:tab pos="186055" algn="l"/>
              </a:tabLst>
            </a:pPr>
            <a:r>
              <a:rPr sz="1100" dirty="0">
                <a:latin typeface="Bookman Old Style" panose="02050604050505020204" pitchFamily="18" charset="0"/>
                <a:cs typeface="Times New Roman"/>
              </a:rPr>
              <a:t>	Remplacé</a:t>
            </a:r>
            <a:r>
              <a:rPr sz="1100" spc="-20" dirty="0">
                <a:latin typeface="Bookman Old Style" panose="02050604050505020204" pitchFamily="18" charset="0"/>
                <a:cs typeface="Times New Roman"/>
              </a:rPr>
              <a:t> </a:t>
            </a:r>
            <a:r>
              <a:rPr sz="1100" dirty="0">
                <a:latin typeface="Bookman Old Style" panose="02050604050505020204" pitchFamily="18" charset="0"/>
                <a:cs typeface="Times New Roman"/>
              </a:rPr>
              <a:t>un</a:t>
            </a:r>
            <a:r>
              <a:rPr sz="1100" spc="-30" dirty="0">
                <a:latin typeface="Bookman Old Style" panose="02050604050505020204" pitchFamily="18" charset="0"/>
                <a:cs typeface="Times New Roman"/>
              </a:rPr>
              <a:t> </a:t>
            </a:r>
            <a:r>
              <a:rPr sz="1100" dirty="0">
                <a:latin typeface="Bookman Old Style" panose="02050604050505020204" pitchFamily="18" charset="0"/>
                <a:cs typeface="Times New Roman"/>
              </a:rPr>
              <a:t>circuit</a:t>
            </a:r>
            <a:r>
              <a:rPr sz="1100" spc="-10" dirty="0">
                <a:latin typeface="Bookman Old Style" panose="02050604050505020204" pitchFamily="18" charset="0"/>
                <a:cs typeface="Times New Roman"/>
              </a:rPr>
              <a:t> </a:t>
            </a:r>
            <a:r>
              <a:rPr sz="1100" dirty="0">
                <a:latin typeface="Bookman Old Style" panose="02050604050505020204" pitchFamily="18" charset="0"/>
                <a:cs typeface="Times New Roman"/>
              </a:rPr>
              <a:t>complexe</a:t>
            </a:r>
            <a:r>
              <a:rPr sz="1100" spc="-15" dirty="0">
                <a:latin typeface="Bookman Old Style" panose="02050604050505020204" pitchFamily="18" charset="0"/>
                <a:cs typeface="Times New Roman"/>
              </a:rPr>
              <a:t> </a:t>
            </a:r>
            <a:r>
              <a:rPr sz="1100" spc="-25" dirty="0">
                <a:latin typeface="Bookman Old Style" panose="02050604050505020204" pitchFamily="18" charset="0"/>
                <a:cs typeface="Times New Roman"/>
              </a:rPr>
              <a:t>par </a:t>
            </a:r>
            <a:r>
              <a:rPr sz="1100" dirty="0">
                <a:latin typeface="Bookman Old Style" panose="02050604050505020204" pitchFamily="18" charset="0"/>
                <a:cs typeface="Times New Roman"/>
              </a:rPr>
              <a:t>une</a:t>
            </a:r>
            <a:r>
              <a:rPr sz="1100" spc="-15" dirty="0">
                <a:latin typeface="Bookman Old Style" panose="02050604050505020204" pitchFamily="18" charset="0"/>
                <a:cs typeface="Times New Roman"/>
              </a:rPr>
              <a:t> </a:t>
            </a:r>
            <a:r>
              <a:rPr sz="1100" dirty="0">
                <a:latin typeface="Bookman Old Style" panose="02050604050505020204" pitchFamily="18" charset="0"/>
                <a:cs typeface="Times New Roman"/>
              </a:rPr>
              <a:t>seule</a:t>
            </a:r>
            <a:r>
              <a:rPr sz="1100" spc="-10" dirty="0">
                <a:latin typeface="Bookman Old Style" panose="02050604050505020204" pitchFamily="18" charset="0"/>
                <a:cs typeface="Times New Roman"/>
              </a:rPr>
              <a:t> </a:t>
            </a:r>
            <a:r>
              <a:rPr sz="1100" dirty="0">
                <a:latin typeface="Bookman Old Style" panose="02050604050505020204" pitchFamily="18" charset="0"/>
                <a:cs typeface="Times New Roman"/>
              </a:rPr>
              <a:t>source</a:t>
            </a:r>
            <a:r>
              <a:rPr sz="1100" spc="-15" dirty="0">
                <a:latin typeface="Bookman Old Style" panose="02050604050505020204" pitchFamily="18" charset="0"/>
                <a:cs typeface="Times New Roman"/>
              </a:rPr>
              <a:t> </a:t>
            </a:r>
            <a:r>
              <a:rPr sz="1100" dirty="0">
                <a:latin typeface="Bookman Old Style" panose="02050604050505020204" pitchFamily="18" charset="0"/>
                <a:cs typeface="Times New Roman"/>
              </a:rPr>
              <a:t>de</a:t>
            </a:r>
            <a:r>
              <a:rPr sz="1100" spc="-10" dirty="0">
                <a:latin typeface="Bookman Old Style" panose="02050604050505020204" pitchFamily="18" charset="0"/>
                <a:cs typeface="Times New Roman"/>
              </a:rPr>
              <a:t> </a:t>
            </a:r>
            <a:r>
              <a:rPr sz="1100" dirty="0">
                <a:latin typeface="Bookman Old Style" panose="02050604050505020204" pitchFamily="18" charset="0"/>
                <a:cs typeface="Times New Roman"/>
              </a:rPr>
              <a:t>courant</a:t>
            </a:r>
            <a:r>
              <a:rPr sz="1100" spc="-30" dirty="0">
                <a:latin typeface="Bookman Old Style" panose="02050604050505020204" pitchFamily="18" charset="0"/>
                <a:cs typeface="Times New Roman"/>
              </a:rPr>
              <a:t> </a:t>
            </a:r>
            <a:r>
              <a:rPr sz="1100" i="1" spc="-10" dirty="0">
                <a:latin typeface="Bookman Old Style" panose="02050604050505020204" pitchFamily="18" charset="0"/>
                <a:cs typeface="Times New Roman"/>
              </a:rPr>
              <a:t>(appelée </a:t>
            </a:r>
            <a:r>
              <a:rPr sz="1100" i="1" dirty="0">
                <a:latin typeface="Bookman Old Style" panose="02050604050505020204" pitchFamily="18" charset="0"/>
                <a:cs typeface="Times New Roman"/>
              </a:rPr>
              <a:t>le</a:t>
            </a:r>
            <a:r>
              <a:rPr sz="1100" i="1" spc="-10" dirty="0">
                <a:latin typeface="Bookman Old Style" panose="02050604050505020204" pitchFamily="18" charset="0"/>
                <a:cs typeface="Times New Roman"/>
              </a:rPr>
              <a:t> </a:t>
            </a:r>
            <a:r>
              <a:rPr sz="1100" b="1" i="1" dirty="0">
                <a:latin typeface="Bookman Old Style" panose="02050604050505020204" pitchFamily="18" charset="0"/>
                <a:cs typeface="Times New Roman"/>
              </a:rPr>
              <a:t>courant</a:t>
            </a:r>
            <a:r>
              <a:rPr sz="1100" b="1" i="1" spc="-15" dirty="0">
                <a:latin typeface="Bookman Old Style" panose="02050604050505020204" pitchFamily="18" charset="0"/>
                <a:cs typeface="Times New Roman"/>
              </a:rPr>
              <a:t> </a:t>
            </a:r>
            <a:r>
              <a:rPr sz="1100" b="1" i="1" dirty="0">
                <a:latin typeface="Bookman Old Style" panose="02050604050505020204" pitchFamily="18" charset="0"/>
                <a:cs typeface="Times New Roman"/>
              </a:rPr>
              <a:t>de</a:t>
            </a:r>
            <a:r>
              <a:rPr sz="1100" b="1" i="1" spc="-10" dirty="0">
                <a:latin typeface="Bookman Old Style" panose="02050604050505020204" pitchFamily="18" charset="0"/>
                <a:cs typeface="Times New Roman"/>
              </a:rPr>
              <a:t> </a:t>
            </a:r>
            <a:r>
              <a:rPr sz="1100" b="1" i="1" dirty="0">
                <a:latin typeface="Bookman Old Style" panose="02050604050505020204" pitchFamily="18" charset="0"/>
                <a:cs typeface="Times New Roman"/>
              </a:rPr>
              <a:t>Norton</a:t>
            </a:r>
            <a:r>
              <a:rPr sz="1100" i="1" dirty="0">
                <a:latin typeface="Bookman Old Style" panose="02050604050505020204" pitchFamily="18" charset="0"/>
                <a:cs typeface="Times New Roman"/>
              </a:rPr>
              <a:t>)</a:t>
            </a:r>
            <a:r>
              <a:rPr sz="1100" i="1" spc="-40" dirty="0">
                <a:latin typeface="Bookman Old Style" panose="02050604050505020204" pitchFamily="18" charset="0"/>
                <a:cs typeface="Times New Roman"/>
              </a:rPr>
              <a:t> </a:t>
            </a:r>
            <a:r>
              <a:rPr sz="1100" dirty="0">
                <a:solidFill>
                  <a:srgbClr val="FF0000"/>
                </a:solidFill>
                <a:latin typeface="Bookman Old Style" panose="02050604050505020204" pitchFamily="18" charset="0"/>
                <a:cs typeface="Times New Roman"/>
              </a:rPr>
              <a:t>en</a:t>
            </a:r>
            <a:r>
              <a:rPr sz="1100" spc="-10" dirty="0">
                <a:solidFill>
                  <a:srgbClr val="FF0000"/>
                </a:solidFill>
                <a:latin typeface="Bookman Old Style" panose="02050604050505020204" pitchFamily="18" charset="0"/>
                <a:cs typeface="Times New Roman"/>
              </a:rPr>
              <a:t> parallèle </a:t>
            </a:r>
            <a:r>
              <a:rPr sz="1100" dirty="0">
                <a:latin typeface="Bookman Old Style" panose="02050604050505020204" pitchFamily="18" charset="0"/>
                <a:cs typeface="Times New Roman"/>
              </a:rPr>
              <a:t>avec</a:t>
            </a:r>
            <a:r>
              <a:rPr sz="1100" spc="-5" dirty="0">
                <a:latin typeface="Bookman Old Style" panose="02050604050505020204" pitchFamily="18" charset="0"/>
                <a:cs typeface="Times New Roman"/>
              </a:rPr>
              <a:t> </a:t>
            </a:r>
            <a:r>
              <a:rPr sz="1100" dirty="0">
                <a:latin typeface="Bookman Old Style" panose="02050604050505020204" pitchFamily="18" charset="0"/>
                <a:cs typeface="Times New Roman"/>
              </a:rPr>
              <a:t>une</a:t>
            </a:r>
            <a:r>
              <a:rPr sz="1100" spc="-10" dirty="0">
                <a:latin typeface="Bookman Old Style" panose="02050604050505020204" pitchFamily="18" charset="0"/>
                <a:cs typeface="Times New Roman"/>
              </a:rPr>
              <a:t> </a:t>
            </a:r>
            <a:r>
              <a:rPr sz="1100" dirty="0" err="1">
                <a:latin typeface="Bookman Old Style" panose="02050604050505020204" pitchFamily="18" charset="0"/>
                <a:cs typeface="Times New Roman"/>
              </a:rPr>
              <a:t>seule</a:t>
            </a:r>
            <a:r>
              <a:rPr sz="1100" spc="-5" dirty="0">
                <a:latin typeface="Bookman Old Style" panose="02050604050505020204" pitchFamily="18" charset="0"/>
                <a:cs typeface="Times New Roman"/>
              </a:rPr>
              <a:t> </a:t>
            </a:r>
            <a:r>
              <a:rPr sz="1100" spc="-10" dirty="0" err="1">
                <a:latin typeface="Bookman Old Style" panose="02050604050505020204" pitchFamily="18" charset="0"/>
                <a:cs typeface="Times New Roman"/>
              </a:rPr>
              <a:t>résistance</a:t>
            </a:r>
            <a:r>
              <a:rPr lang="fr-FR" sz="1100" spc="-10" dirty="0">
                <a:latin typeface="Bookman Old Style" panose="02050604050505020204" pitchFamily="18" charset="0"/>
                <a:cs typeface="Times New Roman"/>
              </a:rPr>
              <a:t> </a:t>
            </a:r>
            <a:r>
              <a:rPr sz="1100" i="1" dirty="0">
                <a:latin typeface="Bookman Old Style" panose="02050604050505020204" pitchFamily="18" charset="0"/>
                <a:cs typeface="Times New Roman"/>
              </a:rPr>
              <a:t>(appelée</a:t>
            </a:r>
            <a:r>
              <a:rPr sz="1100" i="1" spc="15" dirty="0">
                <a:latin typeface="Bookman Old Style" panose="02050604050505020204" pitchFamily="18" charset="0"/>
                <a:cs typeface="Times New Roman"/>
              </a:rPr>
              <a:t> </a:t>
            </a:r>
            <a:r>
              <a:rPr sz="1100" i="1" dirty="0">
                <a:latin typeface="Bookman Old Style" panose="02050604050505020204" pitchFamily="18" charset="0"/>
                <a:cs typeface="Times New Roman"/>
              </a:rPr>
              <a:t>la</a:t>
            </a:r>
            <a:r>
              <a:rPr sz="1100" i="1" spc="-25" dirty="0">
                <a:latin typeface="Bookman Old Style" panose="02050604050505020204" pitchFamily="18" charset="0"/>
                <a:cs typeface="Times New Roman"/>
              </a:rPr>
              <a:t> </a:t>
            </a:r>
            <a:r>
              <a:rPr sz="1100" b="1" i="1" dirty="0">
                <a:latin typeface="Bookman Old Style" panose="02050604050505020204" pitchFamily="18" charset="0"/>
                <a:cs typeface="Times New Roman"/>
              </a:rPr>
              <a:t>résistance</a:t>
            </a:r>
            <a:r>
              <a:rPr sz="1100" b="1" i="1" spc="-15" dirty="0">
                <a:latin typeface="Bookman Old Style" panose="02050604050505020204" pitchFamily="18" charset="0"/>
                <a:cs typeface="Times New Roman"/>
              </a:rPr>
              <a:t> </a:t>
            </a:r>
            <a:r>
              <a:rPr sz="1100" b="1" i="1" dirty="0">
                <a:latin typeface="Bookman Old Style" panose="02050604050505020204" pitchFamily="18" charset="0"/>
                <a:cs typeface="Times New Roman"/>
              </a:rPr>
              <a:t>de</a:t>
            </a:r>
            <a:r>
              <a:rPr sz="1100" b="1" i="1" spc="-20" dirty="0">
                <a:latin typeface="Bookman Old Style" panose="02050604050505020204" pitchFamily="18" charset="0"/>
                <a:cs typeface="Times New Roman"/>
              </a:rPr>
              <a:t> </a:t>
            </a:r>
            <a:r>
              <a:rPr sz="1100" b="1" i="1" dirty="0">
                <a:latin typeface="Bookman Old Style" panose="02050604050505020204" pitchFamily="18" charset="0"/>
                <a:cs typeface="Times New Roman"/>
              </a:rPr>
              <a:t>Norton</a:t>
            </a:r>
            <a:r>
              <a:rPr sz="1100" b="1" i="1" spc="-30" dirty="0">
                <a:latin typeface="Bookman Old Style" panose="02050604050505020204" pitchFamily="18" charset="0"/>
                <a:cs typeface="Times New Roman"/>
              </a:rPr>
              <a:t> </a:t>
            </a:r>
            <a:r>
              <a:rPr sz="1100" i="1" spc="-25" dirty="0">
                <a:latin typeface="Bookman Old Style" panose="02050604050505020204" pitchFamily="18" charset="0"/>
                <a:cs typeface="Times New Roman"/>
              </a:rPr>
              <a:t>).</a:t>
            </a:r>
            <a:endParaRPr sz="1100" dirty="0">
              <a:latin typeface="Bookman Old Style" panose="02050604050505020204" pitchFamily="18" charset="0"/>
              <a:cs typeface="Times New Roman"/>
            </a:endParaRPr>
          </a:p>
        </p:txBody>
      </p:sp>
      <p:sp>
        <p:nvSpPr>
          <p:cNvPr id="25" name="object 23">
            <a:extLst>
              <a:ext uri="{FF2B5EF4-FFF2-40B4-BE49-F238E27FC236}">
                <a16:creationId xmlns:a16="http://schemas.microsoft.com/office/drawing/2014/main" id="{EA39FEBC-2518-E942-A87D-E32721F7FBEB}"/>
              </a:ext>
            </a:extLst>
          </p:cNvPr>
          <p:cNvSpPr/>
          <p:nvPr/>
        </p:nvSpPr>
        <p:spPr>
          <a:xfrm>
            <a:off x="6440965" y="1823148"/>
            <a:ext cx="0" cy="2286000"/>
          </a:xfrm>
          <a:custGeom>
            <a:avLst/>
            <a:gdLst/>
            <a:ahLst/>
            <a:cxnLst/>
            <a:rect l="l" t="t" r="r" b="b"/>
            <a:pathLst>
              <a:path h="2286000">
                <a:moveTo>
                  <a:pt x="0" y="0"/>
                </a:moveTo>
                <a:lnTo>
                  <a:pt x="0" y="2286000"/>
                </a:lnTo>
              </a:path>
            </a:pathLst>
          </a:custGeom>
          <a:ln w="76200">
            <a:solidFill>
              <a:srgbClr val="FF9900"/>
            </a:solidFill>
            <a:prstDash val="sysDash"/>
          </a:ln>
        </p:spPr>
        <p:txBody>
          <a:bodyPr wrap="square" lIns="0" tIns="0" rIns="0" bIns="0" rtlCol="0"/>
          <a:lstStyle/>
          <a:p>
            <a:endParaRPr/>
          </a:p>
        </p:txBody>
      </p:sp>
    </p:spTree>
    <p:extLst>
      <p:ext uri="{BB962C8B-B14F-4D97-AF65-F5344CB8AC3E}">
        <p14:creationId xmlns:p14="http://schemas.microsoft.com/office/powerpoint/2010/main" val="27076516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46</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3.3 </a:t>
            </a:r>
            <a:r>
              <a:rPr lang="fr-FR" altLang="fr-FR" sz="1400" b="1" spc="-5" dirty="0">
                <a:solidFill>
                  <a:srgbClr val="CC00CC"/>
                </a:solidFill>
                <a:latin typeface="Bookman Old Style" panose="02050604050505020204" pitchFamily="18" charset="0"/>
                <a:cs typeface="Arial"/>
              </a:rPr>
              <a:t>Théorème de Norton </a:t>
            </a:r>
          </a:p>
        </p:txBody>
      </p:sp>
      <p:sp>
        <p:nvSpPr>
          <p:cNvPr id="31" name="object 22">
            <a:extLst>
              <a:ext uri="{FF2B5EF4-FFF2-40B4-BE49-F238E27FC236}">
                <a16:creationId xmlns:a16="http://schemas.microsoft.com/office/drawing/2014/main" id="{2EF5D974-DC92-C99F-26CE-AEB1B5AD136D}"/>
              </a:ext>
            </a:extLst>
          </p:cNvPr>
          <p:cNvSpPr txBox="1"/>
          <p:nvPr/>
        </p:nvSpPr>
        <p:spPr>
          <a:xfrm>
            <a:off x="2904268" y="2736333"/>
            <a:ext cx="299720" cy="239395"/>
          </a:xfrm>
          <a:prstGeom prst="rect">
            <a:avLst/>
          </a:prstGeom>
        </p:spPr>
        <p:txBody>
          <a:bodyPr vert="horz" wrap="square" lIns="0" tIns="12700" rIns="0" bIns="0" rtlCol="0">
            <a:spAutoFit/>
          </a:bodyPr>
          <a:lstStyle/>
          <a:p>
            <a:pPr marL="38100">
              <a:lnSpc>
                <a:spcPct val="100000"/>
              </a:lnSpc>
              <a:spcBef>
                <a:spcPts val="100"/>
              </a:spcBef>
            </a:pPr>
            <a:r>
              <a:rPr sz="1400" spc="-25" dirty="0">
                <a:latin typeface="Cambria Math"/>
                <a:cs typeface="Cambria Math"/>
              </a:rPr>
              <a:t>𝑹</a:t>
            </a:r>
            <a:r>
              <a:rPr sz="1500" spc="-37" baseline="-16666" dirty="0">
                <a:latin typeface="Cambria Math"/>
                <a:cs typeface="Cambria Math"/>
              </a:rPr>
              <a:t>𝑵</a:t>
            </a:r>
            <a:endParaRPr sz="1500" baseline="-16666" dirty="0">
              <a:latin typeface="Cambria Math"/>
              <a:cs typeface="Cambria Math"/>
            </a:endParaRPr>
          </a:p>
        </p:txBody>
      </p:sp>
      <p:sp>
        <p:nvSpPr>
          <p:cNvPr id="32" name="object 23">
            <a:extLst>
              <a:ext uri="{FF2B5EF4-FFF2-40B4-BE49-F238E27FC236}">
                <a16:creationId xmlns:a16="http://schemas.microsoft.com/office/drawing/2014/main" id="{713E72CC-845E-0BEC-D7CB-97686C25E9BD}"/>
              </a:ext>
            </a:extLst>
          </p:cNvPr>
          <p:cNvSpPr txBox="1"/>
          <p:nvPr/>
        </p:nvSpPr>
        <p:spPr>
          <a:xfrm>
            <a:off x="852818" y="2736333"/>
            <a:ext cx="252729" cy="239395"/>
          </a:xfrm>
          <a:prstGeom prst="rect">
            <a:avLst/>
          </a:prstGeom>
        </p:spPr>
        <p:txBody>
          <a:bodyPr vert="horz" wrap="square" lIns="0" tIns="12700" rIns="0" bIns="0" rtlCol="0">
            <a:spAutoFit/>
          </a:bodyPr>
          <a:lstStyle/>
          <a:p>
            <a:pPr marL="38100">
              <a:lnSpc>
                <a:spcPct val="100000"/>
              </a:lnSpc>
              <a:spcBef>
                <a:spcPts val="100"/>
              </a:spcBef>
            </a:pPr>
            <a:r>
              <a:rPr sz="1400" spc="-25" dirty="0">
                <a:latin typeface="Cambria Math"/>
                <a:cs typeface="Cambria Math"/>
              </a:rPr>
              <a:t>𝑰</a:t>
            </a:r>
            <a:r>
              <a:rPr sz="1500" spc="-37" baseline="-16666" dirty="0">
                <a:latin typeface="Cambria Math"/>
                <a:cs typeface="Cambria Math"/>
              </a:rPr>
              <a:t>𝑵</a:t>
            </a:r>
            <a:endParaRPr sz="1500" baseline="-16666" dirty="0">
              <a:latin typeface="Cambria Math"/>
              <a:cs typeface="Cambria Math"/>
            </a:endParaRPr>
          </a:p>
        </p:txBody>
      </p:sp>
      <p:sp>
        <p:nvSpPr>
          <p:cNvPr id="33" name="Rectangle 32">
            <a:extLst>
              <a:ext uri="{FF2B5EF4-FFF2-40B4-BE49-F238E27FC236}">
                <a16:creationId xmlns:a16="http://schemas.microsoft.com/office/drawing/2014/main" id="{AD69CA21-7C9E-4E6C-69D6-7DB0D9A4AE07}"/>
              </a:ext>
            </a:extLst>
          </p:cNvPr>
          <p:cNvSpPr/>
          <p:nvPr/>
        </p:nvSpPr>
        <p:spPr>
          <a:xfrm>
            <a:off x="1291262" y="1660474"/>
            <a:ext cx="2438400" cy="2464424"/>
          </a:xfrm>
          <a:prstGeom prst="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object 15">
            <a:extLst>
              <a:ext uri="{FF2B5EF4-FFF2-40B4-BE49-F238E27FC236}">
                <a16:creationId xmlns:a16="http://schemas.microsoft.com/office/drawing/2014/main" id="{449558B6-10CF-DE1B-7212-342DA04875B0}"/>
              </a:ext>
            </a:extLst>
          </p:cNvPr>
          <p:cNvSpPr txBox="1"/>
          <p:nvPr/>
        </p:nvSpPr>
        <p:spPr>
          <a:xfrm>
            <a:off x="1572298" y="2385053"/>
            <a:ext cx="1981200" cy="873957"/>
          </a:xfrm>
          <a:prstGeom prst="rect">
            <a:avLst/>
          </a:prstGeom>
        </p:spPr>
        <p:txBody>
          <a:bodyPr vert="horz" wrap="square" lIns="0" tIns="12065" rIns="0" bIns="0" rtlCol="0">
            <a:spAutoFit/>
          </a:bodyPr>
          <a:lstStyle/>
          <a:p>
            <a:pPr marL="12700" marR="5080" indent="219075">
              <a:lnSpc>
                <a:spcPct val="100000"/>
              </a:lnSpc>
              <a:spcBef>
                <a:spcPts val="95"/>
              </a:spcBef>
            </a:pPr>
            <a:r>
              <a:rPr sz="2800" b="1" spc="-10" dirty="0">
                <a:solidFill>
                  <a:srgbClr val="FF0000"/>
                </a:solidFill>
                <a:latin typeface="Bookman Old Style" panose="02050604050505020204" pitchFamily="18" charset="0"/>
                <a:cs typeface="Times New Roman"/>
              </a:rPr>
              <a:t>Circuit Complexe</a:t>
            </a:r>
            <a:endParaRPr sz="2800" dirty="0">
              <a:latin typeface="Bookman Old Style" panose="02050604050505020204" pitchFamily="18" charset="0"/>
              <a:cs typeface="Times New Roman"/>
            </a:endParaRPr>
          </a:p>
        </p:txBody>
      </p:sp>
      <p:sp>
        <p:nvSpPr>
          <p:cNvPr id="35" name="object 2">
            <a:extLst>
              <a:ext uri="{FF2B5EF4-FFF2-40B4-BE49-F238E27FC236}">
                <a16:creationId xmlns:a16="http://schemas.microsoft.com/office/drawing/2014/main" id="{35723072-BF46-6FFB-0285-55648B147204}"/>
              </a:ext>
            </a:extLst>
          </p:cNvPr>
          <p:cNvSpPr/>
          <p:nvPr/>
        </p:nvSpPr>
        <p:spPr>
          <a:xfrm>
            <a:off x="5144900" y="1962150"/>
            <a:ext cx="266700" cy="1844039"/>
          </a:xfrm>
          <a:custGeom>
            <a:avLst/>
            <a:gdLst/>
            <a:ahLst/>
            <a:cxnLst/>
            <a:rect l="l" t="t" r="r" b="b"/>
            <a:pathLst>
              <a:path w="266700" h="1844039">
                <a:moveTo>
                  <a:pt x="0" y="1438656"/>
                </a:moveTo>
                <a:lnTo>
                  <a:pt x="266700" y="1438656"/>
                </a:lnTo>
                <a:lnTo>
                  <a:pt x="266700" y="394716"/>
                </a:lnTo>
                <a:lnTo>
                  <a:pt x="0" y="394716"/>
                </a:lnTo>
                <a:lnTo>
                  <a:pt x="0" y="1438656"/>
                </a:lnTo>
                <a:close/>
              </a:path>
              <a:path w="266700" h="1844039">
                <a:moveTo>
                  <a:pt x="132587" y="1438656"/>
                </a:moveTo>
                <a:lnTo>
                  <a:pt x="132587" y="1843671"/>
                </a:lnTo>
              </a:path>
              <a:path w="266700" h="1844039">
                <a:moveTo>
                  <a:pt x="132587" y="0"/>
                </a:moveTo>
                <a:lnTo>
                  <a:pt x="132587" y="405002"/>
                </a:lnTo>
              </a:path>
            </a:pathLst>
          </a:custGeom>
          <a:ln w="57912">
            <a:solidFill>
              <a:srgbClr val="000000"/>
            </a:solidFill>
          </a:ln>
        </p:spPr>
        <p:txBody>
          <a:bodyPr wrap="square" lIns="0" tIns="0" rIns="0" bIns="0" rtlCol="0"/>
          <a:lstStyle/>
          <a:p>
            <a:endParaRPr/>
          </a:p>
        </p:txBody>
      </p:sp>
      <p:cxnSp>
        <p:nvCxnSpPr>
          <p:cNvPr id="36" name="Straight Connector 35">
            <a:extLst>
              <a:ext uri="{FF2B5EF4-FFF2-40B4-BE49-F238E27FC236}">
                <a16:creationId xmlns:a16="http://schemas.microsoft.com/office/drawing/2014/main" id="{2F921CC0-AB13-93C8-44A0-BFCF642C0457}"/>
              </a:ext>
            </a:extLst>
          </p:cNvPr>
          <p:cNvCxnSpPr>
            <a:cxnSpLocks/>
          </p:cNvCxnSpPr>
          <p:nvPr/>
        </p:nvCxnSpPr>
        <p:spPr>
          <a:xfrm>
            <a:off x="3728461" y="1962150"/>
            <a:ext cx="1549789"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51A61EC-677D-F8BF-4664-158E1C99CCF8}"/>
              </a:ext>
            </a:extLst>
          </p:cNvPr>
          <p:cNvCxnSpPr>
            <a:cxnSpLocks/>
          </p:cNvCxnSpPr>
          <p:nvPr/>
        </p:nvCxnSpPr>
        <p:spPr>
          <a:xfrm>
            <a:off x="3728461" y="3814403"/>
            <a:ext cx="1549789"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1ECF3692-76E0-792B-4522-4E3D56816B34}"/>
              </a:ext>
            </a:extLst>
          </p:cNvPr>
          <p:cNvSpPr txBox="1"/>
          <p:nvPr/>
        </p:nvSpPr>
        <p:spPr>
          <a:xfrm flipH="1">
            <a:off x="5441880" y="3710360"/>
            <a:ext cx="591271" cy="361637"/>
          </a:xfrm>
          <a:prstGeom prst="rect">
            <a:avLst/>
          </a:prstGeom>
          <a:noFill/>
        </p:spPr>
        <p:txBody>
          <a:bodyPr wrap="square">
            <a:spAutoFit/>
          </a:bodyPr>
          <a:lstStyle/>
          <a:p>
            <a:pPr marR="1090930" algn="r">
              <a:lnSpc>
                <a:spcPts val="2055"/>
              </a:lnSpc>
            </a:pPr>
            <a:r>
              <a:rPr lang="fr-FR" sz="1800" b="1" spc="-50" dirty="0">
                <a:latin typeface="Times New Roman"/>
                <a:cs typeface="Times New Roman"/>
              </a:rPr>
              <a:t>B</a:t>
            </a:r>
            <a:endParaRPr lang="fr-FR" sz="1800" dirty="0">
              <a:latin typeface="Times New Roman"/>
              <a:cs typeface="Times New Roman"/>
            </a:endParaRPr>
          </a:p>
        </p:txBody>
      </p:sp>
      <p:sp>
        <p:nvSpPr>
          <p:cNvPr id="45" name="object 2">
            <a:extLst>
              <a:ext uri="{FF2B5EF4-FFF2-40B4-BE49-F238E27FC236}">
                <a16:creationId xmlns:a16="http://schemas.microsoft.com/office/drawing/2014/main" id="{80209BBE-E944-F20C-40BA-12035557F1C5}"/>
              </a:ext>
            </a:extLst>
          </p:cNvPr>
          <p:cNvSpPr/>
          <p:nvPr/>
        </p:nvSpPr>
        <p:spPr>
          <a:xfrm>
            <a:off x="2580642" y="1971522"/>
            <a:ext cx="266700" cy="1844039"/>
          </a:xfrm>
          <a:custGeom>
            <a:avLst/>
            <a:gdLst/>
            <a:ahLst/>
            <a:cxnLst/>
            <a:rect l="l" t="t" r="r" b="b"/>
            <a:pathLst>
              <a:path w="266700" h="1844039">
                <a:moveTo>
                  <a:pt x="0" y="1438656"/>
                </a:moveTo>
                <a:lnTo>
                  <a:pt x="266700" y="1438656"/>
                </a:lnTo>
                <a:lnTo>
                  <a:pt x="266700" y="394716"/>
                </a:lnTo>
                <a:lnTo>
                  <a:pt x="0" y="394716"/>
                </a:lnTo>
                <a:lnTo>
                  <a:pt x="0" y="1438656"/>
                </a:lnTo>
                <a:close/>
              </a:path>
              <a:path w="266700" h="1844039">
                <a:moveTo>
                  <a:pt x="132587" y="1438656"/>
                </a:moveTo>
                <a:lnTo>
                  <a:pt x="132587" y="1843671"/>
                </a:lnTo>
              </a:path>
              <a:path w="266700" h="1844039">
                <a:moveTo>
                  <a:pt x="132587" y="0"/>
                </a:moveTo>
                <a:lnTo>
                  <a:pt x="132587" y="405002"/>
                </a:lnTo>
              </a:path>
            </a:pathLst>
          </a:custGeom>
          <a:ln w="57912">
            <a:solidFill>
              <a:srgbClr val="000000"/>
            </a:solidFill>
          </a:ln>
        </p:spPr>
        <p:txBody>
          <a:bodyPr wrap="square" lIns="0" tIns="0" rIns="0" bIns="0" rtlCol="0"/>
          <a:lstStyle/>
          <a:p>
            <a:endParaRPr/>
          </a:p>
        </p:txBody>
      </p:sp>
      <p:grpSp>
        <p:nvGrpSpPr>
          <p:cNvPr id="47" name="object 16">
            <a:extLst>
              <a:ext uri="{FF2B5EF4-FFF2-40B4-BE49-F238E27FC236}">
                <a16:creationId xmlns:a16="http://schemas.microsoft.com/office/drawing/2014/main" id="{328B636B-9179-CE6E-88E6-D92A44496ABA}"/>
              </a:ext>
            </a:extLst>
          </p:cNvPr>
          <p:cNvGrpSpPr/>
          <p:nvPr/>
        </p:nvGrpSpPr>
        <p:grpSpPr>
          <a:xfrm>
            <a:off x="5229492" y="1914551"/>
            <a:ext cx="196850" cy="1976755"/>
            <a:chOff x="5242559" y="2100072"/>
            <a:chExt cx="196850" cy="1976755"/>
          </a:xfrm>
        </p:grpSpPr>
        <p:pic>
          <p:nvPicPr>
            <p:cNvPr id="48" name="object 17">
              <a:extLst>
                <a:ext uri="{FF2B5EF4-FFF2-40B4-BE49-F238E27FC236}">
                  <a16:creationId xmlns:a16="http://schemas.microsoft.com/office/drawing/2014/main" id="{9DF1A535-CF6D-ACEB-2A52-88FF20F14969}"/>
                </a:ext>
              </a:extLst>
            </p:cNvPr>
            <p:cNvPicPr/>
            <p:nvPr/>
          </p:nvPicPr>
          <p:blipFill>
            <a:blip r:embed="rId3" cstate="print"/>
            <a:stretch>
              <a:fillRect/>
            </a:stretch>
          </p:blipFill>
          <p:spPr>
            <a:xfrm>
              <a:off x="5242559" y="2100072"/>
              <a:ext cx="184403" cy="143256"/>
            </a:xfrm>
            <a:prstGeom prst="rect">
              <a:avLst/>
            </a:prstGeom>
          </p:spPr>
        </p:pic>
        <p:pic>
          <p:nvPicPr>
            <p:cNvPr id="49" name="object 18">
              <a:extLst>
                <a:ext uri="{FF2B5EF4-FFF2-40B4-BE49-F238E27FC236}">
                  <a16:creationId xmlns:a16="http://schemas.microsoft.com/office/drawing/2014/main" id="{1055665C-5FF8-6B71-CE17-8A024183DBB5}"/>
                </a:ext>
              </a:extLst>
            </p:cNvPr>
            <p:cNvPicPr/>
            <p:nvPr/>
          </p:nvPicPr>
          <p:blipFill>
            <a:blip r:embed="rId4" cstate="print"/>
            <a:stretch>
              <a:fillRect/>
            </a:stretch>
          </p:blipFill>
          <p:spPr>
            <a:xfrm>
              <a:off x="5256275" y="3933444"/>
              <a:ext cx="182880" cy="143256"/>
            </a:xfrm>
            <a:prstGeom prst="rect">
              <a:avLst/>
            </a:prstGeom>
          </p:spPr>
        </p:pic>
      </p:grpSp>
      <p:sp>
        <p:nvSpPr>
          <p:cNvPr id="50" name="Oval 49">
            <a:extLst>
              <a:ext uri="{FF2B5EF4-FFF2-40B4-BE49-F238E27FC236}">
                <a16:creationId xmlns:a16="http://schemas.microsoft.com/office/drawing/2014/main" id="{DF5EDB34-7828-3B9F-E367-D68F363D3881}"/>
              </a:ext>
            </a:extLst>
          </p:cNvPr>
          <p:cNvSpPr/>
          <p:nvPr/>
        </p:nvSpPr>
        <p:spPr>
          <a:xfrm>
            <a:off x="1237795" y="2644036"/>
            <a:ext cx="381000" cy="38100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51" name="Oval 50">
            <a:extLst>
              <a:ext uri="{FF2B5EF4-FFF2-40B4-BE49-F238E27FC236}">
                <a16:creationId xmlns:a16="http://schemas.microsoft.com/office/drawing/2014/main" id="{4CB09A1C-8170-2E6E-847F-3852F615BDC7}"/>
              </a:ext>
            </a:extLst>
          </p:cNvPr>
          <p:cNvSpPr/>
          <p:nvPr/>
        </p:nvSpPr>
        <p:spPr>
          <a:xfrm>
            <a:off x="1240283" y="2869106"/>
            <a:ext cx="381000" cy="38100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53" name="Straight Connector 52">
            <a:extLst>
              <a:ext uri="{FF2B5EF4-FFF2-40B4-BE49-F238E27FC236}">
                <a16:creationId xmlns:a16="http://schemas.microsoft.com/office/drawing/2014/main" id="{AE924788-19BC-4C1D-12C9-EB2FCA417D99}"/>
              </a:ext>
            </a:extLst>
          </p:cNvPr>
          <p:cNvCxnSpPr>
            <a:cxnSpLocks/>
            <a:stCxn id="50" idx="0"/>
          </p:cNvCxnSpPr>
          <p:nvPr/>
        </p:nvCxnSpPr>
        <p:spPr>
          <a:xfrm flipH="1" flipV="1">
            <a:off x="1415643" y="1934012"/>
            <a:ext cx="12652" cy="710024"/>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43522740-417E-D0C4-6B45-26E1C601EBFD}"/>
              </a:ext>
            </a:extLst>
          </p:cNvPr>
          <p:cNvCxnSpPr>
            <a:cxnSpLocks/>
          </p:cNvCxnSpPr>
          <p:nvPr/>
        </p:nvCxnSpPr>
        <p:spPr>
          <a:xfrm flipV="1">
            <a:off x="1407604" y="3250107"/>
            <a:ext cx="0" cy="563909"/>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63DB4BFE-4F7C-57DC-F6D9-58B9C4AFA5BA}"/>
              </a:ext>
            </a:extLst>
          </p:cNvPr>
          <p:cNvCxnSpPr>
            <a:cxnSpLocks/>
          </p:cNvCxnSpPr>
          <p:nvPr/>
        </p:nvCxnSpPr>
        <p:spPr>
          <a:xfrm>
            <a:off x="1387395" y="3814016"/>
            <a:ext cx="2386494"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CB4925E3-22F7-538B-8537-9830518542C8}"/>
              </a:ext>
            </a:extLst>
          </p:cNvPr>
          <p:cNvCxnSpPr>
            <a:cxnSpLocks/>
          </p:cNvCxnSpPr>
          <p:nvPr/>
        </p:nvCxnSpPr>
        <p:spPr>
          <a:xfrm>
            <a:off x="1407604" y="1961763"/>
            <a:ext cx="2386494"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D250EE24-A17A-FD68-2022-0B42E89C4B79}"/>
              </a:ext>
            </a:extLst>
          </p:cNvPr>
          <p:cNvCxnSpPr>
            <a:cxnSpLocks/>
          </p:cNvCxnSpPr>
          <p:nvPr/>
        </p:nvCxnSpPr>
        <p:spPr>
          <a:xfrm flipV="1">
            <a:off x="1428295" y="2679680"/>
            <a:ext cx="0" cy="424263"/>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19ECDD20-9F24-0362-88E0-10354D8F1127}"/>
              </a:ext>
            </a:extLst>
          </p:cNvPr>
          <p:cNvSpPr txBox="1"/>
          <p:nvPr/>
        </p:nvSpPr>
        <p:spPr>
          <a:xfrm flipH="1">
            <a:off x="5438165" y="1733732"/>
            <a:ext cx="591271" cy="361637"/>
          </a:xfrm>
          <a:prstGeom prst="rect">
            <a:avLst/>
          </a:prstGeom>
          <a:noFill/>
        </p:spPr>
        <p:txBody>
          <a:bodyPr wrap="square">
            <a:spAutoFit/>
          </a:bodyPr>
          <a:lstStyle/>
          <a:p>
            <a:pPr marR="1090930" algn="r">
              <a:lnSpc>
                <a:spcPts val="2055"/>
              </a:lnSpc>
            </a:pPr>
            <a:r>
              <a:rPr lang="fr-FR" sz="1800" b="1" spc="-50" dirty="0">
                <a:latin typeface="Times New Roman"/>
                <a:cs typeface="Times New Roman"/>
              </a:rPr>
              <a:t>A</a:t>
            </a:r>
            <a:endParaRPr lang="fr-FR" sz="1800" dirty="0">
              <a:latin typeface="Times New Roman"/>
              <a:cs typeface="Times New Roman"/>
            </a:endParaRPr>
          </a:p>
        </p:txBody>
      </p:sp>
      <p:sp>
        <p:nvSpPr>
          <p:cNvPr id="65" name="TextBox 64">
            <a:extLst>
              <a:ext uri="{FF2B5EF4-FFF2-40B4-BE49-F238E27FC236}">
                <a16:creationId xmlns:a16="http://schemas.microsoft.com/office/drawing/2014/main" id="{8C607C38-61B0-B338-25D6-F7B869643582}"/>
              </a:ext>
            </a:extLst>
          </p:cNvPr>
          <p:cNvSpPr txBox="1"/>
          <p:nvPr/>
        </p:nvSpPr>
        <p:spPr>
          <a:xfrm flipH="1">
            <a:off x="5464730" y="2663268"/>
            <a:ext cx="591271" cy="361637"/>
          </a:xfrm>
          <a:prstGeom prst="rect">
            <a:avLst/>
          </a:prstGeom>
          <a:noFill/>
        </p:spPr>
        <p:txBody>
          <a:bodyPr wrap="square">
            <a:spAutoFit/>
          </a:bodyPr>
          <a:lstStyle/>
          <a:p>
            <a:pPr marR="1090930" algn="r">
              <a:lnSpc>
                <a:spcPts val="2055"/>
              </a:lnSpc>
            </a:pPr>
            <a:r>
              <a:rPr lang="fr-FR" sz="1800" b="1" spc="-50" dirty="0">
                <a:latin typeface="Times New Roman"/>
                <a:cs typeface="Times New Roman"/>
              </a:rPr>
              <a:t>R</a:t>
            </a:r>
            <a:endParaRPr lang="fr-FR" sz="1800" dirty="0">
              <a:latin typeface="Times New Roman"/>
              <a:cs typeface="Times New Roman"/>
            </a:endParaRPr>
          </a:p>
        </p:txBody>
      </p:sp>
      <p:sp>
        <p:nvSpPr>
          <p:cNvPr id="73" name="TextBox 72">
            <a:extLst>
              <a:ext uri="{FF2B5EF4-FFF2-40B4-BE49-F238E27FC236}">
                <a16:creationId xmlns:a16="http://schemas.microsoft.com/office/drawing/2014/main" id="{676A46B8-AED0-AF6F-AC5A-7988F5BD006A}"/>
              </a:ext>
            </a:extLst>
          </p:cNvPr>
          <p:cNvSpPr txBox="1"/>
          <p:nvPr/>
        </p:nvSpPr>
        <p:spPr>
          <a:xfrm flipH="1">
            <a:off x="4666529" y="2751179"/>
            <a:ext cx="591271" cy="361637"/>
          </a:xfrm>
          <a:prstGeom prst="rect">
            <a:avLst/>
          </a:prstGeom>
          <a:noFill/>
        </p:spPr>
        <p:txBody>
          <a:bodyPr wrap="square">
            <a:spAutoFit/>
          </a:bodyPr>
          <a:lstStyle/>
          <a:p>
            <a:pPr marR="1090930" algn="r">
              <a:lnSpc>
                <a:spcPts val="2055"/>
              </a:lnSpc>
            </a:pPr>
            <a:r>
              <a:rPr lang="fr-FR" sz="1800" b="1" spc="-50" dirty="0">
                <a:latin typeface="Times New Roman"/>
                <a:cs typeface="Times New Roman"/>
              </a:rPr>
              <a:t>R</a:t>
            </a:r>
            <a:endParaRPr lang="fr-FR" sz="1800" dirty="0">
              <a:latin typeface="Times New Roman"/>
              <a:cs typeface="Times New Roman"/>
            </a:endParaRPr>
          </a:p>
        </p:txBody>
      </p:sp>
      <p:sp>
        <p:nvSpPr>
          <p:cNvPr id="72" name="object 2">
            <a:extLst>
              <a:ext uri="{FF2B5EF4-FFF2-40B4-BE49-F238E27FC236}">
                <a16:creationId xmlns:a16="http://schemas.microsoft.com/office/drawing/2014/main" id="{E06A8D58-8E96-C928-B2DC-5A2CCBCB5F33}"/>
              </a:ext>
            </a:extLst>
          </p:cNvPr>
          <p:cNvSpPr/>
          <p:nvPr/>
        </p:nvSpPr>
        <p:spPr>
          <a:xfrm>
            <a:off x="5153149" y="1996779"/>
            <a:ext cx="266700" cy="1844039"/>
          </a:xfrm>
          <a:custGeom>
            <a:avLst/>
            <a:gdLst/>
            <a:ahLst/>
            <a:cxnLst/>
            <a:rect l="l" t="t" r="r" b="b"/>
            <a:pathLst>
              <a:path w="266700" h="1844039">
                <a:moveTo>
                  <a:pt x="0" y="1438656"/>
                </a:moveTo>
                <a:lnTo>
                  <a:pt x="266700" y="1438656"/>
                </a:lnTo>
                <a:lnTo>
                  <a:pt x="266700" y="394716"/>
                </a:lnTo>
                <a:lnTo>
                  <a:pt x="0" y="394716"/>
                </a:lnTo>
                <a:lnTo>
                  <a:pt x="0" y="1438656"/>
                </a:lnTo>
                <a:close/>
              </a:path>
              <a:path w="266700" h="1844039">
                <a:moveTo>
                  <a:pt x="132587" y="1438656"/>
                </a:moveTo>
                <a:lnTo>
                  <a:pt x="132587" y="1843671"/>
                </a:lnTo>
              </a:path>
              <a:path w="266700" h="1844039">
                <a:moveTo>
                  <a:pt x="132587" y="0"/>
                </a:moveTo>
                <a:lnTo>
                  <a:pt x="132587" y="405002"/>
                </a:lnTo>
              </a:path>
            </a:pathLst>
          </a:custGeom>
          <a:ln w="57912">
            <a:solidFill>
              <a:srgbClr val="000000"/>
            </a:solidFill>
          </a:ln>
        </p:spPr>
        <p:txBody>
          <a:bodyPr wrap="square" lIns="0" tIns="0" rIns="0" bIns="0" rtlCol="0"/>
          <a:lstStyle/>
          <a:p>
            <a:r>
              <a:rPr lang="fr-FR" dirty="0"/>
              <a:t> </a:t>
            </a:r>
            <a:endParaRPr dirty="0"/>
          </a:p>
        </p:txBody>
      </p:sp>
    </p:spTree>
    <p:extLst>
      <p:ext uri="{BB962C8B-B14F-4D97-AF65-F5344CB8AC3E}">
        <p14:creationId xmlns:p14="http://schemas.microsoft.com/office/powerpoint/2010/main" val="812696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3.05556E-6 -2.46914E-6 L 0.58941 0.03118 " pathEditMode="relative" rAng="0" ptsTypes="AA">
                                      <p:cBhvr>
                                        <p:cTn id="6" dur="2000" fill="hold"/>
                                        <p:tgtEl>
                                          <p:spTgt spid="35"/>
                                        </p:tgtEl>
                                        <p:attrNameLst>
                                          <p:attrName>ppt_x</p:attrName>
                                          <p:attrName>ppt_y</p:attrName>
                                        </p:attrNameLst>
                                      </p:cBhvr>
                                      <p:rCtr x="29462" y="1543"/>
                                    </p:animMotion>
                                  </p:childTnLst>
                                </p:cTn>
                              </p:par>
                              <p:par>
                                <p:cTn id="7" presetID="63" presetClass="path" presetSubtype="0" accel="50000" decel="50000" fill="hold" grpId="0" nodeType="withEffect">
                                  <p:stCondLst>
                                    <p:cond delay="0"/>
                                  </p:stCondLst>
                                  <p:childTnLst>
                                    <p:animMotion origin="layout" path="M -1.11111E-6 2.22222E-6 L 0.49514 -0.03673 " pathEditMode="relative" rAng="0" ptsTypes="AA">
                                      <p:cBhvr>
                                        <p:cTn id="8" dur="2000" fill="hold"/>
                                        <p:tgtEl>
                                          <p:spTgt spid="65"/>
                                        </p:tgtEl>
                                        <p:attrNameLst>
                                          <p:attrName>ppt_x</p:attrName>
                                          <p:attrName>ppt_y</p:attrName>
                                        </p:attrNameLst>
                                      </p:cBhvr>
                                      <p:rCtr x="24757" y="-1852"/>
                                    </p:animMotion>
                                  </p:childTnLst>
                                </p:cTn>
                              </p:par>
                            </p:childTnLst>
                          </p:cTn>
                        </p:par>
                      </p:childTnLst>
                    </p:cTn>
                  </p:par>
                  <p:par>
                    <p:cTn id="9" fill="hold">
                      <p:stCondLst>
                        <p:cond delay="indefinite"/>
                      </p:stCondLst>
                      <p:childTnLst>
                        <p:par>
                          <p:cTn id="10" fill="hold">
                            <p:stCondLst>
                              <p:cond delay="0"/>
                            </p:stCondLst>
                            <p:childTnLst>
                              <p:par>
                                <p:cTn id="11" presetID="42" presetClass="exit" presetSubtype="0" fill="hold" grpId="0" nodeType="clickEffect">
                                  <p:stCondLst>
                                    <p:cond delay="0"/>
                                  </p:stCondLst>
                                  <p:childTnLst>
                                    <p:animEffect transition="out" filter="fade">
                                      <p:cBhvr>
                                        <p:cTn id="12" dur="1000"/>
                                        <p:tgtEl>
                                          <p:spTgt spid="34"/>
                                        </p:tgtEl>
                                      </p:cBhvr>
                                    </p:animEffect>
                                    <p:anim calcmode="lin" valueType="num">
                                      <p:cBhvr>
                                        <p:cTn id="13" dur="1000"/>
                                        <p:tgtEl>
                                          <p:spTgt spid="34"/>
                                        </p:tgtEl>
                                        <p:attrNameLst>
                                          <p:attrName>ppt_x</p:attrName>
                                        </p:attrNameLst>
                                      </p:cBhvr>
                                      <p:tavLst>
                                        <p:tav tm="0">
                                          <p:val>
                                            <p:strVal val="ppt_x"/>
                                          </p:val>
                                        </p:tav>
                                        <p:tav tm="100000">
                                          <p:val>
                                            <p:strVal val="ppt_x"/>
                                          </p:val>
                                        </p:tav>
                                      </p:tavLst>
                                    </p:anim>
                                    <p:anim calcmode="lin" valueType="num">
                                      <p:cBhvr>
                                        <p:cTn id="14" dur="1000"/>
                                        <p:tgtEl>
                                          <p:spTgt spid="34"/>
                                        </p:tgtEl>
                                        <p:attrNameLst>
                                          <p:attrName>ppt_y</p:attrName>
                                        </p:attrNameLst>
                                      </p:cBhvr>
                                      <p:tavLst>
                                        <p:tav tm="0">
                                          <p:val>
                                            <p:strVal val="ppt_y"/>
                                          </p:val>
                                        </p:tav>
                                        <p:tav tm="100000">
                                          <p:val>
                                            <p:strVal val="ppt_y+.1"/>
                                          </p:val>
                                        </p:tav>
                                      </p:tavLst>
                                    </p:anim>
                                    <p:set>
                                      <p:cBhvr>
                                        <p:cTn id="15" dur="1" fill="hold">
                                          <p:stCondLst>
                                            <p:cond delay="999"/>
                                          </p:stCondLst>
                                        </p:cTn>
                                        <p:tgtEl>
                                          <p:spTgt spid="34"/>
                                        </p:tgtEl>
                                        <p:attrNameLst>
                                          <p:attrName>style.visibility</p:attrName>
                                        </p:attrNameLst>
                                      </p:cBhvr>
                                      <p:to>
                                        <p:strVal val="hidden"/>
                                      </p:to>
                                    </p:set>
                                  </p:childTnLst>
                                </p:cTn>
                              </p:par>
                              <p:par>
                                <p:cTn id="16" presetID="42" presetClass="exit" presetSubtype="0" fill="hold" grpId="0" nodeType="withEffect">
                                  <p:stCondLst>
                                    <p:cond delay="0"/>
                                  </p:stCondLst>
                                  <p:childTnLst>
                                    <p:animEffect transition="out" filter="fade">
                                      <p:cBhvr>
                                        <p:cTn id="17" dur="1000"/>
                                        <p:tgtEl>
                                          <p:spTgt spid="33"/>
                                        </p:tgtEl>
                                      </p:cBhvr>
                                    </p:animEffect>
                                    <p:anim calcmode="lin" valueType="num">
                                      <p:cBhvr>
                                        <p:cTn id="18" dur="1000"/>
                                        <p:tgtEl>
                                          <p:spTgt spid="33"/>
                                        </p:tgtEl>
                                        <p:attrNameLst>
                                          <p:attrName>ppt_x</p:attrName>
                                        </p:attrNameLst>
                                      </p:cBhvr>
                                      <p:tavLst>
                                        <p:tav tm="0">
                                          <p:val>
                                            <p:strVal val="ppt_x"/>
                                          </p:val>
                                        </p:tav>
                                        <p:tav tm="100000">
                                          <p:val>
                                            <p:strVal val="ppt_x"/>
                                          </p:val>
                                        </p:tav>
                                      </p:tavLst>
                                    </p:anim>
                                    <p:anim calcmode="lin" valueType="num">
                                      <p:cBhvr>
                                        <p:cTn id="19" dur="1000"/>
                                        <p:tgtEl>
                                          <p:spTgt spid="33"/>
                                        </p:tgtEl>
                                        <p:attrNameLst>
                                          <p:attrName>ppt_y</p:attrName>
                                        </p:attrNameLst>
                                      </p:cBhvr>
                                      <p:tavLst>
                                        <p:tav tm="0">
                                          <p:val>
                                            <p:strVal val="ppt_y"/>
                                          </p:val>
                                        </p:tav>
                                        <p:tav tm="100000">
                                          <p:val>
                                            <p:strVal val="ppt_y+.1"/>
                                          </p:val>
                                        </p:tav>
                                      </p:tavLst>
                                    </p:anim>
                                    <p:set>
                                      <p:cBhvr>
                                        <p:cTn id="20" dur="1" fill="hold">
                                          <p:stCondLst>
                                            <p:cond delay="999"/>
                                          </p:stCondLst>
                                        </p:cTn>
                                        <p:tgtEl>
                                          <p:spTgt spid="33"/>
                                        </p:tgtEl>
                                        <p:attrNameLst>
                                          <p:attrName>style.visibility</p:attrName>
                                        </p:attrNameLst>
                                      </p:cBhvr>
                                      <p:to>
                                        <p:strVal val="hidden"/>
                                      </p:to>
                                    </p:set>
                                  </p:childTnLst>
                                </p:cTn>
                              </p:par>
                              <p:par>
                                <p:cTn id="21" presetID="6" presetClass="entr" presetSubtype="16"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circle(in)">
                                      <p:cBhvr>
                                        <p:cTn id="23" dur="2000"/>
                                        <p:tgtEl>
                                          <p:spTgt spid="31"/>
                                        </p:tgtEl>
                                      </p:cBhvr>
                                    </p:animEffect>
                                  </p:childTnLst>
                                </p:cTn>
                              </p:par>
                              <p:par>
                                <p:cTn id="24" presetID="6" presetClass="entr" presetSubtype="16"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circle(in)">
                                      <p:cBhvr>
                                        <p:cTn id="26" dur="2000"/>
                                        <p:tgtEl>
                                          <p:spTgt spid="32"/>
                                        </p:tgtEl>
                                      </p:cBhvr>
                                    </p:animEffect>
                                  </p:childTnLst>
                                </p:cTn>
                              </p:par>
                              <p:par>
                                <p:cTn id="27" presetID="6" presetClass="entr" presetSubtype="16" fill="hold" grpId="0" nodeType="withEffect">
                                  <p:stCondLst>
                                    <p:cond delay="0"/>
                                  </p:stCondLst>
                                  <p:childTnLst>
                                    <p:set>
                                      <p:cBhvr>
                                        <p:cTn id="28" dur="1" fill="hold">
                                          <p:stCondLst>
                                            <p:cond delay="0"/>
                                          </p:stCondLst>
                                        </p:cTn>
                                        <p:tgtEl>
                                          <p:spTgt spid="45"/>
                                        </p:tgtEl>
                                        <p:attrNameLst>
                                          <p:attrName>style.visibility</p:attrName>
                                        </p:attrNameLst>
                                      </p:cBhvr>
                                      <p:to>
                                        <p:strVal val="visible"/>
                                      </p:to>
                                    </p:set>
                                    <p:animEffect transition="in" filter="circle(in)">
                                      <p:cBhvr>
                                        <p:cTn id="29" dur="2000"/>
                                        <p:tgtEl>
                                          <p:spTgt spid="45"/>
                                        </p:tgtEl>
                                      </p:cBhvr>
                                    </p:animEffect>
                                  </p:childTnLst>
                                </p:cTn>
                              </p:par>
                              <p:par>
                                <p:cTn id="30" presetID="6" presetClass="entr" presetSubtype="16" fill="hold" grpId="0" nodeType="with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circle(in)">
                                      <p:cBhvr>
                                        <p:cTn id="32" dur="2000"/>
                                        <p:tgtEl>
                                          <p:spTgt spid="50"/>
                                        </p:tgtEl>
                                      </p:cBhvr>
                                    </p:animEffect>
                                  </p:childTnLst>
                                </p:cTn>
                              </p:par>
                              <p:par>
                                <p:cTn id="33" presetID="6" presetClass="entr" presetSubtype="16" fill="hold" grpId="0" nodeType="with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circle(in)">
                                      <p:cBhvr>
                                        <p:cTn id="35" dur="2000"/>
                                        <p:tgtEl>
                                          <p:spTgt spid="51"/>
                                        </p:tgtEl>
                                      </p:cBhvr>
                                    </p:animEffect>
                                  </p:childTnLst>
                                </p:cTn>
                              </p:par>
                              <p:par>
                                <p:cTn id="36" presetID="6" presetClass="entr" presetSubtype="16" fill="hold" nodeType="withEffect">
                                  <p:stCondLst>
                                    <p:cond delay="0"/>
                                  </p:stCondLst>
                                  <p:childTnLst>
                                    <p:set>
                                      <p:cBhvr>
                                        <p:cTn id="37" dur="1" fill="hold">
                                          <p:stCondLst>
                                            <p:cond delay="0"/>
                                          </p:stCondLst>
                                        </p:cTn>
                                        <p:tgtEl>
                                          <p:spTgt spid="53"/>
                                        </p:tgtEl>
                                        <p:attrNameLst>
                                          <p:attrName>style.visibility</p:attrName>
                                        </p:attrNameLst>
                                      </p:cBhvr>
                                      <p:to>
                                        <p:strVal val="visible"/>
                                      </p:to>
                                    </p:set>
                                    <p:animEffect transition="in" filter="circle(in)">
                                      <p:cBhvr>
                                        <p:cTn id="38" dur="2000"/>
                                        <p:tgtEl>
                                          <p:spTgt spid="53"/>
                                        </p:tgtEl>
                                      </p:cBhvr>
                                    </p:animEffect>
                                  </p:childTnLst>
                                </p:cTn>
                              </p:par>
                              <p:par>
                                <p:cTn id="39" presetID="6" presetClass="entr" presetSubtype="16" fill="hold" nodeType="withEffect">
                                  <p:stCondLst>
                                    <p:cond delay="0"/>
                                  </p:stCondLst>
                                  <p:childTnLst>
                                    <p:set>
                                      <p:cBhvr>
                                        <p:cTn id="40" dur="1" fill="hold">
                                          <p:stCondLst>
                                            <p:cond delay="0"/>
                                          </p:stCondLst>
                                        </p:cTn>
                                        <p:tgtEl>
                                          <p:spTgt spid="54"/>
                                        </p:tgtEl>
                                        <p:attrNameLst>
                                          <p:attrName>style.visibility</p:attrName>
                                        </p:attrNameLst>
                                      </p:cBhvr>
                                      <p:to>
                                        <p:strVal val="visible"/>
                                      </p:to>
                                    </p:set>
                                    <p:animEffect transition="in" filter="circle(in)">
                                      <p:cBhvr>
                                        <p:cTn id="41" dur="2000"/>
                                        <p:tgtEl>
                                          <p:spTgt spid="54"/>
                                        </p:tgtEl>
                                      </p:cBhvr>
                                    </p:animEffect>
                                  </p:childTnLst>
                                </p:cTn>
                              </p:par>
                              <p:par>
                                <p:cTn id="42" presetID="6"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circle(in)">
                                      <p:cBhvr>
                                        <p:cTn id="44" dur="2000"/>
                                        <p:tgtEl>
                                          <p:spTgt spid="55"/>
                                        </p:tgtEl>
                                      </p:cBhvr>
                                    </p:animEffect>
                                  </p:childTnLst>
                                </p:cTn>
                              </p:par>
                              <p:par>
                                <p:cTn id="45" presetID="6" presetClass="entr" presetSubtype="16" fill="hold" nodeType="withEffect">
                                  <p:stCondLst>
                                    <p:cond delay="0"/>
                                  </p:stCondLst>
                                  <p:childTnLst>
                                    <p:set>
                                      <p:cBhvr>
                                        <p:cTn id="46" dur="1" fill="hold">
                                          <p:stCondLst>
                                            <p:cond delay="0"/>
                                          </p:stCondLst>
                                        </p:cTn>
                                        <p:tgtEl>
                                          <p:spTgt spid="59"/>
                                        </p:tgtEl>
                                        <p:attrNameLst>
                                          <p:attrName>style.visibility</p:attrName>
                                        </p:attrNameLst>
                                      </p:cBhvr>
                                      <p:to>
                                        <p:strVal val="visible"/>
                                      </p:to>
                                    </p:set>
                                    <p:animEffect transition="in" filter="circle(in)">
                                      <p:cBhvr>
                                        <p:cTn id="47" dur="2000"/>
                                        <p:tgtEl>
                                          <p:spTgt spid="59"/>
                                        </p:tgtEl>
                                      </p:cBhvr>
                                    </p:animEffect>
                                  </p:childTnLst>
                                </p:cTn>
                              </p:par>
                              <p:par>
                                <p:cTn id="48" presetID="6" presetClass="entr" presetSubtype="16" fill="hold" nodeType="withEffect">
                                  <p:stCondLst>
                                    <p:cond delay="0"/>
                                  </p:stCondLst>
                                  <p:childTnLst>
                                    <p:set>
                                      <p:cBhvr>
                                        <p:cTn id="49" dur="1" fill="hold">
                                          <p:stCondLst>
                                            <p:cond delay="0"/>
                                          </p:stCondLst>
                                        </p:cTn>
                                        <p:tgtEl>
                                          <p:spTgt spid="63"/>
                                        </p:tgtEl>
                                        <p:attrNameLst>
                                          <p:attrName>style.visibility</p:attrName>
                                        </p:attrNameLst>
                                      </p:cBhvr>
                                      <p:to>
                                        <p:strVal val="visible"/>
                                      </p:to>
                                    </p:set>
                                    <p:animEffect transition="in" filter="circle(in)">
                                      <p:cBhvr>
                                        <p:cTn id="50" dur="2000"/>
                                        <p:tgtEl>
                                          <p:spTgt spid="63"/>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1" nodeType="clickEffect">
                                  <p:stCondLst>
                                    <p:cond delay="0"/>
                                  </p:stCondLst>
                                  <p:childTnLst>
                                    <p:set>
                                      <p:cBhvr>
                                        <p:cTn id="54" dur="1" fill="hold">
                                          <p:stCondLst>
                                            <p:cond delay="0"/>
                                          </p:stCondLst>
                                        </p:cTn>
                                        <p:tgtEl>
                                          <p:spTgt spid="65"/>
                                        </p:tgtEl>
                                        <p:attrNameLst>
                                          <p:attrName>style.visibility</p:attrName>
                                        </p:attrNameLst>
                                      </p:cBhvr>
                                      <p:to>
                                        <p:strVal val="visible"/>
                                      </p:to>
                                    </p:set>
                                    <p:animEffect transition="in" filter="fade">
                                      <p:cBhvr>
                                        <p:cTn id="55" dur="500"/>
                                        <p:tgtEl>
                                          <p:spTgt spid="65"/>
                                        </p:tgtEl>
                                      </p:cBhvr>
                                    </p:animEffect>
                                  </p:childTnLst>
                                </p:cTn>
                              </p:par>
                              <p:par>
                                <p:cTn id="56" presetID="2" presetClass="entr" presetSubtype="4" fill="hold" grpId="0" nodeType="withEffect">
                                  <p:stCondLst>
                                    <p:cond delay="0"/>
                                  </p:stCondLst>
                                  <p:childTnLst>
                                    <p:set>
                                      <p:cBhvr>
                                        <p:cTn id="57" dur="1" fill="hold">
                                          <p:stCondLst>
                                            <p:cond delay="0"/>
                                          </p:stCondLst>
                                        </p:cTn>
                                        <p:tgtEl>
                                          <p:spTgt spid="72"/>
                                        </p:tgtEl>
                                        <p:attrNameLst>
                                          <p:attrName>style.visibility</p:attrName>
                                        </p:attrNameLst>
                                      </p:cBhvr>
                                      <p:to>
                                        <p:strVal val="visible"/>
                                      </p:to>
                                    </p:set>
                                    <p:anim calcmode="lin" valueType="num">
                                      <p:cBhvr additive="base">
                                        <p:cTn id="58" dur="500" fill="hold"/>
                                        <p:tgtEl>
                                          <p:spTgt spid="72"/>
                                        </p:tgtEl>
                                        <p:attrNameLst>
                                          <p:attrName>ppt_x</p:attrName>
                                        </p:attrNameLst>
                                      </p:cBhvr>
                                      <p:tavLst>
                                        <p:tav tm="0">
                                          <p:val>
                                            <p:strVal val="#ppt_x"/>
                                          </p:val>
                                        </p:tav>
                                        <p:tav tm="100000">
                                          <p:val>
                                            <p:strVal val="#ppt_x"/>
                                          </p:val>
                                        </p:tav>
                                      </p:tavLst>
                                    </p:anim>
                                    <p:anim calcmode="lin" valueType="num">
                                      <p:cBhvr additive="base">
                                        <p:cTn id="59" dur="500" fill="hold"/>
                                        <p:tgtEl>
                                          <p:spTgt spid="72"/>
                                        </p:tgtEl>
                                        <p:attrNameLst>
                                          <p:attrName>ppt_y</p:attrName>
                                        </p:attrNameLst>
                                      </p:cBhvr>
                                      <p:tavLst>
                                        <p:tav tm="0">
                                          <p:val>
                                            <p:strVal val="1+#ppt_h/2"/>
                                          </p:val>
                                        </p:tav>
                                        <p:tav tm="100000">
                                          <p:val>
                                            <p:strVal val="#ppt_y"/>
                                          </p:val>
                                        </p:tav>
                                      </p:tavLst>
                                    </p:anim>
                                  </p:childTnLst>
                                </p:cTn>
                              </p:par>
                              <p:par>
                                <p:cTn id="60" presetID="2" presetClass="entr" presetSubtype="4" fill="hold" grpId="0" nodeType="withEffect">
                                  <p:stCondLst>
                                    <p:cond delay="0"/>
                                  </p:stCondLst>
                                  <p:childTnLst>
                                    <p:set>
                                      <p:cBhvr>
                                        <p:cTn id="61" dur="1" fill="hold">
                                          <p:stCondLst>
                                            <p:cond delay="0"/>
                                          </p:stCondLst>
                                        </p:cTn>
                                        <p:tgtEl>
                                          <p:spTgt spid="73"/>
                                        </p:tgtEl>
                                        <p:attrNameLst>
                                          <p:attrName>style.visibility</p:attrName>
                                        </p:attrNameLst>
                                      </p:cBhvr>
                                      <p:to>
                                        <p:strVal val="visible"/>
                                      </p:to>
                                    </p:set>
                                    <p:anim calcmode="lin" valueType="num">
                                      <p:cBhvr additive="base">
                                        <p:cTn id="62" dur="500" fill="hold"/>
                                        <p:tgtEl>
                                          <p:spTgt spid="73"/>
                                        </p:tgtEl>
                                        <p:attrNameLst>
                                          <p:attrName>ppt_x</p:attrName>
                                        </p:attrNameLst>
                                      </p:cBhvr>
                                      <p:tavLst>
                                        <p:tav tm="0">
                                          <p:val>
                                            <p:strVal val="#ppt_x"/>
                                          </p:val>
                                        </p:tav>
                                        <p:tav tm="100000">
                                          <p:val>
                                            <p:strVal val="#ppt_x"/>
                                          </p:val>
                                        </p:tav>
                                      </p:tavLst>
                                    </p:anim>
                                    <p:anim calcmode="lin" valueType="num">
                                      <p:cBhvr additive="base">
                                        <p:cTn id="63"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32" grpId="0"/>
      <p:bldP spid="33" grpId="0" animBg="1"/>
      <p:bldP spid="34" grpId="0"/>
      <p:bldP spid="35" grpId="0" animBg="1"/>
      <p:bldP spid="45" grpId="0" animBg="1"/>
      <p:bldP spid="50" grpId="0" animBg="1"/>
      <p:bldP spid="51" grpId="0" animBg="1"/>
      <p:bldP spid="65" grpId="0"/>
      <p:bldP spid="65" grpId="1"/>
      <p:bldP spid="73" grpId="0"/>
      <p:bldP spid="72"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47</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3.3 </a:t>
            </a:r>
            <a:r>
              <a:rPr lang="fr-FR" altLang="fr-FR" sz="1400" b="1" spc="-5" dirty="0">
                <a:solidFill>
                  <a:srgbClr val="CC00CC"/>
                </a:solidFill>
                <a:latin typeface="Bookman Old Style" panose="02050604050505020204" pitchFamily="18" charset="0"/>
                <a:cs typeface="Arial"/>
              </a:rPr>
              <a:t>Théorème de Norton </a:t>
            </a:r>
          </a:p>
        </p:txBody>
      </p:sp>
      <p:grpSp>
        <p:nvGrpSpPr>
          <p:cNvPr id="3" name="object 11">
            <a:extLst>
              <a:ext uri="{FF2B5EF4-FFF2-40B4-BE49-F238E27FC236}">
                <a16:creationId xmlns:a16="http://schemas.microsoft.com/office/drawing/2014/main" id="{2C3A1F22-8DCE-F469-487F-0AE2D362B938}"/>
              </a:ext>
            </a:extLst>
          </p:cNvPr>
          <p:cNvGrpSpPr/>
          <p:nvPr/>
        </p:nvGrpSpPr>
        <p:grpSpPr>
          <a:xfrm>
            <a:off x="315277" y="1281091"/>
            <a:ext cx="8513445" cy="553720"/>
            <a:chOff x="299465" y="1351025"/>
            <a:chExt cx="8513445" cy="553720"/>
          </a:xfrm>
        </p:grpSpPr>
        <p:sp>
          <p:nvSpPr>
            <p:cNvPr id="11" name="object 13">
              <a:extLst>
                <a:ext uri="{FF2B5EF4-FFF2-40B4-BE49-F238E27FC236}">
                  <a16:creationId xmlns:a16="http://schemas.microsoft.com/office/drawing/2014/main" id="{69B8D8B9-10CC-C02E-D373-5EC5727BF7B2}"/>
                </a:ext>
              </a:extLst>
            </p:cNvPr>
            <p:cNvSpPr/>
            <p:nvPr/>
          </p:nvSpPr>
          <p:spPr>
            <a:xfrm>
              <a:off x="299465" y="1351025"/>
              <a:ext cx="8513445" cy="553720"/>
            </a:xfrm>
            <a:custGeom>
              <a:avLst/>
              <a:gdLst/>
              <a:ahLst/>
              <a:cxnLst/>
              <a:rect l="l" t="t" r="r" b="b"/>
              <a:pathLst>
                <a:path w="8513445" h="553719">
                  <a:moveTo>
                    <a:pt x="8236458" y="0"/>
                  </a:moveTo>
                  <a:lnTo>
                    <a:pt x="8236458" y="138302"/>
                  </a:lnTo>
                  <a:lnTo>
                    <a:pt x="0" y="138302"/>
                  </a:lnTo>
                  <a:lnTo>
                    <a:pt x="0" y="414909"/>
                  </a:lnTo>
                  <a:lnTo>
                    <a:pt x="8236458" y="414909"/>
                  </a:lnTo>
                  <a:lnTo>
                    <a:pt x="8236458" y="553212"/>
                  </a:lnTo>
                  <a:lnTo>
                    <a:pt x="8513064" y="276606"/>
                  </a:lnTo>
                  <a:lnTo>
                    <a:pt x="8236458" y="0"/>
                  </a:lnTo>
                  <a:close/>
                </a:path>
              </a:pathLst>
            </a:custGeom>
            <a:solidFill>
              <a:srgbClr val="D9D9D9"/>
            </a:solidFill>
          </p:spPr>
          <p:txBody>
            <a:bodyPr wrap="square" lIns="0" tIns="0" rIns="0" bIns="0" rtlCol="0"/>
            <a:lstStyle/>
            <a:p>
              <a:endParaRPr sz="1100">
                <a:latin typeface="Bookman Old Style" panose="02050604050505020204" pitchFamily="18" charset="0"/>
              </a:endParaRPr>
            </a:p>
          </p:txBody>
        </p:sp>
        <p:sp>
          <p:nvSpPr>
            <p:cNvPr id="12" name="object 14">
              <a:extLst>
                <a:ext uri="{FF2B5EF4-FFF2-40B4-BE49-F238E27FC236}">
                  <a16:creationId xmlns:a16="http://schemas.microsoft.com/office/drawing/2014/main" id="{594E54DC-934D-0F37-76E4-A5598DEB6BDB}"/>
                </a:ext>
              </a:extLst>
            </p:cNvPr>
            <p:cNvSpPr/>
            <p:nvPr/>
          </p:nvSpPr>
          <p:spPr>
            <a:xfrm>
              <a:off x="299465" y="1351025"/>
              <a:ext cx="8513445" cy="553720"/>
            </a:xfrm>
            <a:custGeom>
              <a:avLst/>
              <a:gdLst/>
              <a:ahLst/>
              <a:cxnLst/>
              <a:rect l="l" t="t" r="r" b="b"/>
              <a:pathLst>
                <a:path w="8513445" h="553719">
                  <a:moveTo>
                    <a:pt x="0" y="138302"/>
                  </a:moveTo>
                  <a:lnTo>
                    <a:pt x="8236458" y="138302"/>
                  </a:lnTo>
                  <a:lnTo>
                    <a:pt x="8236458" y="0"/>
                  </a:lnTo>
                  <a:lnTo>
                    <a:pt x="8513064" y="276606"/>
                  </a:lnTo>
                  <a:lnTo>
                    <a:pt x="8236458" y="553212"/>
                  </a:lnTo>
                  <a:lnTo>
                    <a:pt x="8236458" y="414909"/>
                  </a:lnTo>
                  <a:lnTo>
                    <a:pt x="0" y="414909"/>
                  </a:lnTo>
                  <a:lnTo>
                    <a:pt x="0" y="138302"/>
                  </a:lnTo>
                  <a:close/>
                </a:path>
              </a:pathLst>
            </a:custGeom>
            <a:ln w="25907">
              <a:solidFill>
                <a:srgbClr val="161F28"/>
              </a:solidFill>
            </a:ln>
          </p:spPr>
          <p:txBody>
            <a:bodyPr wrap="square" lIns="0" tIns="0" rIns="0" bIns="0" rtlCol="0"/>
            <a:lstStyle/>
            <a:p>
              <a:endParaRPr sz="1100">
                <a:latin typeface="Bookman Old Style" panose="02050604050505020204" pitchFamily="18" charset="0"/>
              </a:endParaRPr>
            </a:p>
          </p:txBody>
        </p:sp>
      </p:grpSp>
      <p:grpSp>
        <p:nvGrpSpPr>
          <p:cNvPr id="16" name="object 16">
            <a:extLst>
              <a:ext uri="{FF2B5EF4-FFF2-40B4-BE49-F238E27FC236}">
                <a16:creationId xmlns:a16="http://schemas.microsoft.com/office/drawing/2014/main" id="{E8F6B728-418E-6686-990C-64304B9B5612}"/>
              </a:ext>
            </a:extLst>
          </p:cNvPr>
          <p:cNvGrpSpPr/>
          <p:nvPr/>
        </p:nvGrpSpPr>
        <p:grpSpPr>
          <a:xfrm>
            <a:off x="222504" y="2023872"/>
            <a:ext cx="2350135" cy="516890"/>
            <a:chOff x="222504" y="2023872"/>
            <a:chExt cx="2350135" cy="516890"/>
          </a:xfrm>
        </p:grpSpPr>
        <p:sp>
          <p:nvSpPr>
            <p:cNvPr id="17" name="object 17">
              <a:extLst>
                <a:ext uri="{FF2B5EF4-FFF2-40B4-BE49-F238E27FC236}">
                  <a16:creationId xmlns:a16="http://schemas.microsoft.com/office/drawing/2014/main" id="{9E98A3E7-0ADD-AA2E-E41B-226B987F7B17}"/>
                </a:ext>
              </a:extLst>
            </p:cNvPr>
            <p:cNvSpPr/>
            <p:nvPr/>
          </p:nvSpPr>
          <p:spPr>
            <a:xfrm>
              <a:off x="236982" y="2038350"/>
              <a:ext cx="2321560" cy="487680"/>
            </a:xfrm>
            <a:custGeom>
              <a:avLst/>
              <a:gdLst/>
              <a:ahLst/>
              <a:cxnLst/>
              <a:rect l="l" t="t" r="r" b="b"/>
              <a:pathLst>
                <a:path w="2321560" h="487680">
                  <a:moveTo>
                    <a:pt x="1947672" y="0"/>
                  </a:moveTo>
                  <a:lnTo>
                    <a:pt x="373405" y="0"/>
                  </a:lnTo>
                  <a:lnTo>
                    <a:pt x="318227" y="2644"/>
                  </a:lnTo>
                  <a:lnTo>
                    <a:pt x="265562" y="10327"/>
                  </a:lnTo>
                  <a:lnTo>
                    <a:pt x="215988" y="22671"/>
                  </a:lnTo>
                  <a:lnTo>
                    <a:pt x="170083" y="39296"/>
                  </a:lnTo>
                  <a:lnTo>
                    <a:pt x="128425" y="59826"/>
                  </a:lnTo>
                  <a:lnTo>
                    <a:pt x="91591" y="83882"/>
                  </a:lnTo>
                  <a:lnTo>
                    <a:pt x="60158" y="111088"/>
                  </a:lnTo>
                  <a:lnTo>
                    <a:pt x="34705" y="141064"/>
                  </a:lnTo>
                  <a:lnTo>
                    <a:pt x="4048" y="207818"/>
                  </a:lnTo>
                  <a:lnTo>
                    <a:pt x="0" y="243839"/>
                  </a:lnTo>
                  <a:lnTo>
                    <a:pt x="4048" y="279861"/>
                  </a:lnTo>
                  <a:lnTo>
                    <a:pt x="34705" y="346615"/>
                  </a:lnTo>
                  <a:lnTo>
                    <a:pt x="60158" y="376591"/>
                  </a:lnTo>
                  <a:lnTo>
                    <a:pt x="91591" y="403797"/>
                  </a:lnTo>
                  <a:lnTo>
                    <a:pt x="128425" y="427853"/>
                  </a:lnTo>
                  <a:lnTo>
                    <a:pt x="170083" y="448383"/>
                  </a:lnTo>
                  <a:lnTo>
                    <a:pt x="215988" y="465008"/>
                  </a:lnTo>
                  <a:lnTo>
                    <a:pt x="265562" y="477352"/>
                  </a:lnTo>
                  <a:lnTo>
                    <a:pt x="318227" y="485035"/>
                  </a:lnTo>
                  <a:lnTo>
                    <a:pt x="373405" y="487680"/>
                  </a:lnTo>
                  <a:lnTo>
                    <a:pt x="1947672" y="487680"/>
                  </a:lnTo>
                  <a:lnTo>
                    <a:pt x="2002855" y="485035"/>
                  </a:lnTo>
                  <a:lnTo>
                    <a:pt x="2055522" y="477352"/>
                  </a:lnTo>
                  <a:lnTo>
                    <a:pt x="2105095" y="465008"/>
                  </a:lnTo>
                  <a:lnTo>
                    <a:pt x="2150997" y="448383"/>
                  </a:lnTo>
                  <a:lnTo>
                    <a:pt x="2192651" y="427853"/>
                  </a:lnTo>
                  <a:lnTo>
                    <a:pt x="2229480" y="403797"/>
                  </a:lnTo>
                  <a:lnTo>
                    <a:pt x="2260907" y="376591"/>
                  </a:lnTo>
                  <a:lnTo>
                    <a:pt x="2286354" y="346615"/>
                  </a:lnTo>
                  <a:lnTo>
                    <a:pt x="2317004" y="279861"/>
                  </a:lnTo>
                  <a:lnTo>
                    <a:pt x="2321052" y="243839"/>
                  </a:lnTo>
                  <a:lnTo>
                    <a:pt x="2317004" y="207818"/>
                  </a:lnTo>
                  <a:lnTo>
                    <a:pt x="2286354" y="141064"/>
                  </a:lnTo>
                  <a:lnTo>
                    <a:pt x="2260907" y="111088"/>
                  </a:lnTo>
                  <a:lnTo>
                    <a:pt x="2229480" y="83882"/>
                  </a:lnTo>
                  <a:lnTo>
                    <a:pt x="2192651" y="59826"/>
                  </a:lnTo>
                  <a:lnTo>
                    <a:pt x="2150997" y="39296"/>
                  </a:lnTo>
                  <a:lnTo>
                    <a:pt x="2105095" y="22671"/>
                  </a:lnTo>
                  <a:lnTo>
                    <a:pt x="2055522" y="10327"/>
                  </a:lnTo>
                  <a:lnTo>
                    <a:pt x="2002855" y="2644"/>
                  </a:lnTo>
                  <a:lnTo>
                    <a:pt x="1947672" y="0"/>
                  </a:lnTo>
                  <a:close/>
                </a:path>
              </a:pathLst>
            </a:custGeom>
            <a:solidFill>
              <a:srgbClr val="DFCDE3"/>
            </a:solidFill>
          </p:spPr>
          <p:txBody>
            <a:bodyPr wrap="square" lIns="0" tIns="0" rIns="0" bIns="0" rtlCol="0"/>
            <a:lstStyle/>
            <a:p>
              <a:endParaRPr sz="1100">
                <a:latin typeface="Bookman Old Style" panose="02050604050505020204" pitchFamily="18" charset="0"/>
              </a:endParaRPr>
            </a:p>
          </p:txBody>
        </p:sp>
        <p:sp>
          <p:nvSpPr>
            <p:cNvPr id="20" name="object 18">
              <a:extLst>
                <a:ext uri="{FF2B5EF4-FFF2-40B4-BE49-F238E27FC236}">
                  <a16:creationId xmlns:a16="http://schemas.microsoft.com/office/drawing/2014/main" id="{621EFB6F-C9B5-790A-0E55-4EEDB3A991AB}"/>
                </a:ext>
              </a:extLst>
            </p:cNvPr>
            <p:cNvSpPr/>
            <p:nvPr/>
          </p:nvSpPr>
          <p:spPr>
            <a:xfrm>
              <a:off x="236982" y="2038350"/>
              <a:ext cx="2321560" cy="487680"/>
            </a:xfrm>
            <a:custGeom>
              <a:avLst/>
              <a:gdLst/>
              <a:ahLst/>
              <a:cxnLst/>
              <a:rect l="l" t="t" r="r" b="b"/>
              <a:pathLst>
                <a:path w="2321560" h="487680">
                  <a:moveTo>
                    <a:pt x="373405" y="0"/>
                  </a:moveTo>
                  <a:lnTo>
                    <a:pt x="1947672" y="0"/>
                  </a:lnTo>
                  <a:lnTo>
                    <a:pt x="2002855" y="2644"/>
                  </a:lnTo>
                  <a:lnTo>
                    <a:pt x="2055522" y="10327"/>
                  </a:lnTo>
                  <a:lnTo>
                    <a:pt x="2105095" y="22671"/>
                  </a:lnTo>
                  <a:lnTo>
                    <a:pt x="2150997" y="39296"/>
                  </a:lnTo>
                  <a:lnTo>
                    <a:pt x="2192651" y="59826"/>
                  </a:lnTo>
                  <a:lnTo>
                    <a:pt x="2229480" y="83882"/>
                  </a:lnTo>
                  <a:lnTo>
                    <a:pt x="2260907" y="111088"/>
                  </a:lnTo>
                  <a:lnTo>
                    <a:pt x="2286354" y="141064"/>
                  </a:lnTo>
                  <a:lnTo>
                    <a:pt x="2317004" y="207818"/>
                  </a:lnTo>
                  <a:lnTo>
                    <a:pt x="2321052" y="243839"/>
                  </a:lnTo>
                  <a:lnTo>
                    <a:pt x="2317004" y="279861"/>
                  </a:lnTo>
                  <a:lnTo>
                    <a:pt x="2286354" y="346615"/>
                  </a:lnTo>
                  <a:lnTo>
                    <a:pt x="2260907" y="376591"/>
                  </a:lnTo>
                  <a:lnTo>
                    <a:pt x="2229480" y="403797"/>
                  </a:lnTo>
                  <a:lnTo>
                    <a:pt x="2192651" y="427853"/>
                  </a:lnTo>
                  <a:lnTo>
                    <a:pt x="2150997" y="448383"/>
                  </a:lnTo>
                  <a:lnTo>
                    <a:pt x="2105095" y="465008"/>
                  </a:lnTo>
                  <a:lnTo>
                    <a:pt x="2055522" y="477352"/>
                  </a:lnTo>
                  <a:lnTo>
                    <a:pt x="2002855" y="485035"/>
                  </a:lnTo>
                  <a:lnTo>
                    <a:pt x="1947672" y="487680"/>
                  </a:lnTo>
                  <a:lnTo>
                    <a:pt x="373405" y="487680"/>
                  </a:lnTo>
                  <a:lnTo>
                    <a:pt x="318227" y="485035"/>
                  </a:lnTo>
                  <a:lnTo>
                    <a:pt x="265562" y="477352"/>
                  </a:lnTo>
                  <a:lnTo>
                    <a:pt x="215988" y="465008"/>
                  </a:lnTo>
                  <a:lnTo>
                    <a:pt x="170083" y="448383"/>
                  </a:lnTo>
                  <a:lnTo>
                    <a:pt x="128425" y="427853"/>
                  </a:lnTo>
                  <a:lnTo>
                    <a:pt x="91591" y="403797"/>
                  </a:lnTo>
                  <a:lnTo>
                    <a:pt x="60158" y="376591"/>
                  </a:lnTo>
                  <a:lnTo>
                    <a:pt x="34705" y="346615"/>
                  </a:lnTo>
                  <a:lnTo>
                    <a:pt x="4048" y="279861"/>
                  </a:lnTo>
                  <a:lnTo>
                    <a:pt x="0" y="243839"/>
                  </a:lnTo>
                  <a:lnTo>
                    <a:pt x="4048" y="207818"/>
                  </a:lnTo>
                  <a:lnTo>
                    <a:pt x="34705" y="141064"/>
                  </a:lnTo>
                  <a:lnTo>
                    <a:pt x="60158" y="111088"/>
                  </a:lnTo>
                  <a:lnTo>
                    <a:pt x="91591" y="83882"/>
                  </a:lnTo>
                  <a:lnTo>
                    <a:pt x="128425" y="59826"/>
                  </a:lnTo>
                  <a:lnTo>
                    <a:pt x="170083" y="39296"/>
                  </a:lnTo>
                  <a:lnTo>
                    <a:pt x="215988" y="22671"/>
                  </a:lnTo>
                  <a:lnTo>
                    <a:pt x="265562" y="10327"/>
                  </a:lnTo>
                  <a:lnTo>
                    <a:pt x="318227" y="2644"/>
                  </a:lnTo>
                  <a:lnTo>
                    <a:pt x="373405" y="0"/>
                  </a:lnTo>
                  <a:close/>
                </a:path>
              </a:pathLst>
            </a:custGeom>
            <a:ln w="28956">
              <a:solidFill>
                <a:srgbClr val="000000"/>
              </a:solidFill>
            </a:ln>
          </p:spPr>
          <p:txBody>
            <a:bodyPr wrap="square" lIns="0" tIns="0" rIns="0" bIns="0" rtlCol="0"/>
            <a:lstStyle/>
            <a:p>
              <a:endParaRPr sz="1100">
                <a:latin typeface="Bookman Old Style" panose="02050604050505020204" pitchFamily="18" charset="0"/>
              </a:endParaRPr>
            </a:p>
          </p:txBody>
        </p:sp>
      </p:grpSp>
      <p:sp>
        <p:nvSpPr>
          <p:cNvPr id="21" name="object 19">
            <a:extLst>
              <a:ext uri="{FF2B5EF4-FFF2-40B4-BE49-F238E27FC236}">
                <a16:creationId xmlns:a16="http://schemas.microsoft.com/office/drawing/2014/main" id="{7EB0862D-D7FB-F80A-FA02-83B20239C8D5}"/>
              </a:ext>
            </a:extLst>
          </p:cNvPr>
          <p:cNvSpPr txBox="1"/>
          <p:nvPr/>
        </p:nvSpPr>
        <p:spPr>
          <a:xfrm>
            <a:off x="298288" y="2116582"/>
            <a:ext cx="1981616" cy="351378"/>
          </a:xfrm>
          <a:prstGeom prst="rect">
            <a:avLst/>
          </a:prstGeom>
        </p:spPr>
        <p:txBody>
          <a:bodyPr vert="horz" wrap="square" lIns="0" tIns="12700" rIns="0" bIns="0" rtlCol="0">
            <a:spAutoFit/>
          </a:bodyPr>
          <a:lstStyle/>
          <a:p>
            <a:pPr marL="355600" marR="5080" indent="-342900" algn="ctr">
              <a:lnSpc>
                <a:spcPct val="100000"/>
              </a:lnSpc>
              <a:spcBef>
                <a:spcPts val="100"/>
              </a:spcBef>
            </a:pPr>
            <a:r>
              <a:rPr sz="1100" b="1" dirty="0">
                <a:latin typeface="Bookman Old Style" panose="02050604050505020204" pitchFamily="18" charset="0"/>
                <a:cs typeface="Times New Roman"/>
              </a:rPr>
              <a:t>Déterminer</a:t>
            </a:r>
            <a:r>
              <a:rPr sz="1100" b="1" spc="-25" dirty="0">
                <a:latin typeface="Bookman Old Style" panose="02050604050505020204" pitchFamily="18" charset="0"/>
                <a:cs typeface="Times New Roman"/>
              </a:rPr>
              <a:t> </a:t>
            </a:r>
            <a:r>
              <a:rPr sz="1100" b="1" dirty="0">
                <a:latin typeface="Bookman Old Style" panose="02050604050505020204" pitchFamily="18" charset="0"/>
                <a:cs typeface="Times New Roman"/>
              </a:rPr>
              <a:t>la</a:t>
            </a:r>
            <a:r>
              <a:rPr sz="1100" b="1" spc="-50" dirty="0">
                <a:latin typeface="Bookman Old Style" panose="02050604050505020204" pitchFamily="18" charset="0"/>
                <a:cs typeface="Times New Roman"/>
              </a:rPr>
              <a:t> </a:t>
            </a:r>
            <a:r>
              <a:rPr sz="1100" b="1" spc="-10" dirty="0">
                <a:latin typeface="Bookman Old Style" panose="02050604050505020204" pitchFamily="18" charset="0"/>
                <a:cs typeface="Times New Roman"/>
              </a:rPr>
              <a:t>résistance </a:t>
            </a:r>
            <a:r>
              <a:rPr sz="1100" b="1" dirty="0">
                <a:latin typeface="Bookman Old Style" panose="02050604050505020204" pitchFamily="18" charset="0"/>
                <a:cs typeface="Times New Roman"/>
              </a:rPr>
              <a:t>de</a:t>
            </a:r>
            <a:r>
              <a:rPr sz="1100" b="1" spc="-15" dirty="0">
                <a:latin typeface="Bookman Old Style" panose="02050604050505020204" pitchFamily="18" charset="0"/>
                <a:cs typeface="Times New Roman"/>
              </a:rPr>
              <a:t> </a:t>
            </a:r>
            <a:r>
              <a:rPr sz="1100" b="1" spc="-10" dirty="0">
                <a:latin typeface="Bookman Old Style" panose="02050604050505020204" pitchFamily="18" charset="0"/>
                <a:cs typeface="Times New Roman"/>
              </a:rPr>
              <a:t>Norton</a:t>
            </a:r>
            <a:endParaRPr sz="1100" dirty="0">
              <a:latin typeface="Bookman Old Style" panose="02050604050505020204" pitchFamily="18" charset="0"/>
              <a:cs typeface="Times New Roman"/>
            </a:endParaRPr>
          </a:p>
        </p:txBody>
      </p:sp>
      <p:grpSp>
        <p:nvGrpSpPr>
          <p:cNvPr id="22" name="object 20">
            <a:extLst>
              <a:ext uri="{FF2B5EF4-FFF2-40B4-BE49-F238E27FC236}">
                <a16:creationId xmlns:a16="http://schemas.microsoft.com/office/drawing/2014/main" id="{8647F6F1-DD95-B2BE-4337-81B6DB3555B6}"/>
              </a:ext>
            </a:extLst>
          </p:cNvPr>
          <p:cNvGrpSpPr/>
          <p:nvPr/>
        </p:nvGrpSpPr>
        <p:grpSpPr>
          <a:xfrm>
            <a:off x="5870105" y="2149683"/>
            <a:ext cx="390525" cy="253365"/>
            <a:chOff x="5844540" y="2148839"/>
            <a:chExt cx="390525" cy="253365"/>
          </a:xfrm>
        </p:grpSpPr>
        <p:sp>
          <p:nvSpPr>
            <p:cNvPr id="23" name="object 21">
              <a:extLst>
                <a:ext uri="{FF2B5EF4-FFF2-40B4-BE49-F238E27FC236}">
                  <a16:creationId xmlns:a16="http://schemas.microsoft.com/office/drawing/2014/main" id="{711774C4-F9B5-7789-3989-218AC122D9C7}"/>
                </a:ext>
              </a:extLst>
            </p:cNvPr>
            <p:cNvSpPr/>
            <p:nvPr/>
          </p:nvSpPr>
          <p:spPr>
            <a:xfrm>
              <a:off x="5849112" y="2153411"/>
              <a:ext cx="381000" cy="243840"/>
            </a:xfrm>
            <a:custGeom>
              <a:avLst/>
              <a:gdLst/>
              <a:ahLst/>
              <a:cxnLst/>
              <a:rect l="l" t="t" r="r" b="b"/>
              <a:pathLst>
                <a:path w="381000" h="243839">
                  <a:moveTo>
                    <a:pt x="259079" y="0"/>
                  </a:moveTo>
                  <a:lnTo>
                    <a:pt x="259079" y="60960"/>
                  </a:lnTo>
                  <a:lnTo>
                    <a:pt x="0" y="60960"/>
                  </a:lnTo>
                  <a:lnTo>
                    <a:pt x="0" y="182880"/>
                  </a:lnTo>
                  <a:lnTo>
                    <a:pt x="259079" y="182880"/>
                  </a:lnTo>
                  <a:lnTo>
                    <a:pt x="259079" y="243839"/>
                  </a:lnTo>
                  <a:lnTo>
                    <a:pt x="381000" y="121919"/>
                  </a:lnTo>
                  <a:lnTo>
                    <a:pt x="259079" y="0"/>
                  </a:lnTo>
                  <a:close/>
                </a:path>
              </a:pathLst>
            </a:custGeom>
            <a:solidFill>
              <a:srgbClr val="BEBEBE"/>
            </a:solidFill>
          </p:spPr>
          <p:txBody>
            <a:bodyPr wrap="square" lIns="0" tIns="0" rIns="0" bIns="0" rtlCol="0"/>
            <a:lstStyle/>
            <a:p>
              <a:endParaRPr sz="1100">
                <a:latin typeface="Bookman Old Style" panose="02050604050505020204" pitchFamily="18" charset="0"/>
              </a:endParaRPr>
            </a:p>
          </p:txBody>
        </p:sp>
        <p:sp>
          <p:nvSpPr>
            <p:cNvPr id="24" name="object 22">
              <a:extLst>
                <a:ext uri="{FF2B5EF4-FFF2-40B4-BE49-F238E27FC236}">
                  <a16:creationId xmlns:a16="http://schemas.microsoft.com/office/drawing/2014/main" id="{E6CE73D0-0EA1-43BE-C635-0CDC40AA215E}"/>
                </a:ext>
              </a:extLst>
            </p:cNvPr>
            <p:cNvSpPr/>
            <p:nvPr/>
          </p:nvSpPr>
          <p:spPr>
            <a:xfrm>
              <a:off x="5849112" y="2153411"/>
              <a:ext cx="381000" cy="243840"/>
            </a:xfrm>
            <a:custGeom>
              <a:avLst/>
              <a:gdLst/>
              <a:ahLst/>
              <a:cxnLst/>
              <a:rect l="l" t="t" r="r" b="b"/>
              <a:pathLst>
                <a:path w="381000" h="243839">
                  <a:moveTo>
                    <a:pt x="0" y="60960"/>
                  </a:moveTo>
                  <a:lnTo>
                    <a:pt x="259079" y="60960"/>
                  </a:lnTo>
                  <a:lnTo>
                    <a:pt x="259079" y="0"/>
                  </a:lnTo>
                  <a:lnTo>
                    <a:pt x="381000" y="121919"/>
                  </a:lnTo>
                  <a:lnTo>
                    <a:pt x="259079" y="243839"/>
                  </a:lnTo>
                  <a:lnTo>
                    <a:pt x="259079" y="182880"/>
                  </a:lnTo>
                  <a:lnTo>
                    <a:pt x="0" y="182880"/>
                  </a:lnTo>
                  <a:lnTo>
                    <a:pt x="0" y="60960"/>
                  </a:lnTo>
                  <a:close/>
                </a:path>
              </a:pathLst>
            </a:custGeom>
            <a:ln w="9144">
              <a:solidFill>
                <a:srgbClr val="000000"/>
              </a:solidFill>
            </a:ln>
          </p:spPr>
          <p:txBody>
            <a:bodyPr wrap="square" lIns="0" tIns="0" rIns="0" bIns="0" rtlCol="0"/>
            <a:lstStyle/>
            <a:p>
              <a:endParaRPr sz="1100">
                <a:latin typeface="Bookman Old Style" panose="02050604050505020204" pitchFamily="18" charset="0"/>
              </a:endParaRPr>
            </a:p>
          </p:txBody>
        </p:sp>
      </p:grpSp>
      <p:grpSp>
        <p:nvGrpSpPr>
          <p:cNvPr id="25" name="object 23">
            <a:extLst>
              <a:ext uri="{FF2B5EF4-FFF2-40B4-BE49-F238E27FC236}">
                <a16:creationId xmlns:a16="http://schemas.microsoft.com/office/drawing/2014/main" id="{0F97249F-B731-7EA7-4127-FBB310170A1A}"/>
              </a:ext>
            </a:extLst>
          </p:cNvPr>
          <p:cNvGrpSpPr/>
          <p:nvPr/>
        </p:nvGrpSpPr>
        <p:grpSpPr>
          <a:xfrm>
            <a:off x="6440423" y="2019300"/>
            <a:ext cx="2350135" cy="516890"/>
            <a:chOff x="6440423" y="2019300"/>
            <a:chExt cx="2350135" cy="516890"/>
          </a:xfrm>
        </p:grpSpPr>
        <p:sp>
          <p:nvSpPr>
            <p:cNvPr id="26" name="object 24">
              <a:extLst>
                <a:ext uri="{FF2B5EF4-FFF2-40B4-BE49-F238E27FC236}">
                  <a16:creationId xmlns:a16="http://schemas.microsoft.com/office/drawing/2014/main" id="{312E0BC1-35C6-C428-FAC4-96B42BF165CD}"/>
                </a:ext>
              </a:extLst>
            </p:cNvPr>
            <p:cNvSpPr/>
            <p:nvPr/>
          </p:nvSpPr>
          <p:spPr>
            <a:xfrm>
              <a:off x="6454901" y="2033777"/>
              <a:ext cx="2321560" cy="487680"/>
            </a:xfrm>
            <a:custGeom>
              <a:avLst/>
              <a:gdLst/>
              <a:ahLst/>
              <a:cxnLst/>
              <a:rect l="l" t="t" r="r" b="b"/>
              <a:pathLst>
                <a:path w="2321559" h="487680">
                  <a:moveTo>
                    <a:pt x="1947672" y="0"/>
                  </a:moveTo>
                  <a:lnTo>
                    <a:pt x="373379" y="0"/>
                  </a:lnTo>
                  <a:lnTo>
                    <a:pt x="318196" y="2644"/>
                  </a:lnTo>
                  <a:lnTo>
                    <a:pt x="265529" y="10327"/>
                  </a:lnTo>
                  <a:lnTo>
                    <a:pt x="215956" y="22671"/>
                  </a:lnTo>
                  <a:lnTo>
                    <a:pt x="170054" y="39296"/>
                  </a:lnTo>
                  <a:lnTo>
                    <a:pt x="128400" y="59826"/>
                  </a:lnTo>
                  <a:lnTo>
                    <a:pt x="91571" y="83882"/>
                  </a:lnTo>
                  <a:lnTo>
                    <a:pt x="60144" y="111088"/>
                  </a:lnTo>
                  <a:lnTo>
                    <a:pt x="34697" y="141064"/>
                  </a:lnTo>
                  <a:lnTo>
                    <a:pt x="4047" y="207818"/>
                  </a:lnTo>
                  <a:lnTo>
                    <a:pt x="0" y="243840"/>
                  </a:lnTo>
                  <a:lnTo>
                    <a:pt x="4047" y="279861"/>
                  </a:lnTo>
                  <a:lnTo>
                    <a:pt x="34697" y="346615"/>
                  </a:lnTo>
                  <a:lnTo>
                    <a:pt x="60144" y="376591"/>
                  </a:lnTo>
                  <a:lnTo>
                    <a:pt x="91571" y="403797"/>
                  </a:lnTo>
                  <a:lnTo>
                    <a:pt x="128400" y="427853"/>
                  </a:lnTo>
                  <a:lnTo>
                    <a:pt x="170054" y="448383"/>
                  </a:lnTo>
                  <a:lnTo>
                    <a:pt x="215956" y="465008"/>
                  </a:lnTo>
                  <a:lnTo>
                    <a:pt x="265529" y="477352"/>
                  </a:lnTo>
                  <a:lnTo>
                    <a:pt x="318196" y="485035"/>
                  </a:lnTo>
                  <a:lnTo>
                    <a:pt x="373379" y="487680"/>
                  </a:lnTo>
                  <a:lnTo>
                    <a:pt x="1947672" y="487680"/>
                  </a:lnTo>
                  <a:lnTo>
                    <a:pt x="2002855" y="485035"/>
                  </a:lnTo>
                  <a:lnTo>
                    <a:pt x="2055522" y="477352"/>
                  </a:lnTo>
                  <a:lnTo>
                    <a:pt x="2105095" y="465008"/>
                  </a:lnTo>
                  <a:lnTo>
                    <a:pt x="2150997" y="448383"/>
                  </a:lnTo>
                  <a:lnTo>
                    <a:pt x="2192651" y="427853"/>
                  </a:lnTo>
                  <a:lnTo>
                    <a:pt x="2229480" y="403797"/>
                  </a:lnTo>
                  <a:lnTo>
                    <a:pt x="2260907" y="376591"/>
                  </a:lnTo>
                  <a:lnTo>
                    <a:pt x="2286354" y="346615"/>
                  </a:lnTo>
                  <a:lnTo>
                    <a:pt x="2317004" y="279861"/>
                  </a:lnTo>
                  <a:lnTo>
                    <a:pt x="2321052" y="243840"/>
                  </a:lnTo>
                  <a:lnTo>
                    <a:pt x="2317004" y="207818"/>
                  </a:lnTo>
                  <a:lnTo>
                    <a:pt x="2286354" y="141064"/>
                  </a:lnTo>
                  <a:lnTo>
                    <a:pt x="2260907" y="111088"/>
                  </a:lnTo>
                  <a:lnTo>
                    <a:pt x="2229480" y="83882"/>
                  </a:lnTo>
                  <a:lnTo>
                    <a:pt x="2192651" y="59826"/>
                  </a:lnTo>
                  <a:lnTo>
                    <a:pt x="2150997" y="39296"/>
                  </a:lnTo>
                  <a:lnTo>
                    <a:pt x="2105095" y="22671"/>
                  </a:lnTo>
                  <a:lnTo>
                    <a:pt x="2055522" y="10327"/>
                  </a:lnTo>
                  <a:lnTo>
                    <a:pt x="2002855" y="2644"/>
                  </a:lnTo>
                  <a:lnTo>
                    <a:pt x="1947672" y="0"/>
                  </a:lnTo>
                  <a:close/>
                </a:path>
              </a:pathLst>
            </a:custGeom>
            <a:solidFill>
              <a:srgbClr val="DFCDE3"/>
            </a:solidFill>
          </p:spPr>
          <p:txBody>
            <a:bodyPr wrap="square" lIns="0" tIns="0" rIns="0" bIns="0" rtlCol="0"/>
            <a:lstStyle/>
            <a:p>
              <a:endParaRPr sz="1100">
                <a:latin typeface="Bookman Old Style" panose="02050604050505020204" pitchFamily="18" charset="0"/>
              </a:endParaRPr>
            </a:p>
          </p:txBody>
        </p:sp>
        <p:sp>
          <p:nvSpPr>
            <p:cNvPr id="27" name="object 25">
              <a:extLst>
                <a:ext uri="{FF2B5EF4-FFF2-40B4-BE49-F238E27FC236}">
                  <a16:creationId xmlns:a16="http://schemas.microsoft.com/office/drawing/2014/main" id="{D2486BC2-5218-CB9F-9635-0407BDA927F3}"/>
                </a:ext>
              </a:extLst>
            </p:cNvPr>
            <p:cNvSpPr/>
            <p:nvPr/>
          </p:nvSpPr>
          <p:spPr>
            <a:xfrm>
              <a:off x="6454901" y="2033777"/>
              <a:ext cx="2321560" cy="487680"/>
            </a:xfrm>
            <a:custGeom>
              <a:avLst/>
              <a:gdLst/>
              <a:ahLst/>
              <a:cxnLst/>
              <a:rect l="l" t="t" r="r" b="b"/>
              <a:pathLst>
                <a:path w="2321559" h="487680">
                  <a:moveTo>
                    <a:pt x="373379" y="0"/>
                  </a:moveTo>
                  <a:lnTo>
                    <a:pt x="1947672" y="0"/>
                  </a:lnTo>
                  <a:lnTo>
                    <a:pt x="2002855" y="2644"/>
                  </a:lnTo>
                  <a:lnTo>
                    <a:pt x="2055522" y="10327"/>
                  </a:lnTo>
                  <a:lnTo>
                    <a:pt x="2105095" y="22671"/>
                  </a:lnTo>
                  <a:lnTo>
                    <a:pt x="2150997" y="39296"/>
                  </a:lnTo>
                  <a:lnTo>
                    <a:pt x="2192651" y="59826"/>
                  </a:lnTo>
                  <a:lnTo>
                    <a:pt x="2229480" y="83882"/>
                  </a:lnTo>
                  <a:lnTo>
                    <a:pt x="2260907" y="111088"/>
                  </a:lnTo>
                  <a:lnTo>
                    <a:pt x="2286354" y="141064"/>
                  </a:lnTo>
                  <a:lnTo>
                    <a:pt x="2317004" y="207818"/>
                  </a:lnTo>
                  <a:lnTo>
                    <a:pt x="2321052" y="243840"/>
                  </a:lnTo>
                  <a:lnTo>
                    <a:pt x="2317004" y="279861"/>
                  </a:lnTo>
                  <a:lnTo>
                    <a:pt x="2286354" y="346615"/>
                  </a:lnTo>
                  <a:lnTo>
                    <a:pt x="2260907" y="376591"/>
                  </a:lnTo>
                  <a:lnTo>
                    <a:pt x="2229480" y="403797"/>
                  </a:lnTo>
                  <a:lnTo>
                    <a:pt x="2192651" y="427853"/>
                  </a:lnTo>
                  <a:lnTo>
                    <a:pt x="2150997" y="448383"/>
                  </a:lnTo>
                  <a:lnTo>
                    <a:pt x="2105095" y="465008"/>
                  </a:lnTo>
                  <a:lnTo>
                    <a:pt x="2055522" y="477352"/>
                  </a:lnTo>
                  <a:lnTo>
                    <a:pt x="2002855" y="485035"/>
                  </a:lnTo>
                  <a:lnTo>
                    <a:pt x="1947672" y="487680"/>
                  </a:lnTo>
                  <a:lnTo>
                    <a:pt x="373379" y="487680"/>
                  </a:lnTo>
                  <a:lnTo>
                    <a:pt x="318196" y="485035"/>
                  </a:lnTo>
                  <a:lnTo>
                    <a:pt x="265529" y="477352"/>
                  </a:lnTo>
                  <a:lnTo>
                    <a:pt x="215956" y="465008"/>
                  </a:lnTo>
                  <a:lnTo>
                    <a:pt x="170054" y="448383"/>
                  </a:lnTo>
                  <a:lnTo>
                    <a:pt x="128400" y="427853"/>
                  </a:lnTo>
                  <a:lnTo>
                    <a:pt x="91571" y="403797"/>
                  </a:lnTo>
                  <a:lnTo>
                    <a:pt x="60144" y="376591"/>
                  </a:lnTo>
                  <a:lnTo>
                    <a:pt x="34697" y="346615"/>
                  </a:lnTo>
                  <a:lnTo>
                    <a:pt x="4047" y="279861"/>
                  </a:lnTo>
                  <a:lnTo>
                    <a:pt x="0" y="243840"/>
                  </a:lnTo>
                  <a:lnTo>
                    <a:pt x="4047" y="207818"/>
                  </a:lnTo>
                  <a:lnTo>
                    <a:pt x="34697" y="141064"/>
                  </a:lnTo>
                  <a:lnTo>
                    <a:pt x="60144" y="111088"/>
                  </a:lnTo>
                  <a:lnTo>
                    <a:pt x="91571" y="83882"/>
                  </a:lnTo>
                  <a:lnTo>
                    <a:pt x="128400" y="59826"/>
                  </a:lnTo>
                  <a:lnTo>
                    <a:pt x="170054" y="39296"/>
                  </a:lnTo>
                  <a:lnTo>
                    <a:pt x="215956" y="22671"/>
                  </a:lnTo>
                  <a:lnTo>
                    <a:pt x="265529" y="10327"/>
                  </a:lnTo>
                  <a:lnTo>
                    <a:pt x="318196" y="2644"/>
                  </a:lnTo>
                  <a:lnTo>
                    <a:pt x="373379" y="0"/>
                  </a:lnTo>
                  <a:close/>
                </a:path>
              </a:pathLst>
            </a:custGeom>
            <a:ln w="28956">
              <a:solidFill>
                <a:srgbClr val="000000"/>
              </a:solidFill>
            </a:ln>
          </p:spPr>
          <p:txBody>
            <a:bodyPr wrap="square" lIns="0" tIns="0" rIns="0" bIns="0" rtlCol="0"/>
            <a:lstStyle/>
            <a:p>
              <a:endParaRPr sz="1100">
                <a:latin typeface="Bookman Old Style" panose="02050604050505020204" pitchFamily="18" charset="0"/>
              </a:endParaRPr>
            </a:p>
          </p:txBody>
        </p:sp>
      </p:grpSp>
      <p:sp>
        <p:nvSpPr>
          <p:cNvPr id="28" name="object 26">
            <a:extLst>
              <a:ext uri="{FF2B5EF4-FFF2-40B4-BE49-F238E27FC236}">
                <a16:creationId xmlns:a16="http://schemas.microsoft.com/office/drawing/2014/main" id="{9F626D23-BAE4-29FE-3DF9-EC56184448A7}"/>
              </a:ext>
            </a:extLst>
          </p:cNvPr>
          <p:cNvSpPr txBox="1"/>
          <p:nvPr/>
        </p:nvSpPr>
        <p:spPr>
          <a:xfrm>
            <a:off x="6560806" y="2108415"/>
            <a:ext cx="2025650" cy="351378"/>
          </a:xfrm>
          <a:prstGeom prst="rect">
            <a:avLst/>
          </a:prstGeom>
        </p:spPr>
        <p:txBody>
          <a:bodyPr vert="horz" wrap="square" lIns="0" tIns="12700" rIns="0" bIns="0" rtlCol="0">
            <a:spAutoFit/>
          </a:bodyPr>
          <a:lstStyle/>
          <a:p>
            <a:pPr marL="12700" algn="ctr">
              <a:lnSpc>
                <a:spcPct val="100000"/>
              </a:lnSpc>
              <a:spcBef>
                <a:spcPts val="100"/>
              </a:spcBef>
            </a:pPr>
            <a:r>
              <a:rPr sz="1100" b="1" dirty="0">
                <a:latin typeface="Bookman Old Style" panose="02050604050505020204" pitchFamily="18" charset="0"/>
                <a:cs typeface="Times New Roman"/>
              </a:rPr>
              <a:t>Former</a:t>
            </a:r>
            <a:r>
              <a:rPr sz="1100" b="1" spc="-40" dirty="0">
                <a:latin typeface="Bookman Old Style" panose="02050604050505020204" pitchFamily="18" charset="0"/>
                <a:cs typeface="Times New Roman"/>
              </a:rPr>
              <a:t> </a:t>
            </a:r>
            <a:r>
              <a:rPr sz="1100" b="1" dirty="0">
                <a:latin typeface="Bookman Old Style" panose="02050604050505020204" pitchFamily="18" charset="0"/>
                <a:cs typeface="Times New Roman"/>
              </a:rPr>
              <a:t>mon</a:t>
            </a:r>
            <a:r>
              <a:rPr sz="1100" b="1" spc="-50" dirty="0">
                <a:latin typeface="Bookman Old Style" panose="02050604050505020204" pitchFamily="18" charset="0"/>
                <a:cs typeface="Times New Roman"/>
              </a:rPr>
              <a:t> </a:t>
            </a:r>
            <a:r>
              <a:rPr sz="1100" b="1" dirty="0">
                <a:latin typeface="Bookman Old Style" panose="02050604050505020204" pitchFamily="18" charset="0"/>
                <a:cs typeface="Times New Roman"/>
              </a:rPr>
              <a:t>circuit</a:t>
            </a:r>
            <a:r>
              <a:rPr sz="1100" b="1" spc="-45" dirty="0">
                <a:latin typeface="Bookman Old Style" panose="02050604050505020204" pitchFamily="18" charset="0"/>
                <a:cs typeface="Times New Roman"/>
              </a:rPr>
              <a:t> </a:t>
            </a:r>
            <a:r>
              <a:rPr sz="1100" b="1" spc="-10" dirty="0">
                <a:latin typeface="Bookman Old Style" panose="02050604050505020204" pitchFamily="18" charset="0"/>
                <a:cs typeface="Times New Roman"/>
              </a:rPr>
              <a:t>équivalent</a:t>
            </a:r>
            <a:endParaRPr sz="1100" dirty="0">
              <a:latin typeface="Bookman Old Style" panose="02050604050505020204" pitchFamily="18" charset="0"/>
              <a:cs typeface="Times New Roman"/>
            </a:endParaRPr>
          </a:p>
        </p:txBody>
      </p:sp>
      <p:grpSp>
        <p:nvGrpSpPr>
          <p:cNvPr id="29" name="object 27">
            <a:extLst>
              <a:ext uri="{FF2B5EF4-FFF2-40B4-BE49-F238E27FC236}">
                <a16:creationId xmlns:a16="http://schemas.microsoft.com/office/drawing/2014/main" id="{9703396A-4989-FCCB-5639-24DD8A37E0EB}"/>
              </a:ext>
            </a:extLst>
          </p:cNvPr>
          <p:cNvGrpSpPr/>
          <p:nvPr/>
        </p:nvGrpSpPr>
        <p:grpSpPr>
          <a:xfrm>
            <a:off x="2694027" y="2149874"/>
            <a:ext cx="390525" cy="253365"/>
            <a:chOff x="2667000" y="2125979"/>
            <a:chExt cx="390525" cy="253365"/>
          </a:xfrm>
        </p:grpSpPr>
        <p:sp>
          <p:nvSpPr>
            <p:cNvPr id="30" name="object 28">
              <a:extLst>
                <a:ext uri="{FF2B5EF4-FFF2-40B4-BE49-F238E27FC236}">
                  <a16:creationId xmlns:a16="http://schemas.microsoft.com/office/drawing/2014/main" id="{19630B13-12C1-3CED-A70C-2145871A1691}"/>
                </a:ext>
              </a:extLst>
            </p:cNvPr>
            <p:cNvSpPr/>
            <p:nvPr/>
          </p:nvSpPr>
          <p:spPr>
            <a:xfrm>
              <a:off x="2671572" y="2130551"/>
              <a:ext cx="381000" cy="243840"/>
            </a:xfrm>
            <a:custGeom>
              <a:avLst/>
              <a:gdLst/>
              <a:ahLst/>
              <a:cxnLst/>
              <a:rect l="l" t="t" r="r" b="b"/>
              <a:pathLst>
                <a:path w="381000" h="243839">
                  <a:moveTo>
                    <a:pt x="259079" y="0"/>
                  </a:moveTo>
                  <a:lnTo>
                    <a:pt x="259079" y="60960"/>
                  </a:lnTo>
                  <a:lnTo>
                    <a:pt x="0" y="60960"/>
                  </a:lnTo>
                  <a:lnTo>
                    <a:pt x="0" y="182880"/>
                  </a:lnTo>
                  <a:lnTo>
                    <a:pt x="259079" y="182880"/>
                  </a:lnTo>
                  <a:lnTo>
                    <a:pt x="259079" y="243840"/>
                  </a:lnTo>
                  <a:lnTo>
                    <a:pt x="381000" y="121920"/>
                  </a:lnTo>
                  <a:lnTo>
                    <a:pt x="259079" y="0"/>
                  </a:lnTo>
                  <a:close/>
                </a:path>
              </a:pathLst>
            </a:custGeom>
            <a:solidFill>
              <a:srgbClr val="BEBEBE"/>
            </a:solidFill>
          </p:spPr>
          <p:txBody>
            <a:bodyPr wrap="square" lIns="0" tIns="0" rIns="0" bIns="0" rtlCol="0"/>
            <a:lstStyle/>
            <a:p>
              <a:endParaRPr sz="1100">
                <a:latin typeface="Bookman Old Style" panose="02050604050505020204" pitchFamily="18" charset="0"/>
              </a:endParaRPr>
            </a:p>
          </p:txBody>
        </p:sp>
        <p:sp>
          <p:nvSpPr>
            <p:cNvPr id="38" name="object 29">
              <a:extLst>
                <a:ext uri="{FF2B5EF4-FFF2-40B4-BE49-F238E27FC236}">
                  <a16:creationId xmlns:a16="http://schemas.microsoft.com/office/drawing/2014/main" id="{778B486E-F48A-C2F1-147D-782D67DE5DD5}"/>
                </a:ext>
              </a:extLst>
            </p:cNvPr>
            <p:cNvSpPr/>
            <p:nvPr/>
          </p:nvSpPr>
          <p:spPr>
            <a:xfrm>
              <a:off x="2671572" y="2130551"/>
              <a:ext cx="381000" cy="243840"/>
            </a:xfrm>
            <a:custGeom>
              <a:avLst/>
              <a:gdLst/>
              <a:ahLst/>
              <a:cxnLst/>
              <a:rect l="l" t="t" r="r" b="b"/>
              <a:pathLst>
                <a:path w="381000" h="243839">
                  <a:moveTo>
                    <a:pt x="0" y="60960"/>
                  </a:moveTo>
                  <a:lnTo>
                    <a:pt x="259079" y="60960"/>
                  </a:lnTo>
                  <a:lnTo>
                    <a:pt x="259079" y="0"/>
                  </a:lnTo>
                  <a:lnTo>
                    <a:pt x="381000" y="121920"/>
                  </a:lnTo>
                  <a:lnTo>
                    <a:pt x="259079" y="243840"/>
                  </a:lnTo>
                  <a:lnTo>
                    <a:pt x="259079" y="182880"/>
                  </a:lnTo>
                  <a:lnTo>
                    <a:pt x="0" y="182880"/>
                  </a:lnTo>
                  <a:lnTo>
                    <a:pt x="0" y="60960"/>
                  </a:lnTo>
                  <a:close/>
                </a:path>
              </a:pathLst>
            </a:custGeom>
            <a:ln w="9143">
              <a:solidFill>
                <a:srgbClr val="000000"/>
              </a:solidFill>
            </a:ln>
          </p:spPr>
          <p:txBody>
            <a:bodyPr wrap="square" lIns="0" tIns="0" rIns="0" bIns="0" rtlCol="0"/>
            <a:lstStyle/>
            <a:p>
              <a:endParaRPr sz="1100">
                <a:latin typeface="Bookman Old Style" panose="02050604050505020204" pitchFamily="18" charset="0"/>
              </a:endParaRPr>
            </a:p>
          </p:txBody>
        </p:sp>
      </p:grpSp>
      <p:grpSp>
        <p:nvGrpSpPr>
          <p:cNvPr id="40" name="object 30">
            <a:extLst>
              <a:ext uri="{FF2B5EF4-FFF2-40B4-BE49-F238E27FC236}">
                <a16:creationId xmlns:a16="http://schemas.microsoft.com/office/drawing/2014/main" id="{05FACD09-7F73-375D-E537-7DAF6A5C254B}"/>
              </a:ext>
            </a:extLst>
          </p:cNvPr>
          <p:cNvGrpSpPr/>
          <p:nvPr/>
        </p:nvGrpSpPr>
        <p:grpSpPr>
          <a:xfrm>
            <a:off x="3241548" y="2036064"/>
            <a:ext cx="2350135" cy="518159"/>
            <a:chOff x="3241548" y="2036064"/>
            <a:chExt cx="2350135" cy="518159"/>
          </a:xfrm>
        </p:grpSpPr>
        <p:sp>
          <p:nvSpPr>
            <p:cNvPr id="41" name="object 31">
              <a:extLst>
                <a:ext uri="{FF2B5EF4-FFF2-40B4-BE49-F238E27FC236}">
                  <a16:creationId xmlns:a16="http://schemas.microsoft.com/office/drawing/2014/main" id="{4310A8D7-7E6A-A5D9-C77A-A0872C3FF6BF}"/>
                </a:ext>
              </a:extLst>
            </p:cNvPr>
            <p:cNvSpPr/>
            <p:nvPr/>
          </p:nvSpPr>
          <p:spPr>
            <a:xfrm>
              <a:off x="3256026" y="2050542"/>
              <a:ext cx="2321560" cy="489584"/>
            </a:xfrm>
            <a:custGeom>
              <a:avLst/>
              <a:gdLst/>
              <a:ahLst/>
              <a:cxnLst/>
              <a:rect l="l" t="t" r="r" b="b"/>
              <a:pathLst>
                <a:path w="2321560" h="489585">
                  <a:moveTo>
                    <a:pt x="1947672" y="0"/>
                  </a:moveTo>
                  <a:lnTo>
                    <a:pt x="373379" y="0"/>
                  </a:lnTo>
                  <a:lnTo>
                    <a:pt x="318196" y="2651"/>
                  </a:lnTo>
                  <a:lnTo>
                    <a:pt x="265529" y="10353"/>
                  </a:lnTo>
                  <a:lnTo>
                    <a:pt x="215956" y="22727"/>
                  </a:lnTo>
                  <a:lnTo>
                    <a:pt x="170054" y="39397"/>
                  </a:lnTo>
                  <a:lnTo>
                    <a:pt x="128400" y="59983"/>
                  </a:lnTo>
                  <a:lnTo>
                    <a:pt x="91571" y="84109"/>
                  </a:lnTo>
                  <a:lnTo>
                    <a:pt x="60144" y="111396"/>
                  </a:lnTo>
                  <a:lnTo>
                    <a:pt x="34697" y="141467"/>
                  </a:lnTo>
                  <a:lnTo>
                    <a:pt x="4047" y="208447"/>
                  </a:lnTo>
                  <a:lnTo>
                    <a:pt x="0" y="244601"/>
                  </a:lnTo>
                  <a:lnTo>
                    <a:pt x="4047" y="280756"/>
                  </a:lnTo>
                  <a:lnTo>
                    <a:pt x="34697" y="347736"/>
                  </a:lnTo>
                  <a:lnTo>
                    <a:pt x="60144" y="377807"/>
                  </a:lnTo>
                  <a:lnTo>
                    <a:pt x="91571" y="405094"/>
                  </a:lnTo>
                  <a:lnTo>
                    <a:pt x="128400" y="429220"/>
                  </a:lnTo>
                  <a:lnTo>
                    <a:pt x="170054" y="449806"/>
                  </a:lnTo>
                  <a:lnTo>
                    <a:pt x="215956" y="466476"/>
                  </a:lnTo>
                  <a:lnTo>
                    <a:pt x="265529" y="478850"/>
                  </a:lnTo>
                  <a:lnTo>
                    <a:pt x="318196" y="486552"/>
                  </a:lnTo>
                  <a:lnTo>
                    <a:pt x="373379" y="489203"/>
                  </a:lnTo>
                  <a:lnTo>
                    <a:pt x="1947672" y="489203"/>
                  </a:lnTo>
                  <a:lnTo>
                    <a:pt x="2002855" y="486552"/>
                  </a:lnTo>
                  <a:lnTo>
                    <a:pt x="2055522" y="478850"/>
                  </a:lnTo>
                  <a:lnTo>
                    <a:pt x="2105095" y="466476"/>
                  </a:lnTo>
                  <a:lnTo>
                    <a:pt x="2150997" y="449806"/>
                  </a:lnTo>
                  <a:lnTo>
                    <a:pt x="2192651" y="429220"/>
                  </a:lnTo>
                  <a:lnTo>
                    <a:pt x="2229480" y="405094"/>
                  </a:lnTo>
                  <a:lnTo>
                    <a:pt x="2260907" y="377807"/>
                  </a:lnTo>
                  <a:lnTo>
                    <a:pt x="2286354" y="347736"/>
                  </a:lnTo>
                  <a:lnTo>
                    <a:pt x="2317004" y="280756"/>
                  </a:lnTo>
                  <a:lnTo>
                    <a:pt x="2321052" y="244601"/>
                  </a:lnTo>
                  <a:lnTo>
                    <a:pt x="2317004" y="208447"/>
                  </a:lnTo>
                  <a:lnTo>
                    <a:pt x="2286354" y="141467"/>
                  </a:lnTo>
                  <a:lnTo>
                    <a:pt x="2260907" y="111396"/>
                  </a:lnTo>
                  <a:lnTo>
                    <a:pt x="2229480" y="84109"/>
                  </a:lnTo>
                  <a:lnTo>
                    <a:pt x="2192651" y="59983"/>
                  </a:lnTo>
                  <a:lnTo>
                    <a:pt x="2150997" y="39397"/>
                  </a:lnTo>
                  <a:lnTo>
                    <a:pt x="2105095" y="22727"/>
                  </a:lnTo>
                  <a:lnTo>
                    <a:pt x="2055522" y="10353"/>
                  </a:lnTo>
                  <a:lnTo>
                    <a:pt x="2002855" y="2651"/>
                  </a:lnTo>
                  <a:lnTo>
                    <a:pt x="1947672" y="0"/>
                  </a:lnTo>
                  <a:close/>
                </a:path>
              </a:pathLst>
            </a:custGeom>
            <a:solidFill>
              <a:srgbClr val="DFCDE3"/>
            </a:solidFill>
          </p:spPr>
          <p:txBody>
            <a:bodyPr wrap="square" lIns="0" tIns="0" rIns="0" bIns="0" rtlCol="0"/>
            <a:lstStyle/>
            <a:p>
              <a:endParaRPr sz="1100">
                <a:latin typeface="Bookman Old Style" panose="02050604050505020204" pitchFamily="18" charset="0"/>
              </a:endParaRPr>
            </a:p>
          </p:txBody>
        </p:sp>
        <p:sp>
          <p:nvSpPr>
            <p:cNvPr id="42" name="object 32">
              <a:extLst>
                <a:ext uri="{FF2B5EF4-FFF2-40B4-BE49-F238E27FC236}">
                  <a16:creationId xmlns:a16="http://schemas.microsoft.com/office/drawing/2014/main" id="{1D9CDDEB-55B2-CE94-260F-43C8A916DCDE}"/>
                </a:ext>
              </a:extLst>
            </p:cNvPr>
            <p:cNvSpPr/>
            <p:nvPr/>
          </p:nvSpPr>
          <p:spPr>
            <a:xfrm>
              <a:off x="3256026" y="2050542"/>
              <a:ext cx="2321560" cy="489584"/>
            </a:xfrm>
            <a:custGeom>
              <a:avLst/>
              <a:gdLst/>
              <a:ahLst/>
              <a:cxnLst/>
              <a:rect l="l" t="t" r="r" b="b"/>
              <a:pathLst>
                <a:path w="2321560" h="489585">
                  <a:moveTo>
                    <a:pt x="373379" y="0"/>
                  </a:moveTo>
                  <a:lnTo>
                    <a:pt x="1947672" y="0"/>
                  </a:lnTo>
                  <a:lnTo>
                    <a:pt x="2002855" y="2651"/>
                  </a:lnTo>
                  <a:lnTo>
                    <a:pt x="2055522" y="10353"/>
                  </a:lnTo>
                  <a:lnTo>
                    <a:pt x="2105095" y="22727"/>
                  </a:lnTo>
                  <a:lnTo>
                    <a:pt x="2150997" y="39397"/>
                  </a:lnTo>
                  <a:lnTo>
                    <a:pt x="2192651" y="59983"/>
                  </a:lnTo>
                  <a:lnTo>
                    <a:pt x="2229480" y="84109"/>
                  </a:lnTo>
                  <a:lnTo>
                    <a:pt x="2260907" y="111396"/>
                  </a:lnTo>
                  <a:lnTo>
                    <a:pt x="2286354" y="141467"/>
                  </a:lnTo>
                  <a:lnTo>
                    <a:pt x="2317004" y="208447"/>
                  </a:lnTo>
                  <a:lnTo>
                    <a:pt x="2321052" y="244601"/>
                  </a:lnTo>
                  <a:lnTo>
                    <a:pt x="2317004" y="280756"/>
                  </a:lnTo>
                  <a:lnTo>
                    <a:pt x="2286354" y="347736"/>
                  </a:lnTo>
                  <a:lnTo>
                    <a:pt x="2260907" y="377807"/>
                  </a:lnTo>
                  <a:lnTo>
                    <a:pt x="2229480" y="405094"/>
                  </a:lnTo>
                  <a:lnTo>
                    <a:pt x="2192651" y="429220"/>
                  </a:lnTo>
                  <a:lnTo>
                    <a:pt x="2150997" y="449806"/>
                  </a:lnTo>
                  <a:lnTo>
                    <a:pt x="2105095" y="466476"/>
                  </a:lnTo>
                  <a:lnTo>
                    <a:pt x="2055522" y="478850"/>
                  </a:lnTo>
                  <a:lnTo>
                    <a:pt x="2002855" y="486552"/>
                  </a:lnTo>
                  <a:lnTo>
                    <a:pt x="1947672" y="489203"/>
                  </a:lnTo>
                  <a:lnTo>
                    <a:pt x="373379" y="489203"/>
                  </a:lnTo>
                  <a:lnTo>
                    <a:pt x="318196" y="486552"/>
                  </a:lnTo>
                  <a:lnTo>
                    <a:pt x="265529" y="478850"/>
                  </a:lnTo>
                  <a:lnTo>
                    <a:pt x="215956" y="466476"/>
                  </a:lnTo>
                  <a:lnTo>
                    <a:pt x="170054" y="449806"/>
                  </a:lnTo>
                  <a:lnTo>
                    <a:pt x="128400" y="429220"/>
                  </a:lnTo>
                  <a:lnTo>
                    <a:pt x="91571" y="405094"/>
                  </a:lnTo>
                  <a:lnTo>
                    <a:pt x="60144" y="377807"/>
                  </a:lnTo>
                  <a:lnTo>
                    <a:pt x="34697" y="347736"/>
                  </a:lnTo>
                  <a:lnTo>
                    <a:pt x="4047" y="280756"/>
                  </a:lnTo>
                  <a:lnTo>
                    <a:pt x="0" y="244601"/>
                  </a:lnTo>
                  <a:lnTo>
                    <a:pt x="4047" y="208447"/>
                  </a:lnTo>
                  <a:lnTo>
                    <a:pt x="34697" y="141467"/>
                  </a:lnTo>
                  <a:lnTo>
                    <a:pt x="60144" y="111396"/>
                  </a:lnTo>
                  <a:lnTo>
                    <a:pt x="91571" y="84109"/>
                  </a:lnTo>
                  <a:lnTo>
                    <a:pt x="128400" y="59983"/>
                  </a:lnTo>
                  <a:lnTo>
                    <a:pt x="170054" y="39397"/>
                  </a:lnTo>
                  <a:lnTo>
                    <a:pt x="215956" y="22727"/>
                  </a:lnTo>
                  <a:lnTo>
                    <a:pt x="265529" y="10353"/>
                  </a:lnTo>
                  <a:lnTo>
                    <a:pt x="318196" y="2651"/>
                  </a:lnTo>
                  <a:lnTo>
                    <a:pt x="373379" y="0"/>
                  </a:lnTo>
                  <a:close/>
                </a:path>
              </a:pathLst>
            </a:custGeom>
            <a:ln w="28956">
              <a:solidFill>
                <a:srgbClr val="000000"/>
              </a:solidFill>
            </a:ln>
          </p:spPr>
          <p:txBody>
            <a:bodyPr wrap="square" lIns="0" tIns="0" rIns="0" bIns="0" rtlCol="0"/>
            <a:lstStyle/>
            <a:p>
              <a:endParaRPr sz="1100">
                <a:latin typeface="Bookman Old Style" panose="02050604050505020204" pitchFamily="18" charset="0"/>
              </a:endParaRPr>
            </a:p>
          </p:txBody>
        </p:sp>
      </p:grpSp>
      <p:sp>
        <p:nvSpPr>
          <p:cNvPr id="43" name="object 33">
            <a:extLst>
              <a:ext uri="{FF2B5EF4-FFF2-40B4-BE49-F238E27FC236}">
                <a16:creationId xmlns:a16="http://schemas.microsoft.com/office/drawing/2014/main" id="{2F28E4E5-DD37-0053-FDE2-36DDCF682327}"/>
              </a:ext>
            </a:extLst>
          </p:cNvPr>
          <p:cNvSpPr txBox="1"/>
          <p:nvPr/>
        </p:nvSpPr>
        <p:spPr>
          <a:xfrm>
            <a:off x="3256026" y="2144583"/>
            <a:ext cx="2055497" cy="351378"/>
          </a:xfrm>
          <a:prstGeom prst="rect">
            <a:avLst/>
          </a:prstGeom>
        </p:spPr>
        <p:txBody>
          <a:bodyPr vert="horz" wrap="square" lIns="0" tIns="12700" rIns="0" bIns="0" rtlCol="0">
            <a:spAutoFit/>
          </a:bodyPr>
          <a:lstStyle/>
          <a:p>
            <a:pPr marL="317500" marR="5080" indent="-305435" algn="ctr">
              <a:lnSpc>
                <a:spcPct val="100000"/>
              </a:lnSpc>
              <a:spcBef>
                <a:spcPts val="100"/>
              </a:spcBef>
            </a:pPr>
            <a:r>
              <a:rPr sz="1100" b="1" dirty="0">
                <a:latin typeface="Bookman Old Style" panose="02050604050505020204" pitchFamily="18" charset="0"/>
                <a:cs typeface="Times New Roman"/>
              </a:rPr>
              <a:t>Déterminer</a:t>
            </a:r>
            <a:r>
              <a:rPr sz="1100" b="1" spc="-20" dirty="0">
                <a:latin typeface="Bookman Old Style" panose="02050604050505020204" pitchFamily="18" charset="0"/>
                <a:cs typeface="Times New Roman"/>
              </a:rPr>
              <a:t> </a:t>
            </a:r>
            <a:r>
              <a:rPr sz="1100" b="1" dirty="0">
                <a:latin typeface="Bookman Old Style" panose="02050604050505020204" pitchFamily="18" charset="0"/>
                <a:cs typeface="Times New Roman"/>
              </a:rPr>
              <a:t>le</a:t>
            </a:r>
            <a:r>
              <a:rPr sz="1100" b="1" spc="-35" dirty="0">
                <a:latin typeface="Bookman Old Style" panose="02050604050505020204" pitchFamily="18" charset="0"/>
                <a:cs typeface="Times New Roman"/>
              </a:rPr>
              <a:t> </a:t>
            </a:r>
            <a:r>
              <a:rPr sz="1100" b="1" spc="-10" dirty="0">
                <a:latin typeface="Bookman Old Style" panose="02050604050505020204" pitchFamily="18" charset="0"/>
                <a:cs typeface="Times New Roman"/>
              </a:rPr>
              <a:t>courant </a:t>
            </a:r>
            <a:r>
              <a:rPr sz="1100" b="1" dirty="0">
                <a:latin typeface="Bookman Old Style" panose="02050604050505020204" pitchFamily="18" charset="0"/>
                <a:cs typeface="Times New Roman"/>
              </a:rPr>
              <a:t>de</a:t>
            </a:r>
            <a:r>
              <a:rPr sz="1100" b="1" spc="-15" dirty="0">
                <a:latin typeface="Bookman Old Style" panose="02050604050505020204" pitchFamily="18" charset="0"/>
                <a:cs typeface="Times New Roman"/>
              </a:rPr>
              <a:t> </a:t>
            </a:r>
            <a:r>
              <a:rPr sz="1100" b="1" spc="-10" dirty="0">
                <a:latin typeface="Bookman Old Style" panose="02050604050505020204" pitchFamily="18" charset="0"/>
                <a:cs typeface="Times New Roman"/>
              </a:rPr>
              <a:t>Norton</a:t>
            </a:r>
            <a:endParaRPr sz="1100" dirty="0">
              <a:latin typeface="Bookman Old Style" panose="02050604050505020204" pitchFamily="18" charset="0"/>
              <a:cs typeface="Times New Roman"/>
            </a:endParaRPr>
          </a:p>
        </p:txBody>
      </p:sp>
      <p:sp>
        <p:nvSpPr>
          <p:cNvPr id="44" name="object 34">
            <a:extLst>
              <a:ext uri="{FF2B5EF4-FFF2-40B4-BE49-F238E27FC236}">
                <a16:creationId xmlns:a16="http://schemas.microsoft.com/office/drawing/2014/main" id="{6FE12B2B-7A88-A5F3-7869-EB97FB47EC88}"/>
              </a:ext>
            </a:extLst>
          </p:cNvPr>
          <p:cNvSpPr txBox="1"/>
          <p:nvPr/>
        </p:nvSpPr>
        <p:spPr>
          <a:xfrm>
            <a:off x="486562" y="2666745"/>
            <a:ext cx="1875638" cy="182101"/>
          </a:xfrm>
          <a:prstGeom prst="rect">
            <a:avLst/>
          </a:prstGeom>
        </p:spPr>
        <p:txBody>
          <a:bodyPr vert="horz" wrap="square" lIns="0" tIns="12700" rIns="0" bIns="0" rtlCol="0">
            <a:spAutoFit/>
          </a:bodyPr>
          <a:lstStyle/>
          <a:p>
            <a:pPr marL="299085" indent="-286385">
              <a:lnSpc>
                <a:spcPct val="100000"/>
              </a:lnSpc>
              <a:spcBef>
                <a:spcPts val="100"/>
              </a:spcBef>
              <a:buFont typeface="Arial MT"/>
              <a:buChar char="•"/>
              <a:tabLst>
                <a:tab pos="299085" algn="l"/>
              </a:tabLst>
            </a:pPr>
            <a:r>
              <a:rPr sz="1100" b="1" dirty="0">
                <a:solidFill>
                  <a:srgbClr val="FF0000"/>
                </a:solidFill>
                <a:latin typeface="Bookman Old Style" panose="02050604050505020204" pitchFamily="18" charset="0"/>
                <a:cs typeface="Times New Roman"/>
              </a:rPr>
              <a:t>Débrancher</a:t>
            </a:r>
            <a:r>
              <a:rPr sz="1100" b="1" spc="-4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la</a:t>
            </a:r>
            <a:r>
              <a:rPr sz="1100" b="1" spc="-35" dirty="0">
                <a:solidFill>
                  <a:srgbClr val="FF0000"/>
                </a:solidFill>
                <a:latin typeface="Bookman Old Style" panose="02050604050505020204" pitchFamily="18" charset="0"/>
                <a:cs typeface="Times New Roman"/>
              </a:rPr>
              <a:t> </a:t>
            </a:r>
            <a:r>
              <a:rPr sz="1100" b="1" spc="-10" dirty="0">
                <a:solidFill>
                  <a:srgbClr val="FF0000"/>
                </a:solidFill>
                <a:latin typeface="Bookman Old Style" panose="02050604050505020204" pitchFamily="18" charset="0"/>
                <a:cs typeface="Times New Roman"/>
              </a:rPr>
              <a:t>charge</a:t>
            </a:r>
            <a:endParaRPr sz="1100" dirty="0">
              <a:latin typeface="Bookman Old Style" panose="02050604050505020204" pitchFamily="18" charset="0"/>
              <a:cs typeface="Times New Roman"/>
            </a:endParaRPr>
          </a:p>
        </p:txBody>
      </p:sp>
      <p:sp>
        <p:nvSpPr>
          <p:cNvPr id="52" name="object 35">
            <a:extLst>
              <a:ext uri="{FF2B5EF4-FFF2-40B4-BE49-F238E27FC236}">
                <a16:creationId xmlns:a16="http://schemas.microsoft.com/office/drawing/2014/main" id="{4729E603-B645-2269-3726-9D63BB5C610E}"/>
              </a:ext>
            </a:extLst>
          </p:cNvPr>
          <p:cNvSpPr txBox="1"/>
          <p:nvPr/>
        </p:nvSpPr>
        <p:spPr>
          <a:xfrm>
            <a:off x="486562" y="3032505"/>
            <a:ext cx="2485238" cy="182101"/>
          </a:xfrm>
          <a:prstGeom prst="rect">
            <a:avLst/>
          </a:prstGeom>
        </p:spPr>
        <p:txBody>
          <a:bodyPr vert="horz" wrap="square" lIns="0" tIns="12700" rIns="0" bIns="0" rtlCol="0">
            <a:spAutoFit/>
          </a:bodyPr>
          <a:lstStyle/>
          <a:p>
            <a:pPr marL="299085" indent="-286385">
              <a:lnSpc>
                <a:spcPct val="100000"/>
              </a:lnSpc>
              <a:spcBef>
                <a:spcPts val="100"/>
              </a:spcBef>
              <a:buFont typeface="Arial MT"/>
              <a:buChar char="•"/>
              <a:tabLst>
                <a:tab pos="299085" algn="l"/>
              </a:tabLst>
            </a:pPr>
            <a:r>
              <a:rPr sz="1100" b="1" dirty="0">
                <a:solidFill>
                  <a:srgbClr val="FF0000"/>
                </a:solidFill>
                <a:latin typeface="Bookman Old Style" panose="02050604050505020204" pitchFamily="18" charset="0"/>
                <a:cs typeface="Times New Roman"/>
              </a:rPr>
              <a:t>Éteindre</a:t>
            </a:r>
            <a:r>
              <a:rPr sz="1100" b="1" spc="-4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les</a:t>
            </a:r>
            <a:r>
              <a:rPr sz="1100" b="1" spc="-2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sources</a:t>
            </a:r>
            <a:r>
              <a:rPr sz="1100" b="1" spc="-40" dirty="0">
                <a:solidFill>
                  <a:srgbClr val="FF0000"/>
                </a:solidFill>
                <a:latin typeface="Bookman Old Style" panose="02050604050505020204" pitchFamily="18" charset="0"/>
                <a:cs typeface="Times New Roman"/>
              </a:rPr>
              <a:t> </a:t>
            </a:r>
            <a:r>
              <a:rPr sz="1100" b="1" spc="-10" dirty="0">
                <a:solidFill>
                  <a:srgbClr val="FF0000"/>
                </a:solidFill>
                <a:latin typeface="Bookman Old Style" panose="02050604050505020204" pitchFamily="18" charset="0"/>
                <a:cs typeface="Times New Roman"/>
              </a:rPr>
              <a:t>d'énergie</a:t>
            </a:r>
            <a:endParaRPr sz="1100" dirty="0">
              <a:latin typeface="Bookman Old Style" panose="02050604050505020204" pitchFamily="18" charset="0"/>
              <a:cs typeface="Times New Roman"/>
            </a:endParaRPr>
          </a:p>
        </p:txBody>
      </p:sp>
      <p:sp>
        <p:nvSpPr>
          <p:cNvPr id="56" name="object 36">
            <a:extLst>
              <a:ext uri="{FF2B5EF4-FFF2-40B4-BE49-F238E27FC236}">
                <a16:creationId xmlns:a16="http://schemas.microsoft.com/office/drawing/2014/main" id="{F5452A16-898B-AABF-3035-5FDCD600CAEF}"/>
              </a:ext>
            </a:extLst>
          </p:cNvPr>
          <p:cNvSpPr txBox="1"/>
          <p:nvPr/>
        </p:nvSpPr>
        <p:spPr>
          <a:xfrm>
            <a:off x="704610" y="3476038"/>
            <a:ext cx="2952990" cy="182101"/>
          </a:xfrm>
          <a:prstGeom prst="rect">
            <a:avLst/>
          </a:prstGeom>
        </p:spPr>
        <p:txBody>
          <a:bodyPr vert="horz" wrap="square" lIns="0" tIns="12700" rIns="0" bIns="0" rtlCol="0">
            <a:spAutoFit/>
          </a:bodyPr>
          <a:lstStyle/>
          <a:p>
            <a:pPr marL="137160" indent="-124460">
              <a:lnSpc>
                <a:spcPct val="100000"/>
              </a:lnSpc>
              <a:spcBef>
                <a:spcPts val="100"/>
              </a:spcBef>
              <a:buChar char="&gt;"/>
              <a:tabLst>
                <a:tab pos="137160" algn="l"/>
              </a:tabLst>
            </a:pPr>
            <a:r>
              <a:rPr sz="1100" b="1" dirty="0">
                <a:solidFill>
                  <a:srgbClr val="2C3D50"/>
                </a:solidFill>
                <a:latin typeface="Bookman Old Style" panose="02050604050505020204" pitchFamily="18" charset="0"/>
                <a:cs typeface="Times New Roman"/>
              </a:rPr>
              <a:t>Source</a:t>
            </a:r>
            <a:r>
              <a:rPr sz="1100" b="1" spc="-5" dirty="0">
                <a:solidFill>
                  <a:srgbClr val="2C3D50"/>
                </a:solidFill>
                <a:latin typeface="Bookman Old Style" panose="02050604050505020204" pitchFamily="18" charset="0"/>
                <a:cs typeface="Times New Roman"/>
              </a:rPr>
              <a:t> </a:t>
            </a:r>
            <a:r>
              <a:rPr sz="1100" b="1" dirty="0">
                <a:solidFill>
                  <a:srgbClr val="2C3D50"/>
                </a:solidFill>
                <a:latin typeface="Bookman Old Style" panose="02050604050505020204" pitchFamily="18" charset="0"/>
                <a:cs typeface="Times New Roman"/>
              </a:rPr>
              <a:t>de</a:t>
            </a:r>
            <a:r>
              <a:rPr sz="1100" b="1" spc="-20" dirty="0">
                <a:solidFill>
                  <a:srgbClr val="2C3D50"/>
                </a:solidFill>
                <a:latin typeface="Bookman Old Style" panose="02050604050505020204" pitchFamily="18" charset="0"/>
                <a:cs typeface="Times New Roman"/>
              </a:rPr>
              <a:t> </a:t>
            </a:r>
            <a:r>
              <a:rPr sz="1100" b="1" dirty="0">
                <a:solidFill>
                  <a:srgbClr val="2C3D50"/>
                </a:solidFill>
                <a:latin typeface="Bookman Old Style" panose="02050604050505020204" pitchFamily="18" charset="0"/>
                <a:cs typeface="Times New Roman"/>
              </a:rPr>
              <a:t>tension</a:t>
            </a:r>
            <a:r>
              <a:rPr sz="1100" b="1" spc="-5" dirty="0">
                <a:solidFill>
                  <a:srgbClr val="2C3D50"/>
                </a:solidFill>
                <a:latin typeface="Bookman Old Style" panose="02050604050505020204" pitchFamily="18" charset="0"/>
                <a:cs typeface="Times New Roman"/>
              </a:rPr>
              <a:t> </a:t>
            </a:r>
            <a:r>
              <a:rPr sz="1100" b="1" dirty="0">
                <a:solidFill>
                  <a:srgbClr val="C00000"/>
                </a:solidFill>
                <a:latin typeface="Bookman Old Style" panose="02050604050505020204" pitchFamily="18" charset="0"/>
                <a:cs typeface="Times New Roman"/>
              </a:rPr>
              <a:t>Equi</a:t>
            </a:r>
            <a:r>
              <a:rPr sz="1100" b="1" spc="-35" dirty="0">
                <a:solidFill>
                  <a:srgbClr val="FF00FF"/>
                </a:solidFill>
                <a:latin typeface="Bookman Old Style" panose="02050604050505020204" pitchFamily="18" charset="0"/>
                <a:cs typeface="Times New Roman"/>
              </a:rPr>
              <a:t> </a:t>
            </a:r>
            <a:r>
              <a:rPr sz="1100" b="1" spc="-10" dirty="0">
                <a:solidFill>
                  <a:srgbClr val="2C3D50"/>
                </a:solidFill>
                <a:latin typeface="Bookman Old Style" panose="02050604050505020204" pitchFamily="18" charset="0"/>
                <a:cs typeface="Times New Roman"/>
              </a:rPr>
              <a:t>court-circuit</a:t>
            </a:r>
            <a:endParaRPr sz="1100" dirty="0">
              <a:latin typeface="Bookman Old Style" panose="02050604050505020204" pitchFamily="18" charset="0"/>
              <a:cs typeface="Times New Roman"/>
            </a:endParaRPr>
          </a:p>
        </p:txBody>
      </p:sp>
      <p:sp>
        <p:nvSpPr>
          <p:cNvPr id="57" name="object 37">
            <a:extLst>
              <a:ext uri="{FF2B5EF4-FFF2-40B4-BE49-F238E27FC236}">
                <a16:creationId xmlns:a16="http://schemas.microsoft.com/office/drawing/2014/main" id="{3EF213A5-B371-BCF1-A11A-44DABA93AC96}"/>
              </a:ext>
            </a:extLst>
          </p:cNvPr>
          <p:cNvSpPr txBox="1"/>
          <p:nvPr/>
        </p:nvSpPr>
        <p:spPr>
          <a:xfrm>
            <a:off x="695084" y="4077543"/>
            <a:ext cx="3648315" cy="182101"/>
          </a:xfrm>
          <a:prstGeom prst="rect">
            <a:avLst/>
          </a:prstGeom>
        </p:spPr>
        <p:txBody>
          <a:bodyPr vert="horz" wrap="square" lIns="0" tIns="12700" rIns="0" bIns="0" rtlCol="0">
            <a:spAutoFit/>
          </a:bodyPr>
          <a:lstStyle/>
          <a:p>
            <a:pPr marL="135890" indent="-123189">
              <a:lnSpc>
                <a:spcPct val="100000"/>
              </a:lnSpc>
              <a:spcBef>
                <a:spcPts val="100"/>
              </a:spcBef>
              <a:buFont typeface="Times New Roman"/>
              <a:buChar char="&gt;"/>
              <a:tabLst>
                <a:tab pos="135890" algn="l"/>
              </a:tabLst>
            </a:pPr>
            <a:r>
              <a:rPr sz="1100" b="1" dirty="0">
                <a:solidFill>
                  <a:srgbClr val="2C3D50"/>
                </a:solidFill>
                <a:latin typeface="Bookman Old Style" panose="02050604050505020204" pitchFamily="18" charset="0"/>
                <a:cs typeface="Times New Roman"/>
              </a:rPr>
              <a:t>Source</a:t>
            </a:r>
            <a:r>
              <a:rPr sz="1100" b="1" spc="-5" dirty="0">
                <a:solidFill>
                  <a:srgbClr val="2C3D50"/>
                </a:solidFill>
                <a:latin typeface="Bookman Old Style" panose="02050604050505020204" pitchFamily="18" charset="0"/>
                <a:cs typeface="Times New Roman"/>
              </a:rPr>
              <a:t> </a:t>
            </a:r>
            <a:r>
              <a:rPr sz="1100" b="1" dirty="0">
                <a:solidFill>
                  <a:srgbClr val="2C3D50"/>
                </a:solidFill>
                <a:latin typeface="Bookman Old Style" panose="02050604050505020204" pitchFamily="18" charset="0"/>
                <a:cs typeface="Times New Roman"/>
              </a:rPr>
              <a:t>de</a:t>
            </a:r>
            <a:r>
              <a:rPr sz="1100" b="1" spc="-20" dirty="0">
                <a:solidFill>
                  <a:srgbClr val="2C3D50"/>
                </a:solidFill>
                <a:latin typeface="Bookman Old Style" panose="02050604050505020204" pitchFamily="18" charset="0"/>
                <a:cs typeface="Times New Roman"/>
              </a:rPr>
              <a:t> </a:t>
            </a:r>
            <a:r>
              <a:rPr sz="1100" b="1" dirty="0">
                <a:solidFill>
                  <a:srgbClr val="2C3D50"/>
                </a:solidFill>
                <a:latin typeface="Bookman Old Style" panose="02050604050505020204" pitchFamily="18" charset="0"/>
                <a:cs typeface="Times New Roman"/>
              </a:rPr>
              <a:t>courant</a:t>
            </a:r>
            <a:r>
              <a:rPr sz="1100" b="1" spc="-5" dirty="0">
                <a:solidFill>
                  <a:srgbClr val="2C3D50"/>
                </a:solidFill>
                <a:latin typeface="Bookman Old Style" panose="02050604050505020204" pitchFamily="18" charset="0"/>
                <a:cs typeface="Times New Roman"/>
              </a:rPr>
              <a:t> </a:t>
            </a:r>
            <a:r>
              <a:rPr sz="1100" b="1" dirty="0">
                <a:solidFill>
                  <a:srgbClr val="C00000"/>
                </a:solidFill>
                <a:latin typeface="Bookman Old Style" panose="02050604050505020204" pitchFamily="18" charset="0"/>
                <a:cs typeface="Times New Roman"/>
              </a:rPr>
              <a:t>Equi</a:t>
            </a:r>
            <a:r>
              <a:rPr sz="1100" b="1" spc="-30" dirty="0">
                <a:solidFill>
                  <a:srgbClr val="FF00FF"/>
                </a:solidFill>
                <a:latin typeface="Bookman Old Style" panose="02050604050505020204" pitchFamily="18" charset="0"/>
                <a:cs typeface="Times New Roman"/>
              </a:rPr>
              <a:t> </a:t>
            </a:r>
            <a:r>
              <a:rPr sz="1100" b="1" spc="-10" dirty="0">
                <a:solidFill>
                  <a:srgbClr val="2C3D50"/>
                </a:solidFill>
                <a:latin typeface="Bookman Old Style" panose="02050604050505020204" pitchFamily="18" charset="0"/>
                <a:cs typeface="Times New Roman"/>
              </a:rPr>
              <a:t>coup-circuit</a:t>
            </a:r>
            <a:endParaRPr sz="1100" dirty="0">
              <a:latin typeface="Bookman Old Style" panose="02050604050505020204" pitchFamily="18" charset="0"/>
              <a:cs typeface="Times New Roman"/>
            </a:endParaRPr>
          </a:p>
        </p:txBody>
      </p:sp>
      <p:sp>
        <p:nvSpPr>
          <p:cNvPr id="58" name="object 38">
            <a:extLst>
              <a:ext uri="{FF2B5EF4-FFF2-40B4-BE49-F238E27FC236}">
                <a16:creationId xmlns:a16="http://schemas.microsoft.com/office/drawing/2014/main" id="{D28E7DE8-5B74-1491-2FFF-0558F1447E2C}"/>
              </a:ext>
            </a:extLst>
          </p:cNvPr>
          <p:cNvSpPr txBox="1"/>
          <p:nvPr/>
        </p:nvSpPr>
        <p:spPr>
          <a:xfrm>
            <a:off x="3399282" y="2681477"/>
            <a:ext cx="2089785" cy="182101"/>
          </a:xfrm>
          <a:prstGeom prst="rect">
            <a:avLst/>
          </a:prstGeom>
        </p:spPr>
        <p:txBody>
          <a:bodyPr vert="horz" wrap="square" lIns="0" tIns="12700" rIns="0" bIns="0" rtlCol="0">
            <a:spAutoFit/>
          </a:bodyPr>
          <a:lstStyle/>
          <a:p>
            <a:pPr marL="299085" indent="-286385">
              <a:lnSpc>
                <a:spcPct val="100000"/>
              </a:lnSpc>
              <a:spcBef>
                <a:spcPts val="100"/>
              </a:spcBef>
              <a:buFont typeface="Arial MT"/>
              <a:buChar char="•"/>
              <a:tabLst>
                <a:tab pos="299085" algn="l"/>
              </a:tabLst>
            </a:pPr>
            <a:r>
              <a:rPr sz="1100" b="1" dirty="0">
                <a:solidFill>
                  <a:srgbClr val="FF0000"/>
                </a:solidFill>
                <a:latin typeface="Bookman Old Style" panose="02050604050505020204" pitchFamily="18" charset="0"/>
                <a:cs typeface="Times New Roman"/>
              </a:rPr>
              <a:t>Débrancher</a:t>
            </a:r>
            <a:r>
              <a:rPr sz="1100" b="1" spc="-2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la</a:t>
            </a:r>
            <a:r>
              <a:rPr sz="1100" b="1" spc="-25" dirty="0">
                <a:solidFill>
                  <a:srgbClr val="FF0000"/>
                </a:solidFill>
                <a:latin typeface="Bookman Old Style" panose="02050604050505020204" pitchFamily="18" charset="0"/>
                <a:cs typeface="Times New Roman"/>
              </a:rPr>
              <a:t> </a:t>
            </a:r>
            <a:r>
              <a:rPr sz="1100" b="1" spc="-10" dirty="0">
                <a:solidFill>
                  <a:srgbClr val="FF0000"/>
                </a:solidFill>
                <a:latin typeface="Bookman Old Style" panose="02050604050505020204" pitchFamily="18" charset="0"/>
                <a:cs typeface="Times New Roman"/>
              </a:rPr>
              <a:t>charge</a:t>
            </a:r>
            <a:endParaRPr sz="1100" dirty="0">
              <a:latin typeface="Bookman Old Style" panose="02050604050505020204" pitchFamily="18" charset="0"/>
              <a:cs typeface="Times New Roman"/>
            </a:endParaRPr>
          </a:p>
        </p:txBody>
      </p:sp>
      <p:sp>
        <p:nvSpPr>
          <p:cNvPr id="60" name="object 39">
            <a:extLst>
              <a:ext uri="{FF2B5EF4-FFF2-40B4-BE49-F238E27FC236}">
                <a16:creationId xmlns:a16="http://schemas.microsoft.com/office/drawing/2014/main" id="{D46D2E8E-45C1-687E-8318-0AA7235C60CC}"/>
              </a:ext>
            </a:extLst>
          </p:cNvPr>
          <p:cNvSpPr txBox="1"/>
          <p:nvPr/>
        </p:nvSpPr>
        <p:spPr>
          <a:xfrm>
            <a:off x="3399282" y="3047238"/>
            <a:ext cx="2485238" cy="182101"/>
          </a:xfrm>
          <a:prstGeom prst="rect">
            <a:avLst/>
          </a:prstGeom>
        </p:spPr>
        <p:txBody>
          <a:bodyPr vert="horz" wrap="square" lIns="0" tIns="12700" rIns="0" bIns="0" rtlCol="0">
            <a:spAutoFit/>
          </a:bodyPr>
          <a:lstStyle/>
          <a:p>
            <a:pPr marL="299085" indent="-286385">
              <a:lnSpc>
                <a:spcPct val="100000"/>
              </a:lnSpc>
              <a:spcBef>
                <a:spcPts val="100"/>
              </a:spcBef>
              <a:buFont typeface="Arial MT"/>
              <a:buChar char="•"/>
              <a:tabLst>
                <a:tab pos="299085" algn="l"/>
              </a:tabLst>
            </a:pPr>
            <a:r>
              <a:rPr sz="1100" b="1" spc="-10" dirty="0">
                <a:solidFill>
                  <a:srgbClr val="FF0000"/>
                </a:solidFill>
                <a:latin typeface="Bookman Old Style" panose="02050604050505020204" pitchFamily="18" charset="0"/>
                <a:cs typeface="Times New Roman"/>
              </a:rPr>
              <a:t>Court-</a:t>
            </a:r>
            <a:r>
              <a:rPr sz="1100" b="1" dirty="0">
                <a:solidFill>
                  <a:srgbClr val="FF0000"/>
                </a:solidFill>
                <a:latin typeface="Bookman Old Style" panose="02050604050505020204" pitchFamily="18" charset="0"/>
                <a:cs typeface="Times New Roman"/>
              </a:rPr>
              <a:t>circuité</a:t>
            </a:r>
            <a:r>
              <a:rPr sz="1100" b="1" spc="20" dirty="0">
                <a:solidFill>
                  <a:srgbClr val="FF0000"/>
                </a:solidFill>
                <a:latin typeface="Bookman Old Style" panose="02050604050505020204" pitchFamily="18" charset="0"/>
                <a:cs typeface="Times New Roman"/>
              </a:rPr>
              <a:t> </a:t>
            </a:r>
            <a:r>
              <a:rPr sz="1100" b="1" spc="-10" dirty="0">
                <a:solidFill>
                  <a:srgbClr val="FF0000"/>
                </a:solidFill>
                <a:latin typeface="Bookman Old Style" panose="02050604050505020204" pitchFamily="18" charset="0"/>
                <a:cs typeface="Times New Roman"/>
              </a:rPr>
              <a:t>borne</a:t>
            </a:r>
            <a:r>
              <a:rPr sz="1100" b="1" spc="-8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A</a:t>
            </a:r>
            <a:r>
              <a:rPr sz="1100" b="1" spc="-7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et</a:t>
            </a:r>
            <a:r>
              <a:rPr sz="1100" b="1" spc="-5" dirty="0">
                <a:solidFill>
                  <a:srgbClr val="FF0000"/>
                </a:solidFill>
                <a:latin typeface="Bookman Old Style" panose="02050604050505020204" pitchFamily="18" charset="0"/>
                <a:cs typeface="Times New Roman"/>
              </a:rPr>
              <a:t> </a:t>
            </a:r>
            <a:r>
              <a:rPr sz="1100" b="1" spc="-50" dirty="0">
                <a:solidFill>
                  <a:srgbClr val="FF0000"/>
                </a:solidFill>
                <a:latin typeface="Bookman Old Style" panose="02050604050505020204" pitchFamily="18" charset="0"/>
                <a:cs typeface="Times New Roman"/>
              </a:rPr>
              <a:t>B</a:t>
            </a:r>
            <a:endParaRPr sz="1100" dirty="0">
              <a:latin typeface="Bookman Old Style" panose="02050604050505020204" pitchFamily="18" charset="0"/>
              <a:cs typeface="Times New Roman"/>
            </a:endParaRPr>
          </a:p>
        </p:txBody>
      </p:sp>
      <p:sp>
        <p:nvSpPr>
          <p:cNvPr id="61" name="object 40">
            <a:extLst>
              <a:ext uri="{FF2B5EF4-FFF2-40B4-BE49-F238E27FC236}">
                <a16:creationId xmlns:a16="http://schemas.microsoft.com/office/drawing/2014/main" id="{07DCD847-D152-1118-E1B3-668C229560A2}"/>
              </a:ext>
            </a:extLst>
          </p:cNvPr>
          <p:cNvSpPr txBox="1"/>
          <p:nvPr/>
        </p:nvSpPr>
        <p:spPr>
          <a:xfrm>
            <a:off x="6378701" y="2649467"/>
            <a:ext cx="1875638" cy="182101"/>
          </a:xfrm>
          <a:prstGeom prst="rect">
            <a:avLst/>
          </a:prstGeom>
        </p:spPr>
        <p:txBody>
          <a:bodyPr vert="horz" wrap="square" lIns="0" tIns="12700" rIns="0" bIns="0" rtlCol="0">
            <a:spAutoFit/>
          </a:bodyPr>
          <a:lstStyle/>
          <a:p>
            <a:pPr marL="299085" indent="-286385">
              <a:lnSpc>
                <a:spcPct val="100000"/>
              </a:lnSpc>
              <a:spcBef>
                <a:spcPts val="100"/>
              </a:spcBef>
              <a:buFont typeface="Arial MT"/>
              <a:buChar char="•"/>
              <a:tabLst>
                <a:tab pos="299085" algn="l"/>
              </a:tabLst>
            </a:pPr>
            <a:r>
              <a:rPr sz="1100" b="1" dirty="0">
                <a:solidFill>
                  <a:srgbClr val="FF0000"/>
                </a:solidFill>
                <a:latin typeface="Bookman Old Style" panose="02050604050505020204" pitchFamily="18" charset="0"/>
                <a:cs typeface="Times New Roman"/>
              </a:rPr>
              <a:t>Brancher</a:t>
            </a:r>
            <a:r>
              <a:rPr sz="1100" b="1" spc="-4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la</a:t>
            </a:r>
            <a:r>
              <a:rPr sz="1100" b="1" spc="-15" dirty="0">
                <a:solidFill>
                  <a:srgbClr val="FF0000"/>
                </a:solidFill>
                <a:latin typeface="Bookman Old Style" panose="02050604050505020204" pitchFamily="18" charset="0"/>
                <a:cs typeface="Times New Roman"/>
              </a:rPr>
              <a:t> </a:t>
            </a:r>
            <a:r>
              <a:rPr sz="1100" b="1" spc="-10" dirty="0">
                <a:solidFill>
                  <a:srgbClr val="FF0000"/>
                </a:solidFill>
                <a:latin typeface="Bookman Old Style" panose="02050604050505020204" pitchFamily="18" charset="0"/>
                <a:cs typeface="Times New Roman"/>
              </a:rPr>
              <a:t>charge</a:t>
            </a:r>
            <a:endParaRPr sz="1100" dirty="0">
              <a:latin typeface="Bookman Old Style" panose="02050604050505020204" pitchFamily="18" charset="0"/>
              <a:cs typeface="Times New Roman"/>
            </a:endParaRPr>
          </a:p>
        </p:txBody>
      </p:sp>
      <p:sp>
        <p:nvSpPr>
          <p:cNvPr id="62" name="object 41">
            <a:extLst>
              <a:ext uri="{FF2B5EF4-FFF2-40B4-BE49-F238E27FC236}">
                <a16:creationId xmlns:a16="http://schemas.microsoft.com/office/drawing/2014/main" id="{91D9712E-95A8-856C-F688-E91679CA8093}"/>
              </a:ext>
            </a:extLst>
          </p:cNvPr>
          <p:cNvSpPr txBox="1"/>
          <p:nvPr/>
        </p:nvSpPr>
        <p:spPr>
          <a:xfrm>
            <a:off x="6378701" y="3082009"/>
            <a:ext cx="2765299" cy="689932"/>
          </a:xfrm>
          <a:prstGeom prst="rect">
            <a:avLst/>
          </a:prstGeom>
        </p:spPr>
        <p:txBody>
          <a:bodyPr vert="horz" wrap="square" lIns="0" tIns="12700" rIns="0" bIns="0" rtlCol="0">
            <a:spAutoFit/>
          </a:bodyPr>
          <a:lstStyle/>
          <a:p>
            <a:pPr marL="301625" marR="5080" indent="-289560" algn="just">
              <a:lnSpc>
                <a:spcPct val="100000"/>
              </a:lnSpc>
              <a:spcBef>
                <a:spcPts val="100"/>
              </a:spcBef>
              <a:buFont typeface="Arial MT"/>
              <a:buChar char="•"/>
              <a:tabLst>
                <a:tab pos="317500" algn="l"/>
              </a:tabLst>
            </a:pPr>
            <a:r>
              <a:rPr sz="1100" b="1" dirty="0" err="1">
                <a:solidFill>
                  <a:srgbClr val="FF0000"/>
                </a:solidFill>
                <a:latin typeface="Bookman Old Style" panose="02050604050505020204" pitchFamily="18" charset="0"/>
                <a:cs typeface="Times New Roman"/>
              </a:rPr>
              <a:t>Utiliser</a:t>
            </a:r>
            <a:r>
              <a:rPr sz="1100" b="1" spc="-3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le</a:t>
            </a:r>
            <a:r>
              <a:rPr lang="fr-FR" sz="1100" b="1" dirty="0">
                <a:solidFill>
                  <a:srgbClr val="FF0000"/>
                </a:solidFill>
                <a:latin typeface="Bookman Old Style" panose="02050604050505020204" pitchFamily="18" charset="0"/>
                <a:cs typeface="Times New Roman"/>
              </a:rPr>
              <a:t> générateur de </a:t>
            </a:r>
            <a:r>
              <a:rPr sz="1100" b="1" spc="-1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courant</a:t>
            </a:r>
            <a:r>
              <a:rPr sz="1100" b="1" spc="-2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de</a:t>
            </a:r>
            <a:r>
              <a:rPr sz="1100" b="1" spc="-20" dirty="0">
                <a:solidFill>
                  <a:srgbClr val="FF0000"/>
                </a:solidFill>
                <a:latin typeface="Bookman Old Style" panose="02050604050505020204" pitchFamily="18" charset="0"/>
                <a:cs typeface="Times New Roman"/>
              </a:rPr>
              <a:t> </a:t>
            </a:r>
            <a:r>
              <a:rPr sz="1100" b="1" spc="-10" dirty="0">
                <a:solidFill>
                  <a:srgbClr val="FF0000"/>
                </a:solidFill>
                <a:latin typeface="Bookman Old Style" panose="02050604050505020204" pitchFamily="18" charset="0"/>
                <a:cs typeface="Times New Roman"/>
              </a:rPr>
              <a:t>Norton 	</a:t>
            </a:r>
            <a:r>
              <a:rPr sz="1100" b="1" dirty="0">
                <a:solidFill>
                  <a:srgbClr val="FF0000"/>
                </a:solidFill>
                <a:latin typeface="Bookman Old Style" panose="02050604050505020204" pitchFamily="18" charset="0"/>
                <a:cs typeface="Times New Roman"/>
              </a:rPr>
              <a:t>et</a:t>
            </a:r>
            <a:r>
              <a:rPr sz="1100" b="1" spc="-2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résistance</a:t>
            </a:r>
            <a:r>
              <a:rPr sz="1100" b="1" spc="-1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de</a:t>
            </a:r>
            <a:r>
              <a:rPr sz="1100" b="1" spc="-2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Norton</a:t>
            </a:r>
            <a:r>
              <a:rPr sz="1100" b="1" spc="-25" dirty="0">
                <a:solidFill>
                  <a:srgbClr val="FF0000"/>
                </a:solidFill>
                <a:latin typeface="Bookman Old Style" panose="02050604050505020204" pitchFamily="18" charset="0"/>
                <a:cs typeface="Times New Roman"/>
              </a:rPr>
              <a:t> </a:t>
            </a:r>
            <a:r>
              <a:rPr sz="1100" b="1" spc="-20" dirty="0">
                <a:solidFill>
                  <a:srgbClr val="FF0000"/>
                </a:solidFill>
                <a:latin typeface="Bookman Old Style" panose="02050604050505020204" pitchFamily="18" charset="0"/>
                <a:cs typeface="Times New Roman"/>
              </a:rPr>
              <a:t>pour 	</a:t>
            </a:r>
            <a:r>
              <a:rPr sz="1100" b="1" dirty="0">
                <a:solidFill>
                  <a:srgbClr val="FF0000"/>
                </a:solidFill>
                <a:latin typeface="Bookman Old Style" panose="02050604050505020204" pitchFamily="18" charset="0"/>
                <a:cs typeface="Times New Roman"/>
              </a:rPr>
              <a:t>former</a:t>
            </a:r>
            <a:r>
              <a:rPr sz="1100" b="1" spc="-35"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le</a:t>
            </a:r>
            <a:r>
              <a:rPr sz="1100" b="1" spc="-3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circuit</a:t>
            </a:r>
            <a:r>
              <a:rPr sz="1100" b="1" spc="-1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a:t>
            </a:r>
            <a:r>
              <a:rPr sz="1100" b="1" spc="-30" dirty="0">
                <a:solidFill>
                  <a:srgbClr val="FF0000"/>
                </a:solidFill>
                <a:latin typeface="Bookman Old Style" panose="02050604050505020204" pitchFamily="18" charset="0"/>
                <a:cs typeface="Times New Roman"/>
              </a:rPr>
              <a:t> </a:t>
            </a:r>
            <a:r>
              <a:rPr sz="1100" b="1" dirty="0">
                <a:solidFill>
                  <a:srgbClr val="FF0000"/>
                </a:solidFill>
                <a:latin typeface="Bookman Old Style" panose="02050604050505020204" pitchFamily="18" charset="0"/>
                <a:cs typeface="Times New Roman"/>
              </a:rPr>
              <a:t>simple</a:t>
            </a:r>
            <a:r>
              <a:rPr sz="1100" b="1" spc="-30" dirty="0">
                <a:solidFill>
                  <a:srgbClr val="FF0000"/>
                </a:solidFill>
                <a:latin typeface="Bookman Old Style" panose="02050604050505020204" pitchFamily="18" charset="0"/>
                <a:cs typeface="Times New Roman"/>
              </a:rPr>
              <a:t> </a:t>
            </a:r>
            <a:r>
              <a:rPr sz="1100" b="1" spc="-50" dirty="0">
                <a:solidFill>
                  <a:srgbClr val="FF0000"/>
                </a:solidFill>
                <a:latin typeface="Bookman Old Style" panose="02050604050505020204" pitchFamily="18" charset="0"/>
                <a:cs typeface="Times New Roman"/>
              </a:rPr>
              <a:t>»</a:t>
            </a:r>
            <a:endParaRPr sz="1100" dirty="0">
              <a:latin typeface="Bookman Old Style" panose="02050604050505020204" pitchFamily="18" charset="0"/>
              <a:cs typeface="Times New Roman"/>
            </a:endParaRPr>
          </a:p>
        </p:txBody>
      </p:sp>
      <p:grpSp>
        <p:nvGrpSpPr>
          <p:cNvPr id="66" name="object 42">
            <a:extLst>
              <a:ext uri="{FF2B5EF4-FFF2-40B4-BE49-F238E27FC236}">
                <a16:creationId xmlns:a16="http://schemas.microsoft.com/office/drawing/2014/main" id="{45F1B9BD-4CBC-4170-FA55-FBE6681388FF}"/>
              </a:ext>
            </a:extLst>
          </p:cNvPr>
          <p:cNvGrpSpPr/>
          <p:nvPr/>
        </p:nvGrpSpPr>
        <p:grpSpPr>
          <a:xfrm>
            <a:off x="1627056" y="3479762"/>
            <a:ext cx="1257300" cy="1479236"/>
            <a:chOff x="1651254" y="3471671"/>
            <a:chExt cx="1257300" cy="1479236"/>
          </a:xfrm>
        </p:grpSpPr>
        <p:pic>
          <p:nvPicPr>
            <p:cNvPr id="67" name="object 43">
              <a:extLst>
                <a:ext uri="{FF2B5EF4-FFF2-40B4-BE49-F238E27FC236}">
                  <a16:creationId xmlns:a16="http://schemas.microsoft.com/office/drawing/2014/main" id="{5896C3F0-DCB9-63DD-29CA-73B42608B8B5}"/>
                </a:ext>
              </a:extLst>
            </p:cNvPr>
            <p:cNvPicPr/>
            <p:nvPr/>
          </p:nvPicPr>
          <p:blipFill>
            <a:blip r:embed="rId3" cstate="print"/>
            <a:stretch>
              <a:fillRect/>
            </a:stretch>
          </p:blipFill>
          <p:spPr>
            <a:xfrm>
              <a:off x="1651254" y="4249867"/>
              <a:ext cx="1257300" cy="701040"/>
            </a:xfrm>
            <a:prstGeom prst="rect">
              <a:avLst/>
            </a:prstGeom>
          </p:spPr>
        </p:pic>
        <p:pic>
          <p:nvPicPr>
            <p:cNvPr id="68" name="object 44">
              <a:extLst>
                <a:ext uri="{FF2B5EF4-FFF2-40B4-BE49-F238E27FC236}">
                  <a16:creationId xmlns:a16="http://schemas.microsoft.com/office/drawing/2014/main" id="{68D65B10-53DD-EB37-0D5B-330DCAB00970}"/>
                </a:ext>
              </a:extLst>
            </p:cNvPr>
            <p:cNvPicPr/>
            <p:nvPr/>
          </p:nvPicPr>
          <p:blipFill>
            <a:blip r:embed="rId4" cstate="print"/>
            <a:stretch>
              <a:fillRect/>
            </a:stretch>
          </p:blipFill>
          <p:spPr>
            <a:xfrm>
              <a:off x="1697736" y="3471671"/>
              <a:ext cx="1164336" cy="649223"/>
            </a:xfrm>
            <a:prstGeom prst="rect">
              <a:avLst/>
            </a:prstGeom>
          </p:spPr>
        </p:pic>
      </p:grpSp>
      <p:sp>
        <p:nvSpPr>
          <p:cNvPr id="70" name="TextBox 69">
            <a:extLst>
              <a:ext uri="{FF2B5EF4-FFF2-40B4-BE49-F238E27FC236}">
                <a16:creationId xmlns:a16="http://schemas.microsoft.com/office/drawing/2014/main" id="{841BEDDF-E5BD-68EF-5040-2D3E5BADC314}"/>
              </a:ext>
            </a:extLst>
          </p:cNvPr>
          <p:cNvSpPr txBox="1"/>
          <p:nvPr/>
        </p:nvSpPr>
        <p:spPr>
          <a:xfrm>
            <a:off x="2040089" y="1363775"/>
            <a:ext cx="4588778" cy="369332"/>
          </a:xfrm>
          <a:prstGeom prst="rect">
            <a:avLst/>
          </a:prstGeom>
          <a:noFill/>
        </p:spPr>
        <p:txBody>
          <a:bodyPr wrap="square">
            <a:spAutoFit/>
          </a:bodyPr>
          <a:lstStyle/>
          <a:p>
            <a:pPr marR="141605" algn="ctr">
              <a:lnSpc>
                <a:spcPct val="100000"/>
              </a:lnSpc>
            </a:pPr>
            <a:r>
              <a:rPr lang="fr-FR" sz="1800" b="1" spc="-10" dirty="0">
                <a:latin typeface="Bookman Old Style" panose="02050604050505020204" pitchFamily="18" charset="0"/>
                <a:cs typeface="Times New Roman"/>
              </a:rPr>
              <a:t>Etapes</a:t>
            </a:r>
            <a:endParaRPr lang="fr-FR" sz="1800" dirty="0">
              <a:latin typeface="Bookman Old Style" panose="02050604050505020204" pitchFamily="18" charset="0"/>
              <a:cs typeface="Times New Roman"/>
            </a:endParaRPr>
          </a:p>
        </p:txBody>
      </p:sp>
    </p:spTree>
    <p:extLst>
      <p:ext uri="{BB962C8B-B14F-4D97-AF65-F5344CB8AC3E}">
        <p14:creationId xmlns:p14="http://schemas.microsoft.com/office/powerpoint/2010/main" val="735485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fade">
                                      <p:cBhvr>
                                        <p:cTn id="7" dur="1000"/>
                                        <p:tgtEl>
                                          <p:spTgt spid="52"/>
                                        </p:tgtEl>
                                      </p:cBhvr>
                                    </p:animEffect>
                                    <p:anim calcmode="lin" valueType="num">
                                      <p:cBhvr>
                                        <p:cTn id="8" dur="1000" fill="hold"/>
                                        <p:tgtEl>
                                          <p:spTgt spid="52"/>
                                        </p:tgtEl>
                                        <p:attrNameLst>
                                          <p:attrName>ppt_x</p:attrName>
                                        </p:attrNameLst>
                                      </p:cBhvr>
                                      <p:tavLst>
                                        <p:tav tm="0">
                                          <p:val>
                                            <p:strVal val="#ppt_x"/>
                                          </p:val>
                                        </p:tav>
                                        <p:tav tm="100000">
                                          <p:val>
                                            <p:strVal val="#ppt_x"/>
                                          </p:val>
                                        </p:tav>
                                      </p:tavLst>
                                    </p:anim>
                                    <p:anim calcmode="lin" valueType="num">
                                      <p:cBhvr>
                                        <p:cTn id="9" dur="1000" fill="hold"/>
                                        <p:tgtEl>
                                          <p:spTgt spid="52"/>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1000"/>
                                        <p:tgtEl>
                                          <p:spTgt spid="21"/>
                                        </p:tgtEl>
                                      </p:cBhvr>
                                    </p:animEffect>
                                    <p:anim calcmode="lin" valueType="num">
                                      <p:cBhvr>
                                        <p:cTn id="13" dur="1000" fill="hold"/>
                                        <p:tgtEl>
                                          <p:spTgt spid="21"/>
                                        </p:tgtEl>
                                        <p:attrNameLst>
                                          <p:attrName>ppt_x</p:attrName>
                                        </p:attrNameLst>
                                      </p:cBhvr>
                                      <p:tavLst>
                                        <p:tav tm="0">
                                          <p:val>
                                            <p:strVal val="#ppt_x"/>
                                          </p:val>
                                        </p:tav>
                                        <p:tav tm="100000">
                                          <p:val>
                                            <p:strVal val="#ppt_x"/>
                                          </p:val>
                                        </p:tav>
                                      </p:tavLst>
                                    </p:anim>
                                    <p:anim calcmode="lin" valueType="num">
                                      <p:cBhvr>
                                        <p:cTn id="14" dur="1000" fill="hold"/>
                                        <p:tgtEl>
                                          <p:spTgt spid="21"/>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1000"/>
                                        <p:tgtEl>
                                          <p:spTgt spid="16"/>
                                        </p:tgtEl>
                                      </p:cBhvr>
                                    </p:animEffect>
                                    <p:anim calcmode="lin" valueType="num">
                                      <p:cBhvr>
                                        <p:cTn id="18" dur="1000" fill="hold"/>
                                        <p:tgtEl>
                                          <p:spTgt spid="16"/>
                                        </p:tgtEl>
                                        <p:attrNameLst>
                                          <p:attrName>ppt_x</p:attrName>
                                        </p:attrNameLst>
                                      </p:cBhvr>
                                      <p:tavLst>
                                        <p:tav tm="0">
                                          <p:val>
                                            <p:strVal val="#ppt_x"/>
                                          </p:val>
                                        </p:tav>
                                        <p:tav tm="100000">
                                          <p:val>
                                            <p:strVal val="#ppt_x"/>
                                          </p:val>
                                        </p:tav>
                                      </p:tavLst>
                                    </p:anim>
                                    <p:anim calcmode="lin" valueType="num">
                                      <p:cBhvr>
                                        <p:cTn id="19" dur="1000" fill="hold"/>
                                        <p:tgtEl>
                                          <p:spTgt spid="1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1000"/>
                                        <p:tgtEl>
                                          <p:spTgt spid="44"/>
                                        </p:tgtEl>
                                      </p:cBhvr>
                                    </p:animEffect>
                                    <p:anim calcmode="lin" valueType="num">
                                      <p:cBhvr>
                                        <p:cTn id="23" dur="1000" fill="hold"/>
                                        <p:tgtEl>
                                          <p:spTgt spid="44"/>
                                        </p:tgtEl>
                                        <p:attrNameLst>
                                          <p:attrName>ppt_x</p:attrName>
                                        </p:attrNameLst>
                                      </p:cBhvr>
                                      <p:tavLst>
                                        <p:tav tm="0">
                                          <p:val>
                                            <p:strVal val="#ppt_x"/>
                                          </p:val>
                                        </p:tav>
                                        <p:tav tm="100000">
                                          <p:val>
                                            <p:strVal val="#ppt_x"/>
                                          </p:val>
                                        </p:tav>
                                      </p:tavLst>
                                    </p:anim>
                                    <p:anim calcmode="lin" valueType="num">
                                      <p:cBhvr>
                                        <p:cTn id="24" dur="1000" fill="hold"/>
                                        <p:tgtEl>
                                          <p:spTgt spid="44"/>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animEffect transition="in" filter="fade">
                                      <p:cBhvr>
                                        <p:cTn id="27" dur="1000"/>
                                        <p:tgtEl>
                                          <p:spTgt spid="56"/>
                                        </p:tgtEl>
                                      </p:cBhvr>
                                    </p:animEffect>
                                    <p:anim calcmode="lin" valueType="num">
                                      <p:cBhvr>
                                        <p:cTn id="28" dur="1000" fill="hold"/>
                                        <p:tgtEl>
                                          <p:spTgt spid="56"/>
                                        </p:tgtEl>
                                        <p:attrNameLst>
                                          <p:attrName>ppt_x</p:attrName>
                                        </p:attrNameLst>
                                      </p:cBhvr>
                                      <p:tavLst>
                                        <p:tav tm="0">
                                          <p:val>
                                            <p:strVal val="#ppt_x"/>
                                          </p:val>
                                        </p:tav>
                                        <p:tav tm="100000">
                                          <p:val>
                                            <p:strVal val="#ppt_x"/>
                                          </p:val>
                                        </p:tav>
                                      </p:tavLst>
                                    </p:anim>
                                    <p:anim calcmode="lin" valueType="num">
                                      <p:cBhvr>
                                        <p:cTn id="29" dur="1000" fill="hold"/>
                                        <p:tgtEl>
                                          <p:spTgt spid="56"/>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66"/>
                                        </p:tgtEl>
                                        <p:attrNameLst>
                                          <p:attrName>style.visibility</p:attrName>
                                        </p:attrNameLst>
                                      </p:cBhvr>
                                      <p:to>
                                        <p:strVal val="visible"/>
                                      </p:to>
                                    </p:set>
                                    <p:animEffect transition="in" filter="fade">
                                      <p:cBhvr>
                                        <p:cTn id="32" dur="1000"/>
                                        <p:tgtEl>
                                          <p:spTgt spid="66"/>
                                        </p:tgtEl>
                                      </p:cBhvr>
                                    </p:animEffect>
                                    <p:anim calcmode="lin" valueType="num">
                                      <p:cBhvr>
                                        <p:cTn id="33" dur="1000" fill="hold"/>
                                        <p:tgtEl>
                                          <p:spTgt spid="66"/>
                                        </p:tgtEl>
                                        <p:attrNameLst>
                                          <p:attrName>ppt_x</p:attrName>
                                        </p:attrNameLst>
                                      </p:cBhvr>
                                      <p:tavLst>
                                        <p:tav tm="0">
                                          <p:val>
                                            <p:strVal val="#ppt_x"/>
                                          </p:val>
                                        </p:tav>
                                        <p:tav tm="100000">
                                          <p:val>
                                            <p:strVal val="#ppt_x"/>
                                          </p:val>
                                        </p:tav>
                                      </p:tavLst>
                                    </p:anim>
                                    <p:anim calcmode="lin" valueType="num">
                                      <p:cBhvr>
                                        <p:cTn id="34" dur="1000" fill="hold"/>
                                        <p:tgtEl>
                                          <p:spTgt spid="66"/>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1000"/>
                                        <p:tgtEl>
                                          <p:spTgt spid="57"/>
                                        </p:tgtEl>
                                      </p:cBhvr>
                                    </p:animEffect>
                                    <p:anim calcmode="lin" valueType="num">
                                      <p:cBhvr>
                                        <p:cTn id="38" dur="1000" fill="hold"/>
                                        <p:tgtEl>
                                          <p:spTgt spid="57"/>
                                        </p:tgtEl>
                                        <p:attrNameLst>
                                          <p:attrName>ppt_x</p:attrName>
                                        </p:attrNameLst>
                                      </p:cBhvr>
                                      <p:tavLst>
                                        <p:tav tm="0">
                                          <p:val>
                                            <p:strVal val="#ppt_x"/>
                                          </p:val>
                                        </p:tav>
                                        <p:tav tm="100000">
                                          <p:val>
                                            <p:strVal val="#ppt_x"/>
                                          </p:val>
                                        </p:tav>
                                      </p:tavLst>
                                    </p:anim>
                                    <p:anim calcmode="lin" valueType="num">
                                      <p:cBhvr>
                                        <p:cTn id="39" dur="1000" fill="hold"/>
                                        <p:tgtEl>
                                          <p:spTgt spid="57"/>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42" presetClass="entr" presetSubtype="0" fill="hold" nodeType="clickEffect">
                                  <p:stCondLst>
                                    <p:cond delay="0"/>
                                  </p:stCondLst>
                                  <p:childTnLst>
                                    <p:set>
                                      <p:cBhvr>
                                        <p:cTn id="43" dur="1" fill="hold">
                                          <p:stCondLst>
                                            <p:cond delay="0"/>
                                          </p:stCondLst>
                                        </p:cTn>
                                        <p:tgtEl>
                                          <p:spTgt spid="29"/>
                                        </p:tgtEl>
                                        <p:attrNameLst>
                                          <p:attrName>style.visibility</p:attrName>
                                        </p:attrNameLst>
                                      </p:cBhvr>
                                      <p:to>
                                        <p:strVal val="visible"/>
                                      </p:to>
                                    </p:set>
                                    <p:animEffect transition="in" filter="fade">
                                      <p:cBhvr>
                                        <p:cTn id="44" dur="1000"/>
                                        <p:tgtEl>
                                          <p:spTgt spid="29"/>
                                        </p:tgtEl>
                                      </p:cBhvr>
                                    </p:animEffect>
                                    <p:anim calcmode="lin" valueType="num">
                                      <p:cBhvr>
                                        <p:cTn id="45" dur="1000" fill="hold"/>
                                        <p:tgtEl>
                                          <p:spTgt spid="29"/>
                                        </p:tgtEl>
                                        <p:attrNameLst>
                                          <p:attrName>ppt_x</p:attrName>
                                        </p:attrNameLst>
                                      </p:cBhvr>
                                      <p:tavLst>
                                        <p:tav tm="0">
                                          <p:val>
                                            <p:strVal val="#ppt_x"/>
                                          </p:val>
                                        </p:tav>
                                        <p:tav tm="100000">
                                          <p:val>
                                            <p:strVal val="#ppt_x"/>
                                          </p:val>
                                        </p:tav>
                                      </p:tavLst>
                                    </p:anim>
                                    <p:anim calcmode="lin" valueType="num">
                                      <p:cBhvr>
                                        <p:cTn id="46" dur="1000" fill="hold"/>
                                        <p:tgtEl>
                                          <p:spTgt spid="29"/>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animEffect transition="in" filter="fade">
                                      <p:cBhvr>
                                        <p:cTn id="49" dur="1000"/>
                                        <p:tgtEl>
                                          <p:spTgt spid="43"/>
                                        </p:tgtEl>
                                      </p:cBhvr>
                                    </p:animEffect>
                                    <p:anim calcmode="lin" valueType="num">
                                      <p:cBhvr>
                                        <p:cTn id="50" dur="1000" fill="hold"/>
                                        <p:tgtEl>
                                          <p:spTgt spid="43"/>
                                        </p:tgtEl>
                                        <p:attrNameLst>
                                          <p:attrName>ppt_x</p:attrName>
                                        </p:attrNameLst>
                                      </p:cBhvr>
                                      <p:tavLst>
                                        <p:tav tm="0">
                                          <p:val>
                                            <p:strVal val="#ppt_x"/>
                                          </p:val>
                                        </p:tav>
                                        <p:tav tm="100000">
                                          <p:val>
                                            <p:strVal val="#ppt_x"/>
                                          </p:val>
                                        </p:tav>
                                      </p:tavLst>
                                    </p:anim>
                                    <p:anim calcmode="lin" valueType="num">
                                      <p:cBhvr>
                                        <p:cTn id="51" dur="1000" fill="hold"/>
                                        <p:tgtEl>
                                          <p:spTgt spid="43"/>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40"/>
                                        </p:tgtEl>
                                        <p:attrNameLst>
                                          <p:attrName>style.visibility</p:attrName>
                                        </p:attrNameLst>
                                      </p:cBhvr>
                                      <p:to>
                                        <p:strVal val="visible"/>
                                      </p:to>
                                    </p:set>
                                    <p:animEffect transition="in" filter="fade">
                                      <p:cBhvr>
                                        <p:cTn id="54" dur="1000"/>
                                        <p:tgtEl>
                                          <p:spTgt spid="40"/>
                                        </p:tgtEl>
                                      </p:cBhvr>
                                    </p:animEffect>
                                    <p:anim calcmode="lin" valueType="num">
                                      <p:cBhvr>
                                        <p:cTn id="55" dur="1000" fill="hold"/>
                                        <p:tgtEl>
                                          <p:spTgt spid="40"/>
                                        </p:tgtEl>
                                        <p:attrNameLst>
                                          <p:attrName>ppt_x</p:attrName>
                                        </p:attrNameLst>
                                      </p:cBhvr>
                                      <p:tavLst>
                                        <p:tav tm="0">
                                          <p:val>
                                            <p:strVal val="#ppt_x"/>
                                          </p:val>
                                        </p:tav>
                                        <p:tav tm="100000">
                                          <p:val>
                                            <p:strVal val="#ppt_x"/>
                                          </p:val>
                                        </p:tav>
                                      </p:tavLst>
                                    </p:anim>
                                    <p:anim calcmode="lin" valueType="num">
                                      <p:cBhvr>
                                        <p:cTn id="56" dur="1000" fill="hold"/>
                                        <p:tgtEl>
                                          <p:spTgt spid="40"/>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58"/>
                                        </p:tgtEl>
                                        <p:attrNameLst>
                                          <p:attrName>style.visibility</p:attrName>
                                        </p:attrNameLst>
                                      </p:cBhvr>
                                      <p:to>
                                        <p:strVal val="visible"/>
                                      </p:to>
                                    </p:set>
                                    <p:animEffect transition="in" filter="fade">
                                      <p:cBhvr>
                                        <p:cTn id="59" dur="1000"/>
                                        <p:tgtEl>
                                          <p:spTgt spid="58"/>
                                        </p:tgtEl>
                                      </p:cBhvr>
                                    </p:animEffect>
                                    <p:anim calcmode="lin" valueType="num">
                                      <p:cBhvr>
                                        <p:cTn id="60" dur="1000" fill="hold"/>
                                        <p:tgtEl>
                                          <p:spTgt spid="58"/>
                                        </p:tgtEl>
                                        <p:attrNameLst>
                                          <p:attrName>ppt_x</p:attrName>
                                        </p:attrNameLst>
                                      </p:cBhvr>
                                      <p:tavLst>
                                        <p:tav tm="0">
                                          <p:val>
                                            <p:strVal val="#ppt_x"/>
                                          </p:val>
                                        </p:tav>
                                        <p:tav tm="100000">
                                          <p:val>
                                            <p:strVal val="#ppt_x"/>
                                          </p:val>
                                        </p:tav>
                                      </p:tavLst>
                                    </p:anim>
                                    <p:anim calcmode="lin" valueType="num">
                                      <p:cBhvr>
                                        <p:cTn id="61" dur="1000" fill="hold"/>
                                        <p:tgtEl>
                                          <p:spTgt spid="58"/>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60"/>
                                        </p:tgtEl>
                                        <p:attrNameLst>
                                          <p:attrName>style.visibility</p:attrName>
                                        </p:attrNameLst>
                                      </p:cBhvr>
                                      <p:to>
                                        <p:strVal val="visible"/>
                                      </p:to>
                                    </p:set>
                                    <p:animEffect transition="in" filter="fade">
                                      <p:cBhvr>
                                        <p:cTn id="64" dur="1000"/>
                                        <p:tgtEl>
                                          <p:spTgt spid="60"/>
                                        </p:tgtEl>
                                      </p:cBhvr>
                                    </p:animEffect>
                                    <p:anim calcmode="lin" valueType="num">
                                      <p:cBhvr>
                                        <p:cTn id="65" dur="1000" fill="hold"/>
                                        <p:tgtEl>
                                          <p:spTgt spid="60"/>
                                        </p:tgtEl>
                                        <p:attrNameLst>
                                          <p:attrName>ppt_x</p:attrName>
                                        </p:attrNameLst>
                                      </p:cBhvr>
                                      <p:tavLst>
                                        <p:tav tm="0">
                                          <p:val>
                                            <p:strVal val="#ppt_x"/>
                                          </p:val>
                                        </p:tav>
                                        <p:tav tm="100000">
                                          <p:val>
                                            <p:strVal val="#ppt_x"/>
                                          </p:val>
                                        </p:tav>
                                      </p:tavLst>
                                    </p:anim>
                                    <p:anim calcmode="lin" valueType="num">
                                      <p:cBhvr>
                                        <p:cTn id="66" dur="1000" fill="hold"/>
                                        <p:tgtEl>
                                          <p:spTgt spid="6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1000"/>
                                        <p:tgtEl>
                                          <p:spTgt spid="28"/>
                                        </p:tgtEl>
                                      </p:cBhvr>
                                    </p:animEffect>
                                    <p:anim calcmode="lin" valueType="num">
                                      <p:cBhvr>
                                        <p:cTn id="72" dur="1000" fill="hold"/>
                                        <p:tgtEl>
                                          <p:spTgt spid="28"/>
                                        </p:tgtEl>
                                        <p:attrNameLst>
                                          <p:attrName>ppt_x</p:attrName>
                                        </p:attrNameLst>
                                      </p:cBhvr>
                                      <p:tavLst>
                                        <p:tav tm="0">
                                          <p:val>
                                            <p:strVal val="#ppt_x"/>
                                          </p:val>
                                        </p:tav>
                                        <p:tav tm="100000">
                                          <p:val>
                                            <p:strVal val="#ppt_x"/>
                                          </p:val>
                                        </p:tav>
                                      </p:tavLst>
                                    </p:anim>
                                    <p:anim calcmode="lin" valueType="num">
                                      <p:cBhvr>
                                        <p:cTn id="73" dur="1000" fill="hold"/>
                                        <p:tgtEl>
                                          <p:spTgt spid="28"/>
                                        </p:tgtEl>
                                        <p:attrNameLst>
                                          <p:attrName>ppt_y</p:attrName>
                                        </p:attrNameLst>
                                      </p:cBhvr>
                                      <p:tavLst>
                                        <p:tav tm="0">
                                          <p:val>
                                            <p:strVal val="#ppt_y+.1"/>
                                          </p:val>
                                        </p:tav>
                                        <p:tav tm="100000">
                                          <p:val>
                                            <p:strVal val="#ppt_y"/>
                                          </p:val>
                                        </p:tav>
                                      </p:tavLst>
                                    </p:anim>
                                  </p:childTnLst>
                                </p:cTn>
                              </p:par>
                              <p:par>
                                <p:cTn id="74" presetID="42" presetClass="entr" presetSubtype="0" fill="hold" nodeType="with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1000"/>
                                        <p:tgtEl>
                                          <p:spTgt spid="25"/>
                                        </p:tgtEl>
                                      </p:cBhvr>
                                    </p:animEffect>
                                    <p:anim calcmode="lin" valueType="num">
                                      <p:cBhvr>
                                        <p:cTn id="77" dur="1000" fill="hold"/>
                                        <p:tgtEl>
                                          <p:spTgt spid="25"/>
                                        </p:tgtEl>
                                        <p:attrNameLst>
                                          <p:attrName>ppt_x</p:attrName>
                                        </p:attrNameLst>
                                      </p:cBhvr>
                                      <p:tavLst>
                                        <p:tav tm="0">
                                          <p:val>
                                            <p:strVal val="#ppt_x"/>
                                          </p:val>
                                        </p:tav>
                                        <p:tav tm="100000">
                                          <p:val>
                                            <p:strVal val="#ppt_x"/>
                                          </p:val>
                                        </p:tav>
                                      </p:tavLst>
                                    </p:anim>
                                    <p:anim calcmode="lin" valueType="num">
                                      <p:cBhvr>
                                        <p:cTn id="78" dur="1000" fill="hold"/>
                                        <p:tgtEl>
                                          <p:spTgt spid="25"/>
                                        </p:tgtEl>
                                        <p:attrNameLst>
                                          <p:attrName>ppt_y</p:attrName>
                                        </p:attrNameLst>
                                      </p:cBhvr>
                                      <p:tavLst>
                                        <p:tav tm="0">
                                          <p:val>
                                            <p:strVal val="#ppt_y+.1"/>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1000"/>
                                        <p:tgtEl>
                                          <p:spTgt spid="22"/>
                                        </p:tgtEl>
                                      </p:cBhvr>
                                    </p:animEffect>
                                    <p:anim calcmode="lin" valueType="num">
                                      <p:cBhvr>
                                        <p:cTn id="82" dur="1000" fill="hold"/>
                                        <p:tgtEl>
                                          <p:spTgt spid="22"/>
                                        </p:tgtEl>
                                        <p:attrNameLst>
                                          <p:attrName>ppt_x</p:attrName>
                                        </p:attrNameLst>
                                      </p:cBhvr>
                                      <p:tavLst>
                                        <p:tav tm="0">
                                          <p:val>
                                            <p:strVal val="#ppt_x"/>
                                          </p:val>
                                        </p:tav>
                                        <p:tav tm="100000">
                                          <p:val>
                                            <p:strVal val="#ppt_x"/>
                                          </p:val>
                                        </p:tav>
                                      </p:tavLst>
                                    </p:anim>
                                    <p:anim calcmode="lin" valueType="num">
                                      <p:cBhvr>
                                        <p:cTn id="83" dur="1000" fill="hold"/>
                                        <p:tgtEl>
                                          <p:spTgt spid="22"/>
                                        </p:tgtEl>
                                        <p:attrNameLst>
                                          <p:attrName>ppt_y</p:attrName>
                                        </p:attrNameLst>
                                      </p:cBhvr>
                                      <p:tavLst>
                                        <p:tav tm="0">
                                          <p:val>
                                            <p:strVal val="#ppt_y+.1"/>
                                          </p:val>
                                        </p:tav>
                                        <p:tav tm="100000">
                                          <p:val>
                                            <p:strVal val="#ppt_y"/>
                                          </p:val>
                                        </p:tav>
                                      </p:tavLst>
                                    </p:anim>
                                  </p:childTnLst>
                                </p:cTn>
                              </p:par>
                              <p:par>
                                <p:cTn id="84" presetID="42" presetClass="entr" presetSubtype="0" fill="hold" grpId="0" nodeType="withEffect">
                                  <p:stCondLst>
                                    <p:cond delay="0"/>
                                  </p:stCondLst>
                                  <p:childTnLst>
                                    <p:set>
                                      <p:cBhvr>
                                        <p:cTn id="85" dur="1" fill="hold">
                                          <p:stCondLst>
                                            <p:cond delay="0"/>
                                          </p:stCondLst>
                                        </p:cTn>
                                        <p:tgtEl>
                                          <p:spTgt spid="61"/>
                                        </p:tgtEl>
                                        <p:attrNameLst>
                                          <p:attrName>style.visibility</p:attrName>
                                        </p:attrNameLst>
                                      </p:cBhvr>
                                      <p:to>
                                        <p:strVal val="visible"/>
                                      </p:to>
                                    </p:set>
                                    <p:animEffect transition="in" filter="fade">
                                      <p:cBhvr>
                                        <p:cTn id="86" dur="1000"/>
                                        <p:tgtEl>
                                          <p:spTgt spid="61"/>
                                        </p:tgtEl>
                                      </p:cBhvr>
                                    </p:animEffect>
                                    <p:anim calcmode="lin" valueType="num">
                                      <p:cBhvr>
                                        <p:cTn id="87" dur="1000" fill="hold"/>
                                        <p:tgtEl>
                                          <p:spTgt spid="61"/>
                                        </p:tgtEl>
                                        <p:attrNameLst>
                                          <p:attrName>ppt_x</p:attrName>
                                        </p:attrNameLst>
                                      </p:cBhvr>
                                      <p:tavLst>
                                        <p:tav tm="0">
                                          <p:val>
                                            <p:strVal val="#ppt_x"/>
                                          </p:val>
                                        </p:tav>
                                        <p:tav tm="100000">
                                          <p:val>
                                            <p:strVal val="#ppt_x"/>
                                          </p:val>
                                        </p:tav>
                                      </p:tavLst>
                                    </p:anim>
                                    <p:anim calcmode="lin" valueType="num">
                                      <p:cBhvr>
                                        <p:cTn id="88" dur="1000" fill="hold"/>
                                        <p:tgtEl>
                                          <p:spTgt spid="61"/>
                                        </p:tgtEl>
                                        <p:attrNameLst>
                                          <p:attrName>ppt_y</p:attrName>
                                        </p:attrNameLst>
                                      </p:cBhvr>
                                      <p:tavLst>
                                        <p:tav tm="0">
                                          <p:val>
                                            <p:strVal val="#ppt_y+.1"/>
                                          </p:val>
                                        </p:tav>
                                        <p:tav tm="100000">
                                          <p:val>
                                            <p:strVal val="#ppt_y"/>
                                          </p:val>
                                        </p:tav>
                                      </p:tavLst>
                                    </p:anim>
                                  </p:childTnLst>
                                </p:cTn>
                              </p:par>
                              <p:par>
                                <p:cTn id="89" presetID="42" presetClass="entr" presetSubtype="0" fill="hold" grpId="0" nodeType="withEffect">
                                  <p:stCondLst>
                                    <p:cond delay="0"/>
                                  </p:stCondLst>
                                  <p:childTnLst>
                                    <p:set>
                                      <p:cBhvr>
                                        <p:cTn id="90" dur="1" fill="hold">
                                          <p:stCondLst>
                                            <p:cond delay="0"/>
                                          </p:stCondLst>
                                        </p:cTn>
                                        <p:tgtEl>
                                          <p:spTgt spid="62"/>
                                        </p:tgtEl>
                                        <p:attrNameLst>
                                          <p:attrName>style.visibility</p:attrName>
                                        </p:attrNameLst>
                                      </p:cBhvr>
                                      <p:to>
                                        <p:strVal val="visible"/>
                                      </p:to>
                                    </p:set>
                                    <p:animEffect transition="in" filter="fade">
                                      <p:cBhvr>
                                        <p:cTn id="91" dur="1000"/>
                                        <p:tgtEl>
                                          <p:spTgt spid="62"/>
                                        </p:tgtEl>
                                      </p:cBhvr>
                                    </p:animEffect>
                                    <p:anim calcmode="lin" valueType="num">
                                      <p:cBhvr>
                                        <p:cTn id="92" dur="1000" fill="hold"/>
                                        <p:tgtEl>
                                          <p:spTgt spid="62"/>
                                        </p:tgtEl>
                                        <p:attrNameLst>
                                          <p:attrName>ppt_x</p:attrName>
                                        </p:attrNameLst>
                                      </p:cBhvr>
                                      <p:tavLst>
                                        <p:tav tm="0">
                                          <p:val>
                                            <p:strVal val="#ppt_x"/>
                                          </p:val>
                                        </p:tav>
                                        <p:tav tm="100000">
                                          <p:val>
                                            <p:strVal val="#ppt_x"/>
                                          </p:val>
                                        </p:tav>
                                      </p:tavLst>
                                    </p:anim>
                                    <p:anim calcmode="lin" valueType="num">
                                      <p:cBhvr>
                                        <p:cTn id="93" dur="1000" fill="hold"/>
                                        <p:tgtEl>
                                          <p:spTgt spid="6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8" grpId="0"/>
      <p:bldP spid="43" grpId="0"/>
      <p:bldP spid="44" grpId="0"/>
      <p:bldP spid="52" grpId="0"/>
      <p:bldP spid="56" grpId="0"/>
      <p:bldP spid="57" grpId="0"/>
      <p:bldP spid="58" grpId="0"/>
      <p:bldP spid="60" grpId="0"/>
      <p:bldP spid="61" grpId="0"/>
      <p:bldP spid="62"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48</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2.3 </a:t>
            </a:r>
            <a:r>
              <a:rPr lang="fr-FR" altLang="fr-FR" sz="1400" b="1" spc="-5" dirty="0">
                <a:solidFill>
                  <a:srgbClr val="CC00CC"/>
                </a:solidFill>
                <a:latin typeface="Bookman Old Style" panose="02050604050505020204" pitchFamily="18" charset="0"/>
                <a:cs typeface="Arial"/>
              </a:rPr>
              <a:t>Théorème de Norton </a:t>
            </a:r>
          </a:p>
        </p:txBody>
      </p:sp>
      <p:sp>
        <p:nvSpPr>
          <p:cNvPr id="5" name="object 14">
            <a:extLst>
              <a:ext uri="{FF2B5EF4-FFF2-40B4-BE49-F238E27FC236}">
                <a16:creationId xmlns:a16="http://schemas.microsoft.com/office/drawing/2014/main" id="{198F7E49-08ED-6164-AC44-A89E992FFB12}"/>
              </a:ext>
            </a:extLst>
          </p:cNvPr>
          <p:cNvSpPr txBox="1"/>
          <p:nvPr/>
        </p:nvSpPr>
        <p:spPr>
          <a:xfrm>
            <a:off x="236135" y="1295459"/>
            <a:ext cx="953769" cy="212879"/>
          </a:xfrm>
          <a:prstGeom prst="rect">
            <a:avLst/>
          </a:prstGeom>
        </p:spPr>
        <p:txBody>
          <a:bodyPr vert="horz" wrap="square" lIns="0" tIns="12700" rIns="0" bIns="0" rtlCol="0">
            <a:spAutoFit/>
          </a:bodyPr>
          <a:lstStyle/>
          <a:p>
            <a:pPr marL="12700">
              <a:lnSpc>
                <a:spcPct val="100000"/>
              </a:lnSpc>
              <a:spcBef>
                <a:spcPts val="100"/>
              </a:spcBef>
            </a:pPr>
            <a:r>
              <a:rPr sz="1300" b="1" u="sng" spc="-10" dirty="0">
                <a:uFill>
                  <a:solidFill>
                    <a:srgbClr val="000000"/>
                  </a:solidFill>
                </a:uFill>
                <a:latin typeface="Bookman Old Style" panose="02050604050505020204" pitchFamily="18" charset="0"/>
                <a:cs typeface="Times New Roman"/>
              </a:rPr>
              <a:t>Exemple:</a:t>
            </a:r>
            <a:endParaRPr sz="1300" dirty="0">
              <a:latin typeface="Bookman Old Style" panose="02050604050505020204" pitchFamily="18" charset="0"/>
              <a:cs typeface="Times New Roman"/>
            </a:endParaRPr>
          </a:p>
        </p:txBody>
      </p:sp>
      <p:sp>
        <p:nvSpPr>
          <p:cNvPr id="13" name="object 2">
            <a:extLst>
              <a:ext uri="{FF2B5EF4-FFF2-40B4-BE49-F238E27FC236}">
                <a16:creationId xmlns:a16="http://schemas.microsoft.com/office/drawing/2014/main" id="{5DB321F4-7E7B-A635-754B-258A6388C1A8}"/>
              </a:ext>
            </a:extLst>
          </p:cNvPr>
          <p:cNvSpPr/>
          <p:nvPr/>
        </p:nvSpPr>
        <p:spPr>
          <a:xfrm>
            <a:off x="6863644" y="1994723"/>
            <a:ext cx="265430" cy="1844039"/>
          </a:xfrm>
          <a:custGeom>
            <a:avLst/>
            <a:gdLst/>
            <a:ahLst/>
            <a:cxnLst/>
            <a:rect l="l" t="t" r="r" b="b"/>
            <a:pathLst>
              <a:path w="265429" h="1844039">
                <a:moveTo>
                  <a:pt x="0" y="1438656"/>
                </a:moveTo>
                <a:lnTo>
                  <a:pt x="265175" y="1438656"/>
                </a:lnTo>
                <a:lnTo>
                  <a:pt x="265175" y="394716"/>
                </a:lnTo>
                <a:lnTo>
                  <a:pt x="0" y="394716"/>
                </a:lnTo>
                <a:lnTo>
                  <a:pt x="0" y="1438656"/>
                </a:lnTo>
                <a:close/>
              </a:path>
              <a:path w="265429" h="1844039">
                <a:moveTo>
                  <a:pt x="132587" y="1438656"/>
                </a:moveTo>
                <a:lnTo>
                  <a:pt x="132587" y="1843659"/>
                </a:lnTo>
              </a:path>
              <a:path w="265429" h="1844039">
                <a:moveTo>
                  <a:pt x="132587" y="0"/>
                </a:moveTo>
                <a:lnTo>
                  <a:pt x="132587" y="405002"/>
                </a:lnTo>
              </a:path>
            </a:pathLst>
          </a:custGeom>
          <a:ln w="57912">
            <a:solidFill>
              <a:srgbClr val="000000"/>
            </a:solidFill>
          </a:ln>
        </p:spPr>
        <p:txBody>
          <a:bodyPr wrap="square" lIns="0" tIns="0" rIns="0" bIns="0" rtlCol="0"/>
          <a:lstStyle/>
          <a:p>
            <a:endParaRPr sz="1100">
              <a:latin typeface="Bookman Old Style" panose="02050604050505020204" pitchFamily="18" charset="0"/>
            </a:endParaRPr>
          </a:p>
        </p:txBody>
      </p:sp>
      <p:sp>
        <p:nvSpPr>
          <p:cNvPr id="37" name="object 20">
            <a:extLst>
              <a:ext uri="{FF2B5EF4-FFF2-40B4-BE49-F238E27FC236}">
                <a16:creationId xmlns:a16="http://schemas.microsoft.com/office/drawing/2014/main" id="{3DB95312-884C-9FA5-42B4-4B06321FA788}"/>
              </a:ext>
            </a:extLst>
          </p:cNvPr>
          <p:cNvSpPr txBox="1"/>
          <p:nvPr/>
        </p:nvSpPr>
        <p:spPr>
          <a:xfrm>
            <a:off x="7840377" y="1792212"/>
            <a:ext cx="190500" cy="182101"/>
          </a:xfrm>
          <a:prstGeom prst="rect">
            <a:avLst/>
          </a:prstGeom>
        </p:spPr>
        <p:txBody>
          <a:bodyPr vert="horz" wrap="square" lIns="0" tIns="12700" rIns="0" bIns="0" rtlCol="0">
            <a:spAutoFit/>
          </a:bodyPr>
          <a:lstStyle/>
          <a:p>
            <a:pPr marL="12700">
              <a:lnSpc>
                <a:spcPct val="100000"/>
              </a:lnSpc>
              <a:spcBef>
                <a:spcPts val="100"/>
              </a:spcBef>
            </a:pPr>
            <a:r>
              <a:rPr sz="1100" b="1" spc="-50" dirty="0">
                <a:solidFill>
                  <a:srgbClr val="FF0000"/>
                </a:solidFill>
                <a:latin typeface="Bookman Old Style" panose="02050604050505020204" pitchFamily="18" charset="0"/>
                <a:cs typeface="Times New Roman"/>
              </a:rPr>
              <a:t>A</a:t>
            </a:r>
            <a:endParaRPr sz="1100" dirty="0">
              <a:solidFill>
                <a:srgbClr val="FF0000"/>
              </a:solidFill>
              <a:latin typeface="Bookman Old Style" panose="02050604050505020204" pitchFamily="18" charset="0"/>
              <a:cs typeface="Times New Roman"/>
            </a:endParaRPr>
          </a:p>
        </p:txBody>
      </p:sp>
      <p:sp>
        <p:nvSpPr>
          <p:cNvPr id="39" name="object 21">
            <a:extLst>
              <a:ext uri="{FF2B5EF4-FFF2-40B4-BE49-F238E27FC236}">
                <a16:creationId xmlns:a16="http://schemas.microsoft.com/office/drawing/2014/main" id="{520C4540-F584-0621-147A-F19F384DB445}"/>
              </a:ext>
            </a:extLst>
          </p:cNvPr>
          <p:cNvSpPr txBox="1"/>
          <p:nvPr/>
        </p:nvSpPr>
        <p:spPr>
          <a:xfrm>
            <a:off x="7852442" y="3838762"/>
            <a:ext cx="178435" cy="182101"/>
          </a:xfrm>
          <a:prstGeom prst="rect">
            <a:avLst/>
          </a:prstGeom>
        </p:spPr>
        <p:txBody>
          <a:bodyPr vert="horz" wrap="square" lIns="0" tIns="12700" rIns="0" bIns="0" rtlCol="0">
            <a:spAutoFit/>
          </a:bodyPr>
          <a:lstStyle/>
          <a:p>
            <a:pPr marL="12700">
              <a:lnSpc>
                <a:spcPct val="100000"/>
              </a:lnSpc>
              <a:spcBef>
                <a:spcPts val="100"/>
              </a:spcBef>
            </a:pPr>
            <a:r>
              <a:rPr sz="1100" b="1" spc="-50" dirty="0">
                <a:solidFill>
                  <a:srgbClr val="FF0000"/>
                </a:solidFill>
                <a:latin typeface="Bookman Old Style" panose="02050604050505020204" pitchFamily="18" charset="0"/>
                <a:cs typeface="Times New Roman"/>
              </a:rPr>
              <a:t>B</a:t>
            </a:r>
            <a:endParaRPr sz="1100" dirty="0">
              <a:solidFill>
                <a:srgbClr val="FF0000"/>
              </a:solidFill>
              <a:latin typeface="Bookman Old Style" panose="02050604050505020204" pitchFamily="18" charset="0"/>
              <a:cs typeface="Times New Roman"/>
            </a:endParaRPr>
          </a:p>
        </p:txBody>
      </p:sp>
      <p:sp>
        <p:nvSpPr>
          <p:cNvPr id="64" name="object 33">
            <a:extLst>
              <a:ext uri="{FF2B5EF4-FFF2-40B4-BE49-F238E27FC236}">
                <a16:creationId xmlns:a16="http://schemas.microsoft.com/office/drawing/2014/main" id="{19BB5A6B-9F66-418D-9036-25961935AC37}"/>
              </a:ext>
            </a:extLst>
          </p:cNvPr>
          <p:cNvSpPr txBox="1"/>
          <p:nvPr/>
        </p:nvSpPr>
        <p:spPr>
          <a:xfrm>
            <a:off x="6567258" y="2735139"/>
            <a:ext cx="278765" cy="182101"/>
          </a:xfrm>
          <a:prstGeom prst="rect">
            <a:avLst/>
          </a:prstGeom>
        </p:spPr>
        <p:txBody>
          <a:bodyPr vert="horz" wrap="square" lIns="0" tIns="12700" rIns="0" bIns="0" rtlCol="0">
            <a:spAutoFit/>
          </a:bodyPr>
          <a:lstStyle/>
          <a:p>
            <a:pPr marL="38100">
              <a:lnSpc>
                <a:spcPct val="100000"/>
              </a:lnSpc>
              <a:spcBef>
                <a:spcPts val="100"/>
              </a:spcBef>
            </a:pPr>
            <a:r>
              <a:rPr sz="1100" spc="-25" dirty="0">
                <a:latin typeface="Bookman Old Style" panose="02050604050505020204" pitchFamily="18" charset="0"/>
                <a:cs typeface="Cambria Math"/>
              </a:rPr>
              <a:t>𝑹</a:t>
            </a:r>
            <a:r>
              <a:rPr sz="1100" spc="-37" baseline="-16666" dirty="0">
                <a:latin typeface="Bookman Old Style" panose="02050604050505020204" pitchFamily="18" charset="0"/>
                <a:cs typeface="Cambria Math"/>
              </a:rPr>
              <a:t>𝟐</a:t>
            </a:r>
            <a:endParaRPr sz="1100" baseline="-16666" dirty="0">
              <a:latin typeface="Bookman Old Style" panose="02050604050505020204" pitchFamily="18" charset="0"/>
              <a:cs typeface="Cambria Math"/>
            </a:endParaRPr>
          </a:p>
        </p:txBody>
      </p:sp>
      <p:sp>
        <p:nvSpPr>
          <p:cNvPr id="65" name="object 34">
            <a:extLst>
              <a:ext uri="{FF2B5EF4-FFF2-40B4-BE49-F238E27FC236}">
                <a16:creationId xmlns:a16="http://schemas.microsoft.com/office/drawing/2014/main" id="{D8AB1FA2-5044-BCEB-B2DC-AA5A04CE2C36}"/>
              </a:ext>
            </a:extLst>
          </p:cNvPr>
          <p:cNvSpPr txBox="1"/>
          <p:nvPr/>
        </p:nvSpPr>
        <p:spPr>
          <a:xfrm>
            <a:off x="3957351" y="2699434"/>
            <a:ext cx="142875" cy="182101"/>
          </a:xfrm>
          <a:prstGeom prst="rect">
            <a:avLst/>
          </a:prstGeom>
        </p:spPr>
        <p:txBody>
          <a:bodyPr vert="horz" wrap="square" lIns="0" tIns="12700" rIns="0" bIns="0" rtlCol="0">
            <a:spAutoFit/>
          </a:bodyPr>
          <a:lstStyle/>
          <a:p>
            <a:pPr marL="12700">
              <a:lnSpc>
                <a:spcPct val="100000"/>
              </a:lnSpc>
              <a:spcBef>
                <a:spcPts val="100"/>
              </a:spcBef>
            </a:pPr>
            <a:r>
              <a:rPr sz="1100" spc="-50" dirty="0">
                <a:latin typeface="Bookman Old Style" panose="02050604050505020204" pitchFamily="18" charset="0"/>
                <a:cs typeface="Cambria Math"/>
              </a:rPr>
              <a:t>𝑬</a:t>
            </a:r>
            <a:endParaRPr sz="1100" dirty="0">
              <a:latin typeface="Bookman Old Style" panose="02050604050505020204" pitchFamily="18" charset="0"/>
              <a:cs typeface="Cambria Math"/>
            </a:endParaRPr>
          </a:p>
        </p:txBody>
      </p:sp>
      <p:sp>
        <p:nvSpPr>
          <p:cNvPr id="69" name="object 35">
            <a:extLst>
              <a:ext uri="{FF2B5EF4-FFF2-40B4-BE49-F238E27FC236}">
                <a16:creationId xmlns:a16="http://schemas.microsoft.com/office/drawing/2014/main" id="{B840BBCC-DF56-91CD-B4FC-23CB7B2EAB75}"/>
              </a:ext>
            </a:extLst>
          </p:cNvPr>
          <p:cNvSpPr txBox="1"/>
          <p:nvPr/>
        </p:nvSpPr>
        <p:spPr>
          <a:xfrm>
            <a:off x="8153400" y="2756117"/>
            <a:ext cx="154940" cy="182742"/>
          </a:xfrm>
          <a:prstGeom prst="rect">
            <a:avLst/>
          </a:prstGeom>
        </p:spPr>
        <p:txBody>
          <a:bodyPr vert="horz" wrap="square" lIns="0" tIns="13335" rIns="0" bIns="0" rtlCol="0">
            <a:spAutoFit/>
          </a:bodyPr>
          <a:lstStyle/>
          <a:p>
            <a:pPr marL="12700">
              <a:lnSpc>
                <a:spcPct val="100000"/>
              </a:lnSpc>
              <a:spcBef>
                <a:spcPts val="105"/>
              </a:spcBef>
            </a:pPr>
            <a:r>
              <a:rPr sz="1100" b="1" spc="-50" dirty="0">
                <a:latin typeface="Bookman Old Style" panose="02050604050505020204" pitchFamily="18" charset="0"/>
                <a:cs typeface="Times New Roman"/>
              </a:rPr>
              <a:t>R</a:t>
            </a:r>
            <a:endParaRPr sz="1100" dirty="0">
              <a:latin typeface="Bookman Old Style" panose="02050604050505020204" pitchFamily="18" charset="0"/>
              <a:cs typeface="Times New Roman"/>
            </a:endParaRPr>
          </a:p>
        </p:txBody>
      </p:sp>
      <p:sp>
        <p:nvSpPr>
          <p:cNvPr id="71" name="object 36">
            <a:extLst>
              <a:ext uri="{FF2B5EF4-FFF2-40B4-BE49-F238E27FC236}">
                <a16:creationId xmlns:a16="http://schemas.microsoft.com/office/drawing/2014/main" id="{59907771-301D-B3B2-C5F3-103B62024055}"/>
              </a:ext>
            </a:extLst>
          </p:cNvPr>
          <p:cNvSpPr txBox="1"/>
          <p:nvPr/>
        </p:nvSpPr>
        <p:spPr>
          <a:xfrm>
            <a:off x="5690717" y="1631863"/>
            <a:ext cx="278765" cy="182742"/>
          </a:xfrm>
          <a:prstGeom prst="rect">
            <a:avLst/>
          </a:prstGeom>
        </p:spPr>
        <p:txBody>
          <a:bodyPr vert="horz" wrap="square" lIns="0" tIns="13335" rIns="0" bIns="0" rtlCol="0">
            <a:spAutoFit/>
          </a:bodyPr>
          <a:lstStyle/>
          <a:p>
            <a:pPr marL="38100">
              <a:lnSpc>
                <a:spcPct val="100000"/>
              </a:lnSpc>
              <a:spcBef>
                <a:spcPts val="105"/>
              </a:spcBef>
            </a:pPr>
            <a:r>
              <a:rPr sz="1100" spc="-25" dirty="0">
                <a:latin typeface="Bookman Old Style" panose="02050604050505020204" pitchFamily="18" charset="0"/>
                <a:cs typeface="Cambria Math"/>
              </a:rPr>
              <a:t>𝑹</a:t>
            </a:r>
            <a:r>
              <a:rPr sz="1100" spc="-37" baseline="-16666" dirty="0">
                <a:latin typeface="Bookman Old Style" panose="02050604050505020204" pitchFamily="18" charset="0"/>
                <a:cs typeface="Cambria Math"/>
              </a:rPr>
              <a:t>𝟏</a:t>
            </a:r>
            <a:endParaRPr sz="1100" baseline="-16666" dirty="0">
              <a:latin typeface="Bookman Old Style" panose="02050604050505020204" pitchFamily="18" charset="0"/>
              <a:cs typeface="Cambria Math"/>
            </a:endParaRPr>
          </a:p>
        </p:txBody>
      </p:sp>
      <p:sp>
        <p:nvSpPr>
          <p:cNvPr id="72" name="object 37">
            <a:extLst>
              <a:ext uri="{FF2B5EF4-FFF2-40B4-BE49-F238E27FC236}">
                <a16:creationId xmlns:a16="http://schemas.microsoft.com/office/drawing/2014/main" id="{70710ED4-1EF5-BD86-9E7C-FB9C964EE12C}"/>
              </a:ext>
            </a:extLst>
          </p:cNvPr>
          <p:cNvSpPr txBox="1"/>
          <p:nvPr/>
        </p:nvSpPr>
        <p:spPr>
          <a:xfrm>
            <a:off x="-8845" y="1700841"/>
            <a:ext cx="3883307" cy="182742"/>
          </a:xfrm>
          <a:prstGeom prst="rect">
            <a:avLst/>
          </a:prstGeom>
        </p:spPr>
        <p:txBody>
          <a:bodyPr vert="horz" wrap="square" lIns="0" tIns="13335" rIns="0" bIns="0" rtlCol="0">
            <a:spAutoFit/>
          </a:bodyPr>
          <a:lstStyle/>
          <a:p>
            <a:pPr marL="749935" marR="30480" indent="-712470">
              <a:lnSpc>
                <a:spcPct val="100000"/>
              </a:lnSpc>
              <a:spcBef>
                <a:spcPts val="105"/>
              </a:spcBef>
              <a:tabLst>
                <a:tab pos="1706245" algn="l"/>
              </a:tabLst>
            </a:pPr>
            <a:r>
              <a:rPr sz="1100" b="1" dirty="0">
                <a:solidFill>
                  <a:srgbClr val="3333FF"/>
                </a:solidFill>
                <a:latin typeface="Bookman Old Style" panose="02050604050505020204" pitchFamily="18" charset="0"/>
                <a:cs typeface="Times New Roman"/>
              </a:rPr>
              <a:t>Étape</a:t>
            </a:r>
            <a:r>
              <a:rPr sz="1100" b="1" spc="-20" dirty="0">
                <a:solidFill>
                  <a:srgbClr val="3333FF"/>
                </a:solidFill>
                <a:latin typeface="Bookman Old Style" panose="02050604050505020204" pitchFamily="18" charset="0"/>
                <a:cs typeface="Times New Roman"/>
              </a:rPr>
              <a:t> </a:t>
            </a:r>
            <a:r>
              <a:rPr sz="1100" b="1" dirty="0">
                <a:solidFill>
                  <a:srgbClr val="3333FF"/>
                </a:solidFill>
                <a:latin typeface="Bookman Old Style" panose="02050604050505020204" pitchFamily="18" charset="0"/>
                <a:cs typeface="Times New Roman"/>
              </a:rPr>
              <a:t>1</a:t>
            </a:r>
            <a:r>
              <a:rPr sz="1100" b="1" spc="-15" dirty="0">
                <a:solidFill>
                  <a:srgbClr val="3333FF"/>
                </a:solidFill>
                <a:latin typeface="Bookman Old Style" panose="02050604050505020204" pitchFamily="18" charset="0"/>
                <a:cs typeface="Times New Roman"/>
              </a:rPr>
              <a:t> </a:t>
            </a:r>
            <a:r>
              <a:rPr sz="1100" b="1" dirty="0">
                <a:solidFill>
                  <a:srgbClr val="3333FF"/>
                </a:solidFill>
                <a:latin typeface="Bookman Old Style" panose="02050604050505020204" pitchFamily="18" charset="0"/>
                <a:cs typeface="Times New Roman"/>
              </a:rPr>
              <a:t>:</a:t>
            </a:r>
            <a:r>
              <a:rPr sz="1100" b="1" spc="-15" dirty="0">
                <a:solidFill>
                  <a:srgbClr val="3333FF"/>
                </a:solidFill>
                <a:latin typeface="Bookman Old Style" panose="02050604050505020204" pitchFamily="18" charset="0"/>
                <a:cs typeface="Times New Roman"/>
              </a:rPr>
              <a:t> </a:t>
            </a:r>
            <a:r>
              <a:rPr sz="1100" dirty="0">
                <a:latin typeface="Bookman Old Style" panose="02050604050505020204" pitchFamily="18" charset="0"/>
                <a:cs typeface="Times New Roman"/>
              </a:rPr>
              <a:t>Déterminer</a:t>
            </a:r>
            <a:r>
              <a:rPr sz="1100" spc="-15" dirty="0">
                <a:latin typeface="Bookman Old Style" panose="02050604050505020204" pitchFamily="18" charset="0"/>
                <a:cs typeface="Times New Roman"/>
              </a:rPr>
              <a:t> </a:t>
            </a:r>
            <a:r>
              <a:rPr sz="1100" dirty="0">
                <a:latin typeface="Bookman Old Style" panose="02050604050505020204" pitchFamily="18" charset="0"/>
                <a:cs typeface="Times New Roman"/>
              </a:rPr>
              <a:t>la</a:t>
            </a:r>
            <a:r>
              <a:rPr sz="1100" spc="-10" dirty="0">
                <a:latin typeface="Bookman Old Style" panose="02050604050505020204" pitchFamily="18" charset="0"/>
                <a:cs typeface="Times New Roman"/>
              </a:rPr>
              <a:t> résistance </a:t>
            </a:r>
            <a:r>
              <a:rPr sz="1100" dirty="0">
                <a:latin typeface="Bookman Old Style" panose="02050604050505020204" pitchFamily="18" charset="0"/>
                <a:cs typeface="Times New Roman"/>
              </a:rPr>
              <a:t>de</a:t>
            </a:r>
            <a:r>
              <a:rPr sz="1100" spc="-25" dirty="0">
                <a:latin typeface="Bookman Old Style" panose="02050604050505020204" pitchFamily="18" charset="0"/>
                <a:cs typeface="Times New Roman"/>
              </a:rPr>
              <a:t> </a:t>
            </a:r>
            <a:r>
              <a:rPr sz="1100" spc="-10" dirty="0">
                <a:latin typeface="Bookman Old Style" panose="02050604050505020204" pitchFamily="18" charset="0"/>
                <a:cs typeface="Times New Roman"/>
              </a:rPr>
              <a:t>Norton</a:t>
            </a:r>
            <a:r>
              <a:rPr lang="fr-FR" sz="1100" spc="-10" dirty="0">
                <a:latin typeface="Bookman Old Style" panose="02050604050505020204" pitchFamily="18" charset="0"/>
                <a:cs typeface="Times New Roman"/>
              </a:rPr>
              <a:t> </a:t>
            </a:r>
            <a:r>
              <a:rPr sz="1100" b="1" spc="-20" dirty="0">
                <a:latin typeface="Bookman Old Style" panose="02050604050505020204" pitchFamily="18" charset="0"/>
                <a:cs typeface="Cambria Math"/>
              </a:rPr>
              <a:t>(𝑹</a:t>
            </a:r>
            <a:r>
              <a:rPr sz="1100" b="1" spc="-30" baseline="-16666" dirty="0">
                <a:latin typeface="Bookman Old Style" panose="02050604050505020204" pitchFamily="18" charset="0"/>
                <a:cs typeface="Cambria Math"/>
              </a:rPr>
              <a:t>𝑵</a:t>
            </a:r>
            <a:r>
              <a:rPr sz="1100" b="1" spc="-20" dirty="0">
                <a:latin typeface="Bookman Old Style" panose="02050604050505020204" pitchFamily="18" charset="0"/>
                <a:cs typeface="Times New Roman"/>
              </a:rPr>
              <a:t>)</a:t>
            </a:r>
            <a:endParaRPr sz="1100" b="1" dirty="0">
              <a:latin typeface="Bookman Old Style" panose="02050604050505020204" pitchFamily="18" charset="0"/>
              <a:cs typeface="Times New Roman"/>
            </a:endParaRPr>
          </a:p>
        </p:txBody>
      </p:sp>
      <p:sp>
        <p:nvSpPr>
          <p:cNvPr id="73" name="object 38">
            <a:extLst>
              <a:ext uri="{FF2B5EF4-FFF2-40B4-BE49-F238E27FC236}">
                <a16:creationId xmlns:a16="http://schemas.microsoft.com/office/drawing/2014/main" id="{2076C28B-26A6-DD05-5672-A9A0595B4128}"/>
              </a:ext>
            </a:extLst>
          </p:cNvPr>
          <p:cNvSpPr txBox="1"/>
          <p:nvPr/>
        </p:nvSpPr>
        <p:spPr>
          <a:xfrm>
            <a:off x="-8845" y="2229517"/>
            <a:ext cx="3607054" cy="182101"/>
          </a:xfrm>
          <a:prstGeom prst="rect">
            <a:avLst/>
          </a:prstGeom>
        </p:spPr>
        <p:txBody>
          <a:bodyPr vert="horz" wrap="square" lIns="0" tIns="12700" rIns="0" bIns="0" rtlCol="0">
            <a:spAutoFit/>
          </a:bodyPr>
          <a:lstStyle/>
          <a:p>
            <a:pPr marL="38100" algn="just">
              <a:lnSpc>
                <a:spcPct val="100000"/>
              </a:lnSpc>
              <a:spcBef>
                <a:spcPts val="100"/>
              </a:spcBef>
            </a:pPr>
            <a:r>
              <a:rPr sz="1100" b="1" dirty="0">
                <a:solidFill>
                  <a:srgbClr val="3333FF"/>
                </a:solidFill>
                <a:latin typeface="Bookman Old Style" panose="02050604050505020204" pitchFamily="18" charset="0"/>
                <a:cs typeface="Times New Roman"/>
              </a:rPr>
              <a:t>Étape</a:t>
            </a:r>
            <a:r>
              <a:rPr sz="1100" b="1" spc="-20" dirty="0">
                <a:solidFill>
                  <a:srgbClr val="3333FF"/>
                </a:solidFill>
                <a:latin typeface="Bookman Old Style" panose="02050604050505020204" pitchFamily="18" charset="0"/>
                <a:cs typeface="Times New Roman"/>
              </a:rPr>
              <a:t> </a:t>
            </a:r>
            <a:r>
              <a:rPr sz="1100" b="1" dirty="0">
                <a:solidFill>
                  <a:srgbClr val="3333FF"/>
                </a:solidFill>
                <a:latin typeface="Bookman Old Style" panose="02050604050505020204" pitchFamily="18" charset="0"/>
                <a:cs typeface="Times New Roman"/>
              </a:rPr>
              <a:t>2</a:t>
            </a:r>
            <a:r>
              <a:rPr sz="1100" b="1" spc="-15" dirty="0">
                <a:solidFill>
                  <a:srgbClr val="3333FF"/>
                </a:solidFill>
                <a:latin typeface="Bookman Old Style" panose="02050604050505020204" pitchFamily="18" charset="0"/>
                <a:cs typeface="Times New Roman"/>
              </a:rPr>
              <a:t> </a:t>
            </a:r>
            <a:r>
              <a:rPr sz="1100" b="1" dirty="0">
                <a:solidFill>
                  <a:srgbClr val="3333FF"/>
                </a:solidFill>
                <a:latin typeface="Bookman Old Style" panose="02050604050505020204" pitchFamily="18" charset="0"/>
                <a:cs typeface="Times New Roman"/>
              </a:rPr>
              <a:t>:</a:t>
            </a:r>
            <a:r>
              <a:rPr sz="1100" b="1" spc="-15" dirty="0">
                <a:solidFill>
                  <a:srgbClr val="3333FF"/>
                </a:solidFill>
                <a:latin typeface="Bookman Old Style" panose="02050604050505020204" pitchFamily="18" charset="0"/>
                <a:cs typeface="Times New Roman"/>
              </a:rPr>
              <a:t> </a:t>
            </a:r>
            <a:r>
              <a:rPr sz="1100" dirty="0">
                <a:latin typeface="Bookman Old Style" panose="02050604050505020204" pitchFamily="18" charset="0"/>
                <a:cs typeface="Times New Roman"/>
              </a:rPr>
              <a:t>Déterminer</a:t>
            </a:r>
            <a:r>
              <a:rPr sz="1100" spc="-15" dirty="0">
                <a:latin typeface="Bookman Old Style" panose="02050604050505020204" pitchFamily="18" charset="0"/>
                <a:cs typeface="Times New Roman"/>
              </a:rPr>
              <a:t> </a:t>
            </a:r>
            <a:r>
              <a:rPr sz="1100" dirty="0">
                <a:latin typeface="Bookman Old Style" panose="02050604050505020204" pitchFamily="18" charset="0"/>
                <a:cs typeface="Times New Roman"/>
              </a:rPr>
              <a:t>le</a:t>
            </a:r>
            <a:r>
              <a:rPr sz="1100" spc="-10" dirty="0">
                <a:latin typeface="Bookman Old Style" panose="02050604050505020204" pitchFamily="18" charset="0"/>
                <a:cs typeface="Times New Roman"/>
              </a:rPr>
              <a:t> courant</a:t>
            </a:r>
            <a:r>
              <a:rPr lang="fr-FR" sz="1100" spc="-10" dirty="0">
                <a:latin typeface="Bookman Old Style" panose="02050604050505020204" pitchFamily="18" charset="0"/>
                <a:cs typeface="Times New Roman"/>
              </a:rPr>
              <a:t> </a:t>
            </a:r>
            <a:r>
              <a:rPr sz="1100" dirty="0">
                <a:latin typeface="Bookman Old Style" panose="02050604050505020204" pitchFamily="18" charset="0"/>
                <a:cs typeface="Times New Roman"/>
              </a:rPr>
              <a:t>de </a:t>
            </a:r>
            <a:r>
              <a:rPr lang="fr-FR" sz="1100" dirty="0">
                <a:latin typeface="Bookman Old Style" panose="02050604050505020204" pitchFamily="18" charset="0"/>
                <a:cs typeface="Times New Roman"/>
              </a:rPr>
              <a:t>   </a:t>
            </a:r>
            <a:r>
              <a:rPr sz="1100" dirty="0">
                <a:latin typeface="Bookman Old Style" panose="02050604050505020204" pitchFamily="18" charset="0"/>
                <a:cs typeface="Times New Roman"/>
              </a:rPr>
              <a:t>Norton</a:t>
            </a:r>
            <a:r>
              <a:rPr lang="fr-FR" sz="1100" dirty="0">
                <a:latin typeface="Bookman Old Style" panose="02050604050505020204" pitchFamily="18" charset="0"/>
                <a:cs typeface="Times New Roman"/>
              </a:rPr>
              <a:t> </a:t>
            </a:r>
            <a:r>
              <a:rPr lang="fr-FR" sz="1100" b="1" spc="-20" dirty="0">
                <a:latin typeface="Bookman Old Style" panose="02050604050505020204" pitchFamily="18" charset="0"/>
                <a:cs typeface="Cambria Math"/>
              </a:rPr>
              <a:t>(I</a:t>
            </a:r>
            <a:r>
              <a:rPr lang="fr-FR" sz="1100" b="1" spc="-30" baseline="-16666" dirty="0">
                <a:latin typeface="Bookman Old Style" panose="02050604050505020204" pitchFamily="18" charset="0"/>
                <a:cs typeface="Cambria Math"/>
              </a:rPr>
              <a:t>𝑵</a:t>
            </a:r>
            <a:r>
              <a:rPr lang="fr-FR" sz="1100" b="1" spc="-20" dirty="0">
                <a:latin typeface="Bookman Old Style" panose="02050604050505020204" pitchFamily="18" charset="0"/>
                <a:cs typeface="Times New Roman"/>
              </a:rPr>
              <a:t>)</a:t>
            </a:r>
            <a:endParaRPr sz="1100" b="1" dirty="0">
              <a:latin typeface="Bookman Old Style" panose="02050604050505020204" pitchFamily="18" charset="0"/>
              <a:cs typeface="Times New Roman"/>
            </a:endParaRPr>
          </a:p>
        </p:txBody>
      </p:sp>
      <p:sp>
        <p:nvSpPr>
          <p:cNvPr id="84" name="object 49">
            <a:extLst>
              <a:ext uri="{FF2B5EF4-FFF2-40B4-BE49-F238E27FC236}">
                <a16:creationId xmlns:a16="http://schemas.microsoft.com/office/drawing/2014/main" id="{454FC061-15D4-D008-C1A2-D310341A0E31}"/>
              </a:ext>
            </a:extLst>
          </p:cNvPr>
          <p:cNvSpPr txBox="1"/>
          <p:nvPr/>
        </p:nvSpPr>
        <p:spPr>
          <a:xfrm>
            <a:off x="7129074" y="1742002"/>
            <a:ext cx="302895" cy="182101"/>
          </a:xfrm>
          <a:prstGeom prst="rect">
            <a:avLst/>
          </a:prstGeom>
        </p:spPr>
        <p:txBody>
          <a:bodyPr vert="horz" wrap="square" lIns="0" tIns="12700" rIns="0" bIns="0" rtlCol="0">
            <a:spAutoFit/>
          </a:bodyPr>
          <a:lstStyle/>
          <a:p>
            <a:pPr marL="38100">
              <a:lnSpc>
                <a:spcPct val="100000"/>
              </a:lnSpc>
              <a:spcBef>
                <a:spcPts val="100"/>
              </a:spcBef>
            </a:pPr>
            <a:r>
              <a:rPr sz="1100" spc="-25" dirty="0">
                <a:solidFill>
                  <a:srgbClr val="C00000"/>
                </a:solidFill>
                <a:latin typeface="Bookman Old Style" panose="02050604050505020204" pitchFamily="18" charset="0"/>
                <a:cs typeface="Cambria Math"/>
              </a:rPr>
              <a:t>𝑰</a:t>
            </a:r>
            <a:r>
              <a:rPr sz="1100" spc="-37" baseline="-14957" dirty="0">
                <a:solidFill>
                  <a:srgbClr val="C00000"/>
                </a:solidFill>
                <a:latin typeface="Bookman Old Style" panose="02050604050505020204" pitchFamily="18" charset="0"/>
                <a:cs typeface="Cambria Math"/>
              </a:rPr>
              <a:t>𝑵</a:t>
            </a:r>
            <a:endParaRPr sz="1100" baseline="-14957" dirty="0">
              <a:solidFill>
                <a:srgbClr val="C00000"/>
              </a:solidFill>
              <a:latin typeface="Bookman Old Style" panose="02050604050505020204" pitchFamily="18" charset="0"/>
              <a:cs typeface="Cambria Math"/>
            </a:endParaRPr>
          </a:p>
        </p:txBody>
      </p:sp>
      <p:sp>
        <p:nvSpPr>
          <p:cNvPr id="87" name="object 53">
            <a:extLst>
              <a:ext uri="{FF2B5EF4-FFF2-40B4-BE49-F238E27FC236}">
                <a16:creationId xmlns:a16="http://schemas.microsoft.com/office/drawing/2014/main" id="{F54E70D2-ACA8-ACF1-72FE-8E0261F34E37}"/>
              </a:ext>
            </a:extLst>
          </p:cNvPr>
          <p:cNvSpPr/>
          <p:nvPr/>
        </p:nvSpPr>
        <p:spPr>
          <a:xfrm>
            <a:off x="3799865" y="2126407"/>
            <a:ext cx="173990" cy="1639570"/>
          </a:xfrm>
          <a:custGeom>
            <a:avLst/>
            <a:gdLst/>
            <a:ahLst/>
            <a:cxnLst/>
            <a:rect l="l" t="t" r="r" b="b"/>
            <a:pathLst>
              <a:path w="173989" h="1639570">
                <a:moveTo>
                  <a:pt x="115823" y="144780"/>
                </a:moveTo>
                <a:lnTo>
                  <a:pt x="57912" y="144780"/>
                </a:lnTo>
                <a:lnTo>
                  <a:pt x="57912" y="1639189"/>
                </a:lnTo>
                <a:lnTo>
                  <a:pt x="115823" y="1639189"/>
                </a:lnTo>
                <a:lnTo>
                  <a:pt x="115823" y="144780"/>
                </a:lnTo>
                <a:close/>
              </a:path>
              <a:path w="173989" h="1639570">
                <a:moveTo>
                  <a:pt x="86867" y="0"/>
                </a:moveTo>
                <a:lnTo>
                  <a:pt x="0" y="173736"/>
                </a:lnTo>
                <a:lnTo>
                  <a:pt x="57912" y="173736"/>
                </a:lnTo>
                <a:lnTo>
                  <a:pt x="57912" y="144780"/>
                </a:lnTo>
                <a:lnTo>
                  <a:pt x="159257" y="144780"/>
                </a:lnTo>
                <a:lnTo>
                  <a:pt x="86867" y="0"/>
                </a:lnTo>
                <a:close/>
              </a:path>
              <a:path w="173989" h="1639570">
                <a:moveTo>
                  <a:pt x="159257" y="144780"/>
                </a:moveTo>
                <a:lnTo>
                  <a:pt x="115823" y="144780"/>
                </a:lnTo>
                <a:lnTo>
                  <a:pt x="115823" y="173736"/>
                </a:lnTo>
                <a:lnTo>
                  <a:pt x="173735" y="173736"/>
                </a:lnTo>
                <a:lnTo>
                  <a:pt x="159257" y="144780"/>
                </a:lnTo>
                <a:close/>
              </a:path>
            </a:pathLst>
          </a:custGeom>
          <a:solidFill>
            <a:srgbClr val="000000"/>
          </a:solidFill>
        </p:spPr>
        <p:txBody>
          <a:bodyPr wrap="square" lIns="0" tIns="0" rIns="0" bIns="0" rtlCol="0"/>
          <a:lstStyle/>
          <a:p>
            <a:endParaRPr sz="1100">
              <a:latin typeface="Bookman Old Style" panose="02050604050505020204" pitchFamily="18" charset="0"/>
            </a:endParaRPr>
          </a:p>
        </p:txBody>
      </p:sp>
      <p:sp>
        <p:nvSpPr>
          <p:cNvPr id="88" name="Oval 87">
            <a:extLst>
              <a:ext uri="{FF2B5EF4-FFF2-40B4-BE49-F238E27FC236}">
                <a16:creationId xmlns:a16="http://schemas.microsoft.com/office/drawing/2014/main" id="{18EE6D1D-C83E-2CFC-55A6-36A69364A05A}"/>
              </a:ext>
            </a:extLst>
          </p:cNvPr>
          <p:cNvSpPr/>
          <p:nvPr/>
        </p:nvSpPr>
        <p:spPr>
          <a:xfrm>
            <a:off x="4118376" y="2555287"/>
            <a:ext cx="533400" cy="476929"/>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90" name="Straight Connector 89">
            <a:extLst>
              <a:ext uri="{FF2B5EF4-FFF2-40B4-BE49-F238E27FC236}">
                <a16:creationId xmlns:a16="http://schemas.microsoft.com/office/drawing/2014/main" id="{C92F5500-F317-4483-A2FD-8E3D4A863049}"/>
              </a:ext>
            </a:extLst>
          </p:cNvPr>
          <p:cNvCxnSpPr>
            <a:cxnSpLocks/>
          </p:cNvCxnSpPr>
          <p:nvPr/>
        </p:nvCxnSpPr>
        <p:spPr>
          <a:xfrm>
            <a:off x="4396611" y="3028950"/>
            <a:ext cx="0" cy="809812"/>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3EED9B0E-3263-6CEE-DC68-C22EED07C7F3}"/>
              </a:ext>
            </a:extLst>
          </p:cNvPr>
          <p:cNvCxnSpPr>
            <a:cxnSpLocks/>
          </p:cNvCxnSpPr>
          <p:nvPr/>
        </p:nvCxnSpPr>
        <p:spPr>
          <a:xfrm flipH="1">
            <a:off x="4385076" y="3845294"/>
            <a:ext cx="2611283"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3DCB8F9F-8A97-A1AE-0737-3E2C3EBB68CD}"/>
              </a:ext>
            </a:extLst>
          </p:cNvPr>
          <p:cNvCxnSpPr>
            <a:cxnSpLocks/>
            <a:endCxn id="88" idx="0"/>
          </p:cNvCxnSpPr>
          <p:nvPr/>
        </p:nvCxnSpPr>
        <p:spPr>
          <a:xfrm flipH="1">
            <a:off x="4385076" y="1994723"/>
            <a:ext cx="11535" cy="560564"/>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object 2">
            <a:extLst>
              <a:ext uri="{FF2B5EF4-FFF2-40B4-BE49-F238E27FC236}">
                <a16:creationId xmlns:a16="http://schemas.microsoft.com/office/drawing/2014/main" id="{19D570B0-8FCF-3DA6-6ED1-BBB34B6CCF31}"/>
              </a:ext>
            </a:extLst>
          </p:cNvPr>
          <p:cNvSpPr/>
          <p:nvPr/>
        </p:nvSpPr>
        <p:spPr>
          <a:xfrm rot="5400000">
            <a:off x="5974481" y="1094279"/>
            <a:ext cx="265430" cy="1844039"/>
          </a:xfrm>
          <a:custGeom>
            <a:avLst/>
            <a:gdLst/>
            <a:ahLst/>
            <a:cxnLst/>
            <a:rect l="l" t="t" r="r" b="b"/>
            <a:pathLst>
              <a:path w="265429" h="1844039">
                <a:moveTo>
                  <a:pt x="0" y="1438656"/>
                </a:moveTo>
                <a:lnTo>
                  <a:pt x="265175" y="1438656"/>
                </a:lnTo>
                <a:lnTo>
                  <a:pt x="265175" y="394716"/>
                </a:lnTo>
                <a:lnTo>
                  <a:pt x="0" y="394716"/>
                </a:lnTo>
                <a:lnTo>
                  <a:pt x="0" y="1438656"/>
                </a:lnTo>
                <a:close/>
              </a:path>
              <a:path w="265429" h="1844039">
                <a:moveTo>
                  <a:pt x="132587" y="1438656"/>
                </a:moveTo>
                <a:lnTo>
                  <a:pt x="132587" y="1843659"/>
                </a:lnTo>
              </a:path>
              <a:path w="265429" h="1844039">
                <a:moveTo>
                  <a:pt x="132587" y="0"/>
                </a:moveTo>
                <a:lnTo>
                  <a:pt x="132587" y="405002"/>
                </a:lnTo>
              </a:path>
            </a:pathLst>
          </a:custGeom>
          <a:ln w="57912">
            <a:solidFill>
              <a:srgbClr val="000000"/>
            </a:solidFill>
          </a:ln>
        </p:spPr>
        <p:txBody>
          <a:bodyPr wrap="square" lIns="0" tIns="0" rIns="0" bIns="0" rtlCol="0"/>
          <a:lstStyle/>
          <a:p>
            <a:endParaRPr sz="1100">
              <a:latin typeface="Bookman Old Style" panose="02050604050505020204" pitchFamily="18" charset="0"/>
            </a:endParaRPr>
          </a:p>
        </p:txBody>
      </p:sp>
      <p:cxnSp>
        <p:nvCxnSpPr>
          <p:cNvPr id="107" name="Straight Connector 106">
            <a:extLst>
              <a:ext uri="{FF2B5EF4-FFF2-40B4-BE49-F238E27FC236}">
                <a16:creationId xmlns:a16="http://schemas.microsoft.com/office/drawing/2014/main" id="{44433585-B6AF-3BC4-2F77-7CCEDF693478}"/>
              </a:ext>
            </a:extLst>
          </p:cNvPr>
          <p:cNvCxnSpPr>
            <a:cxnSpLocks/>
          </p:cNvCxnSpPr>
          <p:nvPr/>
        </p:nvCxnSpPr>
        <p:spPr>
          <a:xfrm flipH="1">
            <a:off x="4385076" y="2016241"/>
            <a:ext cx="872724"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AAC5EB2A-E74B-2FA4-5A03-7F2BC3F39912}"/>
              </a:ext>
            </a:extLst>
          </p:cNvPr>
          <p:cNvCxnSpPr>
            <a:cxnSpLocks/>
          </p:cNvCxnSpPr>
          <p:nvPr/>
        </p:nvCxnSpPr>
        <p:spPr>
          <a:xfrm flipH="1">
            <a:off x="6996359" y="2010605"/>
            <a:ext cx="800100"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EF23F1B9-8213-3A55-EB45-71E4DDC94430}"/>
              </a:ext>
            </a:extLst>
          </p:cNvPr>
          <p:cNvCxnSpPr>
            <a:cxnSpLocks/>
          </p:cNvCxnSpPr>
          <p:nvPr/>
        </p:nvCxnSpPr>
        <p:spPr>
          <a:xfrm flipH="1">
            <a:off x="6996359" y="3849442"/>
            <a:ext cx="800100"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115" name="object 2">
            <a:extLst>
              <a:ext uri="{FF2B5EF4-FFF2-40B4-BE49-F238E27FC236}">
                <a16:creationId xmlns:a16="http://schemas.microsoft.com/office/drawing/2014/main" id="{E1CA6487-CC56-8A5C-8A24-B001E6B326A2}"/>
              </a:ext>
            </a:extLst>
          </p:cNvPr>
          <p:cNvSpPr/>
          <p:nvPr/>
        </p:nvSpPr>
        <p:spPr>
          <a:xfrm>
            <a:off x="7638825" y="1994722"/>
            <a:ext cx="287395" cy="1850572"/>
          </a:xfrm>
          <a:custGeom>
            <a:avLst/>
            <a:gdLst/>
            <a:ahLst/>
            <a:cxnLst/>
            <a:rect l="l" t="t" r="r" b="b"/>
            <a:pathLst>
              <a:path w="265429" h="1844039">
                <a:moveTo>
                  <a:pt x="0" y="1438656"/>
                </a:moveTo>
                <a:lnTo>
                  <a:pt x="265175" y="1438656"/>
                </a:lnTo>
                <a:lnTo>
                  <a:pt x="265175" y="394716"/>
                </a:lnTo>
                <a:lnTo>
                  <a:pt x="0" y="394716"/>
                </a:lnTo>
                <a:lnTo>
                  <a:pt x="0" y="1438656"/>
                </a:lnTo>
                <a:close/>
              </a:path>
              <a:path w="265429" h="1844039">
                <a:moveTo>
                  <a:pt x="132587" y="1438656"/>
                </a:moveTo>
                <a:lnTo>
                  <a:pt x="132587" y="1843659"/>
                </a:lnTo>
              </a:path>
              <a:path w="265429" h="1844039">
                <a:moveTo>
                  <a:pt x="132587" y="0"/>
                </a:moveTo>
                <a:lnTo>
                  <a:pt x="132587" y="405002"/>
                </a:lnTo>
              </a:path>
            </a:pathLst>
          </a:custGeom>
          <a:ln w="57912">
            <a:solidFill>
              <a:srgbClr val="000000"/>
            </a:solidFill>
          </a:ln>
        </p:spPr>
        <p:txBody>
          <a:bodyPr wrap="square" lIns="0" tIns="0" rIns="0" bIns="0" rtlCol="0"/>
          <a:lstStyle/>
          <a:p>
            <a:endParaRPr sz="1100">
              <a:latin typeface="Bookman Old Style" panose="02050604050505020204" pitchFamily="18" charset="0"/>
            </a:endParaRPr>
          </a:p>
        </p:txBody>
      </p:sp>
      <p:sp>
        <p:nvSpPr>
          <p:cNvPr id="116" name="Half Frame 115">
            <a:extLst>
              <a:ext uri="{FF2B5EF4-FFF2-40B4-BE49-F238E27FC236}">
                <a16:creationId xmlns:a16="http://schemas.microsoft.com/office/drawing/2014/main" id="{A4D75AA0-3921-B49B-47EC-EF7DB5B23D22}"/>
              </a:ext>
            </a:extLst>
          </p:cNvPr>
          <p:cNvSpPr/>
          <p:nvPr/>
        </p:nvSpPr>
        <p:spPr>
          <a:xfrm rot="8433411">
            <a:off x="7322246" y="1955000"/>
            <a:ext cx="121718" cy="126974"/>
          </a:xfrm>
          <a:prstGeom prst="halfFrame">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cxnSp>
        <p:nvCxnSpPr>
          <p:cNvPr id="117" name="Straight Connector 116">
            <a:extLst>
              <a:ext uri="{FF2B5EF4-FFF2-40B4-BE49-F238E27FC236}">
                <a16:creationId xmlns:a16="http://schemas.microsoft.com/office/drawing/2014/main" id="{2E04F943-4DB1-B3C7-3095-4E7F3E4D77D5}"/>
              </a:ext>
            </a:extLst>
          </p:cNvPr>
          <p:cNvCxnSpPr>
            <a:cxnSpLocks/>
            <a:endCxn id="88" idx="4"/>
          </p:cNvCxnSpPr>
          <p:nvPr/>
        </p:nvCxnSpPr>
        <p:spPr>
          <a:xfrm flipH="1">
            <a:off x="4385076" y="2488226"/>
            <a:ext cx="11535" cy="54399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4DFF681D-9ECF-885C-F027-08ACB74CBCFB}"/>
                  </a:ext>
                </a:extLst>
              </p:cNvPr>
              <p:cNvSpPr txBox="1"/>
              <p:nvPr/>
            </p:nvSpPr>
            <p:spPr>
              <a:xfrm>
                <a:off x="285919" y="3151920"/>
                <a:ext cx="1497013" cy="56387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𝑵</m:t>
                          </m:r>
                        </m:sub>
                      </m:sSub>
                      <m:r>
                        <a:rPr lang="fr-FR" b="1" i="1" smtClean="0">
                          <a:latin typeface="Cambria Math" panose="02040503050406030204" pitchFamily="18" charset="0"/>
                        </a:rPr>
                        <m:t>=</m:t>
                      </m:r>
                      <m:f>
                        <m:fPr>
                          <m:ctrlPr>
                            <a:rPr lang="fr-FR" b="1" i="1" smtClean="0">
                              <a:latin typeface="Cambria Math" panose="02040503050406030204" pitchFamily="18" charset="0"/>
                            </a:rPr>
                          </m:ctrlPr>
                        </m:fPr>
                        <m:num>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𝟏</m:t>
                              </m:r>
                            </m:sub>
                          </m:sSub>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𝟐</m:t>
                              </m:r>
                            </m:sub>
                          </m:sSub>
                        </m:num>
                        <m:den>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𝟏</m:t>
                              </m:r>
                            </m:sub>
                          </m:sSub>
                          <m:r>
                            <a:rPr lang="fr-FR" b="1" i="1" smtClean="0">
                              <a:latin typeface="Cambria Math" panose="02040503050406030204" pitchFamily="18" charset="0"/>
                            </a:rPr>
                            <m:t>+</m:t>
                          </m:r>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𝟐</m:t>
                              </m:r>
                            </m:sub>
                          </m:sSub>
                        </m:den>
                      </m:f>
                    </m:oMath>
                  </m:oMathPara>
                </a14:m>
                <a:endParaRPr lang="fr-FR" b="1" dirty="0"/>
              </a:p>
            </p:txBody>
          </p:sp>
        </mc:Choice>
        <mc:Fallback xmlns="">
          <p:sp>
            <p:nvSpPr>
              <p:cNvPr id="122" name="TextBox 121">
                <a:extLst>
                  <a:ext uri="{FF2B5EF4-FFF2-40B4-BE49-F238E27FC236}">
                    <a16:creationId xmlns:a16="http://schemas.microsoft.com/office/drawing/2014/main" id="{4DFF681D-9ECF-885C-F027-08ACB74CBCFB}"/>
                  </a:ext>
                </a:extLst>
              </p:cNvPr>
              <p:cNvSpPr txBox="1">
                <a:spLocks noRot="1" noChangeAspect="1" noMove="1" noResize="1" noEditPoints="1" noAdjustHandles="1" noChangeArrowheads="1" noChangeShapeType="1" noTextEdit="1"/>
              </p:cNvSpPr>
              <p:nvPr/>
            </p:nvSpPr>
            <p:spPr>
              <a:xfrm>
                <a:off x="285919" y="3151920"/>
                <a:ext cx="1497013" cy="563872"/>
              </a:xfrm>
              <a:prstGeom prst="rect">
                <a:avLst/>
              </a:prstGeom>
              <a:blipFill>
                <a:blip r:embed="rId3"/>
                <a:stretch>
                  <a:fillRect/>
                </a:stretch>
              </a:blipFill>
            </p:spPr>
            <p:txBody>
              <a:bodyPr/>
              <a:lstStyle/>
              <a:p>
                <a:r>
                  <a:rPr lang="fr-FR">
                    <a:noFill/>
                  </a:rPr>
                  <a:t> </a:t>
                </a:r>
              </a:p>
            </p:txBody>
          </p:sp>
        </mc:Fallback>
      </mc:AlternateContent>
      <p:cxnSp>
        <p:nvCxnSpPr>
          <p:cNvPr id="123" name="Straight Connector 122">
            <a:extLst>
              <a:ext uri="{FF2B5EF4-FFF2-40B4-BE49-F238E27FC236}">
                <a16:creationId xmlns:a16="http://schemas.microsoft.com/office/drawing/2014/main" id="{EBE6A4D0-BE14-B78F-2E03-C20D02F69A58}"/>
              </a:ext>
            </a:extLst>
          </p:cNvPr>
          <p:cNvCxnSpPr>
            <a:cxnSpLocks/>
          </p:cNvCxnSpPr>
          <p:nvPr/>
        </p:nvCxnSpPr>
        <p:spPr>
          <a:xfrm>
            <a:off x="7788070" y="2010605"/>
            <a:ext cx="0" cy="1834689"/>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25" name="Half Frame 124">
            <a:extLst>
              <a:ext uri="{FF2B5EF4-FFF2-40B4-BE49-F238E27FC236}">
                <a16:creationId xmlns:a16="http://schemas.microsoft.com/office/drawing/2014/main" id="{46D635E8-5BBA-1215-9088-78F54020A69E}"/>
              </a:ext>
            </a:extLst>
          </p:cNvPr>
          <p:cNvSpPr/>
          <p:nvPr/>
        </p:nvSpPr>
        <p:spPr>
          <a:xfrm rot="13660986">
            <a:off x="7735599" y="2137032"/>
            <a:ext cx="121718" cy="126974"/>
          </a:xfrm>
          <a:prstGeom prst="halfFrame">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126" name="object 49">
            <a:extLst>
              <a:ext uri="{FF2B5EF4-FFF2-40B4-BE49-F238E27FC236}">
                <a16:creationId xmlns:a16="http://schemas.microsoft.com/office/drawing/2014/main" id="{C69BDE03-97E2-895E-DA6A-B59BEC3B3622}"/>
              </a:ext>
            </a:extLst>
          </p:cNvPr>
          <p:cNvSpPr txBox="1"/>
          <p:nvPr/>
        </p:nvSpPr>
        <p:spPr>
          <a:xfrm>
            <a:off x="4871795" y="1673630"/>
            <a:ext cx="302895" cy="182101"/>
          </a:xfrm>
          <a:prstGeom prst="rect">
            <a:avLst/>
          </a:prstGeom>
        </p:spPr>
        <p:txBody>
          <a:bodyPr vert="horz" wrap="square" lIns="0" tIns="12700" rIns="0" bIns="0" rtlCol="0">
            <a:spAutoFit/>
          </a:bodyPr>
          <a:lstStyle/>
          <a:p>
            <a:pPr marL="38100">
              <a:lnSpc>
                <a:spcPct val="100000"/>
              </a:lnSpc>
              <a:spcBef>
                <a:spcPts val="100"/>
              </a:spcBef>
            </a:pPr>
            <a:r>
              <a:rPr sz="1100" spc="-25" dirty="0">
                <a:solidFill>
                  <a:srgbClr val="0000FF"/>
                </a:solidFill>
                <a:latin typeface="Bookman Old Style" panose="02050604050505020204" pitchFamily="18" charset="0"/>
                <a:cs typeface="Cambria Math"/>
              </a:rPr>
              <a:t>𝑰</a:t>
            </a:r>
            <a:r>
              <a:rPr sz="1100" spc="-37" baseline="-14957" dirty="0">
                <a:solidFill>
                  <a:srgbClr val="0000FF"/>
                </a:solidFill>
                <a:latin typeface="Bookman Old Style" panose="02050604050505020204" pitchFamily="18" charset="0"/>
                <a:cs typeface="Cambria Math"/>
              </a:rPr>
              <a:t>𝑵</a:t>
            </a:r>
            <a:endParaRPr sz="1100" baseline="-14957" dirty="0">
              <a:solidFill>
                <a:srgbClr val="0000FF"/>
              </a:solidFill>
              <a:latin typeface="Bookman Old Style" panose="02050604050505020204" pitchFamily="18" charset="0"/>
              <a:cs typeface="Cambria Math"/>
            </a:endParaRPr>
          </a:p>
        </p:txBody>
      </p:sp>
      <p:sp>
        <p:nvSpPr>
          <p:cNvPr id="127" name="Half Frame 126">
            <a:extLst>
              <a:ext uri="{FF2B5EF4-FFF2-40B4-BE49-F238E27FC236}">
                <a16:creationId xmlns:a16="http://schemas.microsoft.com/office/drawing/2014/main" id="{2BE7794F-49C1-CC5A-308C-E3620975E8DC}"/>
              </a:ext>
            </a:extLst>
          </p:cNvPr>
          <p:cNvSpPr/>
          <p:nvPr/>
        </p:nvSpPr>
        <p:spPr>
          <a:xfrm rot="8433411">
            <a:off x="5073500" y="1947118"/>
            <a:ext cx="121718" cy="126974"/>
          </a:xfrm>
          <a:prstGeom prst="halfFrame">
            <a:avLst/>
          </a:prstGeom>
          <a:solidFill>
            <a:srgbClr val="0000FF"/>
          </a:solid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0000FF"/>
              </a:solidFill>
            </a:endParaRPr>
          </a:p>
        </p:txBody>
      </p:sp>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898FCB18-6E55-8181-6A94-6C624FAC0B38}"/>
                  </a:ext>
                </a:extLst>
              </p:cNvPr>
              <p:cNvSpPr txBox="1"/>
              <p:nvPr/>
            </p:nvSpPr>
            <p:spPr>
              <a:xfrm>
                <a:off x="103239" y="4130365"/>
                <a:ext cx="4618138" cy="6562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𝑰</m:t>
                          </m:r>
                        </m:e>
                        <m:sub>
                          <m:r>
                            <a:rPr lang="fr-FR" b="1" i="1" smtClean="0">
                              <a:latin typeface="Cambria Math" panose="02040503050406030204" pitchFamily="18" charset="0"/>
                            </a:rPr>
                            <m:t>𝑵</m:t>
                          </m:r>
                        </m:sub>
                      </m:sSub>
                      <m:r>
                        <a:rPr lang="fr-FR" b="1" i="1" smtClean="0">
                          <a:latin typeface="Cambria Math" panose="02040503050406030204" pitchFamily="18" charset="0"/>
                        </a:rPr>
                        <m:t>=</m:t>
                      </m:r>
                      <m:f>
                        <m:fPr>
                          <m:ctrlPr>
                            <a:rPr lang="fr-FR" b="1" i="1" smtClean="0">
                              <a:latin typeface="Cambria Math" panose="02040503050406030204" pitchFamily="18" charset="0"/>
                            </a:rPr>
                          </m:ctrlPr>
                        </m:fPr>
                        <m:num>
                          <m:r>
                            <a:rPr lang="fr-FR" b="1" i="1" smtClean="0">
                              <a:latin typeface="Cambria Math" panose="02040503050406030204" pitchFamily="18" charset="0"/>
                            </a:rPr>
                            <m:t>𝑬</m:t>
                          </m:r>
                        </m:num>
                        <m:den>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𝟏</m:t>
                              </m:r>
                            </m:sub>
                          </m:sSub>
                        </m:den>
                      </m:f>
                    </m:oMath>
                  </m:oMathPara>
                </a14:m>
                <a:endParaRPr lang="fr-FR" dirty="0"/>
              </a:p>
            </p:txBody>
          </p:sp>
        </mc:Choice>
        <mc:Fallback xmlns="">
          <p:sp>
            <p:nvSpPr>
              <p:cNvPr id="130" name="TextBox 129">
                <a:extLst>
                  <a:ext uri="{FF2B5EF4-FFF2-40B4-BE49-F238E27FC236}">
                    <a16:creationId xmlns:a16="http://schemas.microsoft.com/office/drawing/2014/main" id="{898FCB18-6E55-8181-6A94-6C624FAC0B38}"/>
                  </a:ext>
                </a:extLst>
              </p:cNvPr>
              <p:cNvSpPr txBox="1">
                <a:spLocks noRot="1" noChangeAspect="1" noMove="1" noResize="1" noEditPoints="1" noAdjustHandles="1" noChangeArrowheads="1" noChangeShapeType="1" noTextEdit="1"/>
              </p:cNvSpPr>
              <p:nvPr/>
            </p:nvSpPr>
            <p:spPr>
              <a:xfrm>
                <a:off x="103239" y="4130365"/>
                <a:ext cx="4618138" cy="656205"/>
              </a:xfrm>
              <a:prstGeom prst="rect">
                <a:avLst/>
              </a:prstGeom>
              <a:blipFill>
                <a:blip r:embed="rId4"/>
                <a:stretch>
                  <a:fillRect/>
                </a:stretch>
              </a:blipFill>
            </p:spPr>
            <p:txBody>
              <a:bodyPr/>
              <a:lstStyle/>
              <a:p>
                <a:r>
                  <a:rPr lang="fr-FR">
                    <a:noFill/>
                  </a:rPr>
                  <a:t> </a:t>
                </a:r>
              </a:p>
            </p:txBody>
          </p:sp>
        </mc:Fallback>
      </mc:AlternateContent>
    </p:spTree>
    <p:extLst>
      <p:ext uri="{BB962C8B-B14F-4D97-AF65-F5344CB8AC3E}">
        <p14:creationId xmlns:p14="http://schemas.microsoft.com/office/powerpoint/2010/main" val="4294777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69"/>
                                        </p:tgtEl>
                                      </p:cBhvr>
                                    </p:animEffect>
                                    <p:set>
                                      <p:cBhvr>
                                        <p:cTn id="7" dur="1" fill="hold">
                                          <p:stCondLst>
                                            <p:cond delay="499"/>
                                          </p:stCondLst>
                                        </p:cTn>
                                        <p:tgtEl>
                                          <p:spTgt spid="69"/>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500"/>
                                        <p:tgtEl>
                                          <p:spTgt spid="115"/>
                                        </p:tgtEl>
                                      </p:cBhvr>
                                    </p:animEffect>
                                    <p:set>
                                      <p:cBhvr>
                                        <p:cTn id="10" dur="1" fill="hold">
                                          <p:stCondLst>
                                            <p:cond delay="499"/>
                                          </p:stCondLst>
                                        </p:cTn>
                                        <p:tgtEl>
                                          <p:spTgt spid="11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2" presetClass="exit" presetSubtype="4" fill="hold" grpId="0" nodeType="clickEffect">
                                  <p:stCondLst>
                                    <p:cond delay="0"/>
                                  </p:stCondLst>
                                  <p:childTnLst>
                                    <p:anim calcmode="lin" valueType="num">
                                      <p:cBhvr additive="base">
                                        <p:cTn id="14" dur="500"/>
                                        <p:tgtEl>
                                          <p:spTgt spid="65"/>
                                        </p:tgtEl>
                                        <p:attrNameLst>
                                          <p:attrName>ppt_x</p:attrName>
                                        </p:attrNameLst>
                                      </p:cBhvr>
                                      <p:tavLst>
                                        <p:tav tm="0">
                                          <p:val>
                                            <p:strVal val="ppt_x"/>
                                          </p:val>
                                        </p:tav>
                                        <p:tav tm="100000">
                                          <p:val>
                                            <p:strVal val="ppt_x"/>
                                          </p:val>
                                        </p:tav>
                                      </p:tavLst>
                                    </p:anim>
                                    <p:anim calcmode="lin" valueType="num">
                                      <p:cBhvr additive="base">
                                        <p:cTn id="15" dur="500"/>
                                        <p:tgtEl>
                                          <p:spTgt spid="65"/>
                                        </p:tgtEl>
                                        <p:attrNameLst>
                                          <p:attrName>ppt_y</p:attrName>
                                        </p:attrNameLst>
                                      </p:cBhvr>
                                      <p:tavLst>
                                        <p:tav tm="0">
                                          <p:val>
                                            <p:strVal val="ppt_y"/>
                                          </p:val>
                                        </p:tav>
                                        <p:tav tm="100000">
                                          <p:val>
                                            <p:strVal val="1+ppt_h/2"/>
                                          </p:val>
                                        </p:tav>
                                      </p:tavLst>
                                    </p:anim>
                                    <p:set>
                                      <p:cBhvr>
                                        <p:cTn id="16" dur="1" fill="hold">
                                          <p:stCondLst>
                                            <p:cond delay="499"/>
                                          </p:stCondLst>
                                        </p:cTn>
                                        <p:tgtEl>
                                          <p:spTgt spid="65"/>
                                        </p:tgtEl>
                                        <p:attrNameLst>
                                          <p:attrName>style.visibility</p:attrName>
                                        </p:attrNameLst>
                                      </p:cBhvr>
                                      <p:to>
                                        <p:strVal val="hidden"/>
                                      </p:to>
                                    </p:set>
                                  </p:childTnLst>
                                </p:cTn>
                              </p:par>
                              <p:par>
                                <p:cTn id="17" presetID="2" presetClass="exit" presetSubtype="4" fill="hold" grpId="0" nodeType="withEffect">
                                  <p:stCondLst>
                                    <p:cond delay="0"/>
                                  </p:stCondLst>
                                  <p:childTnLst>
                                    <p:anim calcmode="lin" valueType="num">
                                      <p:cBhvr additive="base">
                                        <p:cTn id="18" dur="500"/>
                                        <p:tgtEl>
                                          <p:spTgt spid="87"/>
                                        </p:tgtEl>
                                        <p:attrNameLst>
                                          <p:attrName>ppt_x</p:attrName>
                                        </p:attrNameLst>
                                      </p:cBhvr>
                                      <p:tavLst>
                                        <p:tav tm="0">
                                          <p:val>
                                            <p:strVal val="ppt_x"/>
                                          </p:val>
                                        </p:tav>
                                        <p:tav tm="100000">
                                          <p:val>
                                            <p:strVal val="ppt_x"/>
                                          </p:val>
                                        </p:tav>
                                      </p:tavLst>
                                    </p:anim>
                                    <p:anim calcmode="lin" valueType="num">
                                      <p:cBhvr additive="base">
                                        <p:cTn id="19" dur="500"/>
                                        <p:tgtEl>
                                          <p:spTgt spid="87"/>
                                        </p:tgtEl>
                                        <p:attrNameLst>
                                          <p:attrName>ppt_y</p:attrName>
                                        </p:attrNameLst>
                                      </p:cBhvr>
                                      <p:tavLst>
                                        <p:tav tm="0">
                                          <p:val>
                                            <p:strVal val="ppt_y"/>
                                          </p:val>
                                        </p:tav>
                                        <p:tav tm="100000">
                                          <p:val>
                                            <p:strVal val="1+ppt_h/2"/>
                                          </p:val>
                                        </p:tav>
                                      </p:tavLst>
                                    </p:anim>
                                    <p:set>
                                      <p:cBhvr>
                                        <p:cTn id="20" dur="1" fill="hold">
                                          <p:stCondLst>
                                            <p:cond delay="499"/>
                                          </p:stCondLst>
                                        </p:cTn>
                                        <p:tgtEl>
                                          <p:spTgt spid="87"/>
                                        </p:tgtEl>
                                        <p:attrNameLst>
                                          <p:attrName>style.visibility</p:attrName>
                                        </p:attrNameLst>
                                      </p:cBhvr>
                                      <p:to>
                                        <p:strVal val="hidden"/>
                                      </p:to>
                                    </p:set>
                                  </p:childTnLst>
                                </p:cTn>
                              </p:par>
                              <p:par>
                                <p:cTn id="21" presetID="2" presetClass="exit" presetSubtype="4" fill="hold" grpId="0" nodeType="withEffect">
                                  <p:stCondLst>
                                    <p:cond delay="0"/>
                                  </p:stCondLst>
                                  <p:childTnLst>
                                    <p:anim calcmode="lin" valueType="num">
                                      <p:cBhvr additive="base">
                                        <p:cTn id="22" dur="500"/>
                                        <p:tgtEl>
                                          <p:spTgt spid="88"/>
                                        </p:tgtEl>
                                        <p:attrNameLst>
                                          <p:attrName>ppt_x</p:attrName>
                                        </p:attrNameLst>
                                      </p:cBhvr>
                                      <p:tavLst>
                                        <p:tav tm="0">
                                          <p:val>
                                            <p:strVal val="ppt_x"/>
                                          </p:val>
                                        </p:tav>
                                        <p:tav tm="100000">
                                          <p:val>
                                            <p:strVal val="ppt_x"/>
                                          </p:val>
                                        </p:tav>
                                      </p:tavLst>
                                    </p:anim>
                                    <p:anim calcmode="lin" valueType="num">
                                      <p:cBhvr additive="base">
                                        <p:cTn id="23" dur="500"/>
                                        <p:tgtEl>
                                          <p:spTgt spid="88"/>
                                        </p:tgtEl>
                                        <p:attrNameLst>
                                          <p:attrName>ppt_y</p:attrName>
                                        </p:attrNameLst>
                                      </p:cBhvr>
                                      <p:tavLst>
                                        <p:tav tm="0">
                                          <p:val>
                                            <p:strVal val="ppt_y"/>
                                          </p:val>
                                        </p:tav>
                                        <p:tav tm="100000">
                                          <p:val>
                                            <p:strVal val="1+ppt_h/2"/>
                                          </p:val>
                                        </p:tav>
                                      </p:tavLst>
                                    </p:anim>
                                    <p:set>
                                      <p:cBhvr>
                                        <p:cTn id="24" dur="1" fill="hold">
                                          <p:stCondLst>
                                            <p:cond delay="499"/>
                                          </p:stCondLst>
                                        </p:cTn>
                                        <p:tgtEl>
                                          <p:spTgt spid="88"/>
                                        </p:tgtEl>
                                        <p:attrNameLst>
                                          <p:attrName>style.visibility</p:attrName>
                                        </p:attrNameLst>
                                      </p:cBhvr>
                                      <p:to>
                                        <p:strVal val="hidden"/>
                                      </p:to>
                                    </p:set>
                                  </p:childTnLst>
                                </p:cTn>
                              </p:par>
                              <p:par>
                                <p:cTn id="25" presetID="2" presetClass="entr" presetSubtype="4" fill="hold" nodeType="withEffect">
                                  <p:stCondLst>
                                    <p:cond delay="0"/>
                                  </p:stCondLst>
                                  <p:childTnLst>
                                    <p:set>
                                      <p:cBhvr>
                                        <p:cTn id="26" dur="1" fill="hold">
                                          <p:stCondLst>
                                            <p:cond delay="0"/>
                                          </p:stCondLst>
                                        </p:cTn>
                                        <p:tgtEl>
                                          <p:spTgt spid="117"/>
                                        </p:tgtEl>
                                        <p:attrNameLst>
                                          <p:attrName>style.visibility</p:attrName>
                                        </p:attrNameLst>
                                      </p:cBhvr>
                                      <p:to>
                                        <p:strVal val="visible"/>
                                      </p:to>
                                    </p:set>
                                    <p:anim calcmode="lin" valueType="num">
                                      <p:cBhvr additive="base">
                                        <p:cTn id="27" dur="500" fill="hold"/>
                                        <p:tgtEl>
                                          <p:spTgt spid="117"/>
                                        </p:tgtEl>
                                        <p:attrNameLst>
                                          <p:attrName>ppt_x</p:attrName>
                                        </p:attrNameLst>
                                      </p:cBhvr>
                                      <p:tavLst>
                                        <p:tav tm="0">
                                          <p:val>
                                            <p:strVal val="#ppt_x"/>
                                          </p:val>
                                        </p:tav>
                                        <p:tav tm="100000">
                                          <p:val>
                                            <p:strVal val="#ppt_x"/>
                                          </p:val>
                                        </p:tav>
                                      </p:tavLst>
                                    </p:anim>
                                    <p:anim calcmode="lin" valueType="num">
                                      <p:cBhvr additive="base">
                                        <p:cTn id="28" dur="500" fill="hold"/>
                                        <p:tgtEl>
                                          <p:spTgt spid="117"/>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22"/>
                                        </p:tgtEl>
                                        <p:attrNameLst>
                                          <p:attrName>style.visibility</p:attrName>
                                        </p:attrNameLst>
                                      </p:cBhvr>
                                      <p:to>
                                        <p:strVal val="visible"/>
                                      </p:to>
                                    </p:set>
                                    <p:anim calcmode="lin" valueType="num">
                                      <p:cBhvr additive="base">
                                        <p:cTn id="31" dur="500" fill="hold"/>
                                        <p:tgtEl>
                                          <p:spTgt spid="122"/>
                                        </p:tgtEl>
                                        <p:attrNameLst>
                                          <p:attrName>ppt_x</p:attrName>
                                        </p:attrNameLst>
                                      </p:cBhvr>
                                      <p:tavLst>
                                        <p:tav tm="0">
                                          <p:val>
                                            <p:strVal val="#ppt_x"/>
                                          </p:val>
                                        </p:tav>
                                        <p:tav tm="100000">
                                          <p:val>
                                            <p:strVal val="#ppt_x"/>
                                          </p:val>
                                        </p:tav>
                                      </p:tavLst>
                                    </p:anim>
                                    <p:anim calcmode="lin" valueType="num">
                                      <p:cBhvr additive="base">
                                        <p:cTn id="32" dur="500" fill="hold"/>
                                        <p:tgtEl>
                                          <p:spTgt spid="122"/>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123"/>
                                        </p:tgtEl>
                                        <p:attrNameLst>
                                          <p:attrName>style.visibility</p:attrName>
                                        </p:attrNameLst>
                                      </p:cBhvr>
                                      <p:to>
                                        <p:strVal val="visible"/>
                                      </p:to>
                                    </p:set>
                                    <p:animEffect transition="in" filter="fade">
                                      <p:cBhvr>
                                        <p:cTn id="37" dur="1000"/>
                                        <p:tgtEl>
                                          <p:spTgt spid="123"/>
                                        </p:tgtEl>
                                      </p:cBhvr>
                                    </p:animEffect>
                                    <p:anim calcmode="lin" valueType="num">
                                      <p:cBhvr>
                                        <p:cTn id="38" dur="1000" fill="hold"/>
                                        <p:tgtEl>
                                          <p:spTgt spid="123"/>
                                        </p:tgtEl>
                                        <p:attrNameLst>
                                          <p:attrName>ppt_x</p:attrName>
                                        </p:attrNameLst>
                                      </p:cBhvr>
                                      <p:tavLst>
                                        <p:tav tm="0">
                                          <p:val>
                                            <p:strVal val="#ppt_x"/>
                                          </p:val>
                                        </p:tav>
                                        <p:tav tm="100000">
                                          <p:val>
                                            <p:strVal val="#ppt_x"/>
                                          </p:val>
                                        </p:tav>
                                      </p:tavLst>
                                    </p:anim>
                                    <p:anim calcmode="lin" valueType="num">
                                      <p:cBhvr>
                                        <p:cTn id="39" dur="1000" fill="hold"/>
                                        <p:tgtEl>
                                          <p:spTgt spid="123"/>
                                        </p:tgtEl>
                                        <p:attrNameLst>
                                          <p:attrName>ppt_y</p:attrName>
                                        </p:attrNameLst>
                                      </p:cBhvr>
                                      <p:tavLst>
                                        <p:tav tm="0">
                                          <p:val>
                                            <p:strVal val="#ppt_y+.1"/>
                                          </p:val>
                                        </p:tav>
                                        <p:tav tm="100000">
                                          <p:val>
                                            <p:strVal val="#ppt_y"/>
                                          </p:val>
                                        </p:tav>
                                      </p:tavLst>
                                    </p:anim>
                                  </p:childTnLst>
                                </p:cTn>
                              </p:par>
                              <p:par>
                                <p:cTn id="40" presetID="1" presetClass="entr" presetSubtype="0" fill="hold" grpId="0" nodeType="withEffect">
                                  <p:stCondLst>
                                    <p:cond delay="0"/>
                                  </p:stCondLst>
                                  <p:childTnLst>
                                    <p:set>
                                      <p:cBhvr>
                                        <p:cTn id="41" dur="1" fill="hold">
                                          <p:stCondLst>
                                            <p:cond delay="0"/>
                                          </p:stCondLst>
                                        </p:cTn>
                                        <p:tgtEl>
                                          <p:spTgt spid="125"/>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16"/>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84"/>
                                        </p:tgtEl>
                                        <p:attrNameLst>
                                          <p:attrName>style.visibility</p:attrName>
                                        </p:attrNameLst>
                                      </p:cBhvr>
                                      <p:to>
                                        <p:strVal val="visible"/>
                                      </p:to>
                                    </p:set>
                                  </p:childTnLst>
                                </p:cTn>
                              </p:par>
                              <p:par>
                                <p:cTn id="46" presetID="1" presetClass="exit" presetSubtype="0" fill="hold" nodeType="withEffect">
                                  <p:stCondLst>
                                    <p:cond delay="0"/>
                                  </p:stCondLst>
                                  <p:childTnLst>
                                    <p:set>
                                      <p:cBhvr>
                                        <p:cTn id="47" dur="1" fill="hold">
                                          <p:stCondLst>
                                            <p:cond delay="0"/>
                                          </p:stCondLst>
                                        </p:cTn>
                                        <p:tgtEl>
                                          <p:spTgt spid="117"/>
                                        </p:tgtEl>
                                        <p:attrNameLst>
                                          <p:attrName>style.visibility</p:attrName>
                                        </p:attrNameLst>
                                      </p:cBhvr>
                                      <p:to>
                                        <p:strVal val="hidden"/>
                                      </p:to>
                                    </p:set>
                                  </p:childTnLst>
                                </p:cTn>
                              </p:par>
                              <p:par>
                                <p:cTn id="48" presetID="1" presetClass="entr" presetSubtype="0" fill="hold" grpId="1" nodeType="withEffect">
                                  <p:stCondLst>
                                    <p:cond delay="0"/>
                                  </p:stCondLst>
                                  <p:childTnLst>
                                    <p:set>
                                      <p:cBhvr>
                                        <p:cTn id="49" dur="1" fill="hold">
                                          <p:stCondLst>
                                            <p:cond delay="0"/>
                                          </p:stCondLst>
                                        </p:cTn>
                                        <p:tgtEl>
                                          <p:spTgt spid="65"/>
                                        </p:tgtEl>
                                        <p:attrNameLst>
                                          <p:attrName>style.visibility</p:attrName>
                                        </p:attrNameLst>
                                      </p:cBhvr>
                                      <p:to>
                                        <p:strVal val="visible"/>
                                      </p:to>
                                    </p:set>
                                  </p:childTnLst>
                                </p:cTn>
                              </p:par>
                              <p:par>
                                <p:cTn id="50" presetID="1" presetClass="entr" presetSubtype="0" fill="hold" grpId="1" nodeType="withEffect">
                                  <p:stCondLst>
                                    <p:cond delay="0"/>
                                  </p:stCondLst>
                                  <p:childTnLst>
                                    <p:set>
                                      <p:cBhvr>
                                        <p:cTn id="51" dur="1" fill="hold">
                                          <p:stCondLst>
                                            <p:cond delay="0"/>
                                          </p:stCondLst>
                                        </p:cTn>
                                        <p:tgtEl>
                                          <p:spTgt spid="87"/>
                                        </p:tgtEl>
                                        <p:attrNameLst>
                                          <p:attrName>style.visibility</p:attrName>
                                        </p:attrNameLst>
                                      </p:cBhvr>
                                      <p:to>
                                        <p:strVal val="visible"/>
                                      </p:to>
                                    </p:set>
                                  </p:childTnLst>
                                </p:cTn>
                              </p:par>
                              <p:par>
                                <p:cTn id="52" presetID="1" presetClass="entr" presetSubtype="0" fill="hold" grpId="1" nodeType="withEffect">
                                  <p:stCondLst>
                                    <p:cond delay="0"/>
                                  </p:stCondLst>
                                  <p:childTnLst>
                                    <p:set>
                                      <p:cBhvr>
                                        <p:cTn id="53" dur="1" fill="hold">
                                          <p:stCondLst>
                                            <p:cond delay="0"/>
                                          </p:stCondLst>
                                        </p:cTn>
                                        <p:tgtEl>
                                          <p:spTgt spid="88"/>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nodeType="clickEffect">
                                  <p:stCondLst>
                                    <p:cond delay="0"/>
                                  </p:stCondLst>
                                  <p:childTnLst>
                                    <p:set>
                                      <p:cBhvr>
                                        <p:cTn id="57" dur="1" fill="hold">
                                          <p:stCondLst>
                                            <p:cond delay="0"/>
                                          </p:stCondLst>
                                        </p:cTn>
                                        <p:tgtEl>
                                          <p:spTgt spid="130">
                                            <p:txEl>
                                              <p:pRg st="0" end="0"/>
                                            </p:txEl>
                                          </p:spTgt>
                                        </p:tgtEl>
                                        <p:attrNameLst>
                                          <p:attrName>style.visibility</p:attrName>
                                        </p:attrNameLst>
                                      </p:cBhvr>
                                      <p:to>
                                        <p:strVal val="visible"/>
                                      </p:to>
                                    </p:set>
                                    <p:animEffect transition="in" filter="fade">
                                      <p:cBhvr>
                                        <p:cTn id="58" dur="1000"/>
                                        <p:tgtEl>
                                          <p:spTgt spid="130">
                                            <p:txEl>
                                              <p:pRg st="0" end="0"/>
                                            </p:txEl>
                                          </p:spTgt>
                                        </p:tgtEl>
                                      </p:cBhvr>
                                    </p:animEffect>
                                    <p:anim calcmode="lin" valueType="num">
                                      <p:cBhvr>
                                        <p:cTn id="59" dur="1000" fill="hold"/>
                                        <p:tgtEl>
                                          <p:spTgt spid="130">
                                            <p:txEl>
                                              <p:pRg st="0" end="0"/>
                                            </p:txEl>
                                          </p:spTgt>
                                        </p:tgtEl>
                                        <p:attrNameLst>
                                          <p:attrName>ppt_x</p:attrName>
                                        </p:attrNameLst>
                                      </p:cBhvr>
                                      <p:tavLst>
                                        <p:tav tm="0">
                                          <p:val>
                                            <p:strVal val="#ppt_x"/>
                                          </p:val>
                                        </p:tav>
                                        <p:tav tm="100000">
                                          <p:val>
                                            <p:strVal val="#ppt_x"/>
                                          </p:val>
                                        </p:tav>
                                      </p:tavLst>
                                    </p:anim>
                                    <p:anim calcmode="lin" valueType="num">
                                      <p:cBhvr>
                                        <p:cTn id="60" dur="1000" fill="hold"/>
                                        <p:tgtEl>
                                          <p:spTgt spid="130">
                                            <p:txEl>
                                              <p:pRg st="0" end="0"/>
                                            </p:txEl>
                                          </p:spTgt>
                                        </p:tgtEl>
                                        <p:attrNameLst>
                                          <p:attrName>ppt_y</p:attrName>
                                        </p:attrNameLst>
                                      </p:cBhvr>
                                      <p:tavLst>
                                        <p:tav tm="0">
                                          <p:val>
                                            <p:strVal val="#ppt_y+.1"/>
                                          </p:val>
                                        </p:tav>
                                        <p:tav tm="100000">
                                          <p:val>
                                            <p:strVal val="#ppt_y"/>
                                          </p:val>
                                        </p:tav>
                                      </p:tavLst>
                                    </p:anim>
                                  </p:childTnLst>
                                </p:cTn>
                              </p:par>
                              <p:par>
                                <p:cTn id="61" presetID="2" presetClass="entr" presetSubtype="4" fill="hold" grpId="0" nodeType="withEffect">
                                  <p:stCondLst>
                                    <p:cond delay="0"/>
                                  </p:stCondLst>
                                  <p:childTnLst>
                                    <p:set>
                                      <p:cBhvr>
                                        <p:cTn id="62" dur="1" fill="hold">
                                          <p:stCondLst>
                                            <p:cond delay="0"/>
                                          </p:stCondLst>
                                        </p:cTn>
                                        <p:tgtEl>
                                          <p:spTgt spid="127"/>
                                        </p:tgtEl>
                                        <p:attrNameLst>
                                          <p:attrName>style.visibility</p:attrName>
                                        </p:attrNameLst>
                                      </p:cBhvr>
                                      <p:to>
                                        <p:strVal val="visible"/>
                                      </p:to>
                                    </p:set>
                                    <p:anim calcmode="lin" valueType="num">
                                      <p:cBhvr additive="base">
                                        <p:cTn id="63" dur="500" fill="hold"/>
                                        <p:tgtEl>
                                          <p:spTgt spid="127"/>
                                        </p:tgtEl>
                                        <p:attrNameLst>
                                          <p:attrName>ppt_x</p:attrName>
                                        </p:attrNameLst>
                                      </p:cBhvr>
                                      <p:tavLst>
                                        <p:tav tm="0">
                                          <p:val>
                                            <p:strVal val="#ppt_x"/>
                                          </p:val>
                                        </p:tav>
                                        <p:tav tm="100000">
                                          <p:val>
                                            <p:strVal val="#ppt_x"/>
                                          </p:val>
                                        </p:tav>
                                      </p:tavLst>
                                    </p:anim>
                                    <p:anim calcmode="lin" valueType="num">
                                      <p:cBhvr additive="base">
                                        <p:cTn id="64" dur="500" fill="hold"/>
                                        <p:tgtEl>
                                          <p:spTgt spid="127"/>
                                        </p:tgtEl>
                                        <p:attrNameLst>
                                          <p:attrName>ppt_y</p:attrName>
                                        </p:attrNameLst>
                                      </p:cBhvr>
                                      <p:tavLst>
                                        <p:tav tm="0">
                                          <p:val>
                                            <p:strVal val="1+#ppt_h/2"/>
                                          </p:val>
                                        </p:tav>
                                        <p:tav tm="100000">
                                          <p:val>
                                            <p:strVal val="#ppt_y"/>
                                          </p:val>
                                        </p:tav>
                                      </p:tavLst>
                                    </p:anim>
                                  </p:childTnLst>
                                </p:cTn>
                              </p:par>
                              <p:par>
                                <p:cTn id="65" presetID="2" presetClass="entr" presetSubtype="4" fill="hold" grpId="0" nodeType="withEffect">
                                  <p:stCondLst>
                                    <p:cond delay="0"/>
                                  </p:stCondLst>
                                  <p:childTnLst>
                                    <p:set>
                                      <p:cBhvr>
                                        <p:cTn id="66" dur="1" fill="hold">
                                          <p:stCondLst>
                                            <p:cond delay="0"/>
                                          </p:stCondLst>
                                        </p:cTn>
                                        <p:tgtEl>
                                          <p:spTgt spid="126"/>
                                        </p:tgtEl>
                                        <p:attrNameLst>
                                          <p:attrName>style.visibility</p:attrName>
                                        </p:attrNameLst>
                                      </p:cBhvr>
                                      <p:to>
                                        <p:strVal val="visible"/>
                                      </p:to>
                                    </p:set>
                                    <p:anim calcmode="lin" valueType="num">
                                      <p:cBhvr additive="base">
                                        <p:cTn id="67" dur="500" fill="hold"/>
                                        <p:tgtEl>
                                          <p:spTgt spid="126"/>
                                        </p:tgtEl>
                                        <p:attrNameLst>
                                          <p:attrName>ppt_x</p:attrName>
                                        </p:attrNameLst>
                                      </p:cBhvr>
                                      <p:tavLst>
                                        <p:tav tm="0">
                                          <p:val>
                                            <p:strVal val="#ppt_x"/>
                                          </p:val>
                                        </p:tav>
                                        <p:tav tm="100000">
                                          <p:val>
                                            <p:strVal val="#ppt_x"/>
                                          </p:val>
                                        </p:tav>
                                      </p:tavLst>
                                    </p:anim>
                                    <p:anim calcmode="lin" valueType="num">
                                      <p:cBhvr additive="base">
                                        <p:cTn id="68" dur="500" fill="hold"/>
                                        <p:tgtEl>
                                          <p:spTgt spid="1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5" grpId="1"/>
      <p:bldP spid="69" grpId="0"/>
      <p:bldP spid="84" grpId="0"/>
      <p:bldP spid="87" grpId="0" animBg="1"/>
      <p:bldP spid="87" grpId="1" animBg="1"/>
      <p:bldP spid="88" grpId="0" animBg="1"/>
      <p:bldP spid="88" grpId="1" animBg="1"/>
      <p:bldP spid="115" grpId="0" animBg="1"/>
      <p:bldP spid="116" grpId="0" animBg="1"/>
      <p:bldP spid="122" grpId="0"/>
      <p:bldP spid="125" grpId="0" animBg="1"/>
      <p:bldP spid="126" grpId="0"/>
      <p:bldP spid="127"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49</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2.3 </a:t>
            </a:r>
            <a:r>
              <a:rPr lang="fr-FR" altLang="fr-FR" sz="1400" b="1" spc="-5" dirty="0">
                <a:solidFill>
                  <a:srgbClr val="CC00CC"/>
                </a:solidFill>
                <a:latin typeface="Bookman Old Style" panose="02050604050505020204" pitchFamily="18" charset="0"/>
                <a:cs typeface="Arial"/>
              </a:rPr>
              <a:t>Théorème de Norton </a:t>
            </a:r>
          </a:p>
        </p:txBody>
      </p:sp>
      <p:sp>
        <p:nvSpPr>
          <p:cNvPr id="5" name="object 14">
            <a:extLst>
              <a:ext uri="{FF2B5EF4-FFF2-40B4-BE49-F238E27FC236}">
                <a16:creationId xmlns:a16="http://schemas.microsoft.com/office/drawing/2014/main" id="{198F7E49-08ED-6164-AC44-A89E992FFB12}"/>
              </a:ext>
            </a:extLst>
          </p:cNvPr>
          <p:cNvSpPr txBox="1"/>
          <p:nvPr/>
        </p:nvSpPr>
        <p:spPr>
          <a:xfrm>
            <a:off x="236135" y="1295459"/>
            <a:ext cx="953769" cy="212879"/>
          </a:xfrm>
          <a:prstGeom prst="rect">
            <a:avLst/>
          </a:prstGeom>
        </p:spPr>
        <p:txBody>
          <a:bodyPr vert="horz" wrap="square" lIns="0" tIns="12700" rIns="0" bIns="0" rtlCol="0">
            <a:spAutoFit/>
          </a:bodyPr>
          <a:lstStyle/>
          <a:p>
            <a:pPr marL="12700">
              <a:lnSpc>
                <a:spcPct val="100000"/>
              </a:lnSpc>
              <a:spcBef>
                <a:spcPts val="100"/>
              </a:spcBef>
            </a:pPr>
            <a:r>
              <a:rPr sz="1300" b="1" u="sng" spc="-10" dirty="0">
                <a:uFill>
                  <a:solidFill>
                    <a:srgbClr val="000000"/>
                  </a:solidFill>
                </a:uFill>
                <a:latin typeface="Bookman Old Style" panose="02050604050505020204" pitchFamily="18" charset="0"/>
                <a:cs typeface="Times New Roman"/>
              </a:rPr>
              <a:t>Exemple:</a:t>
            </a:r>
            <a:endParaRPr sz="1300" dirty="0">
              <a:latin typeface="Bookman Old Style" panose="02050604050505020204" pitchFamily="18" charset="0"/>
              <a:cs typeface="Times New Roman"/>
            </a:endParaRPr>
          </a:p>
        </p:txBody>
      </p:sp>
      <p:grpSp>
        <p:nvGrpSpPr>
          <p:cNvPr id="3" name="object 14">
            <a:extLst>
              <a:ext uri="{FF2B5EF4-FFF2-40B4-BE49-F238E27FC236}">
                <a16:creationId xmlns:a16="http://schemas.microsoft.com/office/drawing/2014/main" id="{B2BC643A-8499-51E7-92B6-A1ABEF723F8E}"/>
              </a:ext>
            </a:extLst>
          </p:cNvPr>
          <p:cNvGrpSpPr/>
          <p:nvPr/>
        </p:nvGrpSpPr>
        <p:grpSpPr>
          <a:xfrm>
            <a:off x="4379721" y="1949195"/>
            <a:ext cx="1910080" cy="1976755"/>
            <a:chOff x="4379721" y="1949195"/>
            <a:chExt cx="1910080" cy="1976755"/>
          </a:xfrm>
        </p:grpSpPr>
        <p:sp>
          <p:nvSpPr>
            <p:cNvPr id="11" name="object 15">
              <a:extLst>
                <a:ext uri="{FF2B5EF4-FFF2-40B4-BE49-F238E27FC236}">
                  <a16:creationId xmlns:a16="http://schemas.microsoft.com/office/drawing/2014/main" id="{5CF9CB86-57FA-1B74-1874-2D53E77799AB}"/>
                </a:ext>
              </a:extLst>
            </p:cNvPr>
            <p:cNvSpPr/>
            <p:nvPr/>
          </p:nvSpPr>
          <p:spPr>
            <a:xfrm>
              <a:off x="4408931" y="2023871"/>
              <a:ext cx="1851660" cy="1852930"/>
            </a:xfrm>
            <a:custGeom>
              <a:avLst/>
              <a:gdLst/>
              <a:ahLst/>
              <a:cxnLst/>
              <a:rect l="l" t="t" r="r" b="b"/>
              <a:pathLst>
                <a:path w="1851660" h="1852929">
                  <a:moveTo>
                    <a:pt x="1586483" y="1447800"/>
                  </a:moveTo>
                  <a:lnTo>
                    <a:pt x="1851659" y="1447800"/>
                  </a:lnTo>
                  <a:lnTo>
                    <a:pt x="1851659" y="405384"/>
                  </a:lnTo>
                  <a:lnTo>
                    <a:pt x="1586483" y="405384"/>
                  </a:lnTo>
                  <a:lnTo>
                    <a:pt x="1586483" y="1447800"/>
                  </a:lnTo>
                  <a:close/>
                </a:path>
                <a:path w="1851660" h="1852929">
                  <a:moveTo>
                    <a:pt x="0" y="12191"/>
                  </a:moveTo>
                  <a:lnTo>
                    <a:pt x="1743075" y="12191"/>
                  </a:lnTo>
                </a:path>
                <a:path w="1851660" h="1852929">
                  <a:moveTo>
                    <a:pt x="10667" y="1831847"/>
                  </a:moveTo>
                  <a:lnTo>
                    <a:pt x="1753742" y="1831847"/>
                  </a:lnTo>
                </a:path>
                <a:path w="1851660" h="1852929">
                  <a:moveTo>
                    <a:pt x="1719071" y="0"/>
                  </a:moveTo>
                  <a:lnTo>
                    <a:pt x="1719071" y="405002"/>
                  </a:lnTo>
                </a:path>
                <a:path w="1851660" h="1852929">
                  <a:moveTo>
                    <a:pt x="1719071" y="1447800"/>
                  </a:moveTo>
                  <a:lnTo>
                    <a:pt x="1719071" y="1852815"/>
                  </a:lnTo>
                </a:path>
              </a:pathLst>
            </a:custGeom>
            <a:ln w="57912">
              <a:solidFill>
                <a:srgbClr val="000000"/>
              </a:solidFill>
            </a:ln>
          </p:spPr>
          <p:txBody>
            <a:bodyPr wrap="square" lIns="0" tIns="0" rIns="0" bIns="0" rtlCol="0"/>
            <a:lstStyle/>
            <a:p>
              <a:endParaRPr sz="1100">
                <a:latin typeface="Bookman Old Style" panose="02050604050505020204" pitchFamily="18" charset="0"/>
              </a:endParaRPr>
            </a:p>
          </p:txBody>
        </p:sp>
        <p:pic>
          <p:nvPicPr>
            <p:cNvPr id="12" name="object 16">
              <a:extLst>
                <a:ext uri="{FF2B5EF4-FFF2-40B4-BE49-F238E27FC236}">
                  <a16:creationId xmlns:a16="http://schemas.microsoft.com/office/drawing/2014/main" id="{8E2BAC22-9337-D9F4-5673-5CCED6B7C738}"/>
                </a:ext>
              </a:extLst>
            </p:cNvPr>
            <p:cNvPicPr/>
            <p:nvPr/>
          </p:nvPicPr>
          <p:blipFill>
            <a:blip r:embed="rId3" cstate="print"/>
            <a:stretch>
              <a:fillRect/>
            </a:stretch>
          </p:blipFill>
          <p:spPr>
            <a:xfrm>
              <a:off x="6022847" y="1949195"/>
              <a:ext cx="184403" cy="143256"/>
            </a:xfrm>
            <a:prstGeom prst="rect">
              <a:avLst/>
            </a:prstGeom>
          </p:spPr>
        </p:pic>
        <p:pic>
          <p:nvPicPr>
            <p:cNvPr id="16" name="object 17">
              <a:extLst>
                <a:ext uri="{FF2B5EF4-FFF2-40B4-BE49-F238E27FC236}">
                  <a16:creationId xmlns:a16="http://schemas.microsoft.com/office/drawing/2014/main" id="{DE939876-7BAE-EDD3-68B6-ADB3A0DD4BBD}"/>
                </a:ext>
              </a:extLst>
            </p:cNvPr>
            <p:cNvPicPr/>
            <p:nvPr/>
          </p:nvPicPr>
          <p:blipFill>
            <a:blip r:embed="rId4" cstate="print"/>
            <a:stretch>
              <a:fillRect/>
            </a:stretch>
          </p:blipFill>
          <p:spPr>
            <a:xfrm>
              <a:off x="6035039" y="3782567"/>
              <a:ext cx="184404" cy="143256"/>
            </a:xfrm>
            <a:prstGeom prst="rect">
              <a:avLst/>
            </a:prstGeom>
          </p:spPr>
        </p:pic>
      </p:grpSp>
      <p:sp>
        <p:nvSpPr>
          <p:cNvPr id="17" name="object 18">
            <a:extLst>
              <a:ext uri="{FF2B5EF4-FFF2-40B4-BE49-F238E27FC236}">
                <a16:creationId xmlns:a16="http://schemas.microsoft.com/office/drawing/2014/main" id="{F36FFEED-4058-C66D-401D-C896F8FFC407}"/>
              </a:ext>
            </a:extLst>
          </p:cNvPr>
          <p:cNvSpPr txBox="1"/>
          <p:nvPr/>
        </p:nvSpPr>
        <p:spPr>
          <a:xfrm>
            <a:off x="6072378" y="1624329"/>
            <a:ext cx="190500" cy="182101"/>
          </a:xfrm>
          <a:prstGeom prst="rect">
            <a:avLst/>
          </a:prstGeom>
        </p:spPr>
        <p:txBody>
          <a:bodyPr vert="horz" wrap="square" lIns="0" tIns="12700" rIns="0" bIns="0" rtlCol="0">
            <a:spAutoFit/>
          </a:bodyPr>
          <a:lstStyle/>
          <a:p>
            <a:pPr marL="12700">
              <a:lnSpc>
                <a:spcPct val="100000"/>
              </a:lnSpc>
              <a:spcBef>
                <a:spcPts val="100"/>
              </a:spcBef>
            </a:pPr>
            <a:r>
              <a:rPr sz="1100" b="1" spc="-50" dirty="0">
                <a:latin typeface="Bookman Old Style" panose="02050604050505020204" pitchFamily="18" charset="0"/>
                <a:cs typeface="Times New Roman"/>
              </a:rPr>
              <a:t>A</a:t>
            </a:r>
            <a:endParaRPr sz="1100">
              <a:latin typeface="Bookman Old Style" panose="02050604050505020204" pitchFamily="18" charset="0"/>
              <a:cs typeface="Times New Roman"/>
            </a:endParaRPr>
          </a:p>
        </p:txBody>
      </p:sp>
      <p:sp>
        <p:nvSpPr>
          <p:cNvPr id="20" name="object 19">
            <a:extLst>
              <a:ext uri="{FF2B5EF4-FFF2-40B4-BE49-F238E27FC236}">
                <a16:creationId xmlns:a16="http://schemas.microsoft.com/office/drawing/2014/main" id="{D6D64AD9-192D-2526-73EE-58D6ADE25C23}"/>
              </a:ext>
            </a:extLst>
          </p:cNvPr>
          <p:cNvSpPr txBox="1"/>
          <p:nvPr/>
        </p:nvSpPr>
        <p:spPr>
          <a:xfrm>
            <a:off x="6079363" y="3943603"/>
            <a:ext cx="178435" cy="182101"/>
          </a:xfrm>
          <a:prstGeom prst="rect">
            <a:avLst/>
          </a:prstGeom>
        </p:spPr>
        <p:txBody>
          <a:bodyPr vert="horz" wrap="square" lIns="0" tIns="12700" rIns="0" bIns="0" rtlCol="0">
            <a:spAutoFit/>
          </a:bodyPr>
          <a:lstStyle/>
          <a:p>
            <a:pPr marL="12700">
              <a:lnSpc>
                <a:spcPct val="100000"/>
              </a:lnSpc>
              <a:spcBef>
                <a:spcPts val="100"/>
              </a:spcBef>
            </a:pPr>
            <a:r>
              <a:rPr sz="1100" b="1" spc="-50" dirty="0">
                <a:latin typeface="Bookman Old Style" panose="02050604050505020204" pitchFamily="18" charset="0"/>
                <a:cs typeface="Times New Roman"/>
              </a:rPr>
              <a:t>B</a:t>
            </a:r>
            <a:endParaRPr sz="1100">
              <a:latin typeface="Bookman Old Style" panose="02050604050505020204" pitchFamily="18" charset="0"/>
              <a:cs typeface="Times New Roman"/>
            </a:endParaRPr>
          </a:p>
        </p:txBody>
      </p:sp>
      <p:sp>
        <p:nvSpPr>
          <p:cNvPr id="21" name="object 20">
            <a:extLst>
              <a:ext uri="{FF2B5EF4-FFF2-40B4-BE49-F238E27FC236}">
                <a16:creationId xmlns:a16="http://schemas.microsoft.com/office/drawing/2014/main" id="{4DA7BA43-85D1-7259-F4C1-05F7F26A95E8}"/>
              </a:ext>
            </a:extLst>
          </p:cNvPr>
          <p:cNvSpPr txBox="1"/>
          <p:nvPr/>
        </p:nvSpPr>
        <p:spPr>
          <a:xfrm>
            <a:off x="6448425" y="2817114"/>
            <a:ext cx="154305" cy="182101"/>
          </a:xfrm>
          <a:prstGeom prst="rect">
            <a:avLst/>
          </a:prstGeom>
        </p:spPr>
        <p:txBody>
          <a:bodyPr vert="horz" wrap="square" lIns="0" tIns="12700" rIns="0" bIns="0" rtlCol="0">
            <a:spAutoFit/>
          </a:bodyPr>
          <a:lstStyle/>
          <a:p>
            <a:pPr marL="12700">
              <a:lnSpc>
                <a:spcPct val="100000"/>
              </a:lnSpc>
              <a:spcBef>
                <a:spcPts val="100"/>
              </a:spcBef>
            </a:pPr>
            <a:r>
              <a:rPr sz="1100" b="1" spc="-50" dirty="0">
                <a:latin typeface="Bookman Old Style" panose="02050604050505020204" pitchFamily="18" charset="0"/>
                <a:cs typeface="Times New Roman"/>
              </a:rPr>
              <a:t>R</a:t>
            </a:r>
            <a:endParaRPr sz="1100">
              <a:latin typeface="Bookman Old Style" panose="02050604050505020204" pitchFamily="18" charset="0"/>
              <a:cs typeface="Times New Roman"/>
            </a:endParaRPr>
          </a:p>
        </p:txBody>
      </p:sp>
      <p:sp>
        <p:nvSpPr>
          <p:cNvPr id="22" name="object 21">
            <a:extLst>
              <a:ext uri="{FF2B5EF4-FFF2-40B4-BE49-F238E27FC236}">
                <a16:creationId xmlns:a16="http://schemas.microsoft.com/office/drawing/2014/main" id="{4BEB72CD-26C5-C95C-82EE-081A177ECFC9}"/>
              </a:ext>
            </a:extLst>
          </p:cNvPr>
          <p:cNvSpPr txBox="1"/>
          <p:nvPr/>
        </p:nvSpPr>
        <p:spPr>
          <a:xfrm>
            <a:off x="4417821" y="2755773"/>
            <a:ext cx="299720" cy="182101"/>
          </a:xfrm>
          <a:prstGeom prst="rect">
            <a:avLst/>
          </a:prstGeom>
        </p:spPr>
        <p:txBody>
          <a:bodyPr vert="horz" wrap="square" lIns="0" tIns="12700" rIns="0" bIns="0" rtlCol="0">
            <a:spAutoFit/>
          </a:bodyPr>
          <a:lstStyle/>
          <a:p>
            <a:pPr marL="38100">
              <a:lnSpc>
                <a:spcPct val="100000"/>
              </a:lnSpc>
              <a:spcBef>
                <a:spcPts val="100"/>
              </a:spcBef>
            </a:pPr>
            <a:r>
              <a:rPr sz="1100" spc="-25" dirty="0">
                <a:latin typeface="Bookman Old Style" panose="02050604050505020204" pitchFamily="18" charset="0"/>
                <a:cs typeface="Cambria Math"/>
              </a:rPr>
              <a:t>𝑹</a:t>
            </a:r>
            <a:r>
              <a:rPr sz="1100" spc="-37" baseline="-16666" dirty="0">
                <a:latin typeface="Bookman Old Style" panose="02050604050505020204" pitchFamily="18" charset="0"/>
                <a:cs typeface="Cambria Math"/>
              </a:rPr>
              <a:t>𝑵</a:t>
            </a:r>
            <a:endParaRPr sz="1100" baseline="-16666">
              <a:latin typeface="Bookman Old Style" panose="02050604050505020204" pitchFamily="18" charset="0"/>
              <a:cs typeface="Cambria Math"/>
            </a:endParaRPr>
          </a:p>
        </p:txBody>
      </p:sp>
      <p:sp>
        <p:nvSpPr>
          <p:cNvPr id="23" name="object 22">
            <a:extLst>
              <a:ext uri="{FF2B5EF4-FFF2-40B4-BE49-F238E27FC236}">
                <a16:creationId xmlns:a16="http://schemas.microsoft.com/office/drawing/2014/main" id="{9F885394-728E-B893-7B2A-B19DDA703B87}"/>
              </a:ext>
            </a:extLst>
          </p:cNvPr>
          <p:cNvSpPr txBox="1"/>
          <p:nvPr/>
        </p:nvSpPr>
        <p:spPr>
          <a:xfrm>
            <a:off x="123240" y="1729562"/>
            <a:ext cx="2922905" cy="182742"/>
          </a:xfrm>
          <a:prstGeom prst="rect">
            <a:avLst/>
          </a:prstGeom>
        </p:spPr>
        <p:txBody>
          <a:bodyPr vert="horz" wrap="square" lIns="0" tIns="13335" rIns="0" bIns="0" rtlCol="0">
            <a:spAutoFit/>
          </a:bodyPr>
          <a:lstStyle/>
          <a:p>
            <a:pPr marL="12700">
              <a:lnSpc>
                <a:spcPct val="100000"/>
              </a:lnSpc>
              <a:spcBef>
                <a:spcPts val="105"/>
              </a:spcBef>
            </a:pPr>
            <a:r>
              <a:rPr sz="1100" b="1" dirty="0">
                <a:solidFill>
                  <a:srgbClr val="3333FF"/>
                </a:solidFill>
                <a:latin typeface="Bookman Old Style" panose="02050604050505020204" pitchFamily="18" charset="0"/>
                <a:cs typeface="Times New Roman"/>
              </a:rPr>
              <a:t>Étape</a:t>
            </a:r>
            <a:r>
              <a:rPr sz="1100" b="1" spc="-25" dirty="0">
                <a:solidFill>
                  <a:srgbClr val="3333FF"/>
                </a:solidFill>
                <a:latin typeface="Bookman Old Style" panose="02050604050505020204" pitchFamily="18" charset="0"/>
                <a:cs typeface="Times New Roman"/>
              </a:rPr>
              <a:t> </a:t>
            </a:r>
            <a:r>
              <a:rPr sz="1100" b="1" dirty="0">
                <a:solidFill>
                  <a:srgbClr val="3333FF"/>
                </a:solidFill>
                <a:latin typeface="Bookman Old Style" panose="02050604050505020204" pitchFamily="18" charset="0"/>
                <a:cs typeface="Times New Roman"/>
              </a:rPr>
              <a:t>3</a:t>
            </a:r>
            <a:r>
              <a:rPr sz="1100" b="1" spc="-20" dirty="0">
                <a:solidFill>
                  <a:srgbClr val="3333FF"/>
                </a:solidFill>
                <a:latin typeface="Bookman Old Style" panose="02050604050505020204" pitchFamily="18" charset="0"/>
                <a:cs typeface="Times New Roman"/>
              </a:rPr>
              <a:t> </a:t>
            </a:r>
            <a:r>
              <a:rPr sz="1100" b="1" dirty="0">
                <a:solidFill>
                  <a:srgbClr val="3333FF"/>
                </a:solidFill>
                <a:latin typeface="Bookman Old Style" panose="02050604050505020204" pitchFamily="18" charset="0"/>
                <a:cs typeface="Times New Roman"/>
              </a:rPr>
              <a:t>:</a:t>
            </a:r>
            <a:r>
              <a:rPr sz="1100" b="1" spc="-15" dirty="0">
                <a:solidFill>
                  <a:srgbClr val="3333FF"/>
                </a:solidFill>
                <a:latin typeface="Bookman Old Style" panose="02050604050505020204" pitchFamily="18" charset="0"/>
                <a:cs typeface="Times New Roman"/>
              </a:rPr>
              <a:t> </a:t>
            </a:r>
            <a:r>
              <a:rPr sz="1100" dirty="0">
                <a:latin typeface="Bookman Old Style" panose="02050604050505020204" pitchFamily="18" charset="0"/>
                <a:cs typeface="Times New Roman"/>
              </a:rPr>
              <a:t>Former</a:t>
            </a:r>
            <a:r>
              <a:rPr sz="1100" spc="-5" dirty="0">
                <a:latin typeface="Bookman Old Style" panose="02050604050505020204" pitchFamily="18" charset="0"/>
                <a:cs typeface="Times New Roman"/>
              </a:rPr>
              <a:t> </a:t>
            </a:r>
            <a:r>
              <a:rPr sz="1100" dirty="0">
                <a:latin typeface="Bookman Old Style" panose="02050604050505020204" pitchFamily="18" charset="0"/>
                <a:cs typeface="Times New Roman"/>
              </a:rPr>
              <a:t>mon</a:t>
            </a:r>
            <a:r>
              <a:rPr sz="1100" spc="-10" dirty="0">
                <a:latin typeface="Bookman Old Style" panose="02050604050505020204" pitchFamily="18" charset="0"/>
                <a:cs typeface="Times New Roman"/>
              </a:rPr>
              <a:t> </a:t>
            </a:r>
            <a:r>
              <a:rPr sz="1100" dirty="0">
                <a:latin typeface="Bookman Old Style" panose="02050604050505020204" pitchFamily="18" charset="0"/>
                <a:cs typeface="Times New Roman"/>
              </a:rPr>
              <a:t>circuit</a:t>
            </a:r>
            <a:r>
              <a:rPr sz="1100" spc="-40" dirty="0">
                <a:latin typeface="Bookman Old Style" panose="02050604050505020204" pitchFamily="18" charset="0"/>
                <a:cs typeface="Times New Roman"/>
              </a:rPr>
              <a:t> </a:t>
            </a:r>
            <a:r>
              <a:rPr sz="1100" spc="-10" dirty="0">
                <a:latin typeface="Bookman Old Style" panose="02050604050505020204" pitchFamily="18" charset="0"/>
                <a:cs typeface="Times New Roman"/>
              </a:rPr>
              <a:t>équivalent</a:t>
            </a:r>
            <a:endParaRPr sz="1100" dirty="0">
              <a:latin typeface="Bookman Old Style" panose="02050604050505020204" pitchFamily="18" charset="0"/>
              <a:cs typeface="Times New Roman"/>
            </a:endParaRPr>
          </a:p>
        </p:txBody>
      </p:sp>
      <p:grpSp>
        <p:nvGrpSpPr>
          <p:cNvPr id="24" name="object 24">
            <a:extLst>
              <a:ext uri="{FF2B5EF4-FFF2-40B4-BE49-F238E27FC236}">
                <a16:creationId xmlns:a16="http://schemas.microsoft.com/office/drawing/2014/main" id="{ACB27020-A2DD-C4AA-4F84-5D6154DB2CC3}"/>
              </a:ext>
            </a:extLst>
          </p:cNvPr>
          <p:cNvGrpSpPr/>
          <p:nvPr/>
        </p:nvGrpSpPr>
        <p:grpSpPr>
          <a:xfrm>
            <a:off x="2892551" y="1985772"/>
            <a:ext cx="1577340" cy="1902460"/>
            <a:chOff x="2892551" y="1985772"/>
            <a:chExt cx="1577340" cy="1902460"/>
          </a:xfrm>
        </p:grpSpPr>
        <p:sp>
          <p:nvSpPr>
            <p:cNvPr id="25" name="object 25">
              <a:extLst>
                <a:ext uri="{FF2B5EF4-FFF2-40B4-BE49-F238E27FC236}">
                  <a16:creationId xmlns:a16="http://schemas.microsoft.com/office/drawing/2014/main" id="{BF74CE34-3133-7629-08A7-9E4F9AC215DC}"/>
                </a:ext>
              </a:extLst>
            </p:cNvPr>
            <p:cNvSpPr/>
            <p:nvPr/>
          </p:nvSpPr>
          <p:spPr>
            <a:xfrm>
              <a:off x="2921507" y="2014728"/>
              <a:ext cx="1518920" cy="1862455"/>
            </a:xfrm>
            <a:custGeom>
              <a:avLst/>
              <a:gdLst/>
              <a:ahLst/>
              <a:cxnLst/>
              <a:rect l="l" t="t" r="r" b="b"/>
              <a:pathLst>
                <a:path w="1518920" h="1862454">
                  <a:moveTo>
                    <a:pt x="181356" y="0"/>
                  </a:moveTo>
                  <a:lnTo>
                    <a:pt x="183134" y="1844294"/>
                  </a:lnTo>
                </a:path>
                <a:path w="1518920" h="1862454">
                  <a:moveTo>
                    <a:pt x="0" y="936498"/>
                  </a:moveTo>
                  <a:lnTo>
                    <a:pt x="6261" y="894984"/>
                  </a:lnTo>
                  <a:lnTo>
                    <a:pt x="23932" y="857673"/>
                  </a:lnTo>
                  <a:lnTo>
                    <a:pt x="51339" y="826055"/>
                  </a:lnTo>
                  <a:lnTo>
                    <a:pt x="86811" y="801624"/>
                  </a:lnTo>
                  <a:lnTo>
                    <a:pt x="128675" y="785870"/>
                  </a:lnTo>
                  <a:lnTo>
                    <a:pt x="175260" y="780288"/>
                  </a:lnTo>
                  <a:lnTo>
                    <a:pt x="221844" y="785870"/>
                  </a:lnTo>
                  <a:lnTo>
                    <a:pt x="263708" y="801624"/>
                  </a:lnTo>
                  <a:lnTo>
                    <a:pt x="299180" y="826055"/>
                  </a:lnTo>
                  <a:lnTo>
                    <a:pt x="326587" y="857673"/>
                  </a:lnTo>
                  <a:lnTo>
                    <a:pt x="344258" y="894984"/>
                  </a:lnTo>
                  <a:lnTo>
                    <a:pt x="350519" y="936498"/>
                  </a:lnTo>
                  <a:lnTo>
                    <a:pt x="344258" y="978011"/>
                  </a:lnTo>
                  <a:lnTo>
                    <a:pt x="326587" y="1015322"/>
                  </a:lnTo>
                  <a:lnTo>
                    <a:pt x="299180" y="1046940"/>
                  </a:lnTo>
                  <a:lnTo>
                    <a:pt x="263708" y="1071372"/>
                  </a:lnTo>
                  <a:lnTo>
                    <a:pt x="221844" y="1087125"/>
                  </a:lnTo>
                  <a:lnTo>
                    <a:pt x="175260" y="1092708"/>
                  </a:lnTo>
                  <a:lnTo>
                    <a:pt x="128675" y="1087125"/>
                  </a:lnTo>
                  <a:lnTo>
                    <a:pt x="86811" y="1071372"/>
                  </a:lnTo>
                  <a:lnTo>
                    <a:pt x="51339" y="1046940"/>
                  </a:lnTo>
                  <a:lnTo>
                    <a:pt x="23932" y="1015322"/>
                  </a:lnTo>
                  <a:lnTo>
                    <a:pt x="6261" y="978011"/>
                  </a:lnTo>
                  <a:lnTo>
                    <a:pt x="0" y="936498"/>
                  </a:lnTo>
                  <a:close/>
                </a:path>
                <a:path w="1518920" h="1862454">
                  <a:moveTo>
                    <a:pt x="0" y="752094"/>
                  </a:moveTo>
                  <a:lnTo>
                    <a:pt x="6261" y="710580"/>
                  </a:lnTo>
                  <a:lnTo>
                    <a:pt x="23932" y="673269"/>
                  </a:lnTo>
                  <a:lnTo>
                    <a:pt x="51339" y="641651"/>
                  </a:lnTo>
                  <a:lnTo>
                    <a:pt x="86811" y="617219"/>
                  </a:lnTo>
                  <a:lnTo>
                    <a:pt x="128675" y="601466"/>
                  </a:lnTo>
                  <a:lnTo>
                    <a:pt x="175260" y="595884"/>
                  </a:lnTo>
                  <a:lnTo>
                    <a:pt x="221844" y="601466"/>
                  </a:lnTo>
                  <a:lnTo>
                    <a:pt x="263708" y="617220"/>
                  </a:lnTo>
                  <a:lnTo>
                    <a:pt x="299180" y="641651"/>
                  </a:lnTo>
                  <a:lnTo>
                    <a:pt x="326587" y="673269"/>
                  </a:lnTo>
                  <a:lnTo>
                    <a:pt x="344258" y="710580"/>
                  </a:lnTo>
                  <a:lnTo>
                    <a:pt x="350519" y="752094"/>
                  </a:lnTo>
                  <a:lnTo>
                    <a:pt x="344258" y="793607"/>
                  </a:lnTo>
                  <a:lnTo>
                    <a:pt x="326587" y="830918"/>
                  </a:lnTo>
                  <a:lnTo>
                    <a:pt x="299180" y="862536"/>
                  </a:lnTo>
                  <a:lnTo>
                    <a:pt x="263708" y="886968"/>
                  </a:lnTo>
                  <a:lnTo>
                    <a:pt x="221844" y="902721"/>
                  </a:lnTo>
                  <a:lnTo>
                    <a:pt x="175260" y="908304"/>
                  </a:lnTo>
                  <a:lnTo>
                    <a:pt x="128675" y="902721"/>
                  </a:lnTo>
                  <a:lnTo>
                    <a:pt x="86811" y="886968"/>
                  </a:lnTo>
                  <a:lnTo>
                    <a:pt x="51339" y="862536"/>
                  </a:lnTo>
                  <a:lnTo>
                    <a:pt x="23932" y="830918"/>
                  </a:lnTo>
                  <a:lnTo>
                    <a:pt x="6261" y="793607"/>
                  </a:lnTo>
                  <a:lnTo>
                    <a:pt x="0" y="752094"/>
                  </a:lnTo>
                  <a:close/>
                </a:path>
                <a:path w="1518920" h="1862454">
                  <a:moveTo>
                    <a:pt x="201168" y="27686"/>
                  </a:moveTo>
                  <a:lnTo>
                    <a:pt x="1518920" y="21336"/>
                  </a:lnTo>
                </a:path>
                <a:path w="1518920" h="1862454">
                  <a:moveTo>
                    <a:pt x="146304" y="1839468"/>
                  </a:moveTo>
                  <a:lnTo>
                    <a:pt x="1499489" y="1841373"/>
                  </a:lnTo>
                </a:path>
                <a:path w="1518920" h="1862454">
                  <a:moveTo>
                    <a:pt x="1051559" y="1456944"/>
                  </a:moveTo>
                  <a:lnTo>
                    <a:pt x="1316735" y="1456944"/>
                  </a:lnTo>
                  <a:lnTo>
                    <a:pt x="1316735" y="414528"/>
                  </a:lnTo>
                  <a:lnTo>
                    <a:pt x="1051559" y="414528"/>
                  </a:lnTo>
                  <a:lnTo>
                    <a:pt x="1051559" y="1456944"/>
                  </a:lnTo>
                  <a:close/>
                </a:path>
                <a:path w="1518920" h="1862454">
                  <a:moveTo>
                    <a:pt x="1184147" y="9144"/>
                  </a:moveTo>
                  <a:lnTo>
                    <a:pt x="1184147" y="414147"/>
                  </a:lnTo>
                </a:path>
                <a:path w="1518920" h="1862454">
                  <a:moveTo>
                    <a:pt x="1184147" y="1456944"/>
                  </a:moveTo>
                  <a:lnTo>
                    <a:pt x="1184147" y="1861959"/>
                  </a:lnTo>
                </a:path>
              </a:pathLst>
            </a:custGeom>
            <a:ln w="57912">
              <a:solidFill>
                <a:srgbClr val="000000"/>
              </a:solidFill>
            </a:ln>
          </p:spPr>
          <p:txBody>
            <a:bodyPr wrap="square" lIns="0" tIns="0" rIns="0" bIns="0" rtlCol="0"/>
            <a:lstStyle/>
            <a:p>
              <a:endParaRPr sz="1100">
                <a:latin typeface="Bookman Old Style" panose="02050604050505020204" pitchFamily="18" charset="0"/>
              </a:endParaRPr>
            </a:p>
          </p:txBody>
        </p:sp>
        <p:pic>
          <p:nvPicPr>
            <p:cNvPr id="26" name="object 26">
              <a:extLst>
                <a:ext uri="{FF2B5EF4-FFF2-40B4-BE49-F238E27FC236}">
                  <a16:creationId xmlns:a16="http://schemas.microsoft.com/office/drawing/2014/main" id="{E76E3EE6-92AC-9C5E-FDB2-E351094EA942}"/>
                </a:ext>
              </a:extLst>
            </p:cNvPr>
            <p:cNvPicPr/>
            <p:nvPr/>
          </p:nvPicPr>
          <p:blipFill>
            <a:blip r:embed="rId5" cstate="print"/>
            <a:stretch>
              <a:fillRect/>
            </a:stretch>
          </p:blipFill>
          <p:spPr>
            <a:xfrm>
              <a:off x="3001136" y="2230628"/>
              <a:ext cx="214630" cy="111379"/>
            </a:xfrm>
            <a:prstGeom prst="rect">
              <a:avLst/>
            </a:prstGeom>
          </p:spPr>
        </p:pic>
      </p:grpSp>
      <p:sp>
        <p:nvSpPr>
          <p:cNvPr id="27" name="object 27">
            <a:extLst>
              <a:ext uri="{FF2B5EF4-FFF2-40B4-BE49-F238E27FC236}">
                <a16:creationId xmlns:a16="http://schemas.microsoft.com/office/drawing/2014/main" id="{6AAC7BFE-AFF8-91D8-9EE3-244A22CE7BC1}"/>
              </a:ext>
            </a:extLst>
          </p:cNvPr>
          <p:cNvSpPr txBox="1"/>
          <p:nvPr/>
        </p:nvSpPr>
        <p:spPr>
          <a:xfrm>
            <a:off x="2567939" y="2776220"/>
            <a:ext cx="252729" cy="182101"/>
          </a:xfrm>
          <a:prstGeom prst="rect">
            <a:avLst/>
          </a:prstGeom>
        </p:spPr>
        <p:txBody>
          <a:bodyPr vert="horz" wrap="square" lIns="0" tIns="12700" rIns="0" bIns="0" rtlCol="0">
            <a:spAutoFit/>
          </a:bodyPr>
          <a:lstStyle/>
          <a:p>
            <a:pPr marL="38100">
              <a:lnSpc>
                <a:spcPct val="100000"/>
              </a:lnSpc>
              <a:spcBef>
                <a:spcPts val="100"/>
              </a:spcBef>
            </a:pPr>
            <a:r>
              <a:rPr sz="1100" spc="-25" dirty="0">
                <a:latin typeface="Bookman Old Style" panose="02050604050505020204" pitchFamily="18" charset="0"/>
                <a:cs typeface="Cambria Math"/>
              </a:rPr>
              <a:t>𝑰</a:t>
            </a:r>
            <a:r>
              <a:rPr sz="1100" spc="-37" baseline="-16666" dirty="0">
                <a:latin typeface="Bookman Old Style" panose="02050604050505020204" pitchFamily="18" charset="0"/>
                <a:cs typeface="Cambria Math"/>
              </a:rPr>
              <a:t>𝑵</a:t>
            </a:r>
            <a:endParaRPr sz="1100" baseline="-16666">
              <a:latin typeface="Bookman Old Style" panose="02050604050505020204" pitchFamily="18" charset="0"/>
              <a:cs typeface="Cambria Math"/>
            </a:endParaRPr>
          </a:p>
        </p:txBody>
      </p:sp>
      <p:sp>
        <p:nvSpPr>
          <p:cNvPr id="28" name="object 28">
            <a:extLst>
              <a:ext uri="{FF2B5EF4-FFF2-40B4-BE49-F238E27FC236}">
                <a16:creationId xmlns:a16="http://schemas.microsoft.com/office/drawing/2014/main" id="{FC732A7B-D052-D81E-960A-4FAB6324514A}"/>
              </a:ext>
            </a:extLst>
          </p:cNvPr>
          <p:cNvSpPr txBox="1"/>
          <p:nvPr/>
        </p:nvSpPr>
        <p:spPr>
          <a:xfrm>
            <a:off x="3207766" y="2212340"/>
            <a:ext cx="271780" cy="182101"/>
          </a:xfrm>
          <a:prstGeom prst="rect">
            <a:avLst/>
          </a:prstGeom>
        </p:spPr>
        <p:txBody>
          <a:bodyPr vert="horz" wrap="square" lIns="0" tIns="12700" rIns="0" bIns="0" rtlCol="0">
            <a:spAutoFit/>
          </a:bodyPr>
          <a:lstStyle/>
          <a:p>
            <a:pPr marL="38100">
              <a:lnSpc>
                <a:spcPct val="100000"/>
              </a:lnSpc>
              <a:spcBef>
                <a:spcPts val="100"/>
              </a:spcBef>
            </a:pPr>
            <a:r>
              <a:rPr sz="1100" dirty="0">
                <a:solidFill>
                  <a:srgbClr val="FF0000"/>
                </a:solidFill>
                <a:latin typeface="Bookman Old Style" panose="02050604050505020204" pitchFamily="18" charset="0"/>
                <a:cs typeface="Cambria Math"/>
              </a:rPr>
              <a:t>𝑰</a:t>
            </a:r>
            <a:r>
              <a:rPr sz="1100" spc="-5" dirty="0">
                <a:solidFill>
                  <a:srgbClr val="FF0000"/>
                </a:solidFill>
                <a:latin typeface="Bookman Old Style" panose="02050604050505020204" pitchFamily="18" charset="0"/>
                <a:cs typeface="Cambria Math"/>
              </a:rPr>
              <a:t> </a:t>
            </a:r>
            <a:r>
              <a:rPr sz="1100" spc="-75" baseline="-17361" dirty="0">
                <a:solidFill>
                  <a:srgbClr val="FF0000"/>
                </a:solidFill>
                <a:latin typeface="Bookman Old Style" panose="02050604050505020204" pitchFamily="18" charset="0"/>
                <a:cs typeface="Cambria Math"/>
              </a:rPr>
              <a:t>𝑵</a:t>
            </a:r>
            <a:endParaRPr sz="1100" baseline="-17361">
              <a:latin typeface="Bookman Old Style" panose="02050604050505020204" pitchFamily="18" charset="0"/>
              <a:cs typeface="Cambria Math"/>
            </a:endParaRPr>
          </a:p>
        </p:txBody>
      </p:sp>
    </p:spTree>
    <p:extLst>
      <p:ext uri="{BB962C8B-B14F-4D97-AF65-F5344CB8AC3E}">
        <p14:creationId xmlns:p14="http://schemas.microsoft.com/office/powerpoint/2010/main" val="32659259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50</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2.4 </a:t>
            </a:r>
            <a:r>
              <a:rPr lang="fr-FR" altLang="fr-FR" sz="1400" b="1" spc="-5" dirty="0">
                <a:solidFill>
                  <a:srgbClr val="CC00CC"/>
                </a:solidFill>
                <a:latin typeface="Bookman Old Style" panose="02050604050505020204" pitchFamily="18" charset="0"/>
                <a:cs typeface="Arial"/>
              </a:rPr>
              <a:t>Transformation </a:t>
            </a:r>
            <a:r>
              <a:rPr lang="fr-FR" altLang="fr-FR" sz="1400" b="1" spc="-5" dirty="0">
                <a:latin typeface="Bookman Old Style" panose="02050604050505020204" pitchFamily="18" charset="0"/>
                <a:cs typeface="Arial"/>
              </a:rPr>
              <a:t>Thévenin</a:t>
            </a:r>
            <a:r>
              <a:rPr lang="fr-FR" altLang="fr-FR" sz="1400" b="1" spc="-5" dirty="0">
                <a:solidFill>
                  <a:srgbClr val="CC00CC"/>
                </a:solidFill>
                <a:latin typeface="Bookman Old Style" panose="02050604050505020204" pitchFamily="18" charset="0"/>
                <a:cs typeface="Arial"/>
              </a:rPr>
              <a:t>-</a:t>
            </a:r>
            <a:r>
              <a:rPr lang="fr-FR" altLang="fr-FR" sz="1400" b="1" spc="-5" dirty="0">
                <a:latin typeface="Bookman Old Style" panose="02050604050505020204" pitchFamily="18" charset="0"/>
                <a:cs typeface="Arial"/>
              </a:rPr>
              <a:t>Norton</a:t>
            </a:r>
            <a:r>
              <a:rPr lang="fr-FR" altLang="fr-FR" sz="1400" b="1" spc="-5" dirty="0">
                <a:solidFill>
                  <a:srgbClr val="CC00CC"/>
                </a:solidFill>
                <a:latin typeface="Bookman Old Style" panose="02050604050505020204" pitchFamily="18" charset="0"/>
                <a:cs typeface="Arial"/>
              </a:rPr>
              <a:t> </a:t>
            </a: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EEAE88B-D617-C1F4-1885-7AEDD49A9D05}"/>
                  </a:ext>
                </a:extLst>
              </p:cNvPr>
              <p:cNvSpPr txBox="1"/>
              <p:nvPr/>
            </p:nvSpPr>
            <p:spPr>
              <a:xfrm>
                <a:off x="368538" y="1395926"/>
                <a:ext cx="8674718" cy="1323439"/>
              </a:xfrm>
              <a:prstGeom prst="rect">
                <a:avLst/>
              </a:prstGeom>
              <a:solidFill>
                <a:srgbClr val="FFFFFF"/>
              </a:solidFill>
              <a:ln>
                <a:noFill/>
              </a:ln>
              <a:extLst>
                <a:ext uri="{91240B29-F687-4F45-9708-019B960494DF}">
                  <a14:hiddenLine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dirty="0"/>
                  <a:t>Il est parfois intéressant de passer d'une représentation </a:t>
                </a:r>
                <a:r>
                  <a:rPr lang="fr-FR" altLang="fr-FR" b="1" dirty="0"/>
                  <a:t>de générateur de tension</a:t>
                </a:r>
                <a:r>
                  <a:rPr lang="fr-FR" altLang="fr-FR" dirty="0"/>
                  <a:t> à celle de </a:t>
                </a:r>
                <a:r>
                  <a:rPr lang="fr-FR" altLang="fr-FR" b="1" dirty="0"/>
                  <a:t>générateur de courant</a:t>
                </a:r>
                <a:r>
                  <a:rPr lang="fr-FR" altLang="fr-FR" dirty="0"/>
                  <a:t>.</a:t>
                </a:r>
              </a:p>
              <a:p>
                <a:endParaRPr lang="fr-FR" altLang="fr-FR" dirty="0"/>
              </a:p>
              <a:p>
                <a:pPr marL="0" indent="0">
                  <a:buNone/>
                </a:pPr>
                <a:r>
                  <a:rPr lang="fr-FR" altLang="fr-FR" dirty="0"/>
                  <a:t>     Lorsqu'on transforme un </a:t>
                </a:r>
                <a:r>
                  <a:rPr lang="fr-FR" altLang="fr-FR" b="1" dirty="0"/>
                  <a:t>générateur de tension </a:t>
                </a:r>
                <a:r>
                  <a:rPr lang="fr-FR" altLang="fr-FR" dirty="0"/>
                  <a:t>(</a:t>
                </a:r>
                <a14:m>
                  <m:oMath xmlns:m="http://schemas.openxmlformats.org/officeDocument/2006/math">
                    <m:sSub>
                      <m:sSubPr>
                        <m:ctrlPr>
                          <a:rPr lang="fr-FR" altLang="fr-FR" b="1" i="1" dirty="0" smtClean="0">
                            <a:latin typeface="Cambria Math" panose="02040503050406030204" pitchFamily="18" charset="0"/>
                          </a:rPr>
                        </m:ctrlPr>
                      </m:sSubPr>
                      <m:e>
                        <m:r>
                          <a:rPr lang="fr-FR" altLang="fr-FR" b="1" i="1" dirty="0" smtClean="0">
                            <a:latin typeface="Cambria Math" panose="02040503050406030204" pitchFamily="18" charset="0"/>
                          </a:rPr>
                          <m:t>𝑬</m:t>
                        </m:r>
                      </m:e>
                      <m:sub>
                        <m:r>
                          <a:rPr lang="fr-FR" altLang="fr-FR" b="1" i="1" dirty="0">
                            <a:latin typeface="Cambria Math" panose="02040503050406030204" pitchFamily="18" charset="0"/>
                          </a:rPr>
                          <m:t>𝑻𝒉</m:t>
                        </m:r>
                      </m:sub>
                    </m:sSub>
                  </m:oMath>
                </a14:m>
                <a:r>
                  <a:rPr lang="fr-FR" altLang="fr-FR" b="1" dirty="0"/>
                  <a:t>, </a:t>
                </a:r>
                <a14:m>
                  <m:oMath xmlns:m="http://schemas.openxmlformats.org/officeDocument/2006/math">
                    <m:sSub>
                      <m:sSubPr>
                        <m:ctrlPr>
                          <a:rPr lang="fr-FR" altLang="fr-FR" b="1" i="1" dirty="0">
                            <a:latin typeface="Cambria Math" panose="02040503050406030204" pitchFamily="18" charset="0"/>
                          </a:rPr>
                        </m:ctrlPr>
                      </m:sSubPr>
                      <m:e>
                        <m:r>
                          <a:rPr lang="fr-FR" altLang="fr-FR" b="1" i="1" dirty="0" smtClean="0">
                            <a:latin typeface="Cambria Math" panose="02040503050406030204" pitchFamily="18" charset="0"/>
                          </a:rPr>
                          <m:t>𝑹</m:t>
                        </m:r>
                      </m:e>
                      <m:sub>
                        <m:r>
                          <a:rPr lang="fr-FR" altLang="fr-FR" b="1" i="1" dirty="0">
                            <a:latin typeface="Cambria Math" panose="02040503050406030204" pitchFamily="18" charset="0"/>
                          </a:rPr>
                          <m:t>𝑻𝒉</m:t>
                        </m:r>
                      </m:sub>
                    </m:sSub>
                  </m:oMath>
                </a14:m>
                <a:r>
                  <a:rPr lang="fr-FR" altLang="fr-FR" dirty="0"/>
                  <a:t>) en un </a:t>
                </a:r>
                <a:r>
                  <a:rPr lang="fr-FR" altLang="fr-FR" b="1" dirty="0"/>
                  <a:t>générateur de courant </a:t>
                </a:r>
                <a:r>
                  <a:rPr lang="fr-FR" altLang="fr-FR" dirty="0"/>
                  <a:t>(</a:t>
                </a:r>
                <a14:m>
                  <m:oMath xmlns:m="http://schemas.openxmlformats.org/officeDocument/2006/math">
                    <m:sSub>
                      <m:sSubPr>
                        <m:ctrlPr>
                          <a:rPr lang="fr-FR" altLang="fr-FR" b="1" i="1" dirty="0" smtClean="0">
                            <a:latin typeface="Cambria Math" panose="02040503050406030204" pitchFamily="18" charset="0"/>
                          </a:rPr>
                        </m:ctrlPr>
                      </m:sSubPr>
                      <m:e>
                        <m:r>
                          <a:rPr lang="fr-FR" altLang="fr-FR" b="1" i="1" dirty="0" smtClean="0">
                            <a:latin typeface="Cambria Math" panose="02040503050406030204" pitchFamily="18" charset="0"/>
                          </a:rPr>
                          <m:t>𝑰</m:t>
                        </m:r>
                      </m:e>
                      <m:sub>
                        <m:r>
                          <a:rPr lang="fr-FR" altLang="fr-FR" b="1" i="1" dirty="0" smtClean="0">
                            <a:latin typeface="Cambria Math" panose="02040503050406030204" pitchFamily="18" charset="0"/>
                          </a:rPr>
                          <m:t>𝑵</m:t>
                        </m:r>
                      </m:sub>
                    </m:sSub>
                  </m:oMath>
                </a14:m>
                <a:r>
                  <a:rPr lang="fr-FR" altLang="fr-FR" b="1" dirty="0"/>
                  <a:t> , </a:t>
                </a:r>
                <a14:m>
                  <m:oMath xmlns:m="http://schemas.openxmlformats.org/officeDocument/2006/math">
                    <m:sSub>
                      <m:sSubPr>
                        <m:ctrlPr>
                          <a:rPr lang="fr-FR" altLang="fr-FR" b="1" i="1" dirty="0" smtClean="0">
                            <a:latin typeface="Cambria Math" panose="02040503050406030204" pitchFamily="18" charset="0"/>
                          </a:rPr>
                        </m:ctrlPr>
                      </m:sSubPr>
                      <m:e>
                        <m:r>
                          <a:rPr lang="fr-FR" altLang="fr-FR" b="1" i="1" dirty="0" smtClean="0">
                            <a:latin typeface="Cambria Math" panose="02040503050406030204" pitchFamily="18" charset="0"/>
                          </a:rPr>
                          <m:t>𝑹</m:t>
                        </m:r>
                      </m:e>
                      <m:sub>
                        <m:r>
                          <a:rPr lang="fr-FR" altLang="fr-FR" b="1" i="1" dirty="0" smtClean="0">
                            <a:latin typeface="Cambria Math" panose="02040503050406030204" pitchFamily="18" charset="0"/>
                          </a:rPr>
                          <m:t>𝑵</m:t>
                        </m:r>
                      </m:sub>
                    </m:sSub>
                  </m:oMath>
                </a14:m>
                <a:r>
                  <a:rPr lang="fr-FR" altLang="fr-FR" dirty="0"/>
                  <a:t>), on a les relations :</a:t>
                </a:r>
              </a:p>
            </p:txBody>
          </p:sp>
        </mc:Choice>
        <mc:Fallback xmlns="">
          <p:sp>
            <p:nvSpPr>
              <p:cNvPr id="29" name="TextBox 28">
                <a:extLst>
                  <a:ext uri="{FF2B5EF4-FFF2-40B4-BE49-F238E27FC236}">
                    <a16:creationId xmlns:a16="http://schemas.microsoft.com/office/drawing/2014/main" id="{DEEAE88B-D617-C1F4-1885-7AEDD49A9D05}"/>
                  </a:ext>
                </a:extLst>
              </p:cNvPr>
              <p:cNvSpPr txBox="1">
                <a:spLocks noRot="1" noChangeAspect="1" noMove="1" noResize="1" noEditPoints="1" noAdjustHandles="1" noChangeArrowheads="1" noChangeShapeType="1" noTextEdit="1"/>
              </p:cNvSpPr>
              <p:nvPr/>
            </p:nvSpPr>
            <p:spPr>
              <a:xfrm>
                <a:off x="368538" y="1395926"/>
                <a:ext cx="8674718" cy="1323439"/>
              </a:xfrm>
              <a:prstGeom prst="rect">
                <a:avLst/>
              </a:prstGeom>
              <a:blipFill>
                <a:blip r:embed="rId3"/>
                <a:stretch>
                  <a:fillRect l="-351" t="-1382" r="-422" b="-5069"/>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r>
                  <a:rPr lang="fr-FR">
                    <a:noFill/>
                  </a:rPr>
                  <a:t> </a:t>
                </a:r>
              </a:p>
            </p:txBody>
          </p:sp>
        </mc:Fallback>
      </mc:AlternateContent>
      <p:sp>
        <p:nvSpPr>
          <p:cNvPr id="30" name="Arrow: Right 29">
            <a:extLst>
              <a:ext uri="{FF2B5EF4-FFF2-40B4-BE49-F238E27FC236}">
                <a16:creationId xmlns:a16="http://schemas.microsoft.com/office/drawing/2014/main" id="{3647A1CC-9FE1-B78A-295F-0872DF290D55}"/>
              </a:ext>
            </a:extLst>
          </p:cNvPr>
          <p:cNvSpPr/>
          <p:nvPr/>
        </p:nvSpPr>
        <p:spPr>
          <a:xfrm>
            <a:off x="368538" y="2266950"/>
            <a:ext cx="276640" cy="15240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31" name="Groupe 5"/>
          <p:cNvGrpSpPr/>
          <p:nvPr/>
        </p:nvGrpSpPr>
        <p:grpSpPr>
          <a:xfrm>
            <a:off x="437009" y="2800350"/>
            <a:ext cx="1579143" cy="2004179"/>
            <a:chOff x="819150" y="2800350"/>
            <a:chExt cx="2438400" cy="2947124"/>
          </a:xfrm>
        </p:grpSpPr>
        <p:grpSp>
          <p:nvGrpSpPr>
            <p:cNvPr id="6156" name="Group 118"/>
            <p:cNvGrpSpPr>
              <a:grpSpLocks/>
            </p:cNvGrpSpPr>
            <p:nvPr/>
          </p:nvGrpSpPr>
          <p:grpSpPr bwMode="auto">
            <a:xfrm>
              <a:off x="819150" y="2800350"/>
              <a:ext cx="2438400" cy="2598738"/>
              <a:chOff x="288" y="480"/>
              <a:chExt cx="1536" cy="1637"/>
            </a:xfrm>
          </p:grpSpPr>
          <p:sp>
            <p:nvSpPr>
              <p:cNvPr id="6177" name="Rectangle 93"/>
              <p:cNvSpPr>
                <a:spLocks noChangeArrowheads="1"/>
              </p:cNvSpPr>
              <p:nvPr/>
            </p:nvSpPr>
            <p:spPr bwMode="auto">
              <a:xfrm>
                <a:off x="485" y="579"/>
                <a:ext cx="908" cy="1508"/>
              </a:xfrm>
              <a:prstGeom prst="rect">
                <a:avLst/>
              </a:prstGeom>
              <a:noFill/>
              <a:ln w="38100">
                <a:solidFill>
                  <a:schemeClr val="tx1"/>
                </a:solidFill>
                <a:miter lim="800000"/>
                <a:headEnd/>
                <a:tailEnd/>
              </a:ln>
            </p:spPr>
            <p:txBody>
              <a:bodyPr wrap="none" anchor="ctr"/>
              <a:lstStyle/>
              <a:p>
                <a:endParaRPr lang="fr-FR"/>
              </a:p>
            </p:txBody>
          </p:sp>
          <p:sp>
            <p:nvSpPr>
              <p:cNvPr id="6178" name="Rectangle 94"/>
              <p:cNvSpPr>
                <a:spLocks noChangeArrowheads="1"/>
              </p:cNvSpPr>
              <p:nvPr/>
            </p:nvSpPr>
            <p:spPr bwMode="auto">
              <a:xfrm rot="10800000">
                <a:off x="397" y="873"/>
                <a:ext cx="154" cy="319"/>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6179" name="Line 95"/>
              <p:cNvSpPr>
                <a:spLocks noChangeShapeType="1"/>
              </p:cNvSpPr>
              <p:nvPr/>
            </p:nvSpPr>
            <p:spPr bwMode="auto">
              <a:xfrm flipV="1">
                <a:off x="715" y="1333"/>
                <a:ext cx="0" cy="524"/>
              </a:xfrm>
              <a:prstGeom prst="line">
                <a:avLst/>
              </a:prstGeom>
              <a:noFill/>
              <a:ln w="9525">
                <a:solidFill>
                  <a:schemeClr val="tx1"/>
                </a:solidFill>
                <a:round/>
                <a:headEnd/>
                <a:tailEnd type="triangle" w="med" len="med"/>
              </a:ln>
            </p:spPr>
            <p:txBody>
              <a:bodyPr/>
              <a:lstStyle/>
              <a:p>
                <a:endParaRPr lang="fr-FR"/>
              </a:p>
            </p:txBody>
          </p:sp>
          <p:grpSp>
            <p:nvGrpSpPr>
              <p:cNvPr id="6180" name="Group 96"/>
              <p:cNvGrpSpPr>
                <a:grpSpLocks/>
              </p:cNvGrpSpPr>
              <p:nvPr/>
            </p:nvGrpSpPr>
            <p:grpSpPr bwMode="auto">
              <a:xfrm>
                <a:off x="288" y="1397"/>
                <a:ext cx="394" cy="409"/>
                <a:chOff x="3636" y="2796"/>
                <a:chExt cx="432" cy="384"/>
              </a:xfrm>
            </p:grpSpPr>
            <p:sp>
              <p:nvSpPr>
                <p:cNvPr id="6192" name="Oval 97"/>
                <p:cNvSpPr>
                  <a:spLocks noChangeArrowheads="1"/>
                </p:cNvSpPr>
                <p:nvPr/>
              </p:nvSpPr>
              <p:spPr bwMode="auto">
                <a:xfrm>
                  <a:off x="3636" y="2796"/>
                  <a:ext cx="432" cy="384"/>
                </a:xfrm>
                <a:prstGeom prst="ellipse">
                  <a:avLst/>
                </a:prstGeom>
                <a:solidFill>
                  <a:schemeClr val="bg1"/>
                </a:solidFill>
                <a:ln w="38100">
                  <a:solidFill>
                    <a:schemeClr val="tx1"/>
                  </a:solidFill>
                  <a:round/>
                  <a:headEnd/>
                  <a:tailEnd/>
                </a:ln>
              </p:spPr>
              <p:txBody>
                <a:bodyPr wrap="none" anchor="ctr"/>
                <a:lstStyle/>
                <a:p>
                  <a:endParaRPr lang="fr-FR"/>
                </a:p>
              </p:txBody>
            </p:sp>
            <p:sp>
              <p:nvSpPr>
                <p:cNvPr id="6193" name="Line 98"/>
                <p:cNvSpPr>
                  <a:spLocks noChangeShapeType="1"/>
                </p:cNvSpPr>
                <p:nvPr/>
              </p:nvSpPr>
              <p:spPr bwMode="auto">
                <a:xfrm>
                  <a:off x="3852" y="2832"/>
                  <a:ext cx="0" cy="312"/>
                </a:xfrm>
                <a:prstGeom prst="line">
                  <a:avLst/>
                </a:prstGeom>
                <a:noFill/>
                <a:ln w="38100">
                  <a:solidFill>
                    <a:schemeClr val="tx1"/>
                  </a:solidFill>
                  <a:round/>
                  <a:headEnd/>
                  <a:tailEnd/>
                </a:ln>
              </p:spPr>
              <p:txBody>
                <a:bodyPr/>
                <a:lstStyle/>
                <a:p>
                  <a:endParaRPr lang="fr-FR"/>
                </a:p>
              </p:txBody>
            </p:sp>
          </p:grpSp>
          <p:sp>
            <p:nvSpPr>
              <p:cNvPr id="6181" name="Text Box 99"/>
              <p:cNvSpPr txBox="1">
                <a:spLocks noChangeArrowheads="1"/>
              </p:cNvSpPr>
              <p:nvPr/>
            </p:nvSpPr>
            <p:spPr bwMode="auto">
              <a:xfrm>
                <a:off x="715" y="1473"/>
                <a:ext cx="575" cy="285"/>
              </a:xfrm>
              <a:prstGeom prst="rect">
                <a:avLst/>
              </a:prstGeom>
              <a:noFill/>
              <a:ln w="9525">
                <a:noFill/>
                <a:miter lim="800000"/>
                <a:headEnd/>
                <a:tailEnd/>
              </a:ln>
            </p:spPr>
            <p:txBody>
              <a:bodyPr wrap="square">
                <a:spAutoFit/>
              </a:bodyPr>
              <a:lstStyle/>
              <a:p>
                <a:pPr>
                  <a:spcBef>
                    <a:spcPct val="50000"/>
                  </a:spcBef>
                </a:pPr>
                <a:r>
                  <a:rPr lang="fr-FR" sz="1400" b="1" dirty="0" err="1">
                    <a:solidFill>
                      <a:srgbClr val="FF0000"/>
                    </a:solidFill>
                    <a:latin typeface="Bookman Old Style" panose="02050604050505020204" pitchFamily="18" charset="0"/>
                  </a:rPr>
                  <a:t>E</a:t>
                </a:r>
                <a:r>
                  <a:rPr lang="fr-FR" sz="1400" b="1" baseline="-25000" dirty="0" err="1">
                    <a:solidFill>
                      <a:srgbClr val="FF0000"/>
                    </a:solidFill>
                    <a:latin typeface="Bookman Old Style" panose="02050604050505020204" pitchFamily="18" charset="0"/>
                  </a:rPr>
                  <a:t>Th</a:t>
                </a:r>
                <a:endParaRPr lang="fr-FR" sz="1400" b="1" baseline="-25000" dirty="0">
                  <a:solidFill>
                    <a:srgbClr val="FF0000"/>
                  </a:solidFill>
                  <a:latin typeface="Bookman Old Style" panose="02050604050505020204" pitchFamily="18" charset="0"/>
                </a:endParaRPr>
              </a:p>
            </p:txBody>
          </p:sp>
          <p:sp>
            <p:nvSpPr>
              <p:cNvPr id="6182" name="Text Box 100"/>
              <p:cNvSpPr txBox="1">
                <a:spLocks noChangeArrowheads="1"/>
              </p:cNvSpPr>
              <p:nvPr/>
            </p:nvSpPr>
            <p:spPr bwMode="auto">
              <a:xfrm>
                <a:off x="584" y="822"/>
                <a:ext cx="535" cy="285"/>
              </a:xfrm>
              <a:prstGeom prst="rect">
                <a:avLst/>
              </a:prstGeom>
              <a:noFill/>
              <a:ln w="9525">
                <a:noFill/>
                <a:miter lim="800000"/>
                <a:headEnd/>
                <a:tailEnd/>
              </a:ln>
            </p:spPr>
            <p:txBody>
              <a:bodyPr wrap="square">
                <a:spAutoFit/>
              </a:bodyPr>
              <a:lstStyle/>
              <a:p>
                <a:pPr>
                  <a:spcBef>
                    <a:spcPct val="50000"/>
                  </a:spcBef>
                </a:pPr>
                <a:r>
                  <a:rPr lang="fr-FR" sz="1400" b="1" dirty="0" err="1">
                    <a:solidFill>
                      <a:srgbClr val="FF0000"/>
                    </a:solidFill>
                    <a:latin typeface="Bookman Old Style" panose="02050604050505020204" pitchFamily="18" charset="0"/>
                  </a:rPr>
                  <a:t>R</a:t>
                </a:r>
                <a:r>
                  <a:rPr lang="fr-FR" sz="1400" b="1" baseline="-25000" dirty="0" err="1">
                    <a:solidFill>
                      <a:srgbClr val="FF0000"/>
                    </a:solidFill>
                    <a:latin typeface="Bookman Old Style" panose="02050604050505020204" pitchFamily="18" charset="0"/>
                  </a:rPr>
                  <a:t>Th</a:t>
                </a:r>
                <a:endParaRPr lang="fr-FR" sz="1400" b="1" baseline="-25000" dirty="0">
                  <a:solidFill>
                    <a:srgbClr val="FF0000"/>
                  </a:solidFill>
                  <a:latin typeface="Bookman Old Style" panose="02050604050505020204" pitchFamily="18" charset="0"/>
                </a:endParaRPr>
              </a:p>
            </p:txBody>
          </p:sp>
          <p:sp>
            <p:nvSpPr>
              <p:cNvPr id="6183" name="Oval 101"/>
              <p:cNvSpPr>
                <a:spLocks noChangeArrowheads="1"/>
              </p:cNvSpPr>
              <p:nvPr/>
            </p:nvSpPr>
            <p:spPr bwMode="auto">
              <a:xfrm>
                <a:off x="1382" y="2048"/>
                <a:ext cx="52" cy="60"/>
              </a:xfrm>
              <a:prstGeom prst="ellipse">
                <a:avLst/>
              </a:prstGeom>
              <a:solidFill>
                <a:schemeClr val="tx1"/>
              </a:solidFill>
              <a:ln w="9525">
                <a:solidFill>
                  <a:schemeClr val="tx1"/>
                </a:solidFill>
                <a:round/>
                <a:headEnd/>
                <a:tailEnd/>
              </a:ln>
            </p:spPr>
            <p:txBody>
              <a:bodyPr wrap="none" anchor="ctr"/>
              <a:lstStyle/>
              <a:p>
                <a:pPr algn="ctr"/>
                <a:endParaRPr lang="fr-FR"/>
              </a:p>
            </p:txBody>
          </p:sp>
          <p:sp>
            <p:nvSpPr>
              <p:cNvPr id="6184" name="Oval 102"/>
              <p:cNvSpPr>
                <a:spLocks noChangeArrowheads="1"/>
              </p:cNvSpPr>
              <p:nvPr/>
            </p:nvSpPr>
            <p:spPr bwMode="auto">
              <a:xfrm>
                <a:off x="1382" y="541"/>
                <a:ext cx="52" cy="59"/>
              </a:xfrm>
              <a:prstGeom prst="ellipse">
                <a:avLst/>
              </a:prstGeom>
              <a:solidFill>
                <a:schemeClr val="tx1"/>
              </a:solidFill>
              <a:ln w="9525">
                <a:solidFill>
                  <a:schemeClr val="tx1"/>
                </a:solidFill>
                <a:round/>
                <a:headEnd/>
                <a:tailEnd/>
              </a:ln>
            </p:spPr>
            <p:txBody>
              <a:bodyPr wrap="none" anchor="ctr"/>
              <a:lstStyle/>
              <a:p>
                <a:pPr algn="ctr"/>
                <a:endParaRPr lang="fr-FR"/>
              </a:p>
            </p:txBody>
          </p:sp>
          <p:sp>
            <p:nvSpPr>
              <p:cNvPr id="6185" name="Line 103"/>
              <p:cNvSpPr>
                <a:spLocks noChangeShapeType="1"/>
              </p:cNvSpPr>
              <p:nvPr/>
            </p:nvSpPr>
            <p:spPr bwMode="auto">
              <a:xfrm rot="5400000" flipV="1">
                <a:off x="1043" y="469"/>
                <a:ext cx="0" cy="208"/>
              </a:xfrm>
              <a:prstGeom prst="line">
                <a:avLst/>
              </a:prstGeom>
              <a:noFill/>
              <a:ln w="38100">
                <a:solidFill>
                  <a:srgbClr val="FF0000"/>
                </a:solidFill>
                <a:round/>
                <a:headEnd/>
                <a:tailEnd type="triangle" w="med" len="med"/>
              </a:ln>
            </p:spPr>
            <p:txBody>
              <a:bodyPr wrap="none" anchor="ctr"/>
              <a:lstStyle/>
              <a:p>
                <a:endParaRPr lang="fr-FR"/>
              </a:p>
            </p:txBody>
          </p:sp>
          <p:sp>
            <p:nvSpPr>
              <p:cNvPr id="6186" name="Text Box 104"/>
              <p:cNvSpPr txBox="1">
                <a:spLocks noChangeArrowheads="1"/>
              </p:cNvSpPr>
              <p:nvPr/>
            </p:nvSpPr>
            <p:spPr bwMode="auto">
              <a:xfrm>
                <a:off x="923" y="554"/>
                <a:ext cx="273" cy="288"/>
              </a:xfrm>
              <a:prstGeom prst="rect">
                <a:avLst/>
              </a:prstGeom>
              <a:noFill/>
              <a:ln w="9525">
                <a:noFill/>
                <a:miter lim="800000"/>
                <a:headEnd/>
                <a:tailEnd/>
              </a:ln>
            </p:spPr>
            <p:txBody>
              <a:bodyPr>
                <a:spAutoFit/>
              </a:bodyPr>
              <a:lstStyle/>
              <a:p>
                <a:pPr>
                  <a:spcBef>
                    <a:spcPct val="50000"/>
                  </a:spcBef>
                </a:pPr>
                <a:r>
                  <a:rPr lang="fr-FR"/>
                  <a:t>I</a:t>
                </a:r>
              </a:p>
            </p:txBody>
          </p:sp>
          <p:sp>
            <p:nvSpPr>
              <p:cNvPr id="6187" name="Rectangle 105"/>
              <p:cNvSpPr>
                <a:spLocks noChangeArrowheads="1"/>
              </p:cNvSpPr>
              <p:nvPr/>
            </p:nvSpPr>
            <p:spPr bwMode="auto">
              <a:xfrm>
                <a:off x="1361" y="617"/>
                <a:ext cx="208" cy="1406"/>
              </a:xfrm>
              <a:prstGeom prst="rect">
                <a:avLst/>
              </a:prstGeom>
              <a:solidFill>
                <a:schemeClr val="bg1"/>
              </a:solidFill>
              <a:ln w="9525">
                <a:solidFill>
                  <a:schemeClr val="bg1"/>
                </a:solidFill>
                <a:miter lim="800000"/>
                <a:headEnd/>
                <a:tailEnd/>
              </a:ln>
            </p:spPr>
            <p:txBody>
              <a:bodyPr wrap="none" anchor="ctr"/>
              <a:lstStyle/>
              <a:p>
                <a:endParaRPr lang="fr-FR"/>
              </a:p>
            </p:txBody>
          </p:sp>
          <p:sp>
            <p:nvSpPr>
              <p:cNvPr id="6188" name="Line 106"/>
              <p:cNvSpPr>
                <a:spLocks noChangeShapeType="1"/>
              </p:cNvSpPr>
              <p:nvPr/>
            </p:nvSpPr>
            <p:spPr bwMode="auto">
              <a:xfrm flipV="1">
                <a:off x="1437" y="681"/>
                <a:ext cx="0" cy="1291"/>
              </a:xfrm>
              <a:prstGeom prst="line">
                <a:avLst/>
              </a:prstGeom>
              <a:noFill/>
              <a:ln w="9525">
                <a:solidFill>
                  <a:schemeClr val="tx1"/>
                </a:solidFill>
                <a:round/>
                <a:headEnd/>
                <a:tailEnd type="arrow" w="med" len="med"/>
              </a:ln>
            </p:spPr>
            <p:txBody>
              <a:bodyPr/>
              <a:lstStyle/>
              <a:p>
                <a:endParaRPr lang="fr-FR"/>
              </a:p>
            </p:txBody>
          </p:sp>
          <p:sp>
            <p:nvSpPr>
              <p:cNvPr id="6189" name="Text Box 108"/>
              <p:cNvSpPr txBox="1">
                <a:spLocks noChangeArrowheads="1"/>
              </p:cNvSpPr>
              <p:nvPr/>
            </p:nvSpPr>
            <p:spPr bwMode="auto">
              <a:xfrm>
                <a:off x="1452" y="480"/>
                <a:ext cx="251" cy="289"/>
              </a:xfrm>
              <a:prstGeom prst="rect">
                <a:avLst/>
              </a:prstGeom>
              <a:noFill/>
              <a:ln w="9525">
                <a:noFill/>
                <a:miter lim="800000"/>
                <a:headEnd/>
                <a:tailEnd/>
              </a:ln>
            </p:spPr>
            <p:txBody>
              <a:bodyPr>
                <a:spAutoFit/>
              </a:bodyPr>
              <a:lstStyle/>
              <a:p>
                <a:pPr>
                  <a:spcBef>
                    <a:spcPct val="50000"/>
                  </a:spcBef>
                </a:pPr>
                <a:r>
                  <a:rPr lang="fr-FR"/>
                  <a:t>A</a:t>
                </a:r>
              </a:p>
            </p:txBody>
          </p:sp>
          <p:sp>
            <p:nvSpPr>
              <p:cNvPr id="6190" name="Text Box 109"/>
              <p:cNvSpPr txBox="1">
                <a:spLocks noChangeArrowheads="1"/>
              </p:cNvSpPr>
              <p:nvPr/>
            </p:nvSpPr>
            <p:spPr bwMode="auto">
              <a:xfrm>
                <a:off x="1451" y="1830"/>
                <a:ext cx="240" cy="287"/>
              </a:xfrm>
              <a:prstGeom prst="rect">
                <a:avLst/>
              </a:prstGeom>
              <a:noFill/>
              <a:ln w="9525">
                <a:noFill/>
                <a:miter lim="800000"/>
                <a:headEnd/>
                <a:tailEnd/>
              </a:ln>
            </p:spPr>
            <p:txBody>
              <a:bodyPr>
                <a:spAutoFit/>
              </a:bodyPr>
              <a:lstStyle/>
              <a:p>
                <a:pPr>
                  <a:spcBef>
                    <a:spcPct val="50000"/>
                  </a:spcBef>
                </a:pPr>
                <a:r>
                  <a:rPr lang="fr-FR"/>
                  <a:t>B</a:t>
                </a:r>
              </a:p>
            </p:txBody>
          </p:sp>
          <p:sp>
            <p:nvSpPr>
              <p:cNvPr id="6191" name="Text Box 110"/>
              <p:cNvSpPr txBox="1">
                <a:spLocks noChangeArrowheads="1"/>
              </p:cNvSpPr>
              <p:nvPr/>
            </p:nvSpPr>
            <p:spPr bwMode="auto">
              <a:xfrm>
                <a:off x="1452" y="1200"/>
                <a:ext cx="372" cy="288"/>
              </a:xfrm>
              <a:prstGeom prst="rect">
                <a:avLst/>
              </a:prstGeom>
              <a:noFill/>
              <a:ln w="9525">
                <a:noFill/>
                <a:miter lim="800000"/>
                <a:headEnd/>
                <a:tailEnd/>
              </a:ln>
            </p:spPr>
            <p:txBody>
              <a:bodyPr>
                <a:spAutoFit/>
              </a:bodyPr>
              <a:lstStyle/>
              <a:p>
                <a:pPr>
                  <a:spcBef>
                    <a:spcPct val="50000"/>
                  </a:spcBef>
                </a:pPr>
                <a:r>
                  <a:rPr lang="fr-FR"/>
                  <a:t>U</a:t>
                </a:r>
              </a:p>
            </p:txBody>
          </p:sp>
        </p:grpSp>
        <p:sp>
          <p:nvSpPr>
            <p:cNvPr id="6171" name="Text Box 121"/>
            <p:cNvSpPr txBox="1">
              <a:spLocks noChangeArrowheads="1"/>
            </p:cNvSpPr>
            <p:nvPr/>
          </p:nvSpPr>
          <p:spPr bwMode="auto">
            <a:xfrm>
              <a:off x="990600" y="5378142"/>
              <a:ext cx="1862138" cy="369332"/>
            </a:xfrm>
            <a:prstGeom prst="rect">
              <a:avLst/>
            </a:prstGeom>
            <a:noFill/>
            <a:ln w="9525">
              <a:noFill/>
              <a:miter lim="800000"/>
              <a:headEnd/>
              <a:tailEnd/>
            </a:ln>
          </p:spPr>
          <p:txBody>
            <a:bodyPr wrap="square">
              <a:spAutoFit/>
            </a:bodyPr>
            <a:lstStyle/>
            <a:p>
              <a:pPr algn="ctr">
                <a:spcBef>
                  <a:spcPct val="50000"/>
                </a:spcBef>
              </a:pPr>
              <a:endParaRPr lang="fr-FR" b="1" dirty="0">
                <a:solidFill>
                  <a:schemeClr val="accent2"/>
                </a:solidFill>
              </a:endParaRPr>
            </a:p>
          </p:txBody>
        </p:sp>
      </p:grpSp>
      <p:sp>
        <p:nvSpPr>
          <p:cNvPr id="33" name="TextBox 32">
            <a:extLst>
              <a:ext uri="{FF2B5EF4-FFF2-40B4-BE49-F238E27FC236}">
                <a16:creationId xmlns:a16="http://schemas.microsoft.com/office/drawing/2014/main" id="{E1652020-6575-605F-21C8-3979488BE041}"/>
              </a:ext>
            </a:extLst>
          </p:cNvPr>
          <p:cNvSpPr txBox="1"/>
          <p:nvPr/>
        </p:nvSpPr>
        <p:spPr>
          <a:xfrm>
            <a:off x="294339" y="4699515"/>
            <a:ext cx="2051593" cy="461665"/>
          </a:xfrm>
          <a:prstGeom prst="rect">
            <a:avLst/>
          </a:prstGeom>
          <a:noFill/>
        </p:spPr>
        <p:txBody>
          <a:bodyPr wrap="square">
            <a:spAutoFit/>
          </a:bodyPr>
          <a:lstStyle/>
          <a:p>
            <a:pPr algn="ctr">
              <a:spcBef>
                <a:spcPct val="50000"/>
              </a:spcBef>
            </a:pPr>
            <a:r>
              <a:rPr lang="fr-FR" sz="1200" b="1" dirty="0">
                <a:solidFill>
                  <a:srgbClr val="0000FF"/>
                </a:solidFill>
                <a:latin typeface="Bookman Old Style" panose="02050604050505020204" pitchFamily="18" charset="0"/>
              </a:rPr>
              <a:t>Schéma équivalent de Thévenin</a:t>
            </a:r>
          </a:p>
        </p:txBody>
      </p:sp>
      <p:grpSp>
        <p:nvGrpSpPr>
          <p:cNvPr id="34" name="Groupe 4">
            <a:extLst>
              <a:ext uri="{FF2B5EF4-FFF2-40B4-BE49-F238E27FC236}">
                <a16:creationId xmlns:a16="http://schemas.microsoft.com/office/drawing/2014/main" id="{7AB61CBB-64ED-6833-6885-EFC483058952}"/>
              </a:ext>
            </a:extLst>
          </p:cNvPr>
          <p:cNvGrpSpPr/>
          <p:nvPr/>
        </p:nvGrpSpPr>
        <p:grpSpPr>
          <a:xfrm>
            <a:off x="6168971" y="2607498"/>
            <a:ext cx="2713494" cy="2199387"/>
            <a:chOff x="4933950" y="2800350"/>
            <a:chExt cx="3186752" cy="2907767"/>
          </a:xfrm>
        </p:grpSpPr>
        <p:grpSp>
          <p:nvGrpSpPr>
            <p:cNvPr id="35" name="Group 70">
              <a:extLst>
                <a:ext uri="{FF2B5EF4-FFF2-40B4-BE49-F238E27FC236}">
                  <a16:creationId xmlns:a16="http://schemas.microsoft.com/office/drawing/2014/main" id="{6E2A495B-D059-DB24-6F47-DB9509FD5CC8}"/>
                </a:ext>
              </a:extLst>
            </p:cNvPr>
            <p:cNvGrpSpPr>
              <a:grpSpLocks/>
            </p:cNvGrpSpPr>
            <p:nvPr/>
          </p:nvGrpSpPr>
          <p:grpSpPr bwMode="auto">
            <a:xfrm>
              <a:off x="4933950" y="3733800"/>
              <a:ext cx="1276350" cy="781050"/>
              <a:chOff x="408" y="3096"/>
              <a:chExt cx="804" cy="492"/>
            </a:xfrm>
          </p:grpSpPr>
          <p:sp>
            <p:nvSpPr>
              <p:cNvPr id="52" name="Line 71">
                <a:extLst>
                  <a:ext uri="{FF2B5EF4-FFF2-40B4-BE49-F238E27FC236}">
                    <a16:creationId xmlns:a16="http://schemas.microsoft.com/office/drawing/2014/main" id="{7BEC8897-1216-F4CB-7891-B46C7B8F850E}"/>
                  </a:ext>
                </a:extLst>
              </p:cNvPr>
              <p:cNvSpPr>
                <a:spLocks noChangeShapeType="1"/>
              </p:cNvSpPr>
              <p:nvPr/>
            </p:nvSpPr>
            <p:spPr bwMode="auto">
              <a:xfrm flipV="1">
                <a:off x="756" y="3096"/>
                <a:ext cx="0" cy="492"/>
              </a:xfrm>
              <a:prstGeom prst="line">
                <a:avLst/>
              </a:prstGeom>
              <a:noFill/>
              <a:ln w="9525">
                <a:solidFill>
                  <a:schemeClr val="tx1"/>
                </a:solidFill>
                <a:round/>
                <a:headEnd/>
                <a:tailEnd type="triangle" w="med" len="med"/>
              </a:ln>
            </p:spPr>
            <p:txBody>
              <a:bodyPr/>
              <a:lstStyle/>
              <a:p>
                <a:endParaRPr lang="fr-FR"/>
              </a:p>
            </p:txBody>
          </p:sp>
          <p:grpSp>
            <p:nvGrpSpPr>
              <p:cNvPr id="53" name="Group 72">
                <a:extLst>
                  <a:ext uri="{FF2B5EF4-FFF2-40B4-BE49-F238E27FC236}">
                    <a16:creationId xmlns:a16="http://schemas.microsoft.com/office/drawing/2014/main" id="{3CDF02DB-4A04-B33E-EC8D-2C06F6BDFCDA}"/>
                  </a:ext>
                </a:extLst>
              </p:cNvPr>
              <p:cNvGrpSpPr>
                <a:grpSpLocks/>
              </p:cNvGrpSpPr>
              <p:nvPr/>
            </p:nvGrpSpPr>
            <p:grpSpPr bwMode="auto">
              <a:xfrm rot="5400000">
                <a:off x="804" y="3156"/>
                <a:ext cx="432" cy="384"/>
                <a:chOff x="3636" y="2796"/>
                <a:chExt cx="432" cy="384"/>
              </a:xfrm>
            </p:grpSpPr>
            <p:sp>
              <p:nvSpPr>
                <p:cNvPr id="55" name="Oval 73">
                  <a:extLst>
                    <a:ext uri="{FF2B5EF4-FFF2-40B4-BE49-F238E27FC236}">
                      <a16:creationId xmlns:a16="http://schemas.microsoft.com/office/drawing/2014/main" id="{16C1E1AA-9530-F60E-E519-C0DDEE5EB0E6}"/>
                    </a:ext>
                  </a:extLst>
                </p:cNvPr>
                <p:cNvSpPr>
                  <a:spLocks noChangeArrowheads="1"/>
                </p:cNvSpPr>
                <p:nvPr/>
              </p:nvSpPr>
              <p:spPr bwMode="auto">
                <a:xfrm>
                  <a:off x="3636" y="2796"/>
                  <a:ext cx="432" cy="384"/>
                </a:xfrm>
                <a:prstGeom prst="ellipse">
                  <a:avLst/>
                </a:prstGeom>
                <a:solidFill>
                  <a:schemeClr val="bg1"/>
                </a:solidFill>
                <a:ln w="38100">
                  <a:solidFill>
                    <a:schemeClr val="tx1"/>
                  </a:solidFill>
                  <a:round/>
                  <a:headEnd/>
                  <a:tailEnd/>
                </a:ln>
              </p:spPr>
              <p:txBody>
                <a:bodyPr wrap="none" anchor="ctr"/>
                <a:lstStyle/>
                <a:p>
                  <a:endParaRPr lang="fr-FR"/>
                </a:p>
              </p:txBody>
            </p:sp>
            <p:sp>
              <p:nvSpPr>
                <p:cNvPr id="56" name="Line 74">
                  <a:extLst>
                    <a:ext uri="{FF2B5EF4-FFF2-40B4-BE49-F238E27FC236}">
                      <a16:creationId xmlns:a16="http://schemas.microsoft.com/office/drawing/2014/main" id="{CA32F166-6074-4429-0815-634D79162E16}"/>
                    </a:ext>
                  </a:extLst>
                </p:cNvPr>
                <p:cNvSpPr>
                  <a:spLocks noChangeShapeType="1"/>
                </p:cNvSpPr>
                <p:nvPr/>
              </p:nvSpPr>
              <p:spPr bwMode="auto">
                <a:xfrm>
                  <a:off x="3852" y="2832"/>
                  <a:ext cx="0" cy="312"/>
                </a:xfrm>
                <a:prstGeom prst="line">
                  <a:avLst/>
                </a:prstGeom>
                <a:noFill/>
                <a:ln w="38100">
                  <a:solidFill>
                    <a:schemeClr val="tx1"/>
                  </a:solidFill>
                  <a:round/>
                  <a:headEnd/>
                  <a:tailEnd/>
                </a:ln>
              </p:spPr>
              <p:txBody>
                <a:bodyPr/>
                <a:lstStyle/>
                <a:p>
                  <a:endParaRPr lang="fr-FR"/>
                </a:p>
              </p:txBody>
            </p:sp>
          </p:grpSp>
          <p:sp>
            <p:nvSpPr>
              <p:cNvPr id="54" name="Text Box 75">
                <a:extLst>
                  <a:ext uri="{FF2B5EF4-FFF2-40B4-BE49-F238E27FC236}">
                    <a16:creationId xmlns:a16="http://schemas.microsoft.com/office/drawing/2014/main" id="{3F2A0AD6-4CED-094D-A32C-A6458F514287}"/>
                  </a:ext>
                </a:extLst>
              </p:cNvPr>
              <p:cNvSpPr txBox="1">
                <a:spLocks noChangeArrowheads="1"/>
              </p:cNvSpPr>
              <p:nvPr/>
            </p:nvSpPr>
            <p:spPr bwMode="auto">
              <a:xfrm>
                <a:off x="408" y="3156"/>
                <a:ext cx="480" cy="256"/>
              </a:xfrm>
              <a:prstGeom prst="rect">
                <a:avLst/>
              </a:prstGeom>
              <a:noFill/>
              <a:ln w="9525">
                <a:noFill/>
                <a:miter lim="800000"/>
                <a:headEnd/>
                <a:tailEnd/>
              </a:ln>
            </p:spPr>
            <p:txBody>
              <a:bodyPr>
                <a:spAutoFit/>
              </a:bodyPr>
              <a:lstStyle/>
              <a:p>
                <a:pPr>
                  <a:spcBef>
                    <a:spcPct val="50000"/>
                  </a:spcBef>
                </a:pPr>
                <a:r>
                  <a:rPr lang="fr-FR" sz="1400" b="1" dirty="0">
                    <a:solidFill>
                      <a:srgbClr val="FF0000"/>
                    </a:solidFill>
                    <a:latin typeface="Bookman Old Style" panose="02050604050505020204" pitchFamily="18" charset="0"/>
                    <a:sym typeface="Symbol" pitchFamily="18" charset="2"/>
                  </a:rPr>
                  <a:t>I</a:t>
                </a:r>
                <a:r>
                  <a:rPr lang="fr-FR" sz="1400" b="1" baseline="-25000" dirty="0">
                    <a:solidFill>
                      <a:srgbClr val="FF0000"/>
                    </a:solidFill>
                    <a:latin typeface="Bookman Old Style" panose="02050604050505020204" pitchFamily="18" charset="0"/>
                  </a:rPr>
                  <a:t>N</a:t>
                </a:r>
              </a:p>
            </p:txBody>
          </p:sp>
        </p:grpSp>
        <p:grpSp>
          <p:nvGrpSpPr>
            <p:cNvPr id="36" name="Groupe 3">
              <a:extLst>
                <a:ext uri="{FF2B5EF4-FFF2-40B4-BE49-F238E27FC236}">
                  <a16:creationId xmlns:a16="http://schemas.microsoft.com/office/drawing/2014/main" id="{650C11E8-97B7-42AA-D033-514FEBD8B0D9}"/>
                </a:ext>
              </a:extLst>
            </p:cNvPr>
            <p:cNvGrpSpPr/>
            <p:nvPr/>
          </p:nvGrpSpPr>
          <p:grpSpPr>
            <a:xfrm>
              <a:off x="5891852" y="2800350"/>
              <a:ext cx="2228850" cy="2907767"/>
              <a:chOff x="5905500" y="2800350"/>
              <a:chExt cx="2228850" cy="2907767"/>
            </a:xfrm>
          </p:grpSpPr>
          <p:sp>
            <p:nvSpPr>
              <p:cNvPr id="37" name="Text Box 66">
                <a:extLst>
                  <a:ext uri="{FF2B5EF4-FFF2-40B4-BE49-F238E27FC236}">
                    <a16:creationId xmlns:a16="http://schemas.microsoft.com/office/drawing/2014/main" id="{FFE6FC4F-8FCA-3C7A-E54E-71ABEA5E2418}"/>
                  </a:ext>
                </a:extLst>
              </p:cNvPr>
              <p:cNvSpPr txBox="1">
                <a:spLocks noChangeArrowheads="1"/>
              </p:cNvSpPr>
              <p:nvPr/>
            </p:nvSpPr>
            <p:spPr bwMode="auto">
              <a:xfrm>
                <a:off x="5943600" y="5338785"/>
                <a:ext cx="1676400" cy="369332"/>
              </a:xfrm>
              <a:prstGeom prst="rect">
                <a:avLst/>
              </a:prstGeom>
              <a:noFill/>
              <a:ln w="9525">
                <a:noFill/>
                <a:miter lim="800000"/>
                <a:headEnd/>
                <a:tailEnd/>
              </a:ln>
            </p:spPr>
            <p:txBody>
              <a:bodyPr>
                <a:spAutoFit/>
              </a:bodyPr>
              <a:lstStyle/>
              <a:p>
                <a:pPr algn="ctr"/>
                <a:endParaRPr lang="fr-FR" b="1" dirty="0">
                  <a:solidFill>
                    <a:schemeClr val="accent2"/>
                  </a:solidFill>
                </a:endParaRPr>
              </a:p>
            </p:txBody>
          </p:sp>
          <p:sp>
            <p:nvSpPr>
              <p:cNvPr id="38" name="Rectangle 68">
                <a:extLst>
                  <a:ext uri="{FF2B5EF4-FFF2-40B4-BE49-F238E27FC236}">
                    <a16:creationId xmlns:a16="http://schemas.microsoft.com/office/drawing/2014/main" id="{B5C2EF12-D2CC-1D36-DEC4-9C0A8B381111}"/>
                  </a:ext>
                </a:extLst>
              </p:cNvPr>
              <p:cNvSpPr>
                <a:spLocks noChangeArrowheads="1"/>
              </p:cNvSpPr>
              <p:nvPr/>
            </p:nvSpPr>
            <p:spPr bwMode="auto">
              <a:xfrm>
                <a:off x="5905500" y="3048000"/>
                <a:ext cx="1638300" cy="2247899"/>
              </a:xfrm>
              <a:prstGeom prst="rect">
                <a:avLst/>
              </a:prstGeom>
              <a:noFill/>
              <a:ln w="38100">
                <a:solidFill>
                  <a:schemeClr val="tx1"/>
                </a:solidFill>
                <a:miter lim="800000"/>
                <a:headEnd/>
                <a:tailEnd/>
              </a:ln>
            </p:spPr>
            <p:txBody>
              <a:bodyPr wrap="none" anchor="ctr"/>
              <a:lstStyle/>
              <a:p>
                <a:endParaRPr lang="fr-FR"/>
              </a:p>
            </p:txBody>
          </p:sp>
          <p:sp>
            <p:nvSpPr>
              <p:cNvPr id="39" name="Text Box 76">
                <a:extLst>
                  <a:ext uri="{FF2B5EF4-FFF2-40B4-BE49-F238E27FC236}">
                    <a16:creationId xmlns:a16="http://schemas.microsoft.com/office/drawing/2014/main" id="{D2A7C5FA-61E2-83D1-4D96-05475C726747}"/>
                  </a:ext>
                </a:extLst>
              </p:cNvPr>
              <p:cNvSpPr txBox="1">
                <a:spLocks noChangeArrowheads="1"/>
              </p:cNvSpPr>
              <p:nvPr/>
            </p:nvSpPr>
            <p:spPr bwMode="auto">
              <a:xfrm>
                <a:off x="6953250" y="3924300"/>
                <a:ext cx="590550" cy="773120"/>
              </a:xfrm>
              <a:prstGeom prst="rect">
                <a:avLst/>
              </a:prstGeom>
              <a:noFill/>
              <a:ln w="9525">
                <a:noFill/>
                <a:miter lim="800000"/>
                <a:headEnd/>
                <a:tailEnd/>
              </a:ln>
            </p:spPr>
            <p:txBody>
              <a:bodyPr wrap="square">
                <a:spAutoFit/>
              </a:bodyPr>
              <a:lstStyle/>
              <a:p>
                <a:pPr>
                  <a:spcBef>
                    <a:spcPct val="50000"/>
                  </a:spcBef>
                </a:pPr>
                <a:r>
                  <a:rPr lang="fr-FR" sz="1400" b="1" dirty="0">
                    <a:solidFill>
                      <a:srgbClr val="FF0000"/>
                    </a:solidFill>
                    <a:latin typeface="Bookman Old Style" panose="02050604050505020204" pitchFamily="18" charset="0"/>
                    <a:sym typeface="Symbol" pitchFamily="18" charset="2"/>
                  </a:rPr>
                  <a:t>R</a:t>
                </a:r>
                <a:r>
                  <a:rPr lang="fr-FR" sz="1400" b="1" baseline="-25000" dirty="0">
                    <a:solidFill>
                      <a:srgbClr val="FF0000"/>
                    </a:solidFill>
                    <a:latin typeface="Bookman Old Style" panose="02050604050505020204" pitchFamily="18" charset="0"/>
                    <a:sym typeface="Symbol" pitchFamily="18" charset="2"/>
                  </a:rPr>
                  <a:t>N</a:t>
                </a:r>
              </a:p>
              <a:p>
                <a:pPr>
                  <a:spcBef>
                    <a:spcPct val="50000"/>
                  </a:spcBef>
                </a:pPr>
                <a:endParaRPr lang="fr-FR" b="1" baseline="-25000" dirty="0">
                  <a:solidFill>
                    <a:srgbClr val="FF0000"/>
                  </a:solidFill>
                </a:endParaRPr>
              </a:p>
            </p:txBody>
          </p:sp>
          <p:sp>
            <p:nvSpPr>
              <p:cNvPr id="40" name="Oval 78">
                <a:extLst>
                  <a:ext uri="{FF2B5EF4-FFF2-40B4-BE49-F238E27FC236}">
                    <a16:creationId xmlns:a16="http://schemas.microsoft.com/office/drawing/2014/main" id="{10CB9405-BC91-9B3E-A8AB-BF5CD513ACE5}"/>
                  </a:ext>
                </a:extLst>
              </p:cNvPr>
              <p:cNvSpPr>
                <a:spLocks noChangeArrowheads="1"/>
              </p:cNvSpPr>
              <p:nvPr/>
            </p:nvSpPr>
            <p:spPr bwMode="auto">
              <a:xfrm>
                <a:off x="7467600" y="5238750"/>
                <a:ext cx="88900" cy="88900"/>
              </a:xfrm>
              <a:prstGeom prst="ellipse">
                <a:avLst/>
              </a:prstGeom>
              <a:solidFill>
                <a:schemeClr val="tx1"/>
              </a:solidFill>
              <a:ln w="9525">
                <a:solidFill>
                  <a:schemeClr val="tx1"/>
                </a:solidFill>
                <a:round/>
                <a:headEnd/>
                <a:tailEnd/>
              </a:ln>
            </p:spPr>
            <p:txBody>
              <a:bodyPr wrap="none" anchor="ctr"/>
              <a:lstStyle/>
              <a:p>
                <a:pPr algn="ctr"/>
                <a:endParaRPr lang="fr-FR"/>
              </a:p>
            </p:txBody>
          </p:sp>
          <p:sp>
            <p:nvSpPr>
              <p:cNvPr id="41" name="Oval 79">
                <a:extLst>
                  <a:ext uri="{FF2B5EF4-FFF2-40B4-BE49-F238E27FC236}">
                    <a16:creationId xmlns:a16="http://schemas.microsoft.com/office/drawing/2014/main" id="{2106BCC8-9266-36D8-1B35-BEC67AA15F65}"/>
                  </a:ext>
                </a:extLst>
              </p:cNvPr>
              <p:cNvSpPr>
                <a:spLocks noChangeArrowheads="1"/>
              </p:cNvSpPr>
              <p:nvPr/>
            </p:nvSpPr>
            <p:spPr bwMode="auto">
              <a:xfrm>
                <a:off x="7467600" y="2990850"/>
                <a:ext cx="88900" cy="88900"/>
              </a:xfrm>
              <a:prstGeom prst="ellipse">
                <a:avLst/>
              </a:prstGeom>
              <a:solidFill>
                <a:schemeClr val="tx1"/>
              </a:solidFill>
              <a:ln w="9525">
                <a:solidFill>
                  <a:schemeClr val="tx1"/>
                </a:solidFill>
                <a:round/>
                <a:headEnd/>
                <a:tailEnd/>
              </a:ln>
            </p:spPr>
            <p:txBody>
              <a:bodyPr wrap="none" anchor="ctr"/>
              <a:lstStyle/>
              <a:p>
                <a:pPr algn="ctr"/>
                <a:endParaRPr lang="fr-FR"/>
              </a:p>
            </p:txBody>
          </p:sp>
          <p:sp>
            <p:nvSpPr>
              <p:cNvPr id="42" name="Line 80">
                <a:extLst>
                  <a:ext uri="{FF2B5EF4-FFF2-40B4-BE49-F238E27FC236}">
                    <a16:creationId xmlns:a16="http://schemas.microsoft.com/office/drawing/2014/main" id="{C9519A45-C297-7B8C-8496-7FA29FDD3BFB}"/>
                  </a:ext>
                </a:extLst>
              </p:cNvPr>
              <p:cNvSpPr>
                <a:spLocks noChangeShapeType="1"/>
              </p:cNvSpPr>
              <p:nvPr/>
            </p:nvSpPr>
            <p:spPr bwMode="auto">
              <a:xfrm>
                <a:off x="6781800" y="3048000"/>
                <a:ext cx="0" cy="2247900"/>
              </a:xfrm>
              <a:prstGeom prst="line">
                <a:avLst/>
              </a:prstGeom>
              <a:noFill/>
              <a:ln w="38100">
                <a:solidFill>
                  <a:schemeClr val="tx1"/>
                </a:solidFill>
                <a:round/>
                <a:headEnd/>
                <a:tailEnd/>
              </a:ln>
            </p:spPr>
            <p:txBody>
              <a:bodyPr/>
              <a:lstStyle/>
              <a:p>
                <a:endParaRPr lang="fr-FR"/>
              </a:p>
            </p:txBody>
          </p:sp>
          <p:sp>
            <p:nvSpPr>
              <p:cNvPr id="43" name="Rectangle 81">
                <a:extLst>
                  <a:ext uri="{FF2B5EF4-FFF2-40B4-BE49-F238E27FC236}">
                    <a16:creationId xmlns:a16="http://schemas.microsoft.com/office/drawing/2014/main" id="{CF198320-CE2A-3EB3-C75C-F98E5EF233DF}"/>
                  </a:ext>
                </a:extLst>
              </p:cNvPr>
              <p:cNvSpPr>
                <a:spLocks noChangeArrowheads="1"/>
              </p:cNvSpPr>
              <p:nvPr/>
            </p:nvSpPr>
            <p:spPr bwMode="auto">
              <a:xfrm rot="10800000">
                <a:off x="6648450" y="3657600"/>
                <a:ext cx="266700" cy="895350"/>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44" name="Rectangle 82">
                <a:extLst>
                  <a:ext uri="{FF2B5EF4-FFF2-40B4-BE49-F238E27FC236}">
                    <a16:creationId xmlns:a16="http://schemas.microsoft.com/office/drawing/2014/main" id="{59B9B4F8-5AEA-3E1F-B5B3-10AAA22E7891}"/>
                  </a:ext>
                </a:extLst>
              </p:cNvPr>
              <p:cNvSpPr>
                <a:spLocks noChangeArrowheads="1"/>
              </p:cNvSpPr>
              <p:nvPr/>
            </p:nvSpPr>
            <p:spPr bwMode="auto">
              <a:xfrm>
                <a:off x="7467600" y="3124200"/>
                <a:ext cx="342900" cy="2076450"/>
              </a:xfrm>
              <a:prstGeom prst="rect">
                <a:avLst/>
              </a:prstGeom>
              <a:solidFill>
                <a:schemeClr val="bg1"/>
              </a:solidFill>
              <a:ln w="9525">
                <a:solidFill>
                  <a:schemeClr val="bg1"/>
                </a:solidFill>
                <a:miter lim="800000"/>
                <a:headEnd/>
                <a:tailEnd/>
              </a:ln>
            </p:spPr>
            <p:txBody>
              <a:bodyPr wrap="none" anchor="ctr"/>
              <a:lstStyle/>
              <a:p>
                <a:endParaRPr lang="fr-FR"/>
              </a:p>
            </p:txBody>
          </p:sp>
          <p:sp>
            <p:nvSpPr>
              <p:cNvPr id="45" name="Line 83">
                <a:extLst>
                  <a:ext uri="{FF2B5EF4-FFF2-40B4-BE49-F238E27FC236}">
                    <a16:creationId xmlns:a16="http://schemas.microsoft.com/office/drawing/2014/main" id="{413DDCA6-4F52-CD62-B030-CDE7B3C7B8DF}"/>
                  </a:ext>
                </a:extLst>
              </p:cNvPr>
              <p:cNvSpPr>
                <a:spLocks noChangeShapeType="1"/>
              </p:cNvSpPr>
              <p:nvPr/>
            </p:nvSpPr>
            <p:spPr bwMode="auto">
              <a:xfrm flipV="1">
                <a:off x="7543800" y="3181350"/>
                <a:ext cx="0" cy="1943100"/>
              </a:xfrm>
              <a:prstGeom prst="line">
                <a:avLst/>
              </a:prstGeom>
              <a:noFill/>
              <a:ln w="9525">
                <a:solidFill>
                  <a:schemeClr val="tx1"/>
                </a:solidFill>
                <a:round/>
                <a:headEnd/>
                <a:tailEnd type="triangle" w="med" len="med"/>
              </a:ln>
            </p:spPr>
            <p:txBody>
              <a:bodyPr/>
              <a:lstStyle/>
              <a:p>
                <a:endParaRPr lang="fr-FR"/>
              </a:p>
            </p:txBody>
          </p:sp>
          <p:sp>
            <p:nvSpPr>
              <p:cNvPr id="47" name="Text Box 90">
                <a:extLst>
                  <a:ext uri="{FF2B5EF4-FFF2-40B4-BE49-F238E27FC236}">
                    <a16:creationId xmlns:a16="http://schemas.microsoft.com/office/drawing/2014/main" id="{22B4EB5A-FAC8-08D2-E4EB-044062D063D0}"/>
                  </a:ext>
                </a:extLst>
              </p:cNvPr>
              <p:cNvSpPr txBox="1">
                <a:spLocks noChangeArrowheads="1"/>
              </p:cNvSpPr>
              <p:nvPr/>
            </p:nvSpPr>
            <p:spPr bwMode="auto">
              <a:xfrm>
                <a:off x="7543800" y="3714750"/>
                <a:ext cx="590550" cy="457200"/>
              </a:xfrm>
              <a:prstGeom prst="rect">
                <a:avLst/>
              </a:prstGeom>
              <a:noFill/>
              <a:ln w="9525">
                <a:noFill/>
                <a:miter lim="800000"/>
                <a:headEnd/>
                <a:tailEnd/>
              </a:ln>
            </p:spPr>
            <p:txBody>
              <a:bodyPr>
                <a:spAutoFit/>
              </a:bodyPr>
              <a:lstStyle/>
              <a:p>
                <a:pPr>
                  <a:spcBef>
                    <a:spcPct val="50000"/>
                  </a:spcBef>
                </a:pPr>
                <a:r>
                  <a:rPr lang="fr-FR"/>
                  <a:t>U</a:t>
                </a:r>
              </a:p>
            </p:txBody>
          </p:sp>
          <p:sp>
            <p:nvSpPr>
              <p:cNvPr id="48" name="Text Box 112">
                <a:extLst>
                  <a:ext uri="{FF2B5EF4-FFF2-40B4-BE49-F238E27FC236}">
                    <a16:creationId xmlns:a16="http://schemas.microsoft.com/office/drawing/2014/main" id="{9FFCF950-6D56-A871-43A0-C1A1D1663B98}"/>
                  </a:ext>
                </a:extLst>
              </p:cNvPr>
              <p:cNvSpPr txBox="1">
                <a:spLocks noChangeArrowheads="1"/>
              </p:cNvSpPr>
              <p:nvPr/>
            </p:nvSpPr>
            <p:spPr bwMode="auto">
              <a:xfrm>
                <a:off x="7524750" y="2800350"/>
                <a:ext cx="398463" cy="458788"/>
              </a:xfrm>
              <a:prstGeom prst="rect">
                <a:avLst/>
              </a:prstGeom>
              <a:noFill/>
              <a:ln w="9525">
                <a:noFill/>
                <a:miter lim="800000"/>
                <a:headEnd/>
                <a:tailEnd/>
              </a:ln>
            </p:spPr>
            <p:txBody>
              <a:bodyPr>
                <a:spAutoFit/>
              </a:bodyPr>
              <a:lstStyle/>
              <a:p>
                <a:pPr>
                  <a:spcBef>
                    <a:spcPct val="50000"/>
                  </a:spcBef>
                </a:pPr>
                <a:r>
                  <a:rPr lang="fr-FR"/>
                  <a:t>A</a:t>
                </a:r>
              </a:p>
            </p:txBody>
          </p:sp>
          <p:sp>
            <p:nvSpPr>
              <p:cNvPr id="49" name="Text Box 113">
                <a:extLst>
                  <a:ext uri="{FF2B5EF4-FFF2-40B4-BE49-F238E27FC236}">
                    <a16:creationId xmlns:a16="http://schemas.microsoft.com/office/drawing/2014/main" id="{80479546-8459-7312-2770-3C78D590F651}"/>
                  </a:ext>
                </a:extLst>
              </p:cNvPr>
              <p:cNvSpPr txBox="1">
                <a:spLocks noChangeArrowheads="1"/>
              </p:cNvSpPr>
              <p:nvPr/>
            </p:nvSpPr>
            <p:spPr bwMode="auto">
              <a:xfrm>
                <a:off x="7523163" y="4943475"/>
                <a:ext cx="381000" cy="455613"/>
              </a:xfrm>
              <a:prstGeom prst="rect">
                <a:avLst/>
              </a:prstGeom>
              <a:noFill/>
              <a:ln w="9525">
                <a:noFill/>
                <a:miter lim="800000"/>
                <a:headEnd/>
                <a:tailEnd/>
              </a:ln>
            </p:spPr>
            <p:txBody>
              <a:bodyPr>
                <a:spAutoFit/>
              </a:bodyPr>
              <a:lstStyle/>
              <a:p>
                <a:pPr>
                  <a:spcBef>
                    <a:spcPct val="50000"/>
                  </a:spcBef>
                </a:pPr>
                <a:r>
                  <a:rPr lang="fr-FR"/>
                  <a:t>B</a:t>
                </a:r>
              </a:p>
            </p:txBody>
          </p:sp>
          <p:sp>
            <p:nvSpPr>
              <p:cNvPr id="50" name="Line 116">
                <a:extLst>
                  <a:ext uri="{FF2B5EF4-FFF2-40B4-BE49-F238E27FC236}">
                    <a16:creationId xmlns:a16="http://schemas.microsoft.com/office/drawing/2014/main" id="{1FC9D3C8-7816-33A6-60E7-9C5E88241072}"/>
                  </a:ext>
                </a:extLst>
              </p:cNvPr>
              <p:cNvSpPr>
                <a:spLocks noChangeShapeType="1"/>
              </p:cNvSpPr>
              <p:nvPr/>
            </p:nvSpPr>
            <p:spPr bwMode="auto">
              <a:xfrm rot="5400000" flipV="1">
                <a:off x="7161213" y="2878138"/>
                <a:ext cx="0" cy="330200"/>
              </a:xfrm>
              <a:prstGeom prst="line">
                <a:avLst/>
              </a:prstGeom>
              <a:noFill/>
              <a:ln w="38100">
                <a:solidFill>
                  <a:srgbClr val="FF0000"/>
                </a:solidFill>
                <a:round/>
                <a:headEnd/>
                <a:tailEnd type="triangle" w="med" len="med"/>
              </a:ln>
            </p:spPr>
            <p:txBody>
              <a:bodyPr wrap="none" anchor="ctr"/>
              <a:lstStyle/>
              <a:p>
                <a:endParaRPr lang="fr-FR"/>
              </a:p>
            </p:txBody>
          </p:sp>
          <p:sp>
            <p:nvSpPr>
              <p:cNvPr id="51" name="Text Box 117">
                <a:extLst>
                  <a:ext uri="{FF2B5EF4-FFF2-40B4-BE49-F238E27FC236}">
                    <a16:creationId xmlns:a16="http://schemas.microsoft.com/office/drawing/2014/main" id="{BEB18BE1-5113-BCF8-5A68-822522F835C2}"/>
                  </a:ext>
                </a:extLst>
              </p:cNvPr>
              <p:cNvSpPr txBox="1">
                <a:spLocks noChangeArrowheads="1"/>
              </p:cNvSpPr>
              <p:nvPr/>
            </p:nvSpPr>
            <p:spPr bwMode="auto">
              <a:xfrm>
                <a:off x="6970713" y="3013075"/>
                <a:ext cx="433388" cy="457200"/>
              </a:xfrm>
              <a:prstGeom prst="rect">
                <a:avLst/>
              </a:prstGeom>
              <a:noFill/>
              <a:ln w="9525">
                <a:noFill/>
                <a:miter lim="800000"/>
                <a:headEnd/>
                <a:tailEnd/>
              </a:ln>
            </p:spPr>
            <p:txBody>
              <a:bodyPr>
                <a:spAutoFit/>
              </a:bodyPr>
              <a:lstStyle/>
              <a:p>
                <a:pPr>
                  <a:spcBef>
                    <a:spcPct val="50000"/>
                  </a:spcBef>
                </a:pPr>
                <a:r>
                  <a:rPr lang="fr-FR"/>
                  <a:t>I</a:t>
                </a:r>
              </a:p>
            </p:txBody>
          </p:sp>
        </p:grpSp>
      </p:grpSp>
      <p:sp>
        <p:nvSpPr>
          <p:cNvPr id="58" name="TextBox 57">
            <a:extLst>
              <a:ext uri="{FF2B5EF4-FFF2-40B4-BE49-F238E27FC236}">
                <a16:creationId xmlns:a16="http://schemas.microsoft.com/office/drawing/2014/main" id="{1E2E1518-F975-5FFD-B68C-A8BD0290338B}"/>
              </a:ext>
            </a:extLst>
          </p:cNvPr>
          <p:cNvSpPr txBox="1"/>
          <p:nvPr/>
        </p:nvSpPr>
        <p:spPr>
          <a:xfrm>
            <a:off x="6798069" y="4595380"/>
            <a:ext cx="2051592" cy="461665"/>
          </a:xfrm>
          <a:prstGeom prst="rect">
            <a:avLst/>
          </a:prstGeom>
          <a:noFill/>
        </p:spPr>
        <p:txBody>
          <a:bodyPr wrap="square">
            <a:spAutoFit/>
          </a:bodyPr>
          <a:lstStyle>
            <a:defPPr>
              <a:defRPr lang="fr-FR"/>
            </a:defPPr>
            <a:lvl1pPr algn="ctr">
              <a:spcBef>
                <a:spcPct val="50000"/>
              </a:spcBef>
              <a:defRPr sz="1200" b="1">
                <a:solidFill>
                  <a:srgbClr val="0000FF"/>
                </a:solidFill>
                <a:latin typeface="Bookman Old Style" panose="02050604050505020204" pitchFamily="18" charset="0"/>
              </a:defRPr>
            </a:lvl1pPr>
          </a:lstStyle>
          <a:p>
            <a:r>
              <a:rPr lang="fr-FR" dirty="0"/>
              <a:t>Schéma équivalent de Norton</a:t>
            </a:r>
          </a:p>
        </p:txBody>
      </p:sp>
      <p:sp>
        <p:nvSpPr>
          <p:cNvPr id="59" name="Text Box 120">
            <a:extLst>
              <a:ext uri="{FF2B5EF4-FFF2-40B4-BE49-F238E27FC236}">
                <a16:creationId xmlns:a16="http://schemas.microsoft.com/office/drawing/2014/main" id="{1B724E73-D0AF-97B4-A0E5-3C0CAD038B7E}"/>
              </a:ext>
            </a:extLst>
          </p:cNvPr>
          <p:cNvSpPr txBox="1">
            <a:spLocks noChangeArrowheads="1"/>
          </p:cNvSpPr>
          <p:nvPr/>
        </p:nvSpPr>
        <p:spPr bwMode="auto">
          <a:xfrm>
            <a:off x="4030582" y="3517459"/>
            <a:ext cx="782038" cy="307777"/>
          </a:xfrm>
          <a:prstGeom prst="rect">
            <a:avLst/>
          </a:prstGeom>
          <a:noFill/>
          <a:ln w="9525">
            <a:noFill/>
            <a:miter lim="800000"/>
            <a:headEnd/>
            <a:tailEnd/>
          </a:ln>
        </p:spPr>
        <p:txBody>
          <a:bodyPr wrap="square">
            <a:spAutoFit/>
          </a:bodyPr>
          <a:lstStyle/>
          <a:p>
            <a:pPr>
              <a:spcBef>
                <a:spcPct val="50000"/>
              </a:spcBef>
            </a:pPr>
            <a:r>
              <a:rPr lang="fr-FR" sz="1400" b="1" dirty="0">
                <a:latin typeface="Bookman Old Style" panose="02050604050505020204" pitchFamily="18" charset="0"/>
                <a:sym typeface="Wingdings" panose="05000000000000000000" pitchFamily="2" charset="2"/>
              </a:rPr>
              <a:t></a:t>
            </a:r>
            <a:endParaRPr lang="fr-FR" sz="1400" b="1" dirty="0">
              <a:latin typeface="Bookman Old Style" panose="02050604050505020204" pitchFamily="18" charset="0"/>
            </a:endParaRPr>
          </a:p>
        </p:txBody>
      </p:sp>
      <mc:AlternateContent xmlns:mc="http://schemas.openxmlformats.org/markup-compatibility/2006" xmlns:a14="http://schemas.microsoft.com/office/drawing/2010/main">
        <mc:Choice Requires="a14">
          <p:sp>
            <p:nvSpPr>
              <p:cNvPr id="60" name="Text Box 123">
                <a:extLst>
                  <a:ext uri="{FF2B5EF4-FFF2-40B4-BE49-F238E27FC236}">
                    <a16:creationId xmlns:a16="http://schemas.microsoft.com/office/drawing/2014/main" id="{5D0DB9BC-9D70-1C72-BDF4-9E4C945D8E4B}"/>
                  </a:ext>
                </a:extLst>
              </p:cNvPr>
              <p:cNvSpPr txBox="1">
                <a:spLocks noChangeArrowheads="1"/>
              </p:cNvSpPr>
              <p:nvPr/>
            </p:nvSpPr>
            <p:spPr bwMode="auto">
              <a:xfrm>
                <a:off x="3772507" y="3966769"/>
                <a:ext cx="1430340" cy="362984"/>
              </a:xfrm>
              <a:prstGeom prst="rect">
                <a:avLst/>
              </a:prstGeom>
              <a:noFill/>
              <a:ln w="9525">
                <a:noFill/>
                <a:miter lim="800000"/>
                <a:headEnd/>
                <a:tailEnd/>
              </a:ln>
            </p:spPr>
            <p:txBody>
              <a:bodyPr wrap="square">
                <a:spAutoFit/>
              </a:bodyPr>
              <a:lstStyle/>
              <a:p>
                <a:pPr>
                  <a:spcBef>
                    <a:spcPct val="50000"/>
                  </a:spcBef>
                </a:pPr>
                <a14:m>
                  <m:oMathPara xmlns:m="http://schemas.openxmlformats.org/officeDocument/2006/math">
                    <m:oMathParaPr>
                      <m:jc m:val="centerGroup"/>
                    </m:oMathParaPr>
                    <m:oMath xmlns:m="http://schemas.openxmlformats.org/officeDocument/2006/math">
                      <m:r>
                        <a:rPr lang="fr-FR" b="1" i="1" dirty="0" smtClean="0">
                          <a:solidFill>
                            <a:srgbClr val="FF0000"/>
                          </a:solidFill>
                          <a:latin typeface="Cambria Math" panose="02040503050406030204" pitchFamily="18" charset="0"/>
                          <a:sym typeface="Symbol" pitchFamily="18" charset="2"/>
                        </a:rPr>
                        <m:t>𝑹</m:t>
                      </m:r>
                      <m:r>
                        <a:rPr lang="fr-FR" b="1" i="1" baseline="-25000" dirty="0">
                          <a:solidFill>
                            <a:srgbClr val="FF0000"/>
                          </a:solidFill>
                          <a:latin typeface="Cambria Math" panose="02040503050406030204" pitchFamily="18" charset="0"/>
                          <a:sym typeface="Symbol" pitchFamily="18" charset="2"/>
                        </a:rPr>
                        <m:t>𝑵</m:t>
                      </m:r>
                      <m:r>
                        <a:rPr lang="fr-FR" b="1" i="1" dirty="0">
                          <a:latin typeface="Cambria Math" panose="02040503050406030204" pitchFamily="18" charset="0"/>
                          <a:sym typeface="Symbol" pitchFamily="18" charset="2"/>
                        </a:rPr>
                        <m:t> = </m:t>
                      </m:r>
                      <m:r>
                        <a:rPr lang="fr-FR" b="1" i="1" dirty="0" err="1">
                          <a:latin typeface="Cambria Math" panose="02040503050406030204" pitchFamily="18" charset="0"/>
                          <a:sym typeface="Symbol" pitchFamily="18" charset="2"/>
                        </a:rPr>
                        <m:t>𝑹</m:t>
                      </m:r>
                      <m:r>
                        <a:rPr lang="fr-FR" b="1" i="1" baseline="-25000" dirty="0" err="1">
                          <a:latin typeface="Cambria Math" panose="02040503050406030204" pitchFamily="18" charset="0"/>
                          <a:sym typeface="Symbol" pitchFamily="18" charset="2"/>
                        </a:rPr>
                        <m:t>𝑻𝒉</m:t>
                      </m:r>
                    </m:oMath>
                  </m:oMathPara>
                </a14:m>
                <a:endParaRPr lang="fr-FR" b="1" baseline="-25000" dirty="0">
                  <a:latin typeface="Bookman Old Style" panose="02050604050505020204" pitchFamily="18" charset="0"/>
                </a:endParaRPr>
              </a:p>
            </p:txBody>
          </p:sp>
        </mc:Choice>
        <mc:Fallback xmlns="">
          <p:sp>
            <p:nvSpPr>
              <p:cNvPr id="60" name="Text Box 123">
                <a:extLst>
                  <a:ext uri="{FF2B5EF4-FFF2-40B4-BE49-F238E27FC236}">
                    <a16:creationId xmlns:a16="http://schemas.microsoft.com/office/drawing/2014/main" id="{5D0DB9BC-9D70-1C72-BDF4-9E4C945D8E4B}"/>
                  </a:ext>
                </a:extLst>
              </p:cNvPr>
              <p:cNvSpPr txBox="1">
                <a:spLocks noRot="1" noChangeAspect="1" noMove="1" noResize="1" noEditPoints="1" noAdjustHandles="1" noChangeArrowheads="1" noChangeShapeType="1" noTextEdit="1"/>
              </p:cNvSpPr>
              <p:nvPr/>
            </p:nvSpPr>
            <p:spPr bwMode="auto">
              <a:xfrm>
                <a:off x="3772507" y="3966769"/>
                <a:ext cx="1430340" cy="362984"/>
              </a:xfrm>
              <a:prstGeom prst="rect">
                <a:avLst/>
              </a:prstGeom>
              <a:blipFill>
                <a:blip r:embed="rId4"/>
                <a:stretch>
                  <a:fillRect b="-3390"/>
                </a:stretch>
              </a:blipFill>
              <a:ln w="9525">
                <a:noFill/>
                <a:miter lim="800000"/>
                <a:headEnd/>
                <a:tailEnd/>
              </a:ln>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63" name="Text Box 123">
                <a:extLst>
                  <a:ext uri="{FF2B5EF4-FFF2-40B4-BE49-F238E27FC236}">
                    <a16:creationId xmlns:a16="http://schemas.microsoft.com/office/drawing/2014/main" id="{48EF93E4-887F-0637-FAC3-E0698AC93F89}"/>
                  </a:ext>
                </a:extLst>
              </p:cNvPr>
              <p:cNvSpPr txBox="1">
                <a:spLocks noChangeArrowheads="1"/>
              </p:cNvSpPr>
              <p:nvPr/>
            </p:nvSpPr>
            <p:spPr bwMode="auto">
              <a:xfrm>
                <a:off x="3452270" y="2757646"/>
                <a:ext cx="1430340" cy="362984"/>
              </a:xfrm>
              <a:prstGeom prst="rect">
                <a:avLst/>
              </a:prstGeom>
              <a:noFill/>
              <a:ln w="9525">
                <a:noFill/>
                <a:miter lim="800000"/>
                <a:headEnd/>
                <a:tailEnd/>
              </a:ln>
            </p:spPr>
            <p:txBody>
              <a:bodyPr wrap="square">
                <a:spAutoFit/>
              </a:bodyPr>
              <a:lstStyle/>
              <a:p>
                <a:pPr>
                  <a:spcBef>
                    <a:spcPct val="50000"/>
                  </a:spcBef>
                </a:pPr>
                <a14:m>
                  <m:oMathPara xmlns:m="http://schemas.openxmlformats.org/officeDocument/2006/math">
                    <m:oMathParaPr>
                      <m:jc m:val="centerGroup"/>
                    </m:oMathParaPr>
                    <m:oMath xmlns:m="http://schemas.openxmlformats.org/officeDocument/2006/math">
                      <m:r>
                        <a:rPr lang="fr-FR" b="1" i="1" dirty="0" smtClean="0">
                          <a:solidFill>
                            <a:srgbClr val="FF0000"/>
                          </a:solidFill>
                          <a:latin typeface="Cambria Math" panose="02040503050406030204" pitchFamily="18" charset="0"/>
                          <a:sym typeface="Symbol" pitchFamily="18" charset="2"/>
                        </a:rPr>
                        <m:t>𝑹</m:t>
                      </m:r>
                      <m:r>
                        <a:rPr lang="fr-FR" b="1" i="1" baseline="-25000" dirty="0" err="1">
                          <a:solidFill>
                            <a:srgbClr val="FF0000"/>
                          </a:solidFill>
                          <a:latin typeface="Cambria Math" panose="02040503050406030204" pitchFamily="18" charset="0"/>
                          <a:sym typeface="Symbol" pitchFamily="18" charset="2"/>
                        </a:rPr>
                        <m:t>𝑻𝒉</m:t>
                      </m:r>
                      <m:r>
                        <a:rPr lang="fr-FR" b="1" i="1" dirty="0">
                          <a:latin typeface="Cambria Math" panose="02040503050406030204" pitchFamily="18" charset="0"/>
                          <a:sym typeface="Symbol" pitchFamily="18" charset="2"/>
                        </a:rPr>
                        <m:t> = </m:t>
                      </m:r>
                      <m:r>
                        <a:rPr lang="fr-FR" b="1" i="1" dirty="0">
                          <a:latin typeface="Cambria Math" panose="02040503050406030204" pitchFamily="18" charset="0"/>
                          <a:sym typeface="Symbol" pitchFamily="18" charset="2"/>
                        </a:rPr>
                        <m:t>𝑹𝑵</m:t>
                      </m:r>
                    </m:oMath>
                  </m:oMathPara>
                </a14:m>
                <a:endParaRPr lang="fr-FR" b="1" baseline="-25000" dirty="0">
                  <a:latin typeface="Bookman Old Style" panose="02050604050505020204" pitchFamily="18" charset="0"/>
                </a:endParaRPr>
              </a:p>
            </p:txBody>
          </p:sp>
        </mc:Choice>
        <mc:Fallback xmlns="">
          <p:sp>
            <p:nvSpPr>
              <p:cNvPr id="63" name="Text Box 123">
                <a:extLst>
                  <a:ext uri="{FF2B5EF4-FFF2-40B4-BE49-F238E27FC236}">
                    <a16:creationId xmlns:a16="http://schemas.microsoft.com/office/drawing/2014/main" id="{48EF93E4-887F-0637-FAC3-E0698AC93F89}"/>
                  </a:ext>
                </a:extLst>
              </p:cNvPr>
              <p:cNvSpPr txBox="1">
                <a:spLocks noRot="1" noChangeAspect="1" noMove="1" noResize="1" noEditPoints="1" noAdjustHandles="1" noChangeArrowheads="1" noChangeShapeType="1" noTextEdit="1"/>
              </p:cNvSpPr>
              <p:nvPr/>
            </p:nvSpPr>
            <p:spPr bwMode="auto">
              <a:xfrm>
                <a:off x="3452270" y="2757646"/>
                <a:ext cx="1430340" cy="362984"/>
              </a:xfrm>
              <a:prstGeom prst="rect">
                <a:avLst/>
              </a:prstGeom>
              <a:blipFill>
                <a:blip r:embed="rId5"/>
                <a:stretch>
                  <a:fillRect b="-3333"/>
                </a:stretch>
              </a:blipFill>
              <a:ln w="9525">
                <a:noFill/>
                <a:miter lim="800000"/>
                <a:headEnd/>
                <a:tailEnd/>
              </a:ln>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6144" name="Text Box 123">
                <a:extLst>
                  <a:ext uri="{FF2B5EF4-FFF2-40B4-BE49-F238E27FC236}">
                    <a16:creationId xmlns:a16="http://schemas.microsoft.com/office/drawing/2014/main" id="{4386B5E4-935A-6AFA-CF6E-856B99D42512}"/>
                  </a:ext>
                </a:extLst>
              </p:cNvPr>
              <p:cNvSpPr txBox="1">
                <a:spLocks noChangeArrowheads="1"/>
              </p:cNvSpPr>
              <p:nvPr/>
            </p:nvSpPr>
            <p:spPr bwMode="auto">
              <a:xfrm>
                <a:off x="3347887" y="3070733"/>
                <a:ext cx="2088359" cy="362984"/>
              </a:xfrm>
              <a:prstGeom prst="rect">
                <a:avLst/>
              </a:prstGeom>
              <a:noFill/>
              <a:ln w="9525">
                <a:noFill/>
                <a:miter lim="800000"/>
                <a:headEnd/>
                <a:tailEnd/>
              </a:ln>
            </p:spPr>
            <p:txBody>
              <a:bodyPr wrap="square">
                <a:spAutoFit/>
              </a:bodyPr>
              <a:lstStyle/>
              <a:p>
                <a:pPr>
                  <a:spcBef>
                    <a:spcPct val="50000"/>
                  </a:spcBef>
                </a:pPr>
                <a14:m>
                  <m:oMathPara xmlns:m="http://schemas.openxmlformats.org/officeDocument/2006/math">
                    <m:oMathParaPr>
                      <m:jc m:val="centerGroup"/>
                    </m:oMathParaPr>
                    <m:oMath xmlns:m="http://schemas.openxmlformats.org/officeDocument/2006/math">
                      <m:r>
                        <a:rPr lang="fr-FR" b="1" i="1" dirty="0" smtClean="0">
                          <a:solidFill>
                            <a:srgbClr val="FF0000"/>
                          </a:solidFill>
                          <a:latin typeface="Cambria Math" panose="02040503050406030204" pitchFamily="18" charset="0"/>
                          <a:sym typeface="Symbol" pitchFamily="18" charset="2"/>
                        </a:rPr>
                        <m:t>𝑬</m:t>
                      </m:r>
                      <m:r>
                        <a:rPr lang="fr-FR" b="1" i="1" baseline="-25000" dirty="0" err="1">
                          <a:solidFill>
                            <a:srgbClr val="FF0000"/>
                          </a:solidFill>
                          <a:latin typeface="Cambria Math" panose="02040503050406030204" pitchFamily="18" charset="0"/>
                          <a:sym typeface="Symbol" pitchFamily="18" charset="2"/>
                        </a:rPr>
                        <m:t>𝑻𝒉</m:t>
                      </m:r>
                      <m:r>
                        <a:rPr lang="fr-FR" b="1" i="1" dirty="0">
                          <a:latin typeface="Cambria Math" panose="02040503050406030204" pitchFamily="18" charset="0"/>
                          <a:sym typeface="Symbol" pitchFamily="18" charset="2"/>
                        </a:rPr>
                        <m:t> = </m:t>
                      </m:r>
                      <m:r>
                        <a:rPr lang="fr-FR" b="1" i="1" dirty="0">
                          <a:latin typeface="Cambria Math" panose="02040503050406030204" pitchFamily="18" charset="0"/>
                          <a:sym typeface="Symbol" pitchFamily="18" charset="2"/>
                        </a:rPr>
                        <m:t>𝑹𝑵</m:t>
                      </m:r>
                      <m:r>
                        <a:rPr lang="fr-FR" b="1" i="1" baseline="-25000" dirty="0">
                          <a:latin typeface="Cambria Math" panose="02040503050406030204" pitchFamily="18" charset="0"/>
                          <a:sym typeface="Symbol" pitchFamily="18" charset="2"/>
                        </a:rPr>
                        <m:t> . </m:t>
                      </m:r>
                      <m:r>
                        <a:rPr lang="fr-FR" b="1" i="1" dirty="0">
                          <a:latin typeface="Cambria Math" panose="02040503050406030204" pitchFamily="18" charset="0"/>
                          <a:sym typeface="Symbol" pitchFamily="18" charset="2"/>
                        </a:rPr>
                        <m:t>𝑰𝑵</m:t>
                      </m:r>
                      <m:r>
                        <a:rPr lang="fr-FR" b="1" i="1" dirty="0">
                          <a:latin typeface="Cambria Math" panose="02040503050406030204" pitchFamily="18" charset="0"/>
                          <a:sym typeface="Symbol" pitchFamily="18" charset="2"/>
                        </a:rPr>
                        <m:t> </m:t>
                      </m:r>
                    </m:oMath>
                  </m:oMathPara>
                </a14:m>
                <a:endParaRPr lang="fr-FR" b="1" baseline="-25000" dirty="0">
                  <a:latin typeface="Bookman Old Style" panose="02050604050505020204" pitchFamily="18" charset="0"/>
                </a:endParaRPr>
              </a:p>
            </p:txBody>
          </p:sp>
        </mc:Choice>
        <mc:Fallback xmlns="">
          <p:sp>
            <p:nvSpPr>
              <p:cNvPr id="6144" name="Text Box 123">
                <a:extLst>
                  <a:ext uri="{FF2B5EF4-FFF2-40B4-BE49-F238E27FC236}">
                    <a16:creationId xmlns:a16="http://schemas.microsoft.com/office/drawing/2014/main" id="{4386B5E4-935A-6AFA-CF6E-856B99D42512}"/>
                  </a:ext>
                </a:extLst>
              </p:cNvPr>
              <p:cNvSpPr txBox="1">
                <a:spLocks noRot="1" noChangeAspect="1" noMove="1" noResize="1" noEditPoints="1" noAdjustHandles="1" noChangeArrowheads="1" noChangeShapeType="1" noTextEdit="1"/>
              </p:cNvSpPr>
              <p:nvPr/>
            </p:nvSpPr>
            <p:spPr bwMode="auto">
              <a:xfrm>
                <a:off x="3347887" y="3070733"/>
                <a:ext cx="2088359" cy="362984"/>
              </a:xfrm>
              <a:prstGeom prst="rect">
                <a:avLst/>
              </a:prstGeom>
              <a:blipFill>
                <a:blip r:embed="rId6"/>
                <a:stretch>
                  <a:fillRect b="-3390"/>
                </a:stretch>
              </a:blipFill>
              <a:ln w="9525">
                <a:noFill/>
                <a:miter lim="800000"/>
                <a:headEnd/>
                <a:tailEnd/>
              </a:ln>
            </p:spPr>
            <p:txBody>
              <a:bodyPr/>
              <a:lstStyle/>
              <a:p>
                <a:r>
                  <a:rPr lang="fr-FR">
                    <a:noFill/>
                  </a:rPr>
                  <a:t> </a:t>
                </a:r>
              </a:p>
            </p:txBody>
          </p:sp>
        </mc:Fallback>
      </mc:AlternateContent>
      <p:sp>
        <p:nvSpPr>
          <p:cNvPr id="6145" name="Text Box 120">
            <a:extLst>
              <a:ext uri="{FF2B5EF4-FFF2-40B4-BE49-F238E27FC236}">
                <a16:creationId xmlns:a16="http://schemas.microsoft.com/office/drawing/2014/main" id="{C61914D1-B363-F729-70EE-4ABEE3E775AA}"/>
              </a:ext>
            </a:extLst>
          </p:cNvPr>
          <p:cNvSpPr txBox="1">
            <a:spLocks noChangeArrowheads="1"/>
          </p:cNvSpPr>
          <p:nvPr/>
        </p:nvSpPr>
        <p:spPr bwMode="auto">
          <a:xfrm>
            <a:off x="4176570" y="3653490"/>
            <a:ext cx="782038" cy="307777"/>
          </a:xfrm>
          <a:prstGeom prst="rect">
            <a:avLst/>
          </a:prstGeom>
          <a:noFill/>
          <a:ln w="9525">
            <a:noFill/>
            <a:miter lim="800000"/>
            <a:headEnd/>
            <a:tailEnd/>
          </a:ln>
        </p:spPr>
        <p:txBody>
          <a:bodyPr wrap="square">
            <a:spAutoFit/>
          </a:bodyPr>
          <a:lstStyle/>
          <a:p>
            <a:pPr>
              <a:spcBef>
                <a:spcPct val="50000"/>
              </a:spcBef>
            </a:pPr>
            <a:r>
              <a:rPr lang="fr-FR" sz="1400" b="1" dirty="0">
                <a:latin typeface="Bookman Old Style" panose="02050604050505020204" pitchFamily="18" charset="0"/>
                <a:sym typeface="Wingdings" panose="05000000000000000000" pitchFamily="2" charset="2"/>
              </a:rPr>
              <a:t></a:t>
            </a:r>
            <a:endParaRPr lang="fr-FR" sz="1400" b="1" dirty="0">
              <a:latin typeface="Bookman Old Style" panose="02050604050505020204" pitchFamily="18" charset="0"/>
            </a:endParaRPr>
          </a:p>
        </p:txBody>
      </p:sp>
      <mc:AlternateContent xmlns:mc="http://schemas.openxmlformats.org/markup-compatibility/2006" xmlns:a14="http://schemas.microsoft.com/office/drawing/2010/main">
        <mc:Choice Requires="a14">
          <p:sp>
            <p:nvSpPr>
              <p:cNvPr id="6146" name="TextBox 6145">
                <a:extLst>
                  <a:ext uri="{FF2B5EF4-FFF2-40B4-BE49-F238E27FC236}">
                    <a16:creationId xmlns:a16="http://schemas.microsoft.com/office/drawing/2014/main" id="{C38651AA-9403-056C-05F4-6241F6D17C29}"/>
                  </a:ext>
                </a:extLst>
              </p:cNvPr>
              <p:cNvSpPr txBox="1"/>
              <p:nvPr/>
            </p:nvSpPr>
            <p:spPr>
              <a:xfrm>
                <a:off x="3537999" y="4411073"/>
                <a:ext cx="2016578" cy="56515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fr-FR" b="1" i="1" smtClean="0">
                              <a:solidFill>
                                <a:srgbClr val="FF0000"/>
                              </a:solidFill>
                              <a:latin typeface="Cambria Math" panose="02040503050406030204" pitchFamily="18" charset="0"/>
                            </a:rPr>
                          </m:ctrlPr>
                        </m:sSubPr>
                        <m:e>
                          <m:r>
                            <a:rPr lang="fr-FR" b="1" i="1" smtClean="0">
                              <a:solidFill>
                                <a:srgbClr val="FF0000"/>
                              </a:solidFill>
                              <a:latin typeface="Cambria Math" panose="02040503050406030204" pitchFamily="18" charset="0"/>
                            </a:rPr>
                            <m:t>𝑰</m:t>
                          </m:r>
                        </m:e>
                        <m:sub>
                          <m:r>
                            <a:rPr lang="fr-FR" b="1" i="1" smtClean="0">
                              <a:solidFill>
                                <a:srgbClr val="FF0000"/>
                              </a:solidFill>
                              <a:latin typeface="Cambria Math" panose="02040503050406030204" pitchFamily="18" charset="0"/>
                            </a:rPr>
                            <m:t>𝑵</m:t>
                          </m:r>
                        </m:sub>
                      </m:sSub>
                      <m:r>
                        <a:rPr lang="fr-FR" b="1" i="1" smtClean="0">
                          <a:latin typeface="Cambria Math" panose="02040503050406030204" pitchFamily="18" charset="0"/>
                        </a:rPr>
                        <m:t>=</m:t>
                      </m:r>
                      <m:f>
                        <m:fPr>
                          <m:ctrlPr>
                            <a:rPr lang="fr-FR" b="1" i="1" smtClean="0">
                              <a:latin typeface="Cambria Math" panose="02040503050406030204" pitchFamily="18" charset="0"/>
                            </a:rPr>
                          </m:ctrlPr>
                        </m:fPr>
                        <m:num>
                          <m:sSub>
                            <m:sSubPr>
                              <m:ctrlPr>
                                <a:rPr lang="fr-FR" b="1" i="1" smtClean="0">
                                  <a:latin typeface="Cambria Math" panose="02040503050406030204" pitchFamily="18" charset="0"/>
                                </a:rPr>
                              </m:ctrlPr>
                            </m:sSubPr>
                            <m:e>
                              <m:r>
                                <a:rPr lang="fr-FR" b="1" i="1" smtClean="0">
                                  <a:latin typeface="Cambria Math" panose="02040503050406030204" pitchFamily="18" charset="0"/>
                                </a:rPr>
                                <m:t>𝑬</m:t>
                              </m:r>
                            </m:e>
                            <m:sub>
                              <m:r>
                                <a:rPr lang="fr-FR" b="1" i="1" smtClean="0">
                                  <a:latin typeface="Cambria Math" panose="02040503050406030204" pitchFamily="18" charset="0"/>
                                </a:rPr>
                                <m:t>𝑻𝒉</m:t>
                              </m:r>
                            </m:sub>
                          </m:sSub>
                        </m:num>
                        <m:den>
                          <m:sSub>
                            <m:sSubPr>
                              <m:ctrlPr>
                                <a:rPr lang="fr-FR" b="1" i="1" smtClean="0">
                                  <a:latin typeface="Cambria Math" panose="02040503050406030204" pitchFamily="18" charset="0"/>
                                </a:rPr>
                              </m:ctrlPr>
                            </m:sSubPr>
                            <m:e>
                              <m:r>
                                <a:rPr lang="fr-FR" b="1" i="1" smtClean="0">
                                  <a:latin typeface="Cambria Math" panose="02040503050406030204" pitchFamily="18" charset="0"/>
                                </a:rPr>
                                <m:t>𝑹</m:t>
                              </m:r>
                            </m:e>
                            <m:sub>
                              <m:r>
                                <a:rPr lang="fr-FR" b="1" i="1" smtClean="0">
                                  <a:latin typeface="Cambria Math" panose="02040503050406030204" pitchFamily="18" charset="0"/>
                                </a:rPr>
                                <m:t>𝑻𝒉</m:t>
                              </m:r>
                            </m:sub>
                          </m:sSub>
                        </m:den>
                      </m:f>
                    </m:oMath>
                  </m:oMathPara>
                </a14:m>
                <a:endParaRPr lang="fr-FR" b="1" dirty="0">
                  <a:latin typeface="Bookman Old Style" panose="02050604050505020204" pitchFamily="18" charset="0"/>
                </a:endParaRPr>
              </a:p>
            </p:txBody>
          </p:sp>
        </mc:Choice>
        <mc:Fallback xmlns="">
          <p:sp>
            <p:nvSpPr>
              <p:cNvPr id="6146" name="TextBox 6145">
                <a:extLst>
                  <a:ext uri="{FF2B5EF4-FFF2-40B4-BE49-F238E27FC236}">
                    <a16:creationId xmlns:a16="http://schemas.microsoft.com/office/drawing/2014/main" id="{C38651AA-9403-056C-05F4-6241F6D17C29}"/>
                  </a:ext>
                </a:extLst>
              </p:cNvPr>
              <p:cNvSpPr txBox="1">
                <a:spLocks noRot="1" noChangeAspect="1" noMove="1" noResize="1" noEditPoints="1" noAdjustHandles="1" noChangeArrowheads="1" noChangeShapeType="1" noTextEdit="1"/>
              </p:cNvSpPr>
              <p:nvPr/>
            </p:nvSpPr>
            <p:spPr>
              <a:xfrm>
                <a:off x="3537999" y="4411073"/>
                <a:ext cx="2016578" cy="565155"/>
              </a:xfrm>
              <a:prstGeom prst="rect">
                <a:avLst/>
              </a:prstGeom>
              <a:blipFill>
                <a:blip r:embed="rId7"/>
                <a:stretch>
                  <a:fillRect/>
                </a:stretch>
              </a:blipFill>
            </p:spPr>
            <p:txBody>
              <a:bodyPr/>
              <a:lstStyle/>
              <a:p>
                <a:r>
                  <a:rPr lang="fr-FR">
                    <a:noFill/>
                  </a:rPr>
                  <a:t> </a:t>
                </a:r>
              </a:p>
            </p:txBody>
          </p:sp>
        </mc:Fallback>
      </mc:AlternateContent>
    </p:spTree>
    <p:extLst>
      <p:ext uri="{BB962C8B-B14F-4D97-AF65-F5344CB8AC3E}">
        <p14:creationId xmlns:p14="http://schemas.microsoft.com/office/powerpoint/2010/main" val="37678181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51</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3.5 </a:t>
            </a:r>
            <a:r>
              <a:rPr lang="fr-FR" altLang="fr-FR" sz="1400" b="1" spc="-5" dirty="0">
                <a:solidFill>
                  <a:srgbClr val="CC00CC"/>
                </a:solidFill>
                <a:latin typeface="Bookman Old Style" panose="02050604050505020204" pitchFamily="18" charset="0"/>
                <a:cs typeface="Arial"/>
              </a:rPr>
              <a:t>Théorème de Superposition</a:t>
            </a:r>
          </a:p>
        </p:txBody>
      </p:sp>
      <p:sp>
        <p:nvSpPr>
          <p:cNvPr id="5" name="TextBox 4">
            <a:extLst>
              <a:ext uri="{FF2B5EF4-FFF2-40B4-BE49-F238E27FC236}">
                <a16:creationId xmlns:a16="http://schemas.microsoft.com/office/drawing/2014/main" id="{85D3431C-BD96-2637-FB5A-7AEB88D904E5}"/>
              </a:ext>
            </a:extLst>
          </p:cNvPr>
          <p:cNvSpPr txBox="1"/>
          <p:nvPr/>
        </p:nvSpPr>
        <p:spPr>
          <a:xfrm>
            <a:off x="914400" y="1159473"/>
            <a:ext cx="4588778" cy="276999"/>
          </a:xfrm>
          <a:prstGeom prst="rect">
            <a:avLst/>
          </a:prstGeom>
          <a:noFill/>
        </p:spPr>
        <p:txBody>
          <a:bodyPr wrap="square">
            <a:spAutoFit/>
          </a:bodyPr>
          <a:lstStyle>
            <a:defPPr>
              <a:defRPr lang="fr-FR"/>
            </a:defPPr>
            <a:lvl1pPr>
              <a:defRPr sz="2000" b="1" spc="-5">
                <a:solidFill>
                  <a:srgbClr val="CC00CC"/>
                </a:solidFill>
                <a:latin typeface="Bookman Old Style" panose="02050604050505020204" pitchFamily="18" charset="0"/>
                <a:cs typeface="Arial"/>
              </a:defRPr>
            </a:lvl1pPr>
          </a:lstStyle>
          <a:p>
            <a:r>
              <a:rPr lang="fr-FR" sz="1200" dirty="0">
                <a:solidFill>
                  <a:schemeClr val="accent6">
                    <a:lumMod val="50000"/>
                  </a:schemeClr>
                </a:solidFill>
              </a:rPr>
              <a:t>A. Principe de superposition</a:t>
            </a:r>
          </a:p>
        </p:txBody>
      </p:sp>
      <p:sp>
        <p:nvSpPr>
          <p:cNvPr id="16" name="TextBox 15">
            <a:extLst>
              <a:ext uri="{FF2B5EF4-FFF2-40B4-BE49-F238E27FC236}">
                <a16:creationId xmlns:a16="http://schemas.microsoft.com/office/drawing/2014/main" id="{85F6B83F-D821-27DE-FC84-A12A8C9E0759}"/>
              </a:ext>
            </a:extLst>
          </p:cNvPr>
          <p:cNvSpPr txBox="1"/>
          <p:nvPr/>
        </p:nvSpPr>
        <p:spPr>
          <a:xfrm>
            <a:off x="452136" y="1492564"/>
            <a:ext cx="8591119" cy="132343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dirty="0"/>
              <a:t>Soit un </a:t>
            </a:r>
            <a:r>
              <a:rPr lang="fr-FR" b="1" dirty="0"/>
              <a:t>circuit linéaire </a:t>
            </a:r>
            <a:r>
              <a:rPr lang="fr-FR" dirty="0"/>
              <a:t>comportant plusieurs </a:t>
            </a:r>
            <a:r>
              <a:rPr lang="fr-FR" b="1" dirty="0"/>
              <a:t>sources autonomes de tension</a:t>
            </a:r>
            <a:r>
              <a:rPr lang="fr-FR" dirty="0"/>
              <a:t> </a:t>
            </a:r>
            <a:r>
              <a:rPr lang="fr-FR" b="1" dirty="0"/>
              <a:t>et de courant</a:t>
            </a:r>
            <a:r>
              <a:rPr lang="fr-FR" dirty="0"/>
              <a:t>. </a:t>
            </a:r>
            <a:r>
              <a:rPr lang="fr-FR" b="1" dirty="0"/>
              <a:t>Le courant dans une branche </a:t>
            </a:r>
            <a:r>
              <a:rPr lang="fr-FR" dirty="0"/>
              <a:t>(ou la tension aux bornes d'une branche) </a:t>
            </a:r>
            <a:r>
              <a:rPr lang="fr-FR" b="1" dirty="0"/>
              <a:t>est égal à la somme algébrique des courants </a:t>
            </a:r>
            <a:r>
              <a:rPr lang="fr-FR" dirty="0"/>
              <a:t>(ou des tensions) produits séparément par chaque source autonome, toutes les autres sources autonomes étant </a:t>
            </a:r>
            <a:r>
              <a:rPr lang="fr-FR" b="1" dirty="0"/>
              <a:t>éteintes</a:t>
            </a:r>
            <a:r>
              <a:rPr lang="fr-FR" dirty="0"/>
              <a:t>.</a:t>
            </a:r>
          </a:p>
        </p:txBody>
      </p:sp>
      <p:sp>
        <p:nvSpPr>
          <p:cNvPr id="20" name="TextBox 19">
            <a:extLst>
              <a:ext uri="{FF2B5EF4-FFF2-40B4-BE49-F238E27FC236}">
                <a16:creationId xmlns:a16="http://schemas.microsoft.com/office/drawing/2014/main" id="{C9D6F8B2-5723-7D32-CD7A-CC4A42F69737}"/>
              </a:ext>
            </a:extLst>
          </p:cNvPr>
          <p:cNvSpPr txBox="1"/>
          <p:nvPr/>
        </p:nvSpPr>
        <p:spPr>
          <a:xfrm>
            <a:off x="638598" y="4266821"/>
            <a:ext cx="8335931" cy="738664"/>
          </a:xfrm>
          <a:prstGeom prst="rect">
            <a:avLst/>
          </a:prstGeom>
          <a:noFill/>
        </p:spPr>
        <p:txBody>
          <a:bodyPr wrap="square">
            <a:spAutoFit/>
          </a:bodyPr>
          <a:lstStyle/>
          <a:p>
            <a:pPr algn="just"/>
            <a:r>
              <a:rPr lang="fr-FR" sz="1400" b="1" u="sng" dirty="0">
                <a:solidFill>
                  <a:srgbClr val="0000FF"/>
                </a:solidFill>
                <a:latin typeface="Bookman Old Style" panose="02050604050505020204" pitchFamily="18" charset="0"/>
              </a:rPr>
              <a:t>Définition : </a:t>
            </a:r>
            <a:r>
              <a:rPr lang="fr-FR" sz="1400" dirty="0">
                <a:latin typeface="Bookman Old Style" panose="02050604050505020204" pitchFamily="18" charset="0"/>
              </a:rPr>
              <a:t>Une source de courant ou de tension est dite "</a:t>
            </a:r>
            <a:r>
              <a:rPr lang="fr-FR" sz="1400" b="1" dirty="0">
                <a:latin typeface="Bookman Old Style" panose="02050604050505020204" pitchFamily="18" charset="0"/>
              </a:rPr>
              <a:t>autonome</a:t>
            </a:r>
            <a:r>
              <a:rPr lang="fr-FR" sz="1400" dirty="0">
                <a:latin typeface="Bookman Old Style" panose="02050604050505020204" pitchFamily="18" charset="0"/>
              </a:rPr>
              <a:t>" si sa tension ou son courant </a:t>
            </a:r>
            <a:r>
              <a:rPr lang="fr-FR" sz="1400" b="1" dirty="0">
                <a:latin typeface="Bookman Old Style" panose="02050604050505020204" pitchFamily="18" charset="0"/>
              </a:rPr>
              <a:t>ne dépendent pas des autres éléments du circuit</a:t>
            </a:r>
            <a:r>
              <a:rPr lang="fr-FR" sz="1400" dirty="0">
                <a:latin typeface="Bookman Old Style" panose="02050604050505020204" pitchFamily="18" charset="0"/>
              </a:rPr>
              <a:t>. Sinon, elle est appelée source "</a:t>
            </a:r>
            <a:r>
              <a:rPr lang="fr-FR" sz="1400" b="1" dirty="0">
                <a:latin typeface="Bookman Old Style" panose="02050604050505020204" pitchFamily="18" charset="0"/>
              </a:rPr>
              <a:t>liée</a:t>
            </a:r>
            <a:r>
              <a:rPr lang="fr-FR" sz="1400" dirty="0">
                <a:latin typeface="Bookman Old Style" panose="02050604050505020204" pitchFamily="18" charset="0"/>
              </a:rPr>
              <a:t>".</a:t>
            </a:r>
          </a:p>
        </p:txBody>
      </p:sp>
      <p:sp>
        <p:nvSpPr>
          <p:cNvPr id="21" name="Text Box 7">
            <a:extLst>
              <a:ext uri="{FF2B5EF4-FFF2-40B4-BE49-F238E27FC236}">
                <a16:creationId xmlns:a16="http://schemas.microsoft.com/office/drawing/2014/main" id="{81582C03-BD3D-EEE3-E5F1-9362152EB351}"/>
              </a:ext>
            </a:extLst>
          </p:cNvPr>
          <p:cNvSpPr txBox="1">
            <a:spLocks noChangeArrowheads="1"/>
          </p:cNvSpPr>
          <p:nvPr/>
        </p:nvSpPr>
        <p:spPr bwMode="auto">
          <a:xfrm>
            <a:off x="3111114" y="3071479"/>
            <a:ext cx="533400" cy="701675"/>
          </a:xfrm>
          <a:prstGeom prst="rect">
            <a:avLst/>
          </a:prstGeom>
          <a:noFill/>
          <a:ln w="9525">
            <a:noFill/>
            <a:miter lim="800000"/>
            <a:headEnd/>
            <a:tailEnd/>
          </a:ln>
        </p:spPr>
        <p:txBody>
          <a:bodyPr>
            <a:spAutoFit/>
          </a:bodyPr>
          <a:lstStyle/>
          <a:p>
            <a:pPr>
              <a:spcBef>
                <a:spcPct val="50000"/>
              </a:spcBef>
            </a:pPr>
            <a:r>
              <a:rPr lang="fr-FR" sz="4000" b="1" dirty="0">
                <a:solidFill>
                  <a:srgbClr val="FF0000"/>
                </a:solidFill>
              </a:rPr>
              <a:t>=</a:t>
            </a:r>
          </a:p>
        </p:txBody>
      </p:sp>
      <p:sp>
        <p:nvSpPr>
          <p:cNvPr id="22" name="Text Box 8">
            <a:extLst>
              <a:ext uri="{FF2B5EF4-FFF2-40B4-BE49-F238E27FC236}">
                <a16:creationId xmlns:a16="http://schemas.microsoft.com/office/drawing/2014/main" id="{28DD7936-2C0F-3008-A0F5-0749A6BC4248}"/>
              </a:ext>
            </a:extLst>
          </p:cNvPr>
          <p:cNvSpPr txBox="1">
            <a:spLocks noChangeArrowheads="1"/>
          </p:cNvSpPr>
          <p:nvPr/>
        </p:nvSpPr>
        <p:spPr bwMode="auto">
          <a:xfrm>
            <a:off x="5987664" y="3109579"/>
            <a:ext cx="533400" cy="701675"/>
          </a:xfrm>
          <a:prstGeom prst="rect">
            <a:avLst/>
          </a:prstGeom>
          <a:noFill/>
          <a:ln w="9525">
            <a:noFill/>
            <a:miter lim="800000"/>
            <a:headEnd/>
            <a:tailEnd/>
          </a:ln>
        </p:spPr>
        <p:txBody>
          <a:bodyPr>
            <a:spAutoFit/>
          </a:bodyPr>
          <a:lstStyle/>
          <a:p>
            <a:pPr>
              <a:spcBef>
                <a:spcPct val="50000"/>
              </a:spcBef>
            </a:pPr>
            <a:r>
              <a:rPr lang="fr-FR" sz="4000" b="1" dirty="0">
                <a:solidFill>
                  <a:srgbClr val="FF0000"/>
                </a:solidFill>
              </a:rPr>
              <a:t>+</a:t>
            </a:r>
          </a:p>
        </p:txBody>
      </p:sp>
      <p:grpSp>
        <p:nvGrpSpPr>
          <p:cNvPr id="23" name="Group 9">
            <a:extLst>
              <a:ext uri="{FF2B5EF4-FFF2-40B4-BE49-F238E27FC236}">
                <a16:creationId xmlns:a16="http://schemas.microsoft.com/office/drawing/2014/main" id="{06B779B2-F8BC-4A33-5552-D69E24BADC01}"/>
              </a:ext>
            </a:extLst>
          </p:cNvPr>
          <p:cNvGrpSpPr>
            <a:grpSpLocks/>
          </p:cNvGrpSpPr>
          <p:nvPr/>
        </p:nvGrpSpPr>
        <p:grpSpPr bwMode="auto">
          <a:xfrm>
            <a:off x="672714" y="2861929"/>
            <a:ext cx="2438400" cy="1162050"/>
            <a:chOff x="276" y="768"/>
            <a:chExt cx="1536" cy="732"/>
          </a:xfrm>
        </p:grpSpPr>
        <p:sp>
          <p:nvSpPr>
            <p:cNvPr id="24" name="Rectangle 10">
              <a:extLst>
                <a:ext uri="{FF2B5EF4-FFF2-40B4-BE49-F238E27FC236}">
                  <a16:creationId xmlns:a16="http://schemas.microsoft.com/office/drawing/2014/main" id="{D70E4E11-3FCA-80DE-16BD-8FB3D9204192}"/>
                </a:ext>
              </a:extLst>
            </p:cNvPr>
            <p:cNvSpPr>
              <a:spLocks noChangeArrowheads="1"/>
            </p:cNvSpPr>
            <p:nvPr/>
          </p:nvSpPr>
          <p:spPr bwMode="auto">
            <a:xfrm>
              <a:off x="399" y="768"/>
              <a:ext cx="1290" cy="732"/>
            </a:xfrm>
            <a:prstGeom prst="rect">
              <a:avLst/>
            </a:prstGeom>
            <a:noFill/>
            <a:ln w="38100">
              <a:solidFill>
                <a:schemeClr val="tx1"/>
              </a:solidFill>
              <a:miter lim="800000"/>
              <a:headEnd/>
              <a:tailEnd/>
            </a:ln>
          </p:spPr>
          <p:txBody>
            <a:bodyPr wrap="none" anchor="ctr"/>
            <a:lstStyle/>
            <a:p>
              <a:endParaRPr lang="fr-FR"/>
            </a:p>
          </p:txBody>
        </p:sp>
        <p:sp>
          <p:nvSpPr>
            <p:cNvPr id="25" name="Rectangle 11">
              <a:extLst>
                <a:ext uri="{FF2B5EF4-FFF2-40B4-BE49-F238E27FC236}">
                  <a16:creationId xmlns:a16="http://schemas.microsoft.com/office/drawing/2014/main" id="{78AB0362-ACD3-316A-C3C3-C5120BB8AA85}"/>
                </a:ext>
              </a:extLst>
            </p:cNvPr>
            <p:cNvSpPr>
              <a:spLocks noChangeArrowheads="1"/>
            </p:cNvSpPr>
            <p:nvPr/>
          </p:nvSpPr>
          <p:spPr bwMode="auto">
            <a:xfrm rot="10800000">
              <a:off x="1641" y="898"/>
              <a:ext cx="96" cy="155"/>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26" name="Line 12">
              <a:extLst>
                <a:ext uri="{FF2B5EF4-FFF2-40B4-BE49-F238E27FC236}">
                  <a16:creationId xmlns:a16="http://schemas.microsoft.com/office/drawing/2014/main" id="{D706551F-BC61-2049-F6F8-876F4F9D18AD}"/>
                </a:ext>
              </a:extLst>
            </p:cNvPr>
            <p:cNvSpPr>
              <a:spLocks noChangeShapeType="1"/>
            </p:cNvSpPr>
            <p:nvPr/>
          </p:nvSpPr>
          <p:spPr bwMode="auto">
            <a:xfrm flipV="1">
              <a:off x="1532" y="1128"/>
              <a:ext cx="0" cy="254"/>
            </a:xfrm>
            <a:prstGeom prst="line">
              <a:avLst/>
            </a:prstGeom>
            <a:noFill/>
            <a:ln w="9525">
              <a:solidFill>
                <a:schemeClr val="tx1"/>
              </a:solidFill>
              <a:round/>
              <a:headEnd/>
              <a:tailEnd type="triangle" w="med" len="med"/>
            </a:ln>
          </p:spPr>
          <p:txBody>
            <a:bodyPr/>
            <a:lstStyle/>
            <a:p>
              <a:endParaRPr lang="fr-FR"/>
            </a:p>
          </p:txBody>
        </p:sp>
        <p:sp>
          <p:nvSpPr>
            <p:cNvPr id="27" name="Oval 13">
              <a:extLst>
                <a:ext uri="{FF2B5EF4-FFF2-40B4-BE49-F238E27FC236}">
                  <a16:creationId xmlns:a16="http://schemas.microsoft.com/office/drawing/2014/main" id="{CB68CCC5-04AC-8B42-C2FC-F176CE260CC6}"/>
                </a:ext>
              </a:extLst>
            </p:cNvPr>
            <p:cNvSpPr>
              <a:spLocks noChangeArrowheads="1"/>
            </p:cNvSpPr>
            <p:nvPr/>
          </p:nvSpPr>
          <p:spPr bwMode="auto">
            <a:xfrm>
              <a:off x="1566" y="1153"/>
              <a:ext cx="246" cy="198"/>
            </a:xfrm>
            <a:prstGeom prst="ellipse">
              <a:avLst/>
            </a:prstGeom>
            <a:solidFill>
              <a:schemeClr val="bg1"/>
            </a:solidFill>
            <a:ln w="38100">
              <a:solidFill>
                <a:schemeClr val="tx1"/>
              </a:solidFill>
              <a:round/>
              <a:headEnd/>
              <a:tailEnd/>
            </a:ln>
          </p:spPr>
          <p:txBody>
            <a:bodyPr wrap="none" anchor="ctr"/>
            <a:lstStyle/>
            <a:p>
              <a:endParaRPr lang="fr-FR"/>
            </a:p>
          </p:txBody>
        </p:sp>
        <p:sp>
          <p:nvSpPr>
            <p:cNvPr id="28" name="Line 14">
              <a:extLst>
                <a:ext uri="{FF2B5EF4-FFF2-40B4-BE49-F238E27FC236}">
                  <a16:creationId xmlns:a16="http://schemas.microsoft.com/office/drawing/2014/main" id="{8A98082C-B18E-A8F0-13DD-037257DB2EFC}"/>
                </a:ext>
              </a:extLst>
            </p:cNvPr>
            <p:cNvSpPr>
              <a:spLocks noChangeShapeType="1"/>
            </p:cNvSpPr>
            <p:nvPr/>
          </p:nvSpPr>
          <p:spPr bwMode="auto">
            <a:xfrm>
              <a:off x="1689" y="1172"/>
              <a:ext cx="0" cy="160"/>
            </a:xfrm>
            <a:prstGeom prst="line">
              <a:avLst/>
            </a:prstGeom>
            <a:noFill/>
            <a:ln w="38100">
              <a:solidFill>
                <a:schemeClr val="tx1"/>
              </a:solidFill>
              <a:round/>
              <a:headEnd/>
              <a:tailEnd/>
            </a:ln>
          </p:spPr>
          <p:txBody>
            <a:bodyPr/>
            <a:lstStyle/>
            <a:p>
              <a:endParaRPr lang="fr-FR"/>
            </a:p>
          </p:txBody>
        </p:sp>
        <p:sp>
          <p:nvSpPr>
            <p:cNvPr id="29" name="Rectangle 15">
              <a:extLst>
                <a:ext uri="{FF2B5EF4-FFF2-40B4-BE49-F238E27FC236}">
                  <a16:creationId xmlns:a16="http://schemas.microsoft.com/office/drawing/2014/main" id="{3027AC36-E2CB-5A30-AC46-BAF5630DA89F}"/>
                </a:ext>
              </a:extLst>
            </p:cNvPr>
            <p:cNvSpPr>
              <a:spLocks noChangeArrowheads="1"/>
            </p:cNvSpPr>
            <p:nvPr/>
          </p:nvSpPr>
          <p:spPr bwMode="auto">
            <a:xfrm rot="10800000">
              <a:off x="365" y="898"/>
              <a:ext cx="95" cy="155"/>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30" name="Line 16">
              <a:extLst>
                <a:ext uri="{FF2B5EF4-FFF2-40B4-BE49-F238E27FC236}">
                  <a16:creationId xmlns:a16="http://schemas.microsoft.com/office/drawing/2014/main" id="{F41F65B5-1564-C4C8-103E-7B67561633C1}"/>
                </a:ext>
              </a:extLst>
            </p:cNvPr>
            <p:cNvSpPr>
              <a:spLocks noChangeShapeType="1"/>
            </p:cNvSpPr>
            <p:nvPr/>
          </p:nvSpPr>
          <p:spPr bwMode="auto">
            <a:xfrm flipV="1">
              <a:off x="556" y="1128"/>
              <a:ext cx="0" cy="254"/>
            </a:xfrm>
            <a:prstGeom prst="line">
              <a:avLst/>
            </a:prstGeom>
            <a:noFill/>
            <a:ln w="9525">
              <a:solidFill>
                <a:schemeClr val="tx1"/>
              </a:solidFill>
              <a:round/>
              <a:headEnd/>
              <a:tailEnd type="triangle" w="med" len="med"/>
            </a:ln>
          </p:spPr>
          <p:txBody>
            <a:bodyPr/>
            <a:lstStyle/>
            <a:p>
              <a:endParaRPr lang="fr-FR"/>
            </a:p>
          </p:txBody>
        </p:sp>
        <p:sp>
          <p:nvSpPr>
            <p:cNvPr id="31" name="Oval 17">
              <a:extLst>
                <a:ext uri="{FF2B5EF4-FFF2-40B4-BE49-F238E27FC236}">
                  <a16:creationId xmlns:a16="http://schemas.microsoft.com/office/drawing/2014/main" id="{E5619E8F-1C71-971A-7593-264CE257FCC8}"/>
                </a:ext>
              </a:extLst>
            </p:cNvPr>
            <p:cNvSpPr>
              <a:spLocks noChangeArrowheads="1"/>
            </p:cNvSpPr>
            <p:nvPr/>
          </p:nvSpPr>
          <p:spPr bwMode="auto">
            <a:xfrm>
              <a:off x="276" y="1153"/>
              <a:ext cx="246" cy="198"/>
            </a:xfrm>
            <a:prstGeom prst="ellipse">
              <a:avLst/>
            </a:prstGeom>
            <a:solidFill>
              <a:schemeClr val="bg1"/>
            </a:solidFill>
            <a:ln w="38100">
              <a:solidFill>
                <a:schemeClr val="tx1"/>
              </a:solidFill>
              <a:round/>
              <a:headEnd/>
              <a:tailEnd/>
            </a:ln>
          </p:spPr>
          <p:txBody>
            <a:bodyPr wrap="none" anchor="ctr"/>
            <a:lstStyle/>
            <a:p>
              <a:endParaRPr lang="fr-FR"/>
            </a:p>
          </p:txBody>
        </p:sp>
        <p:sp>
          <p:nvSpPr>
            <p:cNvPr id="32" name="Line 18">
              <a:extLst>
                <a:ext uri="{FF2B5EF4-FFF2-40B4-BE49-F238E27FC236}">
                  <a16:creationId xmlns:a16="http://schemas.microsoft.com/office/drawing/2014/main" id="{EE81FB77-E18A-5E81-DFD0-F1FBBD86023F}"/>
                </a:ext>
              </a:extLst>
            </p:cNvPr>
            <p:cNvSpPr>
              <a:spLocks noChangeShapeType="1"/>
            </p:cNvSpPr>
            <p:nvPr/>
          </p:nvSpPr>
          <p:spPr bwMode="auto">
            <a:xfrm>
              <a:off x="399" y="1172"/>
              <a:ext cx="0" cy="160"/>
            </a:xfrm>
            <a:prstGeom prst="line">
              <a:avLst/>
            </a:prstGeom>
            <a:noFill/>
            <a:ln w="38100">
              <a:solidFill>
                <a:schemeClr val="tx1"/>
              </a:solidFill>
              <a:round/>
              <a:headEnd/>
              <a:tailEnd/>
            </a:ln>
          </p:spPr>
          <p:txBody>
            <a:bodyPr/>
            <a:lstStyle/>
            <a:p>
              <a:endParaRPr lang="fr-FR"/>
            </a:p>
          </p:txBody>
        </p:sp>
        <p:sp>
          <p:nvSpPr>
            <p:cNvPr id="33" name="Line 19">
              <a:extLst>
                <a:ext uri="{FF2B5EF4-FFF2-40B4-BE49-F238E27FC236}">
                  <a16:creationId xmlns:a16="http://schemas.microsoft.com/office/drawing/2014/main" id="{AC64FECB-394E-47C4-FEB7-5B689C28EACB}"/>
                </a:ext>
              </a:extLst>
            </p:cNvPr>
            <p:cNvSpPr>
              <a:spLocks noChangeShapeType="1"/>
            </p:cNvSpPr>
            <p:nvPr/>
          </p:nvSpPr>
          <p:spPr bwMode="auto">
            <a:xfrm>
              <a:off x="1000" y="774"/>
              <a:ext cx="0" cy="726"/>
            </a:xfrm>
            <a:prstGeom prst="line">
              <a:avLst/>
            </a:prstGeom>
            <a:noFill/>
            <a:ln w="38100">
              <a:solidFill>
                <a:schemeClr val="tx1"/>
              </a:solidFill>
              <a:round/>
              <a:headEnd/>
              <a:tailEnd/>
            </a:ln>
          </p:spPr>
          <p:txBody>
            <a:bodyPr/>
            <a:lstStyle/>
            <a:p>
              <a:endParaRPr lang="fr-FR"/>
            </a:p>
          </p:txBody>
        </p:sp>
        <p:sp>
          <p:nvSpPr>
            <p:cNvPr id="34" name="Rectangle 20">
              <a:extLst>
                <a:ext uri="{FF2B5EF4-FFF2-40B4-BE49-F238E27FC236}">
                  <a16:creationId xmlns:a16="http://schemas.microsoft.com/office/drawing/2014/main" id="{6AADD00D-C16E-320A-6AA0-9D5933138AF3}"/>
                </a:ext>
              </a:extLst>
            </p:cNvPr>
            <p:cNvSpPr>
              <a:spLocks noChangeArrowheads="1"/>
            </p:cNvSpPr>
            <p:nvPr/>
          </p:nvSpPr>
          <p:spPr bwMode="auto">
            <a:xfrm rot="10800000">
              <a:off x="952" y="997"/>
              <a:ext cx="95" cy="273"/>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35" name="Text Box 21">
              <a:extLst>
                <a:ext uri="{FF2B5EF4-FFF2-40B4-BE49-F238E27FC236}">
                  <a16:creationId xmlns:a16="http://schemas.microsoft.com/office/drawing/2014/main" id="{235FEA33-EC7B-9D5B-E515-07A21819DA28}"/>
                </a:ext>
              </a:extLst>
            </p:cNvPr>
            <p:cNvSpPr txBox="1">
              <a:spLocks noChangeArrowheads="1"/>
            </p:cNvSpPr>
            <p:nvPr/>
          </p:nvSpPr>
          <p:spPr bwMode="auto">
            <a:xfrm>
              <a:off x="444" y="816"/>
              <a:ext cx="264" cy="288"/>
            </a:xfrm>
            <a:prstGeom prst="rect">
              <a:avLst/>
            </a:prstGeom>
            <a:noFill/>
            <a:ln w="9525">
              <a:noFill/>
              <a:miter lim="800000"/>
              <a:headEnd/>
              <a:tailEnd/>
            </a:ln>
          </p:spPr>
          <p:txBody>
            <a:bodyPr>
              <a:spAutoFit/>
            </a:bodyPr>
            <a:lstStyle/>
            <a:p>
              <a:pPr>
                <a:spcBef>
                  <a:spcPct val="50000"/>
                </a:spcBef>
              </a:pPr>
              <a:r>
                <a:rPr lang="fr-FR"/>
                <a:t>r</a:t>
              </a:r>
            </a:p>
          </p:txBody>
        </p:sp>
        <p:sp>
          <p:nvSpPr>
            <p:cNvPr id="36" name="Text Box 22">
              <a:extLst>
                <a:ext uri="{FF2B5EF4-FFF2-40B4-BE49-F238E27FC236}">
                  <a16:creationId xmlns:a16="http://schemas.microsoft.com/office/drawing/2014/main" id="{24DE6A38-087F-EE2A-B443-ED38E9EB12F3}"/>
                </a:ext>
              </a:extLst>
            </p:cNvPr>
            <p:cNvSpPr txBox="1">
              <a:spLocks noChangeArrowheads="1"/>
            </p:cNvSpPr>
            <p:nvPr/>
          </p:nvSpPr>
          <p:spPr bwMode="auto">
            <a:xfrm>
              <a:off x="1044" y="984"/>
              <a:ext cx="252" cy="288"/>
            </a:xfrm>
            <a:prstGeom prst="rect">
              <a:avLst/>
            </a:prstGeom>
            <a:noFill/>
            <a:ln w="9525">
              <a:noFill/>
              <a:miter lim="800000"/>
              <a:headEnd/>
              <a:tailEnd/>
            </a:ln>
          </p:spPr>
          <p:txBody>
            <a:bodyPr>
              <a:spAutoFit/>
            </a:bodyPr>
            <a:lstStyle/>
            <a:p>
              <a:pPr>
                <a:spcBef>
                  <a:spcPct val="50000"/>
                </a:spcBef>
              </a:pPr>
              <a:r>
                <a:rPr lang="fr-FR"/>
                <a:t>R</a:t>
              </a:r>
            </a:p>
          </p:txBody>
        </p:sp>
        <p:sp>
          <p:nvSpPr>
            <p:cNvPr id="37" name="Text Box 23">
              <a:extLst>
                <a:ext uri="{FF2B5EF4-FFF2-40B4-BE49-F238E27FC236}">
                  <a16:creationId xmlns:a16="http://schemas.microsoft.com/office/drawing/2014/main" id="{E2EEE3E3-583C-FC35-B672-9FD82C675B2A}"/>
                </a:ext>
              </a:extLst>
            </p:cNvPr>
            <p:cNvSpPr txBox="1">
              <a:spLocks noChangeArrowheads="1"/>
            </p:cNvSpPr>
            <p:nvPr/>
          </p:nvSpPr>
          <p:spPr bwMode="auto">
            <a:xfrm>
              <a:off x="1440" y="792"/>
              <a:ext cx="276" cy="288"/>
            </a:xfrm>
            <a:prstGeom prst="rect">
              <a:avLst/>
            </a:prstGeom>
            <a:noFill/>
            <a:ln w="9525">
              <a:noFill/>
              <a:miter lim="800000"/>
              <a:headEnd/>
              <a:tailEnd/>
            </a:ln>
          </p:spPr>
          <p:txBody>
            <a:bodyPr>
              <a:spAutoFit/>
            </a:bodyPr>
            <a:lstStyle/>
            <a:p>
              <a:pPr>
                <a:spcBef>
                  <a:spcPct val="50000"/>
                </a:spcBef>
              </a:pPr>
              <a:r>
                <a:rPr lang="fr-FR">
                  <a:sym typeface="Symbol" pitchFamily="18" charset="2"/>
                </a:rPr>
                <a:t></a:t>
              </a:r>
              <a:endParaRPr lang="fr-FR"/>
            </a:p>
          </p:txBody>
        </p:sp>
      </p:grpSp>
      <p:grpSp>
        <p:nvGrpSpPr>
          <p:cNvPr id="38" name="Group 24">
            <a:extLst>
              <a:ext uri="{FF2B5EF4-FFF2-40B4-BE49-F238E27FC236}">
                <a16:creationId xmlns:a16="http://schemas.microsoft.com/office/drawing/2014/main" id="{89827C7F-CE6B-F43C-0239-750BB048C229}"/>
              </a:ext>
            </a:extLst>
          </p:cNvPr>
          <p:cNvGrpSpPr>
            <a:grpSpLocks/>
          </p:cNvGrpSpPr>
          <p:nvPr/>
        </p:nvGrpSpPr>
        <p:grpSpPr bwMode="auto">
          <a:xfrm>
            <a:off x="3568314" y="2861929"/>
            <a:ext cx="2319338" cy="1162050"/>
            <a:chOff x="2100" y="768"/>
            <a:chExt cx="1461" cy="732"/>
          </a:xfrm>
        </p:grpSpPr>
        <p:sp>
          <p:nvSpPr>
            <p:cNvPr id="39" name="Rectangle 25">
              <a:extLst>
                <a:ext uri="{FF2B5EF4-FFF2-40B4-BE49-F238E27FC236}">
                  <a16:creationId xmlns:a16="http://schemas.microsoft.com/office/drawing/2014/main" id="{F19DF35A-2108-02E5-8F98-476FE0345E44}"/>
                </a:ext>
              </a:extLst>
            </p:cNvPr>
            <p:cNvSpPr>
              <a:spLocks noChangeArrowheads="1"/>
            </p:cNvSpPr>
            <p:nvPr/>
          </p:nvSpPr>
          <p:spPr bwMode="auto">
            <a:xfrm>
              <a:off x="2223" y="768"/>
              <a:ext cx="1290" cy="732"/>
            </a:xfrm>
            <a:prstGeom prst="rect">
              <a:avLst/>
            </a:prstGeom>
            <a:noFill/>
            <a:ln w="38100">
              <a:solidFill>
                <a:schemeClr val="tx1"/>
              </a:solidFill>
              <a:miter lim="800000"/>
              <a:headEnd/>
              <a:tailEnd/>
            </a:ln>
          </p:spPr>
          <p:txBody>
            <a:bodyPr wrap="none" anchor="ctr"/>
            <a:lstStyle/>
            <a:p>
              <a:endParaRPr lang="fr-FR"/>
            </a:p>
          </p:txBody>
        </p:sp>
        <p:sp>
          <p:nvSpPr>
            <p:cNvPr id="40" name="Rectangle 26">
              <a:extLst>
                <a:ext uri="{FF2B5EF4-FFF2-40B4-BE49-F238E27FC236}">
                  <a16:creationId xmlns:a16="http://schemas.microsoft.com/office/drawing/2014/main" id="{02F61EE6-A9F7-B1F3-C9AB-77B51D06FA9C}"/>
                </a:ext>
              </a:extLst>
            </p:cNvPr>
            <p:cNvSpPr>
              <a:spLocks noChangeArrowheads="1"/>
            </p:cNvSpPr>
            <p:nvPr/>
          </p:nvSpPr>
          <p:spPr bwMode="auto">
            <a:xfrm rot="10800000">
              <a:off x="3465" y="898"/>
              <a:ext cx="96" cy="155"/>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41" name="Rectangle 27">
              <a:extLst>
                <a:ext uri="{FF2B5EF4-FFF2-40B4-BE49-F238E27FC236}">
                  <a16:creationId xmlns:a16="http://schemas.microsoft.com/office/drawing/2014/main" id="{7569FF18-2156-F733-F7AF-8C02EAC63B51}"/>
                </a:ext>
              </a:extLst>
            </p:cNvPr>
            <p:cNvSpPr>
              <a:spLocks noChangeArrowheads="1"/>
            </p:cNvSpPr>
            <p:nvPr/>
          </p:nvSpPr>
          <p:spPr bwMode="auto">
            <a:xfrm rot="10800000">
              <a:off x="2189" y="898"/>
              <a:ext cx="95" cy="155"/>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42" name="Line 28">
              <a:extLst>
                <a:ext uri="{FF2B5EF4-FFF2-40B4-BE49-F238E27FC236}">
                  <a16:creationId xmlns:a16="http://schemas.microsoft.com/office/drawing/2014/main" id="{CE3992AA-92BB-0077-B1FA-0E137B56901F}"/>
                </a:ext>
              </a:extLst>
            </p:cNvPr>
            <p:cNvSpPr>
              <a:spLocks noChangeShapeType="1"/>
            </p:cNvSpPr>
            <p:nvPr/>
          </p:nvSpPr>
          <p:spPr bwMode="auto">
            <a:xfrm flipV="1">
              <a:off x="2380" y="1128"/>
              <a:ext cx="0" cy="254"/>
            </a:xfrm>
            <a:prstGeom prst="line">
              <a:avLst/>
            </a:prstGeom>
            <a:noFill/>
            <a:ln w="9525">
              <a:solidFill>
                <a:schemeClr val="tx1"/>
              </a:solidFill>
              <a:round/>
              <a:headEnd/>
              <a:tailEnd type="triangle" w="med" len="med"/>
            </a:ln>
          </p:spPr>
          <p:txBody>
            <a:bodyPr/>
            <a:lstStyle/>
            <a:p>
              <a:endParaRPr lang="fr-FR"/>
            </a:p>
          </p:txBody>
        </p:sp>
        <p:sp>
          <p:nvSpPr>
            <p:cNvPr id="43" name="Oval 29">
              <a:extLst>
                <a:ext uri="{FF2B5EF4-FFF2-40B4-BE49-F238E27FC236}">
                  <a16:creationId xmlns:a16="http://schemas.microsoft.com/office/drawing/2014/main" id="{476F7DA1-B99C-7E79-5C4C-64251AB03E28}"/>
                </a:ext>
              </a:extLst>
            </p:cNvPr>
            <p:cNvSpPr>
              <a:spLocks noChangeArrowheads="1"/>
            </p:cNvSpPr>
            <p:nvPr/>
          </p:nvSpPr>
          <p:spPr bwMode="auto">
            <a:xfrm>
              <a:off x="2100" y="1153"/>
              <a:ext cx="246" cy="198"/>
            </a:xfrm>
            <a:prstGeom prst="ellipse">
              <a:avLst/>
            </a:prstGeom>
            <a:solidFill>
              <a:schemeClr val="bg1"/>
            </a:solidFill>
            <a:ln w="38100">
              <a:solidFill>
                <a:schemeClr val="tx1"/>
              </a:solidFill>
              <a:round/>
              <a:headEnd/>
              <a:tailEnd/>
            </a:ln>
          </p:spPr>
          <p:txBody>
            <a:bodyPr wrap="none" anchor="ctr"/>
            <a:lstStyle/>
            <a:p>
              <a:endParaRPr lang="fr-FR"/>
            </a:p>
          </p:txBody>
        </p:sp>
        <p:sp>
          <p:nvSpPr>
            <p:cNvPr id="44" name="Line 30">
              <a:extLst>
                <a:ext uri="{FF2B5EF4-FFF2-40B4-BE49-F238E27FC236}">
                  <a16:creationId xmlns:a16="http://schemas.microsoft.com/office/drawing/2014/main" id="{A080D2C6-06F2-FEB5-820B-18A34B184CA8}"/>
                </a:ext>
              </a:extLst>
            </p:cNvPr>
            <p:cNvSpPr>
              <a:spLocks noChangeShapeType="1"/>
            </p:cNvSpPr>
            <p:nvPr/>
          </p:nvSpPr>
          <p:spPr bwMode="auto">
            <a:xfrm>
              <a:off x="2223" y="1172"/>
              <a:ext cx="0" cy="160"/>
            </a:xfrm>
            <a:prstGeom prst="line">
              <a:avLst/>
            </a:prstGeom>
            <a:noFill/>
            <a:ln w="38100">
              <a:solidFill>
                <a:schemeClr val="tx1"/>
              </a:solidFill>
              <a:round/>
              <a:headEnd/>
              <a:tailEnd/>
            </a:ln>
          </p:spPr>
          <p:txBody>
            <a:bodyPr/>
            <a:lstStyle/>
            <a:p>
              <a:endParaRPr lang="fr-FR"/>
            </a:p>
          </p:txBody>
        </p:sp>
        <p:sp>
          <p:nvSpPr>
            <p:cNvPr id="45" name="Line 31">
              <a:extLst>
                <a:ext uri="{FF2B5EF4-FFF2-40B4-BE49-F238E27FC236}">
                  <a16:creationId xmlns:a16="http://schemas.microsoft.com/office/drawing/2014/main" id="{F58F924B-636E-FD2B-5AB8-AC97B01C6037}"/>
                </a:ext>
              </a:extLst>
            </p:cNvPr>
            <p:cNvSpPr>
              <a:spLocks noChangeShapeType="1"/>
            </p:cNvSpPr>
            <p:nvPr/>
          </p:nvSpPr>
          <p:spPr bwMode="auto">
            <a:xfrm>
              <a:off x="2824" y="774"/>
              <a:ext cx="0" cy="726"/>
            </a:xfrm>
            <a:prstGeom prst="line">
              <a:avLst/>
            </a:prstGeom>
            <a:noFill/>
            <a:ln w="38100">
              <a:solidFill>
                <a:schemeClr val="tx1"/>
              </a:solidFill>
              <a:round/>
              <a:headEnd/>
              <a:tailEnd/>
            </a:ln>
          </p:spPr>
          <p:txBody>
            <a:bodyPr/>
            <a:lstStyle/>
            <a:p>
              <a:endParaRPr lang="fr-FR"/>
            </a:p>
          </p:txBody>
        </p:sp>
        <p:sp>
          <p:nvSpPr>
            <p:cNvPr id="47" name="Rectangle 32">
              <a:extLst>
                <a:ext uri="{FF2B5EF4-FFF2-40B4-BE49-F238E27FC236}">
                  <a16:creationId xmlns:a16="http://schemas.microsoft.com/office/drawing/2014/main" id="{528E995A-9A6E-8D2B-3A26-5C6AB313FE32}"/>
                </a:ext>
              </a:extLst>
            </p:cNvPr>
            <p:cNvSpPr>
              <a:spLocks noChangeArrowheads="1"/>
            </p:cNvSpPr>
            <p:nvPr/>
          </p:nvSpPr>
          <p:spPr bwMode="auto">
            <a:xfrm rot="10800000">
              <a:off x="2776" y="997"/>
              <a:ext cx="95" cy="273"/>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48" name="Text Box 33">
              <a:extLst>
                <a:ext uri="{FF2B5EF4-FFF2-40B4-BE49-F238E27FC236}">
                  <a16:creationId xmlns:a16="http://schemas.microsoft.com/office/drawing/2014/main" id="{46F96845-4FE9-2DB8-A0AF-F106B4A3EF58}"/>
                </a:ext>
              </a:extLst>
            </p:cNvPr>
            <p:cNvSpPr txBox="1">
              <a:spLocks noChangeArrowheads="1"/>
            </p:cNvSpPr>
            <p:nvPr/>
          </p:nvSpPr>
          <p:spPr bwMode="auto">
            <a:xfrm>
              <a:off x="2280" y="804"/>
              <a:ext cx="264" cy="288"/>
            </a:xfrm>
            <a:prstGeom prst="rect">
              <a:avLst/>
            </a:prstGeom>
            <a:noFill/>
            <a:ln w="9525">
              <a:noFill/>
              <a:miter lim="800000"/>
              <a:headEnd/>
              <a:tailEnd/>
            </a:ln>
          </p:spPr>
          <p:txBody>
            <a:bodyPr>
              <a:spAutoFit/>
            </a:bodyPr>
            <a:lstStyle/>
            <a:p>
              <a:pPr>
                <a:spcBef>
                  <a:spcPct val="50000"/>
                </a:spcBef>
              </a:pPr>
              <a:r>
                <a:rPr lang="fr-FR"/>
                <a:t>r</a:t>
              </a:r>
            </a:p>
          </p:txBody>
        </p:sp>
        <p:sp>
          <p:nvSpPr>
            <p:cNvPr id="49" name="Text Box 34">
              <a:extLst>
                <a:ext uri="{FF2B5EF4-FFF2-40B4-BE49-F238E27FC236}">
                  <a16:creationId xmlns:a16="http://schemas.microsoft.com/office/drawing/2014/main" id="{96FDA75A-B1D9-5B4E-B0F4-D56529B33C86}"/>
                </a:ext>
              </a:extLst>
            </p:cNvPr>
            <p:cNvSpPr txBox="1">
              <a:spLocks noChangeArrowheads="1"/>
            </p:cNvSpPr>
            <p:nvPr/>
          </p:nvSpPr>
          <p:spPr bwMode="auto">
            <a:xfrm>
              <a:off x="2880" y="972"/>
              <a:ext cx="252" cy="288"/>
            </a:xfrm>
            <a:prstGeom prst="rect">
              <a:avLst/>
            </a:prstGeom>
            <a:noFill/>
            <a:ln w="9525">
              <a:noFill/>
              <a:miter lim="800000"/>
              <a:headEnd/>
              <a:tailEnd/>
            </a:ln>
          </p:spPr>
          <p:txBody>
            <a:bodyPr>
              <a:spAutoFit/>
            </a:bodyPr>
            <a:lstStyle/>
            <a:p>
              <a:pPr>
                <a:spcBef>
                  <a:spcPct val="50000"/>
                </a:spcBef>
              </a:pPr>
              <a:r>
                <a:rPr lang="fr-FR"/>
                <a:t>R</a:t>
              </a:r>
            </a:p>
          </p:txBody>
        </p:sp>
        <p:sp>
          <p:nvSpPr>
            <p:cNvPr id="50" name="Text Box 35">
              <a:extLst>
                <a:ext uri="{FF2B5EF4-FFF2-40B4-BE49-F238E27FC236}">
                  <a16:creationId xmlns:a16="http://schemas.microsoft.com/office/drawing/2014/main" id="{FBC9E52F-E056-2314-0C73-B7977AE37422}"/>
                </a:ext>
              </a:extLst>
            </p:cNvPr>
            <p:cNvSpPr txBox="1">
              <a:spLocks noChangeArrowheads="1"/>
            </p:cNvSpPr>
            <p:nvPr/>
          </p:nvSpPr>
          <p:spPr bwMode="auto">
            <a:xfrm>
              <a:off x="3276" y="780"/>
              <a:ext cx="276" cy="288"/>
            </a:xfrm>
            <a:prstGeom prst="rect">
              <a:avLst/>
            </a:prstGeom>
            <a:noFill/>
            <a:ln w="9525">
              <a:noFill/>
              <a:miter lim="800000"/>
              <a:headEnd/>
              <a:tailEnd/>
            </a:ln>
          </p:spPr>
          <p:txBody>
            <a:bodyPr>
              <a:spAutoFit/>
            </a:bodyPr>
            <a:lstStyle/>
            <a:p>
              <a:pPr>
                <a:spcBef>
                  <a:spcPct val="50000"/>
                </a:spcBef>
              </a:pPr>
              <a:r>
                <a:rPr lang="fr-FR">
                  <a:sym typeface="Symbol" pitchFamily="18" charset="2"/>
                </a:rPr>
                <a:t></a:t>
              </a:r>
              <a:endParaRPr lang="fr-FR"/>
            </a:p>
          </p:txBody>
        </p:sp>
      </p:grpSp>
      <p:grpSp>
        <p:nvGrpSpPr>
          <p:cNvPr id="51" name="Group 36">
            <a:extLst>
              <a:ext uri="{FF2B5EF4-FFF2-40B4-BE49-F238E27FC236}">
                <a16:creationId xmlns:a16="http://schemas.microsoft.com/office/drawing/2014/main" id="{CEA72CAB-1EC0-633B-70FD-F8B55358E582}"/>
              </a:ext>
            </a:extLst>
          </p:cNvPr>
          <p:cNvGrpSpPr>
            <a:grpSpLocks/>
          </p:cNvGrpSpPr>
          <p:nvPr/>
        </p:nvGrpSpPr>
        <p:grpSpPr bwMode="auto">
          <a:xfrm>
            <a:off x="6567102" y="2880979"/>
            <a:ext cx="2297113" cy="1162050"/>
            <a:chOff x="3989" y="780"/>
            <a:chExt cx="1447" cy="732"/>
          </a:xfrm>
        </p:grpSpPr>
        <p:sp>
          <p:nvSpPr>
            <p:cNvPr id="52" name="Rectangle 37">
              <a:extLst>
                <a:ext uri="{FF2B5EF4-FFF2-40B4-BE49-F238E27FC236}">
                  <a16:creationId xmlns:a16="http://schemas.microsoft.com/office/drawing/2014/main" id="{EF3B42B2-72E1-6911-46C7-42796BA289E1}"/>
                </a:ext>
              </a:extLst>
            </p:cNvPr>
            <p:cNvSpPr>
              <a:spLocks noChangeArrowheads="1"/>
            </p:cNvSpPr>
            <p:nvPr/>
          </p:nvSpPr>
          <p:spPr bwMode="auto">
            <a:xfrm>
              <a:off x="4023" y="780"/>
              <a:ext cx="1290" cy="732"/>
            </a:xfrm>
            <a:prstGeom prst="rect">
              <a:avLst/>
            </a:prstGeom>
            <a:noFill/>
            <a:ln w="38100">
              <a:solidFill>
                <a:schemeClr val="tx1"/>
              </a:solidFill>
              <a:miter lim="800000"/>
              <a:headEnd/>
              <a:tailEnd/>
            </a:ln>
          </p:spPr>
          <p:txBody>
            <a:bodyPr wrap="none" anchor="ctr"/>
            <a:lstStyle/>
            <a:p>
              <a:endParaRPr lang="fr-FR"/>
            </a:p>
          </p:txBody>
        </p:sp>
        <p:sp>
          <p:nvSpPr>
            <p:cNvPr id="53" name="Rectangle 38">
              <a:extLst>
                <a:ext uri="{FF2B5EF4-FFF2-40B4-BE49-F238E27FC236}">
                  <a16:creationId xmlns:a16="http://schemas.microsoft.com/office/drawing/2014/main" id="{E0AA2B3F-67A0-759E-CE2B-A8FBE6D9BC67}"/>
                </a:ext>
              </a:extLst>
            </p:cNvPr>
            <p:cNvSpPr>
              <a:spLocks noChangeArrowheads="1"/>
            </p:cNvSpPr>
            <p:nvPr/>
          </p:nvSpPr>
          <p:spPr bwMode="auto">
            <a:xfrm rot="10800000">
              <a:off x="5265" y="910"/>
              <a:ext cx="96" cy="155"/>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54" name="Line 39">
              <a:extLst>
                <a:ext uri="{FF2B5EF4-FFF2-40B4-BE49-F238E27FC236}">
                  <a16:creationId xmlns:a16="http://schemas.microsoft.com/office/drawing/2014/main" id="{875DFF5F-C1B5-8AD1-29A7-B31B4A40B94F}"/>
                </a:ext>
              </a:extLst>
            </p:cNvPr>
            <p:cNvSpPr>
              <a:spLocks noChangeShapeType="1"/>
            </p:cNvSpPr>
            <p:nvPr/>
          </p:nvSpPr>
          <p:spPr bwMode="auto">
            <a:xfrm flipV="1">
              <a:off x="5156" y="1140"/>
              <a:ext cx="0" cy="254"/>
            </a:xfrm>
            <a:prstGeom prst="line">
              <a:avLst/>
            </a:prstGeom>
            <a:noFill/>
            <a:ln w="9525">
              <a:solidFill>
                <a:schemeClr val="tx1"/>
              </a:solidFill>
              <a:round/>
              <a:headEnd/>
              <a:tailEnd type="triangle" w="med" len="med"/>
            </a:ln>
          </p:spPr>
          <p:txBody>
            <a:bodyPr/>
            <a:lstStyle/>
            <a:p>
              <a:endParaRPr lang="fr-FR"/>
            </a:p>
          </p:txBody>
        </p:sp>
        <p:sp>
          <p:nvSpPr>
            <p:cNvPr id="55" name="Oval 40">
              <a:extLst>
                <a:ext uri="{FF2B5EF4-FFF2-40B4-BE49-F238E27FC236}">
                  <a16:creationId xmlns:a16="http://schemas.microsoft.com/office/drawing/2014/main" id="{38BA2958-B260-DAF1-F0CB-FCE710DD011D}"/>
                </a:ext>
              </a:extLst>
            </p:cNvPr>
            <p:cNvSpPr>
              <a:spLocks noChangeArrowheads="1"/>
            </p:cNvSpPr>
            <p:nvPr/>
          </p:nvSpPr>
          <p:spPr bwMode="auto">
            <a:xfrm>
              <a:off x="5190" y="1165"/>
              <a:ext cx="246" cy="198"/>
            </a:xfrm>
            <a:prstGeom prst="ellipse">
              <a:avLst/>
            </a:prstGeom>
            <a:solidFill>
              <a:schemeClr val="bg1"/>
            </a:solidFill>
            <a:ln w="38100">
              <a:solidFill>
                <a:schemeClr val="tx1"/>
              </a:solidFill>
              <a:round/>
              <a:headEnd/>
              <a:tailEnd/>
            </a:ln>
          </p:spPr>
          <p:txBody>
            <a:bodyPr wrap="none" anchor="ctr"/>
            <a:lstStyle/>
            <a:p>
              <a:endParaRPr lang="fr-FR"/>
            </a:p>
          </p:txBody>
        </p:sp>
        <p:sp>
          <p:nvSpPr>
            <p:cNvPr id="56" name="Line 41">
              <a:extLst>
                <a:ext uri="{FF2B5EF4-FFF2-40B4-BE49-F238E27FC236}">
                  <a16:creationId xmlns:a16="http://schemas.microsoft.com/office/drawing/2014/main" id="{2033B203-18AE-9AFC-45C9-5953F3D1769A}"/>
                </a:ext>
              </a:extLst>
            </p:cNvPr>
            <p:cNvSpPr>
              <a:spLocks noChangeShapeType="1"/>
            </p:cNvSpPr>
            <p:nvPr/>
          </p:nvSpPr>
          <p:spPr bwMode="auto">
            <a:xfrm>
              <a:off x="5313" y="1184"/>
              <a:ext cx="0" cy="160"/>
            </a:xfrm>
            <a:prstGeom prst="line">
              <a:avLst/>
            </a:prstGeom>
            <a:noFill/>
            <a:ln w="38100">
              <a:solidFill>
                <a:schemeClr val="tx1"/>
              </a:solidFill>
              <a:round/>
              <a:headEnd/>
              <a:tailEnd/>
            </a:ln>
          </p:spPr>
          <p:txBody>
            <a:bodyPr/>
            <a:lstStyle/>
            <a:p>
              <a:endParaRPr lang="fr-FR"/>
            </a:p>
          </p:txBody>
        </p:sp>
        <p:sp>
          <p:nvSpPr>
            <p:cNvPr id="57" name="Rectangle 42">
              <a:extLst>
                <a:ext uri="{FF2B5EF4-FFF2-40B4-BE49-F238E27FC236}">
                  <a16:creationId xmlns:a16="http://schemas.microsoft.com/office/drawing/2014/main" id="{81E47516-831D-88EC-E418-159AB28DB8B3}"/>
                </a:ext>
              </a:extLst>
            </p:cNvPr>
            <p:cNvSpPr>
              <a:spLocks noChangeArrowheads="1"/>
            </p:cNvSpPr>
            <p:nvPr/>
          </p:nvSpPr>
          <p:spPr bwMode="auto">
            <a:xfrm rot="10800000">
              <a:off x="3989" y="910"/>
              <a:ext cx="95" cy="155"/>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58" name="Line 43">
              <a:extLst>
                <a:ext uri="{FF2B5EF4-FFF2-40B4-BE49-F238E27FC236}">
                  <a16:creationId xmlns:a16="http://schemas.microsoft.com/office/drawing/2014/main" id="{946F18BC-3961-375D-12D0-8E0E159C87A1}"/>
                </a:ext>
              </a:extLst>
            </p:cNvPr>
            <p:cNvSpPr>
              <a:spLocks noChangeShapeType="1"/>
            </p:cNvSpPr>
            <p:nvPr/>
          </p:nvSpPr>
          <p:spPr bwMode="auto">
            <a:xfrm>
              <a:off x="4624" y="786"/>
              <a:ext cx="0" cy="726"/>
            </a:xfrm>
            <a:prstGeom prst="line">
              <a:avLst/>
            </a:prstGeom>
            <a:noFill/>
            <a:ln w="38100">
              <a:solidFill>
                <a:schemeClr val="tx1"/>
              </a:solidFill>
              <a:round/>
              <a:headEnd/>
              <a:tailEnd/>
            </a:ln>
          </p:spPr>
          <p:txBody>
            <a:bodyPr/>
            <a:lstStyle/>
            <a:p>
              <a:endParaRPr lang="fr-FR"/>
            </a:p>
          </p:txBody>
        </p:sp>
        <p:sp>
          <p:nvSpPr>
            <p:cNvPr id="59" name="Rectangle 44">
              <a:extLst>
                <a:ext uri="{FF2B5EF4-FFF2-40B4-BE49-F238E27FC236}">
                  <a16:creationId xmlns:a16="http://schemas.microsoft.com/office/drawing/2014/main" id="{DBB95CE4-4B22-6292-ADA6-89AC48EA8747}"/>
                </a:ext>
              </a:extLst>
            </p:cNvPr>
            <p:cNvSpPr>
              <a:spLocks noChangeArrowheads="1"/>
            </p:cNvSpPr>
            <p:nvPr/>
          </p:nvSpPr>
          <p:spPr bwMode="auto">
            <a:xfrm rot="10800000">
              <a:off x="4576" y="1009"/>
              <a:ext cx="95" cy="273"/>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60" name="Text Box 45">
              <a:extLst>
                <a:ext uri="{FF2B5EF4-FFF2-40B4-BE49-F238E27FC236}">
                  <a16:creationId xmlns:a16="http://schemas.microsoft.com/office/drawing/2014/main" id="{1FF439AB-C0D1-97D7-5B68-41D6F6B91DFF}"/>
                </a:ext>
              </a:extLst>
            </p:cNvPr>
            <p:cNvSpPr txBox="1">
              <a:spLocks noChangeArrowheads="1"/>
            </p:cNvSpPr>
            <p:nvPr/>
          </p:nvSpPr>
          <p:spPr bwMode="auto">
            <a:xfrm>
              <a:off x="4068" y="816"/>
              <a:ext cx="264" cy="288"/>
            </a:xfrm>
            <a:prstGeom prst="rect">
              <a:avLst/>
            </a:prstGeom>
            <a:noFill/>
            <a:ln w="9525">
              <a:noFill/>
              <a:miter lim="800000"/>
              <a:headEnd/>
              <a:tailEnd/>
            </a:ln>
          </p:spPr>
          <p:txBody>
            <a:bodyPr>
              <a:spAutoFit/>
            </a:bodyPr>
            <a:lstStyle/>
            <a:p>
              <a:pPr>
                <a:spcBef>
                  <a:spcPct val="50000"/>
                </a:spcBef>
              </a:pPr>
              <a:r>
                <a:rPr lang="fr-FR"/>
                <a:t>r</a:t>
              </a:r>
            </a:p>
          </p:txBody>
        </p:sp>
        <p:sp>
          <p:nvSpPr>
            <p:cNvPr id="61" name="Text Box 46">
              <a:extLst>
                <a:ext uri="{FF2B5EF4-FFF2-40B4-BE49-F238E27FC236}">
                  <a16:creationId xmlns:a16="http://schemas.microsoft.com/office/drawing/2014/main" id="{94C21247-8373-FB1C-02B2-4DE57CD8D0E9}"/>
                </a:ext>
              </a:extLst>
            </p:cNvPr>
            <p:cNvSpPr txBox="1">
              <a:spLocks noChangeArrowheads="1"/>
            </p:cNvSpPr>
            <p:nvPr/>
          </p:nvSpPr>
          <p:spPr bwMode="auto">
            <a:xfrm>
              <a:off x="4668" y="984"/>
              <a:ext cx="252" cy="288"/>
            </a:xfrm>
            <a:prstGeom prst="rect">
              <a:avLst/>
            </a:prstGeom>
            <a:noFill/>
            <a:ln w="9525">
              <a:noFill/>
              <a:miter lim="800000"/>
              <a:headEnd/>
              <a:tailEnd/>
            </a:ln>
          </p:spPr>
          <p:txBody>
            <a:bodyPr>
              <a:spAutoFit/>
            </a:bodyPr>
            <a:lstStyle/>
            <a:p>
              <a:pPr>
                <a:spcBef>
                  <a:spcPct val="50000"/>
                </a:spcBef>
              </a:pPr>
              <a:r>
                <a:rPr lang="fr-FR"/>
                <a:t>R</a:t>
              </a:r>
            </a:p>
          </p:txBody>
        </p:sp>
        <p:sp>
          <p:nvSpPr>
            <p:cNvPr id="62" name="Text Box 47">
              <a:extLst>
                <a:ext uri="{FF2B5EF4-FFF2-40B4-BE49-F238E27FC236}">
                  <a16:creationId xmlns:a16="http://schemas.microsoft.com/office/drawing/2014/main" id="{BB119D09-8983-C0D3-8647-039D680619AE}"/>
                </a:ext>
              </a:extLst>
            </p:cNvPr>
            <p:cNvSpPr txBox="1">
              <a:spLocks noChangeArrowheads="1"/>
            </p:cNvSpPr>
            <p:nvPr/>
          </p:nvSpPr>
          <p:spPr bwMode="auto">
            <a:xfrm>
              <a:off x="5064" y="792"/>
              <a:ext cx="276" cy="288"/>
            </a:xfrm>
            <a:prstGeom prst="rect">
              <a:avLst/>
            </a:prstGeom>
            <a:noFill/>
            <a:ln w="9525">
              <a:noFill/>
              <a:miter lim="800000"/>
              <a:headEnd/>
              <a:tailEnd/>
            </a:ln>
          </p:spPr>
          <p:txBody>
            <a:bodyPr>
              <a:spAutoFit/>
            </a:bodyPr>
            <a:lstStyle/>
            <a:p>
              <a:pPr>
                <a:spcBef>
                  <a:spcPct val="50000"/>
                </a:spcBef>
              </a:pPr>
              <a:r>
                <a:rPr lang="fr-FR">
                  <a:sym typeface="Symbol" pitchFamily="18" charset="2"/>
                </a:rPr>
                <a:t></a:t>
              </a:r>
              <a:endParaRPr lang="fr-FR"/>
            </a:p>
          </p:txBody>
        </p:sp>
      </p:grpSp>
    </p:spTree>
    <p:extLst>
      <p:ext uri="{BB962C8B-B14F-4D97-AF65-F5344CB8AC3E}">
        <p14:creationId xmlns:p14="http://schemas.microsoft.com/office/powerpoint/2010/main" val="939113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52</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3.5 </a:t>
            </a:r>
            <a:r>
              <a:rPr lang="fr-FR" altLang="fr-FR" sz="1400" b="1" spc="-5" dirty="0">
                <a:solidFill>
                  <a:srgbClr val="CC00CC"/>
                </a:solidFill>
                <a:latin typeface="Bookman Old Style" panose="02050604050505020204" pitchFamily="18" charset="0"/>
                <a:cs typeface="Arial"/>
              </a:rPr>
              <a:t>Théorème de Superposition</a:t>
            </a:r>
          </a:p>
        </p:txBody>
      </p:sp>
      <p:pic>
        <p:nvPicPr>
          <p:cNvPr id="11" name="Picture 10">
            <a:extLst>
              <a:ext uri="{FF2B5EF4-FFF2-40B4-BE49-F238E27FC236}">
                <a16:creationId xmlns:a16="http://schemas.microsoft.com/office/drawing/2014/main" id="{9A5CB00A-3273-99E7-A2AD-E8E315F7AEEE}"/>
              </a:ext>
            </a:extLst>
          </p:cNvPr>
          <p:cNvPicPr>
            <a:picLocks noChangeAspect="1"/>
          </p:cNvPicPr>
          <p:nvPr/>
        </p:nvPicPr>
        <p:blipFill>
          <a:blip r:embed="rId3"/>
          <a:stretch>
            <a:fillRect/>
          </a:stretch>
        </p:blipFill>
        <p:spPr>
          <a:xfrm>
            <a:off x="4604857" y="1819491"/>
            <a:ext cx="4588778" cy="2277007"/>
          </a:xfrm>
          <a:prstGeom prst="rect">
            <a:avLst/>
          </a:prstGeom>
        </p:spPr>
      </p:pic>
      <p:sp>
        <p:nvSpPr>
          <p:cNvPr id="13" name="TextBox 12">
            <a:extLst>
              <a:ext uri="{FF2B5EF4-FFF2-40B4-BE49-F238E27FC236}">
                <a16:creationId xmlns:a16="http://schemas.microsoft.com/office/drawing/2014/main" id="{3105C527-EDDA-8997-29B8-7F5CF64224C9}"/>
              </a:ext>
            </a:extLst>
          </p:cNvPr>
          <p:cNvSpPr txBox="1"/>
          <p:nvPr/>
        </p:nvSpPr>
        <p:spPr>
          <a:xfrm>
            <a:off x="526178" y="1371772"/>
            <a:ext cx="1354354" cy="276999"/>
          </a:xfrm>
          <a:prstGeom prst="rect">
            <a:avLst/>
          </a:prstGeom>
          <a:noFill/>
        </p:spPr>
        <p:txBody>
          <a:bodyPr wrap="square">
            <a:spAutoFit/>
          </a:bodyPr>
          <a:lstStyle/>
          <a:p>
            <a:pPr marL="12700">
              <a:lnSpc>
                <a:spcPct val="100000"/>
              </a:lnSpc>
              <a:spcBef>
                <a:spcPts val="100"/>
              </a:spcBef>
            </a:pPr>
            <a:r>
              <a:rPr lang="fr-FR" sz="1200" b="1" u="sng" spc="-10" dirty="0">
                <a:uFill>
                  <a:solidFill>
                    <a:srgbClr val="000000"/>
                  </a:solidFill>
                </a:uFill>
                <a:latin typeface="Bookman Old Style" panose="02050604050505020204" pitchFamily="18" charset="0"/>
                <a:cs typeface="Times New Roman"/>
              </a:rPr>
              <a:t>Exemple:</a:t>
            </a:r>
            <a:endParaRPr lang="fr-FR" sz="1200" dirty="0">
              <a:latin typeface="Bookman Old Style" panose="02050604050505020204" pitchFamily="18" charset="0"/>
              <a:cs typeface="Times New Roman"/>
            </a:endParaRPr>
          </a:p>
        </p:txBody>
      </p:sp>
      <p:sp>
        <p:nvSpPr>
          <p:cNvPr id="17" name="TextBox 16">
            <a:extLst>
              <a:ext uri="{FF2B5EF4-FFF2-40B4-BE49-F238E27FC236}">
                <a16:creationId xmlns:a16="http://schemas.microsoft.com/office/drawing/2014/main" id="{F7C407AB-E44F-D1AD-320E-68D0FECFD57D}"/>
              </a:ext>
            </a:extLst>
          </p:cNvPr>
          <p:cNvSpPr txBox="1"/>
          <p:nvPr/>
        </p:nvSpPr>
        <p:spPr>
          <a:xfrm>
            <a:off x="339776" y="4278332"/>
            <a:ext cx="7696200" cy="1015663"/>
          </a:xfrm>
          <a:prstGeom prst="rect">
            <a:avLst/>
          </a:prstGeom>
          <a:noFill/>
        </p:spPr>
        <p:txBody>
          <a:bodyPr wrap="square">
            <a:spAutoFit/>
          </a:bodyPr>
          <a:lstStyle/>
          <a:p>
            <a:r>
              <a:rPr lang="fr-FR" sz="1200" b="1" i="0" u="sng" dirty="0">
                <a:solidFill>
                  <a:srgbClr val="000000"/>
                </a:solidFill>
                <a:effectLst/>
                <a:latin typeface="Bookman Old Style" panose="02050604050505020204" pitchFamily="18" charset="0"/>
              </a:rPr>
              <a:t>Pour l’application numérique</a:t>
            </a:r>
          </a:p>
          <a:p>
            <a:endParaRPr lang="fr-FR" sz="1200" b="1" i="0" u="sng" dirty="0">
              <a:solidFill>
                <a:srgbClr val="000000"/>
              </a:solidFill>
              <a:effectLst/>
              <a:latin typeface="Bookman Old Style" panose="02050604050505020204" pitchFamily="18" charset="0"/>
            </a:endParaRPr>
          </a:p>
          <a:p>
            <a:r>
              <a:rPr lang="fr-FR" sz="1200" b="1" i="1" dirty="0">
                <a:solidFill>
                  <a:srgbClr val="000000"/>
                </a:solidFill>
                <a:effectLst/>
                <a:latin typeface="Bookman Old Style" panose="02050604050505020204" pitchFamily="18" charset="0"/>
              </a:rPr>
              <a:t>On donne :</a:t>
            </a:r>
          </a:p>
          <a:p>
            <a:r>
              <a:rPr lang="fr-FR" sz="1200" b="1" i="1" dirty="0">
                <a:solidFill>
                  <a:srgbClr val="000000"/>
                </a:solidFill>
                <a:effectLst/>
                <a:latin typeface="Bookman Old Style" panose="02050604050505020204" pitchFamily="18" charset="0"/>
              </a:rPr>
              <a:t>E1 = 6 V, E2 = 12 V, R1 = 1k</a:t>
            </a:r>
            <a:r>
              <a:rPr lang="el-GR" sz="1200" b="1" i="1" dirty="0">
                <a:solidFill>
                  <a:srgbClr val="000000"/>
                </a:solidFill>
                <a:effectLst/>
                <a:latin typeface="Bookman Old Style" panose="02050604050505020204" pitchFamily="18" charset="0"/>
              </a:rPr>
              <a:t>Ω, </a:t>
            </a:r>
            <a:r>
              <a:rPr lang="fr-FR" sz="1200" b="1" i="1" dirty="0">
                <a:solidFill>
                  <a:srgbClr val="000000"/>
                </a:solidFill>
                <a:effectLst/>
                <a:latin typeface="Bookman Old Style" panose="02050604050505020204" pitchFamily="18" charset="0"/>
              </a:rPr>
              <a:t>R2 = 1k</a:t>
            </a:r>
            <a:r>
              <a:rPr lang="el-GR" sz="1200" b="1" i="1" dirty="0">
                <a:solidFill>
                  <a:srgbClr val="000000"/>
                </a:solidFill>
                <a:effectLst/>
                <a:latin typeface="Bookman Old Style" panose="02050604050505020204" pitchFamily="18" charset="0"/>
              </a:rPr>
              <a:t>Ω </a:t>
            </a:r>
            <a:r>
              <a:rPr lang="fr-FR" sz="1200" b="1" i="1" dirty="0">
                <a:solidFill>
                  <a:srgbClr val="000000"/>
                </a:solidFill>
                <a:effectLst/>
                <a:latin typeface="Bookman Old Style" panose="02050604050505020204" pitchFamily="18" charset="0"/>
              </a:rPr>
              <a:t>et R=470</a:t>
            </a:r>
            <a:r>
              <a:rPr lang="el-GR" sz="1200" b="1" i="1" dirty="0">
                <a:solidFill>
                  <a:srgbClr val="000000"/>
                </a:solidFill>
                <a:effectLst/>
                <a:latin typeface="Bookman Old Style" panose="02050604050505020204" pitchFamily="18" charset="0"/>
              </a:rPr>
              <a:t>Ω</a:t>
            </a:r>
            <a:r>
              <a:rPr lang="el-GR" sz="1200" dirty="0">
                <a:latin typeface="Bookman Old Style" panose="02050604050505020204" pitchFamily="18" charset="0"/>
              </a:rPr>
              <a:t> </a:t>
            </a:r>
            <a:br>
              <a:rPr lang="el-GR" sz="1200" dirty="0">
                <a:latin typeface="Bookman Old Style" panose="02050604050505020204" pitchFamily="18" charset="0"/>
              </a:rPr>
            </a:br>
            <a:endParaRPr lang="fr-FR" sz="1200" dirty="0">
              <a:latin typeface="Bookman Old Style" panose="02050604050505020204" pitchFamily="18" charset="0"/>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C48D52D-3A63-39B5-32CC-E359507708F3}"/>
                  </a:ext>
                </a:extLst>
              </p:cNvPr>
              <p:cNvSpPr txBox="1"/>
              <p:nvPr/>
            </p:nvSpPr>
            <p:spPr>
              <a:xfrm>
                <a:off x="221758" y="2360037"/>
                <a:ext cx="4588778" cy="292388"/>
              </a:xfrm>
              <a:prstGeom prst="rect">
                <a:avLst/>
              </a:prstGeom>
              <a:noFill/>
            </p:spPr>
            <p:txBody>
              <a:bodyPr wrap="square">
                <a:spAutoFit/>
              </a:bodyPr>
              <a:lstStyle/>
              <a:p>
                <a:pPr marL="171450" indent="-171450">
                  <a:buFont typeface="Arial" panose="020B0604020202020204" pitchFamily="34" charset="0"/>
                  <a:buChar char="•"/>
                </a:pPr>
                <a:r>
                  <a:rPr lang="fr-FR" sz="1300" b="1" i="0" dirty="0">
                    <a:solidFill>
                      <a:srgbClr val="000000"/>
                    </a:solidFill>
                    <a:effectLst/>
                    <a:latin typeface="Bookman Old Style" panose="02050604050505020204" pitchFamily="18" charset="0"/>
                  </a:rPr>
                  <a:t>Calcule de</a:t>
                </a:r>
                <a14:m>
                  <m:oMath xmlns:m="http://schemas.openxmlformats.org/officeDocument/2006/math">
                    <m:r>
                      <a:rPr lang="fr-FR" sz="1300" b="1" i="1" dirty="0" smtClean="0">
                        <a:solidFill>
                          <a:srgbClr val="000000"/>
                        </a:solidFill>
                        <a:effectLst/>
                        <a:latin typeface="Cambria Math" panose="02040503050406030204" pitchFamily="18" charset="0"/>
                      </a:rPr>
                      <m:t> </m:t>
                    </m:r>
                    <m:sSub>
                      <m:sSubPr>
                        <m:ctrlPr>
                          <a:rPr lang="fr-FR" sz="1300" b="1" i="1" dirty="0" smtClean="0">
                            <a:solidFill>
                              <a:srgbClr val="000000"/>
                            </a:solidFill>
                            <a:effectLst/>
                            <a:latin typeface="Cambria Math" panose="02040503050406030204" pitchFamily="18" charset="0"/>
                          </a:rPr>
                        </m:ctrlPr>
                      </m:sSubPr>
                      <m:e>
                        <m:r>
                          <a:rPr lang="fr-FR" sz="1300" b="1" i="1" dirty="0" smtClean="0">
                            <a:solidFill>
                              <a:srgbClr val="000000"/>
                            </a:solidFill>
                            <a:effectLst/>
                            <a:latin typeface="Cambria Math" panose="02040503050406030204" pitchFamily="18" charset="0"/>
                          </a:rPr>
                          <m:t>𝑼</m:t>
                        </m:r>
                      </m:e>
                      <m:sub>
                        <m:r>
                          <a:rPr lang="fr-FR" sz="1300" b="1" i="1" dirty="0" smtClean="0">
                            <a:solidFill>
                              <a:srgbClr val="000000"/>
                            </a:solidFill>
                            <a:effectLst/>
                            <a:latin typeface="Cambria Math" panose="02040503050406030204" pitchFamily="18" charset="0"/>
                          </a:rPr>
                          <m:t>𝑨𝑩</m:t>
                        </m:r>
                      </m:sub>
                    </m:sSub>
                    <m:r>
                      <a:rPr lang="fr-FR" sz="1300" b="1" i="1" dirty="0" smtClean="0">
                        <a:solidFill>
                          <a:srgbClr val="000000"/>
                        </a:solidFill>
                        <a:effectLst/>
                        <a:latin typeface="Cambria Math" panose="02040503050406030204" pitchFamily="18" charset="0"/>
                      </a:rPr>
                      <m:t> </m:t>
                    </m:r>
                  </m:oMath>
                </a14:m>
                <a:r>
                  <a:rPr lang="fr-FR" sz="1300" b="1" i="0" dirty="0">
                    <a:solidFill>
                      <a:srgbClr val="000000"/>
                    </a:solidFill>
                    <a:effectLst/>
                    <a:latin typeface="Bookman Old Style" panose="02050604050505020204" pitchFamily="18" charset="0"/>
                  </a:rPr>
                  <a:t>et les courants I, I1,et I2 ?</a:t>
                </a:r>
                <a:endParaRPr lang="fr-FR" sz="1300" b="1" dirty="0">
                  <a:latin typeface="Bookman Old Style" panose="02050604050505020204" pitchFamily="18" charset="0"/>
                </a:endParaRPr>
              </a:p>
            </p:txBody>
          </p:sp>
        </mc:Choice>
        <mc:Fallback xmlns="">
          <p:sp>
            <p:nvSpPr>
              <p:cNvPr id="21" name="TextBox 20">
                <a:extLst>
                  <a:ext uri="{FF2B5EF4-FFF2-40B4-BE49-F238E27FC236}">
                    <a16:creationId xmlns:a16="http://schemas.microsoft.com/office/drawing/2014/main" id="{EC48D52D-3A63-39B5-32CC-E359507708F3}"/>
                  </a:ext>
                </a:extLst>
              </p:cNvPr>
              <p:cNvSpPr txBox="1">
                <a:spLocks noRot="1" noChangeAspect="1" noMove="1" noResize="1" noEditPoints="1" noAdjustHandles="1" noChangeArrowheads="1" noChangeShapeType="1" noTextEdit="1"/>
              </p:cNvSpPr>
              <p:nvPr/>
            </p:nvSpPr>
            <p:spPr>
              <a:xfrm>
                <a:off x="221758" y="2360037"/>
                <a:ext cx="4588778" cy="292388"/>
              </a:xfrm>
              <a:prstGeom prst="rect">
                <a:avLst/>
              </a:prstGeom>
              <a:blipFill>
                <a:blip r:embed="rId4"/>
                <a:stretch>
                  <a:fillRect t="-2083" b="-16667"/>
                </a:stretch>
              </a:blipFill>
            </p:spPr>
            <p:txBody>
              <a:bodyPr/>
              <a:lstStyle/>
              <a:p>
                <a:r>
                  <a:rPr lang="fr-FR">
                    <a:noFill/>
                  </a:rPr>
                  <a:t> </a:t>
                </a:r>
              </a:p>
            </p:txBody>
          </p:sp>
        </mc:Fallback>
      </mc:AlternateContent>
    </p:spTree>
    <p:extLst>
      <p:ext uri="{BB962C8B-B14F-4D97-AF65-F5344CB8AC3E}">
        <p14:creationId xmlns:p14="http://schemas.microsoft.com/office/powerpoint/2010/main" val="349929931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53</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3.5 </a:t>
            </a:r>
            <a:r>
              <a:rPr lang="fr-FR" altLang="fr-FR" sz="1400" b="1" spc="-5" dirty="0">
                <a:solidFill>
                  <a:srgbClr val="CC00CC"/>
                </a:solidFill>
                <a:latin typeface="Bookman Old Style" panose="02050604050505020204" pitchFamily="18" charset="0"/>
                <a:cs typeface="Arial"/>
              </a:rPr>
              <a:t>Théorème de Superposition</a:t>
            </a:r>
          </a:p>
        </p:txBody>
      </p:sp>
      <p:sp>
        <p:nvSpPr>
          <p:cNvPr id="13" name="TextBox 12">
            <a:extLst>
              <a:ext uri="{FF2B5EF4-FFF2-40B4-BE49-F238E27FC236}">
                <a16:creationId xmlns:a16="http://schemas.microsoft.com/office/drawing/2014/main" id="{3105C527-EDDA-8997-29B8-7F5CF64224C9}"/>
              </a:ext>
            </a:extLst>
          </p:cNvPr>
          <p:cNvSpPr txBox="1"/>
          <p:nvPr/>
        </p:nvSpPr>
        <p:spPr>
          <a:xfrm>
            <a:off x="550646" y="1399101"/>
            <a:ext cx="1354354" cy="276999"/>
          </a:xfrm>
          <a:prstGeom prst="rect">
            <a:avLst/>
          </a:prstGeom>
          <a:noFill/>
        </p:spPr>
        <p:txBody>
          <a:bodyPr wrap="square">
            <a:spAutoFit/>
          </a:bodyPr>
          <a:lstStyle/>
          <a:p>
            <a:pPr marL="12700">
              <a:lnSpc>
                <a:spcPct val="100000"/>
              </a:lnSpc>
              <a:spcBef>
                <a:spcPts val="100"/>
              </a:spcBef>
            </a:pPr>
            <a:r>
              <a:rPr lang="fr-FR" sz="1200" b="1" u="sng" spc="-10" dirty="0">
                <a:uFill>
                  <a:solidFill>
                    <a:srgbClr val="000000"/>
                  </a:solidFill>
                </a:uFill>
                <a:latin typeface="Bookman Old Style" panose="02050604050505020204" pitchFamily="18" charset="0"/>
                <a:cs typeface="Times New Roman"/>
              </a:rPr>
              <a:t>Exemple:</a:t>
            </a:r>
            <a:endParaRPr lang="fr-FR" sz="1200" dirty="0">
              <a:latin typeface="Bookman Old Style" panose="02050604050505020204" pitchFamily="18" charset="0"/>
              <a:cs typeface="Times New Roman"/>
            </a:endParaRPr>
          </a:p>
        </p:txBody>
      </p:sp>
      <p:sp>
        <p:nvSpPr>
          <p:cNvPr id="12" name="TextBox 11">
            <a:extLst>
              <a:ext uri="{FF2B5EF4-FFF2-40B4-BE49-F238E27FC236}">
                <a16:creationId xmlns:a16="http://schemas.microsoft.com/office/drawing/2014/main" id="{95EC77CD-9FDD-BD80-FB95-742FEBA7FA48}"/>
              </a:ext>
            </a:extLst>
          </p:cNvPr>
          <p:cNvSpPr txBox="1"/>
          <p:nvPr/>
        </p:nvSpPr>
        <p:spPr>
          <a:xfrm>
            <a:off x="1417109" y="1783533"/>
            <a:ext cx="4588778" cy="276999"/>
          </a:xfrm>
          <a:prstGeom prst="rect">
            <a:avLst/>
          </a:prstGeom>
          <a:noFill/>
        </p:spPr>
        <p:txBody>
          <a:bodyPr wrap="square">
            <a:spAutoFit/>
          </a:bodyPr>
          <a:lstStyle/>
          <a:p>
            <a:r>
              <a:rPr lang="fr-FR" sz="1200" b="1" u="sng" dirty="0">
                <a:solidFill>
                  <a:srgbClr val="0000FF"/>
                </a:solidFill>
                <a:latin typeface="Bookman Old Style" panose="02050604050505020204" pitchFamily="18" charset="0"/>
              </a:rPr>
              <a:t>1er cas : </a:t>
            </a:r>
            <a:r>
              <a:rPr lang="fr-FR" sz="1200" b="1" dirty="0">
                <a:solidFill>
                  <a:srgbClr val="0000FF"/>
                </a:solidFill>
                <a:latin typeface="Bookman Old Style" panose="02050604050505020204" pitchFamily="18" charset="0"/>
              </a:rPr>
              <a:t>E1 seule, E2 neutralisé:</a:t>
            </a:r>
          </a:p>
        </p:txBody>
      </p:sp>
      <p:pic>
        <p:nvPicPr>
          <p:cNvPr id="17" name="Picture 16">
            <a:extLst>
              <a:ext uri="{FF2B5EF4-FFF2-40B4-BE49-F238E27FC236}">
                <a16:creationId xmlns:a16="http://schemas.microsoft.com/office/drawing/2014/main" id="{B2969BE7-AEC5-5C1C-E574-81FEDA3E1216}"/>
              </a:ext>
            </a:extLst>
          </p:cNvPr>
          <p:cNvPicPr>
            <a:picLocks noChangeAspect="1"/>
          </p:cNvPicPr>
          <p:nvPr/>
        </p:nvPicPr>
        <p:blipFill>
          <a:blip r:embed="rId3"/>
          <a:stretch>
            <a:fillRect/>
          </a:stretch>
        </p:blipFill>
        <p:spPr>
          <a:xfrm>
            <a:off x="5622050" y="2060532"/>
            <a:ext cx="3511464" cy="1995150"/>
          </a:xfrm>
          <a:prstGeom prst="rect">
            <a:avLst/>
          </a:prstGeom>
        </p:spPr>
      </p:pic>
      <p:sp>
        <p:nvSpPr>
          <p:cNvPr id="22" name="TextBox 21">
            <a:extLst>
              <a:ext uri="{FF2B5EF4-FFF2-40B4-BE49-F238E27FC236}">
                <a16:creationId xmlns:a16="http://schemas.microsoft.com/office/drawing/2014/main" id="{747CB340-0D45-B55A-6098-D0F58805DD2A}"/>
              </a:ext>
            </a:extLst>
          </p:cNvPr>
          <p:cNvSpPr txBox="1"/>
          <p:nvPr/>
        </p:nvSpPr>
        <p:spPr>
          <a:xfrm>
            <a:off x="5374150" y="2738181"/>
            <a:ext cx="677411" cy="292388"/>
          </a:xfrm>
          <a:prstGeom prst="rect">
            <a:avLst/>
          </a:prstGeom>
          <a:noFill/>
        </p:spPr>
        <p:txBody>
          <a:bodyPr wrap="square">
            <a:spAutoFit/>
          </a:bodyPr>
          <a:lstStyle/>
          <a:p>
            <a:r>
              <a:rPr lang="fr-FR" sz="1300" b="1" dirty="0">
                <a:latin typeface="Bookman Old Style" panose="02050604050505020204" pitchFamily="18" charset="0"/>
              </a:rPr>
              <a:t>R1</a:t>
            </a:r>
            <a:endParaRPr lang="fr-FR" sz="1300" b="1" dirty="0"/>
          </a:p>
        </p:txBody>
      </p:sp>
      <p:sp>
        <p:nvSpPr>
          <p:cNvPr id="23" name="TextBox 22">
            <a:extLst>
              <a:ext uri="{FF2B5EF4-FFF2-40B4-BE49-F238E27FC236}">
                <a16:creationId xmlns:a16="http://schemas.microsoft.com/office/drawing/2014/main" id="{5C21305A-2B03-7DCF-C18E-9FAA842626BE}"/>
              </a:ext>
            </a:extLst>
          </p:cNvPr>
          <p:cNvSpPr txBox="1"/>
          <p:nvPr/>
        </p:nvSpPr>
        <p:spPr>
          <a:xfrm>
            <a:off x="8365845" y="2677349"/>
            <a:ext cx="677411" cy="292388"/>
          </a:xfrm>
          <a:prstGeom prst="rect">
            <a:avLst/>
          </a:prstGeom>
          <a:noFill/>
        </p:spPr>
        <p:txBody>
          <a:bodyPr wrap="square">
            <a:spAutoFit/>
          </a:bodyPr>
          <a:lstStyle/>
          <a:p>
            <a:r>
              <a:rPr lang="fr-FR" sz="1300" b="1" dirty="0">
                <a:latin typeface="Bookman Old Style" panose="02050604050505020204" pitchFamily="18" charset="0"/>
              </a:rPr>
              <a:t>R2</a:t>
            </a:r>
            <a:endParaRPr lang="fr-FR" sz="1300" b="1" dirty="0"/>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C50CB65-A941-6C9A-20E0-72B272B33737}"/>
                  </a:ext>
                </a:extLst>
              </p:cNvPr>
              <p:cNvSpPr txBox="1"/>
              <p:nvPr/>
            </p:nvSpPr>
            <p:spPr>
              <a:xfrm>
                <a:off x="441650" y="2231073"/>
                <a:ext cx="4816150" cy="892552"/>
              </a:xfrm>
              <a:prstGeom prst="rect">
                <a:avLst/>
              </a:prstGeom>
              <a:noFill/>
            </p:spPr>
            <p:txBody>
              <a:bodyPr wrap="square">
                <a:spAutoFit/>
              </a:bodyPr>
              <a:lstStyle/>
              <a:p>
                <a:pPr marL="171450" indent="-171450" algn="just">
                  <a:buFont typeface="Wingdings" panose="05000000000000000000" pitchFamily="2" charset="2"/>
                  <a:buChar char="§"/>
                </a:pPr>
                <a:r>
                  <a:rPr lang="fr-FR" sz="1300" b="0" i="0" dirty="0">
                    <a:solidFill>
                      <a:srgbClr val="000000"/>
                    </a:solidFill>
                    <a:effectLst/>
                    <a:latin typeface="Bookman Old Style" panose="02050604050505020204" pitchFamily="18" charset="0"/>
                  </a:rPr>
                  <a:t>En appliquant les </a:t>
                </a:r>
                <a:r>
                  <a:rPr lang="fr-FR" sz="1300" b="1" i="0" dirty="0">
                    <a:solidFill>
                      <a:srgbClr val="000000"/>
                    </a:solidFill>
                    <a:effectLst/>
                    <a:latin typeface="Bookman Old Style" panose="02050604050505020204" pitchFamily="18" charset="0"/>
                  </a:rPr>
                  <a:t>lois de Kirchhoff</a:t>
                </a:r>
                <a:r>
                  <a:rPr lang="fr-FR" sz="1300" b="0" i="0" dirty="0">
                    <a:solidFill>
                      <a:srgbClr val="000000"/>
                    </a:solidFill>
                    <a:effectLst/>
                    <a:latin typeface="Bookman Old Style" panose="02050604050505020204" pitchFamily="18" charset="0"/>
                  </a:rPr>
                  <a:t>, déterminer l'expression théorique de la tension </a:t>
                </a:r>
                <a14:m>
                  <m:oMath xmlns:m="http://schemas.openxmlformats.org/officeDocument/2006/math">
                    <m:sSubSup>
                      <m:sSubSupPr>
                        <m:ctrlPr>
                          <a:rPr lang="fr-FR" sz="1300" b="1" i="1" dirty="0" smtClean="0">
                            <a:solidFill>
                              <a:srgbClr val="000000"/>
                            </a:solidFill>
                            <a:effectLst/>
                            <a:latin typeface="Cambria Math" panose="02040503050406030204" pitchFamily="18" charset="0"/>
                          </a:rPr>
                        </m:ctrlPr>
                      </m:sSubSupPr>
                      <m:e>
                        <m:r>
                          <a:rPr lang="fr-FR" sz="1300" b="1" i="1" dirty="0" smtClean="0">
                            <a:solidFill>
                              <a:srgbClr val="000000"/>
                            </a:solidFill>
                            <a:effectLst/>
                            <a:latin typeface="Cambria Math" panose="02040503050406030204" pitchFamily="18" charset="0"/>
                          </a:rPr>
                          <m:t>𝑼</m:t>
                        </m:r>
                      </m:e>
                      <m:sub>
                        <m:r>
                          <a:rPr lang="fr-FR" sz="1300" b="1" i="1" dirty="0">
                            <a:solidFill>
                              <a:srgbClr val="000000"/>
                            </a:solidFill>
                            <a:latin typeface="Cambria Math" panose="02040503050406030204" pitchFamily="18" charset="0"/>
                          </a:rPr>
                          <m:t>𝑨𝑩</m:t>
                        </m:r>
                      </m:sub>
                      <m:sup>
                        <m:r>
                          <a:rPr lang="fr-FR" sz="1300" b="1" i="1" dirty="0" smtClean="0">
                            <a:solidFill>
                              <a:srgbClr val="000000"/>
                            </a:solidFill>
                            <a:effectLst/>
                            <a:latin typeface="Cambria Math" panose="02040503050406030204" pitchFamily="18" charset="0"/>
                          </a:rPr>
                          <m:t>′</m:t>
                        </m:r>
                      </m:sup>
                    </m:sSubSup>
                  </m:oMath>
                </a14:m>
                <a:r>
                  <a:rPr lang="fr-FR" sz="1300" b="1" i="0" dirty="0">
                    <a:solidFill>
                      <a:srgbClr val="000000"/>
                    </a:solidFill>
                    <a:effectLst/>
                    <a:latin typeface="Bookman Old Style" panose="02050604050505020204" pitchFamily="18" charset="0"/>
                  </a:rPr>
                  <a:t> </a:t>
                </a:r>
                <a:r>
                  <a:rPr lang="fr-FR" sz="1300" b="0" i="0" dirty="0">
                    <a:solidFill>
                      <a:srgbClr val="000000"/>
                    </a:solidFill>
                    <a:effectLst/>
                    <a:latin typeface="Bookman Old Style" panose="02050604050505020204" pitchFamily="18" charset="0"/>
                  </a:rPr>
                  <a:t>aux bornes de la résistance </a:t>
                </a:r>
                <a:r>
                  <a:rPr lang="fr-FR" sz="1300" b="1" i="0" dirty="0">
                    <a:solidFill>
                      <a:srgbClr val="000000"/>
                    </a:solidFill>
                    <a:effectLst/>
                    <a:latin typeface="Bookman Old Style" panose="02050604050505020204" pitchFamily="18" charset="0"/>
                  </a:rPr>
                  <a:t>R </a:t>
                </a:r>
                <a:r>
                  <a:rPr lang="fr-FR" sz="1300" b="0" i="0" dirty="0">
                    <a:solidFill>
                      <a:srgbClr val="000000"/>
                    </a:solidFill>
                    <a:effectLst/>
                    <a:latin typeface="Bookman Old Style" panose="02050604050505020204" pitchFamily="18" charset="0"/>
                  </a:rPr>
                  <a:t>en fonction de </a:t>
                </a:r>
                <a14:m>
                  <m:oMath xmlns:m="http://schemas.openxmlformats.org/officeDocument/2006/math">
                    <m:sSub>
                      <m:sSubPr>
                        <m:ctrlPr>
                          <a:rPr lang="fr-FR" sz="1300" b="1" i="1" dirty="0" smtClean="0">
                            <a:solidFill>
                              <a:srgbClr val="000000"/>
                            </a:solidFill>
                            <a:effectLst/>
                            <a:latin typeface="Cambria Math" panose="02040503050406030204" pitchFamily="18" charset="0"/>
                          </a:rPr>
                        </m:ctrlPr>
                      </m:sSubPr>
                      <m:e>
                        <m:r>
                          <a:rPr lang="fr-FR" sz="1300" b="1" i="1" dirty="0" smtClean="0">
                            <a:solidFill>
                              <a:srgbClr val="000000"/>
                            </a:solidFill>
                            <a:effectLst/>
                            <a:latin typeface="Cambria Math" panose="02040503050406030204" pitchFamily="18" charset="0"/>
                          </a:rPr>
                          <m:t>𝑬</m:t>
                        </m:r>
                      </m:e>
                      <m:sub>
                        <m:r>
                          <a:rPr lang="fr-FR" sz="1300" b="1" i="1" dirty="0" smtClean="0">
                            <a:solidFill>
                              <a:srgbClr val="000000"/>
                            </a:solidFill>
                            <a:effectLst/>
                            <a:latin typeface="Cambria Math" panose="02040503050406030204" pitchFamily="18" charset="0"/>
                          </a:rPr>
                          <m:t>𝟏</m:t>
                        </m:r>
                      </m:sub>
                    </m:sSub>
                  </m:oMath>
                </a14:m>
                <a:r>
                  <a:rPr lang="fr-FR" sz="1300" b="0" i="0" dirty="0">
                    <a:solidFill>
                      <a:srgbClr val="000000"/>
                    </a:solidFill>
                    <a:effectLst/>
                    <a:latin typeface="Bookman Old Style" panose="02050604050505020204" pitchFamily="18" charset="0"/>
                  </a:rPr>
                  <a:t>, </a:t>
                </a:r>
                <a14:m>
                  <m:oMath xmlns:m="http://schemas.openxmlformats.org/officeDocument/2006/math">
                    <m:sSub>
                      <m:sSubPr>
                        <m:ctrlPr>
                          <a:rPr lang="fr-FR" sz="1300" b="1" i="1" dirty="0" smtClean="0">
                            <a:solidFill>
                              <a:srgbClr val="000000"/>
                            </a:solidFill>
                            <a:effectLst/>
                            <a:latin typeface="Cambria Math" panose="02040503050406030204" pitchFamily="18" charset="0"/>
                          </a:rPr>
                        </m:ctrlPr>
                      </m:sSubPr>
                      <m:e>
                        <m:r>
                          <a:rPr lang="fr-FR" sz="1300" b="1" i="1" dirty="0" smtClean="0">
                            <a:solidFill>
                              <a:srgbClr val="000000"/>
                            </a:solidFill>
                            <a:effectLst/>
                            <a:latin typeface="Cambria Math" panose="02040503050406030204" pitchFamily="18" charset="0"/>
                          </a:rPr>
                          <m:t>𝑹</m:t>
                        </m:r>
                      </m:e>
                      <m:sub>
                        <m:r>
                          <a:rPr lang="fr-FR" sz="1300" b="1" i="1" dirty="0" smtClean="0">
                            <a:solidFill>
                              <a:srgbClr val="000000"/>
                            </a:solidFill>
                            <a:effectLst/>
                            <a:latin typeface="Cambria Math" panose="02040503050406030204" pitchFamily="18" charset="0"/>
                          </a:rPr>
                          <m:t>𝟏</m:t>
                        </m:r>
                      </m:sub>
                    </m:sSub>
                  </m:oMath>
                </a14:m>
                <a:r>
                  <a:rPr lang="fr-FR" sz="1300" b="0" i="0" dirty="0">
                    <a:solidFill>
                      <a:srgbClr val="000000"/>
                    </a:solidFill>
                    <a:effectLst/>
                    <a:latin typeface="Bookman Old Style" panose="02050604050505020204" pitchFamily="18" charset="0"/>
                  </a:rPr>
                  <a:t>, </a:t>
                </a:r>
                <a14:m>
                  <m:oMath xmlns:m="http://schemas.openxmlformats.org/officeDocument/2006/math">
                    <m:sSub>
                      <m:sSubPr>
                        <m:ctrlPr>
                          <a:rPr lang="fr-FR" sz="1300" b="1" i="1" dirty="0" smtClean="0">
                            <a:solidFill>
                              <a:srgbClr val="000000"/>
                            </a:solidFill>
                            <a:effectLst/>
                            <a:latin typeface="Cambria Math" panose="02040503050406030204" pitchFamily="18" charset="0"/>
                          </a:rPr>
                        </m:ctrlPr>
                      </m:sSubPr>
                      <m:e>
                        <m:r>
                          <a:rPr lang="fr-FR" sz="1300" b="1" i="1" dirty="0" smtClean="0">
                            <a:solidFill>
                              <a:srgbClr val="000000"/>
                            </a:solidFill>
                            <a:effectLst/>
                            <a:latin typeface="Cambria Math" panose="02040503050406030204" pitchFamily="18" charset="0"/>
                          </a:rPr>
                          <m:t>𝑹</m:t>
                        </m:r>
                      </m:e>
                      <m:sub>
                        <m:r>
                          <a:rPr lang="fr-FR" sz="1300" b="1" i="1" dirty="0" smtClean="0">
                            <a:solidFill>
                              <a:srgbClr val="000000"/>
                            </a:solidFill>
                            <a:effectLst/>
                            <a:latin typeface="Cambria Math" panose="02040503050406030204" pitchFamily="18" charset="0"/>
                          </a:rPr>
                          <m:t>𝟐</m:t>
                        </m:r>
                      </m:sub>
                    </m:sSub>
                  </m:oMath>
                </a14:m>
                <a:r>
                  <a:rPr lang="fr-FR" sz="1300" b="1" i="0" dirty="0">
                    <a:solidFill>
                      <a:srgbClr val="000000"/>
                    </a:solidFill>
                    <a:effectLst/>
                    <a:latin typeface="Bookman Old Style" panose="02050604050505020204" pitchFamily="18" charset="0"/>
                  </a:rPr>
                  <a:t> </a:t>
                </a:r>
                <a:r>
                  <a:rPr lang="fr-FR" sz="1300" b="0" i="0" dirty="0">
                    <a:solidFill>
                      <a:srgbClr val="000000"/>
                    </a:solidFill>
                    <a:effectLst/>
                    <a:latin typeface="Bookman Old Style" panose="02050604050505020204" pitchFamily="18" charset="0"/>
                  </a:rPr>
                  <a:t>et </a:t>
                </a:r>
                <a:r>
                  <a:rPr lang="fr-FR" sz="1300" b="1" i="0" dirty="0">
                    <a:solidFill>
                      <a:srgbClr val="000000"/>
                    </a:solidFill>
                    <a:effectLst/>
                    <a:latin typeface="Bookman Old Style" panose="02050604050505020204" pitchFamily="18" charset="0"/>
                  </a:rPr>
                  <a:t>R</a:t>
                </a:r>
                <a:r>
                  <a:rPr lang="fr-FR" sz="1300" dirty="0">
                    <a:latin typeface="Bookman Old Style" panose="02050604050505020204" pitchFamily="18" charset="0"/>
                  </a:rPr>
                  <a:t> </a:t>
                </a:r>
                <a:br>
                  <a:rPr lang="fr-FR" sz="1300" dirty="0">
                    <a:latin typeface="Bookman Old Style" panose="02050604050505020204" pitchFamily="18" charset="0"/>
                  </a:rPr>
                </a:br>
                <a:endParaRPr lang="fr-FR" sz="1300" dirty="0">
                  <a:latin typeface="Bookman Old Style" panose="02050604050505020204" pitchFamily="18" charset="0"/>
                </a:endParaRPr>
              </a:p>
            </p:txBody>
          </p:sp>
        </mc:Choice>
        <mc:Fallback xmlns="">
          <p:sp>
            <p:nvSpPr>
              <p:cNvPr id="25" name="TextBox 24">
                <a:extLst>
                  <a:ext uri="{FF2B5EF4-FFF2-40B4-BE49-F238E27FC236}">
                    <a16:creationId xmlns:a16="http://schemas.microsoft.com/office/drawing/2014/main" id="{EC50CB65-A941-6C9A-20E0-72B272B33737}"/>
                  </a:ext>
                </a:extLst>
              </p:cNvPr>
              <p:cNvSpPr txBox="1">
                <a:spLocks noRot="1" noChangeAspect="1" noMove="1" noResize="1" noEditPoints="1" noAdjustHandles="1" noChangeArrowheads="1" noChangeShapeType="1" noTextEdit="1"/>
              </p:cNvSpPr>
              <p:nvPr/>
            </p:nvSpPr>
            <p:spPr>
              <a:xfrm>
                <a:off x="441650" y="2231073"/>
                <a:ext cx="4816150" cy="892552"/>
              </a:xfrm>
              <a:prstGeom prst="rect">
                <a:avLst/>
              </a:prstGeom>
              <a:blipFill>
                <a:blip r:embed="rId4"/>
                <a:stretch>
                  <a:fillRect t="-685" r="-126"/>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AE939E9-F436-DBA3-FEB3-7B89186F99AC}"/>
                  </a:ext>
                </a:extLst>
              </p:cNvPr>
              <p:cNvSpPr txBox="1"/>
              <p:nvPr/>
            </p:nvSpPr>
            <p:spPr>
              <a:xfrm>
                <a:off x="452136" y="3220234"/>
                <a:ext cx="5169914" cy="892552"/>
              </a:xfrm>
              <a:prstGeom prst="rect">
                <a:avLst/>
              </a:prstGeom>
              <a:noFill/>
            </p:spPr>
            <p:txBody>
              <a:bodyPr wrap="square">
                <a:spAutoFit/>
              </a:bodyPr>
              <a:lstStyle>
                <a:defPPr>
                  <a:defRPr lang="fr-FR"/>
                </a:defPPr>
                <a:lvl1pPr marL="171450" indent="-171450" algn="just">
                  <a:buFont typeface="Wingdings" panose="05000000000000000000" pitchFamily="2" charset="2"/>
                  <a:buChar char="§"/>
                  <a:defRPr sz="1300" b="0" i="0">
                    <a:solidFill>
                      <a:srgbClr val="000000"/>
                    </a:solidFill>
                    <a:effectLst/>
                    <a:latin typeface="Bookman Old Style" panose="02050604050505020204" pitchFamily="18" charset="0"/>
                  </a:defRPr>
                </a:lvl1pPr>
              </a:lstStyle>
              <a:p>
                <a:r>
                  <a:rPr lang="fr-FR" dirty="0"/>
                  <a:t>En appliquant les lois de Kirchhoff, déterminer l'expression théorique des intensités des courants </a:t>
                </a:r>
                <a14:m>
                  <m:oMath xmlns:m="http://schemas.openxmlformats.org/officeDocument/2006/math">
                    <m:r>
                      <a:rPr lang="fr-FR" b="1" i="1" dirty="0" smtClean="0">
                        <a:latin typeface="Cambria Math" panose="02040503050406030204" pitchFamily="18" charset="0"/>
                      </a:rPr>
                      <m:t>𝑰</m:t>
                    </m:r>
                    <m:r>
                      <a:rPr lang="fr-FR" b="1" i="1" dirty="0" smtClean="0">
                        <a:latin typeface="Cambria Math" panose="02040503050406030204" pitchFamily="18" charset="0"/>
                      </a:rPr>
                      <m:t>′</m:t>
                    </m:r>
                    <m:r>
                      <a:rPr lang="fr-FR" i="1" dirty="0" smtClean="0">
                        <a:latin typeface="Cambria Math" panose="02040503050406030204" pitchFamily="18" charset="0"/>
                      </a:rPr>
                      <m:t>, </m:t>
                    </m:r>
                    <m:sSubSup>
                      <m:sSubSupPr>
                        <m:ctrlPr>
                          <a:rPr lang="fr-FR" b="1" i="1" dirty="0" smtClean="0">
                            <a:latin typeface="Cambria Math" panose="02040503050406030204" pitchFamily="18" charset="0"/>
                          </a:rPr>
                        </m:ctrlPr>
                      </m:sSubSupPr>
                      <m:e>
                        <m:r>
                          <a:rPr lang="fr-FR" b="1" i="1" dirty="0">
                            <a:latin typeface="Cambria Math" panose="02040503050406030204" pitchFamily="18" charset="0"/>
                          </a:rPr>
                          <m:t>𝑰</m:t>
                        </m:r>
                      </m:e>
                      <m:sub>
                        <m:r>
                          <a:rPr lang="fr-FR" b="1" i="1" dirty="0" smtClean="0">
                            <a:latin typeface="Cambria Math" panose="02040503050406030204" pitchFamily="18" charset="0"/>
                          </a:rPr>
                          <m:t>𝟏</m:t>
                        </m:r>
                      </m:sub>
                      <m:sup>
                        <m:r>
                          <a:rPr lang="fr-FR" b="1" i="1" dirty="0">
                            <a:latin typeface="Cambria Math" panose="02040503050406030204" pitchFamily="18" charset="0"/>
                          </a:rPr>
                          <m:t>′</m:t>
                        </m:r>
                      </m:sup>
                    </m:sSubSup>
                    <m:r>
                      <a:rPr lang="fr-FR" i="1" dirty="0">
                        <a:latin typeface="Cambria Math" panose="02040503050406030204" pitchFamily="18" charset="0"/>
                      </a:rPr>
                      <m:t> </m:t>
                    </m:r>
                  </m:oMath>
                </a14:m>
                <a:r>
                  <a:rPr lang="fr-FR" dirty="0"/>
                  <a:t>et </a:t>
                </a:r>
                <a14:m>
                  <m:oMath xmlns:m="http://schemas.openxmlformats.org/officeDocument/2006/math">
                    <m:sSubSup>
                      <m:sSubSupPr>
                        <m:ctrlPr>
                          <a:rPr lang="fr-FR" b="1" i="1" dirty="0" smtClean="0">
                            <a:latin typeface="Cambria Math" panose="02040503050406030204" pitchFamily="18" charset="0"/>
                          </a:rPr>
                        </m:ctrlPr>
                      </m:sSubSupPr>
                      <m:e>
                        <m:r>
                          <a:rPr lang="fr-FR" b="1" i="1" dirty="0" smtClean="0">
                            <a:latin typeface="Cambria Math" panose="02040503050406030204" pitchFamily="18" charset="0"/>
                          </a:rPr>
                          <m:t>𝑰</m:t>
                        </m:r>
                      </m:e>
                      <m:sub>
                        <m:r>
                          <a:rPr lang="fr-FR" b="1" i="1" dirty="0" smtClean="0">
                            <a:latin typeface="Cambria Math" panose="02040503050406030204" pitchFamily="18" charset="0"/>
                          </a:rPr>
                          <m:t>𝟐</m:t>
                        </m:r>
                      </m:sub>
                      <m:sup>
                        <m:r>
                          <a:rPr lang="fr-FR" b="1" i="1" dirty="0" smtClean="0">
                            <a:latin typeface="Cambria Math" panose="02040503050406030204" pitchFamily="18" charset="0"/>
                          </a:rPr>
                          <m:t>′</m:t>
                        </m:r>
                      </m:sup>
                    </m:sSubSup>
                  </m:oMath>
                </a14:m>
                <a:r>
                  <a:rPr lang="fr-FR" dirty="0"/>
                  <a:t> dans toutes les branches en fonction de </a:t>
                </a:r>
                <a:r>
                  <a:rPr lang="fr-FR" b="1" dirty="0"/>
                  <a:t>E1, R1, R2</a:t>
                </a:r>
                <a:r>
                  <a:rPr lang="fr-FR" dirty="0"/>
                  <a:t>, et </a:t>
                </a:r>
                <a:r>
                  <a:rPr lang="fr-FR" b="1" dirty="0"/>
                  <a:t>R</a:t>
                </a:r>
                <a:br>
                  <a:rPr lang="fr-FR" dirty="0"/>
                </a:br>
                <a:endParaRPr lang="fr-FR" dirty="0"/>
              </a:p>
            </p:txBody>
          </p:sp>
        </mc:Choice>
        <mc:Fallback xmlns="">
          <p:sp>
            <p:nvSpPr>
              <p:cNvPr id="27" name="TextBox 26">
                <a:extLst>
                  <a:ext uri="{FF2B5EF4-FFF2-40B4-BE49-F238E27FC236}">
                    <a16:creationId xmlns:a16="http://schemas.microsoft.com/office/drawing/2014/main" id="{8AE939E9-F436-DBA3-FEB3-7B89186F99AC}"/>
                  </a:ext>
                </a:extLst>
              </p:cNvPr>
              <p:cNvSpPr txBox="1">
                <a:spLocks noRot="1" noChangeAspect="1" noMove="1" noResize="1" noEditPoints="1" noAdjustHandles="1" noChangeArrowheads="1" noChangeShapeType="1" noTextEdit="1"/>
              </p:cNvSpPr>
              <p:nvPr/>
            </p:nvSpPr>
            <p:spPr>
              <a:xfrm>
                <a:off x="452136" y="3220234"/>
                <a:ext cx="5169914" cy="892552"/>
              </a:xfrm>
              <a:prstGeom prst="rect">
                <a:avLst/>
              </a:prstGeom>
              <a:blipFill>
                <a:blip r:embed="rId5"/>
                <a:stretch>
                  <a:fillRect t="-680" r="-236"/>
                </a:stretch>
              </a:blipFill>
            </p:spPr>
            <p:txBody>
              <a:bodyPr/>
              <a:lstStyle/>
              <a:p>
                <a:r>
                  <a:rPr lang="fr-FR">
                    <a:noFill/>
                  </a:rPr>
                  <a:t> </a:t>
                </a:r>
              </a:p>
            </p:txBody>
          </p:sp>
        </mc:Fallback>
      </mc:AlternateContent>
    </p:spTree>
    <p:extLst>
      <p:ext uri="{BB962C8B-B14F-4D97-AF65-F5344CB8AC3E}">
        <p14:creationId xmlns:p14="http://schemas.microsoft.com/office/powerpoint/2010/main" val="38044217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F978FB03-1C69-853E-407A-B67D77E85A75}"/>
              </a:ext>
            </a:extLst>
          </p:cNvPr>
          <p:cNvPicPr>
            <a:picLocks noChangeAspect="1"/>
          </p:cNvPicPr>
          <p:nvPr/>
        </p:nvPicPr>
        <p:blipFill>
          <a:blip r:embed="rId3"/>
          <a:stretch>
            <a:fillRect/>
          </a:stretch>
        </p:blipFill>
        <p:spPr>
          <a:xfrm>
            <a:off x="5503178" y="1962150"/>
            <a:ext cx="3436128" cy="1843510"/>
          </a:xfrm>
          <a:prstGeom prst="rect">
            <a:avLst/>
          </a:prstGeom>
        </p:spPr>
      </p:pic>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54</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3.5 </a:t>
            </a:r>
            <a:r>
              <a:rPr lang="fr-FR" altLang="fr-FR" sz="1400" b="1" spc="-5" dirty="0">
                <a:solidFill>
                  <a:srgbClr val="CC00CC"/>
                </a:solidFill>
                <a:latin typeface="Bookman Old Style" panose="02050604050505020204" pitchFamily="18" charset="0"/>
                <a:cs typeface="Arial"/>
              </a:rPr>
              <a:t>Théorème de Superposition</a:t>
            </a:r>
          </a:p>
        </p:txBody>
      </p:sp>
      <p:sp>
        <p:nvSpPr>
          <p:cNvPr id="13" name="TextBox 12">
            <a:extLst>
              <a:ext uri="{FF2B5EF4-FFF2-40B4-BE49-F238E27FC236}">
                <a16:creationId xmlns:a16="http://schemas.microsoft.com/office/drawing/2014/main" id="{3105C527-EDDA-8997-29B8-7F5CF64224C9}"/>
              </a:ext>
            </a:extLst>
          </p:cNvPr>
          <p:cNvSpPr txBox="1"/>
          <p:nvPr/>
        </p:nvSpPr>
        <p:spPr>
          <a:xfrm>
            <a:off x="550646" y="1385045"/>
            <a:ext cx="1354354" cy="276999"/>
          </a:xfrm>
          <a:prstGeom prst="rect">
            <a:avLst/>
          </a:prstGeom>
          <a:noFill/>
        </p:spPr>
        <p:txBody>
          <a:bodyPr wrap="square">
            <a:spAutoFit/>
          </a:bodyPr>
          <a:lstStyle/>
          <a:p>
            <a:pPr marL="12700">
              <a:lnSpc>
                <a:spcPct val="100000"/>
              </a:lnSpc>
              <a:spcBef>
                <a:spcPts val="100"/>
              </a:spcBef>
            </a:pPr>
            <a:r>
              <a:rPr lang="fr-FR" sz="1200" b="1" u="sng" spc="-10" dirty="0">
                <a:uFill>
                  <a:solidFill>
                    <a:srgbClr val="000000"/>
                  </a:solidFill>
                </a:uFill>
                <a:latin typeface="Bookman Old Style" panose="02050604050505020204" pitchFamily="18" charset="0"/>
                <a:cs typeface="Times New Roman"/>
              </a:rPr>
              <a:t>Exemple:</a:t>
            </a:r>
            <a:endParaRPr lang="fr-FR" sz="1200" dirty="0">
              <a:latin typeface="Bookman Old Style" panose="02050604050505020204" pitchFamily="18" charset="0"/>
              <a:cs typeface="Times New Roman"/>
            </a:endParaRPr>
          </a:p>
        </p:txBody>
      </p:sp>
      <p:sp>
        <p:nvSpPr>
          <p:cNvPr id="12" name="TextBox 11">
            <a:extLst>
              <a:ext uri="{FF2B5EF4-FFF2-40B4-BE49-F238E27FC236}">
                <a16:creationId xmlns:a16="http://schemas.microsoft.com/office/drawing/2014/main" id="{95EC77CD-9FDD-BD80-FB95-742FEBA7FA48}"/>
              </a:ext>
            </a:extLst>
          </p:cNvPr>
          <p:cNvSpPr txBox="1"/>
          <p:nvPr/>
        </p:nvSpPr>
        <p:spPr>
          <a:xfrm>
            <a:off x="1417109" y="1783533"/>
            <a:ext cx="4588778" cy="276999"/>
          </a:xfrm>
          <a:prstGeom prst="rect">
            <a:avLst/>
          </a:prstGeom>
          <a:noFill/>
        </p:spPr>
        <p:txBody>
          <a:bodyPr wrap="square">
            <a:spAutoFit/>
          </a:bodyPr>
          <a:lstStyle/>
          <a:p>
            <a:r>
              <a:rPr lang="fr-FR" sz="1200" b="1" u="sng" dirty="0">
                <a:solidFill>
                  <a:srgbClr val="0000FF"/>
                </a:solidFill>
                <a:latin typeface="Bookman Old Style" panose="02050604050505020204" pitchFamily="18" charset="0"/>
              </a:rPr>
              <a:t>2ème cas : </a:t>
            </a:r>
            <a:r>
              <a:rPr lang="fr-FR" sz="1200" b="1" dirty="0">
                <a:solidFill>
                  <a:srgbClr val="0000FF"/>
                </a:solidFill>
                <a:latin typeface="Bookman Old Style" panose="02050604050505020204" pitchFamily="18" charset="0"/>
              </a:rPr>
              <a:t>E2 seule, E1 neutralisée :</a:t>
            </a:r>
          </a:p>
        </p:txBody>
      </p:sp>
      <p:sp>
        <p:nvSpPr>
          <p:cNvPr id="22" name="TextBox 21">
            <a:extLst>
              <a:ext uri="{FF2B5EF4-FFF2-40B4-BE49-F238E27FC236}">
                <a16:creationId xmlns:a16="http://schemas.microsoft.com/office/drawing/2014/main" id="{747CB340-0D45-B55A-6098-D0F58805DD2A}"/>
              </a:ext>
            </a:extLst>
          </p:cNvPr>
          <p:cNvSpPr txBox="1"/>
          <p:nvPr/>
        </p:nvSpPr>
        <p:spPr>
          <a:xfrm>
            <a:off x="5434574" y="2500770"/>
            <a:ext cx="677411" cy="292388"/>
          </a:xfrm>
          <a:prstGeom prst="rect">
            <a:avLst/>
          </a:prstGeom>
          <a:noFill/>
        </p:spPr>
        <p:txBody>
          <a:bodyPr wrap="square">
            <a:spAutoFit/>
          </a:bodyPr>
          <a:lstStyle/>
          <a:p>
            <a:r>
              <a:rPr lang="fr-FR" sz="1300" b="1" dirty="0">
                <a:latin typeface="Bookman Old Style" panose="02050604050505020204" pitchFamily="18" charset="0"/>
              </a:rPr>
              <a:t>R1</a:t>
            </a:r>
            <a:endParaRPr lang="fr-FR" sz="1300" b="1" dirty="0"/>
          </a:p>
        </p:txBody>
      </p:sp>
      <p:sp>
        <p:nvSpPr>
          <p:cNvPr id="23" name="TextBox 22">
            <a:extLst>
              <a:ext uri="{FF2B5EF4-FFF2-40B4-BE49-F238E27FC236}">
                <a16:creationId xmlns:a16="http://schemas.microsoft.com/office/drawing/2014/main" id="{5C21305A-2B03-7DCF-C18E-9FAA842626BE}"/>
              </a:ext>
            </a:extLst>
          </p:cNvPr>
          <p:cNvSpPr txBox="1"/>
          <p:nvPr/>
        </p:nvSpPr>
        <p:spPr>
          <a:xfrm>
            <a:off x="8770128" y="2500770"/>
            <a:ext cx="677411" cy="292388"/>
          </a:xfrm>
          <a:prstGeom prst="rect">
            <a:avLst/>
          </a:prstGeom>
          <a:noFill/>
        </p:spPr>
        <p:txBody>
          <a:bodyPr wrap="square">
            <a:spAutoFit/>
          </a:bodyPr>
          <a:lstStyle/>
          <a:p>
            <a:r>
              <a:rPr lang="fr-FR" sz="1300" b="1" dirty="0">
                <a:latin typeface="Bookman Old Style" panose="02050604050505020204" pitchFamily="18" charset="0"/>
              </a:rPr>
              <a:t>R2</a:t>
            </a:r>
            <a:endParaRPr lang="fr-FR" sz="1300" b="1" dirty="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F6AA57E-7474-36F7-9C20-A0E00F38D4C7}"/>
                  </a:ext>
                </a:extLst>
              </p:cNvPr>
              <p:cNvSpPr txBox="1"/>
              <p:nvPr/>
            </p:nvSpPr>
            <p:spPr>
              <a:xfrm>
                <a:off x="441650" y="2231073"/>
                <a:ext cx="4583309" cy="892552"/>
              </a:xfrm>
              <a:prstGeom prst="rect">
                <a:avLst/>
              </a:prstGeom>
              <a:noFill/>
            </p:spPr>
            <p:txBody>
              <a:bodyPr wrap="square">
                <a:spAutoFit/>
              </a:bodyPr>
              <a:lstStyle/>
              <a:p>
                <a:pPr marL="171450" indent="-171450" algn="just">
                  <a:buFont typeface="Wingdings" panose="05000000000000000000" pitchFamily="2" charset="2"/>
                  <a:buChar char="§"/>
                </a:pPr>
                <a:r>
                  <a:rPr lang="fr-FR" sz="1300" b="0" i="0" dirty="0">
                    <a:solidFill>
                      <a:srgbClr val="000000"/>
                    </a:solidFill>
                    <a:effectLst/>
                    <a:latin typeface="Bookman Old Style" panose="02050604050505020204" pitchFamily="18" charset="0"/>
                  </a:rPr>
                  <a:t>En appliquant les </a:t>
                </a:r>
                <a:r>
                  <a:rPr lang="fr-FR" sz="1300" b="1" i="0" dirty="0">
                    <a:solidFill>
                      <a:srgbClr val="000000"/>
                    </a:solidFill>
                    <a:effectLst/>
                    <a:latin typeface="Bookman Old Style" panose="02050604050505020204" pitchFamily="18" charset="0"/>
                  </a:rPr>
                  <a:t>lois de Kirchhoff</a:t>
                </a:r>
                <a:r>
                  <a:rPr lang="fr-FR" sz="1300" b="0" i="0" dirty="0">
                    <a:solidFill>
                      <a:srgbClr val="000000"/>
                    </a:solidFill>
                    <a:effectLst/>
                    <a:latin typeface="Bookman Old Style" panose="02050604050505020204" pitchFamily="18" charset="0"/>
                  </a:rPr>
                  <a:t>, déterminer l'expression théorique de la tension </a:t>
                </a:r>
                <a14:m>
                  <m:oMath xmlns:m="http://schemas.openxmlformats.org/officeDocument/2006/math">
                    <m:sSubSup>
                      <m:sSubSupPr>
                        <m:ctrlPr>
                          <a:rPr lang="fr-FR" sz="1300" b="1" i="1" dirty="0" smtClean="0">
                            <a:solidFill>
                              <a:srgbClr val="000000"/>
                            </a:solidFill>
                            <a:effectLst/>
                            <a:latin typeface="Cambria Math" panose="02040503050406030204" pitchFamily="18" charset="0"/>
                          </a:rPr>
                        </m:ctrlPr>
                      </m:sSubSupPr>
                      <m:e>
                        <m:r>
                          <a:rPr lang="fr-FR" sz="1300" b="1" i="1" dirty="0" smtClean="0">
                            <a:solidFill>
                              <a:srgbClr val="000000"/>
                            </a:solidFill>
                            <a:effectLst/>
                            <a:latin typeface="Cambria Math" panose="02040503050406030204" pitchFamily="18" charset="0"/>
                          </a:rPr>
                          <m:t>𝑼</m:t>
                        </m:r>
                      </m:e>
                      <m:sub>
                        <m:r>
                          <a:rPr lang="fr-FR" sz="1300" b="1" i="1" dirty="0">
                            <a:solidFill>
                              <a:srgbClr val="000000"/>
                            </a:solidFill>
                            <a:latin typeface="Cambria Math" panose="02040503050406030204" pitchFamily="18" charset="0"/>
                          </a:rPr>
                          <m:t>𝑨𝑩</m:t>
                        </m:r>
                      </m:sub>
                      <m:sup>
                        <m:r>
                          <a:rPr lang="fr-FR" sz="1300" b="1" i="1" dirty="0" smtClean="0">
                            <a:solidFill>
                              <a:srgbClr val="000000"/>
                            </a:solidFill>
                            <a:effectLst/>
                            <a:latin typeface="Cambria Math" panose="02040503050406030204" pitchFamily="18" charset="0"/>
                          </a:rPr>
                          <m:t>′′</m:t>
                        </m:r>
                      </m:sup>
                    </m:sSubSup>
                  </m:oMath>
                </a14:m>
                <a:r>
                  <a:rPr lang="fr-FR" sz="1300" b="1" i="0" dirty="0">
                    <a:solidFill>
                      <a:srgbClr val="000000"/>
                    </a:solidFill>
                    <a:effectLst/>
                    <a:latin typeface="Bookman Old Style" panose="02050604050505020204" pitchFamily="18" charset="0"/>
                  </a:rPr>
                  <a:t> </a:t>
                </a:r>
                <a:r>
                  <a:rPr lang="fr-FR" sz="1300" b="0" i="0" dirty="0">
                    <a:solidFill>
                      <a:srgbClr val="000000"/>
                    </a:solidFill>
                    <a:effectLst/>
                    <a:latin typeface="Bookman Old Style" panose="02050604050505020204" pitchFamily="18" charset="0"/>
                  </a:rPr>
                  <a:t>aux bornes de la résistance </a:t>
                </a:r>
                <a:r>
                  <a:rPr lang="fr-FR" sz="1300" b="1" i="0" dirty="0">
                    <a:solidFill>
                      <a:srgbClr val="000000"/>
                    </a:solidFill>
                    <a:effectLst/>
                    <a:latin typeface="Bookman Old Style" panose="02050604050505020204" pitchFamily="18" charset="0"/>
                  </a:rPr>
                  <a:t>R </a:t>
                </a:r>
                <a:r>
                  <a:rPr lang="fr-FR" sz="1300" b="0" i="0" dirty="0">
                    <a:solidFill>
                      <a:srgbClr val="000000"/>
                    </a:solidFill>
                    <a:effectLst/>
                    <a:latin typeface="Bookman Old Style" panose="02050604050505020204" pitchFamily="18" charset="0"/>
                  </a:rPr>
                  <a:t>en fonction de </a:t>
                </a:r>
                <a14:m>
                  <m:oMath xmlns:m="http://schemas.openxmlformats.org/officeDocument/2006/math">
                    <m:sSub>
                      <m:sSubPr>
                        <m:ctrlPr>
                          <a:rPr lang="fr-FR" sz="1300" b="1" i="1" dirty="0" smtClean="0">
                            <a:solidFill>
                              <a:srgbClr val="000000"/>
                            </a:solidFill>
                            <a:effectLst/>
                            <a:latin typeface="Cambria Math" panose="02040503050406030204" pitchFamily="18" charset="0"/>
                          </a:rPr>
                        </m:ctrlPr>
                      </m:sSubPr>
                      <m:e>
                        <m:r>
                          <a:rPr lang="fr-FR" sz="1300" b="1" i="1" dirty="0" smtClean="0">
                            <a:solidFill>
                              <a:srgbClr val="000000"/>
                            </a:solidFill>
                            <a:effectLst/>
                            <a:latin typeface="Cambria Math" panose="02040503050406030204" pitchFamily="18" charset="0"/>
                          </a:rPr>
                          <m:t>𝑬</m:t>
                        </m:r>
                      </m:e>
                      <m:sub>
                        <m:r>
                          <a:rPr lang="fr-FR" sz="1300" b="1" i="1" dirty="0" smtClean="0">
                            <a:solidFill>
                              <a:srgbClr val="000000"/>
                            </a:solidFill>
                            <a:effectLst/>
                            <a:latin typeface="Cambria Math" panose="02040503050406030204" pitchFamily="18" charset="0"/>
                          </a:rPr>
                          <m:t>𝟐</m:t>
                        </m:r>
                      </m:sub>
                    </m:sSub>
                  </m:oMath>
                </a14:m>
                <a:r>
                  <a:rPr lang="fr-FR" sz="1300" b="0" i="0" dirty="0">
                    <a:solidFill>
                      <a:srgbClr val="000000"/>
                    </a:solidFill>
                    <a:effectLst/>
                    <a:latin typeface="Bookman Old Style" panose="02050604050505020204" pitchFamily="18" charset="0"/>
                  </a:rPr>
                  <a:t>, </a:t>
                </a:r>
                <a14:m>
                  <m:oMath xmlns:m="http://schemas.openxmlformats.org/officeDocument/2006/math">
                    <m:sSub>
                      <m:sSubPr>
                        <m:ctrlPr>
                          <a:rPr lang="fr-FR" sz="1300" b="1" i="1" dirty="0" smtClean="0">
                            <a:solidFill>
                              <a:srgbClr val="000000"/>
                            </a:solidFill>
                            <a:effectLst/>
                            <a:latin typeface="Cambria Math" panose="02040503050406030204" pitchFamily="18" charset="0"/>
                          </a:rPr>
                        </m:ctrlPr>
                      </m:sSubPr>
                      <m:e>
                        <m:r>
                          <a:rPr lang="fr-FR" sz="1300" b="1" i="1" dirty="0" smtClean="0">
                            <a:solidFill>
                              <a:srgbClr val="000000"/>
                            </a:solidFill>
                            <a:effectLst/>
                            <a:latin typeface="Cambria Math" panose="02040503050406030204" pitchFamily="18" charset="0"/>
                          </a:rPr>
                          <m:t>𝑹</m:t>
                        </m:r>
                      </m:e>
                      <m:sub>
                        <m:r>
                          <a:rPr lang="fr-FR" sz="1300" b="1" i="1" dirty="0" smtClean="0">
                            <a:solidFill>
                              <a:srgbClr val="000000"/>
                            </a:solidFill>
                            <a:effectLst/>
                            <a:latin typeface="Cambria Math" panose="02040503050406030204" pitchFamily="18" charset="0"/>
                          </a:rPr>
                          <m:t>𝟏</m:t>
                        </m:r>
                      </m:sub>
                    </m:sSub>
                  </m:oMath>
                </a14:m>
                <a:r>
                  <a:rPr lang="fr-FR" sz="1300" b="0" i="0" dirty="0">
                    <a:solidFill>
                      <a:srgbClr val="000000"/>
                    </a:solidFill>
                    <a:effectLst/>
                    <a:latin typeface="Bookman Old Style" panose="02050604050505020204" pitchFamily="18" charset="0"/>
                  </a:rPr>
                  <a:t>, </a:t>
                </a:r>
                <a14:m>
                  <m:oMath xmlns:m="http://schemas.openxmlformats.org/officeDocument/2006/math">
                    <m:sSub>
                      <m:sSubPr>
                        <m:ctrlPr>
                          <a:rPr lang="fr-FR" sz="1300" b="1" i="1" dirty="0" smtClean="0">
                            <a:solidFill>
                              <a:srgbClr val="000000"/>
                            </a:solidFill>
                            <a:effectLst/>
                            <a:latin typeface="Cambria Math" panose="02040503050406030204" pitchFamily="18" charset="0"/>
                          </a:rPr>
                        </m:ctrlPr>
                      </m:sSubPr>
                      <m:e>
                        <m:r>
                          <a:rPr lang="fr-FR" sz="1300" b="1" i="1" dirty="0" smtClean="0">
                            <a:solidFill>
                              <a:srgbClr val="000000"/>
                            </a:solidFill>
                            <a:effectLst/>
                            <a:latin typeface="Cambria Math" panose="02040503050406030204" pitchFamily="18" charset="0"/>
                          </a:rPr>
                          <m:t>𝑹</m:t>
                        </m:r>
                      </m:e>
                      <m:sub>
                        <m:r>
                          <a:rPr lang="fr-FR" sz="1300" b="1" i="1" dirty="0" smtClean="0">
                            <a:solidFill>
                              <a:srgbClr val="000000"/>
                            </a:solidFill>
                            <a:effectLst/>
                            <a:latin typeface="Cambria Math" panose="02040503050406030204" pitchFamily="18" charset="0"/>
                          </a:rPr>
                          <m:t>𝟐</m:t>
                        </m:r>
                      </m:sub>
                    </m:sSub>
                  </m:oMath>
                </a14:m>
                <a:r>
                  <a:rPr lang="fr-FR" sz="1300" b="1" i="0" dirty="0">
                    <a:solidFill>
                      <a:srgbClr val="000000"/>
                    </a:solidFill>
                    <a:effectLst/>
                    <a:latin typeface="Bookman Old Style" panose="02050604050505020204" pitchFamily="18" charset="0"/>
                  </a:rPr>
                  <a:t> </a:t>
                </a:r>
                <a:r>
                  <a:rPr lang="fr-FR" sz="1300" b="0" i="0" dirty="0">
                    <a:solidFill>
                      <a:srgbClr val="000000"/>
                    </a:solidFill>
                    <a:effectLst/>
                    <a:latin typeface="Bookman Old Style" panose="02050604050505020204" pitchFamily="18" charset="0"/>
                  </a:rPr>
                  <a:t>et </a:t>
                </a:r>
                <a:r>
                  <a:rPr lang="fr-FR" sz="1300" b="1" i="0" dirty="0">
                    <a:solidFill>
                      <a:srgbClr val="000000"/>
                    </a:solidFill>
                    <a:effectLst/>
                    <a:latin typeface="Bookman Old Style" panose="02050604050505020204" pitchFamily="18" charset="0"/>
                  </a:rPr>
                  <a:t>R</a:t>
                </a:r>
                <a:r>
                  <a:rPr lang="fr-FR" sz="1300" dirty="0">
                    <a:latin typeface="Bookman Old Style" panose="02050604050505020204" pitchFamily="18" charset="0"/>
                  </a:rPr>
                  <a:t> </a:t>
                </a:r>
                <a:br>
                  <a:rPr lang="fr-FR" sz="1300" dirty="0">
                    <a:latin typeface="Bookman Old Style" panose="02050604050505020204" pitchFamily="18" charset="0"/>
                  </a:rPr>
                </a:br>
                <a:endParaRPr lang="fr-FR" sz="1300" dirty="0">
                  <a:latin typeface="Bookman Old Style" panose="02050604050505020204" pitchFamily="18" charset="0"/>
                </a:endParaRPr>
              </a:p>
            </p:txBody>
          </p:sp>
        </mc:Choice>
        <mc:Fallback xmlns="">
          <p:sp>
            <p:nvSpPr>
              <p:cNvPr id="21" name="TextBox 20">
                <a:extLst>
                  <a:ext uri="{FF2B5EF4-FFF2-40B4-BE49-F238E27FC236}">
                    <a16:creationId xmlns:a16="http://schemas.microsoft.com/office/drawing/2014/main" id="{7F6AA57E-7474-36F7-9C20-A0E00F38D4C7}"/>
                  </a:ext>
                </a:extLst>
              </p:cNvPr>
              <p:cNvSpPr txBox="1">
                <a:spLocks noRot="1" noChangeAspect="1" noMove="1" noResize="1" noEditPoints="1" noAdjustHandles="1" noChangeArrowheads="1" noChangeShapeType="1" noTextEdit="1"/>
              </p:cNvSpPr>
              <p:nvPr/>
            </p:nvSpPr>
            <p:spPr>
              <a:xfrm>
                <a:off x="441650" y="2231073"/>
                <a:ext cx="4583309" cy="892552"/>
              </a:xfrm>
              <a:prstGeom prst="rect">
                <a:avLst/>
              </a:prstGeom>
              <a:blipFill>
                <a:blip r:embed="rId4"/>
                <a:stretch>
                  <a:fillRect t="-685" r="-266"/>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0304E9B-3C91-148F-DF05-75E0A2E95CA3}"/>
                  </a:ext>
                </a:extLst>
              </p:cNvPr>
              <p:cNvSpPr txBox="1"/>
              <p:nvPr/>
            </p:nvSpPr>
            <p:spPr>
              <a:xfrm>
                <a:off x="452136" y="3220234"/>
                <a:ext cx="5186664" cy="892552"/>
              </a:xfrm>
              <a:prstGeom prst="rect">
                <a:avLst/>
              </a:prstGeom>
              <a:noFill/>
            </p:spPr>
            <p:txBody>
              <a:bodyPr wrap="square">
                <a:spAutoFit/>
              </a:bodyPr>
              <a:lstStyle>
                <a:defPPr>
                  <a:defRPr lang="fr-FR"/>
                </a:defPPr>
                <a:lvl1pPr marL="171450" indent="-171450" algn="just">
                  <a:buFont typeface="Wingdings" panose="05000000000000000000" pitchFamily="2" charset="2"/>
                  <a:buChar char="§"/>
                  <a:defRPr sz="1300" b="0" i="0">
                    <a:solidFill>
                      <a:srgbClr val="000000"/>
                    </a:solidFill>
                    <a:effectLst/>
                    <a:latin typeface="Bookman Old Style" panose="02050604050505020204" pitchFamily="18" charset="0"/>
                  </a:defRPr>
                </a:lvl1pPr>
              </a:lstStyle>
              <a:p>
                <a:r>
                  <a:rPr lang="fr-FR" dirty="0"/>
                  <a:t>En appliquant les lois de Kirchhoff, déterminer l'expression théorique des intensités des courants </a:t>
                </a:r>
                <a14:m>
                  <m:oMath xmlns:m="http://schemas.openxmlformats.org/officeDocument/2006/math">
                    <m:r>
                      <a:rPr lang="fr-FR" b="1" i="1" dirty="0" smtClean="0">
                        <a:latin typeface="Cambria Math" panose="02040503050406030204" pitchFamily="18" charset="0"/>
                      </a:rPr>
                      <m:t>𝑰</m:t>
                    </m:r>
                    <m:r>
                      <a:rPr lang="fr-FR" b="1" i="1" dirty="0" smtClean="0">
                        <a:latin typeface="Cambria Math" panose="02040503050406030204" pitchFamily="18" charset="0"/>
                      </a:rPr>
                      <m:t>′′</m:t>
                    </m:r>
                    <m:r>
                      <a:rPr lang="fr-FR" i="1" dirty="0" smtClean="0">
                        <a:latin typeface="Cambria Math" panose="02040503050406030204" pitchFamily="18" charset="0"/>
                      </a:rPr>
                      <m:t>, </m:t>
                    </m:r>
                    <m:sSubSup>
                      <m:sSubSupPr>
                        <m:ctrlPr>
                          <a:rPr lang="fr-FR" b="1" i="1" dirty="0" smtClean="0">
                            <a:latin typeface="Cambria Math" panose="02040503050406030204" pitchFamily="18" charset="0"/>
                          </a:rPr>
                        </m:ctrlPr>
                      </m:sSubSupPr>
                      <m:e>
                        <m:r>
                          <a:rPr lang="fr-FR" b="1" i="1" dirty="0">
                            <a:latin typeface="Cambria Math" panose="02040503050406030204" pitchFamily="18" charset="0"/>
                          </a:rPr>
                          <m:t>𝑰</m:t>
                        </m:r>
                      </m:e>
                      <m:sub>
                        <m:r>
                          <a:rPr lang="fr-FR" b="1" i="1" dirty="0" smtClean="0">
                            <a:latin typeface="Cambria Math" panose="02040503050406030204" pitchFamily="18" charset="0"/>
                          </a:rPr>
                          <m:t>𝟏</m:t>
                        </m:r>
                      </m:sub>
                      <m:sup>
                        <m:r>
                          <a:rPr lang="fr-FR" b="1" i="1" dirty="0" smtClean="0">
                            <a:latin typeface="Cambria Math" panose="02040503050406030204" pitchFamily="18" charset="0"/>
                          </a:rPr>
                          <m:t>′</m:t>
                        </m:r>
                        <m:r>
                          <a:rPr lang="fr-FR" b="1" i="1" dirty="0">
                            <a:latin typeface="Cambria Math" panose="02040503050406030204" pitchFamily="18" charset="0"/>
                          </a:rPr>
                          <m:t>′</m:t>
                        </m:r>
                      </m:sup>
                    </m:sSubSup>
                    <m:r>
                      <a:rPr lang="fr-FR" i="1" dirty="0">
                        <a:latin typeface="Cambria Math" panose="02040503050406030204" pitchFamily="18" charset="0"/>
                      </a:rPr>
                      <m:t> </m:t>
                    </m:r>
                  </m:oMath>
                </a14:m>
                <a:r>
                  <a:rPr lang="fr-FR" dirty="0"/>
                  <a:t>et </a:t>
                </a:r>
                <a14:m>
                  <m:oMath xmlns:m="http://schemas.openxmlformats.org/officeDocument/2006/math">
                    <m:sSubSup>
                      <m:sSubSupPr>
                        <m:ctrlPr>
                          <a:rPr lang="fr-FR" b="1" i="1" dirty="0" smtClean="0">
                            <a:latin typeface="Cambria Math" panose="02040503050406030204" pitchFamily="18" charset="0"/>
                          </a:rPr>
                        </m:ctrlPr>
                      </m:sSubSupPr>
                      <m:e>
                        <m:r>
                          <a:rPr lang="fr-FR" b="1" i="1" dirty="0" smtClean="0">
                            <a:latin typeface="Cambria Math" panose="02040503050406030204" pitchFamily="18" charset="0"/>
                          </a:rPr>
                          <m:t>𝑰</m:t>
                        </m:r>
                      </m:e>
                      <m:sub>
                        <m:r>
                          <a:rPr lang="fr-FR" b="1" i="1" dirty="0" smtClean="0">
                            <a:latin typeface="Cambria Math" panose="02040503050406030204" pitchFamily="18" charset="0"/>
                          </a:rPr>
                          <m:t>𝟐</m:t>
                        </m:r>
                      </m:sub>
                      <m:sup>
                        <m:r>
                          <a:rPr lang="fr-FR" b="1" i="1" dirty="0" smtClean="0">
                            <a:latin typeface="Cambria Math" panose="02040503050406030204" pitchFamily="18" charset="0"/>
                          </a:rPr>
                          <m:t>′′</m:t>
                        </m:r>
                      </m:sup>
                    </m:sSubSup>
                  </m:oMath>
                </a14:m>
                <a:r>
                  <a:rPr lang="fr-FR" dirty="0"/>
                  <a:t> dans toutes les branches en fonction de </a:t>
                </a:r>
                <a:r>
                  <a:rPr lang="fr-FR" b="1" dirty="0"/>
                  <a:t>E1, R1, R2</a:t>
                </a:r>
                <a:r>
                  <a:rPr lang="fr-FR" dirty="0"/>
                  <a:t>, et </a:t>
                </a:r>
                <a:r>
                  <a:rPr lang="fr-FR" b="1" dirty="0"/>
                  <a:t>R</a:t>
                </a:r>
                <a:br>
                  <a:rPr lang="fr-FR" dirty="0"/>
                </a:br>
                <a:endParaRPr lang="fr-FR" dirty="0"/>
              </a:p>
            </p:txBody>
          </p:sp>
        </mc:Choice>
        <mc:Fallback xmlns="">
          <p:sp>
            <p:nvSpPr>
              <p:cNvPr id="24" name="TextBox 23">
                <a:extLst>
                  <a:ext uri="{FF2B5EF4-FFF2-40B4-BE49-F238E27FC236}">
                    <a16:creationId xmlns:a16="http://schemas.microsoft.com/office/drawing/2014/main" id="{00304E9B-3C91-148F-DF05-75E0A2E95CA3}"/>
                  </a:ext>
                </a:extLst>
              </p:cNvPr>
              <p:cNvSpPr txBox="1">
                <a:spLocks noRot="1" noChangeAspect="1" noMove="1" noResize="1" noEditPoints="1" noAdjustHandles="1" noChangeArrowheads="1" noChangeShapeType="1" noTextEdit="1"/>
              </p:cNvSpPr>
              <p:nvPr/>
            </p:nvSpPr>
            <p:spPr>
              <a:xfrm>
                <a:off x="452136" y="3220234"/>
                <a:ext cx="5186664" cy="892552"/>
              </a:xfrm>
              <a:prstGeom prst="rect">
                <a:avLst/>
              </a:prstGeom>
              <a:blipFill>
                <a:blip r:embed="rId5"/>
                <a:stretch>
                  <a:fillRect t="-680" r="-235"/>
                </a:stretch>
              </a:blipFill>
            </p:spPr>
            <p:txBody>
              <a:bodyPr/>
              <a:lstStyle/>
              <a:p>
                <a:r>
                  <a:rPr lang="fr-FR">
                    <a:noFill/>
                  </a:rPr>
                  <a:t> </a:t>
                </a:r>
              </a:p>
            </p:txBody>
          </p:sp>
        </mc:Fallback>
      </mc:AlternateContent>
    </p:spTree>
    <p:extLst>
      <p:ext uri="{BB962C8B-B14F-4D97-AF65-F5344CB8AC3E}">
        <p14:creationId xmlns:p14="http://schemas.microsoft.com/office/powerpoint/2010/main" val="33145241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55</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3.6 </a:t>
            </a:r>
            <a:r>
              <a:rPr lang="fr-FR" altLang="fr-FR" sz="1400" b="1" spc="-5" dirty="0">
                <a:solidFill>
                  <a:srgbClr val="CC00CC"/>
                </a:solidFill>
                <a:latin typeface="Bookman Old Style" panose="02050604050505020204" pitchFamily="18" charset="0"/>
                <a:cs typeface="Arial"/>
              </a:rPr>
              <a:t>Théorème de </a:t>
            </a:r>
            <a:r>
              <a:rPr lang="fr-FR" altLang="fr-FR" sz="1400" b="1" spc="-5" dirty="0" err="1">
                <a:solidFill>
                  <a:srgbClr val="CC00CC"/>
                </a:solidFill>
                <a:latin typeface="Bookman Old Style" panose="02050604050505020204" pitchFamily="18" charset="0"/>
                <a:cs typeface="Arial"/>
              </a:rPr>
              <a:t>Millman</a:t>
            </a:r>
            <a:endParaRPr lang="fr-FR" altLang="fr-FR" sz="1400" b="1" spc="-5" dirty="0">
              <a:solidFill>
                <a:srgbClr val="CC00CC"/>
              </a:solidFill>
              <a:latin typeface="Bookman Old Style" panose="02050604050505020204" pitchFamily="18" charset="0"/>
              <a:cs typeface="Arial"/>
            </a:endParaRPr>
          </a:p>
        </p:txBody>
      </p:sp>
      <p:sp>
        <p:nvSpPr>
          <p:cNvPr id="5" name="TextBox 4">
            <a:extLst>
              <a:ext uri="{FF2B5EF4-FFF2-40B4-BE49-F238E27FC236}">
                <a16:creationId xmlns:a16="http://schemas.microsoft.com/office/drawing/2014/main" id="{47CCCE37-D1A3-7BDE-05D8-618CDFA21B72}"/>
              </a:ext>
            </a:extLst>
          </p:cNvPr>
          <p:cNvSpPr txBox="1"/>
          <p:nvPr/>
        </p:nvSpPr>
        <p:spPr>
          <a:xfrm>
            <a:off x="550646" y="1244619"/>
            <a:ext cx="8567488" cy="5847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dirty="0"/>
              <a:t>Considérons n branches parallèles, comprenant chacune un générateur de tension en série avec une résistance</a:t>
            </a:r>
          </a:p>
        </p:txBody>
      </p:sp>
      <p:grpSp>
        <p:nvGrpSpPr>
          <p:cNvPr id="9224" name="Group 60"/>
          <p:cNvGrpSpPr>
            <a:grpSpLocks/>
          </p:cNvGrpSpPr>
          <p:nvPr/>
        </p:nvGrpSpPr>
        <p:grpSpPr bwMode="auto">
          <a:xfrm>
            <a:off x="2687511" y="1792903"/>
            <a:ext cx="3295650" cy="1187450"/>
            <a:chOff x="1308" y="2316"/>
            <a:chExt cx="3300" cy="1128"/>
          </a:xfrm>
        </p:grpSpPr>
        <p:grpSp>
          <p:nvGrpSpPr>
            <p:cNvPr id="9226" name="Group 37"/>
            <p:cNvGrpSpPr>
              <a:grpSpLocks/>
            </p:cNvGrpSpPr>
            <p:nvPr/>
          </p:nvGrpSpPr>
          <p:grpSpPr bwMode="auto">
            <a:xfrm>
              <a:off x="1308" y="2364"/>
              <a:ext cx="672" cy="1080"/>
              <a:chOff x="1308" y="2364"/>
              <a:chExt cx="672" cy="1080"/>
            </a:xfrm>
          </p:grpSpPr>
          <p:sp>
            <p:nvSpPr>
              <p:cNvPr id="9247" name="Oval 9"/>
              <p:cNvSpPr>
                <a:spLocks noChangeArrowheads="1"/>
              </p:cNvSpPr>
              <p:nvPr/>
            </p:nvSpPr>
            <p:spPr bwMode="auto">
              <a:xfrm>
                <a:off x="1644" y="2892"/>
                <a:ext cx="336" cy="336"/>
              </a:xfrm>
              <a:prstGeom prst="ellipse">
                <a:avLst/>
              </a:prstGeom>
              <a:noFill/>
              <a:ln w="38100">
                <a:solidFill>
                  <a:schemeClr val="tx1"/>
                </a:solidFill>
                <a:round/>
                <a:headEnd/>
                <a:tailEnd/>
              </a:ln>
            </p:spPr>
            <p:txBody>
              <a:bodyPr wrap="none" anchor="ctr"/>
              <a:lstStyle/>
              <a:p>
                <a:endParaRPr lang="fr-FR"/>
              </a:p>
            </p:txBody>
          </p:sp>
          <p:sp>
            <p:nvSpPr>
              <p:cNvPr id="9248" name="Line 10"/>
              <p:cNvSpPr>
                <a:spLocks noChangeShapeType="1"/>
              </p:cNvSpPr>
              <p:nvPr/>
            </p:nvSpPr>
            <p:spPr bwMode="auto">
              <a:xfrm>
                <a:off x="1812" y="2364"/>
                <a:ext cx="0" cy="1080"/>
              </a:xfrm>
              <a:prstGeom prst="line">
                <a:avLst/>
              </a:prstGeom>
              <a:noFill/>
              <a:ln w="38100">
                <a:solidFill>
                  <a:schemeClr val="tx1"/>
                </a:solidFill>
                <a:round/>
                <a:headEnd/>
                <a:tailEnd/>
              </a:ln>
            </p:spPr>
            <p:txBody>
              <a:bodyPr/>
              <a:lstStyle/>
              <a:p>
                <a:endParaRPr lang="fr-FR"/>
              </a:p>
            </p:txBody>
          </p:sp>
          <p:sp>
            <p:nvSpPr>
              <p:cNvPr id="9249" name="Rectangle 11"/>
              <p:cNvSpPr>
                <a:spLocks noChangeArrowheads="1"/>
              </p:cNvSpPr>
              <p:nvPr/>
            </p:nvSpPr>
            <p:spPr bwMode="auto">
              <a:xfrm>
                <a:off x="1728" y="2508"/>
                <a:ext cx="168" cy="276"/>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9250" name="Line 12"/>
              <p:cNvSpPr>
                <a:spLocks noChangeShapeType="1"/>
              </p:cNvSpPr>
              <p:nvPr/>
            </p:nvSpPr>
            <p:spPr bwMode="auto">
              <a:xfrm flipH="1" flipV="1">
                <a:off x="1584" y="2868"/>
                <a:ext cx="0" cy="324"/>
              </a:xfrm>
              <a:prstGeom prst="line">
                <a:avLst/>
              </a:prstGeom>
              <a:noFill/>
              <a:ln w="9525">
                <a:solidFill>
                  <a:schemeClr val="tx1"/>
                </a:solidFill>
                <a:round/>
                <a:headEnd/>
                <a:tailEnd type="triangle" w="med" len="med"/>
              </a:ln>
            </p:spPr>
            <p:txBody>
              <a:bodyPr/>
              <a:lstStyle/>
              <a:p>
                <a:endParaRPr lang="fr-FR"/>
              </a:p>
            </p:txBody>
          </p:sp>
          <p:sp>
            <p:nvSpPr>
              <p:cNvPr id="9251" name="Text Box 13"/>
              <p:cNvSpPr txBox="1">
                <a:spLocks noChangeArrowheads="1"/>
              </p:cNvSpPr>
              <p:nvPr/>
            </p:nvSpPr>
            <p:spPr bwMode="auto">
              <a:xfrm>
                <a:off x="1308" y="2868"/>
                <a:ext cx="300" cy="288"/>
              </a:xfrm>
              <a:prstGeom prst="rect">
                <a:avLst/>
              </a:prstGeom>
              <a:noFill/>
              <a:ln w="9525">
                <a:noFill/>
                <a:miter lim="800000"/>
                <a:headEnd/>
                <a:tailEnd/>
              </a:ln>
            </p:spPr>
            <p:txBody>
              <a:bodyPr>
                <a:spAutoFit/>
              </a:bodyPr>
              <a:lstStyle/>
              <a:p>
                <a:pPr>
                  <a:spcBef>
                    <a:spcPct val="50000"/>
                  </a:spcBef>
                </a:pPr>
                <a:r>
                  <a:rPr lang="fr-FR"/>
                  <a:t>E</a:t>
                </a:r>
                <a:r>
                  <a:rPr lang="fr-FR" baseline="-25000"/>
                  <a:t>1</a:t>
                </a:r>
              </a:p>
            </p:txBody>
          </p:sp>
          <p:sp>
            <p:nvSpPr>
              <p:cNvPr id="9252" name="Text Box 14"/>
              <p:cNvSpPr txBox="1">
                <a:spLocks noChangeArrowheads="1"/>
              </p:cNvSpPr>
              <p:nvPr/>
            </p:nvSpPr>
            <p:spPr bwMode="auto">
              <a:xfrm>
                <a:off x="1452" y="2484"/>
                <a:ext cx="336" cy="288"/>
              </a:xfrm>
              <a:prstGeom prst="rect">
                <a:avLst/>
              </a:prstGeom>
              <a:noFill/>
              <a:ln w="9525">
                <a:noFill/>
                <a:miter lim="800000"/>
                <a:headEnd/>
                <a:tailEnd/>
              </a:ln>
            </p:spPr>
            <p:txBody>
              <a:bodyPr>
                <a:spAutoFit/>
              </a:bodyPr>
              <a:lstStyle/>
              <a:p>
                <a:pPr>
                  <a:spcBef>
                    <a:spcPct val="50000"/>
                  </a:spcBef>
                </a:pPr>
                <a:r>
                  <a:rPr lang="fr-FR"/>
                  <a:t>R</a:t>
                </a:r>
                <a:r>
                  <a:rPr lang="fr-FR" baseline="-25000"/>
                  <a:t>1</a:t>
                </a:r>
              </a:p>
            </p:txBody>
          </p:sp>
        </p:grpSp>
        <p:grpSp>
          <p:nvGrpSpPr>
            <p:cNvPr id="9227" name="Group 38"/>
            <p:cNvGrpSpPr>
              <a:grpSpLocks/>
            </p:cNvGrpSpPr>
            <p:nvPr/>
          </p:nvGrpSpPr>
          <p:grpSpPr bwMode="auto">
            <a:xfrm>
              <a:off x="1980" y="2364"/>
              <a:ext cx="672" cy="1080"/>
              <a:chOff x="1308" y="2364"/>
              <a:chExt cx="672" cy="1080"/>
            </a:xfrm>
          </p:grpSpPr>
          <p:sp>
            <p:nvSpPr>
              <p:cNvPr id="9241" name="Oval 39"/>
              <p:cNvSpPr>
                <a:spLocks noChangeArrowheads="1"/>
              </p:cNvSpPr>
              <p:nvPr/>
            </p:nvSpPr>
            <p:spPr bwMode="auto">
              <a:xfrm>
                <a:off x="1644" y="2892"/>
                <a:ext cx="336" cy="336"/>
              </a:xfrm>
              <a:prstGeom prst="ellipse">
                <a:avLst/>
              </a:prstGeom>
              <a:noFill/>
              <a:ln w="38100">
                <a:solidFill>
                  <a:schemeClr val="tx1"/>
                </a:solidFill>
                <a:round/>
                <a:headEnd/>
                <a:tailEnd/>
              </a:ln>
            </p:spPr>
            <p:txBody>
              <a:bodyPr wrap="none" anchor="ctr"/>
              <a:lstStyle/>
              <a:p>
                <a:endParaRPr lang="fr-FR"/>
              </a:p>
            </p:txBody>
          </p:sp>
          <p:sp>
            <p:nvSpPr>
              <p:cNvPr id="9242" name="Line 40"/>
              <p:cNvSpPr>
                <a:spLocks noChangeShapeType="1"/>
              </p:cNvSpPr>
              <p:nvPr/>
            </p:nvSpPr>
            <p:spPr bwMode="auto">
              <a:xfrm>
                <a:off x="1812" y="2364"/>
                <a:ext cx="0" cy="1080"/>
              </a:xfrm>
              <a:prstGeom prst="line">
                <a:avLst/>
              </a:prstGeom>
              <a:noFill/>
              <a:ln w="38100">
                <a:solidFill>
                  <a:schemeClr val="tx1"/>
                </a:solidFill>
                <a:round/>
                <a:headEnd/>
                <a:tailEnd/>
              </a:ln>
            </p:spPr>
            <p:txBody>
              <a:bodyPr/>
              <a:lstStyle/>
              <a:p>
                <a:endParaRPr lang="fr-FR"/>
              </a:p>
            </p:txBody>
          </p:sp>
          <p:sp>
            <p:nvSpPr>
              <p:cNvPr id="9243" name="Rectangle 41"/>
              <p:cNvSpPr>
                <a:spLocks noChangeArrowheads="1"/>
              </p:cNvSpPr>
              <p:nvPr/>
            </p:nvSpPr>
            <p:spPr bwMode="auto">
              <a:xfrm>
                <a:off x="1728" y="2508"/>
                <a:ext cx="168" cy="276"/>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9244" name="Line 42"/>
              <p:cNvSpPr>
                <a:spLocks noChangeShapeType="1"/>
              </p:cNvSpPr>
              <p:nvPr/>
            </p:nvSpPr>
            <p:spPr bwMode="auto">
              <a:xfrm flipH="1" flipV="1">
                <a:off x="1584" y="2868"/>
                <a:ext cx="0" cy="324"/>
              </a:xfrm>
              <a:prstGeom prst="line">
                <a:avLst/>
              </a:prstGeom>
              <a:noFill/>
              <a:ln w="9525">
                <a:solidFill>
                  <a:schemeClr val="tx1"/>
                </a:solidFill>
                <a:round/>
                <a:headEnd/>
                <a:tailEnd type="triangle" w="med" len="med"/>
              </a:ln>
            </p:spPr>
            <p:txBody>
              <a:bodyPr/>
              <a:lstStyle/>
              <a:p>
                <a:endParaRPr lang="fr-FR"/>
              </a:p>
            </p:txBody>
          </p:sp>
          <p:sp>
            <p:nvSpPr>
              <p:cNvPr id="9245" name="Text Box 43"/>
              <p:cNvSpPr txBox="1">
                <a:spLocks noChangeArrowheads="1"/>
              </p:cNvSpPr>
              <p:nvPr/>
            </p:nvSpPr>
            <p:spPr bwMode="auto">
              <a:xfrm>
                <a:off x="1308" y="2868"/>
                <a:ext cx="300" cy="288"/>
              </a:xfrm>
              <a:prstGeom prst="rect">
                <a:avLst/>
              </a:prstGeom>
              <a:noFill/>
              <a:ln w="9525">
                <a:noFill/>
                <a:miter lim="800000"/>
                <a:headEnd/>
                <a:tailEnd/>
              </a:ln>
            </p:spPr>
            <p:txBody>
              <a:bodyPr>
                <a:spAutoFit/>
              </a:bodyPr>
              <a:lstStyle/>
              <a:p>
                <a:pPr>
                  <a:spcBef>
                    <a:spcPct val="50000"/>
                  </a:spcBef>
                </a:pPr>
                <a:r>
                  <a:rPr lang="fr-FR"/>
                  <a:t>E</a:t>
                </a:r>
                <a:r>
                  <a:rPr lang="fr-FR" baseline="-25000"/>
                  <a:t>2</a:t>
                </a:r>
              </a:p>
            </p:txBody>
          </p:sp>
          <p:sp>
            <p:nvSpPr>
              <p:cNvPr id="9246" name="Text Box 44"/>
              <p:cNvSpPr txBox="1">
                <a:spLocks noChangeArrowheads="1"/>
              </p:cNvSpPr>
              <p:nvPr/>
            </p:nvSpPr>
            <p:spPr bwMode="auto">
              <a:xfrm>
                <a:off x="1452" y="2484"/>
                <a:ext cx="336" cy="288"/>
              </a:xfrm>
              <a:prstGeom prst="rect">
                <a:avLst/>
              </a:prstGeom>
              <a:noFill/>
              <a:ln w="9525">
                <a:noFill/>
                <a:miter lim="800000"/>
                <a:headEnd/>
                <a:tailEnd/>
              </a:ln>
            </p:spPr>
            <p:txBody>
              <a:bodyPr>
                <a:spAutoFit/>
              </a:bodyPr>
              <a:lstStyle/>
              <a:p>
                <a:pPr>
                  <a:spcBef>
                    <a:spcPct val="50000"/>
                  </a:spcBef>
                </a:pPr>
                <a:r>
                  <a:rPr lang="fr-FR"/>
                  <a:t>R</a:t>
                </a:r>
                <a:r>
                  <a:rPr lang="fr-FR" baseline="-25000"/>
                  <a:t>2</a:t>
                </a:r>
              </a:p>
            </p:txBody>
          </p:sp>
        </p:grpSp>
        <p:grpSp>
          <p:nvGrpSpPr>
            <p:cNvPr id="9228" name="Group 45"/>
            <p:cNvGrpSpPr>
              <a:grpSpLocks/>
            </p:cNvGrpSpPr>
            <p:nvPr/>
          </p:nvGrpSpPr>
          <p:grpSpPr bwMode="auto">
            <a:xfrm>
              <a:off x="3468" y="2340"/>
              <a:ext cx="672" cy="1080"/>
              <a:chOff x="1308" y="2364"/>
              <a:chExt cx="672" cy="1080"/>
            </a:xfrm>
          </p:grpSpPr>
          <p:sp>
            <p:nvSpPr>
              <p:cNvPr id="9235" name="Oval 46"/>
              <p:cNvSpPr>
                <a:spLocks noChangeArrowheads="1"/>
              </p:cNvSpPr>
              <p:nvPr/>
            </p:nvSpPr>
            <p:spPr bwMode="auto">
              <a:xfrm>
                <a:off x="1644" y="2892"/>
                <a:ext cx="336" cy="336"/>
              </a:xfrm>
              <a:prstGeom prst="ellipse">
                <a:avLst/>
              </a:prstGeom>
              <a:noFill/>
              <a:ln w="38100">
                <a:solidFill>
                  <a:schemeClr val="tx1"/>
                </a:solidFill>
                <a:round/>
                <a:headEnd/>
                <a:tailEnd/>
              </a:ln>
            </p:spPr>
            <p:txBody>
              <a:bodyPr wrap="none" anchor="ctr"/>
              <a:lstStyle/>
              <a:p>
                <a:endParaRPr lang="fr-FR"/>
              </a:p>
            </p:txBody>
          </p:sp>
          <p:sp>
            <p:nvSpPr>
              <p:cNvPr id="9236" name="Line 47"/>
              <p:cNvSpPr>
                <a:spLocks noChangeShapeType="1"/>
              </p:cNvSpPr>
              <p:nvPr/>
            </p:nvSpPr>
            <p:spPr bwMode="auto">
              <a:xfrm>
                <a:off x="1812" y="2364"/>
                <a:ext cx="0" cy="1080"/>
              </a:xfrm>
              <a:prstGeom prst="line">
                <a:avLst/>
              </a:prstGeom>
              <a:noFill/>
              <a:ln w="38100">
                <a:solidFill>
                  <a:schemeClr val="tx1"/>
                </a:solidFill>
                <a:round/>
                <a:headEnd/>
                <a:tailEnd/>
              </a:ln>
            </p:spPr>
            <p:txBody>
              <a:bodyPr/>
              <a:lstStyle/>
              <a:p>
                <a:endParaRPr lang="fr-FR"/>
              </a:p>
            </p:txBody>
          </p:sp>
          <p:sp>
            <p:nvSpPr>
              <p:cNvPr id="9237" name="Rectangle 48"/>
              <p:cNvSpPr>
                <a:spLocks noChangeArrowheads="1"/>
              </p:cNvSpPr>
              <p:nvPr/>
            </p:nvSpPr>
            <p:spPr bwMode="auto">
              <a:xfrm>
                <a:off x="1728" y="2508"/>
                <a:ext cx="168" cy="276"/>
              </a:xfrm>
              <a:prstGeom prst="rect">
                <a:avLst/>
              </a:prstGeom>
              <a:solidFill>
                <a:schemeClr val="bg1"/>
              </a:solidFill>
              <a:ln w="38100">
                <a:solidFill>
                  <a:schemeClr val="tx1"/>
                </a:solidFill>
                <a:miter lim="800000"/>
                <a:headEnd/>
                <a:tailEnd/>
              </a:ln>
            </p:spPr>
            <p:txBody>
              <a:bodyPr wrap="none" anchor="ctr"/>
              <a:lstStyle/>
              <a:p>
                <a:endParaRPr lang="fr-FR"/>
              </a:p>
            </p:txBody>
          </p:sp>
          <p:sp>
            <p:nvSpPr>
              <p:cNvPr id="9238" name="Line 49"/>
              <p:cNvSpPr>
                <a:spLocks noChangeShapeType="1"/>
              </p:cNvSpPr>
              <p:nvPr/>
            </p:nvSpPr>
            <p:spPr bwMode="auto">
              <a:xfrm flipH="1" flipV="1">
                <a:off x="1584" y="2868"/>
                <a:ext cx="0" cy="324"/>
              </a:xfrm>
              <a:prstGeom prst="line">
                <a:avLst/>
              </a:prstGeom>
              <a:noFill/>
              <a:ln w="9525">
                <a:solidFill>
                  <a:schemeClr val="tx1"/>
                </a:solidFill>
                <a:round/>
                <a:headEnd/>
                <a:tailEnd type="triangle" w="med" len="med"/>
              </a:ln>
            </p:spPr>
            <p:txBody>
              <a:bodyPr/>
              <a:lstStyle/>
              <a:p>
                <a:endParaRPr lang="fr-FR"/>
              </a:p>
            </p:txBody>
          </p:sp>
          <p:sp>
            <p:nvSpPr>
              <p:cNvPr id="9239" name="Text Box 50"/>
              <p:cNvSpPr txBox="1">
                <a:spLocks noChangeArrowheads="1"/>
              </p:cNvSpPr>
              <p:nvPr/>
            </p:nvSpPr>
            <p:spPr bwMode="auto">
              <a:xfrm>
                <a:off x="1308" y="2868"/>
                <a:ext cx="300" cy="288"/>
              </a:xfrm>
              <a:prstGeom prst="rect">
                <a:avLst/>
              </a:prstGeom>
              <a:noFill/>
              <a:ln w="9525">
                <a:noFill/>
                <a:miter lim="800000"/>
                <a:headEnd/>
                <a:tailEnd/>
              </a:ln>
            </p:spPr>
            <p:txBody>
              <a:bodyPr>
                <a:spAutoFit/>
              </a:bodyPr>
              <a:lstStyle/>
              <a:p>
                <a:pPr>
                  <a:spcBef>
                    <a:spcPct val="50000"/>
                  </a:spcBef>
                </a:pPr>
                <a:r>
                  <a:rPr lang="fr-FR"/>
                  <a:t>E</a:t>
                </a:r>
                <a:r>
                  <a:rPr lang="fr-FR" baseline="-25000"/>
                  <a:t>n</a:t>
                </a:r>
              </a:p>
            </p:txBody>
          </p:sp>
          <p:sp>
            <p:nvSpPr>
              <p:cNvPr id="9240" name="Text Box 51"/>
              <p:cNvSpPr txBox="1">
                <a:spLocks noChangeArrowheads="1"/>
              </p:cNvSpPr>
              <p:nvPr/>
            </p:nvSpPr>
            <p:spPr bwMode="auto">
              <a:xfrm>
                <a:off x="1452" y="2484"/>
                <a:ext cx="336" cy="288"/>
              </a:xfrm>
              <a:prstGeom prst="rect">
                <a:avLst/>
              </a:prstGeom>
              <a:noFill/>
              <a:ln w="9525">
                <a:noFill/>
                <a:miter lim="800000"/>
                <a:headEnd/>
                <a:tailEnd/>
              </a:ln>
            </p:spPr>
            <p:txBody>
              <a:bodyPr>
                <a:spAutoFit/>
              </a:bodyPr>
              <a:lstStyle/>
              <a:p>
                <a:pPr>
                  <a:spcBef>
                    <a:spcPct val="50000"/>
                  </a:spcBef>
                </a:pPr>
                <a:r>
                  <a:rPr lang="fr-FR"/>
                  <a:t>R</a:t>
                </a:r>
                <a:r>
                  <a:rPr lang="fr-FR" baseline="-25000"/>
                  <a:t>n</a:t>
                </a:r>
              </a:p>
            </p:txBody>
          </p:sp>
        </p:grpSp>
        <p:sp>
          <p:nvSpPr>
            <p:cNvPr id="9229" name="Line 52"/>
            <p:cNvSpPr>
              <a:spLocks noChangeShapeType="1"/>
            </p:cNvSpPr>
            <p:nvPr/>
          </p:nvSpPr>
          <p:spPr bwMode="auto">
            <a:xfrm>
              <a:off x="1800" y="2352"/>
              <a:ext cx="2160" cy="0"/>
            </a:xfrm>
            <a:prstGeom prst="line">
              <a:avLst/>
            </a:prstGeom>
            <a:noFill/>
            <a:ln w="38100">
              <a:solidFill>
                <a:schemeClr val="tx1"/>
              </a:solidFill>
              <a:round/>
              <a:headEnd/>
              <a:tailEnd/>
            </a:ln>
          </p:spPr>
          <p:txBody>
            <a:bodyPr/>
            <a:lstStyle/>
            <a:p>
              <a:endParaRPr lang="fr-FR"/>
            </a:p>
          </p:txBody>
        </p:sp>
        <p:sp>
          <p:nvSpPr>
            <p:cNvPr id="9230" name="Line 53"/>
            <p:cNvSpPr>
              <a:spLocks noChangeShapeType="1"/>
            </p:cNvSpPr>
            <p:nvPr/>
          </p:nvSpPr>
          <p:spPr bwMode="auto">
            <a:xfrm>
              <a:off x="1824" y="3432"/>
              <a:ext cx="2160" cy="0"/>
            </a:xfrm>
            <a:prstGeom prst="line">
              <a:avLst/>
            </a:prstGeom>
            <a:noFill/>
            <a:ln w="38100">
              <a:solidFill>
                <a:schemeClr val="tx1"/>
              </a:solidFill>
              <a:round/>
              <a:headEnd/>
              <a:tailEnd/>
            </a:ln>
          </p:spPr>
          <p:txBody>
            <a:bodyPr/>
            <a:lstStyle/>
            <a:p>
              <a:endParaRPr lang="fr-FR"/>
            </a:p>
          </p:txBody>
        </p:sp>
        <p:sp>
          <p:nvSpPr>
            <p:cNvPr id="9231" name="Line 54"/>
            <p:cNvSpPr>
              <a:spLocks noChangeShapeType="1"/>
            </p:cNvSpPr>
            <p:nvPr/>
          </p:nvSpPr>
          <p:spPr bwMode="auto">
            <a:xfrm flipV="1">
              <a:off x="2856" y="2352"/>
              <a:ext cx="528" cy="0"/>
            </a:xfrm>
            <a:prstGeom prst="line">
              <a:avLst/>
            </a:prstGeom>
            <a:noFill/>
            <a:ln w="76200">
              <a:solidFill>
                <a:schemeClr val="bg1"/>
              </a:solidFill>
              <a:prstDash val="sysDot"/>
              <a:round/>
              <a:headEnd/>
              <a:tailEnd/>
            </a:ln>
          </p:spPr>
          <p:txBody>
            <a:bodyPr/>
            <a:lstStyle/>
            <a:p>
              <a:endParaRPr lang="fr-FR"/>
            </a:p>
          </p:txBody>
        </p:sp>
        <p:sp>
          <p:nvSpPr>
            <p:cNvPr id="9232" name="Line 55"/>
            <p:cNvSpPr>
              <a:spLocks noChangeShapeType="1"/>
            </p:cNvSpPr>
            <p:nvPr/>
          </p:nvSpPr>
          <p:spPr bwMode="auto">
            <a:xfrm flipV="1">
              <a:off x="2856" y="3420"/>
              <a:ext cx="528" cy="0"/>
            </a:xfrm>
            <a:prstGeom prst="line">
              <a:avLst/>
            </a:prstGeom>
            <a:noFill/>
            <a:ln w="76200">
              <a:solidFill>
                <a:schemeClr val="bg1"/>
              </a:solidFill>
              <a:prstDash val="sysDot"/>
              <a:round/>
              <a:headEnd/>
              <a:tailEnd/>
            </a:ln>
          </p:spPr>
          <p:txBody>
            <a:bodyPr/>
            <a:lstStyle/>
            <a:p>
              <a:endParaRPr lang="fr-FR"/>
            </a:p>
          </p:txBody>
        </p:sp>
        <p:sp>
          <p:nvSpPr>
            <p:cNvPr id="9233" name="Line 58"/>
            <p:cNvSpPr>
              <a:spLocks noChangeShapeType="1"/>
            </p:cNvSpPr>
            <p:nvPr/>
          </p:nvSpPr>
          <p:spPr bwMode="auto">
            <a:xfrm flipV="1">
              <a:off x="4308" y="2316"/>
              <a:ext cx="0" cy="1128"/>
            </a:xfrm>
            <a:prstGeom prst="line">
              <a:avLst/>
            </a:prstGeom>
            <a:noFill/>
            <a:ln w="9525">
              <a:solidFill>
                <a:schemeClr val="tx1"/>
              </a:solidFill>
              <a:round/>
              <a:headEnd/>
              <a:tailEnd type="triangle" w="med" len="med"/>
            </a:ln>
          </p:spPr>
          <p:txBody>
            <a:bodyPr/>
            <a:lstStyle/>
            <a:p>
              <a:endParaRPr lang="fr-FR"/>
            </a:p>
          </p:txBody>
        </p:sp>
        <p:sp>
          <p:nvSpPr>
            <p:cNvPr id="9234" name="Text Box 59"/>
            <p:cNvSpPr txBox="1">
              <a:spLocks noChangeArrowheads="1"/>
            </p:cNvSpPr>
            <p:nvPr/>
          </p:nvSpPr>
          <p:spPr bwMode="auto">
            <a:xfrm>
              <a:off x="4332" y="2736"/>
              <a:ext cx="276" cy="288"/>
            </a:xfrm>
            <a:prstGeom prst="rect">
              <a:avLst/>
            </a:prstGeom>
            <a:noFill/>
            <a:ln w="9525">
              <a:noFill/>
              <a:miter lim="800000"/>
              <a:headEnd/>
              <a:tailEnd/>
            </a:ln>
          </p:spPr>
          <p:txBody>
            <a:bodyPr>
              <a:spAutoFit/>
            </a:bodyPr>
            <a:lstStyle/>
            <a:p>
              <a:pPr>
                <a:spcBef>
                  <a:spcPct val="50000"/>
                </a:spcBef>
              </a:pPr>
              <a:r>
                <a:rPr lang="fr-FR"/>
                <a:t>U</a:t>
              </a:r>
            </a:p>
          </p:txBody>
        </p:sp>
      </p:grpSp>
      <p:graphicFrame>
        <p:nvGraphicFramePr>
          <p:cNvPr id="9218" name="Object 61"/>
          <p:cNvGraphicFramePr>
            <a:graphicFrameLocks noChangeAspect="1"/>
          </p:cNvGraphicFramePr>
          <p:nvPr>
            <p:extLst>
              <p:ext uri="{D42A27DB-BD31-4B8C-83A1-F6EECF244321}">
                <p14:modId xmlns:p14="http://schemas.microsoft.com/office/powerpoint/2010/main" val="3186391878"/>
              </p:ext>
            </p:extLst>
          </p:nvPr>
        </p:nvGraphicFramePr>
        <p:xfrm>
          <a:off x="5444504" y="3826522"/>
          <a:ext cx="1077314" cy="1253788"/>
        </p:xfrm>
        <a:graphic>
          <a:graphicData uri="http://schemas.openxmlformats.org/presentationml/2006/ole">
            <mc:AlternateContent xmlns:mc="http://schemas.openxmlformats.org/markup-compatibility/2006">
              <mc:Choice xmlns:v="urn:schemas-microsoft-com:vml" Requires="v">
                <p:oleObj name="Equation" r:id="rId3" imgW="850680" imgH="990360" progId="">
                  <p:embed/>
                </p:oleObj>
              </mc:Choice>
              <mc:Fallback>
                <p:oleObj name="Equation" r:id="rId3" imgW="850680" imgH="990360" progId="">
                  <p:embed/>
                  <p:pic>
                    <p:nvPicPr>
                      <p:cNvPr id="9218" name="Object 6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44504" y="3826522"/>
                        <a:ext cx="1077314" cy="1253788"/>
                      </a:xfrm>
                      <a:prstGeom prst="rect">
                        <a:avLst/>
                      </a:prstGeom>
                      <a:noFill/>
                      <a:ln w="38100">
                        <a:solidFill>
                          <a:schemeClr val="accent1"/>
                        </a:solidFill>
                        <a:miter lim="800000"/>
                        <a:headEnd/>
                        <a:tailEnd/>
                      </a:ln>
                    </p:spPr>
                  </p:pic>
                </p:oleObj>
              </mc:Fallback>
            </mc:AlternateContent>
          </a:graphicData>
        </a:graphic>
      </p:graphicFrame>
      <p:graphicFrame>
        <p:nvGraphicFramePr>
          <p:cNvPr id="9219" name="Object 62"/>
          <p:cNvGraphicFramePr>
            <a:graphicFrameLocks noChangeAspect="1"/>
          </p:cNvGraphicFramePr>
          <p:nvPr>
            <p:extLst>
              <p:ext uri="{D42A27DB-BD31-4B8C-83A1-F6EECF244321}">
                <p14:modId xmlns:p14="http://schemas.microsoft.com/office/powerpoint/2010/main" val="1622089044"/>
              </p:ext>
            </p:extLst>
          </p:nvPr>
        </p:nvGraphicFramePr>
        <p:xfrm>
          <a:off x="1600200" y="3767523"/>
          <a:ext cx="896953" cy="1295762"/>
        </p:xfrm>
        <a:graphic>
          <a:graphicData uri="http://schemas.openxmlformats.org/presentationml/2006/ole">
            <mc:AlternateContent xmlns:mc="http://schemas.openxmlformats.org/markup-compatibility/2006">
              <mc:Choice xmlns:v="urn:schemas-microsoft-com:vml" Requires="v">
                <p:oleObj name="Equation" r:id="rId5" imgW="685800" imgH="990360" progId="">
                  <p:embed/>
                </p:oleObj>
              </mc:Choice>
              <mc:Fallback>
                <p:oleObj name="Equation" r:id="rId5" imgW="685800" imgH="990360" progId="">
                  <p:embed/>
                  <p:pic>
                    <p:nvPicPr>
                      <p:cNvPr id="9219" name="Object 6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00200" y="3767523"/>
                        <a:ext cx="896953" cy="1295762"/>
                      </a:xfrm>
                      <a:prstGeom prst="rect">
                        <a:avLst/>
                      </a:prstGeom>
                      <a:noFill/>
                      <a:ln w="38100">
                        <a:solidFill>
                          <a:schemeClr val="accent1"/>
                        </a:solidFill>
                        <a:miter lim="800000"/>
                        <a:headEnd/>
                        <a:tailEnd/>
                      </a:ln>
                    </p:spPr>
                  </p:pic>
                </p:oleObj>
              </mc:Fallback>
            </mc:AlternateContent>
          </a:graphicData>
        </a:graphic>
      </p:graphicFrame>
      <p:sp>
        <p:nvSpPr>
          <p:cNvPr id="9225" name="Text Box 64"/>
          <p:cNvSpPr txBox="1">
            <a:spLocks noChangeArrowheads="1"/>
          </p:cNvSpPr>
          <p:nvPr/>
        </p:nvSpPr>
        <p:spPr bwMode="auto">
          <a:xfrm>
            <a:off x="2526175" y="4060374"/>
            <a:ext cx="3181350" cy="738664"/>
          </a:xfrm>
          <a:prstGeom prst="rect">
            <a:avLst/>
          </a:prstGeom>
          <a:noFill/>
          <a:ln w="9525">
            <a:noFill/>
            <a:miter lim="800000"/>
            <a:headEnd/>
            <a:tailEnd/>
          </a:ln>
        </p:spPr>
        <p:txBody>
          <a:bodyPr>
            <a:spAutoFit/>
          </a:bodyPr>
          <a:lstStyle/>
          <a:p>
            <a:pPr algn="ctr"/>
            <a:r>
              <a:rPr lang="fr-FR" sz="1400" b="1" dirty="0">
                <a:latin typeface="Bookman Old Style" panose="02050604050505020204" pitchFamily="18" charset="0"/>
              </a:rPr>
              <a:t>La </a:t>
            </a:r>
            <a:r>
              <a:rPr lang="fr-FR" sz="1400" b="1" u="sng" dirty="0">
                <a:latin typeface="Bookman Old Style" panose="02050604050505020204" pitchFamily="18" charset="0"/>
              </a:rPr>
              <a:t>conductance</a:t>
            </a:r>
            <a:r>
              <a:rPr lang="fr-FR" sz="1400" b="1" dirty="0">
                <a:latin typeface="Bookman Old Style" panose="02050604050505020204" pitchFamily="18" charset="0"/>
              </a:rPr>
              <a:t> Gi </a:t>
            </a:r>
          </a:p>
          <a:p>
            <a:pPr algn="ctr"/>
            <a:r>
              <a:rPr lang="fr-FR" sz="1400" b="1" dirty="0">
                <a:latin typeface="Bookman Old Style" panose="02050604050505020204" pitchFamily="18" charset="0"/>
              </a:rPr>
              <a:t>est l’inverse de </a:t>
            </a:r>
          </a:p>
          <a:p>
            <a:pPr algn="ctr"/>
            <a:r>
              <a:rPr lang="fr-FR" sz="1400" b="1" dirty="0">
                <a:latin typeface="Bookman Old Style" panose="02050604050505020204" pitchFamily="18" charset="0"/>
              </a:rPr>
              <a:t>la résistance Ri</a:t>
            </a:r>
          </a:p>
        </p:txBody>
      </p:sp>
      <p:sp>
        <p:nvSpPr>
          <p:cNvPr id="12" name="TextBox 11">
            <a:extLst>
              <a:ext uri="{FF2B5EF4-FFF2-40B4-BE49-F238E27FC236}">
                <a16:creationId xmlns:a16="http://schemas.microsoft.com/office/drawing/2014/main" id="{84B185AF-744E-2F4C-2593-A8C2A9BFC39E}"/>
              </a:ext>
            </a:extLst>
          </p:cNvPr>
          <p:cNvSpPr txBox="1"/>
          <p:nvPr/>
        </p:nvSpPr>
        <p:spPr>
          <a:xfrm>
            <a:off x="576301" y="3104753"/>
            <a:ext cx="6586519"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dirty="0"/>
              <a:t>La tension au bornes de l’ensemble de ces branche est </a:t>
            </a:r>
            <a:r>
              <a:rPr lang="fr-FR" b="1" dirty="0"/>
              <a:t>U:</a:t>
            </a:r>
            <a:endParaRPr lang="fr-FR" dirty="0"/>
          </a:p>
        </p:txBody>
      </p:sp>
    </p:spTree>
    <p:extLst>
      <p:ext uri="{BB962C8B-B14F-4D97-AF65-F5344CB8AC3E}">
        <p14:creationId xmlns:p14="http://schemas.microsoft.com/office/powerpoint/2010/main" val="18284384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56</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3.6 </a:t>
            </a:r>
            <a:r>
              <a:rPr lang="fr-FR" altLang="fr-FR" sz="1400" b="1" spc="-5" dirty="0">
                <a:solidFill>
                  <a:srgbClr val="CC00CC"/>
                </a:solidFill>
                <a:latin typeface="Bookman Old Style" panose="02050604050505020204" pitchFamily="18" charset="0"/>
                <a:cs typeface="Arial"/>
              </a:rPr>
              <a:t>Théorème de </a:t>
            </a:r>
            <a:r>
              <a:rPr lang="fr-FR" altLang="fr-FR" sz="1400" b="1" spc="-5" dirty="0" err="1">
                <a:solidFill>
                  <a:srgbClr val="CC00CC"/>
                </a:solidFill>
                <a:latin typeface="Bookman Old Style" panose="02050604050505020204" pitchFamily="18" charset="0"/>
                <a:cs typeface="Arial"/>
              </a:rPr>
              <a:t>Millman</a:t>
            </a:r>
            <a:endParaRPr lang="fr-FR" altLang="fr-FR" sz="1400" b="1" spc="-5" dirty="0">
              <a:solidFill>
                <a:srgbClr val="CC00CC"/>
              </a:solidFill>
              <a:latin typeface="Bookman Old Style" panose="02050604050505020204" pitchFamily="18" charset="0"/>
              <a:cs typeface="Arial"/>
            </a:endParaRPr>
          </a:p>
        </p:txBody>
      </p:sp>
      <p:sp>
        <p:nvSpPr>
          <p:cNvPr id="17" name="TextBox 16">
            <a:extLst>
              <a:ext uri="{FF2B5EF4-FFF2-40B4-BE49-F238E27FC236}">
                <a16:creationId xmlns:a16="http://schemas.microsoft.com/office/drawing/2014/main" id="{8282845F-1B41-40E6-B8DF-9F76F549A5D1}"/>
              </a:ext>
            </a:extLst>
          </p:cNvPr>
          <p:cNvSpPr txBox="1"/>
          <p:nvPr/>
        </p:nvSpPr>
        <p:spPr>
          <a:xfrm>
            <a:off x="565815" y="1325328"/>
            <a:ext cx="1354354" cy="276999"/>
          </a:xfrm>
          <a:prstGeom prst="rect">
            <a:avLst/>
          </a:prstGeom>
          <a:noFill/>
        </p:spPr>
        <p:txBody>
          <a:bodyPr wrap="square">
            <a:spAutoFit/>
          </a:bodyPr>
          <a:lstStyle/>
          <a:p>
            <a:pPr marL="12700">
              <a:lnSpc>
                <a:spcPct val="100000"/>
              </a:lnSpc>
              <a:spcBef>
                <a:spcPts val="100"/>
              </a:spcBef>
            </a:pPr>
            <a:r>
              <a:rPr lang="fr-FR" sz="1200" b="1" u="sng" spc="-10" dirty="0">
                <a:uFill>
                  <a:solidFill>
                    <a:srgbClr val="000000"/>
                  </a:solidFill>
                </a:uFill>
                <a:latin typeface="Bookman Old Style" panose="02050604050505020204" pitchFamily="18" charset="0"/>
                <a:cs typeface="Times New Roman"/>
              </a:rPr>
              <a:t>Exemple:</a:t>
            </a:r>
            <a:endParaRPr lang="fr-FR" sz="1200" dirty="0">
              <a:latin typeface="Bookman Old Style" panose="02050604050505020204" pitchFamily="18" charset="0"/>
              <a:cs typeface="Times New Roman"/>
            </a:endParaRPr>
          </a:p>
        </p:txBody>
      </p:sp>
      <p:grpSp>
        <p:nvGrpSpPr>
          <p:cNvPr id="20" name="Group 5">
            <a:extLst>
              <a:ext uri="{FF2B5EF4-FFF2-40B4-BE49-F238E27FC236}">
                <a16:creationId xmlns:a16="http://schemas.microsoft.com/office/drawing/2014/main" id="{B14FFB9B-5118-6965-9F70-C4CFC9EA57EB}"/>
              </a:ext>
            </a:extLst>
          </p:cNvPr>
          <p:cNvGrpSpPr>
            <a:grpSpLocks/>
          </p:cNvGrpSpPr>
          <p:nvPr/>
        </p:nvGrpSpPr>
        <p:grpSpPr bwMode="auto">
          <a:xfrm>
            <a:off x="452136" y="1615202"/>
            <a:ext cx="4324350" cy="2343150"/>
            <a:chOff x="276" y="708"/>
            <a:chExt cx="2724" cy="1476"/>
          </a:xfrm>
        </p:grpSpPr>
        <p:sp>
          <p:nvSpPr>
            <p:cNvPr id="21" name="Rectangle 6">
              <a:extLst>
                <a:ext uri="{FF2B5EF4-FFF2-40B4-BE49-F238E27FC236}">
                  <a16:creationId xmlns:a16="http://schemas.microsoft.com/office/drawing/2014/main" id="{EEDEC21E-B60F-B50A-0B6E-386591198A2D}"/>
                </a:ext>
              </a:extLst>
            </p:cNvPr>
            <p:cNvSpPr>
              <a:spLocks noChangeArrowheads="1"/>
            </p:cNvSpPr>
            <p:nvPr/>
          </p:nvSpPr>
          <p:spPr bwMode="auto">
            <a:xfrm>
              <a:off x="492" y="768"/>
              <a:ext cx="2268" cy="1416"/>
            </a:xfrm>
            <a:prstGeom prst="rect">
              <a:avLst/>
            </a:prstGeom>
            <a:noFill/>
            <a:ln w="38100">
              <a:solidFill>
                <a:schemeClr val="tx1"/>
              </a:solidFill>
              <a:miter lim="800000"/>
              <a:headEnd/>
              <a:tailEnd/>
            </a:ln>
          </p:spPr>
          <p:txBody>
            <a:bodyPr wrap="none" anchor="ctr"/>
            <a:lstStyle/>
            <a:p>
              <a:endParaRPr lang="fr-FR" sz="1100">
                <a:latin typeface="Bookman Old Style" panose="02050604050505020204" pitchFamily="18" charset="0"/>
              </a:endParaRPr>
            </a:p>
          </p:txBody>
        </p:sp>
        <p:sp>
          <p:nvSpPr>
            <p:cNvPr id="22" name="Rectangle 7">
              <a:extLst>
                <a:ext uri="{FF2B5EF4-FFF2-40B4-BE49-F238E27FC236}">
                  <a16:creationId xmlns:a16="http://schemas.microsoft.com/office/drawing/2014/main" id="{07E84CCA-2328-9828-A2B5-C95868AB32A1}"/>
                </a:ext>
              </a:extLst>
            </p:cNvPr>
            <p:cNvSpPr>
              <a:spLocks noChangeArrowheads="1"/>
            </p:cNvSpPr>
            <p:nvPr/>
          </p:nvSpPr>
          <p:spPr bwMode="auto">
            <a:xfrm rot="10800000">
              <a:off x="2676" y="1020"/>
              <a:ext cx="168" cy="300"/>
            </a:xfrm>
            <a:prstGeom prst="rect">
              <a:avLst/>
            </a:prstGeom>
            <a:solidFill>
              <a:schemeClr val="bg1"/>
            </a:solidFill>
            <a:ln w="38100">
              <a:solidFill>
                <a:schemeClr val="tx1"/>
              </a:solidFill>
              <a:miter lim="800000"/>
              <a:headEnd/>
              <a:tailEnd/>
            </a:ln>
          </p:spPr>
          <p:txBody>
            <a:bodyPr wrap="none" anchor="ctr"/>
            <a:lstStyle/>
            <a:p>
              <a:endParaRPr lang="fr-FR" sz="1100">
                <a:latin typeface="Bookman Old Style" panose="02050604050505020204" pitchFamily="18" charset="0"/>
              </a:endParaRPr>
            </a:p>
          </p:txBody>
        </p:sp>
        <p:sp>
          <p:nvSpPr>
            <p:cNvPr id="23" name="Line 8">
              <a:extLst>
                <a:ext uri="{FF2B5EF4-FFF2-40B4-BE49-F238E27FC236}">
                  <a16:creationId xmlns:a16="http://schemas.microsoft.com/office/drawing/2014/main" id="{C1F033CD-55E8-5F24-ECD4-0A4F044C2B04}"/>
                </a:ext>
              </a:extLst>
            </p:cNvPr>
            <p:cNvSpPr>
              <a:spLocks noChangeShapeType="1"/>
            </p:cNvSpPr>
            <p:nvPr/>
          </p:nvSpPr>
          <p:spPr bwMode="auto">
            <a:xfrm flipV="1">
              <a:off x="2523" y="1464"/>
              <a:ext cx="0" cy="492"/>
            </a:xfrm>
            <a:prstGeom prst="line">
              <a:avLst/>
            </a:prstGeom>
            <a:noFill/>
            <a:ln w="9525">
              <a:solidFill>
                <a:schemeClr val="tx1"/>
              </a:solidFill>
              <a:round/>
              <a:headEnd/>
              <a:tailEnd type="triangle" w="med" len="med"/>
            </a:ln>
          </p:spPr>
          <p:txBody>
            <a:bodyPr/>
            <a:lstStyle/>
            <a:p>
              <a:endParaRPr lang="fr-FR" sz="1100">
                <a:latin typeface="Bookman Old Style" panose="02050604050505020204" pitchFamily="18" charset="0"/>
              </a:endParaRPr>
            </a:p>
          </p:txBody>
        </p:sp>
        <p:grpSp>
          <p:nvGrpSpPr>
            <p:cNvPr id="24" name="Group 9">
              <a:extLst>
                <a:ext uri="{FF2B5EF4-FFF2-40B4-BE49-F238E27FC236}">
                  <a16:creationId xmlns:a16="http://schemas.microsoft.com/office/drawing/2014/main" id="{A890982D-44F9-4018-9039-0876DDC09B44}"/>
                </a:ext>
              </a:extLst>
            </p:cNvPr>
            <p:cNvGrpSpPr>
              <a:grpSpLocks/>
            </p:cNvGrpSpPr>
            <p:nvPr/>
          </p:nvGrpSpPr>
          <p:grpSpPr bwMode="auto">
            <a:xfrm>
              <a:off x="2544" y="1512"/>
              <a:ext cx="432" cy="384"/>
              <a:chOff x="3636" y="2796"/>
              <a:chExt cx="432" cy="384"/>
            </a:xfrm>
          </p:grpSpPr>
          <p:sp>
            <p:nvSpPr>
              <p:cNvPr id="42" name="Oval 10">
                <a:extLst>
                  <a:ext uri="{FF2B5EF4-FFF2-40B4-BE49-F238E27FC236}">
                    <a16:creationId xmlns:a16="http://schemas.microsoft.com/office/drawing/2014/main" id="{B0B93AFD-E57C-EAA8-3DBC-9C3DA3E3D900}"/>
                  </a:ext>
                </a:extLst>
              </p:cNvPr>
              <p:cNvSpPr>
                <a:spLocks noChangeArrowheads="1"/>
              </p:cNvSpPr>
              <p:nvPr/>
            </p:nvSpPr>
            <p:spPr bwMode="auto">
              <a:xfrm>
                <a:off x="3636" y="2796"/>
                <a:ext cx="432" cy="384"/>
              </a:xfrm>
              <a:prstGeom prst="ellipse">
                <a:avLst/>
              </a:prstGeom>
              <a:solidFill>
                <a:schemeClr val="bg1"/>
              </a:solidFill>
              <a:ln w="38100">
                <a:solidFill>
                  <a:schemeClr val="tx1"/>
                </a:solidFill>
                <a:round/>
                <a:headEnd/>
                <a:tailEnd/>
              </a:ln>
            </p:spPr>
            <p:txBody>
              <a:bodyPr wrap="none" anchor="ctr"/>
              <a:lstStyle/>
              <a:p>
                <a:endParaRPr lang="fr-FR" sz="1100">
                  <a:latin typeface="Bookman Old Style" panose="02050604050505020204" pitchFamily="18" charset="0"/>
                </a:endParaRPr>
              </a:p>
            </p:txBody>
          </p:sp>
          <p:sp>
            <p:nvSpPr>
              <p:cNvPr id="43" name="Line 11">
                <a:extLst>
                  <a:ext uri="{FF2B5EF4-FFF2-40B4-BE49-F238E27FC236}">
                    <a16:creationId xmlns:a16="http://schemas.microsoft.com/office/drawing/2014/main" id="{668B8739-2036-BFC4-C1D8-B6873089292E}"/>
                  </a:ext>
                </a:extLst>
              </p:cNvPr>
              <p:cNvSpPr>
                <a:spLocks noChangeShapeType="1"/>
              </p:cNvSpPr>
              <p:nvPr/>
            </p:nvSpPr>
            <p:spPr bwMode="auto">
              <a:xfrm>
                <a:off x="3852" y="2832"/>
                <a:ext cx="0" cy="312"/>
              </a:xfrm>
              <a:prstGeom prst="line">
                <a:avLst/>
              </a:prstGeom>
              <a:noFill/>
              <a:ln w="38100">
                <a:solidFill>
                  <a:schemeClr val="tx1"/>
                </a:solidFill>
                <a:round/>
                <a:headEnd/>
                <a:tailEnd/>
              </a:ln>
            </p:spPr>
            <p:txBody>
              <a:bodyPr/>
              <a:lstStyle/>
              <a:p>
                <a:endParaRPr lang="fr-FR" sz="1100">
                  <a:latin typeface="Bookman Old Style" panose="02050604050505020204" pitchFamily="18" charset="0"/>
                </a:endParaRPr>
              </a:p>
            </p:txBody>
          </p:sp>
        </p:grpSp>
        <p:sp>
          <p:nvSpPr>
            <p:cNvPr id="25" name="Text Box 12">
              <a:extLst>
                <a:ext uri="{FF2B5EF4-FFF2-40B4-BE49-F238E27FC236}">
                  <a16:creationId xmlns:a16="http://schemas.microsoft.com/office/drawing/2014/main" id="{64921AB2-B927-4C3F-4537-5E1224F8A09A}"/>
                </a:ext>
              </a:extLst>
            </p:cNvPr>
            <p:cNvSpPr txBox="1">
              <a:spLocks noChangeArrowheads="1"/>
            </p:cNvSpPr>
            <p:nvPr/>
          </p:nvSpPr>
          <p:spPr bwMode="auto">
            <a:xfrm>
              <a:off x="2091" y="1596"/>
              <a:ext cx="780" cy="165"/>
            </a:xfrm>
            <a:prstGeom prst="rect">
              <a:avLst/>
            </a:prstGeom>
            <a:noFill/>
            <a:ln w="9525">
              <a:noFill/>
              <a:miter lim="800000"/>
              <a:headEnd/>
              <a:tailEnd/>
            </a:ln>
          </p:spPr>
          <p:txBody>
            <a:bodyPr>
              <a:spAutoFit/>
            </a:bodyPr>
            <a:lstStyle/>
            <a:p>
              <a:pPr>
                <a:spcBef>
                  <a:spcPct val="50000"/>
                </a:spcBef>
              </a:pPr>
              <a:r>
                <a:rPr lang="fr-FR" sz="1100" b="1" dirty="0">
                  <a:latin typeface="Bookman Old Style" panose="02050604050505020204" pitchFamily="18" charset="0"/>
                </a:rPr>
                <a:t>e=100V</a:t>
              </a:r>
            </a:p>
          </p:txBody>
        </p:sp>
        <p:sp>
          <p:nvSpPr>
            <p:cNvPr id="26" name="Text Box 13">
              <a:extLst>
                <a:ext uri="{FF2B5EF4-FFF2-40B4-BE49-F238E27FC236}">
                  <a16:creationId xmlns:a16="http://schemas.microsoft.com/office/drawing/2014/main" id="{DAC3A8FA-056E-1D19-6B3E-4081F14AD909}"/>
                </a:ext>
              </a:extLst>
            </p:cNvPr>
            <p:cNvSpPr txBox="1">
              <a:spLocks noChangeArrowheads="1"/>
            </p:cNvSpPr>
            <p:nvPr/>
          </p:nvSpPr>
          <p:spPr bwMode="auto">
            <a:xfrm>
              <a:off x="2268" y="1044"/>
              <a:ext cx="732" cy="165"/>
            </a:xfrm>
            <a:prstGeom prst="rect">
              <a:avLst/>
            </a:prstGeom>
            <a:noFill/>
            <a:ln w="9525">
              <a:noFill/>
              <a:miter lim="800000"/>
              <a:headEnd/>
              <a:tailEnd/>
            </a:ln>
          </p:spPr>
          <p:txBody>
            <a:bodyPr>
              <a:spAutoFit/>
            </a:bodyPr>
            <a:lstStyle/>
            <a:p>
              <a:pPr>
                <a:spcBef>
                  <a:spcPct val="50000"/>
                </a:spcBef>
              </a:pPr>
              <a:r>
                <a:rPr lang="fr-FR" sz="1100" b="1" dirty="0">
                  <a:latin typeface="Bookman Old Style" panose="02050604050505020204" pitchFamily="18" charset="0"/>
                  <a:sym typeface="Symbol" pitchFamily="18" charset="2"/>
                </a:rPr>
                <a:t>=10</a:t>
              </a:r>
              <a:endParaRPr lang="fr-FR" sz="1100" b="1" dirty="0">
                <a:latin typeface="Bookman Old Style" panose="02050604050505020204" pitchFamily="18" charset="0"/>
              </a:endParaRPr>
            </a:p>
          </p:txBody>
        </p:sp>
        <p:sp>
          <p:nvSpPr>
            <p:cNvPr id="27" name="Rectangle 14">
              <a:extLst>
                <a:ext uri="{FF2B5EF4-FFF2-40B4-BE49-F238E27FC236}">
                  <a16:creationId xmlns:a16="http://schemas.microsoft.com/office/drawing/2014/main" id="{9AAA01C0-31A8-79F8-6900-F71690676284}"/>
                </a:ext>
              </a:extLst>
            </p:cNvPr>
            <p:cNvSpPr>
              <a:spLocks noChangeArrowheads="1"/>
            </p:cNvSpPr>
            <p:nvPr/>
          </p:nvSpPr>
          <p:spPr bwMode="auto">
            <a:xfrm rot="10800000">
              <a:off x="432" y="1020"/>
              <a:ext cx="168" cy="300"/>
            </a:xfrm>
            <a:prstGeom prst="rect">
              <a:avLst/>
            </a:prstGeom>
            <a:solidFill>
              <a:schemeClr val="bg1"/>
            </a:solidFill>
            <a:ln w="38100">
              <a:solidFill>
                <a:schemeClr val="tx1"/>
              </a:solidFill>
              <a:miter lim="800000"/>
              <a:headEnd/>
              <a:tailEnd/>
            </a:ln>
          </p:spPr>
          <p:txBody>
            <a:bodyPr wrap="none" anchor="ctr"/>
            <a:lstStyle/>
            <a:p>
              <a:endParaRPr lang="fr-FR" sz="1100">
                <a:latin typeface="Bookman Old Style" panose="02050604050505020204" pitchFamily="18" charset="0"/>
              </a:endParaRPr>
            </a:p>
          </p:txBody>
        </p:sp>
        <p:sp>
          <p:nvSpPr>
            <p:cNvPr id="28" name="Line 15">
              <a:extLst>
                <a:ext uri="{FF2B5EF4-FFF2-40B4-BE49-F238E27FC236}">
                  <a16:creationId xmlns:a16="http://schemas.microsoft.com/office/drawing/2014/main" id="{D368E937-D58B-F4B8-D1A2-A19AE6110DBB}"/>
                </a:ext>
              </a:extLst>
            </p:cNvPr>
            <p:cNvSpPr>
              <a:spLocks noChangeShapeType="1"/>
            </p:cNvSpPr>
            <p:nvPr/>
          </p:nvSpPr>
          <p:spPr bwMode="auto">
            <a:xfrm flipV="1">
              <a:off x="768" y="1464"/>
              <a:ext cx="0" cy="492"/>
            </a:xfrm>
            <a:prstGeom prst="line">
              <a:avLst/>
            </a:prstGeom>
            <a:noFill/>
            <a:ln w="9525">
              <a:solidFill>
                <a:schemeClr val="tx1"/>
              </a:solidFill>
              <a:round/>
              <a:headEnd/>
              <a:tailEnd type="triangle" w="med" len="med"/>
            </a:ln>
          </p:spPr>
          <p:txBody>
            <a:bodyPr/>
            <a:lstStyle/>
            <a:p>
              <a:endParaRPr lang="fr-FR" sz="1100">
                <a:latin typeface="Bookman Old Style" panose="02050604050505020204" pitchFamily="18" charset="0"/>
              </a:endParaRPr>
            </a:p>
          </p:txBody>
        </p:sp>
        <p:grpSp>
          <p:nvGrpSpPr>
            <p:cNvPr id="29" name="Group 16">
              <a:extLst>
                <a:ext uri="{FF2B5EF4-FFF2-40B4-BE49-F238E27FC236}">
                  <a16:creationId xmlns:a16="http://schemas.microsoft.com/office/drawing/2014/main" id="{4DDE81E4-2DB5-F86A-DD4D-907B07CCF805}"/>
                </a:ext>
              </a:extLst>
            </p:cNvPr>
            <p:cNvGrpSpPr>
              <a:grpSpLocks/>
            </p:cNvGrpSpPr>
            <p:nvPr/>
          </p:nvGrpSpPr>
          <p:grpSpPr bwMode="auto">
            <a:xfrm>
              <a:off x="276" y="1512"/>
              <a:ext cx="432" cy="384"/>
              <a:chOff x="3636" y="2796"/>
              <a:chExt cx="432" cy="384"/>
            </a:xfrm>
          </p:grpSpPr>
          <p:sp>
            <p:nvSpPr>
              <p:cNvPr id="40" name="Oval 17">
                <a:extLst>
                  <a:ext uri="{FF2B5EF4-FFF2-40B4-BE49-F238E27FC236}">
                    <a16:creationId xmlns:a16="http://schemas.microsoft.com/office/drawing/2014/main" id="{56F3429A-69FA-E1FC-8F7C-0CC388A285E6}"/>
                  </a:ext>
                </a:extLst>
              </p:cNvPr>
              <p:cNvSpPr>
                <a:spLocks noChangeArrowheads="1"/>
              </p:cNvSpPr>
              <p:nvPr/>
            </p:nvSpPr>
            <p:spPr bwMode="auto">
              <a:xfrm>
                <a:off x="3636" y="2796"/>
                <a:ext cx="432" cy="384"/>
              </a:xfrm>
              <a:prstGeom prst="ellipse">
                <a:avLst/>
              </a:prstGeom>
              <a:solidFill>
                <a:schemeClr val="bg1"/>
              </a:solidFill>
              <a:ln w="38100">
                <a:solidFill>
                  <a:schemeClr val="tx1"/>
                </a:solidFill>
                <a:round/>
                <a:headEnd/>
                <a:tailEnd/>
              </a:ln>
            </p:spPr>
            <p:txBody>
              <a:bodyPr wrap="none" anchor="ctr"/>
              <a:lstStyle/>
              <a:p>
                <a:endParaRPr lang="fr-FR" sz="1100">
                  <a:latin typeface="Bookman Old Style" panose="02050604050505020204" pitchFamily="18" charset="0"/>
                </a:endParaRPr>
              </a:p>
            </p:txBody>
          </p:sp>
          <p:sp>
            <p:nvSpPr>
              <p:cNvPr id="41" name="Line 18">
                <a:extLst>
                  <a:ext uri="{FF2B5EF4-FFF2-40B4-BE49-F238E27FC236}">
                    <a16:creationId xmlns:a16="http://schemas.microsoft.com/office/drawing/2014/main" id="{04DDB76A-A511-258F-303B-58423837BEDC}"/>
                  </a:ext>
                </a:extLst>
              </p:cNvPr>
              <p:cNvSpPr>
                <a:spLocks noChangeShapeType="1"/>
              </p:cNvSpPr>
              <p:nvPr/>
            </p:nvSpPr>
            <p:spPr bwMode="auto">
              <a:xfrm>
                <a:off x="3852" y="2832"/>
                <a:ext cx="0" cy="312"/>
              </a:xfrm>
              <a:prstGeom prst="line">
                <a:avLst/>
              </a:prstGeom>
              <a:noFill/>
              <a:ln w="38100">
                <a:solidFill>
                  <a:schemeClr val="tx1"/>
                </a:solidFill>
                <a:round/>
                <a:headEnd/>
                <a:tailEnd/>
              </a:ln>
            </p:spPr>
            <p:txBody>
              <a:bodyPr/>
              <a:lstStyle/>
              <a:p>
                <a:endParaRPr lang="fr-FR" sz="1100">
                  <a:latin typeface="Bookman Old Style" panose="02050604050505020204" pitchFamily="18" charset="0"/>
                </a:endParaRPr>
              </a:p>
            </p:txBody>
          </p:sp>
        </p:grpSp>
        <p:grpSp>
          <p:nvGrpSpPr>
            <p:cNvPr id="30" name="Group 19">
              <a:extLst>
                <a:ext uri="{FF2B5EF4-FFF2-40B4-BE49-F238E27FC236}">
                  <a16:creationId xmlns:a16="http://schemas.microsoft.com/office/drawing/2014/main" id="{E443786D-03FA-40A8-362F-01CB298F7F08}"/>
                </a:ext>
              </a:extLst>
            </p:cNvPr>
            <p:cNvGrpSpPr>
              <a:grpSpLocks/>
            </p:cNvGrpSpPr>
            <p:nvPr/>
          </p:nvGrpSpPr>
          <p:grpSpPr bwMode="auto">
            <a:xfrm>
              <a:off x="1440" y="780"/>
              <a:ext cx="168" cy="1404"/>
              <a:chOff x="4092" y="2256"/>
              <a:chExt cx="168" cy="1404"/>
            </a:xfrm>
          </p:grpSpPr>
          <p:sp>
            <p:nvSpPr>
              <p:cNvPr id="38" name="Line 20">
                <a:extLst>
                  <a:ext uri="{FF2B5EF4-FFF2-40B4-BE49-F238E27FC236}">
                    <a16:creationId xmlns:a16="http://schemas.microsoft.com/office/drawing/2014/main" id="{D3887AAB-045B-5931-EE0F-753034FEAD50}"/>
                  </a:ext>
                </a:extLst>
              </p:cNvPr>
              <p:cNvSpPr>
                <a:spLocks noChangeShapeType="1"/>
              </p:cNvSpPr>
              <p:nvPr/>
            </p:nvSpPr>
            <p:spPr bwMode="auto">
              <a:xfrm>
                <a:off x="4176" y="2256"/>
                <a:ext cx="0" cy="1404"/>
              </a:xfrm>
              <a:prstGeom prst="line">
                <a:avLst/>
              </a:prstGeom>
              <a:noFill/>
              <a:ln w="38100">
                <a:solidFill>
                  <a:schemeClr val="tx1"/>
                </a:solidFill>
                <a:round/>
                <a:headEnd/>
                <a:tailEnd/>
              </a:ln>
            </p:spPr>
            <p:txBody>
              <a:bodyPr/>
              <a:lstStyle/>
              <a:p>
                <a:endParaRPr lang="fr-FR" sz="1100">
                  <a:latin typeface="Bookman Old Style" panose="02050604050505020204" pitchFamily="18" charset="0"/>
                </a:endParaRPr>
              </a:p>
            </p:txBody>
          </p:sp>
          <p:sp>
            <p:nvSpPr>
              <p:cNvPr id="39" name="Rectangle 21">
                <a:extLst>
                  <a:ext uri="{FF2B5EF4-FFF2-40B4-BE49-F238E27FC236}">
                    <a16:creationId xmlns:a16="http://schemas.microsoft.com/office/drawing/2014/main" id="{27C9D1D4-DD9E-FA28-5EC4-619CA04D40C1}"/>
                  </a:ext>
                </a:extLst>
              </p:cNvPr>
              <p:cNvSpPr>
                <a:spLocks noChangeArrowheads="1"/>
              </p:cNvSpPr>
              <p:nvPr/>
            </p:nvSpPr>
            <p:spPr bwMode="auto">
              <a:xfrm rot="10800000">
                <a:off x="4092" y="2688"/>
                <a:ext cx="168" cy="528"/>
              </a:xfrm>
              <a:prstGeom prst="rect">
                <a:avLst/>
              </a:prstGeom>
              <a:solidFill>
                <a:schemeClr val="bg1"/>
              </a:solidFill>
              <a:ln w="38100">
                <a:solidFill>
                  <a:schemeClr val="tx1"/>
                </a:solidFill>
                <a:miter lim="800000"/>
                <a:headEnd/>
                <a:tailEnd/>
              </a:ln>
            </p:spPr>
            <p:txBody>
              <a:bodyPr wrap="none" anchor="ctr"/>
              <a:lstStyle/>
              <a:p>
                <a:endParaRPr lang="fr-FR" sz="1100">
                  <a:latin typeface="Bookman Old Style" panose="02050604050505020204" pitchFamily="18" charset="0"/>
                </a:endParaRPr>
              </a:p>
            </p:txBody>
          </p:sp>
        </p:grpSp>
        <p:sp>
          <p:nvSpPr>
            <p:cNvPr id="31" name="Text Box 22">
              <a:extLst>
                <a:ext uri="{FF2B5EF4-FFF2-40B4-BE49-F238E27FC236}">
                  <a16:creationId xmlns:a16="http://schemas.microsoft.com/office/drawing/2014/main" id="{27EBC7DD-2B5C-6CE7-2F6D-9518C43CCC0E}"/>
                </a:ext>
              </a:extLst>
            </p:cNvPr>
            <p:cNvSpPr txBox="1">
              <a:spLocks noChangeArrowheads="1"/>
            </p:cNvSpPr>
            <p:nvPr/>
          </p:nvSpPr>
          <p:spPr bwMode="auto">
            <a:xfrm>
              <a:off x="720" y="1584"/>
              <a:ext cx="936" cy="165"/>
            </a:xfrm>
            <a:prstGeom prst="rect">
              <a:avLst/>
            </a:prstGeom>
            <a:noFill/>
            <a:ln w="9525">
              <a:noFill/>
              <a:miter lim="800000"/>
              <a:headEnd/>
              <a:tailEnd/>
            </a:ln>
          </p:spPr>
          <p:txBody>
            <a:bodyPr>
              <a:spAutoFit/>
            </a:bodyPr>
            <a:lstStyle/>
            <a:p>
              <a:pPr>
                <a:spcBef>
                  <a:spcPct val="50000"/>
                </a:spcBef>
              </a:pPr>
              <a:r>
                <a:rPr lang="fr-FR" sz="1100" b="1" dirty="0">
                  <a:latin typeface="Bookman Old Style" panose="02050604050505020204" pitchFamily="18" charset="0"/>
                </a:rPr>
                <a:t>E=120V</a:t>
              </a:r>
            </a:p>
          </p:txBody>
        </p:sp>
        <p:sp>
          <p:nvSpPr>
            <p:cNvPr id="32" name="Text Box 23">
              <a:extLst>
                <a:ext uri="{FF2B5EF4-FFF2-40B4-BE49-F238E27FC236}">
                  <a16:creationId xmlns:a16="http://schemas.microsoft.com/office/drawing/2014/main" id="{82A79EE6-1814-0309-9642-1AFCBA67D9A3}"/>
                </a:ext>
              </a:extLst>
            </p:cNvPr>
            <p:cNvSpPr txBox="1">
              <a:spLocks noChangeArrowheads="1"/>
            </p:cNvSpPr>
            <p:nvPr/>
          </p:nvSpPr>
          <p:spPr bwMode="auto">
            <a:xfrm>
              <a:off x="552" y="984"/>
              <a:ext cx="876" cy="165"/>
            </a:xfrm>
            <a:prstGeom prst="rect">
              <a:avLst/>
            </a:prstGeom>
            <a:noFill/>
            <a:ln w="9525">
              <a:noFill/>
              <a:miter lim="800000"/>
              <a:headEnd/>
              <a:tailEnd/>
            </a:ln>
          </p:spPr>
          <p:txBody>
            <a:bodyPr>
              <a:spAutoFit/>
            </a:bodyPr>
            <a:lstStyle/>
            <a:p>
              <a:pPr>
                <a:spcBef>
                  <a:spcPct val="50000"/>
                </a:spcBef>
              </a:pPr>
              <a:r>
                <a:rPr lang="fr-FR" sz="1100" b="1" dirty="0">
                  <a:latin typeface="Bookman Old Style" panose="02050604050505020204" pitchFamily="18" charset="0"/>
                </a:rPr>
                <a:t> r =2</a:t>
              </a:r>
              <a:r>
                <a:rPr lang="fr-FR" sz="1100" b="1" dirty="0">
                  <a:latin typeface="Bookman Old Style" panose="02050604050505020204" pitchFamily="18" charset="0"/>
                  <a:sym typeface="Symbol" pitchFamily="18" charset="2"/>
                </a:rPr>
                <a:t></a:t>
              </a:r>
              <a:endParaRPr lang="fr-FR" sz="1100" b="1" dirty="0">
                <a:latin typeface="Bookman Old Style" panose="02050604050505020204" pitchFamily="18" charset="0"/>
              </a:endParaRPr>
            </a:p>
          </p:txBody>
        </p:sp>
        <p:sp>
          <p:nvSpPr>
            <p:cNvPr id="33" name="Text Box 24">
              <a:extLst>
                <a:ext uri="{FF2B5EF4-FFF2-40B4-BE49-F238E27FC236}">
                  <a16:creationId xmlns:a16="http://schemas.microsoft.com/office/drawing/2014/main" id="{AF24F8BC-44B8-92AF-1B81-13B656FB0630}"/>
                </a:ext>
              </a:extLst>
            </p:cNvPr>
            <p:cNvSpPr txBox="1">
              <a:spLocks noChangeArrowheads="1"/>
            </p:cNvSpPr>
            <p:nvPr/>
          </p:nvSpPr>
          <p:spPr bwMode="auto">
            <a:xfrm>
              <a:off x="1572" y="1296"/>
              <a:ext cx="816" cy="165"/>
            </a:xfrm>
            <a:prstGeom prst="rect">
              <a:avLst/>
            </a:prstGeom>
            <a:noFill/>
            <a:ln w="9525">
              <a:noFill/>
              <a:miter lim="800000"/>
              <a:headEnd/>
              <a:tailEnd/>
            </a:ln>
          </p:spPr>
          <p:txBody>
            <a:bodyPr>
              <a:spAutoFit/>
            </a:bodyPr>
            <a:lstStyle/>
            <a:p>
              <a:pPr>
                <a:spcBef>
                  <a:spcPct val="50000"/>
                </a:spcBef>
              </a:pPr>
              <a:r>
                <a:rPr lang="fr-FR" sz="1100" b="1" dirty="0">
                  <a:latin typeface="Bookman Old Style" panose="02050604050505020204" pitchFamily="18" charset="0"/>
                </a:rPr>
                <a:t>R=38</a:t>
              </a:r>
              <a:r>
                <a:rPr lang="fr-FR" sz="1100" b="1" dirty="0">
                  <a:latin typeface="Bookman Old Style" panose="02050604050505020204" pitchFamily="18" charset="0"/>
                  <a:sym typeface="Symbol" pitchFamily="18" charset="2"/>
                </a:rPr>
                <a:t></a:t>
              </a:r>
              <a:endParaRPr lang="fr-FR" sz="1100" b="1" dirty="0">
                <a:latin typeface="Bookman Old Style" panose="02050604050505020204" pitchFamily="18" charset="0"/>
              </a:endParaRPr>
            </a:p>
          </p:txBody>
        </p:sp>
        <p:sp>
          <p:nvSpPr>
            <p:cNvPr id="34" name="Text Box 25">
              <a:extLst>
                <a:ext uri="{FF2B5EF4-FFF2-40B4-BE49-F238E27FC236}">
                  <a16:creationId xmlns:a16="http://schemas.microsoft.com/office/drawing/2014/main" id="{84EB6E08-3C08-8D33-D224-7313E3499F9E}"/>
                </a:ext>
              </a:extLst>
            </p:cNvPr>
            <p:cNvSpPr txBox="1">
              <a:spLocks noChangeArrowheads="1"/>
            </p:cNvSpPr>
            <p:nvPr/>
          </p:nvSpPr>
          <p:spPr bwMode="auto">
            <a:xfrm>
              <a:off x="1758" y="772"/>
              <a:ext cx="276" cy="165"/>
            </a:xfrm>
            <a:prstGeom prst="rect">
              <a:avLst/>
            </a:prstGeom>
            <a:noFill/>
            <a:ln w="9525">
              <a:noFill/>
              <a:miter lim="800000"/>
              <a:headEnd/>
              <a:tailEnd/>
            </a:ln>
          </p:spPr>
          <p:txBody>
            <a:bodyPr>
              <a:spAutoFit/>
            </a:bodyPr>
            <a:lstStyle/>
            <a:p>
              <a:pPr>
                <a:spcBef>
                  <a:spcPct val="50000"/>
                </a:spcBef>
              </a:pPr>
              <a:r>
                <a:rPr lang="fr-FR" sz="1100" b="1" dirty="0">
                  <a:solidFill>
                    <a:srgbClr val="FF0000"/>
                  </a:solidFill>
                  <a:latin typeface="Bookman Old Style" panose="02050604050505020204" pitchFamily="18" charset="0"/>
                </a:rPr>
                <a:t>A</a:t>
              </a:r>
            </a:p>
          </p:txBody>
        </p:sp>
        <p:sp>
          <p:nvSpPr>
            <p:cNvPr id="35" name="Text Box 26">
              <a:extLst>
                <a:ext uri="{FF2B5EF4-FFF2-40B4-BE49-F238E27FC236}">
                  <a16:creationId xmlns:a16="http://schemas.microsoft.com/office/drawing/2014/main" id="{DC818053-97C6-B4AB-BE67-AC089F288761}"/>
                </a:ext>
              </a:extLst>
            </p:cNvPr>
            <p:cNvSpPr txBox="1">
              <a:spLocks noChangeArrowheads="1"/>
            </p:cNvSpPr>
            <p:nvPr/>
          </p:nvSpPr>
          <p:spPr bwMode="auto">
            <a:xfrm>
              <a:off x="1704" y="1896"/>
              <a:ext cx="264" cy="165"/>
            </a:xfrm>
            <a:prstGeom prst="rect">
              <a:avLst/>
            </a:prstGeom>
            <a:noFill/>
            <a:ln w="9525">
              <a:noFill/>
              <a:miter lim="800000"/>
              <a:headEnd/>
              <a:tailEnd/>
            </a:ln>
          </p:spPr>
          <p:txBody>
            <a:bodyPr>
              <a:spAutoFit/>
            </a:bodyPr>
            <a:lstStyle/>
            <a:p>
              <a:pPr>
                <a:spcBef>
                  <a:spcPct val="50000"/>
                </a:spcBef>
              </a:pPr>
              <a:r>
                <a:rPr lang="fr-FR" sz="1100" b="1" dirty="0">
                  <a:solidFill>
                    <a:srgbClr val="FF0000"/>
                  </a:solidFill>
                  <a:latin typeface="Bookman Old Style" panose="02050604050505020204" pitchFamily="18" charset="0"/>
                </a:rPr>
                <a:t>B</a:t>
              </a:r>
            </a:p>
          </p:txBody>
        </p:sp>
        <p:sp>
          <p:nvSpPr>
            <p:cNvPr id="36" name="Oval 27">
              <a:extLst>
                <a:ext uri="{FF2B5EF4-FFF2-40B4-BE49-F238E27FC236}">
                  <a16:creationId xmlns:a16="http://schemas.microsoft.com/office/drawing/2014/main" id="{06F92C19-9C24-B72D-9D1B-28920ED8A760}"/>
                </a:ext>
              </a:extLst>
            </p:cNvPr>
            <p:cNvSpPr>
              <a:spLocks noChangeArrowheads="1"/>
            </p:cNvSpPr>
            <p:nvPr/>
          </p:nvSpPr>
          <p:spPr bwMode="auto">
            <a:xfrm>
              <a:off x="1788" y="2124"/>
              <a:ext cx="56" cy="56"/>
            </a:xfrm>
            <a:prstGeom prst="ellipse">
              <a:avLst/>
            </a:prstGeom>
            <a:solidFill>
              <a:schemeClr val="tx1"/>
            </a:solidFill>
            <a:ln w="9525">
              <a:solidFill>
                <a:schemeClr val="tx1"/>
              </a:solidFill>
              <a:round/>
              <a:headEnd/>
              <a:tailEnd/>
            </a:ln>
          </p:spPr>
          <p:txBody>
            <a:bodyPr wrap="none" anchor="ctr"/>
            <a:lstStyle/>
            <a:p>
              <a:pPr algn="ctr"/>
              <a:endParaRPr lang="fr-FR" sz="1100">
                <a:latin typeface="Bookman Old Style" panose="02050604050505020204" pitchFamily="18" charset="0"/>
              </a:endParaRPr>
            </a:p>
          </p:txBody>
        </p:sp>
        <p:sp>
          <p:nvSpPr>
            <p:cNvPr id="37" name="Oval 28">
              <a:extLst>
                <a:ext uri="{FF2B5EF4-FFF2-40B4-BE49-F238E27FC236}">
                  <a16:creationId xmlns:a16="http://schemas.microsoft.com/office/drawing/2014/main" id="{777B8697-7960-E9E3-1952-241A50CA6501}"/>
                </a:ext>
              </a:extLst>
            </p:cNvPr>
            <p:cNvSpPr>
              <a:spLocks noChangeArrowheads="1"/>
            </p:cNvSpPr>
            <p:nvPr/>
          </p:nvSpPr>
          <p:spPr bwMode="auto">
            <a:xfrm>
              <a:off x="1788" y="708"/>
              <a:ext cx="56" cy="56"/>
            </a:xfrm>
            <a:prstGeom prst="ellipse">
              <a:avLst/>
            </a:prstGeom>
            <a:solidFill>
              <a:schemeClr val="tx1"/>
            </a:solidFill>
            <a:ln w="9525">
              <a:solidFill>
                <a:schemeClr val="tx1"/>
              </a:solidFill>
              <a:round/>
              <a:headEnd/>
              <a:tailEnd/>
            </a:ln>
          </p:spPr>
          <p:txBody>
            <a:bodyPr wrap="none" anchor="ctr"/>
            <a:lstStyle/>
            <a:p>
              <a:pPr algn="ctr"/>
              <a:endParaRPr lang="fr-FR" sz="1100">
                <a:latin typeface="Bookman Old Style" panose="02050604050505020204" pitchFamily="18" charset="0"/>
              </a:endParaRPr>
            </a:p>
          </p:txBody>
        </p:sp>
      </p:grpSp>
      <p:graphicFrame>
        <p:nvGraphicFramePr>
          <p:cNvPr id="44" name="Object 29">
            <a:extLst>
              <a:ext uri="{FF2B5EF4-FFF2-40B4-BE49-F238E27FC236}">
                <a16:creationId xmlns:a16="http://schemas.microsoft.com/office/drawing/2014/main" id="{30DDB99B-C925-CD68-A14F-D84DD38E2802}"/>
              </a:ext>
            </a:extLst>
          </p:cNvPr>
          <p:cNvGraphicFramePr>
            <a:graphicFrameLocks noChangeAspect="1"/>
          </p:cNvGraphicFramePr>
          <p:nvPr>
            <p:extLst>
              <p:ext uri="{D42A27DB-BD31-4B8C-83A1-F6EECF244321}">
                <p14:modId xmlns:p14="http://schemas.microsoft.com/office/powerpoint/2010/main" val="2627761898"/>
              </p:ext>
            </p:extLst>
          </p:nvPr>
        </p:nvGraphicFramePr>
        <p:xfrm>
          <a:off x="4958425" y="1623139"/>
          <a:ext cx="3709988" cy="2384425"/>
        </p:xfrm>
        <a:graphic>
          <a:graphicData uri="http://schemas.openxmlformats.org/presentationml/2006/ole">
            <mc:AlternateContent xmlns:mc="http://schemas.openxmlformats.org/markup-compatibility/2006">
              <mc:Choice xmlns:v="urn:schemas-microsoft-com:vml" Requires="v">
                <p:oleObj name="Equation" r:id="rId3" imgW="1371600" imgH="914400" progId="">
                  <p:embed/>
                </p:oleObj>
              </mc:Choice>
              <mc:Fallback>
                <p:oleObj name="Equation" r:id="rId3" imgW="1371600" imgH="914400" progId="">
                  <p:embed/>
                  <p:pic>
                    <p:nvPicPr>
                      <p:cNvPr id="10242" name="Object 2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58425" y="1623139"/>
                        <a:ext cx="3709988" cy="2384425"/>
                      </a:xfrm>
                      <a:prstGeom prst="rect">
                        <a:avLst/>
                      </a:prstGeom>
                      <a:noFill/>
                      <a:ln w="38100">
                        <a:solidFill>
                          <a:schemeClr val="accent1"/>
                        </a:solidFill>
                        <a:miter lim="800000"/>
                        <a:headEnd/>
                        <a:tailEnd/>
                      </a:ln>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5" name="Text Box 30">
            <a:extLst>
              <a:ext uri="{FF2B5EF4-FFF2-40B4-BE49-F238E27FC236}">
                <a16:creationId xmlns:a16="http://schemas.microsoft.com/office/drawing/2014/main" id="{96E1FFEB-D27E-CF28-9448-4DF1DC75EFCB}"/>
              </a:ext>
            </a:extLst>
          </p:cNvPr>
          <p:cNvSpPr txBox="1">
            <a:spLocks noChangeArrowheads="1"/>
          </p:cNvSpPr>
          <p:nvPr/>
        </p:nvSpPr>
        <p:spPr bwMode="auto">
          <a:xfrm>
            <a:off x="3804936" y="4202618"/>
            <a:ext cx="2838450" cy="338554"/>
          </a:xfrm>
          <a:prstGeom prst="rect">
            <a:avLst/>
          </a:prstGeom>
          <a:noFill/>
          <a:ln w="9525">
            <a:noFill/>
            <a:miter lim="800000"/>
            <a:headEnd/>
            <a:tailEnd/>
          </a:ln>
        </p:spPr>
        <p:txBody>
          <a:bodyPr>
            <a:spAutoFit/>
          </a:bodyPr>
          <a:lstStyle/>
          <a:p>
            <a:pPr>
              <a:spcBef>
                <a:spcPct val="50000"/>
              </a:spcBef>
            </a:pPr>
            <a:r>
              <a:rPr lang="fr-FR" sz="1600" b="1" dirty="0">
                <a:solidFill>
                  <a:srgbClr val="FF0000"/>
                </a:solidFill>
                <a:latin typeface="Bookman Old Style" panose="02050604050505020204" pitchFamily="18" charset="0"/>
              </a:rPr>
              <a:t>U</a:t>
            </a:r>
            <a:r>
              <a:rPr lang="fr-FR" sz="1600" b="1" baseline="-25000" dirty="0">
                <a:solidFill>
                  <a:srgbClr val="FF0000"/>
                </a:solidFill>
                <a:latin typeface="Bookman Old Style" panose="02050604050505020204" pitchFamily="18" charset="0"/>
              </a:rPr>
              <a:t>AB</a:t>
            </a:r>
            <a:r>
              <a:rPr lang="fr-FR" sz="1600" b="1" dirty="0">
                <a:solidFill>
                  <a:srgbClr val="FF0000"/>
                </a:solidFill>
                <a:latin typeface="Bookman Old Style" panose="02050604050505020204" pitchFamily="18" charset="0"/>
              </a:rPr>
              <a:t> = 111,76 V</a:t>
            </a:r>
          </a:p>
        </p:txBody>
      </p:sp>
      <p:sp>
        <p:nvSpPr>
          <p:cNvPr id="47" name="Text Box 31">
            <a:extLst>
              <a:ext uri="{FF2B5EF4-FFF2-40B4-BE49-F238E27FC236}">
                <a16:creationId xmlns:a16="http://schemas.microsoft.com/office/drawing/2014/main" id="{03A42462-BDED-D9D7-23E8-1215D145B404}"/>
              </a:ext>
            </a:extLst>
          </p:cNvPr>
          <p:cNvSpPr txBox="1">
            <a:spLocks noChangeArrowheads="1"/>
          </p:cNvSpPr>
          <p:nvPr/>
        </p:nvSpPr>
        <p:spPr bwMode="auto">
          <a:xfrm>
            <a:off x="579097" y="4632183"/>
            <a:ext cx="8346204" cy="553998"/>
          </a:xfrm>
          <a:prstGeom prst="rect">
            <a:avLst/>
          </a:prstGeom>
          <a:noFill/>
          <a:ln w="9525">
            <a:noFill/>
            <a:miter lim="800000"/>
            <a:headEnd/>
            <a:tailEnd/>
          </a:ln>
        </p:spPr>
        <p:txBody>
          <a:bodyPr wrap="square">
            <a:spAutoFit/>
          </a:bodyPr>
          <a:lstStyle/>
          <a:p>
            <a:pPr>
              <a:spcBef>
                <a:spcPct val="50000"/>
              </a:spcBef>
            </a:pPr>
            <a:r>
              <a:rPr lang="fr-FR" sz="1200" b="1" dirty="0">
                <a:latin typeface="Bookman Old Style" panose="02050604050505020204" pitchFamily="18" charset="0"/>
              </a:rPr>
              <a:t>Ensuite on calcule facilement les courants dans chaque branche. </a:t>
            </a:r>
          </a:p>
          <a:p>
            <a:pPr>
              <a:spcBef>
                <a:spcPct val="50000"/>
              </a:spcBef>
            </a:pPr>
            <a:r>
              <a:rPr lang="fr-FR" sz="1200" b="1" dirty="0">
                <a:latin typeface="Bookman Old Style" panose="02050604050505020204" pitchFamily="18" charset="0"/>
              </a:rPr>
              <a:t>Par exemple I</a:t>
            </a:r>
            <a:r>
              <a:rPr lang="fr-FR" sz="1200" b="1" baseline="-25000" dirty="0">
                <a:latin typeface="Bookman Old Style" panose="02050604050505020204" pitchFamily="18" charset="0"/>
              </a:rPr>
              <a:t>R</a:t>
            </a:r>
            <a:r>
              <a:rPr lang="fr-FR" sz="1200" b="1" dirty="0">
                <a:latin typeface="Bookman Old Style" panose="02050604050505020204" pitchFamily="18" charset="0"/>
              </a:rPr>
              <a:t> = 111,76 </a:t>
            </a:r>
            <a:r>
              <a:rPr lang="fr-FR" sz="1200" b="1" dirty="0">
                <a:latin typeface="Bookman Old Style" panose="02050604050505020204" pitchFamily="18" charset="0"/>
                <a:sym typeface="Symbol" pitchFamily="18" charset="2"/>
              </a:rPr>
              <a:t> 38 = 2,941 A</a:t>
            </a:r>
            <a:endParaRPr lang="fr-FR" sz="1200" b="1" dirty="0">
              <a:latin typeface="Bookman Old Style" panose="02050604050505020204" pitchFamily="18" charset="0"/>
            </a:endParaRPr>
          </a:p>
        </p:txBody>
      </p:sp>
    </p:spTree>
    <p:extLst>
      <p:ext uri="{BB962C8B-B14F-4D97-AF65-F5344CB8AC3E}">
        <p14:creationId xmlns:p14="http://schemas.microsoft.com/office/powerpoint/2010/main" val="3997592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additive="base">
                                        <p:cTn id="7" dur="500" fill="hold"/>
                                        <p:tgtEl>
                                          <p:spTgt spid="20"/>
                                        </p:tgtEl>
                                        <p:attrNameLst>
                                          <p:attrName>ppt_x</p:attrName>
                                        </p:attrNameLst>
                                      </p:cBhvr>
                                      <p:tavLst>
                                        <p:tav tm="0">
                                          <p:val>
                                            <p:strVal val="#ppt_x"/>
                                          </p:val>
                                        </p:tav>
                                        <p:tav tm="100000">
                                          <p:val>
                                            <p:strVal val="#ppt_x"/>
                                          </p:val>
                                        </p:tav>
                                      </p:tavLst>
                                    </p:anim>
                                    <p:anim calcmode="lin" valueType="num">
                                      <p:cBhvr additive="base">
                                        <p:cTn id="8"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4"/>
                                        </p:tgtEl>
                                        <p:attrNameLst>
                                          <p:attrName>style.visibility</p:attrName>
                                        </p:attrNameLst>
                                      </p:cBhvr>
                                      <p:to>
                                        <p:strVal val="visible"/>
                                      </p:to>
                                    </p:set>
                                    <p:anim calcmode="lin" valueType="num">
                                      <p:cBhvr additive="base">
                                        <p:cTn id="13" dur="500" fill="hold"/>
                                        <p:tgtEl>
                                          <p:spTgt spid="44"/>
                                        </p:tgtEl>
                                        <p:attrNameLst>
                                          <p:attrName>ppt_x</p:attrName>
                                        </p:attrNameLst>
                                      </p:cBhvr>
                                      <p:tavLst>
                                        <p:tav tm="0">
                                          <p:val>
                                            <p:strVal val="#ppt_x"/>
                                          </p:val>
                                        </p:tav>
                                        <p:tav tm="100000">
                                          <p:val>
                                            <p:strVal val="#ppt_x"/>
                                          </p:val>
                                        </p:tav>
                                      </p:tavLst>
                                    </p:anim>
                                    <p:anim calcmode="lin" valueType="num">
                                      <p:cBhvr additive="base">
                                        <p:cTn id="14" dur="500" fill="hold"/>
                                        <p:tgtEl>
                                          <p:spTgt spid="44"/>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anim calcmode="lin" valueType="num">
                                      <p:cBhvr additive="base">
                                        <p:cTn id="17" dur="500" fill="hold"/>
                                        <p:tgtEl>
                                          <p:spTgt spid="45"/>
                                        </p:tgtEl>
                                        <p:attrNameLst>
                                          <p:attrName>ppt_x</p:attrName>
                                        </p:attrNameLst>
                                      </p:cBhvr>
                                      <p:tavLst>
                                        <p:tav tm="0">
                                          <p:val>
                                            <p:strVal val="#ppt_x"/>
                                          </p:val>
                                        </p:tav>
                                        <p:tav tm="100000">
                                          <p:val>
                                            <p:strVal val="#ppt_x"/>
                                          </p:val>
                                        </p:tav>
                                      </p:tavLst>
                                    </p:anim>
                                    <p:anim calcmode="lin" valueType="num">
                                      <p:cBhvr additive="base">
                                        <p:cTn id="18" dur="500" fill="hold"/>
                                        <p:tgtEl>
                                          <p:spTgt spid="45"/>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anim calcmode="lin" valueType="num">
                                      <p:cBhvr additive="base">
                                        <p:cTn id="21" dur="500" fill="hold"/>
                                        <p:tgtEl>
                                          <p:spTgt spid="47"/>
                                        </p:tgtEl>
                                        <p:attrNameLst>
                                          <p:attrName>ppt_x</p:attrName>
                                        </p:attrNameLst>
                                      </p:cBhvr>
                                      <p:tavLst>
                                        <p:tav tm="0">
                                          <p:val>
                                            <p:strVal val="#ppt_x"/>
                                          </p:val>
                                        </p:tav>
                                        <p:tav tm="100000">
                                          <p:val>
                                            <p:strVal val="#ppt_x"/>
                                          </p:val>
                                        </p:tav>
                                      </p:tavLst>
                                    </p:anim>
                                    <p:anim calcmode="lin" valueType="num">
                                      <p:cBhvr additive="base">
                                        <p:cTn id="22" dur="500" fill="hold"/>
                                        <p:tgtEl>
                                          <p:spTgt spid="4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p:bldP spid="47" grpId="0"/>
    </p:bldLst>
  </p:timing>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57</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2.7 Théorème de </a:t>
            </a:r>
            <a:r>
              <a:rPr lang="fr-FR" sz="1400" b="1" spc="-5" dirty="0" err="1">
                <a:solidFill>
                  <a:srgbClr val="CC00CC"/>
                </a:solidFill>
                <a:latin typeface="Bookman Old Style" panose="02050604050505020204" pitchFamily="18" charset="0"/>
                <a:cs typeface="Arial"/>
              </a:rPr>
              <a:t>Kennelly</a:t>
            </a:r>
            <a:endParaRPr lang="fr-FR" altLang="fr-FR" sz="1400" b="1" spc="-5" dirty="0">
              <a:solidFill>
                <a:srgbClr val="CC00CC"/>
              </a:solidFill>
              <a:latin typeface="Bookman Old Style" panose="02050604050505020204" pitchFamily="18" charset="0"/>
              <a:cs typeface="Arial"/>
            </a:endParaRPr>
          </a:p>
        </p:txBody>
      </p:sp>
      <p:sp>
        <p:nvSpPr>
          <p:cNvPr id="16" name="TextBox 15">
            <a:extLst>
              <a:ext uri="{FF2B5EF4-FFF2-40B4-BE49-F238E27FC236}">
                <a16:creationId xmlns:a16="http://schemas.microsoft.com/office/drawing/2014/main" id="{73564CDF-0E89-9798-4A7B-A99F5EC4F860}"/>
              </a:ext>
            </a:extLst>
          </p:cNvPr>
          <p:cNvSpPr txBox="1"/>
          <p:nvPr/>
        </p:nvSpPr>
        <p:spPr>
          <a:xfrm>
            <a:off x="495209" y="1379268"/>
            <a:ext cx="8538603" cy="156966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dirty="0"/>
              <a:t>Le théorème de </a:t>
            </a:r>
            <a:r>
              <a:rPr lang="fr-FR" b="1" dirty="0" err="1"/>
              <a:t>Kennelly</a:t>
            </a:r>
            <a:r>
              <a:rPr lang="fr-FR" dirty="0"/>
              <a:t>, permet la transformation d’un montage de dipôles de type </a:t>
            </a:r>
            <a:r>
              <a:rPr lang="fr-FR" b="1" dirty="0"/>
              <a:t>triangle</a:t>
            </a:r>
            <a:r>
              <a:rPr lang="fr-FR" dirty="0"/>
              <a:t> en montage de type </a:t>
            </a:r>
            <a:r>
              <a:rPr lang="fr-FR" b="1" dirty="0"/>
              <a:t>étoile</a:t>
            </a:r>
            <a:r>
              <a:rPr lang="fr-FR" dirty="0"/>
              <a:t> ou </a:t>
            </a:r>
            <a:r>
              <a:rPr lang="fr-FR" b="1" dirty="0"/>
              <a:t>visse versa</a:t>
            </a:r>
            <a:r>
              <a:rPr lang="fr-FR" dirty="0"/>
              <a:t>.</a:t>
            </a:r>
          </a:p>
          <a:p>
            <a:pPr marL="0" indent="0">
              <a:buNone/>
            </a:pPr>
            <a:r>
              <a:rPr lang="fr-FR" dirty="0"/>
              <a:t> </a:t>
            </a:r>
          </a:p>
          <a:p>
            <a:r>
              <a:rPr lang="fr-FR" dirty="0"/>
              <a:t>Ce théorème est utile dans le cas où l’on souhait simplifier des schémas. En réalité il s’agit surtout d’équations simples permettant une équivalence de montage.</a:t>
            </a:r>
          </a:p>
        </p:txBody>
      </p:sp>
      <p:pic>
        <p:nvPicPr>
          <p:cNvPr id="20" name="Picture 19">
            <a:extLst>
              <a:ext uri="{FF2B5EF4-FFF2-40B4-BE49-F238E27FC236}">
                <a16:creationId xmlns:a16="http://schemas.microsoft.com/office/drawing/2014/main" id="{84C30752-E607-56C3-E3F9-F6F1F2A044B3}"/>
              </a:ext>
            </a:extLst>
          </p:cNvPr>
          <p:cNvPicPr>
            <a:picLocks noChangeAspect="1"/>
          </p:cNvPicPr>
          <p:nvPr/>
        </p:nvPicPr>
        <p:blipFill>
          <a:blip r:embed="rId3"/>
          <a:stretch>
            <a:fillRect/>
          </a:stretch>
        </p:blipFill>
        <p:spPr>
          <a:xfrm rot="16200000">
            <a:off x="3768740" y="1844816"/>
            <a:ext cx="1844040" cy="4038656"/>
          </a:xfrm>
          <a:prstGeom prst="rect">
            <a:avLst/>
          </a:prstGeom>
        </p:spPr>
      </p:pic>
    </p:spTree>
    <p:extLst>
      <p:ext uri="{BB962C8B-B14F-4D97-AF65-F5344CB8AC3E}">
        <p14:creationId xmlns:p14="http://schemas.microsoft.com/office/powerpoint/2010/main" val="99738992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58</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2.7 Théorème de </a:t>
            </a:r>
            <a:r>
              <a:rPr lang="fr-FR" sz="1400" b="1" spc="-5" dirty="0" err="1">
                <a:solidFill>
                  <a:srgbClr val="CC00CC"/>
                </a:solidFill>
                <a:latin typeface="Bookman Old Style" panose="02050604050505020204" pitchFamily="18" charset="0"/>
                <a:cs typeface="Arial"/>
              </a:rPr>
              <a:t>Kennelly</a:t>
            </a:r>
            <a:endParaRPr lang="fr-FR" altLang="fr-FR" sz="1400" b="1" spc="-5" dirty="0">
              <a:solidFill>
                <a:srgbClr val="CC00CC"/>
              </a:solidFill>
              <a:latin typeface="Bookman Old Style" panose="02050604050505020204" pitchFamily="18" charset="0"/>
              <a:cs typeface="Arial"/>
            </a:endParaRPr>
          </a:p>
        </p:txBody>
      </p:sp>
      <p:sp>
        <p:nvSpPr>
          <p:cNvPr id="16" name="TextBox 15">
            <a:extLst>
              <a:ext uri="{FF2B5EF4-FFF2-40B4-BE49-F238E27FC236}">
                <a16:creationId xmlns:a16="http://schemas.microsoft.com/office/drawing/2014/main" id="{73564CDF-0E89-9798-4A7B-A99F5EC4F860}"/>
              </a:ext>
            </a:extLst>
          </p:cNvPr>
          <p:cNvSpPr txBox="1"/>
          <p:nvPr/>
        </p:nvSpPr>
        <p:spPr>
          <a:xfrm>
            <a:off x="495209" y="1379268"/>
            <a:ext cx="8538603"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endParaRPr lang="fr-FR" dirty="0"/>
          </a:p>
        </p:txBody>
      </p:sp>
      <p:pic>
        <p:nvPicPr>
          <p:cNvPr id="20" name="Picture 19">
            <a:extLst>
              <a:ext uri="{FF2B5EF4-FFF2-40B4-BE49-F238E27FC236}">
                <a16:creationId xmlns:a16="http://schemas.microsoft.com/office/drawing/2014/main" id="{84C30752-E607-56C3-E3F9-F6F1F2A044B3}"/>
              </a:ext>
            </a:extLst>
          </p:cNvPr>
          <p:cNvPicPr>
            <a:picLocks noChangeAspect="1"/>
          </p:cNvPicPr>
          <p:nvPr/>
        </p:nvPicPr>
        <p:blipFill>
          <a:blip r:embed="rId3"/>
          <a:stretch>
            <a:fillRect/>
          </a:stretch>
        </p:blipFill>
        <p:spPr>
          <a:xfrm>
            <a:off x="518978" y="1291070"/>
            <a:ext cx="1661917" cy="3639787"/>
          </a:xfrm>
          <a:prstGeom prst="rect">
            <a:avLst/>
          </a:prstGeom>
        </p:spPr>
      </p:pic>
      <p:sp>
        <p:nvSpPr>
          <p:cNvPr id="5" name="TextBox 4">
            <a:extLst>
              <a:ext uri="{FF2B5EF4-FFF2-40B4-BE49-F238E27FC236}">
                <a16:creationId xmlns:a16="http://schemas.microsoft.com/office/drawing/2014/main" id="{E9CAAE37-DDCC-F90F-C8D3-6D6142F6714D}"/>
              </a:ext>
            </a:extLst>
          </p:cNvPr>
          <p:cNvSpPr txBox="1"/>
          <p:nvPr/>
        </p:nvSpPr>
        <p:spPr>
          <a:xfrm>
            <a:off x="2470121" y="1446612"/>
            <a:ext cx="4588778" cy="307777"/>
          </a:xfrm>
          <a:prstGeom prst="rect">
            <a:avLst/>
          </a:prstGeom>
          <a:noFill/>
        </p:spPr>
        <p:txBody>
          <a:bodyPr wrap="square">
            <a:spAutoFit/>
          </a:bodyPr>
          <a:lstStyle/>
          <a:p>
            <a:r>
              <a:rPr lang="fr-FR" sz="1400" b="1" dirty="0">
                <a:latin typeface="Bookman Old Style" panose="02050604050505020204" pitchFamily="18" charset="0"/>
              </a:rPr>
              <a:t>Transformation </a:t>
            </a:r>
            <a:r>
              <a:rPr lang="fr-FR" sz="1400" b="1" dirty="0">
                <a:solidFill>
                  <a:srgbClr val="0000FF"/>
                </a:solidFill>
                <a:latin typeface="Bookman Old Style" panose="02050604050505020204" pitchFamily="18" charset="0"/>
              </a:rPr>
              <a:t>Triangle</a:t>
            </a:r>
            <a:r>
              <a:rPr lang="fr-FR" sz="1400" b="1" dirty="0">
                <a:solidFill>
                  <a:srgbClr val="FF0000"/>
                </a:solidFill>
                <a:latin typeface="Bookman Old Style" panose="02050604050505020204" pitchFamily="18" charset="0"/>
              </a:rPr>
              <a:t>-Etoile</a:t>
            </a:r>
          </a:p>
        </p:txBody>
      </p:sp>
      <p:pic>
        <p:nvPicPr>
          <p:cNvPr id="12" name="Picture 11">
            <a:extLst>
              <a:ext uri="{FF2B5EF4-FFF2-40B4-BE49-F238E27FC236}">
                <a16:creationId xmlns:a16="http://schemas.microsoft.com/office/drawing/2014/main" id="{756896C0-2D0C-62A5-B65C-C3190B7926D9}"/>
              </a:ext>
            </a:extLst>
          </p:cNvPr>
          <p:cNvPicPr>
            <a:picLocks noChangeAspect="1"/>
          </p:cNvPicPr>
          <p:nvPr/>
        </p:nvPicPr>
        <p:blipFill>
          <a:blip r:embed="rId4"/>
          <a:stretch>
            <a:fillRect/>
          </a:stretch>
        </p:blipFill>
        <p:spPr>
          <a:xfrm>
            <a:off x="2651983" y="2294258"/>
            <a:ext cx="2811472" cy="2229789"/>
          </a:xfrm>
          <a:prstGeom prst="rect">
            <a:avLst/>
          </a:prstGeom>
        </p:spPr>
      </p:pic>
      <p:sp>
        <p:nvSpPr>
          <p:cNvPr id="13" name="TextBox 12">
            <a:extLst>
              <a:ext uri="{FF2B5EF4-FFF2-40B4-BE49-F238E27FC236}">
                <a16:creationId xmlns:a16="http://schemas.microsoft.com/office/drawing/2014/main" id="{6F110D62-682E-1E0F-5E76-50F07FE1EC78}"/>
              </a:ext>
            </a:extLst>
          </p:cNvPr>
          <p:cNvSpPr txBox="1"/>
          <p:nvPr/>
        </p:nvSpPr>
        <p:spPr>
          <a:xfrm>
            <a:off x="5860661" y="1410045"/>
            <a:ext cx="4588778" cy="307777"/>
          </a:xfrm>
          <a:prstGeom prst="rect">
            <a:avLst/>
          </a:prstGeom>
          <a:noFill/>
        </p:spPr>
        <p:txBody>
          <a:bodyPr wrap="square">
            <a:spAutoFit/>
          </a:bodyPr>
          <a:lstStyle/>
          <a:p>
            <a:r>
              <a:rPr lang="fr-FR" sz="1400" b="1" dirty="0">
                <a:latin typeface="Bookman Old Style" panose="02050604050505020204" pitchFamily="18" charset="0"/>
              </a:rPr>
              <a:t>Transformation </a:t>
            </a:r>
            <a:r>
              <a:rPr lang="fr-FR" sz="1400" b="1" dirty="0">
                <a:solidFill>
                  <a:srgbClr val="FF0000"/>
                </a:solidFill>
                <a:latin typeface="Bookman Old Style" panose="02050604050505020204" pitchFamily="18" charset="0"/>
              </a:rPr>
              <a:t>Etoile-</a:t>
            </a:r>
            <a:r>
              <a:rPr lang="fr-FR" sz="1400" b="1" dirty="0">
                <a:solidFill>
                  <a:srgbClr val="0000FF"/>
                </a:solidFill>
                <a:latin typeface="Bookman Old Style" panose="02050604050505020204" pitchFamily="18" charset="0"/>
              </a:rPr>
              <a:t>Triangle</a:t>
            </a:r>
            <a:endParaRPr lang="fr-FR" sz="1400" b="1" dirty="0">
              <a:solidFill>
                <a:srgbClr val="FF0000"/>
              </a:solidFill>
              <a:latin typeface="Bookman Old Style" panose="02050604050505020204" pitchFamily="18" charset="0"/>
            </a:endParaRPr>
          </a:p>
        </p:txBody>
      </p:sp>
      <p:pic>
        <p:nvPicPr>
          <p:cNvPr id="21" name="Picture 20">
            <a:extLst>
              <a:ext uri="{FF2B5EF4-FFF2-40B4-BE49-F238E27FC236}">
                <a16:creationId xmlns:a16="http://schemas.microsoft.com/office/drawing/2014/main" id="{6E486796-25F8-A1E3-B938-5E6D1DE46496}"/>
              </a:ext>
            </a:extLst>
          </p:cNvPr>
          <p:cNvPicPr>
            <a:picLocks noChangeAspect="1"/>
          </p:cNvPicPr>
          <p:nvPr/>
        </p:nvPicPr>
        <p:blipFill>
          <a:blip r:embed="rId5"/>
          <a:stretch>
            <a:fillRect/>
          </a:stretch>
        </p:blipFill>
        <p:spPr>
          <a:xfrm>
            <a:off x="5786513" y="2317502"/>
            <a:ext cx="3323855" cy="2013675"/>
          </a:xfrm>
          <a:prstGeom prst="rect">
            <a:avLst/>
          </a:prstGeom>
        </p:spPr>
      </p:pic>
    </p:spTree>
    <p:extLst>
      <p:ext uri="{BB962C8B-B14F-4D97-AF65-F5344CB8AC3E}">
        <p14:creationId xmlns:p14="http://schemas.microsoft.com/office/powerpoint/2010/main" val="245837071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59</a:t>
            </a:fld>
            <a:endParaRPr sz="2400" dirty="0">
              <a:latin typeface="Arial"/>
              <a:cs typeface="Arial"/>
            </a:endParaRPr>
          </a:p>
        </p:txBody>
      </p:sp>
      <p:sp>
        <p:nvSpPr>
          <p:cNvPr id="15" name="Rectangle 14"/>
          <p:cNvSpPr/>
          <p:nvPr/>
        </p:nvSpPr>
        <p:spPr>
          <a:xfrm>
            <a:off x="550646" y="557613"/>
            <a:ext cx="4707154" cy="369332"/>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3. Théorèmes généraux</a:t>
            </a: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2.7 Théorème de </a:t>
            </a:r>
            <a:r>
              <a:rPr lang="fr-FR" sz="1400" b="1" spc="-5" dirty="0" err="1">
                <a:solidFill>
                  <a:srgbClr val="CC00CC"/>
                </a:solidFill>
                <a:latin typeface="Bookman Old Style" panose="02050604050505020204" pitchFamily="18" charset="0"/>
                <a:cs typeface="Arial"/>
              </a:rPr>
              <a:t>Kennelly</a:t>
            </a:r>
            <a:endParaRPr lang="fr-FR" altLang="fr-FR" sz="1400" b="1" spc="-5" dirty="0">
              <a:solidFill>
                <a:srgbClr val="CC00CC"/>
              </a:solidFill>
              <a:latin typeface="Bookman Old Style" panose="02050604050505020204" pitchFamily="18" charset="0"/>
              <a:cs typeface="Arial"/>
            </a:endParaRPr>
          </a:p>
        </p:txBody>
      </p:sp>
      <p:sp>
        <p:nvSpPr>
          <p:cNvPr id="16" name="TextBox 15">
            <a:extLst>
              <a:ext uri="{FF2B5EF4-FFF2-40B4-BE49-F238E27FC236}">
                <a16:creationId xmlns:a16="http://schemas.microsoft.com/office/drawing/2014/main" id="{73564CDF-0E89-9798-4A7B-A99F5EC4F860}"/>
              </a:ext>
            </a:extLst>
          </p:cNvPr>
          <p:cNvSpPr txBox="1"/>
          <p:nvPr/>
        </p:nvSpPr>
        <p:spPr>
          <a:xfrm>
            <a:off x="495209" y="1379268"/>
            <a:ext cx="8538603"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endParaRPr lang="fr-FR" dirty="0"/>
          </a:p>
        </p:txBody>
      </p:sp>
      <p:sp>
        <p:nvSpPr>
          <p:cNvPr id="11" name="TextBox 10">
            <a:extLst>
              <a:ext uri="{FF2B5EF4-FFF2-40B4-BE49-F238E27FC236}">
                <a16:creationId xmlns:a16="http://schemas.microsoft.com/office/drawing/2014/main" id="{D3EA6355-E98B-A065-E7DD-7F83AAD04554}"/>
              </a:ext>
            </a:extLst>
          </p:cNvPr>
          <p:cNvSpPr txBox="1"/>
          <p:nvPr/>
        </p:nvSpPr>
        <p:spPr>
          <a:xfrm>
            <a:off x="990600" y="1662056"/>
            <a:ext cx="7772400" cy="338554"/>
          </a:xfrm>
          <a:prstGeom prst="rect">
            <a:avLst/>
          </a:prstGeom>
          <a:noFill/>
        </p:spPr>
        <p:txBody>
          <a:bodyPr wrap="square">
            <a:spAutoFit/>
          </a:bodyPr>
          <a:lstStyle/>
          <a:p>
            <a:r>
              <a:rPr lang="fr-FR" sz="1600" dirty="0">
                <a:latin typeface="Bookman Old Style" panose="02050604050505020204" pitchFamily="18" charset="0"/>
              </a:rPr>
              <a:t>Trouvez la représentation en circuit équivalente à la structure suivante:</a:t>
            </a:r>
          </a:p>
        </p:txBody>
      </p:sp>
      <p:sp>
        <p:nvSpPr>
          <p:cNvPr id="22" name="TextBox 21">
            <a:extLst>
              <a:ext uri="{FF2B5EF4-FFF2-40B4-BE49-F238E27FC236}">
                <a16:creationId xmlns:a16="http://schemas.microsoft.com/office/drawing/2014/main" id="{D2B6E604-D8F6-BEC6-5236-714AF8527C55}"/>
              </a:ext>
            </a:extLst>
          </p:cNvPr>
          <p:cNvSpPr txBox="1"/>
          <p:nvPr/>
        </p:nvSpPr>
        <p:spPr>
          <a:xfrm>
            <a:off x="990600" y="1226218"/>
            <a:ext cx="4588778" cy="338554"/>
          </a:xfrm>
          <a:prstGeom prst="rect">
            <a:avLst/>
          </a:prstGeom>
          <a:noFill/>
        </p:spPr>
        <p:txBody>
          <a:bodyPr wrap="square">
            <a:spAutoFit/>
          </a:bodyPr>
          <a:lstStyle>
            <a:defPPr>
              <a:defRPr lang="fr-FR"/>
            </a:defPPr>
            <a:lvl1pPr marL="12700">
              <a:lnSpc>
                <a:spcPct val="100000"/>
              </a:lnSpc>
              <a:spcBef>
                <a:spcPts val="100"/>
              </a:spcBef>
              <a:defRPr sz="1200" b="1" u="sng" spc="-10">
                <a:uFill>
                  <a:solidFill>
                    <a:srgbClr val="000000"/>
                  </a:solidFill>
                </a:uFill>
                <a:latin typeface="Bookman Old Style" panose="02050604050505020204" pitchFamily="18" charset="0"/>
                <a:cs typeface="Times New Roman"/>
              </a:defRPr>
            </a:lvl1pPr>
          </a:lstStyle>
          <a:p>
            <a:r>
              <a:rPr lang="fr-FR" sz="1600" dirty="0"/>
              <a:t>Application: </a:t>
            </a:r>
          </a:p>
        </p:txBody>
      </p:sp>
      <p:pic>
        <p:nvPicPr>
          <p:cNvPr id="24" name="Picture 23">
            <a:extLst>
              <a:ext uri="{FF2B5EF4-FFF2-40B4-BE49-F238E27FC236}">
                <a16:creationId xmlns:a16="http://schemas.microsoft.com/office/drawing/2014/main" id="{8F5F24A4-4F1E-B063-AA11-8A9990187B93}"/>
              </a:ext>
            </a:extLst>
          </p:cNvPr>
          <p:cNvPicPr>
            <a:picLocks noChangeAspect="1"/>
          </p:cNvPicPr>
          <p:nvPr/>
        </p:nvPicPr>
        <p:blipFill>
          <a:blip r:embed="rId3"/>
          <a:stretch>
            <a:fillRect/>
          </a:stretch>
        </p:blipFill>
        <p:spPr>
          <a:xfrm>
            <a:off x="2201974" y="2262890"/>
            <a:ext cx="4740051" cy="2880610"/>
          </a:xfrm>
          <a:prstGeom prst="rect">
            <a:avLst/>
          </a:prstGeom>
        </p:spPr>
      </p:pic>
    </p:spTree>
    <p:extLst>
      <p:ext uri="{BB962C8B-B14F-4D97-AF65-F5344CB8AC3E}">
        <p14:creationId xmlns:p14="http://schemas.microsoft.com/office/powerpoint/2010/main" val="103293619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60</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4.1 Signaux sinusoïdaux</a:t>
            </a:r>
            <a:endParaRPr lang="fr-FR" altLang="fr-FR" sz="1400" b="1" spc="-5" dirty="0">
              <a:solidFill>
                <a:srgbClr val="CC00CC"/>
              </a:solidFill>
              <a:latin typeface="Bookman Old Style" panose="02050604050505020204" pitchFamily="18" charset="0"/>
              <a:cs typeface="Arial"/>
            </a:endParaRPr>
          </a:p>
        </p:txBody>
      </p:sp>
      <p:sp>
        <p:nvSpPr>
          <p:cNvPr id="16" name="TextBox 15">
            <a:extLst>
              <a:ext uri="{FF2B5EF4-FFF2-40B4-BE49-F238E27FC236}">
                <a16:creationId xmlns:a16="http://schemas.microsoft.com/office/drawing/2014/main" id="{73564CDF-0E89-9798-4A7B-A99F5EC4F860}"/>
              </a:ext>
            </a:extLst>
          </p:cNvPr>
          <p:cNvSpPr txBox="1"/>
          <p:nvPr/>
        </p:nvSpPr>
        <p:spPr>
          <a:xfrm>
            <a:off x="495209" y="1379268"/>
            <a:ext cx="8538603"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endParaRPr lang="fr-FR" dirty="0"/>
          </a:p>
        </p:txBody>
      </p:sp>
      <p:grpSp>
        <p:nvGrpSpPr>
          <p:cNvPr id="23" name="object 11">
            <a:extLst>
              <a:ext uri="{FF2B5EF4-FFF2-40B4-BE49-F238E27FC236}">
                <a16:creationId xmlns:a16="http://schemas.microsoft.com/office/drawing/2014/main" id="{4B9A90B7-BE75-AAFA-4A2F-CBF0FF3C2B87}"/>
              </a:ext>
            </a:extLst>
          </p:cNvPr>
          <p:cNvGrpSpPr/>
          <p:nvPr/>
        </p:nvGrpSpPr>
        <p:grpSpPr>
          <a:xfrm>
            <a:off x="441649" y="1411252"/>
            <a:ext cx="8538603" cy="3372652"/>
            <a:chOff x="695200" y="1293934"/>
            <a:chExt cx="8225156" cy="690246"/>
          </a:xfrm>
        </p:grpSpPr>
        <p:sp>
          <p:nvSpPr>
            <p:cNvPr id="24" name="object 12">
              <a:extLst>
                <a:ext uri="{FF2B5EF4-FFF2-40B4-BE49-F238E27FC236}">
                  <a16:creationId xmlns:a16="http://schemas.microsoft.com/office/drawing/2014/main" id="{9921BA89-0952-B85A-30C3-46B9AEE2ED17}"/>
                </a:ext>
              </a:extLst>
            </p:cNvPr>
            <p:cNvSpPr/>
            <p:nvPr/>
          </p:nvSpPr>
          <p:spPr>
            <a:xfrm>
              <a:off x="695200" y="1293935"/>
              <a:ext cx="8225156" cy="690245"/>
            </a:xfrm>
            <a:custGeom>
              <a:avLst/>
              <a:gdLst/>
              <a:ahLst/>
              <a:cxnLst/>
              <a:rect l="l" t="t" r="r" b="b"/>
              <a:pathLst>
                <a:path w="8225155" h="690244">
                  <a:moveTo>
                    <a:pt x="8097059" y="0"/>
                  </a:moveTo>
                  <a:lnTo>
                    <a:pt x="127926" y="0"/>
                  </a:lnTo>
                  <a:lnTo>
                    <a:pt x="78131" y="10053"/>
                  </a:lnTo>
                  <a:lnTo>
                    <a:pt x="37468" y="37468"/>
                  </a:lnTo>
                  <a:lnTo>
                    <a:pt x="10053" y="78131"/>
                  </a:lnTo>
                  <a:lnTo>
                    <a:pt x="0" y="127927"/>
                  </a:lnTo>
                  <a:lnTo>
                    <a:pt x="0" y="561920"/>
                  </a:lnTo>
                  <a:lnTo>
                    <a:pt x="10053" y="611715"/>
                  </a:lnTo>
                  <a:lnTo>
                    <a:pt x="37468" y="652379"/>
                  </a:lnTo>
                  <a:lnTo>
                    <a:pt x="78131" y="679795"/>
                  </a:lnTo>
                  <a:lnTo>
                    <a:pt x="127926" y="689848"/>
                  </a:lnTo>
                  <a:lnTo>
                    <a:pt x="8097059" y="689848"/>
                  </a:lnTo>
                  <a:lnTo>
                    <a:pt x="8146853" y="679795"/>
                  </a:lnTo>
                  <a:lnTo>
                    <a:pt x="8187516" y="652379"/>
                  </a:lnTo>
                  <a:lnTo>
                    <a:pt x="8214932" y="611715"/>
                  </a:lnTo>
                  <a:lnTo>
                    <a:pt x="8224985" y="561920"/>
                  </a:lnTo>
                  <a:lnTo>
                    <a:pt x="8224985" y="127927"/>
                  </a:lnTo>
                  <a:lnTo>
                    <a:pt x="8214932" y="78131"/>
                  </a:lnTo>
                  <a:lnTo>
                    <a:pt x="8187516" y="37468"/>
                  </a:lnTo>
                  <a:lnTo>
                    <a:pt x="8146853" y="10053"/>
                  </a:lnTo>
                  <a:lnTo>
                    <a:pt x="8097059" y="0"/>
                  </a:lnTo>
                  <a:close/>
                </a:path>
              </a:pathLst>
            </a:custGeom>
            <a:solidFill>
              <a:srgbClr val="F2F2F2">
                <a:alpha val="74119"/>
              </a:srgbClr>
            </a:solidFill>
          </p:spPr>
          <p:txBody>
            <a:bodyPr wrap="square" lIns="0" tIns="0" rIns="0" bIns="0" rtlCol="0"/>
            <a:lstStyle/>
            <a:p>
              <a:endParaRPr dirty="0"/>
            </a:p>
          </p:txBody>
        </p:sp>
        <p:sp>
          <p:nvSpPr>
            <p:cNvPr id="25" name="object 13">
              <a:extLst>
                <a:ext uri="{FF2B5EF4-FFF2-40B4-BE49-F238E27FC236}">
                  <a16:creationId xmlns:a16="http://schemas.microsoft.com/office/drawing/2014/main" id="{E8F9785D-A995-CFED-7481-8CB3EF8C0976}"/>
                </a:ext>
              </a:extLst>
            </p:cNvPr>
            <p:cNvSpPr/>
            <p:nvPr/>
          </p:nvSpPr>
          <p:spPr>
            <a:xfrm>
              <a:off x="695200" y="1293934"/>
              <a:ext cx="8225155" cy="690245"/>
            </a:xfrm>
            <a:custGeom>
              <a:avLst/>
              <a:gdLst/>
              <a:ahLst/>
              <a:cxnLst/>
              <a:rect l="l" t="t" r="r" b="b"/>
              <a:pathLst>
                <a:path w="8225155" h="690244">
                  <a:moveTo>
                    <a:pt x="0" y="127927"/>
                  </a:moveTo>
                  <a:lnTo>
                    <a:pt x="10053" y="78132"/>
                  </a:lnTo>
                  <a:lnTo>
                    <a:pt x="37468" y="37469"/>
                  </a:lnTo>
                  <a:lnTo>
                    <a:pt x="78131" y="10053"/>
                  </a:lnTo>
                  <a:lnTo>
                    <a:pt x="127926" y="0"/>
                  </a:lnTo>
                  <a:lnTo>
                    <a:pt x="8097060" y="0"/>
                  </a:lnTo>
                  <a:lnTo>
                    <a:pt x="8146854" y="10053"/>
                  </a:lnTo>
                  <a:lnTo>
                    <a:pt x="8187517" y="37469"/>
                  </a:lnTo>
                  <a:lnTo>
                    <a:pt x="8214932" y="78132"/>
                  </a:lnTo>
                  <a:lnTo>
                    <a:pt x="8224986" y="127927"/>
                  </a:lnTo>
                  <a:lnTo>
                    <a:pt x="8224986" y="561921"/>
                  </a:lnTo>
                  <a:lnTo>
                    <a:pt x="8214932" y="611716"/>
                  </a:lnTo>
                  <a:lnTo>
                    <a:pt x="8187517" y="652379"/>
                  </a:lnTo>
                  <a:lnTo>
                    <a:pt x="8146854" y="679795"/>
                  </a:lnTo>
                  <a:lnTo>
                    <a:pt x="8097060" y="689849"/>
                  </a:lnTo>
                  <a:lnTo>
                    <a:pt x="127926" y="689849"/>
                  </a:lnTo>
                  <a:lnTo>
                    <a:pt x="78131" y="679795"/>
                  </a:lnTo>
                  <a:lnTo>
                    <a:pt x="37468" y="652379"/>
                  </a:lnTo>
                  <a:lnTo>
                    <a:pt x="10053" y="611716"/>
                  </a:lnTo>
                  <a:lnTo>
                    <a:pt x="0" y="561921"/>
                  </a:lnTo>
                  <a:lnTo>
                    <a:pt x="0" y="127927"/>
                  </a:lnTo>
                  <a:close/>
                </a:path>
              </a:pathLst>
            </a:custGeom>
            <a:ln w="19050">
              <a:solidFill>
                <a:schemeClr val="tx1"/>
              </a:solidFill>
            </a:ln>
          </p:spPr>
          <p:txBody>
            <a:bodyPr wrap="square" lIns="0" tIns="0" rIns="0" bIns="0" rtlCol="0"/>
            <a:lstStyle/>
            <a:p>
              <a:endParaRPr/>
            </a:p>
          </p:txBody>
        </p:sp>
      </p:gr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CE6F1B4-6539-4814-9938-B9E04E86E700}"/>
                  </a:ext>
                </a:extLst>
              </p:cNvPr>
              <p:cNvSpPr txBox="1"/>
              <p:nvPr/>
            </p:nvSpPr>
            <p:spPr>
              <a:xfrm>
                <a:off x="574903" y="1531034"/>
                <a:ext cx="8137583" cy="3159968"/>
              </a:xfrm>
              <a:prstGeom prst="rect">
                <a:avLst/>
              </a:prstGeom>
              <a:noFill/>
            </p:spPr>
            <p:txBody>
              <a:bodyPr wrap="square">
                <a:spAutoFit/>
              </a:bodyPr>
              <a:lstStyle/>
              <a:p>
                <a:pPr algn="just"/>
                <a:r>
                  <a:rPr lang="fr-FR" sz="1500" dirty="0">
                    <a:latin typeface="Bookman Old Style" panose="02050604050505020204" pitchFamily="18" charset="0"/>
                  </a:rPr>
                  <a:t>En </a:t>
                </a:r>
                <a:r>
                  <a:rPr lang="fr-FR" sz="1500" b="1" dirty="0">
                    <a:latin typeface="Bookman Old Style" panose="02050604050505020204" pitchFamily="18" charset="0"/>
                  </a:rPr>
                  <a:t>régime sinusoïdal forcé</a:t>
                </a:r>
                <a:r>
                  <a:rPr lang="fr-FR" sz="1500" dirty="0">
                    <a:latin typeface="Bookman Old Style" panose="02050604050505020204" pitchFamily="18" charset="0"/>
                  </a:rPr>
                  <a:t>, toutes les grandeurs sont de la forme :</a:t>
                </a:r>
              </a:p>
              <a:p>
                <a:pPr algn="just"/>
                <a:endParaRPr lang="fr-FR" sz="1500" dirty="0">
                  <a:latin typeface="Bookman Old Style" panose="02050604050505020204" pitchFamily="18" charset="0"/>
                </a:endParaRPr>
              </a:p>
              <a:p>
                <a:pPr algn="just"/>
                <a14:m>
                  <m:oMathPara xmlns:m="http://schemas.openxmlformats.org/officeDocument/2006/math">
                    <m:oMathParaPr>
                      <m:jc m:val="centerGroup"/>
                    </m:oMathParaPr>
                    <m:oMath xmlns:m="http://schemas.openxmlformats.org/officeDocument/2006/math">
                      <m:r>
                        <a:rPr lang="fr-FR" b="1" i="1" dirty="0" smtClean="0">
                          <a:latin typeface="Cambria Math" panose="02040503050406030204" pitchFamily="18" charset="0"/>
                        </a:rPr>
                        <m:t>𝒙</m:t>
                      </m:r>
                      <m:r>
                        <a:rPr lang="fr-FR" b="1" i="1" dirty="0" smtClean="0">
                          <a:latin typeface="Cambria Math" panose="02040503050406030204" pitchFamily="18" charset="0"/>
                        </a:rPr>
                        <m:t>(</m:t>
                      </m:r>
                      <m:r>
                        <a:rPr lang="fr-FR" b="1" i="1" dirty="0" smtClean="0">
                          <a:latin typeface="Cambria Math" panose="02040503050406030204" pitchFamily="18" charset="0"/>
                        </a:rPr>
                        <m:t>𝒕</m:t>
                      </m:r>
                      <m:r>
                        <a:rPr lang="fr-FR" b="1" i="1" dirty="0" smtClean="0">
                          <a:latin typeface="Cambria Math" panose="02040503050406030204" pitchFamily="18" charset="0"/>
                        </a:rPr>
                        <m:t>) = </m:t>
                      </m:r>
                      <m:sSub>
                        <m:sSubPr>
                          <m:ctrlPr>
                            <a:rPr lang="fr-FR" b="1" i="1" dirty="0" smtClean="0">
                              <a:latin typeface="Cambria Math" panose="02040503050406030204" pitchFamily="18" charset="0"/>
                            </a:rPr>
                          </m:ctrlPr>
                        </m:sSubPr>
                        <m:e>
                          <m:r>
                            <a:rPr lang="fr-FR" b="1" i="1" dirty="0" err="1">
                              <a:latin typeface="Cambria Math" panose="02040503050406030204" pitchFamily="18" charset="0"/>
                            </a:rPr>
                            <m:t>𝑿</m:t>
                          </m:r>
                        </m:e>
                        <m:sub>
                          <m:r>
                            <a:rPr lang="fr-FR" b="1" i="1" dirty="0" smtClean="0">
                              <a:latin typeface="Cambria Math" panose="02040503050406030204" pitchFamily="18" charset="0"/>
                            </a:rPr>
                            <m:t>𝒎</m:t>
                          </m:r>
                        </m:sub>
                      </m:sSub>
                      <m:r>
                        <a:rPr lang="fr-FR" b="1" i="1" dirty="0">
                          <a:latin typeface="Cambria Math" panose="02040503050406030204" pitchFamily="18" charset="0"/>
                        </a:rPr>
                        <m:t> </m:t>
                      </m:r>
                      <m:r>
                        <a:rPr lang="fr-FR" b="1" i="1" dirty="0">
                          <a:latin typeface="Cambria Math" panose="02040503050406030204" pitchFamily="18" charset="0"/>
                        </a:rPr>
                        <m:t>𝒄𝒐𝒔</m:t>
                      </m:r>
                      <m:r>
                        <a:rPr lang="fr-FR" b="1" i="1" dirty="0">
                          <a:latin typeface="Cambria Math" panose="02040503050406030204" pitchFamily="18" charset="0"/>
                        </a:rPr>
                        <m:t>⁡(</m:t>
                      </m:r>
                      <m:r>
                        <a:rPr lang="el-GR" b="1" i="1" dirty="0">
                          <a:latin typeface="Cambria Math" panose="02040503050406030204" pitchFamily="18" charset="0"/>
                        </a:rPr>
                        <m:t>𝝎</m:t>
                      </m:r>
                      <m:r>
                        <a:rPr lang="fr-FR" b="1" i="1" dirty="0">
                          <a:latin typeface="Cambria Math" panose="02040503050406030204" pitchFamily="18" charset="0"/>
                        </a:rPr>
                        <m:t>𝒕</m:t>
                      </m:r>
                      <m:r>
                        <a:rPr lang="fr-FR" b="1" i="1" dirty="0">
                          <a:latin typeface="Cambria Math" panose="02040503050406030204" pitchFamily="18" charset="0"/>
                        </a:rPr>
                        <m:t> + </m:t>
                      </m:r>
                      <m:r>
                        <a:rPr lang="el-GR" b="1" i="1" dirty="0">
                          <a:latin typeface="Cambria Math" panose="02040503050406030204" pitchFamily="18" charset="0"/>
                        </a:rPr>
                        <m:t>𝝋</m:t>
                      </m:r>
                      <m:r>
                        <a:rPr lang="el-GR" b="1" i="1" dirty="0">
                          <a:latin typeface="Cambria Math" panose="02040503050406030204" pitchFamily="18" charset="0"/>
                        </a:rPr>
                        <m:t>)</m:t>
                      </m:r>
                    </m:oMath>
                  </m:oMathPara>
                </a14:m>
                <a:endParaRPr lang="fr-FR" b="1" dirty="0">
                  <a:latin typeface="Bookman Old Style" panose="02050604050505020204" pitchFamily="18" charset="0"/>
                </a:endParaRPr>
              </a:p>
              <a:p>
                <a:pPr algn="just"/>
                <a:r>
                  <a:rPr lang="fr-FR" sz="1500" b="1" dirty="0">
                    <a:latin typeface="Bookman Old Style" panose="02050604050505020204" pitchFamily="18" charset="0"/>
                  </a:rPr>
                  <a:t>Avec:</a:t>
                </a:r>
              </a:p>
              <a:p>
                <a:pPr algn="just"/>
                <a:r>
                  <a:rPr lang="fr-FR" sz="1500" b="1" dirty="0">
                    <a:latin typeface="Bookman Old Style" panose="02050604050505020204" pitchFamily="18" charset="0"/>
                  </a:rPr>
                  <a:t>          </a:t>
                </a:r>
                <a14:m>
                  <m:oMath xmlns:m="http://schemas.openxmlformats.org/officeDocument/2006/math">
                    <m:sSub>
                      <m:sSubPr>
                        <m:ctrlPr>
                          <a:rPr lang="fr-FR" sz="1500" b="1" i="1" dirty="0" smtClean="0">
                            <a:latin typeface="Cambria Math" panose="02040503050406030204" pitchFamily="18" charset="0"/>
                          </a:rPr>
                        </m:ctrlPr>
                      </m:sSubPr>
                      <m:e>
                        <m:r>
                          <a:rPr lang="fr-FR" sz="1500" b="1" i="1" dirty="0" smtClean="0">
                            <a:latin typeface="Cambria Math" panose="02040503050406030204" pitchFamily="18" charset="0"/>
                          </a:rPr>
                          <m:t>𝑿</m:t>
                        </m:r>
                      </m:e>
                      <m:sub>
                        <m:r>
                          <a:rPr lang="fr-FR" sz="1500" b="1" i="1" dirty="0" smtClean="0">
                            <a:latin typeface="Cambria Math" panose="02040503050406030204" pitchFamily="18" charset="0"/>
                          </a:rPr>
                          <m:t>𝒎</m:t>
                        </m:r>
                      </m:sub>
                    </m:sSub>
                  </m:oMath>
                </a14:m>
                <a:r>
                  <a:rPr lang="fr-FR" sz="1500" b="1" dirty="0">
                    <a:latin typeface="Bookman Old Style" panose="02050604050505020204" pitchFamily="18" charset="0"/>
                  </a:rPr>
                  <a:t> : Amplitude, </a:t>
                </a:r>
                <a:r>
                  <a:rPr lang="fr-FR" sz="1500" dirty="0">
                    <a:latin typeface="Bookman Old Style" panose="02050604050505020204" pitchFamily="18" charset="0"/>
                  </a:rPr>
                  <a:t>de même unité que la grandeur</a:t>
                </a:r>
                <a:r>
                  <a:rPr lang="fr-FR" sz="1500" b="1" dirty="0">
                    <a:latin typeface="Bookman Old Style" panose="02050604050505020204" pitchFamily="18" charset="0"/>
                  </a:rPr>
                  <a:t> </a:t>
                </a:r>
                <a14:m>
                  <m:oMath xmlns:m="http://schemas.openxmlformats.org/officeDocument/2006/math">
                    <m:r>
                      <a:rPr lang="fr-FR" sz="1500" b="1" i="1" dirty="0" smtClean="0">
                        <a:latin typeface="Cambria Math" panose="02040503050406030204" pitchFamily="18" charset="0"/>
                      </a:rPr>
                      <m:t>𝒙</m:t>
                    </m:r>
                    <m:r>
                      <a:rPr lang="fr-FR" sz="1500" b="1" i="1" dirty="0" smtClean="0">
                        <a:latin typeface="Cambria Math" panose="02040503050406030204" pitchFamily="18" charset="0"/>
                      </a:rPr>
                      <m:t> </m:t>
                    </m:r>
                  </m:oMath>
                </a14:m>
                <a:endParaRPr lang="fr-FR" sz="1500" b="1" dirty="0">
                  <a:latin typeface="Bookman Old Style" panose="02050604050505020204" pitchFamily="18" charset="0"/>
                </a:endParaRPr>
              </a:p>
              <a:p>
                <a:pPr algn="just"/>
                <a:endParaRPr lang="fr-FR" sz="1500" b="1" dirty="0">
                  <a:latin typeface="Bookman Old Style" panose="02050604050505020204" pitchFamily="18" charset="0"/>
                </a:endParaRPr>
              </a:p>
              <a:p>
                <a:pPr algn="just"/>
                <a:r>
                  <a:rPr lang="fr-FR" sz="1500" b="1" dirty="0">
                    <a:latin typeface="Bookman Old Style" panose="02050604050505020204" pitchFamily="18" charset="0"/>
                  </a:rPr>
                  <a:t>          </a:t>
                </a:r>
                <a14:m>
                  <m:oMath xmlns:m="http://schemas.openxmlformats.org/officeDocument/2006/math">
                    <m:r>
                      <a:rPr lang="fr-FR" sz="1500" b="1" i="1" dirty="0" smtClean="0">
                        <a:latin typeface="Cambria Math" panose="02040503050406030204" pitchFamily="18" charset="0"/>
                      </a:rPr>
                      <m:t>𝝎</m:t>
                    </m:r>
                    <m:r>
                      <a:rPr lang="fr-FR" sz="1500" b="1" i="1" dirty="0" smtClean="0">
                        <a:latin typeface="Cambria Math" panose="02040503050406030204" pitchFamily="18" charset="0"/>
                      </a:rPr>
                      <m:t> </m:t>
                    </m:r>
                  </m:oMath>
                </a14:m>
                <a:r>
                  <a:rPr lang="fr-FR" sz="1500" b="1" dirty="0">
                    <a:latin typeface="Bookman Old Style" panose="02050604050505020204" pitchFamily="18" charset="0"/>
                  </a:rPr>
                  <a:t>  : Pulsation </a:t>
                </a:r>
                <a:r>
                  <a:rPr lang="fr-FR" sz="1500" dirty="0">
                    <a:latin typeface="Bookman Old Style" panose="02050604050505020204" pitchFamily="18" charset="0"/>
                  </a:rPr>
                  <a:t>imposée par le générateur</a:t>
                </a:r>
                <a:r>
                  <a:rPr lang="fr-FR" sz="1500" b="1" dirty="0">
                    <a:latin typeface="Bookman Old Style" panose="02050604050505020204" pitchFamily="18" charset="0"/>
                  </a:rPr>
                  <a:t>, en </a:t>
                </a:r>
                <a14:m>
                  <m:oMath xmlns:m="http://schemas.openxmlformats.org/officeDocument/2006/math">
                    <m:r>
                      <a:rPr lang="fr-FR" sz="1500" b="1" i="1" dirty="0" smtClean="0">
                        <a:latin typeface="Cambria Math" panose="02040503050406030204" pitchFamily="18" charset="0"/>
                      </a:rPr>
                      <m:t>𝒓𝒂𝒅</m:t>
                    </m:r>
                    <m:r>
                      <a:rPr lang="fr-FR" sz="1500" b="1" i="1" dirty="0" smtClean="0">
                        <a:latin typeface="Cambria Math" panose="02040503050406030204" pitchFamily="18" charset="0"/>
                      </a:rPr>
                      <m:t>.</m:t>
                    </m:r>
                    <m:sSup>
                      <m:sSupPr>
                        <m:ctrlPr>
                          <a:rPr lang="fr-FR" sz="1500" b="1" i="1" dirty="0" smtClean="0">
                            <a:latin typeface="Cambria Math" panose="02040503050406030204" pitchFamily="18" charset="0"/>
                          </a:rPr>
                        </m:ctrlPr>
                      </m:sSupPr>
                      <m:e>
                        <m:r>
                          <a:rPr lang="fr-FR" sz="1500" b="1" i="1" dirty="0" smtClean="0">
                            <a:latin typeface="Cambria Math" panose="02040503050406030204" pitchFamily="18" charset="0"/>
                          </a:rPr>
                          <m:t>𝒔</m:t>
                        </m:r>
                      </m:e>
                      <m:sup>
                        <m:r>
                          <a:rPr lang="fr-FR" sz="1500" b="1" i="1" dirty="0" smtClean="0">
                            <a:latin typeface="Cambria Math" panose="02040503050406030204" pitchFamily="18" charset="0"/>
                          </a:rPr>
                          <m:t>−</m:t>
                        </m:r>
                        <m:r>
                          <a:rPr lang="fr-FR" sz="1500" b="1" i="1" dirty="0" smtClean="0">
                            <a:latin typeface="Cambria Math" panose="02040503050406030204" pitchFamily="18" charset="0"/>
                          </a:rPr>
                          <m:t>𝟏</m:t>
                        </m:r>
                      </m:sup>
                    </m:sSup>
                  </m:oMath>
                </a14:m>
                <a:r>
                  <a:rPr lang="fr-FR" sz="1500" b="1" dirty="0">
                    <a:latin typeface="Bookman Old Style" panose="02050604050505020204" pitchFamily="18" charset="0"/>
                  </a:rPr>
                  <a:t>   </a:t>
                </a:r>
              </a:p>
              <a:p>
                <a:pPr algn="just"/>
                <a:endParaRPr lang="fr-FR" sz="1500" b="1" dirty="0">
                  <a:latin typeface="Bookman Old Style" panose="02050604050505020204" pitchFamily="18" charset="0"/>
                </a:endParaRPr>
              </a:p>
              <a:p>
                <a:pPr algn="just"/>
                <a:r>
                  <a:rPr lang="fr-FR" sz="1600" b="1" dirty="0"/>
                  <a:t>              </a:t>
                </a:r>
                <a14:m>
                  <m:oMath xmlns:m="http://schemas.openxmlformats.org/officeDocument/2006/math">
                    <m:r>
                      <a:rPr lang="el-GR" sz="1600" b="1" i="1" dirty="0">
                        <a:latin typeface="Cambria Math" panose="02040503050406030204" pitchFamily="18" charset="0"/>
                      </a:rPr>
                      <m:t>𝝎</m:t>
                    </m:r>
                    <m:r>
                      <a:rPr lang="fr-FR" sz="1600" b="1" i="1" dirty="0">
                        <a:latin typeface="Cambria Math" panose="02040503050406030204" pitchFamily="18" charset="0"/>
                      </a:rPr>
                      <m:t>𝒕</m:t>
                    </m:r>
                    <m:r>
                      <a:rPr lang="fr-FR" sz="1600" b="1" i="1" dirty="0">
                        <a:latin typeface="Cambria Math" panose="02040503050406030204" pitchFamily="18" charset="0"/>
                      </a:rPr>
                      <m:t> + </m:t>
                    </m:r>
                    <m:r>
                      <a:rPr lang="el-GR" sz="1600" b="1" i="1" dirty="0">
                        <a:latin typeface="Cambria Math" panose="02040503050406030204" pitchFamily="18" charset="0"/>
                      </a:rPr>
                      <m:t>𝝋</m:t>
                    </m:r>
                    <m:r>
                      <a:rPr lang="el-GR" sz="1600" b="1" i="1" dirty="0">
                        <a:latin typeface="Cambria Math" panose="02040503050406030204" pitchFamily="18" charset="0"/>
                      </a:rPr>
                      <m:t> </m:t>
                    </m:r>
                    <m:r>
                      <a:rPr lang="fr-FR" sz="1600" b="0" i="1" dirty="0" smtClean="0">
                        <a:latin typeface="Cambria Math" panose="02040503050406030204" pitchFamily="18" charset="0"/>
                      </a:rPr>
                      <m:t>:</m:t>
                    </m:r>
                  </m:oMath>
                </a14:m>
                <a:r>
                  <a:rPr lang="fr-FR" altLang="fr-FR" sz="1500" dirty="0">
                    <a:latin typeface="Bookman Old Style" panose="02050604050505020204" pitchFamily="18" charset="0"/>
                  </a:rPr>
                  <a:t>est la </a:t>
                </a:r>
                <a:r>
                  <a:rPr lang="fr-FR" altLang="fr-FR" sz="1500" b="1" dirty="0">
                    <a:latin typeface="Bookman Old Style" panose="02050604050505020204" pitchFamily="18" charset="0"/>
                  </a:rPr>
                  <a:t>phase instantanée </a:t>
                </a:r>
                <a:r>
                  <a:rPr lang="fr-FR" altLang="fr-FR" sz="1500" dirty="0">
                    <a:latin typeface="Bookman Old Style" panose="02050604050505020204" pitchFamily="18" charset="0"/>
                  </a:rPr>
                  <a:t>en </a:t>
                </a:r>
                <a:r>
                  <a:rPr lang="fr-FR" altLang="fr-FR" sz="1500" b="1" i="1" dirty="0">
                    <a:latin typeface="Bookman Old Style" panose="02050604050505020204" pitchFamily="18" charset="0"/>
                  </a:rPr>
                  <a:t>rad</a:t>
                </a:r>
              </a:p>
              <a:p>
                <a:pPr algn="just"/>
                <a:endParaRPr lang="fr-FR" sz="1500" b="1" i="1" dirty="0">
                  <a:latin typeface="Bookman Old Style" panose="02050604050505020204" pitchFamily="18" charset="0"/>
                </a:endParaRPr>
              </a:p>
              <a:p>
                <a:pPr algn="just"/>
                <a:r>
                  <a:rPr lang="fr-FR" sz="1500" b="1" dirty="0"/>
                  <a:t>               </a:t>
                </a:r>
                <a14:m>
                  <m:oMath xmlns:m="http://schemas.openxmlformats.org/officeDocument/2006/math">
                    <m:r>
                      <a:rPr lang="fr-FR" sz="1500" b="1" i="1" dirty="0" smtClean="0">
                        <a:latin typeface="Cambria Math" panose="02040503050406030204" pitchFamily="18" charset="0"/>
                      </a:rPr>
                      <m:t>𝝋</m:t>
                    </m:r>
                  </m:oMath>
                </a14:m>
                <a:r>
                  <a:rPr lang="fr-FR" sz="1500" b="1" dirty="0">
                    <a:latin typeface="Bookman Old Style" panose="02050604050505020204" pitchFamily="18" charset="0"/>
                  </a:rPr>
                  <a:t>   : Phase à l’origine, en rad</a:t>
                </a:r>
              </a:p>
              <a:p>
                <a:pPr algn="just"/>
                <a:endParaRPr lang="fr-FR" sz="1500" b="1" dirty="0">
                  <a:latin typeface="Bookman Old Style" panose="02050604050505020204" pitchFamily="18" charset="0"/>
                </a:endParaRPr>
              </a:p>
              <a:p>
                <a:pPr algn="just"/>
                <a:r>
                  <a:rPr lang="fr-FR" sz="1500" b="1" dirty="0">
                    <a:latin typeface="Bookman Old Style" panose="02050604050505020204" pitchFamily="18" charset="0"/>
                  </a:rPr>
                  <a:t>Pulsation, période et fréquence </a:t>
                </a:r>
                <a:r>
                  <a:rPr lang="fr-FR" sz="1500" dirty="0">
                    <a:latin typeface="Bookman Old Style" panose="02050604050505020204" pitchFamily="18" charset="0"/>
                  </a:rPr>
                  <a:t>sont reliées par </a:t>
                </a:r>
                <a:r>
                  <a:rPr lang="fr-FR" sz="1500" b="1" dirty="0">
                    <a:latin typeface="Bookman Old Style" panose="02050604050505020204" pitchFamily="18" charset="0"/>
                  </a:rPr>
                  <a:t>: </a:t>
                </a:r>
                <a14:m>
                  <m:oMath xmlns:m="http://schemas.openxmlformats.org/officeDocument/2006/math">
                    <m:r>
                      <a:rPr lang="fr-FR" sz="1500" b="1" i="1" dirty="0" smtClean="0">
                        <a:solidFill>
                          <a:srgbClr val="0000FF"/>
                        </a:solidFill>
                        <a:latin typeface="Cambria Math" panose="02040503050406030204" pitchFamily="18" charset="0"/>
                      </a:rPr>
                      <m:t>𝝎</m:t>
                    </m:r>
                    <m:r>
                      <a:rPr lang="fr-FR" sz="1500" b="1" i="1" dirty="0" smtClean="0">
                        <a:solidFill>
                          <a:srgbClr val="0000FF"/>
                        </a:solidFill>
                        <a:latin typeface="Cambria Math" panose="02040503050406030204" pitchFamily="18" charset="0"/>
                      </a:rPr>
                      <m:t> = </m:t>
                    </m:r>
                    <m:r>
                      <a:rPr lang="fr-FR" sz="1500" b="1" i="1" dirty="0" smtClean="0">
                        <a:solidFill>
                          <a:srgbClr val="0000FF"/>
                        </a:solidFill>
                        <a:latin typeface="Cambria Math" panose="02040503050406030204" pitchFamily="18" charset="0"/>
                      </a:rPr>
                      <m:t>𝟐</m:t>
                    </m:r>
                    <m:r>
                      <a:rPr lang="fr-FR" sz="1500" b="1" i="1" dirty="0" smtClean="0">
                        <a:solidFill>
                          <a:srgbClr val="0000FF"/>
                        </a:solidFill>
                        <a:latin typeface="Cambria Math" panose="02040503050406030204" pitchFamily="18" charset="0"/>
                      </a:rPr>
                      <m:t>𝝅</m:t>
                    </m:r>
                    <m:r>
                      <a:rPr lang="fr-FR" sz="1500" b="1" i="1" dirty="0" smtClean="0">
                        <a:solidFill>
                          <a:srgbClr val="0000FF"/>
                        </a:solidFill>
                        <a:latin typeface="Cambria Math" panose="02040503050406030204" pitchFamily="18" charset="0"/>
                      </a:rPr>
                      <m:t> × </m:t>
                    </m:r>
                    <m:r>
                      <a:rPr lang="fr-FR" sz="1500" b="1" i="1" dirty="0" smtClean="0">
                        <a:solidFill>
                          <a:srgbClr val="0000FF"/>
                        </a:solidFill>
                        <a:latin typeface="Cambria Math" panose="02040503050406030204" pitchFamily="18" charset="0"/>
                      </a:rPr>
                      <m:t>𝒇</m:t>
                    </m:r>
                    <m:r>
                      <a:rPr lang="fr-FR" sz="1500" b="1" i="1" dirty="0" smtClean="0">
                        <a:solidFill>
                          <a:srgbClr val="0000FF"/>
                        </a:solidFill>
                        <a:latin typeface="Cambria Math" panose="02040503050406030204" pitchFamily="18" charset="0"/>
                      </a:rPr>
                      <m:t> =</m:t>
                    </m:r>
                    <m:r>
                      <a:rPr lang="fr-FR" sz="1500" b="1" i="1" dirty="0" smtClean="0">
                        <a:solidFill>
                          <a:srgbClr val="0000FF"/>
                        </a:solidFill>
                        <a:latin typeface="Cambria Math" panose="02040503050406030204" pitchFamily="18" charset="0"/>
                      </a:rPr>
                      <m:t>𝟐</m:t>
                    </m:r>
                    <m:r>
                      <a:rPr lang="fr-FR" sz="1500" b="1" i="1" dirty="0" smtClean="0">
                        <a:solidFill>
                          <a:srgbClr val="0000FF"/>
                        </a:solidFill>
                        <a:latin typeface="Cambria Math" panose="02040503050406030204" pitchFamily="18" charset="0"/>
                      </a:rPr>
                      <m:t>𝝅</m:t>
                    </m:r>
                    <m:r>
                      <a:rPr lang="fr-FR" sz="1500" b="1" i="1" dirty="0" smtClean="0">
                        <a:solidFill>
                          <a:srgbClr val="0000FF"/>
                        </a:solidFill>
                        <a:latin typeface="Cambria Math" panose="02040503050406030204" pitchFamily="18" charset="0"/>
                      </a:rPr>
                      <m:t>/</m:t>
                    </m:r>
                    <m:r>
                      <a:rPr lang="fr-FR" sz="1500" b="1" i="1" dirty="0" smtClean="0">
                        <a:solidFill>
                          <a:srgbClr val="0000FF"/>
                        </a:solidFill>
                        <a:latin typeface="Cambria Math" panose="02040503050406030204" pitchFamily="18" charset="0"/>
                      </a:rPr>
                      <m:t>𝑻</m:t>
                    </m:r>
                  </m:oMath>
                </a14:m>
                <a:endParaRPr lang="fr-FR" sz="1500" b="1" dirty="0">
                  <a:latin typeface="Bookman Old Style" panose="02050604050505020204" pitchFamily="18" charset="0"/>
                </a:endParaRPr>
              </a:p>
            </p:txBody>
          </p:sp>
        </mc:Choice>
        <mc:Fallback xmlns="">
          <p:sp>
            <p:nvSpPr>
              <p:cNvPr id="26" name="TextBox 25">
                <a:extLst>
                  <a:ext uri="{FF2B5EF4-FFF2-40B4-BE49-F238E27FC236}">
                    <a16:creationId xmlns:a16="http://schemas.microsoft.com/office/drawing/2014/main" id="{CCE6F1B4-6539-4814-9938-B9E04E86E700}"/>
                  </a:ext>
                </a:extLst>
              </p:cNvPr>
              <p:cNvSpPr txBox="1">
                <a:spLocks noRot="1" noChangeAspect="1" noMove="1" noResize="1" noEditPoints="1" noAdjustHandles="1" noChangeArrowheads="1" noChangeShapeType="1" noTextEdit="1"/>
              </p:cNvSpPr>
              <p:nvPr/>
            </p:nvSpPr>
            <p:spPr>
              <a:xfrm>
                <a:off x="574903" y="1531034"/>
                <a:ext cx="8137583" cy="3159968"/>
              </a:xfrm>
              <a:prstGeom prst="rect">
                <a:avLst/>
              </a:prstGeom>
              <a:blipFill>
                <a:blip r:embed="rId3"/>
                <a:stretch>
                  <a:fillRect l="-300" t="-385" b="-1156"/>
                </a:stretch>
              </a:blipFill>
            </p:spPr>
            <p:txBody>
              <a:bodyPr/>
              <a:lstStyle/>
              <a:p>
                <a:r>
                  <a:rPr lang="fr-FR">
                    <a:noFill/>
                  </a:rPr>
                  <a:t> </a:t>
                </a:r>
              </a:p>
            </p:txBody>
          </p:sp>
        </mc:Fallback>
      </mc:AlternateContent>
    </p:spTree>
    <p:extLst>
      <p:ext uri="{BB962C8B-B14F-4D97-AF65-F5344CB8AC3E}">
        <p14:creationId xmlns:p14="http://schemas.microsoft.com/office/powerpoint/2010/main" val="29024996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61</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4.1 Signaux sinusoïdaux</a:t>
            </a:r>
            <a:endParaRPr lang="fr-FR" altLang="fr-FR" sz="1400" b="1" spc="-5" dirty="0">
              <a:solidFill>
                <a:srgbClr val="CC00CC"/>
              </a:solidFill>
              <a:latin typeface="Bookman Old Style" panose="02050604050505020204" pitchFamily="18" charset="0"/>
              <a:cs typeface="Arial"/>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73564CDF-0E89-9798-4A7B-A99F5EC4F860}"/>
                  </a:ext>
                </a:extLst>
              </p:cNvPr>
              <p:cNvSpPr txBox="1"/>
              <p:nvPr/>
            </p:nvSpPr>
            <p:spPr>
              <a:xfrm>
                <a:off x="495209" y="1379268"/>
                <a:ext cx="8538603" cy="1323439"/>
              </a:xfrm>
              <a:prstGeom prst="rect">
                <a:avLst/>
              </a:prstGeom>
              <a:solidFill>
                <a:srgbClr val="FFFFFF"/>
              </a:solidFill>
              <a:ln>
                <a:noFill/>
              </a:ln>
              <a:extLst>
                <a:ext uri="{91240B29-F687-4F45-9708-019B960494DF}">
                  <a14:hiddenLine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r>
                  <a:rPr lang="fr-FR" altLang="fr-FR" sz="1600" dirty="0"/>
                  <a:t>Une tension est une grandeur </a:t>
                </a:r>
                <a:r>
                  <a:rPr lang="fr-FR" altLang="fr-FR" sz="1600" b="1" dirty="0">
                    <a:solidFill>
                      <a:srgbClr val="0000FF"/>
                    </a:solidFill>
                  </a:rPr>
                  <a:t>périodique</a:t>
                </a:r>
                <a:r>
                  <a:rPr lang="fr-FR" altLang="fr-FR" sz="1600" b="1" i="1" dirty="0">
                    <a:solidFill>
                      <a:srgbClr val="0000FF"/>
                    </a:solidFill>
                  </a:rPr>
                  <a:t> </a:t>
                </a:r>
                <a:r>
                  <a:rPr lang="fr-FR" altLang="fr-FR" sz="1600" dirty="0"/>
                  <a:t>et </a:t>
                </a:r>
                <a:r>
                  <a:rPr lang="fr-FR" altLang="fr-FR" sz="1600" b="1" dirty="0">
                    <a:solidFill>
                      <a:srgbClr val="0000FF"/>
                    </a:solidFill>
                  </a:rPr>
                  <a:t>alternative</a:t>
                </a:r>
                <a:r>
                  <a:rPr lang="fr-FR" altLang="fr-FR" sz="1600" dirty="0"/>
                  <a:t> </a:t>
                </a:r>
                <a:r>
                  <a:rPr lang="fr-FR" altLang="fr-FR" dirty="0"/>
                  <a:t>pouvant s’écrire </a:t>
                </a:r>
                <a:r>
                  <a:rPr lang="fr-FR" altLang="fr-FR" sz="1600" dirty="0"/>
                  <a:t>sous la forme :</a:t>
                </a:r>
              </a:p>
              <a:p>
                <a:pPr marL="0" indent="0">
                  <a:buNone/>
                </a:pPr>
                <a14:m>
                  <m:oMathPara xmlns:m="http://schemas.openxmlformats.org/officeDocument/2006/math">
                    <m:oMathParaPr>
                      <m:jc m:val="centerGroup"/>
                    </m:oMathParaPr>
                    <m:oMath xmlns:m="http://schemas.openxmlformats.org/officeDocument/2006/math">
                      <m:r>
                        <a:rPr lang="fr-FR" altLang="fr-FR" sz="1600" b="1" i="1" smtClean="0">
                          <a:latin typeface="Cambria Math" panose="02040503050406030204" pitchFamily="18" charset="0"/>
                        </a:rPr>
                        <m:t>𝒖</m:t>
                      </m:r>
                      <m:d>
                        <m:dPr>
                          <m:ctrlPr>
                            <a:rPr lang="fr-FR" altLang="fr-FR" sz="1600" b="1" i="1" smtClean="0">
                              <a:latin typeface="Cambria Math" panose="02040503050406030204" pitchFamily="18" charset="0"/>
                            </a:rPr>
                          </m:ctrlPr>
                        </m:dPr>
                        <m:e>
                          <m:r>
                            <a:rPr lang="fr-FR" altLang="fr-FR" sz="1600" b="1" i="1" smtClean="0">
                              <a:latin typeface="Cambria Math" panose="02040503050406030204" pitchFamily="18" charset="0"/>
                            </a:rPr>
                            <m:t>𝒕</m:t>
                          </m:r>
                        </m:e>
                      </m:d>
                      <m:r>
                        <a:rPr lang="fr-FR" altLang="fr-FR" sz="1600" b="1" i="1" smtClean="0">
                          <a:latin typeface="Cambria Math" panose="02040503050406030204" pitchFamily="18" charset="0"/>
                        </a:rPr>
                        <m:t>=</m:t>
                      </m:r>
                      <m:sSub>
                        <m:sSubPr>
                          <m:ctrlPr>
                            <a:rPr lang="fr-FR" altLang="fr-FR" sz="1600" b="1" i="1" smtClean="0">
                              <a:latin typeface="Cambria Math" panose="02040503050406030204" pitchFamily="18" charset="0"/>
                            </a:rPr>
                          </m:ctrlPr>
                        </m:sSubPr>
                        <m:e>
                          <m:r>
                            <a:rPr lang="fr-FR" altLang="fr-FR" sz="1600" b="1" i="1" smtClean="0">
                              <a:latin typeface="Cambria Math" panose="02040503050406030204" pitchFamily="18" charset="0"/>
                            </a:rPr>
                            <m:t>𝑼</m:t>
                          </m:r>
                        </m:e>
                        <m:sub>
                          <m:r>
                            <a:rPr lang="fr-FR" altLang="fr-FR" sz="1600" b="1" i="1" smtClean="0">
                              <a:latin typeface="Cambria Math" panose="02040503050406030204" pitchFamily="18" charset="0"/>
                            </a:rPr>
                            <m:t>𝒎</m:t>
                          </m:r>
                        </m:sub>
                      </m:sSub>
                      <m:r>
                        <a:rPr lang="fr-FR" altLang="fr-FR" sz="1600" b="1" i="0" smtClean="0">
                          <a:latin typeface="Cambria Math" panose="02040503050406030204" pitchFamily="18" charset="0"/>
                        </a:rPr>
                        <m:t>𝐬𝐢𝐧</m:t>
                      </m:r>
                      <m:r>
                        <a:rPr lang="fr-FR" altLang="fr-FR" sz="1600" b="1" i="1" smtClean="0">
                          <a:latin typeface="Cambria Math" panose="02040503050406030204" pitchFamily="18" charset="0"/>
                        </a:rPr>
                        <m:t>⁡(</m:t>
                      </m:r>
                      <m:r>
                        <a:rPr lang="fr-FR" altLang="fr-FR" sz="1600" b="1" i="1" smtClean="0">
                          <a:latin typeface="Cambria Math" panose="02040503050406030204" pitchFamily="18" charset="0"/>
                          <a:ea typeface="Cambria Math" panose="02040503050406030204" pitchFamily="18" charset="0"/>
                        </a:rPr>
                        <m:t>𝝎</m:t>
                      </m:r>
                      <m:r>
                        <a:rPr lang="fr-FR" altLang="fr-FR" sz="1600" b="1" i="1" smtClean="0">
                          <a:latin typeface="Cambria Math" panose="02040503050406030204" pitchFamily="18" charset="0"/>
                          <a:ea typeface="Cambria Math" panose="02040503050406030204" pitchFamily="18" charset="0"/>
                        </a:rPr>
                        <m:t>𝒕</m:t>
                      </m:r>
                      <m:r>
                        <a:rPr lang="fr-FR" altLang="fr-FR" sz="1600" b="1" i="1" smtClean="0">
                          <a:latin typeface="Cambria Math" panose="02040503050406030204" pitchFamily="18" charset="0"/>
                          <a:ea typeface="Cambria Math" panose="02040503050406030204" pitchFamily="18" charset="0"/>
                        </a:rPr>
                        <m:t>+</m:t>
                      </m:r>
                      <m:r>
                        <a:rPr lang="fr-FR" altLang="fr-FR" sz="1600" b="1" i="1" smtClean="0">
                          <a:latin typeface="Cambria Math" panose="02040503050406030204" pitchFamily="18" charset="0"/>
                          <a:ea typeface="Cambria Math" panose="02040503050406030204" pitchFamily="18" charset="0"/>
                        </a:rPr>
                        <m:t>𝝋</m:t>
                      </m:r>
                      <m:r>
                        <a:rPr lang="fr-FR" altLang="fr-FR" sz="1600" b="1" i="1" smtClean="0">
                          <a:latin typeface="Cambria Math" panose="02040503050406030204" pitchFamily="18" charset="0"/>
                          <a:ea typeface="Cambria Math" panose="02040503050406030204" pitchFamily="18" charset="0"/>
                        </a:rPr>
                        <m:t>)</m:t>
                      </m:r>
                    </m:oMath>
                  </m:oMathPara>
                </a14:m>
                <a:endParaRPr lang="fr-FR" altLang="fr-FR" sz="1600" b="1" dirty="0"/>
              </a:p>
              <a:p>
                <a:pPr marL="0" indent="0">
                  <a:buNone/>
                </a:pPr>
                <a:endParaRPr lang="fr-FR" altLang="fr-FR" sz="1600" b="1" dirty="0"/>
              </a:p>
              <a:p>
                <a:pPr marL="0" indent="0">
                  <a:buNone/>
                </a:pPr>
                <a:endParaRPr lang="fr-FR" dirty="0"/>
              </a:p>
            </p:txBody>
          </p:sp>
        </mc:Choice>
        <mc:Fallback xmlns="">
          <p:sp>
            <p:nvSpPr>
              <p:cNvPr id="16" name="TextBox 15">
                <a:extLst>
                  <a:ext uri="{FF2B5EF4-FFF2-40B4-BE49-F238E27FC236}">
                    <a16:creationId xmlns:a16="http://schemas.microsoft.com/office/drawing/2014/main" id="{73564CDF-0E89-9798-4A7B-A99F5EC4F860}"/>
                  </a:ext>
                </a:extLst>
              </p:cNvPr>
              <p:cNvSpPr txBox="1">
                <a:spLocks noRot="1" noChangeAspect="1" noMove="1" noResize="1" noEditPoints="1" noAdjustHandles="1" noChangeArrowheads="1" noChangeShapeType="1" noTextEdit="1"/>
              </p:cNvSpPr>
              <p:nvPr/>
            </p:nvSpPr>
            <p:spPr>
              <a:xfrm>
                <a:off x="495209" y="1379268"/>
                <a:ext cx="8538603" cy="1323439"/>
              </a:xfrm>
              <a:prstGeom prst="rect">
                <a:avLst/>
              </a:prstGeom>
              <a:blipFill>
                <a:blip r:embed="rId3"/>
                <a:stretch>
                  <a:fillRect l="-286" t="-1382" r="-428"/>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r>
                  <a:rPr lang="fr-FR">
                    <a:noFill/>
                  </a:rPr>
                  <a:t> </a:t>
                </a:r>
              </a:p>
            </p:txBody>
          </p:sp>
        </mc:Fallback>
      </mc:AlternateContent>
      <p:pic>
        <p:nvPicPr>
          <p:cNvPr id="3" name="Image 26">
            <a:extLst>
              <a:ext uri="{FF2B5EF4-FFF2-40B4-BE49-F238E27FC236}">
                <a16:creationId xmlns:a16="http://schemas.microsoft.com/office/drawing/2014/main" id="{AE3B1E4C-FB65-E6A8-9C13-F6A03079F28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81200" y="2511427"/>
            <a:ext cx="6001916" cy="2474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F782F4E-C68E-4FB2-F7FA-52BCE024CDCD}"/>
                  </a:ext>
                </a:extLst>
              </p:cNvPr>
              <p:cNvSpPr txBox="1"/>
              <p:nvPr/>
            </p:nvSpPr>
            <p:spPr>
              <a:xfrm>
                <a:off x="495209" y="2233196"/>
                <a:ext cx="4588778" cy="338554"/>
              </a:xfrm>
              <a:prstGeom prst="rect">
                <a:avLst/>
              </a:prstGeom>
              <a:noFill/>
            </p:spPr>
            <p:txBody>
              <a:bodyPr wrap="square">
                <a:spAutoFit/>
              </a:bodyPr>
              <a:lstStyle/>
              <a:p>
                <a:pPr marL="285750" indent="-285750" algn="just">
                  <a:spcBef>
                    <a:spcPct val="0"/>
                  </a:spcBef>
                  <a:buFont typeface="Wingdings" panose="05000000000000000000" pitchFamily="2" charset="2"/>
                  <a:buChar char="q"/>
                </a:pPr>
                <a14:m>
                  <m:oMath xmlns:m="http://schemas.openxmlformats.org/officeDocument/2006/math">
                    <m:sSub>
                      <m:sSubPr>
                        <m:ctrlPr>
                          <a:rPr lang="fr-FR" altLang="fr-FR" sz="1600" b="1" i="1" smtClean="0">
                            <a:latin typeface="Cambria Math" panose="02040503050406030204" pitchFamily="18" charset="0"/>
                            <a:cs typeface="Browallia New" panose="020B0604020202020204" pitchFamily="34" charset="-34"/>
                          </a:rPr>
                        </m:ctrlPr>
                      </m:sSubPr>
                      <m:e>
                        <m:r>
                          <a:rPr lang="fr-FR" altLang="fr-FR" sz="1600" b="1" i="1">
                            <a:latin typeface="Cambria Math" panose="02040503050406030204" pitchFamily="18" charset="0"/>
                            <a:cs typeface="Browallia New" panose="020B0604020202020204" pitchFamily="34" charset="-34"/>
                          </a:rPr>
                          <m:t>𝑼</m:t>
                        </m:r>
                      </m:e>
                      <m:sub>
                        <m:r>
                          <a:rPr lang="fr-FR" altLang="fr-FR" sz="1600" b="1" i="1">
                            <a:latin typeface="Cambria Math" panose="02040503050406030204" pitchFamily="18" charset="0"/>
                            <a:cs typeface="Browallia New" panose="020B0604020202020204" pitchFamily="34" charset="-34"/>
                          </a:rPr>
                          <m:t>𝒄𝒄</m:t>
                        </m:r>
                      </m:sub>
                    </m:sSub>
                    <m:r>
                      <a:rPr lang="fr-FR" altLang="fr-FR" sz="1600" b="1" i="1" smtClean="0">
                        <a:latin typeface="Cambria Math" panose="02040503050406030204" pitchFamily="18" charset="0"/>
                        <a:cs typeface="Browallia New" panose="020B0604020202020204" pitchFamily="34" charset="-34"/>
                      </a:rPr>
                      <m:t>=</m:t>
                    </m:r>
                    <m:r>
                      <a:rPr lang="fr-FR" altLang="fr-FR" sz="1600" b="1" i="1" smtClean="0">
                        <a:latin typeface="Cambria Math" panose="02040503050406030204" pitchFamily="18" charset="0"/>
                        <a:cs typeface="Browallia New" panose="020B0604020202020204" pitchFamily="34" charset="-34"/>
                      </a:rPr>
                      <m:t>𝟐</m:t>
                    </m:r>
                    <m:sSub>
                      <m:sSubPr>
                        <m:ctrlPr>
                          <a:rPr lang="fr-FR" altLang="fr-FR" sz="1600" b="1" i="1" smtClean="0">
                            <a:latin typeface="Cambria Math" panose="02040503050406030204" pitchFamily="18" charset="0"/>
                            <a:cs typeface="Browallia New" panose="020B0604020202020204" pitchFamily="34" charset="-34"/>
                          </a:rPr>
                        </m:ctrlPr>
                      </m:sSubPr>
                      <m:e>
                        <m:r>
                          <a:rPr lang="fr-FR" altLang="fr-FR" sz="1600" b="1" i="1" smtClean="0">
                            <a:latin typeface="Cambria Math" panose="02040503050406030204" pitchFamily="18" charset="0"/>
                            <a:cs typeface="Browallia New" panose="020B0604020202020204" pitchFamily="34" charset="-34"/>
                          </a:rPr>
                          <m:t>𝑼</m:t>
                        </m:r>
                      </m:e>
                      <m:sub>
                        <m:r>
                          <a:rPr lang="fr-FR" altLang="fr-FR" sz="1600" b="1" i="1" smtClean="0">
                            <a:latin typeface="Cambria Math" panose="02040503050406030204" pitchFamily="18" charset="0"/>
                            <a:cs typeface="Browallia New" panose="020B0604020202020204" pitchFamily="34" charset="-34"/>
                          </a:rPr>
                          <m:t>𝒎</m:t>
                        </m:r>
                      </m:sub>
                    </m:sSub>
                  </m:oMath>
                </a14:m>
                <a:r>
                  <a:rPr lang="fr-FR" altLang="fr-FR" sz="1600" b="1" i="1" dirty="0">
                    <a:latin typeface="Bookman Old Style" panose="02050604050505020204" pitchFamily="18" charset="0"/>
                    <a:cs typeface="Browallia New" panose="020B0604020202020204" pitchFamily="34" charset="-34"/>
                  </a:rPr>
                  <a:t> </a:t>
                </a:r>
                <a:r>
                  <a:rPr lang="fr-FR" altLang="fr-FR" sz="1600" dirty="0">
                    <a:latin typeface="Bookman Old Style" panose="02050604050505020204" pitchFamily="18" charset="0"/>
                    <a:cs typeface="Browallia New" panose="020B0604020202020204" pitchFamily="34" charset="-34"/>
                  </a:rPr>
                  <a:t>est la valeur </a:t>
                </a:r>
                <a:r>
                  <a:rPr lang="fr-FR" altLang="fr-FR" sz="1600" b="1" dirty="0">
                    <a:latin typeface="Bookman Old Style" panose="02050604050505020204" pitchFamily="18" charset="0"/>
                    <a:cs typeface="Browallia New" panose="020B0604020202020204" pitchFamily="34" charset="-34"/>
                  </a:rPr>
                  <a:t>crête à crête</a:t>
                </a:r>
              </a:p>
            </p:txBody>
          </p:sp>
        </mc:Choice>
        <mc:Fallback xmlns="">
          <p:sp>
            <p:nvSpPr>
              <p:cNvPr id="11" name="TextBox 10">
                <a:extLst>
                  <a:ext uri="{FF2B5EF4-FFF2-40B4-BE49-F238E27FC236}">
                    <a16:creationId xmlns:a16="http://schemas.microsoft.com/office/drawing/2014/main" id="{7F782F4E-C68E-4FB2-F7FA-52BCE024CDCD}"/>
                  </a:ext>
                </a:extLst>
              </p:cNvPr>
              <p:cNvSpPr txBox="1">
                <a:spLocks noRot="1" noChangeAspect="1" noMove="1" noResize="1" noEditPoints="1" noAdjustHandles="1" noChangeArrowheads="1" noChangeShapeType="1" noTextEdit="1"/>
              </p:cNvSpPr>
              <p:nvPr/>
            </p:nvSpPr>
            <p:spPr>
              <a:xfrm>
                <a:off x="495209" y="2233196"/>
                <a:ext cx="4588778" cy="338554"/>
              </a:xfrm>
              <a:prstGeom prst="rect">
                <a:avLst/>
              </a:prstGeom>
              <a:blipFill>
                <a:blip r:embed="rId5"/>
                <a:stretch>
                  <a:fillRect l="-531" t="-5357" b="-21429"/>
                </a:stretch>
              </a:blipFill>
            </p:spPr>
            <p:txBody>
              <a:bodyPr/>
              <a:lstStyle/>
              <a:p>
                <a:r>
                  <a:rPr lang="fr-FR">
                    <a:noFill/>
                  </a:rPr>
                  <a:t> </a:t>
                </a:r>
              </a:p>
            </p:txBody>
          </p:sp>
        </mc:Fallback>
      </mc:AlternateContent>
    </p:spTree>
    <p:extLst>
      <p:ext uri="{BB962C8B-B14F-4D97-AF65-F5344CB8AC3E}">
        <p14:creationId xmlns:p14="http://schemas.microsoft.com/office/powerpoint/2010/main" val="288309609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62</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4.1 Signaux sinusoïdaux</a:t>
            </a:r>
          </a:p>
          <a:p>
            <a:pPr marL="12065" lvl="1">
              <a:spcBef>
                <a:spcPts val="100"/>
              </a:spcBef>
              <a:tabLst>
                <a:tab pos="393700" algn="l"/>
              </a:tabLst>
            </a:pPr>
            <a:r>
              <a:rPr lang="fr-FR" altLang="fr-FR" sz="1400" b="1" spc="-5" dirty="0">
                <a:solidFill>
                  <a:srgbClr val="C00000"/>
                </a:solidFill>
                <a:latin typeface="Bookman Old Style" panose="02050604050505020204" pitchFamily="18" charset="0"/>
                <a:cs typeface="Arial"/>
              </a:rPr>
              <a:t>     A. </a:t>
            </a:r>
            <a:r>
              <a:rPr lang="fr-FR" altLang="fr-FR" sz="1400" b="1" dirty="0">
                <a:solidFill>
                  <a:srgbClr val="C00000"/>
                </a:solidFill>
                <a:latin typeface="Bookman Old Style" panose="02050604050505020204" pitchFamily="18" charset="0"/>
                <a:cs typeface="Browallia New" panose="020B0604020202020204" pitchFamily="34" charset="-34"/>
              </a:rPr>
              <a:t>valeur moyenne et efficace </a:t>
            </a:r>
            <a:endParaRPr lang="fr-FR" sz="1400" b="1" dirty="0">
              <a:solidFill>
                <a:srgbClr val="C00000"/>
              </a:solidFill>
              <a:latin typeface="Bookman Old Style" panose="02050604050505020204" pitchFamily="18" charset="0"/>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B267E165-66AB-54FD-20F1-5A56EA725E51}"/>
                  </a:ext>
                </a:extLst>
              </p:cNvPr>
              <p:cNvSpPr txBox="1"/>
              <p:nvPr/>
            </p:nvSpPr>
            <p:spPr>
              <a:xfrm>
                <a:off x="550646" y="1558343"/>
                <a:ext cx="8483166" cy="3927998"/>
              </a:xfrm>
              <a:prstGeom prst="rect">
                <a:avLst/>
              </a:prstGeom>
              <a:noFill/>
            </p:spPr>
            <p:txBody>
              <a:bodyPr wrap="square">
                <a:spAutoFit/>
              </a:bodyPr>
              <a:lstStyle/>
              <a:p>
                <a:pPr marL="285750" indent="-285750" algn="just">
                  <a:buFont typeface="Wingdings" panose="05000000000000000000" pitchFamily="2" charset="2"/>
                  <a:buChar char="q"/>
                </a:pPr>
                <a:r>
                  <a:rPr lang="fr-FR" altLang="fr-FR" sz="1500" dirty="0">
                    <a:latin typeface="Bookman Old Style" panose="02050604050505020204" pitchFamily="18" charset="0"/>
                    <a:cs typeface="Browallia New" panose="020B0604020202020204" pitchFamily="34" charset="-34"/>
                  </a:rPr>
                  <a:t>Les grandeurs </a:t>
                </a:r>
                <a:r>
                  <a:rPr lang="fr-FR" altLang="fr-FR" sz="1500" b="1" dirty="0">
                    <a:latin typeface="Bookman Old Style" panose="02050604050505020204" pitchFamily="18" charset="0"/>
                    <a:cs typeface="Browallia New" panose="020B0604020202020204" pitchFamily="34" charset="-34"/>
                  </a:rPr>
                  <a:t>alternatives symétrique </a:t>
                </a:r>
                <a:r>
                  <a:rPr lang="fr-FR" altLang="fr-FR" sz="1500" dirty="0">
                    <a:latin typeface="Bookman Old Style" panose="02050604050505020204" pitchFamily="18" charset="0"/>
                    <a:cs typeface="Browallia New" panose="020B0604020202020204" pitchFamily="34" charset="-34"/>
                  </a:rPr>
                  <a:t> (quelles soit des courants ou des tensions), présentent toujours une valeur moyenne </a:t>
                </a:r>
                <a:r>
                  <a:rPr lang="fr-FR" altLang="fr-FR" sz="1500" b="1" dirty="0">
                    <a:latin typeface="Bookman Old Style" panose="02050604050505020204" pitchFamily="18" charset="0"/>
                    <a:cs typeface="Browallia New" panose="020B0604020202020204" pitchFamily="34" charset="-34"/>
                  </a:rPr>
                  <a:t>nulle</a:t>
                </a:r>
                <a:r>
                  <a:rPr lang="fr-FR" altLang="fr-FR" sz="1500" b="1" i="1" dirty="0">
                    <a:latin typeface="Bookman Old Style" panose="02050604050505020204" pitchFamily="18" charset="0"/>
                    <a:cs typeface="Browallia New" panose="020B0604020202020204" pitchFamily="34" charset="-34"/>
                  </a:rPr>
                  <a:t>. </a:t>
                </a:r>
              </a:p>
              <a:p>
                <a:pPr algn="just"/>
                <a:endParaRPr lang="fr-FR" altLang="fr-FR" sz="1500" b="1" i="1" dirty="0">
                  <a:latin typeface="Bookman Old Style" panose="02050604050505020204" pitchFamily="18" charset="0"/>
                  <a:cs typeface="Browallia New" panose="020B0604020202020204" pitchFamily="34" charset="-34"/>
                </a:endParaRPr>
              </a:p>
              <a:p>
                <a:pPr marL="285750" indent="-285750" algn="just">
                  <a:buFont typeface="Wingdings" panose="05000000000000000000" pitchFamily="2" charset="2"/>
                  <a:buChar char="q"/>
                </a:pPr>
                <a:r>
                  <a:rPr lang="fr-FR" altLang="fr-FR" sz="1500" dirty="0">
                    <a:latin typeface="Bookman Old Style" panose="02050604050505020204" pitchFamily="18" charset="0"/>
                    <a:cs typeface="Browallia New" panose="020B0604020202020204" pitchFamily="34" charset="-34"/>
                  </a:rPr>
                  <a:t>Par définition, la valeur moyenne d’un signal </a:t>
                </a:r>
                <a:r>
                  <a:rPr lang="fr-FR" altLang="fr-FR" sz="1500" b="1" dirty="0">
                    <a:latin typeface="Bookman Old Style" panose="02050604050505020204" pitchFamily="18" charset="0"/>
                    <a:cs typeface="Browallia New" panose="020B0604020202020204" pitchFamily="34" charset="-34"/>
                  </a:rPr>
                  <a:t>u(t) </a:t>
                </a:r>
                <a:r>
                  <a:rPr lang="fr-FR" altLang="fr-FR" sz="1500" dirty="0">
                    <a:latin typeface="Bookman Old Style" panose="02050604050505020204" pitchFamily="18" charset="0"/>
                    <a:cs typeface="Browallia New" panose="020B0604020202020204" pitchFamily="34" charset="-34"/>
                  </a:rPr>
                  <a:t>est donnée par :</a:t>
                </a:r>
              </a:p>
              <a:p>
                <a:pPr algn="just"/>
                <a:endParaRPr lang="fr-FR" altLang="fr-FR" sz="1500" dirty="0">
                  <a:latin typeface="Bookman Old Style" panose="02050604050505020204" pitchFamily="18" charset="0"/>
                  <a:cs typeface="Browallia New" panose="020B0604020202020204" pitchFamily="34" charset="-34"/>
                </a:endParaRPr>
              </a:p>
              <a:p>
                <a:pPr algn="ctr"/>
                <a14:m>
                  <m:oMath xmlns:m="http://schemas.openxmlformats.org/officeDocument/2006/math">
                    <m:d>
                      <m:dPr>
                        <m:begChr m:val="⟨"/>
                        <m:endChr m:val="⟩"/>
                        <m:ctrlPr>
                          <a:rPr lang="fr-FR" altLang="fr-FR" sz="1500" b="1" i="1" smtClean="0">
                            <a:solidFill>
                              <a:srgbClr val="FF0000"/>
                            </a:solidFill>
                            <a:latin typeface="Cambria Math" panose="02040503050406030204" pitchFamily="18" charset="0"/>
                            <a:cs typeface="Browallia New" panose="020B0604020202020204" pitchFamily="34" charset="-34"/>
                          </a:rPr>
                        </m:ctrlPr>
                      </m:dPr>
                      <m:e>
                        <m:r>
                          <a:rPr lang="fr-FR" altLang="fr-FR" sz="1500" b="1" i="1" smtClean="0">
                            <a:solidFill>
                              <a:srgbClr val="FF0000"/>
                            </a:solidFill>
                            <a:latin typeface="Cambria Math" panose="02040503050406030204" pitchFamily="18" charset="0"/>
                            <a:cs typeface="Browallia New" panose="020B0604020202020204" pitchFamily="34" charset="-34"/>
                          </a:rPr>
                          <m:t>𝒖</m:t>
                        </m:r>
                      </m:e>
                    </m:d>
                    <m:r>
                      <a:rPr lang="fr-FR" altLang="fr-FR" sz="1500" b="1" i="1" smtClean="0">
                        <a:solidFill>
                          <a:srgbClr val="FF0000"/>
                        </a:solidFill>
                        <a:latin typeface="Cambria Math" panose="02040503050406030204" pitchFamily="18" charset="0"/>
                        <a:cs typeface="Browallia New" panose="020B0604020202020204" pitchFamily="34" charset="-34"/>
                      </a:rPr>
                      <m:t>=</m:t>
                    </m:r>
                    <m:sSub>
                      <m:sSubPr>
                        <m:ctrlPr>
                          <a:rPr lang="fr-FR" altLang="fr-FR" sz="1500" b="1" i="1" smtClean="0">
                            <a:solidFill>
                              <a:srgbClr val="FF0000"/>
                            </a:solidFill>
                            <a:latin typeface="Cambria Math" panose="02040503050406030204" pitchFamily="18" charset="0"/>
                            <a:cs typeface="Browallia New" panose="020B0604020202020204" pitchFamily="34" charset="-34"/>
                          </a:rPr>
                        </m:ctrlPr>
                      </m:sSubPr>
                      <m:e>
                        <m:r>
                          <a:rPr lang="fr-FR" altLang="fr-FR" sz="1500" b="1" i="1" smtClean="0">
                            <a:solidFill>
                              <a:srgbClr val="FF0000"/>
                            </a:solidFill>
                            <a:latin typeface="Cambria Math" panose="02040503050406030204" pitchFamily="18" charset="0"/>
                            <a:cs typeface="Browallia New" panose="020B0604020202020204" pitchFamily="34" charset="-34"/>
                          </a:rPr>
                          <m:t>𝒖</m:t>
                        </m:r>
                      </m:e>
                      <m:sub>
                        <m:r>
                          <a:rPr lang="fr-FR" altLang="fr-FR" sz="1500" b="1" i="1" smtClean="0">
                            <a:solidFill>
                              <a:srgbClr val="FF0000"/>
                            </a:solidFill>
                            <a:latin typeface="Cambria Math" panose="02040503050406030204" pitchFamily="18" charset="0"/>
                            <a:cs typeface="Browallia New" panose="020B0604020202020204" pitchFamily="34" charset="-34"/>
                          </a:rPr>
                          <m:t>𝒎𝒐𝒚</m:t>
                        </m:r>
                      </m:sub>
                    </m:sSub>
                    <m:r>
                      <a:rPr lang="fr-FR" altLang="fr-FR" sz="1500" b="1" i="1" smtClean="0">
                        <a:solidFill>
                          <a:srgbClr val="FF0000"/>
                        </a:solidFill>
                        <a:latin typeface="Cambria Math" panose="02040503050406030204" pitchFamily="18" charset="0"/>
                        <a:cs typeface="Browallia New" panose="020B0604020202020204" pitchFamily="34" charset="-34"/>
                      </a:rPr>
                      <m:t>=</m:t>
                    </m:r>
                    <m:f>
                      <m:fPr>
                        <m:ctrlPr>
                          <a:rPr lang="fr-FR" altLang="fr-FR" sz="1500" b="1" i="1" smtClean="0">
                            <a:solidFill>
                              <a:srgbClr val="FF0000"/>
                            </a:solidFill>
                            <a:latin typeface="Cambria Math" panose="02040503050406030204" pitchFamily="18" charset="0"/>
                            <a:cs typeface="Browallia New" panose="020B0604020202020204" pitchFamily="34" charset="-34"/>
                          </a:rPr>
                        </m:ctrlPr>
                      </m:fPr>
                      <m:num>
                        <m:r>
                          <a:rPr lang="fr-FR" altLang="fr-FR" sz="1500" b="1" i="1" smtClean="0">
                            <a:solidFill>
                              <a:srgbClr val="FF0000"/>
                            </a:solidFill>
                            <a:latin typeface="Cambria Math" panose="02040503050406030204" pitchFamily="18" charset="0"/>
                            <a:cs typeface="Browallia New" panose="020B0604020202020204" pitchFamily="34" charset="-34"/>
                          </a:rPr>
                          <m:t>𝟏</m:t>
                        </m:r>
                      </m:num>
                      <m:den>
                        <m:r>
                          <a:rPr lang="fr-FR" altLang="fr-FR" sz="1500" b="1" i="1" smtClean="0">
                            <a:solidFill>
                              <a:srgbClr val="FF0000"/>
                            </a:solidFill>
                            <a:latin typeface="Cambria Math" panose="02040503050406030204" pitchFamily="18" charset="0"/>
                            <a:cs typeface="Browallia New" panose="020B0604020202020204" pitchFamily="34" charset="-34"/>
                          </a:rPr>
                          <m:t>𝑻</m:t>
                        </m:r>
                      </m:den>
                    </m:f>
                    <m:nary>
                      <m:naryPr>
                        <m:limLoc m:val="undOvr"/>
                        <m:ctrlPr>
                          <a:rPr lang="fr-FR" altLang="fr-FR" sz="1500" b="1" i="1" smtClean="0">
                            <a:solidFill>
                              <a:srgbClr val="FF0000"/>
                            </a:solidFill>
                            <a:latin typeface="Cambria Math" panose="02040503050406030204" pitchFamily="18" charset="0"/>
                            <a:cs typeface="Browallia New" panose="020B0604020202020204" pitchFamily="34" charset="-34"/>
                          </a:rPr>
                        </m:ctrlPr>
                      </m:naryPr>
                      <m:sub>
                        <m:r>
                          <m:rPr>
                            <m:brk m:alnAt="24"/>
                          </m:rPr>
                          <a:rPr lang="fr-FR" altLang="fr-FR" sz="1500" b="1" i="1" smtClean="0">
                            <a:solidFill>
                              <a:srgbClr val="FF0000"/>
                            </a:solidFill>
                            <a:latin typeface="Cambria Math" panose="02040503050406030204" pitchFamily="18" charset="0"/>
                            <a:cs typeface="Browallia New" panose="020B0604020202020204" pitchFamily="34" charset="-34"/>
                          </a:rPr>
                          <m:t>𝟎</m:t>
                        </m:r>
                      </m:sub>
                      <m:sup>
                        <m:r>
                          <a:rPr lang="fr-FR" altLang="fr-FR" sz="1500" b="1" i="1" smtClean="0">
                            <a:solidFill>
                              <a:srgbClr val="FF0000"/>
                            </a:solidFill>
                            <a:latin typeface="Cambria Math" panose="02040503050406030204" pitchFamily="18" charset="0"/>
                            <a:cs typeface="Browallia New" panose="020B0604020202020204" pitchFamily="34" charset="-34"/>
                          </a:rPr>
                          <m:t>𝑻</m:t>
                        </m:r>
                      </m:sup>
                      <m:e>
                        <m:r>
                          <a:rPr lang="fr-FR" altLang="fr-FR" sz="1500" b="1" i="1" smtClean="0">
                            <a:solidFill>
                              <a:srgbClr val="FF0000"/>
                            </a:solidFill>
                            <a:latin typeface="Cambria Math" panose="02040503050406030204" pitchFamily="18" charset="0"/>
                            <a:cs typeface="Browallia New" panose="020B0604020202020204" pitchFamily="34" charset="-34"/>
                          </a:rPr>
                          <m:t>𝒖</m:t>
                        </m:r>
                        <m:d>
                          <m:dPr>
                            <m:ctrlPr>
                              <a:rPr lang="fr-FR" altLang="fr-FR" sz="1500" b="1" i="1" smtClean="0">
                                <a:solidFill>
                                  <a:srgbClr val="FF0000"/>
                                </a:solidFill>
                                <a:latin typeface="Cambria Math" panose="02040503050406030204" pitchFamily="18" charset="0"/>
                                <a:cs typeface="Browallia New" panose="020B0604020202020204" pitchFamily="34" charset="-34"/>
                              </a:rPr>
                            </m:ctrlPr>
                          </m:dPr>
                          <m:e>
                            <m:r>
                              <a:rPr lang="fr-FR" altLang="fr-FR" sz="1500" b="1" i="1" smtClean="0">
                                <a:solidFill>
                                  <a:srgbClr val="FF0000"/>
                                </a:solidFill>
                                <a:latin typeface="Cambria Math" panose="02040503050406030204" pitchFamily="18" charset="0"/>
                                <a:cs typeface="Browallia New" panose="020B0604020202020204" pitchFamily="34" charset="-34"/>
                              </a:rPr>
                              <m:t>𝒕</m:t>
                            </m:r>
                          </m:e>
                        </m:d>
                        <m:r>
                          <a:rPr lang="fr-FR" altLang="fr-FR" sz="1500" b="1" i="1" smtClean="0">
                            <a:solidFill>
                              <a:srgbClr val="FF0000"/>
                            </a:solidFill>
                            <a:latin typeface="Cambria Math" panose="02040503050406030204" pitchFamily="18" charset="0"/>
                            <a:cs typeface="Browallia New" panose="020B0604020202020204" pitchFamily="34" charset="-34"/>
                          </a:rPr>
                          <m:t>𝒅𝒕</m:t>
                        </m:r>
                      </m:e>
                    </m:nary>
                  </m:oMath>
                </a14:m>
                <a:r>
                  <a:rPr lang="fr-FR" altLang="fr-FR" sz="1500" b="1" dirty="0">
                    <a:latin typeface="Bodoni MT" panose="02070603080606020203" pitchFamily="18" charset="0"/>
                    <a:cs typeface="Browallia New" panose="020B0604020202020204" pitchFamily="34" charset="-34"/>
                  </a:rPr>
                  <a:t> , </a:t>
                </a:r>
                <a:r>
                  <a:rPr lang="fr-FR" altLang="fr-FR" sz="1500" b="1" dirty="0">
                    <a:latin typeface="Bookman Old Style" panose="02050604050505020204" pitchFamily="18" charset="0"/>
                    <a:cs typeface="Browallia New" panose="020B0604020202020204" pitchFamily="34" charset="-34"/>
                  </a:rPr>
                  <a:t>Où </a:t>
                </a:r>
                <a:r>
                  <a:rPr lang="fr-FR" altLang="fr-FR" sz="1500" b="1" dirty="0">
                    <a:solidFill>
                      <a:srgbClr val="FF0000"/>
                    </a:solidFill>
                    <a:latin typeface="Bookman Old Style" panose="02050604050505020204" pitchFamily="18" charset="0"/>
                    <a:cs typeface="Browallia New" panose="020B0604020202020204" pitchFamily="34" charset="-34"/>
                  </a:rPr>
                  <a:t>T</a:t>
                </a:r>
                <a:r>
                  <a:rPr lang="fr-FR" altLang="fr-FR" sz="1500" b="1" dirty="0">
                    <a:latin typeface="Bookman Old Style" panose="02050604050505020204" pitchFamily="18" charset="0"/>
                    <a:cs typeface="Browallia New" panose="020B0604020202020204" pitchFamily="34" charset="-34"/>
                  </a:rPr>
                  <a:t> est la période du signal</a:t>
                </a:r>
              </a:p>
              <a:p>
                <a:pPr algn="ctr"/>
                <a:endParaRPr lang="fr-FR" altLang="fr-FR" sz="1500" b="1" dirty="0">
                  <a:latin typeface="Bookman Old Style" panose="02050604050505020204" pitchFamily="18" charset="0"/>
                  <a:cs typeface="Browallia New" panose="020B0604020202020204" pitchFamily="34" charset="-34"/>
                </a:endParaRPr>
              </a:p>
              <a:p>
                <a:pPr marL="285750" indent="-285750" algn="just">
                  <a:buFont typeface="Wingdings" panose="05000000000000000000" pitchFamily="2" charset="2"/>
                  <a:buChar char="q"/>
                </a:pPr>
                <a:r>
                  <a:rPr lang="fr-FR" altLang="fr-FR" sz="1500" dirty="0">
                    <a:latin typeface="Bookman Old Style" panose="02050604050505020204" pitchFamily="18" charset="0"/>
                    <a:cs typeface="Browallia New" panose="020B0604020202020204" pitchFamily="34" charset="-34"/>
                  </a:rPr>
                  <a:t>Les signaux alternatifs sont caractérisés par une autre grandeur appelée la </a:t>
                </a:r>
                <a:r>
                  <a:rPr lang="fr-FR" altLang="fr-FR" sz="1500" b="1" dirty="0">
                    <a:latin typeface="Bookman Old Style" panose="02050604050505020204" pitchFamily="18" charset="0"/>
                    <a:cs typeface="Browallia New" panose="020B0604020202020204" pitchFamily="34" charset="-34"/>
                  </a:rPr>
                  <a:t>valeur efficace</a:t>
                </a:r>
                <a:r>
                  <a:rPr lang="fr-FR" altLang="fr-FR" sz="1500" dirty="0">
                    <a:latin typeface="Bookman Old Style" panose="02050604050505020204" pitchFamily="18" charset="0"/>
                    <a:cs typeface="Browallia New" panose="020B0604020202020204" pitchFamily="34" charset="-34"/>
                  </a:rPr>
                  <a:t>.</a:t>
                </a:r>
              </a:p>
              <a:p>
                <a:pPr algn="just"/>
                <a:endParaRPr lang="fr-FR" altLang="fr-FR" sz="1500" dirty="0">
                  <a:latin typeface="Bookman Old Style" panose="02050604050505020204" pitchFamily="18" charset="0"/>
                  <a:cs typeface="Browallia New" panose="020B0604020202020204" pitchFamily="34" charset="-34"/>
                </a:endParaRPr>
              </a:p>
              <a:p>
                <a:pPr marL="285750" indent="-285750" algn="just">
                  <a:buFont typeface="Wingdings" panose="05000000000000000000" pitchFamily="2" charset="2"/>
                  <a:buChar char="q"/>
                </a:pPr>
                <a:r>
                  <a:rPr lang="fr-FR" altLang="fr-FR" sz="1600" dirty="0">
                    <a:latin typeface="Garamond" panose="02020404030301010803" pitchFamily="18" charset="0"/>
                    <a:cs typeface="Browallia New" panose="020B0604020202020204" pitchFamily="34" charset="-34"/>
                  </a:rPr>
                  <a:t>L’expression de la valeur efficace d’un signal </a:t>
                </a:r>
                <a:r>
                  <a:rPr lang="fr-FR" altLang="fr-FR" sz="1600" b="1" dirty="0">
                    <a:latin typeface="Garamond" panose="02020404030301010803" pitchFamily="18" charset="0"/>
                    <a:cs typeface="Browallia New" panose="020B0604020202020204" pitchFamily="34" charset="-34"/>
                  </a:rPr>
                  <a:t>u(t) </a:t>
                </a:r>
                <a:r>
                  <a:rPr lang="fr-FR" altLang="fr-FR" sz="1600" dirty="0">
                    <a:latin typeface="Garamond" panose="02020404030301010803" pitchFamily="18" charset="0"/>
                    <a:cs typeface="Browallia New" panose="020B0604020202020204" pitchFamily="34" charset="-34"/>
                  </a:rPr>
                  <a:t>est donnée par : </a:t>
                </a:r>
              </a:p>
              <a:p>
                <a:pPr algn="ctr"/>
                <a14:m>
                  <m:oMath xmlns:m="http://schemas.openxmlformats.org/officeDocument/2006/math">
                    <m:sSub>
                      <m:sSubPr>
                        <m:ctrlPr>
                          <a:rPr lang="fr-FR" altLang="fr-FR" sz="1500" b="1" i="1" smtClean="0">
                            <a:solidFill>
                              <a:srgbClr val="FF0000"/>
                            </a:solidFill>
                            <a:latin typeface="Cambria Math" panose="02040503050406030204" pitchFamily="18" charset="0"/>
                            <a:cs typeface="Browallia New" panose="020B0604020202020204" pitchFamily="34" charset="-34"/>
                          </a:rPr>
                        </m:ctrlPr>
                      </m:sSubPr>
                      <m:e>
                        <m:r>
                          <a:rPr lang="fr-FR" altLang="fr-FR" sz="1500" b="1" i="1" smtClean="0">
                            <a:solidFill>
                              <a:srgbClr val="FF0000"/>
                            </a:solidFill>
                            <a:latin typeface="Cambria Math" panose="02040503050406030204" pitchFamily="18" charset="0"/>
                            <a:cs typeface="Browallia New" panose="020B0604020202020204" pitchFamily="34" charset="-34"/>
                          </a:rPr>
                          <m:t>𝒖</m:t>
                        </m:r>
                      </m:e>
                      <m:sub>
                        <m:r>
                          <a:rPr lang="fr-FR" altLang="fr-FR" sz="1500" b="1" i="1" smtClean="0">
                            <a:solidFill>
                              <a:srgbClr val="FF0000"/>
                            </a:solidFill>
                            <a:latin typeface="Cambria Math" panose="02040503050406030204" pitchFamily="18" charset="0"/>
                            <a:cs typeface="Browallia New" panose="020B0604020202020204" pitchFamily="34" charset="-34"/>
                          </a:rPr>
                          <m:t>𝒆𝒇𝒇</m:t>
                        </m:r>
                      </m:sub>
                    </m:sSub>
                    <m:r>
                      <a:rPr lang="fr-FR" altLang="fr-FR" sz="1500" b="1" i="1" smtClean="0">
                        <a:solidFill>
                          <a:srgbClr val="FF0000"/>
                        </a:solidFill>
                        <a:latin typeface="Cambria Math" panose="02040503050406030204" pitchFamily="18" charset="0"/>
                        <a:cs typeface="Browallia New" panose="020B0604020202020204" pitchFamily="34" charset="-34"/>
                      </a:rPr>
                      <m:t>=</m:t>
                    </m:r>
                    <m:rad>
                      <m:radPr>
                        <m:degHide m:val="on"/>
                        <m:ctrlPr>
                          <a:rPr lang="fr-FR" altLang="fr-FR" sz="1500" b="1" i="1" smtClean="0">
                            <a:solidFill>
                              <a:srgbClr val="FF0000"/>
                            </a:solidFill>
                            <a:latin typeface="Cambria Math" panose="02040503050406030204" pitchFamily="18" charset="0"/>
                            <a:cs typeface="Browallia New" panose="020B0604020202020204" pitchFamily="34" charset="-34"/>
                          </a:rPr>
                        </m:ctrlPr>
                      </m:radPr>
                      <m:deg/>
                      <m:e>
                        <m:f>
                          <m:fPr>
                            <m:ctrlPr>
                              <a:rPr lang="fr-FR" altLang="fr-FR" sz="1500" b="1" i="1">
                                <a:solidFill>
                                  <a:srgbClr val="FF0000"/>
                                </a:solidFill>
                                <a:latin typeface="Cambria Math" panose="02040503050406030204" pitchFamily="18" charset="0"/>
                                <a:cs typeface="Browallia New" panose="020B0604020202020204" pitchFamily="34" charset="-34"/>
                              </a:rPr>
                            </m:ctrlPr>
                          </m:fPr>
                          <m:num>
                            <m:r>
                              <a:rPr lang="fr-FR" altLang="fr-FR" sz="1500" b="1" i="1">
                                <a:solidFill>
                                  <a:srgbClr val="FF0000"/>
                                </a:solidFill>
                                <a:latin typeface="Cambria Math" panose="02040503050406030204" pitchFamily="18" charset="0"/>
                                <a:cs typeface="Browallia New" panose="020B0604020202020204" pitchFamily="34" charset="-34"/>
                              </a:rPr>
                              <m:t>𝟏</m:t>
                            </m:r>
                          </m:num>
                          <m:den>
                            <m:r>
                              <a:rPr lang="fr-FR" altLang="fr-FR" sz="1500" b="1" i="1">
                                <a:solidFill>
                                  <a:srgbClr val="FF0000"/>
                                </a:solidFill>
                                <a:latin typeface="Cambria Math" panose="02040503050406030204" pitchFamily="18" charset="0"/>
                                <a:cs typeface="Browallia New" panose="020B0604020202020204" pitchFamily="34" charset="-34"/>
                              </a:rPr>
                              <m:t>𝑻</m:t>
                            </m:r>
                          </m:den>
                        </m:f>
                        <m:nary>
                          <m:naryPr>
                            <m:limLoc m:val="undOvr"/>
                            <m:ctrlPr>
                              <a:rPr lang="fr-FR" altLang="fr-FR" sz="1500" b="1" i="1">
                                <a:solidFill>
                                  <a:srgbClr val="FF0000"/>
                                </a:solidFill>
                                <a:latin typeface="Cambria Math" panose="02040503050406030204" pitchFamily="18" charset="0"/>
                                <a:cs typeface="Browallia New" panose="020B0604020202020204" pitchFamily="34" charset="-34"/>
                              </a:rPr>
                            </m:ctrlPr>
                          </m:naryPr>
                          <m:sub>
                            <m:r>
                              <m:rPr>
                                <m:brk m:alnAt="24"/>
                              </m:rPr>
                              <a:rPr lang="fr-FR" altLang="fr-FR" sz="1500" b="1" i="1">
                                <a:solidFill>
                                  <a:srgbClr val="FF0000"/>
                                </a:solidFill>
                                <a:latin typeface="Cambria Math" panose="02040503050406030204" pitchFamily="18" charset="0"/>
                                <a:cs typeface="Browallia New" panose="020B0604020202020204" pitchFamily="34" charset="-34"/>
                              </a:rPr>
                              <m:t>𝟎</m:t>
                            </m:r>
                          </m:sub>
                          <m:sup>
                            <m:r>
                              <a:rPr lang="fr-FR" altLang="fr-FR" sz="1500" b="1" i="1">
                                <a:solidFill>
                                  <a:srgbClr val="FF0000"/>
                                </a:solidFill>
                                <a:latin typeface="Cambria Math" panose="02040503050406030204" pitchFamily="18" charset="0"/>
                                <a:cs typeface="Browallia New" panose="020B0604020202020204" pitchFamily="34" charset="-34"/>
                              </a:rPr>
                              <m:t>𝑻</m:t>
                            </m:r>
                          </m:sup>
                          <m:e>
                            <m:sSup>
                              <m:sSupPr>
                                <m:ctrlPr>
                                  <a:rPr lang="fr-FR" altLang="fr-FR" sz="1500" b="1" i="1">
                                    <a:solidFill>
                                      <a:srgbClr val="FF0000"/>
                                    </a:solidFill>
                                    <a:latin typeface="Cambria Math" panose="02040503050406030204" pitchFamily="18" charset="0"/>
                                    <a:cs typeface="Browallia New" panose="020B0604020202020204" pitchFamily="34" charset="-34"/>
                                  </a:rPr>
                                </m:ctrlPr>
                              </m:sSupPr>
                              <m:e>
                                <m:r>
                                  <a:rPr lang="fr-FR" altLang="fr-FR" sz="1500" b="1" i="1">
                                    <a:solidFill>
                                      <a:srgbClr val="FF0000"/>
                                    </a:solidFill>
                                    <a:latin typeface="Cambria Math" panose="02040503050406030204" pitchFamily="18" charset="0"/>
                                    <a:cs typeface="Browallia New" panose="020B0604020202020204" pitchFamily="34" charset="-34"/>
                                  </a:rPr>
                                  <m:t>𝒖</m:t>
                                </m:r>
                                <m:d>
                                  <m:dPr>
                                    <m:ctrlPr>
                                      <a:rPr lang="fr-FR" altLang="fr-FR" sz="1500" b="1" i="1">
                                        <a:solidFill>
                                          <a:srgbClr val="FF0000"/>
                                        </a:solidFill>
                                        <a:latin typeface="Cambria Math" panose="02040503050406030204" pitchFamily="18" charset="0"/>
                                        <a:cs typeface="Browallia New" panose="020B0604020202020204" pitchFamily="34" charset="-34"/>
                                      </a:rPr>
                                    </m:ctrlPr>
                                  </m:dPr>
                                  <m:e>
                                    <m:r>
                                      <a:rPr lang="fr-FR" altLang="fr-FR" sz="1500" b="1" i="1">
                                        <a:solidFill>
                                          <a:srgbClr val="FF0000"/>
                                        </a:solidFill>
                                        <a:latin typeface="Cambria Math" panose="02040503050406030204" pitchFamily="18" charset="0"/>
                                        <a:cs typeface="Browallia New" panose="020B0604020202020204" pitchFamily="34" charset="-34"/>
                                      </a:rPr>
                                      <m:t>𝒕</m:t>
                                    </m:r>
                                  </m:e>
                                </m:d>
                              </m:e>
                              <m:sup>
                                <m:r>
                                  <a:rPr lang="fr-FR" altLang="fr-FR" sz="1500" b="1" i="1">
                                    <a:solidFill>
                                      <a:srgbClr val="FF0000"/>
                                    </a:solidFill>
                                    <a:latin typeface="Cambria Math" panose="02040503050406030204" pitchFamily="18" charset="0"/>
                                    <a:cs typeface="Browallia New" panose="020B0604020202020204" pitchFamily="34" charset="-34"/>
                                  </a:rPr>
                                  <m:t>𝟐</m:t>
                                </m:r>
                              </m:sup>
                            </m:sSup>
                            <m:r>
                              <a:rPr lang="fr-FR" altLang="fr-FR" sz="1500" b="1" i="1">
                                <a:solidFill>
                                  <a:srgbClr val="FF0000"/>
                                </a:solidFill>
                                <a:latin typeface="Cambria Math" panose="02040503050406030204" pitchFamily="18" charset="0"/>
                                <a:cs typeface="Browallia New" panose="020B0604020202020204" pitchFamily="34" charset="-34"/>
                              </a:rPr>
                              <m:t>𝒅𝒕</m:t>
                            </m:r>
                          </m:e>
                        </m:nary>
                      </m:e>
                    </m:rad>
                  </m:oMath>
                </a14:m>
                <a:r>
                  <a:rPr lang="fr-FR" altLang="fr-FR" sz="1500" b="1" dirty="0">
                    <a:latin typeface="Bodoni MT" panose="02070603080606020203" pitchFamily="18" charset="0"/>
                    <a:cs typeface="Browallia New" panose="020B0604020202020204" pitchFamily="34" charset="-34"/>
                  </a:rPr>
                  <a:t> , </a:t>
                </a:r>
                <a:r>
                  <a:rPr lang="fr-FR" altLang="fr-FR" sz="1500" b="1" dirty="0">
                    <a:latin typeface="Bookman Old Style" panose="02050604050505020204" pitchFamily="18" charset="0"/>
                    <a:cs typeface="Browallia New" panose="020B0604020202020204" pitchFamily="34" charset="-34"/>
                  </a:rPr>
                  <a:t>Où </a:t>
                </a:r>
                <a:r>
                  <a:rPr lang="fr-FR" altLang="fr-FR" sz="1500" b="1" dirty="0">
                    <a:solidFill>
                      <a:srgbClr val="FF0000"/>
                    </a:solidFill>
                    <a:latin typeface="Bookman Old Style" panose="02050604050505020204" pitchFamily="18" charset="0"/>
                    <a:cs typeface="Browallia New" panose="020B0604020202020204" pitchFamily="34" charset="-34"/>
                  </a:rPr>
                  <a:t>T</a:t>
                </a:r>
                <a:r>
                  <a:rPr lang="fr-FR" altLang="fr-FR" sz="1500" b="1" dirty="0">
                    <a:latin typeface="Bookman Old Style" panose="02050604050505020204" pitchFamily="18" charset="0"/>
                    <a:cs typeface="Browallia New" panose="020B0604020202020204" pitchFamily="34" charset="-34"/>
                  </a:rPr>
                  <a:t> est la période du signal </a:t>
                </a:r>
              </a:p>
              <a:p>
                <a:pPr algn="just"/>
                <a:endParaRPr lang="fr-FR" altLang="fr-FR" sz="1600" dirty="0">
                  <a:latin typeface="Garamond" panose="02020404030301010803" pitchFamily="18" charset="0"/>
                  <a:cs typeface="Browallia New" panose="020B0604020202020204" pitchFamily="34" charset="-34"/>
                </a:endParaRPr>
              </a:p>
              <a:p>
                <a:pPr algn="ctr"/>
                <a:endParaRPr lang="fr-FR" altLang="fr-FR" sz="1500" dirty="0">
                  <a:latin typeface="Bookman Old Style" panose="02050604050505020204" pitchFamily="18" charset="0"/>
                  <a:cs typeface="Browallia New" panose="020B0604020202020204" pitchFamily="34" charset="-34"/>
                </a:endParaRPr>
              </a:p>
              <a:p>
                <a:pPr algn="just"/>
                <a:endParaRPr lang="fr-FR" altLang="fr-FR" sz="1500" dirty="0">
                  <a:latin typeface="Bookman Old Style" panose="02050604050505020204" pitchFamily="18" charset="0"/>
                  <a:cs typeface="Browallia New" panose="020B0604020202020204" pitchFamily="34" charset="-34"/>
                </a:endParaRPr>
              </a:p>
            </p:txBody>
          </p:sp>
        </mc:Choice>
        <mc:Fallback xmlns="">
          <p:sp>
            <p:nvSpPr>
              <p:cNvPr id="17" name="TextBox 16">
                <a:extLst>
                  <a:ext uri="{FF2B5EF4-FFF2-40B4-BE49-F238E27FC236}">
                    <a16:creationId xmlns:a16="http://schemas.microsoft.com/office/drawing/2014/main" id="{B267E165-66AB-54FD-20F1-5A56EA725E51}"/>
                  </a:ext>
                </a:extLst>
              </p:cNvPr>
              <p:cNvSpPr txBox="1">
                <a:spLocks noRot="1" noChangeAspect="1" noMove="1" noResize="1" noEditPoints="1" noAdjustHandles="1" noChangeArrowheads="1" noChangeShapeType="1" noTextEdit="1"/>
              </p:cNvSpPr>
              <p:nvPr/>
            </p:nvSpPr>
            <p:spPr>
              <a:xfrm>
                <a:off x="550646" y="1558343"/>
                <a:ext cx="8483166" cy="3927998"/>
              </a:xfrm>
              <a:prstGeom prst="rect">
                <a:avLst/>
              </a:prstGeom>
              <a:blipFill>
                <a:blip r:embed="rId3"/>
                <a:stretch>
                  <a:fillRect l="-287" t="-466" r="-216"/>
                </a:stretch>
              </a:blipFill>
            </p:spPr>
            <p:txBody>
              <a:bodyPr/>
              <a:lstStyle/>
              <a:p>
                <a:r>
                  <a:rPr lang="fr-FR">
                    <a:noFill/>
                  </a:rPr>
                  <a:t> </a:t>
                </a:r>
              </a:p>
            </p:txBody>
          </p:sp>
        </mc:Fallback>
      </mc:AlternateContent>
    </p:spTree>
    <p:extLst>
      <p:ext uri="{BB962C8B-B14F-4D97-AF65-F5344CB8AC3E}">
        <p14:creationId xmlns:p14="http://schemas.microsoft.com/office/powerpoint/2010/main" val="27593333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63</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4.2 </a:t>
            </a:r>
            <a:r>
              <a:rPr lang="fr-FR" altLang="fr-FR" sz="1400" b="1" spc="-5" dirty="0">
                <a:solidFill>
                  <a:srgbClr val="CC00CC"/>
                </a:solidFill>
                <a:latin typeface="Bookman Old Style" panose="02050604050505020204" pitchFamily="18" charset="0"/>
                <a:cs typeface="Arial"/>
              </a:rPr>
              <a:t>Notation complexe     </a:t>
            </a:r>
            <a:endParaRPr lang="fr-FR" sz="1400" b="1" spc="-5" dirty="0">
              <a:solidFill>
                <a:srgbClr val="CC00CC"/>
              </a:solidFill>
              <a:latin typeface="Bookman Old Style" panose="02050604050505020204" pitchFamily="18" charset="0"/>
              <a:cs typeface="Arial"/>
            </a:endParaRPr>
          </a:p>
        </p:txBody>
      </p:sp>
      <p:sp>
        <p:nvSpPr>
          <p:cNvPr id="12" name="TextBox 11">
            <a:extLst>
              <a:ext uri="{FF2B5EF4-FFF2-40B4-BE49-F238E27FC236}">
                <a16:creationId xmlns:a16="http://schemas.microsoft.com/office/drawing/2014/main" id="{39488486-215D-E73C-CB13-49FF53F25DD9}"/>
              </a:ext>
            </a:extLst>
          </p:cNvPr>
          <p:cNvSpPr txBox="1"/>
          <p:nvPr/>
        </p:nvSpPr>
        <p:spPr>
          <a:xfrm>
            <a:off x="749416" y="1349207"/>
            <a:ext cx="4588778" cy="369332"/>
          </a:xfrm>
          <a:prstGeom prst="rect">
            <a:avLst/>
          </a:prstGeom>
          <a:noFill/>
        </p:spPr>
        <p:txBody>
          <a:bodyPr wrap="square">
            <a:spAutoFit/>
          </a:bodyPr>
          <a:lstStyle/>
          <a:p>
            <a:r>
              <a:rPr lang="fr-FR" altLang="fr-FR" b="1" u="sng" dirty="0">
                <a:highlight>
                  <a:srgbClr val="00FF00"/>
                </a:highlight>
                <a:latin typeface="Bookman Old Style" panose="02050604050505020204" pitchFamily="18" charset="0"/>
              </a:rPr>
              <a:t>Rappel: </a:t>
            </a:r>
            <a:endParaRPr lang="fr-FR" b="1" u="sng" dirty="0">
              <a:highlight>
                <a:srgbClr val="00FF00"/>
              </a:highlight>
              <a:latin typeface="Bookman Old Style" panose="02050604050505020204" pitchFamily="18"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049E549-9E87-D928-D64C-49C3DCC3F53E}"/>
                  </a:ext>
                </a:extLst>
              </p:cNvPr>
              <p:cNvSpPr txBox="1"/>
              <p:nvPr/>
            </p:nvSpPr>
            <p:spPr>
              <a:xfrm>
                <a:off x="745585" y="1793361"/>
                <a:ext cx="8145711" cy="3955698"/>
              </a:xfrm>
              <a:prstGeom prst="rect">
                <a:avLst/>
              </a:prstGeom>
              <a:noFill/>
            </p:spPr>
            <p:txBody>
              <a:bodyPr wrap="square">
                <a:spAutoFit/>
              </a:bodyPr>
              <a:lstStyle/>
              <a:p>
                <a:r>
                  <a:rPr lang="fr-FR" sz="1400" b="0" i="0" dirty="0">
                    <a:solidFill>
                      <a:srgbClr val="000000"/>
                    </a:solidFill>
                    <a:effectLst/>
                    <a:latin typeface="Bookman Old Style" panose="02050604050505020204" pitchFamily="18" charset="0"/>
                  </a:rPr>
                  <a:t>Soit un </a:t>
                </a:r>
                <a:r>
                  <a:rPr lang="fr-FR" sz="1400" b="1" i="0" dirty="0">
                    <a:solidFill>
                      <a:srgbClr val="000000"/>
                    </a:solidFill>
                    <a:effectLst/>
                    <a:latin typeface="Bookman Old Style" panose="02050604050505020204" pitchFamily="18" charset="0"/>
                  </a:rPr>
                  <a:t>nombre complexe</a:t>
                </a:r>
                <a:r>
                  <a:rPr lang="fr-FR" sz="1400" b="0" i="0" dirty="0">
                    <a:solidFill>
                      <a:srgbClr val="000000"/>
                    </a:solidFill>
                    <a:effectLst/>
                    <a:latin typeface="Bookman Old Style" panose="02050604050505020204" pitchFamily="18" charset="0"/>
                  </a:rPr>
                  <a:t>: </a:t>
                </a:r>
                <a14:m>
                  <m:oMath xmlns:m="http://schemas.openxmlformats.org/officeDocument/2006/math">
                    <m:bar>
                      <m:barPr>
                        <m:ctrlPr>
                          <a:rPr lang="fr-FR" sz="1400" b="0" i="1" dirty="0" smtClean="0">
                            <a:solidFill>
                              <a:srgbClr val="000000"/>
                            </a:solidFill>
                            <a:effectLst/>
                            <a:latin typeface="Cambria Math" panose="02040503050406030204" pitchFamily="18" charset="0"/>
                          </a:rPr>
                        </m:ctrlPr>
                      </m:barPr>
                      <m:e>
                        <m:r>
                          <a:rPr lang="fr-FR" sz="1400" b="1" i="1" dirty="0">
                            <a:solidFill>
                              <a:srgbClr val="000000"/>
                            </a:solidFill>
                            <a:latin typeface="Cambria Math" panose="02040503050406030204" pitchFamily="18" charset="0"/>
                          </a:rPr>
                          <m:t>𝒁</m:t>
                        </m:r>
                      </m:e>
                    </m:bar>
                    <m:r>
                      <a:rPr lang="fr-FR" sz="1400" b="0" i="1" dirty="0" smtClean="0">
                        <a:solidFill>
                          <a:srgbClr val="000000"/>
                        </a:solidFill>
                        <a:effectLst/>
                        <a:latin typeface="Cambria Math" panose="02040503050406030204" pitchFamily="18" charset="0"/>
                      </a:rPr>
                      <m:t> </m:t>
                    </m:r>
                    <m:r>
                      <a:rPr lang="fr-FR" sz="1500" b="1" i="1" smtClean="0">
                        <a:solidFill>
                          <a:srgbClr val="000000"/>
                        </a:solidFill>
                        <a:effectLst/>
                        <a:latin typeface="Cambria Math" panose="02040503050406030204" pitchFamily="18" charset="0"/>
                      </a:rPr>
                      <m:t>=</m:t>
                    </m:r>
                    <m:r>
                      <a:rPr lang="fr-FR" sz="1500" b="1" i="1" smtClean="0">
                        <a:solidFill>
                          <a:srgbClr val="000000"/>
                        </a:solidFill>
                        <a:effectLst/>
                        <a:latin typeface="Cambria Math" panose="02040503050406030204" pitchFamily="18" charset="0"/>
                      </a:rPr>
                      <m:t>𝒂</m:t>
                    </m:r>
                    <m:r>
                      <a:rPr lang="fr-FR" sz="1500" b="1" i="1" smtClean="0">
                        <a:solidFill>
                          <a:srgbClr val="000000"/>
                        </a:solidFill>
                        <a:effectLst/>
                        <a:latin typeface="Cambria Math" panose="02040503050406030204" pitchFamily="18" charset="0"/>
                      </a:rPr>
                      <m:t>+</m:t>
                    </m:r>
                    <m:r>
                      <a:rPr lang="fr-FR" sz="1500" b="1" i="1" smtClean="0">
                        <a:solidFill>
                          <a:srgbClr val="000000"/>
                        </a:solidFill>
                        <a:effectLst/>
                        <a:latin typeface="Cambria Math" panose="02040503050406030204" pitchFamily="18" charset="0"/>
                      </a:rPr>
                      <m:t>𝒋𝒃</m:t>
                    </m:r>
                  </m:oMath>
                </a14:m>
                <a:r>
                  <a:rPr lang="fr-FR" sz="1500" b="1" i="0" dirty="0">
                    <a:solidFill>
                      <a:srgbClr val="000000"/>
                    </a:solidFill>
                    <a:effectLst/>
                    <a:latin typeface="Bookman Old Style" panose="02050604050505020204" pitchFamily="18" charset="0"/>
                  </a:rPr>
                  <a:t> </a:t>
                </a:r>
                <a:r>
                  <a:rPr lang="fr-FR" sz="1500" i="0" dirty="0">
                    <a:solidFill>
                      <a:srgbClr val="000000"/>
                    </a:solidFill>
                    <a:effectLst/>
                    <a:latin typeface="Bookman Old Style" panose="02050604050505020204" pitchFamily="18" charset="0"/>
                  </a:rPr>
                  <a:t>(représentation dite </a:t>
                </a:r>
                <a:r>
                  <a:rPr lang="fr-FR" sz="1500" b="1" i="0" dirty="0">
                    <a:solidFill>
                      <a:srgbClr val="000000"/>
                    </a:solidFill>
                    <a:effectLst/>
                    <a:latin typeface="Bookman Old Style" panose="02050604050505020204" pitchFamily="18" charset="0"/>
                  </a:rPr>
                  <a:t>algébrique</a:t>
                </a:r>
                <a:r>
                  <a:rPr lang="fr-FR" sz="1500" i="0" dirty="0">
                    <a:solidFill>
                      <a:srgbClr val="000000"/>
                    </a:solidFill>
                    <a:effectLst/>
                    <a:latin typeface="Bookman Old Style" panose="02050604050505020204" pitchFamily="18" charset="0"/>
                  </a:rPr>
                  <a:t>) </a:t>
                </a:r>
              </a:p>
              <a:p>
                <a:pPr algn="l"/>
                <a:endParaRPr lang="fr-FR" sz="1500" b="1" i="0" dirty="0">
                  <a:solidFill>
                    <a:srgbClr val="000000"/>
                  </a:solidFill>
                  <a:effectLst/>
                  <a:latin typeface="Bookman Old Style" panose="02050604050505020204" pitchFamily="18" charset="0"/>
                </a:endParaRPr>
              </a:p>
              <a:p>
                <a:pPr marL="285750" indent="-285750">
                  <a:buFont typeface="Wingdings" panose="05000000000000000000" pitchFamily="2" charset="2"/>
                  <a:buChar char="§"/>
                </a:pPr>
                <a:r>
                  <a:rPr lang="fr-FR" sz="1400" b="0" i="0" dirty="0">
                    <a:solidFill>
                      <a:srgbClr val="000000"/>
                    </a:solidFill>
                    <a:effectLst/>
                    <a:latin typeface="Bookman Old Style" panose="02050604050505020204" pitchFamily="18" charset="0"/>
                  </a:rPr>
                  <a:t>On peut le représenter sous une forme </a:t>
                </a:r>
                <a:r>
                  <a:rPr lang="fr-FR" sz="1400" b="1" i="0" dirty="0">
                    <a:solidFill>
                      <a:srgbClr val="000000"/>
                    </a:solidFill>
                    <a:effectLst/>
                    <a:latin typeface="Bookman Old Style" panose="02050604050505020204" pitchFamily="18" charset="0"/>
                  </a:rPr>
                  <a:t>trigonométrique</a:t>
                </a:r>
                <a:r>
                  <a:rPr lang="fr-FR" sz="1500" b="0" i="0" dirty="0">
                    <a:solidFill>
                      <a:srgbClr val="000000"/>
                    </a:solidFill>
                    <a:effectLst/>
                    <a:latin typeface="Bookman Old Style" panose="02050604050505020204" pitchFamily="18" charset="0"/>
                  </a:rPr>
                  <a:t>:</a:t>
                </a:r>
                <a14:m>
                  <m:oMath xmlns:m="http://schemas.openxmlformats.org/officeDocument/2006/math">
                    <m:bar>
                      <m:barPr>
                        <m:ctrlPr>
                          <a:rPr lang="fr-FR" sz="1600" i="1" dirty="0">
                            <a:solidFill>
                              <a:srgbClr val="000000"/>
                            </a:solidFill>
                            <a:latin typeface="Cambria Math" panose="02040503050406030204" pitchFamily="18" charset="0"/>
                          </a:rPr>
                        </m:ctrlPr>
                      </m:barPr>
                      <m:e>
                        <m:r>
                          <a:rPr lang="fr-FR" sz="1600" b="1" i="1" dirty="0">
                            <a:solidFill>
                              <a:srgbClr val="000000"/>
                            </a:solidFill>
                            <a:latin typeface="Cambria Math" panose="02040503050406030204" pitchFamily="18" charset="0"/>
                          </a:rPr>
                          <m:t>𝒁</m:t>
                        </m:r>
                      </m:e>
                    </m:bar>
                    <m:r>
                      <a:rPr lang="fr-FR" sz="1500" b="1" i="1" smtClean="0">
                        <a:solidFill>
                          <a:srgbClr val="000000"/>
                        </a:solidFill>
                        <a:effectLst/>
                        <a:latin typeface="Cambria Math" panose="02040503050406030204" pitchFamily="18" charset="0"/>
                      </a:rPr>
                      <m:t>=</m:t>
                    </m:r>
                    <m:r>
                      <a:rPr lang="fr-FR" sz="1500" b="1" i="1" smtClean="0">
                        <a:solidFill>
                          <a:srgbClr val="000000"/>
                        </a:solidFill>
                        <a:effectLst/>
                        <a:latin typeface="Cambria Math" panose="02040503050406030204" pitchFamily="18" charset="0"/>
                      </a:rPr>
                      <m:t>𝒁</m:t>
                    </m:r>
                    <m:d>
                      <m:dPr>
                        <m:ctrlPr>
                          <a:rPr lang="fr-FR" sz="1500" b="1" i="1" smtClean="0">
                            <a:solidFill>
                              <a:srgbClr val="000000"/>
                            </a:solidFill>
                            <a:effectLst/>
                            <a:latin typeface="Cambria Math" panose="02040503050406030204" pitchFamily="18" charset="0"/>
                          </a:rPr>
                        </m:ctrlPr>
                      </m:dPr>
                      <m:e>
                        <m:r>
                          <m:rPr>
                            <m:sty m:val="p"/>
                          </m:rPr>
                          <a:rPr lang="fr-FR" sz="1500" b="1" i="1" dirty="0">
                            <a:solidFill>
                              <a:srgbClr val="000000"/>
                            </a:solidFill>
                            <a:latin typeface="Cambria Math" panose="02040503050406030204" pitchFamily="18" charset="0"/>
                          </a:rPr>
                          <m:t>cos</m:t>
                        </m:r>
                        <m:r>
                          <a:rPr lang="fr-FR" sz="1500" b="1" i="1" dirty="0">
                            <a:solidFill>
                              <a:srgbClr val="000000"/>
                            </a:solidFill>
                            <a:latin typeface="Cambria Math" panose="02040503050406030204" pitchFamily="18" charset="0"/>
                          </a:rPr>
                          <m:t>⁡(</m:t>
                        </m:r>
                        <m:r>
                          <a:rPr lang="fr-FR" sz="1500" b="1" i="1" dirty="0">
                            <a:solidFill>
                              <a:srgbClr val="000000"/>
                            </a:solidFill>
                            <a:latin typeface="Cambria Math" panose="02040503050406030204" pitchFamily="18" charset="0"/>
                            <a:ea typeface="Cambria Math" panose="02040503050406030204" pitchFamily="18" charset="0"/>
                          </a:rPr>
                          <m:t>𝝋</m:t>
                        </m:r>
                        <m:r>
                          <a:rPr lang="fr-FR" sz="1500" b="1" i="1" dirty="0">
                            <a:solidFill>
                              <a:srgbClr val="000000"/>
                            </a:solidFill>
                            <a:latin typeface="Cambria Math" panose="02040503050406030204" pitchFamily="18" charset="0"/>
                            <a:ea typeface="Cambria Math" panose="02040503050406030204" pitchFamily="18" charset="0"/>
                          </a:rPr>
                          <m:t>)+</m:t>
                        </m:r>
                        <m:r>
                          <a:rPr lang="fr-FR" sz="1500" b="1" i="1" dirty="0" err="1">
                            <a:solidFill>
                              <a:srgbClr val="000000"/>
                            </a:solidFill>
                            <a:latin typeface="Cambria Math" panose="02040503050406030204" pitchFamily="18" charset="0"/>
                            <a:ea typeface="Cambria Math" panose="02040503050406030204" pitchFamily="18" charset="0"/>
                          </a:rPr>
                          <m:t>𝒋𝒔𝒊𝒏</m:t>
                        </m:r>
                        <m:r>
                          <a:rPr lang="fr-FR" sz="1500" b="1" i="1" dirty="0">
                            <a:solidFill>
                              <a:srgbClr val="000000"/>
                            </a:solidFill>
                            <a:latin typeface="Cambria Math" panose="02040503050406030204" pitchFamily="18" charset="0"/>
                            <a:ea typeface="Cambria Math" panose="02040503050406030204" pitchFamily="18" charset="0"/>
                          </a:rPr>
                          <m:t>(</m:t>
                        </m:r>
                        <m:r>
                          <a:rPr lang="fr-FR" sz="1500" b="1" i="1" dirty="0">
                            <a:solidFill>
                              <a:srgbClr val="000000"/>
                            </a:solidFill>
                            <a:latin typeface="Cambria Math" panose="02040503050406030204" pitchFamily="18" charset="0"/>
                            <a:ea typeface="Cambria Math" panose="02040503050406030204" pitchFamily="18" charset="0"/>
                          </a:rPr>
                          <m:t>𝝋</m:t>
                        </m:r>
                        <m:r>
                          <a:rPr lang="fr-FR" sz="1500" b="1" i="1" dirty="0">
                            <a:solidFill>
                              <a:srgbClr val="000000"/>
                            </a:solidFill>
                            <a:latin typeface="Cambria Math" panose="02040503050406030204" pitchFamily="18" charset="0"/>
                            <a:ea typeface="Cambria Math" panose="02040503050406030204" pitchFamily="18" charset="0"/>
                          </a:rPr>
                          <m:t>)</m:t>
                        </m:r>
                        <m:r>
                          <m:rPr>
                            <m:nor/>
                          </m:rPr>
                          <a:rPr lang="fr-FR" sz="1600" dirty="0"/>
                          <m:t> </m:t>
                        </m:r>
                      </m:e>
                    </m:d>
                  </m:oMath>
                </a14:m>
                <a:endParaRPr lang="fr-FR" sz="1500" b="1" i="0" dirty="0">
                  <a:solidFill>
                    <a:srgbClr val="000000"/>
                  </a:solidFill>
                  <a:effectLst/>
                  <a:latin typeface="Bookman Old Style" panose="02050604050505020204" pitchFamily="18" charset="0"/>
                </a:endParaRPr>
              </a:p>
              <a:p>
                <a:endParaRPr lang="fr-FR" sz="1500" b="1" i="0" dirty="0">
                  <a:solidFill>
                    <a:srgbClr val="000000"/>
                  </a:solidFill>
                  <a:effectLst/>
                  <a:latin typeface="Bookman Old Style" panose="02050604050505020204" pitchFamily="18" charset="0"/>
                </a:endParaRPr>
              </a:p>
              <a:p>
                <a:pPr marL="285750" indent="-285750">
                  <a:buFont typeface="Wingdings" panose="05000000000000000000" pitchFamily="2" charset="2"/>
                  <a:buChar char="§"/>
                </a:pPr>
                <a:r>
                  <a:rPr lang="fr-FR" sz="1400" dirty="0">
                    <a:solidFill>
                      <a:srgbClr val="000000"/>
                    </a:solidFill>
                    <a:latin typeface="Bookman Old Style" panose="02050604050505020204" pitchFamily="18" charset="0"/>
                  </a:rPr>
                  <a:t>On peut le représenter, également, sous une </a:t>
                </a:r>
                <a:r>
                  <a:rPr lang="fr-FR" sz="1400" b="1" dirty="0">
                    <a:solidFill>
                      <a:srgbClr val="000000"/>
                    </a:solidFill>
                    <a:latin typeface="Bookman Old Style" panose="02050604050505020204" pitchFamily="18" charset="0"/>
                  </a:rPr>
                  <a:t>forme exponentielle:</a:t>
                </a:r>
                <a14:m>
                  <m:oMath xmlns:m="http://schemas.openxmlformats.org/officeDocument/2006/math">
                    <m:bar>
                      <m:barPr>
                        <m:ctrlPr>
                          <a:rPr lang="fr-FR" sz="1400" i="1" dirty="0">
                            <a:solidFill>
                              <a:srgbClr val="000000"/>
                            </a:solidFill>
                            <a:latin typeface="Cambria Math" panose="02040503050406030204" pitchFamily="18" charset="0"/>
                          </a:rPr>
                        </m:ctrlPr>
                      </m:barPr>
                      <m:e>
                        <m:r>
                          <a:rPr lang="fr-FR" sz="1400" b="1" i="1" dirty="0">
                            <a:solidFill>
                              <a:srgbClr val="000000"/>
                            </a:solidFill>
                            <a:latin typeface="Cambria Math" panose="02040503050406030204" pitchFamily="18" charset="0"/>
                          </a:rPr>
                          <m:t>𝒁</m:t>
                        </m:r>
                      </m:e>
                    </m:bar>
                    <m:r>
                      <a:rPr lang="fr-FR" sz="1500" b="1" i="1" smtClean="0">
                        <a:solidFill>
                          <a:srgbClr val="000000"/>
                        </a:solidFill>
                        <a:effectLst/>
                        <a:latin typeface="Cambria Math" panose="02040503050406030204" pitchFamily="18" charset="0"/>
                      </a:rPr>
                      <m:t>=</m:t>
                    </m:r>
                    <m:r>
                      <a:rPr lang="fr-FR" sz="1500" b="1" i="1" smtClean="0">
                        <a:solidFill>
                          <a:srgbClr val="000000"/>
                        </a:solidFill>
                        <a:effectLst/>
                        <a:latin typeface="Cambria Math" panose="02040503050406030204" pitchFamily="18" charset="0"/>
                      </a:rPr>
                      <m:t>𝒁</m:t>
                    </m:r>
                    <m:sSup>
                      <m:sSupPr>
                        <m:ctrlPr>
                          <a:rPr lang="fr-FR" sz="1500" b="1" i="1" smtClean="0">
                            <a:solidFill>
                              <a:srgbClr val="000000"/>
                            </a:solidFill>
                            <a:effectLst/>
                            <a:latin typeface="Cambria Math" panose="02040503050406030204" pitchFamily="18" charset="0"/>
                          </a:rPr>
                        </m:ctrlPr>
                      </m:sSupPr>
                      <m:e>
                        <m:r>
                          <a:rPr lang="fr-FR" sz="1500" b="1" i="1" smtClean="0">
                            <a:solidFill>
                              <a:srgbClr val="000000"/>
                            </a:solidFill>
                            <a:effectLst/>
                            <a:latin typeface="Cambria Math" panose="02040503050406030204" pitchFamily="18" charset="0"/>
                          </a:rPr>
                          <m:t>𝒆</m:t>
                        </m:r>
                      </m:e>
                      <m:sup>
                        <m:r>
                          <a:rPr lang="fr-FR" sz="1500" b="1" i="1" smtClean="0">
                            <a:solidFill>
                              <a:srgbClr val="000000"/>
                            </a:solidFill>
                            <a:effectLst/>
                            <a:latin typeface="Cambria Math" panose="02040503050406030204" pitchFamily="18" charset="0"/>
                          </a:rPr>
                          <m:t>𝒋</m:t>
                        </m:r>
                        <m:r>
                          <a:rPr lang="fr-FR" sz="1500" b="1" i="1" dirty="0">
                            <a:solidFill>
                              <a:srgbClr val="000000"/>
                            </a:solidFill>
                            <a:latin typeface="Cambria Math" panose="02040503050406030204" pitchFamily="18" charset="0"/>
                            <a:ea typeface="Cambria Math" panose="02040503050406030204" pitchFamily="18" charset="0"/>
                          </a:rPr>
                          <m:t>𝝋</m:t>
                        </m:r>
                      </m:sup>
                    </m:sSup>
                  </m:oMath>
                </a14:m>
                <a:endParaRPr lang="fr-FR" sz="1500" b="1" dirty="0">
                  <a:solidFill>
                    <a:srgbClr val="000000"/>
                  </a:solidFill>
                  <a:latin typeface="Bookman Old Style" panose="02050604050505020204" pitchFamily="18" charset="0"/>
                </a:endParaRPr>
              </a:p>
              <a:p>
                <a:r>
                  <a:rPr lang="fr-FR" sz="1500" b="1" dirty="0">
                    <a:solidFill>
                      <a:srgbClr val="000000"/>
                    </a:solidFill>
                    <a:latin typeface="Bookman Old Style" panose="02050604050505020204" pitchFamily="18" charset="0"/>
                  </a:rPr>
                  <a:t> </a:t>
                </a:r>
              </a:p>
              <a:p>
                <a:pPr marL="285750" indent="-285750">
                  <a:buFont typeface="Wingdings" panose="05000000000000000000" pitchFamily="2" charset="2"/>
                  <a:buChar char="ü"/>
                </a:pPr>
                <a14:m>
                  <m:oMath xmlns:m="http://schemas.openxmlformats.org/officeDocument/2006/math">
                    <m:r>
                      <a:rPr lang="fr-FR" sz="1500" b="1" i="1" smtClean="0">
                        <a:solidFill>
                          <a:srgbClr val="000000"/>
                        </a:solidFill>
                        <a:effectLst/>
                        <a:latin typeface="Cambria Math" panose="02040503050406030204" pitchFamily="18" charset="0"/>
                      </a:rPr>
                      <m:t>𝒁</m:t>
                    </m:r>
                  </m:oMath>
                </a14:m>
                <a:r>
                  <a:rPr lang="fr-FR" sz="1500" b="1" dirty="0">
                    <a:solidFill>
                      <a:srgbClr val="000000"/>
                    </a:solidFill>
                    <a:latin typeface="Bookman Old Style" panose="02050604050505020204" pitchFamily="18" charset="0"/>
                  </a:rPr>
                  <a:t> est le module : </a:t>
                </a:r>
                <a14:m>
                  <m:oMath xmlns:m="http://schemas.openxmlformats.org/officeDocument/2006/math">
                    <m:r>
                      <a:rPr lang="fr-FR" sz="1500" b="1" i="1">
                        <a:solidFill>
                          <a:srgbClr val="000000"/>
                        </a:solidFill>
                        <a:latin typeface="Cambria Math" panose="02040503050406030204" pitchFamily="18" charset="0"/>
                      </a:rPr>
                      <m:t>𝒁</m:t>
                    </m:r>
                    <m:r>
                      <a:rPr lang="fr-FR" sz="1500" b="1" i="0" smtClean="0">
                        <a:solidFill>
                          <a:srgbClr val="000000"/>
                        </a:solidFill>
                        <a:latin typeface="Cambria Math" panose="02040503050406030204" pitchFamily="18" charset="0"/>
                      </a:rPr>
                      <m:t>=</m:t>
                    </m:r>
                    <m:rad>
                      <m:radPr>
                        <m:degHide m:val="on"/>
                        <m:ctrlPr>
                          <a:rPr lang="fr-FR" sz="1500" b="1" i="1" smtClean="0">
                            <a:solidFill>
                              <a:srgbClr val="000000"/>
                            </a:solidFill>
                            <a:latin typeface="Cambria Math" panose="02040503050406030204" pitchFamily="18" charset="0"/>
                          </a:rPr>
                        </m:ctrlPr>
                      </m:radPr>
                      <m:deg/>
                      <m:e>
                        <m:sSup>
                          <m:sSupPr>
                            <m:ctrlPr>
                              <a:rPr lang="fr-FR" sz="1500" b="1" i="1" smtClean="0">
                                <a:solidFill>
                                  <a:srgbClr val="000000"/>
                                </a:solidFill>
                                <a:latin typeface="Cambria Math" panose="02040503050406030204" pitchFamily="18" charset="0"/>
                              </a:rPr>
                            </m:ctrlPr>
                          </m:sSupPr>
                          <m:e>
                            <m:r>
                              <a:rPr lang="fr-FR" sz="1500" b="1" i="1" smtClean="0">
                                <a:solidFill>
                                  <a:srgbClr val="000000"/>
                                </a:solidFill>
                                <a:latin typeface="Cambria Math" panose="02040503050406030204" pitchFamily="18" charset="0"/>
                              </a:rPr>
                              <m:t>𝒂</m:t>
                            </m:r>
                          </m:e>
                          <m:sup>
                            <m:r>
                              <a:rPr lang="fr-FR" sz="1500" b="1" i="1" smtClean="0">
                                <a:solidFill>
                                  <a:srgbClr val="000000"/>
                                </a:solidFill>
                                <a:latin typeface="Cambria Math" panose="02040503050406030204" pitchFamily="18" charset="0"/>
                              </a:rPr>
                              <m:t>𝟐</m:t>
                            </m:r>
                          </m:sup>
                        </m:sSup>
                        <m:r>
                          <a:rPr lang="fr-FR" sz="1500" b="1" i="1" smtClean="0">
                            <a:solidFill>
                              <a:srgbClr val="000000"/>
                            </a:solidFill>
                            <a:latin typeface="Cambria Math" panose="02040503050406030204" pitchFamily="18" charset="0"/>
                          </a:rPr>
                          <m:t>+</m:t>
                        </m:r>
                        <m:sSup>
                          <m:sSupPr>
                            <m:ctrlPr>
                              <a:rPr lang="fr-FR" sz="1500" b="1" i="1" smtClean="0">
                                <a:solidFill>
                                  <a:srgbClr val="000000"/>
                                </a:solidFill>
                                <a:latin typeface="Cambria Math" panose="02040503050406030204" pitchFamily="18" charset="0"/>
                              </a:rPr>
                            </m:ctrlPr>
                          </m:sSupPr>
                          <m:e>
                            <m:r>
                              <a:rPr lang="fr-FR" sz="1500" b="1" i="1" smtClean="0">
                                <a:solidFill>
                                  <a:srgbClr val="000000"/>
                                </a:solidFill>
                                <a:latin typeface="Cambria Math" panose="02040503050406030204" pitchFamily="18" charset="0"/>
                              </a:rPr>
                              <m:t>𝒃</m:t>
                            </m:r>
                          </m:e>
                          <m:sup>
                            <m:r>
                              <a:rPr lang="fr-FR" sz="1500" b="1" i="1" smtClean="0">
                                <a:solidFill>
                                  <a:srgbClr val="000000"/>
                                </a:solidFill>
                                <a:latin typeface="Cambria Math" panose="02040503050406030204" pitchFamily="18" charset="0"/>
                              </a:rPr>
                              <m:t>𝟐</m:t>
                            </m:r>
                          </m:sup>
                        </m:sSup>
                      </m:e>
                    </m:rad>
                  </m:oMath>
                </a14:m>
                <a:r>
                  <a:rPr lang="fr-FR" sz="1500" b="1" dirty="0">
                    <a:solidFill>
                      <a:srgbClr val="000000"/>
                    </a:solidFill>
                    <a:latin typeface="Bookman Old Style" panose="02050604050505020204" pitchFamily="18" charset="0"/>
                  </a:rPr>
                  <a:t> </a:t>
                </a:r>
              </a:p>
              <a:p>
                <a:endParaRPr lang="fr-FR" sz="1500" b="1" dirty="0">
                  <a:solidFill>
                    <a:srgbClr val="000000"/>
                  </a:solidFill>
                  <a:latin typeface="Bookman Old Style" panose="02050604050505020204" pitchFamily="18" charset="0"/>
                </a:endParaRPr>
              </a:p>
              <a:p>
                <a:pPr marL="285750" indent="-285750">
                  <a:buFont typeface="Wingdings" panose="05000000000000000000" pitchFamily="2" charset="2"/>
                  <a:buChar char="ü"/>
                </a:pPr>
                <a14:m>
                  <m:oMath xmlns:m="http://schemas.openxmlformats.org/officeDocument/2006/math">
                    <m:r>
                      <a:rPr lang="fr-FR" sz="1500" b="1" i="1" dirty="0" smtClean="0">
                        <a:solidFill>
                          <a:srgbClr val="000000"/>
                        </a:solidFill>
                        <a:latin typeface="Cambria Math" panose="02040503050406030204" pitchFamily="18" charset="0"/>
                        <a:ea typeface="Cambria Math" panose="02040503050406030204" pitchFamily="18" charset="0"/>
                      </a:rPr>
                      <m:t>𝝋</m:t>
                    </m:r>
                  </m:oMath>
                </a14:m>
                <a:r>
                  <a:rPr lang="fr-FR" sz="1500" b="1" dirty="0">
                    <a:solidFill>
                      <a:srgbClr val="000000"/>
                    </a:solidFill>
                    <a:latin typeface="Bookman Old Style" panose="02050604050505020204" pitchFamily="18" charset="0"/>
                  </a:rPr>
                  <a:t> est la phase : </a:t>
                </a:r>
                <a14:m>
                  <m:oMath xmlns:m="http://schemas.openxmlformats.org/officeDocument/2006/math">
                    <m:r>
                      <a:rPr lang="fr-FR" sz="1500" b="1" i="1" dirty="0">
                        <a:solidFill>
                          <a:srgbClr val="000000"/>
                        </a:solidFill>
                        <a:latin typeface="Cambria Math" panose="02040503050406030204" pitchFamily="18" charset="0"/>
                        <a:ea typeface="Cambria Math" panose="02040503050406030204" pitchFamily="18" charset="0"/>
                      </a:rPr>
                      <m:t>𝝋</m:t>
                    </m:r>
                    <m:r>
                      <a:rPr lang="fr-FR" sz="1500" b="1" i="0" dirty="0" smtClean="0">
                        <a:solidFill>
                          <a:srgbClr val="000000"/>
                        </a:solidFill>
                        <a:latin typeface="Cambria Math" panose="02040503050406030204" pitchFamily="18" charset="0"/>
                        <a:ea typeface="Cambria Math" panose="02040503050406030204" pitchFamily="18" charset="0"/>
                      </a:rPr>
                      <m:t>=</m:t>
                    </m:r>
                    <m:func>
                      <m:funcPr>
                        <m:ctrlPr>
                          <a:rPr lang="fr-FR" sz="1500" b="1" i="1" dirty="0" smtClean="0">
                            <a:solidFill>
                              <a:srgbClr val="000000"/>
                            </a:solidFill>
                            <a:latin typeface="Cambria Math" panose="02040503050406030204" pitchFamily="18" charset="0"/>
                            <a:ea typeface="Cambria Math" panose="02040503050406030204" pitchFamily="18" charset="0"/>
                          </a:rPr>
                        </m:ctrlPr>
                      </m:funcPr>
                      <m:fName>
                        <m:sSup>
                          <m:sSupPr>
                            <m:ctrlPr>
                              <a:rPr lang="fr-FR" sz="1500" b="1" i="1" dirty="0" smtClean="0">
                                <a:solidFill>
                                  <a:srgbClr val="000000"/>
                                </a:solidFill>
                                <a:latin typeface="Cambria Math" panose="02040503050406030204" pitchFamily="18" charset="0"/>
                                <a:ea typeface="Cambria Math" panose="02040503050406030204" pitchFamily="18" charset="0"/>
                              </a:rPr>
                            </m:ctrlPr>
                          </m:sSupPr>
                          <m:e>
                            <m:r>
                              <a:rPr lang="fr-FR" sz="1500" b="1" i="0" dirty="0" smtClean="0">
                                <a:solidFill>
                                  <a:srgbClr val="000000"/>
                                </a:solidFill>
                                <a:latin typeface="Cambria Math" panose="02040503050406030204" pitchFamily="18" charset="0"/>
                                <a:ea typeface="Cambria Math" panose="02040503050406030204" pitchFamily="18" charset="0"/>
                              </a:rPr>
                              <m:t>𝐭𝐚𝐧</m:t>
                            </m:r>
                          </m:e>
                          <m:sup>
                            <m:r>
                              <a:rPr lang="fr-FR" sz="1500" b="1" i="1" dirty="0" smtClean="0">
                                <a:solidFill>
                                  <a:srgbClr val="000000"/>
                                </a:solidFill>
                                <a:latin typeface="Cambria Math" panose="02040503050406030204" pitchFamily="18" charset="0"/>
                                <a:ea typeface="Cambria Math" panose="02040503050406030204" pitchFamily="18" charset="0"/>
                              </a:rPr>
                              <m:t>−</m:t>
                            </m:r>
                            <m:r>
                              <a:rPr lang="fr-FR" sz="1500" b="1" i="1" dirty="0" smtClean="0">
                                <a:solidFill>
                                  <a:srgbClr val="000000"/>
                                </a:solidFill>
                                <a:latin typeface="Cambria Math" panose="02040503050406030204" pitchFamily="18" charset="0"/>
                                <a:ea typeface="Cambria Math" panose="02040503050406030204" pitchFamily="18" charset="0"/>
                              </a:rPr>
                              <m:t>𝟏</m:t>
                            </m:r>
                          </m:sup>
                        </m:sSup>
                      </m:fName>
                      <m:e>
                        <m:r>
                          <a:rPr lang="fr-FR" sz="1500" b="1" i="1" dirty="0" smtClean="0">
                            <a:solidFill>
                              <a:srgbClr val="000000"/>
                            </a:solidFill>
                            <a:latin typeface="Cambria Math" panose="02040503050406030204" pitchFamily="18" charset="0"/>
                            <a:ea typeface="Cambria Math" panose="02040503050406030204" pitchFamily="18" charset="0"/>
                          </a:rPr>
                          <m:t>(</m:t>
                        </m:r>
                        <m:f>
                          <m:fPr>
                            <m:ctrlPr>
                              <a:rPr lang="fr-FR" sz="1500" b="1" i="1" dirty="0" smtClean="0">
                                <a:solidFill>
                                  <a:srgbClr val="000000"/>
                                </a:solidFill>
                                <a:latin typeface="Cambria Math" panose="02040503050406030204" pitchFamily="18" charset="0"/>
                                <a:ea typeface="Cambria Math" panose="02040503050406030204" pitchFamily="18" charset="0"/>
                              </a:rPr>
                            </m:ctrlPr>
                          </m:fPr>
                          <m:num>
                            <m:r>
                              <a:rPr lang="fr-FR" sz="1500" b="1" i="1" dirty="0" smtClean="0">
                                <a:solidFill>
                                  <a:srgbClr val="000000"/>
                                </a:solidFill>
                                <a:latin typeface="Cambria Math" panose="02040503050406030204" pitchFamily="18" charset="0"/>
                                <a:ea typeface="Cambria Math" panose="02040503050406030204" pitchFamily="18" charset="0"/>
                              </a:rPr>
                              <m:t>𝒃</m:t>
                            </m:r>
                          </m:num>
                          <m:den>
                            <m:r>
                              <a:rPr lang="fr-FR" sz="1500" b="1" i="1" dirty="0" smtClean="0">
                                <a:solidFill>
                                  <a:srgbClr val="000000"/>
                                </a:solidFill>
                                <a:latin typeface="Cambria Math" panose="02040503050406030204" pitchFamily="18" charset="0"/>
                                <a:ea typeface="Cambria Math" panose="02040503050406030204" pitchFamily="18" charset="0"/>
                              </a:rPr>
                              <m:t>𝒂</m:t>
                            </m:r>
                          </m:den>
                        </m:f>
                        <m:r>
                          <a:rPr lang="fr-FR" sz="1500" b="1" i="1" dirty="0" smtClean="0">
                            <a:solidFill>
                              <a:srgbClr val="000000"/>
                            </a:solidFill>
                            <a:latin typeface="Cambria Math" panose="02040503050406030204" pitchFamily="18" charset="0"/>
                            <a:ea typeface="Cambria Math" panose="02040503050406030204" pitchFamily="18" charset="0"/>
                          </a:rPr>
                          <m:t>)</m:t>
                        </m:r>
                      </m:e>
                    </m:func>
                  </m:oMath>
                </a14:m>
                <a:endParaRPr lang="fr-FR" sz="1500" b="1" dirty="0">
                  <a:solidFill>
                    <a:srgbClr val="000000"/>
                  </a:solidFill>
                  <a:latin typeface="Bookman Old Style" panose="02050604050505020204" pitchFamily="18" charset="0"/>
                </a:endParaRPr>
              </a:p>
              <a:p>
                <a:endParaRPr lang="fr-FR" sz="1500" b="1" dirty="0">
                  <a:solidFill>
                    <a:srgbClr val="000000"/>
                  </a:solidFill>
                  <a:latin typeface="Bookman Old Style" panose="02050604050505020204" pitchFamily="18" charset="0"/>
                </a:endParaRPr>
              </a:p>
              <a:p>
                <a:pPr marL="285750" indent="-285750">
                  <a:buFont typeface="Wingdings" panose="05000000000000000000" pitchFamily="2" charset="2"/>
                  <a:buChar char="ü"/>
                </a:pPr>
                <a14:m>
                  <m:oMath xmlns:m="http://schemas.openxmlformats.org/officeDocument/2006/math">
                    <m:r>
                      <a:rPr lang="fr-FR" sz="1500" b="1" i="1" smtClean="0">
                        <a:solidFill>
                          <a:srgbClr val="000000"/>
                        </a:solidFill>
                        <a:effectLst/>
                        <a:latin typeface="Cambria Math" panose="02040503050406030204" pitchFamily="18" charset="0"/>
                      </a:rPr>
                      <m:t>𝒂</m:t>
                    </m:r>
                  </m:oMath>
                </a14:m>
                <a:r>
                  <a:rPr lang="fr-FR" sz="1500" b="1" dirty="0">
                    <a:solidFill>
                      <a:srgbClr val="000000"/>
                    </a:solidFill>
                    <a:latin typeface="Bookman Old Style" panose="02050604050505020204" pitchFamily="18" charset="0"/>
                  </a:rPr>
                  <a:t> est la partie réelle : </a:t>
                </a:r>
                <a14:m>
                  <m:oMath xmlns:m="http://schemas.openxmlformats.org/officeDocument/2006/math">
                    <m:r>
                      <a:rPr lang="fr-FR" sz="1500" b="1" i="1">
                        <a:solidFill>
                          <a:srgbClr val="000000"/>
                        </a:solidFill>
                        <a:latin typeface="Cambria Math" panose="02040503050406030204" pitchFamily="18" charset="0"/>
                      </a:rPr>
                      <m:t>𝒂</m:t>
                    </m:r>
                    <m:r>
                      <a:rPr lang="fr-FR" sz="1500" b="1" i="0" smtClean="0">
                        <a:solidFill>
                          <a:srgbClr val="000000"/>
                        </a:solidFill>
                        <a:latin typeface="Cambria Math" panose="02040503050406030204" pitchFamily="18" charset="0"/>
                      </a:rPr>
                      <m:t>=</m:t>
                    </m:r>
                    <m:r>
                      <a:rPr lang="fr-FR" sz="1500" b="1" i="0" smtClean="0">
                        <a:solidFill>
                          <a:srgbClr val="000000"/>
                        </a:solidFill>
                        <a:latin typeface="Cambria Math" panose="02040503050406030204" pitchFamily="18" charset="0"/>
                      </a:rPr>
                      <m:t>𝐙</m:t>
                    </m:r>
                    <m:r>
                      <a:rPr lang="fr-FR" sz="1500" b="1" i="0" smtClean="0">
                        <a:solidFill>
                          <a:srgbClr val="000000"/>
                        </a:solidFill>
                        <a:latin typeface="Cambria Math" panose="02040503050406030204" pitchFamily="18" charset="0"/>
                      </a:rPr>
                      <m:t>.</m:t>
                    </m:r>
                    <m:r>
                      <a:rPr lang="fr-FR" sz="1500" b="1" i="0" smtClean="0">
                        <a:solidFill>
                          <a:srgbClr val="000000"/>
                        </a:solidFill>
                        <a:latin typeface="Cambria Math" panose="02040503050406030204" pitchFamily="18" charset="0"/>
                      </a:rPr>
                      <m:t>𝐜𝐨𝐬</m:t>
                    </m:r>
                    <m:d>
                      <m:dPr>
                        <m:ctrlPr>
                          <a:rPr lang="fr-FR" sz="1500" b="1" i="1" smtClean="0">
                            <a:solidFill>
                              <a:srgbClr val="000000"/>
                            </a:solidFill>
                            <a:latin typeface="Cambria Math" panose="02040503050406030204" pitchFamily="18" charset="0"/>
                          </a:rPr>
                        </m:ctrlPr>
                      </m:dPr>
                      <m:e>
                        <m:r>
                          <a:rPr lang="fr-FR" sz="1500" b="1" i="1" dirty="0">
                            <a:solidFill>
                              <a:srgbClr val="000000"/>
                            </a:solidFill>
                            <a:latin typeface="Cambria Math" panose="02040503050406030204" pitchFamily="18" charset="0"/>
                            <a:ea typeface="Cambria Math" panose="02040503050406030204" pitchFamily="18" charset="0"/>
                          </a:rPr>
                          <m:t>𝝋</m:t>
                        </m:r>
                      </m:e>
                    </m:d>
                  </m:oMath>
                </a14:m>
                <a:endParaRPr lang="fr-FR" sz="1500" b="1" dirty="0">
                  <a:solidFill>
                    <a:srgbClr val="000000"/>
                  </a:solidFill>
                  <a:latin typeface="Bookman Old Style" panose="02050604050505020204" pitchFamily="18" charset="0"/>
                  <a:ea typeface="Cambria Math" panose="02040503050406030204" pitchFamily="18" charset="0"/>
                </a:endParaRPr>
              </a:p>
              <a:p>
                <a:endParaRPr lang="fr-FR" sz="1500" b="1" dirty="0">
                  <a:solidFill>
                    <a:srgbClr val="000000"/>
                  </a:solidFill>
                  <a:latin typeface="Bookman Old Style" panose="02050604050505020204" pitchFamily="18" charset="0"/>
                  <a:ea typeface="Cambria Math" panose="02040503050406030204" pitchFamily="18" charset="0"/>
                </a:endParaRPr>
              </a:p>
              <a:p>
                <a:pPr marL="285750" indent="-285750">
                  <a:buFont typeface="Wingdings" panose="05000000000000000000" pitchFamily="2" charset="2"/>
                  <a:buChar char="ü"/>
                </a:pPr>
                <a14:m>
                  <m:oMath xmlns:m="http://schemas.openxmlformats.org/officeDocument/2006/math">
                    <m:r>
                      <a:rPr lang="fr-FR" sz="1500" b="1" i="1" smtClean="0">
                        <a:solidFill>
                          <a:srgbClr val="000000"/>
                        </a:solidFill>
                        <a:effectLst/>
                        <a:latin typeface="Cambria Math" panose="02040503050406030204" pitchFamily="18" charset="0"/>
                      </a:rPr>
                      <m:t>𝒃</m:t>
                    </m:r>
                  </m:oMath>
                </a14:m>
                <a:r>
                  <a:rPr lang="fr-FR" sz="1500" b="1" dirty="0">
                    <a:solidFill>
                      <a:srgbClr val="000000"/>
                    </a:solidFill>
                    <a:latin typeface="Bookman Old Style" panose="02050604050505020204" pitchFamily="18" charset="0"/>
                    <a:ea typeface="Cambria Math" panose="02040503050406030204" pitchFamily="18" charset="0"/>
                  </a:rPr>
                  <a:t> est la partie imaginaire : </a:t>
                </a:r>
                <a14:m>
                  <m:oMath xmlns:m="http://schemas.openxmlformats.org/officeDocument/2006/math">
                    <m:r>
                      <a:rPr lang="fr-FR" sz="1500" b="1" i="1">
                        <a:solidFill>
                          <a:srgbClr val="000000"/>
                        </a:solidFill>
                        <a:latin typeface="Cambria Math" panose="02040503050406030204" pitchFamily="18" charset="0"/>
                      </a:rPr>
                      <m:t>𝒃</m:t>
                    </m:r>
                    <m:r>
                      <a:rPr lang="fr-FR" sz="1500" b="1" i="1" smtClean="0">
                        <a:solidFill>
                          <a:srgbClr val="000000"/>
                        </a:solidFill>
                        <a:latin typeface="Cambria Math" panose="02040503050406030204" pitchFamily="18" charset="0"/>
                      </a:rPr>
                      <m:t>=</m:t>
                    </m:r>
                    <m:r>
                      <a:rPr lang="fr-FR" sz="1500" b="1">
                        <a:solidFill>
                          <a:srgbClr val="000000"/>
                        </a:solidFill>
                        <a:latin typeface="Cambria Math" panose="02040503050406030204" pitchFamily="18" charset="0"/>
                      </a:rPr>
                      <m:t>𝐙</m:t>
                    </m:r>
                    <m:r>
                      <a:rPr lang="fr-FR" sz="1500" b="1" i="0" smtClean="0">
                        <a:solidFill>
                          <a:srgbClr val="000000"/>
                        </a:solidFill>
                        <a:latin typeface="Cambria Math" panose="02040503050406030204" pitchFamily="18" charset="0"/>
                      </a:rPr>
                      <m:t>.</m:t>
                    </m:r>
                    <m:r>
                      <a:rPr lang="fr-FR" sz="1500" b="1" i="1" smtClean="0">
                        <a:solidFill>
                          <a:srgbClr val="000000"/>
                        </a:solidFill>
                        <a:latin typeface="Cambria Math" panose="02040503050406030204" pitchFamily="18" charset="0"/>
                      </a:rPr>
                      <m:t>𝒔𝒊𝒏</m:t>
                    </m:r>
                    <m:d>
                      <m:dPr>
                        <m:ctrlPr>
                          <a:rPr lang="fr-FR" sz="1500" b="1" i="1">
                            <a:solidFill>
                              <a:srgbClr val="000000"/>
                            </a:solidFill>
                            <a:latin typeface="Cambria Math" panose="02040503050406030204" pitchFamily="18" charset="0"/>
                          </a:rPr>
                        </m:ctrlPr>
                      </m:dPr>
                      <m:e>
                        <m:r>
                          <a:rPr lang="fr-FR" sz="1500" b="1" i="1" dirty="0">
                            <a:solidFill>
                              <a:srgbClr val="000000"/>
                            </a:solidFill>
                            <a:latin typeface="Cambria Math" panose="02040503050406030204" pitchFamily="18" charset="0"/>
                            <a:ea typeface="Cambria Math" panose="02040503050406030204" pitchFamily="18" charset="0"/>
                          </a:rPr>
                          <m:t>𝝋</m:t>
                        </m:r>
                      </m:e>
                    </m:d>
                  </m:oMath>
                </a14:m>
                <a:endParaRPr lang="fr-FR" sz="1500" b="1" dirty="0">
                  <a:solidFill>
                    <a:srgbClr val="000000"/>
                  </a:solidFill>
                  <a:latin typeface="Bookman Old Style" panose="02050604050505020204" pitchFamily="18" charset="0"/>
                  <a:ea typeface="Cambria Math" panose="02040503050406030204" pitchFamily="18" charset="0"/>
                </a:endParaRPr>
              </a:p>
              <a:p>
                <a:pPr marL="285750" indent="-285750">
                  <a:buFont typeface="Wingdings" panose="05000000000000000000" pitchFamily="2" charset="2"/>
                  <a:buChar char="ü"/>
                </a:pPr>
                <a:endParaRPr lang="fr-FR" sz="1500" b="1" dirty="0">
                  <a:solidFill>
                    <a:srgbClr val="000000"/>
                  </a:solidFill>
                  <a:latin typeface="Bookman Old Style" panose="02050604050505020204" pitchFamily="18" charset="0"/>
                </a:endParaRPr>
              </a:p>
              <a:p>
                <a:pPr marL="285750" indent="-285750">
                  <a:buFont typeface="Wingdings" panose="05000000000000000000" pitchFamily="2" charset="2"/>
                  <a:buChar char="ü"/>
                </a:pPr>
                <a:endParaRPr lang="fr-FR" sz="1500" b="1" dirty="0">
                  <a:solidFill>
                    <a:srgbClr val="000000"/>
                  </a:solidFill>
                  <a:latin typeface="Bookman Old Style" panose="02050604050505020204" pitchFamily="18" charset="0"/>
                </a:endParaRPr>
              </a:p>
              <a:p>
                <a:pPr marL="285750" indent="-285750">
                  <a:buFont typeface="Wingdings" panose="05000000000000000000" pitchFamily="2" charset="2"/>
                  <a:buChar char="ü"/>
                </a:pPr>
                <a:endParaRPr lang="fr-FR" sz="1500" b="1" dirty="0">
                  <a:solidFill>
                    <a:srgbClr val="000000"/>
                  </a:solidFill>
                  <a:latin typeface="Bookman Old Style" panose="02050604050505020204" pitchFamily="18" charset="0"/>
                </a:endParaRPr>
              </a:p>
            </p:txBody>
          </p:sp>
        </mc:Choice>
        <mc:Fallback xmlns="">
          <p:sp>
            <p:nvSpPr>
              <p:cNvPr id="16" name="TextBox 15">
                <a:extLst>
                  <a:ext uri="{FF2B5EF4-FFF2-40B4-BE49-F238E27FC236}">
                    <a16:creationId xmlns:a16="http://schemas.microsoft.com/office/drawing/2014/main" id="{E049E549-9E87-D928-D64C-49C3DCC3F53E}"/>
                  </a:ext>
                </a:extLst>
              </p:cNvPr>
              <p:cNvSpPr txBox="1">
                <a:spLocks noRot="1" noChangeAspect="1" noMove="1" noResize="1" noEditPoints="1" noAdjustHandles="1" noChangeArrowheads="1" noChangeShapeType="1" noTextEdit="1"/>
              </p:cNvSpPr>
              <p:nvPr/>
            </p:nvSpPr>
            <p:spPr>
              <a:xfrm>
                <a:off x="745585" y="1793361"/>
                <a:ext cx="8145711" cy="3955698"/>
              </a:xfrm>
              <a:prstGeom prst="rect">
                <a:avLst/>
              </a:prstGeom>
              <a:blipFill>
                <a:blip r:embed="rId3"/>
                <a:stretch>
                  <a:fillRect l="-224" t="-462"/>
                </a:stretch>
              </a:blipFill>
            </p:spPr>
            <p:txBody>
              <a:bodyPr/>
              <a:lstStyle/>
              <a:p>
                <a:r>
                  <a:rPr lang="fr-FR">
                    <a:noFill/>
                  </a:rPr>
                  <a:t> </a:t>
                </a:r>
              </a:p>
            </p:txBody>
          </p:sp>
        </mc:Fallback>
      </mc:AlternateContent>
    </p:spTree>
    <p:extLst>
      <p:ext uri="{BB962C8B-B14F-4D97-AF65-F5344CB8AC3E}">
        <p14:creationId xmlns:p14="http://schemas.microsoft.com/office/powerpoint/2010/main" val="34713589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64</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4.2 </a:t>
            </a:r>
            <a:r>
              <a:rPr lang="fr-FR" altLang="fr-FR" sz="1400" b="1" spc="-5" dirty="0">
                <a:solidFill>
                  <a:srgbClr val="CC00CC"/>
                </a:solidFill>
                <a:latin typeface="Bookman Old Style" panose="02050604050505020204" pitchFamily="18" charset="0"/>
                <a:cs typeface="Arial"/>
              </a:rPr>
              <a:t>Notation complexe     </a:t>
            </a:r>
            <a:endParaRPr lang="fr-FR" sz="1400" b="1" spc="-5" dirty="0">
              <a:solidFill>
                <a:srgbClr val="CC00CC"/>
              </a:solidFill>
              <a:latin typeface="Bookman Old Style" panose="02050604050505020204" pitchFamily="18" charset="0"/>
              <a:cs typeface="Arial"/>
            </a:endParaRPr>
          </a:p>
        </p:txBody>
      </p:sp>
      <p:sp>
        <p:nvSpPr>
          <p:cNvPr id="5" name="TextBox 4">
            <a:extLst>
              <a:ext uri="{FF2B5EF4-FFF2-40B4-BE49-F238E27FC236}">
                <a16:creationId xmlns:a16="http://schemas.microsoft.com/office/drawing/2014/main" id="{88113C83-592F-2197-E900-EE90997BED06}"/>
              </a:ext>
            </a:extLst>
          </p:cNvPr>
          <p:cNvSpPr txBox="1"/>
          <p:nvPr/>
        </p:nvSpPr>
        <p:spPr>
          <a:xfrm>
            <a:off x="576301" y="1330076"/>
            <a:ext cx="8335931" cy="784830"/>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500">
                <a:latin typeface="Bookman Old Style" panose="02050604050505020204" pitchFamily="18" charset="0"/>
                <a:cs typeface="Browallia New" panose="020B0604020202020204" pitchFamily="34" charset="-34"/>
              </a:defRPr>
            </a:lvl1pPr>
          </a:lstStyle>
          <a:p>
            <a:r>
              <a:rPr lang="fr-FR" altLang="fr-FR" dirty="0"/>
              <a:t>A toute fonction sinusoïdale </a:t>
            </a:r>
            <a:r>
              <a:rPr lang="fr-FR" altLang="fr-FR" b="1" dirty="0"/>
              <a:t>y(t) </a:t>
            </a:r>
            <a:r>
              <a:rPr lang="fr-FR" altLang="fr-FR" dirty="0"/>
              <a:t>d'amplitude </a:t>
            </a:r>
            <a:r>
              <a:rPr lang="fr-FR" altLang="fr-FR" b="1" dirty="0"/>
              <a:t>A</a:t>
            </a:r>
            <a:r>
              <a:rPr lang="fr-FR" altLang="fr-FR" dirty="0"/>
              <a:t> et de phase instantanée </a:t>
            </a:r>
            <a:r>
              <a:rPr lang="fr-FR" altLang="fr-FR" b="1" dirty="0"/>
              <a:t>(</a:t>
            </a:r>
            <a:r>
              <a:rPr lang="el-GR" altLang="fr-FR" b="1" dirty="0"/>
              <a:t>ω</a:t>
            </a:r>
            <a:r>
              <a:rPr lang="fr-FR" altLang="fr-FR" b="1" dirty="0"/>
              <a:t> t + </a:t>
            </a:r>
            <a:r>
              <a:rPr lang="el-GR" altLang="fr-FR" b="1" dirty="0"/>
              <a:t>φ</a:t>
            </a:r>
            <a:r>
              <a:rPr lang="fr-FR" altLang="fr-FR" b="1" dirty="0"/>
              <a:t>) </a:t>
            </a:r>
            <a:r>
              <a:rPr lang="fr-FR" altLang="fr-FR" dirty="0"/>
              <a:t>nous pouvons faire correspondre une représentation complexe défini par : </a:t>
            </a:r>
          </a:p>
          <a:p>
            <a:pPr marL="0" indent="0">
              <a:buNone/>
            </a:pPr>
            <a:r>
              <a:rPr lang="fr-FR" altLang="fr-FR" dirty="0"/>
              <a:t> </a:t>
            </a:r>
          </a:p>
        </p:txBody>
      </p:sp>
      <p:graphicFrame>
        <p:nvGraphicFramePr>
          <p:cNvPr id="3" name="Object 3">
            <a:extLst>
              <a:ext uri="{FF2B5EF4-FFF2-40B4-BE49-F238E27FC236}">
                <a16:creationId xmlns:a16="http://schemas.microsoft.com/office/drawing/2014/main" id="{1C0DFDBD-C6CA-217F-82E2-3EEEDB982C7B}"/>
              </a:ext>
            </a:extLst>
          </p:cNvPr>
          <p:cNvGraphicFramePr>
            <a:graphicFrameLocks noChangeAspect="1"/>
          </p:cNvGraphicFramePr>
          <p:nvPr>
            <p:extLst>
              <p:ext uri="{D42A27DB-BD31-4B8C-83A1-F6EECF244321}">
                <p14:modId xmlns:p14="http://schemas.microsoft.com/office/powerpoint/2010/main" val="2509904750"/>
              </p:ext>
            </p:extLst>
          </p:nvPr>
        </p:nvGraphicFramePr>
        <p:xfrm>
          <a:off x="1254941" y="2114906"/>
          <a:ext cx="6978650" cy="1973262"/>
        </p:xfrm>
        <a:graphic>
          <a:graphicData uri="http://schemas.openxmlformats.org/presentationml/2006/ole">
            <mc:AlternateContent xmlns:mc="http://schemas.openxmlformats.org/markup-compatibility/2006">
              <mc:Choice xmlns:v="urn:schemas-microsoft-com:vml" Requires="v">
                <p:oleObj name="Equation" r:id="rId3" imgW="3898900" imgH="1104900" progId="Equation.DSMT4">
                  <p:embed/>
                </p:oleObj>
              </mc:Choice>
              <mc:Fallback>
                <p:oleObj name="Equation" r:id="rId3" imgW="3898900" imgH="1104900" progId="Equation.DSMT4">
                  <p:embed/>
                  <p:pic>
                    <p:nvPicPr>
                      <p:cNvPr id="8202"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54941" y="2114906"/>
                        <a:ext cx="6978650" cy="1973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7608366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65</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4.3 </a:t>
            </a:r>
            <a:r>
              <a:rPr lang="fr-FR" altLang="fr-FR" sz="1400" b="1" spc="-5" dirty="0">
                <a:solidFill>
                  <a:srgbClr val="CC00CC"/>
                </a:solidFill>
                <a:latin typeface="Bookman Old Style" panose="02050604050505020204" pitchFamily="18" charset="0"/>
                <a:cs typeface="Arial"/>
              </a:rPr>
              <a:t>Représentation de Fresnel</a:t>
            </a:r>
            <a:endParaRPr lang="fr-FR" sz="1400" b="1" spc="-5" dirty="0">
              <a:solidFill>
                <a:srgbClr val="CC00CC"/>
              </a:solidFill>
              <a:latin typeface="Bookman Old Style" panose="02050604050505020204" pitchFamily="18" charset="0"/>
              <a:cs typeface="Arial"/>
            </a:endParaRPr>
          </a:p>
        </p:txBody>
      </p:sp>
      <p:sp>
        <p:nvSpPr>
          <p:cNvPr id="5" name="TextBox 4">
            <a:extLst>
              <a:ext uri="{FF2B5EF4-FFF2-40B4-BE49-F238E27FC236}">
                <a16:creationId xmlns:a16="http://schemas.microsoft.com/office/drawing/2014/main" id="{88113C83-592F-2197-E900-EE90997BED06}"/>
              </a:ext>
            </a:extLst>
          </p:cNvPr>
          <p:cNvSpPr txBox="1"/>
          <p:nvPr/>
        </p:nvSpPr>
        <p:spPr>
          <a:xfrm>
            <a:off x="576301" y="1330076"/>
            <a:ext cx="8335931" cy="553998"/>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500">
                <a:latin typeface="Bookman Old Style" panose="02050604050505020204" pitchFamily="18" charset="0"/>
                <a:cs typeface="Browallia New" panose="020B0604020202020204" pitchFamily="34" charset="-34"/>
              </a:defRPr>
            </a:lvl1pPr>
          </a:lstStyle>
          <a:p>
            <a:r>
              <a:rPr lang="fr-FR" altLang="fr-FR" dirty="0"/>
              <a:t>Il s’agit d’une </a:t>
            </a:r>
            <a:r>
              <a:rPr lang="fr-FR" altLang="fr-FR" b="1" dirty="0"/>
              <a:t>représentation vectorielle </a:t>
            </a:r>
            <a:r>
              <a:rPr lang="fr-FR" altLang="fr-FR" dirty="0"/>
              <a:t>qui permet une </a:t>
            </a:r>
            <a:r>
              <a:rPr lang="fr-FR" altLang="fr-FR" b="1" dirty="0"/>
              <a:t>visualisation géométrique </a:t>
            </a:r>
            <a:r>
              <a:rPr lang="fr-FR" altLang="fr-FR" dirty="0"/>
              <a:t>d’une </a:t>
            </a:r>
            <a:r>
              <a:rPr lang="fr-FR" altLang="fr-FR" b="1" dirty="0"/>
              <a:t>grandeur sinusoïdale</a:t>
            </a:r>
            <a:r>
              <a:rPr lang="fr-FR" altLang="fr-FR" dirty="0"/>
              <a:t>. </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B321D73-22DA-2E5E-FE5C-0F7325B34B59}"/>
                  </a:ext>
                </a:extLst>
              </p:cNvPr>
              <p:cNvSpPr txBox="1"/>
              <p:nvPr/>
            </p:nvSpPr>
            <p:spPr>
              <a:xfrm>
                <a:off x="588884" y="2078145"/>
                <a:ext cx="8323348" cy="576504"/>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500">
                    <a:latin typeface="Bookman Old Style" panose="02050604050505020204" pitchFamily="18" charset="0"/>
                    <a:cs typeface="Browallia New" panose="020B0604020202020204" pitchFamily="34" charset="-34"/>
                  </a:defRPr>
                </a:lvl1pPr>
              </a:lstStyle>
              <a:p>
                <a:r>
                  <a:rPr lang="fr-FR" dirty="0"/>
                  <a:t>A la grandeur </a:t>
                </a:r>
                <a14:m>
                  <m:oMath xmlns:m="http://schemas.openxmlformats.org/officeDocument/2006/math">
                    <m:r>
                      <a:rPr lang="fr-FR" b="1" i="1" dirty="0" smtClean="0">
                        <a:latin typeface="Cambria Math" panose="02040503050406030204" pitchFamily="18" charset="0"/>
                      </a:rPr>
                      <m:t>𝒙</m:t>
                    </m:r>
                    <m:r>
                      <a:rPr lang="fr-FR" b="1" i="1" dirty="0" smtClean="0">
                        <a:latin typeface="Cambria Math" panose="02040503050406030204" pitchFamily="18" charset="0"/>
                      </a:rPr>
                      <m:t>(</m:t>
                    </m:r>
                    <m:r>
                      <a:rPr lang="fr-FR" b="1" i="1" dirty="0" smtClean="0">
                        <a:latin typeface="Cambria Math" panose="02040503050406030204" pitchFamily="18" charset="0"/>
                      </a:rPr>
                      <m:t>𝒕</m:t>
                    </m:r>
                    <m:r>
                      <a:rPr lang="fr-FR" b="1" i="1" dirty="0" smtClean="0">
                        <a:latin typeface="Cambria Math" panose="02040503050406030204" pitchFamily="18" charset="0"/>
                      </a:rPr>
                      <m:t>)=</m:t>
                    </m:r>
                    <m:sSub>
                      <m:sSubPr>
                        <m:ctrlPr>
                          <a:rPr lang="fr-FR" b="1" i="1" dirty="0" smtClean="0">
                            <a:latin typeface="Cambria Math" panose="02040503050406030204" pitchFamily="18" charset="0"/>
                          </a:rPr>
                        </m:ctrlPr>
                      </m:sSubPr>
                      <m:e>
                        <m:r>
                          <a:rPr lang="fr-FR" b="1" i="1" dirty="0" err="1">
                            <a:latin typeface="Cambria Math" panose="02040503050406030204" pitchFamily="18" charset="0"/>
                          </a:rPr>
                          <m:t>𝑿</m:t>
                        </m:r>
                      </m:e>
                      <m:sub>
                        <m:r>
                          <a:rPr lang="fr-FR" b="1" i="1" dirty="0">
                            <a:latin typeface="Cambria Math" panose="02040503050406030204" pitchFamily="18" charset="0"/>
                          </a:rPr>
                          <m:t>𝒎</m:t>
                        </m:r>
                      </m:sub>
                    </m:sSub>
                    <m:r>
                      <a:rPr lang="fr-FR" b="1" i="1" dirty="0" err="1">
                        <a:latin typeface="Cambria Math" panose="02040503050406030204" pitchFamily="18" charset="0"/>
                      </a:rPr>
                      <m:t>𝒄𝒐𝒔</m:t>
                    </m:r>
                    <m:r>
                      <a:rPr lang="fr-FR" b="1" i="1" dirty="0">
                        <a:latin typeface="Cambria Math" panose="02040503050406030204" pitchFamily="18" charset="0"/>
                      </a:rPr>
                      <m:t>(</m:t>
                    </m:r>
                    <m:r>
                      <a:rPr lang="fr-FR" b="1" i="1" dirty="0" err="1">
                        <a:latin typeface="Cambria Math" panose="02040503050406030204" pitchFamily="18" charset="0"/>
                      </a:rPr>
                      <m:t>𝝎</m:t>
                    </m:r>
                    <m:r>
                      <a:rPr lang="fr-FR" b="1" i="1" dirty="0" err="1">
                        <a:latin typeface="Cambria Math" panose="02040503050406030204" pitchFamily="18" charset="0"/>
                      </a:rPr>
                      <m:t>𝒕</m:t>
                    </m:r>
                    <m:r>
                      <a:rPr lang="fr-FR" b="1" i="1" dirty="0">
                        <a:latin typeface="Cambria Math" panose="02040503050406030204" pitchFamily="18" charset="0"/>
                      </a:rPr>
                      <m:t>+ </m:t>
                    </m:r>
                    <m:r>
                      <a:rPr lang="fr-FR" b="1" i="1" dirty="0" smtClean="0">
                        <a:latin typeface="Cambria Math" panose="02040503050406030204" pitchFamily="18" charset="0"/>
                      </a:rPr>
                      <m:t>𝝓</m:t>
                    </m:r>
                    <m:r>
                      <a:rPr lang="fr-FR" b="1" i="1" dirty="0">
                        <a:latin typeface="Cambria Math" panose="02040503050406030204" pitchFamily="18" charset="0"/>
                      </a:rPr>
                      <m:t>), </m:t>
                    </m:r>
                  </m:oMath>
                </a14:m>
                <a:r>
                  <a:rPr lang="fr-FR" dirty="0"/>
                  <a:t>on associe dans le plan complexe un vecteur de </a:t>
                </a:r>
                <a:r>
                  <a:rPr lang="fr-FR" b="1" dirty="0"/>
                  <a:t>longueur</a:t>
                </a:r>
                <a:r>
                  <a:rPr lang="fr-FR" dirty="0"/>
                  <a:t> </a:t>
                </a:r>
                <a14:m>
                  <m:oMath xmlns:m="http://schemas.openxmlformats.org/officeDocument/2006/math">
                    <m:sSub>
                      <m:sSubPr>
                        <m:ctrlPr>
                          <a:rPr lang="fr-FR" b="1" i="1" dirty="0">
                            <a:latin typeface="Cambria Math" panose="02040503050406030204" pitchFamily="18" charset="0"/>
                          </a:rPr>
                        </m:ctrlPr>
                      </m:sSubPr>
                      <m:e>
                        <m:r>
                          <a:rPr lang="fr-FR" b="1" i="1" dirty="0" err="1">
                            <a:latin typeface="Cambria Math" panose="02040503050406030204" pitchFamily="18" charset="0"/>
                          </a:rPr>
                          <m:t>𝑿</m:t>
                        </m:r>
                      </m:e>
                      <m:sub>
                        <m:r>
                          <a:rPr lang="fr-FR" b="1" i="1" dirty="0">
                            <a:latin typeface="Cambria Math" panose="02040503050406030204" pitchFamily="18" charset="0"/>
                          </a:rPr>
                          <m:t>𝒎</m:t>
                        </m:r>
                      </m:sub>
                    </m:sSub>
                    <m:r>
                      <a:rPr lang="fr-FR" b="1" i="1" dirty="0" smtClean="0">
                        <a:latin typeface="Cambria Math" panose="02040503050406030204" pitchFamily="18" charset="0"/>
                      </a:rPr>
                      <m:t>/</m:t>
                    </m:r>
                    <m:rad>
                      <m:radPr>
                        <m:degHide m:val="on"/>
                        <m:ctrlPr>
                          <a:rPr lang="fr-FR" b="1" i="1">
                            <a:latin typeface="Cambria Math" panose="02040503050406030204" pitchFamily="18" charset="0"/>
                          </a:rPr>
                        </m:ctrlPr>
                      </m:radPr>
                      <m:deg/>
                      <m:e>
                        <m:r>
                          <a:rPr lang="fr-FR" b="1" i="1">
                            <a:latin typeface="Cambria Math" panose="02040503050406030204" pitchFamily="18" charset="0"/>
                          </a:rPr>
                          <m:t>𝟐</m:t>
                        </m:r>
                      </m:e>
                    </m:rad>
                  </m:oMath>
                </a14:m>
                <a:r>
                  <a:rPr lang="fr-FR" dirty="0"/>
                  <a:t> et dont l’</a:t>
                </a:r>
                <a:r>
                  <a:rPr lang="fr-FR" b="1" dirty="0"/>
                  <a:t>angle</a:t>
                </a:r>
                <a:r>
                  <a:rPr lang="fr-FR" dirty="0"/>
                  <a:t> avec l’axe horizontal est </a:t>
                </a:r>
                <a14:m>
                  <m:oMath xmlns:m="http://schemas.openxmlformats.org/officeDocument/2006/math">
                    <m:r>
                      <a:rPr lang="fr-FR" b="1" i="1" dirty="0">
                        <a:latin typeface="Cambria Math" panose="02040503050406030204" pitchFamily="18" charset="0"/>
                      </a:rPr>
                      <m:t>𝝎</m:t>
                    </m:r>
                    <m:r>
                      <a:rPr lang="fr-FR" b="1" i="1" dirty="0">
                        <a:latin typeface="Cambria Math" panose="02040503050406030204" pitchFamily="18" charset="0"/>
                      </a:rPr>
                      <m:t>𝒕</m:t>
                    </m:r>
                    <m:r>
                      <a:rPr lang="fr-FR" b="1" i="1" dirty="0">
                        <a:latin typeface="Cambria Math" panose="02040503050406030204" pitchFamily="18" charset="0"/>
                      </a:rPr>
                      <m:t>+ </m:t>
                    </m:r>
                    <m:r>
                      <a:rPr lang="fr-FR" b="1" i="1" dirty="0">
                        <a:latin typeface="Cambria Math" panose="02040503050406030204" pitchFamily="18" charset="0"/>
                      </a:rPr>
                      <m:t>𝝓</m:t>
                    </m:r>
                  </m:oMath>
                </a14:m>
                <a:r>
                  <a:rPr lang="fr-FR" dirty="0"/>
                  <a:t>.</a:t>
                </a:r>
              </a:p>
            </p:txBody>
          </p:sp>
        </mc:Choice>
        <mc:Fallback xmlns="">
          <p:sp>
            <p:nvSpPr>
              <p:cNvPr id="12" name="TextBox 11">
                <a:extLst>
                  <a:ext uri="{FF2B5EF4-FFF2-40B4-BE49-F238E27FC236}">
                    <a16:creationId xmlns:a16="http://schemas.microsoft.com/office/drawing/2014/main" id="{DB321D73-22DA-2E5E-FE5C-0F7325B34B59}"/>
                  </a:ext>
                </a:extLst>
              </p:cNvPr>
              <p:cNvSpPr txBox="1">
                <a:spLocks noRot="1" noChangeAspect="1" noMove="1" noResize="1" noEditPoints="1" noAdjustHandles="1" noChangeArrowheads="1" noChangeShapeType="1" noTextEdit="1"/>
              </p:cNvSpPr>
              <p:nvPr/>
            </p:nvSpPr>
            <p:spPr>
              <a:xfrm>
                <a:off x="588884" y="2078145"/>
                <a:ext cx="8323348" cy="576504"/>
              </a:xfrm>
              <a:prstGeom prst="rect">
                <a:avLst/>
              </a:prstGeom>
              <a:blipFill>
                <a:blip r:embed="rId3"/>
                <a:stretch>
                  <a:fillRect l="-220" t="-2128" r="-293" b="-10638"/>
                </a:stretch>
              </a:blipFill>
            </p:spPr>
            <p:txBody>
              <a:bodyPr/>
              <a:lstStyle/>
              <a:p>
                <a:r>
                  <a:rPr lang="fr-FR">
                    <a:noFill/>
                  </a:rPr>
                  <a:t> </a:t>
                </a:r>
              </a:p>
            </p:txBody>
          </p:sp>
        </mc:Fallback>
      </mc:AlternateContent>
      <p:pic>
        <p:nvPicPr>
          <p:cNvPr id="16" name="Picture 15">
            <a:extLst>
              <a:ext uri="{FF2B5EF4-FFF2-40B4-BE49-F238E27FC236}">
                <a16:creationId xmlns:a16="http://schemas.microsoft.com/office/drawing/2014/main" id="{718AAACA-DFC3-324B-F9C1-557625558411}"/>
              </a:ext>
            </a:extLst>
          </p:cNvPr>
          <p:cNvPicPr>
            <a:picLocks noChangeAspect="1"/>
          </p:cNvPicPr>
          <p:nvPr/>
        </p:nvPicPr>
        <p:blipFill>
          <a:blip r:embed="rId4"/>
          <a:stretch>
            <a:fillRect/>
          </a:stretch>
        </p:blipFill>
        <p:spPr>
          <a:xfrm>
            <a:off x="3391599" y="2826214"/>
            <a:ext cx="2705334" cy="2141406"/>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D877F27-4235-8C46-573F-B225F27EE1BA}"/>
                  </a:ext>
                </a:extLst>
              </p:cNvPr>
              <p:cNvSpPr txBox="1"/>
              <p:nvPr/>
            </p:nvSpPr>
            <p:spPr>
              <a:xfrm>
                <a:off x="4648200" y="4019550"/>
                <a:ext cx="609600" cy="323165"/>
              </a:xfrm>
              <a:prstGeom prst="rect">
                <a:avLst/>
              </a:prstGeom>
              <a:solidFill>
                <a:schemeClr val="bg1"/>
              </a:solidFill>
              <a:ln>
                <a:solidFill>
                  <a:schemeClr val="bg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fr-FR" sz="1500" b="1" i="1" dirty="0" smtClean="0">
                          <a:latin typeface="Cambria Math" panose="02040503050406030204" pitchFamily="18" charset="0"/>
                        </a:rPr>
                        <m:t>𝝓</m:t>
                      </m:r>
                    </m:oMath>
                  </m:oMathPara>
                </a14:m>
                <a:endParaRPr lang="fr-FR" sz="1500" dirty="0"/>
              </a:p>
            </p:txBody>
          </p:sp>
        </mc:Choice>
        <mc:Fallback xmlns="">
          <p:sp>
            <p:nvSpPr>
              <p:cNvPr id="17" name="TextBox 16">
                <a:extLst>
                  <a:ext uri="{FF2B5EF4-FFF2-40B4-BE49-F238E27FC236}">
                    <a16:creationId xmlns:a16="http://schemas.microsoft.com/office/drawing/2014/main" id="{6D877F27-4235-8C46-573F-B225F27EE1BA}"/>
                  </a:ext>
                </a:extLst>
              </p:cNvPr>
              <p:cNvSpPr txBox="1">
                <a:spLocks noRot="1" noChangeAspect="1" noMove="1" noResize="1" noEditPoints="1" noAdjustHandles="1" noChangeArrowheads="1" noChangeShapeType="1" noTextEdit="1"/>
              </p:cNvSpPr>
              <p:nvPr/>
            </p:nvSpPr>
            <p:spPr>
              <a:xfrm>
                <a:off x="4648200" y="4019550"/>
                <a:ext cx="609600" cy="323165"/>
              </a:xfrm>
              <a:prstGeom prst="rect">
                <a:avLst/>
              </a:prstGeom>
              <a:blipFill>
                <a:blip r:embed="rId5"/>
                <a:stretch>
                  <a:fillRect b="-9091"/>
                </a:stretch>
              </a:blipFill>
              <a:ln>
                <a:solidFill>
                  <a:schemeClr val="bg1"/>
                </a:solidFill>
              </a:ln>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F13A8E7F-EC43-EF63-8048-4BB94BE2AE3C}"/>
                  </a:ext>
                </a:extLst>
              </p:cNvPr>
              <p:cNvSpPr txBox="1"/>
              <p:nvPr/>
            </p:nvSpPr>
            <p:spPr>
              <a:xfrm>
                <a:off x="4156049" y="3526082"/>
                <a:ext cx="415952" cy="493468"/>
              </a:xfrm>
              <a:prstGeom prst="rect">
                <a:avLst/>
              </a:prstGeom>
              <a:solidFill>
                <a:schemeClr val="bg1"/>
              </a:solidFill>
              <a:ln>
                <a:solidFill>
                  <a:schemeClr val="bg1"/>
                </a:solidFill>
              </a:ln>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fr-FR" sz="1300" b="0" i="1" dirty="0" smtClean="0">
                              <a:latin typeface="Cambria Math" panose="02040503050406030204" pitchFamily="18" charset="0"/>
                            </a:rPr>
                          </m:ctrlPr>
                        </m:fPr>
                        <m:num>
                          <m:sSub>
                            <m:sSubPr>
                              <m:ctrlPr>
                                <a:rPr lang="fr-FR" sz="1300" b="1" i="1" dirty="0" smtClean="0">
                                  <a:latin typeface="Cambria Math" panose="02040503050406030204" pitchFamily="18" charset="0"/>
                                </a:rPr>
                              </m:ctrlPr>
                            </m:sSubPr>
                            <m:e>
                              <m:r>
                                <a:rPr lang="fr-FR" sz="1300" b="1" i="1" dirty="0" smtClean="0">
                                  <a:latin typeface="Cambria Math" panose="02040503050406030204" pitchFamily="18" charset="0"/>
                                </a:rPr>
                                <m:t>𝑿</m:t>
                              </m:r>
                            </m:e>
                            <m:sub>
                              <m:r>
                                <a:rPr lang="fr-FR" sz="1300" b="1" i="1" dirty="0" smtClean="0">
                                  <a:latin typeface="Cambria Math" panose="02040503050406030204" pitchFamily="18" charset="0"/>
                                </a:rPr>
                                <m:t>𝒎</m:t>
                              </m:r>
                            </m:sub>
                          </m:sSub>
                        </m:num>
                        <m:den>
                          <m:r>
                            <a:rPr lang="fr-FR" sz="1300" b="1" i="1" dirty="0">
                              <a:latin typeface="Cambria Math" panose="02040503050406030204" pitchFamily="18" charset="0"/>
                            </a:rPr>
                            <m:t>√</m:t>
                          </m:r>
                          <m:r>
                            <a:rPr lang="fr-FR" sz="1300" b="1" i="1" dirty="0">
                              <a:latin typeface="Cambria Math" panose="02040503050406030204" pitchFamily="18" charset="0"/>
                            </a:rPr>
                            <m:t>𝟐</m:t>
                          </m:r>
                        </m:den>
                      </m:f>
                    </m:oMath>
                  </m:oMathPara>
                </a14:m>
                <a:endParaRPr lang="fr-FR" sz="1300" dirty="0"/>
              </a:p>
            </p:txBody>
          </p:sp>
        </mc:Choice>
        <mc:Fallback xmlns="">
          <p:sp>
            <p:nvSpPr>
              <p:cNvPr id="20" name="TextBox 19">
                <a:extLst>
                  <a:ext uri="{FF2B5EF4-FFF2-40B4-BE49-F238E27FC236}">
                    <a16:creationId xmlns:a16="http://schemas.microsoft.com/office/drawing/2014/main" id="{F13A8E7F-EC43-EF63-8048-4BB94BE2AE3C}"/>
                  </a:ext>
                </a:extLst>
              </p:cNvPr>
              <p:cNvSpPr txBox="1">
                <a:spLocks noRot="1" noChangeAspect="1" noMove="1" noResize="1" noEditPoints="1" noAdjustHandles="1" noChangeArrowheads="1" noChangeShapeType="1" noTextEdit="1"/>
              </p:cNvSpPr>
              <p:nvPr/>
            </p:nvSpPr>
            <p:spPr>
              <a:xfrm>
                <a:off x="4156049" y="3526082"/>
                <a:ext cx="415952" cy="493468"/>
              </a:xfrm>
              <a:prstGeom prst="rect">
                <a:avLst/>
              </a:prstGeom>
              <a:blipFill>
                <a:blip r:embed="rId6"/>
                <a:stretch>
                  <a:fillRect b="-4819"/>
                </a:stretch>
              </a:blipFill>
              <a:ln>
                <a:solidFill>
                  <a:schemeClr val="bg1"/>
                </a:solidFill>
              </a:ln>
            </p:spPr>
            <p:txBody>
              <a:bodyPr/>
              <a:lstStyle/>
              <a:p>
                <a:r>
                  <a:rPr lang="fr-FR">
                    <a:noFill/>
                  </a:rPr>
                  <a:t> </a:t>
                </a:r>
              </a:p>
            </p:txBody>
          </p:sp>
        </mc:Fallback>
      </mc:AlternateContent>
    </p:spTree>
    <p:extLst>
      <p:ext uri="{BB962C8B-B14F-4D97-AF65-F5344CB8AC3E}">
        <p14:creationId xmlns:p14="http://schemas.microsoft.com/office/powerpoint/2010/main" val="26103453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66</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4.3 </a:t>
            </a:r>
            <a:r>
              <a:rPr lang="fr-FR" altLang="fr-FR" sz="1400" b="1" spc="-5" dirty="0">
                <a:solidFill>
                  <a:srgbClr val="CC00CC"/>
                </a:solidFill>
                <a:latin typeface="Bookman Old Style" panose="02050604050505020204" pitchFamily="18" charset="0"/>
                <a:cs typeface="Arial"/>
              </a:rPr>
              <a:t>Représentation de Fresnel</a:t>
            </a:r>
            <a:endParaRPr lang="fr-FR" sz="1400" b="1" spc="-5" dirty="0">
              <a:solidFill>
                <a:srgbClr val="CC00CC"/>
              </a:solidFill>
              <a:latin typeface="Bookman Old Style" panose="02050604050505020204" pitchFamily="18" charset="0"/>
              <a:cs typeface="Aria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8113C83-592F-2197-E900-EE90997BED06}"/>
                  </a:ext>
                </a:extLst>
              </p:cNvPr>
              <p:cNvSpPr txBox="1"/>
              <p:nvPr/>
            </p:nvSpPr>
            <p:spPr>
              <a:xfrm>
                <a:off x="576301" y="1454751"/>
                <a:ext cx="8335931" cy="553998"/>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500">
                    <a:latin typeface="Bookman Old Style" panose="02050604050505020204" pitchFamily="18" charset="0"/>
                    <a:cs typeface="Browallia New" panose="020B0604020202020204" pitchFamily="34" charset="-34"/>
                  </a:defRPr>
                </a:lvl1pPr>
              </a:lstStyle>
              <a:p>
                <a:r>
                  <a:rPr lang="fr-FR" altLang="fr-FR" dirty="0"/>
                  <a:t>Pour représenter une grandeur sinusoïdale sur un </a:t>
                </a:r>
                <a:r>
                  <a:rPr lang="fr-FR" altLang="fr-FR" b="1" dirty="0"/>
                  <a:t>diagramme de Fresnel</a:t>
                </a:r>
                <a:r>
                  <a:rPr lang="fr-FR" altLang="fr-FR" dirty="0"/>
                  <a:t> il nous faut un </a:t>
                </a:r>
                <a:r>
                  <a:rPr lang="fr-FR" altLang="fr-FR" b="1" dirty="0"/>
                  <a:t>amplitude et une phase  </a:t>
                </a:r>
                <a14:m>
                  <m:oMath xmlns:m="http://schemas.openxmlformats.org/officeDocument/2006/math">
                    <m:d>
                      <m:dPr>
                        <m:ctrlPr>
                          <a:rPr lang="fr-FR" altLang="fr-FR" b="1" i="1" dirty="0" smtClean="0">
                            <a:latin typeface="Cambria Math" panose="02040503050406030204" pitchFamily="18" charset="0"/>
                            <a:ea typeface="Cambria Math" panose="02040503050406030204" pitchFamily="18" charset="0"/>
                          </a:rPr>
                        </m:ctrlPr>
                      </m:dPr>
                      <m:e>
                        <m:sSub>
                          <m:sSubPr>
                            <m:ctrlPr>
                              <a:rPr lang="fr-FR" b="1" i="1" dirty="0">
                                <a:latin typeface="Cambria Math" panose="02040503050406030204" pitchFamily="18" charset="0"/>
                              </a:rPr>
                            </m:ctrlPr>
                          </m:sSubPr>
                          <m:e>
                            <m:r>
                              <a:rPr lang="fr-FR" b="1" i="1" dirty="0" err="1">
                                <a:latin typeface="Cambria Math" panose="02040503050406030204" pitchFamily="18" charset="0"/>
                              </a:rPr>
                              <m:t>𝑿</m:t>
                            </m:r>
                          </m:e>
                          <m:sub>
                            <m:r>
                              <a:rPr lang="fr-FR" b="1" i="1" dirty="0">
                                <a:latin typeface="Cambria Math" panose="02040503050406030204" pitchFamily="18" charset="0"/>
                              </a:rPr>
                              <m:t>𝒎</m:t>
                            </m:r>
                          </m:sub>
                        </m:sSub>
                        <m:r>
                          <a:rPr lang="fr-FR" b="1" i="1" dirty="0" smtClean="0">
                            <a:latin typeface="Cambria Math" panose="02040503050406030204" pitchFamily="18" charset="0"/>
                          </a:rPr>
                          <m:t>, </m:t>
                        </m:r>
                        <m:r>
                          <a:rPr lang="fr-FR" altLang="fr-FR" b="1" i="1" dirty="0">
                            <a:latin typeface="Cambria Math" panose="02040503050406030204" pitchFamily="18" charset="0"/>
                            <a:ea typeface="Cambria Math" panose="02040503050406030204" pitchFamily="18" charset="0"/>
                          </a:rPr>
                          <m:t>∅</m:t>
                        </m:r>
                      </m:e>
                    </m:d>
                  </m:oMath>
                </a14:m>
                <a:r>
                  <a:rPr lang="fr-FR" altLang="fr-FR" dirty="0"/>
                  <a:t>. </a:t>
                </a:r>
              </a:p>
            </p:txBody>
          </p:sp>
        </mc:Choice>
        <mc:Fallback xmlns="">
          <p:sp>
            <p:nvSpPr>
              <p:cNvPr id="5" name="TextBox 4">
                <a:extLst>
                  <a:ext uri="{FF2B5EF4-FFF2-40B4-BE49-F238E27FC236}">
                    <a16:creationId xmlns:a16="http://schemas.microsoft.com/office/drawing/2014/main" id="{88113C83-592F-2197-E900-EE90997BED06}"/>
                  </a:ext>
                </a:extLst>
              </p:cNvPr>
              <p:cNvSpPr txBox="1">
                <a:spLocks noRot="1" noChangeAspect="1" noMove="1" noResize="1" noEditPoints="1" noAdjustHandles="1" noChangeArrowheads="1" noChangeShapeType="1" noTextEdit="1"/>
              </p:cNvSpPr>
              <p:nvPr/>
            </p:nvSpPr>
            <p:spPr>
              <a:xfrm>
                <a:off x="576301" y="1454751"/>
                <a:ext cx="8335931" cy="553998"/>
              </a:xfrm>
              <a:prstGeom prst="rect">
                <a:avLst/>
              </a:prstGeom>
              <a:blipFill>
                <a:blip r:embed="rId3"/>
                <a:stretch>
                  <a:fillRect l="-219" t="-3297" r="-293" b="-9890"/>
                </a:stretch>
              </a:blipFill>
            </p:spPr>
            <p:txBody>
              <a:bodyPr/>
              <a:lstStyle/>
              <a:p>
                <a:r>
                  <a:rPr lang="fr-FR">
                    <a:noFill/>
                  </a:rPr>
                  <a:t> </a:t>
                </a:r>
              </a:p>
            </p:txBody>
          </p:sp>
        </mc:Fallback>
      </mc:AlternateContent>
      <p:sp>
        <p:nvSpPr>
          <p:cNvPr id="3" name="TextBox 2">
            <a:extLst>
              <a:ext uri="{FF2B5EF4-FFF2-40B4-BE49-F238E27FC236}">
                <a16:creationId xmlns:a16="http://schemas.microsoft.com/office/drawing/2014/main" id="{EACCA36A-424C-A830-A15E-07BE281B87FC}"/>
              </a:ext>
            </a:extLst>
          </p:cNvPr>
          <p:cNvSpPr txBox="1"/>
          <p:nvPr/>
        </p:nvSpPr>
        <p:spPr>
          <a:xfrm>
            <a:off x="838200" y="2243925"/>
            <a:ext cx="4588778" cy="338554"/>
          </a:xfrm>
          <a:prstGeom prst="rect">
            <a:avLst/>
          </a:prstGeom>
          <a:noFill/>
        </p:spPr>
        <p:txBody>
          <a:bodyPr wrap="square">
            <a:spAutoFit/>
          </a:bodyPr>
          <a:lstStyle>
            <a:defPPr>
              <a:defRPr lang="fr-FR"/>
            </a:defPPr>
            <a:lvl1pPr marL="12700">
              <a:lnSpc>
                <a:spcPct val="100000"/>
              </a:lnSpc>
              <a:spcBef>
                <a:spcPts val="100"/>
              </a:spcBef>
              <a:defRPr sz="1200" b="1" u="sng" spc="-10">
                <a:uFill>
                  <a:solidFill>
                    <a:srgbClr val="000000"/>
                  </a:solidFill>
                </a:uFill>
                <a:latin typeface="Bookman Old Style" panose="02050604050505020204" pitchFamily="18" charset="0"/>
                <a:cs typeface="Times New Roman"/>
              </a:defRPr>
            </a:lvl1pPr>
          </a:lstStyle>
          <a:p>
            <a:r>
              <a:rPr lang="fr-FR" sz="1600" dirty="0">
                <a:solidFill>
                  <a:srgbClr val="0000FF"/>
                </a:solidFill>
              </a:rPr>
              <a:t>Application: </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439B14D-0058-2F2D-07D9-B6603250E635}"/>
                  </a:ext>
                </a:extLst>
              </p:cNvPr>
              <p:cNvSpPr txBox="1"/>
              <p:nvPr/>
            </p:nvSpPr>
            <p:spPr>
              <a:xfrm>
                <a:off x="3903529" y="2897148"/>
                <a:ext cx="2129622" cy="309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𝒖</m:t>
                          </m:r>
                        </m:e>
                        <m:sub>
                          <m:r>
                            <a:rPr lang="fr-FR" b="1" i="1" smtClean="0">
                              <a:latin typeface="Cambria Math" panose="02040503050406030204" pitchFamily="18" charset="0"/>
                            </a:rPr>
                            <m:t>𝟏</m:t>
                          </m:r>
                        </m:sub>
                      </m:sSub>
                      <m:r>
                        <a:rPr lang="fr-FR" b="1" i="1" smtClean="0">
                          <a:latin typeface="Cambria Math" panose="02040503050406030204" pitchFamily="18" charset="0"/>
                        </a:rPr>
                        <m:t>(</m:t>
                      </m:r>
                      <m:r>
                        <a:rPr lang="fr-FR" b="1" i="1" smtClean="0">
                          <a:latin typeface="Cambria Math" panose="02040503050406030204" pitchFamily="18" charset="0"/>
                        </a:rPr>
                        <m:t>𝒕</m:t>
                      </m:r>
                      <m:r>
                        <a:rPr lang="fr-FR" b="1" i="1" smtClean="0">
                          <a:latin typeface="Cambria Math" panose="02040503050406030204" pitchFamily="18" charset="0"/>
                        </a:rPr>
                        <m:t>)=</m:t>
                      </m:r>
                      <m:r>
                        <a:rPr lang="fr-FR" b="1" i="1" smtClean="0">
                          <a:latin typeface="Cambria Math" panose="02040503050406030204" pitchFamily="18" charset="0"/>
                        </a:rPr>
                        <m:t>𝟑</m:t>
                      </m:r>
                      <m:rad>
                        <m:radPr>
                          <m:degHide m:val="on"/>
                          <m:ctrlPr>
                            <a:rPr lang="fr-FR" b="1" i="1" smtClean="0">
                              <a:latin typeface="Cambria Math" panose="02040503050406030204" pitchFamily="18" charset="0"/>
                            </a:rPr>
                          </m:ctrlPr>
                        </m:radPr>
                        <m:deg/>
                        <m:e>
                          <m:r>
                            <a:rPr lang="fr-FR" b="1" i="1" smtClean="0">
                              <a:latin typeface="Cambria Math" panose="02040503050406030204" pitchFamily="18" charset="0"/>
                            </a:rPr>
                            <m:t>𝟐</m:t>
                          </m:r>
                        </m:e>
                      </m:rad>
                      <m:r>
                        <a:rPr lang="fr-FR" b="1" i="0" smtClean="0">
                          <a:latin typeface="Cambria Math" panose="02040503050406030204" pitchFamily="18" charset="0"/>
                        </a:rPr>
                        <m:t>𝐬𝐢𝐧</m:t>
                      </m:r>
                      <m:r>
                        <a:rPr lang="fr-FR" b="1" i="0" smtClean="0">
                          <a:latin typeface="Cambria Math" panose="02040503050406030204" pitchFamily="18" charset="0"/>
                        </a:rPr>
                        <m:t>(</m:t>
                      </m:r>
                      <m:r>
                        <a:rPr lang="el-GR" b="1" i="1" smtClean="0">
                          <a:latin typeface="Cambria Math" panose="02040503050406030204" pitchFamily="18" charset="0"/>
                          <a:ea typeface="Cambria Math" panose="02040503050406030204" pitchFamily="18" charset="0"/>
                        </a:rPr>
                        <m:t>𝝎</m:t>
                      </m:r>
                      <m:r>
                        <a:rPr lang="fr-FR" b="1" i="1" smtClean="0">
                          <a:latin typeface="Cambria Math" panose="02040503050406030204" pitchFamily="18" charset="0"/>
                          <a:ea typeface="Cambria Math" panose="02040503050406030204" pitchFamily="18" charset="0"/>
                        </a:rPr>
                        <m:t>𝒕</m:t>
                      </m:r>
                      <m:r>
                        <a:rPr lang="fr-FR" b="1" i="1" smtClean="0">
                          <a:latin typeface="Cambria Math" panose="02040503050406030204" pitchFamily="18" charset="0"/>
                          <a:ea typeface="Cambria Math" panose="02040503050406030204" pitchFamily="18" charset="0"/>
                        </a:rPr>
                        <m:t>)</m:t>
                      </m:r>
                    </m:oMath>
                  </m:oMathPara>
                </a14:m>
                <a:endParaRPr lang="fr-FR" b="1" dirty="0"/>
              </a:p>
            </p:txBody>
          </p:sp>
        </mc:Choice>
        <mc:Fallback xmlns="">
          <p:sp>
            <p:nvSpPr>
              <p:cNvPr id="11" name="TextBox 10">
                <a:extLst>
                  <a:ext uri="{FF2B5EF4-FFF2-40B4-BE49-F238E27FC236}">
                    <a16:creationId xmlns:a16="http://schemas.microsoft.com/office/drawing/2014/main" id="{D439B14D-0058-2F2D-07D9-B6603250E635}"/>
                  </a:ext>
                </a:extLst>
              </p:cNvPr>
              <p:cNvSpPr txBox="1">
                <a:spLocks noRot="1" noChangeAspect="1" noMove="1" noResize="1" noEditPoints="1" noAdjustHandles="1" noChangeArrowheads="1" noChangeShapeType="1" noTextEdit="1"/>
              </p:cNvSpPr>
              <p:nvPr/>
            </p:nvSpPr>
            <p:spPr>
              <a:xfrm>
                <a:off x="3903529" y="2897148"/>
                <a:ext cx="2129622" cy="309637"/>
              </a:xfrm>
              <a:prstGeom prst="rect">
                <a:avLst/>
              </a:prstGeom>
              <a:blipFill>
                <a:blip r:embed="rId4"/>
                <a:stretch>
                  <a:fillRect l="-1143" r="-3429" b="-31373"/>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EB9CA23-2B82-C15E-BD3E-A8731498A756}"/>
                  </a:ext>
                </a:extLst>
              </p:cNvPr>
              <p:cNvSpPr txBox="1"/>
              <p:nvPr/>
            </p:nvSpPr>
            <p:spPr>
              <a:xfrm>
                <a:off x="2963411" y="3385835"/>
                <a:ext cx="4588778" cy="4019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𝒖</m:t>
                          </m:r>
                        </m:e>
                        <m:sub>
                          <m:r>
                            <a:rPr lang="fr-FR" b="1" i="1" smtClean="0">
                              <a:latin typeface="Cambria Math" panose="02040503050406030204" pitchFamily="18" charset="0"/>
                            </a:rPr>
                            <m:t>𝟐</m:t>
                          </m:r>
                        </m:sub>
                      </m:sSub>
                      <m:r>
                        <a:rPr lang="fr-FR" b="1" i="1" smtClean="0">
                          <a:latin typeface="Cambria Math" panose="02040503050406030204" pitchFamily="18" charset="0"/>
                        </a:rPr>
                        <m:t>(</m:t>
                      </m:r>
                      <m:r>
                        <a:rPr lang="fr-FR" b="1" i="1" smtClean="0">
                          <a:latin typeface="Cambria Math" panose="02040503050406030204" pitchFamily="18" charset="0"/>
                        </a:rPr>
                        <m:t>𝒕</m:t>
                      </m:r>
                      <m:r>
                        <a:rPr lang="fr-FR" b="1" i="1" smtClean="0">
                          <a:latin typeface="Cambria Math" panose="02040503050406030204" pitchFamily="18" charset="0"/>
                        </a:rPr>
                        <m:t>)=</m:t>
                      </m:r>
                      <m:r>
                        <a:rPr lang="fr-FR" b="1" i="1" smtClean="0">
                          <a:latin typeface="Cambria Math" panose="02040503050406030204" pitchFamily="18" charset="0"/>
                        </a:rPr>
                        <m:t>𝟐</m:t>
                      </m:r>
                      <m:rad>
                        <m:radPr>
                          <m:degHide m:val="on"/>
                          <m:ctrlPr>
                            <a:rPr lang="fr-FR" b="1" i="1" smtClean="0">
                              <a:latin typeface="Cambria Math" panose="02040503050406030204" pitchFamily="18" charset="0"/>
                            </a:rPr>
                          </m:ctrlPr>
                        </m:radPr>
                        <m:deg/>
                        <m:e>
                          <m:r>
                            <a:rPr lang="fr-FR" b="1" i="1" smtClean="0">
                              <a:latin typeface="Cambria Math" panose="02040503050406030204" pitchFamily="18" charset="0"/>
                            </a:rPr>
                            <m:t>𝟐</m:t>
                          </m:r>
                        </m:e>
                      </m:rad>
                      <m:r>
                        <a:rPr lang="fr-FR" b="1" i="0" smtClean="0">
                          <a:latin typeface="Cambria Math" panose="02040503050406030204" pitchFamily="18" charset="0"/>
                        </a:rPr>
                        <m:t>𝐬𝐢𝐧</m:t>
                      </m:r>
                      <m:r>
                        <a:rPr lang="fr-FR" b="1" i="0" smtClean="0">
                          <a:latin typeface="Cambria Math" panose="02040503050406030204" pitchFamily="18" charset="0"/>
                        </a:rPr>
                        <m:t>(</m:t>
                      </m:r>
                      <m:r>
                        <a:rPr lang="el-GR" b="1" i="1" smtClean="0">
                          <a:latin typeface="Cambria Math" panose="02040503050406030204" pitchFamily="18" charset="0"/>
                          <a:ea typeface="Cambria Math" panose="02040503050406030204" pitchFamily="18" charset="0"/>
                        </a:rPr>
                        <m:t>𝝎</m:t>
                      </m:r>
                      <m:r>
                        <a:rPr lang="fr-FR" b="1" i="1" smtClean="0">
                          <a:latin typeface="Cambria Math" panose="02040503050406030204" pitchFamily="18" charset="0"/>
                          <a:ea typeface="Cambria Math" panose="02040503050406030204" pitchFamily="18" charset="0"/>
                        </a:rPr>
                        <m:t>𝒕</m:t>
                      </m:r>
                      <m:r>
                        <a:rPr lang="fr-FR" b="1" i="1" smtClean="0">
                          <a:latin typeface="Cambria Math" panose="02040503050406030204" pitchFamily="18" charset="0"/>
                          <a:ea typeface="Cambria Math" panose="02040503050406030204" pitchFamily="18" charset="0"/>
                        </a:rPr>
                        <m:t>−</m:t>
                      </m:r>
                      <m:r>
                        <m:rPr>
                          <m:sty m:val="p"/>
                        </m:rPr>
                        <a:rPr lang="el-GR" b="1" i="1" smtClean="0">
                          <a:latin typeface="Cambria Math" panose="02040503050406030204" pitchFamily="18" charset="0"/>
                          <a:ea typeface="Cambria Math" panose="02040503050406030204" pitchFamily="18" charset="0"/>
                        </a:rPr>
                        <m:t>π</m:t>
                      </m:r>
                      <m:r>
                        <a:rPr lang="fr-FR" b="1" i="1" smtClean="0">
                          <a:latin typeface="Cambria Math" panose="02040503050406030204" pitchFamily="18" charset="0"/>
                          <a:ea typeface="Cambria Math" panose="02040503050406030204" pitchFamily="18" charset="0"/>
                        </a:rPr>
                        <m:t>/</m:t>
                      </m:r>
                      <m:r>
                        <a:rPr lang="fr-FR" b="1" i="1" smtClean="0">
                          <a:latin typeface="Cambria Math" panose="02040503050406030204" pitchFamily="18" charset="0"/>
                          <a:ea typeface="Cambria Math" panose="02040503050406030204" pitchFamily="18" charset="0"/>
                        </a:rPr>
                        <m:t>𝟒</m:t>
                      </m:r>
                      <m:r>
                        <a:rPr lang="fr-FR" b="1" i="1" smtClean="0">
                          <a:latin typeface="Cambria Math" panose="02040503050406030204" pitchFamily="18" charset="0"/>
                          <a:ea typeface="Cambria Math" panose="02040503050406030204" pitchFamily="18" charset="0"/>
                        </a:rPr>
                        <m:t>)</m:t>
                      </m:r>
                    </m:oMath>
                  </m:oMathPara>
                </a14:m>
                <a:endParaRPr lang="fr-FR" b="1" dirty="0"/>
              </a:p>
            </p:txBody>
          </p:sp>
        </mc:Choice>
        <mc:Fallback xmlns="">
          <p:sp>
            <p:nvSpPr>
              <p:cNvPr id="21" name="TextBox 20">
                <a:extLst>
                  <a:ext uri="{FF2B5EF4-FFF2-40B4-BE49-F238E27FC236}">
                    <a16:creationId xmlns:a16="http://schemas.microsoft.com/office/drawing/2014/main" id="{9EB9CA23-2B82-C15E-BD3E-A8731498A756}"/>
                  </a:ext>
                </a:extLst>
              </p:cNvPr>
              <p:cNvSpPr txBox="1">
                <a:spLocks noRot="1" noChangeAspect="1" noMove="1" noResize="1" noEditPoints="1" noAdjustHandles="1" noChangeArrowheads="1" noChangeShapeType="1" noTextEdit="1"/>
              </p:cNvSpPr>
              <p:nvPr/>
            </p:nvSpPr>
            <p:spPr>
              <a:xfrm>
                <a:off x="2963411" y="3385835"/>
                <a:ext cx="4588778" cy="401970"/>
              </a:xfrm>
              <a:prstGeom prst="rect">
                <a:avLst/>
              </a:prstGeom>
              <a:blipFill>
                <a:blip r:embed="rId5"/>
                <a:stretch>
                  <a:fillRect b="-13636"/>
                </a:stretch>
              </a:blipFill>
            </p:spPr>
            <p:txBody>
              <a:bodyPr/>
              <a:lstStyle/>
              <a:p>
                <a:r>
                  <a:rPr lang="fr-FR">
                    <a:noFill/>
                  </a:rPr>
                  <a:t> </a:t>
                </a:r>
              </a:p>
            </p:txBody>
          </p:sp>
        </mc:Fallback>
      </mc:AlternateContent>
    </p:spTree>
    <p:extLst>
      <p:ext uri="{BB962C8B-B14F-4D97-AF65-F5344CB8AC3E}">
        <p14:creationId xmlns:p14="http://schemas.microsoft.com/office/powerpoint/2010/main" val="411851392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67</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4.4 </a:t>
            </a:r>
            <a:r>
              <a:rPr lang="fr-FR" altLang="fr-FR" sz="1400" b="1" spc="-5" dirty="0">
                <a:solidFill>
                  <a:srgbClr val="CC00CC"/>
                </a:solidFill>
                <a:latin typeface="Bookman Old Style" panose="02050604050505020204" pitchFamily="18" charset="0"/>
                <a:cs typeface="Arial"/>
              </a:rPr>
              <a:t>Impédance et admittance</a:t>
            </a:r>
          </a:p>
          <a:p>
            <a:pPr marL="12065" lvl="1">
              <a:lnSpc>
                <a:spcPct val="100000"/>
              </a:lnSpc>
              <a:spcBef>
                <a:spcPts val="100"/>
              </a:spcBef>
              <a:tabLst>
                <a:tab pos="393700" algn="l"/>
              </a:tabLst>
            </a:pPr>
            <a:r>
              <a:rPr lang="fr-FR" altLang="fr-FR" sz="1400" b="1" spc="-5" dirty="0">
                <a:solidFill>
                  <a:srgbClr val="C00000"/>
                </a:solidFill>
                <a:latin typeface="Bookman Old Style" panose="02050604050505020204" pitchFamily="18" charset="0"/>
                <a:cs typeface="Arial"/>
              </a:rPr>
              <a:t>    A. Définitions </a:t>
            </a:r>
            <a:endParaRPr lang="fr-FR" sz="1400" b="1" spc="-5" dirty="0">
              <a:solidFill>
                <a:srgbClr val="C00000"/>
              </a:solidFill>
              <a:latin typeface="Bookman Old Style" panose="02050604050505020204" pitchFamily="18" charset="0"/>
              <a:cs typeface="Aria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8113C83-592F-2197-E900-EE90997BED06}"/>
                  </a:ext>
                </a:extLst>
              </p:cNvPr>
              <p:cNvSpPr txBox="1"/>
              <p:nvPr/>
            </p:nvSpPr>
            <p:spPr>
              <a:xfrm>
                <a:off x="228617" y="1330076"/>
                <a:ext cx="8683616" cy="3801041"/>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500">
                    <a:latin typeface="Bookman Old Style" panose="02050604050505020204" pitchFamily="18" charset="0"/>
                    <a:cs typeface="Browallia New" panose="020B0604020202020204" pitchFamily="34" charset="-34"/>
                  </a:defRPr>
                </a:lvl1pPr>
              </a:lstStyle>
              <a:p>
                <a:pPr marL="685800"/>
                <a:endParaRPr lang="fr-FR" b="1" dirty="0">
                  <a:cs typeface="Times New Roman" pitchFamily="18" charset="0"/>
                </a:endParaRPr>
              </a:p>
              <a:p>
                <a:pPr marL="685800"/>
                <a:r>
                  <a:rPr lang="fr-FR" b="1" dirty="0">
                    <a:cs typeface="Times New Roman" pitchFamily="18" charset="0"/>
                  </a:rPr>
                  <a:t>L’impédance complexe </a:t>
                </a:r>
                <a:r>
                  <a:rPr lang="fr-FR" b="1" u="sng" dirty="0">
                    <a:cs typeface="Times New Roman" pitchFamily="18" charset="0"/>
                  </a:rPr>
                  <a:t>Z</a:t>
                </a:r>
                <a:r>
                  <a:rPr lang="fr-FR" dirty="0">
                    <a:cs typeface="Times New Roman" pitchFamily="18" charset="0"/>
                  </a:rPr>
                  <a:t> d’un dipôle en régime permanent sinusoïdal est le quotient de la tension complexe </a:t>
                </a:r>
                <a:r>
                  <a:rPr lang="fr-FR" b="1" i="1" u="sng" dirty="0">
                    <a:cs typeface="Times New Roman" pitchFamily="18" charset="0"/>
                  </a:rPr>
                  <a:t>v</a:t>
                </a:r>
                <a:r>
                  <a:rPr lang="fr-FR" dirty="0">
                    <a:cs typeface="Times New Roman" pitchFamily="18" charset="0"/>
                  </a:rPr>
                  <a:t> par le courant complexe </a:t>
                </a:r>
                <a:r>
                  <a:rPr lang="fr-FR" b="1" i="1" u="sng" dirty="0">
                    <a:cs typeface="Times New Roman" pitchFamily="18" charset="0"/>
                  </a:rPr>
                  <a:t>i </a:t>
                </a:r>
                <a:r>
                  <a:rPr lang="fr-FR" dirty="0">
                    <a:cs typeface="Times New Roman" pitchFamily="18" charset="0"/>
                  </a:rPr>
                  <a:t>:</a:t>
                </a:r>
              </a:p>
              <a:p>
                <a:pPr marL="400050" indent="0">
                  <a:buNone/>
                </a:pPr>
                <a:endParaRPr lang="fr-FR" dirty="0">
                  <a:cs typeface="Times New Roman" pitchFamily="18" charset="0"/>
                </a:endParaRPr>
              </a:p>
              <a:p>
                <a:pPr marL="400050" indent="0">
                  <a:buNone/>
                </a:pPr>
                <a:endParaRPr lang="fr-FR" dirty="0">
                  <a:cs typeface="Times New Roman" pitchFamily="18" charset="0"/>
                </a:endParaRPr>
              </a:p>
              <a:p>
                <a:pPr marL="400050" indent="0">
                  <a:buNone/>
                </a:pPr>
                <a:endParaRPr lang="fr-FR" dirty="0">
                  <a:cs typeface="Times New Roman" pitchFamily="18" charset="0"/>
                </a:endParaRPr>
              </a:p>
              <a:p>
                <a:pPr marL="400050" indent="0">
                  <a:buNone/>
                </a:pPr>
                <a:endParaRPr lang="fr-FR" dirty="0">
                  <a:cs typeface="Times New Roman" pitchFamily="18" charset="0"/>
                </a:endParaRPr>
              </a:p>
              <a:p>
                <a:pPr marL="400050" indent="0">
                  <a:buNone/>
                </a:pPr>
                <a:endParaRPr lang="fr-FR" dirty="0">
                  <a:cs typeface="Times New Roman" pitchFamily="18" charset="0"/>
                </a:endParaRPr>
              </a:p>
              <a:p>
                <a:pPr marL="400050" indent="0">
                  <a:buNone/>
                </a:pPr>
                <a:r>
                  <a:rPr lang="fr-FR" dirty="0">
                    <a:cs typeface="Times New Roman" pitchFamily="18" charset="0"/>
                  </a:rPr>
                  <a:t>Avec </a:t>
                </a:r>
                <a:r>
                  <a:rPr lang="fr-FR" b="1" dirty="0">
                    <a:cs typeface="Times New Roman" pitchFamily="18" charset="0"/>
                  </a:rPr>
                  <a:t>Z</a:t>
                </a:r>
                <a:r>
                  <a:rPr lang="fr-FR" dirty="0">
                    <a:cs typeface="Times New Roman" pitchFamily="18" charset="0"/>
                  </a:rPr>
                  <a:t> est le module et </a:t>
                </a:r>
                <a14:m>
                  <m:oMath xmlns:m="http://schemas.openxmlformats.org/officeDocument/2006/math">
                    <m:r>
                      <a:rPr lang="fr-FR" b="1" i="1" dirty="0" smtClean="0">
                        <a:latin typeface="Cambria Math" panose="02040503050406030204" pitchFamily="18" charset="0"/>
                        <a:ea typeface="Cambria Math" panose="02040503050406030204" pitchFamily="18" charset="0"/>
                        <a:cs typeface="Times New Roman" pitchFamily="18" charset="0"/>
                      </a:rPr>
                      <m:t>𝝋</m:t>
                    </m:r>
                  </m:oMath>
                </a14:m>
                <a:r>
                  <a:rPr lang="fr-FR" dirty="0">
                    <a:cs typeface="Times New Roman" pitchFamily="18" charset="0"/>
                  </a:rPr>
                  <a:t> le déphasage.</a:t>
                </a:r>
              </a:p>
              <a:p>
                <a:pPr marL="400050" indent="0">
                  <a:buNone/>
                </a:pPr>
                <a:endParaRPr lang="fr-FR" dirty="0">
                  <a:cs typeface="Times New Roman" pitchFamily="18" charset="0"/>
                </a:endParaRPr>
              </a:p>
              <a:p>
                <a:pPr marL="685800"/>
                <a:r>
                  <a:rPr lang="fr-FR" sz="1600" dirty="0">
                    <a:cs typeface="Times New Roman" pitchFamily="18" charset="0"/>
                  </a:rPr>
                  <a:t>L’</a:t>
                </a:r>
                <a:r>
                  <a:rPr lang="fr-FR" dirty="0">
                    <a:cs typeface="Times New Roman" pitchFamily="18" charset="0"/>
                  </a:rPr>
                  <a:t>admittance complexe </a:t>
                </a:r>
                <a:r>
                  <a:rPr lang="fr-FR" b="1" dirty="0">
                    <a:cs typeface="Times New Roman" pitchFamily="18" charset="0"/>
                  </a:rPr>
                  <a:t>Y</a:t>
                </a:r>
                <a:r>
                  <a:rPr lang="fr-FR" dirty="0">
                    <a:cs typeface="Times New Roman" pitchFamily="18" charset="0"/>
                  </a:rPr>
                  <a:t> est </a:t>
                </a:r>
                <a:r>
                  <a:rPr lang="fr-FR" b="1" dirty="0">
                    <a:cs typeface="Times New Roman" pitchFamily="18" charset="0"/>
                  </a:rPr>
                  <a:t>l’inverse</a:t>
                </a:r>
                <a:r>
                  <a:rPr lang="fr-FR" dirty="0">
                    <a:cs typeface="Times New Roman" pitchFamily="18" charset="0"/>
                  </a:rPr>
                  <a:t> de l’impédance complexe:</a:t>
                </a:r>
              </a:p>
              <a:p>
                <a:pPr marL="400050" indent="0">
                  <a:buNone/>
                </a:pPr>
                <a:r>
                  <a:rPr lang="fr-FR" dirty="0">
                    <a:cs typeface="Times New Roman" pitchFamily="18" charset="0"/>
                  </a:rPr>
                  <a:t> </a:t>
                </a:r>
              </a:p>
              <a:p>
                <a:pPr marL="400050" indent="0">
                  <a:buNone/>
                </a:pPr>
                <a:endParaRPr lang="fr-FR" dirty="0">
                  <a:cs typeface="Times New Roman" pitchFamily="18" charset="0"/>
                </a:endParaRPr>
              </a:p>
              <a:p>
                <a:pPr marL="400050" indent="0">
                  <a:buNone/>
                </a:pPr>
                <a:endParaRPr lang="fr-FR" dirty="0">
                  <a:cs typeface="Times New Roman" pitchFamily="18" charset="0"/>
                </a:endParaRPr>
              </a:p>
              <a:p>
                <a:pPr marL="400050" indent="0">
                  <a:buNone/>
                </a:pPr>
                <a:endParaRPr lang="fr-FR" dirty="0">
                  <a:cs typeface="Times New Roman" pitchFamily="18" charset="0"/>
                </a:endParaRPr>
              </a:p>
              <a:p>
                <a:pPr marL="0" indent="0">
                  <a:buNone/>
                </a:pPr>
                <a:r>
                  <a:rPr lang="fr-FR" altLang="fr-FR" dirty="0"/>
                  <a:t> </a:t>
                </a:r>
              </a:p>
            </p:txBody>
          </p:sp>
        </mc:Choice>
        <mc:Fallback xmlns="">
          <p:sp>
            <p:nvSpPr>
              <p:cNvPr id="5" name="TextBox 4">
                <a:extLst>
                  <a:ext uri="{FF2B5EF4-FFF2-40B4-BE49-F238E27FC236}">
                    <a16:creationId xmlns:a16="http://schemas.microsoft.com/office/drawing/2014/main" id="{88113C83-592F-2197-E900-EE90997BED06}"/>
                  </a:ext>
                </a:extLst>
              </p:cNvPr>
              <p:cNvSpPr txBox="1">
                <a:spLocks noRot="1" noChangeAspect="1" noMove="1" noResize="1" noEditPoints="1" noAdjustHandles="1" noChangeArrowheads="1" noChangeShapeType="1" noTextEdit="1"/>
              </p:cNvSpPr>
              <p:nvPr/>
            </p:nvSpPr>
            <p:spPr>
              <a:xfrm>
                <a:off x="228617" y="1330076"/>
                <a:ext cx="8683616" cy="3801041"/>
              </a:xfrm>
              <a:prstGeom prst="rect">
                <a:avLst/>
              </a:prstGeom>
              <a:blipFill>
                <a:blip r:embed="rId3"/>
                <a:stretch>
                  <a:fillRect r="-281"/>
                </a:stretch>
              </a:blipFill>
            </p:spPr>
            <p:txBody>
              <a:bodyPr/>
              <a:lstStyle/>
              <a:p>
                <a:r>
                  <a:rPr lang="fr-FR">
                    <a:noFill/>
                  </a:rPr>
                  <a:t> </a:t>
                </a:r>
              </a:p>
            </p:txBody>
          </p:sp>
        </mc:Fallback>
      </mc:AlternateContent>
      <p:graphicFrame>
        <p:nvGraphicFramePr>
          <p:cNvPr id="3" name="Objet 4">
            <a:extLst>
              <a:ext uri="{FF2B5EF4-FFF2-40B4-BE49-F238E27FC236}">
                <a16:creationId xmlns:a16="http://schemas.microsoft.com/office/drawing/2014/main" id="{6A47B486-42B5-AA5D-C714-8E824735228F}"/>
              </a:ext>
            </a:extLst>
          </p:cNvPr>
          <p:cNvGraphicFramePr>
            <a:graphicFrameLocks noChangeAspect="1"/>
          </p:cNvGraphicFramePr>
          <p:nvPr>
            <p:extLst>
              <p:ext uri="{D42A27DB-BD31-4B8C-83A1-F6EECF244321}">
                <p14:modId xmlns:p14="http://schemas.microsoft.com/office/powerpoint/2010/main" val="2740103501"/>
              </p:ext>
            </p:extLst>
          </p:nvPr>
        </p:nvGraphicFramePr>
        <p:xfrm>
          <a:off x="2579700" y="2141983"/>
          <a:ext cx="3981450" cy="930275"/>
        </p:xfrm>
        <a:graphic>
          <a:graphicData uri="http://schemas.openxmlformats.org/presentationml/2006/ole">
            <mc:AlternateContent xmlns:mc="http://schemas.openxmlformats.org/markup-compatibility/2006">
              <mc:Choice xmlns:v="urn:schemas-microsoft-com:vml" Requires="v">
                <p:oleObj name="Équation" r:id="rId4" imgW="1955520" imgH="457200" progId="Equation.3">
                  <p:embed/>
                </p:oleObj>
              </mc:Choice>
              <mc:Fallback>
                <p:oleObj name="Équation" r:id="rId4" imgW="1955520" imgH="457200" progId="Equation.3">
                  <p:embed/>
                  <p:pic>
                    <p:nvPicPr>
                      <p:cNvPr id="5" name="Obje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79700" y="2141983"/>
                        <a:ext cx="3981450" cy="930275"/>
                      </a:xfrm>
                      <a:prstGeom prst="rect">
                        <a:avLst/>
                      </a:prstGeom>
                      <a:noFill/>
                    </p:spPr>
                  </p:pic>
                </p:oleObj>
              </mc:Fallback>
            </mc:AlternateContent>
          </a:graphicData>
        </a:graphic>
      </p:graphicFrame>
      <p:graphicFrame>
        <p:nvGraphicFramePr>
          <p:cNvPr id="11" name="Object 3">
            <a:extLst>
              <a:ext uri="{FF2B5EF4-FFF2-40B4-BE49-F238E27FC236}">
                <a16:creationId xmlns:a16="http://schemas.microsoft.com/office/drawing/2014/main" id="{BE706B00-C5DC-2D75-8600-90B852AD3A10}"/>
              </a:ext>
            </a:extLst>
          </p:cNvPr>
          <p:cNvGraphicFramePr>
            <a:graphicFrameLocks noChangeAspect="1"/>
          </p:cNvGraphicFramePr>
          <p:nvPr>
            <p:extLst>
              <p:ext uri="{D42A27DB-BD31-4B8C-83A1-F6EECF244321}">
                <p14:modId xmlns:p14="http://schemas.microsoft.com/office/powerpoint/2010/main" val="1757126725"/>
              </p:ext>
            </p:extLst>
          </p:nvPr>
        </p:nvGraphicFramePr>
        <p:xfrm>
          <a:off x="3581400" y="4154560"/>
          <a:ext cx="1440160" cy="862653"/>
        </p:xfrm>
        <a:graphic>
          <a:graphicData uri="http://schemas.openxmlformats.org/presentationml/2006/ole">
            <mc:AlternateContent xmlns:mc="http://schemas.openxmlformats.org/markup-compatibility/2006">
              <mc:Choice xmlns:v="urn:schemas-microsoft-com:vml" Requires="v">
                <p:oleObj name="Équation" r:id="rId6" imgW="698400" imgH="419040" progId="Equation.3">
                  <p:embed/>
                </p:oleObj>
              </mc:Choice>
              <mc:Fallback>
                <p:oleObj name="Équation" r:id="rId6" imgW="698400" imgH="419040" progId="Equation.3">
                  <p:embed/>
                  <p:pic>
                    <p:nvPicPr>
                      <p:cNvPr id="1027"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581400" y="4154560"/>
                        <a:ext cx="1440160" cy="862653"/>
                      </a:xfrm>
                      <a:prstGeom prst="rect">
                        <a:avLst/>
                      </a:prstGeom>
                      <a:noFill/>
                    </p:spPr>
                  </p:pic>
                </p:oleObj>
              </mc:Fallback>
            </mc:AlternateContent>
          </a:graphicData>
        </a:graphic>
      </p:graphicFrame>
    </p:spTree>
    <p:extLst>
      <p:ext uri="{BB962C8B-B14F-4D97-AF65-F5344CB8AC3E}">
        <p14:creationId xmlns:p14="http://schemas.microsoft.com/office/powerpoint/2010/main" val="904243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68</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764312"/>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4.4 </a:t>
            </a:r>
            <a:r>
              <a:rPr lang="fr-FR" altLang="fr-FR" sz="1400" b="1" spc="-5" dirty="0">
                <a:solidFill>
                  <a:srgbClr val="CC00CC"/>
                </a:solidFill>
                <a:latin typeface="Bookman Old Style" panose="02050604050505020204" pitchFamily="18" charset="0"/>
                <a:cs typeface="Arial"/>
              </a:rPr>
              <a:t>Impédance et admittance</a:t>
            </a:r>
          </a:p>
          <a:p>
            <a:pPr marL="12065" lvl="1">
              <a:lnSpc>
                <a:spcPct val="100000"/>
              </a:lnSpc>
              <a:spcBef>
                <a:spcPts val="100"/>
              </a:spcBef>
              <a:tabLst>
                <a:tab pos="393700" algn="l"/>
              </a:tabLst>
            </a:pPr>
            <a:r>
              <a:rPr lang="fr-FR" altLang="fr-FR" sz="1400" b="1" spc="-5" dirty="0">
                <a:solidFill>
                  <a:srgbClr val="C00000"/>
                </a:solidFill>
                <a:latin typeface="Bookman Old Style" panose="02050604050505020204" pitchFamily="18" charset="0"/>
                <a:cs typeface="Arial"/>
              </a:rPr>
              <a:t>    B. Résistance et réactance </a:t>
            </a:r>
            <a:endParaRPr lang="fr-FR" sz="1400" b="1" spc="-5" dirty="0">
              <a:solidFill>
                <a:srgbClr val="C00000"/>
              </a:solidFill>
              <a:latin typeface="Bookman Old Style" panose="02050604050505020204" pitchFamily="18" charset="0"/>
              <a:cs typeface="Arial"/>
            </a:endParaRPr>
          </a:p>
          <a:p>
            <a:pPr marL="12065" lvl="1">
              <a:lnSpc>
                <a:spcPct val="100000"/>
              </a:lnSpc>
              <a:spcBef>
                <a:spcPts val="100"/>
              </a:spcBef>
              <a:tabLst>
                <a:tab pos="393700" algn="l"/>
              </a:tabLst>
            </a:pPr>
            <a:endParaRPr lang="fr-FR" sz="1400" b="1" spc="-5" dirty="0">
              <a:solidFill>
                <a:srgbClr val="CC00CC"/>
              </a:solidFill>
              <a:latin typeface="Bookman Old Style" panose="02050604050505020204" pitchFamily="18" charset="0"/>
              <a:cs typeface="Arial"/>
            </a:endParaRPr>
          </a:p>
        </p:txBody>
      </p:sp>
      <p:sp>
        <p:nvSpPr>
          <p:cNvPr id="13" name="TextBox 12">
            <a:extLst>
              <a:ext uri="{FF2B5EF4-FFF2-40B4-BE49-F238E27FC236}">
                <a16:creationId xmlns:a16="http://schemas.microsoft.com/office/drawing/2014/main" id="{184335E7-8CF7-728B-9130-8D3A45EE757A}"/>
              </a:ext>
            </a:extLst>
          </p:cNvPr>
          <p:cNvSpPr txBox="1"/>
          <p:nvPr/>
        </p:nvSpPr>
        <p:spPr>
          <a:xfrm>
            <a:off x="339776" y="1564712"/>
            <a:ext cx="8483166" cy="553998"/>
          </a:xfrm>
          <a:prstGeom prst="rect">
            <a:avLst/>
          </a:prstGeom>
          <a:noFill/>
        </p:spPr>
        <p:txBody>
          <a:bodyPr wrap="square">
            <a:spAutoFit/>
          </a:bodyPr>
          <a:lstStyle/>
          <a:p>
            <a:pPr marL="685800" indent="-285750" algn="just">
              <a:buFont typeface="Wingdings" panose="05000000000000000000" pitchFamily="2" charset="2"/>
              <a:buChar char="q"/>
            </a:pPr>
            <a:r>
              <a:rPr lang="fr-FR" sz="1500" dirty="0">
                <a:latin typeface="Bookman Old Style" panose="02050604050505020204" pitchFamily="18" charset="0"/>
                <a:cs typeface="Times New Roman" pitchFamily="18" charset="0"/>
              </a:rPr>
              <a:t>La partie réelle de l’impédance complexe est appelée </a:t>
            </a:r>
            <a:r>
              <a:rPr lang="fr-FR" sz="1500" b="1" dirty="0">
                <a:latin typeface="Bookman Old Style" panose="02050604050505020204" pitchFamily="18" charset="0"/>
                <a:cs typeface="Times New Roman" pitchFamily="18" charset="0"/>
              </a:rPr>
              <a:t>résistance R </a:t>
            </a:r>
            <a:r>
              <a:rPr lang="fr-FR" sz="1500" dirty="0">
                <a:latin typeface="Bookman Old Style" panose="02050604050505020204" pitchFamily="18" charset="0"/>
                <a:cs typeface="Times New Roman" pitchFamily="18" charset="0"/>
              </a:rPr>
              <a:t>du dipôle correspondant :</a:t>
            </a:r>
          </a:p>
        </p:txBody>
      </p:sp>
      <p:graphicFrame>
        <p:nvGraphicFramePr>
          <p:cNvPr id="16" name="Object 2">
            <a:extLst>
              <a:ext uri="{FF2B5EF4-FFF2-40B4-BE49-F238E27FC236}">
                <a16:creationId xmlns:a16="http://schemas.microsoft.com/office/drawing/2014/main" id="{E83AA5A0-DE53-BACE-44CD-A1F97AED1BA5}"/>
              </a:ext>
            </a:extLst>
          </p:cNvPr>
          <p:cNvGraphicFramePr>
            <a:graphicFrameLocks noChangeAspect="1"/>
          </p:cNvGraphicFramePr>
          <p:nvPr>
            <p:extLst>
              <p:ext uri="{D42A27DB-BD31-4B8C-83A1-F6EECF244321}">
                <p14:modId xmlns:p14="http://schemas.microsoft.com/office/powerpoint/2010/main" val="2384176567"/>
              </p:ext>
            </p:extLst>
          </p:nvPr>
        </p:nvGraphicFramePr>
        <p:xfrm>
          <a:off x="3200399" y="2304312"/>
          <a:ext cx="2371725" cy="712788"/>
        </p:xfrm>
        <a:graphic>
          <a:graphicData uri="http://schemas.openxmlformats.org/presentationml/2006/ole">
            <mc:AlternateContent xmlns:mc="http://schemas.openxmlformats.org/markup-compatibility/2006">
              <mc:Choice xmlns:v="urn:schemas-microsoft-com:vml" Requires="v">
                <p:oleObj name="Équation" r:id="rId3" imgW="1307880" imgH="393480" progId="Equation.3">
                  <p:embed/>
                </p:oleObj>
              </mc:Choice>
              <mc:Fallback>
                <p:oleObj name="Équation" r:id="rId3" imgW="1307880" imgH="393480" progId="Equation.3">
                  <p:embed/>
                  <p:pic>
                    <p:nvPicPr>
                      <p:cNvPr id="11"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00399" y="2304312"/>
                        <a:ext cx="2371725" cy="7127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Box 19">
            <a:extLst>
              <a:ext uri="{FF2B5EF4-FFF2-40B4-BE49-F238E27FC236}">
                <a16:creationId xmlns:a16="http://schemas.microsoft.com/office/drawing/2014/main" id="{E3DA217E-0173-D9AC-967C-70311567D305}"/>
              </a:ext>
            </a:extLst>
          </p:cNvPr>
          <p:cNvSpPr txBox="1"/>
          <p:nvPr/>
        </p:nvSpPr>
        <p:spPr>
          <a:xfrm>
            <a:off x="339776" y="3213830"/>
            <a:ext cx="8758106" cy="1015663"/>
          </a:xfrm>
          <a:prstGeom prst="rect">
            <a:avLst/>
          </a:prstGeom>
          <a:noFill/>
        </p:spPr>
        <p:txBody>
          <a:bodyPr wrap="square">
            <a:spAutoFit/>
          </a:bodyPr>
          <a:lstStyle>
            <a:defPPr>
              <a:defRPr lang="fr-FR"/>
            </a:defPPr>
            <a:lvl1pPr marL="685800" indent="-285750" algn="just">
              <a:buFont typeface="Wingdings" panose="05000000000000000000" pitchFamily="2" charset="2"/>
              <a:buChar char="q"/>
              <a:defRPr sz="1500">
                <a:latin typeface="Bookman Old Style" panose="02050604050505020204" pitchFamily="18" charset="0"/>
                <a:cs typeface="Times New Roman" pitchFamily="18" charset="0"/>
              </a:defRPr>
            </a:lvl1pPr>
          </a:lstStyle>
          <a:p>
            <a:r>
              <a:rPr lang="fr-FR" dirty="0"/>
              <a:t>La partie imaginaire de l’impédance complexe est appelée la réactance X du dipôle correspondant : </a:t>
            </a:r>
          </a:p>
          <a:p>
            <a:pPr marL="400050" indent="0">
              <a:buNone/>
            </a:pPr>
            <a:endParaRPr lang="fr-FR" dirty="0"/>
          </a:p>
          <a:p>
            <a:pPr marL="400050" indent="0">
              <a:buNone/>
            </a:pPr>
            <a:endParaRPr lang="fr-FR" dirty="0"/>
          </a:p>
        </p:txBody>
      </p:sp>
      <p:graphicFrame>
        <p:nvGraphicFramePr>
          <p:cNvPr id="21" name="Object 3">
            <a:extLst>
              <a:ext uri="{FF2B5EF4-FFF2-40B4-BE49-F238E27FC236}">
                <a16:creationId xmlns:a16="http://schemas.microsoft.com/office/drawing/2014/main" id="{ED00B9CE-B132-92EC-487E-38AEDAAD4F46}"/>
              </a:ext>
            </a:extLst>
          </p:cNvPr>
          <p:cNvGraphicFramePr>
            <a:graphicFrameLocks noChangeAspect="1"/>
          </p:cNvGraphicFramePr>
          <p:nvPr>
            <p:extLst>
              <p:ext uri="{D42A27DB-BD31-4B8C-83A1-F6EECF244321}">
                <p14:modId xmlns:p14="http://schemas.microsoft.com/office/powerpoint/2010/main" val="1380379103"/>
              </p:ext>
            </p:extLst>
          </p:nvPr>
        </p:nvGraphicFramePr>
        <p:xfrm>
          <a:off x="3200399" y="4229493"/>
          <a:ext cx="2371725" cy="712787"/>
        </p:xfrm>
        <a:graphic>
          <a:graphicData uri="http://schemas.openxmlformats.org/presentationml/2006/ole">
            <mc:AlternateContent xmlns:mc="http://schemas.openxmlformats.org/markup-compatibility/2006">
              <mc:Choice xmlns:v="urn:schemas-microsoft-com:vml" Requires="v">
                <p:oleObj name="Équation" r:id="rId5" imgW="1307880" imgH="393480" progId="Equation.3">
                  <p:embed/>
                </p:oleObj>
              </mc:Choice>
              <mc:Fallback>
                <p:oleObj name="Équation" r:id="rId5" imgW="1307880" imgH="393480" progId="Equation.3">
                  <p:embed/>
                  <p:pic>
                    <p:nvPicPr>
                      <p:cNvPr id="12"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00399" y="4229493"/>
                        <a:ext cx="2371725" cy="7127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65735532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69</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4572000" cy="764312"/>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4.4 </a:t>
            </a:r>
            <a:r>
              <a:rPr lang="fr-FR" altLang="fr-FR" sz="1400" b="1" spc="-5" dirty="0">
                <a:solidFill>
                  <a:srgbClr val="CC00CC"/>
                </a:solidFill>
                <a:latin typeface="Bookman Old Style" panose="02050604050505020204" pitchFamily="18" charset="0"/>
                <a:cs typeface="Arial"/>
              </a:rPr>
              <a:t>Impédance et admittance</a:t>
            </a:r>
          </a:p>
          <a:p>
            <a:pPr marL="12065" lvl="1">
              <a:lnSpc>
                <a:spcPct val="100000"/>
              </a:lnSpc>
              <a:spcBef>
                <a:spcPts val="100"/>
              </a:spcBef>
              <a:tabLst>
                <a:tab pos="393700" algn="l"/>
              </a:tabLst>
            </a:pPr>
            <a:r>
              <a:rPr lang="fr-FR" altLang="fr-FR" sz="1400" b="1" spc="-5" dirty="0">
                <a:solidFill>
                  <a:srgbClr val="C00000"/>
                </a:solidFill>
                <a:latin typeface="Bookman Old Style" panose="02050604050505020204" pitchFamily="18" charset="0"/>
                <a:cs typeface="Arial"/>
              </a:rPr>
              <a:t>    C. Représentation complexe</a:t>
            </a:r>
            <a:endParaRPr lang="fr-FR" sz="1400" b="1" spc="-5" dirty="0">
              <a:solidFill>
                <a:srgbClr val="C00000"/>
              </a:solidFill>
              <a:latin typeface="Bookman Old Style" panose="02050604050505020204" pitchFamily="18" charset="0"/>
              <a:cs typeface="Arial"/>
            </a:endParaRPr>
          </a:p>
          <a:p>
            <a:pPr marL="12065" lvl="1">
              <a:lnSpc>
                <a:spcPct val="100000"/>
              </a:lnSpc>
              <a:spcBef>
                <a:spcPts val="100"/>
              </a:spcBef>
              <a:tabLst>
                <a:tab pos="393700" algn="l"/>
              </a:tabLst>
            </a:pPr>
            <a:endParaRPr lang="fr-FR" sz="1400" b="1" spc="-5" dirty="0">
              <a:solidFill>
                <a:srgbClr val="CC00CC"/>
              </a:solidFill>
              <a:latin typeface="Bookman Old Style" panose="02050604050505020204" pitchFamily="18" charset="0"/>
              <a:cs typeface="Arial"/>
            </a:endParaRPr>
          </a:p>
        </p:txBody>
      </p:sp>
      <p:sp>
        <p:nvSpPr>
          <p:cNvPr id="5" name="TextBox 4">
            <a:extLst>
              <a:ext uri="{FF2B5EF4-FFF2-40B4-BE49-F238E27FC236}">
                <a16:creationId xmlns:a16="http://schemas.microsoft.com/office/drawing/2014/main" id="{ECC40ACE-36D6-BD19-50FB-84A567DE3B8B}"/>
              </a:ext>
            </a:extLst>
          </p:cNvPr>
          <p:cNvSpPr txBox="1"/>
          <p:nvPr/>
        </p:nvSpPr>
        <p:spPr>
          <a:xfrm>
            <a:off x="304800" y="1504326"/>
            <a:ext cx="8374234" cy="1708160"/>
          </a:xfrm>
          <a:prstGeom prst="rect">
            <a:avLst/>
          </a:prstGeom>
          <a:noFill/>
        </p:spPr>
        <p:txBody>
          <a:bodyPr wrap="square">
            <a:spAutoFit/>
          </a:bodyPr>
          <a:lstStyle>
            <a:defPPr>
              <a:defRPr lang="fr-FR"/>
            </a:defPPr>
            <a:lvl1pPr marL="685800" indent="-285750" algn="just">
              <a:buFont typeface="Wingdings" panose="05000000000000000000" pitchFamily="2" charset="2"/>
              <a:buChar char="q"/>
              <a:defRPr sz="1500">
                <a:latin typeface="Bookman Old Style" panose="02050604050505020204" pitchFamily="18" charset="0"/>
                <a:cs typeface="Times New Roman" pitchFamily="18" charset="0"/>
              </a:defRPr>
            </a:lvl1pPr>
          </a:lstStyle>
          <a:p>
            <a:r>
              <a:rPr lang="fr-FR" dirty="0"/>
              <a:t>L’impédance complexe peut s’écrire sous les formes équivalentes :</a:t>
            </a:r>
          </a:p>
          <a:p>
            <a:endParaRPr lang="fr-FR" dirty="0"/>
          </a:p>
          <a:p>
            <a:endParaRPr lang="fr-FR" dirty="0"/>
          </a:p>
          <a:p>
            <a:endParaRPr lang="fr-FR" dirty="0"/>
          </a:p>
          <a:p>
            <a:pPr marL="400050" indent="0">
              <a:buNone/>
            </a:pPr>
            <a:r>
              <a:rPr lang="fr-FR" dirty="0"/>
              <a:t>Avec les équations de transformation :</a:t>
            </a:r>
          </a:p>
          <a:p>
            <a:pPr marL="400050" indent="0">
              <a:buNone/>
            </a:pPr>
            <a:endParaRPr lang="fr-FR" dirty="0"/>
          </a:p>
          <a:p>
            <a:pPr marL="400050" indent="0">
              <a:buNone/>
            </a:pPr>
            <a:endParaRPr lang="fr-FR" dirty="0"/>
          </a:p>
        </p:txBody>
      </p:sp>
      <p:graphicFrame>
        <p:nvGraphicFramePr>
          <p:cNvPr id="11" name="Object 3">
            <a:extLst>
              <a:ext uri="{FF2B5EF4-FFF2-40B4-BE49-F238E27FC236}">
                <a16:creationId xmlns:a16="http://schemas.microsoft.com/office/drawing/2014/main" id="{502050DE-69C3-9CA5-09E7-DC2B01E376C0}"/>
              </a:ext>
            </a:extLst>
          </p:cNvPr>
          <p:cNvGraphicFramePr>
            <a:graphicFrameLocks noChangeAspect="1"/>
          </p:cNvGraphicFramePr>
          <p:nvPr>
            <p:extLst>
              <p:ext uri="{D42A27DB-BD31-4B8C-83A1-F6EECF244321}">
                <p14:modId xmlns:p14="http://schemas.microsoft.com/office/powerpoint/2010/main" val="1569472950"/>
              </p:ext>
            </p:extLst>
          </p:nvPr>
        </p:nvGraphicFramePr>
        <p:xfrm>
          <a:off x="3657600" y="2074218"/>
          <a:ext cx="2034342" cy="385314"/>
        </p:xfrm>
        <a:graphic>
          <a:graphicData uri="http://schemas.openxmlformats.org/presentationml/2006/ole">
            <mc:AlternateContent xmlns:mc="http://schemas.openxmlformats.org/markup-compatibility/2006">
              <mc:Choice xmlns:v="urn:schemas-microsoft-com:vml" Requires="v">
                <p:oleObj name="Équation" r:id="rId3" imgW="1206360" imgH="228600" progId="Equation.3">
                  <p:embed/>
                </p:oleObj>
              </mc:Choice>
              <mc:Fallback>
                <p:oleObj name="Équation" r:id="rId3" imgW="1206360" imgH="228600" progId="Equation.3">
                  <p:embed/>
                  <p:pic>
                    <p:nvPicPr>
                      <p:cNvPr id="3075"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57600" y="2074218"/>
                        <a:ext cx="2034342" cy="385314"/>
                      </a:xfrm>
                      <a:prstGeom prst="rect">
                        <a:avLst/>
                      </a:prstGeom>
                      <a:noFill/>
                    </p:spPr>
                  </p:pic>
                </p:oleObj>
              </mc:Fallback>
            </mc:AlternateContent>
          </a:graphicData>
        </a:graphic>
      </p:graphicFrame>
      <p:graphicFrame>
        <p:nvGraphicFramePr>
          <p:cNvPr id="12" name="Object 4">
            <a:extLst>
              <a:ext uri="{FF2B5EF4-FFF2-40B4-BE49-F238E27FC236}">
                <a16:creationId xmlns:a16="http://schemas.microsoft.com/office/drawing/2014/main" id="{68CBA4B3-762D-D9CF-DAE8-B0EE9C7CDBEB}"/>
              </a:ext>
            </a:extLst>
          </p:cNvPr>
          <p:cNvGraphicFramePr>
            <a:graphicFrameLocks noChangeAspect="1"/>
          </p:cNvGraphicFramePr>
          <p:nvPr>
            <p:extLst>
              <p:ext uri="{D42A27DB-BD31-4B8C-83A1-F6EECF244321}">
                <p14:modId xmlns:p14="http://schemas.microsoft.com/office/powerpoint/2010/main" val="1216373355"/>
              </p:ext>
            </p:extLst>
          </p:nvPr>
        </p:nvGraphicFramePr>
        <p:xfrm>
          <a:off x="3699545" y="2791258"/>
          <a:ext cx="2514600" cy="726090"/>
        </p:xfrm>
        <a:graphic>
          <a:graphicData uri="http://schemas.openxmlformats.org/presentationml/2006/ole">
            <mc:AlternateContent xmlns:mc="http://schemas.openxmlformats.org/markup-compatibility/2006">
              <mc:Choice xmlns:v="urn:schemas-microsoft-com:vml" Requires="v">
                <p:oleObj name="Équation" r:id="rId5" imgW="2108160" imgH="609480" progId="Equation.3">
                  <p:embed/>
                </p:oleObj>
              </mc:Choice>
              <mc:Fallback>
                <p:oleObj name="Équation" r:id="rId5" imgW="2108160" imgH="609480" progId="Equation.3">
                  <p:embed/>
                  <p:pic>
                    <p:nvPicPr>
                      <p:cNvPr id="3076"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99545" y="2791258"/>
                        <a:ext cx="2514600" cy="726090"/>
                      </a:xfrm>
                      <a:prstGeom prst="rect">
                        <a:avLst/>
                      </a:prstGeom>
                      <a:noFill/>
                    </p:spPr>
                  </p:pic>
                </p:oleObj>
              </mc:Fallback>
            </mc:AlternateContent>
          </a:graphicData>
        </a:graphic>
      </p:graphicFrame>
      <p:sp>
        <p:nvSpPr>
          <p:cNvPr id="22" name="TextBox 21">
            <a:extLst>
              <a:ext uri="{FF2B5EF4-FFF2-40B4-BE49-F238E27FC236}">
                <a16:creationId xmlns:a16="http://schemas.microsoft.com/office/drawing/2014/main" id="{5050155A-98F9-2299-5BC1-D33ED9F02C3F}"/>
              </a:ext>
            </a:extLst>
          </p:cNvPr>
          <p:cNvSpPr txBox="1"/>
          <p:nvPr/>
        </p:nvSpPr>
        <p:spPr>
          <a:xfrm>
            <a:off x="400924" y="3604883"/>
            <a:ext cx="4588778" cy="323165"/>
          </a:xfrm>
          <a:prstGeom prst="rect">
            <a:avLst/>
          </a:prstGeom>
          <a:noFill/>
        </p:spPr>
        <p:txBody>
          <a:bodyPr wrap="square">
            <a:spAutoFit/>
          </a:bodyPr>
          <a:lstStyle/>
          <a:p>
            <a:pPr marL="685800" indent="-285750" algn="just">
              <a:buFont typeface="Wingdings" panose="05000000000000000000" pitchFamily="2" charset="2"/>
              <a:buChar char="q"/>
            </a:pPr>
            <a:r>
              <a:rPr lang="fr-FR" sz="1500" dirty="0">
                <a:latin typeface="Bookman Old Style" panose="02050604050505020204" pitchFamily="18" charset="0"/>
                <a:cs typeface="Times New Roman" pitchFamily="18" charset="0"/>
              </a:rPr>
              <a:t>On peut le représenter comme suit :</a:t>
            </a:r>
          </a:p>
        </p:txBody>
      </p:sp>
      <p:pic>
        <p:nvPicPr>
          <p:cNvPr id="23" name="Picture 2">
            <a:extLst>
              <a:ext uri="{FF2B5EF4-FFF2-40B4-BE49-F238E27FC236}">
                <a16:creationId xmlns:a16="http://schemas.microsoft.com/office/drawing/2014/main" id="{DE77255F-FD93-CB78-77BD-3ED073288AD7}"/>
              </a:ext>
            </a:extLst>
          </p:cNvPr>
          <p:cNvPicPr>
            <a:picLocks noChangeAspect="1" noChangeArrowheads="1"/>
          </p:cNvPicPr>
          <p:nvPr/>
        </p:nvPicPr>
        <p:blipFill rotWithShape="1">
          <a:blip r:embed="rId7"/>
          <a:srcRect t="2112" b="4619"/>
          <a:stretch/>
        </p:blipFill>
        <p:spPr bwMode="auto">
          <a:xfrm>
            <a:off x="4724400" y="3652629"/>
            <a:ext cx="2400300" cy="1437646"/>
          </a:xfrm>
          <a:prstGeom prst="rect">
            <a:avLst/>
          </a:prstGeom>
          <a:noFill/>
          <a:ln w="9525">
            <a:noFill/>
            <a:miter lim="800000"/>
            <a:headEnd/>
            <a:tailEnd/>
          </a:ln>
          <a:effectLst/>
        </p:spPr>
      </p:pic>
    </p:spTree>
    <p:extLst>
      <p:ext uri="{BB962C8B-B14F-4D97-AF65-F5344CB8AC3E}">
        <p14:creationId xmlns:p14="http://schemas.microsoft.com/office/powerpoint/2010/main" val="202074660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 name="Picture 2">
            <a:extLst>
              <a:ext uri="{FF2B5EF4-FFF2-40B4-BE49-F238E27FC236}">
                <a16:creationId xmlns:a16="http://schemas.microsoft.com/office/drawing/2014/main" id="{F72B46B0-404E-134C-5061-4F05759018DB}"/>
              </a:ext>
            </a:extLst>
          </p:cNvPr>
          <p:cNvPicPr>
            <a:picLocks noChangeAspect="1" noChangeArrowheads="1"/>
          </p:cNvPicPr>
          <p:nvPr/>
        </p:nvPicPr>
        <p:blipFill>
          <a:blip r:embed="rId3"/>
          <a:srcRect/>
          <a:stretch>
            <a:fillRect/>
          </a:stretch>
        </p:blipFill>
        <p:spPr bwMode="auto">
          <a:xfrm>
            <a:off x="6033151" y="3699785"/>
            <a:ext cx="1981200" cy="1320800"/>
          </a:xfrm>
          <a:prstGeom prst="rect">
            <a:avLst/>
          </a:prstGeom>
          <a:noFill/>
          <a:ln w="9525">
            <a:noFill/>
            <a:miter lim="800000"/>
            <a:headEnd/>
            <a:tailEnd/>
          </a:ln>
          <a:effectLst/>
        </p:spPr>
      </p:pic>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70</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4.4 </a:t>
            </a:r>
            <a:r>
              <a:rPr lang="fr-FR" altLang="fr-FR" sz="1400" b="1" spc="-5" dirty="0">
                <a:solidFill>
                  <a:srgbClr val="CC00CC"/>
                </a:solidFill>
                <a:latin typeface="Bookman Old Style" panose="02050604050505020204" pitchFamily="18" charset="0"/>
                <a:cs typeface="Arial"/>
              </a:rPr>
              <a:t>Impédance et admittance</a:t>
            </a:r>
          </a:p>
          <a:p>
            <a:pPr marL="12065" lvl="1">
              <a:lnSpc>
                <a:spcPct val="100000"/>
              </a:lnSpc>
              <a:spcBef>
                <a:spcPts val="100"/>
              </a:spcBef>
              <a:tabLst>
                <a:tab pos="393700" algn="l"/>
              </a:tabLst>
            </a:pPr>
            <a:r>
              <a:rPr lang="fr-FR" altLang="fr-FR" sz="1400" b="1" spc="-5" dirty="0">
                <a:solidFill>
                  <a:srgbClr val="C00000"/>
                </a:solidFill>
                <a:latin typeface="Bookman Old Style" panose="02050604050505020204" pitchFamily="18" charset="0"/>
                <a:cs typeface="Arial"/>
              </a:rPr>
              <a:t>    D. Impédances complexes des dipôles de base</a:t>
            </a:r>
            <a:endParaRPr lang="fr-FR" sz="1400" b="1" spc="-5" dirty="0">
              <a:solidFill>
                <a:srgbClr val="CC00CC"/>
              </a:solidFill>
              <a:latin typeface="Bookman Old Style" panose="02050604050505020204" pitchFamily="18" charset="0"/>
              <a:cs typeface="Arial"/>
            </a:endParaRPr>
          </a:p>
        </p:txBody>
      </p:sp>
      <p:sp>
        <p:nvSpPr>
          <p:cNvPr id="5" name="TextBox 4">
            <a:extLst>
              <a:ext uri="{FF2B5EF4-FFF2-40B4-BE49-F238E27FC236}">
                <a16:creationId xmlns:a16="http://schemas.microsoft.com/office/drawing/2014/main" id="{ECC40ACE-36D6-BD19-50FB-84A567DE3B8B}"/>
              </a:ext>
            </a:extLst>
          </p:cNvPr>
          <p:cNvSpPr txBox="1"/>
          <p:nvPr/>
        </p:nvSpPr>
        <p:spPr>
          <a:xfrm>
            <a:off x="550618" y="1413975"/>
            <a:ext cx="8374234" cy="800219"/>
          </a:xfrm>
          <a:prstGeom prst="rect">
            <a:avLst/>
          </a:prstGeom>
          <a:noFill/>
        </p:spPr>
        <p:txBody>
          <a:bodyPr wrap="square">
            <a:spAutoFit/>
          </a:bodyPr>
          <a:lstStyle>
            <a:defPPr>
              <a:defRPr lang="fr-FR"/>
            </a:defPPr>
            <a:lvl1pPr marL="685800" indent="-285750" algn="just">
              <a:buFont typeface="Wingdings" panose="05000000000000000000" pitchFamily="2" charset="2"/>
              <a:buChar char="q"/>
              <a:defRPr sz="1500">
                <a:latin typeface="Bookman Old Style" panose="02050604050505020204" pitchFamily="18" charset="0"/>
                <a:cs typeface="Times New Roman" pitchFamily="18" charset="0"/>
              </a:defRPr>
            </a:lvl1pPr>
          </a:lstStyle>
          <a:p>
            <a:pPr marL="400050" indent="0">
              <a:buNone/>
            </a:pPr>
            <a:r>
              <a:rPr lang="fr-FR" altLang="fr-FR" sz="1600" b="1" u="sng" dirty="0">
                <a:solidFill>
                  <a:srgbClr val="0000FF"/>
                </a:solidFill>
                <a:cs typeface="Browallia New" panose="020B0604020202020204" pitchFamily="34" charset="-34"/>
              </a:rPr>
              <a:t>Résistance:</a:t>
            </a:r>
            <a:endParaRPr lang="fr-FR" b="1" u="sng" dirty="0">
              <a:solidFill>
                <a:srgbClr val="0000FF"/>
              </a:solidFill>
            </a:endParaRPr>
          </a:p>
          <a:p>
            <a:pPr marL="400050" indent="0">
              <a:buNone/>
            </a:pPr>
            <a:endParaRPr lang="fr-FR" dirty="0"/>
          </a:p>
          <a:p>
            <a:pPr marL="400050" indent="0">
              <a:buNone/>
            </a:pPr>
            <a:endParaRPr lang="fr-FR" dirty="0"/>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BE12645-5035-20A9-4D72-D9CEFBF4605D}"/>
                  </a:ext>
                </a:extLst>
              </p:cNvPr>
              <p:cNvSpPr txBox="1"/>
              <p:nvPr/>
            </p:nvSpPr>
            <p:spPr>
              <a:xfrm>
                <a:off x="623875" y="1744084"/>
                <a:ext cx="8335931" cy="1815882"/>
              </a:xfrm>
              <a:prstGeom prst="rect">
                <a:avLst/>
              </a:prstGeom>
              <a:noFill/>
            </p:spPr>
            <p:txBody>
              <a:bodyPr wrap="square">
                <a:spAutoFit/>
              </a:bodyPr>
              <a:lstStyle/>
              <a:p>
                <a:pPr marL="285750" indent="-285750" algn="just">
                  <a:buFont typeface="Wingdings" panose="05000000000000000000" pitchFamily="2" charset="2"/>
                  <a:buChar char="q"/>
                </a:pPr>
                <a:r>
                  <a:rPr lang="fr-FR" sz="1400" dirty="0">
                    <a:latin typeface="Bookman Old Style" panose="02050604050505020204" pitchFamily="18" charset="0"/>
                    <a:cs typeface="Times New Roman" pitchFamily="18" charset="0"/>
                  </a:rPr>
                  <a:t>La relation en valeurs instantanées </a:t>
                </a:r>
                <a:r>
                  <a:rPr lang="fr-FR" sz="1400" b="1" i="1" dirty="0">
                    <a:latin typeface="Bookman Old Style" panose="02050604050505020204" pitchFamily="18" charset="0"/>
                    <a:cs typeface="Times New Roman" pitchFamily="18" charset="0"/>
                  </a:rPr>
                  <a:t>v</a:t>
                </a:r>
                <a:r>
                  <a:rPr lang="fr-FR" sz="1400" b="1" dirty="0">
                    <a:latin typeface="Bookman Old Style" panose="02050604050505020204" pitchFamily="18" charset="0"/>
                    <a:cs typeface="Times New Roman" pitchFamily="18" charset="0"/>
                  </a:rPr>
                  <a:t> = R*</a:t>
                </a:r>
                <a:r>
                  <a:rPr lang="fr-FR" sz="1400" b="1" i="1" dirty="0">
                    <a:latin typeface="Bookman Old Style" panose="02050604050505020204" pitchFamily="18" charset="0"/>
                    <a:cs typeface="Times New Roman" pitchFamily="18" charset="0"/>
                  </a:rPr>
                  <a:t>i</a:t>
                </a:r>
                <a:r>
                  <a:rPr lang="fr-FR" sz="1400" b="1" dirty="0">
                    <a:latin typeface="Bookman Old Style" panose="02050604050505020204" pitchFamily="18" charset="0"/>
                    <a:cs typeface="Times New Roman" pitchFamily="18" charset="0"/>
                  </a:rPr>
                  <a:t> </a:t>
                </a:r>
                <a:r>
                  <a:rPr lang="fr-FR" sz="1400" dirty="0">
                    <a:latin typeface="Bookman Old Style" panose="02050604050505020204" pitchFamily="18" charset="0"/>
                    <a:cs typeface="Times New Roman" pitchFamily="18" charset="0"/>
                  </a:rPr>
                  <a:t>entre la tension </a:t>
                </a:r>
                <a:r>
                  <a:rPr lang="fr-FR" sz="1400" b="1" i="1" dirty="0">
                    <a:latin typeface="Bookman Old Style" panose="02050604050505020204" pitchFamily="18" charset="0"/>
                    <a:cs typeface="Times New Roman" pitchFamily="18" charset="0"/>
                  </a:rPr>
                  <a:t>v</a:t>
                </a:r>
                <a:r>
                  <a:rPr lang="fr-FR" sz="1400" dirty="0">
                    <a:latin typeface="Bookman Old Style" panose="02050604050505020204" pitchFamily="18" charset="0"/>
                    <a:cs typeface="Times New Roman" pitchFamily="18" charset="0"/>
                  </a:rPr>
                  <a:t> et le courant</a:t>
                </a:r>
                <a:r>
                  <a:rPr lang="fr-FR" sz="1400" b="1" i="1" dirty="0">
                    <a:latin typeface="Bookman Old Style" panose="02050604050505020204" pitchFamily="18" charset="0"/>
                    <a:cs typeface="Times New Roman" pitchFamily="18" charset="0"/>
                  </a:rPr>
                  <a:t> i </a:t>
                </a:r>
                <a:r>
                  <a:rPr lang="fr-FR" sz="1400" dirty="0">
                    <a:latin typeface="Bookman Old Style" panose="02050604050505020204" pitchFamily="18" charset="0"/>
                    <a:cs typeface="Times New Roman" pitchFamily="18" charset="0"/>
                  </a:rPr>
                  <a:t>dans une résistance </a:t>
                </a:r>
                <a:r>
                  <a:rPr lang="fr-FR" sz="1400" b="1" dirty="0">
                    <a:latin typeface="Bookman Old Style" panose="02050604050505020204" pitchFamily="18" charset="0"/>
                    <a:cs typeface="Times New Roman" pitchFamily="18" charset="0"/>
                  </a:rPr>
                  <a:t>R</a:t>
                </a:r>
                <a:r>
                  <a:rPr lang="fr-FR" sz="1400" dirty="0">
                    <a:latin typeface="Bookman Old Style" panose="02050604050505020204" pitchFamily="18" charset="0"/>
                    <a:cs typeface="Times New Roman" pitchFamily="18" charset="0"/>
                  </a:rPr>
                  <a:t> se traduit pour le régime sinusoïdal en valeur complexe par :</a:t>
                </a:r>
              </a:p>
              <a:p>
                <a:pPr algn="just"/>
                <a:endParaRPr lang="fr-FR" sz="1400" dirty="0">
                  <a:latin typeface="Bookman Old Style" panose="02050604050505020204" pitchFamily="18" charset="0"/>
                  <a:cs typeface="Times New Roman" pitchFamily="18" charset="0"/>
                </a:endParaRPr>
              </a:p>
              <a:p>
                <a:pPr indent="0" algn="ctr">
                  <a:buNone/>
                </a:pPr>
                <a:r>
                  <a:rPr lang="fr-FR" sz="1400" dirty="0">
                    <a:latin typeface="Bookman Old Style" panose="02050604050505020204" pitchFamily="18" charset="0"/>
                    <a:cs typeface="Times New Roman" pitchFamily="18" charset="0"/>
                  </a:rPr>
                  <a:t>  </a:t>
                </a:r>
                <a:r>
                  <a:rPr lang="fr-FR" sz="1400" b="1" u="sng" dirty="0">
                    <a:latin typeface="Bookman Old Style" panose="02050604050505020204" pitchFamily="18" charset="0"/>
                    <a:cs typeface="Times New Roman" pitchFamily="18" charset="0"/>
                  </a:rPr>
                  <a:t>V</a:t>
                </a:r>
                <a:r>
                  <a:rPr lang="fr-FR" sz="1400" b="1" dirty="0">
                    <a:latin typeface="Bookman Old Style" panose="02050604050505020204" pitchFamily="18" charset="0"/>
                    <a:cs typeface="Times New Roman" pitchFamily="18" charset="0"/>
                  </a:rPr>
                  <a:t> = R * </a:t>
                </a:r>
                <a:r>
                  <a:rPr lang="fr-FR" sz="1400" b="1" u="sng" dirty="0">
                    <a:latin typeface="Bookman Old Style" panose="02050604050505020204" pitchFamily="18" charset="0"/>
                    <a:cs typeface="Times New Roman" pitchFamily="18" charset="0"/>
                  </a:rPr>
                  <a:t>I</a:t>
                </a:r>
                <a:r>
                  <a:rPr lang="fr-FR" sz="1400" dirty="0">
                    <a:latin typeface="Bookman Old Style" panose="02050604050505020204" pitchFamily="18" charset="0"/>
                    <a:cs typeface="Times New Roman" pitchFamily="18" charset="0"/>
                  </a:rPr>
                  <a:t> </a:t>
                </a:r>
              </a:p>
              <a:p>
                <a:pPr indent="0" algn="ctr">
                  <a:buNone/>
                </a:pPr>
                <a:endParaRPr lang="fr-FR" sz="1400" dirty="0">
                  <a:latin typeface="Bookman Old Style" panose="02050604050505020204" pitchFamily="18" charset="0"/>
                  <a:cs typeface="Times New Roman" pitchFamily="18" charset="0"/>
                </a:endParaRPr>
              </a:p>
              <a:p>
                <a:pPr marL="285750" indent="-285750" algn="just">
                  <a:buFont typeface="Wingdings" panose="05000000000000000000" pitchFamily="2" charset="2"/>
                  <a:buChar char="q"/>
                </a:pPr>
                <a:r>
                  <a:rPr lang="fr-FR" sz="1400" dirty="0">
                    <a:latin typeface="Bookman Old Style" panose="02050604050505020204" pitchFamily="18" charset="0"/>
                    <a:cs typeface="Times New Roman" pitchFamily="18" charset="0"/>
                  </a:rPr>
                  <a:t>On en déduit que l’impédance d’une résistance pur est donnée par </a:t>
                </a:r>
              </a:p>
              <a:p>
                <a:pPr indent="0" algn="just">
                  <a:buNone/>
                </a:pPr>
                <a:endParaRPr lang="fr-FR" sz="1400" dirty="0">
                  <a:latin typeface="Bookman Old Style" panose="02050604050505020204" pitchFamily="18" charset="0"/>
                  <a:cs typeface="Times New Roman" pitchFamily="18" charset="0"/>
                </a:endParaRPr>
              </a:p>
              <a:p>
                <a:pPr indent="0" algn="ctr">
                  <a:buNone/>
                </a:pPr>
                <a:r>
                  <a:rPr lang="fr-FR" sz="1400" b="1" u="sng" dirty="0">
                    <a:latin typeface="Bookman Old Style" panose="02050604050505020204" pitchFamily="18" charset="0"/>
                    <a:cs typeface="Times New Roman" pitchFamily="18" charset="0"/>
                  </a:rPr>
                  <a:t>Z</a:t>
                </a:r>
                <a:r>
                  <a:rPr lang="fr-FR" sz="1400" b="1" baseline="-25000" dirty="0">
                    <a:latin typeface="Bookman Old Style" panose="02050604050505020204" pitchFamily="18" charset="0"/>
                    <a:cs typeface="Times New Roman" pitchFamily="18" charset="0"/>
                  </a:rPr>
                  <a:t>R </a:t>
                </a:r>
                <a:r>
                  <a:rPr lang="fr-FR" sz="1400" b="1" dirty="0">
                    <a:latin typeface="Bookman Old Style" panose="02050604050505020204" pitchFamily="18" charset="0"/>
                    <a:cs typeface="Times New Roman" pitchFamily="18" charset="0"/>
                  </a:rPr>
                  <a:t> = R </a:t>
                </a:r>
                <a:r>
                  <a:rPr lang="fr-FR" sz="1400" dirty="0">
                    <a:latin typeface="Bookman Old Style" panose="02050604050505020204" pitchFamily="18" charset="0"/>
                    <a:cs typeface="Times New Roman" pitchFamily="18" charset="0"/>
                  </a:rPr>
                  <a:t>et  </a:t>
                </a:r>
                <a14:m>
                  <m:oMath xmlns:m="http://schemas.openxmlformats.org/officeDocument/2006/math">
                    <m:r>
                      <a:rPr lang="fr-FR" sz="1400" b="1" i="1" dirty="0" smtClean="0">
                        <a:latin typeface="Cambria Math" panose="02040503050406030204" pitchFamily="18" charset="0"/>
                        <a:ea typeface="Cambria Math" panose="02040503050406030204" pitchFamily="18" charset="0"/>
                        <a:cs typeface="Times New Roman" pitchFamily="18" charset="0"/>
                      </a:rPr>
                      <m:t>𝝋</m:t>
                    </m:r>
                  </m:oMath>
                </a14:m>
                <a:r>
                  <a:rPr lang="fr-FR" sz="1400" b="1" baseline="-25000" dirty="0" err="1">
                    <a:latin typeface="Bookman Old Style" panose="02050604050505020204" pitchFamily="18" charset="0"/>
                    <a:cs typeface="Times New Roman" pitchFamily="18" charset="0"/>
                  </a:rPr>
                  <a:t>R</a:t>
                </a:r>
                <a:r>
                  <a:rPr lang="fr-FR" sz="1400" b="1" dirty="0">
                    <a:latin typeface="Bookman Old Style" panose="02050604050505020204" pitchFamily="18" charset="0"/>
                    <a:cs typeface="Times New Roman" pitchFamily="18" charset="0"/>
                  </a:rPr>
                  <a:t> = 0</a:t>
                </a:r>
                <a:endParaRPr lang="fr-FR" sz="1400" dirty="0">
                  <a:latin typeface="Bookman Old Style" panose="02050604050505020204" pitchFamily="18" charset="0"/>
                  <a:cs typeface="Times New Roman" pitchFamily="18" charset="0"/>
                </a:endParaRPr>
              </a:p>
            </p:txBody>
          </p:sp>
        </mc:Choice>
        <mc:Fallback xmlns="">
          <p:sp>
            <p:nvSpPr>
              <p:cNvPr id="13" name="TextBox 12">
                <a:extLst>
                  <a:ext uri="{FF2B5EF4-FFF2-40B4-BE49-F238E27FC236}">
                    <a16:creationId xmlns:a16="http://schemas.microsoft.com/office/drawing/2014/main" id="{DBE12645-5035-20A9-4D72-D9CEFBF4605D}"/>
                  </a:ext>
                </a:extLst>
              </p:cNvPr>
              <p:cNvSpPr txBox="1">
                <a:spLocks noRot="1" noChangeAspect="1" noMove="1" noResize="1" noEditPoints="1" noAdjustHandles="1" noChangeArrowheads="1" noChangeShapeType="1" noTextEdit="1"/>
              </p:cNvSpPr>
              <p:nvPr/>
            </p:nvSpPr>
            <p:spPr>
              <a:xfrm>
                <a:off x="623875" y="1744084"/>
                <a:ext cx="8335931" cy="1815882"/>
              </a:xfrm>
              <a:prstGeom prst="rect">
                <a:avLst/>
              </a:prstGeom>
              <a:blipFill>
                <a:blip r:embed="rId4"/>
                <a:stretch>
                  <a:fillRect l="-73" t="-671" r="-146" b="-2685"/>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49966D8-FC1C-A3FF-01A9-D6196B77F781}"/>
                  </a:ext>
                </a:extLst>
              </p:cNvPr>
              <p:cNvSpPr txBox="1"/>
              <p:nvPr/>
            </p:nvSpPr>
            <p:spPr>
              <a:xfrm>
                <a:off x="634430" y="3570277"/>
                <a:ext cx="8335931" cy="1600438"/>
              </a:xfrm>
              <a:prstGeom prst="rect">
                <a:avLst/>
              </a:prstGeom>
              <a:noFill/>
            </p:spPr>
            <p:txBody>
              <a:bodyPr wrap="square">
                <a:spAutoFit/>
              </a:bodyPr>
              <a:lstStyle/>
              <a:p>
                <a:pPr marL="285750" indent="-285750" algn="just">
                  <a:buFont typeface="Wingdings" panose="05000000000000000000" pitchFamily="2" charset="2"/>
                  <a:buChar char="q"/>
                </a:pPr>
                <a:r>
                  <a:rPr lang="fr-FR" sz="1400" dirty="0">
                    <a:latin typeface="Bookman Old Style" panose="02050604050505020204" pitchFamily="18" charset="0"/>
                    <a:cs typeface="Times New Roman" pitchFamily="18" charset="0"/>
                  </a:rPr>
                  <a:t>L’impédance d’une résistance est indépendante de la fréquence.</a:t>
                </a:r>
              </a:p>
              <a:p>
                <a:pPr algn="just"/>
                <a:endParaRPr lang="fr-FR" sz="1400" dirty="0">
                  <a:latin typeface="Bookman Old Style" panose="02050604050505020204" pitchFamily="18" charset="0"/>
                  <a:cs typeface="Times New Roman" pitchFamily="18" charset="0"/>
                </a:endParaRPr>
              </a:p>
              <a:p>
                <a:pPr marL="285750" indent="-285750" algn="just">
                  <a:buFont typeface="Wingdings" panose="05000000000000000000" pitchFamily="2" charset="2"/>
                  <a:buChar char="q"/>
                </a:pPr>
                <a:r>
                  <a:rPr lang="fr-FR" sz="1400" dirty="0">
                    <a:latin typeface="Bookman Old Style" panose="02050604050505020204" pitchFamily="18" charset="0"/>
                    <a:cs typeface="Times New Roman" pitchFamily="18" charset="0"/>
                  </a:rPr>
                  <a:t>Son admittance est : </a:t>
                </a:r>
                <a14:m>
                  <m:oMath xmlns:m="http://schemas.openxmlformats.org/officeDocument/2006/math">
                    <m:r>
                      <a:rPr lang="fr-FR" sz="1400" b="1" i="1" smtClean="0">
                        <a:latin typeface="Cambria Math" panose="02040503050406030204" pitchFamily="18" charset="0"/>
                        <a:cs typeface="Times New Roman" pitchFamily="18" charset="0"/>
                      </a:rPr>
                      <m:t>𝒀</m:t>
                    </m:r>
                  </m:oMath>
                </a14:m>
                <a:r>
                  <a:rPr lang="fr-FR" sz="1400" b="1" baseline="-25000" dirty="0">
                    <a:latin typeface="Bookman Old Style" panose="02050604050505020204" pitchFamily="18" charset="0"/>
                    <a:cs typeface="Times New Roman" pitchFamily="18" charset="0"/>
                  </a:rPr>
                  <a:t>R</a:t>
                </a:r>
                <a:r>
                  <a:rPr lang="fr-FR" sz="1400" b="1" dirty="0">
                    <a:latin typeface="Bookman Old Style" panose="02050604050505020204" pitchFamily="18" charset="0"/>
                    <a:cs typeface="Times New Roman" pitchFamily="18" charset="0"/>
                  </a:rPr>
                  <a:t> =1/R</a:t>
                </a:r>
              </a:p>
              <a:p>
                <a:pPr algn="just"/>
                <a:endParaRPr lang="fr-FR" sz="1400" b="1" dirty="0">
                  <a:latin typeface="Bookman Old Style" panose="02050604050505020204" pitchFamily="18" charset="0"/>
                  <a:cs typeface="Times New Roman" pitchFamily="18" charset="0"/>
                </a:endParaRPr>
              </a:p>
              <a:p>
                <a:pPr marL="285750" indent="-285750" algn="just">
                  <a:buFont typeface="Wingdings" panose="05000000000000000000" pitchFamily="2" charset="2"/>
                  <a:buChar char="q"/>
                </a:pPr>
                <a:r>
                  <a:rPr lang="fr-FR" sz="1400" dirty="0">
                    <a:latin typeface="Bookman Old Style" panose="02050604050505020204" pitchFamily="18" charset="0"/>
                    <a:cs typeface="Times New Roman" pitchFamily="18" charset="0"/>
                  </a:rPr>
                  <a:t>On peut le représenter (le digramme de Fresnel) comme suit :</a:t>
                </a:r>
              </a:p>
              <a:p>
                <a:pPr algn="just"/>
                <a:endParaRPr lang="fr-FR" sz="1400" b="1" dirty="0">
                  <a:latin typeface="Bookman Old Style" panose="02050604050505020204" pitchFamily="18" charset="0"/>
                  <a:cs typeface="Times New Roman" pitchFamily="18" charset="0"/>
                </a:endParaRPr>
              </a:p>
              <a:p>
                <a:pPr marL="285750" indent="-285750" algn="just">
                  <a:buFont typeface="Wingdings" panose="05000000000000000000" pitchFamily="2" charset="2"/>
                  <a:buChar char="q"/>
                </a:pPr>
                <a:endParaRPr lang="fr-FR" sz="1400" dirty="0">
                  <a:latin typeface="Bookman Old Style" panose="02050604050505020204" pitchFamily="18" charset="0"/>
                  <a:cs typeface="Times New Roman" pitchFamily="18" charset="0"/>
                </a:endParaRPr>
              </a:p>
            </p:txBody>
          </p:sp>
        </mc:Choice>
        <mc:Fallback xmlns="">
          <p:sp>
            <p:nvSpPr>
              <p:cNvPr id="17" name="TextBox 16">
                <a:extLst>
                  <a:ext uri="{FF2B5EF4-FFF2-40B4-BE49-F238E27FC236}">
                    <a16:creationId xmlns:a16="http://schemas.microsoft.com/office/drawing/2014/main" id="{149966D8-FC1C-A3FF-01A9-D6196B77F781}"/>
                  </a:ext>
                </a:extLst>
              </p:cNvPr>
              <p:cNvSpPr txBox="1">
                <a:spLocks noRot="1" noChangeAspect="1" noMove="1" noResize="1" noEditPoints="1" noAdjustHandles="1" noChangeArrowheads="1" noChangeShapeType="1" noTextEdit="1"/>
              </p:cNvSpPr>
              <p:nvPr/>
            </p:nvSpPr>
            <p:spPr>
              <a:xfrm>
                <a:off x="634430" y="3570277"/>
                <a:ext cx="8335931" cy="1600438"/>
              </a:xfrm>
              <a:prstGeom prst="rect">
                <a:avLst/>
              </a:prstGeom>
              <a:blipFill>
                <a:blip r:embed="rId5"/>
                <a:stretch>
                  <a:fillRect l="-73" t="-763"/>
                </a:stretch>
              </a:blipFill>
            </p:spPr>
            <p:txBody>
              <a:bodyPr/>
              <a:lstStyle/>
              <a:p>
                <a:r>
                  <a:rPr lang="fr-FR">
                    <a:noFill/>
                  </a:rPr>
                  <a:t> </a:t>
                </a:r>
              </a:p>
            </p:txBody>
          </p:sp>
        </mc:Fallback>
      </mc:AlternateContent>
    </p:spTree>
    <p:extLst>
      <p:ext uri="{BB962C8B-B14F-4D97-AF65-F5344CB8AC3E}">
        <p14:creationId xmlns:p14="http://schemas.microsoft.com/office/powerpoint/2010/main" val="15973728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71</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4.4 </a:t>
            </a:r>
            <a:r>
              <a:rPr lang="fr-FR" altLang="fr-FR" sz="1400" b="1" spc="-5" dirty="0">
                <a:solidFill>
                  <a:srgbClr val="CC00CC"/>
                </a:solidFill>
                <a:latin typeface="Bookman Old Style" panose="02050604050505020204" pitchFamily="18" charset="0"/>
                <a:cs typeface="Arial"/>
              </a:rPr>
              <a:t>Impédance et admittance</a:t>
            </a:r>
          </a:p>
          <a:p>
            <a:pPr marL="12065" lvl="1">
              <a:lnSpc>
                <a:spcPct val="100000"/>
              </a:lnSpc>
              <a:spcBef>
                <a:spcPts val="100"/>
              </a:spcBef>
              <a:tabLst>
                <a:tab pos="393700" algn="l"/>
              </a:tabLst>
            </a:pPr>
            <a:r>
              <a:rPr lang="fr-FR" altLang="fr-FR" sz="1400" b="1" spc="-5" dirty="0">
                <a:solidFill>
                  <a:srgbClr val="C00000"/>
                </a:solidFill>
                <a:latin typeface="Bookman Old Style" panose="02050604050505020204" pitchFamily="18" charset="0"/>
                <a:cs typeface="Arial"/>
              </a:rPr>
              <a:t>    D. Impédances complexes des dipôles de base</a:t>
            </a:r>
            <a:endParaRPr lang="fr-FR" sz="1400" b="1" spc="-5" dirty="0">
              <a:solidFill>
                <a:srgbClr val="CC00CC"/>
              </a:solidFill>
              <a:latin typeface="Bookman Old Style" panose="02050604050505020204" pitchFamily="18" charset="0"/>
              <a:cs typeface="Arial"/>
            </a:endParaRPr>
          </a:p>
        </p:txBody>
      </p:sp>
      <p:sp>
        <p:nvSpPr>
          <p:cNvPr id="5" name="TextBox 4">
            <a:extLst>
              <a:ext uri="{FF2B5EF4-FFF2-40B4-BE49-F238E27FC236}">
                <a16:creationId xmlns:a16="http://schemas.microsoft.com/office/drawing/2014/main" id="{ECC40ACE-36D6-BD19-50FB-84A567DE3B8B}"/>
              </a:ext>
            </a:extLst>
          </p:cNvPr>
          <p:cNvSpPr txBox="1"/>
          <p:nvPr/>
        </p:nvSpPr>
        <p:spPr>
          <a:xfrm>
            <a:off x="550646" y="1430565"/>
            <a:ext cx="8374234" cy="800219"/>
          </a:xfrm>
          <a:prstGeom prst="rect">
            <a:avLst/>
          </a:prstGeom>
          <a:noFill/>
        </p:spPr>
        <p:txBody>
          <a:bodyPr wrap="square">
            <a:spAutoFit/>
          </a:bodyPr>
          <a:lstStyle>
            <a:defPPr>
              <a:defRPr lang="fr-FR"/>
            </a:defPPr>
            <a:lvl1pPr marL="685800" indent="-285750" algn="just">
              <a:buFont typeface="Wingdings" panose="05000000000000000000" pitchFamily="2" charset="2"/>
              <a:buChar char="q"/>
              <a:defRPr sz="1500">
                <a:latin typeface="Bookman Old Style" panose="02050604050505020204" pitchFamily="18" charset="0"/>
                <a:cs typeface="Times New Roman" pitchFamily="18" charset="0"/>
              </a:defRPr>
            </a:lvl1pPr>
          </a:lstStyle>
          <a:p>
            <a:pPr marL="400050" indent="0">
              <a:buNone/>
            </a:pPr>
            <a:r>
              <a:rPr lang="fr-FR" altLang="fr-FR" sz="1600" b="1" u="sng" dirty="0">
                <a:solidFill>
                  <a:srgbClr val="0000FF"/>
                </a:solidFill>
                <a:cs typeface="Browallia New" panose="020B0604020202020204" pitchFamily="34" charset="-34"/>
              </a:rPr>
              <a:t>Inductance:</a:t>
            </a:r>
            <a:endParaRPr lang="fr-FR" b="1" u="sng" dirty="0">
              <a:solidFill>
                <a:srgbClr val="0000FF"/>
              </a:solidFill>
            </a:endParaRPr>
          </a:p>
          <a:p>
            <a:pPr marL="400050" indent="0">
              <a:buNone/>
            </a:pPr>
            <a:endParaRPr lang="fr-FR" dirty="0"/>
          </a:p>
          <a:p>
            <a:pPr marL="400050" indent="0">
              <a:buNone/>
            </a:pPr>
            <a:endParaRPr lang="fr-FR"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C9AF051-6FAA-08A1-1DBB-CEA4BD09F16B}"/>
                  </a:ext>
                </a:extLst>
              </p:cNvPr>
              <p:cNvSpPr txBox="1"/>
              <p:nvPr/>
            </p:nvSpPr>
            <p:spPr>
              <a:xfrm>
                <a:off x="697881" y="2154219"/>
                <a:ext cx="8329296" cy="1159613"/>
              </a:xfrm>
              <a:prstGeom prst="rect">
                <a:avLst/>
              </a:prstGeom>
              <a:noFill/>
            </p:spPr>
            <p:txBody>
              <a:bodyPr wrap="square">
                <a:spAutoFit/>
              </a:bodyPr>
              <a:lstStyle/>
              <a:p>
                <a:pPr marL="285750" indent="-285750" algn="just">
                  <a:buFont typeface="Wingdings" panose="05000000000000000000" pitchFamily="2" charset="2"/>
                  <a:buChar char="q"/>
                </a:pPr>
                <a:r>
                  <a:rPr lang="fr-FR" sz="1400" dirty="0">
                    <a:latin typeface="Bookman Old Style" panose="02050604050505020204" pitchFamily="18" charset="0"/>
                    <a:cs typeface="Times New Roman" pitchFamily="18" charset="0"/>
                  </a:rPr>
                  <a:t>Pour une inductance, la relation en valeurs instantanées entre la tension et le courant est donnée par: </a:t>
                </a:r>
                <a14:m>
                  <m:oMath xmlns:m="http://schemas.openxmlformats.org/officeDocument/2006/math">
                    <m:r>
                      <a:rPr lang="fr-FR" sz="1600" b="1">
                        <a:latin typeface="Cambria Math" panose="02040503050406030204" pitchFamily="18" charset="0"/>
                        <a:cs typeface="Times New Roman" pitchFamily="18" charset="0"/>
                      </a:rPr>
                      <m:t>𝐯</m:t>
                    </m:r>
                    <m:r>
                      <a:rPr lang="fr-FR" sz="1600" b="1">
                        <a:latin typeface="Cambria Math" panose="02040503050406030204" pitchFamily="18" charset="0"/>
                        <a:cs typeface="Times New Roman" pitchFamily="18" charset="0"/>
                      </a:rPr>
                      <m:t>=</m:t>
                    </m:r>
                    <m:r>
                      <a:rPr lang="fr-FR" sz="1600" b="1">
                        <a:latin typeface="Cambria Math" panose="02040503050406030204" pitchFamily="18" charset="0"/>
                        <a:cs typeface="Times New Roman" pitchFamily="18" charset="0"/>
                      </a:rPr>
                      <m:t>𝐋</m:t>
                    </m:r>
                    <m:f>
                      <m:fPr>
                        <m:ctrlPr>
                          <a:rPr lang="fr-FR" sz="1600" b="1" i="1">
                            <a:latin typeface="Cambria Math" panose="02040503050406030204" pitchFamily="18" charset="0"/>
                            <a:cs typeface="Times New Roman" pitchFamily="18" charset="0"/>
                          </a:rPr>
                        </m:ctrlPr>
                      </m:fPr>
                      <m:num>
                        <m:r>
                          <a:rPr lang="fr-FR" sz="1600" b="1">
                            <a:latin typeface="Cambria Math" panose="02040503050406030204" pitchFamily="18" charset="0"/>
                            <a:cs typeface="Times New Roman" pitchFamily="18" charset="0"/>
                          </a:rPr>
                          <m:t>𝐝𝐢</m:t>
                        </m:r>
                      </m:num>
                      <m:den>
                        <m:r>
                          <a:rPr lang="fr-FR" sz="1600" b="1">
                            <a:latin typeface="Cambria Math" panose="02040503050406030204" pitchFamily="18" charset="0"/>
                            <a:cs typeface="Times New Roman" pitchFamily="18" charset="0"/>
                          </a:rPr>
                          <m:t>𝐝𝐭</m:t>
                        </m:r>
                      </m:den>
                    </m:f>
                  </m:oMath>
                </a14:m>
                <a:r>
                  <a:rPr lang="fr-FR" sz="1600" b="1" dirty="0">
                    <a:latin typeface="Bookman Old Style" panose="02050604050505020204" pitchFamily="18" charset="0"/>
                    <a:cs typeface="Times New Roman" pitchFamily="18" charset="0"/>
                  </a:rPr>
                  <a:t>  </a:t>
                </a:r>
                <a:r>
                  <a:rPr lang="fr-FR" sz="1400" dirty="0">
                    <a:latin typeface="Bookman Old Style" panose="02050604050505020204" pitchFamily="18" charset="0"/>
                    <a:cs typeface="Times New Roman" pitchFamily="18" charset="0"/>
                  </a:rPr>
                  <a:t>qui se traduit pour le régime sinusoïdal en valeur complexe : </a:t>
                </a:r>
              </a:p>
              <a:p>
                <a:pPr algn="just"/>
                <a:endParaRPr lang="fr-FR" sz="1400" dirty="0">
                  <a:latin typeface="Bookman Old Style" panose="02050604050505020204" pitchFamily="18" charset="0"/>
                  <a:cs typeface="Times New Roman" pitchFamily="18" charset="0"/>
                </a:endParaRPr>
              </a:p>
              <a:p>
                <a:pPr indent="0" algn="ctr">
                  <a:buNone/>
                </a:pPr>
                <a:r>
                  <a:rPr lang="fr-FR" sz="1800" b="1" u="sng" dirty="0">
                    <a:latin typeface="Bookman Old Style" panose="02050604050505020204" pitchFamily="18" charset="0"/>
                    <a:cs typeface="Times New Roman" pitchFamily="18" charset="0"/>
                  </a:rPr>
                  <a:t>V</a:t>
                </a:r>
                <a:r>
                  <a:rPr lang="fr-FR" sz="1800" b="1" dirty="0">
                    <a:latin typeface="Bookman Old Style" panose="02050604050505020204" pitchFamily="18" charset="0"/>
                    <a:cs typeface="Times New Roman" pitchFamily="18" charset="0"/>
                  </a:rPr>
                  <a:t> = </a:t>
                </a:r>
                <a:r>
                  <a:rPr lang="fr-FR" sz="1800" b="1" dirty="0" err="1">
                    <a:latin typeface="Bookman Old Style" panose="02050604050505020204" pitchFamily="18" charset="0"/>
                    <a:cs typeface="Times New Roman" pitchFamily="18" charset="0"/>
                  </a:rPr>
                  <a:t>jL</a:t>
                </a:r>
                <a:r>
                  <a:rPr lang="el-GR" sz="1800" b="1" dirty="0">
                    <a:latin typeface="Bookman Old Style" panose="02050604050505020204" pitchFamily="18" charset="0"/>
                    <a:cs typeface="Times New Roman" pitchFamily="18" charset="0"/>
                  </a:rPr>
                  <a:t>ω</a:t>
                </a:r>
                <a:r>
                  <a:rPr lang="fr-FR" sz="1800" b="1" u="sng" dirty="0">
                    <a:latin typeface="Bookman Old Style" panose="02050604050505020204" pitchFamily="18" charset="0"/>
                    <a:cs typeface="Times New Roman" pitchFamily="18" charset="0"/>
                  </a:rPr>
                  <a:t>I</a:t>
                </a:r>
                <a:endParaRPr lang="fr-FR" sz="1800" dirty="0">
                  <a:latin typeface="Bookman Old Style" panose="02050604050505020204" pitchFamily="18" charset="0"/>
                  <a:cs typeface="Times New Roman" pitchFamily="18" charset="0"/>
                </a:endParaRPr>
              </a:p>
            </p:txBody>
          </p:sp>
        </mc:Choice>
        <mc:Fallback xmlns="">
          <p:sp>
            <p:nvSpPr>
              <p:cNvPr id="11" name="TextBox 10">
                <a:extLst>
                  <a:ext uri="{FF2B5EF4-FFF2-40B4-BE49-F238E27FC236}">
                    <a16:creationId xmlns:a16="http://schemas.microsoft.com/office/drawing/2014/main" id="{EC9AF051-6FAA-08A1-1DBB-CEA4BD09F16B}"/>
                  </a:ext>
                </a:extLst>
              </p:cNvPr>
              <p:cNvSpPr txBox="1">
                <a:spLocks noRot="1" noChangeAspect="1" noMove="1" noResize="1" noEditPoints="1" noAdjustHandles="1" noChangeArrowheads="1" noChangeShapeType="1" noTextEdit="1"/>
              </p:cNvSpPr>
              <p:nvPr/>
            </p:nvSpPr>
            <p:spPr>
              <a:xfrm>
                <a:off x="697881" y="2154219"/>
                <a:ext cx="8329296" cy="1159613"/>
              </a:xfrm>
              <a:prstGeom prst="rect">
                <a:avLst/>
              </a:prstGeom>
              <a:blipFill>
                <a:blip r:embed="rId3"/>
                <a:stretch>
                  <a:fillRect l="-73" t="-524" r="-146" b="-6806"/>
                </a:stretch>
              </a:blipFill>
            </p:spPr>
            <p:txBody>
              <a:bodyPr/>
              <a:lstStyle/>
              <a:p>
                <a:r>
                  <a:rPr lang="fr-FR">
                    <a:noFill/>
                  </a:rPr>
                  <a:t> </a:t>
                </a:r>
              </a:p>
            </p:txBody>
          </p:sp>
        </mc:Fallback>
      </mc:AlternateContent>
      <p:sp>
        <p:nvSpPr>
          <p:cNvPr id="16" name="TextBox 15">
            <a:extLst>
              <a:ext uri="{FF2B5EF4-FFF2-40B4-BE49-F238E27FC236}">
                <a16:creationId xmlns:a16="http://schemas.microsoft.com/office/drawing/2014/main" id="{0A9BAF4E-7443-9FD8-5B65-2E6666D458BF}"/>
              </a:ext>
            </a:extLst>
          </p:cNvPr>
          <p:cNvSpPr txBox="1"/>
          <p:nvPr/>
        </p:nvSpPr>
        <p:spPr>
          <a:xfrm>
            <a:off x="713960" y="3638550"/>
            <a:ext cx="7513543" cy="1631216"/>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r>
              <a:rPr lang="fr-FR" dirty="0"/>
              <a:t>L’impédance complexe d’une inductance est donnée par:</a:t>
            </a:r>
          </a:p>
          <a:p>
            <a:pPr marL="0" indent="0">
              <a:buNone/>
            </a:pPr>
            <a:r>
              <a:rPr lang="fr-FR" dirty="0"/>
              <a:t>  </a:t>
            </a:r>
          </a:p>
          <a:p>
            <a:pPr indent="0" algn="ctr">
              <a:buNone/>
            </a:pPr>
            <a:r>
              <a:rPr lang="fr-FR" sz="1800" b="1" u="sng" dirty="0">
                <a:latin typeface="Garamond" panose="02020404030301010803" pitchFamily="18" charset="0"/>
                <a:cs typeface="Times New Roman" pitchFamily="18" charset="0"/>
              </a:rPr>
              <a:t>Z</a:t>
            </a:r>
            <a:r>
              <a:rPr lang="fr-FR" sz="1800" b="1" baseline="-25000" dirty="0">
                <a:latin typeface="Garamond" panose="02020404030301010803" pitchFamily="18" charset="0"/>
                <a:cs typeface="Times New Roman" pitchFamily="18" charset="0"/>
              </a:rPr>
              <a:t>L</a:t>
            </a:r>
            <a:r>
              <a:rPr lang="fr-FR" sz="1800" b="1" dirty="0">
                <a:latin typeface="Garamond" panose="02020404030301010803" pitchFamily="18" charset="0"/>
                <a:cs typeface="Times New Roman" pitchFamily="18" charset="0"/>
              </a:rPr>
              <a:t>= </a:t>
            </a:r>
            <a:r>
              <a:rPr lang="fr-FR" sz="1800" b="1" dirty="0" err="1">
                <a:latin typeface="Garamond" panose="02020404030301010803" pitchFamily="18" charset="0"/>
                <a:cs typeface="Times New Roman" pitchFamily="18" charset="0"/>
              </a:rPr>
              <a:t>jL</a:t>
            </a:r>
            <a:r>
              <a:rPr lang="el-GR" sz="1800" b="1" dirty="0">
                <a:latin typeface="Garamond" panose="02020404030301010803" pitchFamily="18" charset="0"/>
                <a:cs typeface="Times New Roman" pitchFamily="18" charset="0"/>
              </a:rPr>
              <a:t>ω</a:t>
            </a:r>
            <a:r>
              <a:rPr lang="fr-FR" sz="1800" b="1" dirty="0">
                <a:latin typeface="Garamond" panose="02020404030301010803" pitchFamily="18" charset="0"/>
                <a:cs typeface="Times New Roman" pitchFamily="18" charset="0"/>
              </a:rPr>
              <a:t> et </a:t>
            </a:r>
            <a:r>
              <a:rPr lang="fr-FR" sz="1800" b="1" dirty="0" err="1">
                <a:latin typeface="Symbol" pitchFamily="18" charset="2"/>
              </a:rPr>
              <a:t>j</a:t>
            </a:r>
            <a:r>
              <a:rPr lang="fr-FR" sz="1800" b="1" baseline="-25000" dirty="0" err="1">
                <a:latin typeface="Garamond" panose="02020404030301010803" pitchFamily="18" charset="0"/>
              </a:rPr>
              <a:t>L</a:t>
            </a:r>
            <a:r>
              <a:rPr lang="fr-FR" sz="1800" b="1" dirty="0">
                <a:latin typeface="Garamond" panose="02020404030301010803" pitchFamily="18" charset="0"/>
              </a:rPr>
              <a:t> = +</a:t>
            </a:r>
            <a:r>
              <a:rPr lang="fr-FR" sz="1800" b="1" dirty="0">
                <a:latin typeface="Symbol" pitchFamily="18" charset="2"/>
              </a:rPr>
              <a:t>p</a:t>
            </a:r>
            <a:r>
              <a:rPr lang="fr-FR" sz="1800" b="1" dirty="0">
                <a:latin typeface="Garamond" panose="02020404030301010803" pitchFamily="18" charset="0"/>
              </a:rPr>
              <a:t>/2</a:t>
            </a:r>
          </a:p>
          <a:p>
            <a:pPr indent="0" algn="ctr">
              <a:buNone/>
            </a:pPr>
            <a:endParaRPr lang="fr-FR" sz="1800" b="1" dirty="0">
              <a:latin typeface="Garamond" panose="02020404030301010803" pitchFamily="18" charset="0"/>
            </a:endParaRPr>
          </a:p>
          <a:p>
            <a:pPr indent="0">
              <a:buNone/>
            </a:pPr>
            <a:endParaRPr lang="fr-FR" sz="1800" b="1" dirty="0">
              <a:latin typeface="Garamond" panose="02020404030301010803" pitchFamily="18" charset="0"/>
            </a:endParaRPr>
          </a:p>
          <a:p>
            <a:pPr marL="0" indent="0" algn="ctr">
              <a:buNone/>
            </a:pPr>
            <a:r>
              <a:rPr lang="fr-FR" sz="1800" b="1" dirty="0"/>
              <a:t> </a:t>
            </a:r>
          </a:p>
        </p:txBody>
      </p:sp>
    </p:spTree>
    <p:extLst>
      <p:ext uri="{BB962C8B-B14F-4D97-AF65-F5344CB8AC3E}">
        <p14:creationId xmlns:p14="http://schemas.microsoft.com/office/powerpoint/2010/main" val="149918644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72</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4.4 </a:t>
            </a:r>
            <a:r>
              <a:rPr lang="fr-FR" altLang="fr-FR" sz="1400" b="1" spc="-5" dirty="0">
                <a:solidFill>
                  <a:srgbClr val="CC00CC"/>
                </a:solidFill>
                <a:latin typeface="Bookman Old Style" panose="02050604050505020204" pitchFamily="18" charset="0"/>
                <a:cs typeface="Arial"/>
              </a:rPr>
              <a:t>Impédance et admittance</a:t>
            </a:r>
          </a:p>
          <a:p>
            <a:pPr marL="12065" lvl="1">
              <a:lnSpc>
                <a:spcPct val="100000"/>
              </a:lnSpc>
              <a:spcBef>
                <a:spcPts val="100"/>
              </a:spcBef>
              <a:tabLst>
                <a:tab pos="393700" algn="l"/>
              </a:tabLst>
            </a:pPr>
            <a:r>
              <a:rPr lang="fr-FR" altLang="fr-FR" sz="1400" b="1" spc="-5" dirty="0">
                <a:solidFill>
                  <a:srgbClr val="C00000"/>
                </a:solidFill>
                <a:latin typeface="Bookman Old Style" panose="02050604050505020204" pitchFamily="18" charset="0"/>
                <a:cs typeface="Arial"/>
              </a:rPr>
              <a:t>    D. Impédances complexes des dipôles de base</a:t>
            </a:r>
            <a:endParaRPr lang="fr-FR" sz="1400" b="1" spc="-5" dirty="0">
              <a:solidFill>
                <a:srgbClr val="CC00CC"/>
              </a:solidFill>
              <a:latin typeface="Bookman Old Style" panose="02050604050505020204" pitchFamily="18" charset="0"/>
              <a:cs typeface="Arial"/>
            </a:endParaRPr>
          </a:p>
        </p:txBody>
      </p:sp>
      <p:sp>
        <p:nvSpPr>
          <p:cNvPr id="5" name="TextBox 4">
            <a:extLst>
              <a:ext uri="{FF2B5EF4-FFF2-40B4-BE49-F238E27FC236}">
                <a16:creationId xmlns:a16="http://schemas.microsoft.com/office/drawing/2014/main" id="{ECC40ACE-36D6-BD19-50FB-84A567DE3B8B}"/>
              </a:ext>
            </a:extLst>
          </p:cNvPr>
          <p:cNvSpPr txBox="1"/>
          <p:nvPr/>
        </p:nvSpPr>
        <p:spPr>
          <a:xfrm>
            <a:off x="550646" y="1430565"/>
            <a:ext cx="8374234" cy="800219"/>
          </a:xfrm>
          <a:prstGeom prst="rect">
            <a:avLst/>
          </a:prstGeom>
          <a:noFill/>
        </p:spPr>
        <p:txBody>
          <a:bodyPr wrap="square">
            <a:spAutoFit/>
          </a:bodyPr>
          <a:lstStyle>
            <a:defPPr>
              <a:defRPr lang="fr-FR"/>
            </a:defPPr>
            <a:lvl1pPr marL="685800" indent="-285750" algn="just">
              <a:buFont typeface="Wingdings" panose="05000000000000000000" pitchFamily="2" charset="2"/>
              <a:buChar char="q"/>
              <a:defRPr sz="1500">
                <a:latin typeface="Bookman Old Style" panose="02050604050505020204" pitchFamily="18" charset="0"/>
                <a:cs typeface="Times New Roman" pitchFamily="18" charset="0"/>
              </a:defRPr>
            </a:lvl1pPr>
          </a:lstStyle>
          <a:p>
            <a:pPr marL="400050" indent="0">
              <a:buNone/>
            </a:pPr>
            <a:r>
              <a:rPr lang="fr-FR" altLang="fr-FR" sz="1600" b="1" u="sng" dirty="0">
                <a:solidFill>
                  <a:srgbClr val="0000FF"/>
                </a:solidFill>
                <a:cs typeface="Browallia New" panose="020B0604020202020204" pitchFamily="34" charset="-34"/>
              </a:rPr>
              <a:t>Inductance:</a:t>
            </a:r>
            <a:endParaRPr lang="fr-FR" b="1" u="sng" dirty="0">
              <a:solidFill>
                <a:srgbClr val="0000FF"/>
              </a:solidFill>
            </a:endParaRPr>
          </a:p>
          <a:p>
            <a:pPr marL="400050" indent="0">
              <a:buNone/>
            </a:pPr>
            <a:endParaRPr lang="fr-FR" dirty="0"/>
          </a:p>
          <a:p>
            <a:pPr marL="400050" indent="0">
              <a:buNone/>
            </a:pPr>
            <a:endParaRPr lang="fr-FR" dirty="0"/>
          </a:p>
        </p:txBody>
      </p:sp>
      <p:sp>
        <p:nvSpPr>
          <p:cNvPr id="11" name="TextBox 10">
            <a:extLst>
              <a:ext uri="{FF2B5EF4-FFF2-40B4-BE49-F238E27FC236}">
                <a16:creationId xmlns:a16="http://schemas.microsoft.com/office/drawing/2014/main" id="{EC9AF051-6FAA-08A1-1DBB-CEA4BD09F16B}"/>
              </a:ext>
            </a:extLst>
          </p:cNvPr>
          <p:cNvSpPr txBox="1"/>
          <p:nvPr/>
        </p:nvSpPr>
        <p:spPr>
          <a:xfrm>
            <a:off x="276422" y="1907036"/>
            <a:ext cx="8329296" cy="1077218"/>
          </a:xfrm>
          <a:prstGeom prst="rect">
            <a:avLst/>
          </a:prstGeom>
          <a:noFill/>
        </p:spPr>
        <p:txBody>
          <a:bodyPr wrap="square">
            <a:spAutoFit/>
          </a:bodyPr>
          <a:lstStyle/>
          <a:p>
            <a:pPr marL="857250" indent="-285750">
              <a:buFont typeface="Wingdings" panose="05000000000000000000" pitchFamily="2" charset="2"/>
              <a:buChar char="q"/>
            </a:pPr>
            <a:r>
              <a:rPr lang="fr-FR" sz="1400" dirty="0">
                <a:latin typeface="Bookman Old Style" panose="02050604050505020204" pitchFamily="18" charset="0"/>
                <a:cs typeface="Times New Roman" pitchFamily="18" charset="0"/>
              </a:rPr>
              <a:t>L’admittance est  </a:t>
            </a:r>
            <a:r>
              <a:rPr lang="fr-FR" sz="1400" b="1" u="sng" dirty="0">
                <a:latin typeface="Garamond" panose="02020404030301010803" pitchFamily="18" charset="0"/>
                <a:cs typeface="Times New Roman" pitchFamily="18" charset="0"/>
              </a:rPr>
              <a:t>Y</a:t>
            </a:r>
            <a:r>
              <a:rPr lang="fr-FR" sz="1400" b="1" baseline="-25000" dirty="0">
                <a:latin typeface="Garamond" panose="02020404030301010803" pitchFamily="18" charset="0"/>
                <a:cs typeface="Times New Roman" pitchFamily="18" charset="0"/>
              </a:rPr>
              <a:t>L</a:t>
            </a:r>
            <a:r>
              <a:rPr lang="fr-FR" sz="1400" b="1" dirty="0">
                <a:latin typeface="Garamond" panose="02020404030301010803" pitchFamily="18" charset="0"/>
                <a:cs typeface="Times New Roman" pitchFamily="18" charset="0"/>
              </a:rPr>
              <a:t>= 1/</a:t>
            </a:r>
            <a:r>
              <a:rPr lang="fr-FR" sz="1400" b="1" dirty="0" err="1">
                <a:latin typeface="Garamond" panose="02020404030301010803" pitchFamily="18" charset="0"/>
                <a:cs typeface="Times New Roman" pitchFamily="18" charset="0"/>
              </a:rPr>
              <a:t>jL</a:t>
            </a:r>
            <a:r>
              <a:rPr lang="el-GR" sz="1400" b="1" dirty="0">
                <a:latin typeface="Garamond" panose="02020404030301010803" pitchFamily="18" charset="0"/>
                <a:cs typeface="Times New Roman" pitchFamily="18" charset="0"/>
              </a:rPr>
              <a:t>ω</a:t>
            </a:r>
            <a:endParaRPr lang="fr-FR" b="1" dirty="0">
              <a:latin typeface="Garamond" panose="02020404030301010803" pitchFamily="18" charset="0"/>
            </a:endParaRPr>
          </a:p>
          <a:p>
            <a:pPr indent="0">
              <a:buNone/>
            </a:pPr>
            <a:endParaRPr lang="fr-FR" dirty="0"/>
          </a:p>
          <a:p>
            <a:pPr marL="857250" indent="-285750">
              <a:buFont typeface="Wingdings" panose="05000000000000000000" pitchFamily="2" charset="2"/>
              <a:buChar char="q"/>
            </a:pPr>
            <a:r>
              <a:rPr lang="fr-FR" sz="1400" dirty="0">
                <a:latin typeface="Bookman Old Style" panose="02050604050505020204" pitchFamily="18" charset="0"/>
                <a:cs typeface="Times New Roman" pitchFamily="18" charset="0"/>
              </a:rPr>
              <a:t>Elle est purement imaginaire, le digramme de Fresnel est le suivant:</a:t>
            </a:r>
          </a:p>
          <a:p>
            <a:pPr marL="285750" indent="-285750" algn="just">
              <a:buFont typeface="Wingdings" panose="05000000000000000000" pitchFamily="2" charset="2"/>
              <a:buChar char="q"/>
            </a:pPr>
            <a:endParaRPr lang="fr-FR" sz="1800" dirty="0">
              <a:latin typeface="Bookman Old Style" panose="02050604050505020204" pitchFamily="18" charset="0"/>
              <a:cs typeface="Times New Roman" pitchFamily="18" charset="0"/>
            </a:endParaRPr>
          </a:p>
        </p:txBody>
      </p:sp>
      <p:pic>
        <p:nvPicPr>
          <p:cNvPr id="3" name="Picture 3">
            <a:extLst>
              <a:ext uri="{FF2B5EF4-FFF2-40B4-BE49-F238E27FC236}">
                <a16:creationId xmlns:a16="http://schemas.microsoft.com/office/drawing/2014/main" id="{4CCC4595-1ED0-1C0F-FB1E-BB670AD2EDF5}"/>
              </a:ext>
            </a:extLst>
          </p:cNvPr>
          <p:cNvPicPr>
            <a:picLocks noChangeAspect="1" noChangeArrowheads="1"/>
          </p:cNvPicPr>
          <p:nvPr/>
        </p:nvPicPr>
        <p:blipFill>
          <a:blip r:embed="rId3"/>
          <a:srcRect/>
          <a:stretch>
            <a:fillRect/>
          </a:stretch>
        </p:blipFill>
        <p:spPr bwMode="auto">
          <a:xfrm>
            <a:off x="5659905" y="3235057"/>
            <a:ext cx="2857500" cy="1857375"/>
          </a:xfrm>
          <a:prstGeom prst="rect">
            <a:avLst/>
          </a:prstGeom>
          <a:noFill/>
          <a:ln w="9525">
            <a:noFill/>
            <a:miter lim="800000"/>
            <a:headEnd/>
            <a:tailEnd/>
          </a:ln>
          <a:effectLst/>
        </p:spPr>
      </p:pic>
      <p:sp>
        <p:nvSpPr>
          <p:cNvPr id="13" name="TextBox 12">
            <a:extLst>
              <a:ext uri="{FF2B5EF4-FFF2-40B4-BE49-F238E27FC236}">
                <a16:creationId xmlns:a16="http://schemas.microsoft.com/office/drawing/2014/main" id="{24390862-0B22-72E1-B010-4CF1DC0BB244}"/>
              </a:ext>
            </a:extLst>
          </p:cNvPr>
          <p:cNvSpPr txBox="1"/>
          <p:nvPr/>
        </p:nvSpPr>
        <p:spPr>
          <a:xfrm>
            <a:off x="276422" y="2999739"/>
            <a:ext cx="8775839" cy="523220"/>
          </a:xfrm>
          <a:prstGeom prst="rect">
            <a:avLst/>
          </a:prstGeom>
          <a:noFill/>
        </p:spPr>
        <p:txBody>
          <a:bodyPr wrap="square">
            <a:spAutoFit/>
          </a:bodyPr>
          <a:lstStyle/>
          <a:p>
            <a:pPr marL="857250" indent="-285750" algn="just">
              <a:buFont typeface="Wingdings" panose="05000000000000000000" pitchFamily="2" charset="2"/>
              <a:buChar char="q"/>
            </a:pPr>
            <a:r>
              <a:rPr lang="fr-FR" sz="1400" dirty="0">
                <a:latin typeface="Bookman Old Style" panose="02050604050505020204" pitchFamily="18" charset="0"/>
                <a:cs typeface="Times New Roman" pitchFamily="18" charset="0"/>
              </a:rPr>
              <a:t>On constate que le module de l’impédance d’une inductance varie linéairement en fonction de la fréquence.</a:t>
            </a:r>
          </a:p>
        </p:txBody>
      </p:sp>
      <p:sp>
        <p:nvSpPr>
          <p:cNvPr id="20" name="TextBox 19">
            <a:extLst>
              <a:ext uri="{FF2B5EF4-FFF2-40B4-BE49-F238E27FC236}">
                <a16:creationId xmlns:a16="http://schemas.microsoft.com/office/drawing/2014/main" id="{9C024190-7BC2-378A-490E-04DF17C2038B}"/>
              </a:ext>
            </a:extLst>
          </p:cNvPr>
          <p:cNvSpPr txBox="1"/>
          <p:nvPr/>
        </p:nvSpPr>
        <p:spPr>
          <a:xfrm>
            <a:off x="1071127" y="3867150"/>
            <a:ext cx="4588778" cy="646331"/>
          </a:xfrm>
          <a:prstGeom prst="rect">
            <a:avLst/>
          </a:prstGeom>
          <a:noFill/>
        </p:spPr>
        <p:txBody>
          <a:bodyPr wrap="square">
            <a:spAutoFit/>
          </a:bodyPr>
          <a:lstStyle/>
          <a:p>
            <a:pPr indent="0">
              <a:buNone/>
            </a:pPr>
            <a:r>
              <a:rPr lang="fr-FR" sz="1800" b="1" dirty="0">
                <a:latin typeface="Bookman Old Style" panose="02050604050505020204" pitchFamily="18" charset="0"/>
                <a:cs typeface="Times New Roman" pitchFamily="18" charset="0"/>
              </a:rPr>
              <a:t>Si </a:t>
            </a:r>
            <a:r>
              <a:rPr lang="fr-FR" sz="1800" b="1" i="1" dirty="0">
                <a:latin typeface="Bookman Old Style" panose="02050604050505020204" pitchFamily="18" charset="0"/>
                <a:cs typeface="Times New Roman" panose="02020603050405020304" pitchFamily="18" charset="0"/>
              </a:rPr>
              <a:t>f</a:t>
            </a:r>
            <a:r>
              <a:rPr lang="fr-FR" sz="1800" b="1" dirty="0">
                <a:latin typeface="Bookman Old Style" panose="02050604050505020204" pitchFamily="18" charset="0"/>
                <a:cs typeface="Times New Roman" pitchFamily="18" charset="0"/>
              </a:rPr>
              <a:t> → 0         Z</a:t>
            </a:r>
            <a:r>
              <a:rPr lang="fr-FR" sz="1800" b="1" baseline="-25000" dirty="0">
                <a:latin typeface="Bookman Old Style" panose="02050604050505020204" pitchFamily="18" charset="0"/>
                <a:cs typeface="Times New Roman" pitchFamily="18" charset="0"/>
              </a:rPr>
              <a:t>L</a:t>
            </a:r>
            <a:r>
              <a:rPr lang="fr-FR" sz="1800" b="1" dirty="0">
                <a:latin typeface="Bookman Old Style" panose="02050604050505020204" pitchFamily="18" charset="0"/>
                <a:cs typeface="Times New Roman" pitchFamily="18" charset="0"/>
              </a:rPr>
              <a:t> → 0   (Court-circuit)</a:t>
            </a:r>
          </a:p>
          <a:p>
            <a:pPr indent="0">
              <a:buNone/>
            </a:pPr>
            <a:r>
              <a:rPr lang="fr-FR" sz="1800" b="1" dirty="0">
                <a:latin typeface="Bookman Old Style" panose="02050604050505020204" pitchFamily="18" charset="0"/>
                <a:cs typeface="Times New Roman" pitchFamily="18" charset="0"/>
              </a:rPr>
              <a:t>Si </a:t>
            </a:r>
            <a:r>
              <a:rPr lang="fr-FR" sz="1800" b="1" i="1" dirty="0">
                <a:latin typeface="Bookman Old Style" panose="02050604050505020204" pitchFamily="18" charset="0"/>
                <a:cs typeface="Times New Roman" panose="02020603050405020304" pitchFamily="18" charset="0"/>
              </a:rPr>
              <a:t>f</a:t>
            </a:r>
            <a:r>
              <a:rPr lang="fr-FR" sz="1800" b="1" dirty="0">
                <a:latin typeface="Bookman Old Style" panose="02050604050505020204" pitchFamily="18" charset="0"/>
                <a:cs typeface="Times New Roman" pitchFamily="18" charset="0"/>
              </a:rPr>
              <a:t> → ∞        Z</a:t>
            </a:r>
            <a:r>
              <a:rPr lang="fr-FR" sz="1800" b="1" baseline="-25000" dirty="0">
                <a:latin typeface="Bookman Old Style" panose="02050604050505020204" pitchFamily="18" charset="0"/>
                <a:cs typeface="Times New Roman" pitchFamily="18" charset="0"/>
              </a:rPr>
              <a:t>L</a:t>
            </a:r>
            <a:r>
              <a:rPr lang="fr-FR" sz="1800" b="1" dirty="0">
                <a:latin typeface="Bookman Old Style" panose="02050604050505020204" pitchFamily="18" charset="0"/>
                <a:cs typeface="Times New Roman" pitchFamily="18" charset="0"/>
              </a:rPr>
              <a:t> → ∞  (Circuit ouvert)</a:t>
            </a:r>
            <a:endParaRPr lang="fr-FR" b="1" dirty="0">
              <a:latin typeface="Bookman Old Style" panose="02050604050505020204" pitchFamily="18" charset="0"/>
            </a:endParaRPr>
          </a:p>
        </p:txBody>
      </p:sp>
    </p:spTree>
    <p:extLst>
      <p:ext uri="{BB962C8B-B14F-4D97-AF65-F5344CB8AC3E}">
        <p14:creationId xmlns:p14="http://schemas.microsoft.com/office/powerpoint/2010/main" val="27876876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73</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4.4 </a:t>
            </a:r>
            <a:r>
              <a:rPr lang="fr-FR" altLang="fr-FR" sz="1400" b="1" spc="-5" dirty="0">
                <a:solidFill>
                  <a:srgbClr val="CC00CC"/>
                </a:solidFill>
                <a:latin typeface="Bookman Old Style" panose="02050604050505020204" pitchFamily="18" charset="0"/>
                <a:cs typeface="Arial"/>
              </a:rPr>
              <a:t>Impédance et admittance</a:t>
            </a:r>
          </a:p>
          <a:p>
            <a:pPr marL="12065" lvl="1">
              <a:lnSpc>
                <a:spcPct val="100000"/>
              </a:lnSpc>
              <a:spcBef>
                <a:spcPts val="100"/>
              </a:spcBef>
              <a:tabLst>
                <a:tab pos="393700" algn="l"/>
              </a:tabLst>
            </a:pPr>
            <a:r>
              <a:rPr lang="fr-FR" altLang="fr-FR" sz="1400" b="1" spc="-5" dirty="0">
                <a:solidFill>
                  <a:srgbClr val="C00000"/>
                </a:solidFill>
                <a:latin typeface="Bookman Old Style" panose="02050604050505020204" pitchFamily="18" charset="0"/>
                <a:cs typeface="Arial"/>
              </a:rPr>
              <a:t>    D. Impédances complexes des dipôles de base</a:t>
            </a:r>
            <a:endParaRPr lang="fr-FR" sz="1400" b="1" spc="-5" dirty="0">
              <a:solidFill>
                <a:srgbClr val="CC00CC"/>
              </a:solidFill>
              <a:latin typeface="Bookman Old Style" panose="02050604050505020204" pitchFamily="18" charset="0"/>
              <a:cs typeface="Arial"/>
            </a:endParaRPr>
          </a:p>
        </p:txBody>
      </p:sp>
      <p:sp>
        <p:nvSpPr>
          <p:cNvPr id="5" name="TextBox 4">
            <a:extLst>
              <a:ext uri="{FF2B5EF4-FFF2-40B4-BE49-F238E27FC236}">
                <a16:creationId xmlns:a16="http://schemas.microsoft.com/office/drawing/2014/main" id="{ECC40ACE-36D6-BD19-50FB-84A567DE3B8B}"/>
              </a:ext>
            </a:extLst>
          </p:cNvPr>
          <p:cNvSpPr txBox="1"/>
          <p:nvPr/>
        </p:nvSpPr>
        <p:spPr>
          <a:xfrm>
            <a:off x="550646" y="1430565"/>
            <a:ext cx="8374234" cy="800219"/>
          </a:xfrm>
          <a:prstGeom prst="rect">
            <a:avLst/>
          </a:prstGeom>
          <a:noFill/>
        </p:spPr>
        <p:txBody>
          <a:bodyPr wrap="square">
            <a:spAutoFit/>
          </a:bodyPr>
          <a:lstStyle>
            <a:defPPr>
              <a:defRPr lang="fr-FR"/>
            </a:defPPr>
            <a:lvl1pPr marL="685800" indent="-285750" algn="just">
              <a:buFont typeface="Wingdings" panose="05000000000000000000" pitchFamily="2" charset="2"/>
              <a:buChar char="q"/>
              <a:defRPr sz="1500">
                <a:latin typeface="Bookman Old Style" panose="02050604050505020204" pitchFamily="18" charset="0"/>
                <a:cs typeface="Times New Roman" pitchFamily="18" charset="0"/>
              </a:defRPr>
            </a:lvl1pPr>
          </a:lstStyle>
          <a:p>
            <a:pPr marL="400050" indent="0">
              <a:buNone/>
            </a:pPr>
            <a:r>
              <a:rPr lang="fr-FR" altLang="fr-FR" sz="1600" b="1" u="sng" dirty="0">
                <a:solidFill>
                  <a:srgbClr val="0000FF"/>
                </a:solidFill>
                <a:cs typeface="Browallia New" panose="020B0604020202020204" pitchFamily="34" charset="-34"/>
              </a:rPr>
              <a:t>Capacité :</a:t>
            </a:r>
            <a:endParaRPr lang="fr-FR" sz="1600" b="1" u="sng" dirty="0">
              <a:solidFill>
                <a:srgbClr val="0000FF"/>
              </a:solidFill>
              <a:cs typeface="Browallia New" panose="020B0604020202020204" pitchFamily="34" charset="-34"/>
            </a:endParaRPr>
          </a:p>
          <a:p>
            <a:pPr marL="400050" indent="0">
              <a:buNone/>
            </a:pPr>
            <a:endParaRPr lang="fr-FR" dirty="0"/>
          </a:p>
          <a:p>
            <a:pPr marL="400050" indent="0">
              <a:buNone/>
            </a:pPr>
            <a:endParaRPr lang="fr-FR" dirty="0"/>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BFFCD2C-45FF-CF2D-647B-D64D0062B038}"/>
                  </a:ext>
                </a:extLst>
              </p:cNvPr>
              <p:cNvSpPr txBox="1"/>
              <p:nvPr/>
            </p:nvSpPr>
            <p:spPr>
              <a:xfrm>
                <a:off x="716756" y="1916780"/>
                <a:ext cx="8317056" cy="3396507"/>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r>
                  <a:rPr lang="fr-FR" dirty="0"/>
                  <a:t>Pour une capacité, la relation en valeurs instantanées entre le courant est la tension est donnée par: </a:t>
                </a:r>
                <a14:m>
                  <m:oMath xmlns:m="http://schemas.openxmlformats.org/officeDocument/2006/math">
                    <m:r>
                      <a:rPr lang="fr-FR">
                        <a:latin typeface="Cambria Math" panose="02040503050406030204" pitchFamily="18" charset="0"/>
                      </a:rPr>
                      <m:t>𝐢</m:t>
                    </m:r>
                    <m:r>
                      <a:rPr lang="fr-FR">
                        <a:latin typeface="Cambria Math" panose="02040503050406030204" pitchFamily="18" charset="0"/>
                      </a:rPr>
                      <m:t>=</m:t>
                    </m:r>
                    <m:r>
                      <a:rPr lang="fr-FR">
                        <a:latin typeface="Cambria Math" panose="02040503050406030204" pitchFamily="18" charset="0"/>
                      </a:rPr>
                      <m:t>𝐂</m:t>
                    </m:r>
                    <m:f>
                      <m:fPr>
                        <m:ctrlPr>
                          <a:rPr lang="fr-FR" i="1">
                            <a:latin typeface="Cambria Math" panose="02040503050406030204" pitchFamily="18" charset="0"/>
                          </a:rPr>
                        </m:ctrlPr>
                      </m:fPr>
                      <m:num>
                        <m:r>
                          <a:rPr lang="fr-FR">
                            <a:latin typeface="Cambria Math" panose="02040503050406030204" pitchFamily="18" charset="0"/>
                          </a:rPr>
                          <m:t>𝐝𝐯</m:t>
                        </m:r>
                      </m:num>
                      <m:den>
                        <m:r>
                          <a:rPr lang="fr-FR">
                            <a:latin typeface="Cambria Math" panose="02040503050406030204" pitchFamily="18" charset="0"/>
                          </a:rPr>
                          <m:t>𝐝𝐭</m:t>
                        </m:r>
                      </m:den>
                    </m:f>
                  </m:oMath>
                </a14:m>
                <a:r>
                  <a:rPr lang="fr-FR" dirty="0"/>
                  <a:t> qui se traduit pour le régime sinusoïdal en valeur complexe:</a:t>
                </a:r>
              </a:p>
              <a:p>
                <a:pPr marL="0" indent="0">
                  <a:buNone/>
                </a:pPr>
                <a:endParaRPr lang="fr-FR" dirty="0">
                  <a:latin typeface="Garamond" panose="02020404030301010803" pitchFamily="18" charset="0"/>
                </a:endParaRPr>
              </a:p>
              <a:p>
                <a:pPr marL="0" indent="0">
                  <a:buNone/>
                </a:pPr>
                <a:endParaRPr lang="fr-FR" dirty="0">
                  <a:latin typeface="Garamond" panose="02020404030301010803" pitchFamily="18" charset="0"/>
                </a:endParaRPr>
              </a:p>
              <a:p>
                <a:pPr marL="0" indent="0" algn="ctr">
                  <a:buNone/>
                </a:pPr>
                <a:r>
                  <a:rPr lang="fr-FR" sz="1800" b="1" u="sng" dirty="0">
                    <a:latin typeface="Garamond" panose="02020404030301010803" pitchFamily="18" charset="0"/>
                    <a:cs typeface="Times New Roman" pitchFamily="18" charset="0"/>
                  </a:rPr>
                  <a:t>I</a:t>
                </a:r>
                <a:r>
                  <a:rPr lang="fr-FR" sz="1800" b="1" dirty="0">
                    <a:latin typeface="Garamond" panose="02020404030301010803" pitchFamily="18" charset="0"/>
                    <a:cs typeface="Times New Roman" pitchFamily="18" charset="0"/>
                  </a:rPr>
                  <a:t> = </a:t>
                </a:r>
                <a:r>
                  <a:rPr lang="fr-FR" sz="1800" b="1" dirty="0" err="1">
                    <a:latin typeface="Garamond" panose="02020404030301010803" pitchFamily="18" charset="0"/>
                    <a:cs typeface="Times New Roman" pitchFamily="18" charset="0"/>
                  </a:rPr>
                  <a:t>jC</a:t>
                </a:r>
                <a:r>
                  <a:rPr lang="el-GR" sz="1800" b="1" dirty="0">
                    <a:latin typeface="Garamond" panose="02020404030301010803" pitchFamily="18" charset="0"/>
                    <a:cs typeface="Times New Roman" pitchFamily="18" charset="0"/>
                  </a:rPr>
                  <a:t>ω</a:t>
                </a:r>
                <a:r>
                  <a:rPr lang="fr-FR" sz="1800" b="1" u="sng" dirty="0">
                    <a:latin typeface="Garamond" panose="02020404030301010803" pitchFamily="18" charset="0"/>
                    <a:cs typeface="Times New Roman" pitchFamily="18" charset="0"/>
                  </a:rPr>
                  <a:t>V</a:t>
                </a:r>
              </a:p>
              <a:p>
                <a:pPr marL="0" indent="0" algn="ctr">
                  <a:buNone/>
                </a:pPr>
                <a:endParaRPr lang="fr-FR" sz="1800" b="1" u="sng" dirty="0">
                  <a:latin typeface="Garamond" panose="02020404030301010803" pitchFamily="18" charset="0"/>
                </a:endParaRPr>
              </a:p>
              <a:p>
                <a:r>
                  <a:rPr lang="fr-FR" dirty="0"/>
                  <a:t>L’impédance complexe d’une inductance est donnée par: </a:t>
                </a:r>
              </a:p>
              <a:p>
                <a:endParaRPr lang="fr-FR" dirty="0"/>
              </a:p>
              <a:p>
                <a:pPr marL="0" indent="0">
                  <a:buNone/>
                </a:pPr>
                <a:endParaRPr lang="fr-FR" dirty="0"/>
              </a:p>
              <a:p>
                <a:pPr marL="0" indent="0" algn="ctr">
                  <a:buNone/>
                </a:pPr>
                <a14:m>
                  <m:oMath xmlns:m="http://schemas.openxmlformats.org/officeDocument/2006/math">
                    <m:bar>
                      <m:barPr>
                        <m:ctrlPr>
                          <a:rPr lang="fr-FR" sz="1800" b="1" i="1" smtClean="0">
                            <a:latin typeface="Cambria Math" panose="02040503050406030204" pitchFamily="18" charset="0"/>
                            <a:cs typeface="Times New Roman" pitchFamily="18" charset="0"/>
                          </a:rPr>
                        </m:ctrlPr>
                      </m:barPr>
                      <m:e>
                        <m:sSub>
                          <m:sSubPr>
                            <m:ctrlPr>
                              <a:rPr lang="fr-FR" sz="1800" b="1" i="1" smtClean="0">
                                <a:latin typeface="Cambria Math" panose="02040503050406030204" pitchFamily="18" charset="0"/>
                                <a:cs typeface="Times New Roman" pitchFamily="18" charset="0"/>
                              </a:rPr>
                            </m:ctrlPr>
                          </m:sSubPr>
                          <m:e>
                            <m:r>
                              <a:rPr lang="fr-FR" sz="1800" b="1" i="0" smtClean="0">
                                <a:latin typeface="Cambria Math" panose="02040503050406030204" pitchFamily="18" charset="0"/>
                                <a:cs typeface="Times New Roman" pitchFamily="18" charset="0"/>
                              </a:rPr>
                              <m:t>𝐙</m:t>
                            </m:r>
                          </m:e>
                          <m:sub>
                            <m:r>
                              <a:rPr lang="fr-FR" sz="1800" b="1" i="0" smtClean="0">
                                <a:latin typeface="Cambria Math" panose="02040503050406030204" pitchFamily="18" charset="0"/>
                                <a:cs typeface="Times New Roman" pitchFamily="18" charset="0"/>
                              </a:rPr>
                              <m:t>𝐂</m:t>
                            </m:r>
                          </m:sub>
                        </m:sSub>
                      </m:e>
                    </m:bar>
                    <m:r>
                      <a:rPr lang="fr-FR" sz="1800" b="1" i="0" smtClean="0">
                        <a:latin typeface="Cambria Math" panose="02040503050406030204" pitchFamily="18" charset="0"/>
                        <a:cs typeface="Times New Roman" pitchFamily="18" charset="0"/>
                      </a:rPr>
                      <m:t>=</m:t>
                    </m:r>
                    <m:f>
                      <m:fPr>
                        <m:ctrlPr>
                          <a:rPr lang="fr-FR" sz="1800" b="1" i="1" smtClean="0">
                            <a:latin typeface="Cambria Math" panose="02040503050406030204" pitchFamily="18" charset="0"/>
                            <a:cs typeface="Times New Roman" pitchFamily="18" charset="0"/>
                          </a:rPr>
                        </m:ctrlPr>
                      </m:fPr>
                      <m:num>
                        <m:r>
                          <a:rPr lang="fr-FR" sz="1800" b="1" i="0" smtClean="0">
                            <a:latin typeface="Cambria Math" panose="02040503050406030204" pitchFamily="18" charset="0"/>
                            <a:cs typeface="Times New Roman" pitchFamily="18" charset="0"/>
                          </a:rPr>
                          <m:t>𝟏</m:t>
                        </m:r>
                      </m:num>
                      <m:den>
                        <m:r>
                          <a:rPr lang="fr-FR" sz="1800" b="1" i="0" smtClean="0">
                            <a:latin typeface="Cambria Math" panose="02040503050406030204" pitchFamily="18" charset="0"/>
                            <a:cs typeface="Times New Roman" pitchFamily="18" charset="0"/>
                          </a:rPr>
                          <m:t>𝐣𝐂</m:t>
                        </m:r>
                        <m:r>
                          <m:rPr>
                            <m:nor/>
                          </m:rPr>
                          <a:rPr lang="el-GR" sz="1800" b="1" dirty="0">
                            <a:latin typeface="Garamond" panose="02020404030301010803" pitchFamily="18" charset="0"/>
                          </a:rPr>
                          <m:t>ω</m:t>
                        </m:r>
                      </m:den>
                    </m:f>
                  </m:oMath>
                </a14:m>
                <a:r>
                  <a:rPr lang="fr-FR" sz="1800" b="1" dirty="0">
                    <a:latin typeface="Garamond" panose="02020404030301010803" pitchFamily="18" charset="0"/>
                    <a:cs typeface="Times New Roman" pitchFamily="18" charset="0"/>
                  </a:rPr>
                  <a:t> et </a:t>
                </a:r>
                <a:r>
                  <a:rPr lang="fr-FR" sz="1800" b="1" dirty="0" err="1">
                    <a:latin typeface="Symbol" pitchFamily="18" charset="2"/>
                    <a:cs typeface="Times New Roman" pitchFamily="18" charset="0"/>
                  </a:rPr>
                  <a:t>j</a:t>
                </a:r>
                <a:r>
                  <a:rPr lang="fr-FR" sz="1800" b="1" baseline="-25000" dirty="0" err="1">
                    <a:latin typeface="Garamond" panose="02020404030301010803" pitchFamily="18" charset="0"/>
                    <a:cs typeface="Times New Roman" pitchFamily="18" charset="0"/>
                  </a:rPr>
                  <a:t>C</a:t>
                </a:r>
                <a:r>
                  <a:rPr lang="fr-FR" sz="1800" b="1" dirty="0">
                    <a:latin typeface="Garamond" panose="02020404030301010803" pitchFamily="18" charset="0"/>
                    <a:cs typeface="Times New Roman" pitchFamily="18" charset="0"/>
                  </a:rPr>
                  <a:t> = -</a:t>
                </a:r>
                <a:r>
                  <a:rPr lang="fr-FR" sz="1800" b="1" dirty="0">
                    <a:latin typeface="Symbol" pitchFamily="18" charset="2"/>
                    <a:cs typeface="Times New Roman" pitchFamily="18" charset="0"/>
                  </a:rPr>
                  <a:t>p</a:t>
                </a:r>
                <a:r>
                  <a:rPr lang="fr-FR" sz="1800" b="1" dirty="0">
                    <a:latin typeface="Garamond" panose="02020404030301010803" pitchFamily="18" charset="0"/>
                    <a:cs typeface="Times New Roman" pitchFamily="18" charset="0"/>
                  </a:rPr>
                  <a:t>/2</a:t>
                </a:r>
              </a:p>
              <a:p>
                <a:pPr marL="0" indent="0">
                  <a:buNone/>
                </a:pPr>
                <a:endParaRPr lang="fr-FR" dirty="0"/>
              </a:p>
              <a:p>
                <a:pPr marL="0" indent="0" algn="ctr">
                  <a:buNone/>
                </a:pPr>
                <a:endParaRPr lang="fr-FR" sz="1800" b="1" dirty="0">
                  <a:latin typeface="Garamond" panose="02020404030301010803" pitchFamily="18" charset="0"/>
                  <a:cs typeface="Times New Roman" pitchFamily="18" charset="0"/>
                </a:endParaRPr>
              </a:p>
              <a:p>
                <a:endParaRPr lang="fr-FR" dirty="0"/>
              </a:p>
            </p:txBody>
          </p:sp>
        </mc:Choice>
        <mc:Fallback xmlns="">
          <p:sp>
            <p:nvSpPr>
              <p:cNvPr id="16" name="TextBox 15">
                <a:extLst>
                  <a:ext uri="{FF2B5EF4-FFF2-40B4-BE49-F238E27FC236}">
                    <a16:creationId xmlns:a16="http://schemas.microsoft.com/office/drawing/2014/main" id="{0BFFCD2C-45FF-CF2D-647B-D64D0062B038}"/>
                  </a:ext>
                </a:extLst>
              </p:cNvPr>
              <p:cNvSpPr txBox="1">
                <a:spLocks noRot="1" noChangeAspect="1" noMove="1" noResize="1" noEditPoints="1" noAdjustHandles="1" noChangeArrowheads="1" noChangeShapeType="1" noTextEdit="1"/>
              </p:cNvSpPr>
              <p:nvPr/>
            </p:nvSpPr>
            <p:spPr>
              <a:xfrm>
                <a:off x="716756" y="1916780"/>
                <a:ext cx="8317056" cy="3396507"/>
              </a:xfrm>
              <a:prstGeom prst="rect">
                <a:avLst/>
              </a:prstGeom>
              <a:blipFill>
                <a:blip r:embed="rId3"/>
                <a:stretch>
                  <a:fillRect l="-147" t="-179" r="-220"/>
                </a:stretch>
              </a:blipFill>
            </p:spPr>
            <p:txBody>
              <a:bodyPr/>
              <a:lstStyle/>
              <a:p>
                <a:r>
                  <a:rPr lang="fr-FR">
                    <a:noFill/>
                  </a:rPr>
                  <a:t> </a:t>
                </a:r>
              </a:p>
            </p:txBody>
          </p:sp>
        </mc:Fallback>
      </mc:AlternateContent>
    </p:spTree>
    <p:extLst>
      <p:ext uri="{BB962C8B-B14F-4D97-AF65-F5344CB8AC3E}">
        <p14:creationId xmlns:p14="http://schemas.microsoft.com/office/powerpoint/2010/main" val="145623257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74</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536044"/>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4.4 </a:t>
            </a:r>
            <a:r>
              <a:rPr lang="fr-FR" altLang="fr-FR" sz="1400" b="1" spc="-5" dirty="0">
                <a:solidFill>
                  <a:srgbClr val="CC00CC"/>
                </a:solidFill>
                <a:latin typeface="Bookman Old Style" panose="02050604050505020204" pitchFamily="18" charset="0"/>
                <a:cs typeface="Arial"/>
              </a:rPr>
              <a:t>Impédance et admittance</a:t>
            </a:r>
          </a:p>
          <a:p>
            <a:pPr marL="12065" lvl="1">
              <a:lnSpc>
                <a:spcPct val="100000"/>
              </a:lnSpc>
              <a:spcBef>
                <a:spcPts val="100"/>
              </a:spcBef>
              <a:tabLst>
                <a:tab pos="393700" algn="l"/>
              </a:tabLst>
            </a:pPr>
            <a:r>
              <a:rPr lang="fr-FR" altLang="fr-FR" sz="1400" b="1" spc="-5" dirty="0">
                <a:solidFill>
                  <a:srgbClr val="C00000"/>
                </a:solidFill>
                <a:latin typeface="Bookman Old Style" panose="02050604050505020204" pitchFamily="18" charset="0"/>
                <a:cs typeface="Arial"/>
              </a:rPr>
              <a:t>    D. Impédances complexes des dipôles de base</a:t>
            </a:r>
            <a:endParaRPr lang="fr-FR" sz="1400" b="1" spc="-5" dirty="0">
              <a:solidFill>
                <a:srgbClr val="CC00CC"/>
              </a:solidFill>
              <a:latin typeface="Bookman Old Style" panose="02050604050505020204" pitchFamily="18" charset="0"/>
              <a:cs typeface="Arial"/>
            </a:endParaRPr>
          </a:p>
        </p:txBody>
      </p:sp>
      <p:sp>
        <p:nvSpPr>
          <p:cNvPr id="5" name="TextBox 4">
            <a:extLst>
              <a:ext uri="{FF2B5EF4-FFF2-40B4-BE49-F238E27FC236}">
                <a16:creationId xmlns:a16="http://schemas.microsoft.com/office/drawing/2014/main" id="{ECC40ACE-36D6-BD19-50FB-84A567DE3B8B}"/>
              </a:ext>
            </a:extLst>
          </p:cNvPr>
          <p:cNvSpPr txBox="1"/>
          <p:nvPr/>
        </p:nvSpPr>
        <p:spPr>
          <a:xfrm>
            <a:off x="550646" y="1430565"/>
            <a:ext cx="8374234" cy="800219"/>
          </a:xfrm>
          <a:prstGeom prst="rect">
            <a:avLst/>
          </a:prstGeom>
          <a:noFill/>
        </p:spPr>
        <p:txBody>
          <a:bodyPr wrap="square">
            <a:spAutoFit/>
          </a:bodyPr>
          <a:lstStyle>
            <a:defPPr>
              <a:defRPr lang="fr-FR"/>
            </a:defPPr>
            <a:lvl1pPr marL="685800" indent="-285750" algn="just">
              <a:buFont typeface="Wingdings" panose="05000000000000000000" pitchFamily="2" charset="2"/>
              <a:buChar char="q"/>
              <a:defRPr sz="1500">
                <a:latin typeface="Bookman Old Style" panose="02050604050505020204" pitchFamily="18" charset="0"/>
                <a:cs typeface="Times New Roman" pitchFamily="18" charset="0"/>
              </a:defRPr>
            </a:lvl1pPr>
          </a:lstStyle>
          <a:p>
            <a:pPr marL="400050" indent="0">
              <a:buNone/>
            </a:pPr>
            <a:r>
              <a:rPr lang="fr-FR" altLang="fr-FR" sz="1600" b="1" u="sng" dirty="0">
                <a:solidFill>
                  <a:srgbClr val="0000FF"/>
                </a:solidFill>
                <a:cs typeface="Browallia New" panose="020B0604020202020204" pitchFamily="34" charset="-34"/>
              </a:rPr>
              <a:t>Capacité :</a:t>
            </a:r>
            <a:endParaRPr lang="fr-FR" sz="1600" b="1" u="sng" dirty="0">
              <a:solidFill>
                <a:srgbClr val="0000FF"/>
              </a:solidFill>
              <a:cs typeface="Browallia New" panose="020B0604020202020204" pitchFamily="34" charset="-34"/>
            </a:endParaRPr>
          </a:p>
          <a:p>
            <a:pPr marL="400050" indent="0">
              <a:buNone/>
            </a:pPr>
            <a:endParaRPr lang="fr-FR" dirty="0"/>
          </a:p>
          <a:p>
            <a:pPr marL="400050" indent="0">
              <a:buNone/>
            </a:pPr>
            <a:endParaRPr lang="fr-FR" dirty="0"/>
          </a:p>
        </p:txBody>
      </p:sp>
      <p:sp>
        <p:nvSpPr>
          <p:cNvPr id="16" name="TextBox 15">
            <a:extLst>
              <a:ext uri="{FF2B5EF4-FFF2-40B4-BE49-F238E27FC236}">
                <a16:creationId xmlns:a16="http://schemas.microsoft.com/office/drawing/2014/main" id="{0BFFCD2C-45FF-CF2D-647B-D64D0062B038}"/>
              </a:ext>
            </a:extLst>
          </p:cNvPr>
          <p:cNvSpPr txBox="1"/>
          <p:nvPr/>
        </p:nvSpPr>
        <p:spPr>
          <a:xfrm>
            <a:off x="716756" y="1916780"/>
            <a:ext cx="8317056" cy="2215991"/>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pPr marL="571500"/>
            <a:r>
              <a:rPr lang="fr-FR" dirty="0"/>
              <a:t>L’admittance</a:t>
            </a:r>
            <a:r>
              <a:rPr lang="fr-FR" sz="1400" dirty="0">
                <a:latin typeface="Garamond" panose="02020404030301010803" pitchFamily="18" charset="0"/>
                <a:cs typeface="Times New Roman" pitchFamily="18" charset="0"/>
              </a:rPr>
              <a:t> </a:t>
            </a:r>
            <a:r>
              <a:rPr lang="fr-FR" sz="1800" b="1" u="sng" dirty="0">
                <a:latin typeface="Garamond" panose="02020404030301010803" pitchFamily="18" charset="0"/>
                <a:cs typeface="Times New Roman" pitchFamily="18" charset="0"/>
              </a:rPr>
              <a:t>Y</a:t>
            </a:r>
            <a:r>
              <a:rPr lang="fr-FR" sz="1800" b="1" u="sng" baseline="-25000" dirty="0">
                <a:latin typeface="Garamond" panose="02020404030301010803" pitchFamily="18" charset="0"/>
                <a:cs typeface="Times New Roman" pitchFamily="18" charset="0"/>
              </a:rPr>
              <a:t>C</a:t>
            </a:r>
            <a:r>
              <a:rPr lang="fr-FR" sz="1800" b="1" dirty="0">
                <a:latin typeface="Garamond" panose="02020404030301010803" pitchFamily="18" charset="0"/>
                <a:cs typeface="Times New Roman" pitchFamily="18" charset="0"/>
              </a:rPr>
              <a:t>= </a:t>
            </a:r>
            <a:r>
              <a:rPr lang="fr-FR" sz="1800" b="1" dirty="0" err="1">
                <a:latin typeface="Garamond" panose="02020404030301010803" pitchFamily="18" charset="0"/>
                <a:cs typeface="Times New Roman" pitchFamily="18" charset="0"/>
              </a:rPr>
              <a:t>jC</a:t>
            </a:r>
            <a:r>
              <a:rPr lang="el-GR" sz="1800" b="1" dirty="0">
                <a:latin typeface="Garamond" panose="02020404030301010803" pitchFamily="18" charset="0"/>
                <a:cs typeface="Times New Roman" pitchFamily="18" charset="0"/>
              </a:rPr>
              <a:t> ω</a:t>
            </a:r>
            <a:endParaRPr lang="fr-FR" sz="1800" b="1" dirty="0">
              <a:latin typeface="Garamond" panose="02020404030301010803" pitchFamily="18" charset="0"/>
            </a:endParaRPr>
          </a:p>
          <a:p>
            <a:pPr marL="571500"/>
            <a:endParaRPr lang="fr-FR" sz="1800" b="1" dirty="0">
              <a:latin typeface="Garamond" panose="02020404030301010803" pitchFamily="18" charset="0"/>
            </a:endParaRPr>
          </a:p>
          <a:p>
            <a:pPr marL="571500"/>
            <a:r>
              <a:rPr lang="fr-FR" dirty="0"/>
              <a:t>Elle est purement imaginaire, le digramme de Fresnel est le suivant:</a:t>
            </a:r>
          </a:p>
          <a:p>
            <a:pPr marL="571500"/>
            <a:endParaRPr lang="fr-FR" dirty="0"/>
          </a:p>
          <a:p>
            <a:pPr marL="571500"/>
            <a:endParaRPr lang="fr-FR" dirty="0"/>
          </a:p>
          <a:p>
            <a:pPr marL="571500"/>
            <a:r>
              <a:rPr lang="fr-FR" dirty="0"/>
              <a:t>On constate que le module de l’impédance d’une capacité est inversement  proportionnel à  la fréquence</a:t>
            </a:r>
          </a:p>
          <a:p>
            <a:pPr marL="0" indent="0" algn="ctr">
              <a:buNone/>
            </a:pPr>
            <a:endParaRPr lang="fr-FR" sz="1800" b="1" dirty="0">
              <a:latin typeface="Garamond" panose="02020404030301010803" pitchFamily="18" charset="0"/>
              <a:cs typeface="Times New Roman" pitchFamily="18" charset="0"/>
            </a:endParaRPr>
          </a:p>
          <a:p>
            <a:endParaRPr lang="fr-FR" dirty="0"/>
          </a:p>
        </p:txBody>
      </p:sp>
      <p:pic>
        <p:nvPicPr>
          <p:cNvPr id="3" name="Picture 2">
            <a:extLst>
              <a:ext uri="{FF2B5EF4-FFF2-40B4-BE49-F238E27FC236}">
                <a16:creationId xmlns:a16="http://schemas.microsoft.com/office/drawing/2014/main" id="{3C3623CF-3315-4C6F-C398-517C00E9D6FE}"/>
              </a:ext>
            </a:extLst>
          </p:cNvPr>
          <p:cNvPicPr>
            <a:picLocks noChangeAspect="1" noChangeArrowheads="1"/>
          </p:cNvPicPr>
          <p:nvPr/>
        </p:nvPicPr>
        <p:blipFill>
          <a:blip r:embed="rId3"/>
          <a:srcRect/>
          <a:stretch>
            <a:fillRect/>
          </a:stretch>
        </p:blipFill>
        <p:spPr bwMode="auto">
          <a:xfrm>
            <a:off x="6064610" y="3428495"/>
            <a:ext cx="2074962" cy="1479312"/>
          </a:xfrm>
          <a:prstGeom prst="rect">
            <a:avLst/>
          </a:prstGeom>
          <a:noFill/>
          <a:ln w="9525">
            <a:noFill/>
            <a:miter lim="800000"/>
            <a:headEnd/>
            <a:tailEnd/>
          </a:ln>
          <a:effectLst/>
        </p:spPr>
      </p:pic>
      <p:sp>
        <p:nvSpPr>
          <p:cNvPr id="12" name="TextBox 11">
            <a:extLst>
              <a:ext uri="{FF2B5EF4-FFF2-40B4-BE49-F238E27FC236}">
                <a16:creationId xmlns:a16="http://schemas.microsoft.com/office/drawing/2014/main" id="{CDA6124E-55B8-39DA-6427-22E21232BE24}"/>
              </a:ext>
            </a:extLst>
          </p:cNvPr>
          <p:cNvSpPr txBox="1"/>
          <p:nvPr/>
        </p:nvSpPr>
        <p:spPr>
          <a:xfrm>
            <a:off x="1143000" y="3972655"/>
            <a:ext cx="5201622" cy="646331"/>
          </a:xfrm>
          <a:prstGeom prst="rect">
            <a:avLst/>
          </a:prstGeom>
          <a:noFill/>
        </p:spPr>
        <p:txBody>
          <a:bodyPr wrap="square">
            <a:spAutoFit/>
          </a:bodyPr>
          <a:lstStyle/>
          <a:p>
            <a:pPr indent="0">
              <a:buNone/>
            </a:pPr>
            <a:r>
              <a:rPr lang="fr-FR" sz="1800" b="1" dirty="0">
                <a:latin typeface="Bookman Old Style" panose="02050604050505020204" pitchFamily="18" charset="0"/>
                <a:cs typeface="Times New Roman" pitchFamily="18" charset="0"/>
              </a:rPr>
              <a:t>Si </a:t>
            </a:r>
            <a:r>
              <a:rPr lang="fr-FR" sz="1800" b="1" i="1" dirty="0">
                <a:latin typeface="Bookman Old Style" panose="02050604050505020204" pitchFamily="18" charset="0"/>
                <a:cs typeface="Times New Roman" pitchFamily="18" charset="0"/>
              </a:rPr>
              <a:t>f</a:t>
            </a:r>
            <a:r>
              <a:rPr lang="fr-FR" sz="1800" b="1" dirty="0">
                <a:latin typeface="Bookman Old Style" panose="02050604050505020204" pitchFamily="18" charset="0"/>
                <a:cs typeface="Times New Roman" pitchFamily="18" charset="0"/>
              </a:rPr>
              <a:t> → 0         Z</a:t>
            </a:r>
            <a:r>
              <a:rPr lang="fr-FR" sz="1800" b="1" baseline="-25000" dirty="0">
                <a:latin typeface="Bookman Old Style" panose="02050604050505020204" pitchFamily="18" charset="0"/>
                <a:cs typeface="Times New Roman" pitchFamily="18" charset="0"/>
              </a:rPr>
              <a:t>C</a:t>
            </a:r>
            <a:r>
              <a:rPr lang="fr-FR" sz="1800" b="1" dirty="0">
                <a:latin typeface="Bookman Old Style" panose="02050604050505020204" pitchFamily="18" charset="0"/>
                <a:cs typeface="Times New Roman" pitchFamily="18" charset="0"/>
              </a:rPr>
              <a:t> → ∞   (Circuit ouvert)</a:t>
            </a:r>
          </a:p>
          <a:p>
            <a:pPr indent="0">
              <a:buNone/>
            </a:pPr>
            <a:r>
              <a:rPr lang="fr-FR" sz="1800" b="1" dirty="0">
                <a:latin typeface="Bookman Old Style" panose="02050604050505020204" pitchFamily="18" charset="0"/>
                <a:cs typeface="Times New Roman" pitchFamily="18" charset="0"/>
              </a:rPr>
              <a:t>Si </a:t>
            </a:r>
            <a:r>
              <a:rPr lang="fr-FR" sz="1800" b="1" i="1" dirty="0">
                <a:latin typeface="Bookman Old Style" panose="02050604050505020204" pitchFamily="18" charset="0"/>
                <a:cs typeface="Times New Roman" pitchFamily="18" charset="0"/>
              </a:rPr>
              <a:t>f</a:t>
            </a:r>
            <a:r>
              <a:rPr lang="fr-FR" sz="1800" b="1" dirty="0">
                <a:latin typeface="Bookman Old Style" panose="02050604050505020204" pitchFamily="18" charset="0"/>
                <a:cs typeface="Times New Roman" pitchFamily="18" charset="0"/>
              </a:rPr>
              <a:t> → ∞        Z</a:t>
            </a:r>
            <a:r>
              <a:rPr lang="fr-FR" sz="1800" b="1" baseline="-25000" dirty="0">
                <a:latin typeface="Bookman Old Style" panose="02050604050505020204" pitchFamily="18" charset="0"/>
                <a:cs typeface="Times New Roman" pitchFamily="18" charset="0"/>
              </a:rPr>
              <a:t>C</a:t>
            </a:r>
            <a:r>
              <a:rPr lang="fr-FR" sz="1800" b="1" dirty="0">
                <a:latin typeface="Bookman Old Style" panose="02050604050505020204" pitchFamily="18" charset="0"/>
                <a:cs typeface="Times New Roman" pitchFamily="18" charset="0"/>
              </a:rPr>
              <a:t> → 0    (Court-circuit)</a:t>
            </a:r>
          </a:p>
        </p:txBody>
      </p:sp>
    </p:spTree>
    <p:extLst>
      <p:ext uri="{BB962C8B-B14F-4D97-AF65-F5344CB8AC3E}">
        <p14:creationId xmlns:p14="http://schemas.microsoft.com/office/powerpoint/2010/main" val="37512567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75</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4.5 </a:t>
            </a:r>
            <a:r>
              <a:rPr lang="fr-FR" altLang="fr-FR" sz="1400" b="1" spc="-5" dirty="0">
                <a:solidFill>
                  <a:srgbClr val="CC00CC"/>
                </a:solidFill>
                <a:latin typeface="Bookman Old Style" panose="02050604050505020204" pitchFamily="18" charset="0"/>
                <a:cs typeface="Arial"/>
              </a:rPr>
              <a:t>Lois d’Ohm et de Kirchhoff en régime sinusoïdal</a:t>
            </a:r>
            <a:r>
              <a:rPr lang="fr-FR" altLang="fr-FR" sz="1400" b="1" spc="-5" dirty="0">
                <a:solidFill>
                  <a:srgbClr val="C00000"/>
                </a:solidFill>
                <a:latin typeface="Bookman Old Style" panose="02050604050505020204" pitchFamily="18" charset="0"/>
                <a:cs typeface="Arial"/>
              </a:rPr>
              <a:t>    </a:t>
            </a:r>
            <a:endParaRPr lang="fr-FR" sz="1400" b="1" spc="-5" dirty="0">
              <a:solidFill>
                <a:srgbClr val="CC00CC"/>
              </a:solidFill>
              <a:latin typeface="Bookman Old Style" panose="02050604050505020204" pitchFamily="18" charset="0"/>
              <a:cs typeface="Arial"/>
            </a:endParaRPr>
          </a:p>
        </p:txBody>
      </p:sp>
      <p:sp>
        <p:nvSpPr>
          <p:cNvPr id="13" name="TextBox 12">
            <a:extLst>
              <a:ext uri="{FF2B5EF4-FFF2-40B4-BE49-F238E27FC236}">
                <a16:creationId xmlns:a16="http://schemas.microsoft.com/office/drawing/2014/main" id="{1337AE5D-C18E-87F1-F1E3-B6E8FDC3C683}"/>
              </a:ext>
            </a:extLst>
          </p:cNvPr>
          <p:cNvSpPr txBox="1"/>
          <p:nvPr/>
        </p:nvSpPr>
        <p:spPr>
          <a:xfrm>
            <a:off x="603706" y="1417483"/>
            <a:ext cx="8229366" cy="738664"/>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r>
              <a:rPr lang="fr-FR" dirty="0"/>
              <a:t>L’introduction, en régime sinusoïdal, du concept d’impédance permet de généraliser la </a:t>
            </a:r>
            <a:r>
              <a:rPr lang="fr-FR" b="1" dirty="0"/>
              <a:t>loi d’Ohm </a:t>
            </a:r>
            <a:r>
              <a:rPr lang="fr-FR" dirty="0"/>
              <a:t>pour les circuits contenant des éléments linéaires résistifs, inductifs et capacitifs en utilisant la notation complexe :  </a:t>
            </a:r>
          </a:p>
        </p:txBody>
      </p:sp>
      <p:sp>
        <p:nvSpPr>
          <p:cNvPr id="20" name="TextBox 19">
            <a:extLst>
              <a:ext uri="{FF2B5EF4-FFF2-40B4-BE49-F238E27FC236}">
                <a16:creationId xmlns:a16="http://schemas.microsoft.com/office/drawing/2014/main" id="{1315AFCC-867A-6A18-CAD0-DDA21584DCC7}"/>
              </a:ext>
            </a:extLst>
          </p:cNvPr>
          <p:cNvSpPr txBox="1"/>
          <p:nvPr/>
        </p:nvSpPr>
        <p:spPr>
          <a:xfrm>
            <a:off x="2277611" y="2387084"/>
            <a:ext cx="4588778" cy="369332"/>
          </a:xfrm>
          <a:prstGeom prst="rect">
            <a:avLst/>
          </a:prstGeom>
          <a:noFill/>
        </p:spPr>
        <p:txBody>
          <a:bodyPr wrap="square">
            <a:spAutoFit/>
          </a:bodyPr>
          <a:lstStyle/>
          <a:p>
            <a:pPr algn="ctr"/>
            <a:r>
              <a:rPr lang="fr-FR" sz="1800" b="1" u="sng">
                <a:latin typeface="Bookman Old Style" panose="02050604050505020204" pitchFamily="18" charset="0"/>
                <a:cs typeface="Times New Roman" pitchFamily="18" charset="0"/>
              </a:rPr>
              <a:t>V</a:t>
            </a:r>
            <a:r>
              <a:rPr lang="fr-FR" sz="1800">
                <a:latin typeface="Bookman Old Style" panose="02050604050505020204" pitchFamily="18" charset="0"/>
                <a:cs typeface="Times New Roman" pitchFamily="18" charset="0"/>
              </a:rPr>
              <a:t> = </a:t>
            </a:r>
            <a:r>
              <a:rPr lang="fr-FR" sz="1800" b="1" u="sng">
                <a:latin typeface="Bookman Old Style" panose="02050604050505020204" pitchFamily="18" charset="0"/>
                <a:cs typeface="Times New Roman" pitchFamily="18" charset="0"/>
              </a:rPr>
              <a:t>Z</a:t>
            </a:r>
            <a:r>
              <a:rPr lang="fr-FR" sz="1800">
                <a:latin typeface="Bookman Old Style" panose="02050604050505020204" pitchFamily="18" charset="0"/>
                <a:cs typeface="Times New Roman" pitchFamily="18" charset="0"/>
              </a:rPr>
              <a:t> </a:t>
            </a:r>
            <a:r>
              <a:rPr lang="fr-FR" sz="1800" b="1" u="sng">
                <a:latin typeface="Bookman Old Style" panose="02050604050505020204" pitchFamily="18" charset="0"/>
                <a:cs typeface="Times New Roman" pitchFamily="18" charset="0"/>
              </a:rPr>
              <a:t>I</a:t>
            </a:r>
            <a:r>
              <a:rPr lang="fr-FR" sz="1800">
                <a:latin typeface="Bookman Old Style" panose="02050604050505020204" pitchFamily="18" charset="0"/>
                <a:cs typeface="Times New Roman" pitchFamily="18" charset="0"/>
              </a:rPr>
              <a:t> </a:t>
            </a:r>
            <a:endParaRPr lang="fr-FR" dirty="0">
              <a:latin typeface="Bookman Old Style" panose="02050604050505020204" pitchFamily="18" charset="0"/>
            </a:endParaRPr>
          </a:p>
        </p:txBody>
      </p:sp>
      <p:sp>
        <p:nvSpPr>
          <p:cNvPr id="22" name="TextBox 21">
            <a:extLst>
              <a:ext uri="{FF2B5EF4-FFF2-40B4-BE49-F238E27FC236}">
                <a16:creationId xmlns:a16="http://schemas.microsoft.com/office/drawing/2014/main" id="{CDB5A1C2-F3E0-1CB3-D439-0780A0366D48}"/>
              </a:ext>
            </a:extLst>
          </p:cNvPr>
          <p:cNvSpPr txBox="1"/>
          <p:nvPr/>
        </p:nvSpPr>
        <p:spPr>
          <a:xfrm>
            <a:off x="631112" y="2842571"/>
            <a:ext cx="8174555" cy="523220"/>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r>
              <a:rPr lang="fr-FR" dirty="0"/>
              <a:t>Comme la </a:t>
            </a:r>
            <a:r>
              <a:rPr lang="fr-FR" b="1" dirty="0"/>
              <a:t>loi d’Ohm </a:t>
            </a:r>
            <a:r>
              <a:rPr lang="fr-FR" dirty="0"/>
              <a:t>reste valable dans la représentation complexe d’un circuit, </a:t>
            </a:r>
            <a:r>
              <a:rPr lang="fr-FR" b="1" dirty="0"/>
              <a:t>toutes les lois d’électricité utilisées en régime continu </a:t>
            </a:r>
            <a:r>
              <a:rPr lang="fr-FR" dirty="0"/>
              <a:t>restent valables dans ce modèle.</a:t>
            </a:r>
          </a:p>
        </p:txBody>
      </p:sp>
      <p:sp>
        <p:nvSpPr>
          <p:cNvPr id="24" name="TextBox 23">
            <a:extLst>
              <a:ext uri="{FF2B5EF4-FFF2-40B4-BE49-F238E27FC236}">
                <a16:creationId xmlns:a16="http://schemas.microsoft.com/office/drawing/2014/main" id="{78466F30-B293-CAA3-5D1E-8FD88AB419BD}"/>
              </a:ext>
            </a:extLst>
          </p:cNvPr>
          <p:cNvSpPr txBox="1"/>
          <p:nvPr/>
        </p:nvSpPr>
        <p:spPr>
          <a:xfrm>
            <a:off x="631112" y="3623494"/>
            <a:ext cx="7844273" cy="307777"/>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r>
              <a:rPr lang="fr-FR" dirty="0"/>
              <a:t>Les </a:t>
            </a:r>
            <a:r>
              <a:rPr lang="fr-FR" b="1" dirty="0"/>
              <a:t>lois de Kirchhoff </a:t>
            </a:r>
            <a:r>
              <a:rPr lang="fr-FR" dirty="0"/>
              <a:t>s’expriment de manière suivante:</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6BB1DBC6-A34A-C03A-BB03-7FE08C8E900E}"/>
                  </a:ext>
                </a:extLst>
              </p:cNvPr>
              <p:cNvSpPr txBox="1"/>
              <p:nvPr/>
            </p:nvSpPr>
            <p:spPr>
              <a:xfrm>
                <a:off x="2734006" y="4151638"/>
                <a:ext cx="1018677" cy="80804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ctrlPr>
                            <a:rPr lang="fr-FR" i="1" smtClean="0">
                              <a:latin typeface="Cambria Math" panose="02040503050406030204" pitchFamily="18" charset="0"/>
                            </a:rPr>
                          </m:ctrlPr>
                        </m:naryPr>
                        <m:sub/>
                        <m:sup/>
                        <m:e>
                          <m:sSub>
                            <m:sSubPr>
                              <m:ctrlPr>
                                <a:rPr lang="fr-FR" i="1" smtClean="0">
                                  <a:latin typeface="Cambria Math" panose="02040503050406030204" pitchFamily="18" charset="0"/>
                                </a:rPr>
                              </m:ctrlPr>
                            </m:sSubPr>
                            <m:e>
                              <m:bar>
                                <m:barPr>
                                  <m:ctrlPr>
                                    <a:rPr lang="fr-FR" i="1" smtClean="0">
                                      <a:latin typeface="Cambria Math" panose="02040503050406030204" pitchFamily="18" charset="0"/>
                                    </a:rPr>
                                  </m:ctrlPr>
                                </m:barPr>
                                <m:e>
                                  <m:r>
                                    <a:rPr lang="fr-FR" b="0" i="1" smtClean="0">
                                      <a:latin typeface="Cambria Math" panose="02040503050406030204" pitchFamily="18" charset="0"/>
                                    </a:rPr>
                                    <m:t>𝐼</m:t>
                                  </m:r>
                                </m:e>
                              </m:bar>
                            </m:e>
                            <m:sub>
                              <m:r>
                                <a:rPr lang="fr-FR" b="0" i="1" smtClean="0">
                                  <a:latin typeface="Cambria Math" panose="02040503050406030204" pitchFamily="18" charset="0"/>
                                </a:rPr>
                                <m:t>𝑘</m:t>
                              </m:r>
                            </m:sub>
                          </m:sSub>
                          <m:r>
                            <a:rPr lang="fr-FR" b="0" i="1" smtClean="0">
                              <a:latin typeface="Cambria Math" panose="02040503050406030204" pitchFamily="18" charset="0"/>
                            </a:rPr>
                            <m:t>=</m:t>
                          </m:r>
                          <m:r>
                            <a:rPr lang="fr-FR" b="0" i="1" smtClean="0">
                              <a:latin typeface="Cambria Math" panose="02040503050406030204" pitchFamily="18" charset="0"/>
                            </a:rPr>
                            <m:t>0</m:t>
                          </m:r>
                        </m:e>
                      </m:nary>
                    </m:oMath>
                  </m:oMathPara>
                </a14:m>
                <a:endParaRPr lang="fr-FR" dirty="0"/>
              </a:p>
            </p:txBody>
          </p:sp>
        </mc:Choice>
        <mc:Fallback xmlns="">
          <p:sp>
            <p:nvSpPr>
              <p:cNvPr id="26" name="TextBox 25">
                <a:extLst>
                  <a:ext uri="{FF2B5EF4-FFF2-40B4-BE49-F238E27FC236}">
                    <a16:creationId xmlns:a16="http://schemas.microsoft.com/office/drawing/2014/main" id="{6BB1DBC6-A34A-C03A-BB03-7FE08C8E900E}"/>
                  </a:ext>
                </a:extLst>
              </p:cNvPr>
              <p:cNvSpPr txBox="1">
                <a:spLocks noRot="1" noChangeAspect="1" noMove="1" noResize="1" noEditPoints="1" noAdjustHandles="1" noChangeArrowheads="1" noChangeShapeType="1" noTextEdit="1"/>
              </p:cNvSpPr>
              <p:nvPr/>
            </p:nvSpPr>
            <p:spPr>
              <a:xfrm>
                <a:off x="2734006" y="4151638"/>
                <a:ext cx="1018677" cy="808042"/>
              </a:xfrm>
              <a:prstGeom prst="rect">
                <a:avLst/>
              </a:prstGeom>
              <a:blipFill>
                <a:blip r:embed="rId3"/>
                <a:stretch>
                  <a:fillRect/>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AD84C48-D4B2-211F-3DC6-EEBAC4EFD518}"/>
                  </a:ext>
                </a:extLst>
              </p:cNvPr>
              <p:cNvSpPr txBox="1"/>
              <p:nvPr/>
            </p:nvSpPr>
            <p:spPr>
              <a:xfrm>
                <a:off x="5915277" y="4098272"/>
                <a:ext cx="1078820" cy="80323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ctrlPr>
                            <a:rPr lang="fr-FR" i="1" smtClean="0">
                              <a:latin typeface="Cambria Math" panose="02040503050406030204" pitchFamily="18" charset="0"/>
                            </a:rPr>
                          </m:ctrlPr>
                        </m:naryPr>
                        <m:sub/>
                        <m:sup/>
                        <m:e>
                          <m:sSub>
                            <m:sSubPr>
                              <m:ctrlPr>
                                <a:rPr lang="fr-FR" i="1" smtClean="0">
                                  <a:latin typeface="Cambria Math" panose="02040503050406030204" pitchFamily="18" charset="0"/>
                                </a:rPr>
                              </m:ctrlPr>
                            </m:sSubPr>
                            <m:e>
                              <m:bar>
                                <m:barPr>
                                  <m:ctrlPr>
                                    <a:rPr lang="fr-FR" i="1" smtClean="0">
                                      <a:latin typeface="Cambria Math" panose="02040503050406030204" pitchFamily="18" charset="0"/>
                                    </a:rPr>
                                  </m:ctrlPr>
                                </m:barPr>
                                <m:e>
                                  <m:r>
                                    <a:rPr lang="fr-FR" b="0" i="1" smtClean="0">
                                      <a:latin typeface="Cambria Math" panose="02040503050406030204" pitchFamily="18" charset="0"/>
                                    </a:rPr>
                                    <m:t>𝑉</m:t>
                                  </m:r>
                                </m:e>
                              </m:bar>
                            </m:e>
                            <m:sub>
                              <m:r>
                                <a:rPr lang="fr-FR" b="0" i="1" smtClean="0">
                                  <a:latin typeface="Cambria Math" panose="02040503050406030204" pitchFamily="18" charset="0"/>
                                </a:rPr>
                                <m:t>𝑘</m:t>
                              </m:r>
                            </m:sub>
                          </m:sSub>
                          <m:r>
                            <a:rPr lang="fr-FR" b="0" i="1" smtClean="0">
                              <a:latin typeface="Cambria Math" panose="02040503050406030204" pitchFamily="18" charset="0"/>
                            </a:rPr>
                            <m:t>=</m:t>
                          </m:r>
                          <m:r>
                            <a:rPr lang="fr-FR" b="0" i="1" smtClean="0">
                              <a:latin typeface="Cambria Math" panose="02040503050406030204" pitchFamily="18" charset="0"/>
                            </a:rPr>
                            <m:t>0</m:t>
                          </m:r>
                        </m:e>
                      </m:nary>
                    </m:oMath>
                  </m:oMathPara>
                </a14:m>
                <a:endParaRPr lang="fr-FR" dirty="0"/>
              </a:p>
            </p:txBody>
          </p:sp>
        </mc:Choice>
        <mc:Fallback xmlns="">
          <p:sp>
            <p:nvSpPr>
              <p:cNvPr id="27" name="TextBox 26">
                <a:extLst>
                  <a:ext uri="{FF2B5EF4-FFF2-40B4-BE49-F238E27FC236}">
                    <a16:creationId xmlns:a16="http://schemas.microsoft.com/office/drawing/2014/main" id="{EAD84C48-D4B2-211F-3DC6-EEBAC4EFD518}"/>
                  </a:ext>
                </a:extLst>
              </p:cNvPr>
              <p:cNvSpPr txBox="1">
                <a:spLocks noRot="1" noChangeAspect="1" noMove="1" noResize="1" noEditPoints="1" noAdjustHandles="1" noChangeArrowheads="1" noChangeShapeType="1" noTextEdit="1"/>
              </p:cNvSpPr>
              <p:nvPr/>
            </p:nvSpPr>
            <p:spPr>
              <a:xfrm>
                <a:off x="5915277" y="4098272"/>
                <a:ext cx="1078820" cy="803233"/>
              </a:xfrm>
              <a:prstGeom prst="rect">
                <a:avLst/>
              </a:prstGeom>
              <a:blipFill>
                <a:blip r:embed="rId4"/>
                <a:stretch>
                  <a:fillRect/>
                </a:stretch>
              </a:blipFill>
            </p:spPr>
            <p:txBody>
              <a:bodyPr/>
              <a:lstStyle/>
              <a:p>
                <a:r>
                  <a:rPr lang="fr-FR">
                    <a:noFill/>
                  </a:rPr>
                  <a:t> </a:t>
                </a:r>
              </a:p>
            </p:txBody>
          </p:sp>
        </mc:Fallback>
      </mc:AlternateContent>
    </p:spTree>
    <p:extLst>
      <p:ext uri="{BB962C8B-B14F-4D97-AF65-F5344CB8AC3E}">
        <p14:creationId xmlns:p14="http://schemas.microsoft.com/office/powerpoint/2010/main" val="5296586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76</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4.6 </a:t>
            </a:r>
            <a:r>
              <a:rPr lang="fr-FR" altLang="fr-FR" sz="1400" b="1" spc="-5" dirty="0">
                <a:solidFill>
                  <a:srgbClr val="CC00CC"/>
                </a:solidFill>
                <a:latin typeface="Bookman Old Style" panose="02050604050505020204" pitchFamily="18" charset="0"/>
                <a:cs typeface="Arial"/>
              </a:rPr>
              <a:t>Associations d'Impédance (admittance) </a:t>
            </a:r>
            <a:endParaRPr lang="fr-FR" sz="1400" b="1" spc="-5" dirty="0">
              <a:solidFill>
                <a:srgbClr val="CC00CC"/>
              </a:solidFill>
              <a:latin typeface="Bookman Old Style" panose="02050604050505020204" pitchFamily="18" charset="0"/>
              <a:cs typeface="Arial"/>
            </a:endParaRPr>
          </a:p>
        </p:txBody>
      </p:sp>
      <p:sp>
        <p:nvSpPr>
          <p:cNvPr id="5" name="TextBox 4">
            <a:extLst>
              <a:ext uri="{FF2B5EF4-FFF2-40B4-BE49-F238E27FC236}">
                <a16:creationId xmlns:a16="http://schemas.microsoft.com/office/drawing/2014/main" id="{53708068-BFBF-EF91-FF51-EA689DE57FFE}"/>
              </a:ext>
            </a:extLst>
          </p:cNvPr>
          <p:cNvSpPr txBox="1"/>
          <p:nvPr/>
        </p:nvSpPr>
        <p:spPr>
          <a:xfrm>
            <a:off x="597197" y="1714377"/>
            <a:ext cx="8415299" cy="523220"/>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r>
              <a:rPr lang="fr-FR" dirty="0"/>
              <a:t>L’impédance d’un dipôle constitué de plusieurs impédances en série est égale à la somme (complexe) de celles-ci:</a:t>
            </a:r>
          </a:p>
        </p:txBody>
      </p:sp>
      <p:sp>
        <p:nvSpPr>
          <p:cNvPr id="12" name="TextBox 11">
            <a:extLst>
              <a:ext uri="{FF2B5EF4-FFF2-40B4-BE49-F238E27FC236}">
                <a16:creationId xmlns:a16="http://schemas.microsoft.com/office/drawing/2014/main" id="{0774C04C-1AF1-DBF9-5C6E-78FF4426FC84}"/>
              </a:ext>
            </a:extLst>
          </p:cNvPr>
          <p:cNvSpPr txBox="1"/>
          <p:nvPr/>
        </p:nvSpPr>
        <p:spPr>
          <a:xfrm>
            <a:off x="402566" y="1280742"/>
            <a:ext cx="4588778" cy="338554"/>
          </a:xfrm>
          <a:prstGeom prst="rect">
            <a:avLst/>
          </a:prstGeom>
          <a:noFill/>
        </p:spPr>
        <p:txBody>
          <a:bodyPr wrap="square">
            <a:spAutoFit/>
          </a:bodyPr>
          <a:lstStyle/>
          <a:p>
            <a:pPr marL="400050" algn="just">
              <a:spcBef>
                <a:spcPct val="0"/>
              </a:spcBef>
            </a:pPr>
            <a:r>
              <a:rPr lang="fr-FR" altLang="fr-FR" sz="1600" b="1" u="sng" dirty="0">
                <a:solidFill>
                  <a:srgbClr val="0000FF"/>
                </a:solidFill>
                <a:latin typeface="Bookman Old Style" panose="02050604050505020204" pitchFamily="18" charset="0"/>
                <a:cs typeface="Browallia New" panose="020B0604020202020204" pitchFamily="34" charset="-34"/>
              </a:rPr>
              <a:t>En série</a:t>
            </a:r>
          </a:p>
        </p:txBody>
      </p:sp>
      <p:graphicFrame>
        <p:nvGraphicFramePr>
          <p:cNvPr id="16" name="Objet 4">
            <a:extLst>
              <a:ext uri="{FF2B5EF4-FFF2-40B4-BE49-F238E27FC236}">
                <a16:creationId xmlns:a16="http://schemas.microsoft.com/office/drawing/2014/main" id="{F8170160-D040-49CC-E873-4C69806E03E1}"/>
              </a:ext>
            </a:extLst>
          </p:cNvPr>
          <p:cNvGraphicFramePr>
            <a:graphicFrameLocks noChangeAspect="1"/>
          </p:cNvGraphicFramePr>
          <p:nvPr>
            <p:extLst>
              <p:ext uri="{D42A27DB-BD31-4B8C-83A1-F6EECF244321}">
                <p14:modId xmlns:p14="http://schemas.microsoft.com/office/powerpoint/2010/main" val="2950828645"/>
              </p:ext>
            </p:extLst>
          </p:nvPr>
        </p:nvGraphicFramePr>
        <p:xfrm>
          <a:off x="3870096" y="2218430"/>
          <a:ext cx="1417765" cy="648808"/>
        </p:xfrm>
        <a:graphic>
          <a:graphicData uri="http://schemas.openxmlformats.org/presentationml/2006/ole">
            <mc:AlternateContent xmlns:mc="http://schemas.openxmlformats.org/markup-compatibility/2006">
              <mc:Choice xmlns:v="urn:schemas-microsoft-com:vml" Requires="v">
                <p:oleObj name="Équation" r:id="rId3" imgW="749160" imgH="342720" progId="Equation.3">
                  <p:embed/>
                </p:oleObj>
              </mc:Choice>
              <mc:Fallback>
                <p:oleObj name="Équation" r:id="rId3" imgW="749160" imgH="342720" progId="Equation.3">
                  <p:embed/>
                  <p:pic>
                    <p:nvPicPr>
                      <p:cNvPr id="5" name="Obje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0096" y="2218430"/>
                        <a:ext cx="1417765" cy="648808"/>
                      </a:xfrm>
                      <a:prstGeom prst="rect">
                        <a:avLst/>
                      </a:prstGeom>
                      <a:noFill/>
                    </p:spPr>
                  </p:pic>
                </p:oleObj>
              </mc:Fallback>
            </mc:AlternateContent>
          </a:graphicData>
        </a:graphic>
      </p:graphicFrame>
      <p:sp>
        <p:nvSpPr>
          <p:cNvPr id="21" name="TextBox 20">
            <a:extLst>
              <a:ext uri="{FF2B5EF4-FFF2-40B4-BE49-F238E27FC236}">
                <a16:creationId xmlns:a16="http://schemas.microsoft.com/office/drawing/2014/main" id="{3702D0E0-901B-610B-9A6C-C8EA7EA96CB3}"/>
              </a:ext>
            </a:extLst>
          </p:cNvPr>
          <p:cNvSpPr txBox="1"/>
          <p:nvPr/>
        </p:nvSpPr>
        <p:spPr>
          <a:xfrm>
            <a:off x="597197" y="3052231"/>
            <a:ext cx="8112154" cy="307777"/>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r>
              <a:rPr lang="fr-FR" dirty="0"/>
              <a:t>L’admittance étant égale à l’inverse de l’impédance :</a:t>
            </a:r>
          </a:p>
        </p:txBody>
      </p:sp>
      <p:grpSp>
        <p:nvGrpSpPr>
          <p:cNvPr id="23" name="Groupe 5">
            <a:extLst>
              <a:ext uri="{FF2B5EF4-FFF2-40B4-BE49-F238E27FC236}">
                <a16:creationId xmlns:a16="http://schemas.microsoft.com/office/drawing/2014/main" id="{972F2D45-9147-C8B1-A2DC-BD4E73E5AF05}"/>
              </a:ext>
            </a:extLst>
          </p:cNvPr>
          <p:cNvGrpSpPr/>
          <p:nvPr/>
        </p:nvGrpSpPr>
        <p:grpSpPr>
          <a:xfrm>
            <a:off x="1828800" y="3360008"/>
            <a:ext cx="6228032" cy="642942"/>
            <a:chOff x="1643042" y="3929066"/>
            <a:chExt cx="6228032" cy="642942"/>
          </a:xfrm>
        </p:grpSpPr>
        <p:cxnSp>
          <p:nvCxnSpPr>
            <p:cNvPr id="25" name="Connecteur droit 7">
              <a:extLst>
                <a:ext uri="{FF2B5EF4-FFF2-40B4-BE49-F238E27FC236}">
                  <a16:creationId xmlns:a16="http://schemas.microsoft.com/office/drawing/2014/main" id="{0372D95A-EE42-EC3A-9E16-A99EE67B139B}"/>
                </a:ext>
              </a:extLst>
            </p:cNvPr>
            <p:cNvCxnSpPr/>
            <p:nvPr/>
          </p:nvCxnSpPr>
          <p:spPr>
            <a:xfrm>
              <a:off x="1643042" y="4429132"/>
              <a:ext cx="2448000" cy="1588"/>
            </a:xfrm>
            <a:prstGeom prst="line">
              <a:avLst/>
            </a:prstGeom>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7A764743-9709-61E1-E385-06999E74BAEF}"/>
                </a:ext>
              </a:extLst>
            </p:cNvPr>
            <p:cNvSpPr/>
            <p:nvPr/>
          </p:nvSpPr>
          <p:spPr>
            <a:xfrm>
              <a:off x="2357422" y="4357694"/>
              <a:ext cx="571504" cy="21431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444ABEA5-B874-1448-CE95-3BBBFAB1DF83}"/>
                </a:ext>
              </a:extLst>
            </p:cNvPr>
            <p:cNvSpPr/>
            <p:nvPr/>
          </p:nvSpPr>
          <p:spPr>
            <a:xfrm>
              <a:off x="3286116" y="4357694"/>
              <a:ext cx="571504" cy="21431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Rectangle 29">
              <a:extLst>
                <a:ext uri="{FF2B5EF4-FFF2-40B4-BE49-F238E27FC236}">
                  <a16:creationId xmlns:a16="http://schemas.microsoft.com/office/drawing/2014/main" id="{3BC87A69-EE0A-F4CA-EA40-83680E11A228}"/>
                </a:ext>
              </a:extLst>
            </p:cNvPr>
            <p:cNvSpPr/>
            <p:nvPr/>
          </p:nvSpPr>
          <p:spPr>
            <a:xfrm>
              <a:off x="6572264" y="4357694"/>
              <a:ext cx="571504" cy="21431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1" name="Connecteur droit 11">
              <a:extLst>
                <a:ext uri="{FF2B5EF4-FFF2-40B4-BE49-F238E27FC236}">
                  <a16:creationId xmlns:a16="http://schemas.microsoft.com/office/drawing/2014/main" id="{45366B14-5B62-0B57-17EA-118B22592849}"/>
                </a:ext>
              </a:extLst>
            </p:cNvPr>
            <p:cNvCxnSpPr/>
            <p:nvPr/>
          </p:nvCxnSpPr>
          <p:spPr>
            <a:xfrm>
              <a:off x="6215074" y="4429132"/>
              <a:ext cx="16560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Connecteur droit 12">
              <a:extLst>
                <a:ext uri="{FF2B5EF4-FFF2-40B4-BE49-F238E27FC236}">
                  <a16:creationId xmlns:a16="http://schemas.microsoft.com/office/drawing/2014/main" id="{4107238A-6AC2-B86A-6626-0264C41D31C8}"/>
                </a:ext>
              </a:extLst>
            </p:cNvPr>
            <p:cNvCxnSpPr/>
            <p:nvPr/>
          </p:nvCxnSpPr>
          <p:spPr>
            <a:xfrm>
              <a:off x="4071934" y="4429132"/>
              <a:ext cx="2448000" cy="1588"/>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33" name="ZoneTexte 13">
              <a:extLst>
                <a:ext uri="{FF2B5EF4-FFF2-40B4-BE49-F238E27FC236}">
                  <a16:creationId xmlns:a16="http://schemas.microsoft.com/office/drawing/2014/main" id="{5735CDA6-78CF-E021-8AA2-511C9D6EC49E}"/>
                </a:ext>
              </a:extLst>
            </p:cNvPr>
            <p:cNvSpPr txBox="1"/>
            <p:nvPr/>
          </p:nvSpPr>
          <p:spPr>
            <a:xfrm>
              <a:off x="2428860" y="3929066"/>
              <a:ext cx="389850" cy="369332"/>
            </a:xfrm>
            <a:prstGeom prst="rect">
              <a:avLst/>
            </a:prstGeom>
            <a:noFill/>
          </p:spPr>
          <p:txBody>
            <a:bodyPr wrap="none" rtlCol="0">
              <a:spAutoFit/>
            </a:bodyPr>
            <a:lstStyle/>
            <a:p>
              <a:r>
                <a:rPr lang="fr-FR" i="1" u="sng" dirty="0">
                  <a:latin typeface="Times New Roman" pitchFamily="18" charset="0"/>
                  <a:cs typeface="Times New Roman" pitchFamily="18" charset="0"/>
                </a:rPr>
                <a:t>Z</a:t>
              </a:r>
              <a:r>
                <a:rPr lang="fr-FR" baseline="-25000" dirty="0">
                  <a:latin typeface="Times New Roman" pitchFamily="18" charset="0"/>
                  <a:cs typeface="Times New Roman" pitchFamily="18" charset="0"/>
                </a:rPr>
                <a:t>1</a:t>
              </a:r>
              <a:endParaRPr lang="fr-FR" i="1" u="sng" baseline="-25000" dirty="0">
                <a:latin typeface="Times New Roman" pitchFamily="18" charset="0"/>
                <a:cs typeface="Times New Roman" pitchFamily="18" charset="0"/>
              </a:endParaRPr>
            </a:p>
          </p:txBody>
        </p:sp>
        <p:sp>
          <p:nvSpPr>
            <p:cNvPr id="34" name="ZoneTexte 14">
              <a:extLst>
                <a:ext uri="{FF2B5EF4-FFF2-40B4-BE49-F238E27FC236}">
                  <a16:creationId xmlns:a16="http://schemas.microsoft.com/office/drawing/2014/main" id="{F3CE0E9C-6F11-8601-DE35-1968E6C2DF0B}"/>
                </a:ext>
              </a:extLst>
            </p:cNvPr>
            <p:cNvSpPr txBox="1"/>
            <p:nvPr/>
          </p:nvSpPr>
          <p:spPr>
            <a:xfrm>
              <a:off x="3357554" y="3929066"/>
              <a:ext cx="389850" cy="369332"/>
            </a:xfrm>
            <a:prstGeom prst="rect">
              <a:avLst/>
            </a:prstGeom>
            <a:noFill/>
          </p:spPr>
          <p:txBody>
            <a:bodyPr wrap="none" rtlCol="0">
              <a:spAutoFit/>
            </a:bodyPr>
            <a:lstStyle/>
            <a:p>
              <a:r>
                <a:rPr lang="fr-FR" i="1" u="sng" dirty="0">
                  <a:latin typeface="Times New Roman" pitchFamily="18" charset="0"/>
                  <a:cs typeface="Times New Roman" pitchFamily="18" charset="0"/>
                </a:rPr>
                <a:t>Z</a:t>
              </a:r>
              <a:r>
                <a:rPr lang="fr-FR" baseline="-25000" dirty="0">
                  <a:latin typeface="Times New Roman" pitchFamily="18" charset="0"/>
                  <a:cs typeface="Times New Roman" pitchFamily="18" charset="0"/>
                </a:rPr>
                <a:t>2</a:t>
              </a:r>
              <a:endParaRPr lang="fr-FR" i="1" u="sng" baseline="-25000" dirty="0">
                <a:latin typeface="Times New Roman" pitchFamily="18" charset="0"/>
                <a:cs typeface="Times New Roman" pitchFamily="18" charset="0"/>
              </a:endParaRPr>
            </a:p>
          </p:txBody>
        </p:sp>
        <p:sp>
          <p:nvSpPr>
            <p:cNvPr id="35" name="ZoneTexte 15">
              <a:extLst>
                <a:ext uri="{FF2B5EF4-FFF2-40B4-BE49-F238E27FC236}">
                  <a16:creationId xmlns:a16="http://schemas.microsoft.com/office/drawing/2014/main" id="{2C1CF801-BF97-1261-94AB-DA3773F67988}"/>
                </a:ext>
              </a:extLst>
            </p:cNvPr>
            <p:cNvSpPr txBox="1"/>
            <p:nvPr/>
          </p:nvSpPr>
          <p:spPr>
            <a:xfrm>
              <a:off x="6643702" y="3929066"/>
              <a:ext cx="389850" cy="369332"/>
            </a:xfrm>
            <a:prstGeom prst="rect">
              <a:avLst/>
            </a:prstGeom>
            <a:noFill/>
          </p:spPr>
          <p:txBody>
            <a:bodyPr wrap="none" rtlCol="0">
              <a:spAutoFit/>
            </a:bodyPr>
            <a:lstStyle/>
            <a:p>
              <a:r>
                <a:rPr lang="fr-FR" i="1" u="sng" dirty="0">
                  <a:latin typeface="Times New Roman" pitchFamily="18" charset="0"/>
                  <a:cs typeface="Times New Roman" pitchFamily="18" charset="0"/>
                </a:rPr>
                <a:t>Z</a:t>
              </a:r>
              <a:r>
                <a:rPr lang="fr-FR" baseline="-25000" dirty="0">
                  <a:latin typeface="Times New Roman" pitchFamily="18" charset="0"/>
                  <a:cs typeface="Times New Roman" pitchFamily="18" charset="0"/>
                </a:rPr>
                <a:t>k</a:t>
              </a:r>
              <a:endParaRPr lang="fr-FR" i="1" u="sng" baseline="-25000" dirty="0">
                <a:latin typeface="Times New Roman" pitchFamily="18" charset="0"/>
                <a:cs typeface="Times New Roman" pitchFamily="18" charset="0"/>
              </a:endParaRPr>
            </a:p>
          </p:txBody>
        </p:sp>
      </p:grpSp>
      <p:graphicFrame>
        <p:nvGraphicFramePr>
          <p:cNvPr id="36" name="Object 3">
            <a:extLst>
              <a:ext uri="{FF2B5EF4-FFF2-40B4-BE49-F238E27FC236}">
                <a16:creationId xmlns:a16="http://schemas.microsoft.com/office/drawing/2014/main" id="{02281D2A-BFEE-D90D-45D5-117B8E6D076F}"/>
              </a:ext>
            </a:extLst>
          </p:cNvPr>
          <p:cNvGraphicFramePr>
            <a:graphicFrameLocks noChangeAspect="1"/>
          </p:cNvGraphicFramePr>
          <p:nvPr>
            <p:extLst>
              <p:ext uri="{D42A27DB-BD31-4B8C-83A1-F6EECF244321}">
                <p14:modId xmlns:p14="http://schemas.microsoft.com/office/powerpoint/2010/main" val="1474505004"/>
              </p:ext>
            </p:extLst>
          </p:nvPr>
        </p:nvGraphicFramePr>
        <p:xfrm>
          <a:off x="3755237" y="4229406"/>
          <a:ext cx="1633526" cy="779638"/>
        </p:xfrm>
        <a:graphic>
          <a:graphicData uri="http://schemas.openxmlformats.org/presentationml/2006/ole">
            <mc:AlternateContent xmlns:mc="http://schemas.openxmlformats.org/markup-compatibility/2006">
              <mc:Choice xmlns:v="urn:schemas-microsoft-com:vml" Requires="v">
                <p:oleObj name="Équation" r:id="rId5" imgW="1117440" imgH="533160" progId="Equation.3">
                  <p:embed/>
                </p:oleObj>
              </mc:Choice>
              <mc:Fallback>
                <p:oleObj name="Équation" r:id="rId5" imgW="1117440" imgH="533160" progId="Equation.3">
                  <p:embed/>
                  <p:pic>
                    <p:nvPicPr>
                      <p:cNvPr id="2051"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55237" y="4229406"/>
                        <a:ext cx="1633526" cy="779638"/>
                      </a:xfrm>
                      <a:prstGeom prst="rect">
                        <a:avLst/>
                      </a:prstGeom>
                      <a:noFill/>
                    </p:spPr>
                  </p:pic>
                </p:oleObj>
              </mc:Fallback>
            </mc:AlternateContent>
          </a:graphicData>
        </a:graphic>
      </p:graphicFrame>
    </p:spTree>
    <p:extLst>
      <p:ext uri="{BB962C8B-B14F-4D97-AF65-F5344CB8AC3E}">
        <p14:creationId xmlns:p14="http://schemas.microsoft.com/office/powerpoint/2010/main" val="4953355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77</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4.6 </a:t>
            </a:r>
            <a:r>
              <a:rPr lang="fr-FR" altLang="fr-FR" sz="1400" b="1" spc="-5" dirty="0">
                <a:solidFill>
                  <a:srgbClr val="CC00CC"/>
                </a:solidFill>
                <a:latin typeface="Bookman Old Style" panose="02050604050505020204" pitchFamily="18" charset="0"/>
                <a:cs typeface="Arial"/>
              </a:rPr>
              <a:t>Associations d'Impédance (admittance) </a:t>
            </a:r>
            <a:endParaRPr lang="fr-FR" sz="1400" b="1" spc="-5" dirty="0">
              <a:solidFill>
                <a:srgbClr val="CC00CC"/>
              </a:solidFill>
              <a:latin typeface="Bookman Old Style" panose="02050604050505020204" pitchFamily="18" charset="0"/>
              <a:cs typeface="Arial"/>
            </a:endParaRPr>
          </a:p>
        </p:txBody>
      </p:sp>
      <p:sp>
        <p:nvSpPr>
          <p:cNvPr id="12" name="TextBox 11">
            <a:extLst>
              <a:ext uri="{FF2B5EF4-FFF2-40B4-BE49-F238E27FC236}">
                <a16:creationId xmlns:a16="http://schemas.microsoft.com/office/drawing/2014/main" id="{0774C04C-1AF1-DBF9-5C6E-78FF4426FC84}"/>
              </a:ext>
            </a:extLst>
          </p:cNvPr>
          <p:cNvSpPr txBox="1"/>
          <p:nvPr/>
        </p:nvSpPr>
        <p:spPr>
          <a:xfrm>
            <a:off x="402566" y="1280742"/>
            <a:ext cx="4588778" cy="338554"/>
          </a:xfrm>
          <a:prstGeom prst="rect">
            <a:avLst/>
          </a:prstGeom>
          <a:noFill/>
        </p:spPr>
        <p:txBody>
          <a:bodyPr wrap="square">
            <a:spAutoFit/>
          </a:bodyPr>
          <a:lstStyle/>
          <a:p>
            <a:pPr marL="400050" algn="just">
              <a:spcBef>
                <a:spcPct val="0"/>
              </a:spcBef>
            </a:pPr>
            <a:r>
              <a:rPr lang="fr-FR" altLang="fr-FR" sz="1600" b="1" u="sng" dirty="0">
                <a:solidFill>
                  <a:srgbClr val="0000FF"/>
                </a:solidFill>
                <a:latin typeface="Bookman Old Style" panose="02050604050505020204" pitchFamily="18" charset="0"/>
                <a:cs typeface="Browallia New" panose="020B0604020202020204" pitchFamily="34" charset="-34"/>
              </a:rPr>
              <a:t>En parallèle</a:t>
            </a:r>
          </a:p>
        </p:txBody>
      </p:sp>
      <p:sp>
        <p:nvSpPr>
          <p:cNvPr id="11" name="TextBox 10">
            <a:extLst>
              <a:ext uri="{FF2B5EF4-FFF2-40B4-BE49-F238E27FC236}">
                <a16:creationId xmlns:a16="http://schemas.microsoft.com/office/drawing/2014/main" id="{BB8D0778-C204-0E05-081A-371B21538398}"/>
              </a:ext>
            </a:extLst>
          </p:cNvPr>
          <p:cNvSpPr txBox="1"/>
          <p:nvPr/>
        </p:nvSpPr>
        <p:spPr>
          <a:xfrm>
            <a:off x="576301" y="1774270"/>
            <a:ext cx="8457511" cy="523220"/>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r>
              <a:rPr lang="fr-FR" dirty="0"/>
              <a:t>L’admittance d’un dipôle constitué de plusieurs admittances en parallèle est égales à la somme (complexe) de celle-ci:</a:t>
            </a:r>
          </a:p>
        </p:txBody>
      </p:sp>
      <p:graphicFrame>
        <p:nvGraphicFramePr>
          <p:cNvPr id="13" name="Object 2">
            <a:extLst>
              <a:ext uri="{FF2B5EF4-FFF2-40B4-BE49-F238E27FC236}">
                <a16:creationId xmlns:a16="http://schemas.microsoft.com/office/drawing/2014/main" id="{15028FF8-1B63-B17D-55E1-4C2C90C7A351}"/>
              </a:ext>
            </a:extLst>
          </p:cNvPr>
          <p:cNvGraphicFramePr>
            <a:graphicFrameLocks noChangeAspect="1"/>
          </p:cNvGraphicFramePr>
          <p:nvPr>
            <p:extLst>
              <p:ext uri="{D42A27DB-BD31-4B8C-83A1-F6EECF244321}">
                <p14:modId xmlns:p14="http://schemas.microsoft.com/office/powerpoint/2010/main" val="570354965"/>
              </p:ext>
            </p:extLst>
          </p:nvPr>
        </p:nvGraphicFramePr>
        <p:xfrm>
          <a:off x="3977950" y="2394126"/>
          <a:ext cx="1320593" cy="604340"/>
        </p:xfrm>
        <a:graphic>
          <a:graphicData uri="http://schemas.openxmlformats.org/presentationml/2006/ole">
            <mc:AlternateContent xmlns:mc="http://schemas.openxmlformats.org/markup-compatibility/2006">
              <mc:Choice xmlns:v="urn:schemas-microsoft-com:vml" Requires="v">
                <p:oleObj name="Équation" r:id="rId3" imgW="749160" imgH="342720" progId="Equation.3">
                  <p:embed/>
                </p:oleObj>
              </mc:Choice>
              <mc:Fallback>
                <p:oleObj name="Équation" r:id="rId3" imgW="749160" imgH="342720" progId="Equation.3">
                  <p:embed/>
                  <p:pic>
                    <p:nvPicPr>
                      <p:cNvPr id="3074"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77950" y="2394126"/>
                        <a:ext cx="1320593" cy="604340"/>
                      </a:xfrm>
                      <a:prstGeom prst="rect">
                        <a:avLst/>
                      </a:prstGeom>
                      <a:noFill/>
                    </p:spPr>
                  </p:pic>
                </p:oleObj>
              </mc:Fallback>
            </mc:AlternateContent>
          </a:graphicData>
        </a:graphic>
      </p:graphicFrame>
      <p:sp>
        <p:nvSpPr>
          <p:cNvPr id="20" name="TextBox 19">
            <a:extLst>
              <a:ext uri="{FF2B5EF4-FFF2-40B4-BE49-F238E27FC236}">
                <a16:creationId xmlns:a16="http://schemas.microsoft.com/office/drawing/2014/main" id="{279A34DA-5B15-8B37-B6FC-16319ABA5376}"/>
              </a:ext>
            </a:extLst>
          </p:cNvPr>
          <p:cNvSpPr txBox="1"/>
          <p:nvPr/>
        </p:nvSpPr>
        <p:spPr>
          <a:xfrm>
            <a:off x="609834" y="3089344"/>
            <a:ext cx="4588778" cy="307777"/>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r>
              <a:rPr lang="fr-FR" dirty="0"/>
              <a:t>L’impédance correspondante vaut:</a:t>
            </a:r>
          </a:p>
        </p:txBody>
      </p:sp>
      <p:graphicFrame>
        <p:nvGraphicFramePr>
          <p:cNvPr id="22" name="Object 3">
            <a:extLst>
              <a:ext uri="{FF2B5EF4-FFF2-40B4-BE49-F238E27FC236}">
                <a16:creationId xmlns:a16="http://schemas.microsoft.com/office/drawing/2014/main" id="{8FC28D45-AD85-6256-7672-CA31430D955B}"/>
              </a:ext>
            </a:extLst>
          </p:cNvPr>
          <p:cNvGraphicFramePr>
            <a:graphicFrameLocks noChangeAspect="1"/>
          </p:cNvGraphicFramePr>
          <p:nvPr>
            <p:extLst>
              <p:ext uri="{D42A27DB-BD31-4B8C-83A1-F6EECF244321}">
                <p14:modId xmlns:p14="http://schemas.microsoft.com/office/powerpoint/2010/main" val="2893962604"/>
              </p:ext>
            </p:extLst>
          </p:nvPr>
        </p:nvGraphicFramePr>
        <p:xfrm>
          <a:off x="3672657" y="3692892"/>
          <a:ext cx="1621288" cy="773797"/>
        </p:xfrm>
        <a:graphic>
          <a:graphicData uri="http://schemas.openxmlformats.org/presentationml/2006/ole">
            <mc:AlternateContent xmlns:mc="http://schemas.openxmlformats.org/markup-compatibility/2006">
              <mc:Choice xmlns:v="urn:schemas-microsoft-com:vml" Requires="v">
                <p:oleObj name="Équation" r:id="rId5" imgW="1117440" imgH="533160" progId="Equation.3">
                  <p:embed/>
                </p:oleObj>
              </mc:Choice>
              <mc:Fallback>
                <p:oleObj name="Équation" r:id="rId5" imgW="1117440" imgH="533160" progId="Equation.3">
                  <p:embed/>
                  <p:pic>
                    <p:nvPicPr>
                      <p:cNvPr id="3075"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72657" y="3692892"/>
                        <a:ext cx="1621288" cy="773797"/>
                      </a:xfrm>
                      <a:prstGeom prst="rect">
                        <a:avLst/>
                      </a:prstGeom>
                      <a:noFill/>
                    </p:spPr>
                  </p:pic>
                </p:oleObj>
              </mc:Fallback>
            </mc:AlternateContent>
          </a:graphicData>
        </a:graphic>
      </p:graphicFrame>
      <p:cxnSp>
        <p:nvCxnSpPr>
          <p:cNvPr id="24" name="Connecteur droit 7">
            <a:extLst>
              <a:ext uri="{FF2B5EF4-FFF2-40B4-BE49-F238E27FC236}">
                <a16:creationId xmlns:a16="http://schemas.microsoft.com/office/drawing/2014/main" id="{0B1DE5EF-A581-6A1B-7791-69FB77D96E27}"/>
              </a:ext>
            </a:extLst>
          </p:cNvPr>
          <p:cNvCxnSpPr/>
          <p:nvPr/>
        </p:nvCxnSpPr>
        <p:spPr>
          <a:xfrm rot="5400000">
            <a:off x="4997300" y="3930050"/>
            <a:ext cx="207170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Connecteur droit 8">
            <a:extLst>
              <a:ext uri="{FF2B5EF4-FFF2-40B4-BE49-F238E27FC236}">
                <a16:creationId xmlns:a16="http://schemas.microsoft.com/office/drawing/2014/main" id="{B962BE3A-D1A1-3D4C-6AD2-7DA98C69E6DE}"/>
              </a:ext>
            </a:extLst>
          </p:cNvPr>
          <p:cNvCxnSpPr/>
          <p:nvPr/>
        </p:nvCxnSpPr>
        <p:spPr>
          <a:xfrm rot="5400000">
            <a:off x="5496572" y="3930050"/>
            <a:ext cx="2071702"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Connecteur droit 9">
            <a:extLst>
              <a:ext uri="{FF2B5EF4-FFF2-40B4-BE49-F238E27FC236}">
                <a16:creationId xmlns:a16="http://schemas.microsoft.com/office/drawing/2014/main" id="{4B3ABF86-DB26-B5EF-B69F-DCAFC7330491}"/>
              </a:ext>
            </a:extLst>
          </p:cNvPr>
          <p:cNvCxnSpPr/>
          <p:nvPr/>
        </p:nvCxnSpPr>
        <p:spPr>
          <a:xfrm rot="5400000">
            <a:off x="6711017" y="3930050"/>
            <a:ext cx="2071702" cy="1588"/>
          </a:xfrm>
          <a:prstGeom prst="line">
            <a:avLst/>
          </a:prstGeom>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A1ECAFFB-1C6A-03E2-7667-9C6D90E2A8AC}"/>
              </a:ext>
            </a:extLst>
          </p:cNvPr>
          <p:cNvSpPr/>
          <p:nvPr/>
        </p:nvSpPr>
        <p:spPr>
          <a:xfrm>
            <a:off x="5961713" y="3537935"/>
            <a:ext cx="142876" cy="78581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4C4F318F-65E8-62E6-A8ED-2585267314BD}"/>
              </a:ext>
            </a:extLst>
          </p:cNvPr>
          <p:cNvSpPr/>
          <p:nvPr/>
        </p:nvSpPr>
        <p:spPr>
          <a:xfrm>
            <a:off x="6461779" y="3537935"/>
            <a:ext cx="142876" cy="78581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B8F64BB-D001-02C4-C80E-E3B784CD8708}"/>
              </a:ext>
            </a:extLst>
          </p:cNvPr>
          <p:cNvSpPr/>
          <p:nvPr/>
        </p:nvSpPr>
        <p:spPr>
          <a:xfrm>
            <a:off x="7676225" y="3537935"/>
            <a:ext cx="142876" cy="78581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0" name="Connecteur droit 14">
            <a:extLst>
              <a:ext uri="{FF2B5EF4-FFF2-40B4-BE49-F238E27FC236}">
                <a16:creationId xmlns:a16="http://schemas.microsoft.com/office/drawing/2014/main" id="{CD5BB667-A4C7-EA90-E13D-532269ABDF07}"/>
              </a:ext>
            </a:extLst>
          </p:cNvPr>
          <p:cNvCxnSpPr/>
          <p:nvPr/>
        </p:nvCxnSpPr>
        <p:spPr>
          <a:xfrm>
            <a:off x="6033151" y="2893405"/>
            <a:ext cx="71438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Connecteur droit 15">
            <a:extLst>
              <a:ext uri="{FF2B5EF4-FFF2-40B4-BE49-F238E27FC236}">
                <a16:creationId xmlns:a16="http://schemas.microsoft.com/office/drawing/2014/main" id="{F826AB41-EFC6-234D-F189-121508CE9C3E}"/>
              </a:ext>
            </a:extLst>
          </p:cNvPr>
          <p:cNvCxnSpPr/>
          <p:nvPr/>
        </p:nvCxnSpPr>
        <p:spPr>
          <a:xfrm>
            <a:off x="6033151" y="4965107"/>
            <a:ext cx="71438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Connecteur droit 16">
            <a:extLst>
              <a:ext uri="{FF2B5EF4-FFF2-40B4-BE49-F238E27FC236}">
                <a16:creationId xmlns:a16="http://schemas.microsoft.com/office/drawing/2014/main" id="{E74FC0A6-04BC-14A2-720F-904D64885793}"/>
              </a:ext>
            </a:extLst>
          </p:cNvPr>
          <p:cNvCxnSpPr/>
          <p:nvPr/>
        </p:nvCxnSpPr>
        <p:spPr>
          <a:xfrm>
            <a:off x="7676225" y="2894993"/>
            <a:ext cx="71438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Connecteur droit 17">
            <a:extLst>
              <a:ext uri="{FF2B5EF4-FFF2-40B4-BE49-F238E27FC236}">
                <a16:creationId xmlns:a16="http://schemas.microsoft.com/office/drawing/2014/main" id="{27F565DB-485E-B798-18D5-80F34ACB6751}"/>
              </a:ext>
            </a:extLst>
          </p:cNvPr>
          <p:cNvCxnSpPr/>
          <p:nvPr/>
        </p:nvCxnSpPr>
        <p:spPr>
          <a:xfrm>
            <a:off x="7747663" y="4966695"/>
            <a:ext cx="71438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Connecteur droit 18">
            <a:extLst>
              <a:ext uri="{FF2B5EF4-FFF2-40B4-BE49-F238E27FC236}">
                <a16:creationId xmlns:a16="http://schemas.microsoft.com/office/drawing/2014/main" id="{FB096C2A-F96B-771B-4F43-6C6452D4C85A}"/>
              </a:ext>
            </a:extLst>
          </p:cNvPr>
          <p:cNvCxnSpPr/>
          <p:nvPr/>
        </p:nvCxnSpPr>
        <p:spPr>
          <a:xfrm>
            <a:off x="6818969" y="2894993"/>
            <a:ext cx="714380" cy="1588"/>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45" name="Connecteur droit 19">
            <a:extLst>
              <a:ext uri="{FF2B5EF4-FFF2-40B4-BE49-F238E27FC236}">
                <a16:creationId xmlns:a16="http://schemas.microsoft.com/office/drawing/2014/main" id="{BDC7E586-6BE6-EEEF-9B9F-8751514222D6}"/>
              </a:ext>
            </a:extLst>
          </p:cNvPr>
          <p:cNvCxnSpPr/>
          <p:nvPr/>
        </p:nvCxnSpPr>
        <p:spPr>
          <a:xfrm>
            <a:off x="6890407" y="4965107"/>
            <a:ext cx="714380" cy="1588"/>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7" name="ZoneTexte 20">
            <a:extLst>
              <a:ext uri="{FF2B5EF4-FFF2-40B4-BE49-F238E27FC236}">
                <a16:creationId xmlns:a16="http://schemas.microsoft.com/office/drawing/2014/main" id="{B8850579-306F-0B9A-E13B-868BBFDC8017}"/>
              </a:ext>
            </a:extLst>
          </p:cNvPr>
          <p:cNvSpPr txBox="1"/>
          <p:nvPr/>
        </p:nvSpPr>
        <p:spPr>
          <a:xfrm>
            <a:off x="5533085" y="3823687"/>
            <a:ext cx="389850" cy="369332"/>
          </a:xfrm>
          <a:prstGeom prst="rect">
            <a:avLst/>
          </a:prstGeom>
          <a:noFill/>
        </p:spPr>
        <p:txBody>
          <a:bodyPr wrap="none" rtlCol="0">
            <a:spAutoFit/>
          </a:bodyPr>
          <a:lstStyle/>
          <a:p>
            <a:r>
              <a:rPr lang="fr-FR" i="1" u="sng" dirty="0">
                <a:latin typeface="Times New Roman" pitchFamily="18" charset="0"/>
                <a:cs typeface="Times New Roman" pitchFamily="18" charset="0"/>
              </a:rPr>
              <a:t>Y</a:t>
            </a:r>
            <a:r>
              <a:rPr lang="fr-FR" baseline="-25000" dirty="0">
                <a:latin typeface="Times New Roman" pitchFamily="18" charset="0"/>
                <a:cs typeface="Times New Roman" pitchFamily="18" charset="0"/>
              </a:rPr>
              <a:t>1</a:t>
            </a:r>
            <a:endParaRPr lang="fr-FR" i="1" u="sng" baseline="-25000" dirty="0">
              <a:latin typeface="Times New Roman" pitchFamily="18" charset="0"/>
              <a:cs typeface="Times New Roman" pitchFamily="18" charset="0"/>
            </a:endParaRPr>
          </a:p>
        </p:txBody>
      </p:sp>
      <p:sp>
        <p:nvSpPr>
          <p:cNvPr id="48" name="ZoneTexte 21">
            <a:extLst>
              <a:ext uri="{FF2B5EF4-FFF2-40B4-BE49-F238E27FC236}">
                <a16:creationId xmlns:a16="http://schemas.microsoft.com/office/drawing/2014/main" id="{BF1465A2-7732-CAD7-AED5-4E183B57F212}"/>
              </a:ext>
            </a:extLst>
          </p:cNvPr>
          <p:cNvSpPr txBox="1"/>
          <p:nvPr/>
        </p:nvSpPr>
        <p:spPr>
          <a:xfrm>
            <a:off x="6143367" y="3823687"/>
            <a:ext cx="389850" cy="369332"/>
          </a:xfrm>
          <a:prstGeom prst="rect">
            <a:avLst/>
          </a:prstGeom>
          <a:noFill/>
        </p:spPr>
        <p:txBody>
          <a:bodyPr wrap="none" rtlCol="0">
            <a:spAutoFit/>
          </a:bodyPr>
          <a:lstStyle/>
          <a:p>
            <a:r>
              <a:rPr lang="fr-FR" i="1" u="sng" dirty="0">
                <a:latin typeface="Times New Roman" pitchFamily="18" charset="0"/>
                <a:cs typeface="Times New Roman" pitchFamily="18" charset="0"/>
              </a:rPr>
              <a:t>Y</a:t>
            </a:r>
            <a:r>
              <a:rPr lang="fr-FR" baseline="-25000" dirty="0">
                <a:latin typeface="Times New Roman" pitchFamily="18" charset="0"/>
                <a:cs typeface="Times New Roman" pitchFamily="18" charset="0"/>
              </a:rPr>
              <a:t>2</a:t>
            </a:r>
            <a:endParaRPr lang="fr-FR" i="1" u="sng" baseline="-25000" dirty="0">
              <a:latin typeface="Times New Roman" pitchFamily="18" charset="0"/>
              <a:cs typeface="Times New Roman" pitchFamily="18" charset="0"/>
            </a:endParaRPr>
          </a:p>
        </p:txBody>
      </p:sp>
      <p:sp>
        <p:nvSpPr>
          <p:cNvPr id="49" name="ZoneTexte 22">
            <a:extLst>
              <a:ext uri="{FF2B5EF4-FFF2-40B4-BE49-F238E27FC236}">
                <a16:creationId xmlns:a16="http://schemas.microsoft.com/office/drawing/2014/main" id="{8CFEF6D8-BB8C-A696-8A58-85824943F4C9}"/>
              </a:ext>
            </a:extLst>
          </p:cNvPr>
          <p:cNvSpPr txBox="1"/>
          <p:nvPr/>
        </p:nvSpPr>
        <p:spPr>
          <a:xfrm>
            <a:off x="7319035" y="3895125"/>
            <a:ext cx="381836" cy="369332"/>
          </a:xfrm>
          <a:prstGeom prst="rect">
            <a:avLst/>
          </a:prstGeom>
          <a:noFill/>
        </p:spPr>
        <p:txBody>
          <a:bodyPr wrap="none" rtlCol="0">
            <a:spAutoFit/>
          </a:bodyPr>
          <a:lstStyle/>
          <a:p>
            <a:r>
              <a:rPr lang="fr-FR" i="1" u="sng" dirty="0" err="1">
                <a:latin typeface="Times New Roman" pitchFamily="18" charset="0"/>
                <a:cs typeface="Times New Roman" pitchFamily="18" charset="0"/>
              </a:rPr>
              <a:t>Y</a:t>
            </a:r>
            <a:r>
              <a:rPr lang="fr-FR" i="1" u="sng" baseline="-25000" dirty="0" err="1">
                <a:latin typeface="Times New Roman" pitchFamily="18" charset="0"/>
                <a:cs typeface="Times New Roman" pitchFamily="18" charset="0"/>
              </a:rPr>
              <a:t>k</a:t>
            </a:r>
            <a:endParaRPr lang="fr-FR" i="1" u="sng" baseline="-25000" dirty="0">
              <a:latin typeface="Times New Roman" pitchFamily="18" charset="0"/>
              <a:cs typeface="Times New Roman" pitchFamily="18" charset="0"/>
            </a:endParaRPr>
          </a:p>
        </p:txBody>
      </p:sp>
    </p:spTree>
    <p:extLst>
      <p:ext uri="{BB962C8B-B14F-4D97-AF65-F5344CB8AC3E}">
        <p14:creationId xmlns:p14="http://schemas.microsoft.com/office/powerpoint/2010/main" val="350500670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78</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4. Régime sinusoïdal</a:t>
            </a: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307777"/>
          </a:xfrm>
          <a:prstGeom prst="rect">
            <a:avLst/>
          </a:prstGeom>
          <a:noFill/>
        </p:spPr>
        <p:txBody>
          <a:bodyPr wrap="square">
            <a:spAutoFit/>
          </a:bodyPr>
          <a:lstStyle/>
          <a:p>
            <a:pPr marL="12065" lvl="1">
              <a:lnSpc>
                <a:spcPct val="100000"/>
              </a:lnSpc>
              <a:spcBef>
                <a:spcPts val="100"/>
              </a:spcBef>
              <a:tabLst>
                <a:tab pos="393700" algn="l"/>
              </a:tabLst>
            </a:pPr>
            <a:r>
              <a:rPr lang="fr-FR" sz="1400" b="1" spc="-5" dirty="0">
                <a:solidFill>
                  <a:srgbClr val="CC00CC"/>
                </a:solidFill>
                <a:latin typeface="Bookman Old Style" panose="02050604050505020204" pitchFamily="18" charset="0"/>
                <a:cs typeface="Arial"/>
              </a:rPr>
              <a:t>4.6 </a:t>
            </a:r>
            <a:r>
              <a:rPr lang="fr-FR" altLang="fr-FR" sz="1400" b="1" spc="-5" dirty="0">
                <a:solidFill>
                  <a:srgbClr val="CC00CC"/>
                </a:solidFill>
                <a:latin typeface="Bookman Old Style" panose="02050604050505020204" pitchFamily="18" charset="0"/>
                <a:cs typeface="Arial"/>
              </a:rPr>
              <a:t>Associations d'Impédance (admittance) </a:t>
            </a:r>
            <a:endParaRPr lang="fr-FR" sz="1400" b="1" spc="-5" dirty="0">
              <a:solidFill>
                <a:srgbClr val="CC00CC"/>
              </a:solidFill>
              <a:latin typeface="Bookman Old Style" panose="02050604050505020204" pitchFamily="18" charset="0"/>
              <a:cs typeface="Arial"/>
            </a:endParaRPr>
          </a:p>
        </p:txBody>
      </p:sp>
      <p:sp>
        <p:nvSpPr>
          <p:cNvPr id="12" name="TextBox 11">
            <a:extLst>
              <a:ext uri="{FF2B5EF4-FFF2-40B4-BE49-F238E27FC236}">
                <a16:creationId xmlns:a16="http://schemas.microsoft.com/office/drawing/2014/main" id="{0774C04C-1AF1-DBF9-5C6E-78FF4426FC84}"/>
              </a:ext>
            </a:extLst>
          </p:cNvPr>
          <p:cNvSpPr txBox="1"/>
          <p:nvPr/>
        </p:nvSpPr>
        <p:spPr>
          <a:xfrm>
            <a:off x="402566" y="1280742"/>
            <a:ext cx="4588778" cy="338554"/>
          </a:xfrm>
          <a:prstGeom prst="rect">
            <a:avLst/>
          </a:prstGeom>
          <a:noFill/>
        </p:spPr>
        <p:txBody>
          <a:bodyPr wrap="square">
            <a:spAutoFit/>
          </a:bodyPr>
          <a:lstStyle/>
          <a:p>
            <a:pPr marL="400050" algn="just">
              <a:spcBef>
                <a:spcPct val="0"/>
              </a:spcBef>
            </a:pPr>
            <a:r>
              <a:rPr lang="fr-FR" altLang="fr-FR" sz="1600" b="1" u="sng" dirty="0">
                <a:solidFill>
                  <a:srgbClr val="0000FF"/>
                </a:solidFill>
                <a:latin typeface="Bookman Old Style" panose="02050604050505020204" pitchFamily="18" charset="0"/>
                <a:cs typeface="Browallia New" panose="020B0604020202020204" pitchFamily="34" charset="-34"/>
              </a:rPr>
              <a:t>Exercice</a:t>
            </a:r>
          </a:p>
        </p:txBody>
      </p:sp>
      <p:sp>
        <p:nvSpPr>
          <p:cNvPr id="5" name="TextBox 4">
            <a:extLst>
              <a:ext uri="{FF2B5EF4-FFF2-40B4-BE49-F238E27FC236}">
                <a16:creationId xmlns:a16="http://schemas.microsoft.com/office/drawing/2014/main" id="{953BE08E-2C0B-09AA-EBE1-7C2D4CAA83D5}"/>
              </a:ext>
            </a:extLst>
          </p:cNvPr>
          <p:cNvSpPr txBox="1"/>
          <p:nvPr/>
        </p:nvSpPr>
        <p:spPr>
          <a:xfrm>
            <a:off x="669022" y="1733845"/>
            <a:ext cx="8507852" cy="369332"/>
          </a:xfrm>
          <a:prstGeom prst="rect">
            <a:avLst/>
          </a:prstGeom>
          <a:noFill/>
        </p:spPr>
        <p:txBody>
          <a:bodyPr wrap="square">
            <a:spAutoFit/>
          </a:bodyPr>
          <a:lstStyle/>
          <a:p>
            <a:pPr indent="0">
              <a:buNone/>
            </a:pPr>
            <a:r>
              <a:rPr lang="fr-FR" sz="1800" dirty="0">
                <a:latin typeface="Bookman Old Style" panose="02050604050505020204" pitchFamily="18" charset="0"/>
                <a:cs typeface="Times New Roman" pitchFamily="18" charset="0"/>
              </a:rPr>
              <a:t>On considère le circuit R,L et C en série, donner Diagramme de Fresnel </a:t>
            </a:r>
          </a:p>
        </p:txBody>
      </p:sp>
      <p:graphicFrame>
        <p:nvGraphicFramePr>
          <p:cNvPr id="16" name="Objet 5">
            <a:extLst>
              <a:ext uri="{FF2B5EF4-FFF2-40B4-BE49-F238E27FC236}">
                <a16:creationId xmlns:a16="http://schemas.microsoft.com/office/drawing/2014/main" id="{7606AB75-4703-3EA3-1446-126E7ECEFFA5}"/>
              </a:ext>
            </a:extLst>
          </p:cNvPr>
          <p:cNvGraphicFramePr>
            <a:graphicFrameLocks noChangeAspect="1"/>
          </p:cNvGraphicFramePr>
          <p:nvPr>
            <p:extLst>
              <p:ext uri="{D42A27DB-BD31-4B8C-83A1-F6EECF244321}">
                <p14:modId xmlns:p14="http://schemas.microsoft.com/office/powerpoint/2010/main" val="1671803995"/>
              </p:ext>
            </p:extLst>
          </p:nvPr>
        </p:nvGraphicFramePr>
        <p:xfrm>
          <a:off x="1549400" y="2804721"/>
          <a:ext cx="6045200" cy="993775"/>
        </p:xfrm>
        <a:graphic>
          <a:graphicData uri="http://schemas.openxmlformats.org/presentationml/2006/ole">
            <mc:AlternateContent xmlns:mc="http://schemas.openxmlformats.org/markup-compatibility/2006">
              <mc:Choice xmlns:v="urn:schemas-microsoft-com:vml" Requires="v">
                <p:oleObj name="Équation" r:id="rId3" imgW="2628720" imgH="431640" progId="Equation.3">
                  <p:embed/>
                </p:oleObj>
              </mc:Choice>
              <mc:Fallback>
                <p:oleObj name="Équation" r:id="rId3" imgW="2628720" imgH="431640" progId="Equation.3">
                  <p:embed/>
                  <p:pic>
                    <p:nvPicPr>
                      <p:cNvPr id="6" name="Obje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49400" y="2804721"/>
                        <a:ext cx="6045200" cy="993775"/>
                      </a:xfrm>
                      <a:prstGeom prst="rect">
                        <a:avLst/>
                      </a:prstGeom>
                      <a:noFill/>
                    </p:spPr>
                  </p:pic>
                </p:oleObj>
              </mc:Fallback>
            </mc:AlternateContent>
          </a:graphicData>
        </a:graphic>
      </p:graphicFrame>
    </p:spTree>
    <p:extLst>
      <p:ext uri="{BB962C8B-B14F-4D97-AF65-F5344CB8AC3E}">
        <p14:creationId xmlns:p14="http://schemas.microsoft.com/office/powerpoint/2010/main" val="119955903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79</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5. </a:t>
            </a:r>
            <a:r>
              <a:rPr lang="fr-FR" altLang="fr-FR" b="1" spc="-5" dirty="0">
                <a:solidFill>
                  <a:srgbClr val="FF0000"/>
                </a:solidFill>
                <a:latin typeface="Bookman Old Style" panose="02050604050505020204" pitchFamily="18" charset="0"/>
                <a:cs typeface="Arial"/>
              </a:rPr>
              <a:t>Puissance et Energie Electriques</a:t>
            </a:r>
            <a:endParaRPr lang="fr-FR" b="1" spc="-5" dirty="0">
              <a:solidFill>
                <a:srgbClr val="FF0000"/>
              </a:solidFill>
              <a:latin typeface="Bookman Old Style" panose="02050604050505020204" pitchFamily="18" charset="0"/>
              <a:cs typeface="Arial"/>
            </a:endParaRP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597599"/>
          </a:xfrm>
          <a:prstGeom prst="rect">
            <a:avLst/>
          </a:prstGeom>
          <a:noFill/>
        </p:spPr>
        <p:txBody>
          <a:bodyPr wrap="square">
            <a:spAutoFit/>
          </a:bodyPr>
          <a:lstStyle/>
          <a:p>
            <a:pPr marL="12065" lvl="1">
              <a:spcBef>
                <a:spcPts val="100"/>
              </a:spcBef>
              <a:tabLst>
                <a:tab pos="393700" algn="l"/>
              </a:tabLst>
            </a:pPr>
            <a:r>
              <a:rPr lang="fr-FR" sz="1600" b="1" spc="-5" dirty="0">
                <a:solidFill>
                  <a:srgbClr val="CC00CC"/>
                </a:solidFill>
                <a:latin typeface="Bookman Old Style" panose="02050604050505020204" pitchFamily="18" charset="0"/>
                <a:cs typeface="Arial"/>
              </a:rPr>
              <a:t>5.1 Définitions</a:t>
            </a:r>
          </a:p>
          <a:p>
            <a:pPr marL="12065" lvl="1">
              <a:lnSpc>
                <a:spcPct val="100000"/>
              </a:lnSpc>
              <a:spcBef>
                <a:spcPts val="100"/>
              </a:spcBef>
              <a:tabLst>
                <a:tab pos="393700" algn="l"/>
              </a:tabLst>
            </a:pPr>
            <a:endParaRPr lang="fr-FR" sz="1600" b="1" spc="-5" dirty="0">
              <a:solidFill>
                <a:srgbClr val="CC00CC"/>
              </a:solidFill>
              <a:latin typeface="Bookman Old Style" panose="02050604050505020204" pitchFamily="18" charset="0"/>
              <a:cs typeface="Arial"/>
            </a:endParaRPr>
          </a:p>
        </p:txBody>
      </p:sp>
      <p:sp>
        <p:nvSpPr>
          <p:cNvPr id="11" name="TextBox 10">
            <a:extLst>
              <a:ext uri="{FF2B5EF4-FFF2-40B4-BE49-F238E27FC236}">
                <a16:creationId xmlns:a16="http://schemas.microsoft.com/office/drawing/2014/main" id="{B79C9282-CCCE-DB6E-E532-58A1A0866B4D}"/>
              </a:ext>
            </a:extLst>
          </p:cNvPr>
          <p:cNvSpPr txBox="1"/>
          <p:nvPr/>
        </p:nvSpPr>
        <p:spPr>
          <a:xfrm>
            <a:off x="452136" y="1774018"/>
            <a:ext cx="8552309" cy="1200329"/>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r>
              <a:rPr lang="fr-FR" sz="1800" dirty="0"/>
              <a:t>La puissance électrique </a:t>
            </a:r>
            <a:r>
              <a:rPr lang="fr-FR" sz="1800" b="1" dirty="0"/>
              <a:t> P </a:t>
            </a:r>
            <a:r>
              <a:rPr lang="fr-FR" sz="1800" dirty="0"/>
              <a:t>d’un dipôle est une grandeur physique qui caractérise la </a:t>
            </a:r>
            <a:r>
              <a:rPr lang="fr-FR" sz="1800" b="1" dirty="0"/>
              <a:t>rapidité du transfert électrique </a:t>
            </a:r>
            <a:r>
              <a:rPr lang="fr-FR" sz="1800" dirty="0"/>
              <a:t>entre ce dipôle et le reste du circuit électrique ou le milieu extérieur.</a:t>
            </a:r>
          </a:p>
          <a:p>
            <a:endParaRPr lang="fr-FR" sz="1800" dirty="0"/>
          </a:p>
        </p:txBody>
      </p:sp>
      <p:sp>
        <p:nvSpPr>
          <p:cNvPr id="17" name="TextBox 16">
            <a:extLst>
              <a:ext uri="{FF2B5EF4-FFF2-40B4-BE49-F238E27FC236}">
                <a16:creationId xmlns:a16="http://schemas.microsoft.com/office/drawing/2014/main" id="{45B47DF8-2E0A-925F-CB64-605AC57935BC}"/>
              </a:ext>
            </a:extLst>
          </p:cNvPr>
          <p:cNvSpPr txBox="1"/>
          <p:nvPr/>
        </p:nvSpPr>
        <p:spPr>
          <a:xfrm>
            <a:off x="490947" y="3410565"/>
            <a:ext cx="8552309" cy="646331"/>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r>
              <a:rPr lang="fr-FR" sz="1800" dirty="0"/>
              <a:t>L’instrument de la mesure de la </a:t>
            </a:r>
            <a:r>
              <a:rPr lang="fr-FR" sz="1800" b="1" dirty="0"/>
              <a:t>puissance</a:t>
            </a:r>
            <a:r>
              <a:rPr lang="fr-FR" sz="1800" dirty="0"/>
              <a:t> est le </a:t>
            </a:r>
            <a:r>
              <a:rPr lang="fr-FR" sz="1800" b="1" dirty="0"/>
              <a:t>wattmètre. </a:t>
            </a:r>
            <a:r>
              <a:rPr lang="fr-FR" sz="1800" dirty="0"/>
              <a:t>La puissance s'exprime en </a:t>
            </a:r>
            <a:r>
              <a:rPr lang="fr-FR" sz="1800" b="1" dirty="0"/>
              <a:t>watt</a:t>
            </a:r>
            <a:r>
              <a:rPr lang="fr-FR" sz="1800" dirty="0"/>
              <a:t> (symbole W) </a:t>
            </a:r>
          </a:p>
        </p:txBody>
      </p:sp>
    </p:spTree>
    <p:extLst>
      <p:ext uri="{BB962C8B-B14F-4D97-AF65-F5344CB8AC3E}">
        <p14:creationId xmlns:p14="http://schemas.microsoft.com/office/powerpoint/2010/main" val="96235632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80</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5. </a:t>
            </a:r>
            <a:r>
              <a:rPr lang="fr-FR" altLang="fr-FR" b="1" spc="-5" dirty="0">
                <a:solidFill>
                  <a:srgbClr val="FF0000"/>
                </a:solidFill>
                <a:latin typeface="Bookman Old Style" panose="02050604050505020204" pitchFamily="18" charset="0"/>
                <a:cs typeface="Arial"/>
              </a:rPr>
              <a:t>Puissance et Energie Electriques</a:t>
            </a:r>
            <a:endParaRPr lang="fr-FR" b="1" spc="-5" dirty="0">
              <a:solidFill>
                <a:srgbClr val="FF0000"/>
              </a:solidFill>
              <a:latin typeface="Bookman Old Style" panose="02050604050505020204" pitchFamily="18" charset="0"/>
              <a:cs typeface="Arial"/>
            </a:endParaRP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338554"/>
          </a:xfrm>
          <a:prstGeom prst="rect">
            <a:avLst/>
          </a:prstGeom>
          <a:noFill/>
        </p:spPr>
        <p:txBody>
          <a:bodyPr wrap="square">
            <a:spAutoFit/>
          </a:bodyPr>
          <a:lstStyle/>
          <a:p>
            <a:pPr marL="12065" lvl="1">
              <a:spcBef>
                <a:spcPts val="100"/>
              </a:spcBef>
              <a:tabLst>
                <a:tab pos="393700" algn="l"/>
              </a:tabLst>
            </a:pPr>
            <a:r>
              <a:rPr lang="fr-FR" sz="1600" b="1" spc="-5" dirty="0">
                <a:solidFill>
                  <a:srgbClr val="CC00CC"/>
                </a:solidFill>
                <a:latin typeface="Bookman Old Style" panose="02050604050505020204" pitchFamily="18" charset="0"/>
                <a:cs typeface="Arial"/>
              </a:rPr>
              <a:t>5.2 Puissance électrique en courant continu </a:t>
            </a:r>
          </a:p>
        </p:txBody>
      </p:sp>
      <p:sp>
        <p:nvSpPr>
          <p:cNvPr id="11" name="TextBox 10">
            <a:extLst>
              <a:ext uri="{FF2B5EF4-FFF2-40B4-BE49-F238E27FC236}">
                <a16:creationId xmlns:a16="http://schemas.microsoft.com/office/drawing/2014/main" id="{B79C9282-CCCE-DB6E-E532-58A1A0866B4D}"/>
              </a:ext>
            </a:extLst>
          </p:cNvPr>
          <p:cNvSpPr txBox="1"/>
          <p:nvPr/>
        </p:nvSpPr>
        <p:spPr>
          <a:xfrm>
            <a:off x="233493" y="1301201"/>
            <a:ext cx="8552309" cy="830997"/>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pPr marL="571500">
              <a:buFont typeface="Wingdings" panose="05000000000000000000" pitchFamily="2" charset="2"/>
              <a:buChar char="Ø"/>
            </a:pPr>
            <a:r>
              <a:rPr lang="fr-FR" sz="1600" dirty="0"/>
              <a:t>Branchons </a:t>
            </a:r>
            <a:r>
              <a:rPr lang="fr-FR" sz="1600" b="1" dirty="0"/>
              <a:t>l'appareil</a:t>
            </a:r>
            <a:r>
              <a:rPr lang="fr-FR" sz="1600" dirty="0"/>
              <a:t> étudié (</a:t>
            </a:r>
            <a:r>
              <a:rPr lang="fr-FR" sz="1600" b="1" dirty="0"/>
              <a:t>lampe</a:t>
            </a:r>
            <a:r>
              <a:rPr lang="fr-FR" sz="1600" dirty="0"/>
              <a:t> 12V - 21W) aux bornes d'un </a:t>
            </a:r>
            <a:r>
              <a:rPr lang="fr-FR" sz="1600" b="1" dirty="0"/>
              <a:t>générateur </a:t>
            </a:r>
            <a:r>
              <a:rPr lang="fr-FR" sz="1600" dirty="0"/>
              <a:t>et réglons la tension à la valeur nominale </a:t>
            </a:r>
            <a:r>
              <a:rPr lang="fr-FR" sz="1600" b="1" dirty="0"/>
              <a:t>U= 12V</a:t>
            </a:r>
            <a:r>
              <a:rPr lang="fr-FR" sz="1600" dirty="0"/>
              <a:t>.</a:t>
            </a:r>
          </a:p>
          <a:p>
            <a:pPr marL="0" indent="0">
              <a:buNone/>
            </a:pPr>
            <a:endParaRPr lang="fr-FR" sz="1600" dirty="0"/>
          </a:p>
        </p:txBody>
      </p:sp>
      <p:pic>
        <p:nvPicPr>
          <p:cNvPr id="3" name="Picture 2">
            <a:extLst>
              <a:ext uri="{FF2B5EF4-FFF2-40B4-BE49-F238E27FC236}">
                <a16:creationId xmlns:a16="http://schemas.microsoft.com/office/drawing/2014/main" id="{ABC40730-D2BB-4BBE-2436-0781ADEE2006}"/>
              </a:ext>
            </a:extLst>
          </p:cNvPr>
          <p:cNvPicPr>
            <a:picLocks noChangeAspect="1" noChangeArrowheads="1"/>
          </p:cNvPicPr>
          <p:nvPr/>
        </p:nvPicPr>
        <p:blipFill>
          <a:blip r:embed="rId3"/>
          <a:srcRect/>
          <a:stretch>
            <a:fillRect/>
          </a:stretch>
        </p:blipFill>
        <p:spPr bwMode="auto">
          <a:xfrm>
            <a:off x="1499172" y="1842662"/>
            <a:ext cx="2395566" cy="1458175"/>
          </a:xfrm>
          <a:prstGeom prst="rect">
            <a:avLst/>
          </a:prstGeom>
          <a:noFill/>
          <a:ln w="9525">
            <a:noFill/>
            <a:miter lim="800000"/>
            <a:headEnd/>
            <a:tailEnd/>
          </a:ln>
          <a:effectLst/>
        </p:spPr>
      </p:pic>
      <p:pic>
        <p:nvPicPr>
          <p:cNvPr id="5" name="Picture 3">
            <a:extLst>
              <a:ext uri="{FF2B5EF4-FFF2-40B4-BE49-F238E27FC236}">
                <a16:creationId xmlns:a16="http://schemas.microsoft.com/office/drawing/2014/main" id="{F569B303-9BA9-A0FB-E02E-DA1E00FBF57F}"/>
              </a:ext>
            </a:extLst>
          </p:cNvPr>
          <p:cNvPicPr>
            <a:picLocks noChangeAspect="1" noChangeArrowheads="1"/>
          </p:cNvPicPr>
          <p:nvPr/>
        </p:nvPicPr>
        <p:blipFill>
          <a:blip r:embed="rId4"/>
          <a:srcRect/>
          <a:stretch>
            <a:fillRect/>
          </a:stretch>
        </p:blipFill>
        <p:spPr bwMode="auto">
          <a:xfrm>
            <a:off x="4986456" y="2229015"/>
            <a:ext cx="2093390" cy="975004"/>
          </a:xfrm>
          <a:prstGeom prst="rect">
            <a:avLst/>
          </a:prstGeom>
          <a:noFill/>
          <a:ln w="9525">
            <a:noFill/>
            <a:miter lim="800000"/>
            <a:headEnd/>
            <a:tailEnd/>
          </a:ln>
          <a:effectLst/>
        </p:spPr>
      </p:pic>
      <p:sp>
        <p:nvSpPr>
          <p:cNvPr id="13" name="TextBox 12">
            <a:extLst>
              <a:ext uri="{FF2B5EF4-FFF2-40B4-BE49-F238E27FC236}">
                <a16:creationId xmlns:a16="http://schemas.microsoft.com/office/drawing/2014/main" id="{E7A2F0BA-B553-B148-6A06-E8F86C946291}"/>
              </a:ext>
            </a:extLst>
          </p:cNvPr>
          <p:cNvSpPr txBox="1"/>
          <p:nvPr/>
        </p:nvSpPr>
        <p:spPr>
          <a:xfrm>
            <a:off x="254838" y="3268214"/>
            <a:ext cx="8788418" cy="1569660"/>
          </a:xfrm>
          <a:prstGeom prst="rect">
            <a:avLst/>
          </a:prstGeom>
          <a:noFill/>
        </p:spPr>
        <p:txBody>
          <a:bodyPr wrap="square">
            <a:spAutoFit/>
          </a:bodyPr>
          <a:lstStyle>
            <a:defPPr>
              <a:defRPr lang="fr-FR"/>
            </a:defPPr>
            <a:lvl1pPr marL="571500" indent="-285750" algn="just">
              <a:buFont typeface="Wingdings" panose="05000000000000000000" pitchFamily="2" charset="2"/>
              <a:buChar char="Ø"/>
              <a:defRPr sz="1600">
                <a:latin typeface="Bookman Old Style" panose="02050604050505020204" pitchFamily="18" charset="0"/>
                <a:cs typeface="Times New Roman" pitchFamily="18" charset="0"/>
              </a:defRPr>
            </a:lvl1pPr>
          </a:lstStyle>
          <a:p>
            <a:r>
              <a:rPr lang="fr-FR" dirty="0"/>
              <a:t>Mesurons l'intensité </a:t>
            </a:r>
            <a:r>
              <a:rPr lang="fr-FR" b="1" dirty="0"/>
              <a:t>I </a:t>
            </a:r>
            <a:r>
              <a:rPr lang="fr-FR" dirty="0"/>
              <a:t>qui traverse la lampe : </a:t>
            </a:r>
            <a:r>
              <a:rPr lang="fr-FR" b="1" dirty="0"/>
              <a:t>U = 12V   I = 1,75 A </a:t>
            </a:r>
          </a:p>
          <a:p>
            <a:pPr marL="285750" indent="0">
              <a:buNone/>
            </a:pPr>
            <a:endParaRPr lang="fr-FR" dirty="0"/>
          </a:p>
          <a:p>
            <a:pPr marL="285750" indent="0">
              <a:buNone/>
            </a:pPr>
            <a:r>
              <a:rPr lang="fr-FR" dirty="0"/>
              <a:t>      </a:t>
            </a:r>
            <a:r>
              <a:rPr lang="fr-FR" b="1" dirty="0"/>
              <a:t>- </a:t>
            </a:r>
            <a:r>
              <a:rPr lang="fr-FR" dirty="0"/>
              <a:t>On constate que le produit</a:t>
            </a:r>
            <a:endParaRPr lang="fr-FR" b="1" dirty="0"/>
          </a:p>
          <a:p>
            <a:pPr marL="285750" indent="0">
              <a:buNone/>
            </a:pPr>
            <a:r>
              <a:rPr lang="fr-FR" dirty="0"/>
              <a:t>      </a:t>
            </a:r>
            <a:r>
              <a:rPr lang="fr-FR" b="1" dirty="0"/>
              <a:t>- </a:t>
            </a:r>
            <a:r>
              <a:rPr lang="fr-FR" dirty="0"/>
              <a:t>On admet que : La puissance P </a:t>
            </a:r>
            <a:r>
              <a:rPr lang="fr-FR" b="1" dirty="0"/>
              <a:t>U x I = 12V x 1,75 A = 21  V x A </a:t>
            </a:r>
            <a:r>
              <a:rPr lang="fr-FR" dirty="0"/>
              <a:t>consommée par un dipôle récepteur en courant continu est égale au produit de la tension </a:t>
            </a:r>
            <a:r>
              <a:rPr lang="fr-FR" b="1" dirty="0"/>
              <a:t>U</a:t>
            </a:r>
            <a:r>
              <a:rPr lang="fr-FR" dirty="0"/>
              <a:t> à ses bornes par l'intensité </a:t>
            </a:r>
            <a:r>
              <a:rPr lang="fr-FR" b="1" dirty="0"/>
              <a:t>I </a:t>
            </a:r>
            <a:r>
              <a:rPr lang="fr-FR" dirty="0"/>
              <a:t>du courant qui le traverse</a:t>
            </a:r>
          </a:p>
        </p:txBody>
      </p:sp>
    </p:spTree>
    <p:extLst>
      <p:ext uri="{BB962C8B-B14F-4D97-AF65-F5344CB8AC3E}">
        <p14:creationId xmlns:p14="http://schemas.microsoft.com/office/powerpoint/2010/main" val="192003618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81</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5. </a:t>
            </a:r>
            <a:r>
              <a:rPr lang="fr-FR" altLang="fr-FR" b="1" spc="-5" dirty="0">
                <a:solidFill>
                  <a:srgbClr val="FF0000"/>
                </a:solidFill>
                <a:latin typeface="Bookman Old Style" panose="02050604050505020204" pitchFamily="18" charset="0"/>
                <a:cs typeface="Arial"/>
              </a:rPr>
              <a:t>Puissance et Energie Electriques</a:t>
            </a:r>
            <a:endParaRPr lang="fr-FR" b="1" spc="-5" dirty="0">
              <a:solidFill>
                <a:srgbClr val="FF0000"/>
              </a:solidFill>
              <a:latin typeface="Bookman Old Style" panose="02050604050505020204" pitchFamily="18" charset="0"/>
              <a:cs typeface="Arial"/>
            </a:endParaRP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338554"/>
          </a:xfrm>
          <a:prstGeom prst="rect">
            <a:avLst/>
          </a:prstGeom>
          <a:noFill/>
        </p:spPr>
        <p:txBody>
          <a:bodyPr wrap="square">
            <a:spAutoFit/>
          </a:bodyPr>
          <a:lstStyle/>
          <a:p>
            <a:pPr marL="12065" lvl="1">
              <a:spcBef>
                <a:spcPts val="100"/>
              </a:spcBef>
              <a:tabLst>
                <a:tab pos="393700" algn="l"/>
              </a:tabLst>
            </a:pPr>
            <a:r>
              <a:rPr lang="fr-FR" sz="1600" b="1" spc="-5" dirty="0">
                <a:solidFill>
                  <a:srgbClr val="CC00CC"/>
                </a:solidFill>
                <a:latin typeface="Bookman Old Style" panose="02050604050505020204" pitchFamily="18" charset="0"/>
                <a:cs typeface="Arial"/>
              </a:rPr>
              <a:t>5.3 Puissance instantanée en régime sinusoïdal</a:t>
            </a:r>
          </a:p>
        </p:txBody>
      </p:sp>
      <p:sp>
        <p:nvSpPr>
          <p:cNvPr id="16" name="TextBox 15">
            <a:extLst>
              <a:ext uri="{FF2B5EF4-FFF2-40B4-BE49-F238E27FC236}">
                <a16:creationId xmlns:a16="http://schemas.microsoft.com/office/drawing/2014/main" id="{9485325E-E1E5-E9F6-7A5C-D954339F2B6B}"/>
              </a:ext>
            </a:extLst>
          </p:cNvPr>
          <p:cNvSpPr txBox="1"/>
          <p:nvPr/>
        </p:nvSpPr>
        <p:spPr>
          <a:xfrm>
            <a:off x="549736" y="1504326"/>
            <a:ext cx="8457511" cy="523220"/>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sz="1400">
                <a:latin typeface="Bookman Old Style" panose="02050604050505020204" pitchFamily="18" charset="0"/>
                <a:cs typeface="Times New Roman" pitchFamily="18" charset="0"/>
              </a:defRPr>
            </a:lvl1pPr>
          </a:lstStyle>
          <a:p>
            <a:r>
              <a:rPr lang="fr-FR" dirty="0"/>
              <a:t>La </a:t>
            </a:r>
            <a:r>
              <a:rPr lang="fr-FR" b="1" dirty="0"/>
              <a:t>valeur instantanée de la puissance p(t) </a:t>
            </a:r>
            <a:r>
              <a:rPr lang="fr-FR" dirty="0"/>
              <a:t>est par définition le produit des valeurs </a:t>
            </a:r>
            <a:r>
              <a:rPr lang="fr-FR" b="1" dirty="0"/>
              <a:t>instantanées</a:t>
            </a:r>
            <a:r>
              <a:rPr lang="fr-FR" dirty="0"/>
              <a:t> la </a:t>
            </a:r>
            <a:r>
              <a:rPr lang="fr-FR" b="1" dirty="0"/>
              <a:t>tension v(t) </a:t>
            </a:r>
            <a:r>
              <a:rPr lang="fr-FR" dirty="0"/>
              <a:t>et du </a:t>
            </a:r>
            <a:r>
              <a:rPr lang="fr-FR" b="1" dirty="0"/>
              <a:t>courant i(t)</a:t>
            </a:r>
          </a:p>
        </p:txBody>
      </p:sp>
      <p:sp>
        <p:nvSpPr>
          <p:cNvPr id="20" name="TextBox 19">
            <a:extLst>
              <a:ext uri="{FF2B5EF4-FFF2-40B4-BE49-F238E27FC236}">
                <a16:creationId xmlns:a16="http://schemas.microsoft.com/office/drawing/2014/main" id="{6898E9B2-EEE9-CE82-E5A2-6DADD85284E5}"/>
              </a:ext>
            </a:extLst>
          </p:cNvPr>
          <p:cNvSpPr txBox="1"/>
          <p:nvPr/>
        </p:nvSpPr>
        <p:spPr>
          <a:xfrm>
            <a:off x="224422" y="2127651"/>
            <a:ext cx="4588778" cy="338554"/>
          </a:xfrm>
          <a:prstGeom prst="rect">
            <a:avLst/>
          </a:prstGeom>
          <a:noFill/>
        </p:spPr>
        <p:txBody>
          <a:bodyPr wrap="square">
            <a:spAutoFit/>
          </a:bodyPr>
          <a:lstStyle>
            <a:defPPr>
              <a:defRPr lang="fr-FR"/>
            </a:defPPr>
            <a:lvl1pPr marL="400050" algn="just">
              <a:spcBef>
                <a:spcPct val="0"/>
              </a:spcBef>
              <a:defRPr sz="1600" b="1" u="sng">
                <a:solidFill>
                  <a:srgbClr val="0000FF"/>
                </a:solidFill>
                <a:latin typeface="Bookman Old Style" panose="02050604050505020204" pitchFamily="18" charset="0"/>
                <a:cs typeface="Browallia New" panose="020B0604020202020204" pitchFamily="34" charset="-34"/>
              </a:defRPr>
            </a:lvl1pPr>
          </a:lstStyle>
          <a:p>
            <a:r>
              <a:rPr lang="fr-FR" dirty="0"/>
              <a:t>Puissance active </a:t>
            </a:r>
          </a:p>
        </p:txBody>
      </p:sp>
      <p:sp>
        <p:nvSpPr>
          <p:cNvPr id="22" name="TextBox 21">
            <a:extLst>
              <a:ext uri="{FF2B5EF4-FFF2-40B4-BE49-F238E27FC236}">
                <a16:creationId xmlns:a16="http://schemas.microsoft.com/office/drawing/2014/main" id="{6B61D77A-F75B-EA0F-0DAC-B6E943DC9565}"/>
              </a:ext>
            </a:extLst>
          </p:cNvPr>
          <p:cNvSpPr txBox="1"/>
          <p:nvPr/>
        </p:nvSpPr>
        <p:spPr>
          <a:xfrm>
            <a:off x="762000" y="2571750"/>
            <a:ext cx="8245247" cy="523220"/>
          </a:xfrm>
          <a:prstGeom prst="rect">
            <a:avLst/>
          </a:prstGeom>
          <a:noFill/>
        </p:spPr>
        <p:txBody>
          <a:bodyPr wrap="square">
            <a:spAutoFit/>
          </a:bodyPr>
          <a:lstStyle/>
          <a:p>
            <a:pPr marL="285750" indent="-285750" algn="just">
              <a:buFont typeface="Wingdings" panose="05000000000000000000" pitchFamily="2" charset="2"/>
              <a:buChar char="§"/>
            </a:pPr>
            <a:r>
              <a:rPr lang="fr-FR" sz="1400" dirty="0">
                <a:latin typeface="Bookman Old Style" panose="02050604050505020204" pitchFamily="18" charset="0"/>
                <a:cs typeface="Times New Roman" pitchFamily="18" charset="0"/>
              </a:rPr>
              <a:t>On appelle </a:t>
            </a:r>
            <a:r>
              <a:rPr lang="fr-FR" sz="1400" b="1" dirty="0">
                <a:latin typeface="Bookman Old Style" panose="02050604050505020204" pitchFamily="18" charset="0"/>
                <a:cs typeface="Times New Roman" pitchFamily="18" charset="0"/>
              </a:rPr>
              <a:t>puissance active </a:t>
            </a:r>
            <a:r>
              <a:rPr lang="fr-FR" sz="1400" b="1" i="1" dirty="0">
                <a:latin typeface="Bookman Old Style" panose="02050604050505020204" pitchFamily="18" charset="0"/>
                <a:cs typeface="Times New Roman" pitchFamily="18" charset="0"/>
              </a:rPr>
              <a:t>P</a:t>
            </a:r>
            <a:r>
              <a:rPr lang="fr-FR" sz="1400" dirty="0">
                <a:latin typeface="Bookman Old Style" panose="02050604050505020204" pitchFamily="18" charset="0"/>
                <a:cs typeface="Times New Roman" pitchFamily="18" charset="0"/>
              </a:rPr>
              <a:t> la valeur </a:t>
            </a:r>
            <a:r>
              <a:rPr lang="fr-FR" sz="1400" b="1" dirty="0">
                <a:latin typeface="Bookman Old Style" panose="02050604050505020204" pitchFamily="18" charset="0"/>
                <a:cs typeface="Times New Roman" pitchFamily="18" charset="0"/>
              </a:rPr>
              <a:t>moyenne de la puissance instantanée</a:t>
            </a:r>
            <a:r>
              <a:rPr lang="fr-FR" sz="1400" dirty="0">
                <a:latin typeface="Bookman Old Style" panose="02050604050505020204" pitchFamily="18" charset="0"/>
                <a:cs typeface="Times New Roman" pitchFamily="18" charset="0"/>
              </a:rPr>
              <a:t>. En régime sinusoïdal, la </a:t>
            </a:r>
            <a:r>
              <a:rPr lang="fr-FR" sz="1400" b="1" dirty="0">
                <a:latin typeface="Bookman Old Style" panose="02050604050505020204" pitchFamily="18" charset="0"/>
                <a:cs typeface="Times New Roman" pitchFamily="18" charset="0"/>
              </a:rPr>
              <a:t>puissance active </a:t>
            </a:r>
            <a:r>
              <a:rPr lang="fr-FR" sz="1400" dirty="0">
                <a:latin typeface="Bookman Old Style" panose="02050604050505020204" pitchFamily="18" charset="0"/>
                <a:cs typeface="Times New Roman" pitchFamily="18" charset="0"/>
              </a:rPr>
              <a:t>vaut:</a:t>
            </a:r>
          </a:p>
        </p:txBody>
      </p:sp>
      <p:graphicFrame>
        <p:nvGraphicFramePr>
          <p:cNvPr id="23" name="Object 2">
            <a:extLst>
              <a:ext uri="{FF2B5EF4-FFF2-40B4-BE49-F238E27FC236}">
                <a16:creationId xmlns:a16="http://schemas.microsoft.com/office/drawing/2014/main" id="{4AEE38B3-46A0-CE04-1A3C-0927210E04CB}"/>
              </a:ext>
            </a:extLst>
          </p:cNvPr>
          <p:cNvGraphicFramePr>
            <a:graphicFrameLocks noChangeAspect="1"/>
          </p:cNvGraphicFramePr>
          <p:nvPr>
            <p:extLst>
              <p:ext uri="{D42A27DB-BD31-4B8C-83A1-F6EECF244321}">
                <p14:modId xmlns:p14="http://schemas.microsoft.com/office/powerpoint/2010/main" val="3353426551"/>
              </p:ext>
            </p:extLst>
          </p:nvPr>
        </p:nvGraphicFramePr>
        <p:xfrm>
          <a:off x="3685332" y="3200515"/>
          <a:ext cx="2200584" cy="668818"/>
        </p:xfrm>
        <a:graphic>
          <a:graphicData uri="http://schemas.openxmlformats.org/presentationml/2006/ole">
            <mc:AlternateContent xmlns:mc="http://schemas.openxmlformats.org/markup-compatibility/2006">
              <mc:Choice xmlns:v="urn:schemas-microsoft-com:vml" Requires="v">
                <p:oleObj name="Équation" r:id="rId3" imgW="1587240" imgH="482400" progId="Equation.3">
                  <p:embed/>
                </p:oleObj>
              </mc:Choice>
              <mc:Fallback>
                <p:oleObj name="Équation" r:id="rId3" imgW="1587240" imgH="482400" progId="Equation.3">
                  <p:embed/>
                  <p:pic>
                    <p:nvPicPr>
                      <p:cNvPr id="5122"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85332" y="3200515"/>
                        <a:ext cx="2200584" cy="668818"/>
                      </a:xfrm>
                      <a:prstGeom prst="rect">
                        <a:avLst/>
                      </a:prstGeom>
                      <a:noFill/>
                    </p:spPr>
                  </p:pic>
                </p:oleObj>
              </mc:Fallback>
            </mc:AlternateContent>
          </a:graphicData>
        </a:graphic>
      </p:graphicFrame>
      <p:sp>
        <p:nvSpPr>
          <p:cNvPr id="25" name="TextBox 24">
            <a:extLst>
              <a:ext uri="{FF2B5EF4-FFF2-40B4-BE49-F238E27FC236}">
                <a16:creationId xmlns:a16="http://schemas.microsoft.com/office/drawing/2014/main" id="{CF8E1887-2486-1C51-499A-E601E59C79EC}"/>
              </a:ext>
            </a:extLst>
          </p:cNvPr>
          <p:cNvSpPr txBox="1"/>
          <p:nvPr/>
        </p:nvSpPr>
        <p:spPr>
          <a:xfrm>
            <a:off x="762000" y="3901921"/>
            <a:ext cx="8083355" cy="954107"/>
          </a:xfrm>
          <a:prstGeom prst="rect">
            <a:avLst/>
          </a:prstGeom>
          <a:noFill/>
        </p:spPr>
        <p:txBody>
          <a:bodyPr wrap="square">
            <a:spAutoFit/>
          </a:bodyPr>
          <a:lstStyle>
            <a:defPPr>
              <a:defRPr lang="fr-FR"/>
            </a:defPPr>
            <a:lvl1pPr indent="0" algn="just">
              <a:buNone/>
              <a:defRPr sz="1400">
                <a:latin typeface="Bookman Old Style" panose="02050604050505020204" pitchFamily="18" charset="0"/>
                <a:cs typeface="Times New Roman" pitchFamily="18" charset="0"/>
              </a:defRPr>
            </a:lvl1pPr>
          </a:lstStyle>
          <a:p>
            <a:pPr marL="285750" indent="-285750">
              <a:buFont typeface="Wingdings" panose="05000000000000000000" pitchFamily="2" charset="2"/>
              <a:buChar char="§"/>
            </a:pPr>
            <a:r>
              <a:rPr lang="fr-FR" dirty="0"/>
              <a:t>Elle est mesurable à l’aide d’un wattmètre.</a:t>
            </a:r>
          </a:p>
          <a:p>
            <a:endParaRPr lang="fr-FR" dirty="0"/>
          </a:p>
          <a:p>
            <a:pPr marL="285750" indent="-285750">
              <a:buFont typeface="Wingdings" panose="05000000000000000000" pitchFamily="2" charset="2"/>
              <a:buChar char="§"/>
            </a:pPr>
            <a:r>
              <a:rPr lang="fr-FR" dirty="0"/>
              <a:t>Elle correspond à une fourniture de puissance d’énergie convertible en travail ou en chaleur.</a:t>
            </a:r>
          </a:p>
        </p:txBody>
      </p:sp>
    </p:spTree>
    <p:extLst>
      <p:ext uri="{BB962C8B-B14F-4D97-AF65-F5344CB8AC3E}">
        <p14:creationId xmlns:p14="http://schemas.microsoft.com/office/powerpoint/2010/main" val="125108934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82</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5. </a:t>
            </a:r>
            <a:r>
              <a:rPr lang="fr-FR" altLang="fr-FR" b="1" spc="-5" dirty="0">
                <a:solidFill>
                  <a:srgbClr val="FF0000"/>
                </a:solidFill>
                <a:latin typeface="Bookman Old Style" panose="02050604050505020204" pitchFamily="18" charset="0"/>
                <a:cs typeface="Arial"/>
              </a:rPr>
              <a:t>Puissance et Energie Electriques</a:t>
            </a:r>
            <a:endParaRPr lang="fr-FR" b="1" spc="-5" dirty="0">
              <a:solidFill>
                <a:srgbClr val="FF0000"/>
              </a:solidFill>
              <a:latin typeface="Bookman Old Style" panose="02050604050505020204" pitchFamily="18" charset="0"/>
              <a:cs typeface="Arial"/>
            </a:endParaRP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338554"/>
          </a:xfrm>
          <a:prstGeom prst="rect">
            <a:avLst/>
          </a:prstGeom>
          <a:noFill/>
        </p:spPr>
        <p:txBody>
          <a:bodyPr wrap="square">
            <a:spAutoFit/>
          </a:bodyPr>
          <a:lstStyle/>
          <a:p>
            <a:pPr marL="12065" lvl="1">
              <a:spcBef>
                <a:spcPts val="100"/>
              </a:spcBef>
              <a:tabLst>
                <a:tab pos="393700" algn="l"/>
              </a:tabLst>
            </a:pPr>
            <a:r>
              <a:rPr lang="fr-FR" sz="1600" b="1" spc="-5" dirty="0">
                <a:solidFill>
                  <a:srgbClr val="CC00CC"/>
                </a:solidFill>
                <a:latin typeface="Bookman Old Style" panose="02050604050505020204" pitchFamily="18" charset="0"/>
                <a:cs typeface="Arial"/>
              </a:rPr>
              <a:t>5.3 Puissance instantanée en régime sinusoïdal</a:t>
            </a:r>
          </a:p>
        </p:txBody>
      </p:sp>
      <p:sp>
        <p:nvSpPr>
          <p:cNvPr id="20" name="TextBox 19">
            <a:extLst>
              <a:ext uri="{FF2B5EF4-FFF2-40B4-BE49-F238E27FC236}">
                <a16:creationId xmlns:a16="http://schemas.microsoft.com/office/drawing/2014/main" id="{6898E9B2-EEE9-CE82-E5A2-6DADD85284E5}"/>
              </a:ext>
            </a:extLst>
          </p:cNvPr>
          <p:cNvSpPr txBox="1"/>
          <p:nvPr/>
        </p:nvSpPr>
        <p:spPr>
          <a:xfrm>
            <a:off x="187059" y="1357249"/>
            <a:ext cx="4588778" cy="338554"/>
          </a:xfrm>
          <a:prstGeom prst="rect">
            <a:avLst/>
          </a:prstGeom>
          <a:noFill/>
        </p:spPr>
        <p:txBody>
          <a:bodyPr wrap="square">
            <a:spAutoFit/>
          </a:bodyPr>
          <a:lstStyle>
            <a:defPPr>
              <a:defRPr lang="fr-FR"/>
            </a:defPPr>
            <a:lvl1pPr marL="400050" algn="just">
              <a:spcBef>
                <a:spcPct val="0"/>
              </a:spcBef>
              <a:defRPr sz="1600" b="1" u="sng">
                <a:solidFill>
                  <a:srgbClr val="0000FF"/>
                </a:solidFill>
                <a:latin typeface="Bookman Old Style" panose="02050604050505020204" pitchFamily="18" charset="0"/>
                <a:cs typeface="Browallia New" panose="020B0604020202020204" pitchFamily="34" charset="-34"/>
              </a:defRPr>
            </a:lvl1pPr>
          </a:lstStyle>
          <a:p>
            <a:r>
              <a:rPr lang="fr-FR" dirty="0"/>
              <a:t>Puissance réactive </a:t>
            </a:r>
          </a:p>
        </p:txBody>
      </p:sp>
      <p:sp>
        <p:nvSpPr>
          <p:cNvPr id="22" name="TextBox 21">
            <a:extLst>
              <a:ext uri="{FF2B5EF4-FFF2-40B4-BE49-F238E27FC236}">
                <a16:creationId xmlns:a16="http://schemas.microsoft.com/office/drawing/2014/main" id="{6B61D77A-F75B-EA0F-0DAC-B6E943DC9565}"/>
              </a:ext>
            </a:extLst>
          </p:cNvPr>
          <p:cNvSpPr txBox="1"/>
          <p:nvPr/>
        </p:nvSpPr>
        <p:spPr>
          <a:xfrm>
            <a:off x="550646" y="1752753"/>
            <a:ext cx="8245247" cy="954107"/>
          </a:xfrm>
          <a:prstGeom prst="rect">
            <a:avLst/>
          </a:prstGeom>
          <a:noFill/>
        </p:spPr>
        <p:txBody>
          <a:bodyPr wrap="square">
            <a:spAutoFit/>
          </a:bodyPr>
          <a:lstStyle/>
          <a:p>
            <a:pPr marL="285750" indent="-285750" algn="just">
              <a:buFont typeface="Wingdings" panose="05000000000000000000" pitchFamily="2" charset="2"/>
              <a:buChar char="§"/>
            </a:pPr>
            <a:r>
              <a:rPr lang="fr-FR" sz="1400" dirty="0">
                <a:latin typeface="Bookman Old Style" panose="02050604050505020204" pitchFamily="18" charset="0"/>
                <a:cs typeface="Times New Roman" pitchFamily="18" charset="0"/>
              </a:rPr>
              <a:t>La </a:t>
            </a:r>
            <a:r>
              <a:rPr lang="fr-FR" sz="1400" b="1" dirty="0">
                <a:latin typeface="Bookman Old Style" panose="02050604050505020204" pitchFamily="18" charset="0"/>
                <a:cs typeface="Times New Roman" pitchFamily="18" charset="0"/>
              </a:rPr>
              <a:t>puissance</a:t>
            </a:r>
            <a:r>
              <a:rPr lang="fr-FR" sz="1400" dirty="0">
                <a:latin typeface="Bookman Old Style" panose="02050604050505020204" pitchFamily="18" charset="0"/>
                <a:cs typeface="Times New Roman" pitchFamily="18" charset="0"/>
              </a:rPr>
              <a:t> </a:t>
            </a:r>
            <a:r>
              <a:rPr lang="fr-FR" sz="1400" b="1" dirty="0">
                <a:latin typeface="Bookman Old Style" panose="02050604050505020204" pitchFamily="18" charset="0"/>
                <a:cs typeface="Times New Roman" pitchFamily="18" charset="0"/>
              </a:rPr>
              <a:t>réactive correspond </a:t>
            </a:r>
            <a:r>
              <a:rPr lang="fr-FR" sz="1400" dirty="0">
                <a:latin typeface="Bookman Old Style" panose="02050604050505020204" pitchFamily="18" charset="0"/>
                <a:cs typeface="Times New Roman" pitchFamily="18" charset="0"/>
              </a:rPr>
              <a:t>à la puissance « non utile », « invisible » de l'électricité, dans le sens où elle ne produit pas de travail thermique. Elle n'est pas transformée en énergie utile. Elle n'est pas directement convertie en chaleur, en mouvement ou en lumière, puissance réactive</a:t>
            </a:r>
            <a:r>
              <a:rPr lang="fr-FR" sz="1400" b="1" dirty="0">
                <a:latin typeface="Bookman Old Style" panose="02050604050505020204" pitchFamily="18" charset="0"/>
                <a:cs typeface="Times New Roman" pitchFamily="18" charset="0"/>
              </a:rPr>
              <a:t> </a:t>
            </a:r>
            <a:r>
              <a:rPr lang="fr-FR" sz="1400" dirty="0">
                <a:latin typeface="Bookman Old Style" panose="02050604050505020204" pitchFamily="18" charset="0"/>
                <a:cs typeface="Times New Roman" pitchFamily="18" charset="0"/>
              </a:rPr>
              <a:t>vaut:</a:t>
            </a:r>
          </a:p>
        </p:txBody>
      </p:sp>
      <p:sp>
        <p:nvSpPr>
          <p:cNvPr id="25" name="TextBox 24">
            <a:extLst>
              <a:ext uri="{FF2B5EF4-FFF2-40B4-BE49-F238E27FC236}">
                <a16:creationId xmlns:a16="http://schemas.microsoft.com/office/drawing/2014/main" id="{CF8E1887-2486-1C51-499A-E601E59C79EC}"/>
              </a:ext>
            </a:extLst>
          </p:cNvPr>
          <p:cNvSpPr txBox="1"/>
          <p:nvPr/>
        </p:nvSpPr>
        <p:spPr>
          <a:xfrm>
            <a:off x="576301" y="3228467"/>
            <a:ext cx="8083355" cy="523220"/>
          </a:xfrm>
          <a:prstGeom prst="rect">
            <a:avLst/>
          </a:prstGeom>
          <a:noFill/>
        </p:spPr>
        <p:txBody>
          <a:bodyPr wrap="square">
            <a:spAutoFit/>
          </a:bodyPr>
          <a:lstStyle>
            <a:defPPr>
              <a:defRPr lang="fr-FR"/>
            </a:defPPr>
            <a:lvl1pPr indent="0" algn="just">
              <a:buNone/>
              <a:defRPr sz="1400">
                <a:latin typeface="Bookman Old Style" panose="02050604050505020204" pitchFamily="18" charset="0"/>
                <a:cs typeface="Times New Roman" pitchFamily="18" charset="0"/>
              </a:defRPr>
            </a:lvl1pPr>
          </a:lstStyle>
          <a:p>
            <a:pPr marL="285750" indent="-285750">
              <a:buFont typeface="Wingdings" panose="05000000000000000000" pitchFamily="2" charset="2"/>
              <a:buChar char="§"/>
            </a:pPr>
            <a:r>
              <a:rPr lang="fr-FR" dirty="0"/>
              <a:t>A l’inverse de a puissance active permet de générer un travail ou de la chaleur. La puissance réactive sert à créer un champ magnétique</a:t>
            </a:r>
          </a:p>
        </p:txBody>
      </p:sp>
      <p:graphicFrame>
        <p:nvGraphicFramePr>
          <p:cNvPr id="3" name="Object 2">
            <a:extLst>
              <a:ext uri="{FF2B5EF4-FFF2-40B4-BE49-F238E27FC236}">
                <a16:creationId xmlns:a16="http://schemas.microsoft.com/office/drawing/2014/main" id="{F500889C-0B89-645D-6089-5963B50B006F}"/>
              </a:ext>
            </a:extLst>
          </p:cNvPr>
          <p:cNvGraphicFramePr>
            <a:graphicFrameLocks noChangeAspect="1"/>
          </p:cNvGraphicFramePr>
          <p:nvPr>
            <p:extLst>
              <p:ext uri="{D42A27DB-BD31-4B8C-83A1-F6EECF244321}">
                <p14:modId xmlns:p14="http://schemas.microsoft.com/office/powerpoint/2010/main" val="3714990853"/>
              </p:ext>
            </p:extLst>
          </p:nvPr>
        </p:nvGraphicFramePr>
        <p:xfrm>
          <a:off x="4828844" y="2803413"/>
          <a:ext cx="1292483" cy="333985"/>
        </p:xfrm>
        <a:graphic>
          <a:graphicData uri="http://schemas.openxmlformats.org/presentationml/2006/ole">
            <mc:AlternateContent xmlns:mc="http://schemas.openxmlformats.org/markup-compatibility/2006">
              <mc:Choice xmlns:v="urn:schemas-microsoft-com:vml" Requires="v">
                <p:oleObj name="Équation" r:id="rId3" imgW="787320" imgH="203040" progId="Equation.3">
                  <p:embed/>
                </p:oleObj>
              </mc:Choice>
              <mc:Fallback>
                <p:oleObj name="Équation" r:id="rId3" imgW="787320" imgH="203040" progId="Equation.3">
                  <p:embed/>
                  <p:pic>
                    <p:nvPicPr>
                      <p:cNvPr id="6146"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28844" y="2803413"/>
                        <a:ext cx="1292483" cy="333985"/>
                      </a:xfrm>
                      <a:prstGeom prst="rect">
                        <a:avLst/>
                      </a:prstGeom>
                      <a:noFill/>
                    </p:spPr>
                  </p:pic>
                </p:oleObj>
              </mc:Fallback>
            </mc:AlternateContent>
          </a:graphicData>
        </a:graphic>
      </p:graphicFrame>
      <p:sp>
        <p:nvSpPr>
          <p:cNvPr id="11" name="TextBox 10">
            <a:extLst>
              <a:ext uri="{FF2B5EF4-FFF2-40B4-BE49-F238E27FC236}">
                <a16:creationId xmlns:a16="http://schemas.microsoft.com/office/drawing/2014/main" id="{8024FD3B-66E9-56D7-A2C3-7C4D5B8B4EFF}"/>
              </a:ext>
            </a:extLst>
          </p:cNvPr>
          <p:cNvSpPr txBox="1"/>
          <p:nvPr/>
        </p:nvSpPr>
        <p:spPr>
          <a:xfrm>
            <a:off x="452136" y="3815741"/>
            <a:ext cx="4588778" cy="338554"/>
          </a:xfrm>
          <a:prstGeom prst="rect">
            <a:avLst/>
          </a:prstGeom>
          <a:noFill/>
        </p:spPr>
        <p:txBody>
          <a:bodyPr wrap="square">
            <a:spAutoFit/>
          </a:bodyPr>
          <a:lstStyle>
            <a:defPPr>
              <a:defRPr lang="fr-FR"/>
            </a:defPPr>
            <a:lvl1pPr marL="400050" algn="just">
              <a:spcBef>
                <a:spcPct val="0"/>
              </a:spcBef>
              <a:defRPr sz="1600" b="1" u="sng">
                <a:solidFill>
                  <a:srgbClr val="0000FF"/>
                </a:solidFill>
                <a:latin typeface="Bookman Old Style" panose="02050604050505020204" pitchFamily="18" charset="0"/>
                <a:cs typeface="Browallia New" panose="020B0604020202020204" pitchFamily="34" charset="-34"/>
              </a:defRPr>
            </a:lvl1pPr>
          </a:lstStyle>
          <a:p>
            <a:r>
              <a:rPr lang="fr-FR" dirty="0"/>
              <a:t>Puissance apparente</a:t>
            </a:r>
          </a:p>
        </p:txBody>
      </p:sp>
      <p:sp>
        <p:nvSpPr>
          <p:cNvPr id="13" name="TextBox 12">
            <a:extLst>
              <a:ext uri="{FF2B5EF4-FFF2-40B4-BE49-F238E27FC236}">
                <a16:creationId xmlns:a16="http://schemas.microsoft.com/office/drawing/2014/main" id="{37B4FFC2-0D0A-9B12-86B2-E09F71F2FF7E}"/>
              </a:ext>
            </a:extLst>
          </p:cNvPr>
          <p:cNvSpPr txBox="1"/>
          <p:nvPr/>
        </p:nvSpPr>
        <p:spPr>
          <a:xfrm>
            <a:off x="584690" y="4261235"/>
            <a:ext cx="6074458" cy="307777"/>
          </a:xfrm>
          <a:prstGeom prst="rect">
            <a:avLst/>
          </a:prstGeom>
          <a:noFill/>
        </p:spPr>
        <p:txBody>
          <a:bodyPr wrap="square">
            <a:spAutoFit/>
          </a:bodyPr>
          <a:lstStyle>
            <a:defPPr>
              <a:defRPr lang="fr-FR"/>
            </a:defPPr>
            <a:lvl1pPr marL="285750" indent="-285750" algn="just">
              <a:buFont typeface="Wingdings" panose="05000000000000000000" pitchFamily="2" charset="2"/>
              <a:buChar char="§"/>
              <a:defRPr sz="1400">
                <a:latin typeface="Bookman Old Style" panose="02050604050505020204" pitchFamily="18" charset="0"/>
                <a:cs typeface="Times New Roman" pitchFamily="18" charset="0"/>
              </a:defRPr>
            </a:lvl1pPr>
          </a:lstStyle>
          <a:p>
            <a:r>
              <a:rPr lang="fr-FR" dirty="0"/>
              <a:t>Par définition la puissance apparente est définie par:</a:t>
            </a:r>
          </a:p>
        </p:txBody>
      </p:sp>
      <p:graphicFrame>
        <p:nvGraphicFramePr>
          <p:cNvPr id="17" name="Object 3">
            <a:extLst>
              <a:ext uri="{FF2B5EF4-FFF2-40B4-BE49-F238E27FC236}">
                <a16:creationId xmlns:a16="http://schemas.microsoft.com/office/drawing/2014/main" id="{581230D4-3D93-9805-403D-B75AB8785CD0}"/>
              </a:ext>
            </a:extLst>
          </p:cNvPr>
          <p:cNvGraphicFramePr>
            <a:graphicFrameLocks noChangeAspect="1"/>
          </p:cNvGraphicFramePr>
          <p:nvPr>
            <p:extLst>
              <p:ext uri="{D42A27DB-BD31-4B8C-83A1-F6EECF244321}">
                <p14:modId xmlns:p14="http://schemas.microsoft.com/office/powerpoint/2010/main" val="1203338899"/>
              </p:ext>
            </p:extLst>
          </p:nvPr>
        </p:nvGraphicFramePr>
        <p:xfrm>
          <a:off x="4673269" y="4644186"/>
          <a:ext cx="1448058" cy="443010"/>
        </p:xfrm>
        <a:graphic>
          <a:graphicData uri="http://schemas.openxmlformats.org/presentationml/2006/ole">
            <mc:AlternateContent xmlns:mc="http://schemas.openxmlformats.org/markup-compatibility/2006">
              <mc:Choice xmlns:v="urn:schemas-microsoft-com:vml" Requires="v">
                <p:oleObj name="Équation" r:id="rId5" imgW="914400" imgH="279360" progId="Equation.3">
                  <p:embed/>
                </p:oleObj>
              </mc:Choice>
              <mc:Fallback>
                <p:oleObj name="Équation" r:id="rId5" imgW="914400" imgH="279360" progId="Equation.3">
                  <p:embed/>
                  <p:pic>
                    <p:nvPicPr>
                      <p:cNvPr id="6147"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73269" y="4644186"/>
                        <a:ext cx="1448058" cy="443010"/>
                      </a:xfrm>
                      <a:prstGeom prst="rect">
                        <a:avLst/>
                      </a:prstGeom>
                      <a:noFill/>
                    </p:spPr>
                  </p:pic>
                </p:oleObj>
              </mc:Fallback>
            </mc:AlternateContent>
          </a:graphicData>
        </a:graphic>
      </p:graphicFrame>
    </p:spTree>
    <p:extLst>
      <p:ext uri="{BB962C8B-B14F-4D97-AF65-F5344CB8AC3E}">
        <p14:creationId xmlns:p14="http://schemas.microsoft.com/office/powerpoint/2010/main" val="347628968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83</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5. </a:t>
            </a:r>
            <a:r>
              <a:rPr lang="fr-FR" altLang="fr-FR" b="1" spc="-5" dirty="0">
                <a:solidFill>
                  <a:srgbClr val="FF0000"/>
                </a:solidFill>
                <a:latin typeface="Bookman Old Style" panose="02050604050505020204" pitchFamily="18" charset="0"/>
                <a:cs typeface="Arial"/>
              </a:rPr>
              <a:t>Puissance et Energie Electriques</a:t>
            </a:r>
            <a:endParaRPr lang="fr-FR" b="1" spc="-5" dirty="0">
              <a:solidFill>
                <a:srgbClr val="FF0000"/>
              </a:solidFill>
              <a:latin typeface="Bookman Old Style" panose="02050604050505020204" pitchFamily="18" charset="0"/>
              <a:cs typeface="Arial"/>
            </a:endParaRP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338554"/>
          </a:xfrm>
          <a:prstGeom prst="rect">
            <a:avLst/>
          </a:prstGeom>
          <a:noFill/>
        </p:spPr>
        <p:txBody>
          <a:bodyPr wrap="square">
            <a:spAutoFit/>
          </a:bodyPr>
          <a:lstStyle/>
          <a:p>
            <a:pPr marL="12065" lvl="1">
              <a:spcBef>
                <a:spcPts val="100"/>
              </a:spcBef>
              <a:tabLst>
                <a:tab pos="393700" algn="l"/>
              </a:tabLst>
            </a:pPr>
            <a:r>
              <a:rPr lang="fr-FR" sz="1600" b="1" spc="-5" dirty="0">
                <a:solidFill>
                  <a:srgbClr val="CC00CC"/>
                </a:solidFill>
                <a:latin typeface="Bookman Old Style" panose="02050604050505020204" pitchFamily="18" charset="0"/>
                <a:cs typeface="Arial"/>
              </a:rPr>
              <a:t>5.4 Puissance dans un circuit élémentaire</a:t>
            </a:r>
          </a:p>
        </p:txBody>
      </p:sp>
      <p:sp>
        <p:nvSpPr>
          <p:cNvPr id="12" name="TextBox 11">
            <a:extLst>
              <a:ext uri="{FF2B5EF4-FFF2-40B4-BE49-F238E27FC236}">
                <a16:creationId xmlns:a16="http://schemas.microsoft.com/office/drawing/2014/main" id="{EA202F6C-BC75-EA49-BBF2-954B5C4DCBB2}"/>
              </a:ext>
            </a:extLst>
          </p:cNvPr>
          <p:cNvSpPr txBox="1"/>
          <p:nvPr/>
        </p:nvSpPr>
        <p:spPr>
          <a:xfrm>
            <a:off x="550646" y="1316573"/>
            <a:ext cx="4588778" cy="338554"/>
          </a:xfrm>
          <a:prstGeom prst="rect">
            <a:avLst/>
          </a:prstGeom>
          <a:noFill/>
        </p:spPr>
        <p:txBody>
          <a:bodyPr wrap="square">
            <a:spAutoFit/>
          </a:bodyPr>
          <a:lstStyle>
            <a:defPPr>
              <a:defRPr lang="fr-FR"/>
            </a:defPPr>
            <a:lvl1pPr marL="400050" algn="just">
              <a:spcBef>
                <a:spcPct val="0"/>
              </a:spcBef>
              <a:defRPr sz="1600" b="1" u="sng">
                <a:solidFill>
                  <a:srgbClr val="0000FF"/>
                </a:solidFill>
                <a:latin typeface="Bookman Old Style" panose="02050604050505020204" pitchFamily="18" charset="0"/>
                <a:cs typeface="Browallia New" panose="020B0604020202020204" pitchFamily="34" charset="-34"/>
              </a:defRPr>
            </a:lvl1pPr>
          </a:lstStyle>
          <a:p>
            <a:r>
              <a:rPr lang="fr-FR" dirty="0"/>
              <a:t>Résistance pure</a:t>
            </a:r>
          </a:p>
        </p:txBody>
      </p:sp>
      <p:graphicFrame>
        <p:nvGraphicFramePr>
          <p:cNvPr id="16" name="Object 2">
            <a:extLst>
              <a:ext uri="{FF2B5EF4-FFF2-40B4-BE49-F238E27FC236}">
                <a16:creationId xmlns:a16="http://schemas.microsoft.com/office/drawing/2014/main" id="{5764AD8D-B378-8A68-F91E-BFF57A893AB3}"/>
              </a:ext>
            </a:extLst>
          </p:cNvPr>
          <p:cNvGraphicFramePr>
            <a:graphicFrameLocks noChangeAspect="1"/>
          </p:cNvGraphicFramePr>
          <p:nvPr>
            <p:extLst>
              <p:ext uri="{D42A27DB-BD31-4B8C-83A1-F6EECF244321}">
                <p14:modId xmlns:p14="http://schemas.microsoft.com/office/powerpoint/2010/main" val="909455075"/>
              </p:ext>
            </p:extLst>
          </p:nvPr>
        </p:nvGraphicFramePr>
        <p:xfrm>
          <a:off x="1925637" y="1612619"/>
          <a:ext cx="5292725" cy="652277"/>
        </p:xfrm>
        <a:graphic>
          <a:graphicData uri="http://schemas.openxmlformats.org/presentationml/2006/ole">
            <mc:AlternateContent xmlns:mc="http://schemas.openxmlformats.org/markup-compatibility/2006">
              <mc:Choice xmlns:v="urn:schemas-microsoft-com:vml" Requires="v">
                <p:oleObj name="Équation" r:id="rId3" imgW="3403440" imgH="419040" progId="Equation.3">
                  <p:embed/>
                </p:oleObj>
              </mc:Choice>
              <mc:Fallback>
                <p:oleObj name="Équation" r:id="rId3" imgW="3403440" imgH="419040" progId="Equation.3">
                  <p:embed/>
                  <p:pic>
                    <p:nvPicPr>
                      <p:cNvPr id="7170"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25637" y="1612619"/>
                        <a:ext cx="5292725" cy="652277"/>
                      </a:xfrm>
                      <a:prstGeom prst="rect">
                        <a:avLst/>
                      </a:prstGeom>
                      <a:noFill/>
                    </p:spPr>
                  </p:pic>
                </p:oleObj>
              </mc:Fallback>
            </mc:AlternateContent>
          </a:graphicData>
        </a:graphic>
      </p:graphicFrame>
      <p:sp>
        <p:nvSpPr>
          <p:cNvPr id="23" name="TextBox 22">
            <a:extLst>
              <a:ext uri="{FF2B5EF4-FFF2-40B4-BE49-F238E27FC236}">
                <a16:creationId xmlns:a16="http://schemas.microsoft.com/office/drawing/2014/main" id="{62141E73-F90D-EC47-819E-3DD3E1BA5AF4}"/>
              </a:ext>
            </a:extLst>
          </p:cNvPr>
          <p:cNvSpPr txBox="1"/>
          <p:nvPr/>
        </p:nvSpPr>
        <p:spPr>
          <a:xfrm>
            <a:off x="600047" y="2236009"/>
            <a:ext cx="4588778" cy="338554"/>
          </a:xfrm>
          <a:prstGeom prst="rect">
            <a:avLst/>
          </a:prstGeom>
          <a:noFill/>
        </p:spPr>
        <p:txBody>
          <a:bodyPr wrap="square">
            <a:spAutoFit/>
          </a:bodyPr>
          <a:lstStyle>
            <a:defPPr>
              <a:defRPr lang="fr-FR"/>
            </a:defPPr>
            <a:lvl1pPr marL="400050" algn="just">
              <a:spcBef>
                <a:spcPct val="0"/>
              </a:spcBef>
              <a:defRPr sz="1600" b="1" u="sng">
                <a:solidFill>
                  <a:srgbClr val="0000FF"/>
                </a:solidFill>
                <a:latin typeface="Bookman Old Style" panose="02050604050505020204" pitchFamily="18" charset="0"/>
                <a:cs typeface="Browallia New" panose="020B0604020202020204" pitchFamily="34" charset="-34"/>
              </a:defRPr>
            </a:lvl1pPr>
          </a:lstStyle>
          <a:p>
            <a:r>
              <a:rPr lang="fr-FR" dirty="0"/>
              <a:t>Inductance pure</a:t>
            </a:r>
          </a:p>
        </p:txBody>
      </p:sp>
      <p:graphicFrame>
        <p:nvGraphicFramePr>
          <p:cNvPr id="24" name="Object 3">
            <a:extLst>
              <a:ext uri="{FF2B5EF4-FFF2-40B4-BE49-F238E27FC236}">
                <a16:creationId xmlns:a16="http://schemas.microsoft.com/office/drawing/2014/main" id="{51C60980-FEFE-F005-6CC2-D4CF7D0389CD}"/>
              </a:ext>
            </a:extLst>
          </p:cNvPr>
          <p:cNvGraphicFramePr>
            <a:graphicFrameLocks noChangeAspect="1"/>
          </p:cNvGraphicFramePr>
          <p:nvPr>
            <p:extLst>
              <p:ext uri="{D42A27DB-BD31-4B8C-83A1-F6EECF244321}">
                <p14:modId xmlns:p14="http://schemas.microsoft.com/office/powerpoint/2010/main" val="1111418103"/>
              </p:ext>
            </p:extLst>
          </p:nvPr>
        </p:nvGraphicFramePr>
        <p:xfrm>
          <a:off x="1865882" y="2755739"/>
          <a:ext cx="5916612" cy="366120"/>
        </p:xfrm>
        <a:graphic>
          <a:graphicData uri="http://schemas.openxmlformats.org/presentationml/2006/ole">
            <mc:AlternateContent xmlns:mc="http://schemas.openxmlformats.org/markup-compatibility/2006">
              <mc:Choice xmlns:v="urn:schemas-microsoft-com:vml" Requires="v">
                <p:oleObj name="Équation" r:id="rId5" imgW="3898800" imgH="241200" progId="Equation.3">
                  <p:embed/>
                </p:oleObj>
              </mc:Choice>
              <mc:Fallback>
                <p:oleObj name="Équation" r:id="rId5" imgW="3898800" imgH="241200" progId="Equation.3">
                  <p:embed/>
                  <p:pic>
                    <p:nvPicPr>
                      <p:cNvPr id="7171"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65882" y="2755739"/>
                        <a:ext cx="5916612" cy="366120"/>
                      </a:xfrm>
                      <a:prstGeom prst="rect">
                        <a:avLst/>
                      </a:prstGeom>
                      <a:noFill/>
                    </p:spPr>
                  </p:pic>
                </p:oleObj>
              </mc:Fallback>
            </mc:AlternateContent>
          </a:graphicData>
        </a:graphic>
      </p:graphicFrame>
      <p:sp>
        <p:nvSpPr>
          <p:cNvPr id="27" name="TextBox 26">
            <a:extLst>
              <a:ext uri="{FF2B5EF4-FFF2-40B4-BE49-F238E27FC236}">
                <a16:creationId xmlns:a16="http://schemas.microsoft.com/office/drawing/2014/main" id="{C698E9AD-53E4-0BD5-148A-6078B9034D66}"/>
              </a:ext>
            </a:extLst>
          </p:cNvPr>
          <p:cNvSpPr txBox="1"/>
          <p:nvPr/>
        </p:nvSpPr>
        <p:spPr>
          <a:xfrm>
            <a:off x="623816" y="3241803"/>
            <a:ext cx="4588778" cy="338554"/>
          </a:xfrm>
          <a:prstGeom prst="rect">
            <a:avLst/>
          </a:prstGeom>
          <a:noFill/>
        </p:spPr>
        <p:txBody>
          <a:bodyPr wrap="square">
            <a:spAutoFit/>
          </a:bodyPr>
          <a:lstStyle>
            <a:defPPr>
              <a:defRPr lang="fr-FR"/>
            </a:defPPr>
            <a:lvl1pPr marL="400050" algn="just">
              <a:spcBef>
                <a:spcPct val="0"/>
              </a:spcBef>
              <a:defRPr sz="1600" b="1" u="sng">
                <a:solidFill>
                  <a:srgbClr val="0000FF"/>
                </a:solidFill>
                <a:latin typeface="Bookman Old Style" panose="02050604050505020204" pitchFamily="18" charset="0"/>
                <a:cs typeface="Browallia New" panose="020B0604020202020204" pitchFamily="34" charset="-34"/>
              </a:defRPr>
            </a:lvl1pPr>
          </a:lstStyle>
          <a:p>
            <a:r>
              <a:rPr lang="fr-FR" dirty="0"/>
              <a:t>Capacité pure</a:t>
            </a:r>
          </a:p>
        </p:txBody>
      </p:sp>
      <p:graphicFrame>
        <p:nvGraphicFramePr>
          <p:cNvPr id="28" name="Object 4">
            <a:extLst>
              <a:ext uri="{FF2B5EF4-FFF2-40B4-BE49-F238E27FC236}">
                <a16:creationId xmlns:a16="http://schemas.microsoft.com/office/drawing/2014/main" id="{2335B8A4-24E9-AD4A-3459-B84D53DD85BA}"/>
              </a:ext>
            </a:extLst>
          </p:cNvPr>
          <p:cNvGraphicFramePr>
            <a:graphicFrameLocks noChangeAspect="1"/>
          </p:cNvGraphicFramePr>
          <p:nvPr>
            <p:extLst>
              <p:ext uri="{D42A27DB-BD31-4B8C-83A1-F6EECF244321}">
                <p14:modId xmlns:p14="http://schemas.microsoft.com/office/powerpoint/2010/main" val="892613699"/>
              </p:ext>
            </p:extLst>
          </p:nvPr>
        </p:nvGraphicFramePr>
        <p:xfrm>
          <a:off x="1371600" y="3930680"/>
          <a:ext cx="6650038" cy="388789"/>
        </p:xfrm>
        <a:graphic>
          <a:graphicData uri="http://schemas.openxmlformats.org/presentationml/2006/ole">
            <mc:AlternateContent xmlns:mc="http://schemas.openxmlformats.org/markup-compatibility/2006">
              <mc:Choice xmlns:v="urn:schemas-microsoft-com:vml" Requires="v">
                <p:oleObj name="Équation" r:id="rId7" imgW="4127400" imgH="241200" progId="Equation.3">
                  <p:embed/>
                </p:oleObj>
              </mc:Choice>
              <mc:Fallback>
                <p:oleObj name="Équation" r:id="rId7" imgW="4127400" imgH="241200" progId="Equation.3">
                  <p:embed/>
                  <p:pic>
                    <p:nvPicPr>
                      <p:cNvPr id="7172" name="Object 4"/>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71600" y="3930680"/>
                        <a:ext cx="6650038" cy="388789"/>
                      </a:xfrm>
                      <a:prstGeom prst="rect">
                        <a:avLst/>
                      </a:prstGeom>
                      <a:noFill/>
                    </p:spPr>
                  </p:pic>
                </p:oleObj>
              </mc:Fallback>
            </mc:AlternateContent>
          </a:graphicData>
        </a:graphic>
      </p:graphicFrame>
    </p:spTree>
    <p:extLst>
      <p:ext uri="{BB962C8B-B14F-4D97-AF65-F5344CB8AC3E}">
        <p14:creationId xmlns:p14="http://schemas.microsoft.com/office/powerpoint/2010/main" val="33920922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84</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5. </a:t>
            </a:r>
            <a:r>
              <a:rPr lang="fr-FR" altLang="fr-FR" b="1" spc="-5" dirty="0">
                <a:solidFill>
                  <a:srgbClr val="FF0000"/>
                </a:solidFill>
                <a:latin typeface="Bookman Old Style" panose="02050604050505020204" pitchFamily="18" charset="0"/>
                <a:cs typeface="Arial"/>
              </a:rPr>
              <a:t>Puissance et Energie Electriques</a:t>
            </a:r>
            <a:endParaRPr lang="fr-FR" b="1" spc="-5" dirty="0">
              <a:solidFill>
                <a:srgbClr val="FF0000"/>
              </a:solidFill>
              <a:latin typeface="Bookman Old Style" panose="02050604050505020204" pitchFamily="18" charset="0"/>
              <a:cs typeface="Arial"/>
            </a:endParaRP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338554"/>
          </a:xfrm>
          <a:prstGeom prst="rect">
            <a:avLst/>
          </a:prstGeom>
          <a:noFill/>
        </p:spPr>
        <p:txBody>
          <a:bodyPr wrap="square">
            <a:spAutoFit/>
          </a:bodyPr>
          <a:lstStyle/>
          <a:p>
            <a:pPr marL="12065" lvl="1">
              <a:spcBef>
                <a:spcPts val="100"/>
              </a:spcBef>
              <a:tabLst>
                <a:tab pos="393700" algn="l"/>
              </a:tabLst>
            </a:pPr>
            <a:r>
              <a:rPr lang="fr-FR" sz="1600" b="1" spc="-5" dirty="0">
                <a:solidFill>
                  <a:srgbClr val="CC00CC"/>
                </a:solidFill>
                <a:latin typeface="Bookman Old Style" panose="02050604050505020204" pitchFamily="18" charset="0"/>
                <a:cs typeface="Arial"/>
              </a:rPr>
              <a:t>5.5 Energie Electrique</a:t>
            </a:r>
          </a:p>
        </p:txBody>
      </p:sp>
      <p:sp>
        <p:nvSpPr>
          <p:cNvPr id="5" name="TextBox 4">
            <a:extLst>
              <a:ext uri="{FF2B5EF4-FFF2-40B4-BE49-F238E27FC236}">
                <a16:creationId xmlns:a16="http://schemas.microsoft.com/office/drawing/2014/main" id="{59E69FB0-0F93-465A-CDCF-92BC98ADA933}"/>
              </a:ext>
            </a:extLst>
          </p:cNvPr>
          <p:cNvSpPr txBox="1"/>
          <p:nvPr/>
        </p:nvSpPr>
        <p:spPr>
          <a:xfrm>
            <a:off x="576301" y="1504326"/>
            <a:ext cx="8425313" cy="646331"/>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a:latin typeface="Bookman Old Style" panose="02050604050505020204" pitchFamily="18" charset="0"/>
                <a:cs typeface="Times New Roman" pitchFamily="18" charset="0"/>
              </a:defRPr>
            </a:lvl1pPr>
          </a:lstStyle>
          <a:p>
            <a:r>
              <a:rPr lang="fr-FR" dirty="0"/>
              <a:t>Un appareil électrique « </a:t>
            </a:r>
            <a:r>
              <a:rPr lang="fr-FR" b="1" dirty="0"/>
              <a:t>consomme »</a:t>
            </a:r>
            <a:r>
              <a:rPr lang="fr-FR" dirty="0"/>
              <a:t> une </a:t>
            </a:r>
            <a:r>
              <a:rPr lang="fr-FR" b="1" dirty="0"/>
              <a:t>énergie électrique</a:t>
            </a:r>
            <a:r>
              <a:rPr lang="fr-FR" dirty="0"/>
              <a:t>, cette énergie noté</a:t>
            </a:r>
            <a:r>
              <a:rPr lang="fr-FR" b="1" dirty="0"/>
              <a:t> W </a:t>
            </a:r>
            <a:r>
              <a:rPr lang="fr-FR" dirty="0"/>
              <a:t>dépend de la puissance </a:t>
            </a:r>
            <a:r>
              <a:rPr lang="fr-FR" b="1" dirty="0"/>
              <a:t>P</a:t>
            </a:r>
            <a:r>
              <a:rPr lang="fr-FR" dirty="0"/>
              <a:t> de l’appareil et de la durée </a:t>
            </a:r>
            <a:r>
              <a:rPr lang="fr-FR" b="1" dirty="0"/>
              <a:t>∆t</a:t>
            </a:r>
            <a:r>
              <a:rPr lang="fr-FR" dirty="0"/>
              <a:t> </a:t>
            </a:r>
          </a:p>
        </p:txBody>
      </p:sp>
      <p:sp>
        <p:nvSpPr>
          <p:cNvPr id="13" name="TextBox 12">
            <a:extLst>
              <a:ext uri="{FF2B5EF4-FFF2-40B4-BE49-F238E27FC236}">
                <a16:creationId xmlns:a16="http://schemas.microsoft.com/office/drawing/2014/main" id="{97C508B7-3FBB-F605-4DDF-27C4DF783EC9}"/>
              </a:ext>
            </a:extLst>
          </p:cNvPr>
          <p:cNvSpPr txBox="1"/>
          <p:nvPr/>
        </p:nvSpPr>
        <p:spPr>
          <a:xfrm>
            <a:off x="587563" y="2502374"/>
            <a:ext cx="8303733" cy="646331"/>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a:latin typeface="Bookman Old Style" panose="02050604050505020204" pitchFamily="18" charset="0"/>
                <a:cs typeface="Times New Roman" pitchFamily="18" charset="0"/>
              </a:defRPr>
            </a:lvl1pPr>
          </a:lstStyle>
          <a:p>
            <a:r>
              <a:rPr lang="fr-FR" dirty="0"/>
              <a:t> </a:t>
            </a:r>
            <a:r>
              <a:rPr lang="fr-FR" b="1" dirty="0"/>
              <a:t>L’énergie électrique W</a:t>
            </a:r>
            <a:r>
              <a:rPr lang="fr-FR" dirty="0"/>
              <a:t> consommée par un </a:t>
            </a:r>
            <a:r>
              <a:rPr lang="fr-FR" b="1" dirty="0"/>
              <a:t>appareil de puissance</a:t>
            </a:r>
            <a:r>
              <a:rPr lang="fr-FR" dirty="0"/>
              <a:t> </a:t>
            </a:r>
            <a:r>
              <a:rPr lang="fr-FR" b="1" dirty="0"/>
              <a:t>P</a:t>
            </a:r>
            <a:r>
              <a:rPr lang="fr-FR" dirty="0"/>
              <a:t> pendant une durée</a:t>
            </a:r>
            <a:r>
              <a:rPr lang="fr-FR" b="1" dirty="0"/>
              <a:t> ∆t</a:t>
            </a:r>
            <a:r>
              <a:rPr lang="fr-FR" dirty="0"/>
              <a:t> est donnée par la relation: </a:t>
            </a:r>
          </a:p>
        </p:txBody>
      </p:sp>
      <p:pic>
        <p:nvPicPr>
          <p:cNvPr id="17" name="Picture 2">
            <a:extLst>
              <a:ext uri="{FF2B5EF4-FFF2-40B4-BE49-F238E27FC236}">
                <a16:creationId xmlns:a16="http://schemas.microsoft.com/office/drawing/2014/main" id="{031E40E7-9DB0-BFE1-50CA-942CE7AB577B}"/>
              </a:ext>
            </a:extLst>
          </p:cNvPr>
          <p:cNvPicPr>
            <a:picLocks noChangeAspect="1" noChangeArrowheads="1"/>
          </p:cNvPicPr>
          <p:nvPr/>
        </p:nvPicPr>
        <p:blipFill>
          <a:blip r:embed="rId3"/>
          <a:srcRect/>
          <a:stretch>
            <a:fillRect/>
          </a:stretch>
        </p:blipFill>
        <p:spPr bwMode="auto">
          <a:xfrm>
            <a:off x="3505200" y="3345712"/>
            <a:ext cx="1643074" cy="642942"/>
          </a:xfrm>
          <a:prstGeom prst="rect">
            <a:avLst/>
          </a:prstGeom>
          <a:noFill/>
          <a:ln w="9525">
            <a:noFill/>
            <a:miter lim="800000"/>
            <a:headEnd/>
            <a:tailEnd/>
          </a:ln>
          <a:effectLst/>
        </p:spPr>
      </p:pic>
      <p:sp>
        <p:nvSpPr>
          <p:cNvPr id="21" name="TextBox 20">
            <a:extLst>
              <a:ext uri="{FF2B5EF4-FFF2-40B4-BE49-F238E27FC236}">
                <a16:creationId xmlns:a16="http://schemas.microsoft.com/office/drawing/2014/main" id="{8020D5C4-6BB4-9487-6F5B-10FDC73EF513}"/>
              </a:ext>
            </a:extLst>
          </p:cNvPr>
          <p:cNvSpPr txBox="1"/>
          <p:nvPr/>
        </p:nvSpPr>
        <p:spPr>
          <a:xfrm>
            <a:off x="563473" y="4104549"/>
            <a:ext cx="8450968" cy="646331"/>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a:latin typeface="Bookman Old Style" panose="02050604050505020204" pitchFamily="18" charset="0"/>
                <a:cs typeface="Times New Roman" pitchFamily="18" charset="0"/>
              </a:defRPr>
            </a:lvl1pPr>
          </a:lstStyle>
          <a:p>
            <a:r>
              <a:rPr lang="fr-FR" dirty="0"/>
              <a:t>Si </a:t>
            </a:r>
            <a:r>
              <a:rPr lang="fr-FR" b="1" dirty="0"/>
              <a:t>P</a:t>
            </a:r>
            <a:r>
              <a:rPr lang="fr-FR" dirty="0"/>
              <a:t> est exprimée en </a:t>
            </a:r>
            <a:r>
              <a:rPr lang="fr-FR" b="1" dirty="0"/>
              <a:t>watt</a:t>
            </a:r>
            <a:r>
              <a:rPr lang="fr-FR" dirty="0"/>
              <a:t> (W) et </a:t>
            </a:r>
            <a:r>
              <a:rPr lang="fr-FR" b="1" dirty="0"/>
              <a:t>∆t</a:t>
            </a:r>
            <a:r>
              <a:rPr lang="fr-FR" dirty="0"/>
              <a:t> est exprimée en seconde (s), l’énergie </a:t>
            </a:r>
            <a:r>
              <a:rPr lang="fr-FR" b="1" dirty="0"/>
              <a:t>W</a:t>
            </a:r>
            <a:r>
              <a:rPr lang="fr-FR" dirty="0"/>
              <a:t> est exprimée en joule (</a:t>
            </a:r>
            <a:r>
              <a:rPr lang="fr-FR" b="1" dirty="0"/>
              <a:t>J</a:t>
            </a:r>
            <a:r>
              <a:rPr lang="fr-FR" dirty="0"/>
              <a:t>)</a:t>
            </a:r>
          </a:p>
        </p:txBody>
      </p:sp>
    </p:spTree>
    <p:extLst>
      <p:ext uri="{BB962C8B-B14F-4D97-AF65-F5344CB8AC3E}">
        <p14:creationId xmlns:p14="http://schemas.microsoft.com/office/powerpoint/2010/main" val="342053905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97881"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85</a:t>
            </a:fld>
            <a:endParaRPr sz="2400" dirty="0">
              <a:latin typeface="Arial"/>
              <a:cs typeface="Arial"/>
            </a:endParaRPr>
          </a:p>
        </p:txBody>
      </p:sp>
      <p:sp>
        <p:nvSpPr>
          <p:cNvPr id="15" name="Rectangle 14"/>
          <p:cNvSpPr/>
          <p:nvPr/>
        </p:nvSpPr>
        <p:spPr>
          <a:xfrm>
            <a:off x="550646" y="557613"/>
            <a:ext cx="4707154" cy="597599"/>
          </a:xfrm>
          <a:prstGeom prst="rect">
            <a:avLst/>
          </a:prstGeom>
        </p:spPr>
        <p:txBody>
          <a:bodyPr wrap="square">
            <a:spAutoFit/>
          </a:bodyPr>
          <a:lstStyle/>
          <a:p>
            <a:pPr marL="12065" lvl="1">
              <a:spcBef>
                <a:spcPts val="100"/>
              </a:spcBef>
              <a:tabLst>
                <a:tab pos="393700" algn="l"/>
              </a:tabLst>
            </a:pPr>
            <a:r>
              <a:rPr lang="fr-FR" b="1" spc="-5" dirty="0">
                <a:solidFill>
                  <a:srgbClr val="FF0000"/>
                </a:solidFill>
                <a:latin typeface="Bookman Old Style" panose="02050604050505020204" pitchFamily="18" charset="0"/>
                <a:cs typeface="Arial"/>
              </a:rPr>
              <a:t>5. </a:t>
            </a:r>
            <a:r>
              <a:rPr lang="fr-FR" altLang="fr-FR" b="1" spc="-5" dirty="0">
                <a:solidFill>
                  <a:srgbClr val="FF0000"/>
                </a:solidFill>
                <a:latin typeface="Bookman Old Style" panose="02050604050505020204" pitchFamily="18" charset="0"/>
                <a:cs typeface="Arial"/>
              </a:rPr>
              <a:t>Puissance et Energie Electriques</a:t>
            </a:r>
            <a:endParaRPr lang="fr-FR" b="1" spc="-5" dirty="0">
              <a:solidFill>
                <a:srgbClr val="FF0000"/>
              </a:solidFill>
              <a:latin typeface="Bookman Old Style" panose="02050604050505020204" pitchFamily="18" charset="0"/>
              <a:cs typeface="Arial"/>
            </a:endParaRPr>
          </a:p>
          <a:p>
            <a:pPr marL="12065" lvl="1">
              <a:spcBef>
                <a:spcPts val="100"/>
              </a:spcBef>
              <a:tabLst>
                <a:tab pos="393700" algn="l"/>
              </a:tabLst>
            </a:pPr>
            <a:endParaRPr lang="fr-FR" sz="1400" dirty="0">
              <a:solidFill>
                <a:srgbClr val="CC00CC"/>
              </a:solidFill>
              <a:latin typeface="Bookman Old Style" panose="02050604050505020204" pitchFamily="18" charset="0"/>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4" name="TextBox 3">
            <a:extLst>
              <a:ext uri="{FF2B5EF4-FFF2-40B4-BE49-F238E27FC236}">
                <a16:creationId xmlns:a16="http://schemas.microsoft.com/office/drawing/2014/main" id="{C02AA1E2-F3B7-B8B9-5366-1482BBD7CB21}"/>
              </a:ext>
            </a:extLst>
          </p:cNvPr>
          <p:cNvSpPr txBox="1"/>
          <p:nvPr/>
        </p:nvSpPr>
        <p:spPr>
          <a:xfrm>
            <a:off x="550646" y="906727"/>
            <a:ext cx="5335270" cy="830997"/>
          </a:xfrm>
          <a:prstGeom prst="rect">
            <a:avLst/>
          </a:prstGeom>
          <a:noFill/>
        </p:spPr>
        <p:txBody>
          <a:bodyPr wrap="square">
            <a:spAutoFit/>
          </a:bodyPr>
          <a:lstStyle/>
          <a:p>
            <a:pPr marL="12065" lvl="1">
              <a:spcBef>
                <a:spcPts val="100"/>
              </a:spcBef>
              <a:tabLst>
                <a:tab pos="393700" algn="l"/>
              </a:tabLst>
            </a:pPr>
            <a:r>
              <a:rPr lang="fr-FR" sz="1600" b="1" spc="-5" dirty="0">
                <a:solidFill>
                  <a:srgbClr val="CC00CC"/>
                </a:solidFill>
                <a:latin typeface="Bookman Old Style" panose="02050604050505020204" pitchFamily="18" charset="0"/>
                <a:cs typeface="Arial"/>
              </a:rPr>
              <a:t>5.5 Energie Electrique</a:t>
            </a:r>
          </a:p>
          <a:p>
            <a:pPr marL="400050" lvl="1" algn="just">
              <a:spcBef>
                <a:spcPct val="0"/>
              </a:spcBef>
              <a:tabLst>
                <a:tab pos="393700" algn="l"/>
              </a:tabLst>
            </a:pPr>
            <a:endParaRPr lang="fr-FR" sz="1600" b="1" spc="-5" dirty="0">
              <a:solidFill>
                <a:srgbClr val="CC00CC"/>
              </a:solidFill>
              <a:latin typeface="Bookman Old Style" panose="02050604050505020204" pitchFamily="18" charset="0"/>
              <a:cs typeface="Arial"/>
            </a:endParaRPr>
          </a:p>
          <a:p>
            <a:pPr marL="400050" lvl="1" algn="just">
              <a:spcBef>
                <a:spcPct val="0"/>
              </a:spcBef>
              <a:tabLst>
                <a:tab pos="393700" algn="l"/>
              </a:tabLst>
            </a:pPr>
            <a:r>
              <a:rPr lang="fr-FR" sz="1600" b="1" u="sng" dirty="0">
                <a:solidFill>
                  <a:srgbClr val="0000FF"/>
                </a:solidFill>
                <a:latin typeface="Bookman Old Style" panose="02050604050505020204" pitchFamily="18" charset="0"/>
                <a:cs typeface="Browallia New" panose="020B0604020202020204" pitchFamily="34" charset="-34"/>
              </a:rPr>
              <a:t>Mesure de l'énergie</a:t>
            </a:r>
          </a:p>
        </p:txBody>
      </p:sp>
      <p:sp>
        <p:nvSpPr>
          <p:cNvPr id="5" name="TextBox 4">
            <a:extLst>
              <a:ext uri="{FF2B5EF4-FFF2-40B4-BE49-F238E27FC236}">
                <a16:creationId xmlns:a16="http://schemas.microsoft.com/office/drawing/2014/main" id="{59E69FB0-0F93-465A-CDCF-92BC98ADA933}"/>
              </a:ext>
            </a:extLst>
          </p:cNvPr>
          <p:cNvSpPr txBox="1"/>
          <p:nvPr/>
        </p:nvSpPr>
        <p:spPr>
          <a:xfrm>
            <a:off x="452136" y="1795064"/>
            <a:ext cx="8425313" cy="1815882"/>
          </a:xfrm>
          <a:prstGeom prst="rect">
            <a:avLst/>
          </a:prstGeom>
          <a:noFill/>
        </p:spPr>
        <p:txBody>
          <a:bodyPr wrap="square">
            <a:spAutoFit/>
          </a:bodyPr>
          <a:lstStyle>
            <a:defPPr>
              <a:defRPr lang="fr-FR"/>
            </a:defPPr>
            <a:lvl1pPr marL="285750" indent="-285750" algn="just">
              <a:buFont typeface="Wingdings" panose="05000000000000000000" pitchFamily="2" charset="2"/>
              <a:buChar char="q"/>
              <a:defRPr>
                <a:latin typeface="Bookman Old Style" panose="02050604050505020204" pitchFamily="18" charset="0"/>
                <a:cs typeface="Times New Roman" pitchFamily="18" charset="0"/>
              </a:defRPr>
            </a:lvl1pPr>
          </a:lstStyle>
          <a:p>
            <a:r>
              <a:rPr lang="fr-FR" sz="1400" dirty="0"/>
              <a:t>A l’entrée de chaque </a:t>
            </a:r>
            <a:r>
              <a:rPr lang="fr-FR" sz="1400" b="1" dirty="0"/>
              <a:t>réseau électrique domestique </a:t>
            </a:r>
            <a:r>
              <a:rPr lang="fr-FR" sz="1400" dirty="0"/>
              <a:t>ou </a:t>
            </a:r>
            <a:r>
              <a:rPr lang="fr-FR" sz="1400" b="1" dirty="0"/>
              <a:t>industriel</a:t>
            </a:r>
            <a:r>
              <a:rPr lang="fr-FR" sz="1400" dirty="0"/>
              <a:t>, on trouve un compteur </a:t>
            </a:r>
            <a:r>
              <a:rPr lang="fr-FR" sz="1400" b="1" dirty="0"/>
              <a:t>d’énergie électrique </a:t>
            </a:r>
            <a:r>
              <a:rPr lang="fr-FR" sz="1400" dirty="0"/>
              <a:t>installé par l’ONEE.</a:t>
            </a:r>
          </a:p>
          <a:p>
            <a:pPr marL="0" indent="0">
              <a:buNone/>
            </a:pPr>
            <a:endParaRPr lang="fr-FR" sz="1400" dirty="0"/>
          </a:p>
          <a:p>
            <a:pPr>
              <a:buFont typeface="Arial" panose="020B0604020202020204" pitchFamily="34" charset="0"/>
              <a:buChar char="•"/>
            </a:pPr>
            <a:r>
              <a:rPr lang="fr-FR" sz="1400" dirty="0"/>
              <a:t>Le rôle de cet appareil est la mesure de l’énergie électrique consommée par le réseau</a:t>
            </a:r>
          </a:p>
          <a:p>
            <a:pPr marL="0" indent="0">
              <a:buNone/>
            </a:pPr>
            <a:endParaRPr lang="fr-FR" sz="1400" dirty="0"/>
          </a:p>
          <a:p>
            <a:pPr>
              <a:buFont typeface="Arial" panose="020B0604020202020204" pitchFamily="34" charset="0"/>
              <a:buChar char="•"/>
            </a:pPr>
            <a:r>
              <a:rPr lang="fr-FR" sz="1400" dirty="0"/>
              <a:t>Ce compteur mesure l’énergie en </a:t>
            </a:r>
            <a:r>
              <a:rPr lang="fr-FR" sz="1400" b="1" dirty="0"/>
              <a:t>Kilowattheure</a:t>
            </a:r>
            <a:r>
              <a:rPr lang="fr-FR" sz="1400" dirty="0"/>
              <a:t> ( kWh)</a:t>
            </a:r>
          </a:p>
          <a:p>
            <a:pPr>
              <a:buFont typeface="Arial" panose="020B0604020202020204" pitchFamily="34" charset="0"/>
              <a:buChar char="•"/>
            </a:pPr>
            <a:endParaRPr lang="fr-FR" sz="1400" dirty="0"/>
          </a:p>
          <a:p>
            <a:pPr>
              <a:buFont typeface="Arial" panose="020B0604020202020204" pitchFamily="34" charset="0"/>
              <a:buChar char="•"/>
            </a:pPr>
            <a:r>
              <a:rPr lang="fr-FR" sz="1400" dirty="0"/>
              <a:t>Le </a:t>
            </a:r>
            <a:r>
              <a:rPr lang="fr-FR" sz="1400" b="1" dirty="0"/>
              <a:t>Kilowattheure </a:t>
            </a:r>
            <a:r>
              <a:rPr lang="fr-FR" sz="1400" dirty="0"/>
              <a:t>( </a:t>
            </a:r>
            <a:r>
              <a:rPr lang="fr-FR" sz="1400" b="1" dirty="0"/>
              <a:t>kWh</a:t>
            </a:r>
            <a:r>
              <a:rPr lang="fr-FR" sz="1400" dirty="0"/>
              <a:t>) est l’unité usuelle de l’énergie électrique</a:t>
            </a:r>
          </a:p>
        </p:txBody>
      </p:sp>
      <p:pic>
        <p:nvPicPr>
          <p:cNvPr id="3" name="Picture 3">
            <a:extLst>
              <a:ext uri="{FF2B5EF4-FFF2-40B4-BE49-F238E27FC236}">
                <a16:creationId xmlns:a16="http://schemas.microsoft.com/office/drawing/2014/main" id="{306C3EC4-3742-24F3-9916-54AF1BF94F35}"/>
              </a:ext>
            </a:extLst>
          </p:cNvPr>
          <p:cNvPicPr>
            <a:picLocks noChangeAspect="1" noChangeArrowheads="1"/>
          </p:cNvPicPr>
          <p:nvPr/>
        </p:nvPicPr>
        <p:blipFill>
          <a:blip r:embed="rId3"/>
          <a:srcRect/>
          <a:stretch>
            <a:fillRect/>
          </a:stretch>
        </p:blipFill>
        <p:spPr bwMode="auto">
          <a:xfrm>
            <a:off x="914400" y="3885933"/>
            <a:ext cx="4695852" cy="701679"/>
          </a:xfrm>
          <a:prstGeom prst="rect">
            <a:avLst/>
          </a:prstGeom>
          <a:noFill/>
          <a:ln w="9525">
            <a:noFill/>
            <a:miter lim="800000"/>
            <a:headEnd/>
            <a:tailEnd/>
          </a:ln>
          <a:effectLst/>
        </p:spPr>
      </p:pic>
      <p:pic>
        <p:nvPicPr>
          <p:cNvPr id="12" name="Picture 11">
            <a:extLst>
              <a:ext uri="{FF2B5EF4-FFF2-40B4-BE49-F238E27FC236}">
                <a16:creationId xmlns:a16="http://schemas.microsoft.com/office/drawing/2014/main" id="{456BFE4F-F9B0-9B41-B16B-7425142C2E3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682565" y="2943508"/>
            <a:ext cx="2454943" cy="1334875"/>
          </a:xfrm>
          <a:prstGeom prst="rect">
            <a:avLst/>
          </a:prstGeom>
        </p:spPr>
      </p:pic>
    </p:spTree>
    <p:extLst>
      <p:ext uri="{BB962C8B-B14F-4D97-AF65-F5344CB8AC3E}">
        <p14:creationId xmlns:p14="http://schemas.microsoft.com/office/powerpoint/2010/main" val="122610974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84530"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86</a:t>
            </a:fld>
            <a:endParaRPr sz="2400" dirty="0">
              <a:latin typeface="Arial"/>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16" name="TextBox 15">
            <a:extLst>
              <a:ext uri="{FF2B5EF4-FFF2-40B4-BE49-F238E27FC236}">
                <a16:creationId xmlns:a16="http://schemas.microsoft.com/office/drawing/2014/main" id="{73564CDF-0E89-9798-4A7B-A99F5EC4F860}"/>
              </a:ext>
            </a:extLst>
          </p:cNvPr>
          <p:cNvSpPr txBox="1"/>
          <p:nvPr/>
        </p:nvSpPr>
        <p:spPr>
          <a:xfrm>
            <a:off x="495209" y="1379268"/>
            <a:ext cx="8538603" cy="33855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fr-FR"/>
            </a:defPPr>
            <a:lvl1pPr marL="285750" indent="-285750" algn="just">
              <a:buFont typeface="Wingdings" panose="05000000000000000000" pitchFamily="2" charset="2"/>
              <a:buChar char="q"/>
              <a:defRPr sz="1600">
                <a:latin typeface="Bookman Old Style" panose="02050604050505020204" pitchFamily="18" charset="0"/>
                <a:cs typeface="Browallia New" panose="020B0604020202020204" pitchFamily="34" charset="-34"/>
              </a:defRPr>
            </a:lvl1pPr>
            <a:lvl2pPr marL="742950" indent="-285750">
              <a:defRPr sz="2400">
                <a:latin typeface="Times New Roman" panose="02020603050405020304" pitchFamily="18" charset="0"/>
              </a:defRPr>
            </a:lvl2pPr>
            <a:lvl3pPr marL="1143000" indent="-228600">
              <a:defRPr sz="2400">
                <a:latin typeface="Times New Roman" panose="02020603050405020304" pitchFamily="18" charset="0"/>
              </a:defRPr>
            </a:lvl3pPr>
            <a:lvl4pPr marL="1600200" indent="-228600">
              <a:defRPr sz="2400">
                <a:latin typeface="Times New Roman" panose="02020603050405020304" pitchFamily="18" charset="0"/>
              </a:defRPr>
            </a:lvl4pPr>
            <a:lvl5pPr marL="2057400" indent="-228600">
              <a:defRPr sz="2400">
                <a:latin typeface="Times New Roman" panose="02020603050405020304" pitchFamily="18" charset="0"/>
              </a:defRPr>
            </a:lvl5pPr>
            <a:lvl6pPr marL="2514600" indent="-228600" eaLnBrk="0" fontAlgn="base" hangingPunct="0">
              <a:spcBef>
                <a:spcPct val="0"/>
              </a:spcBef>
              <a:spcAft>
                <a:spcPct val="0"/>
              </a:spcAft>
              <a:defRPr sz="2400">
                <a:latin typeface="Times New Roman" panose="02020603050405020304" pitchFamily="18" charset="0"/>
              </a:defRPr>
            </a:lvl6pPr>
            <a:lvl7pPr marL="2971800" indent="-228600" eaLnBrk="0" fontAlgn="base" hangingPunct="0">
              <a:spcBef>
                <a:spcPct val="0"/>
              </a:spcBef>
              <a:spcAft>
                <a:spcPct val="0"/>
              </a:spcAft>
              <a:defRPr sz="2400">
                <a:latin typeface="Times New Roman" panose="02020603050405020304" pitchFamily="18" charset="0"/>
              </a:defRPr>
            </a:lvl7pPr>
            <a:lvl8pPr marL="3429000" indent="-228600" eaLnBrk="0" fontAlgn="base" hangingPunct="0">
              <a:spcBef>
                <a:spcPct val="0"/>
              </a:spcBef>
              <a:spcAft>
                <a:spcPct val="0"/>
              </a:spcAft>
              <a:defRPr sz="2400">
                <a:latin typeface="Times New Roman" panose="02020603050405020304" pitchFamily="18" charset="0"/>
              </a:defRPr>
            </a:lvl8pPr>
            <a:lvl9pPr marL="3886200" indent="-228600" eaLnBrk="0" fontAlgn="base" hangingPunct="0">
              <a:spcBef>
                <a:spcPct val="0"/>
              </a:spcBef>
              <a:spcAft>
                <a:spcPct val="0"/>
              </a:spcAft>
              <a:defRPr sz="2400">
                <a:latin typeface="Times New Roman" panose="02020603050405020304" pitchFamily="18" charset="0"/>
              </a:defRPr>
            </a:lvl9pPr>
          </a:lstStyle>
          <a:p>
            <a:endParaRPr lang="fr-FR" dirty="0"/>
          </a:p>
        </p:txBody>
      </p:sp>
      <p:sp>
        <p:nvSpPr>
          <p:cNvPr id="11" name="TextBox 10">
            <a:extLst>
              <a:ext uri="{FF2B5EF4-FFF2-40B4-BE49-F238E27FC236}">
                <a16:creationId xmlns:a16="http://schemas.microsoft.com/office/drawing/2014/main" id="{3046E82C-A78B-4B6B-77D5-103400A5CE5F}"/>
              </a:ext>
            </a:extLst>
          </p:cNvPr>
          <p:cNvSpPr txBox="1"/>
          <p:nvPr/>
        </p:nvSpPr>
        <p:spPr>
          <a:xfrm>
            <a:off x="1524000" y="2168990"/>
            <a:ext cx="6324600" cy="923330"/>
          </a:xfrm>
          <a:prstGeom prst="rect">
            <a:avLst/>
          </a:prstGeom>
          <a:noFill/>
        </p:spPr>
        <p:txBody>
          <a:bodyPr wrap="square">
            <a:spAutoFit/>
          </a:bodyPr>
          <a:lstStyle/>
          <a:p>
            <a:pPr algn="ctr">
              <a:defRPr/>
            </a:pPr>
            <a:r>
              <a:rPr lang="fr-FR" sz="5400" b="1" kern="0" dirty="0">
                <a:latin typeface="Bookman Old Style" panose="02050604050505020204" pitchFamily="18" charset="0"/>
                <a:ea typeface="+mj-ea"/>
                <a:cs typeface="+mj-cs"/>
              </a:rPr>
              <a:t>Fin de Chapitre </a:t>
            </a:r>
          </a:p>
        </p:txBody>
      </p:sp>
    </p:spTree>
    <p:extLst>
      <p:ext uri="{BB962C8B-B14F-4D97-AF65-F5344CB8AC3E}">
        <p14:creationId xmlns:p14="http://schemas.microsoft.com/office/powerpoint/2010/main" val="16685333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84530" y="235693"/>
            <a:ext cx="5335270" cy="299720"/>
          </a:xfrm>
          <a:prstGeom prst="rect">
            <a:avLst/>
          </a:prstGeom>
        </p:spPr>
        <p:txBody>
          <a:bodyPr vert="horz" wrap="square" lIns="0" tIns="12700" rIns="0" bIns="0" rtlCol="0">
            <a:spAutoFit/>
          </a:bodyPr>
          <a:lstStyle/>
          <a:p>
            <a:pPr marL="12700">
              <a:lnSpc>
                <a:spcPct val="100000"/>
              </a:lnSpc>
              <a:spcBef>
                <a:spcPts val="100"/>
              </a:spcBef>
            </a:pPr>
            <a:r>
              <a:rPr lang="fr-FR" sz="1800" spc="-5" dirty="0">
                <a:latin typeface="Bookman Old Style" panose="02050604050505020204" pitchFamily="18" charset="0"/>
              </a:rPr>
              <a:t>Électrocinétique</a:t>
            </a:r>
            <a:endParaRPr sz="1800" dirty="0">
              <a:latin typeface="Bookman Old Style" panose="02050604050505020204" pitchFamily="18" charset="0"/>
            </a:endParaRPr>
          </a:p>
        </p:txBody>
      </p:sp>
      <p:grpSp>
        <p:nvGrpSpPr>
          <p:cNvPr id="6" name="object 6"/>
          <p:cNvGrpSpPr/>
          <p:nvPr/>
        </p:nvGrpSpPr>
        <p:grpSpPr>
          <a:xfrm>
            <a:off x="98477" y="18677"/>
            <a:ext cx="482600" cy="807085"/>
            <a:chOff x="98477" y="18677"/>
            <a:chExt cx="482600" cy="807085"/>
          </a:xfrm>
          <a:solidFill>
            <a:schemeClr val="tx1"/>
          </a:solidFill>
        </p:grpSpPr>
        <p:sp>
          <p:nvSpPr>
            <p:cNvPr id="7" name="object 7"/>
            <p:cNvSpPr/>
            <p:nvPr/>
          </p:nvSpPr>
          <p:spPr>
            <a:xfrm>
              <a:off x="107036" y="57698"/>
              <a:ext cx="469265" cy="768350"/>
            </a:xfrm>
            <a:custGeom>
              <a:avLst/>
              <a:gdLst/>
              <a:ahLst/>
              <a:cxnLst/>
              <a:rect l="l" t="t" r="r" b="b"/>
              <a:pathLst>
                <a:path w="469265" h="768350">
                  <a:moveTo>
                    <a:pt x="133160" y="0"/>
                  </a:moveTo>
                  <a:lnTo>
                    <a:pt x="144637" y="30555"/>
                  </a:lnTo>
                  <a:lnTo>
                    <a:pt x="149627" y="65956"/>
                  </a:lnTo>
                  <a:lnTo>
                    <a:pt x="148956" y="105533"/>
                  </a:lnTo>
                  <a:lnTo>
                    <a:pt x="143448" y="148618"/>
                  </a:lnTo>
                  <a:lnTo>
                    <a:pt x="133932" y="194541"/>
                  </a:lnTo>
                  <a:lnTo>
                    <a:pt x="121232" y="242631"/>
                  </a:lnTo>
                  <a:lnTo>
                    <a:pt x="106175" y="292221"/>
                  </a:lnTo>
                  <a:lnTo>
                    <a:pt x="89587" y="342639"/>
                  </a:lnTo>
                  <a:lnTo>
                    <a:pt x="55123" y="443287"/>
                  </a:lnTo>
                  <a:lnTo>
                    <a:pt x="38899" y="492178"/>
                  </a:lnTo>
                  <a:lnTo>
                    <a:pt x="24448" y="539220"/>
                  </a:lnTo>
                  <a:lnTo>
                    <a:pt x="12598" y="583744"/>
                  </a:lnTo>
                  <a:lnTo>
                    <a:pt x="4173" y="625082"/>
                  </a:lnTo>
                  <a:lnTo>
                    <a:pt x="0" y="662562"/>
                  </a:lnTo>
                  <a:lnTo>
                    <a:pt x="904" y="695517"/>
                  </a:lnTo>
                  <a:lnTo>
                    <a:pt x="7714" y="723276"/>
                  </a:lnTo>
                  <a:lnTo>
                    <a:pt x="21253" y="745171"/>
                  </a:lnTo>
                  <a:lnTo>
                    <a:pt x="44251" y="761701"/>
                  </a:lnTo>
                  <a:lnTo>
                    <a:pt x="70693" y="767747"/>
                  </a:lnTo>
                  <a:lnTo>
                    <a:pt x="96974" y="763253"/>
                  </a:lnTo>
                  <a:lnTo>
                    <a:pt x="119492" y="748162"/>
                  </a:lnTo>
                  <a:lnTo>
                    <a:pt x="460053" y="390527"/>
                  </a:lnTo>
                  <a:lnTo>
                    <a:pt x="466940" y="379528"/>
                  </a:lnTo>
                  <a:lnTo>
                    <a:pt x="469236" y="366904"/>
                  </a:lnTo>
                  <a:lnTo>
                    <a:pt x="466940" y="354279"/>
                  </a:lnTo>
                  <a:lnTo>
                    <a:pt x="460053" y="343280"/>
                  </a:lnTo>
                  <a:lnTo>
                    <a:pt x="133160" y="0"/>
                  </a:lnTo>
                  <a:close/>
                </a:path>
              </a:pathLst>
            </a:custGeom>
            <a:grpFill/>
            <a:ln>
              <a:solidFill>
                <a:schemeClr val="tx1"/>
              </a:solidFill>
            </a:ln>
          </p:spPr>
          <p:txBody>
            <a:bodyPr wrap="square" lIns="0" tIns="0" rIns="0" bIns="0" rtlCol="0"/>
            <a:lstStyle/>
            <a:p>
              <a:endParaRPr/>
            </a:p>
          </p:txBody>
        </p:sp>
        <p:sp>
          <p:nvSpPr>
            <p:cNvPr id="8" name="object 8"/>
            <p:cNvSpPr/>
            <p:nvPr/>
          </p:nvSpPr>
          <p:spPr>
            <a:xfrm>
              <a:off x="103239" y="23440"/>
              <a:ext cx="473075" cy="767715"/>
            </a:xfrm>
            <a:custGeom>
              <a:avLst/>
              <a:gdLst/>
              <a:ahLst/>
              <a:cxnLst/>
              <a:rect l="l" t="t" r="r" b="b"/>
              <a:pathLst>
                <a:path w="473075" h="767715">
                  <a:moveTo>
                    <a:pt x="74718" y="0"/>
                  </a:moveTo>
                  <a:lnTo>
                    <a:pt x="25067" y="22493"/>
                  </a:lnTo>
                  <a:lnTo>
                    <a:pt x="1814" y="73692"/>
                  </a:lnTo>
                  <a:lnTo>
                    <a:pt x="0" y="107124"/>
                  </a:lnTo>
                  <a:lnTo>
                    <a:pt x="3578" y="144912"/>
                  </a:lnTo>
                  <a:lnTo>
                    <a:pt x="11686" y="186405"/>
                  </a:lnTo>
                  <a:lnTo>
                    <a:pt x="23464" y="230954"/>
                  </a:lnTo>
                  <a:lnTo>
                    <a:pt x="38049" y="277910"/>
                  </a:lnTo>
                  <a:lnTo>
                    <a:pt x="54578" y="326621"/>
                  </a:lnTo>
                  <a:lnTo>
                    <a:pt x="90026" y="426714"/>
                  </a:lnTo>
                  <a:lnTo>
                    <a:pt x="107220" y="476795"/>
                  </a:lnTo>
                  <a:lnTo>
                    <a:pt x="122912" y="526034"/>
                  </a:lnTo>
                  <a:lnTo>
                    <a:pt x="136240" y="573780"/>
                  </a:lnTo>
                  <a:lnTo>
                    <a:pt x="146342" y="619384"/>
                  </a:lnTo>
                  <a:lnTo>
                    <a:pt x="152356" y="662195"/>
                  </a:lnTo>
                  <a:lnTo>
                    <a:pt x="153421" y="701564"/>
                  </a:lnTo>
                  <a:lnTo>
                    <a:pt x="148674" y="736841"/>
                  </a:lnTo>
                  <a:lnTo>
                    <a:pt x="137254" y="767377"/>
                  </a:lnTo>
                  <a:lnTo>
                    <a:pt x="463850" y="424527"/>
                  </a:lnTo>
                  <a:lnTo>
                    <a:pt x="470737" y="413481"/>
                  </a:lnTo>
                  <a:lnTo>
                    <a:pt x="473033" y="400726"/>
                  </a:lnTo>
                  <a:lnTo>
                    <a:pt x="470737" y="387915"/>
                  </a:lnTo>
                  <a:lnTo>
                    <a:pt x="463850" y="376701"/>
                  </a:lnTo>
                  <a:lnTo>
                    <a:pt x="123302" y="19205"/>
                  </a:lnTo>
                  <a:lnTo>
                    <a:pt x="100866" y="4250"/>
                  </a:lnTo>
                  <a:lnTo>
                    <a:pt x="74718" y="0"/>
                  </a:lnTo>
                  <a:close/>
                </a:path>
              </a:pathLst>
            </a:custGeom>
            <a:grpFill/>
            <a:ln>
              <a:solidFill>
                <a:schemeClr val="tx1"/>
              </a:solidFill>
            </a:ln>
          </p:spPr>
          <p:txBody>
            <a:bodyPr wrap="square" lIns="0" tIns="0" rIns="0" bIns="0" rtlCol="0"/>
            <a:lstStyle/>
            <a:p>
              <a:endParaRPr/>
            </a:p>
          </p:txBody>
        </p:sp>
        <p:sp>
          <p:nvSpPr>
            <p:cNvPr id="9" name="object 9"/>
            <p:cNvSpPr/>
            <p:nvPr/>
          </p:nvSpPr>
          <p:spPr>
            <a:xfrm>
              <a:off x="103239" y="23440"/>
              <a:ext cx="473075" cy="767715"/>
            </a:xfrm>
            <a:custGeom>
              <a:avLst/>
              <a:gdLst/>
              <a:ahLst/>
              <a:cxnLst/>
              <a:rect l="l" t="t" r="r" b="b"/>
              <a:pathLst>
                <a:path w="473075" h="767715">
                  <a:moveTo>
                    <a:pt x="137254" y="767377"/>
                  </a:moveTo>
                  <a:lnTo>
                    <a:pt x="148674" y="736841"/>
                  </a:lnTo>
                  <a:lnTo>
                    <a:pt x="153421" y="701564"/>
                  </a:lnTo>
                  <a:lnTo>
                    <a:pt x="152356" y="662195"/>
                  </a:lnTo>
                  <a:lnTo>
                    <a:pt x="146342" y="619384"/>
                  </a:lnTo>
                  <a:lnTo>
                    <a:pt x="136240" y="573780"/>
                  </a:lnTo>
                  <a:lnTo>
                    <a:pt x="122912" y="526034"/>
                  </a:lnTo>
                  <a:lnTo>
                    <a:pt x="107220" y="476796"/>
                  </a:lnTo>
                  <a:lnTo>
                    <a:pt x="90026" y="426714"/>
                  </a:lnTo>
                  <a:lnTo>
                    <a:pt x="72191" y="376440"/>
                  </a:lnTo>
                  <a:lnTo>
                    <a:pt x="54578" y="326622"/>
                  </a:lnTo>
                  <a:lnTo>
                    <a:pt x="38049" y="277910"/>
                  </a:lnTo>
                  <a:lnTo>
                    <a:pt x="23464" y="230955"/>
                  </a:lnTo>
                  <a:lnTo>
                    <a:pt x="11687" y="186405"/>
                  </a:lnTo>
                  <a:lnTo>
                    <a:pt x="3578" y="144912"/>
                  </a:lnTo>
                  <a:lnTo>
                    <a:pt x="0" y="107124"/>
                  </a:lnTo>
                  <a:lnTo>
                    <a:pt x="1814" y="73692"/>
                  </a:lnTo>
                  <a:lnTo>
                    <a:pt x="9882" y="45265"/>
                  </a:lnTo>
                  <a:lnTo>
                    <a:pt x="25067" y="22492"/>
                  </a:lnTo>
                  <a:lnTo>
                    <a:pt x="48304" y="6174"/>
                  </a:lnTo>
                  <a:lnTo>
                    <a:pt x="74718" y="0"/>
                  </a:lnTo>
                  <a:lnTo>
                    <a:pt x="100866" y="4250"/>
                  </a:lnTo>
                  <a:lnTo>
                    <a:pt x="123302" y="19204"/>
                  </a:lnTo>
                  <a:lnTo>
                    <a:pt x="463850" y="376701"/>
                  </a:lnTo>
                  <a:lnTo>
                    <a:pt x="470737" y="387915"/>
                  </a:lnTo>
                  <a:lnTo>
                    <a:pt x="473033" y="400726"/>
                  </a:lnTo>
                  <a:lnTo>
                    <a:pt x="470737" y="413481"/>
                  </a:lnTo>
                  <a:lnTo>
                    <a:pt x="463850" y="424527"/>
                  </a:lnTo>
                  <a:lnTo>
                    <a:pt x="137254" y="767377"/>
                  </a:lnTo>
                  <a:close/>
                </a:path>
              </a:pathLst>
            </a:custGeom>
            <a:grpFill/>
            <a:ln w="9525">
              <a:solidFill>
                <a:schemeClr val="tx1"/>
              </a:solidFill>
            </a:ln>
          </p:spPr>
          <p:txBody>
            <a:bodyPr wrap="square" lIns="0" tIns="0" rIns="0" bIns="0" rtlCol="0"/>
            <a:lstStyle/>
            <a:p>
              <a:endParaRPr/>
            </a:p>
          </p:txBody>
        </p:sp>
      </p:grpSp>
      <p:sp>
        <p:nvSpPr>
          <p:cNvPr id="10" name="object 10"/>
          <p:cNvSpPr txBox="1"/>
          <p:nvPr/>
        </p:nvSpPr>
        <p:spPr>
          <a:xfrm>
            <a:off x="228616" y="143763"/>
            <a:ext cx="223520" cy="452120"/>
          </a:xfrm>
          <a:prstGeom prst="rect">
            <a:avLst/>
          </a:prstGeom>
        </p:spPr>
        <p:txBody>
          <a:bodyPr vert="horz" wrap="square" lIns="0" tIns="12700" rIns="0" bIns="0" rtlCol="0">
            <a:spAutoFit/>
          </a:bodyPr>
          <a:lstStyle/>
          <a:p>
            <a:pPr marL="12700">
              <a:lnSpc>
                <a:spcPct val="100000"/>
              </a:lnSpc>
              <a:spcBef>
                <a:spcPts val="100"/>
              </a:spcBef>
            </a:pPr>
            <a:r>
              <a:rPr sz="2800" b="1" dirty="0">
                <a:solidFill>
                  <a:srgbClr val="FFFFFF"/>
                </a:solidFill>
                <a:latin typeface="Arial"/>
                <a:cs typeface="Arial"/>
              </a:rPr>
              <a:t>1</a:t>
            </a:r>
            <a:endParaRPr sz="2800">
              <a:latin typeface="Arial"/>
              <a:cs typeface="Arial"/>
            </a:endParaRPr>
          </a:p>
        </p:txBody>
      </p:sp>
      <p:sp>
        <p:nvSpPr>
          <p:cNvPr id="46" name="object 46"/>
          <p:cNvSpPr txBox="1"/>
          <p:nvPr/>
        </p:nvSpPr>
        <p:spPr>
          <a:xfrm>
            <a:off x="8605718" y="4804529"/>
            <a:ext cx="571156" cy="307777"/>
          </a:xfrm>
          <a:prstGeom prst="rect">
            <a:avLst/>
          </a:prstGeom>
        </p:spPr>
        <p:txBody>
          <a:bodyPr vert="horz" wrap="square" lIns="0" tIns="0" rIns="0" bIns="0" rtlCol="0">
            <a:spAutoFit/>
          </a:bodyPr>
          <a:lstStyle/>
          <a:p>
            <a:pPr marL="38100">
              <a:lnSpc>
                <a:spcPts val="2430"/>
              </a:lnSpc>
            </a:pPr>
            <a:fld id="{81D60167-4931-47E6-BA6A-407CBD079E47}" type="slidenum">
              <a:rPr sz="2400" b="1" dirty="0">
                <a:latin typeface="Arial"/>
                <a:cs typeface="Arial"/>
              </a:rPr>
              <a:t>87</a:t>
            </a:fld>
            <a:endParaRPr sz="2400" dirty="0">
              <a:latin typeface="Arial"/>
              <a:cs typeface="Arial"/>
            </a:endParaRPr>
          </a:p>
        </p:txBody>
      </p:sp>
      <p:grpSp>
        <p:nvGrpSpPr>
          <p:cNvPr id="14" name="object 4">
            <a:extLst>
              <a:ext uri="{FF2B5EF4-FFF2-40B4-BE49-F238E27FC236}">
                <a16:creationId xmlns:a16="http://schemas.microsoft.com/office/drawing/2014/main" id="{9F31D229-1326-1982-DE5B-C2C40EA42ECF}"/>
              </a:ext>
            </a:extLst>
          </p:cNvPr>
          <p:cNvGrpSpPr/>
          <p:nvPr/>
        </p:nvGrpSpPr>
        <p:grpSpPr>
          <a:xfrm>
            <a:off x="2687511" y="348158"/>
            <a:ext cx="6355745" cy="118277"/>
            <a:chOff x="1881480" y="350569"/>
            <a:chExt cx="7147385" cy="156271"/>
          </a:xfrm>
          <a:solidFill>
            <a:schemeClr val="tx1"/>
          </a:solidFill>
        </p:grpSpPr>
        <p:sp>
          <p:nvSpPr>
            <p:cNvPr id="18" name="object 5">
              <a:extLst>
                <a:ext uri="{FF2B5EF4-FFF2-40B4-BE49-F238E27FC236}">
                  <a16:creationId xmlns:a16="http://schemas.microsoft.com/office/drawing/2014/main" id="{6CBD8AD3-AA67-BDB2-4038-9B2BAD9D638C}"/>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9" name="object 6">
              <a:extLst>
                <a:ext uri="{FF2B5EF4-FFF2-40B4-BE49-F238E27FC236}">
                  <a16:creationId xmlns:a16="http://schemas.microsoft.com/office/drawing/2014/main" id="{69853ED9-723D-7F01-73F0-EB6722FF3E4E}"/>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sp>
        <p:nvSpPr>
          <p:cNvPr id="3" name="Rectangle 2">
            <a:extLst>
              <a:ext uri="{FF2B5EF4-FFF2-40B4-BE49-F238E27FC236}">
                <a16:creationId xmlns:a16="http://schemas.microsoft.com/office/drawing/2014/main" id="{500FFFC6-7F53-DE19-A406-EF8E6A1F2D99}"/>
              </a:ext>
            </a:extLst>
          </p:cNvPr>
          <p:cNvSpPr/>
          <p:nvPr/>
        </p:nvSpPr>
        <p:spPr>
          <a:xfrm>
            <a:off x="1342123" y="500700"/>
            <a:ext cx="6459754" cy="966931"/>
          </a:xfrm>
          <a:prstGeom prst="rect">
            <a:avLst/>
          </a:prstGeom>
        </p:spPr>
        <p:txBody>
          <a:bodyPr wrap="square">
            <a:spAutoFit/>
          </a:bodyPr>
          <a:lstStyle/>
          <a:p>
            <a:pPr marL="12065" lvl="1" algn="ctr">
              <a:lnSpc>
                <a:spcPct val="100000"/>
              </a:lnSpc>
              <a:spcBef>
                <a:spcPts val="100"/>
              </a:spcBef>
              <a:tabLst>
                <a:tab pos="393700" algn="l"/>
              </a:tabLst>
            </a:pPr>
            <a:r>
              <a:rPr lang="fr-FR" sz="2800" b="1" spc="-5" dirty="0">
                <a:latin typeface="Bookman Old Style" panose="02050604050505020204" pitchFamily="18" charset="0"/>
                <a:cs typeface="Arial"/>
              </a:rPr>
              <a:t>Consulter le cours </a:t>
            </a:r>
          </a:p>
          <a:p>
            <a:pPr marL="12065" lvl="1" algn="ctr">
              <a:lnSpc>
                <a:spcPct val="100000"/>
              </a:lnSpc>
              <a:spcBef>
                <a:spcPts val="100"/>
              </a:spcBef>
              <a:tabLst>
                <a:tab pos="393700" algn="l"/>
              </a:tabLst>
            </a:pPr>
            <a:r>
              <a:rPr lang="fr-FR" sz="2800" b="1" spc="-5" dirty="0">
                <a:latin typeface="Bookman Old Style" panose="02050604050505020204" pitchFamily="18" charset="0"/>
                <a:cs typeface="Arial"/>
              </a:rPr>
              <a:t>ici</a:t>
            </a:r>
          </a:p>
        </p:txBody>
      </p:sp>
      <p:grpSp>
        <p:nvGrpSpPr>
          <p:cNvPr id="4" name="object 4">
            <a:extLst>
              <a:ext uri="{FF2B5EF4-FFF2-40B4-BE49-F238E27FC236}">
                <a16:creationId xmlns:a16="http://schemas.microsoft.com/office/drawing/2014/main" id="{D741697F-4066-5AB3-9053-EFF60EA948C1}"/>
              </a:ext>
            </a:extLst>
          </p:cNvPr>
          <p:cNvGrpSpPr/>
          <p:nvPr/>
        </p:nvGrpSpPr>
        <p:grpSpPr>
          <a:xfrm>
            <a:off x="2687511" y="1432712"/>
            <a:ext cx="3709256" cy="104485"/>
            <a:chOff x="1881480" y="350569"/>
            <a:chExt cx="7147385" cy="156271"/>
          </a:xfrm>
          <a:solidFill>
            <a:schemeClr val="bg1"/>
          </a:solidFill>
        </p:grpSpPr>
        <p:sp>
          <p:nvSpPr>
            <p:cNvPr id="5" name="object 5">
              <a:extLst>
                <a:ext uri="{FF2B5EF4-FFF2-40B4-BE49-F238E27FC236}">
                  <a16:creationId xmlns:a16="http://schemas.microsoft.com/office/drawing/2014/main" id="{EF181A96-8C38-EA0E-684C-D544AFCB219F}"/>
                </a:ext>
              </a:extLst>
            </p:cNvPr>
            <p:cNvSpPr/>
            <p:nvPr/>
          </p:nvSpPr>
          <p:spPr>
            <a:xfrm>
              <a:off x="1881480" y="362695"/>
              <a:ext cx="7136765" cy="144145"/>
            </a:xfrm>
            <a:custGeom>
              <a:avLst/>
              <a:gdLst/>
              <a:ahLst/>
              <a:cxnLst/>
              <a:rect l="l" t="t" r="r" b="b"/>
              <a:pathLst>
                <a:path w="7136765" h="144145">
                  <a:moveTo>
                    <a:pt x="7064143" y="0"/>
                  </a:moveTo>
                  <a:lnTo>
                    <a:pt x="72001" y="0"/>
                  </a:lnTo>
                  <a:lnTo>
                    <a:pt x="43975" y="5658"/>
                  </a:lnTo>
                  <a:lnTo>
                    <a:pt x="21088" y="21089"/>
                  </a:lnTo>
                  <a:lnTo>
                    <a:pt x="5658" y="43976"/>
                  </a:lnTo>
                  <a:lnTo>
                    <a:pt x="0" y="71995"/>
                  </a:lnTo>
                  <a:lnTo>
                    <a:pt x="5658" y="100022"/>
                  </a:lnTo>
                  <a:lnTo>
                    <a:pt x="21088" y="122909"/>
                  </a:lnTo>
                  <a:lnTo>
                    <a:pt x="43975" y="138340"/>
                  </a:lnTo>
                  <a:lnTo>
                    <a:pt x="72001" y="143998"/>
                  </a:lnTo>
                  <a:lnTo>
                    <a:pt x="7064136" y="144007"/>
                  </a:lnTo>
                  <a:lnTo>
                    <a:pt x="7092162" y="138349"/>
                  </a:lnTo>
                  <a:lnTo>
                    <a:pt x="7115048" y="122918"/>
                  </a:lnTo>
                  <a:lnTo>
                    <a:pt x="7130479" y="100030"/>
                  </a:lnTo>
                  <a:lnTo>
                    <a:pt x="7136145" y="72003"/>
                  </a:lnTo>
                  <a:lnTo>
                    <a:pt x="7130487" y="43976"/>
                  </a:lnTo>
                  <a:lnTo>
                    <a:pt x="7115056" y="21089"/>
                  </a:lnTo>
                  <a:lnTo>
                    <a:pt x="7092170" y="5658"/>
                  </a:lnTo>
                  <a:lnTo>
                    <a:pt x="7064143" y="0"/>
                  </a:lnTo>
                  <a:close/>
                </a:path>
              </a:pathLst>
            </a:custGeom>
            <a:grpFill/>
            <a:ln>
              <a:solidFill>
                <a:schemeClr val="tx1"/>
              </a:solidFill>
            </a:ln>
          </p:spPr>
          <p:txBody>
            <a:bodyPr wrap="square" lIns="0" tIns="0" rIns="0" bIns="0" rtlCol="0"/>
            <a:lstStyle/>
            <a:p>
              <a:endParaRPr/>
            </a:p>
          </p:txBody>
        </p:sp>
        <p:sp>
          <p:nvSpPr>
            <p:cNvPr id="12" name="object 6">
              <a:extLst>
                <a:ext uri="{FF2B5EF4-FFF2-40B4-BE49-F238E27FC236}">
                  <a16:creationId xmlns:a16="http://schemas.microsoft.com/office/drawing/2014/main" id="{BE17EA38-100C-1AC4-32A5-F80A46C90190}"/>
                </a:ext>
              </a:extLst>
            </p:cNvPr>
            <p:cNvSpPr/>
            <p:nvPr/>
          </p:nvSpPr>
          <p:spPr>
            <a:xfrm>
              <a:off x="1892100" y="350569"/>
              <a:ext cx="7136765" cy="144145"/>
            </a:xfrm>
            <a:custGeom>
              <a:avLst/>
              <a:gdLst/>
              <a:ahLst/>
              <a:cxnLst/>
              <a:rect l="l" t="t" r="r" b="b"/>
              <a:pathLst>
                <a:path w="7136765" h="144145">
                  <a:moveTo>
                    <a:pt x="0" y="72003"/>
                  </a:moveTo>
                  <a:lnTo>
                    <a:pt x="5658" y="43976"/>
                  </a:lnTo>
                  <a:lnTo>
                    <a:pt x="21088" y="21089"/>
                  </a:lnTo>
                  <a:lnTo>
                    <a:pt x="43975" y="5658"/>
                  </a:lnTo>
                  <a:lnTo>
                    <a:pt x="72001" y="0"/>
                  </a:lnTo>
                  <a:lnTo>
                    <a:pt x="7064144" y="0"/>
                  </a:lnTo>
                  <a:lnTo>
                    <a:pt x="7092170" y="5658"/>
                  </a:lnTo>
                  <a:lnTo>
                    <a:pt x="7115057" y="21089"/>
                  </a:lnTo>
                  <a:lnTo>
                    <a:pt x="7130487" y="43976"/>
                  </a:lnTo>
                  <a:lnTo>
                    <a:pt x="7136146" y="72003"/>
                  </a:lnTo>
                  <a:lnTo>
                    <a:pt x="7130479" y="100031"/>
                  </a:lnTo>
                  <a:lnTo>
                    <a:pt x="7115049" y="122918"/>
                  </a:lnTo>
                  <a:lnTo>
                    <a:pt x="7092163" y="138349"/>
                  </a:lnTo>
                  <a:lnTo>
                    <a:pt x="7064137" y="144007"/>
                  </a:lnTo>
                  <a:lnTo>
                    <a:pt x="72001" y="144000"/>
                  </a:lnTo>
                  <a:lnTo>
                    <a:pt x="43975" y="138341"/>
                  </a:lnTo>
                  <a:lnTo>
                    <a:pt x="21088" y="122910"/>
                  </a:lnTo>
                  <a:lnTo>
                    <a:pt x="5658" y="100023"/>
                  </a:lnTo>
                  <a:lnTo>
                    <a:pt x="0" y="71996"/>
                  </a:lnTo>
                  <a:close/>
                </a:path>
              </a:pathLst>
            </a:custGeom>
            <a:grpFill/>
            <a:ln w="12700">
              <a:solidFill>
                <a:schemeClr val="tx1"/>
              </a:solidFill>
            </a:ln>
          </p:spPr>
          <p:txBody>
            <a:bodyPr wrap="square" lIns="0" tIns="0" rIns="0" bIns="0" rtlCol="0"/>
            <a:lstStyle/>
            <a:p>
              <a:endParaRPr/>
            </a:p>
          </p:txBody>
        </p:sp>
      </p:grpSp>
      <p:pic>
        <p:nvPicPr>
          <p:cNvPr id="13" name="Picture 12">
            <a:extLst>
              <a:ext uri="{FF2B5EF4-FFF2-40B4-BE49-F238E27FC236}">
                <a16:creationId xmlns:a16="http://schemas.microsoft.com/office/drawing/2014/main" id="{5BDA70DB-F112-E352-43C6-C1BA500EEBD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819400" y="1537197"/>
            <a:ext cx="3370610" cy="3370610"/>
          </a:xfrm>
          <a:prstGeom prst="rect">
            <a:avLst/>
          </a:prstGeom>
        </p:spPr>
      </p:pic>
    </p:spTree>
    <p:extLst>
      <p:ext uri="{BB962C8B-B14F-4D97-AF65-F5344CB8AC3E}">
        <p14:creationId xmlns:p14="http://schemas.microsoft.com/office/powerpoint/2010/main" val="21514878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149254</TotalTime>
  <Words>6923</Words>
  <Application>Microsoft Office PowerPoint</Application>
  <PresentationFormat>On-screen Show (16:9)</PresentationFormat>
  <Paragraphs>1290</Paragraphs>
  <Slides>87</Slides>
  <Notes>85</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2</vt:i4>
      </vt:variant>
      <vt:variant>
        <vt:lpstr>Slide Titles</vt:lpstr>
      </vt:variant>
      <vt:variant>
        <vt:i4>87</vt:i4>
      </vt:variant>
    </vt:vector>
  </HeadingPairs>
  <TitlesOfParts>
    <vt:vector size="101" baseType="lpstr">
      <vt:lpstr>Arial</vt:lpstr>
      <vt:lpstr>Arial MT</vt:lpstr>
      <vt:lpstr>Bodoni MT</vt:lpstr>
      <vt:lpstr>Bookman Old Style</vt:lpstr>
      <vt:lpstr>Browallia New</vt:lpstr>
      <vt:lpstr>Calibri</vt:lpstr>
      <vt:lpstr>Cambria Math</vt:lpstr>
      <vt:lpstr>Garamond</vt:lpstr>
      <vt:lpstr>Symbol</vt:lpstr>
      <vt:lpstr>Times New Roman</vt:lpstr>
      <vt:lpstr>Wingdings</vt:lpstr>
      <vt:lpstr>Office Theme</vt:lpstr>
      <vt:lpstr>Equation</vt:lpstr>
      <vt:lpstr>Équation</vt:lpstr>
      <vt:lpstr>PowerPoint Presentation</vt:lpstr>
      <vt:lpstr>PowerPoint Presentation</vt:lpstr>
      <vt:lpstr>PowerPoint Presentation</vt:lpstr>
      <vt:lpstr>PowerPoint Presentation</vt:lpstr>
      <vt:lpstr>PowerPoint Presentation</vt:lpstr>
      <vt:lpstr>PowerPoint Presentation</vt:lpstr>
      <vt:lpstr>Plan</vt:lpstr>
      <vt:lpstr>Plan</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lpstr>Électrocinétique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Electrostatique et électrocinétique</dc:title>
  <cp:lastModifiedBy>lhoussain elhajjami</cp:lastModifiedBy>
  <cp:revision>1773</cp:revision>
  <dcterms:created xsi:type="dcterms:W3CDTF">2023-11-13T11:26:33Z</dcterms:created>
  <dcterms:modified xsi:type="dcterms:W3CDTF">2024-12-04T19:08:31Z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2023-02-20T00:00:00Z</vt:filetime>
  </property>
  <property fmtid="{D5CDD505-2E9C-101B-9397-08002B2CF9AE}" pid="3" name="LastSaved">
    <vt:filetime>2023-11-13T00:00:00Z</vt:filetime>
  </property>
</Properties>
</file>