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0"/>
  </p:notesMasterIdLst>
  <p:sldIdLst>
    <p:sldId id="256" r:id="rId2"/>
    <p:sldId id="257" r:id="rId3"/>
    <p:sldId id="260" r:id="rId4"/>
    <p:sldId id="575" r:id="rId5"/>
    <p:sldId id="576" r:id="rId6"/>
    <p:sldId id="579" r:id="rId7"/>
    <p:sldId id="580" r:id="rId8"/>
    <p:sldId id="521" r:id="rId9"/>
    <p:sldId id="581" r:id="rId10"/>
    <p:sldId id="577" r:id="rId11"/>
    <p:sldId id="578" r:id="rId12"/>
    <p:sldId id="582" r:id="rId13"/>
    <p:sldId id="583" r:id="rId14"/>
    <p:sldId id="584" r:id="rId15"/>
    <p:sldId id="585" r:id="rId16"/>
    <p:sldId id="586" r:id="rId17"/>
    <p:sldId id="590" r:id="rId18"/>
    <p:sldId id="587" r:id="rId19"/>
    <p:sldId id="591" r:id="rId20"/>
    <p:sldId id="592" r:id="rId21"/>
    <p:sldId id="593" r:id="rId22"/>
    <p:sldId id="594" r:id="rId23"/>
    <p:sldId id="595" r:id="rId24"/>
    <p:sldId id="596" r:id="rId25"/>
    <p:sldId id="597" r:id="rId26"/>
    <p:sldId id="598" r:id="rId27"/>
    <p:sldId id="599" r:id="rId28"/>
    <p:sldId id="600" r:id="rId29"/>
    <p:sldId id="601" r:id="rId30"/>
    <p:sldId id="602" r:id="rId31"/>
    <p:sldId id="603" r:id="rId32"/>
    <p:sldId id="604" r:id="rId33"/>
    <p:sldId id="606" r:id="rId34"/>
    <p:sldId id="607" r:id="rId35"/>
    <p:sldId id="608" r:id="rId36"/>
    <p:sldId id="616" r:id="rId37"/>
    <p:sldId id="617" r:id="rId38"/>
    <p:sldId id="618" r:id="rId39"/>
    <p:sldId id="609" r:id="rId40"/>
    <p:sldId id="610" r:id="rId41"/>
    <p:sldId id="611" r:id="rId42"/>
    <p:sldId id="612" r:id="rId43"/>
    <p:sldId id="613" r:id="rId44"/>
    <p:sldId id="614" r:id="rId45"/>
    <p:sldId id="628" r:id="rId46"/>
    <p:sldId id="629" r:id="rId47"/>
    <p:sldId id="631" r:id="rId48"/>
    <p:sldId id="630" r:id="rId49"/>
    <p:sldId id="615" r:id="rId50"/>
    <p:sldId id="632" r:id="rId51"/>
    <p:sldId id="621" r:id="rId52"/>
    <p:sldId id="620" r:id="rId53"/>
    <p:sldId id="622" r:id="rId54"/>
    <p:sldId id="623" r:id="rId55"/>
    <p:sldId id="624" r:id="rId56"/>
    <p:sldId id="625" r:id="rId57"/>
    <p:sldId id="626" r:id="rId58"/>
    <p:sldId id="627" r:id="rId59"/>
    <p:sldId id="633" r:id="rId60"/>
    <p:sldId id="634" r:id="rId61"/>
    <p:sldId id="635" r:id="rId62"/>
    <p:sldId id="636" r:id="rId63"/>
    <p:sldId id="637" r:id="rId64"/>
    <p:sldId id="638" r:id="rId65"/>
    <p:sldId id="639" r:id="rId66"/>
    <p:sldId id="640" r:id="rId67"/>
    <p:sldId id="589" r:id="rId68"/>
    <p:sldId id="588" r:id="rId69"/>
  </p:sldIdLst>
  <p:sldSz cx="9144000" cy="5143500" type="screen16x9"/>
  <p:notesSz cx="9144000" cy="51435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houssain elhajjami" initials="le" lastIdx="2" clrIdx="0">
    <p:extLst>
      <p:ext uri="{19B8F6BF-5375-455C-9EA6-DF929625EA0E}">
        <p15:presenceInfo xmlns:p15="http://schemas.microsoft.com/office/powerpoint/2012/main" userId="lhoussain elhajjam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  <a:srgbClr val="0000FF"/>
    <a:srgbClr val="00FF00"/>
    <a:srgbClr val="00CC99"/>
    <a:srgbClr val="FF9900"/>
    <a:srgbClr val="00FFFF"/>
    <a:srgbClr val="FF9966"/>
    <a:srgbClr val="8064A2"/>
    <a:srgbClr val="33CCCC"/>
    <a:srgbClr val="A87D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Style léger 1 - Accentuation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E9639D4-E3E2-4D34-9284-5A2195B3D0D7}" styleName="Style clair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Style moyen 3 - Accentuation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6" autoAdjust="0"/>
    <p:restoredTop sz="80531" autoAdjust="0"/>
  </p:normalViewPr>
  <p:slideViewPr>
    <p:cSldViewPr>
      <p:cViewPr varScale="1">
        <p:scale>
          <a:sx n="91" d="100"/>
          <a:sy n="91" d="100"/>
        </p:scale>
        <p:origin x="528" y="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455BB1-077F-4953-B445-56E73AFDDD27}" type="datetimeFigureOut">
              <a:rPr lang="fr-FR" smtClean="0"/>
              <a:t>07/12/2024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A7ADD1-564E-426F-A644-664AEAE7088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1093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79590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3657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78100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19403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06954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22790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76075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19713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86998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90305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7252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53268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4318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99009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17185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99692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69881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29637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04126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17192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68314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05121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83718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48445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04477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67083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83027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425521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80638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16936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943153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100131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486425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428446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444077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577084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574458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42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180747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986001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44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357220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45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75589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46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700564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47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421453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48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961827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49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382154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50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953792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51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712695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52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561495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53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4575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54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966327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55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695119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56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575357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57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701774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58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039476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59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471056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60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816893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61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452441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62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8523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63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687750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64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768489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65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193581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66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579141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Mots de passe : </a:t>
            </a:r>
            <a:r>
              <a:rPr lang="fr-FR" dirty="0" err="1"/>
              <a:t>chapxcee@fstbm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67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464457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Mots de passe : </a:t>
            </a:r>
            <a:r>
              <a:rPr lang="fr-FR" dirty="0" err="1"/>
              <a:t>chapxcee@fstbm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68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996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4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4F82B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4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4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4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4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48777" y="1521459"/>
            <a:ext cx="5846444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2370" y="819403"/>
            <a:ext cx="8539258" cy="3155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4F82B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46282" y="4824469"/>
            <a:ext cx="415925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4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microsoft.com/office/2007/relationships/hdphoto" Target="../media/hdphoto2.wdp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0.png"/><Relationship Id="rId7" Type="http://schemas.openxmlformats.org/officeDocument/2006/relationships/image" Target="../media/image10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1.bin"/><Relationship Id="rId9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21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5.bin"/><Relationship Id="rId4" Type="http://schemas.microsoft.com/office/2007/relationships/hdphoto" Target="../media/hdphoto4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microsoft.com/office/2007/relationships/hdphoto" Target="../media/hdphoto5.wdp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7.png"/><Relationship Id="rId7" Type="http://schemas.microsoft.com/office/2007/relationships/hdphoto" Target="../media/hdphoto7.wdp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microsoft.com/office/2007/relationships/hdphoto" Target="../media/hdphoto6.wdp"/><Relationship Id="rId4" Type="http://schemas.openxmlformats.org/officeDocument/2006/relationships/image" Target="../media/image31.png"/><Relationship Id="rId9" Type="http://schemas.microsoft.com/office/2007/relationships/hdphoto" Target="../media/hdphoto8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9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0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1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2.wdp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3.wdp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jpeg"/><Relationship Id="rId4" Type="http://schemas.openxmlformats.org/officeDocument/2006/relationships/image" Target="../media/image40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43.w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4.wdp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46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5.wdp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5.wdp"/><Relationship Id="rId4" Type="http://schemas.openxmlformats.org/officeDocument/2006/relationships/image" Target="../media/image4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microsoft.com/office/2007/relationships/hdphoto" Target="../media/hdphoto15.wdp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6.wdp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7.wdp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8.wdp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63.wmf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70.wmf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w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69.wmf"/><Relationship Id="rId4" Type="http://schemas.openxmlformats.org/officeDocument/2006/relationships/image" Target="../media/image66.wmf"/><Relationship Id="rId9" Type="http://schemas.openxmlformats.org/officeDocument/2006/relationships/oleObject" Target="../embeddings/oleObject16.bin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wmf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74.wmf"/><Relationship Id="rId4" Type="http://schemas.openxmlformats.org/officeDocument/2006/relationships/image" Target="../media/image71.wmf"/><Relationship Id="rId9" Type="http://schemas.openxmlformats.org/officeDocument/2006/relationships/oleObject" Target="../embeddings/oleObject21.bin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-11655" y="485775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1"/>
                </a:lnTo>
              </a:path>
            </a:pathLst>
          </a:custGeom>
          <a:ln w="25400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6" name="object 6"/>
          <p:cNvGrpSpPr/>
          <p:nvPr/>
        </p:nvGrpSpPr>
        <p:grpSpPr>
          <a:xfrm>
            <a:off x="20881" y="1140531"/>
            <a:ext cx="9123119" cy="3285520"/>
            <a:chOff x="-44576" y="1100670"/>
            <a:chExt cx="9123119" cy="3285520"/>
          </a:xfrm>
        </p:grpSpPr>
        <p:sp>
          <p:nvSpPr>
            <p:cNvPr id="7" name="object 7"/>
            <p:cNvSpPr/>
            <p:nvPr/>
          </p:nvSpPr>
          <p:spPr>
            <a:xfrm>
              <a:off x="3063823" y="1100670"/>
              <a:ext cx="6014720" cy="72390"/>
            </a:xfrm>
            <a:custGeom>
              <a:avLst/>
              <a:gdLst/>
              <a:ahLst/>
              <a:cxnLst/>
              <a:rect l="l" t="t" r="r" b="b"/>
              <a:pathLst>
                <a:path w="6014720" h="72390">
                  <a:moveTo>
                    <a:pt x="5978231" y="0"/>
                  </a:moveTo>
                  <a:lnTo>
                    <a:pt x="35996" y="0"/>
                  </a:lnTo>
                  <a:lnTo>
                    <a:pt x="21985" y="2829"/>
                  </a:lnTo>
                  <a:lnTo>
                    <a:pt x="10543" y="10544"/>
                  </a:lnTo>
                  <a:lnTo>
                    <a:pt x="2828" y="21987"/>
                  </a:lnTo>
                  <a:lnTo>
                    <a:pt x="0" y="36000"/>
                  </a:lnTo>
                  <a:lnTo>
                    <a:pt x="2828" y="50013"/>
                  </a:lnTo>
                  <a:lnTo>
                    <a:pt x="10543" y="61456"/>
                  </a:lnTo>
                  <a:lnTo>
                    <a:pt x="21985" y="69171"/>
                  </a:lnTo>
                  <a:lnTo>
                    <a:pt x="35996" y="72000"/>
                  </a:lnTo>
                  <a:lnTo>
                    <a:pt x="5978231" y="72000"/>
                  </a:lnTo>
                  <a:lnTo>
                    <a:pt x="5992243" y="69171"/>
                  </a:lnTo>
                  <a:lnTo>
                    <a:pt x="6003685" y="61456"/>
                  </a:lnTo>
                  <a:lnTo>
                    <a:pt x="6011399" y="50013"/>
                  </a:lnTo>
                  <a:lnTo>
                    <a:pt x="6014228" y="36000"/>
                  </a:lnTo>
                  <a:lnTo>
                    <a:pt x="6011399" y="21987"/>
                  </a:lnTo>
                  <a:lnTo>
                    <a:pt x="6003685" y="10544"/>
                  </a:lnTo>
                  <a:lnTo>
                    <a:pt x="5992243" y="2829"/>
                  </a:lnTo>
                  <a:lnTo>
                    <a:pt x="5978231" y="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77943" y="4060054"/>
              <a:ext cx="326136" cy="32613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14297" y="4171433"/>
              <a:ext cx="6652895" cy="83185"/>
            </a:xfrm>
            <a:custGeom>
              <a:avLst/>
              <a:gdLst/>
              <a:ahLst/>
              <a:cxnLst/>
              <a:rect l="l" t="t" r="r" b="b"/>
              <a:pathLst>
                <a:path w="6652895" h="83185">
                  <a:moveTo>
                    <a:pt x="3013265" y="46761"/>
                  </a:moveTo>
                  <a:lnTo>
                    <a:pt x="3010433" y="32753"/>
                  </a:lnTo>
                  <a:lnTo>
                    <a:pt x="3002724" y="21310"/>
                  </a:lnTo>
                  <a:lnTo>
                    <a:pt x="2991281" y="13589"/>
                  </a:lnTo>
                  <a:lnTo>
                    <a:pt x="2977261" y="10756"/>
                  </a:lnTo>
                  <a:lnTo>
                    <a:pt x="36004" y="10756"/>
                  </a:lnTo>
                  <a:lnTo>
                    <a:pt x="21996" y="13589"/>
                  </a:lnTo>
                  <a:lnTo>
                    <a:pt x="10553" y="21310"/>
                  </a:lnTo>
                  <a:lnTo>
                    <a:pt x="2832" y="32753"/>
                  </a:lnTo>
                  <a:lnTo>
                    <a:pt x="0" y="46761"/>
                  </a:lnTo>
                  <a:lnTo>
                    <a:pt x="2832" y="60769"/>
                  </a:lnTo>
                  <a:lnTo>
                    <a:pt x="10553" y="72224"/>
                  </a:lnTo>
                  <a:lnTo>
                    <a:pt x="21996" y="79933"/>
                  </a:lnTo>
                  <a:lnTo>
                    <a:pt x="36004" y="82765"/>
                  </a:lnTo>
                  <a:lnTo>
                    <a:pt x="2977261" y="82765"/>
                  </a:lnTo>
                  <a:lnTo>
                    <a:pt x="2991269" y="79933"/>
                  </a:lnTo>
                  <a:lnTo>
                    <a:pt x="3002711" y="72224"/>
                  </a:lnTo>
                  <a:lnTo>
                    <a:pt x="3010433" y="60782"/>
                  </a:lnTo>
                  <a:lnTo>
                    <a:pt x="3013265" y="46761"/>
                  </a:lnTo>
                  <a:close/>
                </a:path>
                <a:path w="6652895" h="83185">
                  <a:moveTo>
                    <a:pt x="6652679" y="36004"/>
                  </a:moveTo>
                  <a:lnTo>
                    <a:pt x="6649847" y="21983"/>
                  </a:lnTo>
                  <a:lnTo>
                    <a:pt x="6642138" y="10541"/>
                  </a:lnTo>
                  <a:lnTo>
                    <a:pt x="6630695" y="2832"/>
                  </a:lnTo>
                  <a:lnTo>
                    <a:pt x="6616674" y="0"/>
                  </a:lnTo>
                  <a:lnTo>
                    <a:pt x="3675418" y="0"/>
                  </a:lnTo>
                  <a:lnTo>
                    <a:pt x="3661410" y="2832"/>
                  </a:lnTo>
                  <a:lnTo>
                    <a:pt x="3649967" y="10541"/>
                  </a:lnTo>
                  <a:lnTo>
                    <a:pt x="3642245" y="21983"/>
                  </a:lnTo>
                  <a:lnTo>
                    <a:pt x="3639413" y="36004"/>
                  </a:lnTo>
                  <a:lnTo>
                    <a:pt x="3642245" y="50012"/>
                  </a:lnTo>
                  <a:lnTo>
                    <a:pt x="3649967" y="61455"/>
                  </a:lnTo>
                  <a:lnTo>
                    <a:pt x="3661410" y="69176"/>
                  </a:lnTo>
                  <a:lnTo>
                    <a:pt x="3675418" y="71996"/>
                  </a:lnTo>
                  <a:lnTo>
                    <a:pt x="6616674" y="72009"/>
                  </a:lnTo>
                  <a:lnTo>
                    <a:pt x="6630695" y="69176"/>
                  </a:lnTo>
                  <a:lnTo>
                    <a:pt x="6642138" y="61455"/>
                  </a:lnTo>
                  <a:lnTo>
                    <a:pt x="6649847" y="50012"/>
                  </a:lnTo>
                  <a:lnTo>
                    <a:pt x="6652679" y="36004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11"/>
            <p:cNvSpPr/>
            <p:nvPr/>
          </p:nvSpPr>
          <p:spPr>
            <a:xfrm>
              <a:off x="3052168" y="3642513"/>
              <a:ext cx="6014720" cy="72390"/>
            </a:xfrm>
            <a:custGeom>
              <a:avLst/>
              <a:gdLst/>
              <a:ahLst/>
              <a:cxnLst/>
              <a:rect l="l" t="t" r="r" b="b"/>
              <a:pathLst>
                <a:path w="6014720" h="72389">
                  <a:moveTo>
                    <a:pt x="5978231" y="0"/>
                  </a:moveTo>
                  <a:lnTo>
                    <a:pt x="35996" y="0"/>
                  </a:lnTo>
                  <a:lnTo>
                    <a:pt x="21985" y="2829"/>
                  </a:lnTo>
                  <a:lnTo>
                    <a:pt x="10543" y="10544"/>
                  </a:lnTo>
                  <a:lnTo>
                    <a:pt x="2828" y="21986"/>
                  </a:lnTo>
                  <a:lnTo>
                    <a:pt x="0" y="35999"/>
                  </a:lnTo>
                  <a:lnTo>
                    <a:pt x="2828" y="50012"/>
                  </a:lnTo>
                  <a:lnTo>
                    <a:pt x="10543" y="61455"/>
                  </a:lnTo>
                  <a:lnTo>
                    <a:pt x="21985" y="69171"/>
                  </a:lnTo>
                  <a:lnTo>
                    <a:pt x="35996" y="72000"/>
                  </a:lnTo>
                  <a:lnTo>
                    <a:pt x="5978231" y="72000"/>
                  </a:lnTo>
                  <a:lnTo>
                    <a:pt x="5992243" y="69171"/>
                  </a:lnTo>
                  <a:lnTo>
                    <a:pt x="6003685" y="61455"/>
                  </a:lnTo>
                  <a:lnTo>
                    <a:pt x="6011399" y="50012"/>
                  </a:lnTo>
                  <a:lnTo>
                    <a:pt x="6014228" y="35999"/>
                  </a:lnTo>
                  <a:lnTo>
                    <a:pt x="6011399" y="21986"/>
                  </a:lnTo>
                  <a:lnTo>
                    <a:pt x="6003685" y="10544"/>
                  </a:lnTo>
                  <a:lnTo>
                    <a:pt x="5992243" y="2829"/>
                  </a:lnTo>
                  <a:lnTo>
                    <a:pt x="5978231" y="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8" name="object 7">
              <a:extLst>
                <a:ext uri="{FF2B5EF4-FFF2-40B4-BE49-F238E27FC236}">
                  <a16:creationId xmlns:a16="http://schemas.microsoft.com/office/drawing/2014/main" id="{637AACC0-9889-C865-E520-5EA6CBFCB6BF}"/>
                </a:ext>
              </a:extLst>
            </p:cNvPr>
            <p:cNvSpPr/>
            <p:nvPr/>
          </p:nvSpPr>
          <p:spPr>
            <a:xfrm>
              <a:off x="-44576" y="2778617"/>
              <a:ext cx="6014720" cy="72390"/>
            </a:xfrm>
            <a:custGeom>
              <a:avLst/>
              <a:gdLst/>
              <a:ahLst/>
              <a:cxnLst/>
              <a:rect l="l" t="t" r="r" b="b"/>
              <a:pathLst>
                <a:path w="6014720" h="72390">
                  <a:moveTo>
                    <a:pt x="5978231" y="0"/>
                  </a:moveTo>
                  <a:lnTo>
                    <a:pt x="35996" y="0"/>
                  </a:lnTo>
                  <a:lnTo>
                    <a:pt x="21985" y="2829"/>
                  </a:lnTo>
                  <a:lnTo>
                    <a:pt x="10543" y="10544"/>
                  </a:lnTo>
                  <a:lnTo>
                    <a:pt x="2828" y="21987"/>
                  </a:lnTo>
                  <a:lnTo>
                    <a:pt x="0" y="36000"/>
                  </a:lnTo>
                  <a:lnTo>
                    <a:pt x="2828" y="50013"/>
                  </a:lnTo>
                  <a:lnTo>
                    <a:pt x="10543" y="61456"/>
                  </a:lnTo>
                  <a:lnTo>
                    <a:pt x="21985" y="69171"/>
                  </a:lnTo>
                  <a:lnTo>
                    <a:pt x="35996" y="72000"/>
                  </a:lnTo>
                  <a:lnTo>
                    <a:pt x="5978231" y="72000"/>
                  </a:lnTo>
                  <a:lnTo>
                    <a:pt x="5992243" y="69171"/>
                  </a:lnTo>
                  <a:lnTo>
                    <a:pt x="6003685" y="61456"/>
                  </a:lnTo>
                  <a:lnTo>
                    <a:pt x="6011399" y="50013"/>
                  </a:lnTo>
                  <a:lnTo>
                    <a:pt x="6014228" y="36000"/>
                  </a:lnTo>
                  <a:lnTo>
                    <a:pt x="6011399" y="21987"/>
                  </a:lnTo>
                  <a:lnTo>
                    <a:pt x="6003685" y="10544"/>
                  </a:lnTo>
                  <a:lnTo>
                    <a:pt x="5992243" y="2829"/>
                  </a:lnTo>
                  <a:lnTo>
                    <a:pt x="5978231" y="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179754" y="3116920"/>
            <a:ext cx="7239000" cy="351378"/>
          </a:xfrm>
          <a:prstGeom prst="rect">
            <a:avLst/>
          </a:prstGeom>
          <a:solidFill>
            <a:srgbClr val="00FF00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fr-FR" sz="2200" b="1" dirty="0">
                <a:latin typeface="Bookman Old Style" panose="02050604050505020204" pitchFamily="18" charset="0"/>
                <a:ea typeface="+mj-ea"/>
                <a:cs typeface="Arial"/>
              </a:rPr>
              <a:t>CIRCUITS ELECTRIQUES ET ELECTRONIQUES</a:t>
            </a:r>
            <a:endParaRPr sz="2200" b="1" dirty="0">
              <a:latin typeface="Bookman Old Style" panose="02050604050505020204" pitchFamily="18" charset="0"/>
              <a:ea typeface="+mj-ea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97425" y="4452465"/>
            <a:ext cx="6746774" cy="6848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fr-FR" sz="1400" b="1" spc="-5" dirty="0">
              <a:solidFill>
                <a:schemeClr val="bg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fr-FR" sz="1400" b="1" spc="-5" dirty="0">
              <a:solidFill>
                <a:schemeClr val="bg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400" b="1" spc="-5" dirty="0">
                <a:solidFill>
                  <a:schemeClr val="bg1"/>
                </a:solidFill>
                <a:latin typeface="Bookman Old Style" panose="02050604050505020204" pitchFamily="18" charset="0"/>
                <a:cs typeface="Arial"/>
              </a:rPr>
              <a:t>                                                           </a:t>
            </a:r>
            <a:r>
              <a:rPr sz="1400" b="1" spc="-5" dirty="0" err="1">
                <a:latin typeface="Bookman Old Style" panose="02050604050505020204" pitchFamily="18" charset="0"/>
                <a:cs typeface="Calibri"/>
              </a:rPr>
              <a:t>Année</a:t>
            </a:r>
            <a:r>
              <a:rPr sz="1400" b="1" spc="-10" dirty="0">
                <a:latin typeface="Bookman Old Style" panose="02050604050505020204" pitchFamily="18" charset="0"/>
                <a:cs typeface="Calibri"/>
              </a:rPr>
              <a:t> universitaire:</a:t>
            </a:r>
            <a:r>
              <a:rPr sz="1400" b="1" spc="310" dirty="0">
                <a:latin typeface="Bookman Old Style" panose="02050604050505020204" pitchFamily="18" charset="0"/>
                <a:cs typeface="Calibri"/>
              </a:rPr>
              <a:t> </a:t>
            </a:r>
            <a:r>
              <a:rPr sz="1400" b="1" spc="-5" dirty="0">
                <a:latin typeface="Bookman Old Style" panose="02050604050505020204" pitchFamily="18" charset="0"/>
                <a:cs typeface="Calibri"/>
              </a:rPr>
              <a:t>202</a:t>
            </a:r>
            <a:r>
              <a:rPr lang="fr-FR" sz="1400" b="1" spc="-5" dirty="0">
                <a:latin typeface="Bookman Old Style" panose="02050604050505020204" pitchFamily="18" charset="0"/>
                <a:cs typeface="Calibri"/>
              </a:rPr>
              <a:t>4</a:t>
            </a:r>
            <a:r>
              <a:rPr sz="1400" b="1" spc="-5" dirty="0">
                <a:latin typeface="Bookman Old Style" panose="02050604050505020204" pitchFamily="18" charset="0"/>
                <a:cs typeface="Calibri"/>
              </a:rPr>
              <a:t>/202</a:t>
            </a:r>
            <a:r>
              <a:rPr lang="fr-FR" sz="1400" b="1" spc="-5" dirty="0">
                <a:latin typeface="Bookman Old Style" panose="02050604050505020204" pitchFamily="18" charset="0"/>
                <a:cs typeface="Calibri"/>
              </a:rPr>
              <a:t>5</a:t>
            </a:r>
            <a:endParaRPr sz="1400" dirty="0">
              <a:latin typeface="Bookman Old Style" panose="02050604050505020204" pitchFamily="18" charset="0"/>
              <a:cs typeface="Calibri"/>
            </a:endParaRPr>
          </a:p>
        </p:txBody>
      </p:sp>
      <p:sp>
        <p:nvSpPr>
          <p:cNvPr id="21" name="object 17"/>
          <p:cNvSpPr/>
          <p:nvPr/>
        </p:nvSpPr>
        <p:spPr>
          <a:xfrm>
            <a:off x="6629400" y="338955"/>
            <a:ext cx="2481438" cy="93344"/>
          </a:xfrm>
          <a:custGeom>
            <a:avLst/>
            <a:gdLst/>
            <a:ahLst/>
            <a:cxnLst/>
            <a:rect l="l" t="t" r="r" b="b"/>
            <a:pathLst>
              <a:path w="2707640" h="93345">
                <a:moveTo>
                  <a:pt x="2660455" y="0"/>
                </a:moveTo>
                <a:lnTo>
                  <a:pt x="46624" y="0"/>
                </a:lnTo>
                <a:lnTo>
                  <a:pt x="28476" y="3664"/>
                </a:lnTo>
                <a:lnTo>
                  <a:pt x="13656" y="13656"/>
                </a:lnTo>
                <a:lnTo>
                  <a:pt x="3664" y="28476"/>
                </a:lnTo>
                <a:lnTo>
                  <a:pt x="0" y="46622"/>
                </a:lnTo>
                <a:lnTo>
                  <a:pt x="3664" y="64771"/>
                </a:lnTo>
                <a:lnTo>
                  <a:pt x="13656" y="79592"/>
                </a:lnTo>
                <a:lnTo>
                  <a:pt x="28476" y="89584"/>
                </a:lnTo>
                <a:lnTo>
                  <a:pt x="46624" y="93248"/>
                </a:lnTo>
                <a:lnTo>
                  <a:pt x="2660451" y="93252"/>
                </a:lnTo>
                <a:lnTo>
                  <a:pt x="2678600" y="89588"/>
                </a:lnTo>
                <a:lnTo>
                  <a:pt x="2693420" y="79595"/>
                </a:lnTo>
                <a:lnTo>
                  <a:pt x="2703413" y="64774"/>
                </a:lnTo>
                <a:lnTo>
                  <a:pt x="2707079" y="46625"/>
                </a:lnTo>
                <a:lnTo>
                  <a:pt x="2703415" y="28476"/>
                </a:lnTo>
                <a:lnTo>
                  <a:pt x="2693424" y="13656"/>
                </a:lnTo>
                <a:lnTo>
                  <a:pt x="2678603" y="3664"/>
                </a:lnTo>
                <a:lnTo>
                  <a:pt x="2660455" y="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28" name="Image 2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778" y="4469"/>
            <a:ext cx="3700570" cy="867770"/>
          </a:xfrm>
          <a:prstGeom prst="rect">
            <a:avLst/>
          </a:prstGeom>
        </p:spPr>
      </p:pic>
      <p:sp>
        <p:nvSpPr>
          <p:cNvPr id="29" name="object 17"/>
          <p:cNvSpPr/>
          <p:nvPr/>
        </p:nvSpPr>
        <p:spPr>
          <a:xfrm>
            <a:off x="33162" y="338955"/>
            <a:ext cx="2481438" cy="93344"/>
          </a:xfrm>
          <a:custGeom>
            <a:avLst/>
            <a:gdLst/>
            <a:ahLst/>
            <a:cxnLst/>
            <a:rect l="l" t="t" r="r" b="b"/>
            <a:pathLst>
              <a:path w="2707640" h="93345">
                <a:moveTo>
                  <a:pt x="2660455" y="0"/>
                </a:moveTo>
                <a:lnTo>
                  <a:pt x="46624" y="0"/>
                </a:lnTo>
                <a:lnTo>
                  <a:pt x="28476" y="3664"/>
                </a:lnTo>
                <a:lnTo>
                  <a:pt x="13656" y="13656"/>
                </a:lnTo>
                <a:lnTo>
                  <a:pt x="3664" y="28476"/>
                </a:lnTo>
                <a:lnTo>
                  <a:pt x="0" y="46622"/>
                </a:lnTo>
                <a:lnTo>
                  <a:pt x="3664" y="64771"/>
                </a:lnTo>
                <a:lnTo>
                  <a:pt x="13656" y="79592"/>
                </a:lnTo>
                <a:lnTo>
                  <a:pt x="28476" y="89584"/>
                </a:lnTo>
                <a:lnTo>
                  <a:pt x="46624" y="93248"/>
                </a:lnTo>
                <a:lnTo>
                  <a:pt x="2660451" y="93252"/>
                </a:lnTo>
                <a:lnTo>
                  <a:pt x="2678600" y="89588"/>
                </a:lnTo>
                <a:lnTo>
                  <a:pt x="2693420" y="79595"/>
                </a:lnTo>
                <a:lnTo>
                  <a:pt x="2703413" y="64774"/>
                </a:lnTo>
                <a:lnTo>
                  <a:pt x="2707079" y="46625"/>
                </a:lnTo>
                <a:lnTo>
                  <a:pt x="2703415" y="28476"/>
                </a:lnTo>
                <a:lnTo>
                  <a:pt x="2693424" y="13656"/>
                </a:lnTo>
                <a:lnTo>
                  <a:pt x="2678603" y="3664"/>
                </a:lnTo>
                <a:lnTo>
                  <a:pt x="2660455" y="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F5B5D0-6D27-C0B7-6123-6808C4258A70}"/>
              </a:ext>
            </a:extLst>
          </p:cNvPr>
          <p:cNvSpPr txBox="1"/>
          <p:nvPr/>
        </p:nvSpPr>
        <p:spPr>
          <a:xfrm>
            <a:off x="3365802" y="4324699"/>
            <a:ext cx="260746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>
                <a:latin typeface="Bookman Old Style" panose="02050604050505020204" pitchFamily="18" charset="0"/>
                <a:cs typeface="Arial"/>
              </a:rPr>
              <a:t>Pr.</a:t>
            </a:r>
            <a:r>
              <a:rPr lang="fr-FR" sz="1800" b="1" spc="-35" dirty="0">
                <a:latin typeface="Bookman Old Style" panose="02050604050505020204" pitchFamily="18" charset="0"/>
                <a:cs typeface="Arial"/>
              </a:rPr>
              <a:t> </a:t>
            </a:r>
            <a:r>
              <a:rPr lang="fr-FR" sz="1800" b="1" spc="-5" dirty="0">
                <a:latin typeface="Bookman Old Style" panose="02050604050505020204" pitchFamily="18" charset="0"/>
                <a:cs typeface="Arial"/>
              </a:rPr>
              <a:t>L. EL HAJJAMI</a:t>
            </a:r>
          </a:p>
          <a:p>
            <a:r>
              <a:rPr lang="fr-FR" sz="1000" b="1" spc="-5" dirty="0">
                <a:latin typeface="Bookman Old Style" panose="02050604050505020204" pitchFamily="18" charset="0"/>
                <a:cs typeface="Arial"/>
              </a:rPr>
              <a:t>      l.elhajjami@usms.ac.ma</a:t>
            </a:r>
            <a:endParaRPr lang="fr-FR" sz="1000" b="1" dirty="0">
              <a:latin typeface="Bookman Old Style" panose="02050604050505020204" pitchFamily="18" charset="0"/>
              <a:cs typeface="Arial"/>
            </a:endParaRPr>
          </a:p>
          <a:p>
            <a:endParaRPr lang="fr-F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B76610-C08F-972D-F25A-69D8D7B02FE0}"/>
              </a:ext>
            </a:extLst>
          </p:cNvPr>
          <p:cNvSpPr txBox="1"/>
          <p:nvPr/>
        </p:nvSpPr>
        <p:spPr>
          <a:xfrm>
            <a:off x="1227455" y="1243967"/>
            <a:ext cx="6705599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 b="1" u="sng" dirty="0">
                <a:latin typeface="Bookman Old Style" panose="02050604050505020204" pitchFamily="18" charset="0"/>
                <a:ea typeface="+mj-ea"/>
                <a:cs typeface="Arial"/>
              </a:rPr>
              <a:t>DEUST :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fr-FR" sz="1200" b="1" dirty="0">
                <a:latin typeface="Bookman Old Style" panose="02050604050505020204" pitchFamily="18" charset="0"/>
                <a:ea typeface="+mj-ea"/>
                <a:cs typeface="Arial"/>
              </a:rPr>
              <a:t>Génie Electrique et Systèmes Embarqués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fr-FR" sz="1200" dirty="0">
                <a:latin typeface="Bookman Old Style" panose="02050604050505020204" pitchFamily="18" charset="0"/>
                <a:ea typeface="+mj-ea"/>
                <a:cs typeface="Arial"/>
              </a:rPr>
              <a:t>Génie Physique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fr-FR" sz="1200" b="1" dirty="0">
                <a:latin typeface="Bookman Old Style" panose="02050604050505020204" pitchFamily="18" charset="0"/>
                <a:ea typeface="+mj-ea"/>
                <a:cs typeface="Arial"/>
              </a:rPr>
              <a:t>Génie Mécanique et Systèmes Industriels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fr-FR" sz="1200" dirty="0">
                <a:latin typeface="Bookman Old Style" panose="02050604050505020204" pitchFamily="18" charset="0"/>
                <a:ea typeface="+mj-ea"/>
                <a:cs typeface="Arial"/>
              </a:rPr>
              <a:t>Génie Informatique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fr-FR" sz="1200" b="1" dirty="0">
                <a:latin typeface="Bookman Old Style" panose="02050604050505020204" pitchFamily="18" charset="0"/>
                <a:ea typeface="+mj-ea"/>
                <a:cs typeface="Arial"/>
              </a:rPr>
              <a:t>Génie Chimique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fr-FR" sz="1200" dirty="0">
                <a:latin typeface="Bookman Old Style" panose="02050604050505020204" pitchFamily="18" charset="0"/>
                <a:ea typeface="+mj-ea"/>
                <a:cs typeface="Arial"/>
              </a:rPr>
              <a:t>Mathématiques et Sciences des Données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83271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1"/>
                </a:lnTo>
              </a:path>
            </a:pathLst>
          </a:custGeom>
          <a:ln w="25400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60497" y="172196"/>
            <a:ext cx="93414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Bookman Old Style" panose="02050604050505020204" pitchFamily="18" charset="0"/>
                <a:cs typeface="Arial" panose="020B0604020202020204" pitchFamily="34" charset="0"/>
              </a:rPr>
              <a:t>Pl</a:t>
            </a:r>
            <a:r>
              <a:rPr spc="5" dirty="0">
                <a:latin typeface="Bookman Old Style" panose="02050604050505020204" pitchFamily="18" charset="0"/>
                <a:cs typeface="Arial" panose="020B0604020202020204" pitchFamily="34" charset="0"/>
              </a:rPr>
              <a:t>a</a:t>
            </a:r>
            <a:r>
              <a:rPr dirty="0">
                <a:latin typeface="Bookman Old Style" panose="02050604050505020204" pitchFamily="18" charset="0"/>
                <a:cs typeface="Arial" panose="020B0604020202020204" pitchFamily="34" charset="0"/>
              </a:rPr>
              <a:t>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875130" y="356345"/>
            <a:ext cx="7149465" cy="156845"/>
            <a:chOff x="1875130" y="356345"/>
            <a:chExt cx="7149465" cy="156845"/>
          </a:xfrm>
          <a:solidFill>
            <a:srgbClr val="00FF00"/>
          </a:solidFill>
        </p:grpSpPr>
        <p:sp>
          <p:nvSpPr>
            <p:cNvPr id="5" name="object 5"/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82778" y="356345"/>
            <a:ext cx="697230" cy="156845"/>
            <a:chOff x="82778" y="356345"/>
            <a:chExt cx="697230" cy="156845"/>
          </a:xfrm>
          <a:solidFill>
            <a:srgbClr val="00FF00"/>
          </a:solidFill>
        </p:grpSpPr>
        <p:sp>
          <p:nvSpPr>
            <p:cNvPr id="8" name="object 8"/>
            <p:cNvSpPr/>
            <p:nvPr/>
          </p:nvSpPr>
          <p:spPr>
            <a:xfrm>
              <a:off x="89128" y="362695"/>
              <a:ext cx="684530" cy="144145"/>
            </a:xfrm>
            <a:custGeom>
              <a:avLst/>
              <a:gdLst/>
              <a:ahLst/>
              <a:cxnLst/>
              <a:rect l="l" t="t" r="r" b="b"/>
              <a:pathLst>
                <a:path w="684530" h="144145">
                  <a:moveTo>
                    <a:pt x="611999" y="0"/>
                  </a:moveTo>
                  <a:lnTo>
                    <a:pt x="72000" y="0"/>
                  </a:lnTo>
                  <a:lnTo>
                    <a:pt x="43974" y="5658"/>
                  </a:lnTo>
                  <a:lnTo>
                    <a:pt x="21088" y="21088"/>
                  </a:lnTo>
                  <a:lnTo>
                    <a:pt x="5658" y="43974"/>
                  </a:lnTo>
                  <a:lnTo>
                    <a:pt x="0" y="71998"/>
                  </a:lnTo>
                  <a:lnTo>
                    <a:pt x="5658" y="100024"/>
                  </a:lnTo>
                  <a:lnTo>
                    <a:pt x="21088" y="122910"/>
                  </a:lnTo>
                  <a:lnTo>
                    <a:pt x="43974" y="138340"/>
                  </a:lnTo>
                  <a:lnTo>
                    <a:pt x="72000" y="143998"/>
                  </a:lnTo>
                  <a:lnTo>
                    <a:pt x="611998" y="144000"/>
                  </a:lnTo>
                  <a:lnTo>
                    <a:pt x="640024" y="138342"/>
                  </a:lnTo>
                  <a:lnTo>
                    <a:pt x="662910" y="122912"/>
                  </a:lnTo>
                  <a:lnTo>
                    <a:pt x="678340" y="100025"/>
                  </a:lnTo>
                  <a:lnTo>
                    <a:pt x="683999" y="72000"/>
                  </a:lnTo>
                  <a:lnTo>
                    <a:pt x="678341" y="43974"/>
                  </a:lnTo>
                  <a:lnTo>
                    <a:pt x="662911" y="21088"/>
                  </a:lnTo>
                  <a:lnTo>
                    <a:pt x="640025" y="5658"/>
                  </a:lnTo>
                  <a:lnTo>
                    <a:pt x="611999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" name="object 9"/>
            <p:cNvSpPr/>
            <p:nvPr/>
          </p:nvSpPr>
          <p:spPr>
            <a:xfrm>
              <a:off x="89128" y="362695"/>
              <a:ext cx="684530" cy="144145"/>
            </a:xfrm>
            <a:custGeom>
              <a:avLst/>
              <a:gdLst/>
              <a:ahLst/>
              <a:cxnLst/>
              <a:rect l="l" t="t" r="r" b="b"/>
              <a:pathLst>
                <a:path w="684530" h="144145">
                  <a:moveTo>
                    <a:pt x="0" y="72000"/>
                  </a:moveTo>
                  <a:lnTo>
                    <a:pt x="5658" y="43974"/>
                  </a:lnTo>
                  <a:lnTo>
                    <a:pt x="21088" y="21088"/>
                  </a:lnTo>
                  <a:lnTo>
                    <a:pt x="43974" y="5658"/>
                  </a:lnTo>
                  <a:lnTo>
                    <a:pt x="72000" y="0"/>
                  </a:lnTo>
                  <a:lnTo>
                    <a:pt x="611999" y="0"/>
                  </a:lnTo>
                  <a:lnTo>
                    <a:pt x="640025" y="5658"/>
                  </a:lnTo>
                  <a:lnTo>
                    <a:pt x="662911" y="21088"/>
                  </a:lnTo>
                  <a:lnTo>
                    <a:pt x="678341" y="43974"/>
                  </a:lnTo>
                  <a:lnTo>
                    <a:pt x="683999" y="72000"/>
                  </a:lnTo>
                  <a:lnTo>
                    <a:pt x="678340" y="100026"/>
                  </a:lnTo>
                  <a:lnTo>
                    <a:pt x="662910" y="122912"/>
                  </a:lnTo>
                  <a:lnTo>
                    <a:pt x="640024" y="138342"/>
                  </a:lnTo>
                  <a:lnTo>
                    <a:pt x="611998" y="144000"/>
                  </a:lnTo>
                  <a:lnTo>
                    <a:pt x="72000" y="144000"/>
                  </a:lnTo>
                  <a:lnTo>
                    <a:pt x="43974" y="138341"/>
                  </a:lnTo>
                  <a:lnTo>
                    <a:pt x="21088" y="122911"/>
                  </a:lnTo>
                  <a:lnTo>
                    <a:pt x="5658" y="100025"/>
                  </a:lnTo>
                  <a:lnTo>
                    <a:pt x="0" y="71999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23284" y="888851"/>
            <a:ext cx="82455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4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</a:rPr>
              <a:t>Chapitre 1 : </a:t>
            </a:r>
            <a:r>
              <a:rPr lang="fr-FR" sz="20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</a:rPr>
              <a:t>Électrocinétique</a:t>
            </a:r>
            <a:endParaRPr sz="2000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74323" y="721958"/>
            <a:ext cx="500380" cy="802640"/>
            <a:chOff x="482739" y="1033930"/>
            <a:chExt cx="500380" cy="802640"/>
          </a:xfrm>
          <a:solidFill>
            <a:schemeClr val="tx2">
              <a:lumMod val="50000"/>
            </a:schemeClr>
          </a:solidFill>
        </p:grpSpPr>
        <p:sp>
          <p:nvSpPr>
            <p:cNvPr id="12" name="object 12"/>
            <p:cNvSpPr/>
            <p:nvPr/>
          </p:nvSpPr>
          <p:spPr>
            <a:xfrm>
              <a:off x="491437" y="1072565"/>
              <a:ext cx="487045" cy="759460"/>
            </a:xfrm>
            <a:custGeom>
              <a:avLst/>
              <a:gdLst/>
              <a:ahLst/>
              <a:cxnLst/>
              <a:rect l="l" t="t" r="r" b="b"/>
              <a:pathLst>
                <a:path w="487044" h="759460">
                  <a:moveTo>
                    <a:pt x="138049" y="0"/>
                  </a:moveTo>
                  <a:lnTo>
                    <a:pt x="149948" y="30211"/>
                  </a:lnTo>
                  <a:lnTo>
                    <a:pt x="155121" y="65214"/>
                  </a:lnTo>
                  <a:lnTo>
                    <a:pt x="154425" y="104347"/>
                  </a:lnTo>
                  <a:lnTo>
                    <a:pt x="148716" y="146947"/>
                  </a:lnTo>
                  <a:lnTo>
                    <a:pt x="138850" y="192353"/>
                  </a:lnTo>
                  <a:lnTo>
                    <a:pt x="125683" y="239903"/>
                  </a:lnTo>
                  <a:lnTo>
                    <a:pt x="110074" y="288935"/>
                  </a:lnTo>
                  <a:lnTo>
                    <a:pt x="92877" y="338787"/>
                  </a:lnTo>
                  <a:lnTo>
                    <a:pt x="57147" y="438303"/>
                  </a:lnTo>
                  <a:lnTo>
                    <a:pt x="40327" y="486644"/>
                  </a:lnTo>
                  <a:lnTo>
                    <a:pt x="25346" y="533157"/>
                  </a:lnTo>
                  <a:lnTo>
                    <a:pt x="13060" y="577181"/>
                  </a:lnTo>
                  <a:lnTo>
                    <a:pt x="4326" y="618053"/>
                  </a:lnTo>
                  <a:lnTo>
                    <a:pt x="0" y="655113"/>
                  </a:lnTo>
                  <a:lnTo>
                    <a:pt x="938" y="687697"/>
                  </a:lnTo>
                  <a:lnTo>
                    <a:pt x="7997" y="715144"/>
                  </a:lnTo>
                  <a:lnTo>
                    <a:pt x="22033" y="736793"/>
                  </a:lnTo>
                  <a:lnTo>
                    <a:pt x="45876" y="753137"/>
                  </a:lnTo>
                  <a:lnTo>
                    <a:pt x="73288" y="759115"/>
                  </a:lnTo>
                  <a:lnTo>
                    <a:pt x="100535" y="754671"/>
                  </a:lnTo>
                  <a:lnTo>
                    <a:pt x="123879" y="739749"/>
                  </a:lnTo>
                  <a:lnTo>
                    <a:pt x="476946" y="386135"/>
                  </a:lnTo>
                  <a:lnTo>
                    <a:pt x="484086" y="375261"/>
                  </a:lnTo>
                  <a:lnTo>
                    <a:pt x="486466" y="362779"/>
                  </a:lnTo>
                  <a:lnTo>
                    <a:pt x="484086" y="350296"/>
                  </a:lnTo>
                  <a:lnTo>
                    <a:pt x="476946" y="339421"/>
                  </a:lnTo>
                  <a:lnTo>
                    <a:pt x="13804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/>
            <p:cNvSpPr/>
            <p:nvPr/>
          </p:nvSpPr>
          <p:spPr>
            <a:xfrm>
              <a:off x="491437" y="1072565"/>
              <a:ext cx="487045" cy="759460"/>
            </a:xfrm>
            <a:custGeom>
              <a:avLst/>
              <a:gdLst/>
              <a:ahLst/>
              <a:cxnLst/>
              <a:rect l="l" t="t" r="r" b="b"/>
              <a:pathLst>
                <a:path w="487044" h="759460">
                  <a:moveTo>
                    <a:pt x="138049" y="0"/>
                  </a:moveTo>
                  <a:lnTo>
                    <a:pt x="149948" y="30211"/>
                  </a:lnTo>
                  <a:lnTo>
                    <a:pt x="155121" y="65214"/>
                  </a:lnTo>
                  <a:lnTo>
                    <a:pt x="154425" y="104347"/>
                  </a:lnTo>
                  <a:lnTo>
                    <a:pt x="148716" y="146947"/>
                  </a:lnTo>
                  <a:lnTo>
                    <a:pt x="138850" y="192353"/>
                  </a:lnTo>
                  <a:lnTo>
                    <a:pt x="125683" y="239903"/>
                  </a:lnTo>
                  <a:lnTo>
                    <a:pt x="110074" y="288935"/>
                  </a:lnTo>
                  <a:lnTo>
                    <a:pt x="92877" y="338787"/>
                  </a:lnTo>
                  <a:lnTo>
                    <a:pt x="74949" y="388797"/>
                  </a:lnTo>
                  <a:lnTo>
                    <a:pt x="57147" y="438303"/>
                  </a:lnTo>
                  <a:lnTo>
                    <a:pt x="40327" y="486644"/>
                  </a:lnTo>
                  <a:lnTo>
                    <a:pt x="25346" y="533157"/>
                  </a:lnTo>
                  <a:lnTo>
                    <a:pt x="13060" y="577181"/>
                  </a:lnTo>
                  <a:lnTo>
                    <a:pt x="4326" y="618053"/>
                  </a:lnTo>
                  <a:lnTo>
                    <a:pt x="0" y="655113"/>
                  </a:lnTo>
                  <a:lnTo>
                    <a:pt x="938" y="687697"/>
                  </a:lnTo>
                  <a:lnTo>
                    <a:pt x="7997" y="715144"/>
                  </a:lnTo>
                  <a:lnTo>
                    <a:pt x="22033" y="736793"/>
                  </a:lnTo>
                  <a:lnTo>
                    <a:pt x="45876" y="753137"/>
                  </a:lnTo>
                  <a:lnTo>
                    <a:pt x="73289" y="759115"/>
                  </a:lnTo>
                  <a:lnTo>
                    <a:pt x="100535" y="754671"/>
                  </a:lnTo>
                  <a:lnTo>
                    <a:pt x="123879" y="739749"/>
                  </a:lnTo>
                  <a:lnTo>
                    <a:pt x="476946" y="386136"/>
                  </a:lnTo>
                  <a:lnTo>
                    <a:pt x="484086" y="375261"/>
                  </a:lnTo>
                  <a:lnTo>
                    <a:pt x="486466" y="362778"/>
                  </a:lnTo>
                  <a:lnTo>
                    <a:pt x="484086" y="350296"/>
                  </a:lnTo>
                  <a:lnTo>
                    <a:pt x="476946" y="339421"/>
                  </a:lnTo>
                  <a:lnTo>
                    <a:pt x="138049" y="0"/>
                  </a:lnTo>
                </a:path>
              </a:pathLst>
            </a:custGeom>
            <a:grpFill/>
            <a:ln w="9525">
              <a:solidFill>
                <a:srgbClr val="254061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" name="object 14"/>
            <p:cNvSpPr/>
            <p:nvPr/>
          </p:nvSpPr>
          <p:spPr>
            <a:xfrm>
              <a:off x="487501" y="1038692"/>
              <a:ext cx="490855" cy="758825"/>
            </a:xfrm>
            <a:custGeom>
              <a:avLst/>
              <a:gdLst/>
              <a:ahLst/>
              <a:cxnLst/>
              <a:rect l="l" t="t" r="r" b="b"/>
              <a:pathLst>
                <a:path w="490855" h="758825">
                  <a:moveTo>
                    <a:pt x="77462" y="0"/>
                  </a:moveTo>
                  <a:lnTo>
                    <a:pt x="25988" y="22240"/>
                  </a:lnTo>
                  <a:lnTo>
                    <a:pt x="1880" y="72863"/>
                  </a:lnTo>
                  <a:lnTo>
                    <a:pt x="0" y="105919"/>
                  </a:lnTo>
                  <a:lnTo>
                    <a:pt x="3709" y="143282"/>
                  </a:lnTo>
                  <a:lnTo>
                    <a:pt x="12116" y="184309"/>
                  </a:lnTo>
                  <a:lnTo>
                    <a:pt x="24326" y="228357"/>
                  </a:lnTo>
                  <a:lnTo>
                    <a:pt x="39446" y="274785"/>
                  </a:lnTo>
                  <a:lnTo>
                    <a:pt x="56582" y="322948"/>
                  </a:lnTo>
                  <a:lnTo>
                    <a:pt x="93332" y="421916"/>
                  </a:lnTo>
                  <a:lnTo>
                    <a:pt x="111157" y="471434"/>
                  </a:lnTo>
                  <a:lnTo>
                    <a:pt x="127425" y="520119"/>
                  </a:lnTo>
                  <a:lnTo>
                    <a:pt x="141242" y="567328"/>
                  </a:lnTo>
                  <a:lnTo>
                    <a:pt x="151715" y="612419"/>
                  </a:lnTo>
                  <a:lnTo>
                    <a:pt x="157950" y="654749"/>
                  </a:lnTo>
                  <a:lnTo>
                    <a:pt x="159054" y="693675"/>
                  </a:lnTo>
                  <a:lnTo>
                    <a:pt x="154133" y="728556"/>
                  </a:lnTo>
                  <a:lnTo>
                    <a:pt x="142294" y="758748"/>
                  </a:lnTo>
                  <a:lnTo>
                    <a:pt x="480882" y="419753"/>
                  </a:lnTo>
                  <a:lnTo>
                    <a:pt x="488022" y="408832"/>
                  </a:lnTo>
                  <a:lnTo>
                    <a:pt x="490402" y="396220"/>
                  </a:lnTo>
                  <a:lnTo>
                    <a:pt x="488022" y="383553"/>
                  </a:lnTo>
                  <a:lnTo>
                    <a:pt x="480882" y="372465"/>
                  </a:lnTo>
                  <a:lnTo>
                    <a:pt x="127830" y="18988"/>
                  </a:lnTo>
                  <a:lnTo>
                    <a:pt x="104569" y="4202"/>
                  </a:lnTo>
                  <a:lnTo>
                    <a:pt x="77462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15"/>
            <p:cNvSpPr/>
            <p:nvPr/>
          </p:nvSpPr>
          <p:spPr>
            <a:xfrm>
              <a:off x="487501" y="1038692"/>
              <a:ext cx="490855" cy="758825"/>
            </a:xfrm>
            <a:custGeom>
              <a:avLst/>
              <a:gdLst/>
              <a:ahLst/>
              <a:cxnLst/>
              <a:rect l="l" t="t" r="r" b="b"/>
              <a:pathLst>
                <a:path w="490855" h="758825">
                  <a:moveTo>
                    <a:pt x="142294" y="758749"/>
                  </a:moveTo>
                  <a:lnTo>
                    <a:pt x="154133" y="728556"/>
                  </a:lnTo>
                  <a:lnTo>
                    <a:pt x="159054" y="693676"/>
                  </a:lnTo>
                  <a:lnTo>
                    <a:pt x="157950" y="654749"/>
                  </a:lnTo>
                  <a:lnTo>
                    <a:pt x="151715" y="612420"/>
                  </a:lnTo>
                  <a:lnTo>
                    <a:pt x="141242" y="567329"/>
                  </a:lnTo>
                  <a:lnTo>
                    <a:pt x="127425" y="520120"/>
                  </a:lnTo>
                  <a:lnTo>
                    <a:pt x="111157" y="471435"/>
                  </a:lnTo>
                  <a:lnTo>
                    <a:pt x="93332" y="421916"/>
                  </a:lnTo>
                  <a:lnTo>
                    <a:pt x="74842" y="372207"/>
                  </a:lnTo>
                  <a:lnTo>
                    <a:pt x="56582" y="322949"/>
                  </a:lnTo>
                  <a:lnTo>
                    <a:pt x="39446" y="274785"/>
                  </a:lnTo>
                  <a:lnTo>
                    <a:pt x="24326" y="228358"/>
                  </a:lnTo>
                  <a:lnTo>
                    <a:pt x="12116" y="184310"/>
                  </a:lnTo>
                  <a:lnTo>
                    <a:pt x="3709" y="143283"/>
                  </a:lnTo>
                  <a:lnTo>
                    <a:pt x="0" y="105920"/>
                  </a:lnTo>
                  <a:lnTo>
                    <a:pt x="1880" y="72863"/>
                  </a:lnTo>
                  <a:lnTo>
                    <a:pt x="10245" y="44756"/>
                  </a:lnTo>
                  <a:lnTo>
                    <a:pt x="25988" y="22240"/>
                  </a:lnTo>
                  <a:lnTo>
                    <a:pt x="50078" y="6104"/>
                  </a:lnTo>
                  <a:lnTo>
                    <a:pt x="77462" y="0"/>
                  </a:lnTo>
                  <a:lnTo>
                    <a:pt x="104569" y="4202"/>
                  </a:lnTo>
                  <a:lnTo>
                    <a:pt x="127830" y="18989"/>
                  </a:lnTo>
                  <a:lnTo>
                    <a:pt x="480882" y="372466"/>
                  </a:lnTo>
                  <a:lnTo>
                    <a:pt x="488022" y="383553"/>
                  </a:lnTo>
                  <a:lnTo>
                    <a:pt x="490402" y="396220"/>
                  </a:lnTo>
                  <a:lnTo>
                    <a:pt x="488022" y="408832"/>
                  </a:lnTo>
                  <a:lnTo>
                    <a:pt x="480882" y="419753"/>
                  </a:lnTo>
                  <a:lnTo>
                    <a:pt x="142294" y="758749"/>
                  </a:lnTo>
                  <a:close/>
                </a:path>
              </a:pathLst>
            </a:custGeom>
            <a:grpFill/>
            <a:ln w="9525">
              <a:solidFill>
                <a:srgbClr val="254061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06125" y="846775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chemeClr val="bg1"/>
                </a:solidFill>
                <a:latin typeface="Arial"/>
                <a:cs typeface="Arial"/>
              </a:rPr>
              <a:t>1</a:t>
            </a:r>
            <a:endParaRPr sz="28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76190" y="1751328"/>
            <a:ext cx="500380" cy="802640"/>
            <a:chOff x="458377" y="2058221"/>
            <a:chExt cx="500380" cy="802640"/>
          </a:xfrm>
          <a:solidFill>
            <a:srgbClr val="0000FF"/>
          </a:solidFill>
        </p:grpSpPr>
        <p:sp>
          <p:nvSpPr>
            <p:cNvPr id="18" name="object 18"/>
            <p:cNvSpPr/>
            <p:nvPr/>
          </p:nvSpPr>
          <p:spPr>
            <a:xfrm>
              <a:off x="467075" y="2096858"/>
              <a:ext cx="487045" cy="759460"/>
            </a:xfrm>
            <a:custGeom>
              <a:avLst/>
              <a:gdLst/>
              <a:ahLst/>
              <a:cxnLst/>
              <a:rect l="l" t="t" r="r" b="b"/>
              <a:pathLst>
                <a:path w="487044" h="759460">
                  <a:moveTo>
                    <a:pt x="138049" y="0"/>
                  </a:moveTo>
                  <a:lnTo>
                    <a:pt x="149948" y="30211"/>
                  </a:lnTo>
                  <a:lnTo>
                    <a:pt x="155121" y="65214"/>
                  </a:lnTo>
                  <a:lnTo>
                    <a:pt x="154425" y="104347"/>
                  </a:lnTo>
                  <a:lnTo>
                    <a:pt x="148716" y="146947"/>
                  </a:lnTo>
                  <a:lnTo>
                    <a:pt x="138850" y="192353"/>
                  </a:lnTo>
                  <a:lnTo>
                    <a:pt x="125683" y="239903"/>
                  </a:lnTo>
                  <a:lnTo>
                    <a:pt x="110074" y="288935"/>
                  </a:lnTo>
                  <a:lnTo>
                    <a:pt x="92877" y="338787"/>
                  </a:lnTo>
                  <a:lnTo>
                    <a:pt x="57147" y="438303"/>
                  </a:lnTo>
                  <a:lnTo>
                    <a:pt x="40327" y="486644"/>
                  </a:lnTo>
                  <a:lnTo>
                    <a:pt x="25346" y="533157"/>
                  </a:lnTo>
                  <a:lnTo>
                    <a:pt x="13060" y="577181"/>
                  </a:lnTo>
                  <a:lnTo>
                    <a:pt x="4326" y="618053"/>
                  </a:lnTo>
                  <a:lnTo>
                    <a:pt x="0" y="655113"/>
                  </a:lnTo>
                  <a:lnTo>
                    <a:pt x="938" y="687697"/>
                  </a:lnTo>
                  <a:lnTo>
                    <a:pt x="7997" y="715144"/>
                  </a:lnTo>
                  <a:lnTo>
                    <a:pt x="22033" y="736793"/>
                  </a:lnTo>
                  <a:lnTo>
                    <a:pt x="45876" y="753137"/>
                  </a:lnTo>
                  <a:lnTo>
                    <a:pt x="73289" y="759115"/>
                  </a:lnTo>
                  <a:lnTo>
                    <a:pt x="100535" y="754671"/>
                  </a:lnTo>
                  <a:lnTo>
                    <a:pt x="123879" y="739749"/>
                  </a:lnTo>
                  <a:lnTo>
                    <a:pt x="476946" y="386135"/>
                  </a:lnTo>
                  <a:lnTo>
                    <a:pt x="484086" y="375261"/>
                  </a:lnTo>
                  <a:lnTo>
                    <a:pt x="486466" y="362779"/>
                  </a:lnTo>
                  <a:lnTo>
                    <a:pt x="484086" y="350296"/>
                  </a:lnTo>
                  <a:lnTo>
                    <a:pt x="476946" y="339421"/>
                  </a:lnTo>
                  <a:lnTo>
                    <a:pt x="13804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9" name="object 19"/>
            <p:cNvSpPr/>
            <p:nvPr/>
          </p:nvSpPr>
          <p:spPr>
            <a:xfrm>
              <a:off x="467075" y="2096858"/>
              <a:ext cx="487045" cy="759460"/>
            </a:xfrm>
            <a:custGeom>
              <a:avLst/>
              <a:gdLst/>
              <a:ahLst/>
              <a:cxnLst/>
              <a:rect l="l" t="t" r="r" b="b"/>
              <a:pathLst>
                <a:path w="487044" h="759460">
                  <a:moveTo>
                    <a:pt x="138049" y="0"/>
                  </a:moveTo>
                  <a:lnTo>
                    <a:pt x="149948" y="30211"/>
                  </a:lnTo>
                  <a:lnTo>
                    <a:pt x="155121" y="65214"/>
                  </a:lnTo>
                  <a:lnTo>
                    <a:pt x="154425" y="104347"/>
                  </a:lnTo>
                  <a:lnTo>
                    <a:pt x="148716" y="146947"/>
                  </a:lnTo>
                  <a:lnTo>
                    <a:pt x="138850" y="192353"/>
                  </a:lnTo>
                  <a:lnTo>
                    <a:pt x="125683" y="239903"/>
                  </a:lnTo>
                  <a:lnTo>
                    <a:pt x="110074" y="288935"/>
                  </a:lnTo>
                  <a:lnTo>
                    <a:pt x="92877" y="338787"/>
                  </a:lnTo>
                  <a:lnTo>
                    <a:pt x="74949" y="388797"/>
                  </a:lnTo>
                  <a:lnTo>
                    <a:pt x="57147" y="438303"/>
                  </a:lnTo>
                  <a:lnTo>
                    <a:pt x="40327" y="486644"/>
                  </a:lnTo>
                  <a:lnTo>
                    <a:pt x="25346" y="533157"/>
                  </a:lnTo>
                  <a:lnTo>
                    <a:pt x="13060" y="577181"/>
                  </a:lnTo>
                  <a:lnTo>
                    <a:pt x="4326" y="618053"/>
                  </a:lnTo>
                  <a:lnTo>
                    <a:pt x="0" y="655113"/>
                  </a:lnTo>
                  <a:lnTo>
                    <a:pt x="938" y="687697"/>
                  </a:lnTo>
                  <a:lnTo>
                    <a:pt x="7997" y="715144"/>
                  </a:lnTo>
                  <a:lnTo>
                    <a:pt x="22033" y="736793"/>
                  </a:lnTo>
                  <a:lnTo>
                    <a:pt x="45876" y="753137"/>
                  </a:lnTo>
                  <a:lnTo>
                    <a:pt x="73289" y="759115"/>
                  </a:lnTo>
                  <a:lnTo>
                    <a:pt x="100535" y="754671"/>
                  </a:lnTo>
                  <a:lnTo>
                    <a:pt x="123879" y="739749"/>
                  </a:lnTo>
                  <a:lnTo>
                    <a:pt x="476946" y="386136"/>
                  </a:lnTo>
                  <a:lnTo>
                    <a:pt x="484086" y="375261"/>
                  </a:lnTo>
                  <a:lnTo>
                    <a:pt x="486466" y="362778"/>
                  </a:lnTo>
                  <a:lnTo>
                    <a:pt x="484086" y="350296"/>
                  </a:lnTo>
                  <a:lnTo>
                    <a:pt x="476946" y="339421"/>
                  </a:lnTo>
                  <a:lnTo>
                    <a:pt x="138049" y="0"/>
                  </a:lnTo>
                </a:path>
              </a:pathLst>
            </a:custGeom>
            <a:grpFill/>
            <a:ln w="9525">
              <a:solidFill>
                <a:srgbClr val="403152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0" name="object 20"/>
            <p:cNvSpPr/>
            <p:nvPr/>
          </p:nvSpPr>
          <p:spPr>
            <a:xfrm>
              <a:off x="463139" y="2062984"/>
              <a:ext cx="490855" cy="758825"/>
            </a:xfrm>
            <a:custGeom>
              <a:avLst/>
              <a:gdLst/>
              <a:ahLst/>
              <a:cxnLst/>
              <a:rect l="l" t="t" r="r" b="b"/>
              <a:pathLst>
                <a:path w="490855" h="758825">
                  <a:moveTo>
                    <a:pt x="77462" y="0"/>
                  </a:moveTo>
                  <a:lnTo>
                    <a:pt x="25988" y="22239"/>
                  </a:lnTo>
                  <a:lnTo>
                    <a:pt x="1880" y="72863"/>
                  </a:lnTo>
                  <a:lnTo>
                    <a:pt x="0" y="105920"/>
                  </a:lnTo>
                  <a:lnTo>
                    <a:pt x="3709" y="143283"/>
                  </a:lnTo>
                  <a:lnTo>
                    <a:pt x="12116" y="184310"/>
                  </a:lnTo>
                  <a:lnTo>
                    <a:pt x="24326" y="228358"/>
                  </a:lnTo>
                  <a:lnTo>
                    <a:pt x="39446" y="274786"/>
                  </a:lnTo>
                  <a:lnTo>
                    <a:pt x="56583" y="322949"/>
                  </a:lnTo>
                  <a:lnTo>
                    <a:pt x="93332" y="421917"/>
                  </a:lnTo>
                  <a:lnTo>
                    <a:pt x="111157" y="471435"/>
                  </a:lnTo>
                  <a:lnTo>
                    <a:pt x="127425" y="520120"/>
                  </a:lnTo>
                  <a:lnTo>
                    <a:pt x="141242" y="567329"/>
                  </a:lnTo>
                  <a:lnTo>
                    <a:pt x="151715" y="612420"/>
                  </a:lnTo>
                  <a:lnTo>
                    <a:pt x="157950" y="654750"/>
                  </a:lnTo>
                  <a:lnTo>
                    <a:pt x="159054" y="693676"/>
                  </a:lnTo>
                  <a:lnTo>
                    <a:pt x="154133" y="728557"/>
                  </a:lnTo>
                  <a:lnTo>
                    <a:pt x="142294" y="758749"/>
                  </a:lnTo>
                  <a:lnTo>
                    <a:pt x="480882" y="419753"/>
                  </a:lnTo>
                  <a:lnTo>
                    <a:pt x="488022" y="408832"/>
                  </a:lnTo>
                  <a:lnTo>
                    <a:pt x="490402" y="396221"/>
                  </a:lnTo>
                  <a:lnTo>
                    <a:pt x="488022" y="383554"/>
                  </a:lnTo>
                  <a:lnTo>
                    <a:pt x="480882" y="372466"/>
                  </a:lnTo>
                  <a:lnTo>
                    <a:pt x="127830" y="18989"/>
                  </a:lnTo>
                  <a:lnTo>
                    <a:pt x="104569" y="4202"/>
                  </a:lnTo>
                  <a:lnTo>
                    <a:pt x="77462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1" name="object 21"/>
            <p:cNvSpPr/>
            <p:nvPr/>
          </p:nvSpPr>
          <p:spPr>
            <a:xfrm>
              <a:off x="463139" y="2062984"/>
              <a:ext cx="490855" cy="758825"/>
            </a:xfrm>
            <a:custGeom>
              <a:avLst/>
              <a:gdLst/>
              <a:ahLst/>
              <a:cxnLst/>
              <a:rect l="l" t="t" r="r" b="b"/>
              <a:pathLst>
                <a:path w="490855" h="758825">
                  <a:moveTo>
                    <a:pt x="142294" y="758749"/>
                  </a:moveTo>
                  <a:lnTo>
                    <a:pt x="154133" y="728556"/>
                  </a:lnTo>
                  <a:lnTo>
                    <a:pt x="159054" y="693676"/>
                  </a:lnTo>
                  <a:lnTo>
                    <a:pt x="157950" y="654749"/>
                  </a:lnTo>
                  <a:lnTo>
                    <a:pt x="151715" y="612420"/>
                  </a:lnTo>
                  <a:lnTo>
                    <a:pt x="141242" y="567329"/>
                  </a:lnTo>
                  <a:lnTo>
                    <a:pt x="127425" y="520120"/>
                  </a:lnTo>
                  <a:lnTo>
                    <a:pt x="111157" y="471435"/>
                  </a:lnTo>
                  <a:lnTo>
                    <a:pt x="93332" y="421916"/>
                  </a:lnTo>
                  <a:lnTo>
                    <a:pt x="74842" y="372207"/>
                  </a:lnTo>
                  <a:lnTo>
                    <a:pt x="56582" y="322949"/>
                  </a:lnTo>
                  <a:lnTo>
                    <a:pt x="39446" y="274785"/>
                  </a:lnTo>
                  <a:lnTo>
                    <a:pt x="24326" y="228358"/>
                  </a:lnTo>
                  <a:lnTo>
                    <a:pt x="12116" y="184310"/>
                  </a:lnTo>
                  <a:lnTo>
                    <a:pt x="3709" y="143283"/>
                  </a:lnTo>
                  <a:lnTo>
                    <a:pt x="0" y="105920"/>
                  </a:lnTo>
                  <a:lnTo>
                    <a:pt x="1880" y="72863"/>
                  </a:lnTo>
                  <a:lnTo>
                    <a:pt x="10245" y="44756"/>
                  </a:lnTo>
                  <a:lnTo>
                    <a:pt x="25988" y="22240"/>
                  </a:lnTo>
                  <a:lnTo>
                    <a:pt x="50078" y="6104"/>
                  </a:lnTo>
                  <a:lnTo>
                    <a:pt x="77462" y="0"/>
                  </a:lnTo>
                  <a:lnTo>
                    <a:pt x="104569" y="4202"/>
                  </a:lnTo>
                  <a:lnTo>
                    <a:pt x="127830" y="18989"/>
                  </a:lnTo>
                  <a:lnTo>
                    <a:pt x="480882" y="372466"/>
                  </a:lnTo>
                  <a:lnTo>
                    <a:pt x="488022" y="383553"/>
                  </a:lnTo>
                  <a:lnTo>
                    <a:pt x="490402" y="396220"/>
                  </a:lnTo>
                  <a:lnTo>
                    <a:pt x="488022" y="408832"/>
                  </a:lnTo>
                  <a:lnTo>
                    <a:pt x="480882" y="419753"/>
                  </a:lnTo>
                  <a:lnTo>
                    <a:pt x="142294" y="758749"/>
                  </a:lnTo>
                  <a:close/>
                </a:path>
              </a:pathLst>
            </a:custGeom>
            <a:grpFill/>
            <a:ln w="9525">
              <a:solidFill>
                <a:srgbClr val="403152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12752" y="1872244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chemeClr val="bg1"/>
                </a:solidFill>
                <a:latin typeface="Arial"/>
                <a:cs typeface="Arial"/>
              </a:rPr>
              <a:t>2</a:t>
            </a:r>
            <a:endParaRPr sz="28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4486" y="2810728"/>
            <a:ext cx="500380" cy="802640"/>
            <a:chOff x="482739" y="3001513"/>
            <a:chExt cx="500380" cy="802640"/>
          </a:xfrm>
          <a:solidFill>
            <a:schemeClr val="accent2"/>
          </a:solidFill>
        </p:grpSpPr>
        <p:sp>
          <p:nvSpPr>
            <p:cNvPr id="26" name="object 26"/>
            <p:cNvSpPr/>
            <p:nvPr/>
          </p:nvSpPr>
          <p:spPr>
            <a:xfrm>
              <a:off x="491437" y="3040150"/>
              <a:ext cx="487045" cy="759460"/>
            </a:xfrm>
            <a:custGeom>
              <a:avLst/>
              <a:gdLst/>
              <a:ahLst/>
              <a:cxnLst/>
              <a:rect l="l" t="t" r="r" b="b"/>
              <a:pathLst>
                <a:path w="487044" h="759460">
                  <a:moveTo>
                    <a:pt x="138049" y="0"/>
                  </a:moveTo>
                  <a:lnTo>
                    <a:pt x="149948" y="30211"/>
                  </a:lnTo>
                  <a:lnTo>
                    <a:pt x="155121" y="65214"/>
                  </a:lnTo>
                  <a:lnTo>
                    <a:pt x="154425" y="104347"/>
                  </a:lnTo>
                  <a:lnTo>
                    <a:pt x="148716" y="146947"/>
                  </a:lnTo>
                  <a:lnTo>
                    <a:pt x="138850" y="192353"/>
                  </a:lnTo>
                  <a:lnTo>
                    <a:pt x="125683" y="239903"/>
                  </a:lnTo>
                  <a:lnTo>
                    <a:pt x="110074" y="288935"/>
                  </a:lnTo>
                  <a:lnTo>
                    <a:pt x="92877" y="338787"/>
                  </a:lnTo>
                  <a:lnTo>
                    <a:pt x="57147" y="438303"/>
                  </a:lnTo>
                  <a:lnTo>
                    <a:pt x="40327" y="486644"/>
                  </a:lnTo>
                  <a:lnTo>
                    <a:pt x="25346" y="533157"/>
                  </a:lnTo>
                  <a:lnTo>
                    <a:pt x="13060" y="577181"/>
                  </a:lnTo>
                  <a:lnTo>
                    <a:pt x="4326" y="618053"/>
                  </a:lnTo>
                  <a:lnTo>
                    <a:pt x="0" y="655113"/>
                  </a:lnTo>
                  <a:lnTo>
                    <a:pt x="938" y="687697"/>
                  </a:lnTo>
                  <a:lnTo>
                    <a:pt x="7997" y="715144"/>
                  </a:lnTo>
                  <a:lnTo>
                    <a:pt x="22033" y="736793"/>
                  </a:lnTo>
                  <a:lnTo>
                    <a:pt x="45876" y="753137"/>
                  </a:lnTo>
                  <a:lnTo>
                    <a:pt x="73288" y="759115"/>
                  </a:lnTo>
                  <a:lnTo>
                    <a:pt x="100535" y="754671"/>
                  </a:lnTo>
                  <a:lnTo>
                    <a:pt x="123879" y="739749"/>
                  </a:lnTo>
                  <a:lnTo>
                    <a:pt x="476946" y="386135"/>
                  </a:lnTo>
                  <a:lnTo>
                    <a:pt x="484086" y="375261"/>
                  </a:lnTo>
                  <a:lnTo>
                    <a:pt x="486466" y="362779"/>
                  </a:lnTo>
                  <a:lnTo>
                    <a:pt x="484086" y="350296"/>
                  </a:lnTo>
                  <a:lnTo>
                    <a:pt x="476946" y="339421"/>
                  </a:lnTo>
                  <a:lnTo>
                    <a:pt x="13804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7" name="object 27"/>
            <p:cNvSpPr/>
            <p:nvPr/>
          </p:nvSpPr>
          <p:spPr>
            <a:xfrm>
              <a:off x="491437" y="3040150"/>
              <a:ext cx="487045" cy="759460"/>
            </a:xfrm>
            <a:custGeom>
              <a:avLst/>
              <a:gdLst/>
              <a:ahLst/>
              <a:cxnLst/>
              <a:rect l="l" t="t" r="r" b="b"/>
              <a:pathLst>
                <a:path w="487044" h="759460">
                  <a:moveTo>
                    <a:pt x="138049" y="0"/>
                  </a:moveTo>
                  <a:lnTo>
                    <a:pt x="149948" y="30211"/>
                  </a:lnTo>
                  <a:lnTo>
                    <a:pt x="155121" y="65214"/>
                  </a:lnTo>
                  <a:lnTo>
                    <a:pt x="154425" y="104347"/>
                  </a:lnTo>
                  <a:lnTo>
                    <a:pt x="148716" y="146947"/>
                  </a:lnTo>
                  <a:lnTo>
                    <a:pt x="138850" y="192353"/>
                  </a:lnTo>
                  <a:lnTo>
                    <a:pt x="125683" y="239903"/>
                  </a:lnTo>
                  <a:lnTo>
                    <a:pt x="110074" y="288935"/>
                  </a:lnTo>
                  <a:lnTo>
                    <a:pt x="92877" y="338787"/>
                  </a:lnTo>
                  <a:lnTo>
                    <a:pt x="74949" y="388797"/>
                  </a:lnTo>
                  <a:lnTo>
                    <a:pt x="57147" y="438303"/>
                  </a:lnTo>
                  <a:lnTo>
                    <a:pt x="40327" y="486644"/>
                  </a:lnTo>
                  <a:lnTo>
                    <a:pt x="25346" y="533157"/>
                  </a:lnTo>
                  <a:lnTo>
                    <a:pt x="13060" y="577181"/>
                  </a:lnTo>
                  <a:lnTo>
                    <a:pt x="4326" y="618053"/>
                  </a:lnTo>
                  <a:lnTo>
                    <a:pt x="0" y="655113"/>
                  </a:lnTo>
                  <a:lnTo>
                    <a:pt x="938" y="687697"/>
                  </a:lnTo>
                  <a:lnTo>
                    <a:pt x="7997" y="715144"/>
                  </a:lnTo>
                  <a:lnTo>
                    <a:pt x="22033" y="736793"/>
                  </a:lnTo>
                  <a:lnTo>
                    <a:pt x="45876" y="753137"/>
                  </a:lnTo>
                  <a:lnTo>
                    <a:pt x="73289" y="759115"/>
                  </a:lnTo>
                  <a:lnTo>
                    <a:pt x="100535" y="754671"/>
                  </a:lnTo>
                  <a:lnTo>
                    <a:pt x="123879" y="739749"/>
                  </a:lnTo>
                  <a:lnTo>
                    <a:pt x="476946" y="386136"/>
                  </a:lnTo>
                  <a:lnTo>
                    <a:pt x="484086" y="375261"/>
                  </a:lnTo>
                  <a:lnTo>
                    <a:pt x="486466" y="362778"/>
                  </a:lnTo>
                  <a:lnTo>
                    <a:pt x="484086" y="350296"/>
                  </a:lnTo>
                  <a:lnTo>
                    <a:pt x="476946" y="339421"/>
                  </a:lnTo>
                  <a:lnTo>
                    <a:pt x="138049" y="0"/>
                  </a:lnTo>
                </a:path>
              </a:pathLst>
            </a:custGeom>
            <a:grpFill/>
            <a:ln w="9525">
              <a:solidFill>
                <a:srgbClr val="215968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8" name="object 28"/>
            <p:cNvSpPr/>
            <p:nvPr/>
          </p:nvSpPr>
          <p:spPr>
            <a:xfrm>
              <a:off x="487501" y="3006275"/>
              <a:ext cx="490855" cy="758825"/>
            </a:xfrm>
            <a:custGeom>
              <a:avLst/>
              <a:gdLst/>
              <a:ahLst/>
              <a:cxnLst/>
              <a:rect l="l" t="t" r="r" b="b"/>
              <a:pathLst>
                <a:path w="490855" h="758825">
                  <a:moveTo>
                    <a:pt x="77462" y="0"/>
                  </a:moveTo>
                  <a:lnTo>
                    <a:pt x="25988" y="22240"/>
                  </a:lnTo>
                  <a:lnTo>
                    <a:pt x="1880" y="72863"/>
                  </a:lnTo>
                  <a:lnTo>
                    <a:pt x="0" y="105920"/>
                  </a:lnTo>
                  <a:lnTo>
                    <a:pt x="3709" y="143283"/>
                  </a:lnTo>
                  <a:lnTo>
                    <a:pt x="12116" y="184310"/>
                  </a:lnTo>
                  <a:lnTo>
                    <a:pt x="24326" y="228358"/>
                  </a:lnTo>
                  <a:lnTo>
                    <a:pt x="39446" y="274786"/>
                  </a:lnTo>
                  <a:lnTo>
                    <a:pt x="56582" y="322949"/>
                  </a:lnTo>
                  <a:lnTo>
                    <a:pt x="93332" y="421917"/>
                  </a:lnTo>
                  <a:lnTo>
                    <a:pt x="111157" y="471435"/>
                  </a:lnTo>
                  <a:lnTo>
                    <a:pt x="127425" y="520120"/>
                  </a:lnTo>
                  <a:lnTo>
                    <a:pt x="141242" y="567329"/>
                  </a:lnTo>
                  <a:lnTo>
                    <a:pt x="151715" y="612420"/>
                  </a:lnTo>
                  <a:lnTo>
                    <a:pt x="157950" y="654749"/>
                  </a:lnTo>
                  <a:lnTo>
                    <a:pt x="159054" y="693676"/>
                  </a:lnTo>
                  <a:lnTo>
                    <a:pt x="154133" y="728556"/>
                  </a:lnTo>
                  <a:lnTo>
                    <a:pt x="142294" y="758748"/>
                  </a:lnTo>
                  <a:lnTo>
                    <a:pt x="480882" y="419753"/>
                  </a:lnTo>
                  <a:lnTo>
                    <a:pt x="488022" y="408832"/>
                  </a:lnTo>
                  <a:lnTo>
                    <a:pt x="490402" y="396220"/>
                  </a:lnTo>
                  <a:lnTo>
                    <a:pt x="488022" y="383554"/>
                  </a:lnTo>
                  <a:lnTo>
                    <a:pt x="480882" y="372466"/>
                  </a:lnTo>
                  <a:lnTo>
                    <a:pt x="127830" y="18988"/>
                  </a:lnTo>
                  <a:lnTo>
                    <a:pt x="104569" y="4202"/>
                  </a:lnTo>
                  <a:lnTo>
                    <a:pt x="77462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9" name="object 29"/>
            <p:cNvSpPr/>
            <p:nvPr/>
          </p:nvSpPr>
          <p:spPr>
            <a:xfrm>
              <a:off x="487501" y="3006275"/>
              <a:ext cx="490855" cy="758825"/>
            </a:xfrm>
            <a:custGeom>
              <a:avLst/>
              <a:gdLst/>
              <a:ahLst/>
              <a:cxnLst/>
              <a:rect l="l" t="t" r="r" b="b"/>
              <a:pathLst>
                <a:path w="490855" h="758825">
                  <a:moveTo>
                    <a:pt x="142294" y="758749"/>
                  </a:moveTo>
                  <a:lnTo>
                    <a:pt x="154133" y="728556"/>
                  </a:lnTo>
                  <a:lnTo>
                    <a:pt x="159054" y="693676"/>
                  </a:lnTo>
                  <a:lnTo>
                    <a:pt x="157950" y="654749"/>
                  </a:lnTo>
                  <a:lnTo>
                    <a:pt x="151715" y="612420"/>
                  </a:lnTo>
                  <a:lnTo>
                    <a:pt x="141242" y="567329"/>
                  </a:lnTo>
                  <a:lnTo>
                    <a:pt x="127425" y="520120"/>
                  </a:lnTo>
                  <a:lnTo>
                    <a:pt x="111157" y="471435"/>
                  </a:lnTo>
                  <a:lnTo>
                    <a:pt x="93332" y="421916"/>
                  </a:lnTo>
                  <a:lnTo>
                    <a:pt x="74842" y="372207"/>
                  </a:lnTo>
                  <a:lnTo>
                    <a:pt x="56582" y="322949"/>
                  </a:lnTo>
                  <a:lnTo>
                    <a:pt x="39446" y="274785"/>
                  </a:lnTo>
                  <a:lnTo>
                    <a:pt x="24326" y="228358"/>
                  </a:lnTo>
                  <a:lnTo>
                    <a:pt x="12116" y="184310"/>
                  </a:lnTo>
                  <a:lnTo>
                    <a:pt x="3709" y="143283"/>
                  </a:lnTo>
                  <a:lnTo>
                    <a:pt x="0" y="105920"/>
                  </a:lnTo>
                  <a:lnTo>
                    <a:pt x="1880" y="72863"/>
                  </a:lnTo>
                  <a:lnTo>
                    <a:pt x="10245" y="44756"/>
                  </a:lnTo>
                  <a:lnTo>
                    <a:pt x="25988" y="22240"/>
                  </a:lnTo>
                  <a:lnTo>
                    <a:pt x="50078" y="6104"/>
                  </a:lnTo>
                  <a:lnTo>
                    <a:pt x="77462" y="0"/>
                  </a:lnTo>
                  <a:lnTo>
                    <a:pt x="104569" y="4202"/>
                  </a:lnTo>
                  <a:lnTo>
                    <a:pt x="127830" y="18989"/>
                  </a:lnTo>
                  <a:lnTo>
                    <a:pt x="480882" y="372466"/>
                  </a:lnTo>
                  <a:lnTo>
                    <a:pt x="488022" y="383553"/>
                  </a:lnTo>
                  <a:lnTo>
                    <a:pt x="490402" y="396220"/>
                  </a:lnTo>
                  <a:lnTo>
                    <a:pt x="488022" y="408832"/>
                  </a:lnTo>
                  <a:lnTo>
                    <a:pt x="480882" y="419753"/>
                  </a:lnTo>
                  <a:lnTo>
                    <a:pt x="142294" y="758749"/>
                  </a:lnTo>
                  <a:close/>
                </a:path>
              </a:pathLst>
            </a:custGeom>
            <a:grpFill/>
            <a:ln w="9525">
              <a:solidFill>
                <a:srgbClr val="254061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12752" y="2967159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chemeClr val="bg1"/>
                </a:solidFill>
                <a:latin typeface="Arial"/>
                <a:cs typeface="Arial"/>
              </a:rPr>
              <a:t>3</a:t>
            </a:r>
            <a:endParaRPr sz="28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59321" y="3817654"/>
            <a:ext cx="500380" cy="802640"/>
            <a:chOff x="482739" y="3962348"/>
            <a:chExt cx="500380" cy="802640"/>
          </a:xfrm>
          <a:solidFill>
            <a:srgbClr val="92D050"/>
          </a:solidFill>
        </p:grpSpPr>
        <p:sp>
          <p:nvSpPr>
            <p:cNvPr id="33" name="object 33"/>
            <p:cNvSpPr/>
            <p:nvPr/>
          </p:nvSpPr>
          <p:spPr>
            <a:xfrm>
              <a:off x="491437" y="4000985"/>
              <a:ext cx="487045" cy="759460"/>
            </a:xfrm>
            <a:custGeom>
              <a:avLst/>
              <a:gdLst/>
              <a:ahLst/>
              <a:cxnLst/>
              <a:rect l="l" t="t" r="r" b="b"/>
              <a:pathLst>
                <a:path w="487044" h="759460">
                  <a:moveTo>
                    <a:pt x="138049" y="0"/>
                  </a:moveTo>
                  <a:lnTo>
                    <a:pt x="149948" y="30211"/>
                  </a:lnTo>
                  <a:lnTo>
                    <a:pt x="155121" y="65214"/>
                  </a:lnTo>
                  <a:lnTo>
                    <a:pt x="154425" y="104347"/>
                  </a:lnTo>
                  <a:lnTo>
                    <a:pt x="148716" y="146947"/>
                  </a:lnTo>
                  <a:lnTo>
                    <a:pt x="138850" y="192353"/>
                  </a:lnTo>
                  <a:lnTo>
                    <a:pt x="125683" y="239903"/>
                  </a:lnTo>
                  <a:lnTo>
                    <a:pt x="110074" y="288935"/>
                  </a:lnTo>
                  <a:lnTo>
                    <a:pt x="92877" y="338787"/>
                  </a:lnTo>
                  <a:lnTo>
                    <a:pt x="57147" y="438303"/>
                  </a:lnTo>
                  <a:lnTo>
                    <a:pt x="40327" y="486644"/>
                  </a:lnTo>
                  <a:lnTo>
                    <a:pt x="25346" y="533157"/>
                  </a:lnTo>
                  <a:lnTo>
                    <a:pt x="13060" y="577181"/>
                  </a:lnTo>
                  <a:lnTo>
                    <a:pt x="4326" y="618053"/>
                  </a:lnTo>
                  <a:lnTo>
                    <a:pt x="0" y="655113"/>
                  </a:lnTo>
                  <a:lnTo>
                    <a:pt x="938" y="687697"/>
                  </a:lnTo>
                  <a:lnTo>
                    <a:pt x="7997" y="715144"/>
                  </a:lnTo>
                  <a:lnTo>
                    <a:pt x="22033" y="736792"/>
                  </a:lnTo>
                  <a:lnTo>
                    <a:pt x="45876" y="753137"/>
                  </a:lnTo>
                  <a:lnTo>
                    <a:pt x="73288" y="759115"/>
                  </a:lnTo>
                  <a:lnTo>
                    <a:pt x="100535" y="754671"/>
                  </a:lnTo>
                  <a:lnTo>
                    <a:pt x="123879" y="739749"/>
                  </a:lnTo>
                  <a:lnTo>
                    <a:pt x="476946" y="386136"/>
                  </a:lnTo>
                  <a:lnTo>
                    <a:pt x="484086" y="375261"/>
                  </a:lnTo>
                  <a:lnTo>
                    <a:pt x="486466" y="362778"/>
                  </a:lnTo>
                  <a:lnTo>
                    <a:pt x="484086" y="350296"/>
                  </a:lnTo>
                  <a:lnTo>
                    <a:pt x="476946" y="339421"/>
                  </a:lnTo>
                  <a:lnTo>
                    <a:pt x="13804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4" name="object 34"/>
            <p:cNvSpPr/>
            <p:nvPr/>
          </p:nvSpPr>
          <p:spPr>
            <a:xfrm>
              <a:off x="491437" y="4000985"/>
              <a:ext cx="487045" cy="759460"/>
            </a:xfrm>
            <a:custGeom>
              <a:avLst/>
              <a:gdLst/>
              <a:ahLst/>
              <a:cxnLst/>
              <a:rect l="l" t="t" r="r" b="b"/>
              <a:pathLst>
                <a:path w="487044" h="759460">
                  <a:moveTo>
                    <a:pt x="138049" y="0"/>
                  </a:moveTo>
                  <a:lnTo>
                    <a:pt x="149948" y="30211"/>
                  </a:lnTo>
                  <a:lnTo>
                    <a:pt x="155121" y="65214"/>
                  </a:lnTo>
                  <a:lnTo>
                    <a:pt x="154425" y="104347"/>
                  </a:lnTo>
                  <a:lnTo>
                    <a:pt x="148716" y="146947"/>
                  </a:lnTo>
                  <a:lnTo>
                    <a:pt x="138850" y="192353"/>
                  </a:lnTo>
                  <a:lnTo>
                    <a:pt x="125683" y="239903"/>
                  </a:lnTo>
                  <a:lnTo>
                    <a:pt x="110074" y="288935"/>
                  </a:lnTo>
                  <a:lnTo>
                    <a:pt x="92877" y="338787"/>
                  </a:lnTo>
                  <a:lnTo>
                    <a:pt x="74949" y="388797"/>
                  </a:lnTo>
                  <a:lnTo>
                    <a:pt x="57147" y="438303"/>
                  </a:lnTo>
                  <a:lnTo>
                    <a:pt x="40327" y="486644"/>
                  </a:lnTo>
                  <a:lnTo>
                    <a:pt x="25346" y="533157"/>
                  </a:lnTo>
                  <a:lnTo>
                    <a:pt x="13060" y="577181"/>
                  </a:lnTo>
                  <a:lnTo>
                    <a:pt x="4326" y="618053"/>
                  </a:lnTo>
                  <a:lnTo>
                    <a:pt x="0" y="655113"/>
                  </a:lnTo>
                  <a:lnTo>
                    <a:pt x="938" y="687697"/>
                  </a:lnTo>
                  <a:lnTo>
                    <a:pt x="7997" y="715144"/>
                  </a:lnTo>
                  <a:lnTo>
                    <a:pt x="22033" y="736793"/>
                  </a:lnTo>
                  <a:lnTo>
                    <a:pt x="45876" y="753137"/>
                  </a:lnTo>
                  <a:lnTo>
                    <a:pt x="73289" y="759115"/>
                  </a:lnTo>
                  <a:lnTo>
                    <a:pt x="100535" y="754671"/>
                  </a:lnTo>
                  <a:lnTo>
                    <a:pt x="123879" y="739749"/>
                  </a:lnTo>
                  <a:lnTo>
                    <a:pt x="476946" y="386136"/>
                  </a:lnTo>
                  <a:lnTo>
                    <a:pt x="484086" y="375261"/>
                  </a:lnTo>
                  <a:lnTo>
                    <a:pt x="486466" y="362778"/>
                  </a:lnTo>
                  <a:lnTo>
                    <a:pt x="484086" y="350296"/>
                  </a:lnTo>
                  <a:lnTo>
                    <a:pt x="476946" y="339421"/>
                  </a:lnTo>
                  <a:lnTo>
                    <a:pt x="138049" y="0"/>
                  </a:lnTo>
                </a:path>
              </a:pathLst>
            </a:custGeom>
            <a:solidFill>
              <a:srgbClr val="CC00CC"/>
            </a:solidFill>
            <a:ln w="9525">
              <a:solidFill>
                <a:srgbClr val="4F6228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5" name="object 35"/>
            <p:cNvSpPr/>
            <p:nvPr/>
          </p:nvSpPr>
          <p:spPr>
            <a:xfrm>
              <a:off x="487501" y="3967110"/>
              <a:ext cx="490855" cy="758825"/>
            </a:xfrm>
            <a:custGeom>
              <a:avLst/>
              <a:gdLst/>
              <a:ahLst/>
              <a:cxnLst/>
              <a:rect l="l" t="t" r="r" b="b"/>
              <a:pathLst>
                <a:path w="490855" h="758825">
                  <a:moveTo>
                    <a:pt x="77462" y="0"/>
                  </a:moveTo>
                  <a:lnTo>
                    <a:pt x="25988" y="22240"/>
                  </a:lnTo>
                  <a:lnTo>
                    <a:pt x="1880" y="72863"/>
                  </a:lnTo>
                  <a:lnTo>
                    <a:pt x="0" y="105920"/>
                  </a:lnTo>
                  <a:lnTo>
                    <a:pt x="3709" y="143283"/>
                  </a:lnTo>
                  <a:lnTo>
                    <a:pt x="12116" y="184310"/>
                  </a:lnTo>
                  <a:lnTo>
                    <a:pt x="24326" y="228358"/>
                  </a:lnTo>
                  <a:lnTo>
                    <a:pt x="39446" y="274785"/>
                  </a:lnTo>
                  <a:lnTo>
                    <a:pt x="56582" y="322949"/>
                  </a:lnTo>
                  <a:lnTo>
                    <a:pt x="93332" y="421916"/>
                  </a:lnTo>
                  <a:lnTo>
                    <a:pt x="111157" y="471435"/>
                  </a:lnTo>
                  <a:lnTo>
                    <a:pt x="127425" y="520120"/>
                  </a:lnTo>
                  <a:lnTo>
                    <a:pt x="141242" y="567329"/>
                  </a:lnTo>
                  <a:lnTo>
                    <a:pt x="151715" y="612420"/>
                  </a:lnTo>
                  <a:lnTo>
                    <a:pt x="157950" y="654749"/>
                  </a:lnTo>
                  <a:lnTo>
                    <a:pt x="159054" y="693676"/>
                  </a:lnTo>
                  <a:lnTo>
                    <a:pt x="154133" y="728556"/>
                  </a:lnTo>
                  <a:lnTo>
                    <a:pt x="142294" y="758748"/>
                  </a:lnTo>
                  <a:lnTo>
                    <a:pt x="480882" y="419753"/>
                  </a:lnTo>
                  <a:lnTo>
                    <a:pt x="488022" y="408832"/>
                  </a:lnTo>
                  <a:lnTo>
                    <a:pt x="490402" y="396220"/>
                  </a:lnTo>
                  <a:lnTo>
                    <a:pt x="488022" y="383553"/>
                  </a:lnTo>
                  <a:lnTo>
                    <a:pt x="480882" y="372466"/>
                  </a:lnTo>
                  <a:lnTo>
                    <a:pt x="127830" y="18989"/>
                  </a:lnTo>
                  <a:lnTo>
                    <a:pt x="104569" y="4202"/>
                  </a:lnTo>
                  <a:lnTo>
                    <a:pt x="77462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6" name="object 36"/>
            <p:cNvSpPr/>
            <p:nvPr/>
          </p:nvSpPr>
          <p:spPr>
            <a:xfrm>
              <a:off x="487501" y="3967110"/>
              <a:ext cx="490855" cy="758825"/>
            </a:xfrm>
            <a:custGeom>
              <a:avLst/>
              <a:gdLst/>
              <a:ahLst/>
              <a:cxnLst/>
              <a:rect l="l" t="t" r="r" b="b"/>
              <a:pathLst>
                <a:path w="490855" h="758825">
                  <a:moveTo>
                    <a:pt x="142294" y="758749"/>
                  </a:moveTo>
                  <a:lnTo>
                    <a:pt x="154133" y="728556"/>
                  </a:lnTo>
                  <a:lnTo>
                    <a:pt x="159054" y="693676"/>
                  </a:lnTo>
                  <a:lnTo>
                    <a:pt x="157950" y="654749"/>
                  </a:lnTo>
                  <a:lnTo>
                    <a:pt x="151715" y="612420"/>
                  </a:lnTo>
                  <a:lnTo>
                    <a:pt x="141242" y="567329"/>
                  </a:lnTo>
                  <a:lnTo>
                    <a:pt x="127425" y="520120"/>
                  </a:lnTo>
                  <a:lnTo>
                    <a:pt x="111157" y="471435"/>
                  </a:lnTo>
                  <a:lnTo>
                    <a:pt x="93332" y="421916"/>
                  </a:lnTo>
                  <a:lnTo>
                    <a:pt x="74842" y="372207"/>
                  </a:lnTo>
                  <a:lnTo>
                    <a:pt x="56582" y="322949"/>
                  </a:lnTo>
                  <a:lnTo>
                    <a:pt x="39446" y="274785"/>
                  </a:lnTo>
                  <a:lnTo>
                    <a:pt x="24326" y="228358"/>
                  </a:lnTo>
                  <a:lnTo>
                    <a:pt x="12116" y="184310"/>
                  </a:lnTo>
                  <a:lnTo>
                    <a:pt x="3709" y="143283"/>
                  </a:lnTo>
                  <a:lnTo>
                    <a:pt x="0" y="105920"/>
                  </a:lnTo>
                  <a:lnTo>
                    <a:pt x="1880" y="72863"/>
                  </a:lnTo>
                  <a:lnTo>
                    <a:pt x="10245" y="44756"/>
                  </a:lnTo>
                  <a:lnTo>
                    <a:pt x="25988" y="22240"/>
                  </a:lnTo>
                  <a:lnTo>
                    <a:pt x="50078" y="6104"/>
                  </a:lnTo>
                  <a:lnTo>
                    <a:pt x="77462" y="0"/>
                  </a:lnTo>
                  <a:lnTo>
                    <a:pt x="104569" y="4202"/>
                  </a:lnTo>
                  <a:lnTo>
                    <a:pt x="127830" y="18989"/>
                  </a:lnTo>
                  <a:lnTo>
                    <a:pt x="480882" y="372466"/>
                  </a:lnTo>
                  <a:lnTo>
                    <a:pt x="488022" y="383553"/>
                  </a:lnTo>
                  <a:lnTo>
                    <a:pt x="490402" y="396220"/>
                  </a:lnTo>
                  <a:lnTo>
                    <a:pt x="488022" y="408832"/>
                  </a:lnTo>
                  <a:lnTo>
                    <a:pt x="480882" y="419753"/>
                  </a:lnTo>
                  <a:lnTo>
                    <a:pt x="142294" y="758749"/>
                  </a:lnTo>
                  <a:close/>
                </a:path>
              </a:pathLst>
            </a:custGeom>
            <a:solidFill>
              <a:srgbClr val="CC00CC"/>
            </a:solidFill>
            <a:ln w="9525">
              <a:solidFill>
                <a:srgbClr val="254061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397750" y="3960197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chemeClr val="bg1"/>
                </a:solidFill>
                <a:latin typeface="Arial"/>
                <a:cs typeface="Arial"/>
              </a:rPr>
              <a:t>4</a:t>
            </a:r>
            <a:endParaRPr sz="28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894655" y="4851687"/>
            <a:ext cx="24574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2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47" name="object 10"/>
          <p:cNvSpPr txBox="1"/>
          <p:nvPr/>
        </p:nvSpPr>
        <p:spPr>
          <a:xfrm>
            <a:off x="1053314" y="1888340"/>
            <a:ext cx="748108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4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Chapitre 2 : </a:t>
            </a:r>
            <a:r>
              <a:rPr lang="fr-FR" sz="20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Quadripôles</a:t>
            </a:r>
            <a:endParaRPr sz="2000" b="1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8" name="object 10"/>
          <p:cNvSpPr txBox="1"/>
          <p:nvPr/>
        </p:nvSpPr>
        <p:spPr>
          <a:xfrm>
            <a:off x="1048448" y="2975243"/>
            <a:ext cx="878135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4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Chapitre 3 : </a:t>
            </a:r>
            <a:r>
              <a:rPr lang="fr-FR" sz="20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2000" b="1" dirty="0">
              <a:solidFill>
                <a:schemeClr val="accent6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49" name="object 10"/>
          <p:cNvSpPr txBox="1"/>
          <p:nvPr/>
        </p:nvSpPr>
        <p:spPr>
          <a:xfrm>
            <a:off x="1023284" y="3992043"/>
            <a:ext cx="80772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24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Chapitre 4 : </a:t>
            </a:r>
            <a:r>
              <a:rPr lang="fr-FR" sz="20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/>
      <p:bldP spid="22" grpId="0"/>
      <p:bldP spid="30" grpId="0"/>
      <p:bldP spid="37" grpId="0"/>
      <p:bldP spid="47" grpId="0"/>
      <p:bldP spid="48" grpId="0"/>
      <p:bldP spid="4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78155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1"/>
                </a:lnTo>
              </a:path>
            </a:pathLst>
          </a:custGeom>
          <a:ln w="25400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4657" y="137667"/>
            <a:ext cx="96647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Bookman Old Style" panose="02050604050505020204" pitchFamily="18" charset="0"/>
              </a:rPr>
              <a:t>Pl</a:t>
            </a:r>
            <a:r>
              <a:rPr spc="5" dirty="0">
                <a:latin typeface="Bookman Old Style" panose="02050604050505020204" pitchFamily="18" charset="0"/>
              </a:rPr>
              <a:t>a</a:t>
            </a:r>
            <a:r>
              <a:rPr dirty="0">
                <a:latin typeface="Bookman Old Style" panose="02050604050505020204" pitchFamily="18" charset="0"/>
              </a:rPr>
              <a:t>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854779" y="356344"/>
            <a:ext cx="7149465" cy="156845"/>
            <a:chOff x="1875130" y="356345"/>
            <a:chExt cx="7149465" cy="156845"/>
          </a:xfrm>
          <a:solidFill>
            <a:srgbClr val="CC00CC"/>
          </a:solidFill>
        </p:grpSpPr>
        <p:sp>
          <p:nvSpPr>
            <p:cNvPr id="5" name="object 5"/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82778" y="356345"/>
            <a:ext cx="697230" cy="156845"/>
            <a:chOff x="82778" y="356345"/>
            <a:chExt cx="697230" cy="156845"/>
          </a:xfrm>
          <a:solidFill>
            <a:srgbClr val="CC00CC"/>
          </a:solidFill>
        </p:grpSpPr>
        <p:sp>
          <p:nvSpPr>
            <p:cNvPr id="8" name="object 8"/>
            <p:cNvSpPr/>
            <p:nvPr/>
          </p:nvSpPr>
          <p:spPr>
            <a:xfrm>
              <a:off x="89128" y="362695"/>
              <a:ext cx="684530" cy="144145"/>
            </a:xfrm>
            <a:custGeom>
              <a:avLst/>
              <a:gdLst/>
              <a:ahLst/>
              <a:cxnLst/>
              <a:rect l="l" t="t" r="r" b="b"/>
              <a:pathLst>
                <a:path w="684530" h="144145">
                  <a:moveTo>
                    <a:pt x="611999" y="0"/>
                  </a:moveTo>
                  <a:lnTo>
                    <a:pt x="72000" y="0"/>
                  </a:lnTo>
                  <a:lnTo>
                    <a:pt x="43974" y="5658"/>
                  </a:lnTo>
                  <a:lnTo>
                    <a:pt x="21088" y="21088"/>
                  </a:lnTo>
                  <a:lnTo>
                    <a:pt x="5658" y="43974"/>
                  </a:lnTo>
                  <a:lnTo>
                    <a:pt x="0" y="71998"/>
                  </a:lnTo>
                  <a:lnTo>
                    <a:pt x="5658" y="100024"/>
                  </a:lnTo>
                  <a:lnTo>
                    <a:pt x="21088" y="122910"/>
                  </a:lnTo>
                  <a:lnTo>
                    <a:pt x="43974" y="138340"/>
                  </a:lnTo>
                  <a:lnTo>
                    <a:pt x="72000" y="143998"/>
                  </a:lnTo>
                  <a:lnTo>
                    <a:pt x="611998" y="144000"/>
                  </a:lnTo>
                  <a:lnTo>
                    <a:pt x="640024" y="138342"/>
                  </a:lnTo>
                  <a:lnTo>
                    <a:pt x="662910" y="122912"/>
                  </a:lnTo>
                  <a:lnTo>
                    <a:pt x="678340" y="100025"/>
                  </a:lnTo>
                  <a:lnTo>
                    <a:pt x="683999" y="72000"/>
                  </a:lnTo>
                  <a:lnTo>
                    <a:pt x="678341" y="43974"/>
                  </a:lnTo>
                  <a:lnTo>
                    <a:pt x="662911" y="21088"/>
                  </a:lnTo>
                  <a:lnTo>
                    <a:pt x="640025" y="5658"/>
                  </a:lnTo>
                  <a:lnTo>
                    <a:pt x="611999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9128" y="362695"/>
              <a:ext cx="684530" cy="144145"/>
            </a:xfrm>
            <a:custGeom>
              <a:avLst/>
              <a:gdLst/>
              <a:ahLst/>
              <a:cxnLst/>
              <a:rect l="l" t="t" r="r" b="b"/>
              <a:pathLst>
                <a:path w="684530" h="144145">
                  <a:moveTo>
                    <a:pt x="0" y="72000"/>
                  </a:moveTo>
                  <a:lnTo>
                    <a:pt x="5658" y="43974"/>
                  </a:lnTo>
                  <a:lnTo>
                    <a:pt x="21088" y="21088"/>
                  </a:lnTo>
                  <a:lnTo>
                    <a:pt x="43974" y="5658"/>
                  </a:lnTo>
                  <a:lnTo>
                    <a:pt x="72000" y="0"/>
                  </a:lnTo>
                  <a:lnTo>
                    <a:pt x="611999" y="0"/>
                  </a:lnTo>
                  <a:lnTo>
                    <a:pt x="640025" y="5658"/>
                  </a:lnTo>
                  <a:lnTo>
                    <a:pt x="662911" y="21088"/>
                  </a:lnTo>
                  <a:lnTo>
                    <a:pt x="678341" y="43974"/>
                  </a:lnTo>
                  <a:lnTo>
                    <a:pt x="683999" y="72000"/>
                  </a:lnTo>
                  <a:lnTo>
                    <a:pt x="678340" y="100026"/>
                  </a:lnTo>
                  <a:lnTo>
                    <a:pt x="662910" y="122912"/>
                  </a:lnTo>
                  <a:lnTo>
                    <a:pt x="640024" y="138342"/>
                  </a:lnTo>
                  <a:lnTo>
                    <a:pt x="611998" y="144000"/>
                  </a:lnTo>
                  <a:lnTo>
                    <a:pt x="72000" y="144000"/>
                  </a:lnTo>
                  <a:lnTo>
                    <a:pt x="43974" y="138341"/>
                  </a:lnTo>
                  <a:lnTo>
                    <a:pt x="21088" y="122911"/>
                  </a:lnTo>
                  <a:lnTo>
                    <a:pt x="5658" y="100025"/>
                  </a:lnTo>
                  <a:lnTo>
                    <a:pt x="0" y="71999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46881" y="1509049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894655" y="4851687"/>
            <a:ext cx="24574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3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17" name="object 10">
            <a:extLst>
              <a:ext uri="{FF2B5EF4-FFF2-40B4-BE49-F238E27FC236}">
                <a16:creationId xmlns:a16="http://schemas.microsoft.com/office/drawing/2014/main" id="{868BE146-27EA-FE43-C50C-5A003F633563}"/>
              </a:ext>
            </a:extLst>
          </p:cNvPr>
          <p:cNvSpPr txBox="1"/>
          <p:nvPr/>
        </p:nvSpPr>
        <p:spPr>
          <a:xfrm>
            <a:off x="1904999" y="1065338"/>
            <a:ext cx="6792119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0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Chapitre 4 : Composants Electroniques de base</a:t>
            </a:r>
            <a:endParaRPr sz="2000" dirty="0">
              <a:solidFill>
                <a:srgbClr val="CC00CC"/>
              </a:solidFill>
              <a:latin typeface="Bookman Old Style" panose="02050604050505020204" pitchFamily="18" charset="0"/>
              <a:cs typeface="Calibri"/>
            </a:endParaRPr>
          </a:p>
        </p:txBody>
      </p:sp>
      <p:grpSp>
        <p:nvGrpSpPr>
          <p:cNvPr id="18" name="object 11">
            <a:extLst>
              <a:ext uri="{FF2B5EF4-FFF2-40B4-BE49-F238E27FC236}">
                <a16:creationId xmlns:a16="http://schemas.microsoft.com/office/drawing/2014/main" id="{4C0FFD69-3304-CBE2-A2A2-FFDCF696975D}"/>
              </a:ext>
            </a:extLst>
          </p:cNvPr>
          <p:cNvGrpSpPr/>
          <p:nvPr/>
        </p:nvGrpSpPr>
        <p:grpSpPr>
          <a:xfrm>
            <a:off x="1128513" y="884640"/>
            <a:ext cx="500380" cy="802640"/>
            <a:chOff x="482739" y="1033930"/>
            <a:chExt cx="500380" cy="802640"/>
          </a:xfrm>
          <a:solidFill>
            <a:schemeClr val="accent6">
              <a:lumMod val="75000"/>
            </a:schemeClr>
          </a:solidFill>
        </p:grpSpPr>
        <p:sp>
          <p:nvSpPr>
            <p:cNvPr id="19" name="object 12">
              <a:extLst>
                <a:ext uri="{FF2B5EF4-FFF2-40B4-BE49-F238E27FC236}">
                  <a16:creationId xmlns:a16="http://schemas.microsoft.com/office/drawing/2014/main" id="{A7FFF4D5-AC81-E6D7-6415-EC40705A2549}"/>
                </a:ext>
              </a:extLst>
            </p:cNvPr>
            <p:cNvSpPr/>
            <p:nvPr/>
          </p:nvSpPr>
          <p:spPr>
            <a:xfrm>
              <a:off x="491437" y="1072565"/>
              <a:ext cx="487045" cy="759460"/>
            </a:xfrm>
            <a:custGeom>
              <a:avLst/>
              <a:gdLst/>
              <a:ahLst/>
              <a:cxnLst/>
              <a:rect l="l" t="t" r="r" b="b"/>
              <a:pathLst>
                <a:path w="487044" h="759460">
                  <a:moveTo>
                    <a:pt x="138049" y="0"/>
                  </a:moveTo>
                  <a:lnTo>
                    <a:pt x="149948" y="30211"/>
                  </a:lnTo>
                  <a:lnTo>
                    <a:pt x="155121" y="65214"/>
                  </a:lnTo>
                  <a:lnTo>
                    <a:pt x="154425" y="104347"/>
                  </a:lnTo>
                  <a:lnTo>
                    <a:pt x="148716" y="146947"/>
                  </a:lnTo>
                  <a:lnTo>
                    <a:pt x="138850" y="192353"/>
                  </a:lnTo>
                  <a:lnTo>
                    <a:pt x="125683" y="239903"/>
                  </a:lnTo>
                  <a:lnTo>
                    <a:pt x="110074" y="288935"/>
                  </a:lnTo>
                  <a:lnTo>
                    <a:pt x="92877" y="338787"/>
                  </a:lnTo>
                  <a:lnTo>
                    <a:pt x="57147" y="438303"/>
                  </a:lnTo>
                  <a:lnTo>
                    <a:pt x="40327" y="486644"/>
                  </a:lnTo>
                  <a:lnTo>
                    <a:pt x="25346" y="533157"/>
                  </a:lnTo>
                  <a:lnTo>
                    <a:pt x="13060" y="577181"/>
                  </a:lnTo>
                  <a:lnTo>
                    <a:pt x="4326" y="618053"/>
                  </a:lnTo>
                  <a:lnTo>
                    <a:pt x="0" y="655113"/>
                  </a:lnTo>
                  <a:lnTo>
                    <a:pt x="938" y="687697"/>
                  </a:lnTo>
                  <a:lnTo>
                    <a:pt x="7997" y="715144"/>
                  </a:lnTo>
                  <a:lnTo>
                    <a:pt x="22033" y="736793"/>
                  </a:lnTo>
                  <a:lnTo>
                    <a:pt x="45876" y="753137"/>
                  </a:lnTo>
                  <a:lnTo>
                    <a:pt x="73288" y="759115"/>
                  </a:lnTo>
                  <a:lnTo>
                    <a:pt x="100535" y="754671"/>
                  </a:lnTo>
                  <a:lnTo>
                    <a:pt x="123879" y="739749"/>
                  </a:lnTo>
                  <a:lnTo>
                    <a:pt x="476946" y="386135"/>
                  </a:lnTo>
                  <a:lnTo>
                    <a:pt x="484086" y="375261"/>
                  </a:lnTo>
                  <a:lnTo>
                    <a:pt x="486466" y="362779"/>
                  </a:lnTo>
                  <a:lnTo>
                    <a:pt x="484086" y="350296"/>
                  </a:lnTo>
                  <a:lnTo>
                    <a:pt x="476946" y="339421"/>
                  </a:lnTo>
                  <a:lnTo>
                    <a:pt x="138049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3">
              <a:extLst>
                <a:ext uri="{FF2B5EF4-FFF2-40B4-BE49-F238E27FC236}">
                  <a16:creationId xmlns:a16="http://schemas.microsoft.com/office/drawing/2014/main" id="{8095066D-595C-6F7E-0B0D-60571A5F1785}"/>
                </a:ext>
              </a:extLst>
            </p:cNvPr>
            <p:cNvSpPr/>
            <p:nvPr/>
          </p:nvSpPr>
          <p:spPr>
            <a:xfrm>
              <a:off x="491437" y="1072565"/>
              <a:ext cx="487045" cy="759460"/>
            </a:xfrm>
            <a:custGeom>
              <a:avLst/>
              <a:gdLst/>
              <a:ahLst/>
              <a:cxnLst/>
              <a:rect l="l" t="t" r="r" b="b"/>
              <a:pathLst>
                <a:path w="487044" h="759460">
                  <a:moveTo>
                    <a:pt x="138049" y="0"/>
                  </a:moveTo>
                  <a:lnTo>
                    <a:pt x="149948" y="30211"/>
                  </a:lnTo>
                  <a:lnTo>
                    <a:pt x="155121" y="65214"/>
                  </a:lnTo>
                  <a:lnTo>
                    <a:pt x="154425" y="104347"/>
                  </a:lnTo>
                  <a:lnTo>
                    <a:pt x="148716" y="146947"/>
                  </a:lnTo>
                  <a:lnTo>
                    <a:pt x="138850" y="192353"/>
                  </a:lnTo>
                  <a:lnTo>
                    <a:pt x="125683" y="239903"/>
                  </a:lnTo>
                  <a:lnTo>
                    <a:pt x="110074" y="288935"/>
                  </a:lnTo>
                  <a:lnTo>
                    <a:pt x="92877" y="338787"/>
                  </a:lnTo>
                  <a:lnTo>
                    <a:pt x="74949" y="388797"/>
                  </a:lnTo>
                  <a:lnTo>
                    <a:pt x="57147" y="438303"/>
                  </a:lnTo>
                  <a:lnTo>
                    <a:pt x="40327" y="486644"/>
                  </a:lnTo>
                  <a:lnTo>
                    <a:pt x="25346" y="533157"/>
                  </a:lnTo>
                  <a:lnTo>
                    <a:pt x="13060" y="577181"/>
                  </a:lnTo>
                  <a:lnTo>
                    <a:pt x="4326" y="618053"/>
                  </a:lnTo>
                  <a:lnTo>
                    <a:pt x="0" y="655113"/>
                  </a:lnTo>
                  <a:lnTo>
                    <a:pt x="938" y="687697"/>
                  </a:lnTo>
                  <a:lnTo>
                    <a:pt x="7997" y="715144"/>
                  </a:lnTo>
                  <a:lnTo>
                    <a:pt x="22033" y="736793"/>
                  </a:lnTo>
                  <a:lnTo>
                    <a:pt x="45876" y="753137"/>
                  </a:lnTo>
                  <a:lnTo>
                    <a:pt x="73289" y="759115"/>
                  </a:lnTo>
                  <a:lnTo>
                    <a:pt x="100535" y="754671"/>
                  </a:lnTo>
                  <a:lnTo>
                    <a:pt x="123879" y="739749"/>
                  </a:lnTo>
                  <a:lnTo>
                    <a:pt x="476946" y="386136"/>
                  </a:lnTo>
                  <a:lnTo>
                    <a:pt x="484086" y="375261"/>
                  </a:lnTo>
                  <a:lnTo>
                    <a:pt x="486466" y="362778"/>
                  </a:lnTo>
                  <a:lnTo>
                    <a:pt x="484086" y="350296"/>
                  </a:lnTo>
                  <a:lnTo>
                    <a:pt x="476946" y="339421"/>
                  </a:lnTo>
                  <a:lnTo>
                    <a:pt x="138049" y="0"/>
                  </a:lnTo>
                </a:path>
              </a:pathLst>
            </a:custGeom>
            <a:solidFill>
              <a:srgbClr val="CC00CC"/>
            </a:solidFill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4">
              <a:extLst>
                <a:ext uri="{FF2B5EF4-FFF2-40B4-BE49-F238E27FC236}">
                  <a16:creationId xmlns:a16="http://schemas.microsoft.com/office/drawing/2014/main" id="{BC4EB03B-CEE7-5557-90F4-17FE1E0CFC97}"/>
                </a:ext>
              </a:extLst>
            </p:cNvPr>
            <p:cNvSpPr/>
            <p:nvPr/>
          </p:nvSpPr>
          <p:spPr>
            <a:xfrm>
              <a:off x="487501" y="1038692"/>
              <a:ext cx="490855" cy="758825"/>
            </a:xfrm>
            <a:custGeom>
              <a:avLst/>
              <a:gdLst/>
              <a:ahLst/>
              <a:cxnLst/>
              <a:rect l="l" t="t" r="r" b="b"/>
              <a:pathLst>
                <a:path w="490855" h="758825">
                  <a:moveTo>
                    <a:pt x="77462" y="0"/>
                  </a:moveTo>
                  <a:lnTo>
                    <a:pt x="25988" y="22240"/>
                  </a:lnTo>
                  <a:lnTo>
                    <a:pt x="1880" y="72863"/>
                  </a:lnTo>
                  <a:lnTo>
                    <a:pt x="0" y="105919"/>
                  </a:lnTo>
                  <a:lnTo>
                    <a:pt x="3709" y="143282"/>
                  </a:lnTo>
                  <a:lnTo>
                    <a:pt x="12116" y="184309"/>
                  </a:lnTo>
                  <a:lnTo>
                    <a:pt x="24326" y="228357"/>
                  </a:lnTo>
                  <a:lnTo>
                    <a:pt x="39446" y="274785"/>
                  </a:lnTo>
                  <a:lnTo>
                    <a:pt x="56582" y="322948"/>
                  </a:lnTo>
                  <a:lnTo>
                    <a:pt x="93332" y="421916"/>
                  </a:lnTo>
                  <a:lnTo>
                    <a:pt x="111157" y="471434"/>
                  </a:lnTo>
                  <a:lnTo>
                    <a:pt x="127425" y="520119"/>
                  </a:lnTo>
                  <a:lnTo>
                    <a:pt x="141242" y="567328"/>
                  </a:lnTo>
                  <a:lnTo>
                    <a:pt x="151715" y="612419"/>
                  </a:lnTo>
                  <a:lnTo>
                    <a:pt x="157950" y="654749"/>
                  </a:lnTo>
                  <a:lnTo>
                    <a:pt x="159054" y="693675"/>
                  </a:lnTo>
                  <a:lnTo>
                    <a:pt x="154133" y="728556"/>
                  </a:lnTo>
                  <a:lnTo>
                    <a:pt x="142294" y="758748"/>
                  </a:lnTo>
                  <a:lnTo>
                    <a:pt x="480882" y="419753"/>
                  </a:lnTo>
                  <a:lnTo>
                    <a:pt x="488022" y="408832"/>
                  </a:lnTo>
                  <a:lnTo>
                    <a:pt x="490402" y="396220"/>
                  </a:lnTo>
                  <a:lnTo>
                    <a:pt x="488022" y="383553"/>
                  </a:lnTo>
                  <a:lnTo>
                    <a:pt x="480882" y="372465"/>
                  </a:lnTo>
                  <a:lnTo>
                    <a:pt x="127830" y="18988"/>
                  </a:lnTo>
                  <a:lnTo>
                    <a:pt x="104569" y="4202"/>
                  </a:lnTo>
                  <a:lnTo>
                    <a:pt x="77462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15">
              <a:extLst>
                <a:ext uri="{FF2B5EF4-FFF2-40B4-BE49-F238E27FC236}">
                  <a16:creationId xmlns:a16="http://schemas.microsoft.com/office/drawing/2014/main" id="{6E5B9C91-1EE7-171E-A074-7186C46C6704}"/>
                </a:ext>
              </a:extLst>
            </p:cNvPr>
            <p:cNvSpPr/>
            <p:nvPr/>
          </p:nvSpPr>
          <p:spPr>
            <a:xfrm>
              <a:off x="487501" y="1038692"/>
              <a:ext cx="490855" cy="758825"/>
            </a:xfrm>
            <a:custGeom>
              <a:avLst/>
              <a:gdLst/>
              <a:ahLst/>
              <a:cxnLst/>
              <a:rect l="l" t="t" r="r" b="b"/>
              <a:pathLst>
                <a:path w="490855" h="758825">
                  <a:moveTo>
                    <a:pt x="142294" y="758749"/>
                  </a:moveTo>
                  <a:lnTo>
                    <a:pt x="154133" y="728556"/>
                  </a:lnTo>
                  <a:lnTo>
                    <a:pt x="159054" y="693676"/>
                  </a:lnTo>
                  <a:lnTo>
                    <a:pt x="157950" y="654749"/>
                  </a:lnTo>
                  <a:lnTo>
                    <a:pt x="151715" y="612420"/>
                  </a:lnTo>
                  <a:lnTo>
                    <a:pt x="141242" y="567329"/>
                  </a:lnTo>
                  <a:lnTo>
                    <a:pt x="127425" y="520120"/>
                  </a:lnTo>
                  <a:lnTo>
                    <a:pt x="111157" y="471435"/>
                  </a:lnTo>
                  <a:lnTo>
                    <a:pt x="93332" y="421916"/>
                  </a:lnTo>
                  <a:lnTo>
                    <a:pt x="74842" y="372207"/>
                  </a:lnTo>
                  <a:lnTo>
                    <a:pt x="56582" y="322949"/>
                  </a:lnTo>
                  <a:lnTo>
                    <a:pt x="39446" y="274785"/>
                  </a:lnTo>
                  <a:lnTo>
                    <a:pt x="24326" y="228358"/>
                  </a:lnTo>
                  <a:lnTo>
                    <a:pt x="12116" y="184310"/>
                  </a:lnTo>
                  <a:lnTo>
                    <a:pt x="3709" y="143283"/>
                  </a:lnTo>
                  <a:lnTo>
                    <a:pt x="0" y="105920"/>
                  </a:lnTo>
                  <a:lnTo>
                    <a:pt x="1880" y="72863"/>
                  </a:lnTo>
                  <a:lnTo>
                    <a:pt x="10245" y="44756"/>
                  </a:lnTo>
                  <a:lnTo>
                    <a:pt x="25988" y="22240"/>
                  </a:lnTo>
                  <a:lnTo>
                    <a:pt x="50078" y="6104"/>
                  </a:lnTo>
                  <a:lnTo>
                    <a:pt x="77462" y="0"/>
                  </a:lnTo>
                  <a:lnTo>
                    <a:pt x="104569" y="4202"/>
                  </a:lnTo>
                  <a:lnTo>
                    <a:pt x="127830" y="18989"/>
                  </a:lnTo>
                  <a:lnTo>
                    <a:pt x="480882" y="372466"/>
                  </a:lnTo>
                  <a:lnTo>
                    <a:pt x="488022" y="383553"/>
                  </a:lnTo>
                  <a:lnTo>
                    <a:pt x="490402" y="396220"/>
                  </a:lnTo>
                  <a:lnTo>
                    <a:pt x="488022" y="408832"/>
                  </a:lnTo>
                  <a:lnTo>
                    <a:pt x="480882" y="419753"/>
                  </a:lnTo>
                  <a:lnTo>
                    <a:pt x="142294" y="758749"/>
                  </a:lnTo>
                  <a:close/>
                </a:path>
              </a:pathLst>
            </a:custGeom>
            <a:solidFill>
              <a:srgbClr val="CC00CC"/>
            </a:solidFill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16">
            <a:extLst>
              <a:ext uri="{FF2B5EF4-FFF2-40B4-BE49-F238E27FC236}">
                <a16:creationId xmlns:a16="http://schemas.microsoft.com/office/drawing/2014/main" id="{2660D9D2-E990-F002-5923-B43CDEFE0473}"/>
              </a:ext>
            </a:extLst>
          </p:cNvPr>
          <p:cNvSpPr txBox="1"/>
          <p:nvPr/>
        </p:nvSpPr>
        <p:spPr>
          <a:xfrm>
            <a:off x="1260315" y="1009457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chemeClr val="bg1"/>
                </a:solidFill>
                <a:latin typeface="Arial"/>
                <a:cs typeface="Arial"/>
              </a:rPr>
              <a:t>4</a:t>
            </a:r>
            <a:endParaRPr sz="28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6" name="ZoneTexte 22">
            <a:extLst>
              <a:ext uri="{FF2B5EF4-FFF2-40B4-BE49-F238E27FC236}">
                <a16:creationId xmlns:a16="http://schemas.microsoft.com/office/drawing/2014/main" id="{63D39554-BCBC-8BC3-E6FB-ECFC52B95347}"/>
              </a:ext>
            </a:extLst>
          </p:cNvPr>
          <p:cNvSpPr txBox="1"/>
          <p:nvPr/>
        </p:nvSpPr>
        <p:spPr>
          <a:xfrm>
            <a:off x="1624130" y="1789544"/>
            <a:ext cx="6283485" cy="97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fr-FR" b="1" dirty="0">
                <a:latin typeface="Bookman Old Style" panose="02050604050505020204" pitchFamily="18" charset="0"/>
              </a:rPr>
              <a:t>Diodes</a:t>
            </a: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fr-FR" b="1" dirty="0">
                <a:latin typeface="Bookman Old Style" panose="02050604050505020204" pitchFamily="18" charset="0"/>
              </a:rPr>
              <a:t>Transistor Bipolaire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130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78155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1"/>
                </a:lnTo>
              </a:path>
            </a:pathLst>
          </a:custGeom>
          <a:ln w="25400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4657" y="137667"/>
            <a:ext cx="96647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Bookman Old Style" panose="02050604050505020204" pitchFamily="18" charset="0"/>
              </a:rPr>
              <a:t>Pl</a:t>
            </a:r>
            <a:r>
              <a:rPr spc="5" dirty="0">
                <a:latin typeface="Bookman Old Style" panose="02050604050505020204" pitchFamily="18" charset="0"/>
              </a:rPr>
              <a:t>a</a:t>
            </a:r>
            <a:r>
              <a:rPr dirty="0">
                <a:latin typeface="Bookman Old Style" panose="02050604050505020204" pitchFamily="18" charset="0"/>
              </a:rPr>
              <a:t>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854779" y="356344"/>
            <a:ext cx="7149465" cy="156845"/>
            <a:chOff x="1875130" y="356345"/>
            <a:chExt cx="7149465" cy="156845"/>
          </a:xfrm>
          <a:solidFill>
            <a:srgbClr val="CC00CC"/>
          </a:solidFill>
        </p:grpSpPr>
        <p:sp>
          <p:nvSpPr>
            <p:cNvPr id="5" name="object 5"/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82778" y="356345"/>
            <a:ext cx="697230" cy="156845"/>
            <a:chOff x="82778" y="356345"/>
            <a:chExt cx="697230" cy="156845"/>
          </a:xfrm>
          <a:solidFill>
            <a:srgbClr val="CC00CC"/>
          </a:solidFill>
        </p:grpSpPr>
        <p:sp>
          <p:nvSpPr>
            <p:cNvPr id="8" name="object 8"/>
            <p:cNvSpPr/>
            <p:nvPr/>
          </p:nvSpPr>
          <p:spPr>
            <a:xfrm>
              <a:off x="89128" y="362695"/>
              <a:ext cx="684530" cy="144145"/>
            </a:xfrm>
            <a:custGeom>
              <a:avLst/>
              <a:gdLst/>
              <a:ahLst/>
              <a:cxnLst/>
              <a:rect l="l" t="t" r="r" b="b"/>
              <a:pathLst>
                <a:path w="684530" h="144145">
                  <a:moveTo>
                    <a:pt x="611999" y="0"/>
                  </a:moveTo>
                  <a:lnTo>
                    <a:pt x="72000" y="0"/>
                  </a:lnTo>
                  <a:lnTo>
                    <a:pt x="43974" y="5658"/>
                  </a:lnTo>
                  <a:lnTo>
                    <a:pt x="21088" y="21088"/>
                  </a:lnTo>
                  <a:lnTo>
                    <a:pt x="5658" y="43974"/>
                  </a:lnTo>
                  <a:lnTo>
                    <a:pt x="0" y="71998"/>
                  </a:lnTo>
                  <a:lnTo>
                    <a:pt x="5658" y="100024"/>
                  </a:lnTo>
                  <a:lnTo>
                    <a:pt x="21088" y="122910"/>
                  </a:lnTo>
                  <a:lnTo>
                    <a:pt x="43974" y="138340"/>
                  </a:lnTo>
                  <a:lnTo>
                    <a:pt x="72000" y="143998"/>
                  </a:lnTo>
                  <a:lnTo>
                    <a:pt x="611998" y="144000"/>
                  </a:lnTo>
                  <a:lnTo>
                    <a:pt x="640024" y="138342"/>
                  </a:lnTo>
                  <a:lnTo>
                    <a:pt x="662910" y="122912"/>
                  </a:lnTo>
                  <a:lnTo>
                    <a:pt x="678340" y="100025"/>
                  </a:lnTo>
                  <a:lnTo>
                    <a:pt x="683999" y="72000"/>
                  </a:lnTo>
                  <a:lnTo>
                    <a:pt x="678341" y="43974"/>
                  </a:lnTo>
                  <a:lnTo>
                    <a:pt x="662911" y="21088"/>
                  </a:lnTo>
                  <a:lnTo>
                    <a:pt x="640025" y="5658"/>
                  </a:lnTo>
                  <a:lnTo>
                    <a:pt x="611999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9128" y="362695"/>
              <a:ext cx="684530" cy="144145"/>
            </a:xfrm>
            <a:custGeom>
              <a:avLst/>
              <a:gdLst/>
              <a:ahLst/>
              <a:cxnLst/>
              <a:rect l="l" t="t" r="r" b="b"/>
              <a:pathLst>
                <a:path w="684530" h="144145">
                  <a:moveTo>
                    <a:pt x="0" y="72000"/>
                  </a:moveTo>
                  <a:lnTo>
                    <a:pt x="5658" y="43974"/>
                  </a:lnTo>
                  <a:lnTo>
                    <a:pt x="21088" y="21088"/>
                  </a:lnTo>
                  <a:lnTo>
                    <a:pt x="43974" y="5658"/>
                  </a:lnTo>
                  <a:lnTo>
                    <a:pt x="72000" y="0"/>
                  </a:lnTo>
                  <a:lnTo>
                    <a:pt x="611999" y="0"/>
                  </a:lnTo>
                  <a:lnTo>
                    <a:pt x="640025" y="5658"/>
                  </a:lnTo>
                  <a:lnTo>
                    <a:pt x="662911" y="21088"/>
                  </a:lnTo>
                  <a:lnTo>
                    <a:pt x="678341" y="43974"/>
                  </a:lnTo>
                  <a:lnTo>
                    <a:pt x="683999" y="72000"/>
                  </a:lnTo>
                  <a:lnTo>
                    <a:pt x="678340" y="100026"/>
                  </a:lnTo>
                  <a:lnTo>
                    <a:pt x="662910" y="122912"/>
                  </a:lnTo>
                  <a:lnTo>
                    <a:pt x="640024" y="138342"/>
                  </a:lnTo>
                  <a:lnTo>
                    <a:pt x="611998" y="144000"/>
                  </a:lnTo>
                  <a:lnTo>
                    <a:pt x="72000" y="144000"/>
                  </a:lnTo>
                  <a:lnTo>
                    <a:pt x="43974" y="138341"/>
                  </a:lnTo>
                  <a:lnTo>
                    <a:pt x="21088" y="122911"/>
                  </a:lnTo>
                  <a:lnTo>
                    <a:pt x="5658" y="100025"/>
                  </a:lnTo>
                  <a:lnTo>
                    <a:pt x="0" y="71999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46881" y="1509049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894655" y="4851687"/>
            <a:ext cx="24574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4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17" name="object 10">
            <a:extLst>
              <a:ext uri="{FF2B5EF4-FFF2-40B4-BE49-F238E27FC236}">
                <a16:creationId xmlns:a16="http://schemas.microsoft.com/office/drawing/2014/main" id="{868BE146-27EA-FE43-C50C-5A003F633563}"/>
              </a:ext>
            </a:extLst>
          </p:cNvPr>
          <p:cNvSpPr txBox="1"/>
          <p:nvPr/>
        </p:nvSpPr>
        <p:spPr>
          <a:xfrm>
            <a:off x="1904999" y="1065338"/>
            <a:ext cx="6792119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0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Chapitre 4 : </a:t>
            </a: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: Diodes</a:t>
            </a:r>
            <a:endParaRPr sz="1600" b="1" dirty="0">
              <a:solidFill>
                <a:srgbClr val="CC00CC"/>
              </a:solidFill>
              <a:latin typeface="Bookman Old Style" panose="02050604050505020204" pitchFamily="18" charset="0"/>
              <a:cs typeface="Calibri"/>
            </a:endParaRPr>
          </a:p>
        </p:txBody>
      </p:sp>
      <p:grpSp>
        <p:nvGrpSpPr>
          <p:cNvPr id="18" name="object 11">
            <a:extLst>
              <a:ext uri="{FF2B5EF4-FFF2-40B4-BE49-F238E27FC236}">
                <a16:creationId xmlns:a16="http://schemas.microsoft.com/office/drawing/2014/main" id="{4C0FFD69-3304-CBE2-A2A2-FFDCF696975D}"/>
              </a:ext>
            </a:extLst>
          </p:cNvPr>
          <p:cNvGrpSpPr/>
          <p:nvPr/>
        </p:nvGrpSpPr>
        <p:grpSpPr>
          <a:xfrm>
            <a:off x="1128513" y="884640"/>
            <a:ext cx="500380" cy="802640"/>
            <a:chOff x="482739" y="1033930"/>
            <a:chExt cx="500380" cy="802640"/>
          </a:xfrm>
          <a:solidFill>
            <a:schemeClr val="accent6">
              <a:lumMod val="75000"/>
            </a:schemeClr>
          </a:solidFill>
        </p:grpSpPr>
        <p:sp>
          <p:nvSpPr>
            <p:cNvPr id="19" name="object 12">
              <a:extLst>
                <a:ext uri="{FF2B5EF4-FFF2-40B4-BE49-F238E27FC236}">
                  <a16:creationId xmlns:a16="http://schemas.microsoft.com/office/drawing/2014/main" id="{A7FFF4D5-AC81-E6D7-6415-EC40705A2549}"/>
                </a:ext>
              </a:extLst>
            </p:cNvPr>
            <p:cNvSpPr/>
            <p:nvPr/>
          </p:nvSpPr>
          <p:spPr>
            <a:xfrm>
              <a:off x="491437" y="1072565"/>
              <a:ext cx="487045" cy="759460"/>
            </a:xfrm>
            <a:custGeom>
              <a:avLst/>
              <a:gdLst/>
              <a:ahLst/>
              <a:cxnLst/>
              <a:rect l="l" t="t" r="r" b="b"/>
              <a:pathLst>
                <a:path w="487044" h="759460">
                  <a:moveTo>
                    <a:pt x="138049" y="0"/>
                  </a:moveTo>
                  <a:lnTo>
                    <a:pt x="149948" y="30211"/>
                  </a:lnTo>
                  <a:lnTo>
                    <a:pt x="155121" y="65214"/>
                  </a:lnTo>
                  <a:lnTo>
                    <a:pt x="154425" y="104347"/>
                  </a:lnTo>
                  <a:lnTo>
                    <a:pt x="148716" y="146947"/>
                  </a:lnTo>
                  <a:lnTo>
                    <a:pt x="138850" y="192353"/>
                  </a:lnTo>
                  <a:lnTo>
                    <a:pt x="125683" y="239903"/>
                  </a:lnTo>
                  <a:lnTo>
                    <a:pt x="110074" y="288935"/>
                  </a:lnTo>
                  <a:lnTo>
                    <a:pt x="92877" y="338787"/>
                  </a:lnTo>
                  <a:lnTo>
                    <a:pt x="57147" y="438303"/>
                  </a:lnTo>
                  <a:lnTo>
                    <a:pt x="40327" y="486644"/>
                  </a:lnTo>
                  <a:lnTo>
                    <a:pt x="25346" y="533157"/>
                  </a:lnTo>
                  <a:lnTo>
                    <a:pt x="13060" y="577181"/>
                  </a:lnTo>
                  <a:lnTo>
                    <a:pt x="4326" y="618053"/>
                  </a:lnTo>
                  <a:lnTo>
                    <a:pt x="0" y="655113"/>
                  </a:lnTo>
                  <a:lnTo>
                    <a:pt x="938" y="687697"/>
                  </a:lnTo>
                  <a:lnTo>
                    <a:pt x="7997" y="715144"/>
                  </a:lnTo>
                  <a:lnTo>
                    <a:pt x="22033" y="736793"/>
                  </a:lnTo>
                  <a:lnTo>
                    <a:pt x="45876" y="753137"/>
                  </a:lnTo>
                  <a:lnTo>
                    <a:pt x="73288" y="759115"/>
                  </a:lnTo>
                  <a:lnTo>
                    <a:pt x="100535" y="754671"/>
                  </a:lnTo>
                  <a:lnTo>
                    <a:pt x="123879" y="739749"/>
                  </a:lnTo>
                  <a:lnTo>
                    <a:pt x="476946" y="386135"/>
                  </a:lnTo>
                  <a:lnTo>
                    <a:pt x="484086" y="375261"/>
                  </a:lnTo>
                  <a:lnTo>
                    <a:pt x="486466" y="362779"/>
                  </a:lnTo>
                  <a:lnTo>
                    <a:pt x="484086" y="350296"/>
                  </a:lnTo>
                  <a:lnTo>
                    <a:pt x="476946" y="339421"/>
                  </a:lnTo>
                  <a:lnTo>
                    <a:pt x="138049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3">
              <a:extLst>
                <a:ext uri="{FF2B5EF4-FFF2-40B4-BE49-F238E27FC236}">
                  <a16:creationId xmlns:a16="http://schemas.microsoft.com/office/drawing/2014/main" id="{8095066D-595C-6F7E-0B0D-60571A5F1785}"/>
                </a:ext>
              </a:extLst>
            </p:cNvPr>
            <p:cNvSpPr/>
            <p:nvPr/>
          </p:nvSpPr>
          <p:spPr>
            <a:xfrm>
              <a:off x="491437" y="1072565"/>
              <a:ext cx="487045" cy="759460"/>
            </a:xfrm>
            <a:custGeom>
              <a:avLst/>
              <a:gdLst/>
              <a:ahLst/>
              <a:cxnLst/>
              <a:rect l="l" t="t" r="r" b="b"/>
              <a:pathLst>
                <a:path w="487044" h="759460">
                  <a:moveTo>
                    <a:pt x="138049" y="0"/>
                  </a:moveTo>
                  <a:lnTo>
                    <a:pt x="149948" y="30211"/>
                  </a:lnTo>
                  <a:lnTo>
                    <a:pt x="155121" y="65214"/>
                  </a:lnTo>
                  <a:lnTo>
                    <a:pt x="154425" y="104347"/>
                  </a:lnTo>
                  <a:lnTo>
                    <a:pt x="148716" y="146947"/>
                  </a:lnTo>
                  <a:lnTo>
                    <a:pt x="138850" y="192353"/>
                  </a:lnTo>
                  <a:lnTo>
                    <a:pt x="125683" y="239903"/>
                  </a:lnTo>
                  <a:lnTo>
                    <a:pt x="110074" y="288935"/>
                  </a:lnTo>
                  <a:lnTo>
                    <a:pt x="92877" y="338787"/>
                  </a:lnTo>
                  <a:lnTo>
                    <a:pt x="74949" y="388797"/>
                  </a:lnTo>
                  <a:lnTo>
                    <a:pt x="57147" y="438303"/>
                  </a:lnTo>
                  <a:lnTo>
                    <a:pt x="40327" y="486644"/>
                  </a:lnTo>
                  <a:lnTo>
                    <a:pt x="25346" y="533157"/>
                  </a:lnTo>
                  <a:lnTo>
                    <a:pt x="13060" y="577181"/>
                  </a:lnTo>
                  <a:lnTo>
                    <a:pt x="4326" y="618053"/>
                  </a:lnTo>
                  <a:lnTo>
                    <a:pt x="0" y="655113"/>
                  </a:lnTo>
                  <a:lnTo>
                    <a:pt x="938" y="687697"/>
                  </a:lnTo>
                  <a:lnTo>
                    <a:pt x="7997" y="715144"/>
                  </a:lnTo>
                  <a:lnTo>
                    <a:pt x="22033" y="736793"/>
                  </a:lnTo>
                  <a:lnTo>
                    <a:pt x="45876" y="753137"/>
                  </a:lnTo>
                  <a:lnTo>
                    <a:pt x="73289" y="759115"/>
                  </a:lnTo>
                  <a:lnTo>
                    <a:pt x="100535" y="754671"/>
                  </a:lnTo>
                  <a:lnTo>
                    <a:pt x="123879" y="739749"/>
                  </a:lnTo>
                  <a:lnTo>
                    <a:pt x="476946" y="386136"/>
                  </a:lnTo>
                  <a:lnTo>
                    <a:pt x="484086" y="375261"/>
                  </a:lnTo>
                  <a:lnTo>
                    <a:pt x="486466" y="362778"/>
                  </a:lnTo>
                  <a:lnTo>
                    <a:pt x="484086" y="350296"/>
                  </a:lnTo>
                  <a:lnTo>
                    <a:pt x="476946" y="339421"/>
                  </a:lnTo>
                  <a:lnTo>
                    <a:pt x="138049" y="0"/>
                  </a:lnTo>
                </a:path>
              </a:pathLst>
            </a:custGeom>
            <a:solidFill>
              <a:srgbClr val="CC00CC"/>
            </a:solidFill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4">
              <a:extLst>
                <a:ext uri="{FF2B5EF4-FFF2-40B4-BE49-F238E27FC236}">
                  <a16:creationId xmlns:a16="http://schemas.microsoft.com/office/drawing/2014/main" id="{BC4EB03B-CEE7-5557-90F4-17FE1E0CFC97}"/>
                </a:ext>
              </a:extLst>
            </p:cNvPr>
            <p:cNvSpPr/>
            <p:nvPr/>
          </p:nvSpPr>
          <p:spPr>
            <a:xfrm>
              <a:off x="487501" y="1038692"/>
              <a:ext cx="490855" cy="758825"/>
            </a:xfrm>
            <a:custGeom>
              <a:avLst/>
              <a:gdLst/>
              <a:ahLst/>
              <a:cxnLst/>
              <a:rect l="l" t="t" r="r" b="b"/>
              <a:pathLst>
                <a:path w="490855" h="758825">
                  <a:moveTo>
                    <a:pt x="77462" y="0"/>
                  </a:moveTo>
                  <a:lnTo>
                    <a:pt x="25988" y="22240"/>
                  </a:lnTo>
                  <a:lnTo>
                    <a:pt x="1880" y="72863"/>
                  </a:lnTo>
                  <a:lnTo>
                    <a:pt x="0" y="105919"/>
                  </a:lnTo>
                  <a:lnTo>
                    <a:pt x="3709" y="143282"/>
                  </a:lnTo>
                  <a:lnTo>
                    <a:pt x="12116" y="184309"/>
                  </a:lnTo>
                  <a:lnTo>
                    <a:pt x="24326" y="228357"/>
                  </a:lnTo>
                  <a:lnTo>
                    <a:pt x="39446" y="274785"/>
                  </a:lnTo>
                  <a:lnTo>
                    <a:pt x="56582" y="322948"/>
                  </a:lnTo>
                  <a:lnTo>
                    <a:pt x="93332" y="421916"/>
                  </a:lnTo>
                  <a:lnTo>
                    <a:pt x="111157" y="471434"/>
                  </a:lnTo>
                  <a:lnTo>
                    <a:pt x="127425" y="520119"/>
                  </a:lnTo>
                  <a:lnTo>
                    <a:pt x="141242" y="567328"/>
                  </a:lnTo>
                  <a:lnTo>
                    <a:pt x="151715" y="612419"/>
                  </a:lnTo>
                  <a:lnTo>
                    <a:pt x="157950" y="654749"/>
                  </a:lnTo>
                  <a:lnTo>
                    <a:pt x="159054" y="693675"/>
                  </a:lnTo>
                  <a:lnTo>
                    <a:pt x="154133" y="728556"/>
                  </a:lnTo>
                  <a:lnTo>
                    <a:pt x="142294" y="758748"/>
                  </a:lnTo>
                  <a:lnTo>
                    <a:pt x="480882" y="419753"/>
                  </a:lnTo>
                  <a:lnTo>
                    <a:pt x="488022" y="408832"/>
                  </a:lnTo>
                  <a:lnTo>
                    <a:pt x="490402" y="396220"/>
                  </a:lnTo>
                  <a:lnTo>
                    <a:pt x="488022" y="383553"/>
                  </a:lnTo>
                  <a:lnTo>
                    <a:pt x="480882" y="372465"/>
                  </a:lnTo>
                  <a:lnTo>
                    <a:pt x="127830" y="18988"/>
                  </a:lnTo>
                  <a:lnTo>
                    <a:pt x="104569" y="4202"/>
                  </a:lnTo>
                  <a:lnTo>
                    <a:pt x="77462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15">
              <a:extLst>
                <a:ext uri="{FF2B5EF4-FFF2-40B4-BE49-F238E27FC236}">
                  <a16:creationId xmlns:a16="http://schemas.microsoft.com/office/drawing/2014/main" id="{6E5B9C91-1EE7-171E-A074-7186C46C6704}"/>
                </a:ext>
              </a:extLst>
            </p:cNvPr>
            <p:cNvSpPr/>
            <p:nvPr/>
          </p:nvSpPr>
          <p:spPr>
            <a:xfrm>
              <a:off x="487501" y="1038692"/>
              <a:ext cx="490855" cy="758825"/>
            </a:xfrm>
            <a:custGeom>
              <a:avLst/>
              <a:gdLst/>
              <a:ahLst/>
              <a:cxnLst/>
              <a:rect l="l" t="t" r="r" b="b"/>
              <a:pathLst>
                <a:path w="490855" h="758825">
                  <a:moveTo>
                    <a:pt x="142294" y="758749"/>
                  </a:moveTo>
                  <a:lnTo>
                    <a:pt x="154133" y="728556"/>
                  </a:lnTo>
                  <a:lnTo>
                    <a:pt x="159054" y="693676"/>
                  </a:lnTo>
                  <a:lnTo>
                    <a:pt x="157950" y="654749"/>
                  </a:lnTo>
                  <a:lnTo>
                    <a:pt x="151715" y="612420"/>
                  </a:lnTo>
                  <a:lnTo>
                    <a:pt x="141242" y="567329"/>
                  </a:lnTo>
                  <a:lnTo>
                    <a:pt x="127425" y="520120"/>
                  </a:lnTo>
                  <a:lnTo>
                    <a:pt x="111157" y="471435"/>
                  </a:lnTo>
                  <a:lnTo>
                    <a:pt x="93332" y="421916"/>
                  </a:lnTo>
                  <a:lnTo>
                    <a:pt x="74842" y="372207"/>
                  </a:lnTo>
                  <a:lnTo>
                    <a:pt x="56582" y="322949"/>
                  </a:lnTo>
                  <a:lnTo>
                    <a:pt x="39446" y="274785"/>
                  </a:lnTo>
                  <a:lnTo>
                    <a:pt x="24326" y="228358"/>
                  </a:lnTo>
                  <a:lnTo>
                    <a:pt x="12116" y="184310"/>
                  </a:lnTo>
                  <a:lnTo>
                    <a:pt x="3709" y="143283"/>
                  </a:lnTo>
                  <a:lnTo>
                    <a:pt x="0" y="105920"/>
                  </a:lnTo>
                  <a:lnTo>
                    <a:pt x="1880" y="72863"/>
                  </a:lnTo>
                  <a:lnTo>
                    <a:pt x="10245" y="44756"/>
                  </a:lnTo>
                  <a:lnTo>
                    <a:pt x="25988" y="22240"/>
                  </a:lnTo>
                  <a:lnTo>
                    <a:pt x="50078" y="6104"/>
                  </a:lnTo>
                  <a:lnTo>
                    <a:pt x="77462" y="0"/>
                  </a:lnTo>
                  <a:lnTo>
                    <a:pt x="104569" y="4202"/>
                  </a:lnTo>
                  <a:lnTo>
                    <a:pt x="127830" y="18989"/>
                  </a:lnTo>
                  <a:lnTo>
                    <a:pt x="480882" y="372466"/>
                  </a:lnTo>
                  <a:lnTo>
                    <a:pt x="488022" y="383553"/>
                  </a:lnTo>
                  <a:lnTo>
                    <a:pt x="490402" y="396220"/>
                  </a:lnTo>
                  <a:lnTo>
                    <a:pt x="488022" y="408832"/>
                  </a:lnTo>
                  <a:lnTo>
                    <a:pt x="480882" y="419753"/>
                  </a:lnTo>
                  <a:lnTo>
                    <a:pt x="142294" y="758749"/>
                  </a:lnTo>
                  <a:close/>
                </a:path>
              </a:pathLst>
            </a:custGeom>
            <a:solidFill>
              <a:srgbClr val="CC00CC"/>
            </a:solidFill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16">
            <a:extLst>
              <a:ext uri="{FF2B5EF4-FFF2-40B4-BE49-F238E27FC236}">
                <a16:creationId xmlns:a16="http://schemas.microsoft.com/office/drawing/2014/main" id="{2660D9D2-E990-F002-5923-B43CDEFE0473}"/>
              </a:ext>
            </a:extLst>
          </p:cNvPr>
          <p:cNvSpPr txBox="1"/>
          <p:nvPr/>
        </p:nvSpPr>
        <p:spPr>
          <a:xfrm>
            <a:off x="1260315" y="1009457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chemeClr val="bg1"/>
                </a:solidFill>
                <a:latin typeface="Arial"/>
                <a:cs typeface="Arial"/>
              </a:rPr>
              <a:t>4</a:t>
            </a:r>
            <a:endParaRPr sz="28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6" name="ZoneTexte 22">
            <a:extLst>
              <a:ext uri="{FF2B5EF4-FFF2-40B4-BE49-F238E27FC236}">
                <a16:creationId xmlns:a16="http://schemas.microsoft.com/office/drawing/2014/main" id="{63D39554-BCBC-8BC3-E6FB-ECFC52B95347}"/>
              </a:ext>
            </a:extLst>
          </p:cNvPr>
          <p:cNvSpPr txBox="1"/>
          <p:nvPr/>
        </p:nvSpPr>
        <p:spPr>
          <a:xfrm>
            <a:off x="1624130" y="1584131"/>
            <a:ext cx="6283485" cy="657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fr-FR" b="1" dirty="0">
                <a:latin typeface="Bookman Old Style" panose="02050604050505020204" pitchFamily="18" charset="0"/>
              </a:rPr>
              <a:t>Diodes</a:t>
            </a:r>
          </a:p>
          <a:p>
            <a:r>
              <a:rPr lang="fr-FR" sz="1600" b="1" dirty="0">
                <a:latin typeface="Bookman Old Style" panose="02050604050505020204" pitchFamily="18" charset="0"/>
              </a:rPr>
              <a:t> 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6531CE-4E19-AFA7-07B3-C5BA0BED48D6}"/>
              </a:ext>
            </a:extLst>
          </p:cNvPr>
          <p:cNvSpPr txBox="1"/>
          <p:nvPr/>
        </p:nvSpPr>
        <p:spPr>
          <a:xfrm>
            <a:off x="1912689" y="2080668"/>
            <a:ext cx="63371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400" b="1" dirty="0">
                <a:latin typeface="Bookman Old Style" panose="02050604050505020204" pitchFamily="18" charset="0"/>
              </a:rPr>
              <a:t>Diode à jonction</a:t>
            </a:r>
          </a:p>
          <a:p>
            <a:endParaRPr lang="fr-FR" sz="1400" b="1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400" b="1" dirty="0">
                <a:latin typeface="Bookman Old Style" panose="02050604050505020204" pitchFamily="18" charset="0"/>
              </a:rPr>
              <a:t>Modèles de diode</a:t>
            </a:r>
          </a:p>
          <a:p>
            <a:endParaRPr lang="fr-FR" sz="1400" b="1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400" b="1" dirty="0">
                <a:latin typeface="Bookman Old Style" panose="02050604050505020204" pitchFamily="18" charset="0"/>
              </a:rPr>
              <a:t>Circuits à diodes</a:t>
            </a:r>
          </a:p>
          <a:p>
            <a:endParaRPr lang="fr-FR" sz="1400" b="1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400" b="1" dirty="0">
                <a:latin typeface="Bookman Old Style" panose="02050604050505020204" pitchFamily="18" charset="0"/>
              </a:rPr>
              <a:t>Diodes spéciales -Diode Zener-</a:t>
            </a:r>
          </a:p>
          <a:p>
            <a:endParaRPr lang="fr-FR" sz="1400" b="1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400" b="1" dirty="0">
                <a:latin typeface="Bookman Old Style" panose="02050604050505020204" pitchFamily="18" charset="0"/>
              </a:rPr>
              <a:t>Autres diodes</a:t>
            </a:r>
          </a:p>
        </p:txBody>
      </p:sp>
    </p:spTree>
    <p:extLst>
      <p:ext uri="{BB962C8B-B14F-4D97-AF65-F5344CB8AC3E}">
        <p14:creationId xmlns:p14="http://schemas.microsoft.com/office/powerpoint/2010/main" val="1079278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6B0CA2E-4EB6-02F3-3239-3F2CE86C61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5411" y="2965977"/>
            <a:ext cx="2203672" cy="1745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à coins arrondis 9">
            <a:extLst>
              <a:ext uri="{FF2B5EF4-FFF2-40B4-BE49-F238E27FC236}">
                <a16:creationId xmlns:a16="http://schemas.microsoft.com/office/drawing/2014/main" id="{A1AC38CF-8945-4497-ABF5-6B36D1AEEF35}"/>
              </a:ext>
            </a:extLst>
          </p:cNvPr>
          <p:cNvSpPr/>
          <p:nvPr/>
        </p:nvSpPr>
        <p:spPr>
          <a:xfrm>
            <a:off x="329965" y="1256422"/>
            <a:ext cx="8719196" cy="89622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5"/>
            <a:ext cx="533527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-Diodes-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631211" y="4824469"/>
            <a:ext cx="24574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5</a:t>
            </a:fld>
            <a:endParaRPr sz="240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0646" y="557613"/>
            <a:ext cx="2802154" cy="918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93065" lvl="1" indent="-3810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Diode à jonction</a:t>
            </a:r>
          </a:p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sz="1600" b="1"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1.1 Définition</a:t>
            </a:r>
          </a:p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endParaRPr lang="fr-FR" b="1" spc="-5" dirty="0">
              <a:solidFill>
                <a:srgbClr val="FF0000"/>
              </a:solidFill>
              <a:latin typeface="Bookman Old Style" panose="02050604050505020204" pitchFamily="18" charset="0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334000" y="361950"/>
            <a:ext cx="3709256" cy="10448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B077F48-679D-86C4-FD3C-E4A3B1D22088}"/>
              </a:ext>
            </a:extLst>
          </p:cNvPr>
          <p:cNvSpPr txBox="1"/>
          <p:nvPr/>
        </p:nvSpPr>
        <p:spPr>
          <a:xfrm>
            <a:off x="329965" y="1296069"/>
            <a:ext cx="86695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fontAlgn="auto" hangingPunct="1">
              <a:spcAft>
                <a:spcPts val="600"/>
              </a:spcAft>
              <a:buFont typeface="Arial" pitchFamily="34" charset="0"/>
              <a:buNone/>
              <a:defRPr/>
            </a:pPr>
            <a:r>
              <a:rPr lang="fr-FR" sz="1600" b="1" dirty="0">
                <a:latin typeface="Bookman Old Style" panose="02050604050505020204" pitchFamily="18" charset="0"/>
              </a:rPr>
              <a:t>Diode</a:t>
            </a:r>
            <a:r>
              <a:rPr lang="fr-FR" sz="1600" dirty="0">
                <a:latin typeface="Bookman Old Style" panose="02050604050505020204" pitchFamily="18" charset="0"/>
              </a:rPr>
              <a:t> </a:t>
            </a:r>
            <a:r>
              <a:rPr lang="fr-FR" sz="1600" b="1" dirty="0">
                <a:latin typeface="Bookman Old Style" panose="02050604050505020204" pitchFamily="18" charset="0"/>
              </a:rPr>
              <a:t>à jonction </a:t>
            </a:r>
            <a:r>
              <a:rPr lang="fr-FR" sz="1600" dirty="0">
                <a:latin typeface="Bookman Old Style" panose="02050604050505020204" pitchFamily="18" charset="0"/>
              </a:rPr>
              <a:t>est un </a:t>
            </a:r>
            <a:r>
              <a:rPr lang="fr-FR" sz="1600" b="1" dirty="0">
                <a:latin typeface="Bookman Old Style" panose="02050604050505020204" pitchFamily="18" charset="0"/>
              </a:rPr>
              <a:t>composant électronique </a:t>
            </a:r>
            <a:r>
              <a:rPr lang="fr-FR" sz="1600" dirty="0">
                <a:latin typeface="Bookman Old Style" panose="02050604050505020204" pitchFamily="18" charset="0"/>
              </a:rPr>
              <a:t>de base. Son fonctionnement macroscopique est celui d'un </a:t>
            </a:r>
            <a:r>
              <a:rPr lang="fr-FR" sz="1600" b="1" dirty="0">
                <a:latin typeface="Bookman Old Style" panose="02050604050505020204" pitchFamily="18" charset="0"/>
              </a:rPr>
              <a:t>interrupteur</a:t>
            </a:r>
            <a:r>
              <a:rPr lang="fr-FR" sz="1600" dirty="0">
                <a:latin typeface="Bookman Old Style" panose="02050604050505020204" pitchFamily="18" charset="0"/>
              </a:rPr>
              <a:t> </a:t>
            </a:r>
            <a:r>
              <a:rPr lang="fr-FR" sz="1600" b="1" dirty="0">
                <a:latin typeface="Bookman Old Style" panose="02050604050505020204" pitchFamily="18" charset="0"/>
              </a:rPr>
              <a:t>commandé</a:t>
            </a:r>
            <a:r>
              <a:rPr lang="fr-FR" sz="1600" dirty="0">
                <a:latin typeface="Bookman Old Style" panose="02050604050505020204" pitchFamily="18" charset="0"/>
              </a:rPr>
              <a:t> par une </a:t>
            </a:r>
            <a:r>
              <a:rPr lang="fr-FR" sz="1600" b="1" dirty="0">
                <a:latin typeface="Bookman Old Style" panose="02050604050505020204" pitchFamily="18" charset="0"/>
              </a:rPr>
              <a:t>tension V</a:t>
            </a:r>
            <a:r>
              <a:rPr lang="fr-FR" sz="1600" b="1" baseline="-25000" dirty="0">
                <a:latin typeface="Bookman Old Style" panose="02050604050505020204" pitchFamily="18" charset="0"/>
              </a:rPr>
              <a:t>d</a:t>
            </a:r>
            <a:r>
              <a:rPr lang="fr-FR" sz="1600" b="1" dirty="0">
                <a:latin typeface="Bookman Old Style" panose="02050604050505020204" pitchFamily="18" charset="0"/>
              </a:rPr>
              <a:t> </a:t>
            </a:r>
            <a:r>
              <a:rPr lang="fr-FR" sz="1600" dirty="0">
                <a:latin typeface="Bookman Old Style" panose="02050604050505020204" pitchFamily="18" charset="0"/>
              </a:rPr>
              <a:t>(ou</a:t>
            </a:r>
            <a:r>
              <a:rPr lang="fr-FR" sz="1600" b="1" dirty="0">
                <a:latin typeface="Bookman Old Style" panose="02050604050505020204" pitchFamily="18" charset="0"/>
              </a:rPr>
              <a:t> V</a:t>
            </a:r>
            <a:r>
              <a:rPr lang="fr-FR" sz="1600" b="1" baseline="-25000" dirty="0">
                <a:latin typeface="Bookman Old Style" panose="02050604050505020204" pitchFamily="18" charset="0"/>
              </a:rPr>
              <a:t>AK</a:t>
            </a:r>
            <a:r>
              <a:rPr lang="fr-FR" sz="1600" dirty="0">
                <a:latin typeface="Bookman Old Style" panose="02050604050505020204" pitchFamily="18" charset="0"/>
              </a:rPr>
              <a:t>)</a:t>
            </a:r>
            <a:r>
              <a:rPr lang="fr-FR" sz="1600" b="1" dirty="0">
                <a:latin typeface="Bookman Old Style" panose="02050604050505020204" pitchFamily="18" charset="0"/>
              </a:rPr>
              <a:t> </a:t>
            </a:r>
            <a:r>
              <a:rPr lang="fr-FR" sz="1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qui ne laisse passer le courant que dans un seul sens</a:t>
            </a:r>
            <a:r>
              <a:rPr lang="fr-FR" sz="1600" dirty="0">
                <a:latin typeface="Bookman Old Style" panose="02050604050505020204" pitchFamily="18" charset="0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0B7397-CE7F-EB71-8F48-D1C1F8D65F5D}"/>
              </a:ext>
            </a:extLst>
          </p:cNvPr>
          <p:cNvSpPr txBox="1"/>
          <p:nvPr/>
        </p:nvSpPr>
        <p:spPr>
          <a:xfrm>
            <a:off x="339776" y="2278362"/>
            <a:ext cx="871919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fontAlgn="auto" hangingPunct="1">
              <a:spcAft>
                <a:spcPts val="600"/>
              </a:spcAft>
              <a:buFont typeface="Arial" pitchFamily="34" charset="0"/>
              <a:buNone/>
              <a:defRPr/>
            </a:pPr>
            <a:r>
              <a:rPr lang="fr-FR" sz="15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Cette caractéristique </a:t>
            </a:r>
            <a:r>
              <a:rPr lang="fr-FR" sz="1500" dirty="0">
                <a:latin typeface="Bookman Old Style" panose="02050604050505020204" pitchFamily="18" charset="0"/>
              </a:rPr>
              <a:t>permet un large champ d'applications dans le domaine de l'électronique dont les plus courants sont:</a:t>
            </a:r>
          </a:p>
          <a:p>
            <a:pPr marL="285750" indent="-285750" algn="just" eaLnBrk="1" fontAlgn="auto" hangingPunct="1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fr-FR" sz="1500" b="1" dirty="0">
                <a:latin typeface="Bookman Old Style" panose="02050604050505020204" pitchFamily="18" charset="0"/>
              </a:rPr>
              <a:t>Redressement</a:t>
            </a:r>
            <a:r>
              <a:rPr lang="fr-FR" sz="1500" dirty="0">
                <a:latin typeface="Bookman Old Style" panose="02050604050505020204" pitchFamily="18" charset="0"/>
              </a:rPr>
              <a:t> du courant alternatif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fr-FR" sz="1500" dirty="0">
                <a:latin typeface="Bookman Old Style" panose="02050604050505020204" pitchFamily="18" charset="0"/>
              </a:rPr>
              <a:t> </a:t>
            </a:r>
          </a:p>
          <a:p>
            <a:pPr marL="285750" indent="-285750" algn="just" eaLnBrk="1" fontAlgn="auto" hangingPunct="1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fr-FR" sz="1500" b="1" dirty="0">
                <a:latin typeface="Bookman Old Style" panose="02050604050505020204" pitchFamily="18" charset="0"/>
              </a:rPr>
              <a:t>Régulation</a:t>
            </a:r>
            <a:r>
              <a:rPr lang="fr-FR" sz="1500" dirty="0">
                <a:latin typeface="Bookman Old Style" panose="02050604050505020204" pitchFamily="18" charset="0"/>
              </a:rPr>
              <a:t> des tensions</a:t>
            </a:r>
          </a:p>
        </p:txBody>
      </p:sp>
      <p:grpSp>
        <p:nvGrpSpPr>
          <p:cNvPr id="5" name="Groupe 37">
            <a:extLst>
              <a:ext uri="{FF2B5EF4-FFF2-40B4-BE49-F238E27FC236}">
                <a16:creationId xmlns:a16="http://schemas.microsoft.com/office/drawing/2014/main" id="{2F15B703-F91E-7458-F6ED-94A56C5B4277}"/>
              </a:ext>
            </a:extLst>
          </p:cNvPr>
          <p:cNvGrpSpPr>
            <a:grpSpLocks/>
          </p:cNvGrpSpPr>
          <p:nvPr/>
        </p:nvGrpSpPr>
        <p:grpSpPr bwMode="auto">
          <a:xfrm>
            <a:off x="804284" y="3894829"/>
            <a:ext cx="1769820" cy="941156"/>
            <a:chOff x="4482153" y="4898611"/>
            <a:chExt cx="1487640" cy="555290"/>
          </a:xfrm>
        </p:grpSpPr>
        <p:sp>
          <p:nvSpPr>
            <p:cNvPr id="11" name="Text Box 2">
              <a:extLst>
                <a:ext uri="{FF2B5EF4-FFF2-40B4-BE49-F238E27FC236}">
                  <a16:creationId xmlns:a16="http://schemas.microsoft.com/office/drawing/2014/main" id="{BF89B4C0-9996-66BC-9DD3-B6CD41740A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5751" y="5187201"/>
              <a:ext cx="369887" cy="266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fr-FR" sz="1600" b="1" dirty="0">
                  <a:latin typeface="Bookman Old Style" panose="02050604050505020204" pitchFamily="18" charset="0"/>
                </a:rPr>
                <a:t>V</a:t>
              </a:r>
              <a:r>
                <a:rPr lang="fr-FR" sz="1600" b="1" baseline="-25000" dirty="0">
                  <a:latin typeface="Bookman Old Style" panose="02050604050505020204" pitchFamily="18" charset="0"/>
                </a:rPr>
                <a:t>D</a:t>
              </a:r>
              <a:endParaRPr lang="fr-FR" sz="1600" b="1" dirty="0">
                <a:latin typeface="Bookman Old Style" panose="02050604050505020204" pitchFamily="18" charset="0"/>
              </a:endParaRPr>
            </a:p>
          </p:txBody>
        </p:sp>
        <p:sp>
          <p:nvSpPr>
            <p:cNvPr id="13" name="Text Box 3">
              <a:extLst>
                <a:ext uri="{FF2B5EF4-FFF2-40B4-BE49-F238E27FC236}">
                  <a16:creationId xmlns:a16="http://schemas.microsoft.com/office/drawing/2014/main" id="{788C5FF9-CBD2-5639-C49D-A90D167CDB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4205" y="4904907"/>
              <a:ext cx="255588" cy="266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fr-FR" sz="1600" b="1" dirty="0">
                  <a:latin typeface="Bookman Old Style" panose="02050604050505020204" pitchFamily="18" charset="0"/>
                </a:rPr>
                <a:t>K</a:t>
              </a:r>
            </a:p>
          </p:txBody>
        </p:sp>
        <p:sp>
          <p:nvSpPr>
            <p:cNvPr id="16" name="Text Box 4">
              <a:extLst>
                <a:ext uri="{FF2B5EF4-FFF2-40B4-BE49-F238E27FC236}">
                  <a16:creationId xmlns:a16="http://schemas.microsoft.com/office/drawing/2014/main" id="{F8F93BF3-D638-1854-0CF2-1F8E499FF6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2153" y="4898611"/>
              <a:ext cx="255588" cy="266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fr-FR" sz="1600" b="1" dirty="0">
                  <a:latin typeface="Bookman Old Style" panose="02050604050505020204" pitchFamily="18" charset="0"/>
                </a:rPr>
                <a:t>A</a:t>
              </a:r>
            </a:p>
          </p:txBody>
        </p:sp>
        <p:sp>
          <p:nvSpPr>
            <p:cNvPr id="17" name="AutoShape 18">
              <a:extLst>
                <a:ext uri="{FF2B5EF4-FFF2-40B4-BE49-F238E27FC236}">
                  <a16:creationId xmlns:a16="http://schemas.microsoft.com/office/drawing/2014/main" id="{DF21E646-E3A3-D3E2-9F4F-2FE77919DAD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127639" y="4995918"/>
              <a:ext cx="152100" cy="114151"/>
            </a:xfrm>
            <a:prstGeom prst="triangle">
              <a:avLst>
                <a:gd name="adj" fmla="val 50000"/>
              </a:avLst>
            </a:prstGeom>
            <a:ln>
              <a:headEnd/>
              <a:tailE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dirty="0">
                <a:latin typeface="Bookman Old Style" panose="02050604050505020204" pitchFamily="18" charset="0"/>
              </a:endParaRPr>
            </a:p>
          </p:txBody>
        </p:sp>
        <p:cxnSp>
          <p:nvCxnSpPr>
            <p:cNvPr id="20" name="AutoShape 19">
              <a:extLst>
                <a:ext uri="{FF2B5EF4-FFF2-40B4-BE49-F238E27FC236}">
                  <a16:creationId xmlns:a16="http://schemas.microsoft.com/office/drawing/2014/main" id="{F14BEF61-605F-DDFF-590A-0E698047971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565637" y="5053307"/>
              <a:ext cx="580977" cy="0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AutoShape 20">
              <a:extLst>
                <a:ext uri="{FF2B5EF4-FFF2-40B4-BE49-F238E27FC236}">
                  <a16:creationId xmlns:a16="http://schemas.microsoft.com/office/drawing/2014/main" id="{467EFBB8-5B70-B753-F8F5-DD5E45738F1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260765" y="4976943"/>
              <a:ext cx="0" cy="152100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AutoShape 21">
              <a:extLst>
                <a:ext uri="{FF2B5EF4-FFF2-40B4-BE49-F238E27FC236}">
                  <a16:creationId xmlns:a16="http://schemas.microsoft.com/office/drawing/2014/main" id="{78B1109D-0E0B-F70D-1B06-5D4E6BA40BC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260765" y="5053307"/>
              <a:ext cx="533272" cy="0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AutoShape 22">
              <a:extLst>
                <a:ext uri="{FF2B5EF4-FFF2-40B4-BE49-F238E27FC236}">
                  <a16:creationId xmlns:a16="http://schemas.microsoft.com/office/drawing/2014/main" id="{0B9F4D48-3A7C-ACE7-7168-67DA59D4A36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4642305" y="5171607"/>
              <a:ext cx="1073360" cy="626"/>
            </a:xfrm>
            <a:prstGeom prst="straightConnector1">
              <a:avLst/>
            </a:prstGeom>
            <a:ln>
              <a:headEnd/>
              <a:tailEnd type="arrow" w="med" len="med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43C4BC3-5329-3065-E685-62DA962402DD}"/>
              </a:ext>
            </a:extLst>
          </p:cNvPr>
          <p:cNvGrpSpPr/>
          <p:nvPr/>
        </p:nvGrpSpPr>
        <p:grpSpPr>
          <a:xfrm>
            <a:off x="4253812" y="3956446"/>
            <a:ext cx="2500312" cy="1071563"/>
            <a:chOff x="785813" y="3951659"/>
            <a:chExt cx="2500312" cy="1071563"/>
          </a:xfrm>
        </p:grpSpPr>
        <p:sp>
          <p:nvSpPr>
            <p:cNvPr id="25" name="Text Box 5">
              <a:extLst>
                <a:ext uri="{FF2B5EF4-FFF2-40B4-BE49-F238E27FC236}">
                  <a16:creationId xmlns:a16="http://schemas.microsoft.com/office/drawing/2014/main" id="{348B5443-3EC9-92E1-29A5-E7C8EB216A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2288" y="4551734"/>
              <a:ext cx="608012" cy="4714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fr-FR" b="1">
                  <a:latin typeface="Bookman Old Style" panose="02050604050505020204" pitchFamily="18" charset="0"/>
                </a:rPr>
                <a:t>V</a:t>
              </a:r>
              <a:r>
                <a:rPr lang="fr-FR" b="1" baseline="-25000">
                  <a:latin typeface="Bookman Old Style" panose="02050604050505020204" pitchFamily="18" charset="0"/>
                </a:rPr>
                <a:t>D</a:t>
              </a:r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26" name="Text Box 6">
              <a:extLst>
                <a:ext uri="{FF2B5EF4-FFF2-40B4-BE49-F238E27FC236}">
                  <a16:creationId xmlns:a16="http://schemas.microsoft.com/office/drawing/2014/main" id="{5A65FFEC-AA28-3403-EBE1-A16DE6D708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9625" y="4051672"/>
              <a:ext cx="420688" cy="471487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fr-FR" sz="1400" b="1">
                  <a:latin typeface="Bookman Old Style" panose="02050604050505020204" pitchFamily="18" charset="0"/>
                </a:rPr>
                <a:t>N</a:t>
              </a:r>
            </a:p>
          </p:txBody>
        </p:sp>
        <p:sp>
          <p:nvSpPr>
            <p:cNvPr id="27" name="Text Box 7">
              <a:extLst>
                <a:ext uri="{FF2B5EF4-FFF2-40B4-BE49-F238E27FC236}">
                  <a16:creationId xmlns:a16="http://schemas.microsoft.com/office/drawing/2014/main" id="{14A2CB83-85DC-CFCC-BFF9-2CD5674E98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1000" y="4051672"/>
              <a:ext cx="420688" cy="471487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fr-FR" sz="1400" b="1">
                  <a:latin typeface="Bookman Old Style" panose="02050604050505020204" pitchFamily="18" charset="0"/>
                </a:rPr>
                <a:t>P</a:t>
              </a:r>
            </a:p>
          </p:txBody>
        </p:sp>
        <p:sp>
          <p:nvSpPr>
            <p:cNvPr id="28" name="Text Box 8">
              <a:extLst>
                <a:ext uri="{FF2B5EF4-FFF2-40B4-BE49-F238E27FC236}">
                  <a16:creationId xmlns:a16="http://schemas.microsoft.com/office/drawing/2014/main" id="{4EACE342-AA43-7A43-BD77-5216043747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5438" y="3951659"/>
              <a:ext cx="420687" cy="4730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fr-FR" sz="1600" b="1">
                  <a:latin typeface="Bookman Old Style" panose="02050604050505020204" pitchFamily="18" charset="0"/>
                </a:rPr>
                <a:t>K</a:t>
              </a:r>
            </a:p>
          </p:txBody>
        </p:sp>
        <p:sp>
          <p:nvSpPr>
            <p:cNvPr id="29" name="Text Box 9">
              <a:extLst>
                <a:ext uri="{FF2B5EF4-FFF2-40B4-BE49-F238E27FC236}">
                  <a16:creationId xmlns:a16="http://schemas.microsoft.com/office/drawing/2014/main" id="{9C55E6C2-0BF5-DBBD-DEE3-EB2A49A838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5813" y="3951659"/>
              <a:ext cx="420687" cy="4730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fr-FR" sz="1600" b="1">
                  <a:latin typeface="Bookman Old Style" panose="02050604050505020204" pitchFamily="18" charset="0"/>
                </a:rPr>
                <a:t>A</a:t>
              </a:r>
            </a:p>
          </p:txBody>
        </p:sp>
        <p:cxnSp>
          <p:nvCxnSpPr>
            <p:cNvPr id="30" name="AutoShape 10">
              <a:extLst>
                <a:ext uri="{FF2B5EF4-FFF2-40B4-BE49-F238E27FC236}">
                  <a16:creationId xmlns:a16="http://schemas.microsoft.com/office/drawing/2014/main" id="{F98AA2E4-1348-6831-24B5-A420BFF3B6A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89013" y="4218359"/>
              <a:ext cx="517525" cy="0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AutoShape 11">
              <a:extLst>
                <a:ext uri="{FF2B5EF4-FFF2-40B4-BE49-F238E27FC236}">
                  <a16:creationId xmlns:a16="http://schemas.microsoft.com/office/drawing/2014/main" id="{99F58260-AEAC-F968-6699-04FE3EFD0DE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62150" y="4083422"/>
              <a:ext cx="0" cy="269875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2" name="AutoShape 12">
              <a:extLst>
                <a:ext uri="{FF2B5EF4-FFF2-40B4-BE49-F238E27FC236}">
                  <a16:creationId xmlns:a16="http://schemas.microsoft.com/office/drawing/2014/main" id="{9F7C71A7-3065-F8DA-F2C2-C2D3AC039D9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506538" y="4083422"/>
              <a:ext cx="909637" cy="0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3" name="AutoShape 13">
              <a:extLst>
                <a:ext uri="{FF2B5EF4-FFF2-40B4-BE49-F238E27FC236}">
                  <a16:creationId xmlns:a16="http://schemas.microsoft.com/office/drawing/2014/main" id="{A1967FDC-B975-4DDA-0190-02FB466BA79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506538" y="4353297"/>
              <a:ext cx="909637" cy="0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4" name="AutoShape 14">
              <a:extLst>
                <a:ext uri="{FF2B5EF4-FFF2-40B4-BE49-F238E27FC236}">
                  <a16:creationId xmlns:a16="http://schemas.microsoft.com/office/drawing/2014/main" id="{441A749B-BF94-FC34-8E1B-6507E3072F1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506538" y="4083422"/>
              <a:ext cx="0" cy="269875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5" name="AutoShape 15">
              <a:extLst>
                <a:ext uri="{FF2B5EF4-FFF2-40B4-BE49-F238E27FC236}">
                  <a16:creationId xmlns:a16="http://schemas.microsoft.com/office/drawing/2014/main" id="{C107A494-8F88-FCB8-6C97-B0B289B889E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428875" y="4083422"/>
              <a:ext cx="0" cy="269875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6" name="AutoShape 16">
              <a:extLst>
                <a:ext uri="{FF2B5EF4-FFF2-40B4-BE49-F238E27FC236}">
                  <a16:creationId xmlns:a16="http://schemas.microsoft.com/office/drawing/2014/main" id="{958DE93F-FBA1-8EF4-2206-79A0BD71FD6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432050" y="4218359"/>
              <a:ext cx="517525" cy="0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AutoShape 17">
              <a:extLst>
                <a:ext uri="{FF2B5EF4-FFF2-40B4-BE49-F238E27FC236}">
                  <a16:creationId xmlns:a16="http://schemas.microsoft.com/office/drawing/2014/main" id="{9F3DC059-5429-D521-3341-D8B4CE79F1E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143000" y="4523159"/>
              <a:ext cx="1743075" cy="0"/>
            </a:xfrm>
            <a:prstGeom prst="straightConnector1">
              <a:avLst/>
            </a:prstGeom>
            <a:ln>
              <a:headEnd/>
              <a:tailEnd type="arrow" w="med" len="med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38" name="ZoneTexte 39">
            <a:extLst>
              <a:ext uri="{FF2B5EF4-FFF2-40B4-BE49-F238E27FC236}">
                <a16:creationId xmlns:a16="http://schemas.microsoft.com/office/drawing/2014/main" id="{63705D38-9735-AFA8-6046-F68C7D8AAE77}"/>
              </a:ext>
            </a:extLst>
          </p:cNvPr>
          <p:cNvSpPr txBox="1"/>
          <p:nvPr/>
        </p:nvSpPr>
        <p:spPr>
          <a:xfrm>
            <a:off x="1126107" y="4767914"/>
            <a:ext cx="105189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fr-FR"/>
            </a:defPPr>
            <a:lvl1pPr fontAlgn="auto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FF"/>
                </a:solidFill>
                <a:latin typeface="Book Antiqua" panose="02040602050305030304" pitchFamily="18" charset="0"/>
              </a:defRPr>
            </a:lvl1pPr>
          </a:lstStyle>
          <a:p>
            <a:r>
              <a:rPr lang="fr-FR" dirty="0"/>
              <a:t>Structure</a:t>
            </a:r>
          </a:p>
        </p:txBody>
      </p:sp>
      <p:sp>
        <p:nvSpPr>
          <p:cNvPr id="39" name="ZoneTexte 40">
            <a:extLst>
              <a:ext uri="{FF2B5EF4-FFF2-40B4-BE49-F238E27FC236}">
                <a16:creationId xmlns:a16="http://schemas.microsoft.com/office/drawing/2014/main" id="{68269F93-F8BE-71D9-8919-BC763441301C}"/>
              </a:ext>
            </a:extLst>
          </p:cNvPr>
          <p:cNvSpPr txBox="1"/>
          <p:nvPr/>
        </p:nvSpPr>
        <p:spPr>
          <a:xfrm>
            <a:off x="4921042" y="4840442"/>
            <a:ext cx="101662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600" b="1" dirty="0">
                <a:solidFill>
                  <a:srgbClr val="0000FF"/>
                </a:solidFill>
                <a:latin typeface="Book Antiqua" panose="02040602050305030304" pitchFamily="18" charset="0"/>
              </a:rPr>
              <a:t>Symbole</a:t>
            </a:r>
          </a:p>
        </p:txBody>
      </p:sp>
    </p:spTree>
    <p:extLst>
      <p:ext uri="{BB962C8B-B14F-4D97-AF65-F5344CB8AC3E}">
        <p14:creationId xmlns:p14="http://schemas.microsoft.com/office/powerpoint/2010/main" val="3729985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5"/>
            <a:ext cx="533527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-Diodes-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631211" y="4824469"/>
            <a:ext cx="24574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6</a:t>
            </a:fld>
            <a:endParaRPr sz="240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0646" y="557613"/>
            <a:ext cx="4173754" cy="9053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93065" lvl="1" indent="-3810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Diode à jonction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fr-FR" sz="1600" b="1"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1.2 Polarisation de la diode</a:t>
            </a:r>
          </a:p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endParaRPr lang="fr-FR" b="1" spc="-5" dirty="0">
              <a:solidFill>
                <a:srgbClr val="FF0000"/>
              </a:solidFill>
              <a:latin typeface="Bookman Old Style" panose="02050604050505020204" pitchFamily="18" charset="0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334000" y="361950"/>
            <a:ext cx="3709256" cy="10448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C09C8CC-51BE-054A-12B9-1242E8DB1497}"/>
              </a:ext>
            </a:extLst>
          </p:cNvPr>
          <p:cNvSpPr txBox="1"/>
          <p:nvPr/>
        </p:nvSpPr>
        <p:spPr>
          <a:xfrm>
            <a:off x="914400" y="111844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>
                <a:solidFill>
                  <a:srgbClr val="00B050"/>
                </a:solidFill>
                <a:latin typeface="Bookman Old Style" panose="02050604050505020204" pitchFamily="18" charset="0"/>
              </a:rPr>
              <a:t>A. Polarisation directe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017E339-A924-0B38-4939-5FA62695C5E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94013" y="1693696"/>
            <a:ext cx="2637198" cy="19919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73B2C7B-C92B-8E1E-4796-F1EEF1A65CAB}"/>
                  </a:ext>
                </a:extLst>
              </p:cNvPr>
              <p:cNvSpPr txBox="1"/>
              <p:nvPr/>
            </p:nvSpPr>
            <p:spPr>
              <a:xfrm>
                <a:off x="762000" y="1812496"/>
                <a:ext cx="4953000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fr-FR" dirty="0">
                    <a:latin typeface="Bookman Old Style" panose="02050604050505020204" pitchFamily="18" charset="0"/>
                  </a:rPr>
                  <a:t>En </a:t>
                </a:r>
                <a:r>
                  <a:rPr lang="fr-FR" b="1" dirty="0">
                    <a:latin typeface="Bookman Old Style" panose="02050604050505020204" pitchFamily="18" charset="0"/>
                  </a:rPr>
                  <a:t>polarisation directe</a:t>
                </a:r>
                <a:r>
                  <a:rPr lang="fr-FR" dirty="0">
                    <a:latin typeface="Bookman Old Style" panose="02050604050505020204" pitchFamily="18" charset="0"/>
                  </a:rPr>
                  <a:t>:</a:t>
                </a:r>
              </a:p>
              <a:p>
                <a:pPr algn="just"/>
                <a:endParaRPr lang="fr-FR" dirty="0">
                  <a:latin typeface="Bookman Old Style" panose="02050604050505020204" pitchFamily="18" charset="0"/>
                </a:endParaRPr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:r>
                  <a:rPr lang="fr-FR" dirty="0">
                    <a:latin typeface="Bookman Old Style" panose="02050604050505020204" pitchFamily="18" charset="0"/>
                  </a:rPr>
                  <a:t>La tension appliquée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0" dirty="0" smtClean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fr-FR" b="1" i="0" dirty="0" smtClean="0">
                            <a:latin typeface="Cambria Math" panose="02040503050406030204" pitchFamily="18" charset="0"/>
                          </a:rPr>
                          <m:t>𝐀𝐊</m:t>
                        </m:r>
                      </m:sub>
                    </m:sSub>
                  </m:oMath>
                </a14:m>
                <a:r>
                  <a:rPr lang="fr-FR" b="1" dirty="0">
                    <a:latin typeface="Bookman Old Style" panose="02050604050505020204" pitchFamily="18" charset="0"/>
                  </a:rPr>
                  <a:t> &gt; 0 </a:t>
                </a:r>
                <a:r>
                  <a:rPr lang="fr-FR" dirty="0">
                    <a:latin typeface="Bookman Old Style" panose="02050604050505020204" pitchFamily="18" charset="0"/>
                  </a:rPr>
                  <a:t>) </a:t>
                </a:r>
                <a:r>
                  <a:rPr lang="fr-FR" b="1" dirty="0">
                    <a:latin typeface="Bookman Old Style" panose="02050604050505020204" pitchFamily="18" charset="0"/>
                  </a:rPr>
                  <a:t>permet</a:t>
                </a:r>
                <a:r>
                  <a:rPr lang="fr-FR" dirty="0">
                    <a:latin typeface="Bookman Old Style" panose="02050604050505020204" pitchFamily="18" charset="0"/>
                  </a:rPr>
                  <a:t> le </a:t>
                </a:r>
                <a:r>
                  <a:rPr lang="fr-FR" b="1" dirty="0">
                    <a:latin typeface="Bookman Old Style" panose="02050604050505020204" pitchFamily="18" charset="0"/>
                  </a:rPr>
                  <a:t>passage</a:t>
                </a:r>
                <a:r>
                  <a:rPr lang="fr-FR" dirty="0">
                    <a:latin typeface="Bookman Old Style" panose="02050604050505020204" pitchFamily="18" charset="0"/>
                  </a:rPr>
                  <a:t> d’un </a:t>
                </a:r>
                <a:r>
                  <a:rPr lang="fr-FR" b="1" dirty="0">
                    <a:latin typeface="Bookman Old Style" panose="02050604050505020204" pitchFamily="18" charset="0"/>
                  </a:rPr>
                  <a:t>courant</a:t>
                </a:r>
                <a:r>
                  <a:rPr lang="fr-FR" dirty="0">
                    <a:latin typeface="Bookman Old Style" panose="02050604050505020204" pitchFamily="18" charset="0"/>
                  </a:rPr>
                  <a:t> </a:t>
                </a:r>
                <a:r>
                  <a:rPr lang="fr-FR" b="1" dirty="0">
                    <a:latin typeface="Bookman Old Style" panose="02050604050505020204" pitchFamily="18" charset="0"/>
                  </a:rPr>
                  <a:t>électrique</a:t>
                </a:r>
                <a:r>
                  <a:rPr lang="fr-FR" dirty="0">
                    <a:latin typeface="Bookman Old Style" panose="02050604050505020204" pitchFamily="18" charset="0"/>
                  </a:rPr>
                  <a:t> de l’</a:t>
                </a:r>
                <a:r>
                  <a:rPr lang="fr-FR" b="1" dirty="0">
                    <a:latin typeface="Bookman Old Style" panose="02050604050505020204" pitchFamily="18" charset="0"/>
                  </a:rPr>
                  <a:t>Anode </a:t>
                </a:r>
                <a:r>
                  <a:rPr lang="fr-FR" dirty="0">
                    <a:latin typeface="Bookman Old Style" panose="02050604050505020204" pitchFamily="18" charset="0"/>
                  </a:rPr>
                  <a:t>vers la </a:t>
                </a:r>
                <a:r>
                  <a:rPr lang="fr-FR" b="1" dirty="0">
                    <a:latin typeface="Bookman Old Style" panose="02050604050505020204" pitchFamily="18" charset="0"/>
                  </a:rPr>
                  <a:t>Cathode</a:t>
                </a:r>
                <a:r>
                  <a:rPr lang="fr-FR" dirty="0">
                    <a:latin typeface="Bookman Old Style" panose="02050604050505020204" pitchFamily="18" charset="0"/>
                  </a:rPr>
                  <a:t> appelé </a:t>
                </a:r>
                <a:r>
                  <a:rPr lang="fr-FR" b="1" dirty="0">
                    <a:latin typeface="Bookman Old Style" panose="02050604050505020204" pitchFamily="18" charset="0"/>
                  </a:rPr>
                  <a:t>courant direct</a:t>
                </a:r>
                <a:r>
                  <a:rPr lang="fr-FR" dirty="0">
                    <a:latin typeface="Bookman Old Style" panose="02050604050505020204" pitchFamily="18" charset="0"/>
                  </a:rPr>
                  <a:t> 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73B2C7B-C92B-8E1E-4796-F1EEF1A65C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812496"/>
                <a:ext cx="4953000" cy="1754326"/>
              </a:xfrm>
              <a:prstGeom prst="rect">
                <a:avLst/>
              </a:prstGeom>
              <a:blipFill>
                <a:blip r:embed="rId5"/>
                <a:stretch>
                  <a:fillRect l="-984" t="-1736" r="-861" b="-486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3171FE3-7EC6-F938-DBD4-7FA9A41066EB}"/>
                  </a:ext>
                </a:extLst>
              </p:cNvPr>
              <p:cNvSpPr txBox="1"/>
              <p:nvPr/>
            </p:nvSpPr>
            <p:spPr>
              <a:xfrm>
                <a:off x="1524000" y="3994117"/>
                <a:ext cx="3810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400" b="1" dirty="0">
                    <a:latin typeface="Bookman Old Style" panose="02050604050505020204" pitchFamily="18" charset="0"/>
                  </a:rPr>
                  <a:t>Ce qui entraîne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fr-FR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sub>
                    </m:sSub>
                    <m:r>
                      <a:rPr lang="fr-FR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fr-FR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fr-FR" sz="2400" b="1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3171FE3-7EC6-F938-DBD4-7FA9A41066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3994117"/>
                <a:ext cx="3810000" cy="461665"/>
              </a:xfrm>
              <a:prstGeom prst="rect">
                <a:avLst/>
              </a:prstGeom>
              <a:blipFill>
                <a:blip r:embed="rId6"/>
                <a:stretch>
                  <a:fillRect l="-2400" t="-10526" b="-2894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5714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5"/>
            <a:ext cx="533527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-Diodes-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631211" y="4824469"/>
            <a:ext cx="24574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7</a:t>
            </a:fld>
            <a:endParaRPr sz="240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0646" y="557613"/>
            <a:ext cx="4173754" cy="9053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93065" lvl="1" indent="-3810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Diode à jonction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fr-FR" sz="1600" b="1"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1.2 Polarisation de la diode</a:t>
            </a:r>
          </a:p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endParaRPr lang="fr-FR" b="1" spc="-5" dirty="0">
              <a:solidFill>
                <a:srgbClr val="FF0000"/>
              </a:solidFill>
              <a:latin typeface="Bookman Old Style" panose="02050604050505020204" pitchFamily="18" charset="0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334000" y="361950"/>
            <a:ext cx="3709256" cy="10448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C09C8CC-51BE-054A-12B9-1242E8DB1497}"/>
              </a:ext>
            </a:extLst>
          </p:cNvPr>
          <p:cNvSpPr txBox="1"/>
          <p:nvPr/>
        </p:nvSpPr>
        <p:spPr>
          <a:xfrm>
            <a:off x="914400" y="111844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>
                <a:solidFill>
                  <a:srgbClr val="00B050"/>
                </a:solidFill>
                <a:latin typeface="Bookman Old Style" panose="02050604050505020204" pitchFamily="18" charset="0"/>
              </a:rPr>
              <a:t>B. Polarisation inverse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73B2C7B-C92B-8E1E-4796-F1EEF1A65CAB}"/>
                  </a:ext>
                </a:extLst>
              </p:cNvPr>
              <p:cNvSpPr txBox="1"/>
              <p:nvPr/>
            </p:nvSpPr>
            <p:spPr>
              <a:xfrm>
                <a:off x="723900" y="1694587"/>
                <a:ext cx="4953000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fr-FR" dirty="0">
                    <a:latin typeface="Bookman Old Style" panose="02050604050505020204" pitchFamily="18" charset="0"/>
                  </a:rPr>
                  <a:t>En </a:t>
                </a:r>
                <a:r>
                  <a:rPr lang="fr-FR" b="1" dirty="0">
                    <a:latin typeface="Bookman Old Style" panose="02050604050505020204" pitchFamily="18" charset="0"/>
                  </a:rPr>
                  <a:t>polarisation inverse</a:t>
                </a:r>
                <a:r>
                  <a:rPr lang="fr-FR" dirty="0">
                    <a:latin typeface="Bookman Old Style" panose="02050604050505020204" pitchFamily="18" charset="0"/>
                  </a:rPr>
                  <a:t>:</a:t>
                </a:r>
              </a:p>
              <a:p>
                <a:pPr algn="just"/>
                <a:endParaRPr lang="fr-FR" dirty="0">
                  <a:latin typeface="Bookman Old Style" panose="02050604050505020204" pitchFamily="18" charset="0"/>
                </a:endParaRPr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:r>
                  <a:rPr lang="fr-FR" dirty="0">
                    <a:latin typeface="Bookman Old Style" panose="02050604050505020204" pitchFamily="18" charset="0"/>
                  </a:rPr>
                  <a:t>la </a:t>
                </a:r>
                <a:r>
                  <a:rPr lang="fr-FR" b="1" dirty="0">
                    <a:latin typeface="Bookman Old Style" panose="02050604050505020204" pitchFamily="18" charset="0"/>
                  </a:rPr>
                  <a:t>tension</a:t>
                </a:r>
                <a:r>
                  <a:rPr lang="fr-FR" dirty="0">
                    <a:latin typeface="Bookman Old Style" panose="02050604050505020204" pitchFamily="18" charset="0"/>
                  </a:rPr>
                  <a:t> appliquée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0" dirty="0" smtClean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fr-FR" b="1" i="0" dirty="0" smtClean="0">
                            <a:latin typeface="Cambria Math" panose="02040503050406030204" pitchFamily="18" charset="0"/>
                          </a:rPr>
                          <m:t>𝐀𝐊</m:t>
                        </m:r>
                      </m:sub>
                    </m:sSub>
                  </m:oMath>
                </a14:m>
                <a:r>
                  <a:rPr lang="fr-FR" b="1" dirty="0">
                    <a:latin typeface="Bookman Old Style" panose="02050604050505020204" pitchFamily="18" charset="0"/>
                  </a:rPr>
                  <a:t> &lt; 0 </a:t>
                </a:r>
                <a:r>
                  <a:rPr lang="fr-FR" dirty="0">
                    <a:latin typeface="Bookman Old Style" panose="02050604050505020204" pitchFamily="18" charset="0"/>
                  </a:rPr>
                  <a:t>) </a:t>
                </a:r>
                <a:r>
                  <a:rPr lang="fr-FR" b="1" dirty="0">
                    <a:latin typeface="Bookman Old Style" panose="02050604050505020204" pitchFamily="18" charset="0"/>
                  </a:rPr>
                  <a:t>empêche</a:t>
                </a:r>
                <a:r>
                  <a:rPr lang="fr-FR" dirty="0">
                    <a:latin typeface="Bookman Old Style" panose="02050604050505020204" pitchFamily="18" charset="0"/>
                  </a:rPr>
                  <a:t> le </a:t>
                </a:r>
                <a:r>
                  <a:rPr lang="fr-FR" b="1" dirty="0">
                    <a:latin typeface="Bookman Old Style" panose="02050604050505020204" pitchFamily="18" charset="0"/>
                  </a:rPr>
                  <a:t>passage du courant</a:t>
                </a:r>
                <a:r>
                  <a:rPr lang="fr-FR" dirty="0">
                    <a:latin typeface="Bookman Old Style" panose="02050604050505020204" pitchFamily="18" charset="0"/>
                  </a:rPr>
                  <a:t>. Le </a:t>
                </a:r>
                <a:r>
                  <a:rPr lang="fr-FR" b="1" dirty="0">
                    <a:latin typeface="Bookman Old Style" panose="02050604050505020204" pitchFamily="18" charset="0"/>
                  </a:rPr>
                  <a:t>courant inverse </a:t>
                </a:r>
                <a:r>
                  <a:rPr lang="fr-FR" dirty="0">
                    <a:latin typeface="Bookman Old Style" panose="02050604050505020204" pitchFamily="18" charset="0"/>
                  </a:rPr>
                  <a:t>est pratiquement </a:t>
                </a:r>
                <a:r>
                  <a:rPr lang="fr-FR" b="1" dirty="0">
                    <a:latin typeface="Bookman Old Style" panose="02050604050505020204" pitchFamily="18" charset="0"/>
                  </a:rPr>
                  <a:t>nul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73B2C7B-C92B-8E1E-4796-F1EEF1A65C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1694587"/>
                <a:ext cx="4953000" cy="1477328"/>
              </a:xfrm>
              <a:prstGeom prst="rect">
                <a:avLst/>
              </a:prstGeom>
              <a:blipFill>
                <a:blip r:embed="rId3"/>
                <a:stretch>
                  <a:fillRect l="-1108" t="-2479" r="-985" b="-619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A2837AD-FCFF-9EDD-CA2D-061EA748217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00800" y="1694587"/>
            <a:ext cx="2165799" cy="18984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429F51-5688-CA25-1567-7C4523EFAE75}"/>
                  </a:ext>
                </a:extLst>
              </p:cNvPr>
              <p:cNvSpPr txBox="1"/>
              <p:nvPr/>
            </p:nvSpPr>
            <p:spPr>
              <a:xfrm>
                <a:off x="1981200" y="3866727"/>
                <a:ext cx="3810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400" b="1" dirty="0">
                    <a:latin typeface="Bookman Old Style" panose="02050604050505020204" pitchFamily="18" charset="0"/>
                  </a:rPr>
                  <a:t>Ce qui entraîne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fr-FR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sub>
                    </m:sSub>
                    <m:r>
                      <a:rPr lang="fr-FR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fr-FR" sz="2400" b="1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429F51-5688-CA25-1567-7C4523EFA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3866727"/>
                <a:ext cx="3810000" cy="461665"/>
              </a:xfrm>
              <a:prstGeom prst="rect">
                <a:avLst/>
              </a:prstGeom>
              <a:blipFill>
                <a:blip r:embed="rId6"/>
                <a:stretch>
                  <a:fillRect l="-2400" t="-10526" b="-2894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9443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5"/>
            <a:ext cx="533527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-Diodes-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631211" y="4824469"/>
            <a:ext cx="24574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8</a:t>
            </a:fld>
            <a:endParaRPr sz="240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0646" y="557613"/>
            <a:ext cx="4173754" cy="9053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93065" lvl="1" indent="-3810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Diode à jonction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fr-FR" sz="1600" b="1"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1.3 Caractéristique courant tension</a:t>
            </a:r>
          </a:p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endParaRPr lang="fr-FR" b="1" spc="-5" dirty="0">
              <a:solidFill>
                <a:srgbClr val="FF0000"/>
              </a:solidFill>
              <a:latin typeface="Bookman Old Style" panose="02050604050505020204" pitchFamily="18" charset="0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334000" y="361950"/>
            <a:ext cx="3709256" cy="10448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CE7CE6E-C6C7-3CF3-8C47-679C87B55018}"/>
                  </a:ext>
                </a:extLst>
              </p:cNvPr>
              <p:cNvSpPr txBox="1"/>
              <p:nvPr/>
            </p:nvSpPr>
            <p:spPr>
              <a:xfrm>
                <a:off x="481496" y="1268857"/>
                <a:ext cx="5335269" cy="37856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 eaLnBrk="1" fontAlgn="auto" hangingPunct="1">
                  <a:spcAft>
                    <a:spcPts val="0"/>
                  </a:spcAft>
                  <a:buFont typeface="Arial" pitchFamily="34" charset="0"/>
                  <a:buNone/>
                  <a:defRPr/>
                </a:pPr>
                <a:r>
                  <a:rPr lang="fr-FR" sz="1600" dirty="0">
                    <a:latin typeface="Bookman Old Style" panose="02050604050505020204" pitchFamily="18" charset="0"/>
                  </a:rPr>
                  <a:t>L'analyse théorique d'une </a:t>
                </a:r>
                <a:r>
                  <a:rPr lang="fr-FR" sz="1600" b="1" dirty="0">
                    <a:latin typeface="Bookman Old Style" panose="02050604050505020204" pitchFamily="18" charset="0"/>
                  </a:rPr>
                  <a:t>jonction</a:t>
                </a:r>
                <a:r>
                  <a:rPr lang="fr-FR" sz="1600" dirty="0">
                    <a:latin typeface="Bookman Old Style" panose="02050604050505020204" pitchFamily="18" charset="0"/>
                  </a:rPr>
                  <a:t> </a:t>
                </a:r>
                <a:r>
                  <a:rPr lang="fr-FR" sz="1600" b="1" dirty="0">
                    <a:latin typeface="Bookman Old Style" panose="02050604050505020204" pitchFamily="18" charset="0"/>
                  </a:rPr>
                  <a:t>PN</a:t>
                </a:r>
                <a:r>
                  <a:rPr lang="fr-FR" sz="1600" dirty="0">
                    <a:latin typeface="Bookman Old Style" panose="02050604050505020204" pitchFamily="18" charset="0"/>
                  </a:rPr>
                  <a:t> donne l'équation qui lie le </a:t>
                </a:r>
                <a:r>
                  <a:rPr lang="fr-FR" sz="1600" b="1" dirty="0">
                    <a:latin typeface="Bookman Old Style" panose="02050604050505020204" pitchFamily="18" charset="0"/>
                  </a:rPr>
                  <a:t>courant</a:t>
                </a:r>
                <a:r>
                  <a:rPr lang="fr-FR" sz="1600" dirty="0">
                    <a:latin typeface="Bookman Old Style" panose="02050604050505020204" pitchFamily="18" charset="0"/>
                  </a:rPr>
                  <a:t> </a:t>
                </a:r>
                <a:r>
                  <a:rPr lang="fr-FR" sz="1600" b="1" dirty="0">
                    <a:latin typeface="Bookman Old Style" panose="02050604050505020204" pitchFamily="18" charset="0"/>
                  </a:rPr>
                  <a:t>I</a:t>
                </a:r>
                <a:r>
                  <a:rPr lang="fr-FR" sz="1600" b="1" baseline="-25000" dirty="0">
                    <a:latin typeface="Bookman Old Style" panose="02050604050505020204" pitchFamily="18" charset="0"/>
                  </a:rPr>
                  <a:t>D</a:t>
                </a:r>
                <a:r>
                  <a:rPr lang="fr-FR" sz="1600" dirty="0">
                    <a:latin typeface="Bookman Old Style" panose="02050604050505020204" pitchFamily="18" charset="0"/>
                  </a:rPr>
                  <a:t> à la </a:t>
                </a:r>
                <a:r>
                  <a:rPr lang="fr-FR" sz="1600" b="1" dirty="0">
                    <a:latin typeface="Bookman Old Style" panose="02050604050505020204" pitchFamily="18" charset="0"/>
                  </a:rPr>
                  <a:t>tension</a:t>
                </a:r>
                <a:r>
                  <a:rPr lang="fr-FR" sz="1600" dirty="0">
                    <a:latin typeface="Bookman Old Style" panose="02050604050505020204" pitchFamily="18" charset="0"/>
                  </a:rPr>
                  <a:t> appliquée </a:t>
                </a:r>
                <a:r>
                  <a:rPr lang="fr-FR" sz="1600" b="1" dirty="0">
                    <a:latin typeface="Bookman Old Style" panose="02050604050505020204" pitchFamily="18" charset="0"/>
                  </a:rPr>
                  <a:t>V</a:t>
                </a:r>
                <a:r>
                  <a:rPr lang="fr-FR" sz="1600" b="1" baseline="-25000" dirty="0">
                    <a:latin typeface="Bookman Old Style" panose="02050604050505020204" pitchFamily="18" charset="0"/>
                  </a:rPr>
                  <a:t>D</a:t>
                </a:r>
                <a:r>
                  <a:rPr lang="fr-FR" sz="1600" dirty="0">
                    <a:latin typeface="Bookman Old Style" panose="02050604050505020204" pitchFamily="18" charset="0"/>
                  </a:rPr>
                  <a:t> : </a:t>
                </a:r>
              </a:p>
              <a:p>
                <a:pPr algn="just" eaLnBrk="1" fontAlgn="auto" hangingPunct="1">
                  <a:spcAft>
                    <a:spcPts val="0"/>
                  </a:spcAft>
                  <a:buFont typeface="Arial" pitchFamily="34" charset="0"/>
                  <a:buNone/>
                  <a:defRPr/>
                </a:pPr>
                <a:endParaRPr lang="fr-FR" sz="1600" dirty="0">
                  <a:latin typeface="Bookman Old Style" panose="02050604050505020204" pitchFamily="18" charset="0"/>
                </a:endParaRPr>
              </a:p>
              <a:p>
                <a:pPr algn="just" eaLnBrk="1" fontAlgn="auto" hangingPunct="1">
                  <a:spcAft>
                    <a:spcPts val="0"/>
                  </a:spcAft>
                  <a:buFont typeface="Arial" pitchFamily="34" charset="0"/>
                  <a:buNone/>
                  <a:defRPr/>
                </a:pPr>
                <a:endParaRPr lang="fr-FR" sz="1600" dirty="0">
                  <a:latin typeface="Bookman Old Style" panose="02050604050505020204" pitchFamily="18" charset="0"/>
                </a:endParaRPr>
              </a:p>
              <a:p>
                <a:pPr algn="just" eaLnBrk="1" fontAlgn="auto" hangingPunct="1">
                  <a:spcAft>
                    <a:spcPts val="0"/>
                  </a:spcAft>
                  <a:buFont typeface="Arial" pitchFamily="34" charset="0"/>
                  <a:buNone/>
                  <a:defRPr/>
                </a:pPr>
                <a:endParaRPr lang="fr-FR" sz="1600" dirty="0">
                  <a:latin typeface="Bookman Old Style" panose="02050604050505020204" pitchFamily="18" charset="0"/>
                </a:endParaRPr>
              </a:p>
              <a:p>
                <a:pPr algn="just" eaLnBrk="1" fontAlgn="auto" hangingPunct="1">
                  <a:spcAft>
                    <a:spcPts val="0"/>
                  </a:spcAft>
                  <a:buFont typeface="Arial" pitchFamily="34" charset="0"/>
                  <a:buNone/>
                  <a:defRPr/>
                </a:pPr>
                <a:endParaRPr lang="fr-FR" sz="1600" dirty="0">
                  <a:latin typeface="Bookman Old Style" panose="02050604050505020204" pitchFamily="18" charset="0"/>
                </a:endParaRPr>
              </a:p>
              <a:p>
                <a:pPr algn="just" eaLnBrk="1" fontAlgn="auto" hangingPunct="1">
                  <a:spcAft>
                    <a:spcPts val="0"/>
                  </a:spcAft>
                  <a:buFont typeface="Arial" pitchFamily="34" charset="0"/>
                  <a:buNone/>
                  <a:defRPr/>
                </a:pPr>
                <a:r>
                  <a:rPr lang="fr-FR" sz="1600" dirty="0">
                    <a:latin typeface="Bookman Old Style" panose="02050604050505020204" pitchFamily="18" charset="0"/>
                  </a:rPr>
                  <a:t>Où :</a:t>
                </a:r>
              </a:p>
              <a:p>
                <a:pPr algn="just" eaLnBrk="1" fontAlgn="auto" hangingPunct="1">
                  <a:spcAft>
                    <a:spcPts val="0"/>
                  </a:spcAft>
                  <a:buFont typeface="Arial" pitchFamily="34" charset="0"/>
                  <a:buNone/>
                  <a:defRPr/>
                </a:pPr>
                <a:endParaRPr lang="fr-FR" sz="1600" dirty="0">
                  <a:latin typeface="Bookman Old Style" panose="02050604050505020204" pitchFamily="18" charset="0"/>
                </a:endParaRPr>
              </a:p>
              <a:p>
                <a:pPr algn="just" eaLnBrk="1" fontAlgn="auto" hangingPunct="1">
                  <a:spcAft>
                    <a:spcPts val="0"/>
                  </a:spcAft>
                  <a:defRPr/>
                </a:pPr>
                <a:r>
                  <a:rPr lang="fr-FR" sz="1600" b="1" dirty="0">
                    <a:latin typeface="Bookman Old Style" panose="02050604050505020204" pitchFamily="18" charset="0"/>
                  </a:rPr>
                  <a:t>I</a:t>
                </a:r>
                <a:r>
                  <a:rPr lang="fr-FR" sz="1600" b="1" baseline="-25000" dirty="0">
                    <a:latin typeface="Bookman Old Style" panose="02050604050505020204" pitchFamily="18" charset="0"/>
                  </a:rPr>
                  <a:t>S</a:t>
                </a:r>
                <a:r>
                  <a:rPr lang="fr-FR" sz="1600" dirty="0">
                    <a:latin typeface="Bookman Old Style" panose="02050604050505020204" pitchFamily="18" charset="0"/>
                  </a:rPr>
                  <a:t> : courant de saturation inverse de la jonction</a:t>
                </a:r>
              </a:p>
              <a:p>
                <a:pPr marL="285750" indent="-285750" algn="just" eaLnBrk="1" fontAlgn="auto" hangingPunct="1">
                  <a:spcAft>
                    <a:spcPts val="0"/>
                  </a:spcAft>
                  <a:buFontTx/>
                  <a:buChar char="-"/>
                  <a:defRPr/>
                </a:pPr>
                <a:endParaRPr lang="fr-FR" sz="1600" dirty="0">
                  <a:latin typeface="Bookman Old Style" panose="02050604050505020204" pitchFamily="18" charset="0"/>
                </a:endParaRPr>
              </a:p>
              <a:p>
                <a:pPr algn="just" eaLnBrk="1" fontAlgn="auto" hangingPunct="1">
                  <a:spcAft>
                    <a:spcPts val="0"/>
                  </a:spcAft>
                  <a:defRPr/>
                </a:pPr>
                <a:r>
                  <a:rPr lang="fr-FR" sz="1600" b="1" dirty="0">
                    <a:latin typeface="Bookman Old Style" panose="02050604050505020204" pitchFamily="18" charset="0"/>
                  </a:rPr>
                  <a:t>V</a:t>
                </a:r>
                <a:r>
                  <a:rPr lang="fr-FR" sz="1600" b="1" baseline="-25000" dirty="0">
                    <a:latin typeface="Bookman Old Style" panose="02050604050505020204" pitchFamily="18" charset="0"/>
                  </a:rPr>
                  <a:t>T</a:t>
                </a:r>
                <a:r>
                  <a:rPr lang="fr-FR" sz="1600" dirty="0">
                    <a:latin typeface="Bookman Old Style" panose="02050604050505020204" pitchFamily="18" charset="0"/>
                  </a:rPr>
                  <a:t> : potentiel thermique (                )</a:t>
                </a:r>
              </a:p>
              <a:p>
                <a:pPr algn="just" eaLnBrk="1" fontAlgn="auto" hangingPunct="1">
                  <a:spcAft>
                    <a:spcPts val="0"/>
                  </a:spcAft>
                  <a:buFontTx/>
                  <a:buChar char="-"/>
                  <a:defRPr/>
                </a:pPr>
                <a:endParaRPr lang="fr-FR" sz="1600" dirty="0">
                  <a:latin typeface="Bookman Old Style" panose="02050604050505020204" pitchFamily="18" charset="0"/>
                </a:endParaRPr>
              </a:p>
              <a:p>
                <a:pPr algn="just" eaLnBrk="1" fontAlgn="auto" hangingPunct="1">
                  <a:spcAft>
                    <a:spcPts val="0"/>
                  </a:spcAft>
                  <a:buFont typeface="Arial" pitchFamily="34" charset="0"/>
                  <a:buNone/>
                  <a:defRPr/>
                </a:pPr>
                <a14:m>
                  <m:oMath xmlns:m="http://schemas.openxmlformats.org/officeDocument/2006/math">
                    <m:r>
                      <a:rPr lang="fr-FR" sz="16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𝜼</m:t>
                    </m:r>
                  </m:oMath>
                </a14:m>
                <a:r>
                  <a:rPr lang="fr-FR" sz="1600" dirty="0">
                    <a:latin typeface="Bookman Old Style" panose="02050604050505020204" pitchFamily="18" charset="0"/>
                  </a:rPr>
                  <a:t> : facteur technologique dépendant  du type de semi-conducteur.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CE7CE6E-C6C7-3CF3-8C47-679C87B55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496" y="1268857"/>
                <a:ext cx="5335269" cy="3785652"/>
              </a:xfrm>
              <a:prstGeom prst="rect">
                <a:avLst/>
              </a:prstGeom>
              <a:blipFill>
                <a:blip r:embed="rId3"/>
                <a:stretch>
                  <a:fillRect l="-686" t="-483" r="-571" b="-112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1" name="Object 1">
            <a:extLst>
              <a:ext uri="{FF2B5EF4-FFF2-40B4-BE49-F238E27FC236}">
                <a16:creationId xmlns:a16="http://schemas.microsoft.com/office/drawing/2014/main" id="{C47ED8AF-D22B-5197-8B8D-40EB2884D6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9364496"/>
              </p:ext>
            </p:extLst>
          </p:nvPr>
        </p:nvGraphicFramePr>
        <p:xfrm>
          <a:off x="2264378" y="1955197"/>
          <a:ext cx="2124000" cy="122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901309" imgH="520474" progId="">
                  <p:embed/>
                </p:oleObj>
              </mc:Choice>
              <mc:Fallback>
                <p:oleObj r:id="rId4" imgW="901309" imgH="520474" progId="">
                  <p:embed/>
                  <p:pic>
                    <p:nvPicPr>
                      <p:cNvPr id="1026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4378" y="1955197"/>
                        <a:ext cx="2124000" cy="12293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3">
            <a:extLst>
              <a:ext uri="{FF2B5EF4-FFF2-40B4-BE49-F238E27FC236}">
                <a16:creationId xmlns:a16="http://schemas.microsoft.com/office/drawing/2014/main" id="{D3B969E7-D238-94F5-0198-2E1093C6D0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9460835"/>
              </p:ext>
            </p:extLst>
          </p:nvPr>
        </p:nvGraphicFramePr>
        <p:xfrm>
          <a:off x="3200400" y="3943350"/>
          <a:ext cx="61277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57002" imgH="342751" progId="">
                  <p:embed/>
                </p:oleObj>
              </mc:Choice>
              <mc:Fallback>
                <p:oleObj r:id="rId6" imgW="457002" imgH="342751" progId="">
                  <p:embed/>
                  <p:pic>
                    <p:nvPicPr>
                      <p:cNvPr id="10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943350"/>
                        <a:ext cx="612775" cy="4603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" name="Picture 5">
            <a:extLst>
              <a:ext uri="{FF2B5EF4-FFF2-40B4-BE49-F238E27FC236}">
                <a16:creationId xmlns:a16="http://schemas.microsoft.com/office/drawing/2014/main" id="{C9C6135F-4ECA-9D81-7259-8E0C2E17D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5915275" y="1234294"/>
            <a:ext cx="3090252" cy="35291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17389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E7C920-485F-75E5-0C6E-CAC60257F55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3634" y="1211010"/>
            <a:ext cx="3600366" cy="3269573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5"/>
            <a:ext cx="533527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-Diodes-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631211" y="4824469"/>
            <a:ext cx="24574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9</a:t>
            </a:fld>
            <a:endParaRPr sz="240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0646" y="557613"/>
            <a:ext cx="4173754" cy="9053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93065" lvl="1" indent="-3810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Diode à jonction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fr-FR" sz="1600" b="1"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1.3 Caractéristique courant tension</a:t>
            </a:r>
          </a:p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endParaRPr lang="fr-FR" b="1" spc="-5" dirty="0">
              <a:solidFill>
                <a:srgbClr val="FF0000"/>
              </a:solidFill>
              <a:latin typeface="Bookman Old Style" panose="02050604050505020204" pitchFamily="18" charset="0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334000" y="361950"/>
            <a:ext cx="3709256" cy="10448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CE7CE6E-C6C7-3CF3-8C47-679C87B55018}"/>
                  </a:ext>
                </a:extLst>
              </p:cNvPr>
              <p:cNvSpPr txBox="1"/>
              <p:nvPr/>
            </p:nvSpPr>
            <p:spPr>
              <a:xfrm>
                <a:off x="350262" y="1279365"/>
                <a:ext cx="5335269" cy="31547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 eaLnBrk="1" fontAlgn="auto" hangingPunct="1">
                  <a:spcAft>
                    <a:spcPts val="0"/>
                  </a:spcAft>
                  <a:buFont typeface="Arial" pitchFamily="34" charset="0"/>
                  <a:buNone/>
                  <a:defRPr/>
                </a:pPr>
                <a:r>
                  <a:rPr lang="fr-FR" sz="1600" dirty="0">
                    <a:latin typeface="Bookman Old Style" panose="02050604050505020204" pitchFamily="18" charset="0"/>
                  </a:rPr>
                  <a:t>La </a:t>
                </a:r>
                <a:r>
                  <a:rPr lang="fr-FR" sz="1600" b="1" dirty="0">
                    <a:latin typeface="Bookman Old Style" panose="02050604050505020204" pitchFamily="18" charset="0"/>
                  </a:rPr>
                  <a:t>diode</a:t>
                </a:r>
                <a:r>
                  <a:rPr lang="fr-FR" sz="1600" dirty="0">
                    <a:latin typeface="Bookman Old Style" panose="02050604050505020204" pitchFamily="18" charset="0"/>
                  </a:rPr>
                  <a:t> a </a:t>
                </a:r>
                <a:r>
                  <a:rPr lang="fr-FR" sz="1600" b="1" dirty="0">
                    <a:latin typeface="Bookman Old Style" panose="02050604050505020204" pitchFamily="18" charset="0"/>
                  </a:rPr>
                  <a:t>deux modes </a:t>
                </a:r>
                <a:r>
                  <a:rPr lang="fr-FR" sz="1600" dirty="0">
                    <a:latin typeface="Bookman Old Style" panose="02050604050505020204" pitchFamily="18" charset="0"/>
                  </a:rPr>
                  <a:t>de fonctionnement : </a:t>
                </a:r>
                <a:r>
                  <a:rPr lang="fr-FR" sz="1600" b="1" dirty="0">
                    <a:latin typeface="Bookman Old Style" panose="02050604050505020204" pitchFamily="18" charset="0"/>
                  </a:rPr>
                  <a:t>bloquée</a:t>
                </a:r>
                <a:r>
                  <a:rPr lang="fr-FR" sz="1600" dirty="0">
                    <a:latin typeface="Bookman Old Style" panose="02050604050505020204" pitchFamily="18" charset="0"/>
                  </a:rPr>
                  <a:t> ou </a:t>
                </a:r>
                <a:r>
                  <a:rPr lang="fr-FR" sz="1600" b="1" dirty="0">
                    <a:latin typeface="Bookman Old Style" panose="02050604050505020204" pitchFamily="18" charset="0"/>
                  </a:rPr>
                  <a:t>conductrice</a:t>
                </a:r>
                <a:r>
                  <a:rPr lang="fr-FR" sz="1600" dirty="0">
                    <a:latin typeface="Bookman Old Style" panose="02050604050505020204" pitchFamily="18" charset="0"/>
                  </a:rPr>
                  <a:t>.</a:t>
                </a:r>
              </a:p>
              <a:p>
                <a:pPr algn="just" eaLnBrk="1" fontAlgn="auto" hangingPunct="1">
                  <a:spcAft>
                    <a:spcPts val="0"/>
                  </a:spcAft>
                  <a:buFont typeface="Arial" pitchFamily="34" charset="0"/>
                  <a:buNone/>
                  <a:defRPr/>
                </a:pPr>
                <a:endParaRPr lang="fr-FR" sz="1600" dirty="0">
                  <a:latin typeface="Bookman Old Style" panose="02050604050505020204" pitchFamily="18" charset="0"/>
                </a:endParaRPr>
              </a:p>
              <a:p>
                <a:pPr algn="just" eaLnBrk="1" fontAlgn="auto" hangingPunct="1">
                  <a:spcAft>
                    <a:spcPts val="0"/>
                  </a:spcAft>
                  <a:buFont typeface="Arial" pitchFamily="34" charset="0"/>
                  <a:buNone/>
                  <a:defRPr/>
                </a:pPr>
                <a:r>
                  <a:rPr lang="fr-FR" sz="1500" dirty="0">
                    <a:latin typeface="Bookman Old Style" panose="02050604050505020204" pitchFamily="18" charset="0"/>
                  </a:rPr>
                  <a:t>Les </a:t>
                </a:r>
                <a:r>
                  <a:rPr lang="fr-FR" sz="1500" b="1" dirty="0">
                    <a:latin typeface="Bookman Old Style" panose="02050604050505020204" pitchFamily="18" charset="0"/>
                  </a:rPr>
                  <a:t>caractéristiques principales</a:t>
                </a:r>
                <a:r>
                  <a:rPr lang="fr-FR" sz="1500" dirty="0">
                    <a:latin typeface="Bookman Old Style" panose="02050604050505020204" pitchFamily="18" charset="0"/>
                  </a:rPr>
                  <a:t> que l’on peut trouver dans un </a:t>
                </a:r>
                <a:r>
                  <a:rPr lang="fr-FR" sz="1500" b="1" dirty="0">
                    <a:latin typeface="Bookman Old Style" panose="02050604050505020204" pitchFamily="18" charset="0"/>
                  </a:rPr>
                  <a:t>document constructeur </a:t>
                </a:r>
                <a:r>
                  <a:rPr lang="fr-FR" sz="1500" dirty="0">
                    <a:latin typeface="Bookman Old Style" panose="02050604050505020204" pitchFamily="18" charset="0"/>
                  </a:rPr>
                  <a:t>(</a:t>
                </a:r>
                <a:r>
                  <a:rPr lang="fr-FR" sz="1500" b="1" dirty="0">
                    <a:latin typeface="Bookman Old Style" panose="02050604050505020204" pitchFamily="18" charset="0"/>
                  </a:rPr>
                  <a:t>datasheet</a:t>
                </a:r>
                <a:r>
                  <a:rPr lang="fr-FR" sz="1500" dirty="0">
                    <a:latin typeface="Bookman Old Style" panose="02050604050505020204" pitchFamily="18" charset="0"/>
                  </a:rPr>
                  <a:t>) sont :</a:t>
                </a:r>
              </a:p>
              <a:p>
                <a:pPr algn="just" eaLnBrk="1" fontAlgn="auto" hangingPunct="1">
                  <a:spcAft>
                    <a:spcPts val="0"/>
                  </a:spcAft>
                  <a:buFont typeface="Arial" pitchFamily="34" charset="0"/>
                  <a:buNone/>
                  <a:defRPr/>
                </a:pPr>
                <a:endParaRPr lang="fr-FR" sz="1600" dirty="0">
                  <a:latin typeface="Bookman Old Style" panose="02050604050505020204" pitchFamily="18" charset="0"/>
                </a:endParaRPr>
              </a:p>
              <a:p>
                <a:pPr marL="285750" indent="-285750" algn="just">
                  <a:buFont typeface="Wingdings" panose="05000000000000000000" pitchFamily="2" charset="2"/>
                  <a:buChar char="Ø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b="1" i="0" dirty="0" smtClean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fr-FR" sz="1500" b="1" i="0" dirty="0" smtClean="0">
                            <a:latin typeface="Cambria Math" panose="02040503050406030204" pitchFamily="18" charset="0"/>
                          </a:rPr>
                          <m:t>𝐅</m:t>
                        </m:r>
                      </m:sub>
                    </m:sSub>
                    <m:r>
                      <a:rPr lang="fr-FR" sz="150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>
                    <a:latin typeface="Bookman Old Style" panose="02050604050505020204" pitchFamily="18" charset="0"/>
                  </a:rPr>
                  <a:t>(</a:t>
                </a:r>
                <a:r>
                  <a:rPr lang="fr-FR" sz="1500" b="1" dirty="0">
                    <a:latin typeface="Bookman Old Style" panose="02050604050505020204" pitchFamily="18" charset="0"/>
                  </a:rPr>
                  <a:t>F</a:t>
                </a:r>
                <a:r>
                  <a:rPr lang="fr-FR" sz="1500" dirty="0">
                    <a:latin typeface="Bookman Old Style" panose="02050604050505020204" pitchFamily="18" charset="0"/>
                  </a:rPr>
                  <a:t> pour </a:t>
                </a:r>
                <a:r>
                  <a:rPr lang="fr-FR" sz="1500" dirty="0" err="1">
                    <a:latin typeface="Bookman Old Style" panose="02050604050505020204" pitchFamily="18" charset="0"/>
                  </a:rPr>
                  <a:t>Forward</a:t>
                </a:r>
                <a:r>
                  <a:rPr lang="fr-FR" sz="1500" dirty="0">
                    <a:latin typeface="Bookman Old Style" panose="02050604050505020204" pitchFamily="18" charset="0"/>
                  </a:rPr>
                  <a:t>) : tension de seuil en pratique : </a:t>
                </a:r>
              </a:p>
              <a:p>
                <a:pPr algn="just" eaLnBrk="1" fontAlgn="auto" hangingPunct="1">
                  <a:spcAft>
                    <a:spcPts val="0"/>
                  </a:spcAft>
                  <a:defRPr/>
                </a:pPr>
                <a:r>
                  <a:rPr lang="fr-FR" sz="1500" dirty="0">
                    <a:latin typeface="Bookman Old Style" panose="02050604050505020204" pitchFamily="18" charset="0"/>
                  </a:rPr>
                  <a:t>de </a:t>
                </a:r>
                <a:r>
                  <a:rPr lang="fr-FR" sz="1500" b="1" dirty="0">
                    <a:latin typeface="Bookman Old Style" panose="02050604050505020204" pitchFamily="18" charset="0"/>
                  </a:rPr>
                  <a:t>0,3V</a:t>
                </a:r>
                <a:r>
                  <a:rPr lang="fr-FR" sz="1500" dirty="0">
                    <a:latin typeface="Bookman Old Style" panose="02050604050505020204" pitchFamily="18" charset="0"/>
                  </a:rPr>
                  <a:t> à </a:t>
                </a:r>
                <a:r>
                  <a:rPr lang="fr-FR" sz="1500" b="1" dirty="0">
                    <a:latin typeface="Bookman Old Style" panose="02050604050505020204" pitchFamily="18" charset="0"/>
                  </a:rPr>
                  <a:t>0,7V</a:t>
                </a:r>
              </a:p>
              <a:p>
                <a:pPr marL="285750" indent="-285750" algn="just" eaLnBrk="1" fontAlgn="auto" hangingPunct="1">
                  <a:spcAft>
                    <a:spcPts val="0"/>
                  </a:spcAft>
                  <a:buFont typeface="Wingdings" panose="05000000000000000000" pitchFamily="2" charset="2"/>
                  <a:buChar char="Ø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b="1" i="0" dirty="0" smtClean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fr-FR" sz="1500" b="1" i="0" dirty="0" smtClean="0">
                            <a:latin typeface="Cambria Math" panose="02040503050406030204" pitchFamily="18" charset="0"/>
                          </a:rPr>
                          <m:t>𝐅𝐌</m:t>
                        </m:r>
                      </m:sub>
                    </m:sSub>
                  </m:oMath>
                </a14:m>
                <a:r>
                  <a:rPr lang="fr-FR" sz="1500" b="1" dirty="0">
                    <a:latin typeface="Bookman Old Style" panose="02050604050505020204" pitchFamily="18" charset="0"/>
                  </a:rPr>
                  <a:t> </a:t>
                </a:r>
                <a:r>
                  <a:rPr lang="fr-FR" sz="1500" dirty="0">
                    <a:latin typeface="Bookman Old Style" panose="02050604050505020204" pitchFamily="18" charset="0"/>
                  </a:rPr>
                  <a:t>: tension directe Maximale</a:t>
                </a:r>
              </a:p>
              <a:p>
                <a:pPr marL="285750" indent="-285750" algn="just" eaLnBrk="1" fontAlgn="auto" hangingPunct="1">
                  <a:spcAft>
                    <a:spcPts val="0"/>
                  </a:spcAft>
                  <a:buFont typeface="Wingdings" panose="05000000000000000000" pitchFamily="2" charset="2"/>
                  <a:buChar char="Ø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b="1" i="0" dirty="0" smtClean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r>
                          <a:rPr lang="fr-FR" sz="1500" b="1" i="0" dirty="0" smtClean="0">
                            <a:latin typeface="Cambria Math" panose="02040503050406030204" pitchFamily="18" charset="0"/>
                          </a:rPr>
                          <m:t>𝐅𝐌</m:t>
                        </m:r>
                      </m:sub>
                    </m:sSub>
                  </m:oMath>
                </a14:m>
                <a:r>
                  <a:rPr lang="fr-FR" sz="1500" dirty="0">
                    <a:latin typeface="Bookman Old Style" panose="02050604050505020204" pitchFamily="18" charset="0"/>
                  </a:rPr>
                  <a:t>, : courant direct Maximal</a:t>
                </a:r>
              </a:p>
              <a:p>
                <a:pPr marL="285750" indent="-285750" algn="just" eaLnBrk="1" fontAlgn="auto" hangingPunct="1">
                  <a:spcAft>
                    <a:spcPts val="0"/>
                  </a:spcAft>
                  <a:buFont typeface="Wingdings" panose="05000000000000000000" pitchFamily="2" charset="2"/>
                  <a:buChar char="Ø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b="1" i="0" dirty="0" smtClean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fr-FR" sz="1500" b="1" i="0" dirty="0" smtClean="0">
                            <a:latin typeface="Cambria Math" panose="02040503050406030204" pitchFamily="18" charset="0"/>
                          </a:rPr>
                          <m:t>𝐑</m:t>
                        </m:r>
                      </m:sub>
                    </m:sSub>
                  </m:oMath>
                </a14:m>
                <a:r>
                  <a:rPr lang="fr-FR" sz="1500" b="1" dirty="0">
                    <a:latin typeface="Bookman Old Style" panose="02050604050505020204" pitchFamily="18" charset="0"/>
                  </a:rPr>
                  <a:t> </a:t>
                </a:r>
                <a:r>
                  <a:rPr lang="fr-FR" sz="1500" dirty="0">
                    <a:latin typeface="Bookman Old Style" panose="02050604050505020204" pitchFamily="18" charset="0"/>
                  </a:rPr>
                  <a:t>: tension inverse Maximale en pratique :</a:t>
                </a:r>
              </a:p>
              <a:p>
                <a:pPr algn="just" eaLnBrk="1" fontAlgn="auto" hangingPunct="1">
                  <a:spcAft>
                    <a:spcPts val="0"/>
                  </a:spcAft>
                  <a:defRPr/>
                </a:pPr>
                <a:r>
                  <a:rPr lang="fr-FR" sz="1500" dirty="0">
                    <a:latin typeface="Bookman Old Style" panose="02050604050505020204" pitchFamily="18" charset="0"/>
                  </a:rPr>
                  <a:t> </a:t>
                </a:r>
                <a:r>
                  <a:rPr lang="fr-FR" sz="1500" b="1" dirty="0">
                    <a:latin typeface="Bookman Old Style" panose="02050604050505020204" pitchFamily="18" charset="0"/>
                  </a:rPr>
                  <a:t>100V</a:t>
                </a:r>
                <a:r>
                  <a:rPr lang="fr-FR" sz="1500" dirty="0">
                    <a:latin typeface="Bookman Old Style" panose="02050604050505020204" pitchFamily="18" charset="0"/>
                  </a:rPr>
                  <a:t> à </a:t>
                </a:r>
                <a:r>
                  <a:rPr lang="fr-FR" sz="1500" b="1" dirty="0">
                    <a:latin typeface="Bookman Old Style" panose="02050604050505020204" pitchFamily="18" charset="0"/>
                  </a:rPr>
                  <a:t>1000V</a:t>
                </a:r>
              </a:p>
              <a:p>
                <a:pPr marL="285750" indent="-285750" algn="just" eaLnBrk="1" fontAlgn="auto" hangingPunct="1">
                  <a:spcAft>
                    <a:spcPts val="0"/>
                  </a:spcAft>
                  <a:buFont typeface="Wingdings" panose="05000000000000000000" pitchFamily="2" charset="2"/>
                  <a:buChar char="Ø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b="1" i="0" dirty="0" smtClean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r>
                          <a:rPr lang="fr-FR" sz="1500" b="1" i="0" dirty="0" smtClean="0">
                            <a:latin typeface="Cambria Math" panose="02040503050406030204" pitchFamily="18" charset="0"/>
                          </a:rPr>
                          <m:t>𝐑</m:t>
                        </m:r>
                      </m:sub>
                    </m:sSub>
                  </m:oMath>
                </a14:m>
                <a:r>
                  <a:rPr lang="fr-FR" sz="1500" b="1" dirty="0">
                    <a:latin typeface="Bookman Old Style" panose="02050604050505020204" pitchFamily="18" charset="0"/>
                  </a:rPr>
                  <a:t> </a:t>
                </a:r>
                <a:r>
                  <a:rPr lang="fr-FR" sz="1500" dirty="0">
                    <a:latin typeface="Bookman Old Style" panose="02050604050505020204" pitchFamily="18" charset="0"/>
                  </a:rPr>
                  <a:t>: courant inverse en pratique : </a:t>
                </a:r>
                <a:r>
                  <a:rPr lang="fr-FR" sz="1500" b="1" dirty="0">
                    <a:latin typeface="Bookman Old Style" panose="02050604050505020204" pitchFamily="18" charset="0"/>
                  </a:rPr>
                  <a:t>quelques </a:t>
                </a:r>
                <a:r>
                  <a:rPr lang="fr-FR" sz="1500" b="1" dirty="0" err="1">
                    <a:latin typeface="Bookman Old Style" panose="02050604050505020204" pitchFamily="18" charset="0"/>
                  </a:rPr>
                  <a:t>μA</a:t>
                </a:r>
                <a:endParaRPr lang="fr-FR" sz="1500" b="1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CE7CE6E-C6C7-3CF3-8C47-679C87B55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62" y="1279365"/>
                <a:ext cx="5335269" cy="3154710"/>
              </a:xfrm>
              <a:prstGeom prst="rect">
                <a:avLst/>
              </a:prstGeom>
              <a:blipFill>
                <a:blip r:embed="rId4"/>
                <a:stretch>
                  <a:fillRect l="-571" t="-580" r="-571" b="-116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62C1691-327D-3204-0102-BBEBFFAB8CCD}"/>
                  </a:ext>
                </a:extLst>
              </p:cNvPr>
              <p:cNvSpPr txBox="1"/>
              <p:nvPr/>
            </p:nvSpPr>
            <p:spPr>
              <a:xfrm>
                <a:off x="358650" y="4582745"/>
                <a:ext cx="8679095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fr-FR" sz="1300" dirty="0">
                    <a:latin typeface="Bookman Old Style" panose="02050604050505020204" pitchFamily="18" charset="0"/>
                  </a:rPr>
                  <a:t>La </a:t>
                </a:r>
                <a:r>
                  <a:rPr lang="fr-FR" sz="1300" b="1" dirty="0">
                    <a:latin typeface="Bookman Old Style" panose="02050604050505020204" pitchFamily="18" charset="0"/>
                  </a:rPr>
                  <a:t>tension inverse maximale ne doit pas être dépassée</a:t>
                </a:r>
                <a:r>
                  <a:rPr lang="fr-FR" sz="1300" dirty="0">
                    <a:latin typeface="Bookman Old Style" panose="02050604050505020204" pitchFamily="18" charset="0"/>
                  </a:rPr>
                  <a:t> </a:t>
                </a:r>
                <a:r>
                  <a:rPr lang="fr-FR" sz="1300" b="1" dirty="0">
                    <a:solidFill>
                      <a:srgbClr val="FF0000"/>
                    </a:solidFill>
                    <a:latin typeface="Bookman Old Style" panose="02050604050505020204" pitchFamily="18" charset="0"/>
                  </a:rPr>
                  <a:t>!</a:t>
                </a:r>
                <a:r>
                  <a:rPr lang="fr-FR" sz="1300" dirty="0">
                    <a:latin typeface="Bookman Old Style" panose="02050604050505020204" pitchFamily="18" charset="0"/>
                  </a:rPr>
                  <a:t> Si la </a:t>
                </a:r>
                <a:r>
                  <a:rPr lang="fr-FR" sz="1300" b="1" dirty="0">
                    <a:latin typeface="Bookman Old Style" panose="02050604050505020204" pitchFamily="18" charset="0"/>
                  </a:rPr>
                  <a:t>tension d’avalanche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3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300" b="1" i="0" dirty="0" smtClean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fr-FR" sz="1300" b="1" i="0" dirty="0" smtClean="0">
                            <a:latin typeface="Cambria Math" panose="02040503050406030204" pitchFamily="18" charset="0"/>
                          </a:rPr>
                          <m:t>𝐀</m:t>
                        </m:r>
                      </m:sub>
                    </m:sSub>
                  </m:oMath>
                </a14:m>
                <a:r>
                  <a:rPr lang="fr-FR" sz="1300" b="1" dirty="0">
                    <a:latin typeface="Bookman Old Style" panose="02050604050505020204" pitchFamily="18" charset="0"/>
                  </a:rPr>
                  <a:t> </a:t>
                </a:r>
                <a:r>
                  <a:rPr lang="fr-FR" sz="1300" dirty="0">
                    <a:latin typeface="Bookman Old Style" panose="02050604050505020204" pitchFamily="18" charset="0"/>
                  </a:rPr>
                  <a:t>est </a:t>
                </a:r>
                <a:r>
                  <a:rPr lang="fr-FR" sz="1300" b="1" dirty="0">
                    <a:latin typeface="Bookman Old Style" panose="02050604050505020204" pitchFamily="18" charset="0"/>
                  </a:rPr>
                  <a:t>atteinte</a:t>
                </a:r>
                <a:r>
                  <a:rPr lang="fr-FR" sz="1300" dirty="0">
                    <a:latin typeface="Bookman Old Style" panose="02050604050505020204" pitchFamily="18" charset="0"/>
                  </a:rPr>
                  <a:t>, la diode est </a:t>
                </a:r>
                <a:r>
                  <a:rPr lang="fr-FR" sz="1300" b="1" dirty="0">
                    <a:latin typeface="Bookman Old Style" panose="02050604050505020204" pitchFamily="18" charset="0"/>
                  </a:rPr>
                  <a:t>détruite de manière irréversible </a:t>
                </a:r>
                <a:r>
                  <a:rPr lang="fr-FR" sz="1300" dirty="0">
                    <a:latin typeface="Bookman Old Style" panose="02050604050505020204" pitchFamily="18" charset="0"/>
                  </a:rPr>
                  <a:t>: c’est le </a:t>
                </a:r>
                <a:r>
                  <a:rPr lang="fr-FR" sz="1300" b="1" dirty="0">
                    <a:latin typeface="Bookman Old Style" panose="02050604050505020204" pitchFamily="18" charset="0"/>
                  </a:rPr>
                  <a:t>phénomène</a:t>
                </a:r>
                <a:r>
                  <a:rPr lang="fr-FR" sz="1300" dirty="0">
                    <a:latin typeface="Bookman Old Style" panose="02050604050505020204" pitchFamily="18" charset="0"/>
                  </a:rPr>
                  <a:t> de </a:t>
                </a:r>
                <a:r>
                  <a:rPr lang="fr-FR" sz="1300" b="1" dirty="0">
                    <a:latin typeface="Bookman Old Style" panose="02050604050505020204" pitchFamily="18" charset="0"/>
                  </a:rPr>
                  <a:t>claquage</a:t>
                </a:r>
                <a:r>
                  <a:rPr lang="fr-FR" sz="1300" dirty="0">
                    <a:latin typeface="Bookman Old Style" panose="02050604050505020204" pitchFamily="18" charset="0"/>
                  </a:rPr>
                  <a:t> ou </a:t>
                </a:r>
                <a:r>
                  <a:rPr lang="fr-FR" sz="1300" b="1" dirty="0">
                    <a:latin typeface="Bookman Old Style" panose="02050604050505020204" pitchFamily="18" charset="0"/>
                  </a:rPr>
                  <a:t>d’avalanche</a:t>
                </a:r>
                <a:r>
                  <a:rPr lang="fr-FR" sz="1300" dirty="0">
                    <a:latin typeface="Bookman Old Style" panose="0205060405050502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62C1691-327D-3204-0102-BBEBFFAB8C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650" y="4582745"/>
                <a:ext cx="8679095" cy="492443"/>
              </a:xfrm>
              <a:prstGeom prst="rect">
                <a:avLst/>
              </a:prstGeom>
              <a:blipFill>
                <a:blip r:embed="rId5"/>
                <a:stretch>
                  <a:fillRect l="-140" t="-1235" b="-864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FC168370-52E5-9E15-7907-905522D04F33}"/>
              </a:ext>
            </a:extLst>
          </p:cNvPr>
          <p:cNvSpPr/>
          <p:nvPr/>
        </p:nvSpPr>
        <p:spPr>
          <a:xfrm>
            <a:off x="45073" y="4506263"/>
            <a:ext cx="315691" cy="381129"/>
          </a:xfrm>
          <a:prstGeom prst="triangl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FE4F95-8206-6DBA-E3D8-DE9D8B749439}"/>
              </a:ext>
            </a:extLst>
          </p:cNvPr>
          <p:cNvSpPr txBox="1"/>
          <p:nvPr/>
        </p:nvSpPr>
        <p:spPr>
          <a:xfrm>
            <a:off x="62903" y="4563698"/>
            <a:ext cx="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latin typeface="Bookman Old Style" panose="02050604050505020204" pitchFamily="18" charset="0"/>
              </a:rPr>
              <a:t>!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4C1A8B4-770D-3A23-41A4-56F94AC3DCFF}"/>
                  </a:ext>
                </a:extLst>
              </p:cNvPr>
              <p:cNvSpPr txBox="1"/>
              <p:nvPr/>
            </p:nvSpPr>
            <p:spPr>
              <a:xfrm>
                <a:off x="6019800" y="3299996"/>
                <a:ext cx="38100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0" dirty="0" smtClean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fr-FR" sz="1600" b="1" i="0" dirty="0" smtClean="0">
                            <a:latin typeface="Cambria Math" panose="02040503050406030204" pitchFamily="18" charset="0"/>
                          </a:rPr>
                          <m:t>𝐀</m:t>
                        </m:r>
                      </m:sub>
                    </m:sSub>
                  </m:oMath>
                </a14:m>
                <a:r>
                  <a:rPr lang="fr-FR" sz="1600" b="1" dirty="0">
                    <a:latin typeface="Bookman Old Style" panose="02050604050505020204" pitchFamily="18" charset="0"/>
                  </a:rPr>
                  <a:t> </a:t>
                </a:r>
                <a:endParaRPr lang="fr-FR" sz="1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4C1A8B4-770D-3A23-41A4-56F94AC3D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3299996"/>
                <a:ext cx="381000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3679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5"/>
            <a:ext cx="533527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-Diodes-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631211" y="4824469"/>
            <a:ext cx="24574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10</a:t>
            </a:fld>
            <a:endParaRPr sz="240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0646" y="557613"/>
            <a:ext cx="4173754" cy="659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2. Modélisation de la diode</a:t>
            </a:r>
          </a:p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endParaRPr lang="fr-FR" b="1" spc="-5" dirty="0">
              <a:solidFill>
                <a:srgbClr val="FF0000"/>
              </a:solidFill>
              <a:latin typeface="Bookman Old Style" panose="02050604050505020204" pitchFamily="18" charset="0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334000" y="361950"/>
            <a:ext cx="3709256" cy="10448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793A736-45E1-3ADD-852E-9151321DB166}"/>
              </a:ext>
            </a:extLst>
          </p:cNvPr>
          <p:cNvSpPr txBox="1"/>
          <p:nvPr/>
        </p:nvSpPr>
        <p:spPr>
          <a:xfrm>
            <a:off x="576301" y="1268857"/>
            <a:ext cx="830065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fr-FR" b="1" dirty="0">
                <a:latin typeface="Bookman Old Style" panose="02050604050505020204" pitchFamily="18" charset="0"/>
              </a:rPr>
              <a:t>Caractéristique exponentielle</a:t>
            </a:r>
            <a:r>
              <a:rPr lang="fr-FR" dirty="0">
                <a:latin typeface="Bookman Old Style" panose="02050604050505020204" pitchFamily="18" charset="0"/>
              </a:rPr>
              <a:t> de la diode est </a:t>
            </a:r>
            <a:r>
              <a:rPr lang="fr-FR" b="1" dirty="0">
                <a:latin typeface="Bookman Old Style" panose="02050604050505020204" pitchFamily="18" charset="0"/>
              </a:rPr>
              <a:t>complexe</a:t>
            </a:r>
            <a:r>
              <a:rPr lang="fr-FR" dirty="0">
                <a:latin typeface="Bookman Old Style" panose="02050604050505020204" pitchFamily="18" charset="0"/>
              </a:rPr>
              <a:t> à utiliser directement.</a:t>
            </a:r>
          </a:p>
          <a:p>
            <a:pPr algn="just"/>
            <a:endParaRPr lang="fr-FR" dirty="0">
              <a:latin typeface="Bookman Old Style" panose="020506040505050202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>
                <a:latin typeface="Bookman Old Style" panose="02050604050505020204" pitchFamily="18" charset="0"/>
              </a:rPr>
              <a:t>Pour </a:t>
            </a:r>
            <a:r>
              <a:rPr lang="fr-FR" b="1" dirty="0">
                <a:latin typeface="Bookman Old Style" panose="02050604050505020204" pitchFamily="18" charset="0"/>
              </a:rPr>
              <a:t>simplifier l’étude </a:t>
            </a:r>
            <a:r>
              <a:rPr lang="fr-FR" dirty="0">
                <a:latin typeface="Bookman Old Style" panose="02050604050505020204" pitchFamily="18" charset="0"/>
              </a:rPr>
              <a:t>des circuits avec des </a:t>
            </a:r>
            <a:r>
              <a:rPr lang="fr-FR" b="1" dirty="0">
                <a:latin typeface="Bookman Old Style" panose="02050604050505020204" pitchFamily="18" charset="0"/>
              </a:rPr>
              <a:t>diodes</a:t>
            </a:r>
            <a:r>
              <a:rPr lang="fr-FR" dirty="0">
                <a:latin typeface="Bookman Old Style" panose="02050604050505020204" pitchFamily="18" charset="0"/>
              </a:rPr>
              <a:t>, on utilise des </a:t>
            </a:r>
            <a:r>
              <a:rPr lang="fr-FR" b="1" dirty="0">
                <a:latin typeface="Bookman Old Style" panose="02050604050505020204" pitchFamily="18" charset="0"/>
              </a:rPr>
              <a:t>schémas équivalents simplifiés</a:t>
            </a:r>
            <a:r>
              <a:rPr lang="fr-FR" dirty="0">
                <a:latin typeface="Bookman Old Style" panose="02050604050505020204" pitchFamily="18" charset="0"/>
              </a:rPr>
              <a:t>.</a:t>
            </a:r>
          </a:p>
          <a:p>
            <a:pPr algn="just"/>
            <a:endParaRPr lang="fr-FR" dirty="0">
              <a:latin typeface="Bookman Old Style" panose="020506040505050202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>
                <a:latin typeface="Bookman Old Style" panose="02050604050505020204" pitchFamily="18" charset="0"/>
              </a:rPr>
              <a:t>Ces schémas sont </a:t>
            </a:r>
            <a:r>
              <a:rPr lang="fr-FR" b="1" dirty="0">
                <a:latin typeface="Bookman Old Style" panose="02050604050505020204" pitchFamily="18" charset="0"/>
              </a:rPr>
              <a:t>basés</a:t>
            </a:r>
            <a:r>
              <a:rPr lang="fr-FR" dirty="0">
                <a:latin typeface="Bookman Old Style" panose="02050604050505020204" pitchFamily="18" charset="0"/>
              </a:rPr>
              <a:t> sur une </a:t>
            </a:r>
            <a:r>
              <a:rPr lang="fr-FR" b="1" dirty="0">
                <a:latin typeface="Bookman Old Style" panose="02050604050505020204" pitchFamily="18" charset="0"/>
              </a:rPr>
              <a:t>linéarisation approximative</a:t>
            </a:r>
            <a:r>
              <a:rPr lang="fr-FR" dirty="0">
                <a:latin typeface="Bookman Old Style" panose="02050604050505020204" pitchFamily="18" charset="0"/>
              </a:rPr>
              <a:t> de la </a:t>
            </a:r>
            <a:r>
              <a:rPr lang="fr-FR" b="1" dirty="0">
                <a:latin typeface="Bookman Old Style" panose="02050604050505020204" pitchFamily="18" charset="0"/>
              </a:rPr>
              <a:t>caractéristique</a:t>
            </a:r>
            <a:r>
              <a:rPr lang="fr-FR" dirty="0">
                <a:latin typeface="Bookman Old Style" panose="02050604050505020204" pitchFamily="18" charset="0"/>
              </a:rPr>
              <a:t> électrique de la </a:t>
            </a:r>
            <a:r>
              <a:rPr lang="fr-FR" b="1" dirty="0">
                <a:latin typeface="Bookman Old Style" panose="02050604050505020204" pitchFamily="18" charset="0"/>
              </a:rPr>
              <a:t>diode</a:t>
            </a:r>
            <a:r>
              <a:rPr lang="fr-FR" dirty="0">
                <a:latin typeface="Bookman Old Style" panose="02050604050505020204" pitchFamily="18" charset="0"/>
              </a:rPr>
              <a:t>.</a:t>
            </a:r>
          </a:p>
          <a:p>
            <a:pPr algn="just"/>
            <a:endParaRPr lang="fr-FR" dirty="0">
              <a:latin typeface="Bookman Old Style" panose="020506040505050202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b="1" dirty="0">
                <a:latin typeface="Bookman Old Style" panose="02050604050505020204" pitchFamily="18" charset="0"/>
              </a:rPr>
              <a:t>Diode</a:t>
            </a:r>
            <a:r>
              <a:rPr lang="fr-FR" dirty="0">
                <a:latin typeface="Bookman Old Style" panose="02050604050505020204" pitchFamily="18" charset="0"/>
              </a:rPr>
              <a:t> est alors </a:t>
            </a:r>
            <a:r>
              <a:rPr lang="fr-FR" b="1" dirty="0">
                <a:latin typeface="Bookman Old Style" panose="02050604050505020204" pitchFamily="18" charset="0"/>
              </a:rPr>
              <a:t>remplacée</a:t>
            </a:r>
            <a:r>
              <a:rPr lang="fr-FR" dirty="0">
                <a:latin typeface="Bookman Old Style" panose="02050604050505020204" pitchFamily="18" charset="0"/>
              </a:rPr>
              <a:t> par des </a:t>
            </a:r>
            <a:r>
              <a:rPr lang="fr-FR" b="1" dirty="0">
                <a:latin typeface="Bookman Old Style" panose="02050604050505020204" pitchFamily="18" charset="0"/>
              </a:rPr>
              <a:t>composants</a:t>
            </a:r>
            <a:r>
              <a:rPr lang="fr-FR" dirty="0">
                <a:latin typeface="Bookman Old Style" panose="02050604050505020204" pitchFamily="18" charset="0"/>
              </a:rPr>
              <a:t> </a:t>
            </a:r>
            <a:r>
              <a:rPr lang="fr-FR" b="1" dirty="0">
                <a:latin typeface="Bookman Old Style" panose="02050604050505020204" pitchFamily="18" charset="0"/>
              </a:rPr>
              <a:t>simples</a:t>
            </a:r>
            <a:r>
              <a:rPr lang="fr-FR" dirty="0">
                <a:latin typeface="Bookman Old Style" panose="02050604050505020204" pitchFamily="18" charset="0"/>
              </a:rPr>
              <a:t> qui reproduisent un comportement </a:t>
            </a:r>
            <a:r>
              <a:rPr lang="fr-FR" b="1" dirty="0">
                <a:latin typeface="Bookman Old Style" panose="02050604050505020204" pitchFamily="18" charset="0"/>
              </a:rPr>
              <a:t>linéarisé similaire</a:t>
            </a:r>
            <a:r>
              <a:rPr lang="fr-FR" dirty="0">
                <a:latin typeface="Bookman Old Style" panose="0205060405050502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46765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5"/>
            <a:ext cx="533527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-Diodes-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631211" y="4824469"/>
            <a:ext cx="24574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11</a:t>
            </a:fld>
            <a:endParaRPr sz="240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0646" y="557613"/>
            <a:ext cx="4173754" cy="6283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2. Modélisation de la diode</a:t>
            </a:r>
          </a:p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sz="1600" b="1"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2.1 Modèle 1: Diode idéale</a:t>
            </a: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334000" y="361950"/>
            <a:ext cx="3709256" cy="10448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442AE7-637F-F37B-5333-0B0867F68321}"/>
                  </a:ext>
                </a:extLst>
              </p:cNvPr>
              <p:cNvSpPr txBox="1"/>
              <p:nvPr/>
            </p:nvSpPr>
            <p:spPr>
              <a:xfrm>
                <a:off x="592380" y="1314603"/>
                <a:ext cx="8379003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buFont typeface="Wingdings" panose="05000000000000000000" pitchFamily="2" charset="2"/>
                  <a:buChar char="§"/>
                </a:pPr>
                <a:r>
                  <a:rPr lang="fr-FR" sz="1600" dirty="0">
                    <a:latin typeface="Bookman Old Style" panose="02050604050505020204" pitchFamily="18" charset="0"/>
                  </a:rPr>
                  <a:t>Modèle idéal </a:t>
                </a:r>
                <a:r>
                  <a:rPr lang="fr-FR" sz="1600" b="1" dirty="0">
                    <a:latin typeface="Bookman Old Style" panose="02050604050505020204" pitchFamily="18" charset="0"/>
                  </a:rPr>
                  <a:t>consiste à remplacer </a:t>
                </a:r>
                <a:r>
                  <a:rPr lang="fr-FR" sz="1600" dirty="0">
                    <a:latin typeface="Bookman Old Style" panose="02050604050505020204" pitchFamily="18" charset="0"/>
                  </a:rPr>
                  <a:t>la caractéristique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0" dirty="0" smtClean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r>
                          <a:rPr lang="fr-FR" sz="1600" b="1" i="0" dirty="0" smtClean="0">
                            <a:latin typeface="Cambria Math" panose="02040503050406030204" pitchFamily="18" charset="0"/>
                          </a:rPr>
                          <m:t>𝐃</m:t>
                        </m:r>
                      </m:sub>
                    </m:sSub>
                    <m:r>
                      <a:rPr lang="fr-FR" sz="1600" b="1" i="0" dirty="0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fr-FR" sz="1600" b="1" i="0" dirty="0" smtClean="0">
                        <a:latin typeface="Cambria Math" panose="02040503050406030204" pitchFamily="18" charset="0"/>
                      </a:rPr>
                      <m:t>𝐟</m:t>
                    </m:r>
                    <m:r>
                      <a:rPr lang="fr-FR" sz="1600" b="1" i="0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r-FR" sz="16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0" dirty="0" smtClean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fr-FR" sz="1600" b="1" i="0" dirty="0" smtClean="0">
                            <a:latin typeface="Cambria Math" panose="02040503050406030204" pitchFamily="18" charset="0"/>
                          </a:rPr>
                          <m:t>𝐀𝐊</m:t>
                        </m:r>
                      </m:sub>
                    </m:sSub>
                    <m:r>
                      <a:rPr lang="fr-FR" sz="1600" b="1" i="0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fr-FR" sz="1600" b="1" dirty="0">
                    <a:latin typeface="Bookman Old Style" panose="02050604050505020204" pitchFamily="18" charset="0"/>
                  </a:rPr>
                  <a:t>par </a:t>
                </a:r>
                <a:r>
                  <a:rPr lang="fr-FR" sz="1600" dirty="0">
                    <a:latin typeface="Bookman Old Style" panose="02050604050505020204" pitchFamily="18" charset="0"/>
                  </a:rPr>
                  <a:t>des</a:t>
                </a:r>
                <a:r>
                  <a:rPr lang="fr-FR" sz="1600" b="1" dirty="0">
                    <a:latin typeface="Bookman Old Style" panose="02050604050505020204" pitchFamily="18" charset="0"/>
                  </a:rPr>
                  <a:t> segments de droite</a:t>
                </a:r>
                <a:endParaRPr lang="fr-FR" sz="1600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442AE7-637F-F37B-5333-0B0867F683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380" y="1314603"/>
                <a:ext cx="8379003" cy="584775"/>
              </a:xfrm>
              <a:prstGeom prst="rect">
                <a:avLst/>
              </a:prstGeom>
              <a:blipFill>
                <a:blip r:embed="rId3"/>
                <a:stretch>
                  <a:fillRect l="-291" t="-3125" r="-364" b="-125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C6FD86C2-B80F-E745-035E-BB107350653D}"/>
              </a:ext>
            </a:extLst>
          </p:cNvPr>
          <p:cNvSpPr txBox="1">
            <a:spLocks/>
          </p:cNvSpPr>
          <p:nvPr/>
        </p:nvSpPr>
        <p:spPr>
          <a:xfrm>
            <a:off x="990600" y="2226330"/>
            <a:ext cx="3733800" cy="2220159"/>
          </a:xfrm>
          <a:prstGeom prst="rect">
            <a:avLst/>
          </a:prstGeom>
        </p:spPr>
        <p:txBody>
          <a:bodyPr wrap="square" lIns="0" tIns="0" rIns="0" bIns="0" rtlCol="0">
            <a:normAutofit/>
          </a:bodyPr>
          <a:lstStyle>
            <a:lvl1pPr marL="0">
              <a:defRPr sz="1800" b="1" i="0">
                <a:solidFill>
                  <a:srgbClr val="4F82BD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Ø"/>
              <a:defRPr/>
            </a:pPr>
            <a:r>
              <a:rPr lang="fr-FR" sz="1600" kern="0" dirty="0">
                <a:solidFill>
                  <a:schemeClr val="tx1"/>
                </a:solidFill>
                <a:latin typeface="Bookman Old Style" panose="02050604050505020204" pitchFamily="18" charset="0"/>
              </a:rPr>
              <a:t>Polarisée en direct </a:t>
            </a:r>
            <a:r>
              <a:rPr lang="fr-FR" sz="1600" b="0" kern="0" dirty="0">
                <a:solidFill>
                  <a:schemeClr val="tx1"/>
                </a:solidFill>
                <a:latin typeface="Bookman Old Style" panose="02050604050505020204" pitchFamily="18" charset="0"/>
              </a:rPr>
              <a:t>la diode est  </a:t>
            </a:r>
            <a:r>
              <a:rPr lang="fr-FR" sz="1600" kern="0" dirty="0">
                <a:solidFill>
                  <a:schemeClr val="tx1"/>
                </a:solidFill>
                <a:latin typeface="Bookman Old Style" panose="02050604050505020204" pitchFamily="18" charset="0"/>
              </a:rPr>
              <a:t>conductrice</a:t>
            </a:r>
            <a:r>
              <a:rPr lang="fr-FR" sz="1600" b="0" kern="0" dirty="0">
                <a:solidFill>
                  <a:schemeClr val="tx1"/>
                </a:solidFill>
                <a:latin typeface="Bookman Old Style" panose="02050604050505020204" pitchFamily="18" charset="0"/>
              </a:rPr>
              <a:t> , elle se comporte </a:t>
            </a:r>
            <a:r>
              <a:rPr lang="fr-FR" sz="1600" kern="0" dirty="0">
                <a:solidFill>
                  <a:schemeClr val="tx1"/>
                </a:solidFill>
                <a:latin typeface="Bookman Old Style" panose="02050604050505020204" pitchFamily="18" charset="0"/>
              </a:rPr>
              <a:t>comme</a:t>
            </a:r>
            <a:r>
              <a:rPr lang="fr-FR" sz="1600" b="0" kern="0" dirty="0">
                <a:solidFill>
                  <a:schemeClr val="tx1"/>
                </a:solidFill>
                <a:latin typeface="Bookman Old Style" panose="02050604050505020204" pitchFamily="18" charset="0"/>
              </a:rPr>
              <a:t> un </a:t>
            </a:r>
            <a:r>
              <a:rPr lang="fr-FR" sz="1600" kern="0" dirty="0">
                <a:solidFill>
                  <a:schemeClr val="tx1"/>
                </a:solidFill>
                <a:latin typeface="Bookman Old Style" panose="02050604050505020204" pitchFamily="18" charset="0"/>
              </a:rPr>
              <a:t>interrupteur fermé</a:t>
            </a:r>
            <a:r>
              <a:rPr lang="fr-FR" sz="1600" b="0" kern="0" dirty="0">
                <a:solidFill>
                  <a:schemeClr val="tx1"/>
                </a:solidFill>
                <a:latin typeface="Bookman Old Style" panose="02050604050505020204" pitchFamily="18" charset="0"/>
              </a:rPr>
              <a:t>.</a:t>
            </a:r>
          </a:p>
          <a:p>
            <a:pPr algn="just">
              <a:defRPr/>
            </a:pPr>
            <a:endParaRPr lang="fr-FR" sz="1600" b="0" kern="0" dirty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algn="just">
              <a:defRPr/>
            </a:pPr>
            <a:endParaRPr lang="fr-FR" sz="1600" kern="0" dirty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  <a:defRPr/>
            </a:pPr>
            <a:r>
              <a:rPr lang="fr-FR" sz="1600" kern="0" dirty="0">
                <a:solidFill>
                  <a:schemeClr val="tx1"/>
                </a:solidFill>
                <a:latin typeface="Bookman Old Style" panose="02050604050505020204" pitchFamily="18" charset="0"/>
              </a:rPr>
              <a:t>Polarisée en inverse </a:t>
            </a:r>
            <a:r>
              <a:rPr lang="fr-FR" sz="1600" b="0" kern="0" dirty="0">
                <a:solidFill>
                  <a:schemeClr val="tx1"/>
                </a:solidFill>
                <a:latin typeface="Bookman Old Style" panose="02050604050505020204" pitchFamily="18" charset="0"/>
              </a:rPr>
              <a:t>la diode est </a:t>
            </a:r>
            <a:r>
              <a:rPr lang="fr-FR" sz="1600" kern="0" dirty="0">
                <a:solidFill>
                  <a:schemeClr val="tx1"/>
                </a:solidFill>
                <a:latin typeface="Bookman Old Style" panose="02050604050505020204" pitchFamily="18" charset="0"/>
              </a:rPr>
              <a:t>bloquée, </a:t>
            </a:r>
            <a:r>
              <a:rPr lang="fr-FR" sz="1600" b="0" kern="0" dirty="0">
                <a:solidFill>
                  <a:schemeClr val="tx1"/>
                </a:solidFill>
                <a:latin typeface="Bookman Old Style" panose="02050604050505020204" pitchFamily="18" charset="0"/>
              </a:rPr>
              <a:t>elle se comporte</a:t>
            </a:r>
            <a:r>
              <a:rPr lang="fr-FR" sz="1600" kern="0" dirty="0">
                <a:solidFill>
                  <a:schemeClr val="tx1"/>
                </a:solidFill>
                <a:latin typeface="Bookman Old Style" panose="02050604050505020204" pitchFamily="18" charset="0"/>
              </a:rPr>
              <a:t> comme </a:t>
            </a:r>
            <a:r>
              <a:rPr lang="fr-FR" sz="1600" b="0" kern="0" dirty="0">
                <a:solidFill>
                  <a:schemeClr val="tx1"/>
                </a:solidFill>
                <a:latin typeface="Bookman Old Style" panose="02050604050505020204" pitchFamily="18" charset="0"/>
              </a:rPr>
              <a:t>un</a:t>
            </a:r>
            <a:r>
              <a:rPr lang="fr-FR" sz="1600" kern="0" dirty="0">
                <a:solidFill>
                  <a:schemeClr val="tx1"/>
                </a:solidFill>
                <a:latin typeface="Bookman Old Style" panose="02050604050505020204" pitchFamily="18" charset="0"/>
              </a:rPr>
              <a:t> interrupteur ouvert.</a:t>
            </a:r>
          </a:p>
          <a:p>
            <a:pPr>
              <a:buFont typeface="Arial" pitchFamily="34" charset="0"/>
              <a:buNone/>
              <a:defRPr/>
            </a:pPr>
            <a:endParaRPr lang="fr-FR" sz="1600" kern="0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83CDA7F-264D-6CE5-C8B9-46B65F3BCF1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9580" y="1812429"/>
            <a:ext cx="3012040" cy="301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857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7D0935-C1BE-322A-BA38-BFFED0236DC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000" y="1255856"/>
            <a:ext cx="3483227" cy="3592322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5"/>
            <a:ext cx="533527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-Diodes-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762005" y="484817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12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0646" y="557613"/>
            <a:ext cx="4173754" cy="6283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2. Modélisation de la diode</a:t>
            </a:r>
          </a:p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sz="1600" b="1"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2.2 Modèle 2 : Diode avec seuil</a:t>
            </a: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334000" y="361950"/>
            <a:ext cx="3709256" cy="10448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space réservé du contenu 2">
                <a:extLst>
                  <a:ext uri="{FF2B5EF4-FFF2-40B4-BE49-F238E27FC236}">
                    <a16:creationId xmlns:a16="http://schemas.microsoft.com/office/drawing/2014/main" id="{C6FD86C2-B80F-E745-035E-BB10735065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8743" y="1479928"/>
                <a:ext cx="4827657" cy="2220159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>
                <a:lvl1pPr marL="0">
                  <a:defRPr sz="1800" b="1" i="0">
                    <a:solidFill>
                      <a:srgbClr val="4F82BD"/>
                    </a:solidFill>
                    <a:latin typeface="Arial"/>
                    <a:ea typeface="+mn-ea"/>
                    <a:cs typeface="Arial"/>
                  </a:defRPr>
                </a:lvl1pPr>
                <a:lvl2pPr marL="457200">
                  <a:defRPr>
                    <a:latin typeface="+mn-lt"/>
                    <a:ea typeface="+mn-ea"/>
                    <a:cs typeface="+mn-cs"/>
                  </a:defRPr>
                </a:lvl2pPr>
                <a:lvl3pPr marL="914400">
                  <a:defRPr>
                    <a:latin typeface="+mn-lt"/>
                    <a:ea typeface="+mn-ea"/>
                    <a:cs typeface="+mn-cs"/>
                  </a:defRPr>
                </a:lvl3pPr>
                <a:lvl4pPr marL="1371600">
                  <a:defRPr>
                    <a:latin typeface="+mn-lt"/>
                    <a:ea typeface="+mn-ea"/>
                    <a:cs typeface="+mn-cs"/>
                  </a:defRPr>
                </a:lvl4pPr>
                <a:lvl5pPr marL="1828800">
                  <a:defRPr>
                    <a:latin typeface="+mn-lt"/>
                    <a:ea typeface="+mn-ea"/>
                    <a:cs typeface="+mn-cs"/>
                  </a:defRPr>
                </a:lvl5pPr>
                <a:lvl6pPr marL="2286000">
                  <a:defRPr>
                    <a:latin typeface="+mn-lt"/>
                    <a:ea typeface="+mn-ea"/>
                    <a:cs typeface="+mn-cs"/>
                  </a:defRPr>
                </a:lvl6pPr>
                <a:lvl7pPr marL="2743200">
                  <a:defRPr>
                    <a:latin typeface="+mn-lt"/>
                    <a:ea typeface="+mn-ea"/>
                    <a:cs typeface="+mn-cs"/>
                  </a:defRPr>
                </a:lvl7pPr>
                <a:lvl8pPr marL="3200400">
                  <a:defRPr>
                    <a:latin typeface="+mn-lt"/>
                    <a:ea typeface="+mn-ea"/>
                    <a:cs typeface="+mn-cs"/>
                  </a:defRPr>
                </a:lvl8pPr>
                <a:lvl9pPr marL="3657600">
                  <a:defRPr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Arial" pitchFamily="34" charset="0"/>
                  <a:buNone/>
                  <a:defRPr/>
                </a:pPr>
                <a:r>
                  <a:rPr lang="fr-FR" kern="0" dirty="0">
                    <a:solidFill>
                      <a:schemeClr val="tx1"/>
                    </a:solidFill>
                    <a:latin typeface="Bookman Old Style" panose="02050604050505020204" pitchFamily="18" charset="0"/>
                  </a:rPr>
                  <a:t>Dans ce modèle on tient compte </a:t>
                </a:r>
                <a:r>
                  <a:rPr lang="fr-FR" b="0" kern="0" dirty="0">
                    <a:solidFill>
                      <a:schemeClr val="tx1"/>
                    </a:solidFill>
                    <a:latin typeface="Bookman Old Style" panose="02050604050505020204" pitchFamily="18" charset="0"/>
                  </a:rPr>
                  <a:t>de la </a:t>
                </a:r>
                <a:r>
                  <a:rPr lang="fr-FR" kern="0" dirty="0">
                    <a:solidFill>
                      <a:schemeClr val="tx1"/>
                    </a:solidFill>
                    <a:latin typeface="Bookman Old Style" panose="02050604050505020204" pitchFamily="18" charset="0"/>
                  </a:rPr>
                  <a:t>tension seuil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 kern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0" kern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fr-FR" i="0" kern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𝐃𝟎</m:t>
                        </m:r>
                      </m:sub>
                    </m:sSub>
                  </m:oMath>
                </a14:m>
                <a:r>
                  <a:rPr lang="fr-FR" b="0" kern="0" dirty="0">
                    <a:solidFill>
                      <a:schemeClr val="tx1"/>
                    </a:solidFill>
                    <a:latin typeface="Bookman Old Style" panose="02050604050505020204" pitchFamily="18" charset="0"/>
                  </a:rPr>
                  <a:t> (notée aussi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kern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kern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fr-FR" i="1" kern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lang="fr-FR" i="1" kern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b="0" kern="0" dirty="0">
                    <a:solidFill>
                      <a:schemeClr val="tx1"/>
                    </a:solidFill>
                    <a:latin typeface="Bookman Old Style" panose="02050604050505020204" pitchFamily="18" charset="0"/>
                  </a:rPr>
                  <a:t>ou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kern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0" kern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kern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fr-FR" i="1" kern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𝜸</m:t>
                        </m:r>
                      </m:sub>
                    </m:sSub>
                    <m:r>
                      <a:rPr lang="fr-FR" b="1" i="1" kern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FR" b="1" kern="0" dirty="0">
                  <a:solidFill>
                    <a:schemeClr val="tx1"/>
                  </a:solidFill>
                  <a:latin typeface="Bookman Old Style" panose="02050604050505020204" pitchFamily="18" charset="0"/>
                </a:endParaRPr>
              </a:p>
              <a:p>
                <a:pPr>
                  <a:buFont typeface="Arial" pitchFamily="34" charset="0"/>
                  <a:buNone/>
                  <a:defRPr/>
                </a:pPr>
                <a:endParaRPr lang="fr-FR" b="0" kern="0" dirty="0">
                  <a:solidFill>
                    <a:schemeClr val="tx1"/>
                  </a:solidFill>
                  <a:latin typeface="Bookman Old Style" panose="020506040505050202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  <a:defRPr/>
                </a:pPr>
                <a:r>
                  <a:rPr lang="fr-FR" kern="0" dirty="0">
                    <a:solidFill>
                      <a:schemeClr val="tx1"/>
                    </a:solidFill>
                    <a:latin typeface="Bookman Old Style" panose="02050604050505020204" pitchFamily="18" charset="0"/>
                  </a:rPr>
                  <a:t>On négligera sa résistance dynamique</a:t>
                </a:r>
                <a:r>
                  <a:rPr lang="fr-FR" b="0" kern="0" dirty="0">
                    <a:solidFill>
                      <a:schemeClr val="tx1"/>
                    </a:solidFill>
                    <a:latin typeface="Bookman Old Style" panose="02050604050505020204" pitchFamily="18" charset="0"/>
                  </a:rPr>
                  <a:t>.</a:t>
                </a:r>
              </a:p>
              <a:p>
                <a:pPr>
                  <a:buFont typeface="Arial" pitchFamily="34" charset="0"/>
                  <a:buNone/>
                  <a:defRPr/>
                </a:pPr>
                <a:endParaRPr lang="fr-FR" b="0" kern="0" dirty="0">
                  <a:solidFill>
                    <a:schemeClr val="tx1"/>
                  </a:solidFill>
                  <a:latin typeface="Bookman Old Style" panose="020506040505050202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  <a:defRPr/>
                </a:pPr>
                <a:r>
                  <a:rPr lang="fr-FR" b="0" kern="0" dirty="0">
                    <a:solidFill>
                      <a:schemeClr val="tx1"/>
                    </a:solidFill>
                    <a:latin typeface="Bookman Old Style" panose="02050604050505020204" pitchFamily="18" charset="0"/>
                  </a:rPr>
                  <a:t>La </a:t>
                </a:r>
                <a:r>
                  <a:rPr lang="fr-FR" kern="0" dirty="0">
                    <a:solidFill>
                      <a:schemeClr val="tx1"/>
                    </a:solidFill>
                    <a:latin typeface="Bookman Old Style" panose="02050604050505020204" pitchFamily="18" charset="0"/>
                  </a:rPr>
                  <a:t>diode ne conduit que si</a:t>
                </a:r>
                <a:r>
                  <a:rPr lang="fr-FR" b="0" kern="0" dirty="0">
                    <a:solidFill>
                      <a:schemeClr val="tx1"/>
                    </a:solidFill>
                    <a:latin typeface="Bookman Old Style" panose="02050604050505020204" pitchFamily="18" charset="0"/>
                  </a:rPr>
                  <a:t> la tension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 kern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0" kern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fr-FR" b="1" i="0" kern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𝐃</m:t>
                        </m:r>
                      </m:sub>
                    </m:sSub>
                  </m:oMath>
                </a14:m>
                <a:r>
                  <a:rPr lang="fr-FR" b="0" kern="0" dirty="0">
                    <a:solidFill>
                      <a:schemeClr val="tx1"/>
                    </a:solidFill>
                    <a:latin typeface="Bookman Old Style" panose="02050604050505020204" pitchFamily="18" charset="0"/>
                  </a:rPr>
                  <a:t> </a:t>
                </a:r>
                <a:r>
                  <a:rPr lang="fr-FR" kern="0" dirty="0">
                    <a:solidFill>
                      <a:schemeClr val="tx1"/>
                    </a:solidFill>
                    <a:latin typeface="Bookman Old Style" panose="02050604050505020204" pitchFamily="18" charset="0"/>
                  </a:rPr>
                  <a:t>dépasse</a:t>
                </a:r>
                <a:r>
                  <a:rPr lang="fr-FR" b="0" kern="0" dirty="0">
                    <a:solidFill>
                      <a:schemeClr val="tx1"/>
                    </a:solidFill>
                    <a:latin typeface="Bookman Old Style" panose="02050604050505020204" pitchFamily="18" charset="0"/>
                  </a:rPr>
                  <a:t> la tension seuil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kern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kern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fr-FR" kern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𝐃𝟎</m:t>
                        </m:r>
                      </m:sub>
                    </m:sSub>
                  </m:oMath>
                </a14:m>
                <a:r>
                  <a:rPr lang="fr-FR" b="0" kern="0" dirty="0">
                    <a:solidFill>
                      <a:schemeClr val="tx1"/>
                    </a:solidFill>
                    <a:latin typeface="Bookman Old Style" panose="0205060405050502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2" name="Espace réservé du contenu 2">
                <a:extLst>
                  <a:ext uri="{FF2B5EF4-FFF2-40B4-BE49-F238E27FC236}">
                    <a16:creationId xmlns:a16="http://schemas.microsoft.com/office/drawing/2014/main" id="{C6FD86C2-B80F-E745-035E-BB10735065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743" y="1479928"/>
                <a:ext cx="4827657" cy="2220159"/>
              </a:xfrm>
              <a:prstGeom prst="rect">
                <a:avLst/>
              </a:prstGeom>
              <a:blipFill>
                <a:blip r:embed="rId4"/>
                <a:stretch>
                  <a:fillRect l="-2904" t="-3571" b="-659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481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F2AD6C-E8BB-5C4C-9D31-B30CF3416FC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0195" y="1277168"/>
            <a:ext cx="3436918" cy="3513124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5"/>
            <a:ext cx="533527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-Diodes-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762005" y="484817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13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0646" y="557613"/>
            <a:ext cx="5773954" cy="6283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2. Modélisation de la diode</a:t>
            </a:r>
          </a:p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sz="1600" b="1"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2.3 Modèle 3 : Diode avec seuil et résistance série</a:t>
            </a: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334000" y="361950"/>
            <a:ext cx="3709256" cy="10448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8F58C43-AB61-86C9-ACF4-0D75E4ACA769}"/>
              </a:ext>
            </a:extLst>
          </p:cNvPr>
          <p:cNvSpPr txBox="1"/>
          <p:nvPr/>
        </p:nvSpPr>
        <p:spPr>
          <a:xfrm>
            <a:off x="658743" y="1180743"/>
            <a:ext cx="5284857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fr-FR" sz="1600" dirty="0">
                <a:latin typeface="Bookman Old Style" panose="02050604050505020204" pitchFamily="18" charset="0"/>
              </a:rPr>
              <a:t>Dans </a:t>
            </a:r>
            <a:r>
              <a:rPr lang="fr-FR" sz="1600" b="1" dirty="0">
                <a:latin typeface="Bookman Old Style" panose="02050604050505020204" pitchFamily="18" charset="0"/>
              </a:rPr>
              <a:t>ce cas </a:t>
            </a:r>
            <a:r>
              <a:rPr lang="fr-FR" sz="1600" dirty="0">
                <a:latin typeface="Bookman Old Style" panose="02050604050505020204" pitchFamily="18" charset="0"/>
              </a:rPr>
              <a:t>on prend en compte la </a:t>
            </a:r>
            <a:r>
              <a:rPr lang="fr-FR" sz="1600" b="1" dirty="0">
                <a:latin typeface="Bookman Old Style" panose="02050604050505020204" pitchFamily="18" charset="0"/>
              </a:rPr>
              <a:t>résistance de la diode</a:t>
            </a:r>
            <a:r>
              <a:rPr lang="fr-FR" sz="1600" dirty="0">
                <a:latin typeface="Bookman Old Style" panose="02050604050505020204" pitchFamily="18" charset="0"/>
              </a:rPr>
              <a:t>. Ceci peut être </a:t>
            </a:r>
            <a:r>
              <a:rPr lang="fr-FR" sz="1600" b="1" dirty="0">
                <a:latin typeface="Bookman Old Style" panose="02050604050505020204" pitchFamily="18" charset="0"/>
              </a:rPr>
              <a:t>utile</a:t>
            </a:r>
            <a:r>
              <a:rPr lang="fr-FR" sz="1600" dirty="0">
                <a:latin typeface="Bookman Old Style" panose="02050604050505020204" pitchFamily="18" charset="0"/>
              </a:rPr>
              <a:t> si on </a:t>
            </a:r>
            <a:r>
              <a:rPr lang="fr-FR" sz="1600" b="1" dirty="0">
                <a:latin typeface="Bookman Old Style" panose="02050604050505020204" pitchFamily="18" charset="0"/>
              </a:rPr>
              <a:t>utilise la diode</a:t>
            </a:r>
            <a:r>
              <a:rPr lang="fr-FR" sz="1600" dirty="0">
                <a:latin typeface="Bookman Old Style" panose="02050604050505020204" pitchFamily="18" charset="0"/>
              </a:rPr>
              <a:t> en </a:t>
            </a:r>
            <a:r>
              <a:rPr lang="fr-FR" sz="1600" b="1" dirty="0">
                <a:latin typeface="Bookman Old Style" panose="02050604050505020204" pitchFamily="18" charset="0"/>
              </a:rPr>
              <a:t>petits signaux alternatifs</a:t>
            </a:r>
            <a:r>
              <a:rPr lang="fr-FR" sz="1600" dirty="0">
                <a:latin typeface="Bookman Old Style" panose="02050604050505020204" pitchFamily="18" charset="0"/>
              </a:rPr>
              <a:t> et qu'on a </a:t>
            </a:r>
            <a:r>
              <a:rPr lang="fr-FR" sz="1600" b="1" dirty="0">
                <a:latin typeface="Bookman Old Style" panose="02050604050505020204" pitchFamily="18" charset="0"/>
              </a:rPr>
              <a:t>besoin</a:t>
            </a:r>
            <a:r>
              <a:rPr lang="fr-FR" sz="1600" dirty="0">
                <a:latin typeface="Bookman Old Style" panose="02050604050505020204" pitchFamily="18" charset="0"/>
              </a:rPr>
              <a:t> de sa </a:t>
            </a:r>
            <a:r>
              <a:rPr lang="fr-FR" sz="1600" b="1" dirty="0">
                <a:latin typeface="Bookman Old Style" panose="02050604050505020204" pitchFamily="18" charset="0"/>
              </a:rPr>
              <a:t>résistance dynamique</a:t>
            </a:r>
            <a:r>
              <a:rPr lang="fr-FR" sz="1600" dirty="0">
                <a:latin typeface="Bookman Old Style" panose="02050604050505020204" pitchFamily="18" charset="0"/>
              </a:rPr>
              <a:t>.</a:t>
            </a:r>
          </a:p>
          <a:p>
            <a:pPr indent="0" algn="just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fr-FR" sz="1600" dirty="0">
              <a:latin typeface="Bookman Old Style" panose="02050604050505020204" pitchFamily="18" charset="0"/>
            </a:endParaRPr>
          </a:p>
          <a:p>
            <a:pPr marL="285750" indent="-285750" algn="just" eaLnBrk="1" fontAlgn="auto" hangingPunct="1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fr-FR" sz="1600" dirty="0">
                <a:latin typeface="Bookman Old Style" panose="02050604050505020204" pitchFamily="18" charset="0"/>
              </a:rPr>
              <a:t>En</a:t>
            </a:r>
            <a:r>
              <a:rPr lang="fr-FR" sz="1600" b="1" dirty="0">
                <a:latin typeface="Bookman Old Style" panose="02050604050505020204" pitchFamily="18" charset="0"/>
              </a:rPr>
              <a:t> polarisation direct </a:t>
            </a:r>
            <a:r>
              <a:rPr lang="fr-FR" sz="1600" dirty="0">
                <a:latin typeface="Bookman Old Style" panose="02050604050505020204" pitchFamily="18" charset="0"/>
              </a:rPr>
              <a:t>la </a:t>
            </a:r>
            <a:r>
              <a:rPr lang="fr-FR" sz="1600" b="1" dirty="0">
                <a:latin typeface="Bookman Old Style" panose="02050604050505020204" pitchFamily="18" charset="0"/>
              </a:rPr>
              <a:t>diode</a:t>
            </a:r>
            <a:r>
              <a:rPr lang="fr-FR" sz="1600" dirty="0">
                <a:latin typeface="Bookman Old Style" panose="02050604050505020204" pitchFamily="18" charset="0"/>
              </a:rPr>
              <a:t> est </a:t>
            </a:r>
            <a:r>
              <a:rPr lang="fr-FR" sz="1600" b="1" dirty="0">
                <a:latin typeface="Bookman Old Style" panose="02050604050505020204" pitchFamily="18" charset="0"/>
              </a:rPr>
              <a:t>équivalente</a:t>
            </a:r>
            <a:r>
              <a:rPr lang="fr-FR" sz="1600" dirty="0">
                <a:latin typeface="Bookman Old Style" panose="02050604050505020204" pitchFamily="18" charset="0"/>
              </a:rPr>
              <a:t> à une résistance </a:t>
            </a:r>
            <a:r>
              <a:rPr lang="fr-FR" sz="1600" b="1" dirty="0">
                <a:latin typeface="Bookman Old Style" panose="02050604050505020204" pitchFamily="18" charset="0"/>
              </a:rPr>
              <a:t>R</a:t>
            </a:r>
            <a:r>
              <a:rPr lang="fr-FR" sz="1600" b="1" baseline="-25000" dirty="0">
                <a:latin typeface="Bookman Old Style" panose="02050604050505020204" pitchFamily="18" charset="0"/>
              </a:rPr>
              <a:t>D</a:t>
            </a:r>
            <a:r>
              <a:rPr lang="fr-FR" sz="1600" b="1" dirty="0">
                <a:latin typeface="Bookman Old Style" panose="02050604050505020204" pitchFamily="18" charset="0"/>
              </a:rPr>
              <a:t> </a:t>
            </a:r>
            <a:r>
              <a:rPr lang="fr-FR" sz="1600" dirty="0">
                <a:latin typeface="Bookman Old Style" panose="02050604050505020204" pitchFamily="18" charset="0"/>
              </a:rPr>
              <a:t>(résistance extrinsèque) en série avec </a:t>
            </a:r>
            <a:r>
              <a:rPr lang="fr-FR" sz="1600" b="1" dirty="0">
                <a:latin typeface="Bookman Old Style" panose="02050604050505020204" pitchFamily="18" charset="0"/>
              </a:rPr>
              <a:t>V</a:t>
            </a:r>
            <a:r>
              <a:rPr lang="fr-FR" sz="1600" b="1" baseline="-25000" dirty="0">
                <a:latin typeface="Bookman Old Style" panose="02050604050505020204" pitchFamily="18" charset="0"/>
              </a:rPr>
              <a:t>D0</a:t>
            </a:r>
            <a:r>
              <a:rPr lang="fr-FR" sz="1600" dirty="0">
                <a:latin typeface="Bookman Old Style" panose="02050604050505020204" pitchFamily="18" charset="0"/>
              </a:rPr>
              <a:t>.</a:t>
            </a:r>
          </a:p>
          <a:p>
            <a:pPr algn="just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fr-FR" sz="1600" dirty="0">
              <a:latin typeface="Bookman Old Style" panose="02050604050505020204" pitchFamily="18" charset="0"/>
            </a:endParaRPr>
          </a:p>
          <a:p>
            <a:pPr marL="285750" indent="-285750" algn="just" eaLnBrk="1" fontAlgn="auto" hangingPunct="1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fr-FR" sz="1600" dirty="0">
                <a:latin typeface="Bookman Old Style" panose="02050604050505020204" pitchFamily="18" charset="0"/>
              </a:rPr>
              <a:t>En </a:t>
            </a:r>
            <a:r>
              <a:rPr lang="fr-FR" sz="1600" b="1" dirty="0">
                <a:latin typeface="Bookman Old Style" panose="02050604050505020204" pitchFamily="18" charset="0"/>
              </a:rPr>
              <a:t>polarisation inverse </a:t>
            </a:r>
            <a:r>
              <a:rPr lang="fr-FR" sz="1600" dirty="0">
                <a:latin typeface="Bookman Old Style" panose="02050604050505020204" pitchFamily="18" charset="0"/>
              </a:rPr>
              <a:t>la </a:t>
            </a:r>
            <a:r>
              <a:rPr lang="fr-FR" sz="1600" b="1" dirty="0">
                <a:latin typeface="Bookman Old Style" panose="02050604050505020204" pitchFamily="18" charset="0"/>
              </a:rPr>
              <a:t>diode</a:t>
            </a:r>
            <a:r>
              <a:rPr lang="fr-FR" sz="1600" dirty="0">
                <a:latin typeface="Bookman Old Style" panose="02050604050505020204" pitchFamily="18" charset="0"/>
              </a:rPr>
              <a:t> est </a:t>
            </a:r>
            <a:r>
              <a:rPr lang="fr-FR" sz="1600" b="1" dirty="0">
                <a:latin typeface="Bookman Old Style" panose="02050604050505020204" pitchFamily="18" charset="0"/>
              </a:rPr>
              <a:t>équivalente</a:t>
            </a:r>
            <a:r>
              <a:rPr lang="fr-FR" sz="1600" dirty="0">
                <a:latin typeface="Bookman Old Style" panose="02050604050505020204" pitchFamily="18" charset="0"/>
              </a:rPr>
              <a:t> à une résistance </a:t>
            </a:r>
            <a:r>
              <a:rPr lang="fr-FR" sz="1600" b="1" dirty="0">
                <a:latin typeface="Bookman Old Style" panose="02050604050505020204" pitchFamily="18" charset="0"/>
              </a:rPr>
              <a:t>R</a:t>
            </a:r>
            <a:r>
              <a:rPr lang="fr-FR" sz="1600" b="1" baseline="-25000" dirty="0">
                <a:latin typeface="Bookman Old Style" panose="02050604050505020204" pitchFamily="18" charset="0"/>
              </a:rPr>
              <a:t>i</a:t>
            </a:r>
            <a:r>
              <a:rPr lang="fr-FR" sz="1600" dirty="0">
                <a:latin typeface="Bookman Old Style" panose="02050604050505020204" pitchFamily="18" charset="0"/>
              </a:rPr>
              <a:t> très grande (</a:t>
            </a:r>
            <a:r>
              <a:rPr lang="fr-FR" sz="1600" b="1" dirty="0">
                <a:latin typeface="Bookman Old Style" panose="02050604050505020204" pitchFamily="18" charset="0"/>
              </a:rPr>
              <a:t>∞</a:t>
            </a:r>
            <a:r>
              <a:rPr lang="fr-FR" sz="1600" dirty="0">
                <a:latin typeface="Bookman Old Style" panose="02050604050505020204" pitchFamily="18" charset="0"/>
              </a:rPr>
              <a:t>) en parallèle avec une source de courant </a:t>
            </a:r>
            <a:r>
              <a:rPr lang="fr-FR" sz="1600" b="1" dirty="0">
                <a:latin typeface="Bookman Old Style" panose="02050604050505020204" pitchFamily="18" charset="0"/>
              </a:rPr>
              <a:t>I</a:t>
            </a:r>
            <a:r>
              <a:rPr lang="fr-FR" sz="1600" b="1" baseline="-25000" dirty="0">
                <a:latin typeface="Bookman Old Style" panose="02050604050505020204" pitchFamily="18" charset="0"/>
              </a:rPr>
              <a:t>i</a:t>
            </a:r>
            <a:r>
              <a:rPr lang="fr-FR" sz="1600" b="1" dirty="0">
                <a:latin typeface="Bookman Old Style" panose="02050604050505020204" pitchFamily="18" charset="0"/>
              </a:rPr>
              <a:t> très faible</a:t>
            </a:r>
          </a:p>
          <a:p>
            <a:pPr algn="just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fr-FR" sz="1600" dirty="0">
              <a:latin typeface="Bookman Old Style" panose="02050604050505020204" pitchFamily="18" charset="0"/>
            </a:endParaRPr>
          </a:p>
          <a:p>
            <a:pPr algn="just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fr-FR" sz="1400" dirty="0">
                <a:latin typeface="Bookman Old Style" panose="02050604050505020204" pitchFamily="18" charset="0"/>
              </a:rPr>
              <a:t>Pour une </a:t>
            </a:r>
            <a:r>
              <a:rPr lang="fr-FR" sz="1400" b="1" dirty="0">
                <a:latin typeface="Bookman Old Style" panose="02050604050505020204" pitchFamily="18" charset="0"/>
              </a:rPr>
              <a:t>diode</a:t>
            </a:r>
            <a:r>
              <a:rPr lang="fr-FR" sz="1400" dirty="0">
                <a:latin typeface="Bookman Old Style" panose="02050604050505020204" pitchFamily="18" charset="0"/>
              </a:rPr>
              <a:t> de </a:t>
            </a:r>
            <a:r>
              <a:rPr lang="fr-FR" sz="1400" b="1" dirty="0">
                <a:latin typeface="Bookman Old Style" panose="02050604050505020204" pitchFamily="18" charset="0"/>
              </a:rPr>
              <a:t>Silicium</a:t>
            </a:r>
            <a:r>
              <a:rPr lang="fr-FR" sz="1400" dirty="0">
                <a:latin typeface="Bookman Old Style" panose="02050604050505020204" pitchFamily="18" charset="0"/>
              </a:rPr>
              <a:t> : </a:t>
            </a:r>
          </a:p>
          <a:p>
            <a:pPr algn="just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fr-FR" sz="1400" b="1" dirty="0">
                <a:latin typeface="Bookman Old Style" panose="02050604050505020204" pitchFamily="18" charset="0"/>
              </a:rPr>
              <a:t>V</a:t>
            </a:r>
            <a:r>
              <a:rPr lang="fr-FR" sz="1400" b="1" baseline="-25000" dirty="0">
                <a:latin typeface="Bookman Old Style" panose="02050604050505020204" pitchFamily="18" charset="0"/>
              </a:rPr>
              <a:t>D0</a:t>
            </a:r>
            <a:r>
              <a:rPr lang="fr-FR" sz="1400" b="1" dirty="0">
                <a:latin typeface="Bookman Old Style" panose="02050604050505020204" pitchFamily="18" charset="0"/>
              </a:rPr>
              <a:t> </a:t>
            </a:r>
            <a:r>
              <a:rPr lang="fr-FR" sz="1400" b="1" dirty="0">
                <a:latin typeface="Bookman Old Style" panose="02050604050505020204" pitchFamily="18" charset="0"/>
                <a:sym typeface="Symbol"/>
              </a:rPr>
              <a:t></a:t>
            </a:r>
            <a:r>
              <a:rPr lang="fr-FR" sz="1400" b="1" dirty="0">
                <a:latin typeface="Bookman Old Style" panose="02050604050505020204" pitchFamily="18" charset="0"/>
              </a:rPr>
              <a:t> 0.6 - 0.7 V, R</a:t>
            </a:r>
            <a:r>
              <a:rPr lang="fr-FR" sz="1400" b="1" baseline="-25000" dirty="0">
                <a:latin typeface="Bookman Old Style" panose="02050604050505020204" pitchFamily="18" charset="0"/>
              </a:rPr>
              <a:t>D</a:t>
            </a:r>
            <a:r>
              <a:rPr lang="fr-FR" sz="1400" b="1" dirty="0">
                <a:latin typeface="Bookman Old Style" panose="02050604050505020204" pitchFamily="18" charset="0"/>
              </a:rPr>
              <a:t> = 20 </a:t>
            </a:r>
            <a:r>
              <a:rPr lang="fr-FR" sz="1400" b="1" dirty="0">
                <a:latin typeface="Symbol" pitchFamily="18" charset="2"/>
              </a:rPr>
              <a:t>W</a:t>
            </a:r>
            <a:r>
              <a:rPr lang="fr-FR" sz="1400" b="1" dirty="0">
                <a:latin typeface="Bookman Old Style" panose="02050604050505020204" pitchFamily="18" charset="0"/>
              </a:rPr>
              <a:t> et R</a:t>
            </a:r>
            <a:r>
              <a:rPr lang="fr-FR" sz="1400" b="1" baseline="-25000" dirty="0">
                <a:latin typeface="Bookman Old Style" panose="02050604050505020204" pitchFamily="18" charset="0"/>
              </a:rPr>
              <a:t>i</a:t>
            </a:r>
            <a:r>
              <a:rPr lang="fr-FR" sz="1400" b="1" dirty="0">
                <a:latin typeface="Bookman Old Style" panose="02050604050505020204" pitchFamily="18" charset="0"/>
              </a:rPr>
              <a:t> &gt;&gt; </a:t>
            </a:r>
            <a:r>
              <a:rPr lang="fr-FR" sz="1400" b="1" dirty="0"/>
              <a:t>M</a:t>
            </a:r>
            <a:r>
              <a:rPr lang="fr-FR" sz="1400" b="1" dirty="0">
                <a:latin typeface="Symbol" pitchFamily="18" charset="2"/>
              </a:rPr>
              <a:t>W</a:t>
            </a:r>
            <a:r>
              <a:rPr lang="fr-FR" sz="1400" b="1" dirty="0">
                <a:latin typeface="Bookman Old Style" panose="02050604050505020204" pitchFamily="18" charset="0"/>
              </a:rPr>
              <a:t>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C334DDB-3C33-D815-B5E0-C5C4298A55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236" y="2114550"/>
            <a:ext cx="654855" cy="744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844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5"/>
            <a:ext cx="533527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-Diodes-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762005" y="484817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14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0646" y="557613"/>
            <a:ext cx="5773954" cy="6283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2. Modélisation de la diode</a:t>
            </a:r>
          </a:p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sz="1600" b="1"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2.4 Résistance de la diode</a:t>
            </a: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334000" y="361950"/>
            <a:ext cx="3709256" cy="10448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CB3EC21B-49D4-7445-3C48-4B9A45ACE2D5}"/>
              </a:ext>
            </a:extLst>
          </p:cNvPr>
          <p:cNvSpPr txBox="1"/>
          <p:nvPr/>
        </p:nvSpPr>
        <p:spPr>
          <a:xfrm>
            <a:off x="690900" y="1304957"/>
            <a:ext cx="50241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800" b="1" dirty="0">
                <a:solidFill>
                  <a:srgbClr val="00B050"/>
                </a:solidFill>
                <a:latin typeface="Bookman Old Style" panose="02050604050505020204" pitchFamily="18" charset="0"/>
              </a:rPr>
              <a:t>Résistance statique</a:t>
            </a:r>
            <a:br>
              <a:rPr lang="fr-FR" sz="1800" dirty="0">
                <a:latin typeface="Bookman Old Style" panose="02050604050505020204" pitchFamily="18" charset="0"/>
              </a:rPr>
            </a:br>
            <a:r>
              <a:rPr lang="fr-FR" sz="1800" dirty="0">
                <a:latin typeface="Bookman Old Style" panose="02050604050505020204" pitchFamily="18" charset="0"/>
              </a:rPr>
              <a:t>La </a:t>
            </a:r>
            <a:r>
              <a:rPr lang="fr-FR" sz="1800" b="1" dirty="0">
                <a:latin typeface="Bookman Old Style" panose="02050604050505020204" pitchFamily="18" charset="0"/>
              </a:rPr>
              <a:t>résistance</a:t>
            </a:r>
            <a:r>
              <a:rPr lang="fr-FR" sz="1800" dirty="0">
                <a:latin typeface="Bookman Old Style" panose="02050604050505020204" pitchFamily="18" charset="0"/>
              </a:rPr>
              <a:t> </a:t>
            </a:r>
            <a:r>
              <a:rPr lang="fr-FR" sz="1800" b="1" dirty="0">
                <a:latin typeface="Bookman Old Style" panose="02050604050505020204" pitchFamily="18" charset="0"/>
              </a:rPr>
              <a:t>statique</a:t>
            </a:r>
            <a:r>
              <a:rPr lang="fr-FR" sz="1800" dirty="0">
                <a:latin typeface="Bookman Old Style" panose="02050604050505020204" pitchFamily="18" charset="0"/>
              </a:rPr>
              <a:t> est définie par :                      (c'est un paramètre variable)</a:t>
            </a:r>
            <a:br>
              <a:rPr lang="fr-FR" sz="1800" dirty="0">
                <a:latin typeface="Bookman Old Style" panose="02050604050505020204" pitchFamily="18" charset="0"/>
              </a:rPr>
            </a:br>
            <a:endParaRPr lang="fr-FR" dirty="0">
              <a:latin typeface="Bookman Old Style" panose="020506040505050202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C97EBB-89DF-3B44-D937-35A9C33D1528}"/>
              </a:ext>
            </a:extLst>
          </p:cNvPr>
          <p:cNvSpPr txBox="1"/>
          <p:nvPr/>
        </p:nvSpPr>
        <p:spPr>
          <a:xfrm>
            <a:off x="679715" y="2550245"/>
            <a:ext cx="33588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rgbClr val="00B050"/>
                </a:solidFill>
                <a:latin typeface="Bookman Old Style" panose="02050604050505020204" pitchFamily="18" charset="0"/>
              </a:rPr>
              <a:t>Résistance dynamique</a:t>
            </a:r>
          </a:p>
        </p:txBody>
      </p:sp>
      <p:graphicFrame>
        <p:nvGraphicFramePr>
          <p:cNvPr id="22" name="Object 1">
            <a:extLst>
              <a:ext uri="{FF2B5EF4-FFF2-40B4-BE49-F238E27FC236}">
                <a16:creationId xmlns:a16="http://schemas.microsoft.com/office/drawing/2014/main" id="{F7E5FAF5-4C08-CB38-2E01-1F31ECB1BE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1593614"/>
              </p:ext>
            </p:extLst>
          </p:nvPr>
        </p:nvGraphicFramePr>
        <p:xfrm>
          <a:off x="6586072" y="1526048"/>
          <a:ext cx="946150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07780" imgH="342751" progId="">
                  <p:embed/>
                </p:oleObj>
              </mc:Choice>
              <mc:Fallback>
                <p:oleObj r:id="rId3" imgW="507780" imgH="342751" progId="">
                  <p:embed/>
                  <p:pic>
                    <p:nvPicPr>
                      <p:cNvPr id="205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6072" y="1526048"/>
                        <a:ext cx="946150" cy="642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BB2D69D2-DFCA-CB87-CA37-D0A5DB29C665}"/>
              </a:ext>
            </a:extLst>
          </p:cNvPr>
          <p:cNvSpPr txBox="1"/>
          <p:nvPr/>
        </p:nvSpPr>
        <p:spPr>
          <a:xfrm>
            <a:off x="914400" y="2988861"/>
            <a:ext cx="582601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dirty="0">
                <a:latin typeface="Bookman Old Style" panose="02050604050505020204" pitchFamily="18" charset="0"/>
              </a:rPr>
              <a:t>La </a:t>
            </a:r>
            <a:r>
              <a:rPr lang="fr-FR" b="1" dirty="0">
                <a:latin typeface="Bookman Old Style" panose="02050604050505020204" pitchFamily="18" charset="0"/>
              </a:rPr>
              <a:t>résistance dynamique </a:t>
            </a:r>
            <a:r>
              <a:rPr lang="fr-FR" dirty="0">
                <a:latin typeface="Bookman Old Style" panose="02050604050505020204" pitchFamily="18" charset="0"/>
              </a:rPr>
              <a:t>est définie par :  </a:t>
            </a:r>
          </a:p>
          <a:p>
            <a:pPr algn="just"/>
            <a:r>
              <a:rPr lang="fr-FR" dirty="0">
                <a:latin typeface="Bookman Old Style" panose="02050604050505020204" pitchFamily="18" charset="0"/>
              </a:rPr>
              <a:t>                        </a:t>
            </a:r>
          </a:p>
          <a:p>
            <a:pPr algn="just"/>
            <a:r>
              <a:rPr lang="fr-FR" dirty="0">
                <a:latin typeface="Bookman Old Style" panose="02050604050505020204" pitchFamily="18" charset="0"/>
              </a:rPr>
              <a:t>C'est la </a:t>
            </a:r>
            <a:r>
              <a:rPr lang="fr-FR" b="1" dirty="0">
                <a:latin typeface="Bookman Old Style" panose="02050604050505020204" pitchFamily="18" charset="0"/>
              </a:rPr>
              <a:t>dérivée de la caractéristique électrique en un point</a:t>
            </a:r>
            <a:r>
              <a:rPr lang="fr-FR" dirty="0">
                <a:latin typeface="Bookman Old Style" panose="02050604050505020204" pitchFamily="18" charset="0"/>
              </a:rPr>
              <a:t>. </a:t>
            </a:r>
          </a:p>
          <a:p>
            <a:pPr algn="just"/>
            <a:r>
              <a:rPr lang="fr-FR" dirty="0">
                <a:latin typeface="Bookman Old Style" panose="02050604050505020204" pitchFamily="18" charset="0"/>
              </a:rPr>
              <a:t>On la </a:t>
            </a:r>
            <a:r>
              <a:rPr lang="fr-FR" b="1" dirty="0">
                <a:latin typeface="Bookman Old Style" panose="02050604050505020204" pitchFamily="18" charset="0"/>
              </a:rPr>
              <a:t>considère</a:t>
            </a:r>
            <a:r>
              <a:rPr lang="fr-FR" dirty="0">
                <a:latin typeface="Bookman Old Style" panose="02050604050505020204" pitchFamily="18" charset="0"/>
              </a:rPr>
              <a:t> souvent </a:t>
            </a:r>
            <a:r>
              <a:rPr lang="fr-FR" b="1" dirty="0">
                <a:latin typeface="Bookman Old Style" panose="02050604050505020204" pitchFamily="18" charset="0"/>
              </a:rPr>
              <a:t>constante</a:t>
            </a:r>
            <a:r>
              <a:rPr lang="fr-FR" dirty="0">
                <a:latin typeface="Bookman Old Style" panose="02050604050505020204" pitchFamily="18" charset="0"/>
              </a:rPr>
              <a:t> </a:t>
            </a:r>
            <a:r>
              <a:rPr lang="fr-FR" b="1" dirty="0">
                <a:latin typeface="Bookman Old Style" panose="02050604050505020204" pitchFamily="18" charset="0"/>
              </a:rPr>
              <a:t>si</a:t>
            </a:r>
            <a:r>
              <a:rPr lang="fr-FR" dirty="0">
                <a:latin typeface="Bookman Old Style" panose="02050604050505020204" pitchFamily="18" charset="0"/>
              </a:rPr>
              <a:t> la </a:t>
            </a:r>
            <a:r>
              <a:rPr lang="fr-FR" b="1" dirty="0">
                <a:latin typeface="Bookman Old Style" panose="02050604050505020204" pitchFamily="18" charset="0"/>
              </a:rPr>
              <a:t>variation</a:t>
            </a:r>
            <a:r>
              <a:rPr lang="fr-FR" dirty="0">
                <a:latin typeface="Bookman Old Style" panose="02050604050505020204" pitchFamily="18" charset="0"/>
              </a:rPr>
              <a:t> du signal </a:t>
            </a:r>
            <a:r>
              <a:rPr lang="fr-FR" b="1" dirty="0">
                <a:latin typeface="Bookman Old Style" panose="02050604050505020204" pitchFamily="18" charset="0"/>
              </a:rPr>
              <a:t>alternatif</a:t>
            </a:r>
            <a:r>
              <a:rPr lang="fr-FR" dirty="0">
                <a:latin typeface="Bookman Old Style" panose="02050604050505020204" pitchFamily="18" charset="0"/>
              </a:rPr>
              <a:t> est </a:t>
            </a:r>
            <a:r>
              <a:rPr lang="fr-FR" b="1" dirty="0">
                <a:latin typeface="Bookman Old Style" panose="02050604050505020204" pitchFamily="18" charset="0"/>
              </a:rPr>
              <a:t>très petite autour</a:t>
            </a:r>
            <a:r>
              <a:rPr lang="fr-FR" dirty="0">
                <a:latin typeface="Bookman Old Style" panose="02050604050505020204" pitchFamily="18" charset="0"/>
              </a:rPr>
              <a:t> du </a:t>
            </a:r>
            <a:r>
              <a:rPr lang="fr-FR" b="1" dirty="0">
                <a:latin typeface="Bookman Old Style" panose="02050604050505020204" pitchFamily="18" charset="0"/>
              </a:rPr>
              <a:t>point</a:t>
            </a:r>
            <a:r>
              <a:rPr lang="fr-FR" dirty="0">
                <a:latin typeface="Bookman Old Style" panose="02050604050505020204" pitchFamily="18" charset="0"/>
              </a:rPr>
              <a:t> de </a:t>
            </a:r>
            <a:r>
              <a:rPr lang="fr-FR" b="1" dirty="0">
                <a:latin typeface="Bookman Old Style" panose="02050604050505020204" pitchFamily="18" charset="0"/>
              </a:rPr>
              <a:t>polarisation</a:t>
            </a:r>
            <a:r>
              <a:rPr lang="fr-FR" dirty="0">
                <a:latin typeface="Bookman Old Style" panose="02050604050505020204" pitchFamily="18" charset="0"/>
              </a:rPr>
              <a:t> en </a:t>
            </a:r>
            <a:r>
              <a:rPr lang="fr-FR" b="1" dirty="0">
                <a:latin typeface="Bookman Old Style" panose="02050604050505020204" pitchFamily="18" charset="0"/>
              </a:rPr>
              <a:t>continu</a:t>
            </a:r>
            <a:r>
              <a:rPr lang="fr-FR" dirty="0">
                <a:latin typeface="Bookman Old Style" panose="02050604050505020204" pitchFamily="18" charset="0"/>
              </a:rPr>
              <a:t>.</a:t>
            </a:r>
          </a:p>
        </p:txBody>
      </p:sp>
      <p:graphicFrame>
        <p:nvGraphicFramePr>
          <p:cNvPr id="25" name="Object 3">
            <a:extLst>
              <a:ext uri="{FF2B5EF4-FFF2-40B4-BE49-F238E27FC236}">
                <a16:creationId xmlns:a16="http://schemas.microsoft.com/office/drawing/2014/main" id="{947A260D-9345-A314-066B-FDA4B4D41B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6222026"/>
              </p:ext>
            </p:extLst>
          </p:nvPr>
        </p:nvGraphicFramePr>
        <p:xfrm>
          <a:off x="6629400" y="2919577"/>
          <a:ext cx="928688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444307" imgH="342751" progId="">
                  <p:embed/>
                </p:oleObj>
              </mc:Choice>
              <mc:Fallback>
                <p:oleObj r:id="rId5" imgW="444307" imgH="342751" progId="">
                  <p:embed/>
                  <p:pic>
                    <p:nvPicPr>
                      <p:cNvPr id="205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2919577"/>
                        <a:ext cx="928688" cy="71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221370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22">
            <a:extLst>
              <a:ext uri="{FF2B5EF4-FFF2-40B4-BE49-F238E27FC236}">
                <a16:creationId xmlns:a16="http://schemas.microsoft.com/office/drawing/2014/main" id="{705D3373-0C67-FE60-22FF-334E90B12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5714292" y="3088497"/>
            <a:ext cx="3323453" cy="1931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" name="Text Box 9">
            <a:extLst>
              <a:ext uri="{FF2B5EF4-FFF2-40B4-BE49-F238E27FC236}">
                <a16:creationId xmlns:a16="http://schemas.microsoft.com/office/drawing/2014/main" id="{73F494E5-CEF3-E51E-C022-7C1D66F47D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6623" y="1859250"/>
            <a:ext cx="478697" cy="32781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>
              <a:spcAft>
                <a:spcPts val="1000"/>
              </a:spcAft>
            </a:pPr>
            <a:r>
              <a:rPr lang="fr-FR" sz="1600" b="1" dirty="0">
                <a:latin typeface="Bookman Old Style" panose="02050604050505020204" pitchFamily="18" charset="0"/>
              </a:rPr>
              <a:t>V</a:t>
            </a:r>
            <a:r>
              <a:rPr lang="fr-FR" sz="1600" b="1" baseline="-25000" dirty="0">
                <a:latin typeface="Bookman Old Style" panose="02050604050505020204" pitchFamily="18" charset="0"/>
              </a:rPr>
              <a:t>D</a:t>
            </a:r>
            <a:endParaRPr lang="fr-FR" sz="1600" b="1" dirty="0">
              <a:latin typeface="Bookman Old Style" panose="02050604050505020204" pitchFamily="18" charset="0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5"/>
            <a:ext cx="533527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-Diodes-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762005" y="484817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15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0646" y="557613"/>
            <a:ext cx="64597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3. Droite de charge et point de fonctionnement</a:t>
            </a: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334000" y="361950"/>
            <a:ext cx="3709256" cy="10448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759EF98-0AA4-5F01-CBD5-9F9DB9C51E24}"/>
              </a:ext>
            </a:extLst>
          </p:cNvPr>
          <p:cNvSpPr txBox="1"/>
          <p:nvPr/>
        </p:nvSpPr>
        <p:spPr>
          <a:xfrm>
            <a:off x="210723" y="1095798"/>
            <a:ext cx="802805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fr-FR" dirty="0">
                <a:latin typeface="Bookman Old Style" panose="02050604050505020204" pitchFamily="18" charset="0"/>
              </a:rPr>
              <a:t>On </a:t>
            </a:r>
            <a:r>
              <a:rPr lang="fr-FR" b="1" dirty="0">
                <a:latin typeface="Bookman Old Style" panose="02050604050505020204" pitchFamily="18" charset="0"/>
              </a:rPr>
              <a:t>considère le circuit ci-contre</a:t>
            </a:r>
            <a:r>
              <a:rPr lang="fr-FR" dirty="0">
                <a:latin typeface="Bookman Old Style" panose="02050604050505020204" pitchFamily="18" charset="0"/>
              </a:rPr>
              <a:t> :</a:t>
            </a:r>
          </a:p>
          <a:p>
            <a:pPr algn="just"/>
            <a:endParaRPr lang="fr-FR" sz="1600" dirty="0">
              <a:latin typeface="Bookman Old Style" panose="02050604050505020204" pitchFamily="18" charset="0"/>
            </a:endParaRPr>
          </a:p>
          <a:p>
            <a:pPr algn="just"/>
            <a:endParaRPr lang="fr-FR" sz="1600" dirty="0">
              <a:latin typeface="Bookman Old Style" panose="02050604050505020204" pitchFamily="18" charset="0"/>
            </a:endParaRPr>
          </a:p>
          <a:p>
            <a:pPr algn="just"/>
            <a:endParaRPr lang="fr-FR" sz="1600" dirty="0">
              <a:latin typeface="Bookman Old Style" panose="02050604050505020204" pitchFamily="18" charset="0"/>
            </a:endParaRPr>
          </a:p>
          <a:p>
            <a:pPr algn="just"/>
            <a:endParaRPr lang="fr-FR" sz="1600" dirty="0">
              <a:latin typeface="Bookman Old Style" panose="02050604050505020204" pitchFamily="18" charset="0"/>
            </a:endParaRPr>
          </a:p>
          <a:p>
            <a:pPr algn="just"/>
            <a:endParaRPr lang="fr-FR" sz="1600" dirty="0">
              <a:latin typeface="Bookman Old Style" panose="02050604050505020204" pitchFamily="18" charset="0"/>
            </a:endParaRPr>
          </a:p>
          <a:p>
            <a:pPr algn="just"/>
            <a:endParaRPr lang="fr-FR" sz="1600" dirty="0">
              <a:latin typeface="Bookman Old Style" panose="02050604050505020204" pitchFamily="18" charset="0"/>
            </a:endParaRPr>
          </a:p>
          <a:p>
            <a:pPr algn="just"/>
            <a:endParaRPr lang="fr-FR" sz="1600" dirty="0">
              <a:latin typeface="Bookman Old Style" panose="02050604050505020204" pitchFamily="18" charset="0"/>
            </a:endParaRPr>
          </a:p>
          <a:p>
            <a:pPr algn="just"/>
            <a:endParaRPr lang="fr-FR" sz="1600" dirty="0">
              <a:latin typeface="Bookman Old Style" panose="02050604050505020204" pitchFamily="18" charset="0"/>
            </a:endParaRPr>
          </a:p>
          <a:p>
            <a:pPr algn="just"/>
            <a:endParaRPr lang="fr-FR" sz="1600" dirty="0">
              <a:latin typeface="Bookman Old Style" panose="020506040505050202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FC9E301-7A70-DEC9-184A-131D787A1640}"/>
              </a:ext>
            </a:extLst>
          </p:cNvPr>
          <p:cNvGrpSpPr/>
          <p:nvPr/>
        </p:nvGrpSpPr>
        <p:grpSpPr>
          <a:xfrm>
            <a:off x="5881822" y="851187"/>
            <a:ext cx="2701306" cy="2071688"/>
            <a:chOff x="500063" y="3714750"/>
            <a:chExt cx="2701306" cy="2071688"/>
          </a:xfrm>
        </p:grpSpPr>
        <p:sp>
          <p:nvSpPr>
            <p:cNvPr id="11" name="Text Box 7">
              <a:extLst>
                <a:ext uri="{FF2B5EF4-FFF2-40B4-BE49-F238E27FC236}">
                  <a16:creationId xmlns:a16="http://schemas.microsoft.com/office/drawing/2014/main" id="{88F68DA3-C55F-B3A5-B5E8-A2FEEDF547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063" y="4778375"/>
              <a:ext cx="471487" cy="3984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fr-FR" sz="1500" b="1">
                  <a:latin typeface="Bookman Old Style" panose="02050604050505020204" pitchFamily="18" charset="0"/>
                </a:rPr>
                <a:t>V</a:t>
              </a:r>
            </a:p>
          </p:txBody>
        </p:sp>
        <p:sp>
          <p:nvSpPr>
            <p:cNvPr id="12" name="Text Box 4">
              <a:extLst>
                <a:ext uri="{FF2B5EF4-FFF2-40B4-BE49-F238E27FC236}">
                  <a16:creationId xmlns:a16="http://schemas.microsoft.com/office/drawing/2014/main" id="{F48C0584-7F89-3241-4260-57BD632957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0788" y="3714750"/>
              <a:ext cx="484187" cy="3968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fr-FR" sz="1500" b="1">
                  <a:latin typeface="Bookman Old Style" panose="02050604050505020204" pitchFamily="18" charset="0"/>
                </a:rPr>
                <a:t>I</a:t>
              </a:r>
              <a:r>
                <a:rPr lang="fr-FR" sz="1500" b="1" baseline="-25000">
                  <a:latin typeface="Bookman Old Style" panose="02050604050505020204" pitchFamily="18" charset="0"/>
                </a:rPr>
                <a:t>D</a:t>
              </a:r>
              <a:endParaRPr lang="fr-FR" sz="1500" b="1">
                <a:latin typeface="Bookman Old Style" panose="02050604050505020204" pitchFamily="18" charset="0"/>
              </a:endParaRPr>
            </a:p>
          </p:txBody>
        </p:sp>
        <p:sp>
          <p:nvSpPr>
            <p:cNvPr id="13" name="Text Box 5">
              <a:extLst>
                <a:ext uri="{FF2B5EF4-FFF2-40B4-BE49-F238E27FC236}">
                  <a16:creationId xmlns:a16="http://schemas.microsoft.com/office/drawing/2014/main" id="{78C85971-B19A-E85A-E8CA-8490D6383D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5813" y="4964113"/>
              <a:ext cx="307975" cy="3222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fr-FR" sz="1500">
                  <a:latin typeface="Bookman Old Style" panose="02050604050505020204" pitchFamily="18" charset="0"/>
                </a:rPr>
                <a:t>–</a:t>
              </a:r>
            </a:p>
          </p:txBody>
        </p:sp>
        <p:sp>
          <p:nvSpPr>
            <p:cNvPr id="17" name="Text Box 6">
              <a:extLst>
                <a:ext uri="{FF2B5EF4-FFF2-40B4-BE49-F238E27FC236}">
                  <a16:creationId xmlns:a16="http://schemas.microsoft.com/office/drawing/2014/main" id="{582A322A-9502-F4DB-8255-F7DA0D5606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5813" y="4603750"/>
              <a:ext cx="379412" cy="3968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fr-FR" sz="1500">
                  <a:latin typeface="Bookman Old Style" panose="02050604050505020204" pitchFamily="18" charset="0"/>
                </a:rPr>
                <a:t>+</a:t>
              </a:r>
            </a:p>
          </p:txBody>
        </p:sp>
        <p:sp>
          <p:nvSpPr>
            <p:cNvPr id="20" name="Text Box 8">
              <a:extLst>
                <a:ext uri="{FF2B5EF4-FFF2-40B4-BE49-F238E27FC236}">
                  <a16:creationId xmlns:a16="http://schemas.microsoft.com/office/drawing/2014/main" id="{FD36F7F2-21D3-7A3D-8A0F-EA4FC8E1ED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5463" y="3714750"/>
              <a:ext cx="471487" cy="3968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fr-FR" sz="1500" b="1">
                  <a:latin typeface="Bookman Old Style" panose="02050604050505020204" pitchFamily="18" charset="0"/>
                </a:rPr>
                <a:t>R</a:t>
              </a:r>
            </a:p>
          </p:txBody>
        </p:sp>
        <p:cxnSp>
          <p:nvCxnSpPr>
            <p:cNvPr id="23" name="AutoShape 10">
              <a:extLst>
                <a:ext uri="{FF2B5EF4-FFF2-40B4-BE49-F238E27FC236}">
                  <a16:creationId xmlns:a16="http://schemas.microsoft.com/office/drawing/2014/main" id="{80818429-C525-2E62-5D17-B2A3872CEB8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23938" y="4125913"/>
              <a:ext cx="1951037" cy="0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AutoShape 11">
              <a:extLst>
                <a:ext uri="{FF2B5EF4-FFF2-40B4-BE49-F238E27FC236}">
                  <a16:creationId xmlns:a16="http://schemas.microsoft.com/office/drawing/2014/main" id="{90A9C935-3FED-B4CC-548B-DDD35ADE43A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974975" y="4125913"/>
              <a:ext cx="0" cy="1660525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AutoShape 12">
              <a:extLst>
                <a:ext uri="{FF2B5EF4-FFF2-40B4-BE49-F238E27FC236}">
                  <a16:creationId xmlns:a16="http://schemas.microsoft.com/office/drawing/2014/main" id="{AF2FD616-A8A0-EFC3-2B4C-8326B159981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23938" y="4125913"/>
              <a:ext cx="0" cy="766762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AutoShape 13">
              <a:extLst>
                <a:ext uri="{FF2B5EF4-FFF2-40B4-BE49-F238E27FC236}">
                  <a16:creationId xmlns:a16="http://schemas.microsoft.com/office/drawing/2014/main" id="{CD74A731-1D3D-5F64-AFDC-79BC2C2448E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23938" y="5786438"/>
              <a:ext cx="1951037" cy="0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AutoShape 14">
              <a:extLst>
                <a:ext uri="{FF2B5EF4-FFF2-40B4-BE49-F238E27FC236}">
                  <a16:creationId xmlns:a16="http://schemas.microsoft.com/office/drawing/2014/main" id="{B2330296-C35D-E8CE-F9A3-FD3AECAD720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23938" y="4991100"/>
              <a:ext cx="0" cy="795338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Rectangle 15">
              <a:extLst>
                <a:ext uri="{FF2B5EF4-FFF2-40B4-BE49-F238E27FC236}">
                  <a16:creationId xmlns:a16="http://schemas.microsoft.com/office/drawing/2014/main" id="{6A39F046-6CE4-9F38-1E96-38F4B900B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8300" y="4041775"/>
              <a:ext cx="655638" cy="169863"/>
            </a:xfrm>
            <a:prstGeom prst="rect">
              <a:avLst/>
            </a:prstGeom>
            <a:solidFill>
              <a:srgbClr val="CC00CC"/>
            </a:solidFill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fr-FR" sz="1500">
                <a:latin typeface="Bookman Old Style" panose="02050604050505020204" pitchFamily="18" charset="0"/>
              </a:endParaRPr>
            </a:p>
          </p:txBody>
        </p:sp>
        <p:cxnSp>
          <p:nvCxnSpPr>
            <p:cNvPr id="31" name="AutoShape 16">
              <a:extLst>
                <a:ext uri="{FF2B5EF4-FFF2-40B4-BE49-F238E27FC236}">
                  <a16:creationId xmlns:a16="http://schemas.microsoft.com/office/drawing/2014/main" id="{9561984E-1A98-CC0E-F383-A78BBAFC746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87400" y="4892675"/>
              <a:ext cx="485775" cy="0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AutoShape 17">
              <a:extLst>
                <a:ext uri="{FF2B5EF4-FFF2-40B4-BE49-F238E27FC236}">
                  <a16:creationId xmlns:a16="http://schemas.microsoft.com/office/drawing/2014/main" id="{65C4BA4F-1A1E-D7EF-78A7-3BC6347FEFA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84250" y="4991100"/>
              <a:ext cx="79375" cy="0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AutoShape 18">
              <a:extLst>
                <a:ext uri="{FF2B5EF4-FFF2-40B4-BE49-F238E27FC236}">
                  <a16:creationId xmlns:a16="http://schemas.microsoft.com/office/drawing/2014/main" id="{FC35F32C-9E66-8587-0615-8C57343B073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2870200" y="4722813"/>
              <a:ext cx="222250" cy="268287"/>
            </a:xfrm>
            <a:prstGeom prst="triangle">
              <a:avLst>
                <a:gd name="adj" fmla="val 50000"/>
              </a:avLst>
            </a:prstGeom>
            <a:solidFill>
              <a:srgbClr val="00B050"/>
            </a:solidFill>
            <a:ln>
              <a:headEnd/>
              <a:tailE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sz="1500" dirty="0">
                <a:latin typeface="Bookman Old Style" panose="02050604050505020204" pitchFamily="18" charset="0"/>
              </a:endParaRPr>
            </a:p>
          </p:txBody>
        </p:sp>
        <p:cxnSp>
          <p:nvCxnSpPr>
            <p:cNvPr id="34" name="AutoShape 19">
              <a:extLst>
                <a:ext uri="{FF2B5EF4-FFF2-40B4-BE49-F238E27FC236}">
                  <a16:creationId xmlns:a16="http://schemas.microsoft.com/office/drawing/2014/main" id="{AE307616-1F88-D74A-BBCE-DA9F47F85E4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870200" y="4991100"/>
              <a:ext cx="222250" cy="0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AutoShape 20">
              <a:extLst>
                <a:ext uri="{FF2B5EF4-FFF2-40B4-BE49-F238E27FC236}">
                  <a16:creationId xmlns:a16="http://schemas.microsoft.com/office/drawing/2014/main" id="{44655022-D15B-1D65-585D-B1886B064B4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201369" y="4296568"/>
              <a:ext cx="0" cy="1192213"/>
            </a:xfrm>
            <a:prstGeom prst="straightConnector1">
              <a:avLst/>
            </a:prstGeom>
            <a:ln>
              <a:solidFill>
                <a:srgbClr val="CC00CC"/>
              </a:solidFill>
              <a:headEnd/>
              <a:tailEnd type="arrow" w="med" len="med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6" name="AutoShape 21">
              <a:extLst>
                <a:ext uri="{FF2B5EF4-FFF2-40B4-BE49-F238E27FC236}">
                  <a16:creationId xmlns:a16="http://schemas.microsoft.com/office/drawing/2014/main" id="{7A288B4F-49E8-084F-FE78-4500FBA8A476}"/>
                </a:ext>
              </a:extLst>
            </p:cNvPr>
            <p:cNvCxnSpPr>
              <a:cxnSpLocks noChangeShapeType="1"/>
              <a:endCxn id="12" idx="2"/>
            </p:cNvCxnSpPr>
            <p:nvPr/>
          </p:nvCxnSpPr>
          <p:spPr bwMode="auto">
            <a:xfrm flipV="1">
              <a:off x="2568575" y="4111625"/>
              <a:ext cx="164307" cy="14288"/>
            </a:xfrm>
            <a:prstGeom prst="straightConnector1">
              <a:avLst/>
            </a:prstGeom>
            <a:ln>
              <a:headEnd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0CA6C240-6D57-4CFF-141F-D7278ADFDF22}"/>
              </a:ext>
            </a:extLst>
          </p:cNvPr>
          <p:cNvSpPr txBox="1"/>
          <p:nvPr/>
        </p:nvSpPr>
        <p:spPr>
          <a:xfrm>
            <a:off x="415511" y="1893526"/>
            <a:ext cx="482443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fr-FR" sz="1600" dirty="0">
                <a:latin typeface="Bookman Old Style" panose="02050604050505020204" pitchFamily="18" charset="0"/>
              </a:rPr>
              <a:t>La </a:t>
            </a:r>
            <a:r>
              <a:rPr lang="fr-FR" sz="1600" b="1" dirty="0">
                <a:latin typeface="Bookman Old Style" panose="02050604050505020204" pitchFamily="18" charset="0"/>
              </a:rPr>
              <a:t>droite de charge </a:t>
            </a:r>
            <a:r>
              <a:rPr lang="fr-FR" sz="1600" dirty="0">
                <a:latin typeface="Bookman Old Style" panose="02050604050505020204" pitchFamily="18" charset="0"/>
              </a:rPr>
              <a:t>: </a:t>
            </a:r>
          </a:p>
          <a:p>
            <a:pPr algn="just"/>
            <a:endParaRPr lang="fr-FR" sz="1800" dirty="0">
              <a:latin typeface="Bookman Old Style" panose="02050604050505020204" pitchFamily="18" charset="0"/>
            </a:endParaRPr>
          </a:p>
          <a:p>
            <a:pPr algn="just"/>
            <a:endParaRPr lang="fr-FR" sz="1800" dirty="0">
              <a:latin typeface="Bookman Old Style" panose="02050604050505020204" pitchFamily="18" charset="0"/>
            </a:endParaRPr>
          </a:p>
          <a:p>
            <a:pPr algn="just"/>
            <a:endParaRPr lang="fr-FR" dirty="0">
              <a:latin typeface="Bookman Old Style" panose="02050604050505020204" pitchFamily="18" charset="0"/>
            </a:endParaRPr>
          </a:p>
          <a:p>
            <a:pPr algn="just"/>
            <a:endParaRPr lang="fr-FR" dirty="0">
              <a:latin typeface="Bookman Old Style" panose="02050604050505020204" pitchFamily="18" charset="0"/>
            </a:endParaRPr>
          </a:p>
          <a:p>
            <a:pPr algn="just"/>
            <a:endParaRPr lang="fr-FR" sz="1800" dirty="0">
              <a:latin typeface="Bookman Old Style" panose="020506040505050202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fr-FR" sz="1600" dirty="0">
                <a:latin typeface="Bookman Old Style" panose="02050604050505020204" pitchFamily="18" charset="0"/>
              </a:rPr>
              <a:t>Le </a:t>
            </a:r>
            <a:r>
              <a:rPr lang="fr-FR" sz="1600" b="1" dirty="0">
                <a:latin typeface="Bookman Old Style" panose="02050604050505020204" pitchFamily="18" charset="0"/>
              </a:rPr>
              <a:t>point de fonctionnement </a:t>
            </a:r>
            <a:r>
              <a:rPr lang="fr-FR" sz="1600" dirty="0">
                <a:latin typeface="Bookman Old Style" panose="02050604050505020204" pitchFamily="18" charset="0"/>
              </a:rPr>
              <a:t>est défini par l'</a:t>
            </a:r>
            <a:r>
              <a:rPr lang="fr-FR" sz="1600" b="1" dirty="0">
                <a:latin typeface="Bookman Old Style" panose="02050604050505020204" pitchFamily="18" charset="0"/>
              </a:rPr>
              <a:t>intersection</a:t>
            </a:r>
            <a:r>
              <a:rPr lang="fr-FR" sz="1600" dirty="0">
                <a:latin typeface="Bookman Old Style" panose="02050604050505020204" pitchFamily="18" charset="0"/>
              </a:rPr>
              <a:t>  de la </a:t>
            </a:r>
            <a:r>
              <a:rPr lang="fr-FR" sz="1600" b="1" dirty="0">
                <a:latin typeface="Bookman Old Style" panose="02050604050505020204" pitchFamily="18" charset="0"/>
              </a:rPr>
              <a:t>droite</a:t>
            </a:r>
            <a:r>
              <a:rPr lang="fr-FR" sz="1600" dirty="0">
                <a:latin typeface="Bookman Old Style" panose="02050604050505020204" pitchFamily="18" charset="0"/>
              </a:rPr>
              <a:t> </a:t>
            </a:r>
            <a:r>
              <a:rPr lang="fr-FR" sz="1600" b="1" dirty="0">
                <a:latin typeface="Bookman Old Style" panose="02050604050505020204" pitchFamily="18" charset="0"/>
              </a:rPr>
              <a:t>de charge </a:t>
            </a:r>
            <a:r>
              <a:rPr lang="fr-FR" sz="1600" dirty="0">
                <a:latin typeface="Bookman Old Style" panose="02050604050505020204" pitchFamily="18" charset="0"/>
              </a:rPr>
              <a:t>et la </a:t>
            </a:r>
            <a:r>
              <a:rPr lang="fr-FR" sz="1600" b="1" dirty="0">
                <a:latin typeface="Bookman Old Style" panose="02050604050505020204" pitchFamily="18" charset="0"/>
              </a:rPr>
              <a:t>caractéristique électrique de la diode</a:t>
            </a:r>
            <a:endParaRPr lang="fr-FR" sz="1600" b="1" dirty="0"/>
          </a:p>
        </p:txBody>
      </p:sp>
      <p:graphicFrame>
        <p:nvGraphicFramePr>
          <p:cNvPr id="39" name="Object 1">
            <a:extLst>
              <a:ext uri="{FF2B5EF4-FFF2-40B4-BE49-F238E27FC236}">
                <a16:creationId xmlns:a16="http://schemas.microsoft.com/office/drawing/2014/main" id="{EB5832FF-E132-6016-D148-8FF3448352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2397010"/>
              </p:ext>
            </p:extLst>
          </p:nvPr>
        </p:nvGraphicFramePr>
        <p:xfrm>
          <a:off x="2804020" y="2335983"/>
          <a:ext cx="2147118" cy="7080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952087" imgH="317362" progId="">
                  <p:embed/>
                </p:oleObj>
              </mc:Choice>
              <mc:Fallback>
                <p:oleObj r:id="rId5" imgW="952087" imgH="317362" progId="">
                  <p:embed/>
                  <p:pic>
                    <p:nvPicPr>
                      <p:cNvPr id="3074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4020" y="2335983"/>
                        <a:ext cx="2147118" cy="7080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822996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5"/>
            <a:ext cx="533527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-Diodes-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762005" y="484817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16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0646" y="557613"/>
            <a:ext cx="64597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4. Limites de fonctionnement de la diode</a:t>
            </a: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334000" y="361950"/>
            <a:ext cx="3709256" cy="10448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D432FEB-E18A-9CDA-A802-CF65BBD11CBD}"/>
                  </a:ext>
                </a:extLst>
              </p:cNvPr>
              <p:cNvSpPr txBox="1"/>
              <p:nvPr/>
            </p:nvSpPr>
            <p:spPr>
              <a:xfrm>
                <a:off x="550646" y="1077975"/>
                <a:ext cx="8551178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:r>
                  <a:rPr lang="fr-FR" sz="1600" b="1" dirty="0">
                    <a:solidFill>
                      <a:srgbClr val="00B050"/>
                    </a:solidFill>
                    <a:latin typeface="Bookman Old Style" panose="02050604050505020204" pitchFamily="18" charset="0"/>
                  </a:rPr>
                  <a:t>Zone de claquage inverse </a:t>
                </a:r>
                <a:r>
                  <a:rPr lang="fr-FR" sz="1600" dirty="0">
                    <a:latin typeface="Bookman Old Style" panose="02050604050505020204" pitchFamily="18" charset="0"/>
                  </a:rPr>
                  <a:t>(discutée dans la diapositive n° 9)</a:t>
                </a:r>
              </a:p>
              <a:p>
                <a:pPr algn="just"/>
                <a:endParaRPr lang="fr-FR" sz="1600" dirty="0">
                  <a:latin typeface="Bookman Old Style" panose="02050604050505020204" pitchFamily="18" charset="0"/>
                </a:endParaRPr>
              </a:p>
              <a:p>
                <a:pPr algn="just"/>
                <a:r>
                  <a:rPr lang="fr-FR" sz="1600" dirty="0">
                    <a:latin typeface="Bookman Old Style" panose="02050604050505020204" pitchFamily="18" charset="0"/>
                  </a:rPr>
                  <a:t>La </a:t>
                </a:r>
                <a:r>
                  <a:rPr lang="fr-FR" sz="1600" b="1" dirty="0">
                    <a:latin typeface="Bookman Old Style" panose="02050604050505020204" pitchFamily="18" charset="0"/>
                  </a:rPr>
                  <a:t>tension inverse </a:t>
                </a:r>
                <a:r>
                  <a:rPr lang="fr-FR" sz="1600" dirty="0">
                    <a:latin typeface="Bookman Old Style" panose="02050604050505020204" pitchFamily="18" charset="0"/>
                  </a:rPr>
                  <a:t>ne doit pas </a:t>
                </a:r>
                <a:r>
                  <a:rPr lang="fr-FR" sz="1600" b="1" dirty="0">
                    <a:latin typeface="Bookman Old Style" panose="02050604050505020204" pitchFamily="18" charset="0"/>
                  </a:rPr>
                  <a:t>dépasser</a:t>
                </a:r>
                <a:r>
                  <a:rPr lang="fr-FR" sz="1600" dirty="0">
                    <a:latin typeface="Bookman Old Style" panose="0205060405050502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0" dirty="0" smtClean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fr-FR" sz="1600" b="1" i="0" dirty="0" smtClean="0">
                            <a:latin typeface="Cambria Math" panose="02040503050406030204" pitchFamily="18" charset="0"/>
                          </a:rPr>
                          <m:t>𝐦𝐚𝐱</m:t>
                        </m:r>
                      </m:sub>
                    </m:sSub>
                    <m:r>
                      <a:rPr lang="fr-FR" sz="1600" i="0" dirty="0" smtClean="0">
                        <a:latin typeface="Cambria Math" panose="02040503050406030204" pitchFamily="18" charset="0"/>
                      </a:rPr>
                      <m:t>⁡</m:t>
                    </m:r>
                  </m:oMath>
                </a14:m>
                <a:r>
                  <a:rPr lang="fr-FR" sz="1600" dirty="0">
                    <a:latin typeface="Bookman Old Style" panose="02050604050505020204" pitchFamily="18" charset="0"/>
                  </a:rPr>
                  <a:t>(quelques dizaines de volts). Elle peut conduire à la </a:t>
                </a:r>
                <a:r>
                  <a:rPr lang="fr-FR" sz="1600" b="1" dirty="0">
                    <a:latin typeface="Bookman Old Style" panose="02050604050505020204" pitchFamily="18" charset="0"/>
                  </a:rPr>
                  <a:t>destruction de la diode</a:t>
                </a:r>
                <a:r>
                  <a:rPr lang="fr-FR" sz="1600" dirty="0">
                    <a:latin typeface="Bookman Old Style" panose="0205060405050502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D432FEB-E18A-9CDA-A802-CF65BBD11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46" y="1077975"/>
                <a:ext cx="8551178" cy="1077218"/>
              </a:xfrm>
              <a:prstGeom prst="rect">
                <a:avLst/>
              </a:prstGeom>
              <a:blipFill>
                <a:blip r:embed="rId3"/>
                <a:stretch>
                  <a:fillRect l="-356" t="-1695" r="-428" b="-62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009BC8B-4B7A-9ECB-5784-A04BF37AB0CD}"/>
                  </a:ext>
                </a:extLst>
              </p:cNvPr>
              <p:cNvSpPr txBox="1"/>
              <p:nvPr/>
            </p:nvSpPr>
            <p:spPr>
              <a:xfrm>
                <a:off x="658743" y="2233621"/>
                <a:ext cx="551345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sz="1600" b="1" dirty="0">
                    <a:solidFill>
                      <a:srgbClr val="00B050"/>
                    </a:solidFill>
                    <a:latin typeface="Bookman Old Style" panose="02050604050505020204" pitchFamily="18" charset="0"/>
                  </a:rPr>
                  <a:t>Limitation en puissance </a:t>
                </a:r>
              </a:p>
              <a:p>
                <a:endParaRPr lang="fr-FR" sz="1600" b="1" dirty="0">
                  <a:latin typeface="Bookman Old Style" panose="02050604050505020204" pitchFamily="18" charset="0"/>
                </a:endParaRPr>
              </a:p>
              <a:p>
                <a:r>
                  <a:rPr lang="fr-FR" sz="1600" dirty="0">
                    <a:latin typeface="Bookman Old Style" panose="02050604050505020204" pitchFamily="18" charset="0"/>
                  </a:rPr>
                  <a:t>Le domaine de travail </a:t>
                </a:r>
                <a:r>
                  <a:rPr lang="fr-FR" sz="1600" b="1" dirty="0">
                    <a:latin typeface="Bookman Old Style" panose="02050604050505020204" pitchFamily="18" charset="0"/>
                  </a:rPr>
                  <a:t>ne doit pas dépasser </a:t>
                </a:r>
                <a:r>
                  <a:rPr lang="fr-FR" sz="1600" dirty="0">
                    <a:latin typeface="Bookman Old Style" panose="02050604050505020204" pitchFamily="18" charset="0"/>
                  </a:rPr>
                  <a:t>l'hyperbole</a:t>
                </a:r>
                <a14:m>
                  <m:oMath xmlns:m="http://schemas.openxmlformats.org/officeDocument/2006/math">
                    <m:r>
                      <a:rPr lang="fr-FR" sz="1600" b="0" i="0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fr-FR" sz="160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fr-FR" sz="16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0" dirty="0" smtClean="0"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fr-FR" sz="1600" b="1" i="0" dirty="0" smtClean="0">
                            <a:latin typeface="Cambria Math" panose="02040503050406030204" pitchFamily="18" charset="0"/>
                          </a:rPr>
                          <m:t>𝐦𝐚𝐱</m:t>
                        </m:r>
                      </m:sub>
                    </m:sSub>
                    <m:r>
                      <a:rPr lang="fr-FR" sz="1600" b="1" i="0" dirty="0" smtClean="0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fr-FR" sz="16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0" dirty="0" smtClean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fr-FR" sz="1600" b="1" i="0" dirty="0" smtClean="0">
                            <a:latin typeface="Cambria Math" panose="02040503050406030204" pitchFamily="18" charset="0"/>
                          </a:rPr>
                          <m:t>𝐃</m:t>
                        </m:r>
                      </m:sub>
                    </m:sSub>
                    <m:r>
                      <a:rPr lang="fr-FR" sz="1600" b="1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fr-FR" sz="16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0" dirty="0" smtClean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r>
                          <a:rPr lang="fr-FR" sz="1600" b="1" i="0" dirty="0" smtClean="0">
                            <a:latin typeface="Cambria Math" panose="02040503050406030204" pitchFamily="18" charset="0"/>
                          </a:rPr>
                          <m:t>𝐃</m:t>
                        </m:r>
                      </m:sub>
                    </m:sSub>
                  </m:oMath>
                </a14:m>
                <a:endParaRPr lang="fr-FR" sz="1600" b="1" dirty="0">
                  <a:latin typeface="Bookman Old Style" panose="02050604050505020204" pitchFamily="18" charset="0"/>
                </a:endParaRPr>
              </a:p>
              <a:p>
                <a:endParaRPr lang="fr-FR" sz="1600" b="1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009BC8B-4B7A-9ECB-5784-A04BF37AB0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743" y="2233621"/>
                <a:ext cx="5513458" cy="1323439"/>
              </a:xfrm>
              <a:prstGeom prst="rect">
                <a:avLst/>
              </a:prstGeom>
              <a:blipFill>
                <a:blip r:embed="rId4"/>
                <a:stretch>
                  <a:fillRect l="-552" t="-137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07B6835-91A7-770D-5488-58D5A4C00294}"/>
                  </a:ext>
                </a:extLst>
              </p:cNvPr>
              <p:cNvSpPr txBox="1"/>
              <p:nvPr/>
            </p:nvSpPr>
            <p:spPr>
              <a:xfrm>
                <a:off x="581894" y="3523509"/>
                <a:ext cx="4901762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sz="1600" b="1" dirty="0">
                    <a:solidFill>
                      <a:srgbClr val="00B050"/>
                    </a:solidFill>
                    <a:latin typeface="Bookman Old Style" panose="02050604050505020204" pitchFamily="18" charset="0"/>
                  </a:rPr>
                  <a:t>Influence de la température</a:t>
                </a:r>
              </a:p>
              <a:p>
                <a:endParaRPr lang="fr-FR" sz="1600" b="1" dirty="0">
                  <a:latin typeface="Bookman Old Style" panose="02050604050505020204" pitchFamily="18" charset="0"/>
                </a:endParaRPr>
              </a:p>
              <a:p>
                <a:pPr algn="just"/>
                <a:r>
                  <a:rPr lang="fr-FR" sz="1600" b="1" dirty="0">
                    <a:latin typeface="Bookman Old Style" panose="02050604050505020204" pitchFamily="18" charset="0"/>
                  </a:rPr>
                  <a:t>Diode bloquée </a:t>
                </a:r>
                <a:r>
                  <a:rPr lang="fr-FR" sz="1600" dirty="0">
                    <a:latin typeface="Bookman Old Style" panose="02050604050505020204" pitchFamily="18" charset="0"/>
                  </a:rPr>
                  <a:t>: le courant inverse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 dirty="0" smtClean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r>
                          <a:rPr lang="fr-FR" sz="1600" i="1" dirty="0" smtClean="0"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  <m:r>
                      <a:rPr lang="fr-FR" sz="16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600" dirty="0">
                    <a:latin typeface="Bookman Old Style" panose="02050604050505020204" pitchFamily="18" charset="0"/>
                  </a:rPr>
                  <a:t>est doublé tous les </a:t>
                </a:r>
                <a:r>
                  <a:rPr lang="fr-FR" sz="1600" b="1" dirty="0">
                    <a:latin typeface="Bookman Old Style" panose="02050604050505020204" pitchFamily="18" charset="0"/>
                  </a:rPr>
                  <a:t>10°C </a:t>
                </a:r>
                <a:r>
                  <a:rPr lang="fr-FR" sz="1600" dirty="0">
                    <a:latin typeface="Bookman Old Style" panose="02050604050505020204" pitchFamily="18" charset="0"/>
                  </a:rPr>
                  <a:t>(pour </a:t>
                </a:r>
                <a:r>
                  <a:rPr lang="fr-FR" sz="1600" b="1" dirty="0">
                    <a:latin typeface="Bookman Old Style" panose="02050604050505020204" pitchFamily="18" charset="0"/>
                  </a:rPr>
                  <a:t>Si</a:t>
                </a:r>
                <a:r>
                  <a:rPr lang="fr-FR" sz="1600" dirty="0">
                    <a:latin typeface="Bookman Old Style" panose="02050604050505020204" pitchFamily="18" charset="0"/>
                  </a:rPr>
                  <a:t>).</a:t>
                </a:r>
              </a:p>
              <a:p>
                <a:pPr algn="just"/>
                <a:r>
                  <a:rPr lang="fr-FR" sz="1600" b="1" dirty="0">
                    <a:latin typeface="Bookman Old Style" panose="02050604050505020204" pitchFamily="18" charset="0"/>
                  </a:rPr>
                  <a:t>Diode passante : </a:t>
                </a:r>
                <a:r>
                  <a:rPr lang="fr-FR" sz="1600" dirty="0">
                    <a:latin typeface="Bookman Old Style" panose="02050604050505020204" pitchFamily="18" charset="0"/>
                  </a:rPr>
                  <a:t>la tension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0" dirty="0" smtClean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fr-FR" sz="1600" b="1" i="0" dirty="0" smtClean="0">
                            <a:latin typeface="Cambria Math" panose="02040503050406030204" pitchFamily="18" charset="0"/>
                          </a:rPr>
                          <m:t>𝐃</m:t>
                        </m:r>
                      </m:sub>
                    </m:sSub>
                  </m:oMath>
                </a14:m>
                <a:r>
                  <a:rPr lang="fr-FR" sz="1600" dirty="0">
                    <a:latin typeface="Bookman Old Style" panose="02050604050505020204" pitchFamily="18" charset="0"/>
                  </a:rPr>
                  <a:t> diminue (à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0" dirty="0" smtClean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r>
                          <a:rPr lang="fr-FR" sz="1600" b="1" i="0" dirty="0" smtClean="0">
                            <a:latin typeface="Cambria Math" panose="02040503050406030204" pitchFamily="18" charset="0"/>
                          </a:rPr>
                          <m:t>𝐃</m:t>
                        </m:r>
                      </m:sub>
                    </m:sSub>
                  </m:oMath>
                </a14:m>
                <a:r>
                  <a:rPr lang="fr-FR" sz="1600" dirty="0">
                    <a:latin typeface="Bookman Old Style" panose="02050604050505020204" pitchFamily="18" charset="0"/>
                  </a:rPr>
                  <a:t> constant) de </a:t>
                </a:r>
                <a:r>
                  <a:rPr lang="fr-FR" sz="1600" b="1" dirty="0">
                    <a:latin typeface="Bookman Old Style" panose="02050604050505020204" pitchFamily="18" charset="0"/>
                  </a:rPr>
                  <a:t>2 mV/°C</a:t>
                </a:r>
                <a:r>
                  <a:rPr lang="fr-FR" sz="1600" dirty="0">
                    <a:latin typeface="Bookman Old Style" panose="02050604050505020204" pitchFamily="18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07B6835-91A7-770D-5488-58D5A4C002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94" y="3523509"/>
                <a:ext cx="4901762" cy="1569660"/>
              </a:xfrm>
              <a:prstGeom prst="rect">
                <a:avLst/>
              </a:prstGeom>
              <a:blipFill>
                <a:blip r:embed="rId5"/>
                <a:stretch>
                  <a:fillRect l="-621" t="-1167" r="-621" b="-428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" name="Picture 2">
            <a:extLst>
              <a:ext uri="{FF2B5EF4-FFF2-40B4-BE49-F238E27FC236}">
                <a16:creationId xmlns:a16="http://schemas.microsoft.com/office/drawing/2014/main" id="{ABD9BA57-8E76-D294-DDE7-B932AB02EC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6172202" y="2015026"/>
            <a:ext cx="2589804" cy="2943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28061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5"/>
            <a:ext cx="533527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-Diodes-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762005" y="484817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17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0646" y="557613"/>
            <a:ext cx="64597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Circuits à diode</a:t>
            </a: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334000" y="361950"/>
            <a:ext cx="3709256" cy="10448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38D3D89-9926-39F6-69AD-44C932E7E6FB}"/>
              </a:ext>
            </a:extLst>
          </p:cNvPr>
          <p:cNvSpPr txBox="1"/>
          <p:nvPr/>
        </p:nvSpPr>
        <p:spPr>
          <a:xfrm>
            <a:off x="576301" y="1251258"/>
            <a:ext cx="84581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buFont typeface="Arial" charset="0"/>
              <a:buNone/>
              <a:defRPr/>
            </a:pPr>
            <a:r>
              <a:rPr lang="fr-FR" sz="1800" dirty="0">
                <a:latin typeface="Bookman Old Style" panose="02050604050505020204" pitchFamily="18" charset="0"/>
              </a:rPr>
              <a:t>Plusieurs classes de circuits utilisent le comportement des diodes  (état passant – état bloqué) pour modifier sensiblement la forme des signaux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86951B-0C9B-4E6C-41B6-41BF87749A90}"/>
              </a:ext>
            </a:extLst>
          </p:cNvPr>
          <p:cNvSpPr txBox="1"/>
          <p:nvPr/>
        </p:nvSpPr>
        <p:spPr>
          <a:xfrm>
            <a:off x="550646" y="848846"/>
            <a:ext cx="4588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sz="1600" b="1"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5.1 Redressement</a:t>
            </a:r>
          </a:p>
        </p:txBody>
      </p:sp>
      <p:grpSp>
        <p:nvGrpSpPr>
          <p:cNvPr id="12" name="Group 2">
            <a:extLst>
              <a:ext uri="{FF2B5EF4-FFF2-40B4-BE49-F238E27FC236}">
                <a16:creationId xmlns:a16="http://schemas.microsoft.com/office/drawing/2014/main" id="{0B4C5C7E-25F7-F31E-BC69-4AF9CB99DD98}"/>
              </a:ext>
            </a:extLst>
          </p:cNvPr>
          <p:cNvGrpSpPr>
            <a:grpSpLocks/>
          </p:cNvGrpSpPr>
          <p:nvPr/>
        </p:nvGrpSpPr>
        <p:grpSpPr bwMode="auto">
          <a:xfrm>
            <a:off x="5131035" y="2040467"/>
            <a:ext cx="4000500" cy="2643187"/>
            <a:chOff x="1815" y="3240"/>
            <a:chExt cx="3681" cy="2085"/>
          </a:xfrm>
        </p:grpSpPr>
        <p:sp>
          <p:nvSpPr>
            <p:cNvPr id="13" name="Text Box 3">
              <a:extLst>
                <a:ext uri="{FF2B5EF4-FFF2-40B4-BE49-F238E27FC236}">
                  <a16:creationId xmlns:a16="http://schemas.microsoft.com/office/drawing/2014/main" id="{0DE084E8-F610-00F4-28F6-11A82AD35B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0" y="3240"/>
              <a:ext cx="555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fr-FR" sz="2000" b="1" dirty="0">
                  <a:solidFill>
                    <a:srgbClr val="FF0000"/>
                  </a:solidFill>
                  <a:latin typeface="Bookman Old Style" panose="02050604050505020204" pitchFamily="18" charset="0"/>
                </a:rPr>
                <a:t>i</a:t>
              </a:r>
            </a:p>
          </p:txBody>
        </p:sp>
        <p:sp>
          <p:nvSpPr>
            <p:cNvPr id="17" name="Text Box 4">
              <a:extLst>
                <a:ext uri="{FF2B5EF4-FFF2-40B4-BE49-F238E27FC236}">
                  <a16:creationId xmlns:a16="http://schemas.microsoft.com/office/drawing/2014/main" id="{88CBA225-3460-DCA1-003F-6FF18D5478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5" y="4230"/>
              <a:ext cx="495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fr-FR" sz="2000" b="1">
                  <a:latin typeface="Bookman Old Style" panose="02050604050505020204" pitchFamily="18" charset="0"/>
                </a:rPr>
                <a:t>v</a:t>
              </a:r>
              <a:r>
                <a:rPr lang="fr-FR" sz="2000" b="1" baseline="-25000">
                  <a:latin typeface="Bookman Old Style" panose="02050604050505020204" pitchFamily="18" charset="0"/>
                </a:rPr>
                <a:t>e</a:t>
              </a:r>
              <a:endParaRPr lang="fr-FR" sz="2000" b="1">
                <a:latin typeface="Bookman Old Style" panose="02050604050505020204" pitchFamily="18" charset="0"/>
              </a:endParaRPr>
            </a:p>
          </p:txBody>
        </p:sp>
        <p:sp>
          <p:nvSpPr>
            <p:cNvPr id="20" name="Text Box 5">
              <a:extLst>
                <a:ext uri="{FF2B5EF4-FFF2-40B4-BE49-F238E27FC236}">
                  <a16:creationId xmlns:a16="http://schemas.microsoft.com/office/drawing/2014/main" id="{2A222069-605D-1E2F-5712-635EF2A7DD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0" y="4170"/>
              <a:ext cx="540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fr-FR" sz="2000" b="1">
                  <a:latin typeface="Bookman Old Style" panose="02050604050505020204" pitchFamily="18" charset="0"/>
                </a:rPr>
                <a:t>R</a:t>
              </a:r>
            </a:p>
          </p:txBody>
        </p:sp>
        <p:sp>
          <p:nvSpPr>
            <p:cNvPr id="21" name="Text Box 6">
              <a:extLst>
                <a:ext uri="{FF2B5EF4-FFF2-40B4-BE49-F238E27FC236}">
                  <a16:creationId xmlns:a16="http://schemas.microsoft.com/office/drawing/2014/main" id="{5F087D9C-3711-6E45-0D21-EF2D2C331D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1" y="4170"/>
              <a:ext cx="555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fr-FR" sz="2000" b="1">
                  <a:latin typeface="Bookman Old Style" panose="02050604050505020204" pitchFamily="18" charset="0"/>
                </a:rPr>
                <a:t>v</a:t>
              </a:r>
              <a:r>
                <a:rPr lang="fr-FR" sz="2000" b="1" baseline="-25000">
                  <a:latin typeface="Bookman Old Style" panose="02050604050505020204" pitchFamily="18" charset="0"/>
                </a:rPr>
                <a:t>R</a:t>
              </a:r>
              <a:endParaRPr lang="fr-FR" sz="2000" b="1">
                <a:latin typeface="Bookman Old Style" panose="02050604050505020204" pitchFamily="18" charset="0"/>
              </a:endParaRPr>
            </a:p>
          </p:txBody>
        </p:sp>
        <p:cxnSp>
          <p:nvCxnSpPr>
            <p:cNvPr id="23" name="AutoShape 7">
              <a:extLst>
                <a:ext uri="{FF2B5EF4-FFF2-40B4-BE49-F238E27FC236}">
                  <a16:creationId xmlns:a16="http://schemas.microsoft.com/office/drawing/2014/main" id="{F4639706-550C-2ABC-6C13-E2DA05C6474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490" y="3571"/>
              <a:ext cx="2235" cy="0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AutoShape 8">
              <a:extLst>
                <a:ext uri="{FF2B5EF4-FFF2-40B4-BE49-F238E27FC236}">
                  <a16:creationId xmlns:a16="http://schemas.microsoft.com/office/drawing/2014/main" id="{9806BBFF-657E-7981-AB16-D7FEC72AF94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725" y="3571"/>
              <a:ext cx="0" cy="1754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AutoShape 9">
              <a:extLst>
                <a:ext uri="{FF2B5EF4-FFF2-40B4-BE49-F238E27FC236}">
                  <a16:creationId xmlns:a16="http://schemas.microsoft.com/office/drawing/2014/main" id="{BFABFE78-2266-AD2C-579B-DD2A22430B8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490" y="3571"/>
              <a:ext cx="1" cy="809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AutoShape 10">
              <a:extLst>
                <a:ext uri="{FF2B5EF4-FFF2-40B4-BE49-F238E27FC236}">
                  <a16:creationId xmlns:a16="http://schemas.microsoft.com/office/drawing/2014/main" id="{3AE5D652-C4D1-62F9-9F9A-D5D3221A5C1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490" y="5325"/>
              <a:ext cx="2235" cy="0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AutoShape 11">
              <a:extLst>
                <a:ext uri="{FF2B5EF4-FFF2-40B4-BE49-F238E27FC236}">
                  <a16:creationId xmlns:a16="http://schemas.microsoft.com/office/drawing/2014/main" id="{E0EFC7C2-D1A2-193E-7549-9FF4BF364DE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490" y="4485"/>
              <a:ext cx="1" cy="840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Rectangle 12">
              <a:extLst>
                <a:ext uri="{FF2B5EF4-FFF2-40B4-BE49-F238E27FC236}">
                  <a16:creationId xmlns:a16="http://schemas.microsoft.com/office/drawing/2014/main" id="{FEBB60C3-2454-E9A2-5069-2E65BBF784C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4350" y="4260"/>
              <a:ext cx="750" cy="180"/>
            </a:xfrm>
            <a:prstGeom prst="rect">
              <a:avLst/>
            </a:prstGeom>
            <a:solidFill>
              <a:srgbClr val="CC00CC"/>
            </a:solidFill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fr-FR" b="1">
                <a:solidFill>
                  <a:schemeClr val="tx1"/>
                </a:solidFill>
                <a:latin typeface="Bookman Old Style" panose="02050604050505020204" pitchFamily="18" charset="0"/>
              </a:endParaRPr>
            </a:p>
          </p:txBody>
        </p:sp>
        <p:sp>
          <p:nvSpPr>
            <p:cNvPr id="30" name="AutoShape 13">
              <a:extLst>
                <a:ext uri="{FF2B5EF4-FFF2-40B4-BE49-F238E27FC236}">
                  <a16:creationId xmlns:a16="http://schemas.microsoft.com/office/drawing/2014/main" id="{A426761D-480C-65AA-ECA8-08DE8D895EF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3360" y="3434"/>
              <a:ext cx="254" cy="286"/>
            </a:xfrm>
            <a:prstGeom prst="triangle">
              <a:avLst>
                <a:gd name="adj" fmla="val 50000"/>
              </a:avLst>
            </a:prstGeom>
            <a:solidFill>
              <a:srgbClr val="00FF00"/>
            </a:solidFill>
            <a:ln>
              <a:headEnd/>
              <a:tailE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fr-FR" b="1">
                <a:solidFill>
                  <a:schemeClr val="tx1"/>
                </a:solidFill>
                <a:latin typeface="Bookman Old Style" panose="02050604050505020204" pitchFamily="18" charset="0"/>
              </a:endParaRPr>
            </a:p>
          </p:txBody>
        </p:sp>
        <p:cxnSp>
          <p:nvCxnSpPr>
            <p:cNvPr id="31" name="AutoShape 14">
              <a:extLst>
                <a:ext uri="{FF2B5EF4-FFF2-40B4-BE49-F238E27FC236}">
                  <a16:creationId xmlns:a16="http://schemas.microsoft.com/office/drawing/2014/main" id="{E9351699-AA8E-0614-A941-6381842C1FD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-5400000">
              <a:off x="3502" y="3570"/>
              <a:ext cx="255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2" name="AutoShape 15">
              <a:extLst>
                <a:ext uri="{FF2B5EF4-FFF2-40B4-BE49-F238E27FC236}">
                  <a16:creationId xmlns:a16="http://schemas.microsoft.com/office/drawing/2014/main" id="{026C3BD0-71FE-51E1-1B30-2B42D35522A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950" y="3780"/>
              <a:ext cx="0" cy="1260"/>
            </a:xfrm>
            <a:prstGeom prst="straightConnector1">
              <a:avLst/>
            </a:prstGeom>
            <a:ln>
              <a:solidFill>
                <a:srgbClr val="CC00CC"/>
              </a:solidFill>
              <a:headEnd/>
              <a:tailEnd type="arrow" w="med" len="med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3" name="AutoShape 16">
              <a:extLst>
                <a:ext uri="{FF2B5EF4-FFF2-40B4-BE49-F238E27FC236}">
                  <a16:creationId xmlns:a16="http://schemas.microsoft.com/office/drawing/2014/main" id="{3EC8AF93-91AE-27CB-38E5-B180EFAADC5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260" y="3571"/>
              <a:ext cx="79" cy="0"/>
            </a:xfrm>
            <a:prstGeom prst="straightConnector1">
              <a:avLst/>
            </a:prstGeom>
            <a:ln>
              <a:solidFill>
                <a:srgbClr val="FF0000"/>
              </a:solidFill>
              <a:headEnd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17">
              <a:extLst>
                <a:ext uri="{FF2B5EF4-FFF2-40B4-BE49-F238E27FC236}">
                  <a16:creationId xmlns:a16="http://schemas.microsoft.com/office/drawing/2014/main" id="{84938031-C004-2FFC-ADC7-8EC103667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0" y="4170"/>
              <a:ext cx="576" cy="510"/>
            </a:xfrm>
            <a:prstGeom prst="ellipse">
              <a:avLst/>
            </a:prstGeom>
            <a:solidFill>
              <a:schemeClr val="accent3"/>
            </a:solidFill>
            <a:ln>
              <a:headEnd/>
              <a:tailEnd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r>
                <a:rPr lang="fr-FR" b="1" dirty="0">
                  <a:solidFill>
                    <a:schemeClr val="tx1"/>
                  </a:solidFill>
                  <a:latin typeface="Bookman Old Style" panose="02050604050505020204" pitchFamily="18" charset="0"/>
                </a:rPr>
                <a:t> ~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88D57C-E510-B3D1-21F7-30A23D60B98D}"/>
                  </a:ext>
                </a:extLst>
              </p:cNvPr>
              <p:cNvSpPr txBox="1"/>
              <p:nvPr/>
            </p:nvSpPr>
            <p:spPr>
              <a:xfrm>
                <a:off x="597273" y="1985757"/>
                <a:ext cx="4588778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defRPr/>
                </a:pPr>
                <a:r>
                  <a:rPr lang="fr-FR" dirty="0">
                    <a:latin typeface="Book Antiqua" panose="02040602050305030304" pitchFamily="18" charset="0"/>
                  </a:rPr>
                  <a:t>Dans le </a:t>
                </a:r>
                <a:r>
                  <a:rPr lang="fr-FR" b="1" dirty="0">
                    <a:latin typeface="Book Antiqua" panose="02040602050305030304" pitchFamily="18" charset="0"/>
                  </a:rPr>
                  <a:t>montage</a:t>
                </a:r>
                <a:r>
                  <a:rPr lang="fr-FR" dirty="0">
                    <a:latin typeface="Book Antiqua" panose="02040602050305030304" pitchFamily="18" charset="0"/>
                  </a:rPr>
                  <a:t> </a:t>
                </a:r>
                <a:r>
                  <a:rPr lang="fr-FR" b="1" dirty="0">
                    <a:latin typeface="Book Antiqua" panose="02040602050305030304" pitchFamily="18" charset="0"/>
                  </a:rPr>
                  <a:t>suivant</a:t>
                </a:r>
                <a:r>
                  <a:rPr lang="fr-FR" dirty="0">
                    <a:latin typeface="Book Antiqua" panose="02040602050305030304" pitchFamily="18" charset="0"/>
                  </a:rPr>
                  <a:t> on suppose que la </a:t>
                </a:r>
                <a:r>
                  <a:rPr lang="fr-FR" b="1" dirty="0">
                    <a:latin typeface="Book Antiqua" panose="02040602050305030304" pitchFamily="18" charset="0"/>
                  </a:rPr>
                  <a:t>diode est équivalente </a:t>
                </a:r>
                <a:r>
                  <a:rPr lang="fr-FR" dirty="0">
                    <a:latin typeface="Book Antiqua" panose="02040602050305030304" pitchFamily="18" charset="0"/>
                  </a:rPr>
                  <a:t>au </a:t>
                </a:r>
                <a:r>
                  <a:rPr lang="fr-FR" b="1" dirty="0">
                    <a:latin typeface="Book Antiqua" panose="02040602050305030304" pitchFamily="18" charset="0"/>
                  </a:rPr>
                  <a:t>modèle 2</a:t>
                </a:r>
                <a:r>
                  <a:rPr lang="fr-FR" dirty="0">
                    <a:latin typeface="Book Antiqua" panose="02040602050305030304" pitchFamily="18" charset="0"/>
                  </a:rPr>
                  <a:t>.</a:t>
                </a:r>
              </a:p>
              <a:p>
                <a:pPr algn="just">
                  <a:defRPr/>
                </a:pPr>
                <a:endParaRPr lang="fr-FR" dirty="0">
                  <a:latin typeface="Book Antiqua" panose="02040602050305030304" pitchFamily="18" charset="0"/>
                </a:endParaRPr>
              </a:p>
              <a:p>
                <a:pPr algn="just">
                  <a:defRPr/>
                </a:pPr>
                <a:r>
                  <a:rPr lang="fr-FR" dirty="0">
                    <a:latin typeface="Book Antiqua" panose="02040602050305030304" pitchFamily="18" charset="0"/>
                  </a:rPr>
                  <a:t>On applique à l'entrée une tension sinusoïdale </a:t>
                </a:r>
                <a:r>
                  <a:rPr lang="fr-FR" b="1" dirty="0">
                    <a:latin typeface="Book Antiqua" panose="02040602050305030304" pitchFamily="18" charset="0"/>
                  </a:rPr>
                  <a:t>V</a:t>
                </a:r>
                <a:r>
                  <a:rPr lang="fr-FR" b="1" baseline="-25000" dirty="0">
                    <a:latin typeface="Book Antiqua" panose="02040602050305030304" pitchFamily="18" charset="0"/>
                  </a:rPr>
                  <a:t>e</a:t>
                </a:r>
                <a:r>
                  <a:rPr lang="fr-FR" b="1" dirty="0">
                    <a:latin typeface="Book Antiqua" panose="02040602050305030304" pitchFamily="18" charset="0"/>
                  </a:rPr>
                  <a:t> = E</a:t>
                </a:r>
                <a:r>
                  <a:rPr lang="fr-FR" b="1" baseline="-25000" dirty="0">
                    <a:latin typeface="Book Antiqua" panose="02040602050305030304" pitchFamily="18" charset="0"/>
                  </a:rPr>
                  <a:t>max</a:t>
                </a:r>
                <a:r>
                  <a:rPr lang="fr-FR" b="1" dirty="0">
                    <a:latin typeface="Book Antiqua" panose="02040602050305030304" pitchFamily="18" charset="0"/>
                  </a:rPr>
                  <a:t> sin(</a:t>
                </a:r>
                <a:r>
                  <a:rPr lang="fr-FR" b="1" dirty="0" err="1">
                    <a:latin typeface="Book Antiqua" panose="02040602050305030304" pitchFamily="18" charset="0"/>
                  </a:rPr>
                  <a:t>ωt</a:t>
                </a:r>
                <a:r>
                  <a:rPr lang="fr-FR" b="1" dirty="0">
                    <a:latin typeface="Book Antiqua" panose="02040602050305030304" pitchFamily="18" charset="0"/>
                  </a:rPr>
                  <a:t>) </a:t>
                </a:r>
              </a:p>
              <a:p>
                <a:pPr algn="just">
                  <a:defRPr/>
                </a:pPr>
                <a:r>
                  <a:rPr lang="fr-FR" dirty="0">
                    <a:latin typeface="Book Antiqua" panose="02040602050305030304" pitchFamily="18" charset="0"/>
                  </a:rPr>
                  <a:t>Avec:</a:t>
                </a:r>
              </a:p>
              <a:p>
                <a:pPr algn="just">
                  <a:defRPr/>
                </a:pPr>
                <a:r>
                  <a:rPr lang="fr-FR" b="1" dirty="0">
                    <a:latin typeface="Book Antiqua" panose="02040602050305030304" pitchFamily="18" charset="0"/>
                  </a:rPr>
                  <a:t>E</a:t>
                </a:r>
                <a:r>
                  <a:rPr lang="fr-FR" b="1" baseline="-25000" dirty="0">
                    <a:latin typeface="Book Antiqua" panose="02040602050305030304" pitchFamily="18" charset="0"/>
                  </a:rPr>
                  <a:t>max</a:t>
                </a:r>
                <a:r>
                  <a:rPr lang="fr-FR" b="1" dirty="0">
                    <a:latin typeface="Book Antiqua" panose="02040602050305030304" pitchFamily="18" charset="0"/>
                  </a:rPr>
                  <a:t> = 2 V</a:t>
                </a:r>
              </a:p>
              <a:p>
                <a:pPr algn="just">
                  <a:defRPr/>
                </a:pPr>
                <a:r>
                  <a:rPr lang="fr-FR" b="1" dirty="0">
                    <a:latin typeface="Book Antiqua" panose="02040602050305030304" pitchFamily="18" charset="0"/>
                  </a:rPr>
                  <a:t>R = 1k</a:t>
                </a:r>
                <a:r>
                  <a:rPr lang="el-GR" b="1" dirty="0">
                    <a:latin typeface="Book Antiqua" panose="02040602050305030304" pitchFamily="18" charset="0"/>
                  </a:rPr>
                  <a:t>Ω</a:t>
                </a:r>
                <a:r>
                  <a:rPr lang="fr-FR" b="1" dirty="0">
                    <a:latin typeface="Book Antiqua" panose="02040602050305030304" pitchFamily="18" charset="0"/>
                  </a:rPr>
                  <a:t> </a:t>
                </a:r>
              </a:p>
              <a:p>
                <a:pPr algn="just">
                  <a:defRPr/>
                </a:pPr>
                <a:r>
                  <a:rPr lang="fr-FR" dirty="0">
                    <a:latin typeface="Book Antiqua" panose="02040602050305030304" pitchFamily="18" charset="0"/>
                  </a:rPr>
                  <a:t>la tension seuil de la diode est </a:t>
                </a:r>
              </a:p>
              <a:p>
                <a:pPr algn="just">
                  <a:defRPr/>
                </a:pPr>
                <a:r>
                  <a:rPr lang="fr-FR" b="1" dirty="0">
                    <a:latin typeface="Book Antiqua" panose="02040602050305030304" pitchFamily="18" charset="0"/>
                  </a:rPr>
                  <a:t>V</a:t>
                </a:r>
                <a14:m>
                  <m:oMath xmlns:m="http://schemas.openxmlformats.org/officeDocument/2006/math">
                    <m:r>
                      <a:rPr lang="fr-FR" sz="16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fr-FR" b="1" dirty="0">
                    <a:latin typeface="Book Antiqua" panose="02040602050305030304" pitchFamily="18" charset="0"/>
                  </a:rPr>
                  <a:t> = 0.6 V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88D57C-E510-B3D1-21F7-30A23D60B9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273" y="1985757"/>
                <a:ext cx="4588778" cy="2862322"/>
              </a:xfrm>
              <a:prstGeom prst="rect">
                <a:avLst/>
              </a:prstGeom>
              <a:blipFill>
                <a:blip r:embed="rId3"/>
                <a:stretch>
                  <a:fillRect l="-1195" t="-1279" r="-1062" b="-255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47931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5"/>
            <a:ext cx="533527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-Diodes-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762005" y="484817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18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0646" y="557613"/>
            <a:ext cx="64597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Circuits à diode</a:t>
            </a: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334000" y="361950"/>
            <a:ext cx="3709256" cy="10448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786951B-0C9B-4E6C-41B6-41BF87749A90}"/>
              </a:ext>
            </a:extLst>
          </p:cNvPr>
          <p:cNvSpPr txBox="1"/>
          <p:nvPr/>
        </p:nvSpPr>
        <p:spPr>
          <a:xfrm>
            <a:off x="550646" y="848846"/>
            <a:ext cx="4588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sz="1600" b="1"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5.1 Redressement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Espace réservé du contenu 2">
                <a:extLst>
                  <a:ext uri="{FF2B5EF4-FFF2-40B4-BE49-F238E27FC236}">
                    <a16:creationId xmlns:a16="http://schemas.microsoft.com/office/drawing/2014/main" id="{A9E9A009-7BED-DB97-3B9F-5F52785393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0646" y="1426860"/>
                <a:ext cx="4588778" cy="3231654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>
                <a:lvl1pPr marL="0">
                  <a:defRPr sz="1800" b="1" i="0">
                    <a:solidFill>
                      <a:srgbClr val="4F82BD"/>
                    </a:solidFill>
                    <a:latin typeface="Arial"/>
                    <a:ea typeface="+mn-ea"/>
                    <a:cs typeface="Arial"/>
                  </a:defRPr>
                </a:lvl1pPr>
                <a:lvl2pPr marL="457200">
                  <a:defRPr>
                    <a:latin typeface="+mn-lt"/>
                    <a:ea typeface="+mn-ea"/>
                    <a:cs typeface="+mn-cs"/>
                  </a:defRPr>
                </a:lvl2pPr>
                <a:lvl3pPr marL="914400">
                  <a:defRPr>
                    <a:latin typeface="+mn-lt"/>
                    <a:ea typeface="+mn-ea"/>
                    <a:cs typeface="+mn-cs"/>
                  </a:defRPr>
                </a:lvl3pPr>
                <a:lvl4pPr marL="1371600">
                  <a:defRPr>
                    <a:latin typeface="+mn-lt"/>
                    <a:ea typeface="+mn-ea"/>
                    <a:cs typeface="+mn-cs"/>
                  </a:defRPr>
                </a:lvl4pPr>
                <a:lvl5pPr marL="1828800">
                  <a:defRPr>
                    <a:latin typeface="+mn-lt"/>
                    <a:ea typeface="+mn-ea"/>
                    <a:cs typeface="+mn-cs"/>
                  </a:defRPr>
                </a:lvl5pPr>
                <a:lvl6pPr marL="2286000">
                  <a:defRPr>
                    <a:latin typeface="+mn-lt"/>
                    <a:ea typeface="+mn-ea"/>
                    <a:cs typeface="+mn-cs"/>
                  </a:defRPr>
                </a:lvl6pPr>
                <a:lvl7pPr marL="2743200">
                  <a:defRPr>
                    <a:latin typeface="+mn-lt"/>
                    <a:ea typeface="+mn-ea"/>
                    <a:cs typeface="+mn-cs"/>
                  </a:defRPr>
                </a:lvl7pPr>
                <a:lvl8pPr marL="3200400">
                  <a:defRPr>
                    <a:latin typeface="+mn-lt"/>
                    <a:ea typeface="+mn-ea"/>
                    <a:cs typeface="+mn-cs"/>
                  </a:defRPr>
                </a:lvl8pPr>
                <a:lvl9pPr marL="3657600">
                  <a:defRPr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 algn="just">
                  <a:buFontTx/>
                  <a:buChar char="-"/>
                  <a:defRPr/>
                </a:pPr>
                <a:r>
                  <a:rPr lang="fr-FR" sz="1400" kern="0" dirty="0">
                    <a:solidFill>
                      <a:srgbClr val="0000FF"/>
                    </a:solidFill>
                    <a:latin typeface="Bookman Old Style" panose="02050604050505020204" pitchFamily="18" charset="0"/>
                  </a:rPr>
                  <a:t>V</a:t>
                </a:r>
                <a:r>
                  <a:rPr lang="fr-FR" sz="1400" kern="0" baseline="-25000" dirty="0">
                    <a:solidFill>
                      <a:srgbClr val="0000FF"/>
                    </a:solidFill>
                    <a:latin typeface="Bookman Old Style" panose="02050604050505020204" pitchFamily="18" charset="0"/>
                  </a:rPr>
                  <a:t>e</a:t>
                </a:r>
                <a:r>
                  <a:rPr lang="fr-FR" sz="1400" kern="0" dirty="0">
                    <a:solidFill>
                      <a:srgbClr val="0000FF"/>
                    </a:solidFill>
                    <a:latin typeface="Bookman Old Style" panose="02050604050505020204" pitchFamily="18" charset="0"/>
                  </a:rPr>
                  <a:t>(t)  ≥ 0.6 V</a:t>
                </a:r>
              </a:p>
              <a:p>
                <a:pPr marL="285750" indent="-285750" algn="just">
                  <a:buFontTx/>
                  <a:buChar char="-"/>
                  <a:defRPr/>
                </a:pPr>
                <a:endParaRPr lang="fr-FR" sz="1400" kern="0" dirty="0">
                  <a:solidFill>
                    <a:srgbClr val="0000FF"/>
                  </a:solidFill>
                  <a:latin typeface="Bookman Old Style" panose="02050604050505020204" pitchFamily="18" charset="0"/>
                </a:endParaRPr>
              </a:p>
              <a:p>
                <a:pPr algn="just">
                  <a:buFont typeface="Arial" charset="0"/>
                  <a:buNone/>
                  <a:defRPr/>
                </a:pPr>
                <a:r>
                  <a:rPr lang="fr-FR" sz="1400" kern="0" dirty="0">
                    <a:solidFill>
                      <a:schemeClr val="tx1"/>
                    </a:solidFill>
                    <a:latin typeface="Bookman Old Style" panose="02050604050505020204" pitchFamily="18" charset="0"/>
                  </a:rPr>
                  <a:t>La diode conduit et est remplacée par une source de tension </a:t>
                </a:r>
                <a:r>
                  <a:rPr lang="fr-FR" sz="1400" kern="0" dirty="0">
                    <a:solidFill>
                      <a:srgbClr val="FF0000"/>
                    </a:solidFill>
                    <a:latin typeface="Bookman Old Style" panose="02050604050505020204" pitchFamily="18" charset="0"/>
                  </a:rPr>
                  <a:t>V</a:t>
                </a:r>
                <a14:m>
                  <m:oMath xmlns:m="http://schemas.openxmlformats.org/officeDocument/2006/math">
                    <m:r>
                      <a:rPr lang="fr-FR" sz="1400" i="1" kern="0" baseline="-250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fr-FR" sz="1400" kern="0" dirty="0">
                    <a:solidFill>
                      <a:srgbClr val="FF0000"/>
                    </a:solidFill>
                    <a:latin typeface="Bookman Old Style" panose="02050604050505020204" pitchFamily="18" charset="0"/>
                  </a:rPr>
                  <a:t> = 0.6 V</a:t>
                </a:r>
              </a:p>
              <a:p>
                <a:pPr algn="just">
                  <a:buFont typeface="Arial" charset="0"/>
                  <a:buNone/>
                  <a:defRPr/>
                </a:pPr>
                <a:endParaRPr lang="fr-FR" sz="1400" kern="0" dirty="0">
                  <a:solidFill>
                    <a:schemeClr val="tx1"/>
                  </a:solidFill>
                  <a:latin typeface="Bookman Old Style" panose="02050604050505020204" pitchFamily="18" charset="0"/>
                </a:endParaRPr>
              </a:p>
              <a:p>
                <a:pPr algn="just">
                  <a:buFont typeface="Arial" charset="0"/>
                  <a:buNone/>
                  <a:defRPr/>
                </a:pPr>
                <a:r>
                  <a:rPr lang="fr-FR" sz="1400" kern="0" dirty="0">
                    <a:solidFill>
                      <a:schemeClr val="tx1"/>
                    </a:solidFill>
                    <a:latin typeface="Bookman Old Style" panose="02050604050505020204" pitchFamily="18" charset="0"/>
                  </a:rPr>
                  <a:t>La tension aux bornes de R est </a:t>
                </a:r>
              </a:p>
              <a:p>
                <a:pPr algn="just">
                  <a:buFont typeface="Arial" charset="0"/>
                  <a:buNone/>
                  <a:defRPr/>
                </a:pPr>
                <a:r>
                  <a:rPr lang="fr-FR" sz="1400" kern="0" dirty="0" err="1">
                    <a:solidFill>
                      <a:srgbClr val="FF0000"/>
                    </a:solidFill>
                    <a:latin typeface="Bookman Old Style" panose="02050604050505020204" pitchFamily="18" charset="0"/>
                  </a:rPr>
                  <a:t>v</a:t>
                </a:r>
                <a:r>
                  <a:rPr lang="fr-FR" sz="1400" kern="0" baseline="-25000" dirty="0" err="1">
                    <a:solidFill>
                      <a:srgbClr val="FF0000"/>
                    </a:solidFill>
                    <a:latin typeface="Bookman Old Style" panose="02050604050505020204" pitchFamily="18" charset="0"/>
                  </a:rPr>
                  <a:t>R</a:t>
                </a:r>
                <a:r>
                  <a:rPr lang="fr-FR" sz="1400" kern="0" dirty="0">
                    <a:solidFill>
                      <a:srgbClr val="FF0000"/>
                    </a:solidFill>
                    <a:latin typeface="Bookman Old Style" panose="02050604050505020204" pitchFamily="18" charset="0"/>
                  </a:rPr>
                  <a:t>(t) = </a:t>
                </a:r>
                <a:r>
                  <a:rPr lang="fr-FR" sz="1400" kern="0" dirty="0" err="1">
                    <a:solidFill>
                      <a:srgbClr val="FF0000"/>
                    </a:solidFill>
                    <a:latin typeface="Bookman Old Style" panose="02050604050505020204" pitchFamily="18" charset="0"/>
                  </a:rPr>
                  <a:t>v</a:t>
                </a:r>
                <a:r>
                  <a:rPr lang="fr-FR" sz="1400" kern="0" baseline="-25000" dirty="0" err="1">
                    <a:solidFill>
                      <a:srgbClr val="FF0000"/>
                    </a:solidFill>
                    <a:latin typeface="Bookman Old Style" panose="02050604050505020204" pitchFamily="18" charset="0"/>
                  </a:rPr>
                  <a:t>e</a:t>
                </a:r>
                <a:r>
                  <a:rPr lang="fr-FR" sz="1400" kern="0" dirty="0">
                    <a:solidFill>
                      <a:srgbClr val="FF0000"/>
                    </a:solidFill>
                    <a:latin typeface="Bookman Old Style" panose="02050604050505020204" pitchFamily="18" charset="0"/>
                  </a:rPr>
                  <a:t>(t) – 0.6</a:t>
                </a:r>
              </a:p>
              <a:p>
                <a:pPr algn="just">
                  <a:buFont typeface="Arial" charset="0"/>
                  <a:buNone/>
                  <a:defRPr/>
                </a:pPr>
                <a:r>
                  <a:rPr lang="fr-FR" sz="1400" kern="0" dirty="0">
                    <a:solidFill>
                      <a:schemeClr val="tx1"/>
                    </a:solidFill>
                    <a:latin typeface="Bookman Old Style" panose="02050604050505020204" pitchFamily="18" charset="0"/>
                  </a:rPr>
                  <a:t> </a:t>
                </a:r>
              </a:p>
              <a:p>
                <a:pPr marL="285750" indent="-285750" algn="just">
                  <a:buFontTx/>
                  <a:buChar char="-"/>
                  <a:defRPr/>
                </a:pPr>
                <a:r>
                  <a:rPr lang="fr-FR" sz="1400" kern="0" dirty="0">
                    <a:solidFill>
                      <a:srgbClr val="0000FF"/>
                    </a:solidFill>
                    <a:latin typeface="Bookman Old Style" panose="02050604050505020204" pitchFamily="18" charset="0"/>
                  </a:rPr>
                  <a:t>V</a:t>
                </a:r>
                <a:r>
                  <a:rPr lang="fr-FR" sz="1400" kern="0" baseline="-25000" dirty="0">
                    <a:solidFill>
                      <a:srgbClr val="0000FF"/>
                    </a:solidFill>
                    <a:latin typeface="Bookman Old Style" panose="02050604050505020204" pitchFamily="18" charset="0"/>
                  </a:rPr>
                  <a:t>e</a:t>
                </a:r>
                <a:r>
                  <a:rPr lang="fr-FR" sz="1400" kern="0" dirty="0">
                    <a:solidFill>
                      <a:srgbClr val="0000FF"/>
                    </a:solidFill>
                    <a:latin typeface="Bookman Old Style" panose="02050604050505020204" pitchFamily="18" charset="0"/>
                  </a:rPr>
                  <a:t>(t) ≤ 0.6 V</a:t>
                </a:r>
              </a:p>
              <a:p>
                <a:pPr marL="285750" indent="-285750" algn="just">
                  <a:buFontTx/>
                  <a:buChar char="-"/>
                  <a:defRPr/>
                </a:pPr>
                <a:endParaRPr lang="fr-FR" sz="1400" kern="0" dirty="0">
                  <a:solidFill>
                    <a:srgbClr val="0000FF"/>
                  </a:solidFill>
                  <a:latin typeface="Bookman Old Style" panose="02050604050505020204" pitchFamily="18" charset="0"/>
                </a:endParaRPr>
              </a:p>
              <a:p>
                <a:pPr algn="just">
                  <a:buFont typeface="Arial" charset="0"/>
                  <a:buNone/>
                  <a:defRPr/>
                </a:pPr>
                <a:r>
                  <a:rPr lang="fr-FR" sz="1400" kern="0" dirty="0">
                    <a:solidFill>
                      <a:schemeClr val="tx1"/>
                    </a:solidFill>
                    <a:latin typeface="Bookman Old Style" panose="02050604050505020204" pitchFamily="18" charset="0"/>
                  </a:rPr>
                  <a:t>La diode est bloquée et est remplacée par un interrupteur ouvert, le courant est donc nul</a:t>
                </a:r>
              </a:p>
              <a:p>
                <a:pPr algn="just">
                  <a:buFont typeface="Arial" charset="0"/>
                  <a:buNone/>
                  <a:defRPr/>
                </a:pPr>
                <a:endParaRPr lang="fr-FR" sz="1400" kern="0" dirty="0">
                  <a:solidFill>
                    <a:schemeClr val="tx1"/>
                  </a:solidFill>
                  <a:latin typeface="Bookman Old Style" panose="02050604050505020204" pitchFamily="18" charset="0"/>
                </a:endParaRPr>
              </a:p>
              <a:p>
                <a:pPr algn="just">
                  <a:buFont typeface="Arial" charset="0"/>
                  <a:buNone/>
                  <a:defRPr/>
                </a:pPr>
                <a:r>
                  <a:rPr lang="fr-FR" sz="1400" kern="0" dirty="0">
                    <a:solidFill>
                      <a:schemeClr val="tx1"/>
                    </a:solidFill>
                    <a:latin typeface="Bookman Old Style" panose="02050604050505020204" pitchFamily="18" charset="0"/>
                  </a:rPr>
                  <a:t>La tension aux bornes de R est nulle</a:t>
                </a:r>
                <a:r>
                  <a:rPr lang="fr-FR" sz="1400" b="0" kern="0" dirty="0">
                    <a:solidFill>
                      <a:schemeClr val="tx1"/>
                    </a:solidFill>
                    <a:latin typeface="Bookman Old Style" panose="02050604050505020204" pitchFamily="18" charset="0"/>
                  </a:rPr>
                  <a:t>,</a:t>
                </a:r>
              </a:p>
              <a:p>
                <a:pPr algn="just">
                  <a:buFont typeface="Arial" charset="0"/>
                  <a:buNone/>
                  <a:defRPr/>
                </a:pPr>
                <a:r>
                  <a:rPr lang="fr-FR" sz="1400" b="0" kern="0" dirty="0">
                    <a:solidFill>
                      <a:schemeClr val="tx1"/>
                    </a:solidFill>
                    <a:latin typeface="Bookman Old Style" panose="02050604050505020204" pitchFamily="18" charset="0"/>
                  </a:rPr>
                  <a:t> </a:t>
                </a:r>
                <a:r>
                  <a:rPr lang="fr-FR" sz="1400" kern="0" dirty="0" err="1">
                    <a:solidFill>
                      <a:srgbClr val="FF0000"/>
                    </a:solidFill>
                    <a:latin typeface="Bookman Old Style" panose="02050604050505020204" pitchFamily="18" charset="0"/>
                  </a:rPr>
                  <a:t>v</a:t>
                </a:r>
                <a:r>
                  <a:rPr lang="fr-FR" sz="1400" kern="0" baseline="-25000" dirty="0" err="1">
                    <a:solidFill>
                      <a:srgbClr val="FF0000"/>
                    </a:solidFill>
                    <a:latin typeface="Bookman Old Style" panose="02050604050505020204" pitchFamily="18" charset="0"/>
                  </a:rPr>
                  <a:t>R</a:t>
                </a:r>
                <a:r>
                  <a:rPr lang="fr-FR" sz="1400" kern="0" dirty="0">
                    <a:solidFill>
                      <a:srgbClr val="FF0000"/>
                    </a:solidFill>
                    <a:latin typeface="Bookman Old Style" panose="02050604050505020204" pitchFamily="18" charset="0"/>
                  </a:rPr>
                  <a:t>(t) = 0</a:t>
                </a:r>
                <a:r>
                  <a:rPr lang="fr-FR" sz="1400" kern="0" dirty="0">
                    <a:solidFill>
                      <a:schemeClr val="tx1"/>
                    </a:solidFill>
                    <a:latin typeface="Bookman Old Style" panose="0205060405050502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Espace réservé du contenu 2">
                <a:extLst>
                  <a:ext uri="{FF2B5EF4-FFF2-40B4-BE49-F238E27FC236}">
                    <a16:creationId xmlns:a16="http://schemas.microsoft.com/office/drawing/2014/main" id="{A9E9A009-7BED-DB97-3B9F-5F5278539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46" y="1426860"/>
                <a:ext cx="4588778" cy="3231654"/>
              </a:xfrm>
              <a:prstGeom prst="rect">
                <a:avLst/>
              </a:prstGeom>
              <a:blipFill>
                <a:blip r:embed="rId3"/>
                <a:stretch>
                  <a:fillRect l="-2390" t="-1698" r="-2390" b="-245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3">
            <a:extLst>
              <a:ext uri="{FF2B5EF4-FFF2-40B4-BE49-F238E27FC236}">
                <a16:creationId xmlns:a16="http://schemas.microsoft.com/office/drawing/2014/main" id="{EA30B588-B880-AB2D-6EDA-92507B168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/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5257820" y="947458"/>
            <a:ext cx="3889221" cy="111451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2" name="ZoneTexte 5">
            <a:extLst>
              <a:ext uri="{FF2B5EF4-FFF2-40B4-BE49-F238E27FC236}">
                <a16:creationId xmlns:a16="http://schemas.microsoft.com/office/drawing/2014/main" id="{1EBD7675-280F-B976-2067-F1EBE5A31BA7}"/>
              </a:ext>
            </a:extLst>
          </p:cNvPr>
          <p:cNvSpPr txBox="1"/>
          <p:nvPr/>
        </p:nvSpPr>
        <p:spPr>
          <a:xfrm>
            <a:off x="5862637" y="634816"/>
            <a:ext cx="3071812" cy="52322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fr-FR" sz="14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Tension de la source v</a:t>
            </a:r>
            <a:r>
              <a:rPr lang="fr-FR" sz="1400" b="1" baseline="-25000" dirty="0">
                <a:solidFill>
                  <a:srgbClr val="CC00CC"/>
                </a:solidFill>
                <a:latin typeface="Bookman Old Style" panose="02050604050505020204" pitchFamily="18" charset="0"/>
              </a:rPr>
              <a:t>e</a:t>
            </a:r>
            <a:r>
              <a:rPr lang="fr-FR" sz="14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(t)</a:t>
            </a:r>
          </a:p>
          <a:p>
            <a:pPr>
              <a:defRPr/>
            </a:pPr>
            <a:endParaRPr lang="fr-FR" sz="1400" b="1" dirty="0">
              <a:solidFill>
                <a:srgbClr val="CC00CC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25" name="Picture 4">
            <a:extLst>
              <a:ext uri="{FF2B5EF4-FFF2-40B4-BE49-F238E27FC236}">
                <a16:creationId xmlns:a16="http://schemas.microsoft.com/office/drawing/2014/main" id="{B39F9AB7-AD58-1EB4-BDFB-376ECD50A5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alphaModFix/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5257820" y="2537659"/>
            <a:ext cx="3886180" cy="11136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5" name="ZoneTexte 8">
            <a:extLst>
              <a:ext uri="{FF2B5EF4-FFF2-40B4-BE49-F238E27FC236}">
                <a16:creationId xmlns:a16="http://schemas.microsoft.com/office/drawing/2014/main" id="{A679C6C5-C557-A007-90A2-2C55789E3211}"/>
              </a:ext>
            </a:extLst>
          </p:cNvPr>
          <p:cNvSpPr txBox="1"/>
          <p:nvPr/>
        </p:nvSpPr>
        <p:spPr>
          <a:xfrm>
            <a:off x="5687124" y="2189440"/>
            <a:ext cx="307488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Tension aux bornes de la diode</a:t>
            </a:r>
          </a:p>
        </p:txBody>
      </p:sp>
      <p:pic>
        <p:nvPicPr>
          <p:cNvPr id="36" name="Picture 5">
            <a:extLst>
              <a:ext uri="{FF2B5EF4-FFF2-40B4-BE49-F238E27FC236}">
                <a16:creationId xmlns:a16="http://schemas.microsoft.com/office/drawing/2014/main" id="{4F8C4452-B713-970D-8848-47781A7430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alphaModFix/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5221513" y="3994678"/>
            <a:ext cx="3886180" cy="10820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7" name="ZoneTexte 9">
            <a:extLst>
              <a:ext uri="{FF2B5EF4-FFF2-40B4-BE49-F238E27FC236}">
                <a16:creationId xmlns:a16="http://schemas.microsoft.com/office/drawing/2014/main" id="{DDF68066-373C-A68A-0FD7-5446985A8700}"/>
              </a:ext>
            </a:extLst>
          </p:cNvPr>
          <p:cNvSpPr txBox="1"/>
          <p:nvPr/>
        </p:nvSpPr>
        <p:spPr>
          <a:xfrm>
            <a:off x="5925321" y="3672822"/>
            <a:ext cx="247856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fr-FR"/>
            </a:defPPr>
            <a:lvl1pPr>
              <a:defRPr sz="1400" b="1">
                <a:solidFill>
                  <a:srgbClr val="CC00CC"/>
                </a:solidFill>
                <a:latin typeface="Bookman Old Style" panose="02050604050505020204" pitchFamily="18" charset="0"/>
              </a:defRPr>
            </a:lvl1pPr>
          </a:lstStyle>
          <a:p>
            <a:r>
              <a:rPr lang="fr-FR" dirty="0"/>
              <a:t>Tension aux bornes de R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794314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5"/>
            <a:ext cx="533527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-Diodes-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762005" y="484817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19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0646" y="557613"/>
            <a:ext cx="64597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Circuits à diode</a:t>
            </a: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334000" y="361950"/>
            <a:ext cx="3709256" cy="10448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786951B-0C9B-4E6C-41B6-41BF87749A90}"/>
              </a:ext>
            </a:extLst>
          </p:cNvPr>
          <p:cNvSpPr txBox="1"/>
          <p:nvPr/>
        </p:nvSpPr>
        <p:spPr>
          <a:xfrm>
            <a:off x="550646" y="848846"/>
            <a:ext cx="4588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sz="1600" b="1"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5.2 Redressement et filtrage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1144F4-F1AB-A68A-2BE1-F8B4AB0DD6AA}"/>
              </a:ext>
            </a:extLst>
          </p:cNvPr>
          <p:cNvSpPr txBox="1"/>
          <p:nvPr/>
        </p:nvSpPr>
        <p:spPr>
          <a:xfrm>
            <a:off x="550646" y="1325328"/>
            <a:ext cx="80599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fr-FR" sz="1400" b="1" kern="0" dirty="0">
                <a:latin typeface="Bookman Old Style" panose="02050604050505020204" pitchFamily="18" charset="0"/>
                <a:cs typeface="Arial"/>
              </a:rPr>
              <a:t>On insère au montage précédent une capacité C en parallèle à R</a:t>
            </a:r>
          </a:p>
        </p:txBody>
      </p:sp>
      <p:grpSp>
        <p:nvGrpSpPr>
          <p:cNvPr id="12" name="Group 2">
            <a:extLst>
              <a:ext uri="{FF2B5EF4-FFF2-40B4-BE49-F238E27FC236}">
                <a16:creationId xmlns:a16="http://schemas.microsoft.com/office/drawing/2014/main" id="{1D725FAB-A2AD-3B48-F44D-65DB68337698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1888644"/>
            <a:ext cx="3804327" cy="2071687"/>
            <a:chOff x="1482" y="10572"/>
            <a:chExt cx="3703" cy="1883"/>
          </a:xfrm>
        </p:grpSpPr>
        <p:sp>
          <p:nvSpPr>
            <p:cNvPr id="13" name="Text Box 20">
              <a:extLst>
                <a:ext uri="{FF2B5EF4-FFF2-40B4-BE49-F238E27FC236}">
                  <a16:creationId xmlns:a16="http://schemas.microsoft.com/office/drawing/2014/main" id="{4FD1A8AA-C09B-1C83-009C-7F8F240723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11416"/>
              <a:ext cx="555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Low" eaLnBrk="0" hangingPunct="0">
                <a:defRPr/>
              </a:pPr>
              <a:r>
                <a:rPr lang="fr-FR" b="1">
                  <a:latin typeface="Bookman Old Style" panose="02050604050505020204" pitchFamily="18" charset="0"/>
                  <a:ea typeface="Times New Roman" pitchFamily="18" charset="0"/>
                  <a:cs typeface="Arial" pitchFamily="34" charset="0"/>
                </a:rPr>
                <a:t>C</a:t>
              </a:r>
              <a:endParaRPr lang="fr-FR" b="1"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17" name="Text Box 19">
              <a:extLst>
                <a:ext uri="{FF2B5EF4-FFF2-40B4-BE49-F238E27FC236}">
                  <a16:creationId xmlns:a16="http://schemas.microsoft.com/office/drawing/2014/main" id="{38AA0FEC-3BA0-E402-245A-EE09601FA5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2" y="11374"/>
              <a:ext cx="494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Low" eaLnBrk="0" hangingPunct="0">
                <a:defRPr/>
              </a:pPr>
              <a:r>
                <a:rPr lang="fr-FR" b="1" dirty="0" err="1">
                  <a:latin typeface="Bookman Old Style" panose="02050604050505020204" pitchFamily="18" charset="0"/>
                  <a:ea typeface="Times New Roman" pitchFamily="18" charset="0"/>
                  <a:cs typeface="Arial" pitchFamily="34" charset="0"/>
                </a:rPr>
                <a:t>v</a:t>
              </a:r>
              <a:r>
                <a:rPr lang="fr-FR" b="1" baseline="-30000" dirty="0" err="1">
                  <a:latin typeface="Bookman Old Style" panose="02050604050505020204" pitchFamily="18" charset="0"/>
                  <a:ea typeface="Times New Roman" pitchFamily="18" charset="0"/>
                  <a:cs typeface="Arial" pitchFamily="34" charset="0"/>
                </a:rPr>
                <a:t>e</a:t>
              </a:r>
              <a:endParaRPr lang="fr-FR" b="1" dirty="0"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20" name="Text Box 18">
              <a:extLst>
                <a:ext uri="{FF2B5EF4-FFF2-40B4-BE49-F238E27FC236}">
                  <a16:creationId xmlns:a16="http://schemas.microsoft.com/office/drawing/2014/main" id="{43B90D1B-66A9-8B26-B183-6B49B8AC3D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8" y="11416"/>
              <a:ext cx="541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Low" eaLnBrk="0" hangingPunct="0">
                <a:defRPr/>
              </a:pPr>
              <a:r>
                <a:rPr lang="fr-FR" b="1">
                  <a:latin typeface="Bookman Old Style" panose="02050604050505020204" pitchFamily="18" charset="0"/>
                  <a:ea typeface="Times New Roman" pitchFamily="18" charset="0"/>
                  <a:cs typeface="Arial" pitchFamily="34" charset="0"/>
                </a:rPr>
                <a:t>R</a:t>
              </a:r>
              <a:endParaRPr lang="fr-FR" b="1"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21" name="Text Box 17">
              <a:extLst>
                <a:ext uri="{FF2B5EF4-FFF2-40B4-BE49-F238E27FC236}">
                  <a16:creationId xmlns:a16="http://schemas.microsoft.com/office/drawing/2014/main" id="{BC7D59CE-59E2-3922-F553-FCD71F88CA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0" y="11416"/>
              <a:ext cx="555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Low" eaLnBrk="0" hangingPunct="0">
                <a:defRPr/>
              </a:pPr>
              <a:r>
                <a:rPr lang="fr-FR" sz="1600" b="1" dirty="0" err="1">
                  <a:latin typeface="Bookman Old Style" panose="02050604050505020204" pitchFamily="18" charset="0"/>
                  <a:ea typeface="Times New Roman" pitchFamily="18" charset="0"/>
                  <a:cs typeface="Arial" pitchFamily="34" charset="0"/>
                </a:rPr>
                <a:t>v</a:t>
              </a:r>
              <a:r>
                <a:rPr lang="fr-FR" sz="1600" b="1" baseline="-30000" dirty="0" err="1">
                  <a:latin typeface="Bookman Old Style" panose="02050604050505020204" pitchFamily="18" charset="0"/>
                  <a:ea typeface="Times New Roman" pitchFamily="18" charset="0"/>
                  <a:cs typeface="Arial" pitchFamily="34" charset="0"/>
                </a:rPr>
                <a:t>R</a:t>
              </a:r>
              <a:endParaRPr lang="fr-FR" sz="1600" b="1" dirty="0"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23" name="AutoShape 16">
              <a:extLst>
                <a:ext uri="{FF2B5EF4-FFF2-40B4-BE49-F238E27FC236}">
                  <a16:creationId xmlns:a16="http://schemas.microsoft.com/office/drawing/2014/main" id="{DD287679-8E59-48D0-42EE-B6924B6894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5" y="10700"/>
              <a:ext cx="2234" cy="0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24" name="AutoShape 15">
              <a:extLst>
                <a:ext uri="{FF2B5EF4-FFF2-40B4-BE49-F238E27FC236}">
                  <a16:creationId xmlns:a16="http://schemas.microsoft.com/office/drawing/2014/main" id="{65AC9CA3-4778-21BD-C814-9BCBD648FB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9" y="10700"/>
              <a:ext cx="0" cy="1755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26" name="AutoShape 14">
              <a:extLst>
                <a:ext uri="{FF2B5EF4-FFF2-40B4-BE49-F238E27FC236}">
                  <a16:creationId xmlns:a16="http://schemas.microsoft.com/office/drawing/2014/main" id="{543B9AD8-0076-BD10-7B46-1051A721CD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5" y="10700"/>
              <a:ext cx="2" cy="809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27" name="AutoShape 13">
              <a:extLst>
                <a:ext uri="{FF2B5EF4-FFF2-40B4-BE49-F238E27FC236}">
                  <a16:creationId xmlns:a16="http://schemas.microsoft.com/office/drawing/2014/main" id="{A560E8A0-3740-4FB3-439F-847AA88ACC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5" y="12455"/>
              <a:ext cx="2234" cy="0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28" name="AutoShape 12">
              <a:extLst>
                <a:ext uri="{FF2B5EF4-FFF2-40B4-BE49-F238E27FC236}">
                  <a16:creationId xmlns:a16="http://schemas.microsoft.com/office/drawing/2014/main" id="{08D95255-C386-1C02-7543-C0EA329A1F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5" y="11615"/>
              <a:ext cx="2" cy="840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29" name="Rectangle 11">
              <a:extLst>
                <a:ext uri="{FF2B5EF4-FFF2-40B4-BE49-F238E27FC236}">
                  <a16:creationId xmlns:a16="http://schemas.microsoft.com/office/drawing/2014/main" id="{66FED8D4-484A-12F1-E989-ADEDE053C70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4035" y="11389"/>
              <a:ext cx="750" cy="181"/>
            </a:xfrm>
            <a:prstGeom prst="rect">
              <a:avLst/>
            </a:prstGeom>
            <a:solidFill>
              <a:srgbClr val="CC00CC"/>
            </a:solidFill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30" name="AutoShape 10">
              <a:extLst>
                <a:ext uri="{FF2B5EF4-FFF2-40B4-BE49-F238E27FC236}">
                  <a16:creationId xmlns:a16="http://schemas.microsoft.com/office/drawing/2014/main" id="{BD63B883-0D77-86FC-5315-D88CC66F927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3045" y="10565"/>
              <a:ext cx="254" cy="286"/>
            </a:xfrm>
            <a:prstGeom prst="triangle">
              <a:avLst>
                <a:gd name="adj" fmla="val 50000"/>
              </a:avLst>
            </a:prstGeom>
            <a:solidFill>
              <a:srgbClr val="00FF00"/>
            </a:solidFill>
            <a:ln>
              <a:headEnd/>
              <a:tailE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fr-FR" b="1">
                <a:latin typeface="Bookman Old Style" panose="02050604050505020204" pitchFamily="18" charset="0"/>
              </a:endParaRPr>
            </a:p>
          </p:txBody>
        </p:sp>
        <p:cxnSp>
          <p:nvCxnSpPr>
            <p:cNvPr id="31" name="AutoShape 9">
              <a:extLst>
                <a:ext uri="{FF2B5EF4-FFF2-40B4-BE49-F238E27FC236}">
                  <a16:creationId xmlns:a16="http://schemas.microsoft.com/office/drawing/2014/main" id="{84655F4C-F686-672D-DCAC-80BE25D4D01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-5400000">
              <a:off x="3187" y="10700"/>
              <a:ext cx="255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32" name="AutoShape 8">
              <a:extLst>
                <a:ext uri="{FF2B5EF4-FFF2-40B4-BE49-F238E27FC236}">
                  <a16:creationId xmlns:a16="http://schemas.microsoft.com/office/drawing/2014/main" id="{A3E05EF5-14D2-E8AC-E03A-FD22C7996E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35" y="10702"/>
              <a:ext cx="0" cy="1636"/>
            </a:xfrm>
            <a:prstGeom prst="straightConnector1">
              <a:avLst/>
            </a:prstGeom>
            <a:ln>
              <a:solidFill>
                <a:srgbClr val="CC00CC"/>
              </a:solidFill>
              <a:headEnd/>
              <a:tailEnd type="arrow" w="med" len="med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33" name="Oval 7">
              <a:extLst>
                <a:ext uri="{FF2B5EF4-FFF2-40B4-BE49-F238E27FC236}">
                  <a16:creationId xmlns:a16="http://schemas.microsoft.com/office/drawing/2014/main" id="{D2C52DEB-F032-F83A-AD44-E2103E5FE4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11301"/>
              <a:ext cx="510" cy="509"/>
            </a:xfrm>
            <a:prstGeom prst="ellipse">
              <a:avLst/>
            </a:prstGeom>
            <a:solidFill>
              <a:srgbClr val="92D050"/>
            </a:solidFill>
            <a:ln>
              <a:headEnd/>
              <a:tailEnd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r>
                <a:rPr lang="fr-FR" b="1" dirty="0">
                  <a:solidFill>
                    <a:schemeClr val="tx1"/>
                  </a:solidFill>
                  <a:latin typeface="Bookman Old Style" panose="02050604050505020204" pitchFamily="18" charset="0"/>
                </a:rPr>
                <a:t>~</a:t>
              </a:r>
            </a:p>
          </p:txBody>
        </p:sp>
        <p:sp>
          <p:nvSpPr>
            <p:cNvPr id="34" name="AutoShape 6">
              <a:extLst>
                <a:ext uri="{FF2B5EF4-FFF2-40B4-BE49-F238E27FC236}">
                  <a16:creationId xmlns:a16="http://schemas.microsoft.com/office/drawing/2014/main" id="{C48058CC-E084-1DC7-34CF-25B06DCBBC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0" y="10700"/>
              <a:ext cx="2" cy="809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38" name="AutoShape 5">
              <a:extLst>
                <a:ext uri="{FF2B5EF4-FFF2-40B4-BE49-F238E27FC236}">
                  <a16:creationId xmlns:a16="http://schemas.microsoft.com/office/drawing/2014/main" id="{0D857702-FC8F-F949-F4E8-AFA1206021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0" y="11615"/>
              <a:ext cx="2" cy="825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39" name="AutoShape 4">
              <a:extLst>
                <a:ext uri="{FF2B5EF4-FFF2-40B4-BE49-F238E27FC236}">
                  <a16:creationId xmlns:a16="http://schemas.microsoft.com/office/drawing/2014/main" id="{E7B3BBBF-208D-1DAB-C590-4CDE4657B7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1" y="11615"/>
              <a:ext cx="345" cy="0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40" name="AutoShape 3">
              <a:extLst>
                <a:ext uri="{FF2B5EF4-FFF2-40B4-BE49-F238E27FC236}">
                  <a16:creationId xmlns:a16="http://schemas.microsoft.com/office/drawing/2014/main" id="{982700C4-3188-5288-B30B-E6863F25FB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1" y="11510"/>
              <a:ext cx="345" cy="0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fr-FR" b="1">
                <a:latin typeface="Bookman Old Style" panose="02050604050505020204" pitchFamily="18" charset="0"/>
              </a:endParaRPr>
            </a:p>
          </p:txBody>
        </p:sp>
      </p:grpSp>
      <p:sp>
        <p:nvSpPr>
          <p:cNvPr id="41" name="ZoneTexte 25">
            <a:extLst>
              <a:ext uri="{FF2B5EF4-FFF2-40B4-BE49-F238E27FC236}">
                <a16:creationId xmlns:a16="http://schemas.microsoft.com/office/drawing/2014/main" id="{D6BDC132-2DA5-5F1A-4F0F-2D8F0F781C3A}"/>
              </a:ext>
            </a:extLst>
          </p:cNvPr>
          <p:cNvSpPr txBox="1"/>
          <p:nvPr/>
        </p:nvSpPr>
        <p:spPr>
          <a:xfrm>
            <a:off x="6982630" y="1444162"/>
            <a:ext cx="47160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V</a:t>
            </a:r>
            <a:r>
              <a:rPr lang="fr-FR" b="1" baseline="-25000" dirty="0">
                <a:solidFill>
                  <a:srgbClr val="CC00CC"/>
                </a:solidFill>
                <a:latin typeface="Bookman Old Style" panose="02050604050505020204" pitchFamily="18" charset="0"/>
              </a:rPr>
              <a:t>D</a:t>
            </a:r>
          </a:p>
        </p:txBody>
      </p:sp>
      <p:cxnSp>
        <p:nvCxnSpPr>
          <p:cNvPr id="42" name="Connecteur droit avec flèche 29">
            <a:extLst>
              <a:ext uri="{FF2B5EF4-FFF2-40B4-BE49-F238E27FC236}">
                <a16:creationId xmlns:a16="http://schemas.microsoft.com/office/drawing/2014/main" id="{42F249E3-D241-510F-D4F5-FE29297AEDA5}"/>
              </a:ext>
            </a:extLst>
          </p:cNvPr>
          <p:cNvCxnSpPr/>
          <p:nvPr/>
        </p:nvCxnSpPr>
        <p:spPr>
          <a:xfrm rot="10800000">
            <a:off x="6647539" y="1815619"/>
            <a:ext cx="1000125" cy="1587"/>
          </a:xfrm>
          <a:prstGeom prst="straightConnector1">
            <a:avLst/>
          </a:prstGeom>
          <a:ln>
            <a:solidFill>
              <a:srgbClr val="CC00CC"/>
            </a:solidFill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24480BEE-2B0E-759E-7561-B82B09C0324B}"/>
              </a:ext>
            </a:extLst>
          </p:cNvPr>
          <p:cNvSpPr/>
          <p:nvPr/>
        </p:nvSpPr>
        <p:spPr>
          <a:xfrm>
            <a:off x="656928" y="4318996"/>
            <a:ext cx="852383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1400" b="1" dirty="0">
                <a:latin typeface="Bookman Old Style" panose="02050604050505020204" pitchFamily="18" charset="0"/>
              </a:rPr>
              <a:t>La courbe en pointillé est la tension aux bornes de R sans le condensateur C</a:t>
            </a:r>
          </a:p>
          <a:p>
            <a:pPr>
              <a:defRPr/>
            </a:pPr>
            <a:endParaRPr lang="fr-FR" sz="1400" b="1" dirty="0">
              <a:latin typeface="Bookman Old Style" panose="02050604050505020204" pitchFamily="18" charset="0"/>
            </a:endParaRPr>
          </a:p>
          <a:p>
            <a:pPr>
              <a:defRPr/>
            </a:pPr>
            <a:r>
              <a:rPr lang="fr-FR" sz="1400" b="1" dirty="0">
                <a:latin typeface="Bookman Old Style" panose="02050604050505020204" pitchFamily="18" charset="0"/>
              </a:rPr>
              <a:t>La courbe en trait plein épais est la tension aux bornes de R avec C</a:t>
            </a:r>
          </a:p>
        </p:txBody>
      </p:sp>
      <p:pic>
        <p:nvPicPr>
          <p:cNvPr id="44" name="Picture 1">
            <a:extLst>
              <a:ext uri="{FF2B5EF4-FFF2-40B4-BE49-F238E27FC236}">
                <a16:creationId xmlns:a16="http://schemas.microsoft.com/office/drawing/2014/main" id="{1A146011-E6B9-A228-03C2-A742B3814E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1168229" y="1837239"/>
            <a:ext cx="3300054" cy="222448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391914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5"/>
            <a:ext cx="533527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-Diodes-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762005" y="484817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20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0646" y="557613"/>
            <a:ext cx="64597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Circuits à diode</a:t>
            </a: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334000" y="361950"/>
            <a:ext cx="3709256" cy="10448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786951B-0C9B-4E6C-41B6-41BF87749A90}"/>
              </a:ext>
            </a:extLst>
          </p:cNvPr>
          <p:cNvSpPr txBox="1"/>
          <p:nvPr/>
        </p:nvSpPr>
        <p:spPr>
          <a:xfrm>
            <a:off x="550646" y="848846"/>
            <a:ext cx="4588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sz="1600" b="1"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5.3 Doubleur de tension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610DDE-656F-94DF-C017-228CF55D3036}"/>
              </a:ext>
            </a:extLst>
          </p:cNvPr>
          <p:cNvSpPr txBox="1"/>
          <p:nvPr/>
        </p:nvSpPr>
        <p:spPr>
          <a:xfrm>
            <a:off x="353829" y="1249396"/>
            <a:ext cx="863777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fr-FR" sz="1400" b="1" dirty="0">
                <a:latin typeface="Bookman Old Style" panose="02050604050505020204" pitchFamily="18" charset="0"/>
              </a:rPr>
              <a:t>Certaines applications </a:t>
            </a:r>
            <a:r>
              <a:rPr lang="fr-FR" sz="1400" dirty="0">
                <a:latin typeface="Bookman Old Style" panose="02050604050505020204" pitchFamily="18" charset="0"/>
              </a:rPr>
              <a:t>nécessitent des </a:t>
            </a:r>
            <a:r>
              <a:rPr lang="fr-FR" sz="1400" b="1" dirty="0">
                <a:latin typeface="Bookman Old Style" panose="02050604050505020204" pitchFamily="18" charset="0"/>
              </a:rPr>
              <a:t>tensions continues très élevées </a:t>
            </a:r>
            <a:r>
              <a:rPr lang="fr-FR" sz="1400" dirty="0">
                <a:latin typeface="Bookman Old Style" panose="02050604050505020204" pitchFamily="18" charset="0"/>
              </a:rPr>
              <a:t>(quelques milliers de volts). On pourrait les obtenir avec un </a:t>
            </a:r>
            <a:r>
              <a:rPr lang="fr-FR" sz="1400" b="1" dirty="0">
                <a:latin typeface="Bookman Old Style" panose="02050604050505020204" pitchFamily="18" charset="0"/>
              </a:rPr>
              <a:t>transformateur</a:t>
            </a:r>
            <a:r>
              <a:rPr lang="fr-FR" sz="1400" dirty="0">
                <a:latin typeface="Bookman Old Style" panose="02050604050505020204" pitchFamily="18" charset="0"/>
              </a:rPr>
              <a:t> élévateur </a:t>
            </a:r>
            <a:r>
              <a:rPr lang="fr-FR" sz="1400" b="1" dirty="0">
                <a:latin typeface="Bookman Old Style" panose="02050604050505020204" pitchFamily="18" charset="0"/>
              </a:rPr>
              <a:t>et</a:t>
            </a:r>
            <a:r>
              <a:rPr lang="fr-FR" sz="1400" dirty="0">
                <a:latin typeface="Bookman Old Style" panose="02050604050505020204" pitchFamily="18" charset="0"/>
              </a:rPr>
              <a:t> un </a:t>
            </a:r>
            <a:r>
              <a:rPr lang="fr-FR" sz="1400" b="1" dirty="0">
                <a:latin typeface="Bookman Old Style" panose="02050604050505020204" pitchFamily="18" charset="0"/>
              </a:rPr>
              <a:t>redressement/filtrage</a:t>
            </a:r>
            <a:r>
              <a:rPr lang="fr-FR" sz="1400" dirty="0">
                <a:latin typeface="Bookman Old Style" panose="02050604050505020204" pitchFamily="18" charset="0"/>
              </a:rPr>
              <a:t> classique.</a:t>
            </a:r>
          </a:p>
          <a:p>
            <a:pPr algn="just"/>
            <a:endParaRPr lang="fr-FR" sz="1400" dirty="0">
              <a:latin typeface="Bookman Old Style" panose="020506040505050202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fr-FR" sz="1400" dirty="0">
                <a:latin typeface="Bookman Old Style" panose="02050604050505020204" pitchFamily="18" charset="0"/>
              </a:rPr>
              <a:t> Il existe une solution moins </a:t>
            </a:r>
            <a:r>
              <a:rPr lang="fr-FR" sz="1400" b="1" dirty="0">
                <a:latin typeface="Bookman Old Style" panose="02050604050505020204" pitchFamily="18" charset="0"/>
              </a:rPr>
              <a:t>onéreuse</a:t>
            </a:r>
            <a:r>
              <a:rPr lang="fr-FR" sz="1400" dirty="0">
                <a:latin typeface="Bookman Old Style" panose="02050604050505020204" pitchFamily="18" charset="0"/>
              </a:rPr>
              <a:t> à base de </a:t>
            </a:r>
            <a:r>
              <a:rPr lang="fr-FR" sz="1400" b="1" dirty="0">
                <a:latin typeface="Bookman Old Style" panose="02050604050505020204" pitchFamily="18" charset="0"/>
              </a:rPr>
              <a:t>diodes</a:t>
            </a:r>
            <a:r>
              <a:rPr lang="fr-FR" sz="1400" dirty="0">
                <a:latin typeface="Bookman Old Style" panose="02050604050505020204" pitchFamily="18" charset="0"/>
              </a:rPr>
              <a:t> et </a:t>
            </a:r>
            <a:r>
              <a:rPr lang="fr-FR" sz="1400" b="1" dirty="0">
                <a:latin typeface="Bookman Old Style" panose="02050604050505020204" pitchFamily="18" charset="0"/>
              </a:rPr>
              <a:t>condensateurs</a:t>
            </a:r>
            <a:r>
              <a:rPr lang="fr-FR" sz="1400" dirty="0">
                <a:latin typeface="Bookman Old Style" panose="02050604050505020204" pitchFamily="18" charset="0"/>
              </a:rPr>
              <a:t> : c'est le doubleur de tension.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fr-FR" sz="1400" dirty="0">
                <a:latin typeface="Bookman Old Style" panose="02050604050505020204" pitchFamily="18" charset="0"/>
              </a:rPr>
              <a:t>Le montage suivant se décompose en deux : </a:t>
            </a:r>
            <a:r>
              <a:rPr lang="fr-FR" sz="1400" b="1" dirty="0">
                <a:latin typeface="Bookman Old Style" panose="02050604050505020204" pitchFamily="18" charset="0"/>
              </a:rPr>
              <a:t>redressement / filtrage</a:t>
            </a:r>
            <a:r>
              <a:rPr lang="fr-FR" sz="1400" dirty="0">
                <a:latin typeface="Bookman Old Style" panose="02050604050505020204" pitchFamily="18" charset="0"/>
              </a:rPr>
              <a:t> par la </a:t>
            </a:r>
            <a:r>
              <a:rPr lang="fr-FR" sz="1400" b="1" dirty="0">
                <a:latin typeface="Bookman Old Style" panose="02050604050505020204" pitchFamily="18" charset="0"/>
              </a:rPr>
              <a:t>cellule D1/C1</a:t>
            </a:r>
            <a:r>
              <a:rPr lang="fr-FR" sz="1400" dirty="0">
                <a:latin typeface="Bookman Old Style" panose="02050604050505020204" pitchFamily="18" charset="0"/>
              </a:rPr>
              <a:t>, puis </a:t>
            </a:r>
            <a:r>
              <a:rPr lang="fr-FR" sz="1400" b="1" dirty="0">
                <a:latin typeface="Bookman Old Style" panose="02050604050505020204" pitchFamily="18" charset="0"/>
              </a:rPr>
              <a:t>détecteur de crête D2/C2</a:t>
            </a:r>
            <a:r>
              <a:rPr lang="fr-FR" sz="1400" dirty="0">
                <a:latin typeface="Bookman Old Style" panose="02050604050505020204" pitchFamily="18" charset="0"/>
              </a:rPr>
              <a:t>.</a:t>
            </a: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1476EF56-BEBA-1500-80E5-BFBA836E7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2866007" y="3236751"/>
            <a:ext cx="3922177" cy="16430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086741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5"/>
            <a:ext cx="533527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-Diodes-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762005" y="484817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21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0646" y="557613"/>
            <a:ext cx="64597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Circuits à diode</a:t>
            </a: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334000" y="361950"/>
            <a:ext cx="3709256" cy="10448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786951B-0C9B-4E6C-41B6-41BF87749A90}"/>
              </a:ext>
            </a:extLst>
          </p:cNvPr>
          <p:cNvSpPr txBox="1"/>
          <p:nvPr/>
        </p:nvSpPr>
        <p:spPr>
          <a:xfrm>
            <a:off x="550646" y="848846"/>
            <a:ext cx="4588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sz="1600" b="1"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5.3 Doubleur de tension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47539D-A344-CCDE-9A48-922CE6B7AD95}"/>
              </a:ext>
            </a:extLst>
          </p:cNvPr>
          <p:cNvSpPr/>
          <p:nvPr/>
        </p:nvSpPr>
        <p:spPr>
          <a:xfrm>
            <a:off x="550646" y="1166785"/>
            <a:ext cx="8379002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  <a:defRPr/>
            </a:pPr>
            <a:r>
              <a:rPr lang="fr-FR" sz="1600" dirty="0">
                <a:latin typeface="Bookman Old Style" panose="02050604050505020204" pitchFamily="18" charset="0"/>
              </a:rPr>
              <a:t>Aux bornes de </a:t>
            </a:r>
            <a:r>
              <a:rPr lang="fr-FR" sz="1600" b="1" dirty="0">
                <a:latin typeface="Bookman Old Style" panose="02050604050505020204" pitchFamily="18" charset="0"/>
              </a:rPr>
              <a:t>C</a:t>
            </a:r>
            <a:r>
              <a:rPr lang="fr-FR" sz="1600" b="1" baseline="-25000" dirty="0">
                <a:latin typeface="Bookman Old Style" panose="02050604050505020204" pitchFamily="18" charset="0"/>
              </a:rPr>
              <a:t>1</a:t>
            </a:r>
            <a:r>
              <a:rPr lang="fr-FR" sz="1600" dirty="0">
                <a:latin typeface="Bookman Old Style" panose="02050604050505020204" pitchFamily="18" charset="0"/>
              </a:rPr>
              <a:t>, si la charge est infinie, la tension </a:t>
            </a:r>
            <a:r>
              <a:rPr lang="fr-FR" sz="1600" b="1" dirty="0">
                <a:latin typeface="Bookman Old Style" panose="02050604050505020204" pitchFamily="18" charset="0"/>
              </a:rPr>
              <a:t>V</a:t>
            </a:r>
            <a:r>
              <a:rPr lang="fr-FR" sz="1600" b="1" baseline="-25000" dirty="0">
                <a:latin typeface="Bookman Old Style" panose="02050604050505020204" pitchFamily="18" charset="0"/>
              </a:rPr>
              <a:t>C1</a:t>
            </a:r>
            <a:r>
              <a:rPr lang="fr-FR" sz="1600" dirty="0">
                <a:latin typeface="Bookman Old Style" panose="02050604050505020204" pitchFamily="18" charset="0"/>
              </a:rPr>
              <a:t> restera constante est égale à la </a:t>
            </a:r>
            <a:r>
              <a:rPr lang="fr-FR" sz="1600" b="1" dirty="0">
                <a:latin typeface="Bookman Old Style" panose="02050604050505020204" pitchFamily="18" charset="0"/>
              </a:rPr>
              <a:t>tension crête du transformateur</a:t>
            </a:r>
            <a:r>
              <a:rPr lang="fr-FR" sz="1600" dirty="0">
                <a:latin typeface="Bookman Old Style" panose="02050604050505020204" pitchFamily="18" charset="0"/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§"/>
              <a:defRPr/>
            </a:pPr>
            <a:r>
              <a:rPr lang="fr-FR" sz="1600" dirty="0">
                <a:latin typeface="Bookman Old Style" panose="02050604050505020204" pitchFamily="18" charset="0"/>
              </a:rPr>
              <a:t>La </a:t>
            </a:r>
            <a:r>
              <a:rPr lang="fr-FR" sz="1600" b="1" dirty="0">
                <a:latin typeface="Bookman Old Style" panose="02050604050505020204" pitchFamily="18" charset="0"/>
              </a:rPr>
              <a:t>diode D</a:t>
            </a:r>
            <a:r>
              <a:rPr lang="fr-FR" sz="1600" b="1" baseline="-25000" dirty="0">
                <a:latin typeface="Bookman Old Style" panose="02050604050505020204" pitchFamily="18" charset="0"/>
              </a:rPr>
              <a:t>1</a:t>
            </a:r>
            <a:r>
              <a:rPr lang="fr-FR" sz="1600" b="1" dirty="0">
                <a:latin typeface="Bookman Old Style" panose="02050604050505020204" pitchFamily="18" charset="0"/>
              </a:rPr>
              <a:t> </a:t>
            </a:r>
            <a:r>
              <a:rPr lang="fr-FR" sz="1600" dirty="0">
                <a:latin typeface="Bookman Old Style" panose="02050604050505020204" pitchFamily="18" charset="0"/>
              </a:rPr>
              <a:t>verra à ses bornes la tension </a:t>
            </a:r>
            <a:r>
              <a:rPr lang="fr-FR" sz="1600" b="1" dirty="0" err="1">
                <a:latin typeface="Bookman Old Style" panose="02050604050505020204" pitchFamily="18" charset="0"/>
              </a:rPr>
              <a:t>V</a:t>
            </a:r>
            <a:r>
              <a:rPr lang="fr-FR" sz="1600" b="1" baseline="-25000" dirty="0" err="1">
                <a:latin typeface="Bookman Old Style" panose="02050604050505020204" pitchFamily="18" charset="0"/>
              </a:rPr>
              <a:t>t</a:t>
            </a:r>
            <a:r>
              <a:rPr lang="fr-FR" sz="1600" b="1" dirty="0">
                <a:latin typeface="Bookman Old Style" panose="02050604050505020204" pitchFamily="18" charset="0"/>
              </a:rPr>
              <a:t>+V</a:t>
            </a:r>
            <a:r>
              <a:rPr lang="fr-FR" sz="1600" b="1" baseline="-25000" dirty="0">
                <a:latin typeface="Bookman Old Style" panose="02050604050505020204" pitchFamily="18" charset="0"/>
              </a:rPr>
              <a:t>C1</a:t>
            </a:r>
            <a:r>
              <a:rPr lang="fr-FR" sz="1600" dirty="0">
                <a:latin typeface="Bookman Old Style" panose="02050604050505020204" pitchFamily="18" charset="0"/>
              </a:rPr>
              <a:t>, dont la valeur crête est égale à </a:t>
            </a:r>
            <a:r>
              <a:rPr lang="fr-FR" sz="1600" b="1" dirty="0">
                <a:latin typeface="Bookman Old Style" panose="02050604050505020204" pitchFamily="18" charset="0"/>
              </a:rPr>
              <a:t>deux fois la tension crête du transformateur</a:t>
            </a:r>
            <a:r>
              <a:rPr lang="fr-FR" sz="1600" dirty="0">
                <a:latin typeface="Bookman Old Style" panose="02050604050505020204" pitchFamily="18" charset="0"/>
              </a:rPr>
              <a:t>. Tout se passe comme si la tension du transformateur avait translatée d'une fois la valeur de la tension crête.</a:t>
            </a:r>
          </a:p>
          <a:p>
            <a:pPr marL="285750" indent="-285750" algn="just">
              <a:buFont typeface="Wingdings" panose="05000000000000000000" pitchFamily="2" charset="2"/>
              <a:buChar char="§"/>
              <a:defRPr/>
            </a:pPr>
            <a:r>
              <a:rPr lang="fr-FR" sz="1600" dirty="0">
                <a:latin typeface="Bookman Old Style" panose="02050604050505020204" pitchFamily="18" charset="0"/>
              </a:rPr>
              <a:t>Il suffit de filtrer cette tension à sa valeur de crête avec </a:t>
            </a:r>
            <a:r>
              <a:rPr lang="fr-FR" sz="1600" b="1" dirty="0">
                <a:latin typeface="Bookman Old Style" panose="02050604050505020204" pitchFamily="18" charset="0"/>
              </a:rPr>
              <a:t>D</a:t>
            </a:r>
            <a:r>
              <a:rPr lang="fr-FR" sz="1600" b="1" baseline="-25000" dirty="0">
                <a:latin typeface="Bookman Old Style" panose="02050604050505020204" pitchFamily="18" charset="0"/>
              </a:rPr>
              <a:t>2</a:t>
            </a:r>
            <a:r>
              <a:rPr lang="fr-FR" sz="1600" dirty="0">
                <a:latin typeface="Bookman Old Style" panose="02050604050505020204" pitchFamily="18" charset="0"/>
              </a:rPr>
              <a:t> et </a:t>
            </a:r>
            <a:r>
              <a:rPr lang="fr-FR" sz="1600" b="1" dirty="0">
                <a:latin typeface="Bookman Old Style" panose="02050604050505020204" pitchFamily="18" charset="0"/>
              </a:rPr>
              <a:t>C</a:t>
            </a:r>
            <a:r>
              <a:rPr lang="fr-FR" sz="1600" b="1" baseline="-25000" dirty="0">
                <a:latin typeface="Bookman Old Style" panose="02050604050505020204" pitchFamily="18" charset="0"/>
              </a:rPr>
              <a:t>2</a:t>
            </a:r>
            <a:r>
              <a:rPr lang="fr-FR" sz="1600" dirty="0">
                <a:latin typeface="Bookman Old Style" panose="02050604050505020204" pitchFamily="18" charset="0"/>
              </a:rPr>
              <a:t> : On obtient une </a:t>
            </a:r>
            <a:r>
              <a:rPr lang="fr-FR" sz="1600" b="1" dirty="0">
                <a:latin typeface="Bookman Old Style" panose="02050604050505020204" pitchFamily="18" charset="0"/>
              </a:rPr>
              <a:t>tension continue</a:t>
            </a:r>
            <a:r>
              <a:rPr lang="fr-FR" sz="1600" dirty="0">
                <a:latin typeface="Bookman Old Style" panose="02050604050505020204" pitchFamily="18" charset="0"/>
              </a:rPr>
              <a:t> </a:t>
            </a:r>
            <a:r>
              <a:rPr lang="fr-FR" sz="1600" b="1" dirty="0">
                <a:latin typeface="Bookman Old Style" panose="02050604050505020204" pitchFamily="18" charset="0"/>
              </a:rPr>
              <a:t>égale</a:t>
            </a:r>
            <a:r>
              <a:rPr lang="fr-FR" sz="1600" dirty="0">
                <a:latin typeface="Bookman Old Style" panose="02050604050505020204" pitchFamily="18" charset="0"/>
              </a:rPr>
              <a:t> à </a:t>
            </a:r>
            <a:r>
              <a:rPr lang="fr-FR" sz="1600" b="1" dirty="0">
                <a:latin typeface="Bookman Old Style" panose="02050604050505020204" pitchFamily="18" charset="0"/>
              </a:rPr>
              <a:t>deux fois la tension crête du transformateur</a:t>
            </a:r>
            <a:r>
              <a:rPr lang="fr-FR" sz="1600" dirty="0">
                <a:latin typeface="Bookman Old Style" panose="02050604050505020204" pitchFamily="18" charset="0"/>
              </a:rPr>
              <a:t>.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59DEC915-1297-B0D1-8444-0CDE8B1E7D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3124200" y="3299002"/>
            <a:ext cx="3487104" cy="16788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61835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6"/>
            <a:ext cx="49800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-Diodes-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762005" y="484817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22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0646" y="557613"/>
            <a:ext cx="64597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6. </a:t>
            </a:r>
            <a:r>
              <a:rPr lang="fr-FR" b="1" spc="-5" dirty="0" err="1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Special</a:t>
            </a: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 diodes -Diodes Zener-</a:t>
            </a: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334000" y="361950"/>
            <a:ext cx="3709256" cy="10448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FE87F4C-7DF3-142C-C26E-6D856B445D6E}"/>
              </a:ext>
            </a:extLst>
          </p:cNvPr>
          <p:cNvSpPr txBox="1"/>
          <p:nvPr/>
        </p:nvSpPr>
        <p:spPr>
          <a:xfrm>
            <a:off x="465419" y="955061"/>
            <a:ext cx="525867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600" dirty="0">
                <a:latin typeface="Bookman Old Style" panose="02050604050505020204" pitchFamily="18" charset="0"/>
              </a:rPr>
              <a:t>Elles se </a:t>
            </a:r>
            <a:r>
              <a:rPr lang="fr-FR" sz="1600" b="1" dirty="0">
                <a:latin typeface="Bookman Old Style" panose="02050604050505020204" pitchFamily="18" charset="0"/>
              </a:rPr>
              <a:t>comportent</a:t>
            </a:r>
            <a:r>
              <a:rPr lang="fr-FR" sz="1600" dirty="0">
                <a:latin typeface="Bookman Old Style" panose="02050604050505020204" pitchFamily="18" charset="0"/>
              </a:rPr>
              <a:t> comme des </a:t>
            </a:r>
            <a:r>
              <a:rPr lang="fr-FR" sz="1600" b="1" dirty="0">
                <a:latin typeface="Bookman Old Style" panose="02050604050505020204" pitchFamily="18" charset="0"/>
              </a:rPr>
              <a:t>diodes classiques</a:t>
            </a:r>
            <a:r>
              <a:rPr lang="fr-FR" sz="1600" dirty="0">
                <a:latin typeface="Bookman Old Style" panose="02050604050505020204" pitchFamily="18" charset="0"/>
              </a:rPr>
              <a:t> quand elles sont polarisées </a:t>
            </a:r>
            <a:r>
              <a:rPr lang="fr-FR" sz="1600" b="1" dirty="0">
                <a:latin typeface="Bookman Old Style" panose="02050604050505020204" pitchFamily="18" charset="0"/>
              </a:rPr>
              <a:t>en direct.</a:t>
            </a:r>
            <a:endParaRPr lang="fr-FR" sz="1600" dirty="0">
              <a:latin typeface="Bookman Old Style" panose="020506040505050202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600" dirty="0">
                <a:latin typeface="Bookman Old Style" panose="02050604050505020204" pitchFamily="18" charset="0"/>
              </a:rPr>
              <a:t>Elles ont un </a:t>
            </a:r>
            <a:r>
              <a:rPr lang="fr-FR" sz="1600" b="1" dirty="0">
                <a:latin typeface="Bookman Old Style" panose="02050604050505020204" pitchFamily="18" charset="0"/>
              </a:rPr>
              <a:t>comportement</a:t>
            </a:r>
            <a:r>
              <a:rPr lang="fr-FR" sz="1600" dirty="0">
                <a:latin typeface="Bookman Old Style" panose="02050604050505020204" pitchFamily="18" charset="0"/>
              </a:rPr>
              <a:t> </a:t>
            </a:r>
            <a:r>
              <a:rPr lang="fr-FR" sz="1600" b="1" dirty="0">
                <a:latin typeface="Bookman Old Style" panose="02050604050505020204" pitchFamily="18" charset="0"/>
              </a:rPr>
              <a:t>spécial</a:t>
            </a:r>
            <a:r>
              <a:rPr lang="fr-FR" sz="1600" dirty="0">
                <a:latin typeface="Bookman Old Style" panose="02050604050505020204" pitchFamily="18" charset="0"/>
              </a:rPr>
              <a:t> </a:t>
            </a:r>
            <a:r>
              <a:rPr lang="fr-FR" sz="1600" b="1" dirty="0">
                <a:latin typeface="Bookman Old Style" panose="02050604050505020204" pitchFamily="18" charset="0"/>
              </a:rPr>
              <a:t>quand</a:t>
            </a:r>
            <a:r>
              <a:rPr lang="fr-FR" sz="1600" dirty="0">
                <a:latin typeface="Bookman Old Style" panose="02050604050505020204" pitchFamily="18" charset="0"/>
              </a:rPr>
              <a:t> elles sont </a:t>
            </a:r>
            <a:r>
              <a:rPr lang="fr-FR" sz="1600" b="1" dirty="0">
                <a:latin typeface="Bookman Old Style" panose="02050604050505020204" pitchFamily="18" charset="0"/>
              </a:rPr>
              <a:t>polarisées en inverse</a:t>
            </a:r>
            <a:r>
              <a:rPr lang="fr-FR" sz="1600" dirty="0">
                <a:latin typeface="Bookman Old Style" panose="020506040505050202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600" b="1" dirty="0">
                <a:latin typeface="Bookman Old Style" panose="02050604050505020204" pitchFamily="18" charset="0"/>
              </a:rPr>
              <a:t>Diodes </a:t>
            </a:r>
            <a:r>
              <a:rPr lang="fr-FR" sz="1600" b="1" dirty="0" err="1">
                <a:latin typeface="Bookman Old Style" panose="02050604050505020204" pitchFamily="18" charset="0"/>
              </a:rPr>
              <a:t>zener</a:t>
            </a:r>
            <a:r>
              <a:rPr lang="fr-FR" sz="1600" b="1" dirty="0">
                <a:latin typeface="Bookman Old Style" panose="02050604050505020204" pitchFamily="18" charset="0"/>
              </a:rPr>
              <a:t> </a:t>
            </a:r>
            <a:r>
              <a:rPr lang="fr-FR" sz="1600" dirty="0">
                <a:latin typeface="Bookman Old Style" panose="02050604050505020204" pitchFamily="18" charset="0"/>
              </a:rPr>
              <a:t>sont utilisées en général en </a:t>
            </a:r>
            <a:r>
              <a:rPr lang="fr-FR" sz="1600" b="1" dirty="0">
                <a:latin typeface="Bookman Old Style" panose="02050604050505020204" pitchFamily="18" charset="0"/>
              </a:rPr>
              <a:t>polarisation inverse dans la zone de claquage</a:t>
            </a:r>
            <a:r>
              <a:rPr lang="fr-FR" sz="1600" dirty="0">
                <a:latin typeface="Bookman Old Style" panose="020506040505050202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600" dirty="0">
                <a:latin typeface="Bookman Old Style" panose="02050604050505020204" pitchFamily="18" charset="0"/>
              </a:rPr>
              <a:t>Le </a:t>
            </a:r>
            <a:r>
              <a:rPr lang="fr-FR" sz="1600" b="1" dirty="0">
                <a:latin typeface="Bookman Old Style" panose="02050604050505020204" pitchFamily="18" charset="0"/>
              </a:rPr>
              <a:t>claquage</a:t>
            </a:r>
            <a:r>
              <a:rPr lang="fr-FR" sz="1600" dirty="0">
                <a:latin typeface="Bookman Old Style" panose="02050604050505020204" pitchFamily="18" charset="0"/>
              </a:rPr>
              <a:t> </a:t>
            </a:r>
            <a:r>
              <a:rPr lang="fr-FR" sz="1600" b="1" dirty="0">
                <a:latin typeface="Bookman Old Style" panose="02050604050505020204" pitchFamily="18" charset="0"/>
              </a:rPr>
              <a:t>n'est pas destructif</a:t>
            </a:r>
            <a:r>
              <a:rPr lang="fr-FR" sz="1600" dirty="0">
                <a:latin typeface="Bookman Old Style" panose="02050604050505020204" pitchFamily="18" charset="0"/>
              </a:rPr>
              <a:t> si le courant inverse est limité par le circuit extérieur pour éviter un échauffement excessif.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600" dirty="0">
                <a:latin typeface="Bookman Old Style" panose="02050604050505020204" pitchFamily="18" charset="0"/>
              </a:rPr>
              <a:t>Le courant inverse disparaît lorsque la tension inverse redevient inférieure à </a:t>
            </a:r>
            <a:r>
              <a:rPr lang="fr-FR" sz="1600" b="1" dirty="0">
                <a:latin typeface="Bookman Old Style" panose="02050604050505020204" pitchFamily="18" charset="0"/>
              </a:rPr>
              <a:t>V</a:t>
            </a:r>
            <a:r>
              <a:rPr lang="fr-FR" sz="1600" b="1" baseline="-25000" dirty="0">
                <a:latin typeface="Bookman Old Style" panose="02050604050505020204" pitchFamily="18" charset="0"/>
              </a:rPr>
              <a:t>Z</a:t>
            </a:r>
            <a:r>
              <a:rPr lang="fr-FR" sz="1600" dirty="0">
                <a:latin typeface="Bookman Old Style" panose="020506040505050202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600" dirty="0">
                <a:latin typeface="Bookman Old Style" panose="02050604050505020204" pitchFamily="18" charset="0"/>
              </a:rPr>
              <a:t>Une première utilisation de la </a:t>
            </a:r>
            <a:r>
              <a:rPr lang="fr-FR" sz="1600" b="1" dirty="0">
                <a:latin typeface="Bookman Old Style" panose="02050604050505020204" pitchFamily="18" charset="0"/>
              </a:rPr>
              <a:t>diode </a:t>
            </a:r>
            <a:r>
              <a:rPr lang="fr-FR" sz="1600" b="1" dirty="0" err="1">
                <a:latin typeface="Bookman Old Style" panose="02050604050505020204" pitchFamily="18" charset="0"/>
              </a:rPr>
              <a:t>zener</a:t>
            </a:r>
            <a:r>
              <a:rPr lang="fr-FR" sz="1600" b="1" dirty="0">
                <a:latin typeface="Bookman Old Style" panose="02050604050505020204" pitchFamily="18" charset="0"/>
              </a:rPr>
              <a:t> </a:t>
            </a:r>
            <a:r>
              <a:rPr lang="fr-FR" sz="1600" dirty="0">
                <a:latin typeface="Bookman Old Style" panose="02050604050505020204" pitchFamily="18" charset="0"/>
              </a:rPr>
              <a:t>est la </a:t>
            </a:r>
            <a:r>
              <a:rPr lang="fr-FR" sz="1600" b="1" dirty="0">
                <a:latin typeface="Bookman Old Style" panose="02050604050505020204" pitchFamily="18" charset="0"/>
              </a:rPr>
              <a:t>régulation</a:t>
            </a:r>
            <a:r>
              <a:rPr lang="fr-FR" sz="1600" dirty="0">
                <a:latin typeface="Bookman Old Style" panose="02050604050505020204" pitchFamily="18" charset="0"/>
              </a:rPr>
              <a:t> de la tension dans les </a:t>
            </a:r>
            <a:r>
              <a:rPr lang="fr-FR" sz="1600" b="1" dirty="0">
                <a:latin typeface="Bookman Old Style" panose="02050604050505020204" pitchFamily="18" charset="0"/>
              </a:rPr>
              <a:t>blocs d'alimentation</a:t>
            </a:r>
          </a:p>
        </p:txBody>
      </p:sp>
      <p:grpSp>
        <p:nvGrpSpPr>
          <p:cNvPr id="12" name="Group 2">
            <a:extLst>
              <a:ext uri="{FF2B5EF4-FFF2-40B4-BE49-F238E27FC236}">
                <a16:creationId xmlns:a16="http://schemas.microsoft.com/office/drawing/2014/main" id="{0BA159DF-E019-C9E2-5887-56F448EFA862}"/>
              </a:ext>
            </a:extLst>
          </p:cNvPr>
          <p:cNvGrpSpPr>
            <a:grpSpLocks/>
          </p:cNvGrpSpPr>
          <p:nvPr/>
        </p:nvGrpSpPr>
        <p:grpSpPr bwMode="auto">
          <a:xfrm>
            <a:off x="7446320" y="923488"/>
            <a:ext cx="1371600" cy="1224400"/>
            <a:chOff x="1275" y="7839"/>
            <a:chExt cx="2024" cy="2317"/>
          </a:xfrm>
        </p:grpSpPr>
        <p:sp>
          <p:nvSpPr>
            <p:cNvPr id="13" name="Text Box 3">
              <a:extLst>
                <a:ext uri="{FF2B5EF4-FFF2-40B4-BE49-F238E27FC236}">
                  <a16:creationId xmlns:a16="http://schemas.microsoft.com/office/drawing/2014/main" id="{40A8834A-D7E2-7B4D-EE76-62739C9499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8" y="8364"/>
              <a:ext cx="760" cy="53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fr-FR" sz="1400" b="1" dirty="0">
                  <a:latin typeface="Book Antiqua" panose="02040602050305030304" pitchFamily="18" charset="0"/>
                </a:rPr>
                <a:t>V</a:t>
              </a:r>
              <a:r>
                <a:rPr lang="fr-FR" sz="1400" b="1" baseline="-25000" dirty="0">
                  <a:latin typeface="Book Antiqua" panose="02040602050305030304" pitchFamily="18" charset="0"/>
                </a:rPr>
                <a:t>Z</a:t>
              </a:r>
              <a:endParaRPr lang="fr-FR" sz="1400" b="1" dirty="0">
                <a:latin typeface="Book Antiqua" panose="02040602050305030304" pitchFamily="18" charset="0"/>
              </a:endParaRPr>
            </a:p>
          </p:txBody>
        </p:sp>
        <p:cxnSp>
          <p:nvCxnSpPr>
            <p:cNvPr id="17" name="AutoShape 4">
              <a:extLst>
                <a:ext uri="{FF2B5EF4-FFF2-40B4-BE49-F238E27FC236}">
                  <a16:creationId xmlns:a16="http://schemas.microsoft.com/office/drawing/2014/main" id="{C60CA40E-6C56-C90B-0FDA-DD8799A2D49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275" y="8034"/>
              <a:ext cx="1927" cy="0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AutoShape 5">
              <a:extLst>
                <a:ext uri="{FF2B5EF4-FFF2-40B4-BE49-F238E27FC236}">
                  <a16:creationId xmlns:a16="http://schemas.microsoft.com/office/drawing/2014/main" id="{06856164-33D2-5F69-A178-BB3DDB2FAFB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084" y="7869"/>
              <a:ext cx="345" cy="330"/>
            </a:xfrm>
            <a:prstGeom prst="triangle">
              <a:avLst>
                <a:gd name="adj" fmla="val 50000"/>
              </a:avLst>
            </a:prstGeom>
            <a:ln>
              <a:headEnd/>
              <a:tailE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fr-FR"/>
            </a:p>
          </p:txBody>
        </p:sp>
        <p:cxnSp>
          <p:nvCxnSpPr>
            <p:cNvPr id="21" name="AutoShape 6">
              <a:extLst>
                <a:ext uri="{FF2B5EF4-FFF2-40B4-BE49-F238E27FC236}">
                  <a16:creationId xmlns:a16="http://schemas.microsoft.com/office/drawing/2014/main" id="{40D393BD-95C2-1D67-603E-76495F6EC43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280" y="7839"/>
              <a:ext cx="283" cy="397"/>
            </a:xfrm>
            <a:prstGeom prst="bentConnector3">
              <a:avLst>
                <a:gd name="adj1" fmla="val 49944"/>
              </a:avLst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</p:cxnSp>
        <p:cxnSp>
          <p:nvCxnSpPr>
            <p:cNvPr id="22" name="AutoShape 7">
              <a:extLst>
                <a:ext uri="{FF2B5EF4-FFF2-40B4-BE49-F238E27FC236}">
                  <a16:creationId xmlns:a16="http://schemas.microsoft.com/office/drawing/2014/main" id="{0C92D043-2FD3-F257-959F-FBD728F7BCC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545" y="8379"/>
              <a:ext cx="1319" cy="0"/>
            </a:xfrm>
            <a:prstGeom prst="straightConnector1">
              <a:avLst/>
            </a:prstGeom>
            <a:ln>
              <a:solidFill>
                <a:srgbClr val="CC00CC"/>
              </a:solidFill>
              <a:headEnd/>
              <a:tailEnd type="arrow" w="med" len="med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" name="AutoShape 8">
              <a:extLst>
                <a:ext uri="{FF2B5EF4-FFF2-40B4-BE49-F238E27FC236}">
                  <a16:creationId xmlns:a16="http://schemas.microsoft.com/office/drawing/2014/main" id="{26068254-2711-E4A6-89D4-E21D2967D39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275" y="9123"/>
              <a:ext cx="1005" cy="0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AutoShape 9">
              <a:extLst>
                <a:ext uri="{FF2B5EF4-FFF2-40B4-BE49-F238E27FC236}">
                  <a16:creationId xmlns:a16="http://schemas.microsoft.com/office/drawing/2014/main" id="{5A320EAE-95BF-6A94-C616-E5D2FC13EA3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946" y="8956"/>
              <a:ext cx="343" cy="330"/>
            </a:xfrm>
            <a:prstGeom prst="triangle">
              <a:avLst>
                <a:gd name="adj" fmla="val 50000"/>
              </a:avLst>
            </a:prstGeom>
            <a:ln>
              <a:headEnd/>
              <a:tailE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fr-FR"/>
            </a:p>
          </p:txBody>
        </p:sp>
        <p:cxnSp>
          <p:nvCxnSpPr>
            <p:cNvPr id="25" name="AutoShape 10">
              <a:extLst>
                <a:ext uri="{FF2B5EF4-FFF2-40B4-BE49-F238E27FC236}">
                  <a16:creationId xmlns:a16="http://schemas.microsoft.com/office/drawing/2014/main" id="{EDC12054-72E9-95EB-C001-F42FAA60BE5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587" y="9123"/>
              <a:ext cx="615" cy="0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AutoShape 11">
              <a:extLst>
                <a:ext uri="{FF2B5EF4-FFF2-40B4-BE49-F238E27FC236}">
                  <a16:creationId xmlns:a16="http://schemas.microsoft.com/office/drawing/2014/main" id="{2FC79FF5-D09A-EF2D-4E4D-D4E1AEEDDFE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581" y="8934"/>
              <a:ext cx="0" cy="345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27" name="AutoShape 12">
              <a:extLst>
                <a:ext uri="{FF2B5EF4-FFF2-40B4-BE49-F238E27FC236}">
                  <a16:creationId xmlns:a16="http://schemas.microsoft.com/office/drawing/2014/main" id="{42D980D3-D98E-8520-C645-18A910D07EE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206" y="9084"/>
              <a:ext cx="375" cy="173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28" name="AutoShape 13">
              <a:extLst>
                <a:ext uri="{FF2B5EF4-FFF2-40B4-BE49-F238E27FC236}">
                  <a16:creationId xmlns:a16="http://schemas.microsoft.com/office/drawing/2014/main" id="{D0894D52-DA7E-CB18-0995-E265E920A10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372" y="9983"/>
              <a:ext cx="1927" cy="0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AutoShape 14">
              <a:extLst>
                <a:ext uri="{FF2B5EF4-FFF2-40B4-BE49-F238E27FC236}">
                  <a16:creationId xmlns:a16="http://schemas.microsoft.com/office/drawing/2014/main" id="{8BF50089-DC40-980D-A086-C26926DA3FA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182" y="9818"/>
              <a:ext cx="345" cy="330"/>
            </a:xfrm>
            <a:prstGeom prst="triangle">
              <a:avLst>
                <a:gd name="adj" fmla="val 50000"/>
              </a:avLst>
            </a:prstGeom>
            <a:ln>
              <a:headEnd/>
              <a:tailE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fr-FR"/>
            </a:p>
          </p:txBody>
        </p:sp>
        <p:cxnSp>
          <p:nvCxnSpPr>
            <p:cNvPr id="30" name="AutoShape 15">
              <a:extLst>
                <a:ext uri="{FF2B5EF4-FFF2-40B4-BE49-F238E27FC236}">
                  <a16:creationId xmlns:a16="http://schemas.microsoft.com/office/drawing/2014/main" id="{0320A70D-2CFC-B18C-2175-0C73153C728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520" y="9811"/>
              <a:ext cx="0" cy="345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1" name="AutoShape 16">
              <a:extLst>
                <a:ext uri="{FF2B5EF4-FFF2-40B4-BE49-F238E27FC236}">
                  <a16:creationId xmlns:a16="http://schemas.microsoft.com/office/drawing/2014/main" id="{36765F76-B7AF-97DD-8315-DE112A4E57F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423" y="10156"/>
              <a:ext cx="97" cy="0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</p:cxnSp>
      </p:grpSp>
      <p:sp>
        <p:nvSpPr>
          <p:cNvPr id="32" name="ZoneTexte 19">
            <a:extLst>
              <a:ext uri="{FF2B5EF4-FFF2-40B4-BE49-F238E27FC236}">
                <a16:creationId xmlns:a16="http://schemas.microsoft.com/office/drawing/2014/main" id="{7971E5C2-F896-6D32-6F1E-FA838F8A121A}"/>
              </a:ext>
            </a:extLst>
          </p:cNvPr>
          <p:cNvSpPr txBox="1"/>
          <p:nvPr/>
        </p:nvSpPr>
        <p:spPr>
          <a:xfrm>
            <a:off x="6075098" y="1240878"/>
            <a:ext cx="120417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Symbole</a:t>
            </a:r>
          </a:p>
        </p:txBody>
      </p:sp>
      <p:pic>
        <p:nvPicPr>
          <p:cNvPr id="33" name="Picture 17">
            <a:extLst>
              <a:ext uri="{FF2B5EF4-FFF2-40B4-BE49-F238E27FC236}">
                <a16:creationId xmlns:a16="http://schemas.microsoft.com/office/drawing/2014/main" id="{58900CB3-6A8F-64C2-9624-BF5BC34A4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5975620" y="2484468"/>
            <a:ext cx="2776566" cy="2386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" name="ZoneTexte 20">
            <a:extLst>
              <a:ext uri="{FF2B5EF4-FFF2-40B4-BE49-F238E27FC236}">
                <a16:creationId xmlns:a16="http://schemas.microsoft.com/office/drawing/2014/main" id="{B5372A52-D3DE-99B3-E0ED-104C1899834F}"/>
              </a:ext>
            </a:extLst>
          </p:cNvPr>
          <p:cNvSpPr txBox="1"/>
          <p:nvPr/>
        </p:nvSpPr>
        <p:spPr>
          <a:xfrm>
            <a:off x="5762489" y="2135415"/>
            <a:ext cx="327525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Caractéristique de la diode zener</a:t>
            </a:r>
          </a:p>
        </p:txBody>
      </p:sp>
    </p:spTree>
    <p:extLst>
      <p:ext uri="{BB962C8B-B14F-4D97-AF65-F5344CB8AC3E}">
        <p14:creationId xmlns:p14="http://schemas.microsoft.com/office/powerpoint/2010/main" val="273063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6"/>
            <a:ext cx="49800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-Diodes-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762005" y="484817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23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0646" y="557613"/>
            <a:ext cx="64597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6. </a:t>
            </a:r>
            <a:r>
              <a:rPr lang="fr-FR" b="1" spc="-5" dirty="0" err="1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Special</a:t>
            </a: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 diodes -Diodes Zener-</a:t>
            </a: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334000" y="361950"/>
            <a:ext cx="3709256" cy="10448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16C7EB8-7AC6-AE73-1DAB-E5EE97D88934}"/>
              </a:ext>
            </a:extLst>
          </p:cNvPr>
          <p:cNvSpPr txBox="1"/>
          <p:nvPr/>
        </p:nvSpPr>
        <p:spPr>
          <a:xfrm>
            <a:off x="576301" y="868229"/>
            <a:ext cx="4588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2pPr marL="12065" lvl="1">
              <a:spcBef>
                <a:spcPts val="100"/>
              </a:spcBef>
              <a:tabLst>
                <a:tab pos="393700" algn="l"/>
              </a:tabLst>
              <a:defRPr sz="1600" b="1" spc="-5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defRPr>
            </a:lvl2pPr>
          </a:lstStyle>
          <a:p>
            <a:pPr lvl="1"/>
            <a:r>
              <a:rPr lang="fr-FR" dirty="0"/>
              <a:t>6.1 Modèles de la diode Zener</a:t>
            </a:r>
          </a:p>
        </p:txBody>
      </p:sp>
      <p:grpSp>
        <p:nvGrpSpPr>
          <p:cNvPr id="11" name="Groupe 26">
            <a:extLst>
              <a:ext uri="{FF2B5EF4-FFF2-40B4-BE49-F238E27FC236}">
                <a16:creationId xmlns:a16="http://schemas.microsoft.com/office/drawing/2014/main" id="{2D34BC95-459F-2407-4743-744B16586A10}"/>
              </a:ext>
            </a:extLst>
          </p:cNvPr>
          <p:cNvGrpSpPr>
            <a:grpSpLocks/>
          </p:cNvGrpSpPr>
          <p:nvPr/>
        </p:nvGrpSpPr>
        <p:grpSpPr bwMode="auto">
          <a:xfrm>
            <a:off x="2621872" y="1736980"/>
            <a:ext cx="1471613" cy="1143000"/>
            <a:chOff x="2886064" y="2428868"/>
            <a:chExt cx="685800" cy="723900"/>
          </a:xfrm>
        </p:grpSpPr>
        <p:sp>
          <p:nvSpPr>
            <p:cNvPr id="16" name="Text Box 6">
              <a:extLst>
                <a:ext uri="{FF2B5EF4-FFF2-40B4-BE49-F238E27FC236}">
                  <a16:creationId xmlns:a16="http://schemas.microsoft.com/office/drawing/2014/main" id="{F802567C-60E8-A07F-A284-202A0DFBC5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2520" y="2428868"/>
              <a:ext cx="228600" cy="266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fr-FR" sz="1400" b="1">
                  <a:latin typeface="Bookman Old Style" panose="02050604050505020204" pitchFamily="18" charset="0"/>
                </a:rPr>
                <a:t>–</a:t>
              </a:r>
            </a:p>
          </p:txBody>
        </p:sp>
        <p:sp>
          <p:nvSpPr>
            <p:cNvPr id="35" name="Text Box 7">
              <a:extLst>
                <a:ext uri="{FF2B5EF4-FFF2-40B4-BE49-F238E27FC236}">
                  <a16:creationId xmlns:a16="http://schemas.microsoft.com/office/drawing/2014/main" id="{8F3C0682-7B25-3534-DBDE-8A01CFDAD7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7657" y="2438393"/>
              <a:ext cx="247650" cy="266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fr-FR" sz="1400" b="1">
                  <a:latin typeface="Bookman Old Style" panose="02050604050505020204" pitchFamily="18" charset="0"/>
                </a:rPr>
                <a:t>+</a:t>
              </a:r>
            </a:p>
          </p:txBody>
        </p:sp>
        <p:sp>
          <p:nvSpPr>
            <p:cNvPr id="36" name="Text Box 8">
              <a:extLst>
                <a:ext uri="{FF2B5EF4-FFF2-40B4-BE49-F238E27FC236}">
                  <a16:creationId xmlns:a16="http://schemas.microsoft.com/office/drawing/2014/main" id="{33D7468E-B4DB-746C-9E87-4D69E847E9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6089" y="2886068"/>
              <a:ext cx="232762" cy="266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fr-FR" sz="1400" b="1">
                  <a:latin typeface="Bookman Old Style" panose="02050604050505020204" pitchFamily="18" charset="0"/>
                </a:rPr>
                <a:t>V</a:t>
              </a:r>
              <a:r>
                <a:rPr lang="fr-FR" sz="1400" b="1" baseline="-25000">
                  <a:latin typeface="Bookman Old Style" panose="02050604050505020204" pitchFamily="18" charset="0"/>
                </a:rPr>
                <a:t>Z</a:t>
              </a:r>
              <a:endParaRPr lang="fr-FR" sz="1400" b="1">
                <a:latin typeface="Bookman Old Style" panose="02050604050505020204" pitchFamily="18" charset="0"/>
              </a:endParaRPr>
            </a:p>
          </p:txBody>
        </p:sp>
        <p:cxnSp>
          <p:nvCxnSpPr>
            <p:cNvPr id="37" name="AutoShape 9">
              <a:extLst>
                <a:ext uri="{FF2B5EF4-FFF2-40B4-BE49-F238E27FC236}">
                  <a16:creationId xmlns:a16="http://schemas.microsoft.com/office/drawing/2014/main" id="{928C5232-3A7E-C3A8-9CFC-18E25CB7B2D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886064" y="2618891"/>
              <a:ext cx="314418" cy="0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AutoShape 10">
              <a:extLst>
                <a:ext uri="{FF2B5EF4-FFF2-40B4-BE49-F238E27FC236}">
                  <a16:creationId xmlns:a16="http://schemas.microsoft.com/office/drawing/2014/main" id="{2DF785D2-D212-4C16-7EBD-A3AE5A94D8A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57446" y="2618891"/>
              <a:ext cx="314418" cy="0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AutoShape 11">
              <a:extLst>
                <a:ext uri="{FF2B5EF4-FFF2-40B4-BE49-F238E27FC236}">
                  <a16:creationId xmlns:a16="http://schemas.microsoft.com/office/drawing/2014/main" id="{231B7DF3-1F92-08A2-923A-6DD77A2512A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00482" y="2576664"/>
              <a:ext cx="0" cy="80433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AutoShape 12">
              <a:extLst>
                <a:ext uri="{FF2B5EF4-FFF2-40B4-BE49-F238E27FC236}">
                  <a16:creationId xmlns:a16="http://schemas.microsoft.com/office/drawing/2014/main" id="{6ECD0458-1D51-06DF-F3EE-DCD9E7B746F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57446" y="2495226"/>
              <a:ext cx="0" cy="252359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AutoShape 13">
              <a:extLst>
                <a:ext uri="{FF2B5EF4-FFF2-40B4-BE49-F238E27FC236}">
                  <a16:creationId xmlns:a16="http://schemas.microsoft.com/office/drawing/2014/main" id="{D67394EC-5A37-EA27-32E3-4FB20CC0A8A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886064" y="2905436"/>
              <a:ext cx="685800" cy="0"/>
            </a:xfrm>
            <a:prstGeom prst="straightConnector1">
              <a:avLst/>
            </a:prstGeom>
            <a:ln>
              <a:headEnd/>
              <a:tailEnd type="arrow" w="med" len="med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42" name="Groupe 25">
            <a:extLst>
              <a:ext uri="{FF2B5EF4-FFF2-40B4-BE49-F238E27FC236}">
                <a16:creationId xmlns:a16="http://schemas.microsoft.com/office/drawing/2014/main" id="{068BBB2F-AE1C-C83C-09A6-C2919524F72B}"/>
              </a:ext>
            </a:extLst>
          </p:cNvPr>
          <p:cNvGrpSpPr>
            <a:grpSpLocks/>
          </p:cNvGrpSpPr>
          <p:nvPr/>
        </p:nvGrpSpPr>
        <p:grpSpPr bwMode="auto">
          <a:xfrm>
            <a:off x="473985" y="1946530"/>
            <a:ext cx="1362075" cy="790575"/>
            <a:chOff x="995352" y="2495543"/>
            <a:chExt cx="1223962" cy="676275"/>
          </a:xfrm>
        </p:grpSpPr>
        <p:sp>
          <p:nvSpPr>
            <p:cNvPr id="43" name="Text Box 14">
              <a:extLst>
                <a:ext uri="{FF2B5EF4-FFF2-40B4-BE49-F238E27FC236}">
                  <a16:creationId xmlns:a16="http://schemas.microsoft.com/office/drawing/2014/main" id="{5E80A690-364E-846B-489C-F845C9BB2E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0489" y="2905118"/>
              <a:ext cx="352425" cy="266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fr-FR" sz="1400" b="1">
                  <a:latin typeface="Bookman Old Style" panose="02050604050505020204" pitchFamily="18" charset="0"/>
                </a:rPr>
                <a:t>V</a:t>
              </a:r>
              <a:r>
                <a:rPr lang="fr-FR" sz="1400" b="1" baseline="-25000">
                  <a:latin typeface="Bookman Old Style" panose="02050604050505020204" pitchFamily="18" charset="0"/>
                </a:rPr>
                <a:t>Z</a:t>
              </a:r>
              <a:endParaRPr lang="fr-FR" sz="1400" b="1">
                <a:latin typeface="Bookman Old Style" panose="02050604050505020204" pitchFamily="18" charset="0"/>
              </a:endParaRPr>
            </a:p>
          </p:txBody>
        </p:sp>
        <p:cxnSp>
          <p:nvCxnSpPr>
            <p:cNvPr id="44" name="AutoShape 15">
              <a:extLst>
                <a:ext uri="{FF2B5EF4-FFF2-40B4-BE49-F238E27FC236}">
                  <a16:creationId xmlns:a16="http://schemas.microsoft.com/office/drawing/2014/main" id="{354A8E7D-0D60-FC51-BB62-7FC511067CC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95352" y="2619119"/>
              <a:ext cx="1223962" cy="0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AutoShape 16">
              <a:extLst>
                <a:ext uri="{FF2B5EF4-FFF2-40B4-BE49-F238E27FC236}">
                  <a16:creationId xmlns:a16="http://schemas.microsoft.com/office/drawing/2014/main" id="{8E980EC7-19BD-E137-325D-DF877F16FA4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510141" y="2514948"/>
              <a:ext cx="218636" cy="209699"/>
            </a:xfrm>
            <a:prstGeom prst="triangle">
              <a:avLst>
                <a:gd name="adj" fmla="val 50000"/>
              </a:avLst>
            </a:prstGeom>
            <a:ln>
              <a:headEnd/>
              <a:tailE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fr-FR" sz="1400">
                <a:latin typeface="Bookman Old Style" panose="02050604050505020204" pitchFamily="18" charset="0"/>
              </a:endParaRPr>
            </a:p>
          </p:txBody>
        </p:sp>
        <p:cxnSp>
          <p:nvCxnSpPr>
            <p:cNvPr id="47" name="AutoShape 17">
              <a:extLst>
                <a:ext uri="{FF2B5EF4-FFF2-40B4-BE49-F238E27FC236}">
                  <a16:creationId xmlns:a16="http://schemas.microsoft.com/office/drawing/2014/main" id="{9D9BD1FD-AF02-DC90-7FA2-4FE0D3AE976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633527" y="2495543"/>
              <a:ext cx="179387" cy="252413"/>
            </a:xfrm>
            <a:prstGeom prst="bentConnector3">
              <a:avLst>
                <a:gd name="adj1" fmla="val 49944"/>
              </a:avLst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</p:cxnSp>
        <p:cxnSp>
          <p:nvCxnSpPr>
            <p:cNvPr id="48" name="AutoShape 18">
              <a:extLst>
                <a:ext uri="{FF2B5EF4-FFF2-40B4-BE49-F238E27FC236}">
                  <a16:creationId xmlns:a16="http://schemas.microsoft.com/office/drawing/2014/main" id="{6A6C99AD-C911-2249-CC28-88D2D5F3DEC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66535" y="2924665"/>
              <a:ext cx="838799" cy="0"/>
            </a:xfrm>
            <a:prstGeom prst="straightConnector1">
              <a:avLst/>
            </a:prstGeom>
            <a:ln>
              <a:headEnd/>
              <a:tailEnd type="arrow" w="med" len="med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49" name="Groupe 27">
            <a:extLst>
              <a:ext uri="{FF2B5EF4-FFF2-40B4-BE49-F238E27FC236}">
                <a16:creationId xmlns:a16="http://schemas.microsoft.com/office/drawing/2014/main" id="{16C8E17D-C623-1711-3CB1-1C64DA182004}"/>
              </a:ext>
            </a:extLst>
          </p:cNvPr>
          <p:cNvGrpSpPr>
            <a:grpSpLocks/>
          </p:cNvGrpSpPr>
          <p:nvPr/>
        </p:nvGrpSpPr>
        <p:grpSpPr bwMode="auto">
          <a:xfrm>
            <a:off x="5715731" y="840586"/>
            <a:ext cx="3243585" cy="2004035"/>
            <a:chOff x="4905364" y="1822713"/>
            <a:chExt cx="1774863" cy="1431015"/>
          </a:xfrm>
        </p:grpSpPr>
        <p:sp>
          <p:nvSpPr>
            <p:cNvPr id="50" name="Text Box 2">
              <a:extLst>
                <a:ext uri="{FF2B5EF4-FFF2-40B4-BE49-F238E27FC236}">
                  <a16:creationId xmlns:a16="http://schemas.microsoft.com/office/drawing/2014/main" id="{41656777-5870-E744-48B8-6C3BEF0B6B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74685" y="2563425"/>
              <a:ext cx="352558" cy="26645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Aft>
                  <a:spcPts val="1000"/>
                </a:spcAft>
                <a:defRPr/>
              </a:pPr>
              <a:r>
                <a:rPr lang="fr-FR" sz="1400" b="1" dirty="0"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V</a:t>
              </a:r>
              <a:r>
                <a:rPr lang="fr-FR" sz="1400" b="1" baseline="-25000" dirty="0"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g</a:t>
              </a:r>
              <a:endParaRPr lang="fr-FR" sz="1400" b="1" dirty="0"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51" name="Text Box 3">
              <a:extLst>
                <a:ext uri="{FF2B5EF4-FFF2-40B4-BE49-F238E27FC236}">
                  <a16:creationId xmlns:a16="http://schemas.microsoft.com/office/drawing/2014/main" id="{0CAD66A7-BE4B-242C-C057-45CF0D287F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7802" y="2428868"/>
              <a:ext cx="352425" cy="266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fr-FR" sz="1400" b="1">
                  <a:latin typeface="Bookman Old Style" panose="02050604050505020204" pitchFamily="18" charset="0"/>
                </a:rPr>
                <a:t>V</a:t>
              </a:r>
            </a:p>
          </p:txBody>
        </p:sp>
        <p:sp>
          <p:nvSpPr>
            <p:cNvPr id="52" name="Text Box 4">
              <a:extLst>
                <a:ext uri="{FF2B5EF4-FFF2-40B4-BE49-F238E27FC236}">
                  <a16:creationId xmlns:a16="http://schemas.microsoft.com/office/drawing/2014/main" id="{3BF67CAE-0098-2275-34AA-6BEEE0A6F1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2276" y="1822713"/>
              <a:ext cx="352425" cy="266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fr-FR" sz="1400" b="1">
                  <a:latin typeface="Bookman Old Style" panose="02050604050505020204" pitchFamily="18" charset="0"/>
                </a:rPr>
                <a:t>I</a:t>
              </a:r>
            </a:p>
          </p:txBody>
        </p:sp>
        <p:sp>
          <p:nvSpPr>
            <p:cNvPr id="53" name="Text Box 5">
              <a:extLst>
                <a:ext uri="{FF2B5EF4-FFF2-40B4-BE49-F238E27FC236}">
                  <a16:creationId xmlns:a16="http://schemas.microsoft.com/office/drawing/2014/main" id="{520D8081-3059-0CC6-67C2-308D044A7A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1089" y="2352668"/>
              <a:ext cx="352425" cy="266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fr-FR" sz="1400" b="1">
                  <a:latin typeface="Bookman Old Style" panose="02050604050505020204" pitchFamily="18" charset="0"/>
                </a:rPr>
                <a:t>V</a:t>
              </a:r>
              <a:r>
                <a:rPr lang="fr-FR" sz="1400" b="1" baseline="-25000">
                  <a:latin typeface="Bookman Old Style" panose="02050604050505020204" pitchFamily="18" charset="0"/>
                </a:rPr>
                <a:t>Z</a:t>
              </a:r>
              <a:endParaRPr lang="fr-FR" sz="1400" b="1">
                <a:latin typeface="Bookman Old Style" panose="02050604050505020204" pitchFamily="18" charset="0"/>
              </a:endParaRPr>
            </a:p>
          </p:txBody>
        </p:sp>
        <p:cxnSp>
          <p:nvCxnSpPr>
            <p:cNvPr id="54" name="AutoShape 19">
              <a:extLst>
                <a:ext uri="{FF2B5EF4-FFF2-40B4-BE49-F238E27FC236}">
                  <a16:creationId xmlns:a16="http://schemas.microsoft.com/office/drawing/2014/main" id="{BA503002-486E-5130-FE01-703179C98F3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905364" y="2576799"/>
              <a:ext cx="1448063" cy="0"/>
            </a:xfrm>
            <a:prstGeom prst="straightConnector1">
              <a:avLst/>
            </a:prstGeom>
            <a:ln>
              <a:headEnd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AutoShape 20">
              <a:extLst>
                <a:ext uri="{FF2B5EF4-FFF2-40B4-BE49-F238E27FC236}">
                  <a16:creationId xmlns:a16="http://schemas.microsoft.com/office/drawing/2014/main" id="{FBFBE4E9-4B5C-9D09-11E3-532F53037A9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571843" y="1899871"/>
              <a:ext cx="0" cy="1353857"/>
            </a:xfrm>
            <a:prstGeom prst="straightConnector1">
              <a:avLst/>
            </a:prstGeom>
            <a:ln>
              <a:headEnd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AutoShape 21">
              <a:extLst>
                <a:ext uri="{FF2B5EF4-FFF2-40B4-BE49-F238E27FC236}">
                  <a16:creationId xmlns:a16="http://schemas.microsoft.com/office/drawing/2014/main" id="{C257DEC1-4BCB-990E-2474-8EC8EFB6836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53281" y="2576799"/>
              <a:ext cx="695457" cy="0"/>
            </a:xfrm>
            <a:prstGeom prst="straightConnector1">
              <a:avLst/>
            </a:prstGeom>
            <a:ln>
              <a:solidFill>
                <a:srgbClr val="FF0000"/>
              </a:solidFill>
              <a:headEnd/>
              <a:tailEnd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7" name="AutoShape 22">
              <a:extLst>
                <a:ext uri="{FF2B5EF4-FFF2-40B4-BE49-F238E27FC236}">
                  <a16:creationId xmlns:a16="http://schemas.microsoft.com/office/drawing/2014/main" id="{BE64B522-9CB0-DE37-90E9-50C4A244BE9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848738" y="2100480"/>
              <a:ext cx="0" cy="476319"/>
            </a:xfrm>
            <a:prstGeom prst="straightConnector1">
              <a:avLst/>
            </a:prstGeom>
            <a:ln>
              <a:solidFill>
                <a:srgbClr val="FF0000"/>
              </a:solidFill>
              <a:headEnd/>
              <a:tailEnd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8" name="AutoShape 23">
              <a:extLst>
                <a:ext uri="{FF2B5EF4-FFF2-40B4-BE49-F238E27FC236}">
                  <a16:creationId xmlns:a16="http://schemas.microsoft.com/office/drawing/2014/main" id="{71C002E2-B493-0691-2BFD-CB3649660B5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53281" y="2576799"/>
              <a:ext cx="0" cy="594627"/>
            </a:xfrm>
            <a:prstGeom prst="straightConnector1">
              <a:avLst/>
            </a:prstGeom>
            <a:ln>
              <a:solidFill>
                <a:srgbClr val="FF0000"/>
              </a:solidFill>
              <a:headEnd/>
              <a:tailEnd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9" name="Rectangle 58">
            <a:extLst>
              <a:ext uri="{FF2B5EF4-FFF2-40B4-BE49-F238E27FC236}">
                <a16:creationId xmlns:a16="http://schemas.microsoft.com/office/drawing/2014/main" id="{C09C0B10-ED2F-161B-EFE1-B84EFB7F87BC}"/>
              </a:ext>
            </a:extLst>
          </p:cNvPr>
          <p:cNvSpPr/>
          <p:nvPr/>
        </p:nvSpPr>
        <p:spPr>
          <a:xfrm>
            <a:off x="548267" y="3091618"/>
            <a:ext cx="121058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Modèle 2 : </a:t>
            </a:r>
          </a:p>
        </p:txBody>
      </p:sp>
      <p:grpSp>
        <p:nvGrpSpPr>
          <p:cNvPr id="60" name="Groupe 52">
            <a:extLst>
              <a:ext uri="{FF2B5EF4-FFF2-40B4-BE49-F238E27FC236}">
                <a16:creationId xmlns:a16="http://schemas.microsoft.com/office/drawing/2014/main" id="{A98E66D6-9403-B15D-F9EE-354C139ECBFB}"/>
              </a:ext>
            </a:extLst>
          </p:cNvPr>
          <p:cNvGrpSpPr>
            <a:grpSpLocks/>
          </p:cNvGrpSpPr>
          <p:nvPr/>
        </p:nvGrpSpPr>
        <p:grpSpPr bwMode="auto">
          <a:xfrm>
            <a:off x="862734" y="3884642"/>
            <a:ext cx="1223962" cy="747713"/>
            <a:chOff x="995356" y="4071941"/>
            <a:chExt cx="1223962" cy="747713"/>
          </a:xfrm>
        </p:grpSpPr>
        <p:sp>
          <p:nvSpPr>
            <p:cNvPr id="61" name="Text Box 36">
              <a:extLst>
                <a:ext uri="{FF2B5EF4-FFF2-40B4-BE49-F238E27FC236}">
                  <a16:creationId xmlns:a16="http://schemas.microsoft.com/office/drawing/2014/main" id="{E0D3B1EB-639A-D1B9-D919-FCA4428B4B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0493" y="4481516"/>
              <a:ext cx="396863" cy="3381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fr-FR" sz="1400" b="1">
                  <a:latin typeface="Bookman Old Style" panose="02050604050505020204" pitchFamily="18" charset="0"/>
                </a:rPr>
                <a:t>V</a:t>
              </a:r>
              <a:r>
                <a:rPr lang="fr-FR" sz="1400" b="1" baseline="-25000">
                  <a:latin typeface="Bookman Old Style" panose="02050604050505020204" pitchFamily="18" charset="0"/>
                </a:rPr>
                <a:t>Z</a:t>
              </a:r>
              <a:endParaRPr lang="fr-FR" sz="1400" b="1">
                <a:latin typeface="Bookman Old Style" panose="02050604050505020204" pitchFamily="18" charset="0"/>
              </a:endParaRPr>
            </a:p>
          </p:txBody>
        </p:sp>
        <p:cxnSp>
          <p:nvCxnSpPr>
            <p:cNvPr id="62" name="AutoShape 37">
              <a:extLst>
                <a:ext uri="{FF2B5EF4-FFF2-40B4-BE49-F238E27FC236}">
                  <a16:creationId xmlns:a16="http://schemas.microsoft.com/office/drawing/2014/main" id="{8CE0C98F-EE62-6243-73A7-87483453AA8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95356" y="4195766"/>
              <a:ext cx="1223962" cy="0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3" name="AutoShape 38">
              <a:extLst>
                <a:ext uri="{FF2B5EF4-FFF2-40B4-BE49-F238E27FC236}">
                  <a16:creationId xmlns:a16="http://schemas.microsoft.com/office/drawing/2014/main" id="{0572C45B-F68E-F2A0-DB29-27007E1DCD6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509705" y="4090992"/>
              <a:ext cx="219075" cy="209550"/>
            </a:xfrm>
            <a:prstGeom prst="triangle">
              <a:avLst>
                <a:gd name="adj" fmla="val 50000"/>
              </a:avLst>
            </a:prstGeom>
            <a:ln>
              <a:headEnd/>
              <a:tailE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fr-FR" sz="1400">
                <a:latin typeface="Bookman Old Style" panose="02050604050505020204" pitchFamily="18" charset="0"/>
              </a:endParaRPr>
            </a:p>
          </p:txBody>
        </p:sp>
        <p:cxnSp>
          <p:nvCxnSpPr>
            <p:cNvPr id="64" name="AutoShape 39">
              <a:extLst>
                <a:ext uri="{FF2B5EF4-FFF2-40B4-BE49-F238E27FC236}">
                  <a16:creationId xmlns:a16="http://schemas.microsoft.com/office/drawing/2014/main" id="{950FD63E-7291-1A05-21A6-3387E85A7B8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633531" y="4071941"/>
              <a:ext cx="179387" cy="252412"/>
            </a:xfrm>
            <a:prstGeom prst="bentConnector3">
              <a:avLst>
                <a:gd name="adj1" fmla="val 49944"/>
              </a:avLst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</p:cxnSp>
        <p:cxnSp>
          <p:nvCxnSpPr>
            <p:cNvPr id="65" name="AutoShape 40">
              <a:extLst>
                <a:ext uri="{FF2B5EF4-FFF2-40B4-BE49-F238E27FC236}">
                  <a16:creationId xmlns:a16="http://schemas.microsoft.com/office/drawing/2014/main" id="{1FB0AE52-850C-0B00-6C6A-A567F2B6FC6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66806" y="4500566"/>
              <a:ext cx="838200" cy="0"/>
            </a:xfrm>
            <a:prstGeom prst="straightConnector1">
              <a:avLst/>
            </a:prstGeom>
            <a:ln>
              <a:headEnd/>
              <a:tailEnd type="arrow" w="med" len="med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66" name="Groupe 53">
            <a:extLst>
              <a:ext uri="{FF2B5EF4-FFF2-40B4-BE49-F238E27FC236}">
                <a16:creationId xmlns:a16="http://schemas.microsoft.com/office/drawing/2014/main" id="{D6A09C56-1B50-13A1-4924-40F174EEC9B0}"/>
              </a:ext>
            </a:extLst>
          </p:cNvPr>
          <p:cNvGrpSpPr>
            <a:grpSpLocks/>
          </p:cNvGrpSpPr>
          <p:nvPr/>
        </p:nvGrpSpPr>
        <p:grpSpPr bwMode="auto">
          <a:xfrm>
            <a:off x="2753446" y="3608417"/>
            <a:ext cx="1971675" cy="1023938"/>
            <a:chOff x="2886068" y="3847003"/>
            <a:chExt cx="1222375" cy="882163"/>
          </a:xfrm>
        </p:grpSpPr>
        <p:sp>
          <p:nvSpPr>
            <p:cNvPr id="67" name="Text Box 24">
              <a:extLst>
                <a:ext uri="{FF2B5EF4-FFF2-40B4-BE49-F238E27FC236}">
                  <a16:creationId xmlns:a16="http://schemas.microsoft.com/office/drawing/2014/main" id="{F1AC41FA-5C2B-F8D5-11AC-E418305320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7440" y="3847003"/>
              <a:ext cx="352425" cy="266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fr-FR" sz="1400" b="1">
                  <a:latin typeface="Bookman Old Style" panose="02050604050505020204" pitchFamily="18" charset="0"/>
                </a:rPr>
                <a:t>R</a:t>
              </a:r>
              <a:r>
                <a:rPr lang="fr-FR" sz="1400" b="1" baseline="-25000">
                  <a:latin typeface="Bookman Old Style" panose="02050604050505020204" pitchFamily="18" charset="0"/>
                </a:rPr>
                <a:t>Z</a:t>
              </a:r>
              <a:endParaRPr lang="fr-FR" sz="1400" b="1">
                <a:latin typeface="Bookman Old Style" panose="02050604050505020204" pitchFamily="18" charset="0"/>
              </a:endParaRPr>
            </a:p>
          </p:txBody>
        </p:sp>
        <p:sp>
          <p:nvSpPr>
            <p:cNvPr id="68" name="Text Box 28">
              <a:extLst>
                <a:ext uri="{FF2B5EF4-FFF2-40B4-BE49-F238E27FC236}">
                  <a16:creationId xmlns:a16="http://schemas.microsoft.com/office/drawing/2014/main" id="{AEF2DBA4-E5FE-85EB-B448-0977B2F575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0368" y="3929064"/>
              <a:ext cx="228600" cy="266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fr-FR" sz="1400">
                  <a:latin typeface="Bookman Old Style" panose="02050604050505020204" pitchFamily="18" charset="0"/>
                </a:rPr>
                <a:t>–</a:t>
              </a:r>
            </a:p>
          </p:txBody>
        </p:sp>
        <p:sp>
          <p:nvSpPr>
            <p:cNvPr id="69" name="Text Box 29">
              <a:extLst>
                <a:ext uri="{FF2B5EF4-FFF2-40B4-BE49-F238E27FC236}">
                  <a16:creationId xmlns:a16="http://schemas.microsoft.com/office/drawing/2014/main" id="{255A0346-049B-509D-119A-5161072B6F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0746" y="3929064"/>
              <a:ext cx="247650" cy="266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fr-FR" sz="1400" b="1">
                  <a:latin typeface="Bookman Old Style" panose="02050604050505020204" pitchFamily="18" charset="0"/>
                </a:rPr>
                <a:t>+</a:t>
              </a:r>
            </a:p>
          </p:txBody>
        </p:sp>
        <p:sp>
          <p:nvSpPr>
            <p:cNvPr id="70" name="Text Box 30">
              <a:extLst>
                <a:ext uri="{FF2B5EF4-FFF2-40B4-BE49-F238E27FC236}">
                  <a16:creationId xmlns:a16="http://schemas.microsoft.com/office/drawing/2014/main" id="{A076639A-8B77-85B6-3D59-A2B7B32C2E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1368" y="4462466"/>
              <a:ext cx="352425" cy="266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fr-FR" sz="1400" b="1">
                  <a:latin typeface="Bookman Old Style" panose="02050604050505020204" pitchFamily="18" charset="0"/>
                </a:rPr>
                <a:t>V</a:t>
              </a:r>
              <a:r>
                <a:rPr lang="fr-FR" sz="1400" b="1" baseline="-25000">
                  <a:latin typeface="Bookman Old Style" panose="02050604050505020204" pitchFamily="18" charset="0"/>
                </a:rPr>
                <a:t>Z</a:t>
              </a:r>
              <a:endParaRPr lang="fr-FR" sz="1400" b="1">
                <a:latin typeface="Bookman Old Style" panose="02050604050505020204" pitchFamily="18" charset="0"/>
              </a:endParaRPr>
            </a:p>
          </p:txBody>
        </p:sp>
        <p:cxnSp>
          <p:nvCxnSpPr>
            <p:cNvPr id="71" name="AutoShape 31">
              <a:extLst>
                <a:ext uri="{FF2B5EF4-FFF2-40B4-BE49-F238E27FC236}">
                  <a16:creationId xmlns:a16="http://schemas.microsoft.com/office/drawing/2014/main" id="{B66F0226-9A65-89CF-0DDB-3DB450CCE8F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886068" y="4195765"/>
              <a:ext cx="313960" cy="0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AutoShape 32">
              <a:extLst>
                <a:ext uri="{FF2B5EF4-FFF2-40B4-BE49-F238E27FC236}">
                  <a16:creationId xmlns:a16="http://schemas.microsoft.com/office/drawing/2014/main" id="{8B5F08FD-BA51-EF95-2464-09F52914235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57111" y="4195765"/>
              <a:ext cx="851332" cy="0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AutoShape 33">
              <a:extLst>
                <a:ext uri="{FF2B5EF4-FFF2-40B4-BE49-F238E27FC236}">
                  <a16:creationId xmlns:a16="http://schemas.microsoft.com/office/drawing/2014/main" id="{69C72806-ED2B-E953-AF8F-0961AE63392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00393" y="4152903"/>
              <a:ext cx="0" cy="80963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74" name="AutoShape 34">
              <a:extLst>
                <a:ext uri="{FF2B5EF4-FFF2-40B4-BE49-F238E27FC236}">
                  <a16:creationId xmlns:a16="http://schemas.microsoft.com/office/drawing/2014/main" id="{526C9066-4A0E-7DDD-D46F-06F243C81DE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57543" y="4071941"/>
              <a:ext cx="0" cy="25241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75" name="AutoShape 35">
              <a:extLst>
                <a:ext uri="{FF2B5EF4-FFF2-40B4-BE49-F238E27FC236}">
                  <a16:creationId xmlns:a16="http://schemas.microsoft.com/office/drawing/2014/main" id="{95F1E0DE-79F3-94D4-2FE7-D5EC4BBFF36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886068" y="4481613"/>
              <a:ext cx="1222375" cy="0"/>
            </a:xfrm>
            <a:prstGeom prst="straightConnector1">
              <a:avLst/>
            </a:prstGeom>
            <a:ln>
              <a:headEnd/>
              <a:tailEnd type="arrow" w="med" len="med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76" name="Rectangle 45">
              <a:extLst>
                <a:ext uri="{FF2B5EF4-FFF2-40B4-BE49-F238E27FC236}">
                  <a16:creationId xmlns:a16="http://schemas.microsoft.com/office/drawing/2014/main" id="{B2D06BBD-7D55-99FB-F989-AEDA455132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2055" y="4134219"/>
              <a:ext cx="365137" cy="118990"/>
            </a:xfrm>
            <a:prstGeom prst="rect">
              <a:avLst/>
            </a:prstGeom>
            <a:solidFill>
              <a:srgbClr val="00FF00"/>
            </a:solidFill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fr-FR" sz="1400">
                <a:latin typeface="Bookman Old Style" panose="02050604050505020204" pitchFamily="18" charset="0"/>
              </a:endParaRPr>
            </a:p>
          </p:txBody>
        </p:sp>
      </p:grpSp>
      <p:grpSp>
        <p:nvGrpSpPr>
          <p:cNvPr id="77" name="Groupe 58">
            <a:extLst>
              <a:ext uri="{FF2B5EF4-FFF2-40B4-BE49-F238E27FC236}">
                <a16:creationId xmlns:a16="http://schemas.microsoft.com/office/drawing/2014/main" id="{4A76BB18-C5B4-C6E6-64A8-87AA04E4DAEE}"/>
              </a:ext>
            </a:extLst>
          </p:cNvPr>
          <p:cNvGrpSpPr>
            <a:grpSpLocks/>
          </p:cNvGrpSpPr>
          <p:nvPr/>
        </p:nvGrpSpPr>
        <p:grpSpPr bwMode="auto">
          <a:xfrm>
            <a:off x="5715731" y="2982640"/>
            <a:ext cx="2834578" cy="2270732"/>
            <a:chOff x="5405402" y="3143249"/>
            <a:chExt cx="3286148" cy="2988000"/>
          </a:xfrm>
        </p:grpSpPr>
        <p:grpSp>
          <p:nvGrpSpPr>
            <p:cNvPr id="78" name="Groupe 54">
              <a:extLst>
                <a:ext uri="{FF2B5EF4-FFF2-40B4-BE49-F238E27FC236}">
                  <a16:creationId xmlns:a16="http://schemas.microsoft.com/office/drawing/2014/main" id="{DE284546-3110-4ECF-CD7E-E8F3DFB91E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05402" y="3500438"/>
              <a:ext cx="3286148" cy="2433652"/>
              <a:chOff x="4905368" y="3567116"/>
              <a:chExt cx="1739691" cy="1343025"/>
            </a:xfrm>
          </p:grpSpPr>
          <p:sp>
            <p:nvSpPr>
              <p:cNvPr id="80" name="Text Box 25">
                <a:extLst>
                  <a:ext uri="{FF2B5EF4-FFF2-40B4-BE49-F238E27FC236}">
                    <a16:creationId xmlns:a16="http://schemas.microsoft.com/office/drawing/2014/main" id="{AE5641C9-8610-7179-91A9-AE4B795EA6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00982" y="4114803"/>
                <a:ext cx="352425" cy="2667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spcAft>
                    <a:spcPts val="1000"/>
                  </a:spcAft>
                </a:pPr>
                <a:r>
                  <a:rPr lang="fr-FR" sz="1400" b="1">
                    <a:latin typeface="Bookman Old Style" panose="02050604050505020204" pitchFamily="18" charset="0"/>
                  </a:rPr>
                  <a:t>V</a:t>
                </a:r>
                <a:r>
                  <a:rPr lang="fr-FR" sz="1400" b="1" baseline="-25000">
                    <a:latin typeface="Bookman Old Style" panose="02050604050505020204" pitchFamily="18" charset="0"/>
                  </a:rPr>
                  <a:t>g</a:t>
                </a:r>
                <a:endParaRPr lang="fr-FR" sz="1400" b="1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81" name="Text Box 26">
                <a:extLst>
                  <a:ext uri="{FF2B5EF4-FFF2-40B4-BE49-F238E27FC236}">
                    <a16:creationId xmlns:a16="http://schemas.microsoft.com/office/drawing/2014/main" id="{07AE8C0E-5468-A1D9-A07A-E6C08C9831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92634" y="4005266"/>
                <a:ext cx="352425" cy="2667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spcAft>
                    <a:spcPts val="1000"/>
                  </a:spcAft>
                </a:pPr>
                <a:r>
                  <a:rPr lang="fr-FR" sz="1400" b="1">
                    <a:latin typeface="Bookman Old Style" panose="02050604050505020204" pitchFamily="18" charset="0"/>
                  </a:rPr>
                  <a:t>V</a:t>
                </a:r>
              </a:p>
            </p:txBody>
          </p:sp>
          <p:sp>
            <p:nvSpPr>
              <p:cNvPr id="82" name="Text Box 27">
                <a:extLst>
                  <a:ext uri="{FF2B5EF4-FFF2-40B4-BE49-F238E27FC236}">
                    <a16:creationId xmlns:a16="http://schemas.microsoft.com/office/drawing/2014/main" id="{671D2AD0-1331-A048-EA61-1F92F09ACF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91093" y="3929066"/>
                <a:ext cx="352425" cy="2667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spcAft>
                    <a:spcPts val="1000"/>
                  </a:spcAft>
                </a:pPr>
                <a:r>
                  <a:rPr lang="fr-FR" sz="1400" b="1">
                    <a:latin typeface="Bookman Old Style" panose="02050604050505020204" pitchFamily="18" charset="0"/>
                  </a:rPr>
                  <a:t>V</a:t>
                </a:r>
                <a:r>
                  <a:rPr lang="fr-FR" sz="1400" b="1" baseline="-25000">
                    <a:latin typeface="Bookman Old Style" panose="02050604050505020204" pitchFamily="18" charset="0"/>
                  </a:rPr>
                  <a:t>Z</a:t>
                </a:r>
                <a:endParaRPr lang="fr-FR" sz="1400" b="1">
                  <a:latin typeface="Bookman Old Style" panose="02050604050505020204" pitchFamily="18" charset="0"/>
                </a:endParaRPr>
              </a:p>
            </p:txBody>
          </p:sp>
          <p:cxnSp>
            <p:nvCxnSpPr>
              <p:cNvPr id="83" name="AutoShape 41">
                <a:extLst>
                  <a:ext uri="{FF2B5EF4-FFF2-40B4-BE49-F238E27FC236}">
                    <a16:creationId xmlns:a16="http://schemas.microsoft.com/office/drawing/2014/main" id="{9AD7E625-DF61-29EC-D0A2-3C1F4EBA7F7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905368" y="4153292"/>
                <a:ext cx="1448061" cy="0"/>
              </a:xfrm>
              <a:prstGeom prst="straightConnector1">
                <a:avLst/>
              </a:prstGeom>
              <a:ln>
                <a:headEnd/>
                <a:tailEnd type="arrow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AutoShape 42">
                <a:extLst>
                  <a:ext uri="{FF2B5EF4-FFF2-40B4-BE49-F238E27FC236}">
                    <a16:creationId xmlns:a16="http://schemas.microsoft.com/office/drawing/2014/main" id="{E622A53F-F77F-825C-E076-4E6F920DB2E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5153295" y="4153292"/>
                <a:ext cx="495014" cy="42932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headEnd/>
                <a:tailEnd/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85" name="AutoShape 43">
                <a:extLst>
                  <a:ext uri="{FF2B5EF4-FFF2-40B4-BE49-F238E27FC236}">
                    <a16:creationId xmlns:a16="http://schemas.microsoft.com/office/drawing/2014/main" id="{ADF520F6-EA07-C7F2-3D00-8C91DCB0372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5848331" y="3567137"/>
                <a:ext cx="50426" cy="586155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headEnd/>
                <a:tailEnd/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86" name="AutoShape 44">
                <a:extLst>
                  <a:ext uri="{FF2B5EF4-FFF2-40B4-BE49-F238E27FC236}">
                    <a16:creationId xmlns:a16="http://schemas.microsoft.com/office/drawing/2014/main" id="{BD9814A5-F9E7-1C79-4C4B-574FF6E68E1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5060847" y="4200605"/>
                <a:ext cx="92447" cy="709695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headEnd/>
                <a:tailEnd/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87" name="AutoShape 46">
                <a:extLst>
                  <a:ext uri="{FF2B5EF4-FFF2-40B4-BE49-F238E27FC236}">
                    <a16:creationId xmlns:a16="http://schemas.microsoft.com/office/drawing/2014/main" id="{77C6D73D-08A3-E9D8-72F4-15574580B54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5641585" y="4153292"/>
                <a:ext cx="209267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headEnd/>
                <a:tailEnd/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</p:grpSp>
        <p:cxnSp>
          <p:nvCxnSpPr>
            <p:cNvPr id="79" name="AutoShape 47">
              <a:extLst>
                <a:ext uri="{FF2B5EF4-FFF2-40B4-BE49-F238E27FC236}">
                  <a16:creationId xmlns:a16="http://schemas.microsoft.com/office/drawing/2014/main" id="{DF83D66E-0AD4-F025-0410-2FF0D14EDB8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5364768" y="4636455"/>
              <a:ext cx="2988000" cy="1588"/>
            </a:xfrm>
            <a:prstGeom prst="straightConnector1">
              <a:avLst/>
            </a:prstGeom>
            <a:ln>
              <a:headEnd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8" name="ZoneTexte 60">
            <a:extLst>
              <a:ext uri="{FF2B5EF4-FFF2-40B4-BE49-F238E27FC236}">
                <a16:creationId xmlns:a16="http://schemas.microsoft.com/office/drawing/2014/main" id="{7BD03E13-B4C2-1DE0-ECDF-2255610E843C}"/>
              </a:ext>
            </a:extLst>
          </p:cNvPr>
          <p:cNvSpPr txBox="1"/>
          <p:nvPr/>
        </p:nvSpPr>
        <p:spPr>
          <a:xfrm>
            <a:off x="2050372" y="1879855"/>
            <a:ext cx="28405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 b="1" dirty="0">
                <a:latin typeface="Bookman Old Style" panose="02050604050505020204" pitchFamily="18" charset="0"/>
                <a:sym typeface="Symbol"/>
              </a:rPr>
              <a:t></a:t>
            </a:r>
            <a:endParaRPr lang="fr-FR" sz="1400" b="1" dirty="0">
              <a:latin typeface="Bookman Old Style" panose="02050604050505020204" pitchFamily="18" charset="0"/>
            </a:endParaRPr>
          </a:p>
        </p:txBody>
      </p:sp>
      <p:sp>
        <p:nvSpPr>
          <p:cNvPr id="89" name="Rectangle 61">
            <a:extLst>
              <a:ext uri="{FF2B5EF4-FFF2-40B4-BE49-F238E27FC236}">
                <a16:creationId xmlns:a16="http://schemas.microsoft.com/office/drawing/2014/main" id="{54A57E78-5F99-7E58-F1F4-784EC6F33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4809" y="3775105"/>
            <a:ext cx="28405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1400" b="1">
                <a:latin typeface="Bookman Old Style" panose="02050604050505020204" pitchFamily="18" charset="0"/>
                <a:sym typeface="Symbol" pitchFamily="18" charset="2"/>
              </a:rPr>
              <a:t></a:t>
            </a:r>
            <a:endParaRPr lang="fr-FR" sz="1400" b="1">
              <a:latin typeface="Bookman Old Style" panose="02050604050505020204" pitchFamily="18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21A9BF4-7489-06B6-7D2C-E75BA7B75117}"/>
              </a:ext>
            </a:extLst>
          </p:cNvPr>
          <p:cNvSpPr/>
          <p:nvPr/>
        </p:nvSpPr>
        <p:spPr>
          <a:xfrm>
            <a:off x="462553" y="1372261"/>
            <a:ext cx="121058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Modèle 1 : </a:t>
            </a:r>
          </a:p>
        </p:txBody>
      </p:sp>
    </p:spTree>
    <p:extLst>
      <p:ext uri="{BB962C8B-B14F-4D97-AF65-F5344CB8AC3E}">
        <p14:creationId xmlns:p14="http://schemas.microsoft.com/office/powerpoint/2010/main" val="34704237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6"/>
            <a:ext cx="49800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-Diodes-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762005" y="484817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24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0646" y="557613"/>
            <a:ext cx="64597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6. </a:t>
            </a:r>
            <a:r>
              <a:rPr lang="fr-FR" b="1" spc="-5" dirty="0" err="1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Special</a:t>
            </a: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 diodes -Diodes Zener-</a:t>
            </a: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334000" y="361950"/>
            <a:ext cx="3709256" cy="10448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16C7EB8-7AC6-AE73-1DAB-E5EE97D88934}"/>
              </a:ext>
            </a:extLst>
          </p:cNvPr>
          <p:cNvSpPr txBox="1"/>
          <p:nvPr/>
        </p:nvSpPr>
        <p:spPr>
          <a:xfrm>
            <a:off x="576301" y="868229"/>
            <a:ext cx="4588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2pPr marL="12065" lvl="1">
              <a:spcBef>
                <a:spcPts val="100"/>
              </a:spcBef>
              <a:tabLst>
                <a:tab pos="393700" algn="l"/>
              </a:tabLst>
              <a:defRPr sz="1600" b="1" spc="-5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defRPr>
            </a:lvl2pPr>
          </a:lstStyle>
          <a:p>
            <a:pPr lvl="1"/>
            <a:r>
              <a:rPr lang="fr-FR" dirty="0"/>
              <a:t>6.2 </a:t>
            </a:r>
            <a:r>
              <a:rPr lang="fr-FR" sz="1600" b="1"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Applications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F4E9E5-3D98-05F9-014F-DAC6800E7FFF}"/>
              </a:ext>
            </a:extLst>
          </p:cNvPr>
          <p:cNvSpPr txBox="1"/>
          <p:nvPr/>
        </p:nvSpPr>
        <p:spPr>
          <a:xfrm>
            <a:off x="576300" y="1360221"/>
            <a:ext cx="846144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charset="0"/>
              <a:buNone/>
            </a:pPr>
            <a:r>
              <a:rPr lang="fr-FR" sz="1800" b="1" dirty="0">
                <a:latin typeface="Bookman Old Style" panose="02050604050505020204" pitchFamily="18" charset="0"/>
              </a:rPr>
              <a:t>Les applications des diodes </a:t>
            </a:r>
            <a:r>
              <a:rPr lang="fr-FR" sz="1800" b="1" dirty="0" err="1">
                <a:latin typeface="Bookman Old Style" panose="02050604050505020204" pitchFamily="18" charset="0"/>
              </a:rPr>
              <a:t>zener</a:t>
            </a:r>
            <a:r>
              <a:rPr lang="fr-FR" sz="1800" b="1" dirty="0">
                <a:latin typeface="Bookman Old Style" panose="02050604050505020204" pitchFamily="18" charset="0"/>
              </a:rPr>
              <a:t> sont très nombreuses.  elles se rapportent aux grandes catégories suivantes :</a:t>
            </a:r>
          </a:p>
          <a:p>
            <a:pPr algn="just">
              <a:buFont typeface="Arial" charset="0"/>
              <a:buNone/>
            </a:pPr>
            <a:endParaRPr lang="fr-FR" sz="1800" b="1" dirty="0">
              <a:solidFill>
                <a:srgbClr val="C00000"/>
              </a:solidFill>
              <a:latin typeface="Bookman Old Style" panose="02050604050505020204" pitchFamily="18" charset="0"/>
            </a:endParaRPr>
          </a:p>
          <a:p>
            <a:pPr marL="285750" indent="-285750" algn="just">
              <a:buFontTx/>
              <a:buChar char="-"/>
            </a:pPr>
            <a:r>
              <a:rPr lang="fr-FR" sz="18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Effet de régulation</a:t>
            </a:r>
          </a:p>
          <a:p>
            <a:pPr algn="just"/>
            <a:endParaRPr lang="fr-FR" sz="1800" b="1" dirty="0">
              <a:solidFill>
                <a:srgbClr val="0000FF"/>
              </a:solidFill>
              <a:latin typeface="Bookman Old Style" panose="02050604050505020204" pitchFamily="18" charset="0"/>
            </a:endParaRPr>
          </a:p>
          <a:p>
            <a:pPr algn="just">
              <a:buFont typeface="Arial" charset="0"/>
              <a:buNone/>
            </a:pPr>
            <a:r>
              <a:rPr lang="fr-FR" sz="18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-  Tension constante servant de référence</a:t>
            </a:r>
          </a:p>
          <a:p>
            <a:pPr algn="just">
              <a:buFont typeface="Arial" charset="0"/>
              <a:buNone/>
            </a:pPr>
            <a:endParaRPr lang="fr-FR" sz="1800" b="1" dirty="0">
              <a:solidFill>
                <a:srgbClr val="0000FF"/>
              </a:solidFill>
              <a:latin typeface="Bookman Old Style" panose="02050604050505020204" pitchFamily="18" charset="0"/>
            </a:endParaRPr>
          </a:p>
          <a:p>
            <a:pPr marL="285750" indent="-285750" algn="just">
              <a:buFontTx/>
              <a:buChar char="-"/>
            </a:pPr>
            <a:r>
              <a:rPr lang="fr-FR" sz="18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Effet de seuil et écrêtage</a:t>
            </a:r>
          </a:p>
          <a:p>
            <a:pPr algn="just"/>
            <a:endParaRPr lang="fr-FR" sz="1800" b="1" dirty="0">
              <a:solidFill>
                <a:srgbClr val="0000FF"/>
              </a:solidFill>
              <a:latin typeface="Bookman Old Style" panose="02050604050505020204" pitchFamily="18" charset="0"/>
            </a:endParaRPr>
          </a:p>
          <a:p>
            <a:pPr algn="just">
              <a:buFont typeface="Arial" charset="0"/>
              <a:buNone/>
            </a:pPr>
            <a:r>
              <a:rPr lang="fr-FR" sz="18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-  Capacité de la jonction</a:t>
            </a:r>
          </a:p>
        </p:txBody>
      </p:sp>
    </p:spTree>
    <p:extLst>
      <p:ext uri="{BB962C8B-B14F-4D97-AF65-F5344CB8AC3E}">
        <p14:creationId xmlns:p14="http://schemas.microsoft.com/office/powerpoint/2010/main" val="24488295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6"/>
            <a:ext cx="49800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-Diodes-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762005" y="484817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25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0646" y="557613"/>
            <a:ext cx="64597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6. </a:t>
            </a:r>
            <a:r>
              <a:rPr lang="fr-FR" b="1" spc="-5" dirty="0" err="1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Special</a:t>
            </a: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 diodes -Diodes Zener-</a:t>
            </a: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334000" y="361950"/>
            <a:ext cx="3709256" cy="10448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16C7EB8-7AC6-AE73-1DAB-E5EE97D88934}"/>
              </a:ext>
            </a:extLst>
          </p:cNvPr>
          <p:cNvSpPr txBox="1"/>
          <p:nvPr/>
        </p:nvSpPr>
        <p:spPr>
          <a:xfrm>
            <a:off x="576301" y="868229"/>
            <a:ext cx="4588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2pPr marL="12065" lvl="1">
              <a:spcBef>
                <a:spcPts val="100"/>
              </a:spcBef>
              <a:tabLst>
                <a:tab pos="393700" algn="l"/>
              </a:tabLst>
              <a:defRPr sz="1600" b="1" spc="-5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defRPr>
            </a:lvl2pPr>
          </a:lstStyle>
          <a:p>
            <a:pPr lvl="1"/>
            <a:r>
              <a:rPr lang="fr-FR" dirty="0"/>
              <a:t>6.2 </a:t>
            </a:r>
            <a:r>
              <a:rPr lang="fr-FR" sz="1600" b="1"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Applications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620A5C-3DD3-35AC-AFE9-72DA8389E639}"/>
              </a:ext>
            </a:extLst>
          </p:cNvPr>
          <p:cNvSpPr txBox="1"/>
          <p:nvPr/>
        </p:nvSpPr>
        <p:spPr>
          <a:xfrm>
            <a:off x="538063" y="1161018"/>
            <a:ext cx="124177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0" hangingPunct="0">
              <a:defRPr/>
            </a:pPr>
            <a:r>
              <a:rPr lang="fr-FR" sz="1300" b="1" u="sng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Régulation: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3934774-7B61-26D4-DBFD-7F5AC32296D9}"/>
              </a:ext>
            </a:extLst>
          </p:cNvPr>
          <p:cNvGrpSpPr/>
          <p:nvPr/>
        </p:nvGrpSpPr>
        <p:grpSpPr>
          <a:xfrm>
            <a:off x="2318598" y="3285108"/>
            <a:ext cx="4867274" cy="2063893"/>
            <a:chOff x="4876800" y="1787411"/>
            <a:chExt cx="4867274" cy="2063893"/>
          </a:xfrm>
        </p:grpSpPr>
        <p:grpSp>
          <p:nvGrpSpPr>
            <p:cNvPr id="44" name="Group 2">
              <a:extLst>
                <a:ext uri="{FF2B5EF4-FFF2-40B4-BE49-F238E27FC236}">
                  <a16:creationId xmlns:a16="http://schemas.microsoft.com/office/drawing/2014/main" id="{1F6D6C85-F45D-F7AA-27F2-1BCAE4CED7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76800" y="1787411"/>
              <a:ext cx="4857750" cy="2063893"/>
              <a:chOff x="7766" y="6557"/>
              <a:chExt cx="3457" cy="1958"/>
            </a:xfrm>
          </p:grpSpPr>
          <p:sp>
            <p:nvSpPr>
              <p:cNvPr id="45" name="Text Box 3">
                <a:extLst>
                  <a:ext uri="{FF2B5EF4-FFF2-40B4-BE49-F238E27FC236}">
                    <a16:creationId xmlns:a16="http://schemas.microsoft.com/office/drawing/2014/main" id="{EF2F7F1D-D3DB-8034-0CF2-90120A8BD6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61" y="7164"/>
                <a:ext cx="1040" cy="42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spcAft>
                    <a:spcPts val="1000"/>
                  </a:spcAft>
                </a:pPr>
                <a:r>
                  <a:rPr lang="fr-FR" sz="1200" b="1">
                    <a:latin typeface="Bookman Old Style" panose="02050604050505020204" pitchFamily="18" charset="0"/>
                  </a:rPr>
                  <a:t>1000µF</a:t>
                </a:r>
              </a:p>
            </p:txBody>
          </p:sp>
          <p:sp>
            <p:nvSpPr>
              <p:cNvPr id="47" name="Text Box 4">
                <a:extLst>
                  <a:ext uri="{FF2B5EF4-FFF2-40B4-BE49-F238E27FC236}">
                    <a16:creationId xmlns:a16="http://schemas.microsoft.com/office/drawing/2014/main" id="{20B63A50-1D43-B2B0-9F30-8B08F87E4E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39" y="7756"/>
                <a:ext cx="1426" cy="42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spcAft>
                    <a:spcPts val="1000"/>
                  </a:spcAft>
                </a:pPr>
                <a:r>
                  <a:rPr lang="fr-FR" sz="1200" b="1">
                    <a:latin typeface="Bookman Old Style" panose="02050604050505020204" pitchFamily="18" charset="0"/>
                  </a:rPr>
                  <a:t>6.2V – 200mA</a:t>
                </a:r>
              </a:p>
            </p:txBody>
          </p:sp>
          <p:sp>
            <p:nvSpPr>
              <p:cNvPr id="48" name="Text Box 5">
                <a:extLst>
                  <a:ext uri="{FF2B5EF4-FFF2-40B4-BE49-F238E27FC236}">
                    <a16:creationId xmlns:a16="http://schemas.microsoft.com/office/drawing/2014/main" id="{DEA0C2DA-3F70-4D54-3C46-643F49DE49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05" y="8095"/>
                <a:ext cx="390" cy="42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spcAft>
                    <a:spcPts val="1000"/>
                  </a:spcAft>
                </a:pPr>
                <a:r>
                  <a:rPr lang="fr-FR" sz="1200" b="1">
                    <a:latin typeface="Bookman Old Style" panose="02050604050505020204" pitchFamily="18" charset="0"/>
                  </a:rPr>
                  <a:t>–</a:t>
                </a:r>
              </a:p>
            </p:txBody>
          </p:sp>
          <p:sp>
            <p:nvSpPr>
              <p:cNvPr id="49" name="Text Box 6">
                <a:extLst>
                  <a:ext uri="{FF2B5EF4-FFF2-40B4-BE49-F238E27FC236}">
                    <a16:creationId xmlns:a16="http://schemas.microsoft.com/office/drawing/2014/main" id="{5731D00C-14D5-9C0F-8DC6-A4FFF646BE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454" y="6557"/>
                <a:ext cx="390" cy="3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spcAft>
                    <a:spcPts val="1000"/>
                  </a:spcAft>
                </a:pPr>
                <a:r>
                  <a:rPr lang="fr-FR" sz="1200" b="1">
                    <a:latin typeface="Bookman Old Style" panose="02050604050505020204" pitchFamily="18" charset="0"/>
                  </a:rPr>
                  <a:t>+</a:t>
                </a:r>
              </a:p>
            </p:txBody>
          </p:sp>
          <p:sp>
            <p:nvSpPr>
              <p:cNvPr id="50" name="Text Box 7">
                <a:extLst>
                  <a:ext uri="{FF2B5EF4-FFF2-40B4-BE49-F238E27FC236}">
                    <a16:creationId xmlns:a16="http://schemas.microsoft.com/office/drawing/2014/main" id="{7B8A6213-7AC8-3ADD-1E71-BA09206460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658" y="7239"/>
                <a:ext cx="565" cy="42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spcAft>
                    <a:spcPts val="1000"/>
                  </a:spcAft>
                </a:pPr>
                <a:r>
                  <a:rPr lang="fr-FR" sz="1200" b="1">
                    <a:latin typeface="Bookman Old Style" panose="02050604050505020204" pitchFamily="18" charset="0"/>
                  </a:rPr>
                  <a:t>R</a:t>
                </a:r>
                <a:r>
                  <a:rPr lang="fr-FR" sz="1200" b="1" baseline="-25000">
                    <a:latin typeface="Bookman Old Style" panose="02050604050505020204" pitchFamily="18" charset="0"/>
                  </a:rPr>
                  <a:t>L</a:t>
                </a:r>
                <a:endParaRPr lang="fr-FR" sz="1200" b="1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51" name="Text Box 8">
                <a:extLst>
                  <a:ext uri="{FF2B5EF4-FFF2-40B4-BE49-F238E27FC236}">
                    <a16:creationId xmlns:a16="http://schemas.microsoft.com/office/drawing/2014/main" id="{0A5DA4B6-F276-9537-573F-F8873D2C26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89" y="6869"/>
                <a:ext cx="825" cy="42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spcAft>
                    <a:spcPts val="1000"/>
                  </a:spcAft>
                </a:pPr>
                <a:r>
                  <a:rPr lang="fr-FR" sz="1200" b="1" dirty="0">
                    <a:latin typeface="Bookman Old Style" panose="02050604050505020204" pitchFamily="18" charset="0"/>
                  </a:rPr>
                  <a:t>10</a:t>
                </a:r>
                <a:r>
                  <a:rPr lang="fr-FR" sz="1200" b="1" dirty="0">
                    <a:latin typeface="Symbol" pitchFamily="18" charset="2"/>
                  </a:rPr>
                  <a:t>W</a:t>
                </a:r>
                <a:endParaRPr lang="fr-FR" sz="1200" b="1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52" name="Text Box 9">
                <a:extLst>
                  <a:ext uri="{FF2B5EF4-FFF2-40B4-BE49-F238E27FC236}">
                    <a16:creationId xmlns:a16="http://schemas.microsoft.com/office/drawing/2014/main" id="{9909150D-298E-2ABC-0A19-95AFA3C2A7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66" y="7382"/>
                <a:ext cx="407" cy="32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spcAft>
                    <a:spcPts val="1000"/>
                  </a:spcAft>
                </a:pPr>
                <a:r>
                  <a:rPr lang="fr-FR" sz="1200" b="1">
                    <a:latin typeface="Bookman Old Style" panose="02050604050505020204" pitchFamily="18" charset="0"/>
                  </a:rPr>
                  <a:t>9V</a:t>
                </a:r>
              </a:p>
            </p:txBody>
          </p:sp>
          <p:sp>
            <p:nvSpPr>
              <p:cNvPr id="53" name="Text Box 10">
                <a:extLst>
                  <a:ext uri="{FF2B5EF4-FFF2-40B4-BE49-F238E27FC236}">
                    <a16:creationId xmlns:a16="http://schemas.microsoft.com/office/drawing/2014/main" id="{E319FA7E-BF69-8BD5-2001-BFD9225468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72" y="7499"/>
                <a:ext cx="390" cy="42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spcAft>
                    <a:spcPts val="1000"/>
                  </a:spcAft>
                </a:pPr>
                <a:r>
                  <a:rPr lang="fr-FR" sz="1200" b="1">
                    <a:latin typeface="Bookman Old Style" panose="02050604050505020204" pitchFamily="18" charset="0"/>
                  </a:rPr>
                  <a:t>–</a:t>
                </a:r>
              </a:p>
            </p:txBody>
          </p:sp>
          <p:sp>
            <p:nvSpPr>
              <p:cNvPr id="54" name="Text Box 11">
                <a:extLst>
                  <a:ext uri="{FF2B5EF4-FFF2-40B4-BE49-F238E27FC236}">
                    <a16:creationId xmlns:a16="http://schemas.microsoft.com/office/drawing/2014/main" id="{95AEE8B9-50BD-2BDF-E725-08443CD7AB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72" y="7179"/>
                <a:ext cx="390" cy="42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spcAft>
                    <a:spcPts val="1000"/>
                  </a:spcAft>
                </a:pPr>
                <a:r>
                  <a:rPr lang="fr-FR" sz="1200" b="1">
                    <a:latin typeface="Bookman Old Style" panose="02050604050505020204" pitchFamily="18" charset="0"/>
                  </a:rPr>
                  <a:t>+</a:t>
                </a:r>
              </a:p>
            </p:txBody>
          </p:sp>
          <p:cxnSp>
            <p:nvCxnSpPr>
              <p:cNvPr id="55" name="AutoShape 12">
                <a:extLst>
                  <a:ext uri="{FF2B5EF4-FFF2-40B4-BE49-F238E27FC236}">
                    <a16:creationId xmlns:a16="http://schemas.microsoft.com/office/drawing/2014/main" id="{C6251D3C-AF28-AEEA-88AC-9CAE0044EF1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339" y="6804"/>
                <a:ext cx="2266" cy="0"/>
              </a:xfrm>
              <a:prstGeom prst="straightConnector1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AutoShape 13">
                <a:extLst>
                  <a:ext uri="{FF2B5EF4-FFF2-40B4-BE49-F238E27FC236}">
                    <a16:creationId xmlns:a16="http://schemas.microsoft.com/office/drawing/2014/main" id="{ABCF9EBA-222F-8C1E-A522-574F2C87FAF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347" y="8184"/>
                <a:ext cx="2266" cy="0"/>
              </a:xfrm>
              <a:prstGeom prst="straightConnector1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AutoShape 14">
                <a:extLst>
                  <a:ext uri="{FF2B5EF4-FFF2-40B4-BE49-F238E27FC236}">
                    <a16:creationId xmlns:a16="http://schemas.microsoft.com/office/drawing/2014/main" id="{0198CB13-8065-E0A5-0A75-4FC533B1F99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339" y="6804"/>
                <a:ext cx="0" cy="645"/>
              </a:xfrm>
              <a:prstGeom prst="straightConnector1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AutoShape 15">
                <a:extLst>
                  <a:ext uri="{FF2B5EF4-FFF2-40B4-BE49-F238E27FC236}">
                    <a16:creationId xmlns:a16="http://schemas.microsoft.com/office/drawing/2014/main" id="{799B761B-72F3-ED57-F4B4-52C10FC741F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339" y="7539"/>
                <a:ext cx="0" cy="645"/>
              </a:xfrm>
              <a:prstGeom prst="straightConnector1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AutoShape 16">
                <a:extLst>
                  <a:ext uri="{FF2B5EF4-FFF2-40B4-BE49-F238E27FC236}">
                    <a16:creationId xmlns:a16="http://schemas.microsoft.com/office/drawing/2014/main" id="{E6945277-EAA3-FBA2-5BF1-41C0CD40921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115" y="7449"/>
                <a:ext cx="420" cy="0"/>
              </a:xfrm>
              <a:prstGeom prst="straightConnector1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AutoShape 17">
                <a:extLst>
                  <a:ext uri="{FF2B5EF4-FFF2-40B4-BE49-F238E27FC236}">
                    <a16:creationId xmlns:a16="http://schemas.microsoft.com/office/drawing/2014/main" id="{354538CA-1212-EE04-32CD-86D21A4B628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234" y="7539"/>
                <a:ext cx="181" cy="0"/>
              </a:xfrm>
              <a:prstGeom prst="straightConnector1">
                <a:avLst/>
              </a:prstGeom>
              <a:ln>
                <a:headEnd/>
                <a:tailEnd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AutoShape 18">
                <a:extLst>
                  <a:ext uri="{FF2B5EF4-FFF2-40B4-BE49-F238E27FC236}">
                    <a16:creationId xmlns:a16="http://schemas.microsoft.com/office/drawing/2014/main" id="{B66D0AA2-25BC-213A-9432-C161654825F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909" y="6804"/>
                <a:ext cx="0" cy="645"/>
              </a:xfrm>
              <a:prstGeom prst="straightConnector1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AutoShape 19">
                <a:extLst>
                  <a:ext uri="{FF2B5EF4-FFF2-40B4-BE49-F238E27FC236}">
                    <a16:creationId xmlns:a16="http://schemas.microsoft.com/office/drawing/2014/main" id="{356EA79C-86B1-29AA-18F3-20D5A9A5F03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909" y="7539"/>
                <a:ext cx="0" cy="645"/>
              </a:xfrm>
              <a:prstGeom prst="straightConnector1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AutoShape 20">
                <a:extLst>
                  <a:ext uri="{FF2B5EF4-FFF2-40B4-BE49-F238E27FC236}">
                    <a16:creationId xmlns:a16="http://schemas.microsoft.com/office/drawing/2014/main" id="{97E736CB-8EFF-9043-3FB8-4584DA9A748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0020" y="6804"/>
                <a:ext cx="0" cy="1380"/>
              </a:xfrm>
              <a:prstGeom prst="straightConnector1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" name="AutoShape 21">
                <a:extLst>
                  <a:ext uri="{FF2B5EF4-FFF2-40B4-BE49-F238E27FC236}">
                    <a16:creationId xmlns:a16="http://schemas.microsoft.com/office/drawing/2014/main" id="{9204C085-F802-6C40-D4F3-C46194ED536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0610" y="6804"/>
                <a:ext cx="0" cy="1380"/>
              </a:xfrm>
              <a:prstGeom prst="straightConnector1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5" name="Rectangle 22">
                <a:extLst>
                  <a:ext uri="{FF2B5EF4-FFF2-40B4-BE49-F238E27FC236}">
                    <a16:creationId xmlns:a16="http://schemas.microsoft.com/office/drawing/2014/main" id="{D86BC716-F4F0-E0D4-2F83-D16C9281DE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35" y="7179"/>
                <a:ext cx="143" cy="554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>
                  <a:defRPr/>
                </a:pPr>
                <a:endParaRPr lang="fr-FR" sz="120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66" name="Rectangle 23">
                <a:extLst>
                  <a:ext uri="{FF2B5EF4-FFF2-40B4-BE49-F238E27FC236}">
                    <a16:creationId xmlns:a16="http://schemas.microsoft.com/office/drawing/2014/main" id="{C81D0162-30CD-1B78-37DE-696341A95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4" y="6729"/>
                <a:ext cx="580" cy="143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>
                  <a:defRPr/>
                </a:pPr>
                <a:endParaRPr lang="fr-FR" sz="120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67" name="AutoShape 24">
                <a:extLst>
                  <a:ext uri="{FF2B5EF4-FFF2-40B4-BE49-F238E27FC236}">
                    <a16:creationId xmlns:a16="http://schemas.microsoft.com/office/drawing/2014/main" id="{EEAA5E7A-F4CE-B3A4-523F-440FDDD8F2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99" y="7373"/>
                <a:ext cx="246" cy="226"/>
              </a:xfrm>
              <a:prstGeom prst="triangle">
                <a:avLst>
                  <a:gd name="adj" fmla="val 50000"/>
                </a:avLst>
              </a:prstGeom>
              <a:ln>
                <a:headEnd/>
                <a:tailEnd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>
                  <a:defRPr/>
                </a:pPr>
                <a:endParaRPr lang="fr-FR" sz="1200">
                  <a:latin typeface="Bookman Old Style" panose="02050604050505020204" pitchFamily="18" charset="0"/>
                </a:endParaRPr>
              </a:p>
            </p:txBody>
          </p:sp>
          <p:cxnSp>
            <p:nvCxnSpPr>
              <p:cNvPr id="68" name="AutoShape 25">
                <a:extLst>
                  <a:ext uri="{FF2B5EF4-FFF2-40B4-BE49-F238E27FC236}">
                    <a16:creationId xmlns:a16="http://schemas.microsoft.com/office/drawing/2014/main" id="{A939D4E5-B508-9C24-7989-040A06A7B72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6200000" flipV="1">
                <a:off x="9910" y="7225"/>
                <a:ext cx="227" cy="310"/>
              </a:xfrm>
              <a:prstGeom prst="bentConnector3">
                <a:avLst>
                  <a:gd name="adj1" fmla="val 49856"/>
                </a:avLst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AutoShape 26">
                <a:extLst>
                  <a:ext uri="{FF2B5EF4-FFF2-40B4-BE49-F238E27FC236}">
                    <a16:creationId xmlns:a16="http://schemas.microsoft.com/office/drawing/2014/main" id="{DEED0052-A2BE-A060-470D-6CB39F05AA8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745" y="7449"/>
                <a:ext cx="298" cy="0"/>
              </a:xfrm>
              <a:prstGeom prst="straightConnector1">
                <a:avLst/>
              </a:prstGeom>
              <a:ln>
                <a:headEnd/>
                <a:tailEnd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AutoShape 27">
                <a:extLst>
                  <a:ext uri="{FF2B5EF4-FFF2-40B4-BE49-F238E27FC236}">
                    <a16:creationId xmlns:a16="http://schemas.microsoft.com/office/drawing/2014/main" id="{8CB370BE-1DB3-0D57-4615-EEDF8D24936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745" y="7539"/>
                <a:ext cx="298" cy="0"/>
              </a:xfrm>
              <a:prstGeom prst="straightConnector1">
                <a:avLst/>
              </a:prstGeom>
              <a:ln>
                <a:headEnd/>
                <a:tailEnd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71" name="Connecteur droit avec flèche 32">
              <a:extLst>
                <a:ext uri="{FF2B5EF4-FFF2-40B4-BE49-F238E27FC236}">
                  <a16:creationId xmlns:a16="http://schemas.microsoft.com/office/drawing/2014/main" id="{DA783550-B394-9FB7-FD5F-60FE0A55C07B}"/>
                </a:ext>
              </a:extLst>
            </p:cNvPr>
            <p:cNvCxnSpPr/>
            <p:nvPr/>
          </p:nvCxnSpPr>
          <p:spPr>
            <a:xfrm rot="5400000" flipH="1" flipV="1">
              <a:off x="8770938" y="2744816"/>
              <a:ext cx="1357312" cy="1588"/>
            </a:xfrm>
            <a:prstGeom prst="straightConnector1">
              <a:avLst/>
            </a:prstGeom>
            <a:ln>
              <a:solidFill>
                <a:srgbClr val="CC00CC"/>
              </a:solidFill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72" name="ZoneTexte 33">
              <a:extLst>
                <a:ext uri="{FF2B5EF4-FFF2-40B4-BE49-F238E27FC236}">
                  <a16:creationId xmlns:a16="http://schemas.microsoft.com/office/drawing/2014/main" id="{14F55BFE-F1DE-FCA0-2265-C73AE1E03BD1}"/>
                </a:ext>
              </a:extLst>
            </p:cNvPr>
            <p:cNvSpPr txBox="1"/>
            <p:nvPr/>
          </p:nvSpPr>
          <p:spPr>
            <a:xfrm>
              <a:off x="9448800" y="2565429"/>
              <a:ext cx="295274" cy="2769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 sz="1200" b="1" dirty="0">
                  <a:latin typeface="Bookman Old Style" panose="02050604050505020204" pitchFamily="18" charset="0"/>
                </a:rPr>
                <a:t>V</a:t>
              </a:r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A2283710-43BD-5AD1-237A-C7C4458DF00B}"/>
              </a:ext>
            </a:extLst>
          </p:cNvPr>
          <p:cNvSpPr txBox="1"/>
          <p:nvPr/>
        </p:nvSpPr>
        <p:spPr>
          <a:xfrm>
            <a:off x="498624" y="1525111"/>
            <a:ext cx="8682137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0" hangingPunct="0">
              <a:defRPr/>
            </a:pPr>
            <a:r>
              <a:rPr lang="fr-FR" sz="1300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Elle est utilisée pour </a:t>
            </a:r>
            <a:r>
              <a:rPr lang="fr-FR" sz="1300" b="1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réaliser des alimentations stabilisées</a:t>
            </a:r>
            <a:r>
              <a:rPr lang="fr-FR" sz="1300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.</a:t>
            </a:r>
            <a:endParaRPr lang="fr-FR" sz="1300" dirty="0">
              <a:latin typeface="Bookman Old Style" panose="02050604050505020204" pitchFamily="18" charset="0"/>
              <a:cs typeface="Arial" pitchFamily="34" charset="0"/>
            </a:endParaRPr>
          </a:p>
          <a:p>
            <a:pPr algn="just" eaLnBrk="0" hangingPunct="0">
              <a:defRPr/>
            </a:pPr>
            <a:r>
              <a:rPr lang="fr-FR" sz="1300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Le schéma le plus simple est le suivant :</a:t>
            </a:r>
            <a:r>
              <a:rPr lang="fr-FR" sz="1300" dirty="0">
                <a:latin typeface="Bookman Old Style" panose="02050604050505020204" pitchFamily="18" charset="0"/>
                <a:cs typeface="Arial" pitchFamily="34" charset="0"/>
              </a:rPr>
              <a:t> </a:t>
            </a:r>
            <a:r>
              <a:rPr lang="fr-FR" sz="1300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Lorsque la tension aux bornes d'entrée </a:t>
            </a:r>
            <a:r>
              <a:rPr lang="fr-FR" sz="1300" b="1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croît</a:t>
            </a:r>
            <a:r>
              <a:rPr lang="fr-FR" sz="1300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 et </a:t>
            </a:r>
            <a:r>
              <a:rPr lang="fr-FR" sz="1300" b="1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dépasse</a:t>
            </a:r>
            <a:r>
              <a:rPr lang="fr-FR" sz="1300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 la </a:t>
            </a:r>
            <a:r>
              <a:rPr lang="fr-FR" sz="1300" b="1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tension </a:t>
            </a:r>
            <a:r>
              <a:rPr lang="fr-FR" sz="1300" b="1" dirty="0" err="1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zener</a:t>
            </a:r>
            <a:r>
              <a:rPr lang="fr-FR" sz="1300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, </a:t>
            </a:r>
            <a:r>
              <a:rPr lang="fr-FR" sz="1300" dirty="0">
                <a:latin typeface="Bookman Old Style" panose="02050604050505020204" pitchFamily="18" charset="0"/>
                <a:cs typeface="Arial" pitchFamily="34" charset="0"/>
              </a:rPr>
              <a:t> </a:t>
            </a:r>
            <a:r>
              <a:rPr lang="fr-FR" sz="1300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le </a:t>
            </a:r>
            <a:r>
              <a:rPr lang="fr-FR" sz="1300" b="1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courant dans la diode augmente</a:t>
            </a:r>
            <a:r>
              <a:rPr lang="fr-FR" sz="1300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, mais la </a:t>
            </a:r>
            <a:r>
              <a:rPr lang="fr-FR" sz="1300" b="1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tension de sortie reste constante </a:t>
            </a:r>
            <a:r>
              <a:rPr lang="fr-FR" sz="1300" b="1" dirty="0">
                <a:latin typeface="Bookman Old Style" panose="02050604050505020204" pitchFamily="18" charset="0"/>
                <a:cs typeface="Arial" pitchFamily="34" charset="0"/>
              </a:rPr>
              <a:t> </a:t>
            </a:r>
            <a:r>
              <a:rPr lang="fr-FR" sz="1300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et vaut </a:t>
            </a:r>
            <a:r>
              <a:rPr lang="fr-FR" sz="1300" b="1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la tension de </a:t>
            </a:r>
            <a:r>
              <a:rPr lang="fr-FR" sz="1300" b="1" dirty="0" err="1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zener</a:t>
            </a:r>
            <a:r>
              <a:rPr lang="fr-FR" sz="1300" b="1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 de la diode choisie</a:t>
            </a:r>
            <a:r>
              <a:rPr lang="fr-FR" sz="1300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. </a:t>
            </a:r>
          </a:p>
          <a:p>
            <a:pPr algn="just" eaLnBrk="0" hangingPunct="0">
              <a:defRPr/>
            </a:pPr>
            <a:r>
              <a:rPr lang="fr-FR" sz="1300" b="1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Si</a:t>
            </a:r>
            <a:r>
              <a:rPr lang="fr-FR" sz="1300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 la </a:t>
            </a:r>
            <a:r>
              <a:rPr lang="fr-FR" sz="1300" b="1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résistance en série est faible</a:t>
            </a:r>
            <a:r>
              <a:rPr lang="fr-FR" sz="1300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, le courant dans la diode devient rapidement important</a:t>
            </a:r>
            <a:r>
              <a:rPr lang="fr-FR" sz="1300" dirty="0">
                <a:latin typeface="Bookman Old Style" panose="02050604050505020204" pitchFamily="18" charset="0"/>
                <a:cs typeface="Arial" pitchFamily="34" charset="0"/>
              </a:rPr>
              <a:t> </a:t>
            </a:r>
            <a:r>
              <a:rPr lang="fr-FR" sz="1300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et nécessite l'emploi d'une diode de puissance coûteuse montée sur un radiateur,</a:t>
            </a:r>
            <a:r>
              <a:rPr lang="fr-FR" sz="1300" dirty="0">
                <a:latin typeface="Bookman Old Style" panose="02050604050505020204" pitchFamily="18" charset="0"/>
                <a:cs typeface="Arial" pitchFamily="34" charset="0"/>
              </a:rPr>
              <a:t> </a:t>
            </a:r>
            <a:r>
              <a:rPr lang="fr-FR" sz="1300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c'est pourquoi ce schéma est peu utilisé.</a:t>
            </a:r>
            <a:endParaRPr lang="fr-FR" sz="1300" dirty="0">
              <a:latin typeface="Bookman Old Style" panose="02050604050505020204" pitchFamily="18" charset="0"/>
              <a:cs typeface="Arial" pitchFamily="34" charset="0"/>
            </a:endParaRPr>
          </a:p>
          <a:p>
            <a:pPr algn="just" eaLnBrk="0" hangingPunct="0">
              <a:defRPr/>
            </a:pPr>
            <a:r>
              <a:rPr lang="fr-FR" sz="1300" b="1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Si</a:t>
            </a:r>
            <a:r>
              <a:rPr lang="fr-FR" sz="1300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 on considère une diode </a:t>
            </a:r>
            <a:r>
              <a:rPr lang="fr-FR" sz="1300" dirty="0" err="1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zener</a:t>
            </a:r>
            <a:r>
              <a:rPr lang="fr-FR" sz="1300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 avec </a:t>
            </a:r>
            <a:r>
              <a:rPr lang="fr-FR" sz="1300" b="1" dirty="0" err="1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Vz</a:t>
            </a:r>
            <a:r>
              <a:rPr lang="fr-FR" sz="1300" b="1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 = 6.2 V</a:t>
            </a:r>
            <a:r>
              <a:rPr lang="fr-FR" sz="1300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, </a:t>
            </a:r>
            <a:r>
              <a:rPr lang="fr-FR" sz="1300" dirty="0">
                <a:latin typeface="Bookman Old Style" panose="02050604050505020204" pitchFamily="18" charset="0"/>
                <a:cs typeface="Arial" pitchFamily="34" charset="0"/>
              </a:rPr>
              <a:t> </a:t>
            </a:r>
            <a:r>
              <a:rPr lang="fr-FR" sz="1300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alimentée par une source de </a:t>
            </a:r>
            <a:r>
              <a:rPr lang="fr-FR" sz="1300" b="1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9V</a:t>
            </a:r>
            <a:r>
              <a:rPr lang="fr-FR" sz="1300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 et de </a:t>
            </a:r>
            <a:r>
              <a:rPr lang="fr-FR" sz="1300" b="1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0.6</a:t>
            </a:r>
            <a:r>
              <a:rPr lang="fr-FR" sz="1200" b="1" dirty="0">
                <a:latin typeface="Symbol" pitchFamily="18" charset="2"/>
              </a:rPr>
              <a:t>W</a:t>
            </a:r>
            <a:r>
              <a:rPr lang="fr-FR" sz="1300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 de résistance interne,  à travers une résistance série de </a:t>
            </a:r>
            <a:r>
              <a:rPr lang="fr-FR" sz="1300" b="1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10</a:t>
            </a:r>
            <a:r>
              <a:rPr lang="fr-FR" sz="1200" b="1" dirty="0">
                <a:latin typeface="Symbol" pitchFamily="18" charset="2"/>
              </a:rPr>
              <a:t>W</a:t>
            </a:r>
            <a:r>
              <a:rPr lang="fr-FR" sz="1300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. On obtient en sortie une tension de </a:t>
            </a:r>
            <a:r>
              <a:rPr lang="fr-FR" sz="1300" b="1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6.2V</a:t>
            </a:r>
            <a:r>
              <a:rPr lang="fr-FR" sz="1300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, entre </a:t>
            </a:r>
            <a:r>
              <a:rPr lang="fr-FR" sz="1300" b="1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0</a:t>
            </a:r>
            <a:r>
              <a:rPr lang="fr-FR" sz="1300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 et </a:t>
            </a:r>
            <a:r>
              <a:rPr lang="fr-FR" sz="1300" b="1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200mA</a:t>
            </a:r>
            <a:r>
              <a:rPr lang="fr-FR" sz="1300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. </a:t>
            </a:r>
            <a:endParaRPr lang="fr-FR" sz="1300" dirty="0">
              <a:latin typeface="Bookman Old Style" panose="02050604050505020204" pitchFamily="18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83626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6"/>
            <a:ext cx="49800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-Diodes-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762005" y="484817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26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0646" y="557613"/>
            <a:ext cx="64597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7. Autres diodes</a:t>
            </a: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334000" y="361950"/>
            <a:ext cx="3709256" cy="10448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AABEF0B-8696-1739-4009-DF8945C6B300}"/>
              </a:ext>
            </a:extLst>
          </p:cNvPr>
          <p:cNvSpPr txBox="1"/>
          <p:nvPr/>
        </p:nvSpPr>
        <p:spPr>
          <a:xfrm>
            <a:off x="549248" y="1096041"/>
            <a:ext cx="836943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sz="1400" dirty="0">
              <a:latin typeface="Bookman Old Style" panose="02050604050505020204" pitchFamily="18" charset="0"/>
            </a:endParaRPr>
          </a:p>
          <a:p>
            <a:pPr algn="just"/>
            <a:r>
              <a:rPr lang="fr-FR" sz="1400" dirty="0">
                <a:latin typeface="Bookman Old Style" panose="02050604050505020204" pitchFamily="18" charset="0"/>
              </a:rPr>
              <a:t>Une </a:t>
            </a:r>
            <a:r>
              <a:rPr lang="fr-FR" sz="1400" b="1" dirty="0">
                <a:latin typeface="Bookman Old Style" panose="02050604050505020204" pitchFamily="18" charset="0"/>
              </a:rPr>
              <a:t>diode électroluminescente (LED) </a:t>
            </a:r>
            <a:r>
              <a:rPr lang="fr-FR" sz="1400" dirty="0">
                <a:latin typeface="Bookman Old Style" panose="02050604050505020204" pitchFamily="18" charset="0"/>
              </a:rPr>
              <a:t>est un composant optoélectronique qui émet de la lumière monochromatique lorsqu'elle est polarisée en direct, </a:t>
            </a:r>
            <a:r>
              <a:rPr lang="fr-FR" sz="1400" b="1" dirty="0">
                <a:latin typeface="Bookman Old Style" panose="02050604050505020204" pitchFamily="18" charset="0"/>
              </a:rPr>
              <a:t>convertissant l'énergie électrique en lumière.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B698BB-3690-4F05-CDE8-41B064237283}"/>
              </a:ext>
            </a:extLst>
          </p:cNvPr>
          <p:cNvSpPr txBox="1"/>
          <p:nvPr/>
        </p:nvSpPr>
        <p:spPr>
          <a:xfrm>
            <a:off x="549248" y="948731"/>
            <a:ext cx="4588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6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Diodes électroluminescentes</a:t>
            </a:r>
          </a:p>
        </p:txBody>
      </p:sp>
      <p:grpSp>
        <p:nvGrpSpPr>
          <p:cNvPr id="16" name="Group 9">
            <a:extLst>
              <a:ext uri="{FF2B5EF4-FFF2-40B4-BE49-F238E27FC236}">
                <a16:creationId xmlns:a16="http://schemas.microsoft.com/office/drawing/2014/main" id="{05421B1E-5097-3B20-0E5B-6E8E1EE585F9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1832493"/>
            <a:ext cx="1600200" cy="729930"/>
            <a:chOff x="8256" y="11430"/>
            <a:chExt cx="1927" cy="690"/>
          </a:xfrm>
        </p:grpSpPr>
        <p:cxnSp>
          <p:nvCxnSpPr>
            <p:cNvPr id="17" name="AutoShape 10">
              <a:extLst>
                <a:ext uri="{FF2B5EF4-FFF2-40B4-BE49-F238E27FC236}">
                  <a16:creationId xmlns:a16="http://schemas.microsoft.com/office/drawing/2014/main" id="{131A4BBD-9EEC-9CC3-3E3E-736B554BA2B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256" y="11910"/>
              <a:ext cx="1927" cy="0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  <p:sp>
          <p:nvSpPr>
            <p:cNvPr id="20" name="AutoShape 11">
              <a:extLst>
                <a:ext uri="{FF2B5EF4-FFF2-40B4-BE49-F238E27FC236}">
                  <a16:creationId xmlns:a16="http://schemas.microsoft.com/office/drawing/2014/main" id="{CEE40C37-181E-1CA8-1C0D-CA509F913C6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9066" y="11744"/>
              <a:ext cx="346" cy="331"/>
            </a:xfrm>
            <a:prstGeom prst="triangle">
              <a:avLst>
                <a:gd name="adj" fmla="val 50000"/>
              </a:avLst>
            </a:prstGeom>
            <a:solidFill>
              <a:srgbClr val="00FF00"/>
            </a:solidFill>
            <a:ln>
              <a:headEnd/>
              <a:tailE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fr-FR"/>
            </a:p>
          </p:txBody>
        </p:sp>
        <p:cxnSp>
          <p:nvCxnSpPr>
            <p:cNvPr id="21" name="AutoShape 12">
              <a:extLst>
                <a:ext uri="{FF2B5EF4-FFF2-40B4-BE49-F238E27FC236}">
                  <a16:creationId xmlns:a16="http://schemas.microsoft.com/office/drawing/2014/main" id="{6C7EEC1D-6C65-CDA7-41BC-0A8B9F3775A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435" y="11685"/>
              <a:ext cx="0" cy="435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  <p:cxnSp>
          <p:nvCxnSpPr>
            <p:cNvPr id="22" name="AutoShape 13">
              <a:extLst>
                <a:ext uri="{FF2B5EF4-FFF2-40B4-BE49-F238E27FC236}">
                  <a16:creationId xmlns:a16="http://schemas.microsoft.com/office/drawing/2014/main" id="{D05DD18D-B576-4B1C-B3FD-F1045A56754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179" y="11430"/>
              <a:ext cx="151" cy="225"/>
            </a:xfrm>
            <a:prstGeom prst="straightConnector1">
              <a:avLst/>
            </a:prstGeom>
            <a:ln>
              <a:solidFill>
                <a:srgbClr val="C00000"/>
              </a:solidFill>
              <a:headEnd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AutoShape 14">
              <a:extLst>
                <a:ext uri="{FF2B5EF4-FFF2-40B4-BE49-F238E27FC236}">
                  <a16:creationId xmlns:a16="http://schemas.microsoft.com/office/drawing/2014/main" id="{A7750771-3655-8A57-F50C-733E7FF7169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359" y="11430"/>
              <a:ext cx="151" cy="225"/>
            </a:xfrm>
            <a:prstGeom prst="straightConnector1">
              <a:avLst/>
            </a:prstGeom>
            <a:ln>
              <a:solidFill>
                <a:srgbClr val="0000FF"/>
              </a:solidFill>
              <a:headEnd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A302D245-32C0-2993-F489-147CC469F315}"/>
              </a:ext>
            </a:extLst>
          </p:cNvPr>
          <p:cNvSpPr txBox="1"/>
          <p:nvPr/>
        </p:nvSpPr>
        <p:spPr>
          <a:xfrm>
            <a:off x="576301" y="3362468"/>
            <a:ext cx="83694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charset="0"/>
              <a:buNone/>
            </a:pPr>
            <a:r>
              <a:rPr lang="fr-FR" sz="1400" dirty="0">
                <a:latin typeface="Bookman Old Style" panose="02050604050505020204" pitchFamily="18" charset="0"/>
              </a:rPr>
              <a:t>Une </a:t>
            </a:r>
            <a:r>
              <a:rPr lang="fr-FR" sz="1400" b="1" dirty="0">
                <a:latin typeface="Bookman Old Style" panose="02050604050505020204" pitchFamily="18" charset="0"/>
              </a:rPr>
              <a:t>photodiode</a:t>
            </a:r>
            <a:r>
              <a:rPr lang="fr-FR" sz="1400" dirty="0">
                <a:latin typeface="Bookman Old Style" panose="02050604050505020204" pitchFamily="18" charset="0"/>
              </a:rPr>
              <a:t> est un composant semi-conducteur ayant </a:t>
            </a:r>
            <a:r>
              <a:rPr lang="fr-FR" sz="1400" b="1" dirty="0">
                <a:latin typeface="Bookman Old Style" panose="02050604050505020204" pitchFamily="18" charset="0"/>
              </a:rPr>
              <a:t>la capacité de détecter un rayonnement</a:t>
            </a:r>
            <a:r>
              <a:rPr lang="fr-FR" sz="1400" dirty="0">
                <a:latin typeface="Bookman Old Style" panose="02050604050505020204" pitchFamily="18" charset="0"/>
              </a:rPr>
              <a:t> du domaine optique et de le </a:t>
            </a:r>
            <a:r>
              <a:rPr lang="fr-FR" sz="1400" b="1" dirty="0">
                <a:latin typeface="Bookman Old Style" panose="02050604050505020204" pitchFamily="18" charset="0"/>
              </a:rPr>
              <a:t>transformer en signal électrique</a:t>
            </a:r>
            <a:r>
              <a:rPr lang="fr-FR" sz="1400" dirty="0">
                <a:latin typeface="Bookman Old Style" panose="02050604050505020204" pitchFamily="18" charset="0"/>
              </a:rPr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0DDEF9-1CC9-3798-0410-2E181B606ED1}"/>
              </a:ext>
            </a:extLst>
          </p:cNvPr>
          <p:cNvSpPr txBox="1"/>
          <p:nvPr/>
        </p:nvSpPr>
        <p:spPr>
          <a:xfrm>
            <a:off x="576301" y="2885939"/>
            <a:ext cx="4588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6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Photodiodes</a:t>
            </a:r>
          </a:p>
        </p:txBody>
      </p:sp>
      <p:grpSp>
        <p:nvGrpSpPr>
          <p:cNvPr id="26" name="Group 2">
            <a:extLst>
              <a:ext uri="{FF2B5EF4-FFF2-40B4-BE49-F238E27FC236}">
                <a16:creationId xmlns:a16="http://schemas.microsoft.com/office/drawing/2014/main" id="{1C13CA59-BA39-8BD7-AEC3-0B9F676351D9}"/>
              </a:ext>
            </a:extLst>
          </p:cNvPr>
          <p:cNvGrpSpPr>
            <a:grpSpLocks/>
          </p:cNvGrpSpPr>
          <p:nvPr/>
        </p:nvGrpSpPr>
        <p:grpSpPr bwMode="auto">
          <a:xfrm>
            <a:off x="3780523" y="4283200"/>
            <a:ext cx="1862137" cy="662981"/>
            <a:chOff x="8218" y="14585"/>
            <a:chExt cx="1927" cy="690"/>
          </a:xfrm>
        </p:grpSpPr>
        <p:cxnSp>
          <p:nvCxnSpPr>
            <p:cNvPr id="27" name="AutoShape 3">
              <a:extLst>
                <a:ext uri="{FF2B5EF4-FFF2-40B4-BE49-F238E27FC236}">
                  <a16:creationId xmlns:a16="http://schemas.microsoft.com/office/drawing/2014/main" id="{E0C4F4DD-ADA9-5B01-70A2-08B33B1E42D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218" y="15065"/>
              <a:ext cx="1927" cy="0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  <p:sp>
          <p:nvSpPr>
            <p:cNvPr id="28" name="AutoShape 4">
              <a:extLst>
                <a:ext uri="{FF2B5EF4-FFF2-40B4-BE49-F238E27FC236}">
                  <a16:creationId xmlns:a16="http://schemas.microsoft.com/office/drawing/2014/main" id="{48EEBFD5-6A2F-22F5-BF35-33474DB48D7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9028" y="14900"/>
              <a:ext cx="346" cy="329"/>
            </a:xfrm>
            <a:prstGeom prst="triangle">
              <a:avLst>
                <a:gd name="adj" fmla="val 50000"/>
              </a:avLst>
            </a:prstGeom>
            <a:solidFill>
              <a:srgbClr val="00FF00"/>
            </a:solidFill>
            <a:ln>
              <a:headEnd/>
              <a:tailE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fr-FR"/>
            </a:p>
          </p:txBody>
        </p:sp>
        <p:cxnSp>
          <p:nvCxnSpPr>
            <p:cNvPr id="29" name="AutoShape 5">
              <a:extLst>
                <a:ext uri="{FF2B5EF4-FFF2-40B4-BE49-F238E27FC236}">
                  <a16:creationId xmlns:a16="http://schemas.microsoft.com/office/drawing/2014/main" id="{E1DA3F6A-CC70-F4FC-4A66-FAFB71EDEAD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396" y="14840"/>
              <a:ext cx="0" cy="435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  <p:cxnSp>
          <p:nvCxnSpPr>
            <p:cNvPr id="30" name="AutoShape 6">
              <a:extLst>
                <a:ext uri="{FF2B5EF4-FFF2-40B4-BE49-F238E27FC236}">
                  <a16:creationId xmlns:a16="http://schemas.microsoft.com/office/drawing/2014/main" id="{A7E2094A-A28B-5B06-41AB-3B331517CC5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9141" y="14585"/>
              <a:ext cx="151" cy="225"/>
            </a:xfrm>
            <a:prstGeom prst="straightConnector1">
              <a:avLst/>
            </a:prstGeom>
            <a:ln>
              <a:solidFill>
                <a:srgbClr val="FF9900"/>
              </a:solidFill>
              <a:headEnd type="arrow" w="med" len="med"/>
              <a:tailE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  <p:cxnSp>
          <p:nvCxnSpPr>
            <p:cNvPr id="31" name="AutoShape 7">
              <a:extLst>
                <a:ext uri="{FF2B5EF4-FFF2-40B4-BE49-F238E27FC236}">
                  <a16:creationId xmlns:a16="http://schemas.microsoft.com/office/drawing/2014/main" id="{6539B70B-10E0-DF59-757B-D8FDB8FD91B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8916" y="14585"/>
              <a:ext cx="151" cy="225"/>
            </a:xfrm>
            <a:prstGeom prst="straightConnector1">
              <a:avLst/>
            </a:prstGeom>
            <a:ln>
              <a:solidFill>
                <a:srgbClr val="FF9900"/>
              </a:solidFill>
              <a:headEnd type="arrow" w="med" len="med"/>
              <a:tailE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29174216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6"/>
            <a:ext cx="49800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-Diodes-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762005" y="484817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27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0646" y="557613"/>
            <a:ext cx="64597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7. Autres diodes</a:t>
            </a: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334000" y="361950"/>
            <a:ext cx="3709256" cy="10448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4B698BB-3690-4F05-CDE8-41B064237283}"/>
              </a:ext>
            </a:extLst>
          </p:cNvPr>
          <p:cNvSpPr txBox="1"/>
          <p:nvPr/>
        </p:nvSpPr>
        <p:spPr>
          <a:xfrm>
            <a:off x="452136" y="964674"/>
            <a:ext cx="4588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6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Diodes de Schottky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0DDEF9-1CC9-3798-0410-2E181B606ED1}"/>
              </a:ext>
            </a:extLst>
          </p:cNvPr>
          <p:cNvSpPr txBox="1"/>
          <p:nvPr/>
        </p:nvSpPr>
        <p:spPr>
          <a:xfrm>
            <a:off x="535965" y="2571750"/>
            <a:ext cx="4588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6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Diode à effet tunnel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3340A6-11BA-66EE-4EBD-7590D76F2DB3}"/>
              </a:ext>
            </a:extLst>
          </p:cNvPr>
          <p:cNvSpPr txBox="1"/>
          <p:nvPr/>
        </p:nvSpPr>
        <p:spPr>
          <a:xfrm>
            <a:off x="477996" y="1340957"/>
            <a:ext cx="86241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400" dirty="0">
                <a:latin typeface="Bookman Old Style" panose="02050604050505020204" pitchFamily="18" charset="0"/>
              </a:rPr>
              <a:t>Une </a:t>
            </a:r>
            <a:r>
              <a:rPr lang="fr-FR" sz="1400" b="1" dirty="0">
                <a:latin typeface="Bookman Old Style" panose="02050604050505020204" pitchFamily="18" charset="0"/>
              </a:rPr>
              <a:t>diode Schottky </a:t>
            </a:r>
            <a:r>
              <a:rPr lang="fr-FR" sz="1400" dirty="0">
                <a:latin typeface="Bookman Old Style" panose="02050604050505020204" pitchFamily="18" charset="0"/>
              </a:rPr>
              <a:t>est une </a:t>
            </a:r>
            <a:r>
              <a:rPr lang="fr-FR" sz="1400" b="1" dirty="0">
                <a:latin typeface="Bookman Old Style" panose="02050604050505020204" pitchFamily="18" charset="0"/>
              </a:rPr>
              <a:t>diode</a:t>
            </a:r>
            <a:r>
              <a:rPr lang="fr-FR" sz="1400" dirty="0">
                <a:latin typeface="Bookman Old Style" panose="02050604050505020204" pitchFamily="18" charset="0"/>
              </a:rPr>
              <a:t> à </a:t>
            </a:r>
            <a:r>
              <a:rPr lang="fr-FR" sz="1400" b="1" dirty="0">
                <a:latin typeface="Bookman Old Style" panose="02050604050505020204" pitchFamily="18" charset="0"/>
              </a:rPr>
              <a:t>faible seuil de tension et temps de commutation rapide</a:t>
            </a:r>
            <a:r>
              <a:rPr lang="fr-FR" sz="1400" dirty="0">
                <a:latin typeface="Bookman Old Style" panose="02050604050505020204" pitchFamily="18" charset="0"/>
              </a:rPr>
              <a:t>, idéale pour la </a:t>
            </a:r>
            <a:r>
              <a:rPr lang="fr-FR" sz="1400" b="1" dirty="0">
                <a:latin typeface="Bookman Old Style" panose="02050604050505020204" pitchFamily="18" charset="0"/>
              </a:rPr>
              <a:t>détection de signaux</a:t>
            </a:r>
            <a:r>
              <a:rPr lang="fr-FR" sz="1400" dirty="0">
                <a:latin typeface="Bookman Old Style" panose="02050604050505020204" pitchFamily="18" charset="0"/>
              </a:rPr>
              <a:t> </a:t>
            </a:r>
            <a:r>
              <a:rPr lang="fr-FR" sz="1400" b="1" dirty="0">
                <a:latin typeface="Bookman Old Style" panose="02050604050505020204" pitchFamily="18" charset="0"/>
              </a:rPr>
              <a:t>haute</a:t>
            </a:r>
            <a:r>
              <a:rPr lang="fr-FR" sz="1400" dirty="0">
                <a:latin typeface="Bookman Old Style" panose="02050604050505020204" pitchFamily="18" charset="0"/>
              </a:rPr>
              <a:t> </a:t>
            </a:r>
            <a:r>
              <a:rPr lang="fr-FR" sz="1400" b="1" dirty="0">
                <a:latin typeface="Bookman Old Style" panose="02050604050505020204" pitchFamily="18" charset="0"/>
              </a:rPr>
              <a:t>fréquence</a:t>
            </a:r>
            <a:r>
              <a:rPr lang="fr-FR" sz="1400" dirty="0">
                <a:latin typeface="Bookman Old Style" panose="02050604050505020204" pitchFamily="18" charset="0"/>
              </a:rPr>
              <a:t> et le </a:t>
            </a:r>
            <a:r>
              <a:rPr lang="fr-FR" sz="1400" b="1" dirty="0">
                <a:latin typeface="Bookman Old Style" panose="02050604050505020204" pitchFamily="18" charset="0"/>
              </a:rPr>
              <a:t>redressement de puissance</a:t>
            </a:r>
            <a:r>
              <a:rPr lang="fr-FR" sz="1400" dirty="0">
                <a:latin typeface="Bookman Old Style" panose="02050604050505020204" pitchFamily="18" charset="0"/>
              </a:rPr>
              <a:t>.</a:t>
            </a:r>
          </a:p>
        </p:txBody>
      </p:sp>
      <p:grpSp>
        <p:nvGrpSpPr>
          <p:cNvPr id="5" name="Groupe 10">
            <a:extLst>
              <a:ext uri="{FF2B5EF4-FFF2-40B4-BE49-F238E27FC236}">
                <a16:creationId xmlns:a16="http://schemas.microsoft.com/office/drawing/2014/main" id="{29D5F0FC-6EB2-6616-D922-7CE7AE50A453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958211"/>
            <a:ext cx="2286000" cy="491815"/>
            <a:chOff x="2500298" y="3500439"/>
            <a:chExt cx="1222375" cy="276225"/>
          </a:xfrm>
        </p:grpSpPr>
        <p:cxnSp>
          <p:nvCxnSpPr>
            <p:cNvPr id="12" name="AutoShape 2">
              <a:extLst>
                <a:ext uri="{FF2B5EF4-FFF2-40B4-BE49-F238E27FC236}">
                  <a16:creationId xmlns:a16="http://schemas.microsoft.com/office/drawing/2014/main" id="{143B4E5E-0403-48C1-0DD8-5D10ED3219B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500298" y="3643462"/>
              <a:ext cx="1222375" cy="0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AutoShape 3">
              <a:extLst>
                <a:ext uri="{FF2B5EF4-FFF2-40B4-BE49-F238E27FC236}">
                  <a16:creationId xmlns:a16="http://schemas.microsoft.com/office/drawing/2014/main" id="{CCC06BF8-B63B-C6C8-774F-449BB6B0262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014572" y="3537285"/>
              <a:ext cx="219139" cy="209285"/>
            </a:xfrm>
            <a:prstGeom prst="triangle">
              <a:avLst>
                <a:gd name="adj" fmla="val 50000"/>
              </a:avLst>
            </a:prstGeom>
            <a:solidFill>
              <a:srgbClr val="00FF00"/>
            </a:solidFill>
            <a:ln>
              <a:headEnd/>
              <a:tailE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fr-FR"/>
            </a:p>
          </p:txBody>
        </p:sp>
        <p:cxnSp>
          <p:nvCxnSpPr>
            <p:cNvPr id="33" name="AutoShape 4">
              <a:extLst>
                <a:ext uri="{FF2B5EF4-FFF2-40B4-BE49-F238E27FC236}">
                  <a16:creationId xmlns:a16="http://schemas.microsoft.com/office/drawing/2014/main" id="{57D9E5FF-DBC9-89DF-D424-2DA782390AC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57800" y="3500439"/>
              <a:ext cx="75935" cy="0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AutoShape 5">
              <a:extLst>
                <a:ext uri="{FF2B5EF4-FFF2-40B4-BE49-F238E27FC236}">
                  <a16:creationId xmlns:a16="http://schemas.microsoft.com/office/drawing/2014/main" id="{7F075654-6722-8BC6-57BA-E3FB6C14A3B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50392" y="3500439"/>
              <a:ext cx="0" cy="276225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AutoShape 6">
              <a:extLst>
                <a:ext uri="{FF2B5EF4-FFF2-40B4-BE49-F238E27FC236}">
                  <a16:creationId xmlns:a16="http://schemas.microsoft.com/office/drawing/2014/main" id="{FD95E1A4-5A09-B09F-3B89-BA96641C7BB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167048" y="3776664"/>
              <a:ext cx="75936" cy="0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AutoShape 7">
              <a:extLst>
                <a:ext uri="{FF2B5EF4-FFF2-40B4-BE49-F238E27FC236}">
                  <a16:creationId xmlns:a16="http://schemas.microsoft.com/office/drawing/2014/main" id="{D5D42126-9D97-39F6-9DDB-08645A24A6F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333735" y="3507191"/>
              <a:ext cx="0" cy="76115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AutoShape 8">
              <a:extLst>
                <a:ext uri="{FF2B5EF4-FFF2-40B4-BE49-F238E27FC236}">
                  <a16:creationId xmlns:a16="http://schemas.microsoft.com/office/drawing/2014/main" id="{F3F7AC66-9384-8BFF-B976-66BDC46B7E6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167048" y="3700549"/>
              <a:ext cx="0" cy="76115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20243104-FD3D-0909-079B-146949F10DAA}"/>
              </a:ext>
            </a:extLst>
          </p:cNvPr>
          <p:cNvSpPr txBox="1"/>
          <p:nvPr/>
        </p:nvSpPr>
        <p:spPr>
          <a:xfrm>
            <a:off x="490580" y="2882756"/>
            <a:ext cx="53768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400" dirty="0">
                <a:latin typeface="Bookman Old Style" panose="02050604050505020204" pitchFamily="18" charset="0"/>
              </a:rPr>
              <a:t>Une </a:t>
            </a:r>
            <a:r>
              <a:rPr lang="fr-FR" sz="1400" b="1" dirty="0">
                <a:latin typeface="Bookman Old Style" panose="02050604050505020204" pitchFamily="18" charset="0"/>
              </a:rPr>
              <a:t>diode à effet tunnel </a:t>
            </a:r>
            <a:r>
              <a:rPr lang="fr-FR" sz="1400" dirty="0">
                <a:latin typeface="Bookman Old Style" panose="02050604050505020204" pitchFamily="18" charset="0"/>
              </a:rPr>
              <a:t>est un semi-conducteur fortement dopé, permettant </a:t>
            </a:r>
            <a:r>
              <a:rPr lang="fr-FR" sz="1400" b="1" dirty="0">
                <a:latin typeface="Bookman Old Style" panose="02050604050505020204" pitchFamily="18" charset="0"/>
              </a:rPr>
              <a:t>une conduction inverse sans claquage, L'effet tunnel </a:t>
            </a:r>
            <a:r>
              <a:rPr lang="fr-FR" sz="1400" dirty="0">
                <a:latin typeface="Bookman Old Style" panose="02050604050505020204" pitchFamily="18" charset="0"/>
              </a:rPr>
              <a:t>se produit donnant à la caractéristique de cette diode une zone où l'augmentation de la tension aux bornes de la diode entraîne une diminution du courant la traversant. </a:t>
            </a:r>
            <a:r>
              <a:rPr lang="fr-FR" sz="1400" b="1" dirty="0">
                <a:latin typeface="Bookman Old Style" panose="02050604050505020204" pitchFamily="18" charset="0"/>
              </a:rPr>
              <a:t>Cela correspondant à une résistance négative</a:t>
            </a:r>
            <a:r>
              <a:rPr lang="fr-FR" sz="1400" dirty="0">
                <a:latin typeface="Bookman Old Style" panose="02050604050505020204" pitchFamily="18" charset="0"/>
              </a:rPr>
              <a:t>, utilisée dans les </a:t>
            </a:r>
            <a:r>
              <a:rPr lang="fr-FR" sz="1400" b="1" dirty="0">
                <a:latin typeface="Bookman Old Style" panose="02050604050505020204" pitchFamily="18" charset="0"/>
              </a:rPr>
              <a:t>oscillateurs haute fréquence</a:t>
            </a:r>
            <a:r>
              <a:rPr lang="fr-FR" sz="1400" dirty="0">
                <a:latin typeface="Bookman Old Style" panose="02050604050505020204" pitchFamily="18" charset="0"/>
              </a:rPr>
              <a:t>.</a:t>
            </a:r>
          </a:p>
        </p:txBody>
      </p:sp>
      <p:grpSp>
        <p:nvGrpSpPr>
          <p:cNvPr id="40" name="Group 2">
            <a:extLst>
              <a:ext uri="{FF2B5EF4-FFF2-40B4-BE49-F238E27FC236}">
                <a16:creationId xmlns:a16="http://schemas.microsoft.com/office/drawing/2014/main" id="{C6AFF1E1-AC64-0FB8-B5B8-7BB57255E63B}"/>
              </a:ext>
            </a:extLst>
          </p:cNvPr>
          <p:cNvGrpSpPr>
            <a:grpSpLocks/>
          </p:cNvGrpSpPr>
          <p:nvPr/>
        </p:nvGrpSpPr>
        <p:grpSpPr bwMode="auto">
          <a:xfrm>
            <a:off x="3094361" y="4498350"/>
            <a:ext cx="1305612" cy="627340"/>
            <a:chOff x="8166" y="14955"/>
            <a:chExt cx="1927" cy="435"/>
          </a:xfrm>
          <a:solidFill>
            <a:srgbClr val="00FF00"/>
          </a:solidFill>
        </p:grpSpPr>
        <p:cxnSp>
          <p:nvCxnSpPr>
            <p:cNvPr id="41" name="AutoShape 3">
              <a:extLst>
                <a:ext uri="{FF2B5EF4-FFF2-40B4-BE49-F238E27FC236}">
                  <a16:creationId xmlns:a16="http://schemas.microsoft.com/office/drawing/2014/main" id="{B34D5731-BC19-A8B9-9823-DD86BD8B327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166" y="15179"/>
              <a:ext cx="1927" cy="0"/>
            </a:xfrm>
            <a:prstGeom prst="straightConnector1">
              <a:avLst/>
            </a:prstGeom>
            <a:grpFill/>
            <a:ln>
              <a:headEnd/>
              <a:tailE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  <p:sp>
          <p:nvSpPr>
            <p:cNvPr id="42" name="AutoShape 4">
              <a:extLst>
                <a:ext uri="{FF2B5EF4-FFF2-40B4-BE49-F238E27FC236}">
                  <a16:creationId xmlns:a16="http://schemas.microsoft.com/office/drawing/2014/main" id="{FD68D919-4414-5F81-57BB-CAB41F299CA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976" y="15015"/>
              <a:ext cx="346" cy="329"/>
            </a:xfrm>
            <a:prstGeom prst="triangle">
              <a:avLst>
                <a:gd name="adj" fmla="val 50000"/>
              </a:avLst>
            </a:prstGeom>
            <a:grpFill/>
            <a:ln>
              <a:headEnd/>
              <a:tailE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fr-FR"/>
            </a:p>
          </p:txBody>
        </p:sp>
        <p:cxnSp>
          <p:nvCxnSpPr>
            <p:cNvPr id="43" name="AutoShape 5">
              <a:extLst>
                <a:ext uri="{FF2B5EF4-FFF2-40B4-BE49-F238E27FC236}">
                  <a16:creationId xmlns:a16="http://schemas.microsoft.com/office/drawing/2014/main" id="{47CB0BF6-8319-6D0C-E56B-062A03076CA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240" y="14955"/>
              <a:ext cx="121" cy="0"/>
            </a:xfrm>
            <a:prstGeom prst="straightConnector1">
              <a:avLst/>
            </a:prstGeom>
            <a:grpFill/>
            <a:ln>
              <a:headEnd/>
              <a:tailE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  <p:cxnSp>
          <p:nvCxnSpPr>
            <p:cNvPr id="44" name="AutoShape 6">
              <a:extLst>
                <a:ext uri="{FF2B5EF4-FFF2-40B4-BE49-F238E27FC236}">
                  <a16:creationId xmlns:a16="http://schemas.microsoft.com/office/drawing/2014/main" id="{D2802442-09F4-1053-BA40-2F89CCA2713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362" y="14955"/>
              <a:ext cx="0" cy="435"/>
            </a:xfrm>
            <a:prstGeom prst="straightConnector1">
              <a:avLst/>
            </a:prstGeom>
            <a:grpFill/>
            <a:ln>
              <a:headEnd/>
              <a:tailE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  <p:cxnSp>
          <p:nvCxnSpPr>
            <p:cNvPr id="45" name="AutoShape 7">
              <a:extLst>
                <a:ext uri="{FF2B5EF4-FFF2-40B4-BE49-F238E27FC236}">
                  <a16:creationId xmlns:a16="http://schemas.microsoft.com/office/drawing/2014/main" id="{BE2725E0-F041-6024-D6FF-27DE2C7431D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240" y="15390"/>
              <a:ext cx="121" cy="0"/>
            </a:xfrm>
            <a:prstGeom prst="straightConnector1">
              <a:avLst/>
            </a:prstGeom>
            <a:grpFill/>
            <a:ln>
              <a:headEnd/>
              <a:tailE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47" name="Picture 8" descr="Courbe_de_la_diode_tunnel">
            <a:extLst>
              <a:ext uri="{FF2B5EF4-FFF2-40B4-BE49-F238E27FC236}">
                <a16:creationId xmlns:a16="http://schemas.microsoft.com/office/drawing/2014/main" id="{5F276F49-B575-228D-A203-4214941B52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5948460" y="2756737"/>
            <a:ext cx="3077277" cy="198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568624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4657" y="137667"/>
            <a:ext cx="96647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Bookman Old Style" panose="02050604050505020204" pitchFamily="18" charset="0"/>
              </a:rPr>
              <a:t>Pl</a:t>
            </a:r>
            <a:r>
              <a:rPr spc="5" dirty="0">
                <a:latin typeface="Bookman Old Style" panose="02050604050505020204" pitchFamily="18" charset="0"/>
              </a:rPr>
              <a:t>a</a:t>
            </a:r>
            <a:r>
              <a:rPr dirty="0">
                <a:latin typeface="Bookman Old Style" panose="02050604050505020204" pitchFamily="18" charset="0"/>
              </a:rPr>
              <a:t>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854779" y="356344"/>
            <a:ext cx="7149465" cy="156845"/>
            <a:chOff x="1875130" y="356345"/>
            <a:chExt cx="7149465" cy="156845"/>
          </a:xfrm>
          <a:solidFill>
            <a:srgbClr val="CC00CC"/>
          </a:solidFill>
        </p:grpSpPr>
        <p:sp>
          <p:nvSpPr>
            <p:cNvPr id="5" name="object 5"/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82778" y="356345"/>
            <a:ext cx="697230" cy="156845"/>
            <a:chOff x="82778" y="356345"/>
            <a:chExt cx="697230" cy="156845"/>
          </a:xfrm>
          <a:solidFill>
            <a:srgbClr val="CC00CC"/>
          </a:solidFill>
        </p:grpSpPr>
        <p:sp>
          <p:nvSpPr>
            <p:cNvPr id="8" name="object 8"/>
            <p:cNvSpPr/>
            <p:nvPr/>
          </p:nvSpPr>
          <p:spPr>
            <a:xfrm>
              <a:off x="89128" y="362695"/>
              <a:ext cx="684530" cy="144145"/>
            </a:xfrm>
            <a:custGeom>
              <a:avLst/>
              <a:gdLst/>
              <a:ahLst/>
              <a:cxnLst/>
              <a:rect l="l" t="t" r="r" b="b"/>
              <a:pathLst>
                <a:path w="684530" h="144145">
                  <a:moveTo>
                    <a:pt x="611999" y="0"/>
                  </a:moveTo>
                  <a:lnTo>
                    <a:pt x="72000" y="0"/>
                  </a:lnTo>
                  <a:lnTo>
                    <a:pt x="43974" y="5658"/>
                  </a:lnTo>
                  <a:lnTo>
                    <a:pt x="21088" y="21088"/>
                  </a:lnTo>
                  <a:lnTo>
                    <a:pt x="5658" y="43974"/>
                  </a:lnTo>
                  <a:lnTo>
                    <a:pt x="0" y="71998"/>
                  </a:lnTo>
                  <a:lnTo>
                    <a:pt x="5658" y="100024"/>
                  </a:lnTo>
                  <a:lnTo>
                    <a:pt x="21088" y="122910"/>
                  </a:lnTo>
                  <a:lnTo>
                    <a:pt x="43974" y="138340"/>
                  </a:lnTo>
                  <a:lnTo>
                    <a:pt x="72000" y="143998"/>
                  </a:lnTo>
                  <a:lnTo>
                    <a:pt x="611998" y="144000"/>
                  </a:lnTo>
                  <a:lnTo>
                    <a:pt x="640024" y="138342"/>
                  </a:lnTo>
                  <a:lnTo>
                    <a:pt x="662910" y="122912"/>
                  </a:lnTo>
                  <a:lnTo>
                    <a:pt x="678340" y="100025"/>
                  </a:lnTo>
                  <a:lnTo>
                    <a:pt x="683999" y="72000"/>
                  </a:lnTo>
                  <a:lnTo>
                    <a:pt x="678341" y="43974"/>
                  </a:lnTo>
                  <a:lnTo>
                    <a:pt x="662911" y="21088"/>
                  </a:lnTo>
                  <a:lnTo>
                    <a:pt x="640025" y="5658"/>
                  </a:lnTo>
                  <a:lnTo>
                    <a:pt x="611999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9128" y="362695"/>
              <a:ext cx="684530" cy="144145"/>
            </a:xfrm>
            <a:custGeom>
              <a:avLst/>
              <a:gdLst/>
              <a:ahLst/>
              <a:cxnLst/>
              <a:rect l="l" t="t" r="r" b="b"/>
              <a:pathLst>
                <a:path w="684530" h="144145">
                  <a:moveTo>
                    <a:pt x="0" y="72000"/>
                  </a:moveTo>
                  <a:lnTo>
                    <a:pt x="5658" y="43974"/>
                  </a:lnTo>
                  <a:lnTo>
                    <a:pt x="21088" y="21088"/>
                  </a:lnTo>
                  <a:lnTo>
                    <a:pt x="43974" y="5658"/>
                  </a:lnTo>
                  <a:lnTo>
                    <a:pt x="72000" y="0"/>
                  </a:lnTo>
                  <a:lnTo>
                    <a:pt x="611999" y="0"/>
                  </a:lnTo>
                  <a:lnTo>
                    <a:pt x="640025" y="5658"/>
                  </a:lnTo>
                  <a:lnTo>
                    <a:pt x="662911" y="21088"/>
                  </a:lnTo>
                  <a:lnTo>
                    <a:pt x="678341" y="43974"/>
                  </a:lnTo>
                  <a:lnTo>
                    <a:pt x="683999" y="72000"/>
                  </a:lnTo>
                  <a:lnTo>
                    <a:pt x="678340" y="100026"/>
                  </a:lnTo>
                  <a:lnTo>
                    <a:pt x="662910" y="122912"/>
                  </a:lnTo>
                  <a:lnTo>
                    <a:pt x="640024" y="138342"/>
                  </a:lnTo>
                  <a:lnTo>
                    <a:pt x="611998" y="144000"/>
                  </a:lnTo>
                  <a:lnTo>
                    <a:pt x="72000" y="144000"/>
                  </a:lnTo>
                  <a:lnTo>
                    <a:pt x="43974" y="138341"/>
                  </a:lnTo>
                  <a:lnTo>
                    <a:pt x="21088" y="122911"/>
                  </a:lnTo>
                  <a:lnTo>
                    <a:pt x="5658" y="100025"/>
                  </a:lnTo>
                  <a:lnTo>
                    <a:pt x="0" y="71999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46881" y="1509049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523003" y="4851687"/>
            <a:ext cx="617398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28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17" name="object 10">
            <a:extLst>
              <a:ext uri="{FF2B5EF4-FFF2-40B4-BE49-F238E27FC236}">
                <a16:creationId xmlns:a16="http://schemas.microsoft.com/office/drawing/2014/main" id="{868BE146-27EA-FE43-C50C-5A003F633563}"/>
              </a:ext>
            </a:extLst>
          </p:cNvPr>
          <p:cNvSpPr txBox="1"/>
          <p:nvPr/>
        </p:nvSpPr>
        <p:spPr>
          <a:xfrm>
            <a:off x="1904999" y="780976"/>
            <a:ext cx="6792119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0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Chapitre 4 : </a:t>
            </a: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: Transistor</a:t>
            </a:r>
            <a:endParaRPr sz="1600" b="1" dirty="0">
              <a:solidFill>
                <a:srgbClr val="CC00CC"/>
              </a:solidFill>
              <a:latin typeface="Bookman Old Style" panose="02050604050505020204" pitchFamily="18" charset="0"/>
              <a:cs typeface="Calibri"/>
            </a:endParaRPr>
          </a:p>
        </p:txBody>
      </p:sp>
      <p:grpSp>
        <p:nvGrpSpPr>
          <p:cNvPr id="18" name="object 11">
            <a:extLst>
              <a:ext uri="{FF2B5EF4-FFF2-40B4-BE49-F238E27FC236}">
                <a16:creationId xmlns:a16="http://schemas.microsoft.com/office/drawing/2014/main" id="{4C0FFD69-3304-CBE2-A2A2-FFDCF696975D}"/>
              </a:ext>
            </a:extLst>
          </p:cNvPr>
          <p:cNvGrpSpPr/>
          <p:nvPr/>
        </p:nvGrpSpPr>
        <p:grpSpPr>
          <a:xfrm>
            <a:off x="1128513" y="600278"/>
            <a:ext cx="500380" cy="802640"/>
            <a:chOff x="482739" y="1033930"/>
            <a:chExt cx="500380" cy="802640"/>
          </a:xfrm>
          <a:solidFill>
            <a:schemeClr val="accent6">
              <a:lumMod val="75000"/>
            </a:schemeClr>
          </a:solidFill>
        </p:grpSpPr>
        <p:sp>
          <p:nvSpPr>
            <p:cNvPr id="19" name="object 12">
              <a:extLst>
                <a:ext uri="{FF2B5EF4-FFF2-40B4-BE49-F238E27FC236}">
                  <a16:creationId xmlns:a16="http://schemas.microsoft.com/office/drawing/2014/main" id="{A7FFF4D5-AC81-E6D7-6415-EC40705A2549}"/>
                </a:ext>
              </a:extLst>
            </p:cNvPr>
            <p:cNvSpPr/>
            <p:nvPr/>
          </p:nvSpPr>
          <p:spPr>
            <a:xfrm>
              <a:off x="491437" y="1072565"/>
              <a:ext cx="487045" cy="759460"/>
            </a:xfrm>
            <a:custGeom>
              <a:avLst/>
              <a:gdLst/>
              <a:ahLst/>
              <a:cxnLst/>
              <a:rect l="l" t="t" r="r" b="b"/>
              <a:pathLst>
                <a:path w="487044" h="759460">
                  <a:moveTo>
                    <a:pt x="138049" y="0"/>
                  </a:moveTo>
                  <a:lnTo>
                    <a:pt x="149948" y="30211"/>
                  </a:lnTo>
                  <a:lnTo>
                    <a:pt x="155121" y="65214"/>
                  </a:lnTo>
                  <a:lnTo>
                    <a:pt x="154425" y="104347"/>
                  </a:lnTo>
                  <a:lnTo>
                    <a:pt x="148716" y="146947"/>
                  </a:lnTo>
                  <a:lnTo>
                    <a:pt x="138850" y="192353"/>
                  </a:lnTo>
                  <a:lnTo>
                    <a:pt x="125683" y="239903"/>
                  </a:lnTo>
                  <a:lnTo>
                    <a:pt x="110074" y="288935"/>
                  </a:lnTo>
                  <a:lnTo>
                    <a:pt x="92877" y="338787"/>
                  </a:lnTo>
                  <a:lnTo>
                    <a:pt x="57147" y="438303"/>
                  </a:lnTo>
                  <a:lnTo>
                    <a:pt x="40327" y="486644"/>
                  </a:lnTo>
                  <a:lnTo>
                    <a:pt x="25346" y="533157"/>
                  </a:lnTo>
                  <a:lnTo>
                    <a:pt x="13060" y="577181"/>
                  </a:lnTo>
                  <a:lnTo>
                    <a:pt x="4326" y="618053"/>
                  </a:lnTo>
                  <a:lnTo>
                    <a:pt x="0" y="655113"/>
                  </a:lnTo>
                  <a:lnTo>
                    <a:pt x="938" y="687697"/>
                  </a:lnTo>
                  <a:lnTo>
                    <a:pt x="7997" y="715144"/>
                  </a:lnTo>
                  <a:lnTo>
                    <a:pt x="22033" y="736793"/>
                  </a:lnTo>
                  <a:lnTo>
                    <a:pt x="45876" y="753137"/>
                  </a:lnTo>
                  <a:lnTo>
                    <a:pt x="73288" y="759115"/>
                  </a:lnTo>
                  <a:lnTo>
                    <a:pt x="100535" y="754671"/>
                  </a:lnTo>
                  <a:lnTo>
                    <a:pt x="123879" y="739749"/>
                  </a:lnTo>
                  <a:lnTo>
                    <a:pt x="476946" y="386135"/>
                  </a:lnTo>
                  <a:lnTo>
                    <a:pt x="484086" y="375261"/>
                  </a:lnTo>
                  <a:lnTo>
                    <a:pt x="486466" y="362779"/>
                  </a:lnTo>
                  <a:lnTo>
                    <a:pt x="484086" y="350296"/>
                  </a:lnTo>
                  <a:lnTo>
                    <a:pt x="476946" y="339421"/>
                  </a:lnTo>
                  <a:lnTo>
                    <a:pt x="138049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3">
              <a:extLst>
                <a:ext uri="{FF2B5EF4-FFF2-40B4-BE49-F238E27FC236}">
                  <a16:creationId xmlns:a16="http://schemas.microsoft.com/office/drawing/2014/main" id="{8095066D-595C-6F7E-0B0D-60571A5F1785}"/>
                </a:ext>
              </a:extLst>
            </p:cNvPr>
            <p:cNvSpPr/>
            <p:nvPr/>
          </p:nvSpPr>
          <p:spPr>
            <a:xfrm>
              <a:off x="491437" y="1072565"/>
              <a:ext cx="487045" cy="759460"/>
            </a:xfrm>
            <a:custGeom>
              <a:avLst/>
              <a:gdLst/>
              <a:ahLst/>
              <a:cxnLst/>
              <a:rect l="l" t="t" r="r" b="b"/>
              <a:pathLst>
                <a:path w="487044" h="759460">
                  <a:moveTo>
                    <a:pt x="138049" y="0"/>
                  </a:moveTo>
                  <a:lnTo>
                    <a:pt x="149948" y="30211"/>
                  </a:lnTo>
                  <a:lnTo>
                    <a:pt x="155121" y="65214"/>
                  </a:lnTo>
                  <a:lnTo>
                    <a:pt x="154425" y="104347"/>
                  </a:lnTo>
                  <a:lnTo>
                    <a:pt x="148716" y="146947"/>
                  </a:lnTo>
                  <a:lnTo>
                    <a:pt x="138850" y="192353"/>
                  </a:lnTo>
                  <a:lnTo>
                    <a:pt x="125683" y="239903"/>
                  </a:lnTo>
                  <a:lnTo>
                    <a:pt x="110074" y="288935"/>
                  </a:lnTo>
                  <a:lnTo>
                    <a:pt x="92877" y="338787"/>
                  </a:lnTo>
                  <a:lnTo>
                    <a:pt x="74949" y="388797"/>
                  </a:lnTo>
                  <a:lnTo>
                    <a:pt x="57147" y="438303"/>
                  </a:lnTo>
                  <a:lnTo>
                    <a:pt x="40327" y="486644"/>
                  </a:lnTo>
                  <a:lnTo>
                    <a:pt x="25346" y="533157"/>
                  </a:lnTo>
                  <a:lnTo>
                    <a:pt x="13060" y="577181"/>
                  </a:lnTo>
                  <a:lnTo>
                    <a:pt x="4326" y="618053"/>
                  </a:lnTo>
                  <a:lnTo>
                    <a:pt x="0" y="655113"/>
                  </a:lnTo>
                  <a:lnTo>
                    <a:pt x="938" y="687697"/>
                  </a:lnTo>
                  <a:lnTo>
                    <a:pt x="7997" y="715144"/>
                  </a:lnTo>
                  <a:lnTo>
                    <a:pt x="22033" y="736793"/>
                  </a:lnTo>
                  <a:lnTo>
                    <a:pt x="45876" y="753137"/>
                  </a:lnTo>
                  <a:lnTo>
                    <a:pt x="73289" y="759115"/>
                  </a:lnTo>
                  <a:lnTo>
                    <a:pt x="100535" y="754671"/>
                  </a:lnTo>
                  <a:lnTo>
                    <a:pt x="123879" y="739749"/>
                  </a:lnTo>
                  <a:lnTo>
                    <a:pt x="476946" y="386136"/>
                  </a:lnTo>
                  <a:lnTo>
                    <a:pt x="484086" y="375261"/>
                  </a:lnTo>
                  <a:lnTo>
                    <a:pt x="486466" y="362778"/>
                  </a:lnTo>
                  <a:lnTo>
                    <a:pt x="484086" y="350296"/>
                  </a:lnTo>
                  <a:lnTo>
                    <a:pt x="476946" y="339421"/>
                  </a:lnTo>
                  <a:lnTo>
                    <a:pt x="138049" y="0"/>
                  </a:lnTo>
                </a:path>
              </a:pathLst>
            </a:custGeom>
            <a:solidFill>
              <a:srgbClr val="CC00CC"/>
            </a:solidFill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4">
              <a:extLst>
                <a:ext uri="{FF2B5EF4-FFF2-40B4-BE49-F238E27FC236}">
                  <a16:creationId xmlns:a16="http://schemas.microsoft.com/office/drawing/2014/main" id="{BC4EB03B-CEE7-5557-90F4-17FE1E0CFC97}"/>
                </a:ext>
              </a:extLst>
            </p:cNvPr>
            <p:cNvSpPr/>
            <p:nvPr/>
          </p:nvSpPr>
          <p:spPr>
            <a:xfrm>
              <a:off x="487501" y="1038692"/>
              <a:ext cx="490855" cy="758825"/>
            </a:xfrm>
            <a:custGeom>
              <a:avLst/>
              <a:gdLst/>
              <a:ahLst/>
              <a:cxnLst/>
              <a:rect l="l" t="t" r="r" b="b"/>
              <a:pathLst>
                <a:path w="490855" h="758825">
                  <a:moveTo>
                    <a:pt x="77462" y="0"/>
                  </a:moveTo>
                  <a:lnTo>
                    <a:pt x="25988" y="22240"/>
                  </a:lnTo>
                  <a:lnTo>
                    <a:pt x="1880" y="72863"/>
                  </a:lnTo>
                  <a:lnTo>
                    <a:pt x="0" y="105919"/>
                  </a:lnTo>
                  <a:lnTo>
                    <a:pt x="3709" y="143282"/>
                  </a:lnTo>
                  <a:lnTo>
                    <a:pt x="12116" y="184309"/>
                  </a:lnTo>
                  <a:lnTo>
                    <a:pt x="24326" y="228357"/>
                  </a:lnTo>
                  <a:lnTo>
                    <a:pt x="39446" y="274785"/>
                  </a:lnTo>
                  <a:lnTo>
                    <a:pt x="56582" y="322948"/>
                  </a:lnTo>
                  <a:lnTo>
                    <a:pt x="93332" y="421916"/>
                  </a:lnTo>
                  <a:lnTo>
                    <a:pt x="111157" y="471434"/>
                  </a:lnTo>
                  <a:lnTo>
                    <a:pt x="127425" y="520119"/>
                  </a:lnTo>
                  <a:lnTo>
                    <a:pt x="141242" y="567328"/>
                  </a:lnTo>
                  <a:lnTo>
                    <a:pt x="151715" y="612419"/>
                  </a:lnTo>
                  <a:lnTo>
                    <a:pt x="157950" y="654749"/>
                  </a:lnTo>
                  <a:lnTo>
                    <a:pt x="159054" y="693675"/>
                  </a:lnTo>
                  <a:lnTo>
                    <a:pt x="154133" y="728556"/>
                  </a:lnTo>
                  <a:lnTo>
                    <a:pt x="142294" y="758748"/>
                  </a:lnTo>
                  <a:lnTo>
                    <a:pt x="480882" y="419753"/>
                  </a:lnTo>
                  <a:lnTo>
                    <a:pt x="488022" y="408832"/>
                  </a:lnTo>
                  <a:lnTo>
                    <a:pt x="490402" y="396220"/>
                  </a:lnTo>
                  <a:lnTo>
                    <a:pt x="488022" y="383553"/>
                  </a:lnTo>
                  <a:lnTo>
                    <a:pt x="480882" y="372465"/>
                  </a:lnTo>
                  <a:lnTo>
                    <a:pt x="127830" y="18988"/>
                  </a:lnTo>
                  <a:lnTo>
                    <a:pt x="104569" y="4202"/>
                  </a:lnTo>
                  <a:lnTo>
                    <a:pt x="77462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15">
              <a:extLst>
                <a:ext uri="{FF2B5EF4-FFF2-40B4-BE49-F238E27FC236}">
                  <a16:creationId xmlns:a16="http://schemas.microsoft.com/office/drawing/2014/main" id="{6E5B9C91-1EE7-171E-A074-7186C46C6704}"/>
                </a:ext>
              </a:extLst>
            </p:cNvPr>
            <p:cNvSpPr/>
            <p:nvPr/>
          </p:nvSpPr>
          <p:spPr>
            <a:xfrm>
              <a:off x="487501" y="1038692"/>
              <a:ext cx="490855" cy="758825"/>
            </a:xfrm>
            <a:custGeom>
              <a:avLst/>
              <a:gdLst/>
              <a:ahLst/>
              <a:cxnLst/>
              <a:rect l="l" t="t" r="r" b="b"/>
              <a:pathLst>
                <a:path w="490855" h="758825">
                  <a:moveTo>
                    <a:pt x="142294" y="758749"/>
                  </a:moveTo>
                  <a:lnTo>
                    <a:pt x="154133" y="728556"/>
                  </a:lnTo>
                  <a:lnTo>
                    <a:pt x="159054" y="693676"/>
                  </a:lnTo>
                  <a:lnTo>
                    <a:pt x="157950" y="654749"/>
                  </a:lnTo>
                  <a:lnTo>
                    <a:pt x="151715" y="612420"/>
                  </a:lnTo>
                  <a:lnTo>
                    <a:pt x="141242" y="567329"/>
                  </a:lnTo>
                  <a:lnTo>
                    <a:pt x="127425" y="520120"/>
                  </a:lnTo>
                  <a:lnTo>
                    <a:pt x="111157" y="471435"/>
                  </a:lnTo>
                  <a:lnTo>
                    <a:pt x="93332" y="421916"/>
                  </a:lnTo>
                  <a:lnTo>
                    <a:pt x="74842" y="372207"/>
                  </a:lnTo>
                  <a:lnTo>
                    <a:pt x="56582" y="322949"/>
                  </a:lnTo>
                  <a:lnTo>
                    <a:pt x="39446" y="274785"/>
                  </a:lnTo>
                  <a:lnTo>
                    <a:pt x="24326" y="228358"/>
                  </a:lnTo>
                  <a:lnTo>
                    <a:pt x="12116" y="184310"/>
                  </a:lnTo>
                  <a:lnTo>
                    <a:pt x="3709" y="143283"/>
                  </a:lnTo>
                  <a:lnTo>
                    <a:pt x="0" y="105920"/>
                  </a:lnTo>
                  <a:lnTo>
                    <a:pt x="1880" y="72863"/>
                  </a:lnTo>
                  <a:lnTo>
                    <a:pt x="10245" y="44756"/>
                  </a:lnTo>
                  <a:lnTo>
                    <a:pt x="25988" y="22240"/>
                  </a:lnTo>
                  <a:lnTo>
                    <a:pt x="50078" y="6104"/>
                  </a:lnTo>
                  <a:lnTo>
                    <a:pt x="77462" y="0"/>
                  </a:lnTo>
                  <a:lnTo>
                    <a:pt x="104569" y="4202"/>
                  </a:lnTo>
                  <a:lnTo>
                    <a:pt x="127830" y="18989"/>
                  </a:lnTo>
                  <a:lnTo>
                    <a:pt x="480882" y="372466"/>
                  </a:lnTo>
                  <a:lnTo>
                    <a:pt x="488022" y="383553"/>
                  </a:lnTo>
                  <a:lnTo>
                    <a:pt x="490402" y="396220"/>
                  </a:lnTo>
                  <a:lnTo>
                    <a:pt x="488022" y="408832"/>
                  </a:lnTo>
                  <a:lnTo>
                    <a:pt x="480882" y="419753"/>
                  </a:lnTo>
                  <a:lnTo>
                    <a:pt x="142294" y="758749"/>
                  </a:lnTo>
                  <a:close/>
                </a:path>
              </a:pathLst>
            </a:custGeom>
            <a:solidFill>
              <a:srgbClr val="CC00CC"/>
            </a:solidFill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16">
            <a:extLst>
              <a:ext uri="{FF2B5EF4-FFF2-40B4-BE49-F238E27FC236}">
                <a16:creationId xmlns:a16="http://schemas.microsoft.com/office/drawing/2014/main" id="{2660D9D2-E990-F002-5923-B43CDEFE0473}"/>
              </a:ext>
            </a:extLst>
          </p:cNvPr>
          <p:cNvSpPr txBox="1"/>
          <p:nvPr/>
        </p:nvSpPr>
        <p:spPr>
          <a:xfrm>
            <a:off x="1260315" y="725095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chemeClr val="bg1"/>
                </a:solidFill>
                <a:latin typeface="Arial"/>
                <a:cs typeface="Arial"/>
              </a:rPr>
              <a:t>4</a:t>
            </a:r>
            <a:endParaRPr sz="28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6" name="ZoneTexte 22">
            <a:extLst>
              <a:ext uri="{FF2B5EF4-FFF2-40B4-BE49-F238E27FC236}">
                <a16:creationId xmlns:a16="http://schemas.microsoft.com/office/drawing/2014/main" id="{63D39554-BCBC-8BC3-E6FB-ECFC52B95347}"/>
              </a:ext>
            </a:extLst>
          </p:cNvPr>
          <p:cNvSpPr txBox="1"/>
          <p:nvPr/>
        </p:nvSpPr>
        <p:spPr>
          <a:xfrm>
            <a:off x="1606939" y="1123158"/>
            <a:ext cx="6283485" cy="385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fr-FR" b="1" dirty="0">
                <a:latin typeface="Bookman Old Style" panose="02050604050505020204" pitchFamily="18" charset="0"/>
              </a:rPr>
              <a:t>Transistor</a:t>
            </a:r>
            <a:r>
              <a:rPr lang="fr-FR" sz="1600" b="1" dirty="0">
                <a:latin typeface="Bookman Old Style" panose="02050604050505020204" pitchFamily="18" charset="0"/>
              </a:rPr>
              <a:t> 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6531CE-4E19-AFA7-07B3-C5BA0BED48D6}"/>
              </a:ext>
            </a:extLst>
          </p:cNvPr>
          <p:cNvSpPr txBox="1"/>
          <p:nvPr/>
        </p:nvSpPr>
        <p:spPr>
          <a:xfrm>
            <a:off x="3124200" y="1417773"/>
            <a:ext cx="633713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400" b="1" dirty="0">
                <a:latin typeface="Bookman Old Style" panose="02050604050505020204" pitchFamily="18" charset="0"/>
              </a:rPr>
              <a:t>Introduction</a:t>
            </a:r>
          </a:p>
          <a:p>
            <a:endParaRPr lang="fr-FR" sz="1400" b="1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400" b="1" dirty="0">
                <a:latin typeface="Bookman Old Style" panose="02050604050505020204" pitchFamily="18" charset="0"/>
              </a:rPr>
              <a:t>Structure et fonctionnement d’un transistor bipolaire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sz="1400" b="1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400" b="1" dirty="0">
                <a:latin typeface="Bookman Old Style" panose="02050604050505020204" pitchFamily="18" charset="0"/>
              </a:rPr>
              <a:t>Effet transistor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sz="1400" b="1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400" b="1" dirty="0">
                <a:latin typeface="Bookman Old Style" panose="02050604050505020204" pitchFamily="18" charset="0"/>
              </a:rPr>
              <a:t>Polarisation du transistor bipolaire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sz="1400" b="1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400" b="1" dirty="0">
                <a:latin typeface="Bookman Old Style" panose="02050604050505020204" pitchFamily="18" charset="0"/>
              </a:rPr>
              <a:t>Fonctionnement en amplification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sz="1400" b="1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400" b="1" dirty="0">
                <a:latin typeface="Bookman Old Style" panose="02050604050505020204" pitchFamily="18" charset="0"/>
              </a:rPr>
              <a:t> Fonctionnement en commutation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sz="1400" b="1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400" b="1" dirty="0">
                <a:latin typeface="Bookman Old Style" panose="02050604050505020204" pitchFamily="18" charset="0"/>
              </a:rPr>
              <a:t>Transistor bipolaire en régime variable et faibles signaux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sz="1400" b="1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400" b="1" dirty="0">
                <a:latin typeface="Bookman Old Style" panose="02050604050505020204" pitchFamily="18" charset="0"/>
              </a:rPr>
              <a:t>Transistor en amplification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sz="1400" b="1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400" b="1" dirty="0">
                <a:latin typeface="Bookman Old Style" panose="02050604050505020204" pitchFamily="18" charset="0"/>
              </a:rPr>
              <a:t>Transistor bipolaire en hautes fréquences</a:t>
            </a:r>
          </a:p>
          <a:p>
            <a:endParaRPr lang="fr-FR" sz="14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10972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TRANSISTOR 2N1711 | YoupiLab Components">
            <a:extLst>
              <a:ext uri="{FF2B5EF4-FFF2-40B4-BE49-F238E27FC236}">
                <a16:creationId xmlns:a16="http://schemas.microsoft.com/office/drawing/2014/main" id="{08E17337-1B55-AD2C-E059-5A7536537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2727" y="2054040"/>
            <a:ext cx="1705584" cy="1705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ransistor bipolaire Boitier TO-92-3 (TO-226), 2N2222 | Transistors Tunisie">
            <a:extLst>
              <a:ext uri="{FF2B5EF4-FFF2-40B4-BE49-F238E27FC236}">
                <a16:creationId xmlns:a16="http://schemas.microsoft.com/office/drawing/2014/main" id="{D7B30BC6-CBC1-3791-F79B-A7A9CB1C58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7039" y="3332210"/>
            <a:ext cx="1809750" cy="180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6"/>
            <a:ext cx="52086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-Transistor-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762005" y="484817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29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0646" y="557613"/>
            <a:ext cx="6459754" cy="659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1. Introduction</a:t>
            </a:r>
          </a:p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endParaRPr lang="fr-FR" b="1" spc="-5" dirty="0">
              <a:solidFill>
                <a:srgbClr val="FF0000"/>
              </a:solidFill>
              <a:latin typeface="Bookman Old Style" panose="02050604050505020204" pitchFamily="18" charset="0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715000" y="365260"/>
            <a:ext cx="3328256" cy="10117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55AC47B-6915-C492-E517-25E3C3D9E5F0}"/>
              </a:ext>
            </a:extLst>
          </p:cNvPr>
          <p:cNvSpPr txBox="1"/>
          <p:nvPr/>
        </p:nvSpPr>
        <p:spPr>
          <a:xfrm>
            <a:off x="550646" y="958499"/>
            <a:ext cx="830567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600" dirty="0">
                <a:latin typeface="Bookman Old Style" panose="02050604050505020204" pitchFamily="18" charset="0"/>
              </a:rPr>
              <a:t>Le </a:t>
            </a:r>
            <a:r>
              <a:rPr lang="fr-FR" sz="1600" b="1" dirty="0">
                <a:latin typeface="Bookman Old Style" panose="02050604050505020204" pitchFamily="18" charset="0"/>
              </a:rPr>
              <a:t>Transistor bipolaire </a:t>
            </a:r>
            <a:r>
              <a:rPr lang="fr-FR" sz="1600" dirty="0">
                <a:latin typeface="Bookman Old Style" panose="02050604050505020204" pitchFamily="18" charset="0"/>
              </a:rPr>
              <a:t>est l’élément “</a:t>
            </a:r>
            <a:r>
              <a:rPr lang="fr-FR" sz="1600" b="1" dirty="0">
                <a:latin typeface="Bookman Old Style" panose="02050604050505020204" pitchFamily="18" charset="0"/>
              </a:rPr>
              <a:t>clé</a:t>
            </a:r>
            <a:r>
              <a:rPr lang="fr-FR" sz="1600" dirty="0">
                <a:latin typeface="Bookman Old Style" panose="02050604050505020204" pitchFamily="18" charset="0"/>
              </a:rPr>
              <a:t>” de l’</a:t>
            </a:r>
            <a:r>
              <a:rPr lang="fr-FR" sz="1600" b="1" dirty="0">
                <a:latin typeface="Bookman Old Style" panose="02050604050505020204" pitchFamily="18" charset="0"/>
              </a:rPr>
              <a:t>électronique</a:t>
            </a:r>
            <a:r>
              <a:rPr lang="fr-FR" sz="1600" dirty="0">
                <a:latin typeface="Bookman Old Style" panose="02050604050505020204" pitchFamily="18" charset="0"/>
              </a:rPr>
              <a:t>. Il peut :</a:t>
            </a:r>
          </a:p>
          <a:p>
            <a:pPr algn="just"/>
            <a:endParaRPr lang="fr-FR" sz="1600" dirty="0">
              <a:latin typeface="Bookman Old Style" panose="02050604050505020204" pitchFamily="18" charset="0"/>
            </a:endParaRPr>
          </a:p>
          <a:p>
            <a:pPr algn="just"/>
            <a:r>
              <a:rPr lang="fr-FR" sz="1600" dirty="0">
                <a:latin typeface="Bookman Old Style" panose="02050604050505020204" pitchFamily="18" charset="0"/>
              </a:rPr>
              <a:t>→ </a:t>
            </a:r>
            <a:r>
              <a:rPr lang="fr-FR" sz="1600" b="1" dirty="0">
                <a:latin typeface="Bookman Old Style" panose="02050604050505020204" pitchFamily="18" charset="0"/>
              </a:rPr>
              <a:t>amplifier un signal</a:t>
            </a:r>
          </a:p>
          <a:p>
            <a:pPr algn="just"/>
            <a:r>
              <a:rPr lang="fr-FR" sz="1600" dirty="0">
                <a:latin typeface="Bookman Old Style" panose="02050604050505020204" pitchFamily="18" charset="0"/>
              </a:rPr>
              <a:t>→ être utiliser comme a</a:t>
            </a:r>
            <a:r>
              <a:rPr lang="fr-FR" sz="1600" b="1" dirty="0">
                <a:latin typeface="Bookman Old Style" panose="02050604050505020204" pitchFamily="18" charset="0"/>
              </a:rPr>
              <a:t>mplificateur</a:t>
            </a:r>
            <a:r>
              <a:rPr lang="fr-FR" sz="1600" dirty="0">
                <a:latin typeface="Bookman Old Style" panose="02050604050505020204" pitchFamily="18" charset="0"/>
              </a:rPr>
              <a:t> de tension, de courant, de puissance,...</a:t>
            </a:r>
          </a:p>
          <a:p>
            <a:pPr algn="just"/>
            <a:r>
              <a:rPr lang="fr-FR" sz="1600" dirty="0">
                <a:latin typeface="Bookman Old Style" panose="02050604050505020204" pitchFamily="18" charset="0"/>
              </a:rPr>
              <a:t>→ être utilisé comme une </a:t>
            </a:r>
            <a:r>
              <a:rPr lang="fr-FR" sz="1600" b="1" dirty="0">
                <a:latin typeface="Bookman Old Style" panose="02050604050505020204" pitchFamily="18" charset="0"/>
              </a:rPr>
              <a:t>source de courant</a:t>
            </a:r>
          </a:p>
          <a:p>
            <a:pPr algn="just"/>
            <a:r>
              <a:rPr lang="fr-FR" sz="1600" dirty="0">
                <a:latin typeface="Bookman Old Style" panose="02050604050505020204" pitchFamily="18" charset="0"/>
              </a:rPr>
              <a:t>→ agir comme un i</a:t>
            </a:r>
            <a:r>
              <a:rPr lang="fr-FR" sz="1600" b="1" dirty="0">
                <a:latin typeface="Bookman Old Style" panose="02050604050505020204" pitchFamily="18" charset="0"/>
              </a:rPr>
              <a:t>nterrupteur commandé </a:t>
            </a:r>
            <a:r>
              <a:rPr lang="fr-FR" sz="1600" dirty="0">
                <a:latin typeface="Bookman Old Style" panose="02050604050505020204" pitchFamily="18" charset="0"/>
              </a:rPr>
              <a:t>(mémoire binaire)</a:t>
            </a:r>
          </a:p>
          <a:p>
            <a:pPr algn="just"/>
            <a:r>
              <a:rPr lang="fr-FR" sz="1600" dirty="0">
                <a:latin typeface="Bookman Old Style" panose="02050604050505020204" pitchFamily="18" charset="0"/>
              </a:rPr>
              <a:t>→ Essentiel pour </a:t>
            </a:r>
            <a:r>
              <a:rPr lang="fr-FR" sz="1600" b="1" dirty="0">
                <a:latin typeface="Bookman Old Style" panose="02050604050505020204" pitchFamily="18" charset="0"/>
              </a:rPr>
              <a:t>l’électronique numérique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7C0D30-A8B5-DE7E-5696-8ED26E9187E2}"/>
              </a:ext>
            </a:extLst>
          </p:cNvPr>
          <p:cNvSpPr txBox="1"/>
          <p:nvPr/>
        </p:nvSpPr>
        <p:spPr>
          <a:xfrm>
            <a:off x="550646" y="2871703"/>
            <a:ext cx="508815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algn="just">
              <a:defRPr sz="1400">
                <a:latin typeface="Bookman Old Style" panose="02050604050505020204" pitchFamily="18" charset="0"/>
              </a:defRPr>
            </a:lvl1pPr>
          </a:lstStyle>
          <a:p>
            <a:r>
              <a:rPr lang="fr-FR" sz="1600" dirty="0"/>
              <a:t>Le transistor se présente :</a:t>
            </a:r>
          </a:p>
          <a:p>
            <a:endParaRPr lang="fr-FR" sz="1600" dirty="0"/>
          </a:p>
          <a:p>
            <a:r>
              <a:rPr lang="fr-FR" sz="1600" dirty="0"/>
              <a:t>→ soit en </a:t>
            </a:r>
            <a:r>
              <a:rPr lang="fr-FR" sz="1600" b="1" dirty="0"/>
              <a:t>composant discret</a:t>
            </a:r>
            <a:r>
              <a:rPr lang="fr-FR" sz="1600" dirty="0"/>
              <a:t>,</a:t>
            </a:r>
          </a:p>
          <a:p>
            <a:endParaRPr lang="fr-FR" sz="1600" dirty="0"/>
          </a:p>
          <a:p>
            <a:r>
              <a:rPr lang="fr-FR" sz="1600" dirty="0"/>
              <a:t>→ soit en </a:t>
            </a:r>
            <a:r>
              <a:rPr lang="fr-FR" sz="1600" b="1" dirty="0"/>
              <a:t>circuit intégré</a:t>
            </a:r>
            <a:r>
              <a:rPr lang="fr-FR" sz="1600" dirty="0"/>
              <a:t>, allant de quelques unités (ex : amplificateur opérationnel) à plusieurs millions (ex : microcontrôleurs, microprocesseurs).</a:t>
            </a:r>
          </a:p>
        </p:txBody>
      </p:sp>
      <p:pic>
        <p:nvPicPr>
          <p:cNvPr id="1026" name="Picture 2" descr="Transistor bipolaire de type NPN, 10 pièces 2SC2625 2SC3320 C2625 C3320  TO-3P (Size : 2SC3320) : Amazon.fr: Commerce, Industrie et Science">
            <a:extLst>
              <a:ext uri="{FF2B5EF4-FFF2-40B4-BE49-F238E27FC236}">
                <a16:creationId xmlns:a16="http://schemas.microsoft.com/office/drawing/2014/main" id="{C75D2C59-D2A0-DA27-93BC-B4C07B73EA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2707017"/>
            <a:ext cx="1275857" cy="1250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11854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6"/>
            <a:ext cx="52086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-Transistor-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828933" y="486598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30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0646" y="557613"/>
            <a:ext cx="6993154" cy="6283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2. Structure et fonctionnement</a:t>
            </a:r>
          </a:p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sz="1600" b="1"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2.1 Structure est symbole</a:t>
            </a: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715000" y="365260"/>
            <a:ext cx="3328256" cy="10117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6900F52-BEB1-581B-F1E8-EB8D01DE84B8}"/>
              </a:ext>
            </a:extLst>
          </p:cNvPr>
          <p:cNvSpPr txBox="1"/>
          <p:nvPr/>
        </p:nvSpPr>
        <p:spPr>
          <a:xfrm>
            <a:off x="578902" y="1157038"/>
            <a:ext cx="8375374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300" dirty="0">
                <a:latin typeface="Bookman Old Style" panose="02050604050505020204" pitchFamily="18" charset="0"/>
              </a:rPr>
              <a:t>Le </a:t>
            </a:r>
            <a:r>
              <a:rPr lang="fr-FR" sz="1300" b="1" dirty="0">
                <a:latin typeface="Bookman Old Style" panose="02050604050505020204" pitchFamily="18" charset="0"/>
              </a:rPr>
              <a:t>transistor bipolaire</a:t>
            </a:r>
            <a:r>
              <a:rPr lang="fr-FR" sz="1300" dirty="0">
                <a:latin typeface="Bookman Old Style" panose="02050604050505020204" pitchFamily="18" charset="0"/>
              </a:rPr>
              <a:t>, encore appelé </a:t>
            </a:r>
            <a:r>
              <a:rPr lang="fr-FR" sz="1300" b="1" dirty="0">
                <a:latin typeface="Bookman Old Style" panose="02050604050505020204" pitchFamily="18" charset="0"/>
              </a:rPr>
              <a:t>transistor à jonctions</a:t>
            </a:r>
            <a:r>
              <a:rPr lang="fr-FR" sz="1300" dirty="0">
                <a:latin typeface="Bookman Old Style" panose="02050604050505020204" pitchFamily="18" charset="0"/>
              </a:rPr>
              <a:t>, est formé par la succession de </a:t>
            </a:r>
            <a:r>
              <a:rPr lang="fr-FR" sz="1300" b="1" dirty="0">
                <a:latin typeface="Bookman Old Style" panose="02050604050505020204" pitchFamily="18" charset="0"/>
              </a:rPr>
              <a:t>3 semi-conducteurs</a:t>
            </a:r>
            <a:r>
              <a:rPr lang="fr-FR" sz="1300" dirty="0">
                <a:latin typeface="Bookman Old Style" panose="02050604050505020204" pitchFamily="18" charset="0"/>
              </a:rPr>
              <a:t>, respectivement de </a:t>
            </a:r>
            <a:r>
              <a:rPr lang="fr-FR" sz="1300" b="1" dirty="0">
                <a:latin typeface="Bookman Old Style" panose="02050604050505020204" pitchFamily="18" charset="0"/>
              </a:rPr>
              <a:t>type</a:t>
            </a:r>
            <a:r>
              <a:rPr lang="fr-FR" sz="1300" dirty="0">
                <a:latin typeface="Bookman Old Style" panose="02050604050505020204" pitchFamily="18" charset="0"/>
              </a:rPr>
              <a:t> </a:t>
            </a:r>
            <a:r>
              <a:rPr lang="fr-FR" sz="13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NPN</a:t>
            </a:r>
            <a:r>
              <a:rPr lang="fr-FR" sz="1300" dirty="0">
                <a:latin typeface="Bookman Old Style" panose="02050604050505020204" pitchFamily="18" charset="0"/>
              </a:rPr>
              <a:t> (transistor NPN) ou </a:t>
            </a:r>
            <a:r>
              <a:rPr lang="fr-FR" sz="13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PNP </a:t>
            </a:r>
            <a:r>
              <a:rPr lang="fr-FR" sz="1300" dirty="0">
                <a:latin typeface="Bookman Old Style" panose="02050604050505020204" pitchFamily="18" charset="0"/>
              </a:rPr>
              <a:t>(transistor PNP) à l’aide de </a:t>
            </a:r>
            <a:r>
              <a:rPr lang="fr-FR" sz="1300" b="1" dirty="0">
                <a:latin typeface="Bookman Old Style" panose="02050604050505020204" pitchFamily="18" charset="0"/>
              </a:rPr>
              <a:t>2</a:t>
            </a:r>
            <a:r>
              <a:rPr lang="fr-FR" sz="1300" dirty="0">
                <a:latin typeface="Bookman Old Style" panose="02050604050505020204" pitchFamily="18" charset="0"/>
              </a:rPr>
              <a:t> </a:t>
            </a:r>
            <a:r>
              <a:rPr lang="fr-FR" sz="1300" b="1" dirty="0">
                <a:latin typeface="Bookman Old Style" panose="02050604050505020204" pitchFamily="18" charset="0"/>
              </a:rPr>
              <a:t>jonctions P-N</a:t>
            </a:r>
            <a:r>
              <a:rPr lang="fr-FR" sz="1300" dirty="0">
                <a:latin typeface="Bookman Old Style" panose="02050604050505020204" pitchFamily="18" charset="0"/>
              </a:rPr>
              <a:t>.</a:t>
            </a:r>
          </a:p>
        </p:txBody>
      </p:sp>
      <p:grpSp>
        <p:nvGrpSpPr>
          <p:cNvPr id="5" name="object 4">
            <a:extLst>
              <a:ext uri="{FF2B5EF4-FFF2-40B4-BE49-F238E27FC236}">
                <a16:creationId xmlns:a16="http://schemas.microsoft.com/office/drawing/2014/main" id="{B26B5661-EF2C-B10A-6640-FEB98DACA070}"/>
              </a:ext>
            </a:extLst>
          </p:cNvPr>
          <p:cNvGrpSpPr/>
          <p:nvPr/>
        </p:nvGrpSpPr>
        <p:grpSpPr>
          <a:xfrm>
            <a:off x="130911" y="2051670"/>
            <a:ext cx="839469" cy="612775"/>
            <a:chOff x="544448" y="3098673"/>
            <a:chExt cx="839469" cy="612775"/>
          </a:xfrm>
          <a:solidFill>
            <a:srgbClr val="00CC99"/>
          </a:solidFill>
        </p:grpSpPr>
        <p:sp>
          <p:nvSpPr>
            <p:cNvPr id="12" name="object 5">
              <a:extLst>
                <a:ext uri="{FF2B5EF4-FFF2-40B4-BE49-F238E27FC236}">
                  <a16:creationId xmlns:a16="http://schemas.microsoft.com/office/drawing/2014/main" id="{4E98F455-ED20-3737-DCAD-5E19F5060CC3}"/>
                </a:ext>
              </a:extLst>
            </p:cNvPr>
            <p:cNvSpPr/>
            <p:nvPr/>
          </p:nvSpPr>
          <p:spPr>
            <a:xfrm>
              <a:off x="551306" y="3105531"/>
              <a:ext cx="825500" cy="599440"/>
            </a:xfrm>
            <a:custGeom>
              <a:avLst/>
              <a:gdLst/>
              <a:ahLst/>
              <a:cxnLst/>
              <a:rect l="l" t="t" r="r" b="b"/>
              <a:pathLst>
                <a:path w="825500" h="599439">
                  <a:moveTo>
                    <a:pt x="825246" y="598932"/>
                  </a:moveTo>
                  <a:lnTo>
                    <a:pt x="825246" y="0"/>
                  </a:lnTo>
                  <a:lnTo>
                    <a:pt x="0" y="0"/>
                  </a:lnTo>
                  <a:lnTo>
                    <a:pt x="0" y="598932"/>
                  </a:lnTo>
                  <a:lnTo>
                    <a:pt x="825246" y="598932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  <p:sp>
          <p:nvSpPr>
            <p:cNvPr id="13" name="object 6">
              <a:extLst>
                <a:ext uri="{FF2B5EF4-FFF2-40B4-BE49-F238E27FC236}">
                  <a16:creationId xmlns:a16="http://schemas.microsoft.com/office/drawing/2014/main" id="{4AB464A3-4A8D-2540-F3BC-76ADD737F515}"/>
                </a:ext>
              </a:extLst>
            </p:cNvPr>
            <p:cNvSpPr/>
            <p:nvPr/>
          </p:nvSpPr>
          <p:spPr>
            <a:xfrm>
              <a:off x="551306" y="3105531"/>
              <a:ext cx="825500" cy="599440"/>
            </a:xfrm>
            <a:custGeom>
              <a:avLst/>
              <a:gdLst/>
              <a:ahLst/>
              <a:cxnLst/>
              <a:rect l="l" t="t" r="r" b="b"/>
              <a:pathLst>
                <a:path w="825500" h="599439">
                  <a:moveTo>
                    <a:pt x="0" y="0"/>
                  </a:moveTo>
                  <a:lnTo>
                    <a:pt x="825246" y="0"/>
                  </a:lnTo>
                  <a:lnTo>
                    <a:pt x="825246" y="598932"/>
                  </a:lnTo>
                  <a:lnTo>
                    <a:pt x="0" y="5989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371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</p:grpSp>
      <p:grpSp>
        <p:nvGrpSpPr>
          <p:cNvPr id="16" name="object 8">
            <a:extLst>
              <a:ext uri="{FF2B5EF4-FFF2-40B4-BE49-F238E27FC236}">
                <a16:creationId xmlns:a16="http://schemas.microsoft.com/office/drawing/2014/main" id="{0CA4F193-6DB4-D0EE-244F-99E83EE57FD9}"/>
              </a:ext>
            </a:extLst>
          </p:cNvPr>
          <p:cNvGrpSpPr/>
          <p:nvPr/>
        </p:nvGrpSpPr>
        <p:grpSpPr>
          <a:xfrm>
            <a:off x="1223200" y="2567214"/>
            <a:ext cx="1327150" cy="2390140"/>
            <a:chOff x="2142870" y="3666109"/>
            <a:chExt cx="1327150" cy="2390140"/>
          </a:xfrm>
        </p:grpSpPr>
        <p:sp>
          <p:nvSpPr>
            <p:cNvPr id="17" name="object 9">
              <a:extLst>
                <a:ext uri="{FF2B5EF4-FFF2-40B4-BE49-F238E27FC236}">
                  <a16:creationId xmlns:a16="http://schemas.microsoft.com/office/drawing/2014/main" id="{67422524-FBBA-DB4E-EF98-04F498998A4A}"/>
                </a:ext>
              </a:extLst>
            </p:cNvPr>
            <p:cNvSpPr/>
            <p:nvPr/>
          </p:nvSpPr>
          <p:spPr>
            <a:xfrm>
              <a:off x="2148840" y="5295519"/>
              <a:ext cx="1314450" cy="754380"/>
            </a:xfrm>
            <a:custGeom>
              <a:avLst/>
              <a:gdLst/>
              <a:ahLst/>
              <a:cxnLst/>
              <a:rect l="l" t="t" r="r" b="b"/>
              <a:pathLst>
                <a:path w="1314450" h="754379">
                  <a:moveTo>
                    <a:pt x="1314450" y="0"/>
                  </a:moveTo>
                  <a:lnTo>
                    <a:pt x="722630" y="0"/>
                  </a:lnTo>
                  <a:lnTo>
                    <a:pt x="591820" y="0"/>
                  </a:lnTo>
                  <a:lnTo>
                    <a:pt x="0" y="0"/>
                  </a:lnTo>
                  <a:lnTo>
                    <a:pt x="0" y="214884"/>
                  </a:lnTo>
                  <a:lnTo>
                    <a:pt x="591820" y="214884"/>
                  </a:lnTo>
                  <a:lnTo>
                    <a:pt x="591820" y="754380"/>
                  </a:lnTo>
                  <a:lnTo>
                    <a:pt x="722630" y="754380"/>
                  </a:lnTo>
                  <a:lnTo>
                    <a:pt x="722630" y="214884"/>
                  </a:lnTo>
                  <a:lnTo>
                    <a:pt x="1314450" y="214884"/>
                  </a:lnTo>
                  <a:lnTo>
                    <a:pt x="1314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  <p:sp>
          <p:nvSpPr>
            <p:cNvPr id="20" name="object 10">
              <a:extLst>
                <a:ext uri="{FF2B5EF4-FFF2-40B4-BE49-F238E27FC236}">
                  <a16:creationId xmlns:a16="http://schemas.microsoft.com/office/drawing/2014/main" id="{1EF01EB3-149C-4C63-7478-6232D842859A}"/>
                </a:ext>
              </a:extLst>
            </p:cNvPr>
            <p:cNvSpPr/>
            <p:nvPr/>
          </p:nvSpPr>
          <p:spPr>
            <a:xfrm>
              <a:off x="2149220" y="5295519"/>
              <a:ext cx="1314450" cy="754380"/>
            </a:xfrm>
            <a:custGeom>
              <a:avLst/>
              <a:gdLst/>
              <a:ahLst/>
              <a:cxnLst/>
              <a:rect l="l" t="t" r="r" b="b"/>
              <a:pathLst>
                <a:path w="1314450" h="754379">
                  <a:moveTo>
                    <a:pt x="0" y="18287"/>
                  </a:moveTo>
                  <a:lnTo>
                    <a:pt x="18287" y="0"/>
                  </a:lnTo>
                </a:path>
                <a:path w="1314450" h="754379">
                  <a:moveTo>
                    <a:pt x="0" y="77723"/>
                  </a:moveTo>
                  <a:lnTo>
                    <a:pt x="77723" y="0"/>
                  </a:lnTo>
                </a:path>
                <a:path w="1314450" h="754379">
                  <a:moveTo>
                    <a:pt x="0" y="137159"/>
                  </a:moveTo>
                  <a:lnTo>
                    <a:pt x="137159" y="0"/>
                  </a:lnTo>
                </a:path>
                <a:path w="1314450" h="754379">
                  <a:moveTo>
                    <a:pt x="0" y="196595"/>
                  </a:moveTo>
                  <a:lnTo>
                    <a:pt x="196595" y="0"/>
                  </a:lnTo>
                </a:path>
                <a:path w="1314450" h="754379">
                  <a:moveTo>
                    <a:pt x="41148" y="214883"/>
                  </a:moveTo>
                  <a:lnTo>
                    <a:pt x="256031" y="0"/>
                  </a:lnTo>
                </a:path>
                <a:path w="1314450" h="754379">
                  <a:moveTo>
                    <a:pt x="100584" y="214883"/>
                  </a:moveTo>
                  <a:lnTo>
                    <a:pt x="315467" y="0"/>
                  </a:lnTo>
                </a:path>
                <a:path w="1314450" h="754379">
                  <a:moveTo>
                    <a:pt x="160020" y="214883"/>
                  </a:moveTo>
                  <a:lnTo>
                    <a:pt x="374903" y="0"/>
                  </a:lnTo>
                </a:path>
                <a:path w="1314450" h="754379">
                  <a:moveTo>
                    <a:pt x="219456" y="214883"/>
                  </a:moveTo>
                  <a:lnTo>
                    <a:pt x="434339" y="0"/>
                  </a:lnTo>
                </a:path>
                <a:path w="1314450" h="754379">
                  <a:moveTo>
                    <a:pt x="278892" y="214883"/>
                  </a:moveTo>
                  <a:lnTo>
                    <a:pt x="493775" y="0"/>
                  </a:lnTo>
                </a:path>
                <a:path w="1314450" h="754379">
                  <a:moveTo>
                    <a:pt x="338327" y="214883"/>
                  </a:moveTo>
                  <a:lnTo>
                    <a:pt x="553211" y="0"/>
                  </a:lnTo>
                </a:path>
                <a:path w="1314450" h="754379">
                  <a:moveTo>
                    <a:pt x="397763" y="214883"/>
                  </a:moveTo>
                  <a:lnTo>
                    <a:pt x="612647" y="0"/>
                  </a:lnTo>
                </a:path>
                <a:path w="1314450" h="754379">
                  <a:moveTo>
                    <a:pt x="457200" y="214883"/>
                  </a:moveTo>
                  <a:lnTo>
                    <a:pt x="672083" y="0"/>
                  </a:lnTo>
                </a:path>
                <a:path w="1314450" h="754379">
                  <a:moveTo>
                    <a:pt x="516636" y="214883"/>
                  </a:moveTo>
                  <a:lnTo>
                    <a:pt x="731519" y="0"/>
                  </a:lnTo>
                </a:path>
                <a:path w="1314450" h="754379">
                  <a:moveTo>
                    <a:pt x="576071" y="214883"/>
                  </a:moveTo>
                  <a:lnTo>
                    <a:pt x="790955" y="0"/>
                  </a:lnTo>
                </a:path>
                <a:path w="1314450" h="754379">
                  <a:moveTo>
                    <a:pt x="592074" y="258317"/>
                  </a:moveTo>
                  <a:lnTo>
                    <a:pt x="635508" y="214883"/>
                  </a:lnTo>
                </a:path>
                <a:path w="1314450" h="754379">
                  <a:moveTo>
                    <a:pt x="635507" y="214883"/>
                  </a:moveTo>
                  <a:lnTo>
                    <a:pt x="850391" y="0"/>
                  </a:lnTo>
                </a:path>
                <a:path w="1314450" h="754379">
                  <a:moveTo>
                    <a:pt x="592074" y="317753"/>
                  </a:moveTo>
                  <a:lnTo>
                    <a:pt x="694944" y="214883"/>
                  </a:lnTo>
                </a:path>
                <a:path w="1314450" h="754379">
                  <a:moveTo>
                    <a:pt x="694944" y="214883"/>
                  </a:moveTo>
                  <a:lnTo>
                    <a:pt x="909827" y="0"/>
                  </a:lnTo>
                </a:path>
                <a:path w="1314450" h="754379">
                  <a:moveTo>
                    <a:pt x="592074" y="377189"/>
                  </a:moveTo>
                  <a:lnTo>
                    <a:pt x="722376" y="246887"/>
                  </a:lnTo>
                </a:path>
                <a:path w="1314450" h="754379">
                  <a:moveTo>
                    <a:pt x="754380" y="214883"/>
                  </a:moveTo>
                  <a:lnTo>
                    <a:pt x="969263" y="0"/>
                  </a:lnTo>
                </a:path>
                <a:path w="1314450" h="754379">
                  <a:moveTo>
                    <a:pt x="592074" y="436625"/>
                  </a:moveTo>
                  <a:lnTo>
                    <a:pt x="722376" y="306323"/>
                  </a:lnTo>
                </a:path>
                <a:path w="1314450" h="754379">
                  <a:moveTo>
                    <a:pt x="813816" y="214883"/>
                  </a:moveTo>
                  <a:lnTo>
                    <a:pt x="1028699" y="0"/>
                  </a:lnTo>
                </a:path>
                <a:path w="1314450" h="754379">
                  <a:moveTo>
                    <a:pt x="592074" y="496062"/>
                  </a:moveTo>
                  <a:lnTo>
                    <a:pt x="722376" y="365759"/>
                  </a:lnTo>
                </a:path>
                <a:path w="1314450" h="754379">
                  <a:moveTo>
                    <a:pt x="873252" y="214883"/>
                  </a:moveTo>
                  <a:lnTo>
                    <a:pt x="1088135" y="0"/>
                  </a:lnTo>
                </a:path>
                <a:path w="1314450" h="754379">
                  <a:moveTo>
                    <a:pt x="592074" y="555497"/>
                  </a:moveTo>
                  <a:lnTo>
                    <a:pt x="722376" y="425195"/>
                  </a:lnTo>
                </a:path>
                <a:path w="1314450" h="754379">
                  <a:moveTo>
                    <a:pt x="932687" y="214883"/>
                  </a:moveTo>
                  <a:lnTo>
                    <a:pt x="1147571" y="0"/>
                  </a:lnTo>
                </a:path>
                <a:path w="1314450" h="754379">
                  <a:moveTo>
                    <a:pt x="592074" y="614933"/>
                  </a:moveTo>
                  <a:lnTo>
                    <a:pt x="722376" y="484631"/>
                  </a:lnTo>
                </a:path>
                <a:path w="1314450" h="754379">
                  <a:moveTo>
                    <a:pt x="992123" y="214883"/>
                  </a:moveTo>
                  <a:lnTo>
                    <a:pt x="1207007" y="0"/>
                  </a:lnTo>
                </a:path>
                <a:path w="1314450" h="754379">
                  <a:moveTo>
                    <a:pt x="592073" y="674369"/>
                  </a:moveTo>
                  <a:lnTo>
                    <a:pt x="722376" y="544067"/>
                  </a:lnTo>
                </a:path>
                <a:path w="1314450" h="754379">
                  <a:moveTo>
                    <a:pt x="1051559" y="214883"/>
                  </a:moveTo>
                  <a:lnTo>
                    <a:pt x="1266443" y="0"/>
                  </a:lnTo>
                </a:path>
                <a:path w="1314450" h="754379">
                  <a:moveTo>
                    <a:pt x="592074" y="733805"/>
                  </a:moveTo>
                  <a:lnTo>
                    <a:pt x="722376" y="603503"/>
                  </a:lnTo>
                </a:path>
                <a:path w="1314450" h="754379">
                  <a:moveTo>
                    <a:pt x="1110995" y="214883"/>
                  </a:moveTo>
                  <a:lnTo>
                    <a:pt x="1314449" y="11429"/>
                  </a:lnTo>
                </a:path>
                <a:path w="1314450" h="754379">
                  <a:moveTo>
                    <a:pt x="630936" y="754379"/>
                  </a:moveTo>
                  <a:lnTo>
                    <a:pt x="722376" y="662939"/>
                  </a:lnTo>
                </a:path>
                <a:path w="1314450" h="754379">
                  <a:moveTo>
                    <a:pt x="1170431" y="214883"/>
                  </a:moveTo>
                  <a:lnTo>
                    <a:pt x="1314449" y="70865"/>
                  </a:lnTo>
                </a:path>
                <a:path w="1314450" h="754379">
                  <a:moveTo>
                    <a:pt x="690371" y="754379"/>
                  </a:moveTo>
                  <a:lnTo>
                    <a:pt x="722376" y="722375"/>
                  </a:lnTo>
                </a:path>
                <a:path w="1314450" h="754379">
                  <a:moveTo>
                    <a:pt x="1229867" y="214883"/>
                  </a:moveTo>
                  <a:lnTo>
                    <a:pt x="1314449" y="130301"/>
                  </a:lnTo>
                </a:path>
                <a:path w="1314450" h="754379">
                  <a:moveTo>
                    <a:pt x="1289303" y="214883"/>
                  </a:moveTo>
                  <a:lnTo>
                    <a:pt x="1314449" y="18973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  <p:sp>
          <p:nvSpPr>
            <p:cNvPr id="22" name="object 11">
              <a:extLst>
                <a:ext uri="{FF2B5EF4-FFF2-40B4-BE49-F238E27FC236}">
                  <a16:creationId xmlns:a16="http://schemas.microsoft.com/office/drawing/2014/main" id="{A5BDBF30-742D-18C1-225E-1A58BA971B4D}"/>
                </a:ext>
              </a:extLst>
            </p:cNvPr>
            <p:cNvSpPr/>
            <p:nvPr/>
          </p:nvSpPr>
          <p:spPr>
            <a:xfrm>
              <a:off x="2149220" y="3672459"/>
              <a:ext cx="1314450" cy="2377440"/>
            </a:xfrm>
            <a:custGeom>
              <a:avLst/>
              <a:gdLst/>
              <a:ahLst/>
              <a:cxnLst/>
              <a:rect l="l" t="t" r="r" b="b"/>
              <a:pathLst>
                <a:path w="1314450" h="2377440">
                  <a:moveTo>
                    <a:pt x="0" y="1837943"/>
                  </a:moveTo>
                  <a:lnTo>
                    <a:pt x="0" y="1623060"/>
                  </a:lnTo>
                  <a:lnTo>
                    <a:pt x="1314450" y="1623060"/>
                  </a:lnTo>
                  <a:lnTo>
                    <a:pt x="1314450" y="1837943"/>
                  </a:lnTo>
                  <a:lnTo>
                    <a:pt x="722376" y="1837943"/>
                  </a:lnTo>
                  <a:lnTo>
                    <a:pt x="722376" y="2377440"/>
                  </a:lnTo>
                  <a:lnTo>
                    <a:pt x="592074" y="2377440"/>
                  </a:lnTo>
                  <a:lnTo>
                    <a:pt x="592074" y="1837943"/>
                  </a:lnTo>
                  <a:lnTo>
                    <a:pt x="0" y="1837943"/>
                  </a:lnTo>
                  <a:close/>
                </a:path>
                <a:path w="1314450" h="2377440">
                  <a:moveTo>
                    <a:pt x="0" y="1835657"/>
                  </a:moveTo>
                  <a:lnTo>
                    <a:pt x="0" y="1620774"/>
                  </a:lnTo>
                  <a:lnTo>
                    <a:pt x="1314450" y="1620774"/>
                  </a:lnTo>
                  <a:lnTo>
                    <a:pt x="1314450" y="1835657"/>
                  </a:lnTo>
                  <a:lnTo>
                    <a:pt x="722376" y="1835657"/>
                  </a:lnTo>
                  <a:lnTo>
                    <a:pt x="722376" y="2375154"/>
                  </a:lnTo>
                  <a:lnTo>
                    <a:pt x="592074" y="2375154"/>
                  </a:lnTo>
                  <a:lnTo>
                    <a:pt x="592074" y="1835657"/>
                  </a:lnTo>
                  <a:lnTo>
                    <a:pt x="0" y="1835657"/>
                  </a:lnTo>
                </a:path>
                <a:path w="1314450" h="2377440">
                  <a:moveTo>
                    <a:pt x="0" y="0"/>
                  </a:moveTo>
                  <a:lnTo>
                    <a:pt x="1312164" y="0"/>
                  </a:lnTo>
                  <a:lnTo>
                    <a:pt x="1312164" y="1074419"/>
                  </a:lnTo>
                  <a:lnTo>
                    <a:pt x="0" y="1074419"/>
                  </a:lnTo>
                  <a:lnTo>
                    <a:pt x="0" y="0"/>
                  </a:lnTo>
                  <a:close/>
                </a:path>
                <a:path w="1314450" h="2377440">
                  <a:moveTo>
                    <a:pt x="0" y="1081277"/>
                  </a:moveTo>
                  <a:lnTo>
                    <a:pt x="1312164" y="1081277"/>
                  </a:lnTo>
                  <a:lnTo>
                    <a:pt x="1312164" y="1348739"/>
                  </a:lnTo>
                  <a:lnTo>
                    <a:pt x="0" y="1348739"/>
                  </a:lnTo>
                  <a:lnTo>
                    <a:pt x="0" y="108127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</p:grpSp>
      <p:sp>
        <p:nvSpPr>
          <p:cNvPr id="23" name="object 12">
            <a:extLst>
              <a:ext uri="{FF2B5EF4-FFF2-40B4-BE49-F238E27FC236}">
                <a16:creationId xmlns:a16="http://schemas.microsoft.com/office/drawing/2014/main" id="{2E90714C-3B69-FFE1-E6D1-07698512B160}"/>
              </a:ext>
            </a:extLst>
          </p:cNvPr>
          <p:cNvSpPr txBox="1"/>
          <p:nvPr/>
        </p:nvSpPr>
        <p:spPr>
          <a:xfrm>
            <a:off x="2270662" y="2683135"/>
            <a:ext cx="18161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Bookman Old Style" panose="02050604050505020204" pitchFamily="18" charset="0"/>
                <a:cs typeface="Times New Roman"/>
              </a:rPr>
              <a:t>N</a:t>
            </a:r>
            <a:endParaRPr sz="120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24" name="object 13">
            <a:extLst>
              <a:ext uri="{FF2B5EF4-FFF2-40B4-BE49-F238E27FC236}">
                <a16:creationId xmlns:a16="http://schemas.microsoft.com/office/drawing/2014/main" id="{7B0D0671-C8AB-8D72-B3D5-985EE5D696D4}"/>
              </a:ext>
            </a:extLst>
          </p:cNvPr>
          <p:cNvSpPr txBox="1"/>
          <p:nvPr/>
        </p:nvSpPr>
        <p:spPr>
          <a:xfrm>
            <a:off x="2270662" y="3602114"/>
            <a:ext cx="14605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Bookman Old Style" panose="02050604050505020204" pitchFamily="18" charset="0"/>
                <a:cs typeface="Times New Roman"/>
              </a:rPr>
              <a:t>P</a:t>
            </a:r>
            <a:endParaRPr sz="120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25" name="object 14">
            <a:extLst>
              <a:ext uri="{FF2B5EF4-FFF2-40B4-BE49-F238E27FC236}">
                <a16:creationId xmlns:a16="http://schemas.microsoft.com/office/drawing/2014/main" id="{C5890E9F-D460-995A-0B95-A151AC58ED97}"/>
              </a:ext>
            </a:extLst>
          </p:cNvPr>
          <p:cNvSpPr txBox="1"/>
          <p:nvPr/>
        </p:nvSpPr>
        <p:spPr>
          <a:xfrm>
            <a:off x="1365819" y="4920412"/>
            <a:ext cx="130365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Bookman Old Style" panose="02050604050505020204" pitchFamily="18" charset="0"/>
                <a:cs typeface="Times New Roman"/>
              </a:rPr>
              <a:t>Structure</a:t>
            </a:r>
            <a:r>
              <a:rPr sz="1200" spc="-8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dirty="0">
                <a:latin typeface="Bookman Old Style" panose="02050604050505020204" pitchFamily="18" charset="0"/>
                <a:cs typeface="Times New Roman"/>
              </a:rPr>
              <a:t>NPN</a:t>
            </a:r>
            <a:endParaRPr sz="1200">
              <a:latin typeface="Bookman Old Style" panose="02050604050505020204" pitchFamily="18" charset="0"/>
              <a:cs typeface="Times New Roman"/>
            </a:endParaRPr>
          </a:p>
        </p:txBody>
      </p:sp>
      <p:grpSp>
        <p:nvGrpSpPr>
          <p:cNvPr id="26" name="object 15">
            <a:extLst>
              <a:ext uri="{FF2B5EF4-FFF2-40B4-BE49-F238E27FC236}">
                <a16:creationId xmlns:a16="http://schemas.microsoft.com/office/drawing/2014/main" id="{11CA2FB5-9E72-C558-2293-CB81B2B573B9}"/>
              </a:ext>
            </a:extLst>
          </p:cNvPr>
          <p:cNvGrpSpPr/>
          <p:nvPr/>
        </p:nvGrpSpPr>
        <p:grpSpPr>
          <a:xfrm>
            <a:off x="1223200" y="1810547"/>
            <a:ext cx="1327150" cy="769620"/>
            <a:chOff x="2142870" y="2909442"/>
            <a:chExt cx="1327150" cy="769620"/>
          </a:xfrm>
        </p:grpSpPr>
        <p:sp>
          <p:nvSpPr>
            <p:cNvPr id="27" name="object 16">
              <a:extLst>
                <a:ext uri="{FF2B5EF4-FFF2-40B4-BE49-F238E27FC236}">
                  <a16:creationId xmlns:a16="http://schemas.microsoft.com/office/drawing/2014/main" id="{BE27AECF-4F22-9DEC-3576-21971F947A66}"/>
                </a:ext>
              </a:extLst>
            </p:cNvPr>
            <p:cNvSpPr/>
            <p:nvPr/>
          </p:nvSpPr>
          <p:spPr>
            <a:xfrm>
              <a:off x="2148840" y="2918078"/>
              <a:ext cx="1314450" cy="754380"/>
            </a:xfrm>
            <a:custGeom>
              <a:avLst/>
              <a:gdLst/>
              <a:ahLst/>
              <a:cxnLst/>
              <a:rect l="l" t="t" r="r" b="b"/>
              <a:pathLst>
                <a:path w="1314450" h="754379">
                  <a:moveTo>
                    <a:pt x="1314450" y="539496"/>
                  </a:moveTo>
                  <a:lnTo>
                    <a:pt x="722630" y="539496"/>
                  </a:lnTo>
                  <a:lnTo>
                    <a:pt x="722630" y="0"/>
                  </a:lnTo>
                  <a:lnTo>
                    <a:pt x="591820" y="0"/>
                  </a:lnTo>
                  <a:lnTo>
                    <a:pt x="591820" y="539496"/>
                  </a:lnTo>
                  <a:lnTo>
                    <a:pt x="0" y="539496"/>
                  </a:lnTo>
                  <a:lnTo>
                    <a:pt x="0" y="754380"/>
                  </a:lnTo>
                  <a:lnTo>
                    <a:pt x="591820" y="754380"/>
                  </a:lnTo>
                  <a:lnTo>
                    <a:pt x="722630" y="754380"/>
                  </a:lnTo>
                  <a:lnTo>
                    <a:pt x="1314450" y="754380"/>
                  </a:lnTo>
                  <a:lnTo>
                    <a:pt x="1314450" y="5394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  <p:sp>
          <p:nvSpPr>
            <p:cNvPr id="28" name="object 17">
              <a:extLst>
                <a:ext uri="{FF2B5EF4-FFF2-40B4-BE49-F238E27FC236}">
                  <a16:creationId xmlns:a16="http://schemas.microsoft.com/office/drawing/2014/main" id="{D227F8BD-BDF7-79E6-6A19-FD0736D4609D}"/>
                </a:ext>
              </a:extLst>
            </p:cNvPr>
            <p:cNvSpPr/>
            <p:nvPr/>
          </p:nvSpPr>
          <p:spPr>
            <a:xfrm>
              <a:off x="2149220" y="2918078"/>
              <a:ext cx="1314450" cy="754380"/>
            </a:xfrm>
            <a:custGeom>
              <a:avLst/>
              <a:gdLst/>
              <a:ahLst/>
              <a:cxnLst/>
              <a:rect l="l" t="t" r="r" b="b"/>
              <a:pathLst>
                <a:path w="1314450" h="754379">
                  <a:moveTo>
                    <a:pt x="0" y="553212"/>
                  </a:moveTo>
                  <a:lnTo>
                    <a:pt x="13715" y="539496"/>
                  </a:lnTo>
                </a:path>
                <a:path w="1314450" h="754379">
                  <a:moveTo>
                    <a:pt x="0" y="612648"/>
                  </a:moveTo>
                  <a:lnTo>
                    <a:pt x="73151" y="539496"/>
                  </a:lnTo>
                </a:path>
                <a:path w="1314450" h="754379">
                  <a:moveTo>
                    <a:pt x="592073" y="20574"/>
                  </a:moveTo>
                  <a:lnTo>
                    <a:pt x="612647" y="0"/>
                  </a:lnTo>
                </a:path>
                <a:path w="1314450" h="754379">
                  <a:moveTo>
                    <a:pt x="0" y="672084"/>
                  </a:moveTo>
                  <a:lnTo>
                    <a:pt x="132587" y="539496"/>
                  </a:lnTo>
                </a:path>
                <a:path w="1314450" h="754379">
                  <a:moveTo>
                    <a:pt x="592073" y="80010"/>
                  </a:moveTo>
                  <a:lnTo>
                    <a:pt x="672083" y="0"/>
                  </a:lnTo>
                </a:path>
                <a:path w="1314450" h="754379">
                  <a:moveTo>
                    <a:pt x="0" y="731520"/>
                  </a:moveTo>
                  <a:lnTo>
                    <a:pt x="192024" y="539496"/>
                  </a:lnTo>
                </a:path>
                <a:path w="1314450" h="754379">
                  <a:moveTo>
                    <a:pt x="592073" y="139446"/>
                  </a:moveTo>
                  <a:lnTo>
                    <a:pt x="722375" y="9144"/>
                  </a:lnTo>
                </a:path>
                <a:path w="1314450" h="754379">
                  <a:moveTo>
                    <a:pt x="36575" y="754380"/>
                  </a:moveTo>
                  <a:lnTo>
                    <a:pt x="251460" y="539496"/>
                  </a:lnTo>
                </a:path>
                <a:path w="1314450" h="754379">
                  <a:moveTo>
                    <a:pt x="592073" y="198882"/>
                  </a:moveTo>
                  <a:lnTo>
                    <a:pt x="722376" y="68580"/>
                  </a:lnTo>
                </a:path>
                <a:path w="1314450" h="754379">
                  <a:moveTo>
                    <a:pt x="96011" y="754380"/>
                  </a:moveTo>
                  <a:lnTo>
                    <a:pt x="310895" y="539496"/>
                  </a:lnTo>
                </a:path>
                <a:path w="1314450" h="754379">
                  <a:moveTo>
                    <a:pt x="592073" y="258318"/>
                  </a:moveTo>
                  <a:lnTo>
                    <a:pt x="722376" y="128015"/>
                  </a:lnTo>
                </a:path>
                <a:path w="1314450" h="754379">
                  <a:moveTo>
                    <a:pt x="155447" y="754380"/>
                  </a:moveTo>
                  <a:lnTo>
                    <a:pt x="370331" y="539496"/>
                  </a:lnTo>
                </a:path>
                <a:path w="1314450" h="754379">
                  <a:moveTo>
                    <a:pt x="592074" y="317754"/>
                  </a:moveTo>
                  <a:lnTo>
                    <a:pt x="722376" y="187451"/>
                  </a:lnTo>
                </a:path>
                <a:path w="1314450" h="754379">
                  <a:moveTo>
                    <a:pt x="214883" y="754380"/>
                  </a:moveTo>
                  <a:lnTo>
                    <a:pt x="429767" y="539496"/>
                  </a:lnTo>
                </a:path>
                <a:path w="1314450" h="754379">
                  <a:moveTo>
                    <a:pt x="592074" y="377190"/>
                  </a:moveTo>
                  <a:lnTo>
                    <a:pt x="722376" y="246887"/>
                  </a:lnTo>
                </a:path>
                <a:path w="1314450" h="754379">
                  <a:moveTo>
                    <a:pt x="274319" y="754380"/>
                  </a:moveTo>
                  <a:lnTo>
                    <a:pt x="489203" y="539496"/>
                  </a:lnTo>
                </a:path>
                <a:path w="1314450" h="754379">
                  <a:moveTo>
                    <a:pt x="592074" y="436625"/>
                  </a:moveTo>
                  <a:lnTo>
                    <a:pt x="722376" y="306323"/>
                  </a:lnTo>
                </a:path>
                <a:path w="1314450" h="754379">
                  <a:moveTo>
                    <a:pt x="333755" y="754380"/>
                  </a:moveTo>
                  <a:lnTo>
                    <a:pt x="548639" y="539496"/>
                  </a:lnTo>
                </a:path>
                <a:path w="1314450" h="754379">
                  <a:moveTo>
                    <a:pt x="592073" y="496062"/>
                  </a:moveTo>
                  <a:lnTo>
                    <a:pt x="722376" y="365760"/>
                  </a:lnTo>
                </a:path>
                <a:path w="1314450" h="754379">
                  <a:moveTo>
                    <a:pt x="393191" y="754380"/>
                  </a:moveTo>
                  <a:lnTo>
                    <a:pt x="608076" y="539496"/>
                  </a:lnTo>
                </a:path>
                <a:path w="1314450" h="754379">
                  <a:moveTo>
                    <a:pt x="608076" y="539496"/>
                  </a:moveTo>
                  <a:lnTo>
                    <a:pt x="722376" y="425195"/>
                  </a:lnTo>
                </a:path>
                <a:path w="1314450" h="754379">
                  <a:moveTo>
                    <a:pt x="452627" y="754380"/>
                  </a:moveTo>
                  <a:lnTo>
                    <a:pt x="667512" y="539496"/>
                  </a:lnTo>
                </a:path>
                <a:path w="1314450" h="754379">
                  <a:moveTo>
                    <a:pt x="667512" y="539496"/>
                  </a:moveTo>
                  <a:lnTo>
                    <a:pt x="722376" y="484631"/>
                  </a:lnTo>
                </a:path>
                <a:path w="1314450" h="754379">
                  <a:moveTo>
                    <a:pt x="512063" y="754380"/>
                  </a:moveTo>
                  <a:lnTo>
                    <a:pt x="726947" y="539496"/>
                  </a:lnTo>
                </a:path>
                <a:path w="1314450" h="754379">
                  <a:moveTo>
                    <a:pt x="571499" y="754380"/>
                  </a:moveTo>
                  <a:lnTo>
                    <a:pt x="786383" y="539496"/>
                  </a:lnTo>
                </a:path>
                <a:path w="1314450" h="754379">
                  <a:moveTo>
                    <a:pt x="630935" y="754380"/>
                  </a:moveTo>
                  <a:lnTo>
                    <a:pt x="845819" y="539496"/>
                  </a:lnTo>
                </a:path>
                <a:path w="1314450" h="754379">
                  <a:moveTo>
                    <a:pt x="690371" y="754380"/>
                  </a:moveTo>
                  <a:lnTo>
                    <a:pt x="905255" y="539496"/>
                  </a:lnTo>
                </a:path>
                <a:path w="1314450" h="754379">
                  <a:moveTo>
                    <a:pt x="749807" y="754380"/>
                  </a:moveTo>
                  <a:lnTo>
                    <a:pt x="964691" y="539496"/>
                  </a:lnTo>
                </a:path>
                <a:path w="1314450" h="754379">
                  <a:moveTo>
                    <a:pt x="809243" y="754380"/>
                  </a:moveTo>
                  <a:lnTo>
                    <a:pt x="1024128" y="539496"/>
                  </a:lnTo>
                </a:path>
                <a:path w="1314450" h="754379">
                  <a:moveTo>
                    <a:pt x="868679" y="754380"/>
                  </a:moveTo>
                  <a:lnTo>
                    <a:pt x="1083564" y="539496"/>
                  </a:lnTo>
                </a:path>
                <a:path w="1314450" h="754379">
                  <a:moveTo>
                    <a:pt x="928115" y="754380"/>
                  </a:moveTo>
                  <a:lnTo>
                    <a:pt x="1142999" y="539496"/>
                  </a:lnTo>
                </a:path>
                <a:path w="1314450" h="754379">
                  <a:moveTo>
                    <a:pt x="987551" y="754380"/>
                  </a:moveTo>
                  <a:lnTo>
                    <a:pt x="1202435" y="539496"/>
                  </a:lnTo>
                </a:path>
                <a:path w="1314450" h="754379">
                  <a:moveTo>
                    <a:pt x="1046988" y="754380"/>
                  </a:moveTo>
                  <a:lnTo>
                    <a:pt x="1261871" y="539496"/>
                  </a:lnTo>
                </a:path>
                <a:path w="1314450" h="754379">
                  <a:moveTo>
                    <a:pt x="1106423" y="754380"/>
                  </a:moveTo>
                  <a:lnTo>
                    <a:pt x="1314449" y="546354"/>
                  </a:lnTo>
                </a:path>
                <a:path w="1314450" h="754379">
                  <a:moveTo>
                    <a:pt x="1165859" y="754380"/>
                  </a:moveTo>
                  <a:lnTo>
                    <a:pt x="1314449" y="605790"/>
                  </a:lnTo>
                </a:path>
                <a:path w="1314450" h="754379">
                  <a:moveTo>
                    <a:pt x="1225295" y="754380"/>
                  </a:moveTo>
                  <a:lnTo>
                    <a:pt x="1314449" y="665226"/>
                  </a:lnTo>
                </a:path>
                <a:path w="1314450" h="754379">
                  <a:moveTo>
                    <a:pt x="1284731" y="754380"/>
                  </a:moveTo>
                  <a:lnTo>
                    <a:pt x="1314449" y="72466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  <p:sp>
          <p:nvSpPr>
            <p:cNvPr id="29" name="object 18">
              <a:extLst>
                <a:ext uri="{FF2B5EF4-FFF2-40B4-BE49-F238E27FC236}">
                  <a16:creationId xmlns:a16="http://schemas.microsoft.com/office/drawing/2014/main" id="{BAF28728-3FB5-0572-E75E-8F66E0CBC3A9}"/>
                </a:ext>
              </a:extLst>
            </p:cNvPr>
            <p:cNvSpPr/>
            <p:nvPr/>
          </p:nvSpPr>
          <p:spPr>
            <a:xfrm>
              <a:off x="2149220" y="2915792"/>
              <a:ext cx="1314450" cy="756920"/>
            </a:xfrm>
            <a:custGeom>
              <a:avLst/>
              <a:gdLst/>
              <a:ahLst/>
              <a:cxnLst/>
              <a:rect l="l" t="t" r="r" b="b"/>
              <a:pathLst>
                <a:path w="1314450" h="756920">
                  <a:moveTo>
                    <a:pt x="0" y="541781"/>
                  </a:moveTo>
                  <a:lnTo>
                    <a:pt x="0" y="756665"/>
                  </a:lnTo>
                  <a:lnTo>
                    <a:pt x="1314450" y="756665"/>
                  </a:lnTo>
                  <a:lnTo>
                    <a:pt x="1314450" y="541781"/>
                  </a:lnTo>
                  <a:lnTo>
                    <a:pt x="722376" y="541781"/>
                  </a:lnTo>
                  <a:lnTo>
                    <a:pt x="722376" y="2285"/>
                  </a:lnTo>
                  <a:lnTo>
                    <a:pt x="592073" y="2285"/>
                  </a:lnTo>
                  <a:lnTo>
                    <a:pt x="592074" y="541781"/>
                  </a:lnTo>
                  <a:lnTo>
                    <a:pt x="0" y="541781"/>
                  </a:lnTo>
                  <a:close/>
                </a:path>
                <a:path w="1314450" h="756920">
                  <a:moveTo>
                    <a:pt x="0" y="539495"/>
                  </a:moveTo>
                  <a:lnTo>
                    <a:pt x="0" y="754379"/>
                  </a:lnTo>
                  <a:lnTo>
                    <a:pt x="1314450" y="754379"/>
                  </a:lnTo>
                  <a:lnTo>
                    <a:pt x="1314450" y="539495"/>
                  </a:lnTo>
                  <a:lnTo>
                    <a:pt x="722376" y="539495"/>
                  </a:lnTo>
                  <a:lnTo>
                    <a:pt x="722376" y="0"/>
                  </a:lnTo>
                  <a:lnTo>
                    <a:pt x="592073" y="0"/>
                  </a:lnTo>
                  <a:lnTo>
                    <a:pt x="592074" y="539495"/>
                  </a:lnTo>
                  <a:lnTo>
                    <a:pt x="0" y="53949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</p:grpSp>
      <p:sp>
        <p:nvSpPr>
          <p:cNvPr id="30" name="object 19">
            <a:extLst>
              <a:ext uri="{FF2B5EF4-FFF2-40B4-BE49-F238E27FC236}">
                <a16:creationId xmlns:a16="http://schemas.microsoft.com/office/drawing/2014/main" id="{5A476696-732C-DA44-F517-4F1E92294177}"/>
              </a:ext>
            </a:extLst>
          </p:cNvPr>
          <p:cNvSpPr txBox="1"/>
          <p:nvPr/>
        </p:nvSpPr>
        <p:spPr>
          <a:xfrm>
            <a:off x="1552804" y="2303791"/>
            <a:ext cx="52959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Métal</a:t>
            </a:r>
          </a:p>
        </p:txBody>
      </p:sp>
      <p:sp>
        <p:nvSpPr>
          <p:cNvPr id="31" name="object 20">
            <a:extLst>
              <a:ext uri="{FF2B5EF4-FFF2-40B4-BE49-F238E27FC236}">
                <a16:creationId xmlns:a16="http://schemas.microsoft.com/office/drawing/2014/main" id="{D47962EB-C864-8F64-489C-46ADFF0FF1B1}"/>
              </a:ext>
            </a:extLst>
          </p:cNvPr>
          <p:cNvSpPr/>
          <p:nvPr/>
        </p:nvSpPr>
        <p:spPr>
          <a:xfrm>
            <a:off x="1229550" y="3924589"/>
            <a:ext cx="1312545" cy="267970"/>
          </a:xfrm>
          <a:custGeom>
            <a:avLst/>
            <a:gdLst/>
            <a:ahLst/>
            <a:cxnLst/>
            <a:rect l="l" t="t" r="r" b="b"/>
            <a:pathLst>
              <a:path w="1312545" h="267970">
                <a:moveTo>
                  <a:pt x="0" y="0"/>
                </a:moveTo>
                <a:lnTo>
                  <a:pt x="1312164" y="0"/>
                </a:lnTo>
                <a:lnTo>
                  <a:pt x="1312164" y="267462"/>
                </a:lnTo>
                <a:lnTo>
                  <a:pt x="0" y="267462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00">
              <a:latin typeface="Bookman Old Style" panose="02050604050505020204" pitchFamily="18" charset="0"/>
            </a:endParaRPr>
          </a:p>
        </p:txBody>
      </p:sp>
      <p:sp>
        <p:nvSpPr>
          <p:cNvPr id="32" name="object 21">
            <a:extLst>
              <a:ext uri="{FF2B5EF4-FFF2-40B4-BE49-F238E27FC236}">
                <a16:creationId xmlns:a16="http://schemas.microsoft.com/office/drawing/2014/main" id="{FB43FFF6-5CEA-8502-18B7-67F5404B2D91}"/>
              </a:ext>
            </a:extLst>
          </p:cNvPr>
          <p:cNvSpPr txBox="1"/>
          <p:nvPr/>
        </p:nvSpPr>
        <p:spPr>
          <a:xfrm>
            <a:off x="2270662" y="3871931"/>
            <a:ext cx="18161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Bookman Old Style" panose="02050604050505020204" pitchFamily="18" charset="0"/>
                <a:cs typeface="Times New Roman"/>
              </a:rPr>
              <a:t>N</a:t>
            </a:r>
            <a:endParaRPr sz="120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33" name="object 22">
            <a:extLst>
              <a:ext uri="{FF2B5EF4-FFF2-40B4-BE49-F238E27FC236}">
                <a16:creationId xmlns:a16="http://schemas.microsoft.com/office/drawing/2014/main" id="{2023833A-3C3D-ACD0-AF54-00C3B151021F}"/>
              </a:ext>
            </a:extLst>
          </p:cNvPr>
          <p:cNvSpPr txBox="1"/>
          <p:nvPr/>
        </p:nvSpPr>
        <p:spPr>
          <a:xfrm>
            <a:off x="1283202" y="3364484"/>
            <a:ext cx="925194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Bookman Old Style" panose="02050604050505020204" pitchFamily="18" charset="0"/>
                <a:cs typeface="Times New Roman"/>
              </a:rPr>
              <a:t>Collecteur</a:t>
            </a:r>
            <a:endParaRPr sz="120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34" name="object 23">
            <a:extLst>
              <a:ext uri="{FF2B5EF4-FFF2-40B4-BE49-F238E27FC236}">
                <a16:creationId xmlns:a16="http://schemas.microsoft.com/office/drawing/2014/main" id="{29B883F0-324D-112C-3C97-67D198CCAC53}"/>
              </a:ext>
            </a:extLst>
          </p:cNvPr>
          <p:cNvSpPr txBox="1"/>
          <p:nvPr/>
        </p:nvSpPr>
        <p:spPr>
          <a:xfrm>
            <a:off x="1283202" y="3656984"/>
            <a:ext cx="4457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Bookman Old Style" panose="02050604050505020204" pitchFamily="18" charset="0"/>
                <a:cs typeface="Times New Roman"/>
              </a:rPr>
              <a:t>Base</a:t>
            </a:r>
            <a:endParaRPr sz="120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35" name="object 24">
            <a:extLst>
              <a:ext uri="{FF2B5EF4-FFF2-40B4-BE49-F238E27FC236}">
                <a16:creationId xmlns:a16="http://schemas.microsoft.com/office/drawing/2014/main" id="{BC24D9E3-46A0-A305-7252-1F5E4954C6DF}"/>
              </a:ext>
            </a:extLst>
          </p:cNvPr>
          <p:cNvSpPr txBox="1"/>
          <p:nvPr/>
        </p:nvSpPr>
        <p:spPr>
          <a:xfrm>
            <a:off x="1310638" y="3919889"/>
            <a:ext cx="817244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Bookman Old Style" panose="02050604050505020204" pitchFamily="18" charset="0"/>
                <a:cs typeface="Times New Roman"/>
              </a:rPr>
              <a:t>Emetteur</a:t>
            </a:r>
            <a:endParaRPr sz="1200">
              <a:latin typeface="Bookman Old Style" panose="02050604050505020204" pitchFamily="18" charset="0"/>
              <a:cs typeface="Times New Roman"/>
            </a:endParaRPr>
          </a:p>
        </p:txBody>
      </p:sp>
      <p:grpSp>
        <p:nvGrpSpPr>
          <p:cNvPr id="36" name="object 25">
            <a:extLst>
              <a:ext uri="{FF2B5EF4-FFF2-40B4-BE49-F238E27FC236}">
                <a16:creationId xmlns:a16="http://schemas.microsoft.com/office/drawing/2014/main" id="{CA466911-D709-DC17-D461-7DC02C4B14F4}"/>
              </a:ext>
            </a:extLst>
          </p:cNvPr>
          <p:cNvGrpSpPr/>
          <p:nvPr/>
        </p:nvGrpSpPr>
        <p:grpSpPr>
          <a:xfrm>
            <a:off x="980884" y="3650777"/>
            <a:ext cx="250825" cy="280670"/>
            <a:chOff x="1900554" y="4749672"/>
            <a:chExt cx="250825" cy="280670"/>
          </a:xfrm>
        </p:grpSpPr>
        <p:sp>
          <p:nvSpPr>
            <p:cNvPr id="37" name="object 26">
              <a:extLst>
                <a:ext uri="{FF2B5EF4-FFF2-40B4-BE49-F238E27FC236}">
                  <a16:creationId xmlns:a16="http://schemas.microsoft.com/office/drawing/2014/main" id="{FFF5403B-E6B7-0B9E-8182-4801E0143DEB}"/>
                </a:ext>
              </a:extLst>
            </p:cNvPr>
            <p:cNvSpPr/>
            <p:nvPr/>
          </p:nvSpPr>
          <p:spPr>
            <a:xfrm>
              <a:off x="1909190" y="4758308"/>
              <a:ext cx="233679" cy="262890"/>
            </a:xfrm>
            <a:custGeom>
              <a:avLst/>
              <a:gdLst/>
              <a:ahLst/>
              <a:cxnLst/>
              <a:rect l="l" t="t" r="r" b="b"/>
              <a:pathLst>
                <a:path w="233680" h="262889">
                  <a:moveTo>
                    <a:pt x="233171" y="262889"/>
                  </a:moveTo>
                  <a:lnTo>
                    <a:pt x="233171" y="0"/>
                  </a:lnTo>
                  <a:lnTo>
                    <a:pt x="0" y="0"/>
                  </a:lnTo>
                  <a:lnTo>
                    <a:pt x="0" y="262889"/>
                  </a:lnTo>
                  <a:lnTo>
                    <a:pt x="233171" y="2628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  <p:pic>
          <p:nvPicPr>
            <p:cNvPr id="38" name="object 27">
              <a:extLst>
                <a:ext uri="{FF2B5EF4-FFF2-40B4-BE49-F238E27FC236}">
                  <a16:creationId xmlns:a16="http://schemas.microsoft.com/office/drawing/2014/main" id="{C72E5DD0-0DCF-2EDB-8AC5-BF3D9E7C6E9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2840" y="4751958"/>
              <a:ext cx="245871" cy="275589"/>
            </a:xfrm>
            <a:prstGeom prst="rect">
              <a:avLst/>
            </a:prstGeom>
          </p:spPr>
        </p:pic>
        <p:sp>
          <p:nvSpPr>
            <p:cNvPr id="39" name="object 28">
              <a:extLst>
                <a:ext uri="{FF2B5EF4-FFF2-40B4-BE49-F238E27FC236}">
                  <a16:creationId xmlns:a16="http://schemas.microsoft.com/office/drawing/2014/main" id="{CC3E1D03-E8D1-51F9-49F7-5B84B74B5E0C}"/>
                </a:ext>
              </a:extLst>
            </p:cNvPr>
            <p:cNvSpPr/>
            <p:nvPr/>
          </p:nvSpPr>
          <p:spPr>
            <a:xfrm>
              <a:off x="1906904" y="4756022"/>
              <a:ext cx="238125" cy="267970"/>
            </a:xfrm>
            <a:custGeom>
              <a:avLst/>
              <a:gdLst/>
              <a:ahLst/>
              <a:cxnLst/>
              <a:rect l="l" t="t" r="r" b="b"/>
              <a:pathLst>
                <a:path w="238125" h="267970">
                  <a:moveTo>
                    <a:pt x="0" y="0"/>
                  </a:moveTo>
                  <a:lnTo>
                    <a:pt x="237744" y="0"/>
                  </a:lnTo>
                  <a:lnTo>
                    <a:pt x="237744" y="267462"/>
                  </a:lnTo>
                  <a:lnTo>
                    <a:pt x="0" y="267462"/>
                  </a:lnTo>
                  <a:lnTo>
                    <a:pt x="0" y="0"/>
                  </a:lnTo>
                  <a:close/>
                </a:path>
                <a:path w="238125" h="267970">
                  <a:moveTo>
                    <a:pt x="0" y="0"/>
                  </a:moveTo>
                  <a:lnTo>
                    <a:pt x="237744" y="0"/>
                  </a:lnTo>
                  <a:lnTo>
                    <a:pt x="237744" y="267462"/>
                  </a:lnTo>
                  <a:lnTo>
                    <a:pt x="0" y="26746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</p:grpSp>
      <p:grpSp>
        <p:nvGrpSpPr>
          <p:cNvPr id="40" name="object 29">
            <a:extLst>
              <a:ext uri="{FF2B5EF4-FFF2-40B4-BE49-F238E27FC236}">
                <a16:creationId xmlns:a16="http://schemas.microsoft.com/office/drawing/2014/main" id="{5DD0CEB6-DD07-90C9-70B5-B465D3FC38B1}"/>
              </a:ext>
            </a:extLst>
          </p:cNvPr>
          <p:cNvGrpSpPr/>
          <p:nvPr/>
        </p:nvGrpSpPr>
        <p:grpSpPr>
          <a:xfrm>
            <a:off x="3806151" y="1690376"/>
            <a:ext cx="2051050" cy="2938145"/>
            <a:chOff x="4821237" y="3109976"/>
            <a:chExt cx="2051050" cy="2938145"/>
          </a:xfrm>
        </p:grpSpPr>
        <p:sp>
          <p:nvSpPr>
            <p:cNvPr id="41" name="object 30">
              <a:extLst>
                <a:ext uri="{FF2B5EF4-FFF2-40B4-BE49-F238E27FC236}">
                  <a16:creationId xmlns:a16="http://schemas.microsoft.com/office/drawing/2014/main" id="{4C99EB02-832F-0C49-4C84-ADB4B0F1DAE8}"/>
                </a:ext>
              </a:extLst>
            </p:cNvPr>
            <p:cNvSpPr/>
            <p:nvPr/>
          </p:nvSpPr>
          <p:spPr>
            <a:xfrm>
              <a:off x="4832985" y="4580001"/>
              <a:ext cx="948690" cy="0"/>
            </a:xfrm>
            <a:custGeom>
              <a:avLst/>
              <a:gdLst/>
              <a:ahLst/>
              <a:cxnLst/>
              <a:rect l="l" t="t" r="r" b="b"/>
              <a:pathLst>
                <a:path w="948689">
                  <a:moveTo>
                    <a:pt x="948689" y="0"/>
                  </a:moveTo>
                  <a:lnTo>
                    <a:pt x="0" y="0"/>
                  </a:lnTo>
                </a:path>
              </a:pathLst>
            </a:custGeom>
            <a:ln w="230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  <p:sp>
          <p:nvSpPr>
            <p:cNvPr id="42" name="object 31">
              <a:extLst>
                <a:ext uri="{FF2B5EF4-FFF2-40B4-BE49-F238E27FC236}">
                  <a16:creationId xmlns:a16="http://schemas.microsoft.com/office/drawing/2014/main" id="{86C10104-3B59-B795-95FE-0659EFE9F68A}"/>
                </a:ext>
              </a:extLst>
            </p:cNvPr>
            <p:cNvSpPr/>
            <p:nvPr/>
          </p:nvSpPr>
          <p:spPr>
            <a:xfrm>
              <a:off x="5086731" y="4435983"/>
              <a:ext cx="311150" cy="267970"/>
            </a:xfrm>
            <a:custGeom>
              <a:avLst/>
              <a:gdLst/>
              <a:ahLst/>
              <a:cxnLst/>
              <a:rect l="l" t="t" r="r" b="b"/>
              <a:pathLst>
                <a:path w="311150" h="267970">
                  <a:moveTo>
                    <a:pt x="298154" y="138115"/>
                  </a:moveTo>
                  <a:lnTo>
                    <a:pt x="0" y="0"/>
                  </a:lnTo>
                  <a:lnTo>
                    <a:pt x="61722" y="132587"/>
                  </a:lnTo>
                  <a:lnTo>
                    <a:pt x="61722" y="240685"/>
                  </a:lnTo>
                  <a:lnTo>
                    <a:pt x="298154" y="138115"/>
                  </a:lnTo>
                  <a:close/>
                </a:path>
                <a:path w="311150" h="267970">
                  <a:moveTo>
                    <a:pt x="61722" y="240685"/>
                  </a:moveTo>
                  <a:lnTo>
                    <a:pt x="61722" y="132587"/>
                  </a:lnTo>
                  <a:lnTo>
                    <a:pt x="0" y="267462"/>
                  </a:lnTo>
                  <a:lnTo>
                    <a:pt x="61722" y="240685"/>
                  </a:lnTo>
                  <a:close/>
                </a:path>
                <a:path w="311150" h="267970">
                  <a:moveTo>
                    <a:pt x="310896" y="144017"/>
                  </a:moveTo>
                  <a:lnTo>
                    <a:pt x="310896" y="132587"/>
                  </a:lnTo>
                  <a:lnTo>
                    <a:pt x="298154" y="138115"/>
                  </a:lnTo>
                  <a:lnTo>
                    <a:pt x="310896" y="144017"/>
                  </a:lnTo>
                  <a:close/>
                </a:path>
              </a:pathLst>
            </a:custGeom>
            <a:solidFill>
              <a:srgbClr val="1C915C"/>
            </a:solidFill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  <p:sp>
          <p:nvSpPr>
            <p:cNvPr id="43" name="object 32">
              <a:extLst>
                <a:ext uri="{FF2B5EF4-FFF2-40B4-BE49-F238E27FC236}">
                  <a16:creationId xmlns:a16="http://schemas.microsoft.com/office/drawing/2014/main" id="{8C053F63-0D2B-C978-6D37-60B388385426}"/>
                </a:ext>
              </a:extLst>
            </p:cNvPr>
            <p:cNvSpPr/>
            <p:nvPr/>
          </p:nvSpPr>
          <p:spPr>
            <a:xfrm>
              <a:off x="5086731" y="4435983"/>
              <a:ext cx="311150" cy="267970"/>
            </a:xfrm>
            <a:custGeom>
              <a:avLst/>
              <a:gdLst/>
              <a:ahLst/>
              <a:cxnLst/>
              <a:rect l="l" t="t" r="r" b="b"/>
              <a:pathLst>
                <a:path w="311150" h="267970">
                  <a:moveTo>
                    <a:pt x="310896" y="132587"/>
                  </a:moveTo>
                  <a:lnTo>
                    <a:pt x="0" y="267462"/>
                  </a:lnTo>
                  <a:lnTo>
                    <a:pt x="61722" y="132587"/>
                  </a:lnTo>
                  <a:lnTo>
                    <a:pt x="0" y="0"/>
                  </a:lnTo>
                  <a:lnTo>
                    <a:pt x="310896" y="144017"/>
                  </a:lnTo>
                  <a:lnTo>
                    <a:pt x="310896" y="132587"/>
                  </a:lnTo>
                  <a:close/>
                </a:path>
                <a:path w="311150" h="267970">
                  <a:moveTo>
                    <a:pt x="310896" y="132587"/>
                  </a:moveTo>
                  <a:lnTo>
                    <a:pt x="0" y="267462"/>
                  </a:lnTo>
                  <a:lnTo>
                    <a:pt x="61722" y="132587"/>
                  </a:lnTo>
                  <a:lnTo>
                    <a:pt x="0" y="0"/>
                  </a:lnTo>
                  <a:lnTo>
                    <a:pt x="310896" y="144017"/>
                  </a:lnTo>
                  <a:lnTo>
                    <a:pt x="310896" y="132587"/>
                  </a:lnTo>
                </a:path>
              </a:pathLst>
            </a:custGeom>
            <a:ln w="13576">
              <a:solidFill>
                <a:srgbClr val="1C915C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  <p:sp>
          <p:nvSpPr>
            <p:cNvPr id="44" name="object 33">
              <a:extLst>
                <a:ext uri="{FF2B5EF4-FFF2-40B4-BE49-F238E27FC236}">
                  <a16:creationId xmlns:a16="http://schemas.microsoft.com/office/drawing/2014/main" id="{8CD79676-6EE3-457B-97E5-5924FCC772D6}"/>
                </a:ext>
              </a:extLst>
            </p:cNvPr>
            <p:cNvSpPr/>
            <p:nvPr/>
          </p:nvSpPr>
          <p:spPr>
            <a:xfrm>
              <a:off x="6705219" y="3116961"/>
              <a:ext cx="0" cy="736600"/>
            </a:xfrm>
            <a:custGeom>
              <a:avLst/>
              <a:gdLst/>
              <a:ahLst/>
              <a:cxnLst/>
              <a:rect l="l" t="t" r="r" b="b"/>
              <a:pathLst>
                <a:path h="736600">
                  <a:moveTo>
                    <a:pt x="0" y="736091"/>
                  </a:moveTo>
                  <a:lnTo>
                    <a:pt x="0" y="0"/>
                  </a:lnTo>
                </a:path>
              </a:pathLst>
            </a:custGeom>
            <a:ln w="135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  <p:sp>
          <p:nvSpPr>
            <p:cNvPr id="45" name="object 34">
              <a:extLst>
                <a:ext uri="{FF2B5EF4-FFF2-40B4-BE49-F238E27FC236}">
                  <a16:creationId xmlns:a16="http://schemas.microsoft.com/office/drawing/2014/main" id="{1EF799C4-B058-6AFD-EE7E-F96679037170}"/>
                </a:ext>
              </a:extLst>
            </p:cNvPr>
            <p:cNvSpPr/>
            <p:nvPr/>
          </p:nvSpPr>
          <p:spPr>
            <a:xfrm>
              <a:off x="6533769" y="3219831"/>
              <a:ext cx="327025" cy="256540"/>
            </a:xfrm>
            <a:custGeom>
              <a:avLst/>
              <a:gdLst/>
              <a:ahLst/>
              <a:cxnLst/>
              <a:rect l="l" t="t" r="r" b="b"/>
              <a:pathLst>
                <a:path w="327025" h="256539">
                  <a:moveTo>
                    <a:pt x="326898" y="0"/>
                  </a:moveTo>
                  <a:lnTo>
                    <a:pt x="164591" y="50291"/>
                  </a:lnTo>
                  <a:lnTo>
                    <a:pt x="0" y="0"/>
                  </a:lnTo>
                  <a:lnTo>
                    <a:pt x="159031" y="247382"/>
                  </a:lnTo>
                  <a:lnTo>
                    <a:pt x="326898" y="0"/>
                  </a:lnTo>
                  <a:close/>
                </a:path>
                <a:path w="327025" h="256539">
                  <a:moveTo>
                    <a:pt x="164591" y="256031"/>
                  </a:moveTo>
                  <a:lnTo>
                    <a:pt x="159031" y="247382"/>
                  </a:lnTo>
                  <a:lnTo>
                    <a:pt x="153161" y="256031"/>
                  </a:lnTo>
                  <a:lnTo>
                    <a:pt x="164591" y="256031"/>
                  </a:lnTo>
                  <a:close/>
                </a:path>
              </a:pathLst>
            </a:custGeom>
            <a:solidFill>
              <a:srgbClr val="1C915C"/>
            </a:solidFill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  <p:sp>
          <p:nvSpPr>
            <p:cNvPr id="47" name="object 35">
              <a:extLst>
                <a:ext uri="{FF2B5EF4-FFF2-40B4-BE49-F238E27FC236}">
                  <a16:creationId xmlns:a16="http://schemas.microsoft.com/office/drawing/2014/main" id="{800138D3-89E6-C681-A1C7-BC6280808BCA}"/>
                </a:ext>
              </a:extLst>
            </p:cNvPr>
            <p:cNvSpPr/>
            <p:nvPr/>
          </p:nvSpPr>
          <p:spPr>
            <a:xfrm>
              <a:off x="6533769" y="3219831"/>
              <a:ext cx="327025" cy="256540"/>
            </a:xfrm>
            <a:custGeom>
              <a:avLst/>
              <a:gdLst/>
              <a:ahLst/>
              <a:cxnLst/>
              <a:rect l="l" t="t" r="r" b="b"/>
              <a:pathLst>
                <a:path w="327025" h="256539">
                  <a:moveTo>
                    <a:pt x="164591" y="256031"/>
                  </a:moveTo>
                  <a:lnTo>
                    <a:pt x="0" y="0"/>
                  </a:lnTo>
                  <a:lnTo>
                    <a:pt x="164591" y="50291"/>
                  </a:lnTo>
                  <a:lnTo>
                    <a:pt x="326898" y="0"/>
                  </a:lnTo>
                  <a:lnTo>
                    <a:pt x="153161" y="256031"/>
                  </a:lnTo>
                  <a:lnTo>
                    <a:pt x="164591" y="256031"/>
                  </a:lnTo>
                  <a:close/>
                </a:path>
                <a:path w="327025" h="256539">
                  <a:moveTo>
                    <a:pt x="164591" y="256031"/>
                  </a:moveTo>
                  <a:lnTo>
                    <a:pt x="0" y="0"/>
                  </a:lnTo>
                  <a:lnTo>
                    <a:pt x="164591" y="50291"/>
                  </a:lnTo>
                  <a:lnTo>
                    <a:pt x="326898" y="0"/>
                  </a:lnTo>
                  <a:lnTo>
                    <a:pt x="153161" y="256031"/>
                  </a:lnTo>
                  <a:lnTo>
                    <a:pt x="164591" y="256031"/>
                  </a:lnTo>
                </a:path>
              </a:pathLst>
            </a:custGeom>
            <a:ln w="13576">
              <a:solidFill>
                <a:srgbClr val="1C915C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  <p:sp>
          <p:nvSpPr>
            <p:cNvPr id="48" name="object 36">
              <a:extLst>
                <a:ext uri="{FF2B5EF4-FFF2-40B4-BE49-F238E27FC236}">
                  <a16:creationId xmlns:a16="http://schemas.microsoft.com/office/drawing/2014/main" id="{7892E400-627C-6E9F-4FF1-9444342C5EFC}"/>
                </a:ext>
              </a:extLst>
            </p:cNvPr>
            <p:cNvSpPr/>
            <p:nvPr/>
          </p:nvSpPr>
          <p:spPr>
            <a:xfrm>
              <a:off x="6705219" y="5325236"/>
              <a:ext cx="0" cy="715645"/>
            </a:xfrm>
            <a:custGeom>
              <a:avLst/>
              <a:gdLst/>
              <a:ahLst/>
              <a:cxnLst/>
              <a:rect l="l" t="t" r="r" b="b"/>
              <a:pathLst>
                <a:path h="715645">
                  <a:moveTo>
                    <a:pt x="0" y="0"/>
                  </a:moveTo>
                  <a:lnTo>
                    <a:pt x="0" y="715517"/>
                  </a:lnTo>
                </a:path>
              </a:pathLst>
            </a:custGeom>
            <a:ln w="135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  <p:sp>
          <p:nvSpPr>
            <p:cNvPr id="49" name="object 37">
              <a:extLst>
                <a:ext uri="{FF2B5EF4-FFF2-40B4-BE49-F238E27FC236}">
                  <a16:creationId xmlns:a16="http://schemas.microsoft.com/office/drawing/2014/main" id="{935B2F7F-2758-EAEC-6405-D0EFD7A2D6CA}"/>
                </a:ext>
              </a:extLst>
            </p:cNvPr>
            <p:cNvSpPr/>
            <p:nvPr/>
          </p:nvSpPr>
          <p:spPr>
            <a:xfrm>
              <a:off x="6536054" y="5661279"/>
              <a:ext cx="329565" cy="256540"/>
            </a:xfrm>
            <a:custGeom>
              <a:avLst/>
              <a:gdLst/>
              <a:ahLst/>
              <a:cxnLst/>
              <a:rect l="l" t="t" r="r" b="b"/>
              <a:pathLst>
                <a:path w="329565" h="256539">
                  <a:moveTo>
                    <a:pt x="329184" y="0"/>
                  </a:moveTo>
                  <a:lnTo>
                    <a:pt x="164592" y="50292"/>
                  </a:lnTo>
                  <a:lnTo>
                    <a:pt x="0" y="0"/>
                  </a:lnTo>
                  <a:lnTo>
                    <a:pt x="159068" y="247440"/>
                  </a:lnTo>
                  <a:lnTo>
                    <a:pt x="329184" y="0"/>
                  </a:lnTo>
                  <a:close/>
                </a:path>
                <a:path w="329565" h="256539">
                  <a:moveTo>
                    <a:pt x="164592" y="256032"/>
                  </a:moveTo>
                  <a:lnTo>
                    <a:pt x="159068" y="247440"/>
                  </a:lnTo>
                  <a:lnTo>
                    <a:pt x="153162" y="256032"/>
                  </a:lnTo>
                  <a:lnTo>
                    <a:pt x="164592" y="256032"/>
                  </a:lnTo>
                  <a:close/>
                </a:path>
              </a:pathLst>
            </a:custGeom>
            <a:solidFill>
              <a:srgbClr val="1C915C"/>
            </a:solidFill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  <p:sp>
          <p:nvSpPr>
            <p:cNvPr id="50" name="object 38">
              <a:extLst>
                <a:ext uri="{FF2B5EF4-FFF2-40B4-BE49-F238E27FC236}">
                  <a16:creationId xmlns:a16="http://schemas.microsoft.com/office/drawing/2014/main" id="{3BEAEE5F-EF4E-848B-A6B5-8350BE0D61F8}"/>
                </a:ext>
              </a:extLst>
            </p:cNvPr>
            <p:cNvSpPr/>
            <p:nvPr/>
          </p:nvSpPr>
          <p:spPr>
            <a:xfrm>
              <a:off x="6536054" y="5661279"/>
              <a:ext cx="329565" cy="256540"/>
            </a:xfrm>
            <a:custGeom>
              <a:avLst/>
              <a:gdLst/>
              <a:ahLst/>
              <a:cxnLst/>
              <a:rect l="l" t="t" r="r" b="b"/>
              <a:pathLst>
                <a:path w="329565" h="256539">
                  <a:moveTo>
                    <a:pt x="164592" y="256032"/>
                  </a:moveTo>
                  <a:lnTo>
                    <a:pt x="0" y="0"/>
                  </a:lnTo>
                  <a:lnTo>
                    <a:pt x="164592" y="50292"/>
                  </a:lnTo>
                  <a:lnTo>
                    <a:pt x="329184" y="0"/>
                  </a:lnTo>
                  <a:lnTo>
                    <a:pt x="153162" y="256032"/>
                  </a:lnTo>
                  <a:lnTo>
                    <a:pt x="164592" y="256032"/>
                  </a:lnTo>
                  <a:close/>
                </a:path>
                <a:path w="329565" h="256539">
                  <a:moveTo>
                    <a:pt x="164592" y="256032"/>
                  </a:moveTo>
                  <a:lnTo>
                    <a:pt x="0" y="0"/>
                  </a:lnTo>
                  <a:lnTo>
                    <a:pt x="164592" y="50292"/>
                  </a:lnTo>
                  <a:lnTo>
                    <a:pt x="329184" y="0"/>
                  </a:lnTo>
                  <a:lnTo>
                    <a:pt x="153162" y="256032"/>
                  </a:lnTo>
                  <a:lnTo>
                    <a:pt x="164592" y="256032"/>
                  </a:lnTo>
                </a:path>
              </a:pathLst>
            </a:custGeom>
            <a:ln w="13576">
              <a:solidFill>
                <a:srgbClr val="1C915C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</p:grpSp>
      <p:grpSp>
        <p:nvGrpSpPr>
          <p:cNvPr id="55" name="object 43">
            <a:extLst>
              <a:ext uri="{FF2B5EF4-FFF2-40B4-BE49-F238E27FC236}">
                <a16:creationId xmlns:a16="http://schemas.microsoft.com/office/drawing/2014/main" id="{C7907737-289C-C6A9-FDEA-9A0A339BF509}"/>
              </a:ext>
            </a:extLst>
          </p:cNvPr>
          <p:cNvGrpSpPr/>
          <p:nvPr/>
        </p:nvGrpSpPr>
        <p:grpSpPr>
          <a:xfrm>
            <a:off x="6058248" y="2127199"/>
            <a:ext cx="340995" cy="2364105"/>
            <a:chOff x="7073334" y="3546799"/>
            <a:chExt cx="340995" cy="2364105"/>
          </a:xfrm>
        </p:grpSpPr>
        <p:sp>
          <p:nvSpPr>
            <p:cNvPr id="56" name="object 44">
              <a:extLst>
                <a:ext uri="{FF2B5EF4-FFF2-40B4-BE49-F238E27FC236}">
                  <a16:creationId xmlns:a16="http://schemas.microsoft.com/office/drawing/2014/main" id="{A3523E5B-89CB-8AF3-170B-1AF126FFEB35}"/>
                </a:ext>
              </a:extLst>
            </p:cNvPr>
            <p:cNvSpPr/>
            <p:nvPr/>
          </p:nvSpPr>
          <p:spPr>
            <a:xfrm>
              <a:off x="7080123" y="3553587"/>
              <a:ext cx="327025" cy="258445"/>
            </a:xfrm>
            <a:custGeom>
              <a:avLst/>
              <a:gdLst/>
              <a:ahLst/>
              <a:cxnLst/>
              <a:rect l="l" t="t" r="r" b="b"/>
              <a:pathLst>
                <a:path w="327025" h="258445">
                  <a:moveTo>
                    <a:pt x="326898" y="258317"/>
                  </a:moveTo>
                  <a:lnTo>
                    <a:pt x="164592" y="0"/>
                  </a:lnTo>
                  <a:lnTo>
                    <a:pt x="0" y="258317"/>
                  </a:lnTo>
                  <a:lnTo>
                    <a:pt x="164592" y="208025"/>
                  </a:lnTo>
                  <a:lnTo>
                    <a:pt x="326898" y="258317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  <p:sp>
          <p:nvSpPr>
            <p:cNvPr id="57" name="object 45">
              <a:extLst>
                <a:ext uri="{FF2B5EF4-FFF2-40B4-BE49-F238E27FC236}">
                  <a16:creationId xmlns:a16="http://schemas.microsoft.com/office/drawing/2014/main" id="{186266DF-2DB3-C47A-9C18-B1DE949D0EF5}"/>
                </a:ext>
              </a:extLst>
            </p:cNvPr>
            <p:cNvSpPr/>
            <p:nvPr/>
          </p:nvSpPr>
          <p:spPr>
            <a:xfrm>
              <a:off x="7080123" y="3553587"/>
              <a:ext cx="327025" cy="2350135"/>
            </a:xfrm>
            <a:custGeom>
              <a:avLst/>
              <a:gdLst/>
              <a:ahLst/>
              <a:cxnLst/>
              <a:rect l="l" t="t" r="r" b="b"/>
              <a:pathLst>
                <a:path w="327025" h="2350135">
                  <a:moveTo>
                    <a:pt x="164592" y="2350008"/>
                  </a:moveTo>
                  <a:lnTo>
                    <a:pt x="164592" y="0"/>
                  </a:lnTo>
                  <a:lnTo>
                    <a:pt x="0" y="258317"/>
                  </a:lnTo>
                  <a:lnTo>
                    <a:pt x="164592" y="208025"/>
                  </a:lnTo>
                  <a:lnTo>
                    <a:pt x="326898" y="258317"/>
                  </a:lnTo>
                  <a:lnTo>
                    <a:pt x="164592" y="0"/>
                  </a:lnTo>
                  <a:lnTo>
                    <a:pt x="164592" y="2350008"/>
                  </a:lnTo>
                  <a:close/>
                </a:path>
                <a:path w="327025" h="2350135">
                  <a:moveTo>
                    <a:pt x="164592" y="2350008"/>
                  </a:moveTo>
                  <a:lnTo>
                    <a:pt x="164592" y="0"/>
                  </a:lnTo>
                  <a:lnTo>
                    <a:pt x="0" y="258317"/>
                  </a:lnTo>
                  <a:lnTo>
                    <a:pt x="164592" y="208025"/>
                  </a:lnTo>
                  <a:lnTo>
                    <a:pt x="326898" y="258317"/>
                  </a:lnTo>
                  <a:lnTo>
                    <a:pt x="164592" y="0"/>
                  </a:lnTo>
                  <a:lnTo>
                    <a:pt x="164592" y="2350008"/>
                  </a:lnTo>
                </a:path>
              </a:pathLst>
            </a:custGeom>
            <a:ln w="13576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</p:grpSp>
      <p:grpSp>
        <p:nvGrpSpPr>
          <p:cNvPr id="58" name="object 46">
            <a:extLst>
              <a:ext uri="{FF2B5EF4-FFF2-40B4-BE49-F238E27FC236}">
                <a16:creationId xmlns:a16="http://schemas.microsoft.com/office/drawing/2014/main" id="{0E965152-EC0E-311C-9538-D56976269BAD}"/>
              </a:ext>
            </a:extLst>
          </p:cNvPr>
          <p:cNvGrpSpPr/>
          <p:nvPr/>
        </p:nvGrpSpPr>
        <p:grpSpPr>
          <a:xfrm>
            <a:off x="3826916" y="1827535"/>
            <a:ext cx="1385570" cy="2787015"/>
            <a:chOff x="4842002" y="3247135"/>
            <a:chExt cx="1385570" cy="2787015"/>
          </a:xfrm>
        </p:grpSpPr>
        <p:sp>
          <p:nvSpPr>
            <p:cNvPr id="59" name="object 47">
              <a:extLst>
                <a:ext uri="{FF2B5EF4-FFF2-40B4-BE49-F238E27FC236}">
                  <a16:creationId xmlns:a16="http://schemas.microsoft.com/office/drawing/2014/main" id="{EDDF8BC4-BA43-91F5-AA59-897F94B9B8C3}"/>
                </a:ext>
              </a:extLst>
            </p:cNvPr>
            <p:cNvSpPr/>
            <p:nvPr/>
          </p:nvSpPr>
          <p:spPr>
            <a:xfrm>
              <a:off x="5793105" y="3254120"/>
              <a:ext cx="342900" cy="276860"/>
            </a:xfrm>
            <a:custGeom>
              <a:avLst/>
              <a:gdLst/>
              <a:ahLst/>
              <a:cxnLst/>
              <a:rect l="l" t="t" r="r" b="b"/>
              <a:pathLst>
                <a:path w="342900" h="276860">
                  <a:moveTo>
                    <a:pt x="342900" y="0"/>
                  </a:moveTo>
                  <a:lnTo>
                    <a:pt x="0" y="86868"/>
                  </a:lnTo>
                  <a:lnTo>
                    <a:pt x="162306" y="146303"/>
                  </a:lnTo>
                  <a:lnTo>
                    <a:pt x="162897" y="147391"/>
                  </a:lnTo>
                  <a:lnTo>
                    <a:pt x="342900" y="0"/>
                  </a:lnTo>
                  <a:close/>
                </a:path>
                <a:path w="342900" h="276860">
                  <a:moveTo>
                    <a:pt x="342900" y="0"/>
                  </a:moveTo>
                  <a:lnTo>
                    <a:pt x="162897" y="147391"/>
                  </a:lnTo>
                  <a:lnTo>
                    <a:pt x="233172" y="276605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  <p:sp>
          <p:nvSpPr>
            <p:cNvPr id="60" name="object 48">
              <a:extLst>
                <a:ext uri="{FF2B5EF4-FFF2-40B4-BE49-F238E27FC236}">
                  <a16:creationId xmlns:a16="http://schemas.microsoft.com/office/drawing/2014/main" id="{9D36741B-31C4-CE8A-D702-164FF0FAFF10}"/>
                </a:ext>
              </a:extLst>
            </p:cNvPr>
            <p:cNvSpPr/>
            <p:nvPr/>
          </p:nvSpPr>
          <p:spPr>
            <a:xfrm>
              <a:off x="4848987" y="3254120"/>
              <a:ext cx="1287145" cy="1054100"/>
            </a:xfrm>
            <a:custGeom>
              <a:avLst/>
              <a:gdLst/>
              <a:ahLst/>
              <a:cxnLst/>
              <a:rect l="l" t="t" r="r" b="b"/>
              <a:pathLst>
                <a:path w="1287145" h="1054100">
                  <a:moveTo>
                    <a:pt x="0" y="1053846"/>
                  </a:moveTo>
                  <a:lnTo>
                    <a:pt x="1287017" y="0"/>
                  </a:lnTo>
                  <a:lnTo>
                    <a:pt x="944117" y="86868"/>
                  </a:lnTo>
                  <a:lnTo>
                    <a:pt x="1106424" y="146303"/>
                  </a:lnTo>
                  <a:lnTo>
                    <a:pt x="1177289" y="276605"/>
                  </a:lnTo>
                  <a:lnTo>
                    <a:pt x="1287017" y="0"/>
                  </a:lnTo>
                  <a:lnTo>
                    <a:pt x="0" y="1053846"/>
                  </a:lnTo>
                  <a:close/>
                </a:path>
                <a:path w="1287145" h="1054100">
                  <a:moveTo>
                    <a:pt x="0" y="1053846"/>
                  </a:moveTo>
                  <a:lnTo>
                    <a:pt x="1287017" y="0"/>
                  </a:lnTo>
                  <a:lnTo>
                    <a:pt x="944117" y="86868"/>
                  </a:lnTo>
                  <a:lnTo>
                    <a:pt x="1106424" y="146303"/>
                  </a:lnTo>
                  <a:lnTo>
                    <a:pt x="1177289" y="276605"/>
                  </a:lnTo>
                  <a:lnTo>
                    <a:pt x="1287017" y="0"/>
                  </a:lnTo>
                  <a:lnTo>
                    <a:pt x="0" y="1053846"/>
                  </a:lnTo>
                </a:path>
              </a:pathLst>
            </a:custGeom>
            <a:ln w="13576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  <p:sp>
          <p:nvSpPr>
            <p:cNvPr id="61" name="object 49">
              <a:extLst>
                <a:ext uri="{FF2B5EF4-FFF2-40B4-BE49-F238E27FC236}">
                  <a16:creationId xmlns:a16="http://schemas.microsoft.com/office/drawing/2014/main" id="{8EBB6320-508A-FF23-78BA-BB1C842974C0}"/>
                </a:ext>
              </a:extLst>
            </p:cNvPr>
            <p:cNvSpPr/>
            <p:nvPr/>
          </p:nvSpPr>
          <p:spPr>
            <a:xfrm>
              <a:off x="5052441" y="5069204"/>
              <a:ext cx="1168400" cy="958215"/>
            </a:xfrm>
            <a:custGeom>
              <a:avLst/>
              <a:gdLst/>
              <a:ahLst/>
              <a:cxnLst/>
              <a:rect l="l" t="t" r="r" b="b"/>
              <a:pathLst>
                <a:path w="1168400" h="958214">
                  <a:moveTo>
                    <a:pt x="178391" y="146274"/>
                  </a:moveTo>
                  <a:lnTo>
                    <a:pt x="0" y="0"/>
                  </a:lnTo>
                  <a:lnTo>
                    <a:pt x="107442" y="278892"/>
                  </a:lnTo>
                  <a:lnTo>
                    <a:pt x="178308" y="146304"/>
                  </a:lnTo>
                  <a:close/>
                </a:path>
                <a:path w="1168400" h="958214">
                  <a:moveTo>
                    <a:pt x="338328" y="89154"/>
                  </a:moveTo>
                  <a:lnTo>
                    <a:pt x="4572" y="2286"/>
                  </a:lnTo>
                  <a:lnTo>
                    <a:pt x="179447" y="145897"/>
                  </a:lnTo>
                  <a:lnTo>
                    <a:pt x="338328" y="89154"/>
                  </a:lnTo>
                  <a:close/>
                </a:path>
                <a:path w="1168400" h="958214">
                  <a:moveTo>
                    <a:pt x="1168146" y="957833"/>
                  </a:moveTo>
                  <a:lnTo>
                    <a:pt x="179447" y="145897"/>
                  </a:lnTo>
                  <a:lnTo>
                    <a:pt x="178391" y="146274"/>
                  </a:lnTo>
                  <a:lnTo>
                    <a:pt x="1168146" y="957833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  <p:sp>
          <p:nvSpPr>
            <p:cNvPr id="62" name="object 50">
              <a:extLst>
                <a:ext uri="{FF2B5EF4-FFF2-40B4-BE49-F238E27FC236}">
                  <a16:creationId xmlns:a16="http://schemas.microsoft.com/office/drawing/2014/main" id="{255FB2D3-A5E2-8933-3D77-82E07F288823}"/>
                </a:ext>
              </a:extLst>
            </p:cNvPr>
            <p:cNvSpPr/>
            <p:nvPr/>
          </p:nvSpPr>
          <p:spPr>
            <a:xfrm>
              <a:off x="5052441" y="5069204"/>
              <a:ext cx="1168400" cy="958215"/>
            </a:xfrm>
            <a:custGeom>
              <a:avLst/>
              <a:gdLst/>
              <a:ahLst/>
              <a:cxnLst/>
              <a:rect l="l" t="t" r="r" b="b"/>
              <a:pathLst>
                <a:path w="1168400" h="958214">
                  <a:moveTo>
                    <a:pt x="1168146" y="957833"/>
                  </a:moveTo>
                  <a:lnTo>
                    <a:pt x="0" y="0"/>
                  </a:lnTo>
                  <a:lnTo>
                    <a:pt x="107442" y="278892"/>
                  </a:lnTo>
                  <a:lnTo>
                    <a:pt x="178308" y="146304"/>
                  </a:lnTo>
                  <a:lnTo>
                    <a:pt x="338328" y="89154"/>
                  </a:lnTo>
                  <a:lnTo>
                    <a:pt x="4572" y="2286"/>
                  </a:lnTo>
                  <a:lnTo>
                    <a:pt x="1168146" y="957833"/>
                  </a:lnTo>
                  <a:close/>
                </a:path>
                <a:path w="1168400" h="958214">
                  <a:moveTo>
                    <a:pt x="1168146" y="957833"/>
                  </a:moveTo>
                  <a:lnTo>
                    <a:pt x="0" y="0"/>
                  </a:lnTo>
                  <a:lnTo>
                    <a:pt x="107442" y="278892"/>
                  </a:lnTo>
                  <a:lnTo>
                    <a:pt x="178308" y="146304"/>
                  </a:lnTo>
                  <a:lnTo>
                    <a:pt x="338328" y="89154"/>
                  </a:lnTo>
                  <a:lnTo>
                    <a:pt x="4572" y="2286"/>
                  </a:lnTo>
                  <a:lnTo>
                    <a:pt x="1168146" y="957833"/>
                  </a:lnTo>
                </a:path>
              </a:pathLst>
            </a:custGeom>
            <a:ln w="13576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</p:grpSp>
      <p:grpSp>
        <p:nvGrpSpPr>
          <p:cNvPr id="1031" name="object 56">
            <a:extLst>
              <a:ext uri="{FF2B5EF4-FFF2-40B4-BE49-F238E27FC236}">
                <a16:creationId xmlns:a16="http://schemas.microsoft.com/office/drawing/2014/main" id="{B42B8E73-EE9C-B6C4-E0A6-CBAE26C2A2D6}"/>
              </a:ext>
            </a:extLst>
          </p:cNvPr>
          <p:cNvGrpSpPr/>
          <p:nvPr/>
        </p:nvGrpSpPr>
        <p:grpSpPr>
          <a:xfrm>
            <a:off x="4759801" y="2433522"/>
            <a:ext cx="951230" cy="1481455"/>
            <a:chOff x="5774887" y="3853122"/>
            <a:chExt cx="951230" cy="1481455"/>
          </a:xfrm>
        </p:grpSpPr>
        <p:sp>
          <p:nvSpPr>
            <p:cNvPr id="1032" name="object 57">
              <a:extLst>
                <a:ext uri="{FF2B5EF4-FFF2-40B4-BE49-F238E27FC236}">
                  <a16:creationId xmlns:a16="http://schemas.microsoft.com/office/drawing/2014/main" id="{4C85505A-A97F-0B38-ABB0-68CD1231F1B1}"/>
                </a:ext>
              </a:extLst>
            </p:cNvPr>
            <p:cNvSpPr/>
            <p:nvPr/>
          </p:nvSpPr>
          <p:spPr>
            <a:xfrm>
              <a:off x="5781675" y="3859911"/>
              <a:ext cx="937260" cy="1468120"/>
            </a:xfrm>
            <a:custGeom>
              <a:avLst/>
              <a:gdLst/>
              <a:ahLst/>
              <a:cxnLst/>
              <a:rect l="l" t="t" r="r" b="b"/>
              <a:pathLst>
                <a:path w="937259" h="1468120">
                  <a:moveTo>
                    <a:pt x="185165" y="1453896"/>
                  </a:moveTo>
                  <a:lnTo>
                    <a:pt x="185165" y="0"/>
                  </a:lnTo>
                  <a:lnTo>
                    <a:pt x="0" y="0"/>
                  </a:lnTo>
                  <a:lnTo>
                    <a:pt x="0" y="1453896"/>
                  </a:lnTo>
                  <a:lnTo>
                    <a:pt x="185165" y="1453896"/>
                  </a:lnTo>
                  <a:close/>
                </a:path>
                <a:path w="937259" h="1468120">
                  <a:moveTo>
                    <a:pt x="592573" y="1128163"/>
                  </a:moveTo>
                  <a:lnTo>
                    <a:pt x="185165" y="726948"/>
                  </a:lnTo>
                  <a:lnTo>
                    <a:pt x="591896" y="1128625"/>
                  </a:lnTo>
                  <a:lnTo>
                    <a:pt x="592573" y="1128163"/>
                  </a:lnTo>
                  <a:close/>
                </a:path>
                <a:path w="937259" h="1468120">
                  <a:moveTo>
                    <a:pt x="921257" y="1459907"/>
                  </a:moveTo>
                  <a:lnTo>
                    <a:pt x="921257" y="1453896"/>
                  </a:lnTo>
                  <a:lnTo>
                    <a:pt x="591896" y="1128625"/>
                  </a:lnTo>
                  <a:lnTo>
                    <a:pt x="443484" y="1229867"/>
                  </a:lnTo>
                  <a:lnTo>
                    <a:pt x="921257" y="1459907"/>
                  </a:lnTo>
                  <a:close/>
                </a:path>
                <a:path w="937259" h="1468120">
                  <a:moveTo>
                    <a:pt x="919733" y="1450352"/>
                  </a:moveTo>
                  <a:lnTo>
                    <a:pt x="738377" y="1028700"/>
                  </a:lnTo>
                  <a:lnTo>
                    <a:pt x="592573" y="1128163"/>
                  </a:lnTo>
                  <a:lnTo>
                    <a:pt x="919733" y="1450352"/>
                  </a:lnTo>
                  <a:close/>
                </a:path>
                <a:path w="937259" h="1468120">
                  <a:moveTo>
                    <a:pt x="937259" y="1467612"/>
                  </a:moveTo>
                  <a:lnTo>
                    <a:pt x="919733" y="1450352"/>
                  </a:lnTo>
                  <a:lnTo>
                    <a:pt x="921257" y="1453896"/>
                  </a:lnTo>
                  <a:lnTo>
                    <a:pt x="921257" y="1459907"/>
                  </a:lnTo>
                  <a:lnTo>
                    <a:pt x="937259" y="14676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  <p:sp>
          <p:nvSpPr>
            <p:cNvPr id="1033" name="object 58">
              <a:extLst>
                <a:ext uri="{FF2B5EF4-FFF2-40B4-BE49-F238E27FC236}">
                  <a16:creationId xmlns:a16="http://schemas.microsoft.com/office/drawing/2014/main" id="{D796B8AB-4428-FBA1-44C1-A761F3CCEEF9}"/>
                </a:ext>
              </a:extLst>
            </p:cNvPr>
            <p:cNvSpPr/>
            <p:nvPr/>
          </p:nvSpPr>
          <p:spPr>
            <a:xfrm>
              <a:off x="5781675" y="3859911"/>
              <a:ext cx="937260" cy="1468120"/>
            </a:xfrm>
            <a:custGeom>
              <a:avLst/>
              <a:gdLst/>
              <a:ahLst/>
              <a:cxnLst/>
              <a:rect l="l" t="t" r="r" b="b"/>
              <a:pathLst>
                <a:path w="937259" h="1468120">
                  <a:moveTo>
                    <a:pt x="921257" y="0"/>
                  </a:moveTo>
                  <a:lnTo>
                    <a:pt x="185165" y="726948"/>
                  </a:lnTo>
                  <a:lnTo>
                    <a:pt x="185165" y="0"/>
                  </a:lnTo>
                  <a:lnTo>
                    <a:pt x="0" y="0"/>
                  </a:lnTo>
                  <a:lnTo>
                    <a:pt x="0" y="1453896"/>
                  </a:lnTo>
                  <a:lnTo>
                    <a:pt x="185165" y="1453896"/>
                  </a:lnTo>
                  <a:lnTo>
                    <a:pt x="185165" y="726948"/>
                  </a:lnTo>
                  <a:lnTo>
                    <a:pt x="921257" y="1453896"/>
                  </a:lnTo>
                  <a:lnTo>
                    <a:pt x="738377" y="1028700"/>
                  </a:lnTo>
                  <a:lnTo>
                    <a:pt x="443484" y="1229867"/>
                  </a:lnTo>
                  <a:lnTo>
                    <a:pt x="937259" y="1467612"/>
                  </a:lnTo>
                  <a:lnTo>
                    <a:pt x="185165" y="726948"/>
                  </a:lnTo>
                  <a:lnTo>
                    <a:pt x="921257" y="0"/>
                  </a:lnTo>
                  <a:close/>
                </a:path>
                <a:path w="937259" h="1468120">
                  <a:moveTo>
                    <a:pt x="921257" y="0"/>
                  </a:moveTo>
                  <a:lnTo>
                    <a:pt x="185165" y="726948"/>
                  </a:lnTo>
                  <a:lnTo>
                    <a:pt x="185165" y="0"/>
                  </a:lnTo>
                  <a:lnTo>
                    <a:pt x="0" y="0"/>
                  </a:lnTo>
                  <a:lnTo>
                    <a:pt x="0" y="1453896"/>
                  </a:lnTo>
                  <a:lnTo>
                    <a:pt x="185165" y="1453896"/>
                  </a:lnTo>
                  <a:lnTo>
                    <a:pt x="185165" y="726948"/>
                  </a:lnTo>
                  <a:lnTo>
                    <a:pt x="921257" y="1453896"/>
                  </a:lnTo>
                  <a:lnTo>
                    <a:pt x="738377" y="1028700"/>
                  </a:lnTo>
                  <a:lnTo>
                    <a:pt x="443484" y="1229867"/>
                  </a:lnTo>
                  <a:lnTo>
                    <a:pt x="937259" y="1467612"/>
                  </a:lnTo>
                  <a:lnTo>
                    <a:pt x="185165" y="726948"/>
                  </a:lnTo>
                  <a:lnTo>
                    <a:pt x="921257" y="0"/>
                  </a:lnTo>
                </a:path>
              </a:pathLst>
            </a:custGeom>
            <a:ln w="135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</p:grpSp>
      <p:sp>
        <p:nvSpPr>
          <p:cNvPr id="1034" name="object 59">
            <a:extLst>
              <a:ext uri="{FF2B5EF4-FFF2-40B4-BE49-F238E27FC236}">
                <a16:creationId xmlns:a16="http://schemas.microsoft.com/office/drawing/2014/main" id="{9DA4F91E-17E3-4747-9042-224F39C31C46}"/>
              </a:ext>
            </a:extLst>
          </p:cNvPr>
          <p:cNvSpPr txBox="1"/>
          <p:nvPr/>
        </p:nvSpPr>
        <p:spPr>
          <a:xfrm>
            <a:off x="3860139" y="4729613"/>
            <a:ext cx="4744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Bookman Old Style" panose="02050604050505020204" pitchFamily="18" charset="0"/>
                <a:cs typeface="Times New Roman"/>
              </a:rPr>
              <a:t>Symbole </a:t>
            </a:r>
            <a:r>
              <a:rPr sz="1200" b="1" dirty="0">
                <a:latin typeface="Bookman Old Style" panose="02050604050505020204" pitchFamily="18" charset="0"/>
                <a:cs typeface="Times New Roman"/>
              </a:rPr>
              <a:t>: La </a:t>
            </a:r>
            <a:r>
              <a:rPr sz="1200" b="1" spc="-5" dirty="0">
                <a:latin typeface="Bookman Old Style" panose="02050604050505020204" pitchFamily="18" charset="0"/>
                <a:cs typeface="Times New Roman"/>
              </a:rPr>
              <a:t>flèche indique </a:t>
            </a:r>
            <a:r>
              <a:rPr sz="1200" b="1" dirty="0">
                <a:latin typeface="Bookman Old Style" panose="02050604050505020204" pitchFamily="18" charset="0"/>
                <a:cs typeface="Times New Roman"/>
              </a:rPr>
              <a:t>le </a:t>
            </a:r>
            <a:r>
              <a:rPr sz="1200" b="1" spc="-5" dirty="0">
                <a:latin typeface="Bookman Old Style" panose="02050604050505020204" pitchFamily="18" charset="0"/>
                <a:cs typeface="Times New Roman"/>
              </a:rPr>
              <a:t>sens passant </a:t>
            </a:r>
            <a:r>
              <a:rPr sz="1200" b="1" dirty="0">
                <a:latin typeface="Bookman Old Style" panose="02050604050505020204" pitchFamily="18" charset="0"/>
                <a:cs typeface="Times New Roman"/>
              </a:rPr>
              <a:t>de la </a:t>
            </a:r>
            <a:r>
              <a:rPr sz="1200" b="1" spc="-434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b="1" spc="-5" dirty="0">
                <a:latin typeface="Bookman Old Style" panose="02050604050505020204" pitchFamily="18" charset="0"/>
                <a:cs typeface="Times New Roman"/>
              </a:rPr>
              <a:t>diode</a:t>
            </a:r>
            <a:r>
              <a:rPr sz="1200" b="1" spc="-1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b="1" spc="-5" dirty="0">
                <a:latin typeface="Bookman Old Style" panose="02050604050505020204" pitchFamily="18" charset="0"/>
                <a:cs typeface="Times New Roman"/>
              </a:rPr>
              <a:t>B-E</a:t>
            </a:r>
            <a:endParaRPr sz="120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1035" name="object 60">
            <a:extLst>
              <a:ext uri="{FF2B5EF4-FFF2-40B4-BE49-F238E27FC236}">
                <a16:creationId xmlns:a16="http://schemas.microsoft.com/office/drawing/2014/main" id="{807FE125-3D24-40EB-5D18-34F200D76C5D}"/>
              </a:ext>
            </a:extLst>
          </p:cNvPr>
          <p:cNvSpPr txBox="1"/>
          <p:nvPr/>
        </p:nvSpPr>
        <p:spPr>
          <a:xfrm>
            <a:off x="6397941" y="2793737"/>
            <a:ext cx="249174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Bookman Old Style" panose="02050604050505020204" pitchFamily="18" charset="0"/>
                <a:cs typeface="Times New Roman"/>
              </a:rPr>
              <a:t>Les signes </a:t>
            </a:r>
            <a:r>
              <a:rPr sz="1200" b="1" spc="-10" dirty="0">
                <a:latin typeface="Bookman Old Style" panose="02050604050505020204" pitchFamily="18" charset="0"/>
                <a:cs typeface="Times New Roman"/>
              </a:rPr>
              <a:t>des </a:t>
            </a:r>
            <a:r>
              <a:rPr sz="1200" b="1" dirty="0">
                <a:latin typeface="Bookman Old Style" panose="02050604050505020204" pitchFamily="18" charset="0"/>
                <a:cs typeface="Times New Roman"/>
              </a:rPr>
              <a:t>variables sont </a:t>
            </a:r>
            <a:r>
              <a:rPr sz="1200" b="1" spc="-38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b="1" spc="-5" dirty="0">
                <a:latin typeface="Bookman Old Style" panose="02050604050505020204" pitchFamily="18" charset="0"/>
                <a:cs typeface="Times New Roman"/>
              </a:rPr>
              <a:t>ceux</a:t>
            </a:r>
            <a:r>
              <a:rPr sz="1200" b="1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b="1" spc="-5" dirty="0">
                <a:latin typeface="Bookman Old Style" panose="02050604050505020204" pitchFamily="18" charset="0"/>
                <a:cs typeface="Times New Roman"/>
              </a:rPr>
              <a:t>qui </a:t>
            </a:r>
            <a:r>
              <a:rPr sz="1200" b="1" dirty="0">
                <a:latin typeface="Bookman Old Style" panose="02050604050505020204" pitchFamily="18" charset="0"/>
                <a:cs typeface="Times New Roman"/>
              </a:rPr>
              <a:t>permettent </a:t>
            </a:r>
            <a:r>
              <a:rPr sz="1200" b="1" spc="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b="1" dirty="0">
                <a:latin typeface="Bookman Old Style" panose="02050604050505020204" pitchFamily="18" charset="0"/>
                <a:cs typeface="Times New Roman"/>
              </a:rPr>
              <a:t>d'obtenir</a:t>
            </a:r>
            <a:r>
              <a:rPr sz="1200" b="1" spc="-1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b="1" dirty="0">
                <a:latin typeface="Bookman Old Style" panose="02050604050505020204" pitchFamily="18" charset="0"/>
                <a:cs typeface="Times New Roman"/>
              </a:rPr>
              <a:t>l'effet</a:t>
            </a:r>
            <a:r>
              <a:rPr sz="1200" b="1" spc="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b="1" spc="-5" dirty="0">
                <a:latin typeface="Bookman Old Style" panose="02050604050505020204" pitchFamily="18" charset="0"/>
                <a:cs typeface="Times New Roman"/>
              </a:rPr>
              <a:t>transistor</a:t>
            </a:r>
            <a:endParaRPr sz="1200"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1036" name="object 61">
            <a:extLst>
              <a:ext uri="{FF2B5EF4-FFF2-40B4-BE49-F238E27FC236}">
                <a16:creationId xmlns:a16="http://schemas.microsoft.com/office/drawing/2014/main" id="{092169E2-1CD3-6B03-E3D1-9233B08135B2}"/>
              </a:ext>
            </a:extLst>
          </p:cNvPr>
          <p:cNvSpPr txBox="1"/>
          <p:nvPr/>
        </p:nvSpPr>
        <p:spPr>
          <a:xfrm>
            <a:off x="339776" y="2229669"/>
            <a:ext cx="54991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1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N</a:t>
            </a:r>
            <a:r>
              <a:rPr sz="1200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PN</a:t>
            </a:r>
            <a:endParaRPr sz="1200" dirty="0">
              <a:solidFill>
                <a:srgbClr val="FF0000"/>
              </a:solidFill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1037" name="object 39">
            <a:extLst>
              <a:ext uri="{FF2B5EF4-FFF2-40B4-BE49-F238E27FC236}">
                <a16:creationId xmlns:a16="http://schemas.microsoft.com/office/drawing/2014/main" id="{A3DE64C7-E287-FFC1-D9D8-BC5E46A043A5}"/>
              </a:ext>
            </a:extLst>
          </p:cNvPr>
          <p:cNvSpPr txBox="1"/>
          <p:nvPr/>
        </p:nvSpPr>
        <p:spPr>
          <a:xfrm>
            <a:off x="3716903" y="1941552"/>
            <a:ext cx="429259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550" spc="67" baseline="13071" dirty="0">
                <a:solidFill>
                  <a:srgbClr val="ED1C24"/>
                </a:solidFill>
                <a:latin typeface="Times New Roman"/>
                <a:cs typeface="Times New Roman"/>
              </a:rPr>
              <a:t>U</a:t>
            </a:r>
            <a:r>
              <a:rPr sz="1050" spc="45" dirty="0">
                <a:solidFill>
                  <a:srgbClr val="ED1C24"/>
                </a:solidFill>
                <a:latin typeface="Times New Roman"/>
                <a:cs typeface="Times New Roman"/>
              </a:rPr>
              <a:t>CB</a:t>
            </a:r>
            <a:endParaRPr sz="1050" dirty="0">
              <a:latin typeface="Times New Roman"/>
              <a:cs typeface="Times New Roman"/>
            </a:endParaRPr>
          </a:p>
        </p:txBody>
      </p:sp>
      <p:sp>
        <p:nvSpPr>
          <p:cNvPr id="1038" name="object 40">
            <a:extLst>
              <a:ext uri="{FF2B5EF4-FFF2-40B4-BE49-F238E27FC236}">
                <a16:creationId xmlns:a16="http://schemas.microsoft.com/office/drawing/2014/main" id="{850912F4-8B9F-8967-023E-93013F2401FD}"/>
              </a:ext>
            </a:extLst>
          </p:cNvPr>
          <p:cNvSpPr txBox="1"/>
          <p:nvPr/>
        </p:nvSpPr>
        <p:spPr>
          <a:xfrm>
            <a:off x="4170904" y="1972753"/>
            <a:ext cx="199390" cy="184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50" spc="-10" dirty="0">
                <a:latin typeface="Times New Roman"/>
                <a:cs typeface="Times New Roman"/>
              </a:rPr>
              <a:t>&gt;</a:t>
            </a:r>
            <a:r>
              <a:rPr sz="1050" spc="-5" dirty="0">
                <a:latin typeface="Times New Roman"/>
                <a:cs typeface="Times New Roman"/>
              </a:rPr>
              <a:t> 0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039" name="object 41">
            <a:extLst>
              <a:ext uri="{FF2B5EF4-FFF2-40B4-BE49-F238E27FC236}">
                <a16:creationId xmlns:a16="http://schemas.microsoft.com/office/drawing/2014/main" id="{3C547291-C93D-DDBA-7BAB-8782234375F7}"/>
              </a:ext>
            </a:extLst>
          </p:cNvPr>
          <p:cNvSpPr txBox="1"/>
          <p:nvPr/>
        </p:nvSpPr>
        <p:spPr>
          <a:xfrm>
            <a:off x="5024514" y="1977982"/>
            <a:ext cx="470534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700" spc="15" dirty="0">
                <a:solidFill>
                  <a:srgbClr val="1C915C"/>
                </a:solidFill>
                <a:latin typeface="Times New Roman"/>
                <a:cs typeface="Times New Roman"/>
              </a:rPr>
              <a:t>I</a:t>
            </a:r>
            <a:r>
              <a:rPr sz="1575" spc="22" baseline="-21164" dirty="0">
                <a:solidFill>
                  <a:srgbClr val="1C915C"/>
                </a:solidFill>
                <a:latin typeface="Times New Roman"/>
                <a:cs typeface="Times New Roman"/>
              </a:rPr>
              <a:t>C</a:t>
            </a:r>
            <a:r>
              <a:rPr sz="1575" spc="187" baseline="-21164" dirty="0">
                <a:solidFill>
                  <a:srgbClr val="1C915C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latin typeface="Times New Roman"/>
                <a:cs typeface="Times New Roman"/>
              </a:rPr>
              <a:t>&gt;</a:t>
            </a:r>
            <a:r>
              <a:rPr sz="1050" spc="-30" dirty="0">
                <a:latin typeface="Times New Roman"/>
                <a:cs typeface="Times New Roman"/>
              </a:rPr>
              <a:t> </a:t>
            </a:r>
            <a:r>
              <a:rPr sz="1050" spc="-5" dirty="0">
                <a:latin typeface="Times New Roman"/>
                <a:cs typeface="Times New Roman"/>
              </a:rPr>
              <a:t>0</a:t>
            </a:r>
            <a:endParaRPr sz="1050" dirty="0">
              <a:latin typeface="Times New Roman"/>
              <a:cs typeface="Times New Roman"/>
            </a:endParaRPr>
          </a:p>
        </p:txBody>
      </p:sp>
      <p:sp>
        <p:nvSpPr>
          <p:cNvPr id="1040" name="object 42">
            <a:extLst>
              <a:ext uri="{FF2B5EF4-FFF2-40B4-BE49-F238E27FC236}">
                <a16:creationId xmlns:a16="http://schemas.microsoft.com/office/drawing/2014/main" id="{E1555489-4B73-70EC-C6B5-AB4808F938C5}"/>
              </a:ext>
            </a:extLst>
          </p:cNvPr>
          <p:cNvSpPr txBox="1"/>
          <p:nvPr/>
        </p:nvSpPr>
        <p:spPr>
          <a:xfrm>
            <a:off x="5006152" y="3815940"/>
            <a:ext cx="4616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700" spc="5" dirty="0">
                <a:solidFill>
                  <a:srgbClr val="1C915C"/>
                </a:solidFill>
                <a:latin typeface="Times New Roman"/>
                <a:cs typeface="Times New Roman"/>
              </a:rPr>
              <a:t>I</a:t>
            </a:r>
            <a:r>
              <a:rPr sz="1575" spc="7" baseline="-21164" dirty="0">
                <a:solidFill>
                  <a:srgbClr val="1C915C"/>
                </a:solidFill>
                <a:latin typeface="Times New Roman"/>
                <a:cs typeface="Times New Roman"/>
              </a:rPr>
              <a:t>E</a:t>
            </a:r>
            <a:r>
              <a:rPr sz="1575" spc="195" baseline="-21164" dirty="0">
                <a:solidFill>
                  <a:srgbClr val="1C915C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latin typeface="Times New Roman"/>
                <a:cs typeface="Times New Roman"/>
              </a:rPr>
              <a:t>&gt;</a:t>
            </a:r>
            <a:r>
              <a:rPr sz="1050" spc="-30" dirty="0">
                <a:latin typeface="Times New Roman"/>
                <a:cs typeface="Times New Roman"/>
              </a:rPr>
              <a:t> </a:t>
            </a:r>
            <a:r>
              <a:rPr sz="1050" spc="-5" dirty="0">
                <a:latin typeface="Times New Roman"/>
                <a:cs typeface="Times New Roman"/>
              </a:rPr>
              <a:t>0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041" name="object 51">
            <a:extLst>
              <a:ext uri="{FF2B5EF4-FFF2-40B4-BE49-F238E27FC236}">
                <a16:creationId xmlns:a16="http://schemas.microsoft.com/office/drawing/2014/main" id="{D3F5C17C-CCD2-88E9-FFFA-0AD57E9EE30F}"/>
              </a:ext>
            </a:extLst>
          </p:cNvPr>
          <p:cNvSpPr txBox="1"/>
          <p:nvPr/>
        </p:nvSpPr>
        <p:spPr>
          <a:xfrm>
            <a:off x="4126058" y="2663868"/>
            <a:ext cx="46863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700" spc="5" dirty="0">
                <a:solidFill>
                  <a:srgbClr val="1C915C"/>
                </a:solidFill>
                <a:latin typeface="Times New Roman"/>
                <a:cs typeface="Times New Roman"/>
              </a:rPr>
              <a:t>I</a:t>
            </a:r>
            <a:r>
              <a:rPr sz="1575" spc="7" baseline="-21164" dirty="0">
                <a:solidFill>
                  <a:srgbClr val="1C915C"/>
                </a:solidFill>
                <a:latin typeface="Times New Roman"/>
                <a:cs typeface="Times New Roman"/>
              </a:rPr>
              <a:t>B</a:t>
            </a:r>
            <a:r>
              <a:rPr sz="1575" spc="187" baseline="-21164" dirty="0">
                <a:solidFill>
                  <a:srgbClr val="1C915C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latin typeface="Times New Roman"/>
                <a:cs typeface="Times New Roman"/>
              </a:rPr>
              <a:t>&gt;</a:t>
            </a:r>
            <a:r>
              <a:rPr sz="1050" spc="-30" dirty="0">
                <a:latin typeface="Times New Roman"/>
                <a:cs typeface="Times New Roman"/>
              </a:rPr>
              <a:t> </a:t>
            </a:r>
            <a:r>
              <a:rPr sz="1050" spc="-5" dirty="0">
                <a:latin typeface="Times New Roman"/>
                <a:cs typeface="Times New Roman"/>
              </a:rPr>
              <a:t>0</a:t>
            </a:r>
            <a:endParaRPr sz="1050" dirty="0">
              <a:latin typeface="Times New Roman"/>
              <a:cs typeface="Times New Roman"/>
            </a:endParaRPr>
          </a:p>
        </p:txBody>
      </p:sp>
      <p:sp>
        <p:nvSpPr>
          <p:cNvPr id="1042" name="object 52">
            <a:extLst>
              <a:ext uri="{FF2B5EF4-FFF2-40B4-BE49-F238E27FC236}">
                <a16:creationId xmlns:a16="http://schemas.microsoft.com/office/drawing/2014/main" id="{37B3811E-58BD-1FE2-BA61-50392593D8A5}"/>
              </a:ext>
            </a:extLst>
          </p:cNvPr>
          <p:cNvSpPr txBox="1"/>
          <p:nvPr/>
        </p:nvSpPr>
        <p:spPr>
          <a:xfrm>
            <a:off x="3838094" y="4113184"/>
            <a:ext cx="42164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550" spc="67" baseline="13071" dirty="0">
                <a:solidFill>
                  <a:srgbClr val="ED1C24"/>
                </a:solidFill>
                <a:latin typeface="Times New Roman"/>
                <a:cs typeface="Times New Roman"/>
              </a:rPr>
              <a:t>U</a:t>
            </a:r>
            <a:r>
              <a:rPr sz="1050" spc="45" dirty="0">
                <a:solidFill>
                  <a:srgbClr val="ED1C24"/>
                </a:solidFill>
                <a:latin typeface="Times New Roman"/>
                <a:cs typeface="Times New Roman"/>
              </a:rPr>
              <a:t>BE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043" name="object 53">
            <a:extLst>
              <a:ext uri="{FF2B5EF4-FFF2-40B4-BE49-F238E27FC236}">
                <a16:creationId xmlns:a16="http://schemas.microsoft.com/office/drawing/2014/main" id="{07F6B8DF-8FAF-57FD-192E-EFC00ECB1C5D}"/>
              </a:ext>
            </a:extLst>
          </p:cNvPr>
          <p:cNvSpPr txBox="1"/>
          <p:nvPr/>
        </p:nvSpPr>
        <p:spPr>
          <a:xfrm>
            <a:off x="4282883" y="4144386"/>
            <a:ext cx="199390" cy="184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50" spc="-10" dirty="0">
                <a:latin typeface="Times New Roman"/>
                <a:cs typeface="Times New Roman"/>
              </a:rPr>
              <a:t>&gt;</a:t>
            </a:r>
            <a:r>
              <a:rPr sz="1050" spc="-5" dirty="0">
                <a:latin typeface="Times New Roman"/>
                <a:cs typeface="Times New Roman"/>
              </a:rPr>
              <a:t> 0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044" name="object 54">
            <a:extLst>
              <a:ext uri="{FF2B5EF4-FFF2-40B4-BE49-F238E27FC236}">
                <a16:creationId xmlns:a16="http://schemas.microsoft.com/office/drawing/2014/main" id="{7D53B820-E41A-C7CE-BFB2-62B6B7AFECEB}"/>
              </a:ext>
            </a:extLst>
          </p:cNvPr>
          <p:cNvSpPr txBox="1"/>
          <p:nvPr/>
        </p:nvSpPr>
        <p:spPr>
          <a:xfrm>
            <a:off x="5365189" y="2958752"/>
            <a:ext cx="42164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550" spc="67" baseline="13071" dirty="0">
                <a:solidFill>
                  <a:srgbClr val="ED1C24"/>
                </a:solidFill>
                <a:latin typeface="Times New Roman"/>
                <a:cs typeface="Times New Roman"/>
              </a:rPr>
              <a:t>U</a:t>
            </a:r>
            <a:r>
              <a:rPr sz="1050" spc="45" dirty="0">
                <a:solidFill>
                  <a:srgbClr val="ED1C24"/>
                </a:solidFill>
                <a:latin typeface="Times New Roman"/>
                <a:cs typeface="Times New Roman"/>
              </a:rPr>
              <a:t>CE</a:t>
            </a:r>
            <a:endParaRPr sz="1050" dirty="0">
              <a:latin typeface="Times New Roman"/>
              <a:cs typeface="Times New Roman"/>
            </a:endParaRPr>
          </a:p>
        </p:txBody>
      </p:sp>
      <p:sp>
        <p:nvSpPr>
          <p:cNvPr id="1045" name="object 55">
            <a:extLst>
              <a:ext uri="{FF2B5EF4-FFF2-40B4-BE49-F238E27FC236}">
                <a16:creationId xmlns:a16="http://schemas.microsoft.com/office/drawing/2014/main" id="{74F2C500-2E75-BA6D-2CB2-92031DEDEB9B}"/>
              </a:ext>
            </a:extLst>
          </p:cNvPr>
          <p:cNvSpPr txBox="1"/>
          <p:nvPr/>
        </p:nvSpPr>
        <p:spPr>
          <a:xfrm>
            <a:off x="5809874" y="2989954"/>
            <a:ext cx="199390" cy="184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50" spc="-10" dirty="0">
                <a:latin typeface="Times New Roman"/>
                <a:cs typeface="Times New Roman"/>
              </a:rPr>
              <a:t>&gt;</a:t>
            </a:r>
            <a:r>
              <a:rPr sz="1050" spc="-5" dirty="0">
                <a:latin typeface="Times New Roman"/>
                <a:cs typeface="Times New Roman"/>
              </a:rPr>
              <a:t> 0</a:t>
            </a:r>
            <a:endParaRPr sz="105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2729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6"/>
            <a:ext cx="52086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-Transistor-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0646" y="557613"/>
            <a:ext cx="6993154" cy="6283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2. Structure et fonctionnement</a:t>
            </a:r>
          </a:p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sz="1600" b="1"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2.1 Structure est symbole</a:t>
            </a: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715000" y="365260"/>
            <a:ext cx="3328256" cy="10117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" name="object 5">
            <a:extLst>
              <a:ext uri="{FF2B5EF4-FFF2-40B4-BE49-F238E27FC236}">
                <a16:creationId xmlns:a16="http://schemas.microsoft.com/office/drawing/2014/main" id="{C61BF24F-1D35-558D-E113-5A7FF1D121D0}"/>
              </a:ext>
            </a:extLst>
          </p:cNvPr>
          <p:cNvGrpSpPr/>
          <p:nvPr/>
        </p:nvGrpSpPr>
        <p:grpSpPr>
          <a:xfrm>
            <a:off x="90656" y="1679434"/>
            <a:ext cx="839469" cy="612775"/>
            <a:chOff x="544448" y="3098673"/>
            <a:chExt cx="839469" cy="612775"/>
          </a:xfrm>
          <a:solidFill>
            <a:schemeClr val="tx1"/>
          </a:solidFill>
        </p:grpSpPr>
        <p:sp>
          <p:nvSpPr>
            <p:cNvPr id="11" name="object 6">
              <a:extLst>
                <a:ext uri="{FF2B5EF4-FFF2-40B4-BE49-F238E27FC236}">
                  <a16:creationId xmlns:a16="http://schemas.microsoft.com/office/drawing/2014/main" id="{0C00396A-F451-1585-5DCF-9BF6AEFF3CB3}"/>
                </a:ext>
              </a:extLst>
            </p:cNvPr>
            <p:cNvSpPr/>
            <p:nvPr/>
          </p:nvSpPr>
          <p:spPr>
            <a:xfrm>
              <a:off x="551306" y="3105531"/>
              <a:ext cx="825500" cy="599440"/>
            </a:xfrm>
            <a:custGeom>
              <a:avLst/>
              <a:gdLst/>
              <a:ahLst/>
              <a:cxnLst/>
              <a:rect l="l" t="t" r="r" b="b"/>
              <a:pathLst>
                <a:path w="825500" h="599439">
                  <a:moveTo>
                    <a:pt x="825246" y="598932"/>
                  </a:moveTo>
                  <a:lnTo>
                    <a:pt x="825246" y="0"/>
                  </a:lnTo>
                  <a:lnTo>
                    <a:pt x="0" y="0"/>
                  </a:lnTo>
                  <a:lnTo>
                    <a:pt x="0" y="598932"/>
                  </a:lnTo>
                  <a:lnTo>
                    <a:pt x="825246" y="598932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  <p:sp>
          <p:nvSpPr>
            <p:cNvPr id="21" name="object 7">
              <a:extLst>
                <a:ext uri="{FF2B5EF4-FFF2-40B4-BE49-F238E27FC236}">
                  <a16:creationId xmlns:a16="http://schemas.microsoft.com/office/drawing/2014/main" id="{2A6F4E31-5C41-6177-787F-89247EBE832C}"/>
                </a:ext>
              </a:extLst>
            </p:cNvPr>
            <p:cNvSpPr/>
            <p:nvPr/>
          </p:nvSpPr>
          <p:spPr>
            <a:xfrm>
              <a:off x="551306" y="3105531"/>
              <a:ext cx="825500" cy="599440"/>
            </a:xfrm>
            <a:custGeom>
              <a:avLst/>
              <a:gdLst/>
              <a:ahLst/>
              <a:cxnLst/>
              <a:rect l="l" t="t" r="r" b="b"/>
              <a:pathLst>
                <a:path w="825500" h="599439">
                  <a:moveTo>
                    <a:pt x="0" y="0"/>
                  </a:moveTo>
                  <a:lnTo>
                    <a:pt x="825246" y="0"/>
                  </a:lnTo>
                  <a:lnTo>
                    <a:pt x="825246" y="598932"/>
                  </a:lnTo>
                  <a:lnTo>
                    <a:pt x="0" y="59893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3716">
              <a:solidFill>
                <a:srgbClr val="E92236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</p:grpSp>
      <p:sp>
        <p:nvSpPr>
          <p:cNvPr id="51" name="object 8">
            <a:extLst>
              <a:ext uri="{FF2B5EF4-FFF2-40B4-BE49-F238E27FC236}">
                <a16:creationId xmlns:a16="http://schemas.microsoft.com/office/drawing/2014/main" id="{71C9FA3B-6DFC-AF9C-601E-4C60F75F6CA0}"/>
              </a:ext>
            </a:extLst>
          </p:cNvPr>
          <p:cNvSpPr txBox="1"/>
          <p:nvPr/>
        </p:nvSpPr>
        <p:spPr>
          <a:xfrm>
            <a:off x="311320" y="1825748"/>
            <a:ext cx="521334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5" dirty="0">
                <a:solidFill>
                  <a:srgbClr val="E92236"/>
                </a:solidFill>
                <a:latin typeface="Bookman Old Style" panose="02050604050505020204" pitchFamily="18" charset="0"/>
                <a:cs typeface="Times New Roman"/>
              </a:rPr>
              <a:t>P</a:t>
            </a:r>
            <a:r>
              <a:rPr sz="1200" b="1" spc="10" dirty="0">
                <a:solidFill>
                  <a:srgbClr val="E92236"/>
                </a:solidFill>
                <a:latin typeface="Bookman Old Style" panose="02050604050505020204" pitchFamily="18" charset="0"/>
                <a:cs typeface="Times New Roman"/>
              </a:rPr>
              <a:t>N</a:t>
            </a:r>
            <a:r>
              <a:rPr sz="1200" b="1" spc="-5" dirty="0">
                <a:solidFill>
                  <a:srgbClr val="E92236"/>
                </a:solidFill>
                <a:latin typeface="Bookman Old Style" panose="02050604050505020204" pitchFamily="18" charset="0"/>
                <a:cs typeface="Times New Roman"/>
              </a:rPr>
              <a:t>P</a:t>
            </a:r>
            <a:endParaRPr sz="1200" dirty="0">
              <a:latin typeface="Bookman Old Style" panose="02050604050505020204" pitchFamily="18" charset="0"/>
              <a:cs typeface="Times New Roman"/>
            </a:endParaRPr>
          </a:p>
        </p:txBody>
      </p:sp>
      <p:grpSp>
        <p:nvGrpSpPr>
          <p:cNvPr id="52" name="object 9">
            <a:extLst>
              <a:ext uri="{FF2B5EF4-FFF2-40B4-BE49-F238E27FC236}">
                <a16:creationId xmlns:a16="http://schemas.microsoft.com/office/drawing/2014/main" id="{A720F808-7A20-0017-A8E9-56E22659E99A}"/>
              </a:ext>
            </a:extLst>
          </p:cNvPr>
          <p:cNvGrpSpPr/>
          <p:nvPr/>
        </p:nvGrpSpPr>
        <p:grpSpPr>
          <a:xfrm>
            <a:off x="1424444" y="2101119"/>
            <a:ext cx="1384300" cy="2550160"/>
            <a:chOff x="1852548" y="3218052"/>
            <a:chExt cx="1384300" cy="2550160"/>
          </a:xfrm>
        </p:grpSpPr>
        <p:sp>
          <p:nvSpPr>
            <p:cNvPr id="53" name="object 10">
              <a:extLst>
                <a:ext uri="{FF2B5EF4-FFF2-40B4-BE49-F238E27FC236}">
                  <a16:creationId xmlns:a16="http://schemas.microsoft.com/office/drawing/2014/main" id="{8C78C2A0-EEC3-B278-7F42-A49FC7F6ABEF}"/>
                </a:ext>
              </a:extLst>
            </p:cNvPr>
            <p:cNvSpPr/>
            <p:nvPr/>
          </p:nvSpPr>
          <p:spPr>
            <a:xfrm>
              <a:off x="1859280" y="4957190"/>
              <a:ext cx="1371600" cy="805180"/>
            </a:xfrm>
            <a:custGeom>
              <a:avLst/>
              <a:gdLst/>
              <a:ahLst/>
              <a:cxnLst/>
              <a:rect l="l" t="t" r="r" b="b"/>
              <a:pathLst>
                <a:path w="1371600" h="805179">
                  <a:moveTo>
                    <a:pt x="1371600" y="0"/>
                  </a:moveTo>
                  <a:lnTo>
                    <a:pt x="754380" y="0"/>
                  </a:lnTo>
                  <a:lnTo>
                    <a:pt x="617220" y="0"/>
                  </a:lnTo>
                  <a:lnTo>
                    <a:pt x="0" y="0"/>
                  </a:lnTo>
                  <a:lnTo>
                    <a:pt x="0" y="228600"/>
                  </a:lnTo>
                  <a:lnTo>
                    <a:pt x="617220" y="228600"/>
                  </a:lnTo>
                  <a:lnTo>
                    <a:pt x="617220" y="804672"/>
                  </a:lnTo>
                  <a:lnTo>
                    <a:pt x="754380" y="804672"/>
                  </a:lnTo>
                  <a:lnTo>
                    <a:pt x="754380" y="228600"/>
                  </a:lnTo>
                  <a:lnTo>
                    <a:pt x="1371600" y="228600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  <p:sp>
          <p:nvSpPr>
            <p:cNvPr id="54" name="object 11">
              <a:extLst>
                <a:ext uri="{FF2B5EF4-FFF2-40B4-BE49-F238E27FC236}">
                  <a16:creationId xmlns:a16="http://schemas.microsoft.com/office/drawing/2014/main" id="{8E72C57B-01D0-D7D5-D0E7-ABBB6DF5C441}"/>
                </a:ext>
              </a:extLst>
            </p:cNvPr>
            <p:cNvSpPr/>
            <p:nvPr/>
          </p:nvSpPr>
          <p:spPr>
            <a:xfrm>
              <a:off x="1858898" y="4957191"/>
              <a:ext cx="1371600" cy="805180"/>
            </a:xfrm>
            <a:custGeom>
              <a:avLst/>
              <a:gdLst/>
              <a:ahLst/>
              <a:cxnLst/>
              <a:rect l="l" t="t" r="r" b="b"/>
              <a:pathLst>
                <a:path w="1371600" h="805179">
                  <a:moveTo>
                    <a:pt x="0" y="52577"/>
                  </a:moveTo>
                  <a:lnTo>
                    <a:pt x="52577" y="0"/>
                  </a:lnTo>
                </a:path>
                <a:path w="1371600" h="805179">
                  <a:moveTo>
                    <a:pt x="0" y="112013"/>
                  </a:moveTo>
                  <a:lnTo>
                    <a:pt x="112013" y="0"/>
                  </a:lnTo>
                </a:path>
                <a:path w="1371600" h="805179">
                  <a:moveTo>
                    <a:pt x="0" y="171450"/>
                  </a:moveTo>
                  <a:lnTo>
                    <a:pt x="171450" y="0"/>
                  </a:lnTo>
                </a:path>
                <a:path w="1371600" h="805179">
                  <a:moveTo>
                    <a:pt x="2286" y="228600"/>
                  </a:moveTo>
                  <a:lnTo>
                    <a:pt x="230886" y="0"/>
                  </a:lnTo>
                </a:path>
                <a:path w="1371600" h="805179">
                  <a:moveTo>
                    <a:pt x="61721" y="228600"/>
                  </a:moveTo>
                  <a:lnTo>
                    <a:pt x="290321" y="0"/>
                  </a:lnTo>
                </a:path>
                <a:path w="1371600" h="805179">
                  <a:moveTo>
                    <a:pt x="121157" y="228600"/>
                  </a:moveTo>
                  <a:lnTo>
                    <a:pt x="349757" y="0"/>
                  </a:lnTo>
                </a:path>
                <a:path w="1371600" h="805179">
                  <a:moveTo>
                    <a:pt x="180594" y="228600"/>
                  </a:moveTo>
                  <a:lnTo>
                    <a:pt x="409193" y="0"/>
                  </a:lnTo>
                </a:path>
                <a:path w="1371600" h="805179">
                  <a:moveTo>
                    <a:pt x="240029" y="228600"/>
                  </a:moveTo>
                  <a:lnTo>
                    <a:pt x="468629" y="0"/>
                  </a:lnTo>
                </a:path>
                <a:path w="1371600" h="805179">
                  <a:moveTo>
                    <a:pt x="299465" y="228600"/>
                  </a:moveTo>
                  <a:lnTo>
                    <a:pt x="528065" y="0"/>
                  </a:lnTo>
                </a:path>
                <a:path w="1371600" h="805179">
                  <a:moveTo>
                    <a:pt x="358901" y="228600"/>
                  </a:moveTo>
                  <a:lnTo>
                    <a:pt x="587501" y="0"/>
                  </a:lnTo>
                </a:path>
                <a:path w="1371600" h="805179">
                  <a:moveTo>
                    <a:pt x="418338" y="228600"/>
                  </a:moveTo>
                  <a:lnTo>
                    <a:pt x="646937" y="0"/>
                  </a:lnTo>
                </a:path>
                <a:path w="1371600" h="805179">
                  <a:moveTo>
                    <a:pt x="477774" y="228600"/>
                  </a:moveTo>
                  <a:lnTo>
                    <a:pt x="706373" y="0"/>
                  </a:lnTo>
                </a:path>
                <a:path w="1371600" h="805179">
                  <a:moveTo>
                    <a:pt x="537209" y="228600"/>
                  </a:moveTo>
                  <a:lnTo>
                    <a:pt x="765809" y="0"/>
                  </a:lnTo>
                </a:path>
                <a:path w="1371600" h="805179">
                  <a:moveTo>
                    <a:pt x="596645" y="228600"/>
                  </a:moveTo>
                  <a:lnTo>
                    <a:pt x="825245" y="0"/>
                  </a:lnTo>
                </a:path>
                <a:path w="1371600" h="805179">
                  <a:moveTo>
                    <a:pt x="617219" y="267462"/>
                  </a:moveTo>
                  <a:lnTo>
                    <a:pt x="656082" y="228600"/>
                  </a:lnTo>
                </a:path>
                <a:path w="1371600" h="805179">
                  <a:moveTo>
                    <a:pt x="656081" y="228600"/>
                  </a:moveTo>
                  <a:lnTo>
                    <a:pt x="884681" y="0"/>
                  </a:lnTo>
                </a:path>
                <a:path w="1371600" h="805179">
                  <a:moveTo>
                    <a:pt x="617219" y="326898"/>
                  </a:moveTo>
                  <a:lnTo>
                    <a:pt x="715518" y="228600"/>
                  </a:lnTo>
                </a:path>
                <a:path w="1371600" h="805179">
                  <a:moveTo>
                    <a:pt x="715517" y="228600"/>
                  </a:moveTo>
                  <a:lnTo>
                    <a:pt x="944117" y="0"/>
                  </a:lnTo>
                </a:path>
                <a:path w="1371600" h="805179">
                  <a:moveTo>
                    <a:pt x="617219" y="386334"/>
                  </a:moveTo>
                  <a:lnTo>
                    <a:pt x="754380" y="249174"/>
                  </a:lnTo>
                </a:path>
                <a:path w="1371600" h="805179">
                  <a:moveTo>
                    <a:pt x="774953" y="228600"/>
                  </a:moveTo>
                  <a:lnTo>
                    <a:pt x="1003553" y="0"/>
                  </a:lnTo>
                </a:path>
                <a:path w="1371600" h="805179">
                  <a:moveTo>
                    <a:pt x="617219" y="445770"/>
                  </a:moveTo>
                  <a:lnTo>
                    <a:pt x="754380" y="308610"/>
                  </a:lnTo>
                </a:path>
                <a:path w="1371600" h="805179">
                  <a:moveTo>
                    <a:pt x="834389" y="228600"/>
                  </a:moveTo>
                  <a:lnTo>
                    <a:pt x="1062989" y="0"/>
                  </a:lnTo>
                </a:path>
                <a:path w="1371600" h="805179">
                  <a:moveTo>
                    <a:pt x="617219" y="505206"/>
                  </a:moveTo>
                  <a:lnTo>
                    <a:pt x="754380" y="368046"/>
                  </a:lnTo>
                </a:path>
                <a:path w="1371600" h="805179">
                  <a:moveTo>
                    <a:pt x="893825" y="228600"/>
                  </a:moveTo>
                  <a:lnTo>
                    <a:pt x="1122425" y="0"/>
                  </a:lnTo>
                </a:path>
                <a:path w="1371600" h="805179">
                  <a:moveTo>
                    <a:pt x="617219" y="564642"/>
                  </a:moveTo>
                  <a:lnTo>
                    <a:pt x="754380" y="427482"/>
                  </a:lnTo>
                </a:path>
                <a:path w="1371600" h="805179">
                  <a:moveTo>
                    <a:pt x="953261" y="228600"/>
                  </a:moveTo>
                  <a:lnTo>
                    <a:pt x="1181861" y="0"/>
                  </a:lnTo>
                </a:path>
                <a:path w="1371600" h="805179">
                  <a:moveTo>
                    <a:pt x="617219" y="624078"/>
                  </a:moveTo>
                  <a:lnTo>
                    <a:pt x="754380" y="486918"/>
                  </a:lnTo>
                </a:path>
                <a:path w="1371600" h="805179">
                  <a:moveTo>
                    <a:pt x="1012697" y="228600"/>
                  </a:moveTo>
                  <a:lnTo>
                    <a:pt x="1241297" y="0"/>
                  </a:lnTo>
                </a:path>
                <a:path w="1371600" h="805179">
                  <a:moveTo>
                    <a:pt x="617219" y="683513"/>
                  </a:moveTo>
                  <a:lnTo>
                    <a:pt x="754380" y="546353"/>
                  </a:lnTo>
                </a:path>
                <a:path w="1371600" h="805179">
                  <a:moveTo>
                    <a:pt x="1072133" y="228600"/>
                  </a:moveTo>
                  <a:lnTo>
                    <a:pt x="1300733" y="0"/>
                  </a:lnTo>
                </a:path>
                <a:path w="1371600" h="805179">
                  <a:moveTo>
                    <a:pt x="617219" y="742950"/>
                  </a:moveTo>
                  <a:lnTo>
                    <a:pt x="754380" y="605789"/>
                  </a:lnTo>
                </a:path>
                <a:path w="1371600" h="805179">
                  <a:moveTo>
                    <a:pt x="1131569" y="228600"/>
                  </a:moveTo>
                  <a:lnTo>
                    <a:pt x="1360169" y="0"/>
                  </a:lnTo>
                </a:path>
                <a:path w="1371600" h="805179">
                  <a:moveTo>
                    <a:pt x="617219" y="802386"/>
                  </a:moveTo>
                  <a:lnTo>
                    <a:pt x="754380" y="665226"/>
                  </a:lnTo>
                </a:path>
                <a:path w="1371600" h="805179">
                  <a:moveTo>
                    <a:pt x="1191005" y="228600"/>
                  </a:moveTo>
                  <a:lnTo>
                    <a:pt x="1371600" y="48005"/>
                  </a:lnTo>
                </a:path>
                <a:path w="1371600" h="805179">
                  <a:moveTo>
                    <a:pt x="674369" y="804672"/>
                  </a:moveTo>
                  <a:lnTo>
                    <a:pt x="754380" y="724662"/>
                  </a:lnTo>
                </a:path>
                <a:path w="1371600" h="805179">
                  <a:moveTo>
                    <a:pt x="1250441" y="228600"/>
                  </a:moveTo>
                  <a:lnTo>
                    <a:pt x="1371600" y="107441"/>
                  </a:lnTo>
                </a:path>
                <a:path w="1371600" h="805179">
                  <a:moveTo>
                    <a:pt x="733805" y="804672"/>
                  </a:moveTo>
                  <a:lnTo>
                    <a:pt x="754380" y="784097"/>
                  </a:lnTo>
                </a:path>
                <a:path w="1371600" h="805179">
                  <a:moveTo>
                    <a:pt x="1309877" y="228600"/>
                  </a:moveTo>
                  <a:lnTo>
                    <a:pt x="1371600" y="166877"/>
                  </a:lnTo>
                </a:path>
                <a:path w="1371600" h="805179">
                  <a:moveTo>
                    <a:pt x="1369313" y="228600"/>
                  </a:moveTo>
                  <a:lnTo>
                    <a:pt x="1371600" y="22631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  <p:sp>
          <p:nvSpPr>
            <p:cNvPr id="63" name="object 12">
              <a:extLst>
                <a:ext uri="{FF2B5EF4-FFF2-40B4-BE49-F238E27FC236}">
                  <a16:creationId xmlns:a16="http://schemas.microsoft.com/office/drawing/2014/main" id="{6A8CFC0E-7823-9EED-ADFB-2DD197135BFB}"/>
                </a:ext>
              </a:extLst>
            </p:cNvPr>
            <p:cNvSpPr/>
            <p:nvPr/>
          </p:nvSpPr>
          <p:spPr>
            <a:xfrm>
              <a:off x="1858898" y="3224402"/>
              <a:ext cx="1371600" cy="2537460"/>
            </a:xfrm>
            <a:custGeom>
              <a:avLst/>
              <a:gdLst/>
              <a:ahLst/>
              <a:cxnLst/>
              <a:rect l="l" t="t" r="r" b="b"/>
              <a:pathLst>
                <a:path w="1371600" h="2537460">
                  <a:moveTo>
                    <a:pt x="0" y="1961388"/>
                  </a:moveTo>
                  <a:lnTo>
                    <a:pt x="0" y="1732788"/>
                  </a:lnTo>
                  <a:lnTo>
                    <a:pt x="1371600" y="1732788"/>
                  </a:lnTo>
                  <a:lnTo>
                    <a:pt x="1371600" y="1961388"/>
                  </a:lnTo>
                  <a:lnTo>
                    <a:pt x="754380" y="1961388"/>
                  </a:lnTo>
                  <a:lnTo>
                    <a:pt x="754380" y="2537460"/>
                  </a:lnTo>
                  <a:lnTo>
                    <a:pt x="617219" y="2537460"/>
                  </a:lnTo>
                  <a:lnTo>
                    <a:pt x="617219" y="1961388"/>
                  </a:lnTo>
                  <a:lnTo>
                    <a:pt x="0" y="1961388"/>
                  </a:lnTo>
                  <a:close/>
                </a:path>
                <a:path w="1371600" h="2537460">
                  <a:moveTo>
                    <a:pt x="0" y="1961388"/>
                  </a:moveTo>
                  <a:lnTo>
                    <a:pt x="0" y="1730502"/>
                  </a:lnTo>
                  <a:lnTo>
                    <a:pt x="1369314" y="1730502"/>
                  </a:lnTo>
                  <a:lnTo>
                    <a:pt x="1369314" y="1961388"/>
                  </a:lnTo>
                  <a:lnTo>
                    <a:pt x="754380" y="1961388"/>
                  </a:lnTo>
                  <a:lnTo>
                    <a:pt x="754380" y="2537460"/>
                  </a:lnTo>
                  <a:lnTo>
                    <a:pt x="614933" y="2537460"/>
                  </a:lnTo>
                  <a:lnTo>
                    <a:pt x="614933" y="1961388"/>
                  </a:lnTo>
                  <a:lnTo>
                    <a:pt x="0" y="1961388"/>
                  </a:lnTo>
                </a:path>
                <a:path w="1371600" h="2537460">
                  <a:moveTo>
                    <a:pt x="0" y="0"/>
                  </a:moveTo>
                  <a:lnTo>
                    <a:pt x="1369314" y="0"/>
                  </a:lnTo>
                  <a:lnTo>
                    <a:pt x="1369314" y="1147572"/>
                  </a:lnTo>
                  <a:lnTo>
                    <a:pt x="0" y="1147572"/>
                  </a:lnTo>
                  <a:lnTo>
                    <a:pt x="0" y="0"/>
                  </a:lnTo>
                  <a:close/>
                </a:path>
                <a:path w="1371600" h="2537460">
                  <a:moveTo>
                    <a:pt x="0" y="1154430"/>
                  </a:moveTo>
                  <a:lnTo>
                    <a:pt x="1369314" y="1154430"/>
                  </a:lnTo>
                  <a:lnTo>
                    <a:pt x="1369314" y="1440180"/>
                  </a:lnTo>
                  <a:lnTo>
                    <a:pt x="0" y="1440180"/>
                  </a:lnTo>
                  <a:lnTo>
                    <a:pt x="0" y="115443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</p:grpSp>
      <p:sp>
        <p:nvSpPr>
          <p:cNvPr id="1024" name="object 13">
            <a:extLst>
              <a:ext uri="{FF2B5EF4-FFF2-40B4-BE49-F238E27FC236}">
                <a16:creationId xmlns:a16="http://schemas.microsoft.com/office/drawing/2014/main" id="{5E92B6B9-A879-4212-A614-587ABECAC31B}"/>
              </a:ext>
            </a:extLst>
          </p:cNvPr>
          <p:cNvSpPr txBox="1"/>
          <p:nvPr/>
        </p:nvSpPr>
        <p:spPr>
          <a:xfrm>
            <a:off x="1463755" y="4685060"/>
            <a:ext cx="1351915" cy="19941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200" b="1" spc="5" dirty="0">
                <a:latin typeface="Bookman Old Style" panose="02050604050505020204" pitchFamily="18" charset="0"/>
                <a:cs typeface="Times New Roman"/>
              </a:rPr>
              <a:t>Structure</a:t>
            </a:r>
            <a:r>
              <a:rPr sz="1200" b="1" spc="-6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b="1" spc="5" dirty="0">
                <a:latin typeface="Bookman Old Style" panose="02050604050505020204" pitchFamily="18" charset="0"/>
                <a:cs typeface="Times New Roman"/>
              </a:rPr>
              <a:t>PNP</a:t>
            </a:r>
            <a:endParaRPr sz="1200" b="1" dirty="0">
              <a:latin typeface="Bookman Old Style" panose="02050604050505020204" pitchFamily="18" charset="0"/>
              <a:cs typeface="Times New Roman"/>
            </a:endParaRPr>
          </a:p>
        </p:txBody>
      </p:sp>
      <p:grpSp>
        <p:nvGrpSpPr>
          <p:cNvPr id="1025" name="object 14">
            <a:extLst>
              <a:ext uri="{FF2B5EF4-FFF2-40B4-BE49-F238E27FC236}">
                <a16:creationId xmlns:a16="http://schemas.microsoft.com/office/drawing/2014/main" id="{B43407A7-6EA6-A284-08C2-CF18C3E48906}"/>
              </a:ext>
            </a:extLst>
          </p:cNvPr>
          <p:cNvGrpSpPr/>
          <p:nvPr/>
        </p:nvGrpSpPr>
        <p:grpSpPr>
          <a:xfrm>
            <a:off x="1424444" y="1296447"/>
            <a:ext cx="1384300" cy="817880"/>
            <a:chOff x="1852548" y="2413380"/>
            <a:chExt cx="1384300" cy="817880"/>
          </a:xfrm>
        </p:grpSpPr>
        <p:sp>
          <p:nvSpPr>
            <p:cNvPr id="1026" name="object 15">
              <a:extLst>
                <a:ext uri="{FF2B5EF4-FFF2-40B4-BE49-F238E27FC236}">
                  <a16:creationId xmlns:a16="http://schemas.microsoft.com/office/drawing/2014/main" id="{2640816C-9176-FD9A-498A-D453AC6B902E}"/>
                </a:ext>
              </a:extLst>
            </p:cNvPr>
            <p:cNvSpPr/>
            <p:nvPr/>
          </p:nvSpPr>
          <p:spPr>
            <a:xfrm>
              <a:off x="1859280" y="2419730"/>
              <a:ext cx="1371600" cy="805180"/>
            </a:xfrm>
            <a:custGeom>
              <a:avLst/>
              <a:gdLst/>
              <a:ahLst/>
              <a:cxnLst/>
              <a:rect l="l" t="t" r="r" b="b"/>
              <a:pathLst>
                <a:path w="1371600" h="805180">
                  <a:moveTo>
                    <a:pt x="1371600" y="573786"/>
                  </a:moveTo>
                  <a:lnTo>
                    <a:pt x="754380" y="573786"/>
                  </a:lnTo>
                  <a:lnTo>
                    <a:pt x="754380" y="0"/>
                  </a:lnTo>
                  <a:lnTo>
                    <a:pt x="617220" y="0"/>
                  </a:lnTo>
                  <a:lnTo>
                    <a:pt x="617220" y="573786"/>
                  </a:lnTo>
                  <a:lnTo>
                    <a:pt x="0" y="573786"/>
                  </a:lnTo>
                  <a:lnTo>
                    <a:pt x="0" y="804672"/>
                  </a:lnTo>
                  <a:lnTo>
                    <a:pt x="617220" y="804672"/>
                  </a:lnTo>
                  <a:lnTo>
                    <a:pt x="754380" y="804672"/>
                  </a:lnTo>
                  <a:lnTo>
                    <a:pt x="1371600" y="804672"/>
                  </a:lnTo>
                  <a:lnTo>
                    <a:pt x="1371600" y="5737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  <p:sp>
          <p:nvSpPr>
            <p:cNvPr id="1027" name="object 16">
              <a:extLst>
                <a:ext uri="{FF2B5EF4-FFF2-40B4-BE49-F238E27FC236}">
                  <a16:creationId xmlns:a16="http://schemas.microsoft.com/office/drawing/2014/main" id="{2EB26B66-C044-83EB-7BCC-993CA1858DF1}"/>
                </a:ext>
              </a:extLst>
            </p:cNvPr>
            <p:cNvSpPr/>
            <p:nvPr/>
          </p:nvSpPr>
          <p:spPr>
            <a:xfrm>
              <a:off x="1858898" y="2419730"/>
              <a:ext cx="1371600" cy="805180"/>
            </a:xfrm>
            <a:custGeom>
              <a:avLst/>
              <a:gdLst/>
              <a:ahLst/>
              <a:cxnLst/>
              <a:rect l="l" t="t" r="r" b="b"/>
              <a:pathLst>
                <a:path w="1371600" h="805180">
                  <a:moveTo>
                    <a:pt x="0" y="628650"/>
                  </a:moveTo>
                  <a:lnTo>
                    <a:pt x="54863" y="573786"/>
                  </a:lnTo>
                </a:path>
                <a:path w="1371600" h="805180">
                  <a:moveTo>
                    <a:pt x="617219" y="11430"/>
                  </a:moveTo>
                  <a:lnTo>
                    <a:pt x="628649" y="0"/>
                  </a:lnTo>
                </a:path>
                <a:path w="1371600" h="805180">
                  <a:moveTo>
                    <a:pt x="0" y="688086"/>
                  </a:moveTo>
                  <a:lnTo>
                    <a:pt x="114299" y="573786"/>
                  </a:lnTo>
                </a:path>
                <a:path w="1371600" h="805180">
                  <a:moveTo>
                    <a:pt x="617219" y="70866"/>
                  </a:moveTo>
                  <a:lnTo>
                    <a:pt x="688085" y="0"/>
                  </a:lnTo>
                </a:path>
                <a:path w="1371600" h="805180">
                  <a:moveTo>
                    <a:pt x="0" y="747521"/>
                  </a:moveTo>
                  <a:lnTo>
                    <a:pt x="173735" y="573786"/>
                  </a:lnTo>
                </a:path>
                <a:path w="1371600" h="805180">
                  <a:moveTo>
                    <a:pt x="617219" y="130302"/>
                  </a:moveTo>
                  <a:lnTo>
                    <a:pt x="747521" y="0"/>
                  </a:lnTo>
                </a:path>
                <a:path w="1371600" h="805180">
                  <a:moveTo>
                    <a:pt x="2286" y="804672"/>
                  </a:moveTo>
                  <a:lnTo>
                    <a:pt x="233171" y="573786"/>
                  </a:lnTo>
                </a:path>
                <a:path w="1371600" h="805180">
                  <a:moveTo>
                    <a:pt x="617219" y="189738"/>
                  </a:moveTo>
                  <a:lnTo>
                    <a:pt x="754379" y="52578"/>
                  </a:lnTo>
                </a:path>
                <a:path w="1371600" h="805180">
                  <a:moveTo>
                    <a:pt x="61721" y="804672"/>
                  </a:moveTo>
                  <a:lnTo>
                    <a:pt x="292607" y="573786"/>
                  </a:lnTo>
                </a:path>
                <a:path w="1371600" h="805180">
                  <a:moveTo>
                    <a:pt x="617219" y="249174"/>
                  </a:moveTo>
                  <a:lnTo>
                    <a:pt x="754379" y="112013"/>
                  </a:lnTo>
                </a:path>
                <a:path w="1371600" h="805180">
                  <a:moveTo>
                    <a:pt x="121157" y="804672"/>
                  </a:moveTo>
                  <a:lnTo>
                    <a:pt x="352043" y="573786"/>
                  </a:lnTo>
                </a:path>
                <a:path w="1371600" h="805180">
                  <a:moveTo>
                    <a:pt x="617219" y="308610"/>
                  </a:moveTo>
                  <a:lnTo>
                    <a:pt x="754379" y="171450"/>
                  </a:lnTo>
                </a:path>
                <a:path w="1371600" h="805180">
                  <a:moveTo>
                    <a:pt x="180593" y="804672"/>
                  </a:moveTo>
                  <a:lnTo>
                    <a:pt x="411479" y="573786"/>
                  </a:lnTo>
                </a:path>
                <a:path w="1371600" h="805180">
                  <a:moveTo>
                    <a:pt x="617219" y="368046"/>
                  </a:moveTo>
                  <a:lnTo>
                    <a:pt x="754379" y="230886"/>
                  </a:lnTo>
                </a:path>
                <a:path w="1371600" h="805180">
                  <a:moveTo>
                    <a:pt x="240029" y="804672"/>
                  </a:moveTo>
                  <a:lnTo>
                    <a:pt x="470915" y="573786"/>
                  </a:lnTo>
                </a:path>
                <a:path w="1371600" h="805180">
                  <a:moveTo>
                    <a:pt x="617219" y="427482"/>
                  </a:moveTo>
                  <a:lnTo>
                    <a:pt x="754379" y="290322"/>
                  </a:lnTo>
                </a:path>
                <a:path w="1371600" h="805180">
                  <a:moveTo>
                    <a:pt x="299465" y="804672"/>
                  </a:moveTo>
                  <a:lnTo>
                    <a:pt x="530351" y="573786"/>
                  </a:lnTo>
                </a:path>
                <a:path w="1371600" h="805180">
                  <a:moveTo>
                    <a:pt x="617219" y="486918"/>
                  </a:moveTo>
                  <a:lnTo>
                    <a:pt x="754379" y="349758"/>
                  </a:lnTo>
                </a:path>
                <a:path w="1371600" h="805180">
                  <a:moveTo>
                    <a:pt x="358901" y="804672"/>
                  </a:moveTo>
                  <a:lnTo>
                    <a:pt x="589787" y="573786"/>
                  </a:lnTo>
                </a:path>
                <a:path w="1371600" h="805180">
                  <a:moveTo>
                    <a:pt x="617219" y="546354"/>
                  </a:moveTo>
                  <a:lnTo>
                    <a:pt x="754379" y="409194"/>
                  </a:lnTo>
                </a:path>
                <a:path w="1371600" h="805180">
                  <a:moveTo>
                    <a:pt x="418338" y="804672"/>
                  </a:moveTo>
                  <a:lnTo>
                    <a:pt x="649223" y="573786"/>
                  </a:lnTo>
                </a:path>
                <a:path w="1371600" h="805180">
                  <a:moveTo>
                    <a:pt x="649223" y="573786"/>
                  </a:moveTo>
                  <a:lnTo>
                    <a:pt x="754379" y="468630"/>
                  </a:lnTo>
                </a:path>
                <a:path w="1371600" h="805180">
                  <a:moveTo>
                    <a:pt x="477774" y="804672"/>
                  </a:moveTo>
                  <a:lnTo>
                    <a:pt x="708659" y="573786"/>
                  </a:lnTo>
                </a:path>
                <a:path w="1371600" h="805180">
                  <a:moveTo>
                    <a:pt x="708659" y="573786"/>
                  </a:moveTo>
                  <a:lnTo>
                    <a:pt x="754380" y="528065"/>
                  </a:lnTo>
                </a:path>
                <a:path w="1371600" h="805180">
                  <a:moveTo>
                    <a:pt x="537209" y="804672"/>
                  </a:moveTo>
                  <a:lnTo>
                    <a:pt x="768095" y="573786"/>
                  </a:lnTo>
                </a:path>
                <a:path w="1371600" h="805180">
                  <a:moveTo>
                    <a:pt x="596645" y="804672"/>
                  </a:moveTo>
                  <a:lnTo>
                    <a:pt x="827531" y="573786"/>
                  </a:lnTo>
                </a:path>
                <a:path w="1371600" h="805180">
                  <a:moveTo>
                    <a:pt x="656081" y="804672"/>
                  </a:moveTo>
                  <a:lnTo>
                    <a:pt x="886967" y="573786"/>
                  </a:lnTo>
                </a:path>
                <a:path w="1371600" h="805180">
                  <a:moveTo>
                    <a:pt x="715517" y="804672"/>
                  </a:moveTo>
                  <a:lnTo>
                    <a:pt x="946403" y="573786"/>
                  </a:lnTo>
                </a:path>
                <a:path w="1371600" h="805180">
                  <a:moveTo>
                    <a:pt x="774953" y="804672"/>
                  </a:moveTo>
                  <a:lnTo>
                    <a:pt x="1005839" y="573786"/>
                  </a:lnTo>
                </a:path>
                <a:path w="1371600" h="805180">
                  <a:moveTo>
                    <a:pt x="834389" y="804672"/>
                  </a:moveTo>
                  <a:lnTo>
                    <a:pt x="1065275" y="573786"/>
                  </a:lnTo>
                </a:path>
                <a:path w="1371600" h="805180">
                  <a:moveTo>
                    <a:pt x="893826" y="804672"/>
                  </a:moveTo>
                  <a:lnTo>
                    <a:pt x="1124711" y="573786"/>
                  </a:lnTo>
                </a:path>
                <a:path w="1371600" h="805180">
                  <a:moveTo>
                    <a:pt x="953262" y="804672"/>
                  </a:moveTo>
                  <a:lnTo>
                    <a:pt x="1184147" y="573786"/>
                  </a:lnTo>
                </a:path>
                <a:path w="1371600" h="805180">
                  <a:moveTo>
                    <a:pt x="1012698" y="804672"/>
                  </a:moveTo>
                  <a:lnTo>
                    <a:pt x="1243583" y="573786"/>
                  </a:lnTo>
                </a:path>
                <a:path w="1371600" h="805180">
                  <a:moveTo>
                    <a:pt x="1072133" y="804672"/>
                  </a:moveTo>
                  <a:lnTo>
                    <a:pt x="1303019" y="573786"/>
                  </a:lnTo>
                </a:path>
                <a:path w="1371600" h="805180">
                  <a:moveTo>
                    <a:pt x="1131569" y="804671"/>
                  </a:moveTo>
                  <a:lnTo>
                    <a:pt x="1362455" y="573786"/>
                  </a:lnTo>
                </a:path>
                <a:path w="1371600" h="805180">
                  <a:moveTo>
                    <a:pt x="1191006" y="804671"/>
                  </a:moveTo>
                  <a:lnTo>
                    <a:pt x="1371600" y="624077"/>
                  </a:lnTo>
                </a:path>
                <a:path w="1371600" h="805180">
                  <a:moveTo>
                    <a:pt x="1250441" y="804671"/>
                  </a:moveTo>
                  <a:lnTo>
                    <a:pt x="1371600" y="683513"/>
                  </a:lnTo>
                </a:path>
                <a:path w="1371600" h="805180">
                  <a:moveTo>
                    <a:pt x="1309877" y="804671"/>
                  </a:moveTo>
                  <a:lnTo>
                    <a:pt x="1371600" y="742949"/>
                  </a:lnTo>
                </a:path>
                <a:path w="1371600" h="805180">
                  <a:moveTo>
                    <a:pt x="1369313" y="804671"/>
                  </a:moveTo>
                  <a:lnTo>
                    <a:pt x="1371600" y="80238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  <p:sp>
          <p:nvSpPr>
            <p:cNvPr id="1028" name="object 17">
              <a:extLst>
                <a:ext uri="{FF2B5EF4-FFF2-40B4-BE49-F238E27FC236}">
                  <a16:creationId xmlns:a16="http://schemas.microsoft.com/office/drawing/2014/main" id="{0FF31053-0EDF-B73E-EAD6-0C7FFD27908A}"/>
                </a:ext>
              </a:extLst>
            </p:cNvPr>
            <p:cNvSpPr/>
            <p:nvPr/>
          </p:nvSpPr>
          <p:spPr>
            <a:xfrm>
              <a:off x="1858898" y="2419730"/>
              <a:ext cx="1371600" cy="805180"/>
            </a:xfrm>
            <a:custGeom>
              <a:avLst/>
              <a:gdLst/>
              <a:ahLst/>
              <a:cxnLst/>
              <a:rect l="l" t="t" r="r" b="b"/>
              <a:pathLst>
                <a:path w="1371600" h="805180">
                  <a:moveTo>
                    <a:pt x="0" y="573786"/>
                  </a:moveTo>
                  <a:lnTo>
                    <a:pt x="0" y="804672"/>
                  </a:lnTo>
                  <a:lnTo>
                    <a:pt x="1371600" y="804671"/>
                  </a:lnTo>
                  <a:lnTo>
                    <a:pt x="1371600" y="573786"/>
                  </a:lnTo>
                  <a:lnTo>
                    <a:pt x="754380" y="573786"/>
                  </a:lnTo>
                  <a:lnTo>
                    <a:pt x="754379" y="0"/>
                  </a:lnTo>
                  <a:lnTo>
                    <a:pt x="617219" y="0"/>
                  </a:lnTo>
                  <a:lnTo>
                    <a:pt x="617219" y="573786"/>
                  </a:lnTo>
                  <a:lnTo>
                    <a:pt x="0" y="573786"/>
                  </a:lnTo>
                  <a:close/>
                </a:path>
                <a:path w="1371600" h="805180">
                  <a:moveTo>
                    <a:pt x="0" y="573786"/>
                  </a:moveTo>
                  <a:lnTo>
                    <a:pt x="0" y="804672"/>
                  </a:lnTo>
                  <a:lnTo>
                    <a:pt x="1369314" y="804671"/>
                  </a:lnTo>
                  <a:lnTo>
                    <a:pt x="1369314" y="573786"/>
                  </a:lnTo>
                  <a:lnTo>
                    <a:pt x="754380" y="573786"/>
                  </a:lnTo>
                  <a:lnTo>
                    <a:pt x="754379" y="0"/>
                  </a:lnTo>
                  <a:lnTo>
                    <a:pt x="614933" y="0"/>
                  </a:lnTo>
                  <a:lnTo>
                    <a:pt x="614933" y="573786"/>
                  </a:lnTo>
                  <a:lnTo>
                    <a:pt x="0" y="57378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</p:grpSp>
      <p:sp>
        <p:nvSpPr>
          <p:cNvPr id="1029" name="object 18">
            <a:extLst>
              <a:ext uri="{FF2B5EF4-FFF2-40B4-BE49-F238E27FC236}">
                <a16:creationId xmlns:a16="http://schemas.microsoft.com/office/drawing/2014/main" id="{6B186257-7F09-0C40-DB8C-D86BFD546675}"/>
              </a:ext>
            </a:extLst>
          </p:cNvPr>
          <p:cNvSpPr txBox="1"/>
          <p:nvPr/>
        </p:nvSpPr>
        <p:spPr>
          <a:xfrm>
            <a:off x="1767958" y="1820611"/>
            <a:ext cx="563880" cy="19941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200" b="1" spc="5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/>
              </a:rPr>
              <a:t>Métal</a:t>
            </a:r>
            <a:endParaRPr sz="1200" b="1" dirty="0">
              <a:solidFill>
                <a:srgbClr val="FF0000"/>
              </a:solidFill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1030" name="object 19">
            <a:extLst>
              <a:ext uri="{FF2B5EF4-FFF2-40B4-BE49-F238E27FC236}">
                <a16:creationId xmlns:a16="http://schemas.microsoft.com/office/drawing/2014/main" id="{B364ECB0-DE35-A39F-E75C-2F33C02A4FBE}"/>
              </a:ext>
            </a:extLst>
          </p:cNvPr>
          <p:cNvSpPr/>
          <p:nvPr/>
        </p:nvSpPr>
        <p:spPr>
          <a:xfrm>
            <a:off x="1430794" y="3549936"/>
            <a:ext cx="1369695" cy="285750"/>
          </a:xfrm>
          <a:custGeom>
            <a:avLst/>
            <a:gdLst/>
            <a:ahLst/>
            <a:cxnLst/>
            <a:rect l="l" t="t" r="r" b="b"/>
            <a:pathLst>
              <a:path w="1369695" h="285750">
                <a:moveTo>
                  <a:pt x="0" y="0"/>
                </a:moveTo>
                <a:lnTo>
                  <a:pt x="1369314" y="0"/>
                </a:lnTo>
                <a:lnTo>
                  <a:pt x="1369314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00">
              <a:latin typeface="Bookman Old Style" panose="02050604050505020204" pitchFamily="18" charset="0"/>
            </a:endParaRPr>
          </a:p>
        </p:txBody>
      </p:sp>
      <p:sp>
        <p:nvSpPr>
          <p:cNvPr id="1046" name="object 20">
            <a:extLst>
              <a:ext uri="{FF2B5EF4-FFF2-40B4-BE49-F238E27FC236}">
                <a16:creationId xmlns:a16="http://schemas.microsoft.com/office/drawing/2014/main" id="{70DA410F-317B-698A-997C-0FE5B9C86822}"/>
              </a:ext>
            </a:extLst>
          </p:cNvPr>
          <p:cNvSpPr txBox="1"/>
          <p:nvPr/>
        </p:nvSpPr>
        <p:spPr>
          <a:xfrm>
            <a:off x="2544050" y="3244994"/>
            <a:ext cx="179705" cy="19941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200" spc="10" dirty="0">
                <a:latin typeface="Bookman Old Style" panose="02050604050505020204" pitchFamily="18" charset="0"/>
                <a:cs typeface="Times New Roman"/>
              </a:rPr>
              <a:t>N</a:t>
            </a:r>
            <a:endParaRPr sz="120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1047" name="object 21">
            <a:extLst>
              <a:ext uri="{FF2B5EF4-FFF2-40B4-BE49-F238E27FC236}">
                <a16:creationId xmlns:a16="http://schemas.microsoft.com/office/drawing/2014/main" id="{B5FA5933-DC12-AA63-9097-3F85D33BA2D5}"/>
              </a:ext>
            </a:extLst>
          </p:cNvPr>
          <p:cNvSpPr txBox="1"/>
          <p:nvPr/>
        </p:nvSpPr>
        <p:spPr>
          <a:xfrm>
            <a:off x="1430794" y="2230913"/>
            <a:ext cx="1369695" cy="580352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Bookman Old Style" panose="02050604050505020204" pitchFamily="18" charset="0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Bookman Old Style" panose="02050604050505020204" pitchFamily="18" charset="0"/>
              <a:cs typeface="Times New Roman"/>
            </a:endParaRPr>
          </a:p>
          <a:p>
            <a:pPr marL="67945">
              <a:lnSpc>
                <a:spcPts val="1780"/>
              </a:lnSpc>
              <a:tabLst>
                <a:tab pos="1160780" algn="l"/>
              </a:tabLst>
            </a:pPr>
            <a:r>
              <a:rPr sz="1200" spc="5" dirty="0">
                <a:latin typeface="Bookman Old Style" panose="02050604050505020204" pitchFamily="18" charset="0"/>
                <a:cs typeface="Times New Roman"/>
              </a:rPr>
              <a:t>Collecteur	</a:t>
            </a:r>
            <a:r>
              <a:rPr sz="1200" spc="7" baseline="7716" dirty="0">
                <a:latin typeface="Bookman Old Style" panose="02050604050505020204" pitchFamily="18" charset="0"/>
                <a:cs typeface="Times New Roman"/>
              </a:rPr>
              <a:t>P</a:t>
            </a:r>
            <a:endParaRPr sz="1200" baseline="7716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1048" name="object 22">
            <a:extLst>
              <a:ext uri="{FF2B5EF4-FFF2-40B4-BE49-F238E27FC236}">
                <a16:creationId xmlns:a16="http://schemas.microsoft.com/office/drawing/2014/main" id="{54AFA706-63B4-7CBC-BC97-09FAE9BD4DFE}"/>
              </a:ext>
            </a:extLst>
          </p:cNvPr>
          <p:cNvSpPr txBox="1"/>
          <p:nvPr/>
        </p:nvSpPr>
        <p:spPr>
          <a:xfrm>
            <a:off x="1499287" y="3263214"/>
            <a:ext cx="461009" cy="19941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200" spc="5" dirty="0">
                <a:latin typeface="Bookman Old Style" panose="02050604050505020204" pitchFamily="18" charset="0"/>
                <a:cs typeface="Times New Roman"/>
              </a:rPr>
              <a:t>Base</a:t>
            </a:r>
            <a:endParaRPr sz="120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1049" name="object 23">
            <a:extLst>
              <a:ext uri="{FF2B5EF4-FFF2-40B4-BE49-F238E27FC236}">
                <a16:creationId xmlns:a16="http://schemas.microsoft.com/office/drawing/2014/main" id="{0010D92D-20A4-4BD2-2830-4F450FBDE210}"/>
              </a:ext>
            </a:extLst>
          </p:cNvPr>
          <p:cNvSpPr txBox="1"/>
          <p:nvPr/>
        </p:nvSpPr>
        <p:spPr>
          <a:xfrm>
            <a:off x="1529039" y="3544355"/>
            <a:ext cx="858519" cy="19941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200" spc="5" dirty="0">
                <a:latin typeface="Bookman Old Style" panose="02050604050505020204" pitchFamily="18" charset="0"/>
                <a:cs typeface="Times New Roman"/>
              </a:rPr>
              <a:t>Emetteur</a:t>
            </a:r>
            <a:endParaRPr sz="1200">
              <a:latin typeface="Bookman Old Style" panose="02050604050505020204" pitchFamily="18" charset="0"/>
              <a:cs typeface="Times New Roman"/>
            </a:endParaRPr>
          </a:p>
        </p:txBody>
      </p:sp>
      <p:grpSp>
        <p:nvGrpSpPr>
          <p:cNvPr id="1050" name="object 24">
            <a:extLst>
              <a:ext uri="{FF2B5EF4-FFF2-40B4-BE49-F238E27FC236}">
                <a16:creationId xmlns:a16="http://schemas.microsoft.com/office/drawing/2014/main" id="{467DABFC-074A-FC45-CFB7-5773CD06F86E}"/>
              </a:ext>
            </a:extLst>
          </p:cNvPr>
          <p:cNvGrpSpPr/>
          <p:nvPr/>
        </p:nvGrpSpPr>
        <p:grpSpPr>
          <a:xfrm>
            <a:off x="1172984" y="3257836"/>
            <a:ext cx="259715" cy="298450"/>
            <a:chOff x="1601088" y="4374769"/>
            <a:chExt cx="259715" cy="298450"/>
          </a:xfrm>
        </p:grpSpPr>
        <p:sp>
          <p:nvSpPr>
            <p:cNvPr id="1051" name="object 25">
              <a:extLst>
                <a:ext uri="{FF2B5EF4-FFF2-40B4-BE49-F238E27FC236}">
                  <a16:creationId xmlns:a16="http://schemas.microsoft.com/office/drawing/2014/main" id="{B89CC419-8662-A609-F567-75564F72D9A0}"/>
                </a:ext>
              </a:extLst>
            </p:cNvPr>
            <p:cNvSpPr/>
            <p:nvPr/>
          </p:nvSpPr>
          <p:spPr>
            <a:xfrm>
              <a:off x="1609724" y="4383405"/>
              <a:ext cx="242570" cy="281305"/>
            </a:xfrm>
            <a:custGeom>
              <a:avLst/>
              <a:gdLst/>
              <a:ahLst/>
              <a:cxnLst/>
              <a:rect l="l" t="t" r="r" b="b"/>
              <a:pathLst>
                <a:path w="242569" h="281304">
                  <a:moveTo>
                    <a:pt x="242316" y="281178"/>
                  </a:moveTo>
                  <a:lnTo>
                    <a:pt x="242316" y="0"/>
                  </a:lnTo>
                  <a:lnTo>
                    <a:pt x="0" y="0"/>
                  </a:lnTo>
                  <a:lnTo>
                    <a:pt x="0" y="281178"/>
                  </a:lnTo>
                  <a:lnTo>
                    <a:pt x="242316" y="2811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  <p:sp>
          <p:nvSpPr>
            <p:cNvPr id="1052" name="object 26">
              <a:extLst>
                <a:ext uri="{FF2B5EF4-FFF2-40B4-BE49-F238E27FC236}">
                  <a16:creationId xmlns:a16="http://schemas.microsoft.com/office/drawing/2014/main" id="{22DC7740-1E4F-8C27-5A5A-682436C4C5D2}"/>
                </a:ext>
              </a:extLst>
            </p:cNvPr>
            <p:cNvSpPr/>
            <p:nvPr/>
          </p:nvSpPr>
          <p:spPr>
            <a:xfrm>
              <a:off x="1609724" y="4383405"/>
              <a:ext cx="242570" cy="281305"/>
            </a:xfrm>
            <a:custGeom>
              <a:avLst/>
              <a:gdLst/>
              <a:ahLst/>
              <a:cxnLst/>
              <a:rect l="l" t="t" r="r" b="b"/>
              <a:pathLst>
                <a:path w="242569" h="281304">
                  <a:moveTo>
                    <a:pt x="0" y="43434"/>
                  </a:moveTo>
                  <a:lnTo>
                    <a:pt x="43434" y="0"/>
                  </a:lnTo>
                </a:path>
                <a:path w="242569" h="281304">
                  <a:moveTo>
                    <a:pt x="0" y="102870"/>
                  </a:moveTo>
                  <a:lnTo>
                    <a:pt x="102870" y="0"/>
                  </a:lnTo>
                </a:path>
                <a:path w="242569" h="281304">
                  <a:moveTo>
                    <a:pt x="0" y="162306"/>
                  </a:moveTo>
                  <a:lnTo>
                    <a:pt x="162306" y="0"/>
                  </a:lnTo>
                </a:path>
                <a:path w="242569" h="281304">
                  <a:moveTo>
                    <a:pt x="0" y="221742"/>
                  </a:moveTo>
                  <a:lnTo>
                    <a:pt x="221742" y="0"/>
                  </a:lnTo>
                </a:path>
                <a:path w="242569" h="281304">
                  <a:moveTo>
                    <a:pt x="0" y="281178"/>
                  </a:moveTo>
                  <a:lnTo>
                    <a:pt x="242316" y="38861"/>
                  </a:lnTo>
                </a:path>
                <a:path w="242569" h="281304">
                  <a:moveTo>
                    <a:pt x="59436" y="281178"/>
                  </a:moveTo>
                  <a:lnTo>
                    <a:pt x="242316" y="98298"/>
                  </a:lnTo>
                </a:path>
                <a:path w="242569" h="281304">
                  <a:moveTo>
                    <a:pt x="118871" y="281178"/>
                  </a:moveTo>
                  <a:lnTo>
                    <a:pt x="242316" y="157733"/>
                  </a:lnTo>
                </a:path>
                <a:path w="242569" h="281304">
                  <a:moveTo>
                    <a:pt x="178307" y="281178"/>
                  </a:moveTo>
                  <a:lnTo>
                    <a:pt x="242316" y="217169"/>
                  </a:lnTo>
                </a:path>
                <a:path w="242569" h="281304">
                  <a:moveTo>
                    <a:pt x="237743" y="281178"/>
                  </a:moveTo>
                  <a:lnTo>
                    <a:pt x="242316" y="27660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  <p:sp>
          <p:nvSpPr>
            <p:cNvPr id="1053" name="object 27">
              <a:extLst>
                <a:ext uri="{FF2B5EF4-FFF2-40B4-BE49-F238E27FC236}">
                  <a16:creationId xmlns:a16="http://schemas.microsoft.com/office/drawing/2014/main" id="{449C54A5-3049-23F6-2EC4-229229AA0036}"/>
                </a:ext>
              </a:extLst>
            </p:cNvPr>
            <p:cNvSpPr/>
            <p:nvPr/>
          </p:nvSpPr>
          <p:spPr>
            <a:xfrm>
              <a:off x="1607438" y="4381119"/>
              <a:ext cx="247015" cy="285750"/>
            </a:xfrm>
            <a:custGeom>
              <a:avLst/>
              <a:gdLst/>
              <a:ahLst/>
              <a:cxnLst/>
              <a:rect l="l" t="t" r="r" b="b"/>
              <a:pathLst>
                <a:path w="247014" h="285750">
                  <a:moveTo>
                    <a:pt x="0" y="0"/>
                  </a:moveTo>
                  <a:lnTo>
                    <a:pt x="246888" y="0"/>
                  </a:lnTo>
                  <a:lnTo>
                    <a:pt x="246888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  <a:path w="247014" h="285750">
                  <a:moveTo>
                    <a:pt x="0" y="0"/>
                  </a:moveTo>
                  <a:lnTo>
                    <a:pt x="246888" y="0"/>
                  </a:lnTo>
                  <a:lnTo>
                    <a:pt x="246888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</p:grpSp>
      <p:grpSp>
        <p:nvGrpSpPr>
          <p:cNvPr id="1054" name="object 28">
            <a:extLst>
              <a:ext uri="{FF2B5EF4-FFF2-40B4-BE49-F238E27FC236}">
                <a16:creationId xmlns:a16="http://schemas.microsoft.com/office/drawing/2014/main" id="{C037FF6A-A260-5440-4D27-08321CB03BA4}"/>
              </a:ext>
            </a:extLst>
          </p:cNvPr>
          <p:cNvGrpSpPr/>
          <p:nvPr/>
        </p:nvGrpSpPr>
        <p:grpSpPr>
          <a:xfrm>
            <a:off x="4203171" y="1213090"/>
            <a:ext cx="2128520" cy="3120390"/>
            <a:chOff x="4656963" y="2632329"/>
            <a:chExt cx="2128520" cy="3120390"/>
          </a:xfrm>
        </p:grpSpPr>
        <p:sp>
          <p:nvSpPr>
            <p:cNvPr id="1055" name="object 29">
              <a:extLst>
                <a:ext uri="{FF2B5EF4-FFF2-40B4-BE49-F238E27FC236}">
                  <a16:creationId xmlns:a16="http://schemas.microsoft.com/office/drawing/2014/main" id="{7ED5245D-9F93-C521-180C-444F3BEDDC44}"/>
                </a:ext>
              </a:extLst>
            </p:cNvPr>
            <p:cNvSpPr/>
            <p:nvPr/>
          </p:nvSpPr>
          <p:spPr>
            <a:xfrm>
              <a:off x="4656963" y="4191381"/>
              <a:ext cx="988060" cy="0"/>
            </a:xfrm>
            <a:custGeom>
              <a:avLst/>
              <a:gdLst/>
              <a:ahLst/>
              <a:cxnLst/>
              <a:rect l="l" t="t" r="r" b="b"/>
              <a:pathLst>
                <a:path w="988060">
                  <a:moveTo>
                    <a:pt x="987551" y="0"/>
                  </a:moveTo>
                  <a:lnTo>
                    <a:pt x="0" y="0"/>
                  </a:lnTo>
                </a:path>
              </a:pathLst>
            </a:custGeom>
            <a:ln w="241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  <p:sp>
          <p:nvSpPr>
            <p:cNvPr id="1056" name="object 30">
              <a:extLst>
                <a:ext uri="{FF2B5EF4-FFF2-40B4-BE49-F238E27FC236}">
                  <a16:creationId xmlns:a16="http://schemas.microsoft.com/office/drawing/2014/main" id="{7DA04EDD-FCC1-58AE-AD56-150BDD4A3A03}"/>
                </a:ext>
              </a:extLst>
            </p:cNvPr>
            <p:cNvSpPr/>
            <p:nvPr/>
          </p:nvSpPr>
          <p:spPr>
            <a:xfrm>
              <a:off x="4926711" y="4054221"/>
              <a:ext cx="325120" cy="288290"/>
            </a:xfrm>
            <a:custGeom>
              <a:avLst/>
              <a:gdLst/>
              <a:ahLst/>
              <a:cxnLst/>
              <a:rect l="l" t="t" r="r" b="b"/>
              <a:pathLst>
                <a:path w="325120" h="288289">
                  <a:moveTo>
                    <a:pt x="312222" y="149514"/>
                  </a:moveTo>
                  <a:lnTo>
                    <a:pt x="0" y="0"/>
                  </a:lnTo>
                  <a:lnTo>
                    <a:pt x="64008" y="144017"/>
                  </a:lnTo>
                  <a:lnTo>
                    <a:pt x="64008" y="259638"/>
                  </a:lnTo>
                  <a:lnTo>
                    <a:pt x="312222" y="149514"/>
                  </a:lnTo>
                  <a:close/>
                </a:path>
                <a:path w="325120" h="288289">
                  <a:moveTo>
                    <a:pt x="64008" y="259638"/>
                  </a:moveTo>
                  <a:lnTo>
                    <a:pt x="64008" y="144017"/>
                  </a:lnTo>
                  <a:lnTo>
                    <a:pt x="0" y="288036"/>
                  </a:lnTo>
                  <a:lnTo>
                    <a:pt x="64008" y="259638"/>
                  </a:lnTo>
                  <a:close/>
                </a:path>
                <a:path w="325120" h="288289">
                  <a:moveTo>
                    <a:pt x="324612" y="155448"/>
                  </a:moveTo>
                  <a:lnTo>
                    <a:pt x="324612" y="144017"/>
                  </a:lnTo>
                  <a:lnTo>
                    <a:pt x="312222" y="149514"/>
                  </a:lnTo>
                  <a:lnTo>
                    <a:pt x="324612" y="155448"/>
                  </a:lnTo>
                  <a:close/>
                </a:path>
              </a:pathLst>
            </a:custGeom>
            <a:solidFill>
              <a:srgbClr val="1C915C"/>
            </a:solidFill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  <p:sp>
          <p:nvSpPr>
            <p:cNvPr id="1057" name="object 31">
              <a:extLst>
                <a:ext uri="{FF2B5EF4-FFF2-40B4-BE49-F238E27FC236}">
                  <a16:creationId xmlns:a16="http://schemas.microsoft.com/office/drawing/2014/main" id="{CF61C8F5-E59F-98BD-8552-4FC4E6568C18}"/>
                </a:ext>
              </a:extLst>
            </p:cNvPr>
            <p:cNvSpPr/>
            <p:nvPr/>
          </p:nvSpPr>
          <p:spPr>
            <a:xfrm>
              <a:off x="4926711" y="4054221"/>
              <a:ext cx="325120" cy="288290"/>
            </a:xfrm>
            <a:custGeom>
              <a:avLst/>
              <a:gdLst/>
              <a:ahLst/>
              <a:cxnLst/>
              <a:rect l="l" t="t" r="r" b="b"/>
              <a:pathLst>
                <a:path w="325120" h="288289">
                  <a:moveTo>
                    <a:pt x="324612" y="144017"/>
                  </a:moveTo>
                  <a:lnTo>
                    <a:pt x="0" y="288036"/>
                  </a:lnTo>
                  <a:lnTo>
                    <a:pt x="64008" y="144017"/>
                  </a:lnTo>
                  <a:lnTo>
                    <a:pt x="0" y="0"/>
                  </a:lnTo>
                  <a:lnTo>
                    <a:pt x="324612" y="155448"/>
                  </a:lnTo>
                  <a:lnTo>
                    <a:pt x="324612" y="144017"/>
                  </a:lnTo>
                  <a:close/>
                </a:path>
                <a:path w="325120" h="288289">
                  <a:moveTo>
                    <a:pt x="324612" y="144017"/>
                  </a:moveTo>
                  <a:lnTo>
                    <a:pt x="0" y="288036"/>
                  </a:lnTo>
                  <a:lnTo>
                    <a:pt x="64008" y="144017"/>
                  </a:lnTo>
                  <a:lnTo>
                    <a:pt x="0" y="0"/>
                  </a:lnTo>
                  <a:lnTo>
                    <a:pt x="324612" y="155448"/>
                  </a:lnTo>
                  <a:lnTo>
                    <a:pt x="324612" y="144017"/>
                  </a:lnTo>
                </a:path>
              </a:pathLst>
            </a:custGeom>
            <a:ln w="14198">
              <a:solidFill>
                <a:srgbClr val="1C915C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  <p:sp>
          <p:nvSpPr>
            <p:cNvPr id="1058" name="object 32">
              <a:extLst>
                <a:ext uri="{FF2B5EF4-FFF2-40B4-BE49-F238E27FC236}">
                  <a16:creationId xmlns:a16="http://schemas.microsoft.com/office/drawing/2014/main" id="{62913194-8C52-8F90-B8F0-1771529036DE}"/>
                </a:ext>
              </a:extLst>
            </p:cNvPr>
            <p:cNvSpPr/>
            <p:nvPr/>
          </p:nvSpPr>
          <p:spPr>
            <a:xfrm>
              <a:off x="5646801" y="3420999"/>
              <a:ext cx="645160" cy="1545590"/>
            </a:xfrm>
            <a:custGeom>
              <a:avLst/>
              <a:gdLst/>
              <a:ahLst/>
              <a:cxnLst/>
              <a:rect l="l" t="t" r="r" b="b"/>
              <a:pathLst>
                <a:path w="645160" h="1545589">
                  <a:moveTo>
                    <a:pt x="249174" y="1545336"/>
                  </a:moveTo>
                  <a:lnTo>
                    <a:pt x="249174" y="0"/>
                  </a:lnTo>
                  <a:lnTo>
                    <a:pt x="0" y="0"/>
                  </a:lnTo>
                  <a:lnTo>
                    <a:pt x="0" y="1545336"/>
                  </a:lnTo>
                  <a:lnTo>
                    <a:pt x="249174" y="1545336"/>
                  </a:lnTo>
                  <a:close/>
                </a:path>
                <a:path w="645160" h="1545589">
                  <a:moveTo>
                    <a:pt x="644651" y="1001267"/>
                  </a:moveTo>
                  <a:lnTo>
                    <a:pt x="249174" y="752093"/>
                  </a:lnTo>
                  <a:lnTo>
                    <a:pt x="521785" y="1063265"/>
                  </a:lnTo>
                  <a:lnTo>
                    <a:pt x="644651" y="1001267"/>
                  </a:lnTo>
                  <a:close/>
                </a:path>
                <a:path w="645160" h="1545589">
                  <a:moveTo>
                    <a:pt x="521785" y="1063265"/>
                  </a:moveTo>
                  <a:lnTo>
                    <a:pt x="249174" y="752093"/>
                  </a:lnTo>
                  <a:lnTo>
                    <a:pt x="395477" y="1126998"/>
                  </a:lnTo>
                  <a:lnTo>
                    <a:pt x="521785" y="10632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  <p:sp>
          <p:nvSpPr>
            <p:cNvPr id="1059" name="object 33">
              <a:extLst>
                <a:ext uri="{FF2B5EF4-FFF2-40B4-BE49-F238E27FC236}">
                  <a16:creationId xmlns:a16="http://schemas.microsoft.com/office/drawing/2014/main" id="{530452AC-64EC-3D8C-6727-A3C479980562}"/>
                </a:ext>
              </a:extLst>
            </p:cNvPr>
            <p:cNvSpPr/>
            <p:nvPr/>
          </p:nvSpPr>
          <p:spPr>
            <a:xfrm>
              <a:off x="6609207" y="2632329"/>
              <a:ext cx="0" cy="784225"/>
            </a:xfrm>
            <a:custGeom>
              <a:avLst/>
              <a:gdLst/>
              <a:ahLst/>
              <a:cxnLst/>
              <a:rect l="l" t="t" r="r" b="b"/>
              <a:pathLst>
                <a:path h="784225">
                  <a:moveTo>
                    <a:pt x="0" y="784097"/>
                  </a:moveTo>
                  <a:lnTo>
                    <a:pt x="0" y="0"/>
                  </a:lnTo>
                </a:path>
              </a:pathLst>
            </a:custGeom>
            <a:ln w="141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  <p:sp>
          <p:nvSpPr>
            <p:cNvPr id="1060" name="object 34">
              <a:extLst>
                <a:ext uri="{FF2B5EF4-FFF2-40B4-BE49-F238E27FC236}">
                  <a16:creationId xmlns:a16="http://schemas.microsoft.com/office/drawing/2014/main" id="{A6237DC8-00CD-629E-5C58-1702082491E2}"/>
                </a:ext>
              </a:extLst>
            </p:cNvPr>
            <p:cNvSpPr/>
            <p:nvPr/>
          </p:nvSpPr>
          <p:spPr>
            <a:xfrm>
              <a:off x="6437757" y="2888361"/>
              <a:ext cx="340995" cy="272415"/>
            </a:xfrm>
            <a:custGeom>
              <a:avLst/>
              <a:gdLst/>
              <a:ahLst/>
              <a:cxnLst/>
              <a:rect l="l" t="t" r="r" b="b"/>
              <a:pathLst>
                <a:path w="340995" h="272414">
                  <a:moveTo>
                    <a:pt x="340613" y="0"/>
                  </a:moveTo>
                  <a:lnTo>
                    <a:pt x="169163" y="52578"/>
                  </a:lnTo>
                  <a:lnTo>
                    <a:pt x="0" y="0"/>
                  </a:lnTo>
                  <a:lnTo>
                    <a:pt x="163671" y="263201"/>
                  </a:lnTo>
                  <a:lnTo>
                    <a:pt x="340613" y="0"/>
                  </a:lnTo>
                  <a:close/>
                </a:path>
                <a:path w="340995" h="272414">
                  <a:moveTo>
                    <a:pt x="169163" y="272034"/>
                  </a:moveTo>
                  <a:lnTo>
                    <a:pt x="163671" y="263201"/>
                  </a:lnTo>
                  <a:lnTo>
                    <a:pt x="157734" y="272034"/>
                  </a:lnTo>
                  <a:lnTo>
                    <a:pt x="169163" y="272034"/>
                  </a:lnTo>
                  <a:close/>
                </a:path>
              </a:pathLst>
            </a:custGeom>
            <a:solidFill>
              <a:srgbClr val="1C915C"/>
            </a:solidFill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  <p:sp>
          <p:nvSpPr>
            <p:cNvPr id="1061" name="object 35">
              <a:extLst>
                <a:ext uri="{FF2B5EF4-FFF2-40B4-BE49-F238E27FC236}">
                  <a16:creationId xmlns:a16="http://schemas.microsoft.com/office/drawing/2014/main" id="{A5C981A2-9A60-F920-D6D9-6A067BCD7F77}"/>
                </a:ext>
              </a:extLst>
            </p:cNvPr>
            <p:cNvSpPr/>
            <p:nvPr/>
          </p:nvSpPr>
          <p:spPr>
            <a:xfrm>
              <a:off x="6437757" y="2888361"/>
              <a:ext cx="340995" cy="272415"/>
            </a:xfrm>
            <a:custGeom>
              <a:avLst/>
              <a:gdLst/>
              <a:ahLst/>
              <a:cxnLst/>
              <a:rect l="l" t="t" r="r" b="b"/>
              <a:pathLst>
                <a:path w="340995" h="272414">
                  <a:moveTo>
                    <a:pt x="169163" y="272034"/>
                  </a:moveTo>
                  <a:lnTo>
                    <a:pt x="0" y="0"/>
                  </a:lnTo>
                  <a:lnTo>
                    <a:pt x="169163" y="52578"/>
                  </a:lnTo>
                  <a:lnTo>
                    <a:pt x="340613" y="0"/>
                  </a:lnTo>
                  <a:lnTo>
                    <a:pt x="157734" y="272034"/>
                  </a:lnTo>
                  <a:lnTo>
                    <a:pt x="169163" y="272034"/>
                  </a:lnTo>
                  <a:close/>
                </a:path>
                <a:path w="340995" h="272414">
                  <a:moveTo>
                    <a:pt x="169163" y="272034"/>
                  </a:moveTo>
                  <a:lnTo>
                    <a:pt x="0" y="0"/>
                  </a:lnTo>
                  <a:lnTo>
                    <a:pt x="169163" y="52578"/>
                  </a:lnTo>
                  <a:lnTo>
                    <a:pt x="340613" y="0"/>
                  </a:lnTo>
                  <a:lnTo>
                    <a:pt x="157734" y="272034"/>
                  </a:lnTo>
                  <a:lnTo>
                    <a:pt x="169163" y="272034"/>
                  </a:lnTo>
                </a:path>
              </a:pathLst>
            </a:custGeom>
            <a:ln w="14198">
              <a:solidFill>
                <a:srgbClr val="1C915C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  <p:sp>
          <p:nvSpPr>
            <p:cNvPr id="1062" name="object 36">
              <a:extLst>
                <a:ext uri="{FF2B5EF4-FFF2-40B4-BE49-F238E27FC236}">
                  <a16:creationId xmlns:a16="http://schemas.microsoft.com/office/drawing/2014/main" id="{01174385-6132-863F-0DE8-D7CE3690AAEC}"/>
                </a:ext>
              </a:extLst>
            </p:cNvPr>
            <p:cNvSpPr/>
            <p:nvPr/>
          </p:nvSpPr>
          <p:spPr>
            <a:xfrm>
              <a:off x="6609207" y="4989195"/>
              <a:ext cx="0" cy="763905"/>
            </a:xfrm>
            <a:custGeom>
              <a:avLst/>
              <a:gdLst/>
              <a:ahLst/>
              <a:cxnLst/>
              <a:rect l="l" t="t" r="r" b="b"/>
              <a:pathLst>
                <a:path h="763904">
                  <a:moveTo>
                    <a:pt x="0" y="0"/>
                  </a:moveTo>
                  <a:lnTo>
                    <a:pt x="0" y="763524"/>
                  </a:lnTo>
                </a:path>
              </a:pathLst>
            </a:custGeom>
            <a:ln w="141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  <p:sp>
          <p:nvSpPr>
            <p:cNvPr id="1063" name="object 37">
              <a:extLst>
                <a:ext uri="{FF2B5EF4-FFF2-40B4-BE49-F238E27FC236}">
                  <a16:creationId xmlns:a16="http://schemas.microsoft.com/office/drawing/2014/main" id="{BA00A620-C012-45C6-B64C-AB0C761CE257}"/>
                </a:ext>
              </a:extLst>
            </p:cNvPr>
            <p:cNvSpPr/>
            <p:nvPr/>
          </p:nvSpPr>
          <p:spPr>
            <a:xfrm>
              <a:off x="6437757" y="5256657"/>
              <a:ext cx="340995" cy="274320"/>
            </a:xfrm>
            <a:custGeom>
              <a:avLst/>
              <a:gdLst/>
              <a:ahLst/>
              <a:cxnLst/>
              <a:rect l="l" t="t" r="r" b="b"/>
              <a:pathLst>
                <a:path w="340995" h="274320">
                  <a:moveTo>
                    <a:pt x="340613" y="0"/>
                  </a:moveTo>
                  <a:lnTo>
                    <a:pt x="169163" y="54863"/>
                  </a:lnTo>
                  <a:lnTo>
                    <a:pt x="0" y="0"/>
                  </a:lnTo>
                  <a:lnTo>
                    <a:pt x="163671" y="265413"/>
                  </a:lnTo>
                  <a:lnTo>
                    <a:pt x="340613" y="0"/>
                  </a:lnTo>
                  <a:close/>
                </a:path>
                <a:path w="340995" h="274320">
                  <a:moveTo>
                    <a:pt x="169163" y="274319"/>
                  </a:moveTo>
                  <a:lnTo>
                    <a:pt x="163671" y="265413"/>
                  </a:lnTo>
                  <a:lnTo>
                    <a:pt x="157734" y="274319"/>
                  </a:lnTo>
                  <a:lnTo>
                    <a:pt x="169163" y="274319"/>
                  </a:lnTo>
                  <a:close/>
                </a:path>
              </a:pathLst>
            </a:custGeom>
            <a:solidFill>
              <a:srgbClr val="1C915C"/>
            </a:solidFill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  <p:sp>
          <p:nvSpPr>
            <p:cNvPr id="1064" name="object 38">
              <a:extLst>
                <a:ext uri="{FF2B5EF4-FFF2-40B4-BE49-F238E27FC236}">
                  <a16:creationId xmlns:a16="http://schemas.microsoft.com/office/drawing/2014/main" id="{80CB0938-B86C-4DB2-7D2F-73B10C7F21E9}"/>
                </a:ext>
              </a:extLst>
            </p:cNvPr>
            <p:cNvSpPr/>
            <p:nvPr/>
          </p:nvSpPr>
          <p:spPr>
            <a:xfrm>
              <a:off x="6437757" y="5256657"/>
              <a:ext cx="340995" cy="274320"/>
            </a:xfrm>
            <a:custGeom>
              <a:avLst/>
              <a:gdLst/>
              <a:ahLst/>
              <a:cxnLst/>
              <a:rect l="l" t="t" r="r" b="b"/>
              <a:pathLst>
                <a:path w="340995" h="274320">
                  <a:moveTo>
                    <a:pt x="169163" y="274319"/>
                  </a:moveTo>
                  <a:lnTo>
                    <a:pt x="0" y="0"/>
                  </a:lnTo>
                  <a:lnTo>
                    <a:pt x="169163" y="54863"/>
                  </a:lnTo>
                  <a:lnTo>
                    <a:pt x="340613" y="0"/>
                  </a:lnTo>
                  <a:lnTo>
                    <a:pt x="157734" y="274319"/>
                  </a:lnTo>
                  <a:lnTo>
                    <a:pt x="169163" y="274319"/>
                  </a:lnTo>
                  <a:close/>
                </a:path>
                <a:path w="340995" h="274320">
                  <a:moveTo>
                    <a:pt x="169163" y="274319"/>
                  </a:moveTo>
                  <a:lnTo>
                    <a:pt x="0" y="0"/>
                  </a:lnTo>
                  <a:lnTo>
                    <a:pt x="169163" y="54863"/>
                  </a:lnTo>
                  <a:lnTo>
                    <a:pt x="340613" y="0"/>
                  </a:lnTo>
                  <a:lnTo>
                    <a:pt x="157734" y="274319"/>
                  </a:lnTo>
                  <a:lnTo>
                    <a:pt x="169163" y="274319"/>
                  </a:lnTo>
                </a:path>
              </a:pathLst>
            </a:custGeom>
            <a:ln w="14198">
              <a:solidFill>
                <a:srgbClr val="1C915C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  <p:sp>
          <p:nvSpPr>
            <p:cNvPr id="1065" name="object 39">
              <a:extLst>
                <a:ext uri="{FF2B5EF4-FFF2-40B4-BE49-F238E27FC236}">
                  <a16:creationId xmlns:a16="http://schemas.microsoft.com/office/drawing/2014/main" id="{60758E4E-3CD9-C7C0-048F-B3527E2BA790}"/>
                </a:ext>
              </a:extLst>
            </p:cNvPr>
            <p:cNvSpPr/>
            <p:nvPr/>
          </p:nvSpPr>
          <p:spPr>
            <a:xfrm>
              <a:off x="5646801" y="3420999"/>
              <a:ext cx="944244" cy="1545590"/>
            </a:xfrm>
            <a:custGeom>
              <a:avLst/>
              <a:gdLst/>
              <a:ahLst/>
              <a:cxnLst/>
              <a:rect l="l" t="t" r="r" b="b"/>
              <a:pathLst>
                <a:path w="944245" h="1545589">
                  <a:moveTo>
                    <a:pt x="0" y="1545336"/>
                  </a:moveTo>
                  <a:lnTo>
                    <a:pt x="0" y="0"/>
                  </a:lnTo>
                  <a:lnTo>
                    <a:pt x="249174" y="0"/>
                  </a:lnTo>
                  <a:lnTo>
                    <a:pt x="249174" y="752093"/>
                  </a:lnTo>
                  <a:lnTo>
                    <a:pt x="944118" y="0"/>
                  </a:lnTo>
                  <a:lnTo>
                    <a:pt x="249174" y="752093"/>
                  </a:lnTo>
                  <a:lnTo>
                    <a:pt x="644651" y="1001267"/>
                  </a:lnTo>
                  <a:lnTo>
                    <a:pt x="395477" y="1126998"/>
                  </a:lnTo>
                  <a:lnTo>
                    <a:pt x="249174" y="752093"/>
                  </a:lnTo>
                  <a:lnTo>
                    <a:pt x="944118" y="1545336"/>
                  </a:lnTo>
                  <a:lnTo>
                    <a:pt x="249174" y="752093"/>
                  </a:lnTo>
                  <a:lnTo>
                    <a:pt x="249174" y="1545336"/>
                  </a:lnTo>
                  <a:lnTo>
                    <a:pt x="0" y="1545336"/>
                  </a:lnTo>
                  <a:close/>
                </a:path>
                <a:path w="944245" h="1545589">
                  <a:moveTo>
                    <a:pt x="0" y="1545336"/>
                  </a:moveTo>
                  <a:lnTo>
                    <a:pt x="0" y="0"/>
                  </a:lnTo>
                  <a:lnTo>
                    <a:pt x="249174" y="0"/>
                  </a:lnTo>
                  <a:lnTo>
                    <a:pt x="249174" y="752093"/>
                  </a:lnTo>
                  <a:lnTo>
                    <a:pt x="944118" y="0"/>
                  </a:lnTo>
                  <a:lnTo>
                    <a:pt x="249174" y="752093"/>
                  </a:lnTo>
                  <a:lnTo>
                    <a:pt x="644651" y="1001267"/>
                  </a:lnTo>
                  <a:lnTo>
                    <a:pt x="395477" y="1126998"/>
                  </a:lnTo>
                  <a:lnTo>
                    <a:pt x="249174" y="752093"/>
                  </a:lnTo>
                  <a:lnTo>
                    <a:pt x="944118" y="1545336"/>
                  </a:lnTo>
                  <a:lnTo>
                    <a:pt x="249174" y="752093"/>
                  </a:lnTo>
                  <a:lnTo>
                    <a:pt x="249174" y="1545336"/>
                  </a:lnTo>
                  <a:lnTo>
                    <a:pt x="0" y="1545336"/>
                  </a:lnTo>
                </a:path>
              </a:pathLst>
            </a:custGeom>
            <a:ln w="141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  <p:sp>
          <p:nvSpPr>
            <p:cNvPr id="1066" name="object 40">
              <a:extLst>
                <a:ext uri="{FF2B5EF4-FFF2-40B4-BE49-F238E27FC236}">
                  <a16:creationId xmlns:a16="http://schemas.microsoft.com/office/drawing/2014/main" id="{2C527C92-3651-02E1-DD68-3F6B3FAFC371}"/>
                </a:ext>
              </a:extLst>
            </p:cNvPr>
            <p:cNvSpPr/>
            <p:nvPr/>
          </p:nvSpPr>
          <p:spPr>
            <a:xfrm>
              <a:off x="5683377" y="2680335"/>
              <a:ext cx="356870" cy="295275"/>
            </a:xfrm>
            <a:custGeom>
              <a:avLst/>
              <a:gdLst/>
              <a:ahLst/>
              <a:cxnLst/>
              <a:rect l="l" t="t" r="r" b="b"/>
              <a:pathLst>
                <a:path w="356870" h="295275">
                  <a:moveTo>
                    <a:pt x="356615" y="0"/>
                  </a:moveTo>
                  <a:lnTo>
                    <a:pt x="0" y="93726"/>
                  </a:lnTo>
                  <a:lnTo>
                    <a:pt x="169163" y="155448"/>
                  </a:lnTo>
                  <a:lnTo>
                    <a:pt x="169665" y="156375"/>
                  </a:lnTo>
                  <a:lnTo>
                    <a:pt x="356615" y="0"/>
                  </a:lnTo>
                  <a:close/>
                </a:path>
                <a:path w="356870" h="295275">
                  <a:moveTo>
                    <a:pt x="356615" y="0"/>
                  </a:moveTo>
                  <a:lnTo>
                    <a:pt x="169665" y="156375"/>
                  </a:lnTo>
                  <a:lnTo>
                    <a:pt x="244601" y="294894"/>
                  </a:lnTo>
                  <a:lnTo>
                    <a:pt x="356615" y="0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  <p:sp>
          <p:nvSpPr>
            <p:cNvPr id="1067" name="object 41">
              <a:extLst>
                <a:ext uri="{FF2B5EF4-FFF2-40B4-BE49-F238E27FC236}">
                  <a16:creationId xmlns:a16="http://schemas.microsoft.com/office/drawing/2014/main" id="{70B1CC94-151C-9610-8A7F-E65B269A9CB6}"/>
                </a:ext>
              </a:extLst>
            </p:cNvPr>
            <p:cNvSpPr/>
            <p:nvPr/>
          </p:nvSpPr>
          <p:spPr>
            <a:xfrm>
              <a:off x="4698111" y="2680335"/>
              <a:ext cx="1342390" cy="1122680"/>
            </a:xfrm>
            <a:custGeom>
              <a:avLst/>
              <a:gdLst/>
              <a:ahLst/>
              <a:cxnLst/>
              <a:rect l="l" t="t" r="r" b="b"/>
              <a:pathLst>
                <a:path w="1342389" h="1122679">
                  <a:moveTo>
                    <a:pt x="0" y="1122426"/>
                  </a:moveTo>
                  <a:lnTo>
                    <a:pt x="1341881" y="0"/>
                  </a:lnTo>
                  <a:lnTo>
                    <a:pt x="985265" y="93726"/>
                  </a:lnTo>
                  <a:lnTo>
                    <a:pt x="1154429" y="155448"/>
                  </a:lnTo>
                  <a:lnTo>
                    <a:pt x="1229867" y="294894"/>
                  </a:lnTo>
                  <a:lnTo>
                    <a:pt x="1341881" y="0"/>
                  </a:lnTo>
                  <a:lnTo>
                    <a:pt x="0" y="1122426"/>
                  </a:lnTo>
                  <a:close/>
                </a:path>
                <a:path w="1342389" h="1122679">
                  <a:moveTo>
                    <a:pt x="0" y="1122426"/>
                  </a:moveTo>
                  <a:lnTo>
                    <a:pt x="1341881" y="0"/>
                  </a:lnTo>
                  <a:lnTo>
                    <a:pt x="985265" y="93726"/>
                  </a:lnTo>
                  <a:lnTo>
                    <a:pt x="1154429" y="155448"/>
                  </a:lnTo>
                  <a:lnTo>
                    <a:pt x="1229867" y="294894"/>
                  </a:lnTo>
                  <a:lnTo>
                    <a:pt x="1341881" y="0"/>
                  </a:lnTo>
                  <a:lnTo>
                    <a:pt x="0" y="1122426"/>
                  </a:lnTo>
                </a:path>
              </a:pathLst>
            </a:custGeom>
            <a:ln w="14198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  <p:sp>
          <p:nvSpPr>
            <p:cNvPr id="1068" name="object 42">
              <a:extLst>
                <a:ext uri="{FF2B5EF4-FFF2-40B4-BE49-F238E27FC236}">
                  <a16:creationId xmlns:a16="http://schemas.microsoft.com/office/drawing/2014/main" id="{2AD19C72-FEC4-7CD7-715D-7570EC475674}"/>
                </a:ext>
              </a:extLst>
            </p:cNvPr>
            <p:cNvSpPr/>
            <p:nvPr/>
          </p:nvSpPr>
          <p:spPr>
            <a:xfrm>
              <a:off x="4826127" y="4637151"/>
              <a:ext cx="1218565" cy="1019810"/>
            </a:xfrm>
            <a:custGeom>
              <a:avLst/>
              <a:gdLst/>
              <a:ahLst/>
              <a:cxnLst/>
              <a:rect l="l" t="t" r="r" b="b"/>
              <a:pathLst>
                <a:path w="1218564" h="1019810">
                  <a:moveTo>
                    <a:pt x="186933" y="156421"/>
                  </a:moveTo>
                  <a:lnTo>
                    <a:pt x="0" y="0"/>
                  </a:lnTo>
                  <a:lnTo>
                    <a:pt x="112013" y="297179"/>
                  </a:lnTo>
                  <a:lnTo>
                    <a:pt x="186933" y="156421"/>
                  </a:lnTo>
                  <a:close/>
                </a:path>
                <a:path w="1218564" h="1019810">
                  <a:moveTo>
                    <a:pt x="352044" y="93725"/>
                  </a:moveTo>
                  <a:lnTo>
                    <a:pt x="4572" y="2286"/>
                  </a:lnTo>
                  <a:lnTo>
                    <a:pt x="187415" y="155516"/>
                  </a:lnTo>
                  <a:lnTo>
                    <a:pt x="352044" y="93725"/>
                  </a:lnTo>
                  <a:close/>
                </a:path>
                <a:path w="1218564" h="1019810">
                  <a:moveTo>
                    <a:pt x="1218438" y="1019555"/>
                  </a:moveTo>
                  <a:lnTo>
                    <a:pt x="187415" y="155516"/>
                  </a:lnTo>
                  <a:lnTo>
                    <a:pt x="186933" y="156421"/>
                  </a:lnTo>
                  <a:lnTo>
                    <a:pt x="1218438" y="1019555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  <p:sp>
          <p:nvSpPr>
            <p:cNvPr id="1069" name="object 43">
              <a:extLst>
                <a:ext uri="{FF2B5EF4-FFF2-40B4-BE49-F238E27FC236}">
                  <a16:creationId xmlns:a16="http://schemas.microsoft.com/office/drawing/2014/main" id="{607AFB0A-2FC0-A37C-113C-90DE62CD4EAA}"/>
                </a:ext>
              </a:extLst>
            </p:cNvPr>
            <p:cNvSpPr/>
            <p:nvPr/>
          </p:nvSpPr>
          <p:spPr>
            <a:xfrm>
              <a:off x="4826127" y="4637151"/>
              <a:ext cx="1218565" cy="1019810"/>
            </a:xfrm>
            <a:custGeom>
              <a:avLst/>
              <a:gdLst/>
              <a:ahLst/>
              <a:cxnLst/>
              <a:rect l="l" t="t" r="r" b="b"/>
              <a:pathLst>
                <a:path w="1218564" h="1019810">
                  <a:moveTo>
                    <a:pt x="1218438" y="1019555"/>
                  </a:moveTo>
                  <a:lnTo>
                    <a:pt x="0" y="0"/>
                  </a:lnTo>
                  <a:lnTo>
                    <a:pt x="112013" y="297179"/>
                  </a:lnTo>
                  <a:lnTo>
                    <a:pt x="187451" y="155448"/>
                  </a:lnTo>
                  <a:lnTo>
                    <a:pt x="352044" y="93725"/>
                  </a:lnTo>
                  <a:lnTo>
                    <a:pt x="4572" y="2286"/>
                  </a:lnTo>
                  <a:lnTo>
                    <a:pt x="1218438" y="1019555"/>
                  </a:lnTo>
                  <a:close/>
                </a:path>
                <a:path w="1218564" h="1019810">
                  <a:moveTo>
                    <a:pt x="1218438" y="1019555"/>
                  </a:moveTo>
                  <a:lnTo>
                    <a:pt x="0" y="0"/>
                  </a:lnTo>
                  <a:lnTo>
                    <a:pt x="112013" y="297179"/>
                  </a:lnTo>
                  <a:lnTo>
                    <a:pt x="187451" y="155448"/>
                  </a:lnTo>
                  <a:lnTo>
                    <a:pt x="352044" y="93725"/>
                  </a:lnTo>
                  <a:lnTo>
                    <a:pt x="4572" y="2286"/>
                  </a:lnTo>
                  <a:lnTo>
                    <a:pt x="1218438" y="1019555"/>
                  </a:lnTo>
                </a:path>
              </a:pathLst>
            </a:custGeom>
            <a:ln w="14198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</p:grpSp>
      <p:sp>
        <p:nvSpPr>
          <p:cNvPr id="1070" name="object 44">
            <a:extLst>
              <a:ext uri="{FF2B5EF4-FFF2-40B4-BE49-F238E27FC236}">
                <a16:creationId xmlns:a16="http://schemas.microsoft.com/office/drawing/2014/main" id="{63FC179F-2539-9251-BF48-BB7EA6E44E74}"/>
              </a:ext>
            </a:extLst>
          </p:cNvPr>
          <p:cNvSpPr txBox="1"/>
          <p:nvPr/>
        </p:nvSpPr>
        <p:spPr>
          <a:xfrm>
            <a:off x="2594328" y="3516910"/>
            <a:ext cx="140970" cy="19941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200" spc="5" dirty="0">
                <a:latin typeface="Bookman Old Style" panose="02050604050505020204" pitchFamily="18" charset="0"/>
                <a:cs typeface="Times New Roman"/>
              </a:rPr>
              <a:t>P</a:t>
            </a:r>
            <a:endParaRPr sz="1200">
              <a:latin typeface="Bookman Old Style" panose="02050604050505020204" pitchFamily="18" charset="0"/>
              <a:cs typeface="Times New Roman"/>
            </a:endParaRPr>
          </a:p>
        </p:txBody>
      </p:sp>
      <p:grpSp>
        <p:nvGrpSpPr>
          <p:cNvPr id="1071" name="object 45">
            <a:extLst>
              <a:ext uri="{FF2B5EF4-FFF2-40B4-BE49-F238E27FC236}">
                <a16:creationId xmlns:a16="http://schemas.microsoft.com/office/drawing/2014/main" id="{FD14B466-94AA-B7DD-291D-E64168C39F31}"/>
              </a:ext>
            </a:extLst>
          </p:cNvPr>
          <p:cNvGrpSpPr/>
          <p:nvPr/>
        </p:nvGrpSpPr>
        <p:grpSpPr>
          <a:xfrm>
            <a:off x="6488929" y="1571750"/>
            <a:ext cx="354965" cy="2524760"/>
            <a:chOff x="6942721" y="2990989"/>
            <a:chExt cx="354965" cy="2524760"/>
          </a:xfrm>
        </p:grpSpPr>
        <p:sp>
          <p:nvSpPr>
            <p:cNvPr id="1072" name="object 46">
              <a:extLst>
                <a:ext uri="{FF2B5EF4-FFF2-40B4-BE49-F238E27FC236}">
                  <a16:creationId xmlns:a16="http://schemas.microsoft.com/office/drawing/2014/main" id="{D2623251-00ED-D41E-0EE9-BB5481677436}"/>
                </a:ext>
              </a:extLst>
            </p:cNvPr>
            <p:cNvSpPr/>
            <p:nvPr/>
          </p:nvSpPr>
          <p:spPr>
            <a:xfrm>
              <a:off x="6949821" y="2998089"/>
              <a:ext cx="340995" cy="276860"/>
            </a:xfrm>
            <a:custGeom>
              <a:avLst/>
              <a:gdLst/>
              <a:ahLst/>
              <a:cxnLst/>
              <a:rect l="l" t="t" r="r" b="b"/>
              <a:pathLst>
                <a:path w="340995" h="276860">
                  <a:moveTo>
                    <a:pt x="340613" y="276606"/>
                  </a:moveTo>
                  <a:lnTo>
                    <a:pt x="171450" y="0"/>
                  </a:lnTo>
                  <a:lnTo>
                    <a:pt x="0" y="276606"/>
                  </a:lnTo>
                  <a:lnTo>
                    <a:pt x="171450" y="224028"/>
                  </a:lnTo>
                  <a:lnTo>
                    <a:pt x="340613" y="276606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  <p:sp>
          <p:nvSpPr>
            <p:cNvPr id="1073" name="object 47">
              <a:extLst>
                <a:ext uri="{FF2B5EF4-FFF2-40B4-BE49-F238E27FC236}">
                  <a16:creationId xmlns:a16="http://schemas.microsoft.com/office/drawing/2014/main" id="{F3E18E19-88CD-5E9B-F2C3-4F972D42B712}"/>
                </a:ext>
              </a:extLst>
            </p:cNvPr>
            <p:cNvSpPr/>
            <p:nvPr/>
          </p:nvSpPr>
          <p:spPr>
            <a:xfrm>
              <a:off x="6949821" y="2998089"/>
              <a:ext cx="340995" cy="2510155"/>
            </a:xfrm>
            <a:custGeom>
              <a:avLst/>
              <a:gdLst/>
              <a:ahLst/>
              <a:cxnLst/>
              <a:rect l="l" t="t" r="r" b="b"/>
              <a:pathLst>
                <a:path w="340995" h="2510154">
                  <a:moveTo>
                    <a:pt x="171450" y="2510028"/>
                  </a:moveTo>
                  <a:lnTo>
                    <a:pt x="171450" y="0"/>
                  </a:lnTo>
                  <a:lnTo>
                    <a:pt x="0" y="276606"/>
                  </a:lnTo>
                  <a:lnTo>
                    <a:pt x="171450" y="224028"/>
                  </a:lnTo>
                  <a:lnTo>
                    <a:pt x="340613" y="276606"/>
                  </a:lnTo>
                  <a:lnTo>
                    <a:pt x="171450" y="0"/>
                  </a:lnTo>
                  <a:lnTo>
                    <a:pt x="171450" y="2510028"/>
                  </a:lnTo>
                  <a:close/>
                </a:path>
                <a:path w="340995" h="2510154">
                  <a:moveTo>
                    <a:pt x="171450" y="2510028"/>
                  </a:moveTo>
                  <a:lnTo>
                    <a:pt x="171450" y="0"/>
                  </a:lnTo>
                  <a:lnTo>
                    <a:pt x="0" y="276606"/>
                  </a:lnTo>
                  <a:lnTo>
                    <a:pt x="171450" y="224028"/>
                  </a:lnTo>
                  <a:lnTo>
                    <a:pt x="340613" y="276606"/>
                  </a:lnTo>
                  <a:lnTo>
                    <a:pt x="171450" y="0"/>
                  </a:lnTo>
                  <a:lnTo>
                    <a:pt x="171450" y="2510028"/>
                  </a:lnTo>
                </a:path>
              </a:pathLst>
            </a:custGeom>
            <a:ln w="14198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Bookman Old Style" panose="02050604050505020204" pitchFamily="18" charset="0"/>
              </a:endParaRPr>
            </a:p>
          </p:txBody>
        </p:sp>
      </p:grpSp>
      <p:sp>
        <p:nvSpPr>
          <p:cNvPr id="1074" name="object 48">
            <a:extLst>
              <a:ext uri="{FF2B5EF4-FFF2-40B4-BE49-F238E27FC236}">
                <a16:creationId xmlns:a16="http://schemas.microsoft.com/office/drawing/2014/main" id="{80C1C03F-C335-1D2C-965B-DF2D39C121E1}"/>
              </a:ext>
            </a:extLst>
          </p:cNvPr>
          <p:cNvSpPr txBox="1"/>
          <p:nvPr/>
        </p:nvSpPr>
        <p:spPr>
          <a:xfrm>
            <a:off x="4179774" y="3543715"/>
            <a:ext cx="1721485" cy="39690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64285">
              <a:lnSpc>
                <a:spcPct val="100000"/>
              </a:lnSpc>
              <a:spcBef>
                <a:spcPts val="114"/>
              </a:spcBef>
            </a:pPr>
            <a:r>
              <a:rPr sz="1200" spc="15" dirty="0">
                <a:solidFill>
                  <a:srgbClr val="1C915C"/>
                </a:solidFill>
                <a:latin typeface="Bookman Old Style" panose="02050604050505020204" pitchFamily="18" charset="0"/>
                <a:cs typeface="Times New Roman"/>
              </a:rPr>
              <a:t>I</a:t>
            </a:r>
            <a:r>
              <a:rPr sz="1200" spc="22" baseline="-22727" dirty="0">
                <a:solidFill>
                  <a:srgbClr val="1C915C"/>
                </a:solidFill>
                <a:latin typeface="Bookman Old Style" panose="02050604050505020204" pitchFamily="18" charset="0"/>
                <a:cs typeface="Times New Roman"/>
              </a:rPr>
              <a:t>E</a:t>
            </a:r>
            <a:r>
              <a:rPr sz="1200" spc="172" baseline="-22727" dirty="0">
                <a:solidFill>
                  <a:srgbClr val="1C915C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spc="5" dirty="0">
                <a:latin typeface="Bookman Old Style" panose="02050604050505020204" pitchFamily="18" charset="0"/>
                <a:cs typeface="Times New Roman"/>
              </a:rPr>
              <a:t>&lt;</a:t>
            </a:r>
            <a:r>
              <a:rPr sz="1200" spc="-2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spc="5" dirty="0">
                <a:latin typeface="Bookman Old Style" panose="02050604050505020204" pitchFamily="18" charset="0"/>
                <a:cs typeface="Times New Roman"/>
              </a:rPr>
              <a:t>0</a:t>
            </a:r>
            <a:endParaRPr sz="1200">
              <a:latin typeface="Bookman Old Style" panose="02050604050505020204" pitchFamily="18" charset="0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sz="1200" spc="50" dirty="0">
                <a:solidFill>
                  <a:srgbClr val="ED1C24"/>
                </a:solidFill>
                <a:latin typeface="Bookman Old Style" panose="02050604050505020204" pitchFamily="18" charset="0"/>
                <a:cs typeface="Times New Roman"/>
              </a:rPr>
              <a:t>U</a:t>
            </a:r>
            <a:r>
              <a:rPr sz="1200" spc="75" baseline="-22727" dirty="0">
                <a:solidFill>
                  <a:srgbClr val="ED1C24"/>
                </a:solidFill>
                <a:latin typeface="Bookman Old Style" panose="02050604050505020204" pitchFamily="18" charset="0"/>
                <a:cs typeface="Times New Roman"/>
              </a:rPr>
              <a:t>BE</a:t>
            </a:r>
            <a:r>
              <a:rPr sz="1200" spc="375" baseline="-22727" dirty="0">
                <a:solidFill>
                  <a:srgbClr val="ED1C24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spc="5" dirty="0">
                <a:latin typeface="Bookman Old Style" panose="02050604050505020204" pitchFamily="18" charset="0"/>
                <a:cs typeface="Times New Roman"/>
              </a:rPr>
              <a:t>&lt;</a:t>
            </a:r>
            <a:r>
              <a:rPr sz="1200" spc="-2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spc="5" dirty="0">
                <a:latin typeface="Bookman Old Style" panose="02050604050505020204" pitchFamily="18" charset="0"/>
                <a:cs typeface="Times New Roman"/>
              </a:rPr>
              <a:t>0</a:t>
            </a:r>
            <a:endParaRPr sz="120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1075" name="object 49">
            <a:extLst>
              <a:ext uri="{FF2B5EF4-FFF2-40B4-BE49-F238E27FC236}">
                <a16:creationId xmlns:a16="http://schemas.microsoft.com/office/drawing/2014/main" id="{8D6232B5-4953-96EC-2BEB-C172ED073046}"/>
              </a:ext>
            </a:extLst>
          </p:cNvPr>
          <p:cNvSpPr txBox="1"/>
          <p:nvPr/>
        </p:nvSpPr>
        <p:spPr>
          <a:xfrm>
            <a:off x="5783604" y="2547154"/>
            <a:ext cx="699135" cy="19941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200" spc="50" dirty="0">
                <a:solidFill>
                  <a:srgbClr val="ED1C24"/>
                </a:solidFill>
                <a:latin typeface="Bookman Old Style" panose="02050604050505020204" pitchFamily="18" charset="0"/>
                <a:cs typeface="Times New Roman"/>
              </a:rPr>
              <a:t>U</a:t>
            </a:r>
            <a:r>
              <a:rPr sz="1200" spc="75" baseline="-22727" dirty="0">
                <a:solidFill>
                  <a:srgbClr val="ED1C24"/>
                </a:solidFill>
                <a:latin typeface="Bookman Old Style" panose="02050604050505020204" pitchFamily="18" charset="0"/>
                <a:cs typeface="Times New Roman"/>
              </a:rPr>
              <a:t>CE</a:t>
            </a:r>
            <a:r>
              <a:rPr sz="1200" spc="390" baseline="-22727" dirty="0">
                <a:solidFill>
                  <a:srgbClr val="ED1C24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spc="5" dirty="0">
                <a:latin typeface="Bookman Old Style" panose="02050604050505020204" pitchFamily="18" charset="0"/>
                <a:cs typeface="Times New Roman"/>
              </a:rPr>
              <a:t>&lt;</a:t>
            </a:r>
            <a:r>
              <a:rPr sz="1200" spc="-2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spc="5" dirty="0">
                <a:latin typeface="Bookman Old Style" panose="02050604050505020204" pitchFamily="18" charset="0"/>
                <a:cs typeface="Times New Roman"/>
              </a:rPr>
              <a:t>0</a:t>
            </a:r>
            <a:endParaRPr sz="120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1076" name="object 50">
            <a:extLst>
              <a:ext uri="{FF2B5EF4-FFF2-40B4-BE49-F238E27FC236}">
                <a16:creationId xmlns:a16="http://schemas.microsoft.com/office/drawing/2014/main" id="{5F4B991D-0F8F-4046-DFBF-09EBD680BB0B}"/>
              </a:ext>
            </a:extLst>
          </p:cNvPr>
          <p:cNvSpPr txBox="1"/>
          <p:nvPr/>
        </p:nvSpPr>
        <p:spPr>
          <a:xfrm>
            <a:off x="4078311" y="1493166"/>
            <a:ext cx="706120" cy="19941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200" spc="45" dirty="0">
                <a:solidFill>
                  <a:srgbClr val="ED1C24"/>
                </a:solidFill>
                <a:latin typeface="Bookman Old Style" panose="02050604050505020204" pitchFamily="18" charset="0"/>
                <a:cs typeface="Times New Roman"/>
              </a:rPr>
              <a:t>U</a:t>
            </a:r>
            <a:r>
              <a:rPr sz="1200" spc="67" baseline="-22727" dirty="0">
                <a:solidFill>
                  <a:srgbClr val="ED1C24"/>
                </a:solidFill>
                <a:latin typeface="Bookman Old Style" panose="02050604050505020204" pitchFamily="18" charset="0"/>
                <a:cs typeface="Times New Roman"/>
              </a:rPr>
              <a:t>CB</a:t>
            </a:r>
            <a:r>
              <a:rPr sz="1200" spc="405" baseline="-22727" dirty="0">
                <a:solidFill>
                  <a:srgbClr val="ED1C24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spc="5" dirty="0">
                <a:latin typeface="Bookman Old Style" panose="02050604050505020204" pitchFamily="18" charset="0"/>
                <a:cs typeface="Times New Roman"/>
              </a:rPr>
              <a:t>&lt;</a:t>
            </a:r>
            <a:r>
              <a:rPr sz="1200" spc="-2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spc="5" dirty="0">
                <a:latin typeface="Bookman Old Style" panose="02050604050505020204" pitchFamily="18" charset="0"/>
                <a:cs typeface="Times New Roman"/>
              </a:rPr>
              <a:t>0</a:t>
            </a:r>
            <a:endParaRPr sz="120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1077" name="object 51">
            <a:extLst>
              <a:ext uri="{FF2B5EF4-FFF2-40B4-BE49-F238E27FC236}">
                <a16:creationId xmlns:a16="http://schemas.microsoft.com/office/drawing/2014/main" id="{641E7F37-4F4F-51BE-FC60-F69B7C2E4F4A}"/>
              </a:ext>
            </a:extLst>
          </p:cNvPr>
          <p:cNvSpPr txBox="1"/>
          <p:nvPr/>
        </p:nvSpPr>
        <p:spPr>
          <a:xfrm>
            <a:off x="5406290" y="1552669"/>
            <a:ext cx="491490" cy="19941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200" spc="15" dirty="0">
                <a:solidFill>
                  <a:srgbClr val="1C915C"/>
                </a:solidFill>
                <a:latin typeface="Bookman Old Style" panose="02050604050505020204" pitchFamily="18" charset="0"/>
                <a:cs typeface="Times New Roman"/>
              </a:rPr>
              <a:t>I</a:t>
            </a:r>
            <a:r>
              <a:rPr sz="1200" spc="22" baseline="-22727" dirty="0">
                <a:solidFill>
                  <a:srgbClr val="1C915C"/>
                </a:solidFill>
                <a:latin typeface="Bookman Old Style" panose="02050604050505020204" pitchFamily="18" charset="0"/>
                <a:cs typeface="Times New Roman"/>
              </a:rPr>
              <a:t>C</a:t>
            </a:r>
            <a:r>
              <a:rPr sz="1200" spc="179" baseline="-22727" dirty="0">
                <a:solidFill>
                  <a:srgbClr val="1C915C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spc="5" dirty="0">
                <a:latin typeface="Bookman Old Style" panose="02050604050505020204" pitchFamily="18" charset="0"/>
                <a:cs typeface="Times New Roman"/>
              </a:rPr>
              <a:t>&lt;</a:t>
            </a:r>
            <a:r>
              <a:rPr sz="1200" spc="-2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spc="5" dirty="0">
                <a:latin typeface="Bookman Old Style" panose="02050604050505020204" pitchFamily="18" charset="0"/>
                <a:cs typeface="Times New Roman"/>
              </a:rPr>
              <a:t>0</a:t>
            </a:r>
            <a:endParaRPr sz="120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1078" name="object 52">
            <a:extLst>
              <a:ext uri="{FF2B5EF4-FFF2-40B4-BE49-F238E27FC236}">
                <a16:creationId xmlns:a16="http://schemas.microsoft.com/office/drawing/2014/main" id="{7C2899DF-FDD1-07BE-482F-EDD140E6BD16}"/>
              </a:ext>
            </a:extLst>
          </p:cNvPr>
          <p:cNvSpPr txBox="1"/>
          <p:nvPr/>
        </p:nvSpPr>
        <p:spPr>
          <a:xfrm>
            <a:off x="4338695" y="2304760"/>
            <a:ext cx="491490" cy="19941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200" spc="15" dirty="0">
                <a:solidFill>
                  <a:srgbClr val="1C915C"/>
                </a:solidFill>
                <a:latin typeface="Bookman Old Style" panose="02050604050505020204" pitchFamily="18" charset="0"/>
                <a:cs typeface="Times New Roman"/>
              </a:rPr>
              <a:t>I</a:t>
            </a:r>
            <a:r>
              <a:rPr sz="1200" spc="22" baseline="-22727" dirty="0">
                <a:solidFill>
                  <a:srgbClr val="1C915C"/>
                </a:solidFill>
                <a:latin typeface="Bookman Old Style" panose="02050604050505020204" pitchFamily="18" charset="0"/>
                <a:cs typeface="Times New Roman"/>
              </a:rPr>
              <a:t>B</a:t>
            </a:r>
            <a:r>
              <a:rPr sz="1200" spc="179" baseline="-22727" dirty="0">
                <a:solidFill>
                  <a:srgbClr val="1C915C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spc="5" dirty="0">
                <a:latin typeface="Bookman Old Style" panose="02050604050505020204" pitchFamily="18" charset="0"/>
                <a:cs typeface="Times New Roman"/>
              </a:rPr>
              <a:t>&lt;</a:t>
            </a:r>
            <a:r>
              <a:rPr sz="1200" spc="-2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spc="5" dirty="0">
                <a:latin typeface="Bookman Old Style" panose="02050604050505020204" pitchFamily="18" charset="0"/>
                <a:cs typeface="Times New Roman"/>
              </a:rPr>
              <a:t>0</a:t>
            </a:r>
            <a:endParaRPr sz="120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1079" name="object 53">
            <a:extLst>
              <a:ext uri="{FF2B5EF4-FFF2-40B4-BE49-F238E27FC236}">
                <a16:creationId xmlns:a16="http://schemas.microsoft.com/office/drawing/2014/main" id="{4376D672-DBE5-487E-470B-AD902A4E52EB}"/>
              </a:ext>
            </a:extLst>
          </p:cNvPr>
          <p:cNvSpPr txBox="1"/>
          <p:nvPr/>
        </p:nvSpPr>
        <p:spPr>
          <a:xfrm>
            <a:off x="3964233" y="4425936"/>
            <a:ext cx="4744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Bookman Old Style" panose="02050604050505020204" pitchFamily="18" charset="0"/>
                <a:cs typeface="Times New Roman"/>
              </a:rPr>
              <a:t>Symbole </a:t>
            </a:r>
            <a:r>
              <a:rPr sz="1200" b="1" dirty="0">
                <a:latin typeface="Bookman Old Style" panose="02050604050505020204" pitchFamily="18" charset="0"/>
                <a:cs typeface="Times New Roman"/>
              </a:rPr>
              <a:t>: La </a:t>
            </a:r>
            <a:r>
              <a:rPr sz="1200" b="1" spc="-5" dirty="0">
                <a:latin typeface="Bookman Old Style" panose="02050604050505020204" pitchFamily="18" charset="0"/>
                <a:cs typeface="Times New Roman"/>
              </a:rPr>
              <a:t>flèche indique </a:t>
            </a:r>
            <a:r>
              <a:rPr sz="1200" b="1" dirty="0">
                <a:latin typeface="Bookman Old Style" panose="02050604050505020204" pitchFamily="18" charset="0"/>
                <a:cs typeface="Times New Roman"/>
              </a:rPr>
              <a:t>le </a:t>
            </a:r>
            <a:r>
              <a:rPr sz="1200" b="1" spc="-5" dirty="0">
                <a:latin typeface="Bookman Old Style" panose="02050604050505020204" pitchFamily="18" charset="0"/>
                <a:cs typeface="Times New Roman"/>
              </a:rPr>
              <a:t>sens passant </a:t>
            </a:r>
            <a:r>
              <a:rPr sz="1200" b="1" dirty="0">
                <a:latin typeface="Bookman Old Style" panose="02050604050505020204" pitchFamily="18" charset="0"/>
                <a:cs typeface="Times New Roman"/>
              </a:rPr>
              <a:t>de la </a:t>
            </a:r>
            <a:r>
              <a:rPr sz="1200" b="1" spc="-434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b="1" spc="-5" dirty="0">
                <a:latin typeface="Bookman Old Style" panose="02050604050505020204" pitchFamily="18" charset="0"/>
                <a:cs typeface="Times New Roman"/>
              </a:rPr>
              <a:t>diode</a:t>
            </a:r>
            <a:r>
              <a:rPr sz="1200" b="1" spc="-1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b="1" spc="-5" dirty="0">
                <a:latin typeface="Bookman Old Style" panose="02050604050505020204" pitchFamily="18" charset="0"/>
                <a:cs typeface="Times New Roman"/>
              </a:rPr>
              <a:t>B-E</a:t>
            </a:r>
            <a:endParaRPr sz="120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1080" name="object 54">
            <a:extLst>
              <a:ext uri="{FF2B5EF4-FFF2-40B4-BE49-F238E27FC236}">
                <a16:creationId xmlns:a16="http://schemas.microsoft.com/office/drawing/2014/main" id="{7B637BB7-2226-4C97-3FC0-C07EFD94426F}"/>
              </a:ext>
            </a:extLst>
          </p:cNvPr>
          <p:cNvSpPr txBox="1"/>
          <p:nvPr/>
        </p:nvSpPr>
        <p:spPr>
          <a:xfrm>
            <a:off x="6907329" y="2441075"/>
            <a:ext cx="220863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Bookman Old Style" panose="02050604050505020204" pitchFamily="18" charset="0"/>
                <a:cs typeface="Times New Roman"/>
              </a:rPr>
              <a:t>Les signes </a:t>
            </a:r>
            <a:r>
              <a:rPr sz="1200" b="1" spc="-10" dirty="0">
                <a:latin typeface="Bookman Old Style" panose="02050604050505020204" pitchFamily="18" charset="0"/>
                <a:cs typeface="Times New Roman"/>
              </a:rPr>
              <a:t>des </a:t>
            </a:r>
            <a:r>
              <a:rPr sz="1200" b="1" dirty="0">
                <a:latin typeface="Bookman Old Style" panose="02050604050505020204" pitchFamily="18" charset="0"/>
                <a:cs typeface="Times New Roman"/>
              </a:rPr>
              <a:t>variables sont </a:t>
            </a:r>
            <a:r>
              <a:rPr sz="1200" b="1" spc="-38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b="1" spc="-5" dirty="0">
                <a:latin typeface="Bookman Old Style" panose="02050604050505020204" pitchFamily="18" charset="0"/>
                <a:cs typeface="Times New Roman"/>
              </a:rPr>
              <a:t>ceux</a:t>
            </a:r>
            <a:r>
              <a:rPr sz="1200" b="1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b="1" spc="-5" dirty="0">
                <a:latin typeface="Bookman Old Style" panose="02050604050505020204" pitchFamily="18" charset="0"/>
                <a:cs typeface="Times New Roman"/>
              </a:rPr>
              <a:t>qui </a:t>
            </a:r>
            <a:r>
              <a:rPr sz="1200" b="1" dirty="0">
                <a:latin typeface="Bookman Old Style" panose="02050604050505020204" pitchFamily="18" charset="0"/>
                <a:cs typeface="Times New Roman"/>
              </a:rPr>
              <a:t>permettent </a:t>
            </a:r>
            <a:r>
              <a:rPr sz="1200" b="1" spc="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b="1" dirty="0">
                <a:latin typeface="Bookman Old Style" panose="02050604050505020204" pitchFamily="18" charset="0"/>
                <a:cs typeface="Times New Roman"/>
              </a:rPr>
              <a:t>d'obtenir</a:t>
            </a:r>
            <a:r>
              <a:rPr sz="1200" b="1" spc="-1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b="1" dirty="0">
                <a:latin typeface="Bookman Old Style" panose="02050604050505020204" pitchFamily="18" charset="0"/>
                <a:cs typeface="Times New Roman"/>
              </a:rPr>
              <a:t>l'effet</a:t>
            </a:r>
            <a:r>
              <a:rPr sz="1200" b="1" spc="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sz="1200" b="1" spc="-5" dirty="0">
                <a:latin typeface="Bookman Old Style" panose="02050604050505020204" pitchFamily="18" charset="0"/>
                <a:cs typeface="Times New Roman"/>
              </a:rPr>
              <a:t>transistor</a:t>
            </a:r>
            <a:endParaRPr sz="120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1081" name="object 46">
            <a:extLst>
              <a:ext uri="{FF2B5EF4-FFF2-40B4-BE49-F238E27FC236}">
                <a16:creationId xmlns:a16="http://schemas.microsoft.com/office/drawing/2014/main" id="{B5259B06-FBBC-2B05-0D96-86DEE30209EF}"/>
              </a:ext>
            </a:extLst>
          </p:cNvPr>
          <p:cNvSpPr txBox="1"/>
          <p:nvPr/>
        </p:nvSpPr>
        <p:spPr>
          <a:xfrm>
            <a:off x="8828933" y="486598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31</a:t>
            </a:fld>
            <a:endParaRPr sz="16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091872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6"/>
            <a:ext cx="52086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-Transistor-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0646" y="557613"/>
            <a:ext cx="6993154" cy="6283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2. Structure et fonctionnement</a:t>
            </a:r>
          </a:p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sz="1600" b="1"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2.1 Structure est symbole</a:t>
            </a: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715000" y="365260"/>
            <a:ext cx="3328256" cy="10117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ZoneTexte 3">
            <a:extLst>
              <a:ext uri="{FF2B5EF4-FFF2-40B4-BE49-F238E27FC236}">
                <a16:creationId xmlns:a16="http://schemas.microsoft.com/office/drawing/2014/main" id="{3D005210-C6FB-39D2-6702-B79237478FE3}"/>
              </a:ext>
            </a:extLst>
          </p:cNvPr>
          <p:cNvSpPr txBox="1"/>
          <p:nvPr/>
        </p:nvSpPr>
        <p:spPr>
          <a:xfrm>
            <a:off x="658743" y="1286242"/>
            <a:ext cx="807249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Le transistor n'est pas symétrique : les jonctions Base-Emetteur et Base-Collecteur ne sont pas identiques (dopage différent). (Les termes Emetteur et Collecteur s’entendent vis à vis des électrons (émission - collection d’e</a:t>
            </a:r>
            <a:r>
              <a:rPr lang="fr-FR" b="1" baseline="30000" dirty="0">
                <a:solidFill>
                  <a:srgbClr val="CC00CC"/>
                </a:solidFill>
                <a:latin typeface="Bookman Old Style" panose="02050604050505020204" pitchFamily="18" charset="0"/>
              </a:rPr>
              <a:t>-</a:t>
            </a:r>
            <a:r>
              <a:rPr lang="fr-FR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)).</a:t>
            </a:r>
          </a:p>
          <a:p>
            <a:pPr algn="just"/>
            <a:endParaRPr lang="fr-FR" b="1" dirty="0">
              <a:latin typeface="Bookman Old Style" panose="020506040505050202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b="1" dirty="0">
                <a:latin typeface="Bookman Old Style" panose="02050604050505020204" pitchFamily="18" charset="0"/>
              </a:rPr>
              <a:t>La flèche sur le symbole indique le sens passant (courant) de la jonction Emetteur-Base; elle repère en outre l’émetteur.</a:t>
            </a:r>
          </a:p>
          <a:p>
            <a:pPr algn="just"/>
            <a:endParaRPr lang="fr-FR" b="1" dirty="0">
              <a:latin typeface="Bookman Old Style" panose="020506040505050202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b="1" dirty="0">
                <a:solidFill>
                  <a:srgbClr val="C00000"/>
                </a:solidFill>
                <a:latin typeface="Bookman Old Style" panose="02050604050505020204" pitchFamily="18" charset="0"/>
              </a:rPr>
              <a:t>Le transistor est bipolaire, c’est-à-dire que 2 types de porteurs de charge (les porteurs majoritaires et les porteurs minoritaires) participent à la conduction.</a:t>
            </a:r>
          </a:p>
          <a:p>
            <a:pPr algn="just"/>
            <a:endParaRPr lang="fr-FR" b="1" dirty="0">
              <a:latin typeface="Bookman Old Style" panose="02050604050505020204" pitchFamily="18" charset="0"/>
            </a:endParaRPr>
          </a:p>
        </p:txBody>
      </p:sp>
      <p:sp>
        <p:nvSpPr>
          <p:cNvPr id="5" name="object 46">
            <a:extLst>
              <a:ext uri="{FF2B5EF4-FFF2-40B4-BE49-F238E27FC236}">
                <a16:creationId xmlns:a16="http://schemas.microsoft.com/office/drawing/2014/main" id="{BE9A17ED-9B9E-2D39-E22C-B818565EF460}"/>
              </a:ext>
            </a:extLst>
          </p:cNvPr>
          <p:cNvSpPr txBox="1"/>
          <p:nvPr/>
        </p:nvSpPr>
        <p:spPr>
          <a:xfrm>
            <a:off x="8828933" y="486598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32</a:t>
            </a:fld>
            <a:endParaRPr sz="16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151040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6"/>
            <a:ext cx="52086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-Transistor-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0646" y="557613"/>
            <a:ext cx="69931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3. Effet transistor</a:t>
            </a: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715000" y="365260"/>
            <a:ext cx="3328256" cy="10117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621F642-5EC3-AC25-F39F-4341991BA1D8}"/>
              </a:ext>
            </a:extLst>
          </p:cNvPr>
          <p:cNvSpPr txBox="1"/>
          <p:nvPr/>
        </p:nvSpPr>
        <p:spPr>
          <a:xfrm>
            <a:off x="452136" y="877220"/>
            <a:ext cx="8517093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600" b="1" dirty="0">
                <a:latin typeface="Bookman Old Style" panose="02050604050505020204" pitchFamily="18" charset="0"/>
              </a:rPr>
              <a:t>Mode actif du transistor :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fr-FR" sz="1600" b="1" dirty="0">
                <a:solidFill>
                  <a:srgbClr val="00B050"/>
                </a:solidFill>
                <a:latin typeface="Bookman Old Style" panose="02050604050505020204" pitchFamily="18" charset="0"/>
              </a:rPr>
              <a:t>Jonction Émetteur-Base (EB) :</a:t>
            </a:r>
            <a:r>
              <a:rPr lang="fr-FR" sz="1600" dirty="0">
                <a:latin typeface="Bookman Old Style" panose="02050604050505020204" pitchFamily="18" charset="0"/>
              </a:rPr>
              <a:t> polarisée en direct (courant passe facilement).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fr-FR" sz="16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Jonction Collecteur-Base (CB) : </a:t>
            </a:r>
            <a:r>
              <a:rPr lang="fr-FR" sz="1600" dirty="0">
                <a:latin typeface="Bookman Old Style" panose="02050604050505020204" pitchFamily="18" charset="0"/>
              </a:rPr>
              <a:t>polarisée en inverse (courant passe difficilement).</a:t>
            </a:r>
          </a:p>
          <a:p>
            <a:pPr algn="just"/>
            <a:r>
              <a:rPr lang="fr-FR" sz="1600" b="1" dirty="0">
                <a:latin typeface="Bookman Old Style" panose="02050604050505020204" pitchFamily="18" charset="0"/>
              </a:rPr>
              <a:t>Structure du transistor :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fr-FR" sz="1600" dirty="0">
                <a:latin typeface="Bookman Old Style" panose="02050604050505020204" pitchFamily="18" charset="0"/>
              </a:rPr>
              <a:t>La base est </a:t>
            </a:r>
            <a:r>
              <a:rPr lang="fr-FR" sz="1600" b="1" dirty="0">
                <a:latin typeface="Bookman Old Style" panose="02050604050505020204" pitchFamily="18" charset="0"/>
              </a:rPr>
              <a:t>une couche très fine</a:t>
            </a:r>
            <a:r>
              <a:rPr lang="fr-FR" sz="1600" dirty="0">
                <a:latin typeface="Bookman Old Style" panose="02050604050505020204" pitchFamily="18" charset="0"/>
              </a:rPr>
              <a:t>, </a:t>
            </a:r>
            <a:r>
              <a:rPr lang="fr-FR" sz="1600" b="1" dirty="0">
                <a:latin typeface="Bookman Old Style" panose="02050604050505020204" pitchFamily="18" charset="0"/>
              </a:rPr>
              <a:t>contrairement</a:t>
            </a:r>
            <a:r>
              <a:rPr lang="fr-FR" sz="1600" dirty="0">
                <a:latin typeface="Bookman Old Style" panose="02050604050505020204" pitchFamily="18" charset="0"/>
              </a:rPr>
              <a:t> à une </a:t>
            </a:r>
            <a:r>
              <a:rPr lang="fr-FR" sz="1600" b="1" dirty="0">
                <a:latin typeface="Bookman Old Style" panose="02050604050505020204" pitchFamily="18" charset="0"/>
              </a:rPr>
              <a:t>diode classique</a:t>
            </a:r>
            <a:r>
              <a:rPr lang="fr-FR" sz="1600" dirty="0">
                <a:latin typeface="Bookman Old Style" panose="02050604050505020204" pitchFamily="18" charset="0"/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fr-FR" sz="1600" dirty="0">
                <a:latin typeface="Bookman Old Style" panose="02050604050505020204" pitchFamily="18" charset="0"/>
              </a:rPr>
              <a:t>Les charges </a:t>
            </a:r>
            <a:r>
              <a:rPr lang="fr-FR" sz="1600" b="1" dirty="0">
                <a:latin typeface="Bookman Old Style" panose="02050604050505020204" pitchFamily="18" charset="0"/>
              </a:rPr>
              <a:t>venant</a:t>
            </a:r>
            <a:r>
              <a:rPr lang="fr-FR" sz="1600" dirty="0">
                <a:latin typeface="Bookman Old Style" panose="02050604050505020204" pitchFamily="18" charset="0"/>
              </a:rPr>
              <a:t> de </a:t>
            </a:r>
            <a:r>
              <a:rPr lang="fr-FR" sz="1600" b="1" dirty="0">
                <a:latin typeface="Bookman Old Style" panose="02050604050505020204" pitchFamily="18" charset="0"/>
              </a:rPr>
              <a:t>l’émetteur</a:t>
            </a:r>
            <a:r>
              <a:rPr lang="fr-FR" sz="1600" dirty="0">
                <a:latin typeface="Bookman Old Style" panose="02050604050505020204" pitchFamily="18" charset="0"/>
              </a:rPr>
              <a:t> traversent </a:t>
            </a:r>
            <a:r>
              <a:rPr lang="fr-FR" sz="1600" b="1" dirty="0">
                <a:latin typeface="Bookman Old Style" panose="02050604050505020204" pitchFamily="18" charset="0"/>
              </a:rPr>
              <a:t>rapidement</a:t>
            </a:r>
            <a:r>
              <a:rPr lang="fr-FR" sz="1600" dirty="0">
                <a:latin typeface="Bookman Old Style" panose="02050604050505020204" pitchFamily="18" charset="0"/>
              </a:rPr>
              <a:t> la base et sont attirées par le collecteur.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fr-FR" sz="1600" dirty="0">
              <a:latin typeface="Bookman Old Style" panose="02050604050505020204" pitchFamily="18" charset="0"/>
            </a:endParaRPr>
          </a:p>
          <a:p>
            <a:pPr algn="just"/>
            <a:r>
              <a:rPr lang="fr-FR" sz="1600" b="1" dirty="0">
                <a:highlight>
                  <a:srgbClr val="00FF00"/>
                </a:highlight>
                <a:latin typeface="Bookman Old Style" panose="02050604050505020204" pitchFamily="18" charset="0"/>
              </a:rPr>
              <a:t>Effet transistor :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fr-FR" sz="1600" dirty="0">
                <a:latin typeface="Bookman Old Style" panose="02050604050505020204" pitchFamily="18" charset="0"/>
              </a:rPr>
              <a:t>Un </a:t>
            </a:r>
            <a:r>
              <a:rPr lang="fr-FR" sz="1600" b="1" dirty="0">
                <a:latin typeface="Bookman Old Style" panose="02050604050505020204" pitchFamily="18" charset="0"/>
              </a:rPr>
              <a:t>faible courant de base (</a:t>
            </a:r>
            <a:r>
              <a:rPr lang="fr-FR" sz="1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I</a:t>
            </a:r>
            <a:r>
              <a:rPr lang="fr-FR" sz="1600" b="1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B</a:t>
            </a:r>
            <a:r>
              <a:rPr lang="fr-FR" sz="1600" b="1" dirty="0">
                <a:latin typeface="Bookman Old Style" panose="02050604050505020204" pitchFamily="18" charset="0"/>
              </a:rPr>
              <a:t>) contrôle</a:t>
            </a:r>
            <a:r>
              <a:rPr lang="fr-FR" sz="1600" dirty="0">
                <a:latin typeface="Bookman Old Style" panose="02050604050505020204" pitchFamily="18" charset="0"/>
              </a:rPr>
              <a:t> un courant beaucoup plus grand au collecteur (</a:t>
            </a:r>
            <a:r>
              <a:rPr lang="fr-FR" sz="1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I</a:t>
            </a:r>
            <a:r>
              <a:rPr lang="fr-FR" sz="1600" b="1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C</a:t>
            </a:r>
            <a:r>
              <a:rPr lang="fr-FR" sz="1600" dirty="0">
                <a:latin typeface="Bookman Old Style" panose="02050604050505020204" pitchFamily="18" charset="0"/>
              </a:rPr>
              <a:t>).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fr-FR" sz="1600" dirty="0">
                <a:latin typeface="Bookman Old Style" panose="02050604050505020204" pitchFamily="18" charset="0"/>
              </a:rPr>
              <a:t>Cela permet l’amplification du courant ou la commutation rapide.</a:t>
            </a:r>
          </a:p>
          <a:p>
            <a:pPr algn="just"/>
            <a:endParaRPr lang="fr-FR" sz="1600" dirty="0">
              <a:latin typeface="Bookman Old Style" panose="02050604050505020204" pitchFamily="18" charset="0"/>
            </a:endParaRPr>
          </a:p>
          <a:p>
            <a:pPr algn="just"/>
            <a:r>
              <a:rPr lang="fr-FR" sz="1600" b="1" dirty="0">
                <a:latin typeface="Bookman Old Style" panose="02050604050505020204" pitchFamily="18" charset="0"/>
              </a:rPr>
              <a:t>Différence avec une diode :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fr-FR" sz="1600" dirty="0">
                <a:latin typeface="Bookman Old Style" panose="02050604050505020204" pitchFamily="18" charset="0"/>
              </a:rPr>
              <a:t>Dans une diode, les charges </a:t>
            </a:r>
            <a:r>
              <a:rPr lang="fr-FR" sz="1600" b="1" dirty="0">
                <a:latin typeface="Bookman Old Style" panose="02050604050505020204" pitchFamily="18" charset="0"/>
              </a:rPr>
              <a:t>seraient arrêtées à la base</a:t>
            </a:r>
            <a:r>
              <a:rPr lang="fr-FR" sz="1600" dirty="0">
                <a:latin typeface="Bookman Old Style" panose="02050604050505020204" pitchFamily="18" charset="0"/>
              </a:rPr>
              <a:t>, mais dans un transistor, elles traversent et sont captées par le collecteur.</a:t>
            </a:r>
          </a:p>
        </p:txBody>
      </p:sp>
      <p:sp>
        <p:nvSpPr>
          <p:cNvPr id="3" name="object 46">
            <a:extLst>
              <a:ext uri="{FF2B5EF4-FFF2-40B4-BE49-F238E27FC236}">
                <a16:creationId xmlns:a16="http://schemas.microsoft.com/office/drawing/2014/main" id="{C879280C-1BA8-C3E6-E31C-C6A4179302D2}"/>
              </a:ext>
            </a:extLst>
          </p:cNvPr>
          <p:cNvSpPr txBox="1"/>
          <p:nvPr/>
        </p:nvSpPr>
        <p:spPr>
          <a:xfrm>
            <a:off x="8828933" y="486598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33</a:t>
            </a:fld>
            <a:endParaRPr sz="16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182369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6"/>
            <a:ext cx="52086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-Transistor-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0646" y="557613"/>
            <a:ext cx="69931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4. Polarisation </a:t>
            </a:r>
            <a:r>
              <a:rPr lang="fr-FR" sz="18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du transistor</a:t>
            </a:r>
            <a:endParaRPr lang="fr-FR" b="1" spc="-5" dirty="0">
              <a:solidFill>
                <a:srgbClr val="FF0000"/>
              </a:solidFill>
              <a:latin typeface="Bookman Old Style" panose="02050604050505020204" pitchFamily="18" charset="0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715000" y="365260"/>
            <a:ext cx="3328256" cy="10117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0A5D98A-1652-90DA-E573-416148D75083}"/>
              </a:ext>
            </a:extLst>
          </p:cNvPr>
          <p:cNvSpPr txBox="1"/>
          <p:nvPr/>
        </p:nvSpPr>
        <p:spPr>
          <a:xfrm>
            <a:off x="452136" y="980606"/>
            <a:ext cx="85394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600" dirty="0">
                <a:latin typeface="Bookman Old Style" panose="02050604050505020204" pitchFamily="18" charset="0"/>
              </a:rPr>
              <a:t>Selon la </a:t>
            </a:r>
            <a:r>
              <a:rPr lang="fr-FR" sz="1600" b="1" dirty="0">
                <a:latin typeface="Bookman Old Style" panose="02050604050505020204" pitchFamily="18" charset="0"/>
              </a:rPr>
              <a:t>polarisation du transistor</a:t>
            </a:r>
            <a:r>
              <a:rPr lang="fr-FR" sz="1600" dirty="0">
                <a:latin typeface="Bookman Old Style" panose="02050604050505020204" pitchFamily="18" charset="0"/>
              </a:rPr>
              <a:t>, il se comporte à de </a:t>
            </a:r>
            <a:r>
              <a:rPr lang="fr-FR" sz="1600" b="1" dirty="0">
                <a:latin typeface="Bookman Old Style" panose="02050604050505020204" pitchFamily="18" charset="0"/>
              </a:rPr>
              <a:t>différentes manières</a:t>
            </a:r>
            <a:r>
              <a:rPr lang="fr-FR" sz="1600" dirty="0">
                <a:latin typeface="Bookman Old Style" panose="02050604050505020204" pitchFamily="18" charset="0"/>
              </a:rPr>
              <a:t>. Ceci va donner des </a:t>
            </a:r>
            <a:r>
              <a:rPr lang="fr-FR" sz="1600" b="1" dirty="0">
                <a:latin typeface="Bookman Old Style" panose="02050604050505020204" pitchFamily="18" charset="0"/>
              </a:rPr>
              <a:t>régimes de fonctionnement</a:t>
            </a:r>
            <a:r>
              <a:rPr lang="fr-FR" sz="1600" dirty="0">
                <a:latin typeface="Bookman Old Style" panose="02050604050505020204" pitchFamily="18" charset="0"/>
              </a:rPr>
              <a:t>.</a:t>
            </a:r>
          </a:p>
        </p:txBody>
      </p:sp>
      <p:graphicFrame>
        <p:nvGraphicFramePr>
          <p:cNvPr id="11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901620"/>
              </p:ext>
            </p:extLst>
          </p:nvPr>
        </p:nvGraphicFramePr>
        <p:xfrm>
          <a:off x="586787" y="1689714"/>
          <a:ext cx="8286808" cy="3214710"/>
        </p:xfrm>
        <a:graphic>
          <a:graphicData uri="http://schemas.openxmlformats.org/drawingml/2006/table">
            <a:tbl>
              <a:tblPr/>
              <a:tblGrid>
                <a:gridCol w="2071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1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17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1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183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fr-FR" sz="1200" b="1" dirty="0">
                        <a:solidFill>
                          <a:srgbClr val="FF0000"/>
                        </a:solidFill>
                        <a:latin typeface="Bookman Old Style" panose="02050604050505020204" pitchFamily="18" charset="0"/>
                        <a:ea typeface="Times New Roman"/>
                        <a:cs typeface="Arial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200" b="1" dirty="0">
                          <a:solidFill>
                            <a:srgbClr val="FF0000"/>
                          </a:solidFill>
                          <a:latin typeface="Bookman Old Style" panose="02050604050505020204" pitchFamily="18" charset="0"/>
                          <a:ea typeface="Times New Roman"/>
                          <a:cs typeface="Arial"/>
                        </a:rPr>
                        <a:t>Régime direct (normal)</a:t>
                      </a:r>
                    </a:p>
                  </a:txBody>
                  <a:tcPr marL="65575" marR="65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fr-FR" sz="1200" b="1" dirty="0">
                        <a:solidFill>
                          <a:srgbClr val="FF0000"/>
                        </a:solidFill>
                        <a:latin typeface="Bookman Old Style" panose="02050604050505020204" pitchFamily="18" charset="0"/>
                        <a:ea typeface="Times New Roman"/>
                        <a:cs typeface="Arial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200" b="1" dirty="0">
                          <a:solidFill>
                            <a:srgbClr val="FF0000"/>
                          </a:solidFill>
                          <a:latin typeface="Bookman Old Style" panose="02050604050505020204" pitchFamily="18" charset="0"/>
                          <a:ea typeface="Times New Roman"/>
                          <a:cs typeface="Arial"/>
                        </a:rPr>
                        <a:t>Régime saturé</a:t>
                      </a:r>
                    </a:p>
                  </a:txBody>
                  <a:tcPr marL="65575" marR="65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fr-FR" sz="1200" b="1" dirty="0">
                        <a:solidFill>
                          <a:srgbClr val="FF0000"/>
                        </a:solidFill>
                        <a:latin typeface="Bookman Old Style" panose="02050604050505020204" pitchFamily="18" charset="0"/>
                        <a:ea typeface="Times New Roman"/>
                        <a:cs typeface="Arial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200" b="1" dirty="0">
                          <a:solidFill>
                            <a:srgbClr val="FF0000"/>
                          </a:solidFill>
                          <a:latin typeface="Bookman Old Style" panose="02050604050505020204" pitchFamily="18" charset="0"/>
                          <a:ea typeface="Times New Roman"/>
                          <a:cs typeface="Arial"/>
                        </a:rPr>
                        <a:t>Régime bloqué</a:t>
                      </a:r>
                    </a:p>
                  </a:txBody>
                  <a:tcPr marL="65575" marR="65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fr-FR" sz="1200" b="1" dirty="0">
                        <a:solidFill>
                          <a:srgbClr val="FF0000"/>
                        </a:solidFill>
                        <a:latin typeface="Bookman Old Style" panose="02050604050505020204" pitchFamily="18" charset="0"/>
                        <a:ea typeface="Times New Roman"/>
                        <a:cs typeface="Arial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200" b="1" dirty="0">
                          <a:solidFill>
                            <a:srgbClr val="FF0000"/>
                          </a:solidFill>
                          <a:latin typeface="Bookman Old Style" panose="02050604050505020204" pitchFamily="18" charset="0"/>
                          <a:ea typeface="Times New Roman"/>
                          <a:cs typeface="Arial"/>
                        </a:rPr>
                        <a:t>Régime inverse</a:t>
                      </a:r>
                    </a:p>
                  </a:txBody>
                  <a:tcPr marL="65575" marR="65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919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fr-FR" sz="1200" b="1" dirty="0">
                        <a:latin typeface="Bookman Old Style" panose="02050604050505020204" pitchFamily="18" charset="0"/>
                        <a:ea typeface="Times New Roman"/>
                        <a:cs typeface="Arial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endParaRPr lang="fr-FR" sz="1200" b="1" dirty="0">
                        <a:latin typeface="Bookman Old Style" panose="02050604050505020204" pitchFamily="18" charset="0"/>
                        <a:ea typeface="Times New Roman"/>
                        <a:cs typeface="Arial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fr-FR" sz="1200" b="1" dirty="0">
                          <a:latin typeface="Bookman Old Style" panose="02050604050505020204" pitchFamily="18" charset="0"/>
                          <a:ea typeface="Times New Roman"/>
                          <a:cs typeface="Arial"/>
                        </a:rPr>
                        <a:t>La jonction EB est polarisée en direct.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endParaRPr lang="fr-FR" sz="1200" b="1" dirty="0">
                        <a:latin typeface="Bookman Old Style" panose="02050604050505020204" pitchFamily="18" charset="0"/>
                        <a:ea typeface="Times New Roman"/>
                        <a:cs typeface="Arial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endParaRPr lang="fr-FR" sz="1200" b="1" dirty="0">
                        <a:latin typeface="Bookman Old Style" panose="02050604050505020204" pitchFamily="18" charset="0"/>
                        <a:ea typeface="Times New Roman"/>
                        <a:cs typeface="Arial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fr-FR" sz="1200" b="1" dirty="0">
                          <a:latin typeface="Bookman Old Style" panose="02050604050505020204" pitchFamily="18" charset="0"/>
                          <a:ea typeface="Times New Roman"/>
                          <a:cs typeface="Arial"/>
                        </a:rPr>
                        <a:t>La jonction CB est polarisée en inverse.</a:t>
                      </a:r>
                    </a:p>
                  </a:txBody>
                  <a:tcPr marL="65575" marR="65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fr-FR" sz="1200" b="1" dirty="0">
                        <a:latin typeface="Bookman Old Style" panose="02050604050505020204" pitchFamily="18" charset="0"/>
                        <a:ea typeface="Times New Roman"/>
                        <a:cs typeface="Arial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endParaRPr lang="fr-FR" sz="1200" b="1" dirty="0">
                        <a:latin typeface="Bookman Old Style" panose="02050604050505020204" pitchFamily="18" charset="0"/>
                        <a:ea typeface="Times New Roman"/>
                        <a:cs typeface="Arial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fr-FR" sz="1200" b="1" dirty="0">
                          <a:latin typeface="Bookman Old Style" panose="02050604050505020204" pitchFamily="18" charset="0"/>
                          <a:ea typeface="Times New Roman"/>
                          <a:cs typeface="Arial"/>
                        </a:rPr>
                        <a:t>La jonction EB est polarisée en direct.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endParaRPr lang="fr-FR" sz="1200" b="1" dirty="0">
                        <a:latin typeface="Bookman Old Style" panose="02050604050505020204" pitchFamily="18" charset="0"/>
                        <a:ea typeface="Times New Roman"/>
                        <a:cs typeface="Arial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endParaRPr lang="fr-FR" sz="1200" b="1" dirty="0">
                        <a:latin typeface="Bookman Old Style" panose="02050604050505020204" pitchFamily="18" charset="0"/>
                        <a:ea typeface="Times New Roman"/>
                        <a:cs typeface="Arial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fr-FR" sz="1200" b="1" dirty="0">
                          <a:latin typeface="Bookman Old Style" panose="02050604050505020204" pitchFamily="18" charset="0"/>
                          <a:ea typeface="Times New Roman"/>
                          <a:cs typeface="Arial"/>
                        </a:rPr>
                        <a:t>La jonction CB est polarisée en direct.</a:t>
                      </a:r>
                    </a:p>
                  </a:txBody>
                  <a:tcPr marL="65575" marR="65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fr-FR" sz="1200" b="1" dirty="0">
                        <a:latin typeface="Bookman Old Style" panose="02050604050505020204" pitchFamily="18" charset="0"/>
                        <a:ea typeface="Times New Roman"/>
                        <a:cs typeface="Arial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endParaRPr lang="fr-FR" sz="1200" b="1" dirty="0">
                        <a:latin typeface="Bookman Old Style" panose="02050604050505020204" pitchFamily="18" charset="0"/>
                        <a:ea typeface="Times New Roman"/>
                        <a:cs typeface="Arial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fr-FR" sz="1200" b="1" dirty="0">
                          <a:latin typeface="Bookman Old Style" panose="02050604050505020204" pitchFamily="18" charset="0"/>
                          <a:ea typeface="Times New Roman"/>
                          <a:cs typeface="Arial"/>
                        </a:rPr>
                        <a:t>La jonction EB est polarisée en inverse.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endParaRPr lang="fr-FR" sz="1200" b="1" dirty="0">
                        <a:latin typeface="Bookman Old Style" panose="02050604050505020204" pitchFamily="18" charset="0"/>
                        <a:ea typeface="Times New Roman"/>
                        <a:cs typeface="Arial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endParaRPr lang="fr-FR" sz="1200" b="1" dirty="0">
                        <a:latin typeface="Bookman Old Style" panose="02050604050505020204" pitchFamily="18" charset="0"/>
                        <a:ea typeface="Times New Roman"/>
                        <a:cs typeface="Arial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fr-FR" sz="1200" b="1" dirty="0">
                          <a:latin typeface="Bookman Old Style" panose="02050604050505020204" pitchFamily="18" charset="0"/>
                          <a:ea typeface="Times New Roman"/>
                          <a:cs typeface="Arial"/>
                        </a:rPr>
                        <a:t>La jonction CB est polarisée en inverse.</a:t>
                      </a:r>
                    </a:p>
                  </a:txBody>
                  <a:tcPr marL="65575" marR="65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fr-FR" sz="1200" b="1" dirty="0">
                        <a:latin typeface="Bookman Old Style" panose="02050604050505020204" pitchFamily="18" charset="0"/>
                        <a:ea typeface="Times New Roman"/>
                        <a:cs typeface="Arial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endParaRPr lang="fr-FR" sz="1200" b="1" dirty="0">
                        <a:latin typeface="Bookman Old Style" panose="02050604050505020204" pitchFamily="18" charset="0"/>
                        <a:ea typeface="Times New Roman"/>
                        <a:cs typeface="Arial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fr-FR" sz="1200" b="1" dirty="0">
                          <a:latin typeface="Bookman Old Style" panose="02050604050505020204" pitchFamily="18" charset="0"/>
                          <a:ea typeface="Times New Roman"/>
                          <a:cs typeface="Arial"/>
                        </a:rPr>
                        <a:t>La jonction EB est polarisée en inverse.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endParaRPr lang="fr-FR" sz="1200" b="1" dirty="0">
                        <a:latin typeface="Bookman Old Style" panose="02050604050505020204" pitchFamily="18" charset="0"/>
                        <a:ea typeface="Times New Roman"/>
                        <a:cs typeface="Arial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endParaRPr lang="fr-FR" sz="1200" b="1" dirty="0">
                        <a:latin typeface="Bookman Old Style" panose="02050604050505020204" pitchFamily="18" charset="0"/>
                        <a:ea typeface="Times New Roman"/>
                        <a:cs typeface="Arial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fr-FR" sz="1200" b="1" dirty="0">
                          <a:latin typeface="Bookman Old Style" panose="02050604050505020204" pitchFamily="18" charset="0"/>
                          <a:ea typeface="Times New Roman"/>
                          <a:cs typeface="Arial"/>
                        </a:rPr>
                        <a:t>La jonction CB est polarisée en direct .</a:t>
                      </a:r>
                    </a:p>
                  </a:txBody>
                  <a:tcPr marL="65575" marR="65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6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fr-FR" sz="1200" b="1" dirty="0">
                        <a:solidFill>
                          <a:srgbClr val="00B050"/>
                        </a:solidFill>
                        <a:latin typeface="Bookman Old Style" panose="02050604050505020204" pitchFamily="18" charset="0"/>
                        <a:ea typeface="Times New Roman"/>
                        <a:cs typeface="Arial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200" b="1" dirty="0">
                          <a:solidFill>
                            <a:srgbClr val="0000FF"/>
                          </a:solidFill>
                          <a:latin typeface="Bookman Old Style" panose="02050604050505020204" pitchFamily="18" charset="0"/>
                          <a:ea typeface="Times New Roman"/>
                          <a:cs typeface="Arial"/>
                        </a:rPr>
                        <a:t>Utilisation en amplification</a:t>
                      </a:r>
                    </a:p>
                  </a:txBody>
                  <a:tcPr marL="65575" marR="65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fr-FR" sz="1200" b="1" dirty="0">
                        <a:solidFill>
                          <a:srgbClr val="00B050"/>
                        </a:solidFill>
                        <a:latin typeface="Bookman Old Style" panose="02050604050505020204" pitchFamily="18" charset="0"/>
                        <a:ea typeface="Times New Roman"/>
                        <a:cs typeface="Arial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200" b="1" dirty="0">
                          <a:solidFill>
                            <a:srgbClr val="0000FF"/>
                          </a:solidFill>
                          <a:latin typeface="Bookman Old Style" panose="02050604050505020204" pitchFamily="18" charset="0"/>
                          <a:ea typeface="Times New Roman"/>
                          <a:cs typeface="Arial"/>
                        </a:rPr>
                        <a:t>Utilisation en commutation</a:t>
                      </a:r>
                    </a:p>
                  </a:txBody>
                  <a:tcPr marL="65575" marR="65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fr-FR" sz="1200" b="1" dirty="0">
                        <a:solidFill>
                          <a:srgbClr val="00B050"/>
                        </a:solidFill>
                        <a:latin typeface="Bookman Old Style" panose="02050604050505020204" pitchFamily="18" charset="0"/>
                        <a:ea typeface="Times New Roman"/>
                        <a:cs typeface="Arial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200" b="1" dirty="0">
                          <a:solidFill>
                            <a:srgbClr val="0000FF"/>
                          </a:solidFill>
                          <a:latin typeface="Bookman Old Style" panose="02050604050505020204" pitchFamily="18" charset="0"/>
                          <a:ea typeface="Times New Roman"/>
                          <a:cs typeface="Arial"/>
                        </a:rPr>
                        <a:t>Peu utilisé</a:t>
                      </a:r>
                    </a:p>
                  </a:txBody>
                  <a:tcPr marL="65575" marR="65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object 46">
            <a:extLst>
              <a:ext uri="{FF2B5EF4-FFF2-40B4-BE49-F238E27FC236}">
                <a16:creationId xmlns:a16="http://schemas.microsoft.com/office/drawing/2014/main" id="{7198176F-4D83-4A98-1EFA-F78693C2B68B}"/>
              </a:ext>
            </a:extLst>
          </p:cNvPr>
          <p:cNvSpPr txBox="1"/>
          <p:nvPr/>
        </p:nvSpPr>
        <p:spPr>
          <a:xfrm>
            <a:off x="8828933" y="486598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34</a:t>
            </a:fld>
            <a:endParaRPr sz="16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03234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6"/>
            <a:ext cx="52086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-Transistor-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1620" y="507690"/>
            <a:ext cx="69931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4. Polarisation </a:t>
            </a:r>
            <a:r>
              <a:rPr lang="fr-FR" sz="18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du transistor</a:t>
            </a:r>
            <a:endParaRPr lang="fr-FR" b="1" spc="-5" dirty="0">
              <a:solidFill>
                <a:srgbClr val="FF0000"/>
              </a:solidFill>
              <a:latin typeface="Bookman Old Style" panose="02050604050505020204" pitchFamily="18" charset="0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715000" y="365260"/>
            <a:ext cx="3328256" cy="10117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46">
            <a:extLst>
              <a:ext uri="{FF2B5EF4-FFF2-40B4-BE49-F238E27FC236}">
                <a16:creationId xmlns:a16="http://schemas.microsoft.com/office/drawing/2014/main" id="{7198176F-4D83-4A98-1EFA-F78693C2B68B}"/>
              </a:ext>
            </a:extLst>
          </p:cNvPr>
          <p:cNvSpPr txBox="1"/>
          <p:nvPr/>
        </p:nvSpPr>
        <p:spPr>
          <a:xfrm>
            <a:off x="8828933" y="486598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35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3206C0-B920-4CD8-8FF9-7BD8ABA1AB10}"/>
              </a:ext>
            </a:extLst>
          </p:cNvPr>
          <p:cNvSpPr txBox="1"/>
          <p:nvPr/>
        </p:nvSpPr>
        <p:spPr>
          <a:xfrm>
            <a:off x="562319" y="843511"/>
            <a:ext cx="561363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4.1 Fonctionnement normal du transistor bipolaire</a:t>
            </a:r>
            <a:br>
              <a:rPr lang="fr-FR" sz="1600" b="1"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</a:br>
            <a:r>
              <a:rPr lang="fr-FR" sz="1600" b="1"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 </a:t>
            </a:r>
            <a:br>
              <a:rPr lang="fr-FR" sz="1800" dirty="0"/>
            </a:br>
            <a:endParaRPr lang="fr-F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8B8603-E2A2-1978-77F7-1AFE2B133BAE}"/>
              </a:ext>
            </a:extLst>
          </p:cNvPr>
          <p:cNvSpPr txBox="1"/>
          <p:nvPr/>
        </p:nvSpPr>
        <p:spPr>
          <a:xfrm>
            <a:off x="546818" y="1209369"/>
            <a:ext cx="84200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algn="just">
              <a:defRPr sz="1600">
                <a:latin typeface="Bookman Old Style" panose="02050604050505020204" pitchFamily="18" charset="0"/>
              </a:defRPr>
            </a:lvl1pPr>
          </a:lstStyle>
          <a:p>
            <a:r>
              <a:rPr lang="fr-FR" dirty="0"/>
              <a:t>Lorsqu'un </a:t>
            </a:r>
            <a:r>
              <a:rPr lang="fr-FR" b="1" dirty="0"/>
              <a:t>transistor (NPN) </a:t>
            </a:r>
            <a:r>
              <a:rPr lang="fr-FR" dirty="0"/>
              <a:t>est utilisé en </a:t>
            </a:r>
            <a:r>
              <a:rPr lang="fr-FR" b="1" dirty="0"/>
              <a:t>régime normal</a:t>
            </a:r>
            <a:r>
              <a:rPr lang="fr-FR" dirty="0"/>
              <a:t>, </a:t>
            </a:r>
            <a:r>
              <a:rPr lang="fr-FR" b="1" dirty="0"/>
              <a:t>trois montages </a:t>
            </a:r>
            <a:r>
              <a:rPr lang="fr-FR" dirty="0"/>
              <a:t>sont </a:t>
            </a:r>
            <a:r>
              <a:rPr lang="fr-FR" b="1" dirty="0"/>
              <a:t>donc possibles</a:t>
            </a:r>
            <a:r>
              <a:rPr lang="fr-FR" dirty="0"/>
              <a:t>.</a:t>
            </a:r>
          </a:p>
        </p:txBody>
      </p:sp>
      <p:sp>
        <p:nvSpPr>
          <p:cNvPr id="20" name="Text Box 84">
            <a:extLst>
              <a:ext uri="{FF2B5EF4-FFF2-40B4-BE49-F238E27FC236}">
                <a16:creationId xmlns:a16="http://schemas.microsoft.com/office/drawing/2014/main" id="{EFE0E3DF-FE52-F875-D53C-8B14C918F6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163" y="3516977"/>
            <a:ext cx="493713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fr-FR" sz="11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Arial" pitchFamily="34" charset="0"/>
                <a:cs typeface="Arial" pitchFamily="34" charset="0"/>
              </a:rPr>
              <a:t>v</a:t>
            </a:r>
            <a:r>
              <a:rPr kumimoji="0" lang="fr-FR" sz="1100" i="0" u="none" strike="noStrike" cap="none" normalizeH="0" baseline="-2500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Arial" pitchFamily="34" charset="0"/>
                <a:cs typeface="Arial" pitchFamily="34" charset="0"/>
              </a:rPr>
              <a:t>eb</a:t>
            </a:r>
            <a:r>
              <a:rPr kumimoji="0" lang="fr-FR" sz="11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Arial" pitchFamily="34" charset="0"/>
                <a:cs typeface="Arial" pitchFamily="34" charset="0"/>
              </a:rPr>
              <a:t>&lt;0</a:t>
            </a:r>
            <a:endParaRPr kumimoji="0" lang="fr-FR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  <a:cs typeface="Arial" pitchFamily="34" charset="0"/>
            </a:endParaRPr>
          </a:p>
        </p:txBody>
      </p:sp>
      <p:graphicFrame>
        <p:nvGraphicFramePr>
          <p:cNvPr id="21" name="Tableau 38">
            <a:extLst>
              <a:ext uri="{FF2B5EF4-FFF2-40B4-BE49-F238E27FC236}">
                <a16:creationId xmlns:a16="http://schemas.microsoft.com/office/drawing/2014/main" id="{CEFEF2BC-32B2-B0FE-3D61-AD08FA98FA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128047"/>
              </p:ext>
            </p:extLst>
          </p:nvPr>
        </p:nvGraphicFramePr>
        <p:xfrm>
          <a:off x="394316" y="1945341"/>
          <a:ext cx="8572561" cy="2825048"/>
        </p:xfrm>
        <a:graphic>
          <a:graphicData uri="http://schemas.openxmlformats.org/drawingml/2006/table">
            <a:tbl>
              <a:tblPr/>
              <a:tblGrid>
                <a:gridCol w="2856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8">
                <a:tc>
                  <a:txBody>
                    <a:bodyPr/>
                    <a:lstStyle/>
                    <a:p>
                      <a:pPr marL="0" algn="ctr">
                        <a:spcAft>
                          <a:spcPts val="0"/>
                        </a:spcAft>
                      </a:pPr>
                      <a:endParaRPr lang="fr-FR" sz="1200" b="1" dirty="0">
                        <a:solidFill>
                          <a:srgbClr val="FF0000"/>
                        </a:solidFill>
                        <a:latin typeface="Bookman Old Style" panose="02050604050505020204" pitchFamily="18" charset="0"/>
                        <a:ea typeface="Times New Roman"/>
                        <a:cs typeface="Arial"/>
                      </a:endParaRPr>
                    </a:p>
                    <a:p>
                      <a:pPr marL="0" algn="ctr">
                        <a:spcAft>
                          <a:spcPts val="0"/>
                        </a:spcAft>
                      </a:pPr>
                      <a:r>
                        <a:rPr lang="fr-FR" sz="1200" b="1" dirty="0">
                          <a:solidFill>
                            <a:srgbClr val="FF0000"/>
                          </a:solidFill>
                          <a:latin typeface="Bookman Old Style" panose="02050604050505020204" pitchFamily="18" charset="0"/>
                          <a:ea typeface="Times New Roman"/>
                          <a:cs typeface="Arial"/>
                        </a:rPr>
                        <a:t>Base commune</a:t>
                      </a:r>
                    </a:p>
                  </a:txBody>
                  <a:tcPr marL="65575" marR="65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fr-FR" sz="12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Arial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200" b="1" dirty="0">
                          <a:solidFill>
                            <a:srgbClr val="FF0000"/>
                          </a:solidFill>
                          <a:latin typeface="Bookman Old Style" panose="02050604050505020204" pitchFamily="18" charset="0"/>
                          <a:ea typeface="Times New Roman"/>
                          <a:cs typeface="Arial"/>
                        </a:rPr>
                        <a:t>Emetteur commun</a:t>
                      </a:r>
                    </a:p>
                  </a:txBody>
                  <a:tcPr marL="65575" marR="65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fr-FR" sz="1000" dirty="0">
                        <a:latin typeface="Times New Roman"/>
                        <a:ea typeface="Times New Roman"/>
                        <a:cs typeface="Arial"/>
                      </a:endParaRPr>
                    </a:p>
                    <a:p>
                      <a:pPr marL="0" algn="ctr">
                        <a:spcAft>
                          <a:spcPts val="0"/>
                        </a:spcAft>
                      </a:pPr>
                      <a:r>
                        <a:rPr lang="fr-FR" sz="1200" b="1" dirty="0">
                          <a:solidFill>
                            <a:srgbClr val="FF0000"/>
                          </a:solidFill>
                          <a:latin typeface="Bookman Old Style" panose="02050604050505020204" pitchFamily="18" charset="0"/>
                          <a:ea typeface="Times New Roman"/>
                          <a:cs typeface="Arial"/>
                        </a:rPr>
                        <a:t>Collecteur commun</a:t>
                      </a:r>
                    </a:p>
                  </a:txBody>
                  <a:tcPr marL="65575" marR="65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642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fr-FR" sz="1000" dirty="0">
                        <a:latin typeface="Times New Roman"/>
                        <a:ea typeface="Times New Roman"/>
                        <a:cs typeface="Arial"/>
                      </a:endParaRPr>
                    </a:p>
                  </a:txBody>
                  <a:tcPr marL="65575" marR="65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fr-FR" sz="1000" dirty="0">
                        <a:latin typeface="Times New Roman"/>
                        <a:ea typeface="Times New Roman"/>
                        <a:cs typeface="Arial"/>
                      </a:endParaRPr>
                    </a:p>
                  </a:txBody>
                  <a:tcPr marL="65575" marR="65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fr-FR" sz="1000" dirty="0">
                        <a:latin typeface="Times New Roman"/>
                        <a:ea typeface="Times New Roman"/>
                        <a:cs typeface="Arial"/>
                      </a:endParaRPr>
                    </a:p>
                  </a:txBody>
                  <a:tcPr marL="65575" marR="65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Line 75">
            <a:extLst>
              <a:ext uri="{FF2B5EF4-FFF2-40B4-BE49-F238E27FC236}">
                <a16:creationId xmlns:a16="http://schemas.microsoft.com/office/drawing/2014/main" id="{684C90BA-3BDE-EAF0-4778-E2428E09C7DC}"/>
              </a:ext>
            </a:extLst>
          </p:cNvPr>
          <p:cNvSpPr>
            <a:spLocks noChangeShapeType="1"/>
          </p:cNvSpPr>
          <p:nvPr/>
        </p:nvSpPr>
        <p:spPr bwMode="auto">
          <a:xfrm>
            <a:off x="1691453" y="3323533"/>
            <a:ext cx="43565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23" name="Line 74">
            <a:extLst>
              <a:ext uri="{FF2B5EF4-FFF2-40B4-BE49-F238E27FC236}">
                <a16:creationId xmlns:a16="http://schemas.microsoft.com/office/drawing/2014/main" id="{738FCDBC-CAA6-C115-5E6C-52614B7DCAE8}"/>
              </a:ext>
            </a:extLst>
          </p:cNvPr>
          <p:cNvSpPr>
            <a:spLocks noChangeShapeType="1"/>
          </p:cNvSpPr>
          <p:nvPr/>
        </p:nvSpPr>
        <p:spPr bwMode="auto">
          <a:xfrm>
            <a:off x="983514" y="4159919"/>
            <a:ext cx="1922326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24" name="Line 73">
            <a:extLst>
              <a:ext uri="{FF2B5EF4-FFF2-40B4-BE49-F238E27FC236}">
                <a16:creationId xmlns:a16="http://schemas.microsoft.com/office/drawing/2014/main" id="{C7CCE6CB-9F6A-EA9A-8E85-A42FD847603F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3835" y="3322370"/>
            <a:ext cx="0" cy="8235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25" name="Line 72">
            <a:extLst>
              <a:ext uri="{FF2B5EF4-FFF2-40B4-BE49-F238E27FC236}">
                <a16:creationId xmlns:a16="http://schemas.microsoft.com/office/drawing/2014/main" id="{765EB352-A88F-753B-FAA3-B0535C40F93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656964" y="2945473"/>
            <a:ext cx="257762" cy="38504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26" name="Line 71">
            <a:extLst>
              <a:ext uri="{FF2B5EF4-FFF2-40B4-BE49-F238E27FC236}">
                <a16:creationId xmlns:a16="http://schemas.microsoft.com/office/drawing/2014/main" id="{F406F330-099E-7E3F-BA34-9CF7775099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99851" y="2959432"/>
            <a:ext cx="65348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27" name="Line 70">
            <a:extLst>
              <a:ext uri="{FF2B5EF4-FFF2-40B4-BE49-F238E27FC236}">
                <a16:creationId xmlns:a16="http://schemas.microsoft.com/office/drawing/2014/main" id="{63E85B98-B6A2-6ECC-56E9-E86AEA3624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14726" y="2995493"/>
            <a:ext cx="219643" cy="31640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28" name="Line 69">
            <a:extLst>
              <a:ext uri="{FF2B5EF4-FFF2-40B4-BE49-F238E27FC236}">
                <a16:creationId xmlns:a16="http://schemas.microsoft.com/office/drawing/2014/main" id="{635124C0-709B-636F-E40A-3096BABFC02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9814" y="2988514"/>
            <a:ext cx="77873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29" name="Line 68">
            <a:extLst>
              <a:ext uri="{FF2B5EF4-FFF2-40B4-BE49-F238E27FC236}">
                <a16:creationId xmlns:a16="http://schemas.microsoft.com/office/drawing/2014/main" id="{A48CEF6D-CDA3-0C74-7C24-9535EAE794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72623" y="3055983"/>
            <a:ext cx="0" cy="97714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>
              <a:latin typeface="Bookman Old Style" panose="02050604050505020204" pitchFamily="18" charset="0"/>
            </a:endParaRPr>
          </a:p>
        </p:txBody>
      </p:sp>
      <p:sp>
        <p:nvSpPr>
          <p:cNvPr id="30" name="Line 50">
            <a:extLst>
              <a:ext uri="{FF2B5EF4-FFF2-40B4-BE49-F238E27FC236}">
                <a16:creationId xmlns:a16="http://schemas.microsoft.com/office/drawing/2014/main" id="{7AF46C4A-CF34-298D-2FD8-CF44448C1C63}"/>
              </a:ext>
            </a:extLst>
          </p:cNvPr>
          <p:cNvSpPr>
            <a:spLocks noChangeShapeType="1"/>
          </p:cNvSpPr>
          <p:nvPr/>
        </p:nvSpPr>
        <p:spPr bwMode="auto">
          <a:xfrm>
            <a:off x="6618034" y="4159919"/>
            <a:ext cx="1903236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31" name="Line 49">
            <a:extLst>
              <a:ext uri="{FF2B5EF4-FFF2-40B4-BE49-F238E27FC236}">
                <a16:creationId xmlns:a16="http://schemas.microsoft.com/office/drawing/2014/main" id="{218C95A6-1AE1-1D3E-F47C-8D7CEC35D836}"/>
              </a:ext>
            </a:extLst>
          </p:cNvPr>
          <p:cNvSpPr>
            <a:spLocks noChangeShapeType="1"/>
          </p:cNvSpPr>
          <p:nvPr/>
        </p:nvSpPr>
        <p:spPr bwMode="auto">
          <a:xfrm>
            <a:off x="6618034" y="3375054"/>
            <a:ext cx="86365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32" name="Line 48">
            <a:extLst>
              <a:ext uri="{FF2B5EF4-FFF2-40B4-BE49-F238E27FC236}">
                <a16:creationId xmlns:a16="http://schemas.microsoft.com/office/drawing/2014/main" id="{D012514A-AE92-7453-7F71-8EF8A29A9904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1688" y="3108352"/>
            <a:ext cx="0" cy="49530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33" name="Line 47">
            <a:extLst>
              <a:ext uri="{FF2B5EF4-FFF2-40B4-BE49-F238E27FC236}">
                <a16:creationId xmlns:a16="http://schemas.microsoft.com/office/drawing/2014/main" id="{199FE0D7-B26C-CBB5-B2C1-0EE1527C2987}"/>
              </a:ext>
            </a:extLst>
          </p:cNvPr>
          <p:cNvSpPr>
            <a:spLocks noChangeShapeType="1"/>
          </p:cNvSpPr>
          <p:nvPr/>
        </p:nvSpPr>
        <p:spPr bwMode="auto">
          <a:xfrm>
            <a:off x="7471025" y="3359813"/>
            <a:ext cx="239904" cy="26670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34" name="Line 46">
            <a:extLst>
              <a:ext uri="{FF2B5EF4-FFF2-40B4-BE49-F238E27FC236}">
                <a16:creationId xmlns:a16="http://schemas.microsoft.com/office/drawing/2014/main" id="{CDB2C61F-1F76-87EA-9ACC-79AA0B92DBFC}"/>
              </a:ext>
            </a:extLst>
          </p:cNvPr>
          <p:cNvSpPr>
            <a:spLocks noChangeShapeType="1"/>
          </p:cNvSpPr>
          <p:nvPr/>
        </p:nvSpPr>
        <p:spPr bwMode="auto">
          <a:xfrm>
            <a:off x="7710929" y="3626515"/>
            <a:ext cx="0" cy="53340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35" name="Line 45">
            <a:extLst>
              <a:ext uri="{FF2B5EF4-FFF2-40B4-BE49-F238E27FC236}">
                <a16:creationId xmlns:a16="http://schemas.microsoft.com/office/drawing/2014/main" id="{053FB173-4536-1EE6-2180-F753898EDF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71025" y="3016911"/>
            <a:ext cx="239904" cy="34290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36" name="Line 44">
            <a:extLst>
              <a:ext uri="{FF2B5EF4-FFF2-40B4-BE49-F238E27FC236}">
                <a16:creationId xmlns:a16="http://schemas.microsoft.com/office/drawing/2014/main" id="{965C4C21-352E-1736-CA91-2FA5342406FF}"/>
              </a:ext>
            </a:extLst>
          </p:cNvPr>
          <p:cNvSpPr>
            <a:spLocks noChangeShapeType="1"/>
          </p:cNvSpPr>
          <p:nvPr/>
        </p:nvSpPr>
        <p:spPr bwMode="auto">
          <a:xfrm>
            <a:off x="7705598" y="3016911"/>
            <a:ext cx="789905" cy="127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Bookman Old Style" panose="02050604050505020204" pitchFamily="18" charset="0"/>
            </a:endParaRPr>
          </a:p>
        </p:txBody>
      </p:sp>
      <p:grpSp>
        <p:nvGrpSpPr>
          <p:cNvPr id="37" name="Group 56">
            <a:extLst>
              <a:ext uri="{FF2B5EF4-FFF2-40B4-BE49-F238E27FC236}">
                <a16:creationId xmlns:a16="http://schemas.microsoft.com/office/drawing/2014/main" id="{79BC5D5A-5020-C7C9-0E23-5BD9F5BF44A1}"/>
              </a:ext>
            </a:extLst>
          </p:cNvPr>
          <p:cNvGrpSpPr>
            <a:grpSpLocks/>
          </p:cNvGrpSpPr>
          <p:nvPr/>
        </p:nvGrpSpPr>
        <p:grpSpPr bwMode="auto">
          <a:xfrm>
            <a:off x="4005538" y="3016911"/>
            <a:ext cx="1685751" cy="1143008"/>
            <a:chOff x="4830" y="9481"/>
            <a:chExt cx="2154" cy="900"/>
          </a:xfrm>
        </p:grpSpPr>
        <p:sp>
          <p:nvSpPr>
            <p:cNvPr id="38" name="Line 63">
              <a:extLst>
                <a:ext uri="{FF2B5EF4-FFF2-40B4-BE49-F238E27FC236}">
                  <a16:creationId xmlns:a16="http://schemas.microsoft.com/office/drawing/2014/main" id="{DC722C37-1468-6A92-DE73-41A69195D2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0" y="10381"/>
              <a:ext cx="214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Bookman Old Style" panose="02050604050505020204" pitchFamily="18" charset="0"/>
              </a:endParaRPr>
            </a:p>
          </p:txBody>
        </p:sp>
        <p:sp>
          <p:nvSpPr>
            <p:cNvPr id="39" name="Line 62">
              <a:extLst>
                <a:ext uri="{FF2B5EF4-FFF2-40B4-BE49-F238E27FC236}">
                  <a16:creationId xmlns:a16="http://schemas.microsoft.com/office/drawing/2014/main" id="{0FB4C212-368C-EAEE-3D5A-BF163EE325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0" y="9763"/>
              <a:ext cx="97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Bookman Old Style" panose="02050604050505020204" pitchFamily="18" charset="0"/>
              </a:endParaRPr>
            </a:p>
          </p:txBody>
        </p:sp>
        <p:sp>
          <p:nvSpPr>
            <p:cNvPr id="40" name="Line 61">
              <a:extLst>
                <a:ext uri="{FF2B5EF4-FFF2-40B4-BE49-F238E27FC236}">
                  <a16:creationId xmlns:a16="http://schemas.microsoft.com/office/drawing/2014/main" id="{3233700F-4B76-CA8D-F8F1-17D156D017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02" y="9553"/>
              <a:ext cx="0" cy="39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Bookman Old Style" panose="02050604050505020204" pitchFamily="18" charset="0"/>
              </a:endParaRPr>
            </a:p>
          </p:txBody>
        </p:sp>
        <p:sp>
          <p:nvSpPr>
            <p:cNvPr id="41" name="Line 60">
              <a:extLst>
                <a:ext uri="{FF2B5EF4-FFF2-40B4-BE49-F238E27FC236}">
                  <a16:creationId xmlns:a16="http://schemas.microsoft.com/office/drawing/2014/main" id="{4F746E33-E641-3665-952F-3CCD6EE4EC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90" y="9751"/>
              <a:ext cx="270" cy="2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Bookman Old Style" panose="02050604050505020204" pitchFamily="18" charset="0"/>
              </a:endParaRPr>
            </a:p>
          </p:txBody>
        </p:sp>
        <p:sp>
          <p:nvSpPr>
            <p:cNvPr id="42" name="Line 59">
              <a:extLst>
                <a:ext uri="{FF2B5EF4-FFF2-40B4-BE49-F238E27FC236}">
                  <a16:creationId xmlns:a16="http://schemas.microsoft.com/office/drawing/2014/main" id="{33DBD810-A5D0-530E-49B2-ED9DBFD831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60" y="9961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Bookman Old Style" panose="02050604050505020204" pitchFamily="18" charset="0"/>
              </a:endParaRPr>
            </a:p>
          </p:txBody>
        </p:sp>
        <p:sp>
          <p:nvSpPr>
            <p:cNvPr id="43" name="Line 58">
              <a:extLst>
                <a:ext uri="{FF2B5EF4-FFF2-40B4-BE49-F238E27FC236}">
                  <a16:creationId xmlns:a16="http://schemas.microsoft.com/office/drawing/2014/main" id="{0870A894-1C8C-5D96-E507-20D79E82A6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90" y="9481"/>
              <a:ext cx="270" cy="2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Bookman Old Style" panose="02050604050505020204" pitchFamily="18" charset="0"/>
              </a:endParaRPr>
            </a:p>
          </p:txBody>
        </p:sp>
        <p:sp>
          <p:nvSpPr>
            <p:cNvPr id="44" name="Line 57">
              <a:extLst>
                <a:ext uri="{FF2B5EF4-FFF2-40B4-BE49-F238E27FC236}">
                  <a16:creationId xmlns:a16="http://schemas.microsoft.com/office/drawing/2014/main" id="{CE19CCCE-12B1-1384-BC2F-D8E15E8FDD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54" y="9481"/>
              <a:ext cx="9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Bookman Old Style" panose="02050604050505020204" pitchFamily="18" charset="0"/>
              </a:endParaRPr>
            </a:p>
          </p:txBody>
        </p:sp>
      </p:grpSp>
      <p:sp>
        <p:nvSpPr>
          <p:cNvPr id="45" name="Text Box 85">
            <a:extLst>
              <a:ext uri="{FF2B5EF4-FFF2-40B4-BE49-F238E27FC236}">
                <a16:creationId xmlns:a16="http://schemas.microsoft.com/office/drawing/2014/main" id="{210156F4-923A-3FCD-2FCB-94B573367F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6780" y="3516977"/>
            <a:ext cx="596592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fr-FR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Arial" pitchFamily="34" charset="0"/>
                <a:cs typeface="Arial" pitchFamily="34" charset="0"/>
              </a:rPr>
              <a:t>v</a:t>
            </a:r>
            <a:r>
              <a:rPr kumimoji="0" lang="fr-FR" sz="1100" b="1" i="0" u="none" strike="noStrike" cap="none" normalizeH="0" baseline="-2500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Arial" pitchFamily="34" charset="0"/>
                <a:cs typeface="Arial" pitchFamily="34" charset="0"/>
              </a:rPr>
              <a:t>cb</a:t>
            </a:r>
            <a:r>
              <a:rPr kumimoji="0" lang="fr-F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Arial" pitchFamily="34" charset="0"/>
                <a:cs typeface="Arial" pitchFamily="34" charset="0"/>
              </a:rPr>
              <a:t>&gt;0</a:t>
            </a:r>
            <a:endParaRPr kumimoji="0" lang="fr-F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  <a:cs typeface="Arial" pitchFamily="34" charset="0"/>
            </a:endParaRPr>
          </a:p>
        </p:txBody>
      </p:sp>
      <p:sp>
        <p:nvSpPr>
          <p:cNvPr id="46" name="Line 67">
            <a:extLst>
              <a:ext uri="{FF2B5EF4-FFF2-40B4-BE49-F238E27FC236}">
                <a16:creationId xmlns:a16="http://schemas.microsoft.com/office/drawing/2014/main" id="{BDAD59B5-1CEE-D9BB-9A2A-0B24AE64D1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56667" y="3049003"/>
            <a:ext cx="0" cy="97714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47" name="Text Box 86">
            <a:extLst>
              <a:ext uri="{FF2B5EF4-FFF2-40B4-BE49-F238E27FC236}">
                <a16:creationId xmlns:a16="http://schemas.microsoft.com/office/drawing/2014/main" id="{60DBEDB2-16BE-3B84-53DB-8812D82647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7907" y="3658267"/>
            <a:ext cx="766815" cy="28733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fr-FR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Arial" pitchFamily="34" charset="0"/>
                <a:cs typeface="Arial" pitchFamily="34" charset="0"/>
              </a:rPr>
              <a:t>v</a:t>
            </a:r>
            <a:r>
              <a:rPr kumimoji="0" lang="fr-FR" sz="1100" b="1" i="0" u="none" strike="noStrike" cap="none" normalizeH="0" baseline="-2500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Arial" pitchFamily="34" charset="0"/>
                <a:cs typeface="Arial" pitchFamily="34" charset="0"/>
              </a:rPr>
              <a:t>be</a:t>
            </a:r>
            <a:r>
              <a:rPr kumimoji="0" lang="fr-F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Arial" pitchFamily="34" charset="0"/>
                <a:cs typeface="Arial" pitchFamily="34" charset="0"/>
              </a:rPr>
              <a:t>&gt;0</a:t>
            </a:r>
            <a:endParaRPr kumimoji="0" lang="fr-F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  <a:cs typeface="Arial" pitchFamily="34" charset="0"/>
            </a:endParaRPr>
          </a:p>
        </p:txBody>
      </p:sp>
      <p:sp>
        <p:nvSpPr>
          <p:cNvPr id="48" name="Line 55">
            <a:extLst>
              <a:ext uri="{FF2B5EF4-FFF2-40B4-BE49-F238E27FC236}">
                <a16:creationId xmlns:a16="http://schemas.microsoft.com/office/drawing/2014/main" id="{B1E77202-7556-DDC9-6603-14E62B254A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05538" y="3489354"/>
            <a:ext cx="0" cy="57150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49" name="Text Box 87">
            <a:extLst>
              <a:ext uri="{FF2B5EF4-FFF2-40B4-BE49-F238E27FC236}">
                <a16:creationId xmlns:a16="http://schemas.microsoft.com/office/drawing/2014/main" id="{BAF6F124-1CD9-1857-C997-9464E0EA26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4344" y="3445539"/>
            <a:ext cx="574459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fr-FR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Arial" pitchFamily="34" charset="0"/>
                <a:cs typeface="Arial" pitchFamily="34" charset="0"/>
              </a:rPr>
              <a:t>v</a:t>
            </a:r>
            <a:r>
              <a:rPr kumimoji="0" lang="fr-FR" sz="1100" b="1" i="0" u="none" strike="noStrike" cap="none" normalizeH="0" baseline="-2500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Arial" pitchFamily="34" charset="0"/>
                <a:cs typeface="Arial" pitchFamily="34" charset="0"/>
              </a:rPr>
              <a:t>ce</a:t>
            </a:r>
            <a:r>
              <a:rPr kumimoji="0" lang="fr-F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Arial" pitchFamily="34" charset="0"/>
                <a:cs typeface="Arial" pitchFamily="34" charset="0"/>
              </a:rPr>
              <a:t>&gt;0</a:t>
            </a:r>
            <a:endParaRPr kumimoji="0" lang="fr-F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  <a:cs typeface="Arial" pitchFamily="34" charset="0"/>
            </a:endParaRPr>
          </a:p>
        </p:txBody>
      </p:sp>
      <p:sp>
        <p:nvSpPr>
          <p:cNvPr id="50" name="Line 54">
            <a:extLst>
              <a:ext uri="{FF2B5EF4-FFF2-40B4-BE49-F238E27FC236}">
                <a16:creationId xmlns:a16="http://schemas.microsoft.com/office/drawing/2014/main" id="{16D0AEC7-86C8-AEF6-5B32-4E2F30176A2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81898" y="3131212"/>
            <a:ext cx="0" cy="95250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51" name="Text Box 88">
            <a:extLst>
              <a:ext uri="{FF2B5EF4-FFF2-40B4-BE49-F238E27FC236}">
                <a16:creationId xmlns:a16="http://schemas.microsoft.com/office/drawing/2014/main" id="{CFF8B71A-B4AA-4EC3-2C39-BDA088D50C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7595" y="3658267"/>
            <a:ext cx="590675" cy="28733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fr-FR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Arial" pitchFamily="34" charset="0"/>
                <a:cs typeface="Arial" pitchFamily="34" charset="0"/>
              </a:rPr>
              <a:t>v</a:t>
            </a:r>
            <a:r>
              <a:rPr kumimoji="0" lang="fr-FR" sz="1100" b="1" i="0" u="none" strike="noStrike" cap="none" normalizeH="0" baseline="-2500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Arial" pitchFamily="34" charset="0"/>
                <a:cs typeface="Arial" pitchFamily="34" charset="0"/>
              </a:rPr>
              <a:t>bc</a:t>
            </a:r>
            <a:r>
              <a:rPr kumimoji="0" lang="fr-F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Arial" pitchFamily="34" charset="0"/>
                <a:cs typeface="Arial" pitchFamily="34" charset="0"/>
              </a:rPr>
              <a:t>&lt;0</a:t>
            </a:r>
            <a:endParaRPr kumimoji="0" lang="fr-F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  <a:cs typeface="Arial" pitchFamily="34" charset="0"/>
            </a:endParaRPr>
          </a:p>
        </p:txBody>
      </p:sp>
      <p:sp>
        <p:nvSpPr>
          <p:cNvPr id="52" name="Line 43">
            <a:extLst>
              <a:ext uri="{FF2B5EF4-FFF2-40B4-BE49-F238E27FC236}">
                <a16:creationId xmlns:a16="http://schemas.microsoft.com/office/drawing/2014/main" id="{19468678-2027-E126-4923-564E415FC7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65611" y="3528725"/>
            <a:ext cx="0" cy="57150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53" name="Text Box 89">
            <a:extLst>
              <a:ext uri="{FF2B5EF4-FFF2-40B4-BE49-F238E27FC236}">
                <a16:creationId xmlns:a16="http://schemas.microsoft.com/office/drawing/2014/main" id="{5D3B8B7B-709D-AB50-5272-5AA99993E2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7891" y="3445539"/>
            <a:ext cx="594785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fr-FR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Arial" pitchFamily="34" charset="0"/>
                <a:cs typeface="Arial" pitchFamily="34" charset="0"/>
              </a:rPr>
              <a:t>v</a:t>
            </a:r>
            <a:r>
              <a:rPr kumimoji="0" lang="fr-FR" sz="1100" b="1" i="0" u="none" strike="noStrike" cap="none" normalizeH="0" baseline="-2500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Arial" pitchFamily="34" charset="0"/>
                <a:cs typeface="Arial" pitchFamily="34" charset="0"/>
              </a:rPr>
              <a:t>ec</a:t>
            </a:r>
            <a:r>
              <a:rPr kumimoji="0" lang="fr-F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Arial" pitchFamily="34" charset="0"/>
                <a:cs typeface="Arial" pitchFamily="34" charset="0"/>
              </a:rPr>
              <a:t>&lt;0</a:t>
            </a:r>
            <a:endParaRPr kumimoji="0" lang="fr-F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  <a:cs typeface="Arial" pitchFamily="34" charset="0"/>
            </a:endParaRPr>
          </a:p>
        </p:txBody>
      </p:sp>
      <p:sp>
        <p:nvSpPr>
          <p:cNvPr id="54" name="Line 42">
            <a:extLst>
              <a:ext uri="{FF2B5EF4-FFF2-40B4-BE49-F238E27FC236}">
                <a16:creationId xmlns:a16="http://schemas.microsoft.com/office/drawing/2014/main" id="{F2E92120-229C-DE5A-3F62-99CD2E233E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00834" y="3071521"/>
            <a:ext cx="0" cy="99060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55" name="Text Box 85">
            <a:extLst>
              <a:ext uri="{FF2B5EF4-FFF2-40B4-BE49-F238E27FC236}">
                <a16:creationId xmlns:a16="http://schemas.microsoft.com/office/drawing/2014/main" id="{97D49903-1481-6EB4-EDF6-26A225424B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951" y="3588414"/>
            <a:ext cx="596592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fr-FR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Arial" pitchFamily="34" charset="0"/>
                <a:cs typeface="Arial" pitchFamily="34" charset="0"/>
              </a:rPr>
              <a:t>V</a:t>
            </a:r>
            <a:r>
              <a:rPr lang="fr-FR" sz="1100" b="1" baseline="-25000" dirty="0" err="1">
                <a:latin typeface="Bookman Old Style" panose="02050604050505020204" pitchFamily="18" charset="0"/>
                <a:ea typeface="Arial" pitchFamily="34" charset="0"/>
                <a:cs typeface="Arial" pitchFamily="34" charset="0"/>
              </a:rPr>
              <a:t>eb</a:t>
            </a:r>
            <a:r>
              <a:rPr lang="fr-FR" sz="1100" b="1" dirty="0">
                <a:latin typeface="Bookman Old Style" panose="02050604050505020204" pitchFamily="18" charset="0"/>
                <a:ea typeface="Arial" pitchFamily="34" charset="0"/>
                <a:cs typeface="Arial" pitchFamily="34" charset="0"/>
              </a:rPr>
              <a:t>&lt;0</a:t>
            </a:r>
            <a:endParaRPr kumimoji="0" lang="fr-F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56534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6"/>
            <a:ext cx="52086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-Transistor-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1620" y="507690"/>
            <a:ext cx="69931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4. Polarisation </a:t>
            </a:r>
            <a:r>
              <a:rPr lang="fr-FR" sz="18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du transistor</a:t>
            </a:r>
            <a:endParaRPr lang="fr-FR" b="1" spc="-5" dirty="0">
              <a:solidFill>
                <a:srgbClr val="FF0000"/>
              </a:solidFill>
              <a:latin typeface="Bookman Old Style" panose="02050604050505020204" pitchFamily="18" charset="0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715000" y="365260"/>
            <a:ext cx="3328256" cy="10117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46">
            <a:extLst>
              <a:ext uri="{FF2B5EF4-FFF2-40B4-BE49-F238E27FC236}">
                <a16:creationId xmlns:a16="http://schemas.microsoft.com/office/drawing/2014/main" id="{7198176F-4D83-4A98-1EFA-F78693C2B68B}"/>
              </a:ext>
            </a:extLst>
          </p:cNvPr>
          <p:cNvSpPr txBox="1"/>
          <p:nvPr/>
        </p:nvSpPr>
        <p:spPr>
          <a:xfrm>
            <a:off x="8828933" y="486598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36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3206C0-B920-4CD8-8FF9-7BD8ABA1AB10}"/>
              </a:ext>
            </a:extLst>
          </p:cNvPr>
          <p:cNvSpPr txBox="1"/>
          <p:nvPr/>
        </p:nvSpPr>
        <p:spPr>
          <a:xfrm>
            <a:off x="561620" y="749576"/>
            <a:ext cx="561363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4.1 Fonctionnement normal du transistor bipolaire</a:t>
            </a:r>
            <a:br>
              <a:rPr lang="fr-FR" sz="1600" b="1"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</a:br>
            <a:r>
              <a:rPr lang="fr-FR" sz="1600" b="1"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 </a:t>
            </a:r>
            <a:br>
              <a:rPr lang="fr-FR" sz="1800" dirty="0"/>
            </a:br>
            <a:endParaRPr lang="fr-F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8B8603-E2A2-1978-77F7-1AFE2B133BAE}"/>
              </a:ext>
            </a:extLst>
          </p:cNvPr>
          <p:cNvSpPr txBox="1"/>
          <p:nvPr/>
        </p:nvSpPr>
        <p:spPr>
          <a:xfrm>
            <a:off x="576301" y="1066486"/>
            <a:ext cx="84200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algn="just">
              <a:defRPr sz="1600">
                <a:latin typeface="Bookman Old Style" panose="02050604050505020204" pitchFamily="18" charset="0"/>
              </a:defRPr>
            </a:lvl1pPr>
          </a:lstStyle>
          <a:p>
            <a:r>
              <a:rPr lang="fr-FR" dirty="0"/>
              <a:t>Lorsqu'un </a:t>
            </a:r>
            <a:r>
              <a:rPr lang="fr-FR" b="1" dirty="0"/>
              <a:t>transistor (NPN) </a:t>
            </a:r>
            <a:r>
              <a:rPr lang="fr-FR" dirty="0"/>
              <a:t>est utilisé en </a:t>
            </a:r>
            <a:r>
              <a:rPr lang="fr-FR" b="1" dirty="0"/>
              <a:t>régime normal</a:t>
            </a:r>
            <a:r>
              <a:rPr lang="fr-FR" dirty="0"/>
              <a:t>, </a:t>
            </a:r>
            <a:r>
              <a:rPr lang="fr-FR" b="1" dirty="0"/>
              <a:t>trois montages </a:t>
            </a:r>
            <a:r>
              <a:rPr lang="fr-FR" dirty="0"/>
              <a:t>sont </a:t>
            </a:r>
            <a:r>
              <a:rPr lang="fr-FR" b="1" dirty="0"/>
              <a:t>donc possibles:</a:t>
            </a:r>
            <a:endParaRPr lang="fr-FR" dirty="0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27E43A82-7BF1-98AF-B9A8-FF93C7DE69C9}"/>
              </a:ext>
            </a:extLst>
          </p:cNvPr>
          <p:cNvGrpSpPr/>
          <p:nvPr/>
        </p:nvGrpSpPr>
        <p:grpSpPr>
          <a:xfrm>
            <a:off x="2144796" y="1511877"/>
            <a:ext cx="5613634" cy="3515610"/>
            <a:chOff x="1676400" y="975731"/>
            <a:chExt cx="6082030" cy="4159835"/>
          </a:xfrm>
        </p:grpSpPr>
        <p:grpSp>
          <p:nvGrpSpPr>
            <p:cNvPr id="3" name="object 7">
              <a:extLst>
                <a:ext uri="{FF2B5EF4-FFF2-40B4-BE49-F238E27FC236}">
                  <a16:creationId xmlns:a16="http://schemas.microsoft.com/office/drawing/2014/main" id="{F40D276E-B11F-DB85-81A8-768440175914}"/>
                </a:ext>
              </a:extLst>
            </p:cNvPr>
            <p:cNvGrpSpPr/>
            <p:nvPr/>
          </p:nvGrpSpPr>
          <p:grpSpPr>
            <a:xfrm>
              <a:off x="3194303" y="1153988"/>
              <a:ext cx="2079625" cy="3981450"/>
              <a:chOff x="4235703" y="2652267"/>
              <a:chExt cx="2079625" cy="3981450"/>
            </a:xfrm>
          </p:grpSpPr>
          <p:sp>
            <p:nvSpPr>
              <p:cNvPr id="4" name="object 8">
                <a:extLst>
                  <a:ext uri="{FF2B5EF4-FFF2-40B4-BE49-F238E27FC236}">
                    <a16:creationId xmlns:a16="http://schemas.microsoft.com/office/drawing/2014/main" id="{A45E03AE-9660-37B1-075C-108F0B3583F7}"/>
                  </a:ext>
                </a:extLst>
              </p:cNvPr>
              <p:cNvSpPr/>
              <p:nvPr/>
            </p:nvSpPr>
            <p:spPr>
              <a:xfrm>
                <a:off x="4247768" y="2664332"/>
                <a:ext cx="1888489" cy="1977389"/>
              </a:xfrm>
              <a:custGeom>
                <a:avLst/>
                <a:gdLst/>
                <a:ahLst/>
                <a:cxnLst/>
                <a:rect l="l" t="t" r="r" b="b"/>
                <a:pathLst>
                  <a:path w="1888489" h="1977389">
                    <a:moveTo>
                      <a:pt x="957833" y="1977390"/>
                    </a:moveTo>
                    <a:lnTo>
                      <a:pt x="0" y="1977390"/>
                    </a:lnTo>
                  </a:path>
                  <a:path w="1888489" h="1977389">
                    <a:moveTo>
                      <a:pt x="1888235" y="996695"/>
                    </a:moveTo>
                    <a:lnTo>
                      <a:pt x="1888235" y="0"/>
                    </a:lnTo>
                  </a:path>
                </a:pathLst>
              </a:custGeom>
              <a:ln w="2402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" name="object 9">
                <a:extLst>
                  <a:ext uri="{FF2B5EF4-FFF2-40B4-BE49-F238E27FC236}">
                    <a16:creationId xmlns:a16="http://schemas.microsoft.com/office/drawing/2014/main" id="{78A7BC8F-2010-97A6-7E70-7882F812EC30}"/>
                  </a:ext>
                </a:extLst>
              </p:cNvPr>
              <p:cNvSpPr/>
              <p:nvPr/>
            </p:nvSpPr>
            <p:spPr>
              <a:xfrm>
                <a:off x="6136004" y="5652135"/>
                <a:ext cx="0" cy="969644"/>
              </a:xfrm>
              <a:custGeom>
                <a:avLst/>
                <a:gdLst/>
                <a:ahLst/>
                <a:cxnLst/>
                <a:rect l="l" t="t" r="r" b="b"/>
                <a:pathLst>
                  <a:path h="969645">
                    <a:moveTo>
                      <a:pt x="0" y="0"/>
                    </a:moveTo>
                    <a:lnTo>
                      <a:pt x="0" y="969264"/>
                    </a:lnTo>
                  </a:path>
                </a:pathLst>
              </a:custGeom>
              <a:ln w="2402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" name="object 10">
                <a:extLst>
                  <a:ext uri="{FF2B5EF4-FFF2-40B4-BE49-F238E27FC236}">
                    <a16:creationId xmlns:a16="http://schemas.microsoft.com/office/drawing/2014/main" id="{B3016BEF-0859-AF02-3252-3AB42FE1303D}"/>
                  </a:ext>
                </a:extLst>
              </p:cNvPr>
              <p:cNvSpPr/>
              <p:nvPr/>
            </p:nvSpPr>
            <p:spPr>
              <a:xfrm>
                <a:off x="5969126" y="5990463"/>
                <a:ext cx="334010" cy="349885"/>
              </a:xfrm>
              <a:custGeom>
                <a:avLst/>
                <a:gdLst/>
                <a:ahLst/>
                <a:cxnLst/>
                <a:rect l="l" t="t" r="r" b="b"/>
                <a:pathLst>
                  <a:path w="334010" h="349885">
                    <a:moveTo>
                      <a:pt x="333756" y="0"/>
                    </a:moveTo>
                    <a:lnTo>
                      <a:pt x="166877" y="68579"/>
                    </a:lnTo>
                    <a:lnTo>
                      <a:pt x="0" y="0"/>
                    </a:lnTo>
                    <a:lnTo>
                      <a:pt x="160290" y="335951"/>
                    </a:lnTo>
                    <a:lnTo>
                      <a:pt x="333756" y="0"/>
                    </a:lnTo>
                    <a:close/>
                  </a:path>
                  <a:path w="334010" h="349885">
                    <a:moveTo>
                      <a:pt x="166877" y="349758"/>
                    </a:moveTo>
                    <a:lnTo>
                      <a:pt x="160290" y="335951"/>
                    </a:lnTo>
                    <a:lnTo>
                      <a:pt x="153162" y="349758"/>
                    </a:lnTo>
                    <a:lnTo>
                      <a:pt x="166877" y="349758"/>
                    </a:lnTo>
                    <a:close/>
                  </a:path>
                </a:pathLst>
              </a:custGeom>
              <a:solidFill>
                <a:srgbClr val="00A65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11">
                <a:extLst>
                  <a:ext uri="{FF2B5EF4-FFF2-40B4-BE49-F238E27FC236}">
                    <a16:creationId xmlns:a16="http://schemas.microsoft.com/office/drawing/2014/main" id="{D0178DA8-1421-9D51-A998-E632A0D33356}"/>
                  </a:ext>
                </a:extLst>
              </p:cNvPr>
              <p:cNvSpPr/>
              <p:nvPr/>
            </p:nvSpPr>
            <p:spPr>
              <a:xfrm>
                <a:off x="5969126" y="5990463"/>
                <a:ext cx="334010" cy="349885"/>
              </a:xfrm>
              <a:custGeom>
                <a:avLst/>
                <a:gdLst/>
                <a:ahLst/>
                <a:cxnLst/>
                <a:rect l="l" t="t" r="r" b="b"/>
                <a:pathLst>
                  <a:path w="334010" h="349885">
                    <a:moveTo>
                      <a:pt x="166877" y="349758"/>
                    </a:moveTo>
                    <a:lnTo>
                      <a:pt x="0" y="0"/>
                    </a:lnTo>
                    <a:lnTo>
                      <a:pt x="166877" y="68579"/>
                    </a:lnTo>
                    <a:lnTo>
                      <a:pt x="333756" y="0"/>
                    </a:lnTo>
                    <a:lnTo>
                      <a:pt x="153162" y="349758"/>
                    </a:lnTo>
                    <a:lnTo>
                      <a:pt x="166877" y="349758"/>
                    </a:lnTo>
                    <a:close/>
                  </a:path>
                  <a:path w="334010" h="349885">
                    <a:moveTo>
                      <a:pt x="166877" y="349758"/>
                    </a:moveTo>
                    <a:lnTo>
                      <a:pt x="0" y="0"/>
                    </a:lnTo>
                    <a:lnTo>
                      <a:pt x="166877" y="68579"/>
                    </a:lnTo>
                    <a:lnTo>
                      <a:pt x="333756" y="0"/>
                    </a:lnTo>
                    <a:lnTo>
                      <a:pt x="153162" y="349758"/>
                    </a:lnTo>
                    <a:lnTo>
                      <a:pt x="166877" y="349758"/>
                    </a:lnTo>
                  </a:path>
                </a:pathLst>
              </a:custGeom>
              <a:ln w="24028">
                <a:solidFill>
                  <a:srgbClr val="00A65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6" name="object 12">
              <a:extLst>
                <a:ext uri="{FF2B5EF4-FFF2-40B4-BE49-F238E27FC236}">
                  <a16:creationId xmlns:a16="http://schemas.microsoft.com/office/drawing/2014/main" id="{D5D5DCB4-3971-A24C-BE9F-CE6B2034765F}"/>
                </a:ext>
              </a:extLst>
            </p:cNvPr>
            <p:cNvSpPr txBox="1"/>
            <p:nvPr/>
          </p:nvSpPr>
          <p:spPr>
            <a:xfrm>
              <a:off x="2139421" y="4109513"/>
              <a:ext cx="645160" cy="511364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30"/>
                </a:spcBef>
              </a:pPr>
              <a:r>
                <a:rPr lang="fr-FR" sz="4050" b="1" spc="-104" baseline="15432" dirty="0">
                  <a:solidFill>
                    <a:srgbClr val="ED1C24"/>
                  </a:solidFill>
                  <a:latin typeface="Times New Roman"/>
                  <a:cs typeface="Times New Roman"/>
                </a:rPr>
                <a:t>V</a:t>
              </a:r>
              <a:r>
                <a:rPr sz="1500" b="1" spc="-70" dirty="0">
                  <a:solidFill>
                    <a:srgbClr val="ED1C24"/>
                  </a:solidFill>
                  <a:latin typeface="Times New Roman"/>
                  <a:cs typeface="Times New Roman"/>
                </a:rPr>
                <a:t>BE</a:t>
              </a:r>
              <a:endParaRPr sz="1500" b="1" dirty="0">
                <a:latin typeface="Times New Roman"/>
                <a:cs typeface="Times New Roman"/>
              </a:endParaRPr>
            </a:p>
          </p:txBody>
        </p:sp>
        <p:grpSp>
          <p:nvGrpSpPr>
            <p:cNvPr id="57" name="object 13">
              <a:extLst>
                <a:ext uri="{FF2B5EF4-FFF2-40B4-BE49-F238E27FC236}">
                  <a16:creationId xmlns:a16="http://schemas.microsoft.com/office/drawing/2014/main" id="{E989E9AB-1E6C-6F4E-6A48-7800D86F07DF}"/>
                </a:ext>
              </a:extLst>
            </p:cNvPr>
            <p:cNvGrpSpPr/>
            <p:nvPr/>
          </p:nvGrpSpPr>
          <p:grpSpPr>
            <a:xfrm>
              <a:off x="1676400" y="1169991"/>
              <a:ext cx="6082030" cy="3965575"/>
              <a:chOff x="2717800" y="2668270"/>
              <a:chExt cx="6082030" cy="3965575"/>
            </a:xfrm>
          </p:grpSpPr>
          <p:sp>
            <p:nvSpPr>
              <p:cNvPr id="58" name="object 14">
                <a:extLst>
                  <a:ext uri="{FF2B5EF4-FFF2-40B4-BE49-F238E27FC236}">
                    <a16:creationId xmlns:a16="http://schemas.microsoft.com/office/drawing/2014/main" id="{245BD53E-A0F7-35B9-4CF4-4BAD5F492F63}"/>
                  </a:ext>
                </a:extLst>
              </p:cNvPr>
              <p:cNvSpPr/>
              <p:nvPr/>
            </p:nvSpPr>
            <p:spPr>
              <a:xfrm>
                <a:off x="2729864" y="4641723"/>
                <a:ext cx="151828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518285">
                    <a:moveTo>
                      <a:pt x="1517904" y="0"/>
                    </a:moveTo>
                    <a:lnTo>
                      <a:pt x="0" y="0"/>
                    </a:lnTo>
                  </a:path>
                </a:pathLst>
              </a:custGeom>
              <a:ln w="2402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9" name="object 15">
                <a:extLst>
                  <a:ext uri="{FF2B5EF4-FFF2-40B4-BE49-F238E27FC236}">
                    <a16:creationId xmlns:a16="http://schemas.microsoft.com/office/drawing/2014/main" id="{FB1FAD42-2D1A-FDDF-D270-56402E0AAE36}"/>
                  </a:ext>
                </a:extLst>
              </p:cNvPr>
              <p:cNvSpPr/>
              <p:nvPr/>
            </p:nvSpPr>
            <p:spPr>
              <a:xfrm>
                <a:off x="6136004" y="2680335"/>
                <a:ext cx="2626995" cy="0"/>
              </a:xfrm>
              <a:custGeom>
                <a:avLst/>
                <a:gdLst/>
                <a:ahLst/>
                <a:cxnLst/>
                <a:rect l="l" t="t" r="r" b="b"/>
                <a:pathLst>
                  <a:path w="2626995">
                    <a:moveTo>
                      <a:pt x="0" y="0"/>
                    </a:moveTo>
                    <a:lnTo>
                      <a:pt x="2626614" y="0"/>
                    </a:lnTo>
                  </a:path>
                </a:pathLst>
              </a:custGeom>
              <a:ln w="2402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0" name="object 16">
                <a:extLst>
                  <a:ext uri="{FF2B5EF4-FFF2-40B4-BE49-F238E27FC236}">
                    <a16:creationId xmlns:a16="http://schemas.microsoft.com/office/drawing/2014/main" id="{D2F2C5D9-1037-0BDF-7F13-8D7C81AB9A7C}"/>
                  </a:ext>
                </a:extLst>
              </p:cNvPr>
              <p:cNvSpPr/>
              <p:nvPr/>
            </p:nvSpPr>
            <p:spPr>
              <a:xfrm>
                <a:off x="8435721" y="2815209"/>
                <a:ext cx="299720" cy="363855"/>
              </a:xfrm>
              <a:custGeom>
                <a:avLst/>
                <a:gdLst/>
                <a:ahLst/>
                <a:cxnLst/>
                <a:rect l="l" t="t" r="r" b="b"/>
                <a:pathLst>
                  <a:path w="299720" h="363855">
                    <a:moveTo>
                      <a:pt x="299465" y="363474"/>
                    </a:moveTo>
                    <a:lnTo>
                      <a:pt x="150875" y="9143"/>
                    </a:lnTo>
                    <a:lnTo>
                      <a:pt x="150875" y="0"/>
                    </a:lnTo>
                    <a:lnTo>
                      <a:pt x="0" y="354330"/>
                    </a:lnTo>
                    <a:lnTo>
                      <a:pt x="150875" y="292608"/>
                    </a:lnTo>
                    <a:lnTo>
                      <a:pt x="299465" y="363474"/>
                    </a:lnTo>
                    <a:close/>
                  </a:path>
                </a:pathLst>
              </a:custGeom>
              <a:solidFill>
                <a:srgbClr val="ED1C2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1" name="object 17">
                <a:extLst>
                  <a:ext uri="{FF2B5EF4-FFF2-40B4-BE49-F238E27FC236}">
                    <a16:creationId xmlns:a16="http://schemas.microsoft.com/office/drawing/2014/main" id="{CF8011E6-6AD2-1821-8FC1-1CC0B165234A}"/>
                  </a:ext>
                </a:extLst>
              </p:cNvPr>
              <p:cNvSpPr/>
              <p:nvPr/>
            </p:nvSpPr>
            <p:spPr>
              <a:xfrm>
                <a:off x="2761869" y="6621398"/>
                <a:ext cx="60261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026150">
                    <a:moveTo>
                      <a:pt x="0" y="0"/>
                    </a:moveTo>
                    <a:lnTo>
                      <a:pt x="6025896" y="0"/>
                    </a:lnTo>
                  </a:path>
                </a:pathLst>
              </a:custGeom>
              <a:ln w="2402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2" name="object 18">
                <a:extLst>
                  <a:ext uri="{FF2B5EF4-FFF2-40B4-BE49-F238E27FC236}">
                    <a16:creationId xmlns:a16="http://schemas.microsoft.com/office/drawing/2014/main" id="{D16FFFE7-18ED-4E9D-9F88-80EC147D0D66}"/>
                  </a:ext>
                </a:extLst>
              </p:cNvPr>
              <p:cNvSpPr/>
              <p:nvPr/>
            </p:nvSpPr>
            <p:spPr>
              <a:xfrm>
                <a:off x="2937890" y="4778883"/>
                <a:ext cx="299720" cy="363855"/>
              </a:xfrm>
              <a:custGeom>
                <a:avLst/>
                <a:gdLst/>
                <a:ahLst/>
                <a:cxnLst/>
                <a:rect l="l" t="t" r="r" b="b"/>
                <a:pathLst>
                  <a:path w="299719" h="363854">
                    <a:moveTo>
                      <a:pt x="299465" y="363474"/>
                    </a:moveTo>
                    <a:lnTo>
                      <a:pt x="150875" y="11429"/>
                    </a:lnTo>
                    <a:lnTo>
                      <a:pt x="150875" y="0"/>
                    </a:lnTo>
                    <a:lnTo>
                      <a:pt x="0" y="354329"/>
                    </a:lnTo>
                    <a:lnTo>
                      <a:pt x="150875" y="294893"/>
                    </a:lnTo>
                    <a:lnTo>
                      <a:pt x="299465" y="363474"/>
                    </a:lnTo>
                    <a:close/>
                  </a:path>
                </a:pathLst>
              </a:custGeom>
              <a:solidFill>
                <a:srgbClr val="ED1C2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3" name="object 19">
                <a:extLst>
                  <a:ext uri="{FF2B5EF4-FFF2-40B4-BE49-F238E27FC236}">
                    <a16:creationId xmlns:a16="http://schemas.microsoft.com/office/drawing/2014/main" id="{C9433EF4-E63B-AF2A-8524-6DC061DE18DD}"/>
                  </a:ext>
                </a:extLst>
              </p:cNvPr>
              <p:cNvSpPr/>
              <p:nvPr/>
            </p:nvSpPr>
            <p:spPr>
              <a:xfrm>
                <a:off x="2935604" y="2812923"/>
                <a:ext cx="5800090" cy="3637279"/>
              </a:xfrm>
              <a:custGeom>
                <a:avLst/>
                <a:gdLst/>
                <a:ahLst/>
                <a:cxnLst/>
                <a:rect l="l" t="t" r="r" b="b"/>
                <a:pathLst>
                  <a:path w="5800090" h="3637279">
                    <a:moveTo>
                      <a:pt x="153162" y="3637026"/>
                    </a:moveTo>
                    <a:lnTo>
                      <a:pt x="153162" y="1965960"/>
                    </a:lnTo>
                    <a:lnTo>
                      <a:pt x="2286" y="2320290"/>
                    </a:lnTo>
                    <a:lnTo>
                      <a:pt x="153162" y="2260854"/>
                    </a:lnTo>
                    <a:lnTo>
                      <a:pt x="301751" y="2329434"/>
                    </a:lnTo>
                    <a:lnTo>
                      <a:pt x="153162" y="1977389"/>
                    </a:lnTo>
                    <a:lnTo>
                      <a:pt x="153162" y="3637026"/>
                    </a:lnTo>
                    <a:close/>
                  </a:path>
                  <a:path w="5800090" h="3637279">
                    <a:moveTo>
                      <a:pt x="153162" y="3634740"/>
                    </a:moveTo>
                    <a:lnTo>
                      <a:pt x="153162" y="1963674"/>
                    </a:lnTo>
                    <a:lnTo>
                      <a:pt x="0" y="2320290"/>
                    </a:lnTo>
                    <a:lnTo>
                      <a:pt x="153162" y="2258567"/>
                    </a:lnTo>
                    <a:lnTo>
                      <a:pt x="301751" y="2327148"/>
                    </a:lnTo>
                    <a:lnTo>
                      <a:pt x="153162" y="1975103"/>
                    </a:lnTo>
                    <a:lnTo>
                      <a:pt x="153162" y="3634740"/>
                    </a:lnTo>
                  </a:path>
                  <a:path w="5800090" h="3637279">
                    <a:moveTo>
                      <a:pt x="5650992" y="3637025"/>
                    </a:moveTo>
                    <a:lnTo>
                      <a:pt x="5650992" y="2285"/>
                    </a:lnTo>
                    <a:lnTo>
                      <a:pt x="5500116" y="356615"/>
                    </a:lnTo>
                    <a:lnTo>
                      <a:pt x="5650992" y="294893"/>
                    </a:lnTo>
                    <a:lnTo>
                      <a:pt x="5799581" y="365759"/>
                    </a:lnTo>
                    <a:lnTo>
                      <a:pt x="5650992" y="11429"/>
                    </a:lnTo>
                    <a:lnTo>
                      <a:pt x="5650992" y="3637025"/>
                    </a:lnTo>
                    <a:close/>
                  </a:path>
                  <a:path w="5800090" h="3637279">
                    <a:moveTo>
                      <a:pt x="5650992" y="3634739"/>
                    </a:moveTo>
                    <a:lnTo>
                      <a:pt x="5650992" y="0"/>
                    </a:lnTo>
                    <a:lnTo>
                      <a:pt x="5497829" y="354329"/>
                    </a:lnTo>
                    <a:lnTo>
                      <a:pt x="5650992" y="292607"/>
                    </a:lnTo>
                    <a:lnTo>
                      <a:pt x="5799581" y="363473"/>
                    </a:lnTo>
                    <a:lnTo>
                      <a:pt x="5650992" y="9143"/>
                    </a:lnTo>
                    <a:lnTo>
                      <a:pt x="5650992" y="3634739"/>
                    </a:lnTo>
                  </a:path>
                </a:pathLst>
              </a:custGeom>
              <a:ln w="12700">
                <a:solidFill>
                  <a:srgbClr val="ED1C2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4" name="object 20">
                <a:extLst>
                  <a:ext uri="{FF2B5EF4-FFF2-40B4-BE49-F238E27FC236}">
                    <a16:creationId xmlns:a16="http://schemas.microsoft.com/office/drawing/2014/main" id="{243EFCC8-F98E-4900-763D-A0FAAB5783B5}"/>
                  </a:ext>
                </a:extLst>
              </p:cNvPr>
              <p:cNvSpPr/>
              <p:nvPr/>
            </p:nvSpPr>
            <p:spPr>
              <a:xfrm>
                <a:off x="5203317" y="3667887"/>
                <a:ext cx="944244" cy="1986914"/>
              </a:xfrm>
              <a:custGeom>
                <a:avLst/>
                <a:gdLst/>
                <a:ahLst/>
                <a:cxnLst/>
                <a:rect l="l" t="t" r="r" b="b"/>
                <a:pathLst>
                  <a:path w="944245" h="1986914">
                    <a:moveTo>
                      <a:pt x="185166" y="1965960"/>
                    </a:moveTo>
                    <a:lnTo>
                      <a:pt x="185166" y="0"/>
                    </a:lnTo>
                    <a:lnTo>
                      <a:pt x="0" y="0"/>
                    </a:lnTo>
                    <a:lnTo>
                      <a:pt x="0" y="1965960"/>
                    </a:lnTo>
                    <a:lnTo>
                      <a:pt x="185166" y="1965960"/>
                    </a:lnTo>
                    <a:close/>
                  </a:path>
                  <a:path w="944245" h="1986914">
                    <a:moveTo>
                      <a:pt x="606106" y="1529766"/>
                    </a:moveTo>
                    <a:lnTo>
                      <a:pt x="214884" y="1003553"/>
                    </a:lnTo>
                    <a:lnTo>
                      <a:pt x="185166" y="982979"/>
                    </a:lnTo>
                    <a:lnTo>
                      <a:pt x="601907" y="1534033"/>
                    </a:lnTo>
                    <a:lnTo>
                      <a:pt x="606106" y="1529766"/>
                    </a:lnTo>
                    <a:close/>
                  </a:path>
                  <a:path w="944245" h="1986914">
                    <a:moveTo>
                      <a:pt x="944118" y="1986533"/>
                    </a:moveTo>
                    <a:lnTo>
                      <a:pt x="601907" y="1534033"/>
                    </a:lnTo>
                    <a:lnTo>
                      <a:pt x="370332" y="1769364"/>
                    </a:lnTo>
                    <a:lnTo>
                      <a:pt x="944118" y="1986533"/>
                    </a:lnTo>
                    <a:close/>
                  </a:path>
                  <a:path w="944245" h="1986914">
                    <a:moveTo>
                      <a:pt x="930402" y="1965959"/>
                    </a:moveTo>
                    <a:lnTo>
                      <a:pt x="793242" y="1339595"/>
                    </a:lnTo>
                    <a:lnTo>
                      <a:pt x="606106" y="1529766"/>
                    </a:lnTo>
                    <a:lnTo>
                      <a:pt x="930402" y="196595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5" name="object 21">
                <a:extLst>
                  <a:ext uri="{FF2B5EF4-FFF2-40B4-BE49-F238E27FC236}">
                    <a16:creationId xmlns:a16="http://schemas.microsoft.com/office/drawing/2014/main" id="{FFBFA443-24A9-0CDC-76CD-4B1B57D831BF}"/>
                  </a:ext>
                </a:extLst>
              </p:cNvPr>
              <p:cNvSpPr/>
              <p:nvPr/>
            </p:nvSpPr>
            <p:spPr>
              <a:xfrm>
                <a:off x="5203317" y="3667887"/>
                <a:ext cx="944244" cy="1986914"/>
              </a:xfrm>
              <a:custGeom>
                <a:avLst/>
                <a:gdLst/>
                <a:ahLst/>
                <a:cxnLst/>
                <a:rect l="l" t="t" r="r" b="b"/>
                <a:pathLst>
                  <a:path w="944245" h="1986914">
                    <a:moveTo>
                      <a:pt x="930402" y="0"/>
                    </a:moveTo>
                    <a:lnTo>
                      <a:pt x="185166" y="982980"/>
                    </a:lnTo>
                    <a:lnTo>
                      <a:pt x="185166" y="0"/>
                    </a:lnTo>
                    <a:lnTo>
                      <a:pt x="0" y="0"/>
                    </a:lnTo>
                    <a:lnTo>
                      <a:pt x="0" y="1965960"/>
                    </a:lnTo>
                    <a:lnTo>
                      <a:pt x="185166" y="1965960"/>
                    </a:lnTo>
                    <a:lnTo>
                      <a:pt x="185166" y="982980"/>
                    </a:lnTo>
                    <a:lnTo>
                      <a:pt x="214884" y="1003554"/>
                    </a:lnTo>
                    <a:lnTo>
                      <a:pt x="930402" y="1965960"/>
                    </a:lnTo>
                    <a:lnTo>
                      <a:pt x="793242" y="1339596"/>
                    </a:lnTo>
                    <a:lnTo>
                      <a:pt x="370332" y="1769364"/>
                    </a:lnTo>
                    <a:lnTo>
                      <a:pt x="944118" y="1986534"/>
                    </a:lnTo>
                    <a:lnTo>
                      <a:pt x="185166" y="982980"/>
                    </a:lnTo>
                    <a:lnTo>
                      <a:pt x="930402" y="0"/>
                    </a:lnTo>
                    <a:close/>
                  </a:path>
                  <a:path w="944245" h="1986914">
                    <a:moveTo>
                      <a:pt x="930402" y="0"/>
                    </a:moveTo>
                    <a:lnTo>
                      <a:pt x="185166" y="982980"/>
                    </a:lnTo>
                    <a:lnTo>
                      <a:pt x="185166" y="0"/>
                    </a:lnTo>
                    <a:lnTo>
                      <a:pt x="0" y="0"/>
                    </a:lnTo>
                    <a:lnTo>
                      <a:pt x="0" y="1965960"/>
                    </a:lnTo>
                    <a:lnTo>
                      <a:pt x="185166" y="1965960"/>
                    </a:lnTo>
                    <a:lnTo>
                      <a:pt x="185166" y="982980"/>
                    </a:lnTo>
                    <a:lnTo>
                      <a:pt x="214884" y="1003554"/>
                    </a:lnTo>
                    <a:lnTo>
                      <a:pt x="930402" y="1965960"/>
                    </a:lnTo>
                    <a:lnTo>
                      <a:pt x="793242" y="1339596"/>
                    </a:lnTo>
                    <a:lnTo>
                      <a:pt x="370332" y="1769364"/>
                    </a:lnTo>
                    <a:lnTo>
                      <a:pt x="944118" y="1986534"/>
                    </a:lnTo>
                    <a:lnTo>
                      <a:pt x="185166" y="982980"/>
                    </a:lnTo>
                    <a:lnTo>
                      <a:pt x="930402" y="0"/>
                    </a:lnTo>
                  </a:path>
                </a:pathLst>
              </a:custGeom>
              <a:ln w="2402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6" name="object 22">
              <a:extLst>
                <a:ext uri="{FF2B5EF4-FFF2-40B4-BE49-F238E27FC236}">
                  <a16:creationId xmlns:a16="http://schemas.microsoft.com/office/drawing/2014/main" id="{75E3DF2E-E88E-5457-04F1-455BAD512773}"/>
                </a:ext>
              </a:extLst>
            </p:cNvPr>
            <p:cNvSpPr txBox="1"/>
            <p:nvPr/>
          </p:nvSpPr>
          <p:spPr>
            <a:xfrm>
              <a:off x="5709614" y="3238614"/>
              <a:ext cx="1143883" cy="511364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sz="2700" b="1" spc="10" dirty="0">
                  <a:solidFill>
                    <a:srgbClr val="CC00CC"/>
                  </a:solidFill>
                  <a:latin typeface="Times New Roman"/>
                  <a:cs typeface="Times New Roman"/>
                </a:rPr>
                <a:t>Sortie</a:t>
              </a:r>
              <a:endParaRPr sz="2700" b="1" dirty="0">
                <a:solidFill>
                  <a:srgbClr val="CC00CC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67" name="object 23">
              <a:extLst>
                <a:ext uri="{FF2B5EF4-FFF2-40B4-BE49-F238E27FC236}">
                  <a16:creationId xmlns:a16="http://schemas.microsoft.com/office/drawing/2014/main" id="{062B61B5-76ED-03C1-1A42-42B356CB6F30}"/>
                </a:ext>
              </a:extLst>
            </p:cNvPr>
            <p:cNvSpPr txBox="1"/>
            <p:nvPr/>
          </p:nvSpPr>
          <p:spPr>
            <a:xfrm>
              <a:off x="6853497" y="2941479"/>
              <a:ext cx="669252" cy="511364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30"/>
                </a:spcBef>
              </a:pPr>
              <a:r>
                <a:rPr lang="fr-FR" sz="4050" b="1" spc="-104" baseline="16460" dirty="0">
                  <a:solidFill>
                    <a:srgbClr val="ED1C24"/>
                  </a:solidFill>
                  <a:latin typeface="Times New Roman"/>
                  <a:cs typeface="Times New Roman"/>
                </a:rPr>
                <a:t>V</a:t>
              </a:r>
              <a:r>
                <a:rPr sz="1500" b="1" spc="-70" dirty="0">
                  <a:solidFill>
                    <a:srgbClr val="ED1C24"/>
                  </a:solidFill>
                  <a:latin typeface="Times New Roman"/>
                  <a:cs typeface="Times New Roman"/>
                </a:rPr>
                <a:t>CE</a:t>
              </a:r>
              <a:endParaRPr sz="1500" b="1" dirty="0">
                <a:latin typeface="Times New Roman"/>
                <a:cs typeface="Times New Roman"/>
              </a:endParaRPr>
            </a:p>
          </p:txBody>
        </p:sp>
        <p:sp>
          <p:nvSpPr>
            <p:cNvPr id="68" name="object 26">
              <a:extLst>
                <a:ext uri="{FF2B5EF4-FFF2-40B4-BE49-F238E27FC236}">
                  <a16:creationId xmlns:a16="http://schemas.microsoft.com/office/drawing/2014/main" id="{C8E41BEC-E449-8191-20E7-260A08CA958B}"/>
                </a:ext>
              </a:extLst>
            </p:cNvPr>
            <p:cNvSpPr txBox="1"/>
            <p:nvPr/>
          </p:nvSpPr>
          <p:spPr>
            <a:xfrm>
              <a:off x="1700138" y="2317527"/>
              <a:ext cx="1456055" cy="444598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25400">
                <a:lnSpc>
                  <a:spcPts val="2805"/>
                </a:lnSpc>
                <a:spcBef>
                  <a:spcPts val="130"/>
                </a:spcBef>
              </a:pPr>
              <a:r>
                <a:rPr sz="2700" b="1" spc="10" dirty="0">
                  <a:solidFill>
                    <a:srgbClr val="CC00CC"/>
                  </a:solidFill>
                  <a:latin typeface="Times New Roman"/>
                  <a:cs typeface="Times New Roman"/>
                </a:rPr>
                <a:t>Entrée</a:t>
              </a:r>
              <a:endParaRPr sz="2700" b="1" dirty="0">
                <a:solidFill>
                  <a:srgbClr val="CC00CC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69" name="object 27">
              <a:extLst>
                <a:ext uri="{FF2B5EF4-FFF2-40B4-BE49-F238E27FC236}">
                  <a16:creationId xmlns:a16="http://schemas.microsoft.com/office/drawing/2014/main" id="{E8CFC393-C81E-7A2C-5156-2D544799F78D}"/>
                </a:ext>
              </a:extLst>
            </p:cNvPr>
            <p:cNvSpPr txBox="1"/>
            <p:nvPr/>
          </p:nvSpPr>
          <p:spPr>
            <a:xfrm>
              <a:off x="2887465" y="3320874"/>
              <a:ext cx="121920" cy="441959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sz="2700" spc="5" dirty="0">
                  <a:solidFill>
                    <a:srgbClr val="00A650"/>
                  </a:solidFill>
                  <a:latin typeface="Times New Roman"/>
                  <a:cs typeface="Times New Roman"/>
                </a:rPr>
                <a:t>i</a:t>
              </a:r>
              <a:endParaRPr sz="2700">
                <a:latin typeface="Times New Roman"/>
                <a:cs typeface="Times New Roman"/>
              </a:endParaRPr>
            </a:p>
          </p:txBody>
        </p:sp>
        <p:sp>
          <p:nvSpPr>
            <p:cNvPr id="70" name="object 28">
              <a:extLst>
                <a:ext uri="{FF2B5EF4-FFF2-40B4-BE49-F238E27FC236}">
                  <a16:creationId xmlns:a16="http://schemas.microsoft.com/office/drawing/2014/main" id="{6CBB02D1-9B3D-379F-4091-5789D1E6B848}"/>
                </a:ext>
              </a:extLst>
            </p:cNvPr>
            <p:cNvSpPr txBox="1"/>
            <p:nvPr/>
          </p:nvSpPr>
          <p:spPr>
            <a:xfrm>
              <a:off x="2969732" y="3572287"/>
              <a:ext cx="154940" cy="25844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500" spc="15" dirty="0">
                  <a:solidFill>
                    <a:srgbClr val="00A650"/>
                  </a:solidFill>
                  <a:latin typeface="Times New Roman"/>
                  <a:cs typeface="Times New Roman"/>
                </a:rPr>
                <a:t>B</a:t>
              </a:r>
              <a:endParaRPr sz="1500">
                <a:latin typeface="Times New Roman"/>
                <a:cs typeface="Times New Roman"/>
              </a:endParaRPr>
            </a:p>
          </p:txBody>
        </p:sp>
        <p:grpSp>
          <p:nvGrpSpPr>
            <p:cNvPr id="71" name="object 29">
              <a:extLst>
                <a:ext uri="{FF2B5EF4-FFF2-40B4-BE49-F238E27FC236}">
                  <a16:creationId xmlns:a16="http://schemas.microsoft.com/office/drawing/2014/main" id="{73E548A5-437D-AF1D-82A4-8A4439BF74FF}"/>
                </a:ext>
              </a:extLst>
            </p:cNvPr>
            <p:cNvGrpSpPr/>
            <p:nvPr/>
          </p:nvGrpSpPr>
          <p:grpSpPr>
            <a:xfrm>
              <a:off x="2835452" y="975731"/>
              <a:ext cx="3620135" cy="2351405"/>
              <a:chOff x="3876852" y="2474010"/>
              <a:chExt cx="3620135" cy="2351405"/>
            </a:xfrm>
          </p:grpSpPr>
          <p:sp>
            <p:nvSpPr>
              <p:cNvPr id="72" name="object 30">
                <a:extLst>
                  <a:ext uri="{FF2B5EF4-FFF2-40B4-BE49-F238E27FC236}">
                    <a16:creationId xmlns:a16="http://schemas.microsoft.com/office/drawing/2014/main" id="{DBC3B203-07F2-55B3-7BFF-6B143490DABD}"/>
                  </a:ext>
                </a:extLst>
              </p:cNvPr>
              <p:cNvSpPr/>
              <p:nvPr/>
            </p:nvSpPr>
            <p:spPr>
              <a:xfrm>
                <a:off x="3888867" y="4447413"/>
                <a:ext cx="318135" cy="365760"/>
              </a:xfrm>
              <a:custGeom>
                <a:avLst/>
                <a:gdLst/>
                <a:ahLst/>
                <a:cxnLst/>
                <a:rect l="l" t="t" r="r" b="b"/>
                <a:pathLst>
                  <a:path w="318135" h="365760">
                    <a:moveTo>
                      <a:pt x="306268" y="189490"/>
                    </a:moveTo>
                    <a:lnTo>
                      <a:pt x="0" y="0"/>
                    </a:lnTo>
                    <a:lnTo>
                      <a:pt x="64008" y="182879"/>
                    </a:lnTo>
                    <a:lnTo>
                      <a:pt x="64008" y="328920"/>
                    </a:lnTo>
                    <a:lnTo>
                      <a:pt x="306268" y="189490"/>
                    </a:lnTo>
                    <a:close/>
                  </a:path>
                  <a:path w="318135" h="365760">
                    <a:moveTo>
                      <a:pt x="64008" y="328920"/>
                    </a:moveTo>
                    <a:lnTo>
                      <a:pt x="64008" y="182879"/>
                    </a:lnTo>
                    <a:lnTo>
                      <a:pt x="0" y="365760"/>
                    </a:lnTo>
                    <a:lnTo>
                      <a:pt x="64008" y="328920"/>
                    </a:lnTo>
                    <a:close/>
                  </a:path>
                  <a:path w="318135" h="365760">
                    <a:moveTo>
                      <a:pt x="317754" y="196596"/>
                    </a:moveTo>
                    <a:lnTo>
                      <a:pt x="317754" y="182879"/>
                    </a:lnTo>
                    <a:lnTo>
                      <a:pt x="306268" y="189490"/>
                    </a:lnTo>
                    <a:lnTo>
                      <a:pt x="317754" y="196596"/>
                    </a:lnTo>
                    <a:close/>
                  </a:path>
                </a:pathLst>
              </a:custGeom>
              <a:solidFill>
                <a:srgbClr val="00A65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3" name="object 31">
                <a:extLst>
                  <a:ext uri="{FF2B5EF4-FFF2-40B4-BE49-F238E27FC236}">
                    <a16:creationId xmlns:a16="http://schemas.microsoft.com/office/drawing/2014/main" id="{1D9DC6C9-FDB5-68CE-77F7-9B9D7F823138}"/>
                  </a:ext>
                </a:extLst>
              </p:cNvPr>
              <p:cNvSpPr/>
              <p:nvPr/>
            </p:nvSpPr>
            <p:spPr>
              <a:xfrm>
                <a:off x="3888867" y="4447413"/>
                <a:ext cx="318135" cy="365760"/>
              </a:xfrm>
              <a:custGeom>
                <a:avLst/>
                <a:gdLst/>
                <a:ahLst/>
                <a:cxnLst/>
                <a:rect l="l" t="t" r="r" b="b"/>
                <a:pathLst>
                  <a:path w="318135" h="365760">
                    <a:moveTo>
                      <a:pt x="317754" y="182879"/>
                    </a:moveTo>
                    <a:lnTo>
                      <a:pt x="0" y="365760"/>
                    </a:lnTo>
                    <a:lnTo>
                      <a:pt x="64008" y="182879"/>
                    </a:lnTo>
                    <a:lnTo>
                      <a:pt x="0" y="0"/>
                    </a:lnTo>
                    <a:lnTo>
                      <a:pt x="317754" y="196596"/>
                    </a:lnTo>
                    <a:lnTo>
                      <a:pt x="317754" y="182879"/>
                    </a:lnTo>
                    <a:close/>
                  </a:path>
                  <a:path w="318135" h="365760">
                    <a:moveTo>
                      <a:pt x="317754" y="182879"/>
                    </a:moveTo>
                    <a:lnTo>
                      <a:pt x="0" y="365760"/>
                    </a:lnTo>
                    <a:lnTo>
                      <a:pt x="64008" y="182879"/>
                    </a:lnTo>
                    <a:lnTo>
                      <a:pt x="0" y="0"/>
                    </a:lnTo>
                    <a:lnTo>
                      <a:pt x="317754" y="196596"/>
                    </a:lnTo>
                    <a:lnTo>
                      <a:pt x="317754" y="182879"/>
                    </a:lnTo>
                  </a:path>
                </a:pathLst>
              </a:custGeom>
              <a:ln w="24028">
                <a:solidFill>
                  <a:srgbClr val="00A65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4" name="object 32">
                <a:extLst>
                  <a:ext uri="{FF2B5EF4-FFF2-40B4-BE49-F238E27FC236}">
                    <a16:creationId xmlns:a16="http://schemas.microsoft.com/office/drawing/2014/main" id="{9587C734-51FA-BB64-A534-6D73DD59604F}"/>
                  </a:ext>
                </a:extLst>
              </p:cNvPr>
              <p:cNvSpPr/>
              <p:nvPr/>
            </p:nvSpPr>
            <p:spPr>
              <a:xfrm>
                <a:off x="7166991" y="2486025"/>
                <a:ext cx="318135" cy="365760"/>
              </a:xfrm>
              <a:custGeom>
                <a:avLst/>
                <a:gdLst/>
                <a:ahLst/>
                <a:cxnLst/>
                <a:rect l="l" t="t" r="r" b="b"/>
                <a:pathLst>
                  <a:path w="318134" h="365760">
                    <a:moveTo>
                      <a:pt x="11485" y="189490"/>
                    </a:moveTo>
                    <a:lnTo>
                      <a:pt x="0" y="182879"/>
                    </a:lnTo>
                    <a:lnTo>
                      <a:pt x="0" y="196595"/>
                    </a:lnTo>
                    <a:lnTo>
                      <a:pt x="11485" y="189490"/>
                    </a:lnTo>
                    <a:close/>
                  </a:path>
                  <a:path w="318134" h="365760">
                    <a:moveTo>
                      <a:pt x="317753" y="0"/>
                    </a:moveTo>
                    <a:lnTo>
                      <a:pt x="11485" y="189490"/>
                    </a:lnTo>
                    <a:lnTo>
                      <a:pt x="256031" y="330236"/>
                    </a:lnTo>
                    <a:lnTo>
                      <a:pt x="256031" y="182879"/>
                    </a:lnTo>
                    <a:lnTo>
                      <a:pt x="317753" y="0"/>
                    </a:lnTo>
                    <a:close/>
                  </a:path>
                  <a:path w="318134" h="365760">
                    <a:moveTo>
                      <a:pt x="317753" y="365759"/>
                    </a:moveTo>
                    <a:lnTo>
                      <a:pt x="256031" y="182879"/>
                    </a:lnTo>
                    <a:lnTo>
                      <a:pt x="256031" y="330236"/>
                    </a:lnTo>
                    <a:lnTo>
                      <a:pt x="317753" y="365759"/>
                    </a:lnTo>
                    <a:close/>
                  </a:path>
                </a:pathLst>
              </a:custGeom>
              <a:solidFill>
                <a:srgbClr val="00A65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5" name="object 33">
                <a:extLst>
                  <a:ext uri="{FF2B5EF4-FFF2-40B4-BE49-F238E27FC236}">
                    <a16:creationId xmlns:a16="http://schemas.microsoft.com/office/drawing/2014/main" id="{455D63F0-1902-3BDA-28AD-F9F9B5C092BF}"/>
                  </a:ext>
                </a:extLst>
              </p:cNvPr>
              <p:cNvSpPr/>
              <p:nvPr/>
            </p:nvSpPr>
            <p:spPr>
              <a:xfrm>
                <a:off x="7166991" y="2486025"/>
                <a:ext cx="318135" cy="365760"/>
              </a:xfrm>
              <a:custGeom>
                <a:avLst/>
                <a:gdLst/>
                <a:ahLst/>
                <a:cxnLst/>
                <a:rect l="l" t="t" r="r" b="b"/>
                <a:pathLst>
                  <a:path w="318134" h="365760">
                    <a:moveTo>
                      <a:pt x="0" y="182879"/>
                    </a:moveTo>
                    <a:lnTo>
                      <a:pt x="317753" y="365759"/>
                    </a:lnTo>
                    <a:lnTo>
                      <a:pt x="256031" y="182879"/>
                    </a:lnTo>
                    <a:lnTo>
                      <a:pt x="317753" y="0"/>
                    </a:lnTo>
                    <a:lnTo>
                      <a:pt x="0" y="196595"/>
                    </a:lnTo>
                    <a:lnTo>
                      <a:pt x="0" y="182879"/>
                    </a:lnTo>
                    <a:close/>
                  </a:path>
                  <a:path w="318134" h="365760">
                    <a:moveTo>
                      <a:pt x="0" y="182879"/>
                    </a:moveTo>
                    <a:lnTo>
                      <a:pt x="317753" y="365759"/>
                    </a:lnTo>
                    <a:lnTo>
                      <a:pt x="256031" y="182879"/>
                    </a:lnTo>
                    <a:lnTo>
                      <a:pt x="317753" y="0"/>
                    </a:lnTo>
                    <a:lnTo>
                      <a:pt x="0" y="196595"/>
                    </a:lnTo>
                    <a:lnTo>
                      <a:pt x="0" y="182879"/>
                    </a:lnTo>
                  </a:path>
                </a:pathLst>
              </a:custGeom>
              <a:ln w="24028">
                <a:solidFill>
                  <a:srgbClr val="00A65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76" name="object 34">
              <a:extLst>
                <a:ext uri="{FF2B5EF4-FFF2-40B4-BE49-F238E27FC236}">
                  <a16:creationId xmlns:a16="http://schemas.microsoft.com/office/drawing/2014/main" id="{7F89B28B-6A23-7F4D-B234-D267D1D97C13}"/>
                </a:ext>
              </a:extLst>
            </p:cNvPr>
            <p:cNvSpPr txBox="1"/>
            <p:nvPr/>
          </p:nvSpPr>
          <p:spPr>
            <a:xfrm>
              <a:off x="5273653" y="4433995"/>
              <a:ext cx="277495" cy="441959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30"/>
                </a:spcBef>
              </a:pPr>
              <a:r>
                <a:rPr sz="2700" spc="-45" dirty="0">
                  <a:solidFill>
                    <a:srgbClr val="00A650"/>
                  </a:solidFill>
                  <a:latin typeface="Times New Roman"/>
                  <a:cs typeface="Times New Roman"/>
                </a:rPr>
                <a:t>i</a:t>
              </a:r>
              <a:r>
                <a:rPr sz="2250" spc="-67" baseline="-29629" dirty="0">
                  <a:solidFill>
                    <a:srgbClr val="00A650"/>
                  </a:solidFill>
                  <a:latin typeface="Times New Roman"/>
                  <a:cs typeface="Times New Roman"/>
                </a:rPr>
                <a:t>E</a:t>
              </a:r>
              <a:endParaRPr sz="2250" baseline="-29629">
                <a:latin typeface="Times New Roman"/>
                <a:cs typeface="Times New Roman"/>
              </a:endParaRPr>
            </a:p>
          </p:txBody>
        </p:sp>
        <p:sp>
          <p:nvSpPr>
            <p:cNvPr id="77" name="object 37">
              <a:extLst>
                <a:ext uri="{FF2B5EF4-FFF2-40B4-BE49-F238E27FC236}">
                  <a16:creationId xmlns:a16="http://schemas.microsoft.com/office/drawing/2014/main" id="{6D2334A7-DFC8-AD3D-EE02-4967A3027D43}"/>
                </a:ext>
              </a:extLst>
            </p:cNvPr>
            <p:cNvSpPr txBox="1"/>
            <p:nvPr/>
          </p:nvSpPr>
          <p:spPr>
            <a:xfrm>
              <a:off x="6139992" y="1254295"/>
              <a:ext cx="288290" cy="441959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30"/>
                </a:spcBef>
              </a:pPr>
              <a:r>
                <a:rPr sz="2700" spc="-45" dirty="0">
                  <a:solidFill>
                    <a:srgbClr val="00A650"/>
                  </a:solidFill>
                  <a:latin typeface="Times New Roman"/>
                  <a:cs typeface="Times New Roman"/>
                </a:rPr>
                <a:t>i</a:t>
              </a:r>
              <a:r>
                <a:rPr sz="2250" spc="-67" baseline="-27777" dirty="0">
                  <a:solidFill>
                    <a:srgbClr val="00A650"/>
                  </a:solidFill>
                  <a:latin typeface="Times New Roman"/>
                  <a:cs typeface="Times New Roman"/>
                </a:rPr>
                <a:t>C</a:t>
              </a:r>
              <a:endParaRPr sz="2250" baseline="-27777">
                <a:latin typeface="Times New Roman"/>
                <a:cs typeface="Times New Roman"/>
              </a:endParaRP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1DBE6C8C-B0C5-A83A-CA70-C4CCC62937FE}"/>
              </a:ext>
            </a:extLst>
          </p:cNvPr>
          <p:cNvSpPr txBox="1"/>
          <p:nvPr/>
        </p:nvSpPr>
        <p:spPr>
          <a:xfrm>
            <a:off x="633704" y="1739323"/>
            <a:ext cx="2591972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fr-FR" sz="1800" b="1" dirty="0">
                <a:solidFill>
                  <a:schemeClr val="tx1"/>
                </a:solidFill>
                <a:latin typeface="Bookman Old Style" panose="02050604050505020204" pitchFamily="18" charset="0"/>
                <a:ea typeface="Times New Roman"/>
                <a:cs typeface="Arial"/>
              </a:rPr>
              <a:t>Emetteur commun</a:t>
            </a:r>
          </a:p>
        </p:txBody>
      </p:sp>
    </p:spTree>
    <p:extLst>
      <p:ext uri="{BB962C8B-B14F-4D97-AF65-F5344CB8AC3E}">
        <p14:creationId xmlns:p14="http://schemas.microsoft.com/office/powerpoint/2010/main" val="32738707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6"/>
            <a:ext cx="52086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-Transistor-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1620" y="507690"/>
            <a:ext cx="69931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4. Polarisation </a:t>
            </a:r>
            <a:r>
              <a:rPr lang="fr-FR" sz="18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du transistor</a:t>
            </a:r>
            <a:endParaRPr lang="fr-FR" b="1" spc="-5" dirty="0">
              <a:solidFill>
                <a:srgbClr val="FF0000"/>
              </a:solidFill>
              <a:latin typeface="Bookman Old Style" panose="02050604050505020204" pitchFamily="18" charset="0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715000" y="365260"/>
            <a:ext cx="3328256" cy="10117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46">
            <a:extLst>
              <a:ext uri="{FF2B5EF4-FFF2-40B4-BE49-F238E27FC236}">
                <a16:creationId xmlns:a16="http://schemas.microsoft.com/office/drawing/2014/main" id="{7198176F-4D83-4A98-1EFA-F78693C2B68B}"/>
              </a:ext>
            </a:extLst>
          </p:cNvPr>
          <p:cNvSpPr txBox="1"/>
          <p:nvPr/>
        </p:nvSpPr>
        <p:spPr>
          <a:xfrm>
            <a:off x="8828933" y="486598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37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3206C0-B920-4CD8-8FF9-7BD8ABA1AB10}"/>
              </a:ext>
            </a:extLst>
          </p:cNvPr>
          <p:cNvSpPr txBox="1"/>
          <p:nvPr/>
        </p:nvSpPr>
        <p:spPr>
          <a:xfrm>
            <a:off x="561620" y="749576"/>
            <a:ext cx="561363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4.1 Fonctionnement normal du transistor bipolaire</a:t>
            </a:r>
            <a:br>
              <a:rPr lang="fr-FR" sz="1600" b="1"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</a:br>
            <a:r>
              <a:rPr lang="fr-FR" sz="1600" b="1"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 </a:t>
            </a:r>
            <a:br>
              <a:rPr lang="fr-FR" sz="1800" dirty="0"/>
            </a:br>
            <a:endParaRPr lang="fr-F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8B8603-E2A2-1978-77F7-1AFE2B133BAE}"/>
              </a:ext>
            </a:extLst>
          </p:cNvPr>
          <p:cNvSpPr txBox="1"/>
          <p:nvPr/>
        </p:nvSpPr>
        <p:spPr>
          <a:xfrm>
            <a:off x="576301" y="1066486"/>
            <a:ext cx="84200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algn="just">
              <a:defRPr sz="1600">
                <a:latin typeface="Bookman Old Style" panose="02050604050505020204" pitchFamily="18" charset="0"/>
              </a:defRPr>
            </a:lvl1pPr>
          </a:lstStyle>
          <a:p>
            <a:r>
              <a:rPr lang="fr-FR" dirty="0"/>
              <a:t>Lorsqu'un </a:t>
            </a:r>
            <a:r>
              <a:rPr lang="fr-FR" b="1" dirty="0"/>
              <a:t>transistor (NPN) </a:t>
            </a:r>
            <a:r>
              <a:rPr lang="fr-FR" dirty="0"/>
              <a:t>est utilisé en </a:t>
            </a:r>
            <a:r>
              <a:rPr lang="fr-FR" b="1" dirty="0"/>
              <a:t>régime normal</a:t>
            </a:r>
            <a:r>
              <a:rPr lang="fr-FR" dirty="0"/>
              <a:t>, </a:t>
            </a:r>
            <a:r>
              <a:rPr lang="fr-FR" b="1" dirty="0"/>
              <a:t>trois montages </a:t>
            </a:r>
            <a:r>
              <a:rPr lang="fr-FR" dirty="0"/>
              <a:t>sont </a:t>
            </a:r>
            <a:r>
              <a:rPr lang="fr-FR" b="1" dirty="0"/>
              <a:t>donc possibles:</a:t>
            </a:r>
            <a:endParaRPr lang="fr-FR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DBE6C8C-B0C5-A83A-CA70-C4CCC62937FE}"/>
              </a:ext>
            </a:extLst>
          </p:cNvPr>
          <p:cNvSpPr txBox="1"/>
          <p:nvPr/>
        </p:nvSpPr>
        <p:spPr>
          <a:xfrm>
            <a:off x="633704" y="1739323"/>
            <a:ext cx="2591972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fr-FR" sz="1800" b="1" dirty="0">
                <a:solidFill>
                  <a:schemeClr val="tx1"/>
                </a:solidFill>
                <a:latin typeface="Bookman Old Style" panose="02050604050505020204" pitchFamily="18" charset="0"/>
                <a:ea typeface="Times New Roman"/>
                <a:cs typeface="Arial"/>
              </a:rPr>
              <a:t>Collecteur commun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4ED8C61-529C-42B2-04E8-461E4560B541}"/>
              </a:ext>
            </a:extLst>
          </p:cNvPr>
          <p:cNvGrpSpPr/>
          <p:nvPr/>
        </p:nvGrpSpPr>
        <p:grpSpPr>
          <a:xfrm>
            <a:off x="1480100" y="1573049"/>
            <a:ext cx="6437432" cy="3371152"/>
            <a:chOff x="489187" y="719003"/>
            <a:chExt cx="8112501" cy="4452963"/>
          </a:xfrm>
        </p:grpSpPr>
        <p:grpSp>
          <p:nvGrpSpPr>
            <p:cNvPr id="20" name="object 7">
              <a:extLst>
                <a:ext uri="{FF2B5EF4-FFF2-40B4-BE49-F238E27FC236}">
                  <a16:creationId xmlns:a16="http://schemas.microsoft.com/office/drawing/2014/main" id="{629811B7-6339-1FD7-BDAC-8C404D3633EA}"/>
                </a:ext>
              </a:extLst>
            </p:cNvPr>
            <p:cNvGrpSpPr/>
            <p:nvPr/>
          </p:nvGrpSpPr>
          <p:grpSpPr>
            <a:xfrm>
              <a:off x="1791313" y="908576"/>
              <a:ext cx="6810375" cy="4263390"/>
              <a:chOff x="2236152" y="2518092"/>
              <a:chExt cx="6810375" cy="4263390"/>
            </a:xfrm>
          </p:grpSpPr>
          <p:sp>
            <p:nvSpPr>
              <p:cNvPr id="21" name="object 8">
                <a:extLst>
                  <a:ext uri="{FF2B5EF4-FFF2-40B4-BE49-F238E27FC236}">
                    <a16:creationId xmlns:a16="http://schemas.microsoft.com/office/drawing/2014/main" id="{F0A92F36-82B5-0211-1DC1-8CBB75B4040F}"/>
                  </a:ext>
                </a:extLst>
              </p:cNvPr>
              <p:cNvSpPr/>
              <p:nvPr/>
            </p:nvSpPr>
            <p:spPr>
              <a:xfrm>
                <a:off x="3950588" y="4648580"/>
                <a:ext cx="107251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072514">
                    <a:moveTo>
                      <a:pt x="1072134" y="0"/>
                    </a:moveTo>
                    <a:lnTo>
                      <a:pt x="0" y="0"/>
                    </a:lnTo>
                  </a:path>
                </a:pathLst>
              </a:custGeom>
              <a:ln w="2697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" name="object 9">
                <a:extLst>
                  <a:ext uri="{FF2B5EF4-FFF2-40B4-BE49-F238E27FC236}">
                    <a16:creationId xmlns:a16="http://schemas.microsoft.com/office/drawing/2014/main" id="{A540E167-83C2-AF38-0897-B569BE22E4CD}"/>
                  </a:ext>
                </a:extLst>
              </p:cNvPr>
              <p:cNvSpPr/>
              <p:nvPr/>
            </p:nvSpPr>
            <p:spPr>
              <a:xfrm>
                <a:off x="2249804" y="4648580"/>
                <a:ext cx="1701164" cy="0"/>
              </a:xfrm>
              <a:custGeom>
                <a:avLst/>
                <a:gdLst/>
                <a:ahLst/>
                <a:cxnLst/>
                <a:rect l="l" t="t" r="r" b="b"/>
                <a:pathLst>
                  <a:path w="1701164">
                    <a:moveTo>
                      <a:pt x="1700783" y="0"/>
                    </a:moveTo>
                    <a:lnTo>
                      <a:pt x="0" y="0"/>
                    </a:lnTo>
                  </a:path>
                </a:pathLst>
              </a:custGeom>
              <a:ln w="2697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" name="object 10">
                <a:extLst>
                  <a:ext uri="{FF2B5EF4-FFF2-40B4-BE49-F238E27FC236}">
                    <a16:creationId xmlns:a16="http://schemas.microsoft.com/office/drawing/2014/main" id="{2F7C1F16-2311-1215-1257-13FD193B1273}"/>
                  </a:ext>
                </a:extLst>
              </p:cNvPr>
              <p:cNvSpPr/>
              <p:nvPr/>
            </p:nvSpPr>
            <p:spPr>
              <a:xfrm>
                <a:off x="6065138" y="2531744"/>
                <a:ext cx="0" cy="1068070"/>
              </a:xfrm>
              <a:custGeom>
                <a:avLst/>
                <a:gdLst/>
                <a:ahLst/>
                <a:cxnLst/>
                <a:rect l="l" t="t" r="r" b="b"/>
                <a:pathLst>
                  <a:path h="1068070">
                    <a:moveTo>
                      <a:pt x="0" y="1067562"/>
                    </a:moveTo>
                    <a:lnTo>
                      <a:pt x="0" y="0"/>
                    </a:lnTo>
                  </a:path>
                </a:pathLst>
              </a:custGeom>
              <a:ln w="2697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" name="object 11">
                <a:extLst>
                  <a:ext uri="{FF2B5EF4-FFF2-40B4-BE49-F238E27FC236}">
                    <a16:creationId xmlns:a16="http://schemas.microsoft.com/office/drawing/2014/main" id="{D1AA1C8B-EC63-FE9F-4A47-831EB9403C1D}"/>
                  </a:ext>
                </a:extLst>
              </p:cNvPr>
              <p:cNvSpPr/>
              <p:nvPr/>
            </p:nvSpPr>
            <p:spPr>
              <a:xfrm>
                <a:off x="6065138" y="2550032"/>
                <a:ext cx="294259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942590">
                    <a:moveTo>
                      <a:pt x="0" y="0"/>
                    </a:moveTo>
                    <a:lnTo>
                      <a:pt x="2942082" y="0"/>
                    </a:lnTo>
                  </a:path>
                </a:pathLst>
              </a:custGeom>
              <a:ln w="2697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" name="object 12">
                <a:extLst>
                  <a:ext uri="{FF2B5EF4-FFF2-40B4-BE49-F238E27FC236}">
                    <a16:creationId xmlns:a16="http://schemas.microsoft.com/office/drawing/2014/main" id="{9E2A46DA-5C47-A25A-68D1-CB8369ADC4A0}"/>
                  </a:ext>
                </a:extLst>
              </p:cNvPr>
              <p:cNvSpPr/>
              <p:nvPr/>
            </p:nvSpPr>
            <p:spPr>
              <a:xfrm>
                <a:off x="8639174" y="2694050"/>
                <a:ext cx="338455" cy="388620"/>
              </a:xfrm>
              <a:custGeom>
                <a:avLst/>
                <a:gdLst/>
                <a:ahLst/>
                <a:cxnLst/>
                <a:rect l="l" t="t" r="r" b="b"/>
                <a:pathLst>
                  <a:path w="338454" h="388619">
                    <a:moveTo>
                      <a:pt x="338327" y="388619"/>
                    </a:moveTo>
                    <a:lnTo>
                      <a:pt x="169164" y="11429"/>
                    </a:lnTo>
                    <a:lnTo>
                      <a:pt x="169164" y="0"/>
                    </a:lnTo>
                    <a:lnTo>
                      <a:pt x="0" y="379475"/>
                    </a:lnTo>
                    <a:lnTo>
                      <a:pt x="169164" y="315467"/>
                    </a:lnTo>
                    <a:lnTo>
                      <a:pt x="338327" y="388619"/>
                    </a:lnTo>
                    <a:close/>
                  </a:path>
                </a:pathLst>
              </a:custGeom>
              <a:solidFill>
                <a:srgbClr val="ED1C2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" name="object 13">
                <a:extLst>
                  <a:ext uri="{FF2B5EF4-FFF2-40B4-BE49-F238E27FC236}">
                    <a16:creationId xmlns:a16="http://schemas.microsoft.com/office/drawing/2014/main" id="{A7E1ADE2-89E6-4C3A-AB3F-8355C0B8D0D5}"/>
                  </a:ext>
                </a:extLst>
              </p:cNvPr>
              <p:cNvSpPr/>
              <p:nvPr/>
            </p:nvSpPr>
            <p:spPr>
              <a:xfrm>
                <a:off x="6065138" y="5729858"/>
                <a:ext cx="0" cy="1038225"/>
              </a:xfrm>
              <a:custGeom>
                <a:avLst/>
                <a:gdLst/>
                <a:ahLst/>
                <a:cxnLst/>
                <a:rect l="l" t="t" r="r" b="b"/>
                <a:pathLst>
                  <a:path h="1038225">
                    <a:moveTo>
                      <a:pt x="0" y="0"/>
                    </a:moveTo>
                    <a:lnTo>
                      <a:pt x="0" y="1037844"/>
                    </a:lnTo>
                  </a:path>
                </a:pathLst>
              </a:custGeom>
              <a:ln w="2697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" name="object 14">
                <a:extLst>
                  <a:ext uri="{FF2B5EF4-FFF2-40B4-BE49-F238E27FC236}">
                    <a16:creationId xmlns:a16="http://schemas.microsoft.com/office/drawing/2014/main" id="{EDFE7EA0-60CE-C0F1-BEB6-4D284BAF1764}"/>
                  </a:ext>
                </a:extLst>
              </p:cNvPr>
              <p:cNvSpPr/>
              <p:nvPr/>
            </p:nvSpPr>
            <p:spPr>
              <a:xfrm>
                <a:off x="5877686" y="6093333"/>
                <a:ext cx="372745" cy="375285"/>
              </a:xfrm>
              <a:custGeom>
                <a:avLst/>
                <a:gdLst/>
                <a:ahLst/>
                <a:cxnLst/>
                <a:rect l="l" t="t" r="r" b="b"/>
                <a:pathLst>
                  <a:path w="372745" h="375285">
                    <a:moveTo>
                      <a:pt x="372617" y="374903"/>
                    </a:moveTo>
                    <a:lnTo>
                      <a:pt x="180796" y="13310"/>
                    </a:lnTo>
                    <a:lnTo>
                      <a:pt x="0" y="374904"/>
                    </a:lnTo>
                    <a:lnTo>
                      <a:pt x="187451" y="299465"/>
                    </a:lnTo>
                    <a:lnTo>
                      <a:pt x="372617" y="374903"/>
                    </a:lnTo>
                    <a:close/>
                  </a:path>
                  <a:path w="372745" h="375285">
                    <a:moveTo>
                      <a:pt x="187451" y="0"/>
                    </a:moveTo>
                    <a:lnTo>
                      <a:pt x="173736" y="0"/>
                    </a:lnTo>
                    <a:lnTo>
                      <a:pt x="180796" y="13310"/>
                    </a:lnTo>
                    <a:lnTo>
                      <a:pt x="187451" y="0"/>
                    </a:lnTo>
                    <a:close/>
                  </a:path>
                </a:pathLst>
              </a:custGeom>
              <a:solidFill>
                <a:srgbClr val="00A65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8" name="object 15">
                <a:extLst>
                  <a:ext uri="{FF2B5EF4-FFF2-40B4-BE49-F238E27FC236}">
                    <a16:creationId xmlns:a16="http://schemas.microsoft.com/office/drawing/2014/main" id="{7026560A-39D4-8DE2-1B34-F5B6D39030E5}"/>
                  </a:ext>
                </a:extLst>
              </p:cNvPr>
              <p:cNvSpPr/>
              <p:nvPr/>
            </p:nvSpPr>
            <p:spPr>
              <a:xfrm>
                <a:off x="5877686" y="6093333"/>
                <a:ext cx="372745" cy="375285"/>
              </a:xfrm>
              <a:custGeom>
                <a:avLst/>
                <a:gdLst/>
                <a:ahLst/>
                <a:cxnLst/>
                <a:rect l="l" t="t" r="r" b="b"/>
                <a:pathLst>
                  <a:path w="372745" h="375285">
                    <a:moveTo>
                      <a:pt x="187451" y="0"/>
                    </a:moveTo>
                    <a:lnTo>
                      <a:pt x="0" y="374904"/>
                    </a:lnTo>
                    <a:lnTo>
                      <a:pt x="187451" y="299465"/>
                    </a:lnTo>
                    <a:lnTo>
                      <a:pt x="372617" y="374903"/>
                    </a:lnTo>
                    <a:lnTo>
                      <a:pt x="173736" y="0"/>
                    </a:lnTo>
                    <a:lnTo>
                      <a:pt x="187451" y="0"/>
                    </a:lnTo>
                    <a:close/>
                  </a:path>
                  <a:path w="372745" h="375285">
                    <a:moveTo>
                      <a:pt x="187451" y="0"/>
                    </a:moveTo>
                    <a:lnTo>
                      <a:pt x="0" y="374904"/>
                    </a:lnTo>
                    <a:lnTo>
                      <a:pt x="187451" y="299465"/>
                    </a:lnTo>
                    <a:lnTo>
                      <a:pt x="372617" y="374903"/>
                    </a:lnTo>
                    <a:lnTo>
                      <a:pt x="173736" y="0"/>
                    </a:lnTo>
                    <a:lnTo>
                      <a:pt x="187451" y="0"/>
                    </a:lnTo>
                  </a:path>
                </a:pathLst>
              </a:custGeom>
              <a:ln w="26974">
                <a:solidFill>
                  <a:srgbClr val="00A65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9" name="object 16">
                <a:extLst>
                  <a:ext uri="{FF2B5EF4-FFF2-40B4-BE49-F238E27FC236}">
                    <a16:creationId xmlns:a16="http://schemas.microsoft.com/office/drawing/2014/main" id="{DC0602F2-109D-E074-74AC-AEAD1807F68F}"/>
                  </a:ext>
                </a:extLst>
              </p:cNvPr>
              <p:cNvSpPr/>
              <p:nvPr/>
            </p:nvSpPr>
            <p:spPr>
              <a:xfrm>
                <a:off x="2286380" y="6767702"/>
                <a:ext cx="674624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746240">
                    <a:moveTo>
                      <a:pt x="0" y="0"/>
                    </a:moveTo>
                    <a:lnTo>
                      <a:pt x="6745986" y="0"/>
                    </a:lnTo>
                  </a:path>
                </a:pathLst>
              </a:custGeom>
              <a:ln w="2697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0" name="object 17">
                <a:extLst>
                  <a:ext uri="{FF2B5EF4-FFF2-40B4-BE49-F238E27FC236}">
                    <a16:creationId xmlns:a16="http://schemas.microsoft.com/office/drawing/2014/main" id="{CE0D4B3C-C34F-B6C3-5CD2-E077EADABFAB}"/>
                  </a:ext>
                </a:extLst>
              </p:cNvPr>
              <p:cNvSpPr/>
              <p:nvPr/>
            </p:nvSpPr>
            <p:spPr>
              <a:xfrm>
                <a:off x="2482976" y="4797170"/>
                <a:ext cx="336550" cy="388620"/>
              </a:xfrm>
              <a:custGeom>
                <a:avLst/>
                <a:gdLst/>
                <a:ahLst/>
                <a:cxnLst/>
                <a:rect l="l" t="t" r="r" b="b"/>
                <a:pathLst>
                  <a:path w="336550" h="388620">
                    <a:moveTo>
                      <a:pt x="336042" y="388619"/>
                    </a:moveTo>
                    <a:lnTo>
                      <a:pt x="169164" y="11429"/>
                    </a:lnTo>
                    <a:lnTo>
                      <a:pt x="169164" y="0"/>
                    </a:lnTo>
                    <a:lnTo>
                      <a:pt x="0" y="379475"/>
                    </a:lnTo>
                    <a:lnTo>
                      <a:pt x="169164" y="313181"/>
                    </a:lnTo>
                    <a:lnTo>
                      <a:pt x="336042" y="388619"/>
                    </a:lnTo>
                    <a:close/>
                  </a:path>
                </a:pathLst>
              </a:custGeom>
              <a:solidFill>
                <a:srgbClr val="ED1C2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1" name="object 18">
                <a:extLst>
                  <a:ext uri="{FF2B5EF4-FFF2-40B4-BE49-F238E27FC236}">
                    <a16:creationId xmlns:a16="http://schemas.microsoft.com/office/drawing/2014/main" id="{C8B353A6-37F2-D8B6-4DA0-8EDE91218F40}"/>
                  </a:ext>
                </a:extLst>
              </p:cNvPr>
              <p:cNvSpPr/>
              <p:nvPr/>
            </p:nvSpPr>
            <p:spPr>
              <a:xfrm>
                <a:off x="2480690" y="2694050"/>
                <a:ext cx="6497320" cy="3888740"/>
              </a:xfrm>
              <a:custGeom>
                <a:avLst/>
                <a:gdLst/>
                <a:ahLst/>
                <a:cxnLst/>
                <a:rect l="l" t="t" r="r" b="b"/>
                <a:pathLst>
                  <a:path w="6497320" h="3888740">
                    <a:moveTo>
                      <a:pt x="171450" y="3888485"/>
                    </a:moveTo>
                    <a:lnTo>
                      <a:pt x="171450" y="2103120"/>
                    </a:lnTo>
                    <a:lnTo>
                      <a:pt x="2285" y="2482596"/>
                    </a:lnTo>
                    <a:lnTo>
                      <a:pt x="171450" y="2416302"/>
                    </a:lnTo>
                    <a:lnTo>
                      <a:pt x="338327" y="2491740"/>
                    </a:lnTo>
                    <a:lnTo>
                      <a:pt x="171450" y="2114550"/>
                    </a:lnTo>
                    <a:lnTo>
                      <a:pt x="171450" y="3888485"/>
                    </a:lnTo>
                    <a:close/>
                  </a:path>
                  <a:path w="6497320" h="3888740">
                    <a:moveTo>
                      <a:pt x="169163" y="3888485"/>
                    </a:moveTo>
                    <a:lnTo>
                      <a:pt x="169163" y="2100834"/>
                    </a:lnTo>
                    <a:lnTo>
                      <a:pt x="0" y="2480310"/>
                    </a:lnTo>
                    <a:lnTo>
                      <a:pt x="169163" y="2416302"/>
                    </a:lnTo>
                    <a:lnTo>
                      <a:pt x="336041" y="2489454"/>
                    </a:lnTo>
                    <a:lnTo>
                      <a:pt x="169163" y="2112264"/>
                    </a:lnTo>
                    <a:lnTo>
                      <a:pt x="169163" y="3888485"/>
                    </a:lnTo>
                  </a:path>
                  <a:path w="6497320" h="3888740">
                    <a:moveTo>
                      <a:pt x="6327648" y="3888485"/>
                    </a:moveTo>
                    <a:lnTo>
                      <a:pt x="6327648" y="0"/>
                    </a:lnTo>
                    <a:lnTo>
                      <a:pt x="6158483" y="379475"/>
                    </a:lnTo>
                    <a:lnTo>
                      <a:pt x="6327648" y="315467"/>
                    </a:lnTo>
                    <a:lnTo>
                      <a:pt x="6496811" y="388619"/>
                    </a:lnTo>
                    <a:lnTo>
                      <a:pt x="6327648" y="11429"/>
                    </a:lnTo>
                    <a:lnTo>
                      <a:pt x="6327648" y="3888485"/>
                    </a:lnTo>
                    <a:close/>
                  </a:path>
                  <a:path w="6497320" h="3888740">
                    <a:moveTo>
                      <a:pt x="6325361" y="3888485"/>
                    </a:moveTo>
                    <a:lnTo>
                      <a:pt x="6325361" y="0"/>
                    </a:lnTo>
                    <a:lnTo>
                      <a:pt x="6156198" y="379475"/>
                    </a:lnTo>
                    <a:lnTo>
                      <a:pt x="6325361" y="313181"/>
                    </a:lnTo>
                    <a:lnTo>
                      <a:pt x="6494526" y="388619"/>
                    </a:lnTo>
                    <a:lnTo>
                      <a:pt x="6325361" y="11429"/>
                    </a:lnTo>
                    <a:lnTo>
                      <a:pt x="6325361" y="3888485"/>
                    </a:lnTo>
                  </a:path>
                </a:pathLst>
              </a:custGeom>
              <a:ln w="12700">
                <a:solidFill>
                  <a:srgbClr val="ED1C2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2" name="object 19">
                <a:extLst>
                  <a:ext uri="{FF2B5EF4-FFF2-40B4-BE49-F238E27FC236}">
                    <a16:creationId xmlns:a16="http://schemas.microsoft.com/office/drawing/2014/main" id="{AC288DF8-043D-ACFB-180F-33CD97150CA5}"/>
                  </a:ext>
                </a:extLst>
              </p:cNvPr>
              <p:cNvSpPr/>
              <p:nvPr/>
            </p:nvSpPr>
            <p:spPr>
              <a:xfrm>
                <a:off x="5020436" y="3608450"/>
                <a:ext cx="1056640" cy="2124075"/>
              </a:xfrm>
              <a:custGeom>
                <a:avLst/>
                <a:gdLst/>
                <a:ahLst/>
                <a:cxnLst/>
                <a:rect l="l" t="t" r="r" b="b"/>
                <a:pathLst>
                  <a:path w="1056639" h="2124075">
                    <a:moveTo>
                      <a:pt x="208025" y="2123694"/>
                    </a:moveTo>
                    <a:lnTo>
                      <a:pt x="208025" y="22860"/>
                    </a:lnTo>
                    <a:lnTo>
                      <a:pt x="0" y="22860"/>
                    </a:lnTo>
                    <a:lnTo>
                      <a:pt x="0" y="2123694"/>
                    </a:lnTo>
                    <a:lnTo>
                      <a:pt x="208025" y="2123694"/>
                    </a:lnTo>
                    <a:close/>
                  </a:path>
                  <a:path w="1056639" h="2124075">
                    <a:moveTo>
                      <a:pt x="678440" y="487889"/>
                    </a:moveTo>
                    <a:lnTo>
                      <a:pt x="673774" y="483357"/>
                    </a:lnTo>
                    <a:lnTo>
                      <a:pt x="208025" y="1072134"/>
                    </a:lnTo>
                    <a:lnTo>
                      <a:pt x="240029" y="1051560"/>
                    </a:lnTo>
                    <a:lnTo>
                      <a:pt x="678440" y="487889"/>
                    </a:lnTo>
                    <a:close/>
                  </a:path>
                  <a:path w="1056639" h="2124075">
                    <a:moveTo>
                      <a:pt x="1056132" y="0"/>
                    </a:moveTo>
                    <a:lnTo>
                      <a:pt x="413765" y="230886"/>
                    </a:lnTo>
                    <a:lnTo>
                      <a:pt x="673774" y="483357"/>
                    </a:lnTo>
                    <a:lnTo>
                      <a:pt x="1056132" y="0"/>
                    </a:lnTo>
                    <a:close/>
                  </a:path>
                  <a:path w="1056639" h="2124075">
                    <a:moveTo>
                      <a:pt x="1040129" y="22860"/>
                    </a:moveTo>
                    <a:lnTo>
                      <a:pt x="678440" y="487889"/>
                    </a:lnTo>
                    <a:lnTo>
                      <a:pt x="886967" y="690372"/>
                    </a:lnTo>
                    <a:lnTo>
                      <a:pt x="1040129" y="2286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3" name="object 20">
                <a:extLst>
                  <a:ext uri="{FF2B5EF4-FFF2-40B4-BE49-F238E27FC236}">
                    <a16:creationId xmlns:a16="http://schemas.microsoft.com/office/drawing/2014/main" id="{44A16B3B-5418-0897-7A33-4AF2B6FFDA83}"/>
                  </a:ext>
                </a:extLst>
              </p:cNvPr>
              <p:cNvSpPr/>
              <p:nvPr/>
            </p:nvSpPr>
            <p:spPr>
              <a:xfrm>
                <a:off x="5020436" y="3608450"/>
                <a:ext cx="1056640" cy="2124075"/>
              </a:xfrm>
              <a:custGeom>
                <a:avLst/>
                <a:gdLst/>
                <a:ahLst/>
                <a:cxnLst/>
                <a:rect l="l" t="t" r="r" b="b"/>
                <a:pathLst>
                  <a:path w="1056639" h="2124075">
                    <a:moveTo>
                      <a:pt x="1040129" y="2123694"/>
                    </a:moveTo>
                    <a:lnTo>
                      <a:pt x="208025" y="1072134"/>
                    </a:lnTo>
                    <a:lnTo>
                      <a:pt x="208025" y="2123694"/>
                    </a:lnTo>
                    <a:lnTo>
                      <a:pt x="0" y="2123694"/>
                    </a:lnTo>
                    <a:lnTo>
                      <a:pt x="0" y="22860"/>
                    </a:lnTo>
                    <a:lnTo>
                      <a:pt x="208025" y="22860"/>
                    </a:lnTo>
                    <a:lnTo>
                      <a:pt x="208025" y="1072134"/>
                    </a:lnTo>
                    <a:lnTo>
                      <a:pt x="240029" y="1051560"/>
                    </a:lnTo>
                    <a:lnTo>
                      <a:pt x="1040129" y="22860"/>
                    </a:lnTo>
                    <a:lnTo>
                      <a:pt x="886967" y="690372"/>
                    </a:lnTo>
                    <a:lnTo>
                      <a:pt x="413765" y="230886"/>
                    </a:lnTo>
                    <a:lnTo>
                      <a:pt x="1056132" y="0"/>
                    </a:lnTo>
                    <a:lnTo>
                      <a:pt x="208025" y="1072134"/>
                    </a:lnTo>
                    <a:lnTo>
                      <a:pt x="1040129" y="2123694"/>
                    </a:lnTo>
                    <a:close/>
                  </a:path>
                  <a:path w="1056639" h="2124075">
                    <a:moveTo>
                      <a:pt x="1040129" y="2123694"/>
                    </a:moveTo>
                    <a:lnTo>
                      <a:pt x="208025" y="1072134"/>
                    </a:lnTo>
                    <a:lnTo>
                      <a:pt x="208025" y="2123694"/>
                    </a:lnTo>
                    <a:lnTo>
                      <a:pt x="0" y="2123694"/>
                    </a:lnTo>
                    <a:lnTo>
                      <a:pt x="0" y="22860"/>
                    </a:lnTo>
                    <a:lnTo>
                      <a:pt x="208025" y="22860"/>
                    </a:lnTo>
                    <a:lnTo>
                      <a:pt x="208025" y="1072134"/>
                    </a:lnTo>
                    <a:lnTo>
                      <a:pt x="240029" y="1051560"/>
                    </a:lnTo>
                    <a:lnTo>
                      <a:pt x="1040129" y="22860"/>
                    </a:lnTo>
                    <a:lnTo>
                      <a:pt x="886967" y="690372"/>
                    </a:lnTo>
                    <a:lnTo>
                      <a:pt x="413765" y="230886"/>
                    </a:lnTo>
                    <a:lnTo>
                      <a:pt x="1056132" y="0"/>
                    </a:lnTo>
                    <a:lnTo>
                      <a:pt x="208025" y="1072134"/>
                    </a:lnTo>
                    <a:lnTo>
                      <a:pt x="1040129" y="2123694"/>
                    </a:lnTo>
                  </a:path>
                </a:pathLst>
              </a:custGeom>
              <a:ln w="2697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34" name="object 21">
              <a:extLst>
                <a:ext uri="{FF2B5EF4-FFF2-40B4-BE49-F238E27FC236}">
                  <a16:creationId xmlns:a16="http://schemas.microsoft.com/office/drawing/2014/main" id="{FCD2AF1E-824F-1E06-168B-E671209E62CD}"/>
                </a:ext>
              </a:extLst>
            </p:cNvPr>
            <p:cNvSpPr txBox="1"/>
            <p:nvPr/>
          </p:nvSpPr>
          <p:spPr>
            <a:xfrm>
              <a:off x="6406056" y="3144179"/>
              <a:ext cx="1532593" cy="610661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2900" b="1" spc="10" dirty="0">
                  <a:solidFill>
                    <a:srgbClr val="CC00CC"/>
                  </a:solidFill>
                  <a:latin typeface="Times New Roman"/>
                  <a:cs typeface="Times New Roman"/>
                </a:rPr>
                <a:t>Sortie</a:t>
              </a:r>
              <a:endParaRPr sz="2900" b="1" dirty="0">
                <a:solidFill>
                  <a:srgbClr val="CC00CC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35" name="object 22">
              <a:extLst>
                <a:ext uri="{FF2B5EF4-FFF2-40B4-BE49-F238E27FC236}">
                  <a16:creationId xmlns:a16="http://schemas.microsoft.com/office/drawing/2014/main" id="{5CB5B7C1-1B0D-0720-F044-D88B0C0B93DD}"/>
                </a:ext>
              </a:extLst>
            </p:cNvPr>
            <p:cNvSpPr txBox="1"/>
            <p:nvPr/>
          </p:nvSpPr>
          <p:spPr>
            <a:xfrm>
              <a:off x="489187" y="3863040"/>
              <a:ext cx="1599096" cy="610661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50800">
                <a:lnSpc>
                  <a:spcPct val="100000"/>
                </a:lnSpc>
                <a:spcBef>
                  <a:spcPts val="125"/>
                </a:spcBef>
                <a:tabLst>
                  <a:tab pos="537210" algn="l"/>
                </a:tabLst>
              </a:pPr>
              <a:r>
                <a:rPr sz="2400" spc="-135" baseline="-29513" dirty="0">
                  <a:solidFill>
                    <a:srgbClr val="ED1C24"/>
                  </a:solidFill>
                  <a:latin typeface="Times New Roman"/>
                  <a:cs typeface="Times New Roman"/>
                </a:rPr>
                <a:t>	</a:t>
              </a:r>
              <a:r>
                <a:rPr sz="2900" b="1" spc="-65" dirty="0">
                  <a:solidFill>
                    <a:srgbClr val="ED1C24"/>
                  </a:solidFill>
                  <a:latin typeface="Times New Roman"/>
                  <a:cs typeface="Times New Roman"/>
                </a:rPr>
                <a:t>-</a:t>
              </a:r>
              <a:r>
                <a:rPr lang="fr-FR" sz="2900" b="1" spc="-65" dirty="0">
                  <a:solidFill>
                    <a:srgbClr val="ED1C24"/>
                  </a:solidFill>
                  <a:latin typeface="Times New Roman"/>
                  <a:cs typeface="Times New Roman"/>
                </a:rPr>
                <a:t>V</a:t>
              </a:r>
              <a:r>
                <a:rPr sz="2400" b="1" spc="-97" baseline="-29513" dirty="0">
                  <a:solidFill>
                    <a:srgbClr val="ED1C24"/>
                  </a:solidFill>
                  <a:latin typeface="Times New Roman"/>
                  <a:cs typeface="Times New Roman"/>
                </a:rPr>
                <a:t>CB</a:t>
              </a:r>
              <a:endParaRPr sz="2400" b="1" baseline="-29513" dirty="0">
                <a:latin typeface="Times New Roman"/>
                <a:cs typeface="Times New Roman"/>
              </a:endParaRPr>
            </a:p>
          </p:txBody>
        </p:sp>
        <p:sp>
          <p:nvSpPr>
            <p:cNvPr id="36" name="object 23">
              <a:extLst>
                <a:ext uri="{FF2B5EF4-FFF2-40B4-BE49-F238E27FC236}">
                  <a16:creationId xmlns:a16="http://schemas.microsoft.com/office/drawing/2014/main" id="{75034D17-B305-6264-AE36-5CAEDF6A616C}"/>
                </a:ext>
              </a:extLst>
            </p:cNvPr>
            <p:cNvSpPr txBox="1"/>
            <p:nvPr/>
          </p:nvSpPr>
          <p:spPr>
            <a:xfrm>
              <a:off x="7178901" y="2232180"/>
              <a:ext cx="1302191" cy="610661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50800">
                <a:lnSpc>
                  <a:spcPct val="100000"/>
                </a:lnSpc>
                <a:spcBef>
                  <a:spcPts val="125"/>
                </a:spcBef>
                <a:tabLst>
                  <a:tab pos="806450" algn="l"/>
                </a:tabLst>
              </a:pPr>
              <a:r>
                <a:rPr sz="2900" b="1" spc="-65" dirty="0">
                  <a:solidFill>
                    <a:srgbClr val="ED1C24"/>
                  </a:solidFill>
                  <a:latin typeface="Times New Roman"/>
                  <a:cs typeface="Times New Roman"/>
                </a:rPr>
                <a:t>-</a:t>
              </a:r>
              <a:r>
                <a:rPr lang="fr-FR" sz="2900" b="1" spc="-65" dirty="0">
                  <a:solidFill>
                    <a:srgbClr val="ED1C24"/>
                  </a:solidFill>
                  <a:latin typeface="Times New Roman"/>
                  <a:cs typeface="Times New Roman"/>
                </a:rPr>
                <a:t>V</a:t>
              </a:r>
              <a:r>
                <a:rPr sz="2400" b="1" spc="-97" baseline="-29513" dirty="0">
                  <a:solidFill>
                    <a:srgbClr val="ED1C24"/>
                  </a:solidFill>
                  <a:latin typeface="Times New Roman"/>
                  <a:cs typeface="Times New Roman"/>
                </a:rPr>
                <a:t>CE</a:t>
              </a:r>
              <a:r>
                <a:rPr sz="2400" spc="-97" baseline="-29513" dirty="0">
                  <a:solidFill>
                    <a:srgbClr val="ED1C24"/>
                  </a:solidFill>
                  <a:latin typeface="Times New Roman"/>
                  <a:cs typeface="Times New Roman"/>
                </a:rPr>
                <a:t>	</a:t>
              </a:r>
              <a:endParaRPr sz="2400" baseline="-29513" dirty="0">
                <a:latin typeface="Times New Roman"/>
                <a:cs typeface="Times New Roman"/>
              </a:endParaRPr>
            </a:p>
          </p:txBody>
        </p:sp>
        <p:sp>
          <p:nvSpPr>
            <p:cNvPr id="37" name="object 24">
              <a:extLst>
                <a:ext uri="{FF2B5EF4-FFF2-40B4-BE49-F238E27FC236}">
                  <a16:creationId xmlns:a16="http://schemas.microsoft.com/office/drawing/2014/main" id="{93AF0D08-0770-20EF-81D4-3826D4C266C8}"/>
                </a:ext>
              </a:extLst>
            </p:cNvPr>
            <p:cNvSpPr txBox="1"/>
            <p:nvPr/>
          </p:nvSpPr>
          <p:spPr>
            <a:xfrm>
              <a:off x="1793158" y="1943943"/>
              <a:ext cx="1616075" cy="529353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25400">
                <a:lnSpc>
                  <a:spcPts val="3010"/>
                </a:lnSpc>
                <a:spcBef>
                  <a:spcPts val="125"/>
                </a:spcBef>
              </a:pPr>
              <a:r>
                <a:rPr sz="2900" b="1" spc="10" dirty="0">
                  <a:solidFill>
                    <a:srgbClr val="CC00CC"/>
                  </a:solidFill>
                  <a:latin typeface="Times New Roman"/>
                  <a:cs typeface="Times New Roman"/>
                </a:rPr>
                <a:t>Entrée</a:t>
              </a:r>
              <a:endParaRPr sz="2900" b="1" dirty="0">
                <a:solidFill>
                  <a:srgbClr val="CC00CC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38" name="object 25">
              <a:extLst>
                <a:ext uri="{FF2B5EF4-FFF2-40B4-BE49-F238E27FC236}">
                  <a16:creationId xmlns:a16="http://schemas.microsoft.com/office/drawing/2014/main" id="{B59BF6A5-80BA-3319-52DB-325A2B2154D9}"/>
                </a:ext>
              </a:extLst>
            </p:cNvPr>
            <p:cNvSpPr txBox="1"/>
            <p:nvPr/>
          </p:nvSpPr>
          <p:spPr>
            <a:xfrm>
              <a:off x="2950249" y="3173898"/>
              <a:ext cx="480648" cy="610661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25"/>
                </a:spcBef>
              </a:pPr>
              <a:r>
                <a:rPr sz="2900" spc="-35" dirty="0">
                  <a:solidFill>
                    <a:srgbClr val="00A650"/>
                  </a:solidFill>
                  <a:latin typeface="Times New Roman"/>
                  <a:cs typeface="Times New Roman"/>
                </a:rPr>
                <a:t>i</a:t>
              </a:r>
              <a:r>
                <a:rPr sz="2400" spc="-52" baseline="-29513" dirty="0">
                  <a:solidFill>
                    <a:srgbClr val="00A650"/>
                  </a:solidFill>
                  <a:latin typeface="Times New Roman"/>
                  <a:cs typeface="Times New Roman"/>
                </a:rPr>
                <a:t>B</a:t>
              </a:r>
              <a:endParaRPr sz="2400" baseline="-29513" dirty="0">
                <a:latin typeface="Times New Roman"/>
                <a:cs typeface="Times New Roman"/>
              </a:endParaRPr>
            </a:p>
          </p:txBody>
        </p:sp>
        <p:grpSp>
          <p:nvGrpSpPr>
            <p:cNvPr id="39" name="object 26">
              <a:extLst>
                <a:ext uri="{FF2B5EF4-FFF2-40B4-BE49-F238E27FC236}">
                  <a16:creationId xmlns:a16="http://schemas.microsoft.com/office/drawing/2014/main" id="{F875463D-766D-7602-5776-4285F2B3D89E}"/>
                </a:ext>
              </a:extLst>
            </p:cNvPr>
            <p:cNvGrpSpPr/>
            <p:nvPr/>
          </p:nvGrpSpPr>
          <p:grpSpPr>
            <a:xfrm>
              <a:off x="3089926" y="719003"/>
              <a:ext cx="4055110" cy="2519045"/>
              <a:chOff x="3534765" y="2328519"/>
              <a:chExt cx="4055110" cy="2519045"/>
            </a:xfrm>
          </p:grpSpPr>
          <p:sp>
            <p:nvSpPr>
              <p:cNvPr id="40" name="object 27">
                <a:extLst>
                  <a:ext uri="{FF2B5EF4-FFF2-40B4-BE49-F238E27FC236}">
                    <a16:creationId xmlns:a16="http://schemas.microsoft.com/office/drawing/2014/main" id="{C05D9B0B-EEDE-BC96-C596-CB5CEA9A0DF3}"/>
                  </a:ext>
                </a:extLst>
              </p:cNvPr>
              <p:cNvSpPr/>
              <p:nvPr/>
            </p:nvSpPr>
            <p:spPr>
              <a:xfrm>
                <a:off x="3548253" y="4442841"/>
                <a:ext cx="356870" cy="391160"/>
              </a:xfrm>
              <a:custGeom>
                <a:avLst/>
                <a:gdLst/>
                <a:ahLst/>
                <a:cxnLst/>
                <a:rect l="l" t="t" r="r" b="b"/>
                <a:pathLst>
                  <a:path w="356870" h="391160">
                    <a:moveTo>
                      <a:pt x="344527" y="200974"/>
                    </a:moveTo>
                    <a:lnTo>
                      <a:pt x="0" y="0"/>
                    </a:lnTo>
                    <a:lnTo>
                      <a:pt x="70866" y="194310"/>
                    </a:lnTo>
                    <a:lnTo>
                      <a:pt x="70866" y="351838"/>
                    </a:lnTo>
                    <a:lnTo>
                      <a:pt x="344527" y="200974"/>
                    </a:lnTo>
                    <a:close/>
                  </a:path>
                  <a:path w="356870" h="391160">
                    <a:moveTo>
                      <a:pt x="70866" y="351838"/>
                    </a:moveTo>
                    <a:lnTo>
                      <a:pt x="70866" y="194310"/>
                    </a:lnTo>
                    <a:lnTo>
                      <a:pt x="0" y="390906"/>
                    </a:lnTo>
                    <a:lnTo>
                      <a:pt x="70866" y="351838"/>
                    </a:lnTo>
                    <a:close/>
                  </a:path>
                  <a:path w="356870" h="391160">
                    <a:moveTo>
                      <a:pt x="356616" y="208025"/>
                    </a:moveTo>
                    <a:lnTo>
                      <a:pt x="356616" y="194310"/>
                    </a:lnTo>
                    <a:lnTo>
                      <a:pt x="344527" y="200974"/>
                    </a:lnTo>
                    <a:lnTo>
                      <a:pt x="356616" y="208025"/>
                    </a:lnTo>
                    <a:close/>
                  </a:path>
                </a:pathLst>
              </a:custGeom>
              <a:solidFill>
                <a:srgbClr val="00A65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1" name="object 28">
                <a:extLst>
                  <a:ext uri="{FF2B5EF4-FFF2-40B4-BE49-F238E27FC236}">
                    <a16:creationId xmlns:a16="http://schemas.microsoft.com/office/drawing/2014/main" id="{FE63CB22-69B7-4662-F43E-5DD1AB585372}"/>
                  </a:ext>
                </a:extLst>
              </p:cNvPr>
              <p:cNvSpPr/>
              <p:nvPr/>
            </p:nvSpPr>
            <p:spPr>
              <a:xfrm>
                <a:off x="3548253" y="4442841"/>
                <a:ext cx="356870" cy="391160"/>
              </a:xfrm>
              <a:custGeom>
                <a:avLst/>
                <a:gdLst/>
                <a:ahLst/>
                <a:cxnLst/>
                <a:rect l="l" t="t" r="r" b="b"/>
                <a:pathLst>
                  <a:path w="356870" h="391160">
                    <a:moveTo>
                      <a:pt x="356616" y="194310"/>
                    </a:moveTo>
                    <a:lnTo>
                      <a:pt x="0" y="390906"/>
                    </a:lnTo>
                    <a:lnTo>
                      <a:pt x="70866" y="194310"/>
                    </a:lnTo>
                    <a:lnTo>
                      <a:pt x="0" y="0"/>
                    </a:lnTo>
                    <a:lnTo>
                      <a:pt x="356616" y="208025"/>
                    </a:lnTo>
                    <a:lnTo>
                      <a:pt x="356616" y="194310"/>
                    </a:lnTo>
                    <a:close/>
                  </a:path>
                  <a:path w="356870" h="391160">
                    <a:moveTo>
                      <a:pt x="356616" y="194310"/>
                    </a:moveTo>
                    <a:lnTo>
                      <a:pt x="0" y="390906"/>
                    </a:lnTo>
                    <a:lnTo>
                      <a:pt x="70866" y="194310"/>
                    </a:lnTo>
                    <a:lnTo>
                      <a:pt x="0" y="0"/>
                    </a:lnTo>
                    <a:lnTo>
                      <a:pt x="356616" y="208025"/>
                    </a:lnTo>
                    <a:lnTo>
                      <a:pt x="356616" y="194310"/>
                    </a:lnTo>
                  </a:path>
                </a:pathLst>
              </a:custGeom>
              <a:ln w="26974">
                <a:solidFill>
                  <a:srgbClr val="00A65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2" name="object 29">
                <a:extLst>
                  <a:ext uri="{FF2B5EF4-FFF2-40B4-BE49-F238E27FC236}">
                    <a16:creationId xmlns:a16="http://schemas.microsoft.com/office/drawing/2014/main" id="{A28804EA-F976-F3FB-F581-23158A397B0A}"/>
                  </a:ext>
                </a:extLst>
              </p:cNvPr>
              <p:cNvSpPr/>
              <p:nvPr/>
            </p:nvSpPr>
            <p:spPr>
              <a:xfrm>
                <a:off x="7219569" y="2342007"/>
                <a:ext cx="356870" cy="391160"/>
              </a:xfrm>
              <a:custGeom>
                <a:avLst/>
                <a:gdLst/>
                <a:ahLst/>
                <a:cxnLst/>
                <a:rect l="l" t="t" r="r" b="b"/>
                <a:pathLst>
                  <a:path w="356870" h="391160">
                    <a:moveTo>
                      <a:pt x="12088" y="203182"/>
                    </a:moveTo>
                    <a:lnTo>
                      <a:pt x="0" y="196595"/>
                    </a:lnTo>
                    <a:lnTo>
                      <a:pt x="0" y="210312"/>
                    </a:lnTo>
                    <a:lnTo>
                      <a:pt x="12088" y="203182"/>
                    </a:lnTo>
                    <a:close/>
                  </a:path>
                  <a:path w="356870" h="391160">
                    <a:moveTo>
                      <a:pt x="356615" y="0"/>
                    </a:moveTo>
                    <a:lnTo>
                      <a:pt x="12088" y="203182"/>
                    </a:lnTo>
                    <a:lnTo>
                      <a:pt x="285750" y="352293"/>
                    </a:lnTo>
                    <a:lnTo>
                      <a:pt x="285750" y="196595"/>
                    </a:lnTo>
                    <a:lnTo>
                      <a:pt x="356615" y="0"/>
                    </a:lnTo>
                    <a:close/>
                  </a:path>
                  <a:path w="356870" h="391160">
                    <a:moveTo>
                      <a:pt x="356615" y="390906"/>
                    </a:moveTo>
                    <a:lnTo>
                      <a:pt x="285750" y="196595"/>
                    </a:lnTo>
                    <a:lnTo>
                      <a:pt x="285750" y="352293"/>
                    </a:lnTo>
                    <a:lnTo>
                      <a:pt x="356615" y="390906"/>
                    </a:lnTo>
                    <a:close/>
                  </a:path>
                </a:pathLst>
              </a:custGeom>
              <a:solidFill>
                <a:srgbClr val="00A65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3" name="object 30">
                <a:extLst>
                  <a:ext uri="{FF2B5EF4-FFF2-40B4-BE49-F238E27FC236}">
                    <a16:creationId xmlns:a16="http://schemas.microsoft.com/office/drawing/2014/main" id="{0A5D8F8B-30B7-4016-3C51-EFE29F3E538A}"/>
                  </a:ext>
                </a:extLst>
              </p:cNvPr>
              <p:cNvSpPr/>
              <p:nvPr/>
            </p:nvSpPr>
            <p:spPr>
              <a:xfrm>
                <a:off x="7219569" y="2342007"/>
                <a:ext cx="356870" cy="391160"/>
              </a:xfrm>
              <a:custGeom>
                <a:avLst/>
                <a:gdLst/>
                <a:ahLst/>
                <a:cxnLst/>
                <a:rect l="l" t="t" r="r" b="b"/>
                <a:pathLst>
                  <a:path w="356870" h="391160">
                    <a:moveTo>
                      <a:pt x="0" y="196595"/>
                    </a:moveTo>
                    <a:lnTo>
                      <a:pt x="356615" y="390906"/>
                    </a:lnTo>
                    <a:lnTo>
                      <a:pt x="285750" y="196595"/>
                    </a:lnTo>
                    <a:lnTo>
                      <a:pt x="356615" y="0"/>
                    </a:lnTo>
                    <a:lnTo>
                      <a:pt x="0" y="210312"/>
                    </a:lnTo>
                    <a:lnTo>
                      <a:pt x="0" y="196595"/>
                    </a:lnTo>
                    <a:close/>
                  </a:path>
                  <a:path w="356870" h="391160">
                    <a:moveTo>
                      <a:pt x="0" y="196595"/>
                    </a:moveTo>
                    <a:lnTo>
                      <a:pt x="356615" y="390906"/>
                    </a:lnTo>
                    <a:lnTo>
                      <a:pt x="285750" y="196595"/>
                    </a:lnTo>
                    <a:lnTo>
                      <a:pt x="356615" y="0"/>
                    </a:lnTo>
                    <a:lnTo>
                      <a:pt x="0" y="210312"/>
                    </a:lnTo>
                    <a:lnTo>
                      <a:pt x="0" y="196595"/>
                    </a:lnTo>
                  </a:path>
                </a:pathLst>
              </a:custGeom>
              <a:ln w="26974">
                <a:solidFill>
                  <a:srgbClr val="00A65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44" name="object 31">
              <a:extLst>
                <a:ext uri="{FF2B5EF4-FFF2-40B4-BE49-F238E27FC236}">
                  <a16:creationId xmlns:a16="http://schemas.microsoft.com/office/drawing/2014/main" id="{A78F8364-7658-D944-FD7E-405EA297FDBC}"/>
                </a:ext>
              </a:extLst>
            </p:cNvPr>
            <p:cNvSpPr txBox="1"/>
            <p:nvPr/>
          </p:nvSpPr>
          <p:spPr>
            <a:xfrm>
              <a:off x="6633918" y="1018228"/>
              <a:ext cx="385346" cy="610661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2900" spc="5" dirty="0">
                  <a:solidFill>
                    <a:srgbClr val="00A650"/>
                  </a:solidFill>
                  <a:latin typeface="Times New Roman"/>
                  <a:cs typeface="Times New Roman"/>
                </a:rPr>
                <a:t>-i</a:t>
              </a:r>
              <a:endParaRPr sz="2900" dirty="0">
                <a:latin typeface="Times New Roman"/>
                <a:cs typeface="Times New Roman"/>
              </a:endParaRPr>
            </a:p>
          </p:txBody>
        </p:sp>
        <p:sp>
          <p:nvSpPr>
            <p:cNvPr id="45" name="object 32">
              <a:extLst>
                <a:ext uri="{FF2B5EF4-FFF2-40B4-BE49-F238E27FC236}">
                  <a16:creationId xmlns:a16="http://schemas.microsoft.com/office/drawing/2014/main" id="{1BD6E08B-1DFE-9383-A7E6-A197B494E86C}"/>
                </a:ext>
              </a:extLst>
            </p:cNvPr>
            <p:cNvSpPr txBox="1"/>
            <p:nvPr/>
          </p:nvSpPr>
          <p:spPr>
            <a:xfrm>
              <a:off x="6970152" y="1287186"/>
              <a:ext cx="152400" cy="274955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1600" spc="20" dirty="0">
                  <a:solidFill>
                    <a:srgbClr val="00A650"/>
                  </a:solidFill>
                  <a:latin typeface="Times New Roman"/>
                  <a:cs typeface="Times New Roman"/>
                </a:rPr>
                <a:t>E</a:t>
              </a:r>
              <a:endParaRPr sz="1600">
                <a:latin typeface="Times New Roman"/>
                <a:cs typeface="Times New Roman"/>
              </a:endParaRPr>
            </a:p>
          </p:txBody>
        </p:sp>
        <p:sp>
          <p:nvSpPr>
            <p:cNvPr id="46" name="object 34">
              <a:extLst>
                <a:ext uri="{FF2B5EF4-FFF2-40B4-BE49-F238E27FC236}">
                  <a16:creationId xmlns:a16="http://schemas.microsoft.com/office/drawing/2014/main" id="{DFC405EE-1619-5EC1-FE36-8C971B94F53B}"/>
                </a:ext>
              </a:extLst>
            </p:cNvPr>
            <p:cNvSpPr txBox="1"/>
            <p:nvPr/>
          </p:nvSpPr>
          <p:spPr>
            <a:xfrm>
              <a:off x="5769728" y="4309868"/>
              <a:ext cx="372745" cy="610661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25"/>
                </a:spcBef>
              </a:pPr>
              <a:r>
                <a:rPr sz="2900" spc="-35" dirty="0">
                  <a:solidFill>
                    <a:srgbClr val="00A650"/>
                  </a:solidFill>
                  <a:latin typeface="Times New Roman"/>
                  <a:cs typeface="Times New Roman"/>
                </a:rPr>
                <a:t>i</a:t>
              </a:r>
              <a:r>
                <a:rPr sz="2400" spc="-52" baseline="-27777" dirty="0">
                  <a:solidFill>
                    <a:srgbClr val="00A650"/>
                  </a:solidFill>
                  <a:latin typeface="Times New Roman"/>
                  <a:cs typeface="Times New Roman"/>
                </a:rPr>
                <a:t>C</a:t>
              </a:r>
              <a:endParaRPr sz="2400" baseline="-27777" dirty="0">
                <a:latin typeface="Times New Roman"/>
                <a:cs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87184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6"/>
            <a:ext cx="52086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-Transistor-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1620" y="507690"/>
            <a:ext cx="69931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4. Polarisation </a:t>
            </a:r>
            <a:r>
              <a:rPr lang="fr-FR" sz="18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du transistor</a:t>
            </a:r>
            <a:endParaRPr lang="fr-FR" b="1" spc="-5" dirty="0">
              <a:solidFill>
                <a:srgbClr val="FF0000"/>
              </a:solidFill>
              <a:latin typeface="Bookman Old Style" panose="02050604050505020204" pitchFamily="18" charset="0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715000" y="365260"/>
            <a:ext cx="3328256" cy="10117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46">
            <a:extLst>
              <a:ext uri="{FF2B5EF4-FFF2-40B4-BE49-F238E27FC236}">
                <a16:creationId xmlns:a16="http://schemas.microsoft.com/office/drawing/2014/main" id="{7198176F-4D83-4A98-1EFA-F78693C2B68B}"/>
              </a:ext>
            </a:extLst>
          </p:cNvPr>
          <p:cNvSpPr txBox="1"/>
          <p:nvPr/>
        </p:nvSpPr>
        <p:spPr>
          <a:xfrm>
            <a:off x="8828933" y="486598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38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3206C0-B920-4CD8-8FF9-7BD8ABA1AB10}"/>
              </a:ext>
            </a:extLst>
          </p:cNvPr>
          <p:cNvSpPr txBox="1"/>
          <p:nvPr/>
        </p:nvSpPr>
        <p:spPr>
          <a:xfrm>
            <a:off x="561620" y="749576"/>
            <a:ext cx="561363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4.1 Fonctionnement normal du transistor bipolaire</a:t>
            </a:r>
            <a:br>
              <a:rPr lang="fr-FR" sz="1600" b="1"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</a:br>
            <a:r>
              <a:rPr lang="fr-FR" sz="1600" b="1"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 </a:t>
            </a:r>
            <a:br>
              <a:rPr lang="fr-FR" sz="1800" dirty="0"/>
            </a:br>
            <a:endParaRPr lang="fr-F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8B8603-E2A2-1978-77F7-1AFE2B133BAE}"/>
              </a:ext>
            </a:extLst>
          </p:cNvPr>
          <p:cNvSpPr txBox="1"/>
          <p:nvPr/>
        </p:nvSpPr>
        <p:spPr>
          <a:xfrm>
            <a:off x="576301" y="1066486"/>
            <a:ext cx="84200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algn="just">
              <a:defRPr sz="1600">
                <a:latin typeface="Bookman Old Style" panose="02050604050505020204" pitchFamily="18" charset="0"/>
              </a:defRPr>
            </a:lvl1pPr>
          </a:lstStyle>
          <a:p>
            <a:r>
              <a:rPr lang="fr-FR" dirty="0"/>
              <a:t>Lorsqu'un </a:t>
            </a:r>
            <a:r>
              <a:rPr lang="fr-FR" b="1" dirty="0"/>
              <a:t>transistor (NPN) </a:t>
            </a:r>
            <a:r>
              <a:rPr lang="fr-FR" dirty="0"/>
              <a:t>est utilisé en </a:t>
            </a:r>
            <a:r>
              <a:rPr lang="fr-FR" b="1" dirty="0"/>
              <a:t>régime normal</a:t>
            </a:r>
            <a:r>
              <a:rPr lang="fr-FR" dirty="0"/>
              <a:t>, </a:t>
            </a:r>
            <a:r>
              <a:rPr lang="fr-FR" b="1" dirty="0"/>
              <a:t>trois montages </a:t>
            </a:r>
            <a:r>
              <a:rPr lang="fr-FR" dirty="0"/>
              <a:t>sont </a:t>
            </a:r>
            <a:r>
              <a:rPr lang="fr-FR" b="1" dirty="0"/>
              <a:t>donc possibles:</a:t>
            </a:r>
            <a:endParaRPr lang="fr-FR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DBE6C8C-B0C5-A83A-CA70-C4CCC62937FE}"/>
              </a:ext>
            </a:extLst>
          </p:cNvPr>
          <p:cNvSpPr txBox="1"/>
          <p:nvPr/>
        </p:nvSpPr>
        <p:spPr>
          <a:xfrm>
            <a:off x="633704" y="1739323"/>
            <a:ext cx="2591972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fr-FR" sz="1800" b="1" dirty="0">
                <a:solidFill>
                  <a:schemeClr val="tx1"/>
                </a:solidFill>
                <a:latin typeface="Bookman Old Style" panose="02050604050505020204" pitchFamily="18" charset="0"/>
                <a:ea typeface="Times New Roman"/>
                <a:cs typeface="Arial"/>
              </a:rPr>
              <a:t>Base commune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0933DC21-CCF6-1D66-F0EF-41894A7CB0E2}"/>
              </a:ext>
            </a:extLst>
          </p:cNvPr>
          <p:cNvGrpSpPr/>
          <p:nvPr/>
        </p:nvGrpSpPr>
        <p:grpSpPr>
          <a:xfrm>
            <a:off x="531028" y="2190462"/>
            <a:ext cx="8465332" cy="2734409"/>
            <a:chOff x="320508" y="1866862"/>
            <a:chExt cx="9159653" cy="3107055"/>
          </a:xfrm>
        </p:grpSpPr>
        <p:grpSp>
          <p:nvGrpSpPr>
            <p:cNvPr id="3" name="object 6">
              <a:extLst>
                <a:ext uri="{FF2B5EF4-FFF2-40B4-BE49-F238E27FC236}">
                  <a16:creationId xmlns:a16="http://schemas.microsoft.com/office/drawing/2014/main" id="{8D308923-7197-0093-2CC7-B52D55762B7F}"/>
                </a:ext>
              </a:extLst>
            </p:cNvPr>
            <p:cNvGrpSpPr/>
            <p:nvPr/>
          </p:nvGrpSpPr>
          <p:grpSpPr>
            <a:xfrm>
              <a:off x="940308" y="2106892"/>
              <a:ext cx="7454900" cy="2867025"/>
              <a:chOff x="1864550" y="3762692"/>
              <a:chExt cx="7454900" cy="2867025"/>
            </a:xfrm>
          </p:grpSpPr>
          <p:sp>
            <p:nvSpPr>
              <p:cNvPr id="4" name="object 7">
                <a:extLst>
                  <a:ext uri="{FF2B5EF4-FFF2-40B4-BE49-F238E27FC236}">
                    <a16:creationId xmlns:a16="http://schemas.microsoft.com/office/drawing/2014/main" id="{5B2EA730-66F6-89C3-C52B-C5043CB01089}"/>
                  </a:ext>
                </a:extLst>
              </p:cNvPr>
              <p:cNvSpPr/>
              <p:nvPr/>
            </p:nvSpPr>
            <p:spPr>
              <a:xfrm>
                <a:off x="3740277" y="3811904"/>
                <a:ext cx="117284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172845">
                    <a:moveTo>
                      <a:pt x="1172718" y="0"/>
                    </a:moveTo>
                    <a:lnTo>
                      <a:pt x="0" y="0"/>
                    </a:lnTo>
                  </a:path>
                </a:pathLst>
              </a:custGeom>
              <a:ln w="29463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" name="object 8">
                <a:extLst>
                  <a:ext uri="{FF2B5EF4-FFF2-40B4-BE49-F238E27FC236}">
                    <a16:creationId xmlns:a16="http://schemas.microsoft.com/office/drawing/2014/main" id="{364D5703-6955-EDCD-3DE2-23AA002B95EE}"/>
                  </a:ext>
                </a:extLst>
              </p:cNvPr>
              <p:cNvSpPr/>
              <p:nvPr/>
            </p:nvSpPr>
            <p:spPr>
              <a:xfrm>
                <a:off x="1879473" y="3811904"/>
                <a:ext cx="186118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861185">
                    <a:moveTo>
                      <a:pt x="1860803" y="0"/>
                    </a:moveTo>
                    <a:lnTo>
                      <a:pt x="0" y="0"/>
                    </a:lnTo>
                  </a:path>
                </a:pathLst>
              </a:custGeom>
              <a:ln w="29463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" name="object 9">
                <a:extLst>
                  <a:ext uri="{FF2B5EF4-FFF2-40B4-BE49-F238E27FC236}">
                    <a16:creationId xmlns:a16="http://schemas.microsoft.com/office/drawing/2014/main" id="{FB034EB7-ABC2-CEA2-7F0A-071D05C79D10}"/>
                  </a:ext>
                </a:extLst>
              </p:cNvPr>
              <p:cNvSpPr/>
              <p:nvPr/>
            </p:nvSpPr>
            <p:spPr>
              <a:xfrm>
                <a:off x="6053709" y="5240654"/>
                <a:ext cx="0" cy="1374140"/>
              </a:xfrm>
              <a:custGeom>
                <a:avLst/>
                <a:gdLst/>
                <a:ahLst/>
                <a:cxnLst/>
                <a:rect l="l" t="t" r="r" b="b"/>
                <a:pathLst>
                  <a:path h="1374140">
                    <a:moveTo>
                      <a:pt x="0" y="0"/>
                    </a:moveTo>
                    <a:lnTo>
                      <a:pt x="0" y="1373886"/>
                    </a:lnTo>
                  </a:path>
                </a:pathLst>
              </a:custGeom>
              <a:ln w="29463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10">
                <a:extLst>
                  <a:ext uri="{FF2B5EF4-FFF2-40B4-BE49-F238E27FC236}">
                    <a16:creationId xmlns:a16="http://schemas.microsoft.com/office/drawing/2014/main" id="{8F529062-641C-1EAC-B917-6AB9680CE24F}"/>
                  </a:ext>
                </a:extLst>
              </p:cNvPr>
              <p:cNvSpPr/>
              <p:nvPr/>
            </p:nvSpPr>
            <p:spPr>
              <a:xfrm>
                <a:off x="5850254" y="5723000"/>
                <a:ext cx="407034" cy="494030"/>
              </a:xfrm>
              <a:custGeom>
                <a:avLst/>
                <a:gdLst/>
                <a:ahLst/>
                <a:cxnLst/>
                <a:rect l="l" t="t" r="r" b="b"/>
                <a:pathLst>
                  <a:path w="407035" h="494029">
                    <a:moveTo>
                      <a:pt x="406908" y="493775"/>
                    </a:moveTo>
                    <a:lnTo>
                      <a:pt x="196819" y="16101"/>
                    </a:lnTo>
                    <a:lnTo>
                      <a:pt x="0" y="493776"/>
                    </a:lnTo>
                    <a:lnTo>
                      <a:pt x="203454" y="397763"/>
                    </a:lnTo>
                    <a:lnTo>
                      <a:pt x="406908" y="493775"/>
                    </a:lnTo>
                    <a:close/>
                  </a:path>
                  <a:path w="407035" h="494029">
                    <a:moveTo>
                      <a:pt x="203453" y="0"/>
                    </a:moveTo>
                    <a:lnTo>
                      <a:pt x="189737" y="0"/>
                    </a:lnTo>
                    <a:lnTo>
                      <a:pt x="196819" y="16101"/>
                    </a:lnTo>
                    <a:lnTo>
                      <a:pt x="203453" y="0"/>
                    </a:lnTo>
                    <a:close/>
                  </a:path>
                </a:pathLst>
              </a:custGeom>
              <a:solidFill>
                <a:srgbClr val="00A65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8" name="object 11">
                <a:extLst>
                  <a:ext uri="{FF2B5EF4-FFF2-40B4-BE49-F238E27FC236}">
                    <a16:creationId xmlns:a16="http://schemas.microsoft.com/office/drawing/2014/main" id="{67A5C23E-1A25-5579-A193-B2749C989E85}"/>
                  </a:ext>
                </a:extLst>
              </p:cNvPr>
              <p:cNvSpPr/>
              <p:nvPr/>
            </p:nvSpPr>
            <p:spPr>
              <a:xfrm>
                <a:off x="5850254" y="5723000"/>
                <a:ext cx="407034" cy="494030"/>
              </a:xfrm>
              <a:custGeom>
                <a:avLst/>
                <a:gdLst/>
                <a:ahLst/>
                <a:cxnLst/>
                <a:rect l="l" t="t" r="r" b="b"/>
                <a:pathLst>
                  <a:path w="407035" h="494029">
                    <a:moveTo>
                      <a:pt x="203453" y="0"/>
                    </a:moveTo>
                    <a:lnTo>
                      <a:pt x="0" y="493776"/>
                    </a:lnTo>
                    <a:lnTo>
                      <a:pt x="203454" y="397763"/>
                    </a:lnTo>
                    <a:lnTo>
                      <a:pt x="406908" y="493775"/>
                    </a:lnTo>
                    <a:lnTo>
                      <a:pt x="189737" y="0"/>
                    </a:lnTo>
                    <a:lnTo>
                      <a:pt x="203453" y="0"/>
                    </a:lnTo>
                    <a:close/>
                  </a:path>
                  <a:path w="407035" h="494029">
                    <a:moveTo>
                      <a:pt x="203453" y="0"/>
                    </a:moveTo>
                    <a:lnTo>
                      <a:pt x="0" y="493776"/>
                    </a:lnTo>
                    <a:lnTo>
                      <a:pt x="203454" y="397763"/>
                    </a:lnTo>
                    <a:lnTo>
                      <a:pt x="406908" y="493775"/>
                    </a:lnTo>
                    <a:lnTo>
                      <a:pt x="189737" y="0"/>
                    </a:lnTo>
                    <a:lnTo>
                      <a:pt x="203453" y="0"/>
                    </a:lnTo>
                  </a:path>
                </a:pathLst>
              </a:custGeom>
              <a:ln w="29463">
                <a:solidFill>
                  <a:srgbClr val="00A65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9" name="object 12">
                <a:extLst>
                  <a:ext uri="{FF2B5EF4-FFF2-40B4-BE49-F238E27FC236}">
                    <a16:creationId xmlns:a16="http://schemas.microsoft.com/office/drawing/2014/main" id="{2B56C735-E6D3-1019-862F-48BAE4F05132}"/>
                  </a:ext>
                </a:extLst>
              </p:cNvPr>
              <p:cNvSpPr/>
              <p:nvPr/>
            </p:nvSpPr>
            <p:spPr>
              <a:xfrm>
                <a:off x="1918335" y="6614540"/>
                <a:ext cx="7386320" cy="0"/>
              </a:xfrm>
              <a:custGeom>
                <a:avLst/>
                <a:gdLst/>
                <a:ahLst/>
                <a:cxnLst/>
                <a:rect l="l" t="t" r="r" b="b"/>
                <a:pathLst>
                  <a:path w="7386320">
                    <a:moveTo>
                      <a:pt x="0" y="0"/>
                    </a:moveTo>
                    <a:lnTo>
                      <a:pt x="7386065" y="0"/>
                    </a:lnTo>
                  </a:path>
                </a:pathLst>
              </a:custGeom>
              <a:ln w="29463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0" name="object 13">
                <a:extLst>
                  <a:ext uri="{FF2B5EF4-FFF2-40B4-BE49-F238E27FC236}">
                    <a16:creationId xmlns:a16="http://schemas.microsoft.com/office/drawing/2014/main" id="{57B64A72-F8E2-5C63-3613-EFBC8F837762}"/>
                  </a:ext>
                </a:extLst>
              </p:cNvPr>
              <p:cNvSpPr/>
              <p:nvPr/>
            </p:nvSpPr>
            <p:spPr>
              <a:xfrm>
                <a:off x="2133219" y="4006214"/>
                <a:ext cx="370840" cy="514350"/>
              </a:xfrm>
              <a:custGeom>
                <a:avLst/>
                <a:gdLst/>
                <a:ahLst/>
                <a:cxnLst/>
                <a:rect l="l" t="t" r="r" b="b"/>
                <a:pathLst>
                  <a:path w="370839" h="514350">
                    <a:moveTo>
                      <a:pt x="370331" y="514350"/>
                    </a:moveTo>
                    <a:lnTo>
                      <a:pt x="187451" y="16001"/>
                    </a:lnTo>
                    <a:lnTo>
                      <a:pt x="187451" y="0"/>
                    </a:lnTo>
                    <a:lnTo>
                      <a:pt x="0" y="502920"/>
                    </a:lnTo>
                    <a:lnTo>
                      <a:pt x="187451" y="418338"/>
                    </a:lnTo>
                    <a:lnTo>
                      <a:pt x="370331" y="514350"/>
                    </a:lnTo>
                    <a:close/>
                  </a:path>
                </a:pathLst>
              </a:custGeom>
              <a:solidFill>
                <a:srgbClr val="ED1C2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1" name="object 14">
                <a:extLst>
                  <a:ext uri="{FF2B5EF4-FFF2-40B4-BE49-F238E27FC236}">
                    <a16:creationId xmlns:a16="http://schemas.microsoft.com/office/drawing/2014/main" id="{F708EC16-235C-ADF3-3980-4A77EB5062CB}"/>
                  </a:ext>
                </a:extLst>
              </p:cNvPr>
              <p:cNvSpPr/>
              <p:nvPr/>
            </p:nvSpPr>
            <p:spPr>
              <a:xfrm>
                <a:off x="2133219" y="4003928"/>
                <a:ext cx="370840" cy="2368550"/>
              </a:xfrm>
              <a:custGeom>
                <a:avLst/>
                <a:gdLst/>
                <a:ahLst/>
                <a:cxnLst/>
                <a:rect l="l" t="t" r="r" b="b"/>
                <a:pathLst>
                  <a:path w="370839" h="2368550">
                    <a:moveTo>
                      <a:pt x="187451" y="2368296"/>
                    </a:moveTo>
                    <a:lnTo>
                      <a:pt x="187451" y="2286"/>
                    </a:lnTo>
                    <a:lnTo>
                      <a:pt x="0" y="505206"/>
                    </a:lnTo>
                    <a:lnTo>
                      <a:pt x="187451" y="420624"/>
                    </a:lnTo>
                    <a:lnTo>
                      <a:pt x="370331" y="516636"/>
                    </a:lnTo>
                    <a:lnTo>
                      <a:pt x="187451" y="18287"/>
                    </a:lnTo>
                    <a:lnTo>
                      <a:pt x="187451" y="2368296"/>
                    </a:lnTo>
                    <a:close/>
                  </a:path>
                  <a:path w="370839" h="2368550">
                    <a:moveTo>
                      <a:pt x="185166" y="2366010"/>
                    </a:moveTo>
                    <a:lnTo>
                      <a:pt x="185166" y="0"/>
                    </a:lnTo>
                    <a:lnTo>
                      <a:pt x="0" y="502920"/>
                    </a:lnTo>
                    <a:lnTo>
                      <a:pt x="185166" y="418338"/>
                    </a:lnTo>
                    <a:lnTo>
                      <a:pt x="368045" y="514350"/>
                    </a:lnTo>
                    <a:lnTo>
                      <a:pt x="185166" y="16001"/>
                    </a:lnTo>
                    <a:lnTo>
                      <a:pt x="185166" y="2366010"/>
                    </a:lnTo>
                  </a:path>
                </a:pathLst>
              </a:custGeom>
              <a:ln w="12700">
                <a:solidFill>
                  <a:srgbClr val="ED1C2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2" name="object 15">
                <a:extLst>
                  <a:ext uri="{FF2B5EF4-FFF2-40B4-BE49-F238E27FC236}">
                    <a16:creationId xmlns:a16="http://schemas.microsoft.com/office/drawing/2014/main" id="{AD95632A-E907-BB7C-6A0A-8CA77F53F53E}"/>
                  </a:ext>
                </a:extLst>
              </p:cNvPr>
              <p:cNvSpPr/>
              <p:nvPr/>
            </p:nvSpPr>
            <p:spPr>
              <a:xfrm>
                <a:off x="7160133" y="3777614"/>
                <a:ext cx="21259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125979">
                    <a:moveTo>
                      <a:pt x="0" y="0"/>
                    </a:moveTo>
                    <a:lnTo>
                      <a:pt x="2125980" y="0"/>
                    </a:lnTo>
                  </a:path>
                </a:pathLst>
              </a:custGeom>
              <a:ln w="29463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3" name="object 16">
                <a:extLst>
                  <a:ext uri="{FF2B5EF4-FFF2-40B4-BE49-F238E27FC236}">
                    <a16:creationId xmlns:a16="http://schemas.microsoft.com/office/drawing/2014/main" id="{80FAF4BC-2942-4227-C743-BC435579F649}"/>
                  </a:ext>
                </a:extLst>
              </p:cNvPr>
              <p:cNvSpPr/>
              <p:nvPr/>
            </p:nvSpPr>
            <p:spPr>
              <a:xfrm>
                <a:off x="4917567" y="3777614"/>
                <a:ext cx="2212975" cy="1472565"/>
              </a:xfrm>
              <a:custGeom>
                <a:avLst/>
                <a:gdLst/>
                <a:ahLst/>
                <a:cxnLst/>
                <a:rect l="l" t="t" r="r" b="b"/>
                <a:pathLst>
                  <a:path w="2212975" h="1472564">
                    <a:moveTo>
                      <a:pt x="504217" y="534181"/>
                    </a:moveTo>
                    <a:lnTo>
                      <a:pt x="0" y="0"/>
                    </a:lnTo>
                    <a:lnTo>
                      <a:pt x="242316" y="893826"/>
                    </a:lnTo>
                    <a:lnTo>
                      <a:pt x="504217" y="534181"/>
                    </a:lnTo>
                    <a:close/>
                  </a:path>
                  <a:path w="2212975" h="1472564">
                    <a:moveTo>
                      <a:pt x="720090" y="237744"/>
                    </a:moveTo>
                    <a:lnTo>
                      <a:pt x="22860" y="22860"/>
                    </a:lnTo>
                    <a:lnTo>
                      <a:pt x="508552" y="528228"/>
                    </a:lnTo>
                    <a:lnTo>
                      <a:pt x="720090" y="237744"/>
                    </a:lnTo>
                    <a:close/>
                  </a:path>
                  <a:path w="2212975" h="1472564">
                    <a:moveTo>
                      <a:pt x="2212848" y="1472183"/>
                    </a:moveTo>
                    <a:lnTo>
                      <a:pt x="2212848" y="1181861"/>
                    </a:lnTo>
                    <a:lnTo>
                      <a:pt x="22860" y="1181862"/>
                    </a:lnTo>
                    <a:lnTo>
                      <a:pt x="22860" y="1472184"/>
                    </a:lnTo>
                    <a:lnTo>
                      <a:pt x="2212848" y="1472183"/>
                    </a:lnTo>
                    <a:close/>
                  </a:path>
                  <a:path w="2212975" h="1472564">
                    <a:moveTo>
                      <a:pt x="1115568" y="1181861"/>
                    </a:moveTo>
                    <a:lnTo>
                      <a:pt x="1094994" y="1138427"/>
                    </a:lnTo>
                    <a:lnTo>
                      <a:pt x="508552" y="528228"/>
                    </a:lnTo>
                    <a:lnTo>
                      <a:pt x="504217" y="534181"/>
                    </a:lnTo>
                    <a:lnTo>
                      <a:pt x="1115568" y="118186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4" name="object 17">
                <a:extLst>
                  <a:ext uri="{FF2B5EF4-FFF2-40B4-BE49-F238E27FC236}">
                    <a16:creationId xmlns:a16="http://schemas.microsoft.com/office/drawing/2014/main" id="{AB858656-A316-BC59-1525-C1B4285613DD}"/>
                  </a:ext>
                </a:extLst>
              </p:cNvPr>
              <p:cNvSpPr/>
              <p:nvPr/>
            </p:nvSpPr>
            <p:spPr>
              <a:xfrm>
                <a:off x="4917567" y="3777614"/>
                <a:ext cx="2212975" cy="1472565"/>
              </a:xfrm>
              <a:custGeom>
                <a:avLst/>
                <a:gdLst/>
                <a:ahLst/>
                <a:cxnLst/>
                <a:rect l="l" t="t" r="r" b="b"/>
                <a:pathLst>
                  <a:path w="2212975" h="1472564">
                    <a:moveTo>
                      <a:pt x="2212848" y="22859"/>
                    </a:moveTo>
                    <a:lnTo>
                      <a:pt x="1115568" y="1181861"/>
                    </a:lnTo>
                    <a:lnTo>
                      <a:pt x="2212848" y="1181861"/>
                    </a:lnTo>
                    <a:lnTo>
                      <a:pt x="2212848" y="1472183"/>
                    </a:lnTo>
                    <a:lnTo>
                      <a:pt x="22860" y="1472184"/>
                    </a:lnTo>
                    <a:lnTo>
                      <a:pt x="22860" y="1181862"/>
                    </a:lnTo>
                    <a:lnTo>
                      <a:pt x="1115568" y="1181861"/>
                    </a:lnTo>
                    <a:lnTo>
                      <a:pt x="1094994" y="1138427"/>
                    </a:lnTo>
                    <a:lnTo>
                      <a:pt x="22860" y="22860"/>
                    </a:lnTo>
                    <a:lnTo>
                      <a:pt x="720090" y="237744"/>
                    </a:lnTo>
                    <a:lnTo>
                      <a:pt x="242316" y="893826"/>
                    </a:lnTo>
                    <a:lnTo>
                      <a:pt x="0" y="0"/>
                    </a:lnTo>
                    <a:lnTo>
                      <a:pt x="1115568" y="1181861"/>
                    </a:lnTo>
                    <a:lnTo>
                      <a:pt x="2212848" y="22859"/>
                    </a:lnTo>
                    <a:close/>
                  </a:path>
                  <a:path w="2212975" h="1472564">
                    <a:moveTo>
                      <a:pt x="2212848" y="22859"/>
                    </a:moveTo>
                    <a:lnTo>
                      <a:pt x="1115568" y="1181861"/>
                    </a:lnTo>
                    <a:lnTo>
                      <a:pt x="2212848" y="1181861"/>
                    </a:lnTo>
                    <a:lnTo>
                      <a:pt x="2212848" y="1472183"/>
                    </a:lnTo>
                    <a:lnTo>
                      <a:pt x="22860" y="1472184"/>
                    </a:lnTo>
                    <a:lnTo>
                      <a:pt x="22860" y="1181862"/>
                    </a:lnTo>
                    <a:lnTo>
                      <a:pt x="1115568" y="1181861"/>
                    </a:lnTo>
                    <a:lnTo>
                      <a:pt x="1094994" y="1138427"/>
                    </a:lnTo>
                    <a:lnTo>
                      <a:pt x="22860" y="22860"/>
                    </a:lnTo>
                    <a:lnTo>
                      <a:pt x="720090" y="237744"/>
                    </a:lnTo>
                    <a:lnTo>
                      <a:pt x="242316" y="893826"/>
                    </a:lnTo>
                    <a:lnTo>
                      <a:pt x="0" y="0"/>
                    </a:lnTo>
                    <a:lnTo>
                      <a:pt x="1115568" y="1181861"/>
                    </a:lnTo>
                    <a:lnTo>
                      <a:pt x="2212848" y="22859"/>
                    </a:lnTo>
                  </a:path>
                </a:pathLst>
              </a:custGeom>
              <a:ln w="29463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5" name="object 18">
              <a:extLst>
                <a:ext uri="{FF2B5EF4-FFF2-40B4-BE49-F238E27FC236}">
                  <a16:creationId xmlns:a16="http://schemas.microsoft.com/office/drawing/2014/main" id="{39712A76-E03C-778A-4EB7-E2403A561233}"/>
                </a:ext>
              </a:extLst>
            </p:cNvPr>
            <p:cNvSpPr txBox="1"/>
            <p:nvPr/>
          </p:nvSpPr>
          <p:spPr>
            <a:xfrm>
              <a:off x="1802709" y="3338934"/>
              <a:ext cx="1610118" cy="689969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14"/>
                </a:spcBef>
              </a:pPr>
              <a:r>
                <a:rPr sz="3850" spc="5" dirty="0">
                  <a:solidFill>
                    <a:srgbClr val="CC00CC"/>
                  </a:solidFill>
                  <a:latin typeface="Times New Roman"/>
                  <a:cs typeface="Times New Roman"/>
                </a:rPr>
                <a:t>Entrée</a:t>
              </a:r>
              <a:endParaRPr sz="3850" dirty="0">
                <a:solidFill>
                  <a:srgbClr val="CC00CC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56" name="object 19">
              <a:extLst>
                <a:ext uri="{FF2B5EF4-FFF2-40B4-BE49-F238E27FC236}">
                  <a16:creationId xmlns:a16="http://schemas.microsoft.com/office/drawing/2014/main" id="{185DCA44-970E-7BF0-F154-AEE6A5A710AF}"/>
                </a:ext>
              </a:extLst>
            </p:cNvPr>
            <p:cNvSpPr txBox="1"/>
            <p:nvPr/>
          </p:nvSpPr>
          <p:spPr>
            <a:xfrm>
              <a:off x="320508" y="3270761"/>
              <a:ext cx="1254127" cy="689969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14"/>
                </a:spcBef>
                <a:tabLst>
                  <a:tab pos="567690" algn="l"/>
                </a:tabLst>
              </a:pPr>
              <a:r>
                <a:rPr sz="3850" spc="-215" dirty="0">
                  <a:solidFill>
                    <a:srgbClr val="ED1C24"/>
                  </a:solidFill>
                  <a:latin typeface="Times New Roman"/>
                  <a:cs typeface="Times New Roman"/>
                </a:rPr>
                <a:t>-</a:t>
              </a:r>
              <a:r>
                <a:rPr lang="fr-FR" sz="3850" b="1" spc="-215" dirty="0">
                  <a:solidFill>
                    <a:srgbClr val="ED1C24"/>
                  </a:solidFill>
                  <a:latin typeface="Times New Roman"/>
                  <a:cs typeface="Times New Roman"/>
                </a:rPr>
                <a:t>V</a:t>
              </a:r>
              <a:r>
                <a:rPr sz="3225" b="1" spc="-322" baseline="-28423" dirty="0">
                  <a:solidFill>
                    <a:srgbClr val="ED1C24"/>
                  </a:solidFill>
                  <a:latin typeface="Times New Roman"/>
                  <a:cs typeface="Times New Roman"/>
                </a:rPr>
                <a:t>BE</a:t>
              </a:r>
              <a:endParaRPr sz="3225" b="1" baseline="-28423" dirty="0">
                <a:latin typeface="Times New Roman"/>
                <a:cs typeface="Times New Roman"/>
              </a:endParaRPr>
            </a:p>
          </p:txBody>
        </p:sp>
        <p:sp>
          <p:nvSpPr>
            <p:cNvPr id="57" name="object 21">
              <a:extLst>
                <a:ext uri="{FF2B5EF4-FFF2-40B4-BE49-F238E27FC236}">
                  <a16:creationId xmlns:a16="http://schemas.microsoft.com/office/drawing/2014/main" id="{4A1DB5A9-5B02-D760-7DB7-20F8D47A2E1C}"/>
                </a:ext>
              </a:extLst>
            </p:cNvPr>
            <p:cNvSpPr txBox="1"/>
            <p:nvPr/>
          </p:nvSpPr>
          <p:spPr>
            <a:xfrm>
              <a:off x="5738715" y="3839679"/>
              <a:ext cx="161925" cy="615315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14"/>
                </a:spcBef>
              </a:pPr>
              <a:r>
                <a:rPr sz="3850" spc="5" dirty="0">
                  <a:solidFill>
                    <a:srgbClr val="00A650"/>
                  </a:solidFill>
                  <a:latin typeface="Times New Roman"/>
                  <a:cs typeface="Times New Roman"/>
                </a:rPr>
                <a:t>i</a:t>
              </a:r>
              <a:endParaRPr sz="3850">
                <a:latin typeface="Times New Roman"/>
                <a:cs typeface="Times New Roman"/>
              </a:endParaRPr>
            </a:p>
          </p:txBody>
        </p:sp>
        <p:sp>
          <p:nvSpPr>
            <p:cNvPr id="58" name="object 22">
              <a:extLst>
                <a:ext uri="{FF2B5EF4-FFF2-40B4-BE49-F238E27FC236}">
                  <a16:creationId xmlns:a16="http://schemas.microsoft.com/office/drawing/2014/main" id="{9E651C7F-1CD3-85F9-528B-93D1BC6D2600}"/>
                </a:ext>
              </a:extLst>
            </p:cNvPr>
            <p:cNvSpPr txBox="1"/>
            <p:nvPr/>
          </p:nvSpPr>
          <p:spPr>
            <a:xfrm>
              <a:off x="5839154" y="4196157"/>
              <a:ext cx="208915" cy="354965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10"/>
                </a:spcBef>
              </a:pPr>
              <a:r>
                <a:rPr sz="2150" spc="5" dirty="0">
                  <a:solidFill>
                    <a:srgbClr val="00A650"/>
                  </a:solidFill>
                  <a:latin typeface="Times New Roman"/>
                  <a:cs typeface="Times New Roman"/>
                </a:rPr>
                <a:t>B</a:t>
              </a:r>
              <a:endParaRPr sz="2150">
                <a:latin typeface="Times New Roman"/>
                <a:cs typeface="Times New Roman"/>
              </a:endParaRPr>
            </a:p>
          </p:txBody>
        </p:sp>
        <p:grpSp>
          <p:nvGrpSpPr>
            <p:cNvPr id="59" name="object 23">
              <a:extLst>
                <a:ext uri="{FF2B5EF4-FFF2-40B4-BE49-F238E27FC236}">
                  <a16:creationId xmlns:a16="http://schemas.microsoft.com/office/drawing/2014/main" id="{55FE83BA-B605-19AF-B1D3-30F755E7DC9F}"/>
                </a:ext>
              </a:extLst>
            </p:cNvPr>
            <p:cNvGrpSpPr/>
            <p:nvPr/>
          </p:nvGrpSpPr>
          <p:grpSpPr>
            <a:xfrm>
              <a:off x="2362200" y="1866862"/>
              <a:ext cx="5500370" cy="549275"/>
              <a:chOff x="3286442" y="3522662"/>
              <a:chExt cx="5500370" cy="549275"/>
            </a:xfrm>
          </p:grpSpPr>
          <p:sp>
            <p:nvSpPr>
              <p:cNvPr id="60" name="object 24">
                <a:extLst>
                  <a:ext uri="{FF2B5EF4-FFF2-40B4-BE49-F238E27FC236}">
                    <a16:creationId xmlns:a16="http://schemas.microsoft.com/office/drawing/2014/main" id="{175223A2-5460-481B-CBB3-24FAE2A5BD0A}"/>
                  </a:ext>
                </a:extLst>
              </p:cNvPr>
              <p:cNvSpPr/>
              <p:nvPr/>
            </p:nvSpPr>
            <p:spPr>
              <a:xfrm>
                <a:off x="3301364" y="3537584"/>
                <a:ext cx="388620" cy="519430"/>
              </a:xfrm>
              <a:custGeom>
                <a:avLst/>
                <a:gdLst/>
                <a:ahLst/>
                <a:cxnLst/>
                <a:rect l="l" t="t" r="r" b="b"/>
                <a:pathLst>
                  <a:path w="388620" h="519429">
                    <a:moveTo>
                      <a:pt x="373799" y="268256"/>
                    </a:moveTo>
                    <a:lnTo>
                      <a:pt x="0" y="0"/>
                    </a:lnTo>
                    <a:lnTo>
                      <a:pt x="75437" y="258317"/>
                    </a:lnTo>
                    <a:lnTo>
                      <a:pt x="75437" y="468334"/>
                    </a:lnTo>
                    <a:lnTo>
                      <a:pt x="373799" y="268256"/>
                    </a:lnTo>
                    <a:close/>
                  </a:path>
                  <a:path w="388620" h="519429">
                    <a:moveTo>
                      <a:pt x="75437" y="468334"/>
                    </a:moveTo>
                    <a:lnTo>
                      <a:pt x="75437" y="258317"/>
                    </a:lnTo>
                    <a:lnTo>
                      <a:pt x="0" y="518922"/>
                    </a:lnTo>
                    <a:lnTo>
                      <a:pt x="75437" y="468334"/>
                    </a:lnTo>
                    <a:close/>
                  </a:path>
                  <a:path w="388620" h="519429">
                    <a:moveTo>
                      <a:pt x="388620" y="278891"/>
                    </a:moveTo>
                    <a:lnTo>
                      <a:pt x="388620" y="258317"/>
                    </a:lnTo>
                    <a:lnTo>
                      <a:pt x="373799" y="268256"/>
                    </a:lnTo>
                    <a:lnTo>
                      <a:pt x="388620" y="278891"/>
                    </a:lnTo>
                    <a:close/>
                  </a:path>
                </a:pathLst>
              </a:custGeom>
              <a:solidFill>
                <a:srgbClr val="00A65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1" name="object 25">
                <a:extLst>
                  <a:ext uri="{FF2B5EF4-FFF2-40B4-BE49-F238E27FC236}">
                    <a16:creationId xmlns:a16="http://schemas.microsoft.com/office/drawing/2014/main" id="{59E104D9-D3AB-D911-4788-06341B87853B}"/>
                  </a:ext>
                </a:extLst>
              </p:cNvPr>
              <p:cNvSpPr/>
              <p:nvPr/>
            </p:nvSpPr>
            <p:spPr>
              <a:xfrm>
                <a:off x="3301364" y="3537584"/>
                <a:ext cx="388620" cy="519430"/>
              </a:xfrm>
              <a:custGeom>
                <a:avLst/>
                <a:gdLst/>
                <a:ahLst/>
                <a:cxnLst/>
                <a:rect l="l" t="t" r="r" b="b"/>
                <a:pathLst>
                  <a:path w="388620" h="519429">
                    <a:moveTo>
                      <a:pt x="388620" y="258317"/>
                    </a:moveTo>
                    <a:lnTo>
                      <a:pt x="0" y="518922"/>
                    </a:lnTo>
                    <a:lnTo>
                      <a:pt x="75437" y="258317"/>
                    </a:lnTo>
                    <a:lnTo>
                      <a:pt x="0" y="0"/>
                    </a:lnTo>
                    <a:lnTo>
                      <a:pt x="388620" y="278891"/>
                    </a:lnTo>
                    <a:lnTo>
                      <a:pt x="388620" y="258317"/>
                    </a:lnTo>
                    <a:close/>
                  </a:path>
                  <a:path w="388620" h="519429">
                    <a:moveTo>
                      <a:pt x="388620" y="258317"/>
                    </a:moveTo>
                    <a:lnTo>
                      <a:pt x="0" y="518922"/>
                    </a:lnTo>
                    <a:lnTo>
                      <a:pt x="75437" y="258317"/>
                    </a:lnTo>
                    <a:lnTo>
                      <a:pt x="0" y="0"/>
                    </a:lnTo>
                    <a:lnTo>
                      <a:pt x="388620" y="278891"/>
                    </a:lnTo>
                    <a:lnTo>
                      <a:pt x="388620" y="258317"/>
                    </a:lnTo>
                  </a:path>
                </a:pathLst>
              </a:custGeom>
              <a:ln w="29463">
                <a:solidFill>
                  <a:srgbClr val="00A65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2" name="object 26">
                <a:extLst>
                  <a:ext uri="{FF2B5EF4-FFF2-40B4-BE49-F238E27FC236}">
                    <a16:creationId xmlns:a16="http://schemas.microsoft.com/office/drawing/2014/main" id="{FC85DE17-F9D8-AEE3-DE4B-6D2A16643338}"/>
                  </a:ext>
                </a:extLst>
              </p:cNvPr>
              <p:cNvSpPr/>
              <p:nvPr/>
            </p:nvSpPr>
            <p:spPr>
              <a:xfrm>
                <a:off x="8383142" y="3537584"/>
                <a:ext cx="388620" cy="519430"/>
              </a:xfrm>
              <a:custGeom>
                <a:avLst/>
                <a:gdLst/>
                <a:ahLst/>
                <a:cxnLst/>
                <a:rect l="l" t="t" r="r" b="b"/>
                <a:pathLst>
                  <a:path w="388620" h="519429">
                    <a:moveTo>
                      <a:pt x="14820" y="268256"/>
                    </a:moveTo>
                    <a:lnTo>
                      <a:pt x="0" y="258317"/>
                    </a:lnTo>
                    <a:lnTo>
                      <a:pt x="0" y="278891"/>
                    </a:lnTo>
                    <a:lnTo>
                      <a:pt x="14820" y="268256"/>
                    </a:lnTo>
                    <a:close/>
                  </a:path>
                  <a:path w="388620" h="519429">
                    <a:moveTo>
                      <a:pt x="388620" y="0"/>
                    </a:moveTo>
                    <a:lnTo>
                      <a:pt x="14820" y="268256"/>
                    </a:lnTo>
                    <a:lnTo>
                      <a:pt x="313181" y="468334"/>
                    </a:lnTo>
                    <a:lnTo>
                      <a:pt x="313181" y="258317"/>
                    </a:lnTo>
                    <a:lnTo>
                      <a:pt x="388620" y="0"/>
                    </a:lnTo>
                    <a:close/>
                  </a:path>
                  <a:path w="388620" h="519429">
                    <a:moveTo>
                      <a:pt x="388620" y="518922"/>
                    </a:moveTo>
                    <a:lnTo>
                      <a:pt x="313181" y="258317"/>
                    </a:lnTo>
                    <a:lnTo>
                      <a:pt x="313181" y="468334"/>
                    </a:lnTo>
                    <a:lnTo>
                      <a:pt x="388620" y="518922"/>
                    </a:lnTo>
                    <a:close/>
                  </a:path>
                </a:pathLst>
              </a:custGeom>
              <a:solidFill>
                <a:srgbClr val="00A65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3" name="object 27">
                <a:extLst>
                  <a:ext uri="{FF2B5EF4-FFF2-40B4-BE49-F238E27FC236}">
                    <a16:creationId xmlns:a16="http://schemas.microsoft.com/office/drawing/2014/main" id="{6D325623-7A11-C40B-9E87-F6EC8C1FB52D}"/>
                  </a:ext>
                </a:extLst>
              </p:cNvPr>
              <p:cNvSpPr/>
              <p:nvPr/>
            </p:nvSpPr>
            <p:spPr>
              <a:xfrm>
                <a:off x="8383142" y="3537584"/>
                <a:ext cx="388620" cy="519430"/>
              </a:xfrm>
              <a:custGeom>
                <a:avLst/>
                <a:gdLst/>
                <a:ahLst/>
                <a:cxnLst/>
                <a:rect l="l" t="t" r="r" b="b"/>
                <a:pathLst>
                  <a:path w="388620" h="519429">
                    <a:moveTo>
                      <a:pt x="0" y="258317"/>
                    </a:moveTo>
                    <a:lnTo>
                      <a:pt x="388620" y="518922"/>
                    </a:lnTo>
                    <a:lnTo>
                      <a:pt x="313181" y="258317"/>
                    </a:lnTo>
                    <a:lnTo>
                      <a:pt x="388620" y="0"/>
                    </a:lnTo>
                    <a:lnTo>
                      <a:pt x="0" y="278891"/>
                    </a:lnTo>
                    <a:lnTo>
                      <a:pt x="0" y="258317"/>
                    </a:lnTo>
                    <a:close/>
                  </a:path>
                  <a:path w="388620" h="519429">
                    <a:moveTo>
                      <a:pt x="0" y="258317"/>
                    </a:moveTo>
                    <a:lnTo>
                      <a:pt x="388620" y="518922"/>
                    </a:lnTo>
                    <a:lnTo>
                      <a:pt x="313181" y="258317"/>
                    </a:lnTo>
                    <a:lnTo>
                      <a:pt x="388620" y="0"/>
                    </a:lnTo>
                    <a:lnTo>
                      <a:pt x="0" y="278891"/>
                    </a:lnTo>
                    <a:lnTo>
                      <a:pt x="0" y="258317"/>
                    </a:lnTo>
                  </a:path>
                </a:pathLst>
              </a:custGeom>
              <a:ln w="29463">
                <a:solidFill>
                  <a:srgbClr val="00A65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4" name="object 28">
              <a:extLst>
                <a:ext uri="{FF2B5EF4-FFF2-40B4-BE49-F238E27FC236}">
                  <a16:creationId xmlns:a16="http://schemas.microsoft.com/office/drawing/2014/main" id="{21873E21-79C1-EDED-E1E1-6AD410DC73E8}"/>
                </a:ext>
              </a:extLst>
            </p:cNvPr>
            <p:cNvSpPr txBox="1"/>
            <p:nvPr/>
          </p:nvSpPr>
          <p:spPr>
            <a:xfrm>
              <a:off x="2274793" y="2273398"/>
              <a:ext cx="618429" cy="689969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14"/>
                </a:spcBef>
              </a:pPr>
              <a:r>
                <a:rPr sz="3850" spc="5" dirty="0">
                  <a:solidFill>
                    <a:srgbClr val="00A650"/>
                  </a:solidFill>
                  <a:latin typeface="Times New Roman"/>
                  <a:cs typeface="Times New Roman"/>
                </a:rPr>
                <a:t>-i</a:t>
              </a:r>
              <a:endParaRPr sz="3850" dirty="0">
                <a:latin typeface="Times New Roman"/>
                <a:cs typeface="Times New Roman"/>
              </a:endParaRPr>
            </a:p>
          </p:txBody>
        </p:sp>
        <p:sp>
          <p:nvSpPr>
            <p:cNvPr id="65" name="object 29">
              <a:extLst>
                <a:ext uri="{FF2B5EF4-FFF2-40B4-BE49-F238E27FC236}">
                  <a16:creationId xmlns:a16="http://schemas.microsoft.com/office/drawing/2014/main" id="{CCF25B87-F78B-CFBF-34CC-1BA1426A125D}"/>
                </a:ext>
              </a:extLst>
            </p:cNvPr>
            <p:cNvSpPr txBox="1"/>
            <p:nvPr/>
          </p:nvSpPr>
          <p:spPr>
            <a:xfrm>
              <a:off x="2650080" y="2618636"/>
              <a:ext cx="193040" cy="354965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10"/>
                </a:spcBef>
              </a:pPr>
              <a:r>
                <a:rPr sz="2150" spc="5" dirty="0">
                  <a:solidFill>
                    <a:srgbClr val="00A650"/>
                  </a:solidFill>
                  <a:latin typeface="Times New Roman"/>
                  <a:cs typeface="Times New Roman"/>
                </a:rPr>
                <a:t>E</a:t>
              </a:r>
              <a:endParaRPr sz="2150" dirty="0">
                <a:latin typeface="Times New Roman"/>
                <a:cs typeface="Times New Roman"/>
              </a:endParaRPr>
            </a:p>
          </p:txBody>
        </p:sp>
        <p:sp>
          <p:nvSpPr>
            <p:cNvPr id="67" name="object 32">
              <a:extLst>
                <a:ext uri="{FF2B5EF4-FFF2-40B4-BE49-F238E27FC236}">
                  <a16:creationId xmlns:a16="http://schemas.microsoft.com/office/drawing/2014/main" id="{72ADBBB7-867A-3698-4B04-D77EEF524183}"/>
                </a:ext>
              </a:extLst>
            </p:cNvPr>
            <p:cNvSpPr txBox="1"/>
            <p:nvPr/>
          </p:nvSpPr>
          <p:spPr>
            <a:xfrm>
              <a:off x="5434968" y="2077759"/>
              <a:ext cx="3184842" cy="1516619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 marL="56515" algn="ctr">
                <a:lnSpc>
                  <a:spcPct val="100000"/>
                </a:lnSpc>
                <a:spcBef>
                  <a:spcPts val="114"/>
                </a:spcBef>
              </a:pPr>
              <a:r>
                <a:rPr sz="3850" spc="-140" dirty="0" err="1">
                  <a:solidFill>
                    <a:srgbClr val="00A650"/>
                  </a:solidFill>
                  <a:latin typeface="Times New Roman"/>
                  <a:cs typeface="Times New Roman"/>
                </a:rPr>
                <a:t>i</a:t>
              </a:r>
              <a:r>
                <a:rPr sz="3225" spc="-209" baseline="-28423" dirty="0" err="1">
                  <a:solidFill>
                    <a:srgbClr val="00A650"/>
                  </a:solidFill>
                  <a:latin typeface="Times New Roman"/>
                  <a:cs typeface="Times New Roman"/>
                </a:rPr>
                <a:t>C</a:t>
              </a:r>
              <a:endParaRPr lang="fr-FR" sz="3225" spc="-209" baseline="-28423" dirty="0">
                <a:solidFill>
                  <a:srgbClr val="00A650"/>
                </a:solidFill>
                <a:latin typeface="Times New Roman"/>
                <a:cs typeface="Times New Roman"/>
              </a:endParaRPr>
            </a:p>
            <a:p>
              <a:pPr marL="38100" marR="30480" indent="1030605">
                <a:lnSpc>
                  <a:spcPct val="58900"/>
                </a:lnSpc>
                <a:tabLst>
                  <a:tab pos="1777364" algn="l"/>
                </a:tabLst>
              </a:pPr>
              <a:endParaRPr lang="fr-FR" sz="3850" spc="5" dirty="0">
                <a:latin typeface="Times New Roman"/>
                <a:cs typeface="Times New Roman"/>
              </a:endParaRPr>
            </a:p>
            <a:p>
              <a:pPr marL="38100" marR="30480" indent="1030605">
                <a:lnSpc>
                  <a:spcPct val="58900"/>
                </a:lnSpc>
                <a:tabLst>
                  <a:tab pos="1777364" algn="l"/>
                </a:tabLst>
              </a:pPr>
              <a:r>
                <a:rPr lang="fr-FR" sz="3850" b="1" spc="5" dirty="0">
                  <a:solidFill>
                    <a:srgbClr val="CC00CC"/>
                  </a:solidFill>
                  <a:latin typeface="Times New Roman"/>
                  <a:cs typeface="Times New Roman"/>
                </a:rPr>
                <a:t>Sortie</a:t>
              </a:r>
              <a:endParaRPr sz="3850" b="1" dirty="0">
                <a:solidFill>
                  <a:srgbClr val="CC00CC"/>
                </a:solidFill>
                <a:latin typeface="Times New Roman"/>
                <a:cs typeface="Times New Roman"/>
              </a:endParaRPr>
            </a:p>
          </p:txBody>
        </p:sp>
        <p:grpSp>
          <p:nvGrpSpPr>
            <p:cNvPr id="68" name="object 33">
              <a:extLst>
                <a:ext uri="{FF2B5EF4-FFF2-40B4-BE49-F238E27FC236}">
                  <a16:creationId xmlns:a16="http://schemas.microsoft.com/office/drawing/2014/main" id="{533551A4-E52F-67B9-C50F-38C9D3689404}"/>
                </a:ext>
              </a:extLst>
            </p:cNvPr>
            <p:cNvGrpSpPr/>
            <p:nvPr/>
          </p:nvGrpSpPr>
          <p:grpSpPr>
            <a:xfrm>
              <a:off x="7941754" y="2188616"/>
              <a:ext cx="383540" cy="2534285"/>
              <a:chOff x="8865996" y="3844416"/>
              <a:chExt cx="383540" cy="2534285"/>
            </a:xfrm>
          </p:grpSpPr>
          <p:sp>
            <p:nvSpPr>
              <p:cNvPr id="69" name="object 34">
                <a:extLst>
                  <a:ext uri="{FF2B5EF4-FFF2-40B4-BE49-F238E27FC236}">
                    <a16:creationId xmlns:a16="http://schemas.microsoft.com/office/drawing/2014/main" id="{0421EB35-1A82-A788-A9C0-890D66688EA1}"/>
                  </a:ext>
                </a:extLst>
              </p:cNvPr>
              <p:cNvSpPr/>
              <p:nvPr/>
            </p:nvSpPr>
            <p:spPr>
              <a:xfrm>
                <a:off x="8872346" y="3853052"/>
                <a:ext cx="370840" cy="514350"/>
              </a:xfrm>
              <a:custGeom>
                <a:avLst/>
                <a:gdLst/>
                <a:ahLst/>
                <a:cxnLst/>
                <a:rect l="l" t="t" r="r" b="b"/>
                <a:pathLst>
                  <a:path w="370840" h="514350">
                    <a:moveTo>
                      <a:pt x="370331" y="514350"/>
                    </a:moveTo>
                    <a:lnTo>
                      <a:pt x="187451" y="16001"/>
                    </a:lnTo>
                    <a:lnTo>
                      <a:pt x="187451" y="0"/>
                    </a:lnTo>
                    <a:lnTo>
                      <a:pt x="0" y="502920"/>
                    </a:lnTo>
                    <a:lnTo>
                      <a:pt x="187451" y="416051"/>
                    </a:lnTo>
                    <a:lnTo>
                      <a:pt x="370331" y="514350"/>
                    </a:lnTo>
                    <a:close/>
                  </a:path>
                </a:pathLst>
              </a:custGeom>
              <a:solidFill>
                <a:srgbClr val="ED1C2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0" name="object 35">
                <a:extLst>
                  <a:ext uri="{FF2B5EF4-FFF2-40B4-BE49-F238E27FC236}">
                    <a16:creationId xmlns:a16="http://schemas.microsoft.com/office/drawing/2014/main" id="{BC66A993-1AA6-946C-2BBC-E49264B6216F}"/>
                  </a:ext>
                </a:extLst>
              </p:cNvPr>
              <p:cNvSpPr/>
              <p:nvPr/>
            </p:nvSpPr>
            <p:spPr>
              <a:xfrm>
                <a:off x="8872346" y="3850766"/>
                <a:ext cx="370840" cy="2521585"/>
              </a:xfrm>
              <a:custGeom>
                <a:avLst/>
                <a:gdLst/>
                <a:ahLst/>
                <a:cxnLst/>
                <a:rect l="l" t="t" r="r" b="b"/>
                <a:pathLst>
                  <a:path w="370840" h="2521585">
                    <a:moveTo>
                      <a:pt x="187451" y="2521458"/>
                    </a:moveTo>
                    <a:lnTo>
                      <a:pt x="187451" y="2286"/>
                    </a:lnTo>
                    <a:lnTo>
                      <a:pt x="0" y="505206"/>
                    </a:lnTo>
                    <a:lnTo>
                      <a:pt x="187451" y="418338"/>
                    </a:lnTo>
                    <a:lnTo>
                      <a:pt x="370331" y="516636"/>
                    </a:lnTo>
                    <a:lnTo>
                      <a:pt x="187451" y="18287"/>
                    </a:lnTo>
                    <a:lnTo>
                      <a:pt x="187451" y="2521458"/>
                    </a:lnTo>
                    <a:close/>
                  </a:path>
                  <a:path w="370840" h="2521585">
                    <a:moveTo>
                      <a:pt x="185166" y="2519172"/>
                    </a:moveTo>
                    <a:lnTo>
                      <a:pt x="185166" y="0"/>
                    </a:lnTo>
                    <a:lnTo>
                      <a:pt x="0" y="502920"/>
                    </a:lnTo>
                    <a:lnTo>
                      <a:pt x="185166" y="416052"/>
                    </a:lnTo>
                    <a:lnTo>
                      <a:pt x="368046" y="514350"/>
                    </a:lnTo>
                    <a:lnTo>
                      <a:pt x="185166" y="16002"/>
                    </a:lnTo>
                    <a:lnTo>
                      <a:pt x="185166" y="2519172"/>
                    </a:lnTo>
                  </a:path>
                </a:pathLst>
              </a:custGeom>
              <a:ln w="12700">
                <a:solidFill>
                  <a:srgbClr val="ED1C2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72" name="object 19">
              <a:extLst>
                <a:ext uri="{FF2B5EF4-FFF2-40B4-BE49-F238E27FC236}">
                  <a16:creationId xmlns:a16="http://schemas.microsoft.com/office/drawing/2014/main" id="{50A03BF6-9905-D45F-B19B-938778BA5617}"/>
                </a:ext>
              </a:extLst>
            </p:cNvPr>
            <p:cNvSpPr txBox="1"/>
            <p:nvPr/>
          </p:nvSpPr>
          <p:spPr>
            <a:xfrm>
              <a:off x="8226035" y="3000758"/>
              <a:ext cx="1254126" cy="689969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14"/>
                </a:spcBef>
                <a:tabLst>
                  <a:tab pos="567690" algn="l"/>
                </a:tabLst>
              </a:pPr>
              <a:r>
                <a:rPr lang="fr-FR" sz="3850" b="1" spc="-215" dirty="0">
                  <a:solidFill>
                    <a:srgbClr val="ED1C24"/>
                  </a:solidFill>
                  <a:latin typeface="Times New Roman"/>
                  <a:cs typeface="Times New Roman"/>
                </a:rPr>
                <a:t>V</a:t>
              </a:r>
              <a:r>
                <a:rPr lang="fr-FR" sz="3225" b="1" spc="-322" baseline="-28423" dirty="0">
                  <a:solidFill>
                    <a:srgbClr val="ED1C24"/>
                  </a:solidFill>
                  <a:latin typeface="Times New Roman"/>
                  <a:cs typeface="Times New Roman"/>
                </a:rPr>
                <a:t>CB</a:t>
              </a:r>
              <a:endParaRPr sz="3225" b="1" baseline="-28423" dirty="0">
                <a:latin typeface="Times New Roman"/>
                <a:cs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80960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6"/>
            <a:ext cx="52086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-Transistor-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1620" y="507690"/>
            <a:ext cx="69931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4. Polarisation </a:t>
            </a:r>
            <a:r>
              <a:rPr lang="fr-FR" sz="18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du transistor</a:t>
            </a:r>
            <a:endParaRPr lang="fr-FR" b="1" spc="-5" dirty="0">
              <a:solidFill>
                <a:srgbClr val="FF0000"/>
              </a:solidFill>
              <a:latin typeface="Bookman Old Style" panose="02050604050505020204" pitchFamily="18" charset="0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715000" y="365260"/>
            <a:ext cx="3328256" cy="10117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46">
            <a:extLst>
              <a:ext uri="{FF2B5EF4-FFF2-40B4-BE49-F238E27FC236}">
                <a16:creationId xmlns:a16="http://schemas.microsoft.com/office/drawing/2014/main" id="{7198176F-4D83-4A98-1EFA-F78693C2B68B}"/>
              </a:ext>
            </a:extLst>
          </p:cNvPr>
          <p:cNvSpPr txBox="1"/>
          <p:nvPr/>
        </p:nvSpPr>
        <p:spPr>
          <a:xfrm>
            <a:off x="8828933" y="486598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39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3206C0-B920-4CD8-8FF9-7BD8ABA1AB10}"/>
              </a:ext>
            </a:extLst>
          </p:cNvPr>
          <p:cNvSpPr txBox="1"/>
          <p:nvPr/>
        </p:nvSpPr>
        <p:spPr>
          <a:xfrm>
            <a:off x="562319" y="843511"/>
            <a:ext cx="561363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4.1 Fonctionnement normal du transistor bipolaire</a:t>
            </a:r>
            <a:br>
              <a:rPr lang="fr-FR" sz="1600" b="1"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</a:br>
            <a:r>
              <a:rPr lang="fr-FR" sz="1600" b="1"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 </a:t>
            </a:r>
            <a:br>
              <a:rPr lang="fr-FR" sz="1800" dirty="0"/>
            </a:b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9A47E5-2667-CC6E-D34D-0F05A01FFCEE}"/>
              </a:ext>
            </a:extLst>
          </p:cNvPr>
          <p:cNvSpPr txBox="1"/>
          <p:nvPr/>
        </p:nvSpPr>
        <p:spPr>
          <a:xfrm>
            <a:off x="561620" y="1102336"/>
            <a:ext cx="838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fr-FR" sz="16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- Base commune</a:t>
            </a:r>
          </a:p>
          <a:p>
            <a:pPr algn="just">
              <a:buNone/>
            </a:pPr>
            <a:r>
              <a:rPr lang="fr-FR" sz="1600" dirty="0">
                <a:latin typeface="Bookman Old Style" panose="02050604050505020204" pitchFamily="18" charset="0"/>
              </a:rPr>
              <a:t>      En régime normal la caractéristique la plus importante d'un transistor est son gain en courant statique </a:t>
            </a:r>
            <a:r>
              <a:rPr lang="fr-FR" sz="1600" b="1" dirty="0">
                <a:latin typeface="Symbol" pitchFamily="18" charset="2"/>
              </a:rPr>
              <a:t>a</a:t>
            </a:r>
            <a:r>
              <a:rPr lang="fr-FR" sz="1600" b="1" baseline="-25000" dirty="0"/>
              <a:t>s</a:t>
            </a:r>
            <a:r>
              <a:rPr lang="fr-FR" sz="1600" b="1" dirty="0">
                <a:latin typeface="Bookman Old Style" panose="02050604050505020204" pitchFamily="18" charset="0"/>
              </a:rPr>
              <a:t> = I</a:t>
            </a:r>
            <a:r>
              <a:rPr lang="fr-FR" sz="1600" b="1" baseline="-25000" dirty="0">
                <a:latin typeface="Bookman Old Style" panose="02050604050505020204" pitchFamily="18" charset="0"/>
              </a:rPr>
              <a:t>C</a:t>
            </a:r>
            <a:r>
              <a:rPr lang="fr-FR" sz="1600" b="1" dirty="0">
                <a:latin typeface="Bookman Old Style" panose="02050604050505020204" pitchFamily="18" charset="0"/>
              </a:rPr>
              <a:t>/I</a:t>
            </a:r>
            <a:r>
              <a:rPr lang="fr-FR" sz="1600" b="1" baseline="-25000" dirty="0">
                <a:latin typeface="Bookman Old Style" panose="02050604050505020204" pitchFamily="18" charset="0"/>
              </a:rPr>
              <a:t>E</a:t>
            </a:r>
            <a:r>
              <a:rPr lang="fr-FR" sz="1600" dirty="0">
                <a:latin typeface="Bookman Old Style" panose="02050604050505020204" pitchFamily="18" charset="0"/>
              </a:rPr>
              <a:t>. Il représente le rapport des </a:t>
            </a:r>
            <a:r>
              <a:rPr lang="fr-FR" sz="1600" b="1" dirty="0">
                <a:latin typeface="Bookman Old Style" panose="02050604050505020204" pitchFamily="18" charset="0"/>
              </a:rPr>
              <a:t>e-</a:t>
            </a:r>
            <a:r>
              <a:rPr lang="fr-FR" sz="1600" dirty="0">
                <a:latin typeface="Bookman Old Style" panose="02050604050505020204" pitchFamily="18" charset="0"/>
              </a:rPr>
              <a:t> injectés dans l'émetteur et ceux qui atteignent le collecteur. Comme le courant de base est faible </a:t>
            </a:r>
            <a:r>
              <a:rPr lang="fr-FR" sz="1600" b="1" dirty="0">
                <a:latin typeface="Symbol" pitchFamily="18" charset="2"/>
              </a:rPr>
              <a:t>a</a:t>
            </a:r>
            <a:r>
              <a:rPr lang="fr-FR" sz="1600" b="1" baseline="-25000" dirty="0"/>
              <a:t>s </a:t>
            </a:r>
            <a:r>
              <a:rPr lang="fr-FR" sz="1600" b="1" dirty="0">
                <a:latin typeface="Bookman Old Style" panose="02050604050505020204" pitchFamily="18" charset="0"/>
              </a:rPr>
              <a:t>~ 98%.</a:t>
            </a:r>
          </a:p>
          <a:p>
            <a:pPr algn="just">
              <a:buNone/>
            </a:pPr>
            <a:r>
              <a:rPr lang="fr-FR" sz="1600" dirty="0">
                <a:latin typeface="Bookman Old Style" panose="02050604050505020204" pitchFamily="18" charset="0"/>
              </a:rPr>
              <a:t>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EDB284-2456-F234-230B-E56520E82886}"/>
              </a:ext>
            </a:extLst>
          </p:cNvPr>
          <p:cNvSpPr txBox="1"/>
          <p:nvPr/>
        </p:nvSpPr>
        <p:spPr>
          <a:xfrm>
            <a:off x="561620" y="2341186"/>
            <a:ext cx="83795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fr-FR" sz="16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- Emetteur commun</a:t>
            </a:r>
          </a:p>
          <a:p>
            <a:pPr algn="just">
              <a:buNone/>
            </a:pPr>
            <a:r>
              <a:rPr lang="fr-FR" sz="1800" dirty="0"/>
              <a:t>      </a:t>
            </a:r>
            <a:r>
              <a:rPr lang="fr-FR" sz="1600" dirty="0">
                <a:latin typeface="Bookman Old Style" panose="02050604050505020204" pitchFamily="18" charset="0"/>
              </a:rPr>
              <a:t>Pour ce type de montage, on définit le gain en courant statique</a:t>
            </a:r>
            <a:r>
              <a:rPr lang="fr-FR" sz="1800" dirty="0"/>
              <a:t> </a:t>
            </a:r>
            <a:r>
              <a:rPr lang="fr-FR" sz="1800" b="1" dirty="0">
                <a:latin typeface="Symbol" pitchFamily="18" charset="2"/>
              </a:rPr>
              <a:t>b</a:t>
            </a:r>
            <a:r>
              <a:rPr lang="fr-FR" sz="1800" b="1" baseline="-25000" dirty="0"/>
              <a:t>s</a:t>
            </a:r>
            <a:r>
              <a:rPr lang="fr-FR" sz="1800" b="1" dirty="0">
                <a:latin typeface="Bookman Old Style" panose="02050604050505020204" pitchFamily="18" charset="0"/>
              </a:rPr>
              <a:t>=I</a:t>
            </a:r>
            <a:r>
              <a:rPr lang="fr-FR" sz="1800" b="1" baseline="-25000" dirty="0">
                <a:latin typeface="Bookman Old Style" panose="02050604050505020204" pitchFamily="18" charset="0"/>
              </a:rPr>
              <a:t>C</a:t>
            </a:r>
            <a:r>
              <a:rPr lang="fr-FR" sz="1800" b="1" dirty="0">
                <a:latin typeface="Bookman Old Style" panose="02050604050505020204" pitchFamily="18" charset="0"/>
              </a:rPr>
              <a:t>/I</a:t>
            </a:r>
            <a:r>
              <a:rPr lang="fr-FR" sz="1800" b="1" baseline="-25000" dirty="0">
                <a:latin typeface="Bookman Old Style" panose="02050604050505020204" pitchFamily="18" charset="0"/>
              </a:rPr>
              <a:t>B</a:t>
            </a:r>
            <a:r>
              <a:rPr lang="fr-FR" sz="1800" dirty="0"/>
              <a:t>. </a:t>
            </a:r>
            <a:r>
              <a:rPr lang="fr-FR" sz="1600" dirty="0">
                <a:latin typeface="Bookman Old Style" panose="02050604050505020204" pitchFamily="18" charset="0"/>
              </a:rPr>
              <a:t>Ce</a:t>
            </a:r>
            <a:r>
              <a:rPr lang="fr-FR" sz="1800" dirty="0"/>
              <a:t> </a:t>
            </a:r>
            <a:r>
              <a:rPr lang="fr-FR" sz="1600" dirty="0">
                <a:latin typeface="Bookman Old Style" panose="02050604050505020204" pitchFamily="18" charset="0"/>
              </a:rPr>
              <a:t>gain est très grand </a:t>
            </a:r>
            <a:r>
              <a:rPr lang="fr-FR" sz="1800" dirty="0"/>
              <a:t>(</a:t>
            </a:r>
            <a:r>
              <a:rPr lang="fr-FR" sz="1800" b="1" dirty="0">
                <a:latin typeface="Symbol" pitchFamily="18" charset="2"/>
              </a:rPr>
              <a:t>b</a:t>
            </a:r>
            <a:r>
              <a:rPr lang="fr-FR" sz="1800" b="1" baseline="-25000" dirty="0"/>
              <a:t>s</a:t>
            </a:r>
            <a:r>
              <a:rPr lang="fr-FR" sz="1800" b="1" dirty="0"/>
              <a:t> ~ 100</a:t>
            </a:r>
            <a:r>
              <a:rPr lang="fr-FR" sz="1800" dirty="0"/>
              <a:t>).</a:t>
            </a:r>
          </a:p>
          <a:p>
            <a:pPr algn="just">
              <a:buNone/>
            </a:pPr>
            <a:r>
              <a:rPr lang="fr-FR" sz="1800" dirty="0"/>
              <a:t>      </a:t>
            </a:r>
            <a:r>
              <a:rPr lang="fr-FR" sz="1600" dirty="0">
                <a:latin typeface="Bookman Old Style" panose="02050604050505020204" pitchFamily="18" charset="0"/>
              </a:rPr>
              <a:t>On note parfois le gain en courant par </a:t>
            </a:r>
            <a:r>
              <a:rPr lang="fr-FR" sz="1600" b="1" i="1" dirty="0" err="1">
                <a:latin typeface="Bookman Old Style" panose="02050604050505020204" pitchFamily="18" charset="0"/>
              </a:rPr>
              <a:t>h</a:t>
            </a:r>
            <a:r>
              <a:rPr lang="fr-FR" sz="1600" b="1" baseline="-25000" dirty="0" err="1">
                <a:latin typeface="Bookman Old Style" panose="02050604050505020204" pitchFamily="18" charset="0"/>
              </a:rPr>
              <a:t>FE</a:t>
            </a:r>
            <a:r>
              <a:rPr lang="fr-FR" sz="1600" dirty="0">
                <a:latin typeface="Bookman Old Style" panose="02050604050505020204" pitchFamily="18" charset="0"/>
              </a:rPr>
              <a:t>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C8C73A6-51D7-B1B2-BE1E-72CFFB411542}"/>
              </a:ext>
            </a:extLst>
          </p:cNvPr>
          <p:cNvSpPr txBox="1"/>
          <p:nvPr/>
        </p:nvSpPr>
        <p:spPr>
          <a:xfrm>
            <a:off x="604264" y="3465088"/>
            <a:ext cx="876833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600" dirty="0">
                <a:solidFill>
                  <a:srgbClr val="0070C0"/>
                </a:solidFill>
              </a:rPr>
              <a:t>- </a:t>
            </a:r>
            <a:r>
              <a:rPr lang="fr-FR" sz="16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Collecteur commun</a:t>
            </a:r>
          </a:p>
          <a:p>
            <a:pPr>
              <a:buNone/>
            </a:pPr>
            <a:r>
              <a:rPr lang="fr-FR" sz="1600" dirty="0"/>
              <a:t>    </a:t>
            </a:r>
            <a:r>
              <a:rPr lang="fr-FR" sz="1600" dirty="0">
                <a:latin typeface="Bookman Old Style" panose="02050604050505020204" pitchFamily="18" charset="0"/>
              </a:rPr>
              <a:t>Le gain en courant statique est </a:t>
            </a:r>
            <a:r>
              <a:rPr lang="fr-FR" sz="1600" b="1" dirty="0">
                <a:latin typeface="Bookman Old Style" panose="02050604050505020204" pitchFamily="18" charset="0"/>
              </a:rPr>
              <a:t>I</a:t>
            </a:r>
            <a:r>
              <a:rPr lang="fr-FR" sz="1600" b="1" baseline="-25000" dirty="0">
                <a:latin typeface="Bookman Old Style" panose="02050604050505020204" pitchFamily="18" charset="0"/>
              </a:rPr>
              <a:t>B</a:t>
            </a:r>
            <a:r>
              <a:rPr lang="fr-FR" sz="1600" b="1" dirty="0">
                <a:latin typeface="Bookman Old Style" panose="02050604050505020204" pitchFamily="18" charset="0"/>
              </a:rPr>
              <a:t>/I</a:t>
            </a:r>
            <a:r>
              <a:rPr lang="fr-FR" sz="1600" b="1" baseline="-25000" dirty="0">
                <a:latin typeface="Bookman Old Style" panose="02050604050505020204" pitchFamily="18" charset="0"/>
              </a:rPr>
              <a:t>E</a:t>
            </a:r>
            <a:r>
              <a:rPr lang="fr-FR" sz="1600" dirty="0"/>
              <a:t>.</a:t>
            </a:r>
          </a:p>
          <a:p>
            <a:r>
              <a:rPr lang="fr-FR" sz="1600" dirty="0">
                <a:latin typeface="Bookman Old Style" panose="02050604050505020204" pitchFamily="18" charset="0"/>
              </a:rPr>
              <a:t>Quelque soit le type de montage (</a:t>
            </a:r>
            <a:r>
              <a:rPr lang="fr-FR" sz="1600" b="1" dirty="0">
                <a:latin typeface="Bookman Old Style" panose="02050604050505020204" pitchFamily="18" charset="0"/>
              </a:rPr>
              <a:t>BC</a:t>
            </a:r>
            <a:r>
              <a:rPr lang="fr-FR" sz="1600" dirty="0">
                <a:latin typeface="Bookman Old Style" panose="02050604050505020204" pitchFamily="18" charset="0"/>
              </a:rPr>
              <a:t>, </a:t>
            </a:r>
            <a:r>
              <a:rPr lang="fr-FR" sz="1600" b="1" dirty="0">
                <a:latin typeface="Bookman Old Style" panose="02050604050505020204" pitchFamily="18" charset="0"/>
              </a:rPr>
              <a:t>EC</a:t>
            </a:r>
            <a:r>
              <a:rPr lang="fr-FR" sz="1600" dirty="0">
                <a:latin typeface="Bookman Old Style" panose="02050604050505020204" pitchFamily="18" charset="0"/>
              </a:rPr>
              <a:t> et </a:t>
            </a:r>
            <a:r>
              <a:rPr lang="fr-FR" sz="1600" b="1" dirty="0">
                <a:latin typeface="Bookman Old Style" panose="02050604050505020204" pitchFamily="18" charset="0"/>
              </a:rPr>
              <a:t>CC</a:t>
            </a:r>
            <a:r>
              <a:rPr lang="fr-FR" sz="1600" dirty="0">
                <a:latin typeface="Bookman Old Style" panose="02050604050505020204" pitchFamily="18" charset="0"/>
              </a:rPr>
              <a:t>) on a toujours la relation : </a:t>
            </a:r>
            <a:r>
              <a:rPr lang="fr-FR" sz="1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I</a:t>
            </a:r>
            <a:r>
              <a:rPr lang="fr-FR" sz="1600" b="1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E</a:t>
            </a:r>
            <a:r>
              <a:rPr lang="fr-FR" sz="1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 = I</a:t>
            </a:r>
            <a:r>
              <a:rPr lang="fr-FR" sz="1600" b="1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B</a:t>
            </a:r>
            <a:r>
              <a:rPr lang="fr-FR" sz="1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 + I</a:t>
            </a:r>
            <a:r>
              <a:rPr lang="fr-FR" sz="1600" b="1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C</a:t>
            </a:r>
            <a:endParaRPr lang="fr-FR" sz="16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fr-FR" sz="1600" dirty="0">
                <a:latin typeface="Bookman Old Style" panose="02050604050505020204" pitchFamily="18" charset="0"/>
              </a:rPr>
              <a:t>On obtient donc une relation entre les gains en courant statique </a:t>
            </a:r>
            <a:r>
              <a:rPr lang="fr-FR" sz="1600" b="1" dirty="0">
                <a:latin typeface="Symbol" pitchFamily="18" charset="2"/>
              </a:rPr>
              <a:t>a</a:t>
            </a:r>
            <a:r>
              <a:rPr lang="fr-FR" sz="1600" b="1" baseline="-25000" dirty="0"/>
              <a:t>s </a:t>
            </a:r>
            <a:r>
              <a:rPr lang="fr-FR" sz="1600" dirty="0">
                <a:latin typeface="Bookman Old Style" panose="02050604050505020204" pitchFamily="18" charset="0"/>
              </a:rPr>
              <a:t>et </a:t>
            </a:r>
            <a:r>
              <a:rPr lang="fr-FR" sz="1600" b="1" dirty="0">
                <a:latin typeface="Symbol" pitchFamily="18" charset="2"/>
              </a:rPr>
              <a:t>b</a:t>
            </a:r>
            <a:r>
              <a:rPr lang="fr-FR" sz="1600" b="1" baseline="-25000" dirty="0"/>
              <a:t>s</a:t>
            </a:r>
            <a:r>
              <a:rPr lang="fr-FR" sz="1600" b="1" dirty="0"/>
              <a:t> </a:t>
            </a:r>
            <a:r>
              <a:rPr lang="fr-FR" sz="1600" dirty="0">
                <a:latin typeface="Bookman Old Style" panose="02050604050505020204" pitchFamily="18" charset="0"/>
              </a:rPr>
              <a:t> :</a:t>
            </a:r>
          </a:p>
        </p:txBody>
      </p:sp>
      <p:graphicFrame>
        <p:nvGraphicFramePr>
          <p:cNvPr id="57" name="Object 1">
            <a:extLst>
              <a:ext uri="{FF2B5EF4-FFF2-40B4-BE49-F238E27FC236}">
                <a16:creationId xmlns:a16="http://schemas.microsoft.com/office/drawing/2014/main" id="{161BDCB4-D379-6CD1-33A4-546C02E090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4767982"/>
              </p:ext>
            </p:extLst>
          </p:nvPr>
        </p:nvGraphicFramePr>
        <p:xfrm>
          <a:off x="3124192" y="4496249"/>
          <a:ext cx="1143008" cy="6439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73100" imgH="381000" progId="">
                  <p:embed/>
                </p:oleObj>
              </mc:Choice>
              <mc:Fallback>
                <p:oleObj r:id="rId3" imgW="673100" imgH="381000" progId="">
                  <p:embed/>
                  <p:pic>
                    <p:nvPicPr>
                      <p:cNvPr id="20481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192" y="4496249"/>
                        <a:ext cx="1143008" cy="64394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3">
            <a:extLst>
              <a:ext uri="{FF2B5EF4-FFF2-40B4-BE49-F238E27FC236}">
                <a16:creationId xmlns:a16="http://schemas.microsoft.com/office/drawing/2014/main" id="{7893D018-4602-80C4-2F3D-382B9DBB45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2069246"/>
              </p:ext>
            </p:extLst>
          </p:nvPr>
        </p:nvGraphicFramePr>
        <p:xfrm>
          <a:off x="4989131" y="4501695"/>
          <a:ext cx="964415" cy="642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571500" imgH="381000" progId="">
                  <p:embed/>
                </p:oleObj>
              </mc:Choice>
              <mc:Fallback>
                <p:oleObj r:id="rId5" imgW="571500" imgH="381000" progId="">
                  <p:embed/>
                  <p:pic>
                    <p:nvPicPr>
                      <p:cNvPr id="2048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9131" y="4501695"/>
                        <a:ext cx="964415" cy="64294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ZoneTexte 10">
            <a:extLst>
              <a:ext uri="{FF2B5EF4-FFF2-40B4-BE49-F238E27FC236}">
                <a16:creationId xmlns:a16="http://schemas.microsoft.com/office/drawing/2014/main" id="{1C8500E3-0457-A6CB-91C4-869FC91DAE2F}"/>
              </a:ext>
            </a:extLst>
          </p:cNvPr>
          <p:cNvSpPr txBox="1"/>
          <p:nvPr/>
        </p:nvSpPr>
        <p:spPr>
          <a:xfrm>
            <a:off x="4404618" y="4632986"/>
            <a:ext cx="4395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Bookman Old Style" panose="02050604050505020204" pitchFamily="18" charset="0"/>
              </a:rPr>
              <a:t>ou</a:t>
            </a:r>
          </a:p>
        </p:txBody>
      </p:sp>
    </p:spTree>
    <p:extLst>
      <p:ext uri="{BB962C8B-B14F-4D97-AF65-F5344CB8AC3E}">
        <p14:creationId xmlns:p14="http://schemas.microsoft.com/office/powerpoint/2010/main" val="40709619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6"/>
            <a:ext cx="52086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-Transistor-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1620" y="507690"/>
            <a:ext cx="69931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4. Polarisation </a:t>
            </a:r>
            <a:r>
              <a:rPr lang="fr-FR" sz="18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du transistor</a:t>
            </a:r>
            <a:endParaRPr lang="fr-FR" b="1" spc="-5" dirty="0">
              <a:solidFill>
                <a:srgbClr val="FF0000"/>
              </a:solidFill>
              <a:latin typeface="Bookman Old Style" panose="02050604050505020204" pitchFamily="18" charset="0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715000" y="365260"/>
            <a:ext cx="3328256" cy="10117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46">
            <a:extLst>
              <a:ext uri="{FF2B5EF4-FFF2-40B4-BE49-F238E27FC236}">
                <a16:creationId xmlns:a16="http://schemas.microsoft.com/office/drawing/2014/main" id="{7198176F-4D83-4A98-1EFA-F78693C2B68B}"/>
              </a:ext>
            </a:extLst>
          </p:cNvPr>
          <p:cNvSpPr txBox="1"/>
          <p:nvPr/>
        </p:nvSpPr>
        <p:spPr>
          <a:xfrm>
            <a:off x="8828933" y="486598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40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3206C0-B920-4CD8-8FF9-7BD8ABA1AB10}"/>
              </a:ext>
            </a:extLst>
          </p:cNvPr>
          <p:cNvSpPr txBox="1"/>
          <p:nvPr/>
        </p:nvSpPr>
        <p:spPr>
          <a:xfrm>
            <a:off x="562319" y="843511"/>
            <a:ext cx="868537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4.2 Réseaux de caractéristiques du transistor (montage EC)</a:t>
            </a:r>
          </a:p>
          <a:p>
            <a:br>
              <a:rPr lang="fr-FR" sz="1600" b="1"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</a:br>
            <a:r>
              <a:rPr lang="fr-FR" sz="1600" b="1"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 </a:t>
            </a:r>
            <a:br>
              <a:rPr lang="fr-FR" sz="1800" dirty="0"/>
            </a:br>
            <a:endParaRPr lang="fr-F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CAAC97-1A9E-5612-7238-E071FD7BC3B6}"/>
              </a:ext>
            </a:extLst>
          </p:cNvPr>
          <p:cNvSpPr txBox="1"/>
          <p:nvPr/>
        </p:nvSpPr>
        <p:spPr>
          <a:xfrm>
            <a:off x="576301" y="1275405"/>
            <a:ext cx="828601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b="1" dirty="0">
                <a:latin typeface="Bookman Old Style" panose="02050604050505020204" pitchFamily="18" charset="0"/>
              </a:rPr>
              <a:t>Considérons le montage</a:t>
            </a:r>
            <a:r>
              <a:rPr lang="fr-FR" dirty="0">
                <a:latin typeface="Bookman Old Style" panose="02050604050505020204" pitchFamily="18" charset="0"/>
              </a:rPr>
              <a:t> d'un </a:t>
            </a:r>
            <a:r>
              <a:rPr lang="fr-FR" b="1" dirty="0">
                <a:latin typeface="Bookman Old Style" panose="02050604050505020204" pitchFamily="18" charset="0"/>
              </a:rPr>
              <a:t>transistor bipolaire </a:t>
            </a:r>
            <a:r>
              <a:rPr lang="fr-FR" dirty="0">
                <a:latin typeface="Bookman Old Style" panose="02050604050505020204" pitchFamily="18" charset="0"/>
              </a:rPr>
              <a:t>(</a:t>
            </a:r>
            <a:r>
              <a:rPr lang="fr-FR" b="1" dirty="0">
                <a:latin typeface="Bookman Old Style" panose="02050604050505020204" pitchFamily="18" charset="0"/>
              </a:rPr>
              <a:t>NPN</a:t>
            </a:r>
            <a:r>
              <a:rPr lang="fr-FR" dirty="0">
                <a:latin typeface="Bookman Old Style" panose="02050604050505020204" pitchFamily="18" charset="0"/>
              </a:rPr>
              <a:t>) monté en </a:t>
            </a:r>
            <a:r>
              <a:rPr lang="fr-FR" b="1" dirty="0">
                <a:latin typeface="Bookman Old Style" panose="02050604050505020204" pitchFamily="18" charset="0"/>
              </a:rPr>
              <a:t>émetteur commun</a:t>
            </a:r>
            <a:r>
              <a:rPr lang="fr-FR" dirty="0">
                <a:latin typeface="Bookman Old Style" panose="02050604050505020204" pitchFamily="18" charset="0"/>
              </a:rPr>
              <a:t>. Le circuit de polarisation est le suivant :</a:t>
            </a:r>
          </a:p>
          <a:p>
            <a:pPr algn="just"/>
            <a:endParaRPr lang="fr-FR" dirty="0">
              <a:latin typeface="Bookman Old Style" panose="02050604050505020204" pitchFamily="18" charset="0"/>
            </a:endParaRPr>
          </a:p>
          <a:p>
            <a:pPr algn="just"/>
            <a:endParaRPr lang="fr-FR" dirty="0">
              <a:latin typeface="Bookman Old Style" panose="02050604050505020204" pitchFamily="18" charset="0"/>
            </a:endParaRPr>
          </a:p>
          <a:p>
            <a:pPr algn="just"/>
            <a:endParaRPr lang="fr-FR" dirty="0">
              <a:latin typeface="Bookman Old Style" panose="02050604050505020204" pitchFamily="18" charset="0"/>
            </a:endParaRPr>
          </a:p>
          <a:p>
            <a:pPr algn="just"/>
            <a:endParaRPr lang="fr-FR" dirty="0">
              <a:latin typeface="Bookman Old Style" panose="02050604050505020204" pitchFamily="18" charset="0"/>
            </a:endParaRPr>
          </a:p>
          <a:p>
            <a:pPr algn="just"/>
            <a:endParaRPr lang="fr-FR" dirty="0">
              <a:latin typeface="Bookman Old Style" panose="02050604050505020204" pitchFamily="18" charset="0"/>
            </a:endParaRPr>
          </a:p>
          <a:p>
            <a:pPr algn="just"/>
            <a:endParaRPr lang="fr-FR" dirty="0">
              <a:latin typeface="Bookman Old Style" panose="02050604050505020204" pitchFamily="18" charset="0"/>
            </a:endParaRPr>
          </a:p>
          <a:p>
            <a:pPr algn="just"/>
            <a:endParaRPr lang="fr-FR" dirty="0">
              <a:latin typeface="Bookman Old Style" panose="02050604050505020204" pitchFamily="18" charset="0"/>
            </a:endParaRPr>
          </a:p>
          <a:p>
            <a:pPr algn="just"/>
            <a:endParaRPr lang="fr-FR" dirty="0">
              <a:latin typeface="Bookman Old Style" panose="02050604050505020204" pitchFamily="18" charset="0"/>
            </a:endParaRPr>
          </a:p>
          <a:p>
            <a:pPr algn="just"/>
            <a:endParaRPr lang="fr-FR" dirty="0">
              <a:latin typeface="Bookman Old Style" panose="02050604050505020204" pitchFamily="18" charset="0"/>
            </a:endParaRPr>
          </a:p>
          <a:p>
            <a:pPr algn="just"/>
            <a:r>
              <a:rPr lang="fr-FR" b="1" dirty="0">
                <a:latin typeface="Bookman Old Style" panose="02050604050505020204" pitchFamily="18" charset="0"/>
              </a:rPr>
              <a:t>V</a:t>
            </a:r>
            <a:r>
              <a:rPr lang="fr-FR" b="1" baseline="-25000" dirty="0">
                <a:latin typeface="Bookman Old Style" panose="02050604050505020204" pitchFamily="18" charset="0"/>
              </a:rPr>
              <a:t>BB</a:t>
            </a:r>
            <a:r>
              <a:rPr lang="fr-FR" dirty="0">
                <a:latin typeface="Bookman Old Style" panose="02050604050505020204" pitchFamily="18" charset="0"/>
              </a:rPr>
              <a:t> et </a:t>
            </a:r>
            <a:r>
              <a:rPr lang="fr-FR" b="1" dirty="0">
                <a:latin typeface="Bookman Old Style" panose="02050604050505020204" pitchFamily="18" charset="0"/>
              </a:rPr>
              <a:t>V</a:t>
            </a:r>
            <a:r>
              <a:rPr lang="fr-FR" b="1" baseline="-25000" dirty="0">
                <a:latin typeface="Bookman Old Style" panose="02050604050505020204" pitchFamily="18" charset="0"/>
              </a:rPr>
              <a:t>CC</a:t>
            </a:r>
            <a:r>
              <a:rPr lang="fr-FR" dirty="0">
                <a:latin typeface="Bookman Old Style" panose="02050604050505020204" pitchFamily="18" charset="0"/>
              </a:rPr>
              <a:t> sont des tensions de </a:t>
            </a:r>
            <a:r>
              <a:rPr lang="fr-FR" b="1" dirty="0">
                <a:latin typeface="Bookman Old Style" panose="02050604050505020204" pitchFamily="18" charset="0"/>
              </a:rPr>
              <a:t>polarisation</a:t>
            </a:r>
            <a:r>
              <a:rPr lang="fr-FR" dirty="0">
                <a:latin typeface="Bookman Old Style" panose="02050604050505020204" pitchFamily="18" charset="0"/>
              </a:rPr>
              <a:t> </a:t>
            </a:r>
            <a:r>
              <a:rPr lang="fr-FR" b="1" dirty="0">
                <a:latin typeface="Bookman Old Style" panose="02050604050505020204" pitchFamily="18" charset="0"/>
              </a:rPr>
              <a:t>R</a:t>
            </a:r>
            <a:r>
              <a:rPr lang="fr-FR" b="1" baseline="-25000" dirty="0">
                <a:latin typeface="Bookman Old Style" panose="02050604050505020204" pitchFamily="18" charset="0"/>
              </a:rPr>
              <a:t>B</a:t>
            </a:r>
            <a:r>
              <a:rPr lang="fr-FR" dirty="0">
                <a:latin typeface="Bookman Old Style" panose="02050604050505020204" pitchFamily="18" charset="0"/>
              </a:rPr>
              <a:t> et </a:t>
            </a:r>
            <a:r>
              <a:rPr lang="fr-FR" b="1" dirty="0">
                <a:latin typeface="Bookman Old Style" panose="02050604050505020204" pitchFamily="18" charset="0"/>
              </a:rPr>
              <a:t>R</a:t>
            </a:r>
            <a:r>
              <a:rPr lang="fr-FR" b="1" baseline="-25000" dirty="0">
                <a:latin typeface="Bookman Old Style" panose="02050604050505020204" pitchFamily="18" charset="0"/>
              </a:rPr>
              <a:t>C</a:t>
            </a:r>
            <a:r>
              <a:rPr lang="fr-FR" dirty="0">
                <a:latin typeface="Bookman Old Style" panose="02050604050505020204" pitchFamily="18" charset="0"/>
              </a:rPr>
              <a:t> sont des </a:t>
            </a:r>
            <a:r>
              <a:rPr lang="fr-FR" b="1" dirty="0">
                <a:latin typeface="Bookman Old Style" panose="02050604050505020204" pitchFamily="18" charset="0"/>
              </a:rPr>
              <a:t>résistances de polarisation</a:t>
            </a:r>
            <a:r>
              <a:rPr lang="fr-FR" dirty="0">
                <a:latin typeface="Bookman Old Style" panose="02050604050505020204" pitchFamily="18" charset="0"/>
              </a:rPr>
              <a:t>.</a:t>
            </a:r>
          </a:p>
        </p:txBody>
      </p:sp>
      <p:grpSp>
        <p:nvGrpSpPr>
          <p:cNvPr id="16" name="Groupe 35">
            <a:extLst>
              <a:ext uri="{FF2B5EF4-FFF2-40B4-BE49-F238E27FC236}">
                <a16:creationId xmlns:a16="http://schemas.microsoft.com/office/drawing/2014/main" id="{87BECAF4-7B57-32FF-2AFF-AB70113495D0}"/>
              </a:ext>
            </a:extLst>
          </p:cNvPr>
          <p:cNvGrpSpPr/>
          <p:nvPr/>
        </p:nvGrpSpPr>
        <p:grpSpPr>
          <a:xfrm>
            <a:off x="2193811" y="1852045"/>
            <a:ext cx="5050998" cy="2315159"/>
            <a:chOff x="4803454" y="1963407"/>
            <a:chExt cx="2923064" cy="1894221"/>
          </a:xfrm>
        </p:grpSpPr>
        <p:sp>
          <p:nvSpPr>
            <p:cNvPr id="17" name="Text Box 2">
              <a:extLst>
                <a:ext uri="{FF2B5EF4-FFF2-40B4-BE49-F238E27FC236}">
                  <a16:creationId xmlns:a16="http://schemas.microsoft.com/office/drawing/2014/main" id="{07B06E86-F2D9-BF27-FD37-92743633C6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3454" y="3442834"/>
              <a:ext cx="690601" cy="41479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V</a:t>
              </a:r>
              <a:r>
                <a:rPr kumimoji="0" lang="fr-FR" sz="1400" b="1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BB</a:t>
              </a:r>
              <a:endParaRPr kumimoji="0" 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20" name="Text Box 3">
              <a:extLst>
                <a:ext uri="{FF2B5EF4-FFF2-40B4-BE49-F238E27FC236}">
                  <a16:creationId xmlns:a16="http://schemas.microsoft.com/office/drawing/2014/main" id="{AD4D1662-95F8-D0CC-333C-580364B3F4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5917" y="2968783"/>
              <a:ext cx="690601" cy="41479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V</a:t>
              </a:r>
              <a:r>
                <a:rPr kumimoji="0" lang="fr-FR" sz="1400" b="1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CC</a:t>
              </a:r>
              <a:endParaRPr kumimoji="0" 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21" name="Text Box 4">
              <a:extLst>
                <a:ext uri="{FF2B5EF4-FFF2-40B4-BE49-F238E27FC236}">
                  <a16:creationId xmlns:a16="http://schemas.microsoft.com/office/drawing/2014/main" id="{9AF591A8-03B7-B24B-DB55-BE8190138E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54318" y="3341605"/>
              <a:ext cx="690601" cy="41479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V</a:t>
              </a:r>
              <a:r>
                <a:rPr kumimoji="0" lang="fr-FR" sz="1400" b="1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BE</a:t>
              </a:r>
              <a:endParaRPr kumimoji="0" 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22" name="Text Box 5">
              <a:extLst>
                <a:ext uri="{FF2B5EF4-FFF2-40B4-BE49-F238E27FC236}">
                  <a16:creationId xmlns:a16="http://schemas.microsoft.com/office/drawing/2014/main" id="{4A829800-5111-B0E3-623A-07B7293889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3577" y="3097787"/>
              <a:ext cx="690601" cy="41479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V</a:t>
              </a:r>
              <a:r>
                <a:rPr kumimoji="0" lang="fr-FR" sz="1400" b="1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CE</a:t>
              </a:r>
              <a:endParaRPr kumimoji="0" 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23" name="Text Box 6">
              <a:extLst>
                <a:ext uri="{FF2B5EF4-FFF2-40B4-BE49-F238E27FC236}">
                  <a16:creationId xmlns:a16="http://schemas.microsoft.com/office/drawing/2014/main" id="{9B573FAF-3497-5950-3359-93118CDB02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67283" y="2871330"/>
              <a:ext cx="690601" cy="41479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I</a:t>
              </a:r>
              <a:r>
                <a:rPr kumimoji="0" lang="fr-FR" sz="1400" b="1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B</a:t>
              </a:r>
              <a:endParaRPr kumimoji="0" 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24" name="Text Box 7">
              <a:extLst>
                <a:ext uri="{FF2B5EF4-FFF2-40B4-BE49-F238E27FC236}">
                  <a16:creationId xmlns:a16="http://schemas.microsoft.com/office/drawing/2014/main" id="{F80C87F6-ED6B-A700-CE44-DB9123BA0B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9953" y="1963407"/>
              <a:ext cx="690601" cy="41479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I</a:t>
              </a:r>
              <a:r>
                <a:rPr kumimoji="0" lang="fr-FR" sz="1400" b="1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C</a:t>
              </a:r>
              <a:endParaRPr kumimoji="0" 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25" name="Text Box 8">
              <a:extLst>
                <a:ext uri="{FF2B5EF4-FFF2-40B4-BE49-F238E27FC236}">
                  <a16:creationId xmlns:a16="http://schemas.microsoft.com/office/drawing/2014/main" id="{917ECC20-BA6B-F25D-A0E0-A7845E7132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81663" y="2442702"/>
              <a:ext cx="690601" cy="41479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R</a:t>
              </a:r>
              <a:r>
                <a:rPr kumimoji="0" lang="fr-FR" sz="1400" b="1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C</a:t>
              </a:r>
              <a:endParaRPr kumimoji="0" 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26" name="Text Box 9">
              <a:extLst>
                <a:ext uri="{FF2B5EF4-FFF2-40B4-BE49-F238E27FC236}">
                  <a16:creationId xmlns:a16="http://schemas.microsoft.com/office/drawing/2014/main" id="{37D3363E-6342-6131-4B3F-C57623597A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29494" y="2799892"/>
              <a:ext cx="690601" cy="41479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R</a:t>
              </a:r>
              <a:r>
                <a:rPr kumimoji="0" lang="fr-FR" sz="1400" b="1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B</a:t>
              </a:r>
              <a:endParaRPr kumimoji="0" 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27" name="Line 10">
              <a:extLst>
                <a:ext uri="{FF2B5EF4-FFF2-40B4-BE49-F238E27FC236}">
                  <a16:creationId xmlns:a16="http://schemas.microsoft.com/office/drawing/2014/main" id="{6C71401A-B4C2-82C8-E777-A437637A95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9180" y="3116924"/>
              <a:ext cx="0" cy="3851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400" b="1">
                <a:latin typeface="Bookman Old Style" panose="02050604050505020204" pitchFamily="18" charset="0"/>
              </a:endParaRPr>
            </a:p>
          </p:txBody>
        </p:sp>
        <p:sp>
          <p:nvSpPr>
            <p:cNvPr id="28" name="Line 11">
              <a:extLst>
                <a:ext uri="{FF2B5EF4-FFF2-40B4-BE49-F238E27FC236}">
                  <a16:creationId xmlns:a16="http://schemas.microsoft.com/office/drawing/2014/main" id="{3A8939DC-3E44-6877-24D0-07D419C343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9180" y="3116924"/>
              <a:ext cx="94332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400" b="1">
                <a:latin typeface="Bookman Old Style" panose="02050604050505020204" pitchFamily="18" charset="0"/>
              </a:endParaRPr>
            </a:p>
          </p:txBody>
        </p:sp>
        <p:sp>
          <p:nvSpPr>
            <p:cNvPr id="29" name="Line 12">
              <a:extLst>
                <a:ext uri="{FF2B5EF4-FFF2-40B4-BE49-F238E27FC236}">
                  <a16:creationId xmlns:a16="http://schemas.microsoft.com/office/drawing/2014/main" id="{30033C03-411B-0C5F-58C6-055A9760F6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12502" y="2978659"/>
              <a:ext cx="0" cy="2666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400" b="1">
                <a:latin typeface="Bookman Old Style" panose="02050604050505020204" pitchFamily="18" charset="0"/>
              </a:endParaRPr>
            </a:p>
          </p:txBody>
        </p:sp>
        <p:sp>
          <p:nvSpPr>
            <p:cNvPr id="30" name="Line 13">
              <a:extLst>
                <a:ext uri="{FF2B5EF4-FFF2-40B4-BE49-F238E27FC236}">
                  <a16:creationId xmlns:a16="http://schemas.microsoft.com/office/drawing/2014/main" id="{F2C08CE3-7484-14A7-1ACB-BF53C87F46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99990" y="2968783"/>
              <a:ext cx="150131" cy="1481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400" b="1">
                <a:latin typeface="Bookman Old Style" panose="02050604050505020204" pitchFamily="18" charset="0"/>
              </a:endParaRPr>
            </a:p>
          </p:txBody>
        </p:sp>
        <p:sp>
          <p:nvSpPr>
            <p:cNvPr id="31" name="Line 14">
              <a:extLst>
                <a:ext uri="{FF2B5EF4-FFF2-40B4-BE49-F238E27FC236}">
                  <a16:creationId xmlns:a16="http://schemas.microsoft.com/office/drawing/2014/main" id="{C3D5923B-3B94-36E2-DCD6-767AEBA760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50121" y="2228078"/>
              <a:ext cx="0" cy="7407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400" b="1">
                <a:latin typeface="Bookman Old Style" panose="02050604050505020204" pitchFamily="18" charset="0"/>
              </a:endParaRPr>
            </a:p>
          </p:txBody>
        </p:sp>
        <p:sp>
          <p:nvSpPr>
            <p:cNvPr id="32" name="Line 15">
              <a:extLst>
                <a:ext uri="{FF2B5EF4-FFF2-40B4-BE49-F238E27FC236}">
                  <a16:creationId xmlns:a16="http://schemas.microsoft.com/office/drawing/2014/main" id="{55A4625C-4DF0-2A70-7F6F-56019FB6F3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50121" y="2228078"/>
              <a:ext cx="61303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400" b="1">
                <a:latin typeface="Bookman Old Style" panose="02050604050505020204" pitchFamily="18" charset="0"/>
              </a:endParaRPr>
            </a:p>
          </p:txBody>
        </p:sp>
        <p:sp>
          <p:nvSpPr>
            <p:cNvPr id="33" name="Line 16">
              <a:extLst>
                <a:ext uri="{FF2B5EF4-FFF2-40B4-BE49-F238E27FC236}">
                  <a16:creationId xmlns:a16="http://schemas.microsoft.com/office/drawing/2014/main" id="{E6EE694C-7A04-08EC-B5F5-AB71BFD5A1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63155" y="2228078"/>
              <a:ext cx="0" cy="8394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400" b="1">
                <a:latin typeface="Bookman Old Style" panose="02050604050505020204" pitchFamily="18" charset="0"/>
              </a:endParaRPr>
            </a:p>
          </p:txBody>
        </p:sp>
        <p:sp>
          <p:nvSpPr>
            <p:cNvPr id="34" name="Line 17">
              <a:extLst>
                <a:ext uri="{FF2B5EF4-FFF2-40B4-BE49-F238E27FC236}">
                  <a16:creationId xmlns:a16="http://schemas.microsoft.com/office/drawing/2014/main" id="{E526DA90-FA60-4968-E798-3CAC8F4C4B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0643" y="3126800"/>
              <a:ext cx="0" cy="7308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400" b="1">
                <a:latin typeface="Bookman Old Style" panose="02050604050505020204" pitchFamily="18" charset="0"/>
              </a:endParaRPr>
            </a:p>
          </p:txBody>
        </p:sp>
        <p:sp>
          <p:nvSpPr>
            <p:cNvPr id="35" name="Line 18">
              <a:extLst>
                <a:ext uri="{FF2B5EF4-FFF2-40B4-BE49-F238E27FC236}">
                  <a16:creationId xmlns:a16="http://schemas.microsoft.com/office/drawing/2014/main" id="{EB9BA4F3-48DB-C33E-947F-4FA9E57B06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69180" y="3857628"/>
              <a:ext cx="168146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400" b="1">
                <a:latin typeface="Bookman Old Style" panose="02050604050505020204" pitchFamily="18" charset="0"/>
              </a:endParaRPr>
            </a:p>
          </p:txBody>
        </p:sp>
        <p:sp>
          <p:nvSpPr>
            <p:cNvPr id="36" name="Line 19">
              <a:extLst>
                <a:ext uri="{FF2B5EF4-FFF2-40B4-BE49-F238E27FC236}">
                  <a16:creationId xmlns:a16="http://schemas.microsoft.com/office/drawing/2014/main" id="{F9DA4838-08BF-E4F2-79F6-328AC8167B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69180" y="3561346"/>
              <a:ext cx="0" cy="29628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400" b="1">
                <a:latin typeface="Bookman Old Style" panose="02050604050505020204" pitchFamily="18" charset="0"/>
              </a:endParaRPr>
            </a:p>
          </p:txBody>
        </p:sp>
        <p:sp>
          <p:nvSpPr>
            <p:cNvPr id="37" name="Line 20">
              <a:extLst>
                <a:ext uri="{FF2B5EF4-FFF2-40B4-BE49-F238E27FC236}">
                  <a16:creationId xmlns:a16="http://schemas.microsoft.com/office/drawing/2014/main" id="{4CF8C469-6B72-9EB5-3C24-A0F099C1EE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12502" y="3116924"/>
              <a:ext cx="150131" cy="1481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400" b="1">
                <a:latin typeface="Bookman Old Style" panose="02050604050505020204" pitchFamily="18" charset="0"/>
              </a:endParaRPr>
            </a:p>
          </p:txBody>
        </p:sp>
        <p:sp>
          <p:nvSpPr>
            <p:cNvPr id="38" name="Line 21">
              <a:extLst>
                <a:ext uri="{FF2B5EF4-FFF2-40B4-BE49-F238E27FC236}">
                  <a16:creationId xmlns:a16="http://schemas.microsoft.com/office/drawing/2014/main" id="{69F35B42-2785-F8E0-B979-852F9E9143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62632" y="3265064"/>
              <a:ext cx="0" cy="5925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400" b="1">
                <a:latin typeface="Bookman Old Style" panose="02050604050505020204" pitchFamily="18" charset="0"/>
              </a:endParaRPr>
            </a:p>
          </p:txBody>
        </p:sp>
        <p:sp>
          <p:nvSpPr>
            <p:cNvPr id="39" name="Rectangle 22">
              <a:extLst>
                <a:ext uri="{FF2B5EF4-FFF2-40B4-BE49-F238E27FC236}">
                  <a16:creationId xmlns:a16="http://schemas.microsoft.com/office/drawing/2014/main" id="{165C90AE-D9A5-9100-9071-6254EE43DB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9468" y="3074951"/>
              <a:ext cx="450392" cy="8888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400" b="1">
                <a:latin typeface="Bookman Old Style" panose="02050604050505020204" pitchFamily="18" charset="0"/>
              </a:endParaRPr>
            </a:p>
          </p:txBody>
        </p:sp>
        <p:sp>
          <p:nvSpPr>
            <p:cNvPr id="40" name="Rectangle 23">
              <a:extLst>
                <a:ext uri="{FF2B5EF4-FFF2-40B4-BE49-F238E27FC236}">
                  <a16:creationId xmlns:a16="http://schemas.microsoft.com/office/drawing/2014/main" id="{50842FFE-70F6-5E48-B653-3C4BC8A3B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7584" y="2376219"/>
              <a:ext cx="90078" cy="36541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400" b="1">
                <a:latin typeface="Bookman Old Style" panose="02050604050505020204" pitchFamily="18" charset="0"/>
              </a:endParaRPr>
            </a:p>
          </p:txBody>
        </p:sp>
        <p:sp>
          <p:nvSpPr>
            <p:cNvPr id="41" name="Line 24">
              <a:extLst>
                <a:ext uri="{FF2B5EF4-FFF2-40B4-BE49-F238E27FC236}">
                  <a16:creationId xmlns:a16="http://schemas.microsoft.com/office/drawing/2014/main" id="{8F1346AD-02D4-BABF-6D94-5388F5D506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4045" y="3502090"/>
              <a:ext cx="31777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400" b="1">
                <a:latin typeface="Bookman Old Style" panose="02050604050505020204" pitchFamily="18" charset="0"/>
              </a:endParaRPr>
            </a:p>
          </p:txBody>
        </p:sp>
        <p:sp>
          <p:nvSpPr>
            <p:cNvPr id="42" name="Line 25">
              <a:extLst>
                <a:ext uri="{FF2B5EF4-FFF2-40B4-BE49-F238E27FC236}">
                  <a16:creationId xmlns:a16="http://schemas.microsoft.com/office/drawing/2014/main" id="{CA6BA720-A41F-E39D-7858-07B35D3D8D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91613" y="3561346"/>
              <a:ext cx="16264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400" b="1">
                <a:latin typeface="Bookman Old Style" panose="02050604050505020204" pitchFamily="18" charset="0"/>
              </a:endParaRPr>
            </a:p>
          </p:txBody>
        </p:sp>
        <p:sp>
          <p:nvSpPr>
            <p:cNvPr id="43" name="Line 26">
              <a:extLst>
                <a:ext uri="{FF2B5EF4-FFF2-40B4-BE49-F238E27FC236}">
                  <a16:creationId xmlns:a16="http://schemas.microsoft.com/office/drawing/2014/main" id="{80A47376-4E8D-B866-4C53-AC6B9A2BFB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82998" y="3067543"/>
              <a:ext cx="34780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400" b="1">
                <a:latin typeface="Bookman Old Style" panose="02050604050505020204" pitchFamily="18" charset="0"/>
              </a:endParaRPr>
            </a:p>
          </p:txBody>
        </p:sp>
        <p:sp>
          <p:nvSpPr>
            <p:cNvPr id="44" name="Line 27">
              <a:extLst>
                <a:ext uri="{FF2B5EF4-FFF2-40B4-BE49-F238E27FC236}">
                  <a16:creationId xmlns:a16="http://schemas.microsoft.com/office/drawing/2014/main" id="{544ED6A2-768E-C76D-BEED-70DE104C98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90591" y="3116924"/>
              <a:ext cx="12010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400" b="1">
                <a:latin typeface="Bookman Old Style" panose="02050604050505020204" pitchFamily="18" charset="0"/>
              </a:endParaRPr>
            </a:p>
          </p:txBody>
        </p:sp>
        <p:sp>
          <p:nvSpPr>
            <p:cNvPr id="45" name="Line 28">
              <a:extLst>
                <a:ext uri="{FF2B5EF4-FFF2-40B4-BE49-F238E27FC236}">
                  <a16:creationId xmlns:a16="http://schemas.microsoft.com/office/drawing/2014/main" id="{220BC7DD-4FCD-80DA-0236-7449EDC026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9232" y="3116924"/>
              <a:ext cx="16264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400" b="1">
                <a:latin typeface="Bookman Old Style" panose="02050604050505020204" pitchFamily="18" charset="0"/>
              </a:endParaRPr>
            </a:p>
          </p:txBody>
        </p:sp>
        <p:sp>
          <p:nvSpPr>
            <p:cNvPr id="46" name="Line 29">
              <a:extLst>
                <a:ext uri="{FF2B5EF4-FFF2-40B4-BE49-F238E27FC236}">
                  <a16:creationId xmlns:a16="http://schemas.microsoft.com/office/drawing/2014/main" id="{B287D2EA-6198-FD68-674B-55F2F4593B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841" y="2228078"/>
              <a:ext cx="18015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400" b="1">
                <a:latin typeface="Bookman Old Style" panose="02050604050505020204" pitchFamily="18" charset="0"/>
              </a:endParaRPr>
            </a:p>
          </p:txBody>
        </p:sp>
        <p:sp>
          <p:nvSpPr>
            <p:cNvPr id="47" name="Line 30">
              <a:extLst>
                <a:ext uri="{FF2B5EF4-FFF2-40B4-BE49-F238E27FC236}">
                  <a16:creationId xmlns:a16="http://schemas.microsoft.com/office/drawing/2014/main" id="{5267F246-06B1-548B-D94F-38C0B7FC12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70225" y="2860146"/>
              <a:ext cx="0" cy="6518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400" b="1">
                <a:latin typeface="Bookman Old Style" panose="02050604050505020204" pitchFamily="18" charset="0"/>
              </a:endParaRPr>
            </a:p>
          </p:txBody>
        </p:sp>
        <p:sp>
          <p:nvSpPr>
            <p:cNvPr id="48" name="Line 31">
              <a:extLst>
                <a:ext uri="{FF2B5EF4-FFF2-40B4-BE49-F238E27FC236}">
                  <a16:creationId xmlns:a16="http://schemas.microsoft.com/office/drawing/2014/main" id="{6BAE237C-E108-D2EB-4956-D9112B4FBD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22423" y="3215684"/>
              <a:ext cx="0" cy="5160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400" b="1">
                <a:latin typeface="Bookman Old Style" panose="020506040505050202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26155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">
            <a:extLst>
              <a:ext uri="{FF2B5EF4-FFF2-40B4-BE49-F238E27FC236}">
                <a16:creationId xmlns:a16="http://schemas.microsoft.com/office/drawing/2014/main" id="{53057417-3965-B23D-3EDF-3B7A5A2AE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4572000" y="2882522"/>
            <a:ext cx="4019568" cy="2243326"/>
          </a:xfrm>
          <a:prstGeom prst="rect">
            <a:avLst/>
          </a:prstGeom>
          <a:noFill/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6"/>
            <a:ext cx="52086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-Transistor-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1620" y="507690"/>
            <a:ext cx="69931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4. Polarisation </a:t>
            </a:r>
            <a:r>
              <a:rPr lang="fr-FR" sz="18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du transistor</a:t>
            </a:r>
            <a:endParaRPr lang="fr-FR" b="1" spc="-5" dirty="0">
              <a:solidFill>
                <a:srgbClr val="FF0000"/>
              </a:solidFill>
              <a:latin typeface="Bookman Old Style" panose="02050604050505020204" pitchFamily="18" charset="0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715000" y="365260"/>
            <a:ext cx="3328256" cy="10117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46">
            <a:extLst>
              <a:ext uri="{FF2B5EF4-FFF2-40B4-BE49-F238E27FC236}">
                <a16:creationId xmlns:a16="http://schemas.microsoft.com/office/drawing/2014/main" id="{7198176F-4D83-4A98-1EFA-F78693C2B68B}"/>
              </a:ext>
            </a:extLst>
          </p:cNvPr>
          <p:cNvSpPr txBox="1"/>
          <p:nvPr/>
        </p:nvSpPr>
        <p:spPr>
          <a:xfrm>
            <a:off x="8828933" y="486598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41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3206C0-B920-4CD8-8FF9-7BD8ABA1AB10}"/>
              </a:ext>
            </a:extLst>
          </p:cNvPr>
          <p:cNvSpPr txBox="1"/>
          <p:nvPr/>
        </p:nvSpPr>
        <p:spPr>
          <a:xfrm>
            <a:off x="562319" y="843511"/>
            <a:ext cx="868537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4.2 Réseaux de caractéristiques du transistor (montage EC)</a:t>
            </a:r>
          </a:p>
          <a:p>
            <a:br>
              <a:rPr lang="fr-FR" sz="1600" b="1"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</a:br>
            <a:r>
              <a:rPr lang="fr-FR" sz="1600" b="1"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 </a:t>
            </a:r>
            <a:br>
              <a:rPr lang="fr-FR" sz="1800" dirty="0"/>
            </a:br>
            <a:endParaRPr lang="fr-FR" dirty="0"/>
          </a:p>
        </p:txBody>
      </p:sp>
      <p:sp>
        <p:nvSpPr>
          <p:cNvPr id="3" name="ZoneTexte 4">
            <a:extLst>
              <a:ext uri="{FF2B5EF4-FFF2-40B4-BE49-F238E27FC236}">
                <a16:creationId xmlns:a16="http://schemas.microsoft.com/office/drawing/2014/main" id="{24DBF3C9-E62B-3F35-96D2-680FC90EC196}"/>
              </a:ext>
            </a:extLst>
          </p:cNvPr>
          <p:cNvSpPr txBox="1"/>
          <p:nvPr/>
        </p:nvSpPr>
        <p:spPr>
          <a:xfrm>
            <a:off x="721485" y="1146019"/>
            <a:ext cx="807249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Bookman Old Style" panose="02050604050505020204" pitchFamily="18" charset="0"/>
              </a:rPr>
              <a:t>Il existe quatre types de réseaux de caractéristiques du transistor:</a:t>
            </a:r>
          </a:p>
          <a:p>
            <a:endParaRPr lang="fr-FR" sz="1400" dirty="0">
              <a:latin typeface="Bookman Old Style" panose="02050604050505020204" pitchFamily="18" charset="0"/>
            </a:endParaRPr>
          </a:p>
          <a:p>
            <a:r>
              <a:rPr lang="fr-FR" sz="1400" dirty="0">
                <a:latin typeface="Bookman Old Style" panose="02050604050505020204" pitchFamily="18" charset="0"/>
              </a:rPr>
              <a:t>- </a:t>
            </a:r>
            <a:r>
              <a:rPr lang="fr-FR" sz="1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Réseau d’entrée :  			I</a:t>
            </a:r>
            <a:r>
              <a:rPr lang="fr-FR" sz="1400" b="1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B</a:t>
            </a:r>
            <a:r>
              <a:rPr lang="fr-FR" sz="1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 = f(V</a:t>
            </a:r>
            <a:r>
              <a:rPr lang="fr-FR" sz="1400" b="1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BE</a:t>
            </a:r>
            <a:r>
              <a:rPr lang="fr-FR" sz="1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)</a:t>
            </a:r>
            <a:r>
              <a:rPr lang="fr-FR" sz="1400" b="1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VCE=</a:t>
            </a:r>
            <a:r>
              <a:rPr lang="fr-FR" sz="1400" b="1" baseline="-25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cste</a:t>
            </a:r>
            <a:r>
              <a:rPr lang="fr-FR" sz="1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 </a:t>
            </a:r>
          </a:p>
          <a:p>
            <a:r>
              <a:rPr lang="fr-FR" sz="1400" dirty="0">
                <a:latin typeface="Bookman Old Style" panose="02050604050505020204" pitchFamily="18" charset="0"/>
              </a:rPr>
              <a:t>- </a:t>
            </a:r>
            <a:r>
              <a:rPr lang="fr-FR" sz="14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Réseau de sortie :  			I</a:t>
            </a:r>
            <a:r>
              <a:rPr lang="fr-FR" sz="1400" b="1" baseline="-25000" dirty="0">
                <a:solidFill>
                  <a:srgbClr val="0000FF"/>
                </a:solidFill>
                <a:latin typeface="Bookman Old Style" panose="02050604050505020204" pitchFamily="18" charset="0"/>
              </a:rPr>
              <a:t>C</a:t>
            </a:r>
            <a:r>
              <a:rPr lang="fr-FR" sz="14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 = f(V</a:t>
            </a:r>
            <a:r>
              <a:rPr lang="fr-FR" sz="1400" b="1" baseline="-25000" dirty="0">
                <a:solidFill>
                  <a:srgbClr val="0000FF"/>
                </a:solidFill>
                <a:latin typeface="Bookman Old Style" panose="02050604050505020204" pitchFamily="18" charset="0"/>
              </a:rPr>
              <a:t>CE</a:t>
            </a:r>
            <a:r>
              <a:rPr lang="fr-FR" sz="14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)</a:t>
            </a:r>
            <a:r>
              <a:rPr lang="fr-FR" sz="1400" b="1" baseline="-25000" dirty="0">
                <a:solidFill>
                  <a:srgbClr val="0000FF"/>
                </a:solidFill>
                <a:latin typeface="Bookman Old Style" panose="02050604050505020204" pitchFamily="18" charset="0"/>
              </a:rPr>
              <a:t>IB=</a:t>
            </a:r>
            <a:r>
              <a:rPr lang="fr-FR" sz="1400" b="1" baseline="-25000" dirty="0" err="1">
                <a:solidFill>
                  <a:srgbClr val="0000FF"/>
                </a:solidFill>
                <a:latin typeface="Bookman Old Style" panose="02050604050505020204" pitchFamily="18" charset="0"/>
              </a:rPr>
              <a:t>cst</a:t>
            </a:r>
            <a:r>
              <a:rPr lang="fr-FR" sz="14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 </a:t>
            </a:r>
          </a:p>
          <a:p>
            <a:pPr>
              <a:buFontTx/>
              <a:buChar char="-"/>
            </a:pPr>
            <a:r>
              <a:rPr lang="fr-FR" sz="1400" dirty="0">
                <a:latin typeface="Bookman Old Style" panose="02050604050505020204" pitchFamily="18" charset="0"/>
              </a:rPr>
              <a:t> </a:t>
            </a:r>
            <a:r>
              <a:rPr lang="fr-FR" sz="1400" b="1" dirty="0">
                <a:solidFill>
                  <a:srgbClr val="7030A0"/>
                </a:solidFill>
                <a:latin typeface="Bookman Old Style" panose="02050604050505020204" pitchFamily="18" charset="0"/>
              </a:rPr>
              <a:t>Réseau de transfert de courant :		I</a:t>
            </a:r>
            <a:r>
              <a:rPr lang="fr-FR" sz="1400" b="1" baseline="-25000" dirty="0">
                <a:solidFill>
                  <a:srgbClr val="7030A0"/>
                </a:solidFill>
                <a:latin typeface="Bookman Old Style" panose="02050604050505020204" pitchFamily="18" charset="0"/>
              </a:rPr>
              <a:t>C</a:t>
            </a:r>
            <a:r>
              <a:rPr lang="fr-FR" sz="1400" b="1" dirty="0">
                <a:solidFill>
                  <a:srgbClr val="7030A0"/>
                </a:solidFill>
                <a:latin typeface="Bookman Old Style" panose="02050604050505020204" pitchFamily="18" charset="0"/>
              </a:rPr>
              <a:t> = f(I</a:t>
            </a:r>
            <a:r>
              <a:rPr lang="fr-FR" sz="1400" b="1" baseline="-25000" dirty="0">
                <a:solidFill>
                  <a:srgbClr val="7030A0"/>
                </a:solidFill>
                <a:latin typeface="Bookman Old Style" panose="02050604050505020204" pitchFamily="18" charset="0"/>
              </a:rPr>
              <a:t>B</a:t>
            </a:r>
            <a:r>
              <a:rPr lang="fr-FR" sz="1400" b="1" dirty="0">
                <a:solidFill>
                  <a:srgbClr val="7030A0"/>
                </a:solidFill>
                <a:latin typeface="Bookman Old Style" panose="02050604050505020204" pitchFamily="18" charset="0"/>
              </a:rPr>
              <a:t>)</a:t>
            </a:r>
            <a:r>
              <a:rPr lang="fr-FR" sz="1400" b="1" baseline="-25000" dirty="0">
                <a:solidFill>
                  <a:srgbClr val="7030A0"/>
                </a:solidFill>
                <a:latin typeface="Bookman Old Style" panose="02050604050505020204" pitchFamily="18" charset="0"/>
              </a:rPr>
              <a:t>VCE=</a:t>
            </a:r>
            <a:r>
              <a:rPr lang="fr-FR" sz="1400" b="1" baseline="-25000" dirty="0" err="1">
                <a:solidFill>
                  <a:srgbClr val="7030A0"/>
                </a:solidFill>
                <a:latin typeface="Bookman Old Style" panose="02050604050505020204" pitchFamily="18" charset="0"/>
              </a:rPr>
              <a:t>cste</a:t>
            </a:r>
            <a:r>
              <a:rPr lang="fr-FR" sz="1400" dirty="0">
                <a:solidFill>
                  <a:srgbClr val="0070C0"/>
                </a:solidFill>
                <a:latin typeface="Bookman Old Style" panose="02050604050505020204" pitchFamily="18" charset="0"/>
              </a:rPr>
              <a:t> </a:t>
            </a:r>
          </a:p>
          <a:p>
            <a:r>
              <a:rPr lang="fr-FR" sz="1400" dirty="0">
                <a:latin typeface="Bookman Old Style" panose="02050604050505020204" pitchFamily="18" charset="0"/>
              </a:rPr>
              <a:t>- </a:t>
            </a:r>
            <a:r>
              <a:rPr lang="fr-FR" sz="1400" b="1" dirty="0">
                <a:latin typeface="Bookman Old Style" panose="02050604050505020204" pitchFamily="18" charset="0"/>
              </a:rPr>
              <a:t>Réseau de contre réaction en tension :	V</a:t>
            </a:r>
            <a:r>
              <a:rPr lang="fr-FR" sz="1400" b="1" baseline="-25000" dirty="0">
                <a:latin typeface="Bookman Old Style" panose="02050604050505020204" pitchFamily="18" charset="0"/>
              </a:rPr>
              <a:t>BE</a:t>
            </a:r>
            <a:r>
              <a:rPr lang="fr-FR" sz="1400" b="1" dirty="0">
                <a:latin typeface="Bookman Old Style" panose="02050604050505020204" pitchFamily="18" charset="0"/>
              </a:rPr>
              <a:t> = f(V</a:t>
            </a:r>
            <a:r>
              <a:rPr lang="fr-FR" sz="1400" b="1" baseline="-25000" dirty="0">
                <a:latin typeface="Bookman Old Style" panose="02050604050505020204" pitchFamily="18" charset="0"/>
              </a:rPr>
              <a:t>CE</a:t>
            </a:r>
            <a:r>
              <a:rPr lang="fr-FR" sz="1400" b="1" dirty="0">
                <a:latin typeface="Bookman Old Style" panose="02050604050505020204" pitchFamily="18" charset="0"/>
              </a:rPr>
              <a:t>)I</a:t>
            </a:r>
            <a:r>
              <a:rPr lang="fr-FR" sz="1400" b="1" baseline="-25000" dirty="0">
                <a:latin typeface="Bookman Old Style" panose="02050604050505020204" pitchFamily="18" charset="0"/>
              </a:rPr>
              <a:t>B=cst</a:t>
            </a:r>
            <a:endParaRPr lang="fr-FR" sz="1400" b="1" dirty="0">
              <a:latin typeface="Bookman Old Style" panose="02050604050505020204" pitchFamily="18" charset="0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49EBA6E-F560-8573-30D5-7CCB5EDAF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838" y="2587943"/>
            <a:ext cx="6709762" cy="800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On peut regrouper ces réseaux sur un même graphe :</a:t>
            </a:r>
            <a:endParaRPr kumimoji="0" 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Ex: </a:t>
            </a:r>
            <a:r>
              <a:rPr kumimoji="0" lang="fr-FR" sz="16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transistor  2N2222</a:t>
            </a:r>
            <a:endParaRPr kumimoji="0" lang="fr-FR" sz="1600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  <a:cs typeface="Arial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00BBA95-E059-722D-56CF-9CDB4CC62632}"/>
              </a:ext>
            </a:extLst>
          </p:cNvPr>
          <p:cNvSpPr/>
          <p:nvPr/>
        </p:nvSpPr>
        <p:spPr>
          <a:xfrm>
            <a:off x="757838" y="3562350"/>
            <a:ext cx="3124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1200" b="1" dirty="0">
                <a:solidFill>
                  <a:srgbClr val="C00000"/>
                </a:solidFill>
                <a:highlight>
                  <a:srgbClr val="00FF00"/>
                </a:highlight>
                <a:latin typeface="Bookman Old Style" panose="02050604050505020204" pitchFamily="18" charset="0"/>
              </a:rPr>
              <a:t>Remarque</a:t>
            </a:r>
            <a:r>
              <a:rPr lang="fr-FR" sz="1200" b="1" dirty="0">
                <a:solidFill>
                  <a:srgbClr val="FF0000"/>
                </a:solidFill>
                <a:highlight>
                  <a:srgbClr val="00FF00"/>
                </a:highlight>
                <a:latin typeface="Bookman Old Style" panose="02050604050505020204" pitchFamily="18" charset="0"/>
              </a:rPr>
              <a:t>:</a:t>
            </a:r>
          </a:p>
          <a:p>
            <a:pPr algn="just"/>
            <a:r>
              <a:rPr lang="fr-FR" sz="1200" dirty="0">
                <a:solidFill>
                  <a:srgbClr val="FF0000"/>
                </a:solidFill>
                <a:latin typeface="Bookman Old Style" panose="02050604050505020204" pitchFamily="18" charset="0"/>
              </a:rPr>
              <a:t>   </a:t>
            </a:r>
            <a:r>
              <a:rPr lang="fr-FR" sz="12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On ne doit pas dépasser la puissance maximale (hyperbole de puissance donnée par le constructeur) sinon on risque de détruire le transistor.</a:t>
            </a:r>
          </a:p>
        </p:txBody>
      </p:sp>
    </p:spTree>
    <p:extLst>
      <p:ext uri="{BB962C8B-B14F-4D97-AF65-F5344CB8AC3E}">
        <p14:creationId xmlns:p14="http://schemas.microsoft.com/office/powerpoint/2010/main" val="8707717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6"/>
            <a:ext cx="52086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-Transistor-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1620" y="507690"/>
            <a:ext cx="69931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4. Polarisation </a:t>
            </a:r>
            <a:r>
              <a:rPr lang="fr-FR" sz="18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du transistor</a:t>
            </a:r>
            <a:endParaRPr lang="fr-FR" b="1" spc="-5" dirty="0">
              <a:solidFill>
                <a:srgbClr val="FF0000"/>
              </a:solidFill>
              <a:latin typeface="Bookman Old Style" panose="02050604050505020204" pitchFamily="18" charset="0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715000" y="365260"/>
            <a:ext cx="3328256" cy="10117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46">
            <a:extLst>
              <a:ext uri="{FF2B5EF4-FFF2-40B4-BE49-F238E27FC236}">
                <a16:creationId xmlns:a16="http://schemas.microsoft.com/office/drawing/2014/main" id="{7198176F-4D83-4A98-1EFA-F78693C2B68B}"/>
              </a:ext>
            </a:extLst>
          </p:cNvPr>
          <p:cNvSpPr txBox="1"/>
          <p:nvPr/>
        </p:nvSpPr>
        <p:spPr>
          <a:xfrm>
            <a:off x="8828933" y="486598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42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3206C0-B920-4CD8-8FF9-7BD8ABA1AB10}"/>
              </a:ext>
            </a:extLst>
          </p:cNvPr>
          <p:cNvSpPr txBox="1"/>
          <p:nvPr/>
        </p:nvSpPr>
        <p:spPr>
          <a:xfrm>
            <a:off x="562319" y="843511"/>
            <a:ext cx="868537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600" b="1" spc="-5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defRPr>
            </a:lvl1pPr>
          </a:lstStyle>
          <a:p>
            <a:r>
              <a:rPr lang="fr-FR" dirty="0"/>
              <a:t>4.3 Point de fonctionnement</a:t>
            </a:r>
          </a:p>
          <a:p>
            <a:r>
              <a:rPr lang="fr-FR" dirty="0"/>
              <a:t> </a:t>
            </a:r>
            <a:br>
              <a:rPr lang="fr-FR" dirty="0"/>
            </a:br>
            <a:endParaRPr lang="fr-F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A6EA45-54EF-CD2B-E056-79C2020D43D9}"/>
              </a:ext>
            </a:extLst>
          </p:cNvPr>
          <p:cNvSpPr txBox="1"/>
          <p:nvPr/>
        </p:nvSpPr>
        <p:spPr>
          <a:xfrm>
            <a:off x="518367" y="1146089"/>
            <a:ext cx="827631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400" dirty="0">
                <a:latin typeface="Bookman Old Style" panose="02050604050505020204" pitchFamily="18" charset="0"/>
              </a:rPr>
              <a:t>Le but de la </a:t>
            </a:r>
            <a:r>
              <a:rPr lang="fr-FR" sz="1400" b="1" dirty="0">
                <a:latin typeface="Bookman Old Style" panose="02050604050505020204" pitchFamily="18" charset="0"/>
              </a:rPr>
              <a:t>polarisation</a:t>
            </a:r>
            <a:r>
              <a:rPr lang="fr-FR" sz="1400" dirty="0">
                <a:latin typeface="Bookman Old Style" panose="02050604050505020204" pitchFamily="18" charset="0"/>
              </a:rPr>
              <a:t> est d'assurer un </a:t>
            </a:r>
            <a:r>
              <a:rPr lang="fr-FR" sz="1400" b="1" dirty="0">
                <a:latin typeface="Bookman Old Style" panose="02050604050505020204" pitchFamily="18" charset="0"/>
              </a:rPr>
              <a:t>bon fonctionnement</a:t>
            </a:r>
            <a:r>
              <a:rPr lang="fr-FR" sz="1400" dirty="0">
                <a:latin typeface="Bookman Old Style" panose="02050604050505020204" pitchFamily="18" charset="0"/>
              </a:rPr>
              <a:t> du </a:t>
            </a:r>
            <a:r>
              <a:rPr lang="fr-FR" sz="1400" b="1" dirty="0">
                <a:latin typeface="Bookman Old Style" panose="02050604050505020204" pitchFamily="18" charset="0"/>
              </a:rPr>
              <a:t>transistor à partir d'une seule alimentation</a:t>
            </a:r>
            <a:r>
              <a:rPr lang="fr-FR" sz="1400" dirty="0">
                <a:latin typeface="Bookman Old Style" panose="02050604050505020204" pitchFamily="18" charset="0"/>
              </a:rPr>
              <a:t>. Pour cela :</a:t>
            </a:r>
          </a:p>
          <a:p>
            <a:pPr algn="just"/>
            <a:r>
              <a:rPr lang="fr-FR" sz="1400" dirty="0">
                <a:latin typeface="Bookman Old Style" panose="02050604050505020204" pitchFamily="18" charset="0"/>
              </a:rPr>
              <a:t>-  </a:t>
            </a:r>
            <a:r>
              <a:rPr lang="fr-FR" sz="1400" b="1" dirty="0">
                <a:latin typeface="Bookman Old Style" panose="02050604050505020204" pitchFamily="18" charset="0"/>
              </a:rPr>
              <a:t>Ne pas dépasser </a:t>
            </a:r>
            <a:r>
              <a:rPr lang="fr-FR" sz="1400" dirty="0">
                <a:latin typeface="Bookman Old Style" panose="02050604050505020204" pitchFamily="18" charset="0"/>
              </a:rPr>
              <a:t>certaines </a:t>
            </a:r>
            <a:r>
              <a:rPr lang="fr-FR" sz="1400" b="1" dirty="0">
                <a:latin typeface="Bookman Old Style" panose="02050604050505020204" pitchFamily="18" charset="0"/>
              </a:rPr>
              <a:t>contraintes technologiques </a:t>
            </a:r>
            <a:r>
              <a:rPr lang="fr-FR" sz="1400" b="1" dirty="0" err="1">
                <a:latin typeface="Bookman Old Style" panose="02050604050505020204" pitchFamily="18" charset="0"/>
              </a:rPr>
              <a:t>V</a:t>
            </a:r>
            <a:r>
              <a:rPr lang="fr-FR" sz="1400" b="1" baseline="-25000" dirty="0" err="1">
                <a:latin typeface="Bookman Old Style" panose="02050604050505020204" pitchFamily="18" charset="0"/>
              </a:rPr>
              <a:t>CEmax</a:t>
            </a:r>
            <a:r>
              <a:rPr lang="fr-FR" sz="1400" dirty="0">
                <a:latin typeface="Bookman Old Style" panose="02050604050505020204" pitchFamily="18" charset="0"/>
              </a:rPr>
              <a:t>, </a:t>
            </a:r>
            <a:r>
              <a:rPr lang="fr-FR" sz="1400" b="1" dirty="0" err="1">
                <a:latin typeface="Bookman Old Style" panose="02050604050505020204" pitchFamily="18" charset="0"/>
              </a:rPr>
              <a:t>I</a:t>
            </a:r>
            <a:r>
              <a:rPr lang="fr-FR" sz="1400" b="1" baseline="-25000" dirty="0" err="1">
                <a:latin typeface="Bookman Old Style" panose="02050604050505020204" pitchFamily="18" charset="0"/>
              </a:rPr>
              <a:t>Cmax</a:t>
            </a:r>
            <a:r>
              <a:rPr lang="fr-FR" sz="1400" dirty="0">
                <a:latin typeface="Bookman Old Style" panose="02050604050505020204" pitchFamily="18" charset="0"/>
              </a:rPr>
              <a:t> et </a:t>
            </a:r>
            <a:r>
              <a:rPr lang="fr-FR" sz="1400" b="1" dirty="0">
                <a:latin typeface="Bookman Old Style" panose="02050604050505020204" pitchFamily="18" charset="0"/>
              </a:rPr>
              <a:t>P</a:t>
            </a:r>
            <a:r>
              <a:rPr lang="fr-FR" sz="1400" b="1" baseline="-25000" dirty="0">
                <a:latin typeface="Bookman Old Style" panose="02050604050505020204" pitchFamily="18" charset="0"/>
              </a:rPr>
              <a:t>max</a:t>
            </a:r>
            <a:r>
              <a:rPr lang="fr-FR" sz="1400" dirty="0">
                <a:latin typeface="Bookman Old Style" panose="02050604050505020204" pitchFamily="18" charset="0"/>
              </a:rPr>
              <a:t>.</a:t>
            </a:r>
          </a:p>
          <a:p>
            <a:pPr algn="just"/>
            <a:r>
              <a:rPr lang="fr-FR" sz="1400" dirty="0">
                <a:latin typeface="Bookman Old Style" panose="02050604050505020204" pitchFamily="18" charset="0"/>
              </a:rPr>
              <a:t>-  Choisir le </a:t>
            </a:r>
            <a:r>
              <a:rPr lang="fr-FR" sz="1400" b="1" dirty="0">
                <a:latin typeface="Bookman Old Style" panose="02050604050505020204" pitchFamily="18" charset="0"/>
              </a:rPr>
              <a:t>point de fonctionnement</a:t>
            </a:r>
            <a:r>
              <a:rPr lang="fr-FR" sz="1400" dirty="0">
                <a:latin typeface="Bookman Old Style" panose="02050604050505020204" pitchFamily="18" charset="0"/>
              </a:rPr>
              <a:t> et assurer </a:t>
            </a:r>
            <a:r>
              <a:rPr lang="fr-FR" sz="1400" b="1" dirty="0">
                <a:latin typeface="Bookman Old Style" panose="02050604050505020204" pitchFamily="18" charset="0"/>
              </a:rPr>
              <a:t>la stabilité thermiqu</a:t>
            </a:r>
            <a:r>
              <a:rPr lang="fr-FR" sz="1400" dirty="0">
                <a:latin typeface="Bookman Old Style" panose="02050604050505020204" pitchFamily="18" charset="0"/>
              </a:rPr>
              <a:t>e.</a:t>
            </a:r>
          </a:p>
          <a:p>
            <a:pPr algn="just">
              <a:buFontTx/>
              <a:buChar char="-"/>
            </a:pPr>
            <a:r>
              <a:rPr lang="fr-FR" sz="1400" dirty="0">
                <a:latin typeface="Bookman Old Style" panose="02050604050505020204" pitchFamily="18" charset="0"/>
              </a:rPr>
              <a:t>  </a:t>
            </a:r>
            <a:r>
              <a:rPr lang="fr-FR" sz="1400" b="1" dirty="0">
                <a:latin typeface="Bookman Old Style" panose="02050604050505020204" pitchFamily="18" charset="0"/>
              </a:rPr>
              <a:t>Assurer</a:t>
            </a:r>
            <a:r>
              <a:rPr lang="fr-FR" sz="1400" dirty="0">
                <a:latin typeface="Bookman Old Style" panose="02050604050505020204" pitchFamily="18" charset="0"/>
              </a:rPr>
              <a:t> une </a:t>
            </a:r>
            <a:r>
              <a:rPr lang="fr-FR" sz="1400" b="1" dirty="0">
                <a:latin typeface="Bookman Old Style" panose="02050604050505020204" pitchFamily="18" charset="0"/>
              </a:rPr>
              <a:t>meilleure linéarité</a:t>
            </a:r>
            <a:r>
              <a:rPr lang="fr-FR" sz="1400" dirty="0">
                <a:latin typeface="Bookman Old Style" panose="02050604050505020204" pitchFamily="18" charset="0"/>
              </a:rPr>
              <a:t>…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D3F4F3-9323-962F-1B2C-1EE1C037C067}"/>
              </a:ext>
            </a:extLst>
          </p:cNvPr>
          <p:cNvSpPr txBox="1"/>
          <p:nvPr/>
        </p:nvSpPr>
        <p:spPr>
          <a:xfrm>
            <a:off x="597935" y="2365040"/>
            <a:ext cx="82296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400" dirty="0">
                <a:latin typeface="Bookman Old Style" panose="02050604050505020204" pitchFamily="18" charset="0"/>
              </a:rPr>
              <a:t>Choisir </a:t>
            </a:r>
            <a:r>
              <a:rPr lang="fr-FR" sz="1400" b="1" dirty="0">
                <a:latin typeface="Bookman Old Style" panose="02050604050505020204" pitchFamily="18" charset="0"/>
              </a:rPr>
              <a:t>le point de fonctionnement</a:t>
            </a:r>
            <a:r>
              <a:rPr lang="fr-FR" sz="1400" dirty="0">
                <a:latin typeface="Bookman Old Style" panose="02050604050505020204" pitchFamily="18" charset="0"/>
              </a:rPr>
              <a:t> nécessite la connaissance de </a:t>
            </a:r>
            <a:r>
              <a:rPr lang="fr-FR" sz="1400" b="1" dirty="0">
                <a:latin typeface="Bookman Old Style" panose="02050604050505020204" pitchFamily="18" charset="0"/>
              </a:rPr>
              <a:t>I</a:t>
            </a:r>
            <a:r>
              <a:rPr lang="fr-FR" sz="1400" b="1" baseline="-25000" dirty="0">
                <a:latin typeface="Bookman Old Style" panose="02050604050505020204" pitchFamily="18" charset="0"/>
              </a:rPr>
              <a:t>C</a:t>
            </a:r>
            <a:r>
              <a:rPr lang="fr-FR" sz="1400" dirty="0">
                <a:latin typeface="Bookman Old Style" panose="02050604050505020204" pitchFamily="18" charset="0"/>
              </a:rPr>
              <a:t>, </a:t>
            </a:r>
            <a:r>
              <a:rPr lang="fr-FR" sz="1400" b="1" dirty="0">
                <a:latin typeface="Bookman Old Style" panose="02050604050505020204" pitchFamily="18" charset="0"/>
              </a:rPr>
              <a:t>I</a:t>
            </a:r>
            <a:r>
              <a:rPr lang="fr-FR" sz="1400" b="1" baseline="-25000" dirty="0">
                <a:latin typeface="Bookman Old Style" panose="02050604050505020204" pitchFamily="18" charset="0"/>
              </a:rPr>
              <a:t>B</a:t>
            </a:r>
            <a:r>
              <a:rPr lang="fr-FR" sz="1400" dirty="0">
                <a:latin typeface="Bookman Old Style" panose="02050604050505020204" pitchFamily="18" charset="0"/>
              </a:rPr>
              <a:t>, </a:t>
            </a:r>
            <a:r>
              <a:rPr lang="fr-FR" sz="1400" b="1" dirty="0">
                <a:latin typeface="Bookman Old Style" panose="02050604050505020204" pitchFamily="18" charset="0"/>
              </a:rPr>
              <a:t>V</a:t>
            </a:r>
            <a:r>
              <a:rPr lang="fr-FR" sz="1400" b="1" baseline="-25000" dirty="0">
                <a:latin typeface="Bookman Old Style" panose="02050604050505020204" pitchFamily="18" charset="0"/>
              </a:rPr>
              <a:t>BE</a:t>
            </a:r>
            <a:r>
              <a:rPr lang="fr-FR" sz="1400" dirty="0">
                <a:latin typeface="Bookman Old Style" panose="02050604050505020204" pitchFamily="18" charset="0"/>
              </a:rPr>
              <a:t> et </a:t>
            </a:r>
            <a:r>
              <a:rPr lang="fr-FR" sz="1400" b="1" dirty="0">
                <a:latin typeface="Bookman Old Style" panose="02050604050505020204" pitchFamily="18" charset="0"/>
              </a:rPr>
              <a:t>V</a:t>
            </a:r>
            <a:r>
              <a:rPr lang="fr-FR" sz="1400" b="1" baseline="-25000" dirty="0">
                <a:latin typeface="Bookman Old Style" panose="02050604050505020204" pitchFamily="18" charset="0"/>
              </a:rPr>
              <a:t>CE</a:t>
            </a:r>
            <a:r>
              <a:rPr lang="fr-FR" sz="1400" dirty="0">
                <a:latin typeface="Bookman Old Style" panose="02050604050505020204" pitchFamily="18" charset="0"/>
              </a:rPr>
              <a:t>.</a:t>
            </a:r>
          </a:p>
          <a:p>
            <a:pPr algn="just"/>
            <a:endParaRPr lang="fr-FR" sz="1400" dirty="0">
              <a:latin typeface="Bookman Old Style" panose="02050604050505020204" pitchFamily="18" charset="0"/>
            </a:endParaRPr>
          </a:p>
          <a:p>
            <a:pPr algn="just"/>
            <a:r>
              <a:rPr lang="fr-FR" sz="1400" dirty="0">
                <a:latin typeface="Bookman Old Style" panose="02050604050505020204" pitchFamily="18" charset="0"/>
              </a:rPr>
              <a:t>Prenant </a:t>
            </a:r>
            <a:r>
              <a:rPr lang="fr-FR" sz="1400" b="1" dirty="0">
                <a:latin typeface="Bookman Old Style" panose="02050604050505020204" pitchFamily="18" charset="0"/>
              </a:rPr>
              <a:t>l'exemple du circuit de polarisation</a:t>
            </a:r>
            <a:r>
              <a:rPr lang="fr-FR" sz="1400" dirty="0">
                <a:latin typeface="Bookman Old Style" panose="02050604050505020204" pitchFamily="18" charset="0"/>
              </a:rPr>
              <a:t> du transistor bipolaire </a:t>
            </a:r>
            <a:r>
              <a:rPr lang="fr-FR" sz="1400" b="1" dirty="0">
                <a:latin typeface="Bookman Old Style" panose="02050604050505020204" pitchFamily="18" charset="0"/>
              </a:rPr>
              <a:t>monté en EC</a:t>
            </a:r>
            <a:r>
              <a:rPr lang="fr-FR" sz="1400" dirty="0">
                <a:latin typeface="Bookman Old Style" panose="02050604050505020204" pitchFamily="18" charset="0"/>
              </a:rPr>
              <a:t>:</a:t>
            </a:r>
          </a:p>
          <a:p>
            <a:pPr algn="just"/>
            <a:endParaRPr lang="fr-FR" sz="1400" dirty="0">
              <a:latin typeface="Bookman Old Style" panose="02050604050505020204" pitchFamily="18" charset="0"/>
            </a:endParaRPr>
          </a:p>
          <a:p>
            <a:pPr algn="just"/>
            <a:r>
              <a:rPr lang="fr-FR" sz="1400" dirty="0">
                <a:latin typeface="Bookman Old Style" panose="02050604050505020204" pitchFamily="18" charset="0"/>
              </a:rPr>
              <a:t>Le </a:t>
            </a:r>
            <a:r>
              <a:rPr lang="fr-FR" sz="1400" b="1" dirty="0">
                <a:latin typeface="Bookman Old Style" panose="02050604050505020204" pitchFamily="18" charset="0"/>
              </a:rPr>
              <a:t>point de fonctionnement</a:t>
            </a:r>
            <a:r>
              <a:rPr lang="fr-FR" sz="1400" dirty="0">
                <a:latin typeface="Bookman Old Style" panose="02050604050505020204" pitchFamily="18" charset="0"/>
              </a:rPr>
              <a:t> (ou de </a:t>
            </a:r>
            <a:r>
              <a:rPr lang="fr-FR" sz="1400" b="1" dirty="0">
                <a:latin typeface="Bookman Old Style" panose="02050604050505020204" pitchFamily="18" charset="0"/>
              </a:rPr>
              <a:t>repos)</a:t>
            </a:r>
            <a:r>
              <a:rPr lang="fr-FR" sz="1400" dirty="0">
                <a:latin typeface="Bookman Old Style" panose="02050604050505020204" pitchFamily="18" charset="0"/>
              </a:rPr>
              <a:t> se trouve à l'</a:t>
            </a:r>
            <a:r>
              <a:rPr lang="fr-FR" sz="1400" b="1" dirty="0">
                <a:latin typeface="Bookman Old Style" panose="02050604050505020204" pitchFamily="18" charset="0"/>
              </a:rPr>
              <a:t>intersection</a:t>
            </a:r>
            <a:r>
              <a:rPr lang="fr-FR" sz="1400" dirty="0">
                <a:latin typeface="Bookman Old Style" panose="02050604050505020204" pitchFamily="18" charset="0"/>
              </a:rPr>
              <a:t> du </a:t>
            </a:r>
            <a:r>
              <a:rPr lang="fr-FR" sz="1400" b="1" dirty="0">
                <a:latin typeface="Bookman Old Style" panose="02050604050505020204" pitchFamily="18" charset="0"/>
              </a:rPr>
              <a:t>réseau de caractéristiques </a:t>
            </a:r>
            <a:r>
              <a:rPr lang="fr-FR" sz="1400" dirty="0">
                <a:latin typeface="Bookman Old Style" panose="02050604050505020204" pitchFamily="18" charset="0"/>
              </a:rPr>
              <a:t>et </a:t>
            </a:r>
            <a:r>
              <a:rPr lang="fr-FR" sz="1400" b="1" dirty="0">
                <a:latin typeface="Bookman Old Style" panose="02050604050505020204" pitchFamily="18" charset="0"/>
              </a:rPr>
              <a:t>des équations de polarisation </a:t>
            </a:r>
            <a:r>
              <a:rPr lang="fr-FR" sz="1400" dirty="0">
                <a:latin typeface="Bookman Old Style" panose="02050604050505020204" pitchFamily="18" charset="0"/>
              </a:rPr>
              <a:t>du montage.</a:t>
            </a:r>
          </a:p>
          <a:p>
            <a:pPr algn="just"/>
            <a:endParaRPr lang="fr-FR" sz="1400" dirty="0">
              <a:latin typeface="Bookman Old Style" panose="020506040505050202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DF0715-1EB0-7E17-D745-9E2B540216C5}"/>
              </a:ext>
            </a:extLst>
          </p:cNvPr>
          <p:cNvSpPr txBox="1"/>
          <p:nvPr/>
        </p:nvSpPr>
        <p:spPr>
          <a:xfrm>
            <a:off x="597935" y="3764379"/>
            <a:ext cx="5802865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Equations de polarisation :</a:t>
            </a:r>
          </a:p>
          <a:p>
            <a:pPr marL="285750" indent="-285750">
              <a:buFontTx/>
              <a:buChar char="-"/>
            </a:pPr>
            <a:r>
              <a:rPr lang="fr-FR" sz="1400" b="1" dirty="0">
                <a:latin typeface="Bookman Old Style" panose="02050604050505020204" pitchFamily="18" charset="0"/>
              </a:rPr>
              <a:t>V</a:t>
            </a:r>
            <a:r>
              <a:rPr lang="fr-FR" sz="1400" b="1" baseline="-25000" dirty="0">
                <a:latin typeface="Bookman Old Style" panose="02050604050505020204" pitchFamily="18" charset="0"/>
              </a:rPr>
              <a:t>CC</a:t>
            </a:r>
            <a:r>
              <a:rPr lang="fr-FR" sz="1400" b="1" dirty="0">
                <a:latin typeface="Bookman Old Style" panose="02050604050505020204" pitchFamily="18" charset="0"/>
              </a:rPr>
              <a:t>= R</a:t>
            </a:r>
            <a:r>
              <a:rPr lang="fr-FR" sz="1400" b="1" baseline="-25000" dirty="0">
                <a:latin typeface="Bookman Old Style" panose="02050604050505020204" pitchFamily="18" charset="0"/>
              </a:rPr>
              <a:t>C</a:t>
            </a:r>
            <a:r>
              <a:rPr lang="fr-FR" sz="1400" b="1" dirty="0">
                <a:latin typeface="Bookman Old Style" panose="02050604050505020204" pitchFamily="18" charset="0"/>
              </a:rPr>
              <a:t> I</a:t>
            </a:r>
            <a:r>
              <a:rPr lang="fr-FR" sz="1400" b="1" baseline="-25000" dirty="0">
                <a:latin typeface="Bookman Old Style" panose="02050604050505020204" pitchFamily="18" charset="0"/>
              </a:rPr>
              <a:t>C</a:t>
            </a:r>
            <a:r>
              <a:rPr lang="fr-FR" sz="1400" b="1" dirty="0">
                <a:latin typeface="Bookman Old Style" panose="02050604050505020204" pitchFamily="18" charset="0"/>
              </a:rPr>
              <a:t> + V</a:t>
            </a:r>
            <a:r>
              <a:rPr lang="fr-FR" sz="1400" b="1" baseline="-25000" dirty="0">
                <a:latin typeface="Bookman Old Style" panose="02050604050505020204" pitchFamily="18" charset="0"/>
              </a:rPr>
              <a:t>CE</a:t>
            </a:r>
            <a:r>
              <a:rPr lang="fr-FR" sz="1400" dirty="0">
                <a:latin typeface="Bookman Old Style" panose="02050604050505020204" pitchFamily="18" charset="0"/>
              </a:rPr>
              <a:t>	Cette relation donne l'équation de la</a:t>
            </a:r>
          </a:p>
          <a:p>
            <a:r>
              <a:rPr lang="fr-FR" sz="1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     droite de charge </a:t>
            </a:r>
            <a:r>
              <a:rPr lang="fr-FR" sz="1400" b="1" dirty="0">
                <a:latin typeface="Bookman Old Style" panose="02050604050505020204" pitchFamily="18" charset="0"/>
              </a:rPr>
              <a:t>statique</a:t>
            </a:r>
            <a:r>
              <a:rPr lang="fr-FR" sz="1400" dirty="0">
                <a:latin typeface="Bookman Old Style" panose="02050604050505020204" pitchFamily="18" charset="0"/>
              </a:rPr>
              <a:t> : </a:t>
            </a:r>
          </a:p>
          <a:p>
            <a:endParaRPr lang="fr-FR" sz="1400" dirty="0">
              <a:latin typeface="Bookman Old Style" panose="02050604050505020204" pitchFamily="18" charset="0"/>
            </a:endParaRPr>
          </a:p>
          <a:p>
            <a:pPr marL="285750" indent="-285750">
              <a:buFontTx/>
              <a:buChar char="-"/>
            </a:pPr>
            <a:r>
              <a:rPr lang="fr-FR" sz="1400" b="1" dirty="0">
                <a:latin typeface="Bookman Old Style" panose="02050604050505020204" pitchFamily="18" charset="0"/>
              </a:rPr>
              <a:t>V</a:t>
            </a:r>
            <a:r>
              <a:rPr lang="fr-FR" sz="1400" b="1" baseline="-25000" dirty="0">
                <a:latin typeface="Bookman Old Style" panose="02050604050505020204" pitchFamily="18" charset="0"/>
              </a:rPr>
              <a:t>BB</a:t>
            </a:r>
            <a:r>
              <a:rPr lang="fr-FR" sz="1400" b="1" dirty="0">
                <a:latin typeface="Bookman Old Style" panose="02050604050505020204" pitchFamily="18" charset="0"/>
              </a:rPr>
              <a:t>= R</a:t>
            </a:r>
            <a:r>
              <a:rPr lang="fr-FR" sz="1400" b="1" baseline="-25000" dirty="0">
                <a:latin typeface="Bookman Old Style" panose="02050604050505020204" pitchFamily="18" charset="0"/>
              </a:rPr>
              <a:t>B</a:t>
            </a:r>
            <a:r>
              <a:rPr lang="fr-FR" sz="1400" b="1" dirty="0">
                <a:latin typeface="Bookman Old Style" panose="02050604050505020204" pitchFamily="18" charset="0"/>
              </a:rPr>
              <a:t> I</a:t>
            </a:r>
            <a:r>
              <a:rPr lang="fr-FR" sz="1400" b="1" baseline="-25000" dirty="0">
                <a:latin typeface="Bookman Old Style" panose="02050604050505020204" pitchFamily="18" charset="0"/>
              </a:rPr>
              <a:t>B</a:t>
            </a:r>
            <a:r>
              <a:rPr lang="fr-FR" sz="1400" b="1" dirty="0">
                <a:latin typeface="Bookman Old Style" panose="02050604050505020204" pitchFamily="18" charset="0"/>
              </a:rPr>
              <a:t> + V</a:t>
            </a:r>
            <a:r>
              <a:rPr lang="fr-FR" sz="1400" b="1" baseline="-25000" dirty="0">
                <a:latin typeface="Bookman Old Style" panose="02050604050505020204" pitchFamily="18" charset="0"/>
              </a:rPr>
              <a:t>BE</a:t>
            </a:r>
            <a:r>
              <a:rPr lang="fr-FR" sz="1400" dirty="0">
                <a:latin typeface="Bookman Old Style" panose="02050604050505020204" pitchFamily="18" charset="0"/>
              </a:rPr>
              <a:t>	Cette relation donne l'équation de </a:t>
            </a:r>
          </a:p>
          <a:p>
            <a:r>
              <a:rPr lang="fr-FR" sz="1400" dirty="0">
                <a:latin typeface="Bookman Old Style" panose="02050604050505020204" pitchFamily="18" charset="0"/>
              </a:rPr>
              <a:t>     la </a:t>
            </a:r>
            <a:r>
              <a:rPr lang="fr-FR" sz="1400" b="1" dirty="0">
                <a:latin typeface="Bookman Old Style" panose="02050604050505020204" pitchFamily="18" charset="0"/>
              </a:rPr>
              <a:t>droite d'attaque </a:t>
            </a:r>
            <a:r>
              <a:rPr lang="fr-FR" sz="1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statique</a:t>
            </a:r>
            <a:r>
              <a:rPr lang="fr-FR" sz="1400" dirty="0">
                <a:latin typeface="Bookman Old Style" panose="02050604050505020204" pitchFamily="18" charset="0"/>
              </a:rPr>
              <a:t> : </a:t>
            </a:r>
          </a:p>
          <a:p>
            <a:endParaRPr lang="fr-FR" sz="1400" dirty="0">
              <a:latin typeface="Bookman Old Style" panose="02050604050505020204" pitchFamily="18" charset="0"/>
            </a:endParaRPr>
          </a:p>
        </p:txBody>
      </p:sp>
      <p:graphicFrame>
        <p:nvGraphicFramePr>
          <p:cNvPr id="23" name="Object 1">
            <a:extLst>
              <a:ext uri="{FF2B5EF4-FFF2-40B4-BE49-F238E27FC236}">
                <a16:creationId xmlns:a16="http://schemas.microsoft.com/office/drawing/2014/main" id="{320CD713-CB24-4C16-FCCF-B50AE4F397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5163387"/>
              </p:ext>
            </p:extLst>
          </p:nvPr>
        </p:nvGraphicFramePr>
        <p:xfrm>
          <a:off x="5489426" y="4089735"/>
          <a:ext cx="1214446" cy="5953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002865" imgH="380835" progId="">
                  <p:embed/>
                </p:oleObj>
              </mc:Choice>
              <mc:Fallback>
                <p:oleObj r:id="rId3" imgW="1002865" imgH="380835" progId="">
                  <p:embed/>
                  <p:pic>
                    <p:nvPicPr>
                      <p:cNvPr id="40961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9426" y="4089735"/>
                        <a:ext cx="1214446" cy="59531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3">
            <a:extLst>
              <a:ext uri="{FF2B5EF4-FFF2-40B4-BE49-F238E27FC236}">
                <a16:creationId xmlns:a16="http://schemas.microsoft.com/office/drawing/2014/main" id="{F4BA8DAA-CBAA-3CA3-279A-87D4D37EA2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9864933"/>
              </p:ext>
            </p:extLst>
          </p:nvPr>
        </p:nvGraphicFramePr>
        <p:xfrm>
          <a:off x="7006944" y="4548669"/>
          <a:ext cx="1214446" cy="5948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002865" imgH="380835" progId="">
                  <p:embed/>
                </p:oleObj>
              </mc:Choice>
              <mc:Fallback>
                <p:oleObj r:id="rId5" imgW="1002865" imgH="380835" progId="">
                  <p:embed/>
                  <p:pic>
                    <p:nvPicPr>
                      <p:cNvPr id="4096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6944" y="4548669"/>
                        <a:ext cx="1214446" cy="5948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986116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6"/>
            <a:ext cx="52086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-Transistor-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1620" y="507690"/>
            <a:ext cx="69931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4. Polarisation </a:t>
            </a:r>
            <a:r>
              <a:rPr lang="fr-FR" sz="18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du transistor</a:t>
            </a:r>
            <a:endParaRPr lang="fr-FR" b="1" spc="-5" dirty="0">
              <a:solidFill>
                <a:srgbClr val="FF0000"/>
              </a:solidFill>
              <a:latin typeface="Bookman Old Style" panose="02050604050505020204" pitchFamily="18" charset="0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715000" y="365260"/>
            <a:ext cx="3328256" cy="10117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46">
            <a:extLst>
              <a:ext uri="{FF2B5EF4-FFF2-40B4-BE49-F238E27FC236}">
                <a16:creationId xmlns:a16="http://schemas.microsoft.com/office/drawing/2014/main" id="{7198176F-4D83-4A98-1EFA-F78693C2B68B}"/>
              </a:ext>
            </a:extLst>
          </p:cNvPr>
          <p:cNvSpPr txBox="1"/>
          <p:nvPr/>
        </p:nvSpPr>
        <p:spPr>
          <a:xfrm>
            <a:off x="8828933" y="486598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43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3206C0-B920-4CD8-8FF9-7BD8ABA1AB10}"/>
              </a:ext>
            </a:extLst>
          </p:cNvPr>
          <p:cNvSpPr txBox="1"/>
          <p:nvPr/>
        </p:nvSpPr>
        <p:spPr>
          <a:xfrm>
            <a:off x="658743" y="768943"/>
            <a:ext cx="868537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600" b="1" spc="-5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defRPr>
            </a:lvl1pPr>
          </a:lstStyle>
          <a:p>
            <a:r>
              <a:rPr lang="fr-FR" sz="1400" dirty="0"/>
              <a:t>4.3 Point de fonctionnement</a:t>
            </a:r>
          </a:p>
          <a:p>
            <a:r>
              <a:rPr lang="fr-FR" dirty="0"/>
              <a:t> </a:t>
            </a:r>
            <a:br>
              <a:rPr lang="fr-FR" dirty="0"/>
            </a:br>
            <a:endParaRPr lang="fr-FR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C2348DD-3F11-947F-F31A-3A068E5A12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136" y="1057708"/>
            <a:ext cx="5047472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Low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La polarisation fixe les valeurs de </a:t>
            </a:r>
            <a:r>
              <a:rPr kumimoji="0" lang="fr-FR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I</a:t>
            </a:r>
            <a:r>
              <a:rPr kumimoji="0" lang="fr-FR" sz="1200" b="0" i="1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B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, </a:t>
            </a:r>
            <a:r>
              <a:rPr kumimoji="0" lang="fr-FR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I</a:t>
            </a:r>
            <a:r>
              <a:rPr kumimoji="0" lang="fr-FR" sz="1200" b="0" i="1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C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, </a:t>
            </a:r>
            <a:r>
              <a:rPr kumimoji="0" lang="fr-FR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V</a:t>
            </a:r>
            <a:r>
              <a:rPr kumimoji="0" lang="fr-FR" sz="1200" b="0" i="1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BE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 et </a:t>
            </a:r>
            <a:r>
              <a:rPr kumimoji="0" lang="fr-FR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V</a:t>
            </a:r>
            <a:r>
              <a:rPr kumimoji="0" lang="fr-FR" sz="1200" b="0" i="1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CE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 au point de fonctionnement P ( I</a:t>
            </a:r>
            <a:r>
              <a:rPr kumimoji="0" lang="fr-FR" sz="12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B0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, I</a:t>
            </a:r>
            <a:r>
              <a:rPr kumimoji="0" lang="fr-FR" sz="12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C0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, V</a:t>
            </a:r>
            <a:r>
              <a:rPr kumimoji="0" lang="fr-FR" sz="12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BE0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, V</a:t>
            </a:r>
            <a:r>
              <a:rPr kumimoji="0" lang="fr-FR" sz="12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CE0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) à l'aide de l'alimentation et les résistances.</a:t>
            </a:r>
            <a:endParaRPr kumimoji="0" 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  <a:cs typeface="Arial" pitchFamily="34" charset="0"/>
            </a:endParaRPr>
          </a:p>
          <a:p>
            <a:pPr marL="0" marR="0" lvl="0" indent="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  <a:cs typeface="Arial" pitchFamily="34" charset="0"/>
            </a:endParaRPr>
          </a:p>
          <a:p>
            <a:pPr marL="0" marR="0" lvl="0" indent="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   On distingue trois régimes de fonctionnement directement fixés par le réglage du point de fonctionnement :</a:t>
            </a:r>
          </a:p>
          <a:p>
            <a:pPr marL="0" marR="0" lvl="0" indent="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  <a:cs typeface="Arial" pitchFamily="34" charset="0"/>
            </a:endParaRPr>
          </a:p>
          <a:p>
            <a:pPr marL="0" marR="0" lvl="0" indent="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 Fonctionnement en </a:t>
            </a:r>
            <a:r>
              <a:rPr kumimoji="0" lang="fr-FR" sz="12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amplificateur</a:t>
            </a:r>
            <a:r>
              <a:rPr kumimoji="0" lang="fr-F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 (ou encore régime linéaire) 		</a:t>
            </a:r>
            <a:r>
              <a:rPr kumimoji="0" lang="fr-FR" sz="12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            </a:t>
            </a:r>
            <a:r>
              <a:rPr kumimoji="0" lang="fr-FR" sz="1200" b="1" i="0" u="none" strike="noStrike" cap="none" normalizeH="0" baseline="0" dirty="0">
                <a:ln>
                  <a:noFill/>
                </a:ln>
                <a:solidFill>
                  <a:srgbClr val="CC00CC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→ le point P est en (A)</a:t>
            </a:r>
          </a:p>
          <a:p>
            <a:pPr marL="0" marR="0" lvl="0" indent="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kumimoji="0" 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  <a:cs typeface="Arial" pitchFamily="34" charset="0"/>
            </a:endParaRPr>
          </a:p>
          <a:p>
            <a:pPr marL="0" marR="0" lvl="0" indent="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 Fonctionnement en </a:t>
            </a:r>
            <a:r>
              <a:rPr kumimoji="0" lang="fr-FR" sz="12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commutation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 de saturation 			</a:t>
            </a:r>
          </a:p>
          <a:p>
            <a:pPr lvl="2" algn="justLow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200" dirty="0">
                <a:solidFill>
                  <a:srgbClr val="FF0000"/>
                </a:solidFill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                              </a:t>
            </a:r>
            <a:r>
              <a:rPr kumimoji="0" lang="fr-FR" sz="1200" b="1" i="0" u="none" strike="noStrike" cap="none" normalizeH="0" baseline="0" dirty="0">
                <a:ln>
                  <a:noFill/>
                </a:ln>
                <a:solidFill>
                  <a:srgbClr val="CC00CC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→ le point P est en (S)</a:t>
            </a:r>
          </a:p>
          <a:p>
            <a:pPr marL="0" marR="0" lvl="0" indent="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kumimoji="0" 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  <a:cs typeface="Arial" pitchFamily="34" charset="0"/>
            </a:endParaRPr>
          </a:p>
          <a:p>
            <a:pPr marL="0" marR="0" lvl="0" indent="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 Fonctionnement en </a:t>
            </a:r>
            <a:r>
              <a:rPr kumimoji="0" lang="fr-FR" sz="12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commutation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 de blocage 			</a:t>
            </a:r>
          </a:p>
          <a:p>
            <a:pPr marL="0" marR="0" lvl="0" indent="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sz="1200" b="1" dirty="0">
                <a:solidFill>
                  <a:srgbClr val="CC00CC"/>
                </a:solidFill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                                              </a:t>
            </a:r>
            <a:r>
              <a:rPr kumimoji="0" lang="fr-FR" sz="1200" b="1" i="0" u="none" strike="noStrike" cap="none" normalizeH="0" baseline="0" dirty="0">
                <a:ln>
                  <a:noFill/>
                </a:ln>
                <a:solidFill>
                  <a:srgbClr val="CC00CC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→ le point P est en (B)</a:t>
            </a:r>
          </a:p>
          <a:p>
            <a:pPr marL="0" marR="0" lvl="0" indent="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lang="fr-FR" sz="1200" dirty="0">
              <a:latin typeface="Bookman Old Style" panose="02050604050505020204" pitchFamily="18" charset="0"/>
              <a:cs typeface="Arial" pitchFamily="34" charset="0"/>
            </a:endParaRPr>
          </a:p>
          <a:p>
            <a:pPr lvl="0" algn="justLow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200" b="1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En général </a:t>
            </a:r>
            <a:r>
              <a:rPr lang="fr-FR" sz="1200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en régime linéaire:</a:t>
            </a:r>
          </a:p>
          <a:p>
            <a:pPr lvl="0" algn="justLow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200" b="1" i="1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V</a:t>
            </a:r>
            <a:r>
              <a:rPr lang="fr-FR" sz="1200" b="1" i="1" baseline="-30000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BE0</a:t>
            </a:r>
            <a:r>
              <a:rPr lang="fr-FR" sz="1200" b="1" i="1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 = 0.65 V </a:t>
            </a:r>
            <a:r>
              <a:rPr lang="fr-FR" sz="1200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pour le Silicium </a:t>
            </a:r>
            <a:endParaRPr lang="fr-FR" sz="1200" dirty="0">
              <a:latin typeface="Bookman Old Style" panose="02050604050505020204" pitchFamily="18" charset="0"/>
              <a:cs typeface="Arial" pitchFamily="34" charset="0"/>
            </a:endParaRPr>
          </a:p>
          <a:p>
            <a:pPr lvl="0" algn="justLow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200" b="1" i="1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V</a:t>
            </a:r>
            <a:r>
              <a:rPr lang="fr-FR" sz="1200" b="1" i="1" baseline="-30000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BE0</a:t>
            </a:r>
            <a:r>
              <a:rPr lang="fr-FR" sz="1200" b="1" i="1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 = 0.3 V </a:t>
            </a:r>
            <a:r>
              <a:rPr lang="fr-FR" sz="1200" dirty="0"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pour le Germanium</a:t>
            </a:r>
            <a:endParaRPr kumimoji="0" 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  <a:cs typeface="Arial" pitchFamily="34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AA367B9-65A6-06A8-0EEC-B4B5559C68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5632491" y="1051241"/>
            <a:ext cx="3196442" cy="3150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C746512-B5DF-10FA-0CA9-61B6D64A7DF5}"/>
              </a:ext>
            </a:extLst>
          </p:cNvPr>
          <p:cNvSpPr txBox="1"/>
          <p:nvPr/>
        </p:nvSpPr>
        <p:spPr>
          <a:xfrm>
            <a:off x="4366342" y="4455074"/>
            <a:ext cx="46726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200" dirty="0">
                <a:solidFill>
                  <a:srgbClr val="FF0000"/>
                </a:solidFill>
                <a:latin typeface="Bookman Old Style" panose="02050604050505020204" pitchFamily="18" charset="0"/>
              </a:rPr>
              <a:t>- </a:t>
            </a:r>
            <a:r>
              <a:rPr lang="fr-FR" sz="1200" b="1" dirty="0">
                <a:latin typeface="Bookman Old Style" panose="02050604050505020204" pitchFamily="18" charset="0"/>
              </a:rPr>
              <a:t>Remarque : </a:t>
            </a:r>
            <a:r>
              <a:rPr lang="fr-FR" sz="12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Avec un transistor PNP, on a les mêmes relations, mais bien évidemment avec :  </a:t>
            </a:r>
            <a:r>
              <a:rPr lang="fr-FR" sz="1200" b="1" i="1" dirty="0">
                <a:solidFill>
                  <a:srgbClr val="FF0000"/>
                </a:solidFill>
                <a:latin typeface="Bookman Old Style" panose="02050604050505020204" pitchFamily="18" charset="0"/>
              </a:rPr>
              <a:t>V</a:t>
            </a:r>
            <a:r>
              <a:rPr lang="fr-FR" sz="1200" b="1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BE</a:t>
            </a:r>
            <a:r>
              <a:rPr lang="fr-FR" sz="12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 &lt; 0 (</a:t>
            </a:r>
            <a:r>
              <a:rPr lang="fr-FR" sz="1200" b="1" i="1" dirty="0">
                <a:solidFill>
                  <a:srgbClr val="FF0000"/>
                </a:solidFill>
                <a:latin typeface="Bookman Old Style" panose="02050604050505020204" pitchFamily="18" charset="0"/>
              </a:rPr>
              <a:t>V</a:t>
            </a:r>
            <a:r>
              <a:rPr lang="fr-FR" sz="1200" b="1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BE0</a:t>
            </a:r>
            <a:r>
              <a:rPr lang="fr-FR" sz="12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 = − 0.6 V en régime linéaire) et </a:t>
            </a:r>
            <a:r>
              <a:rPr lang="fr-FR" sz="1200" b="1" i="1" dirty="0">
                <a:solidFill>
                  <a:srgbClr val="FF0000"/>
                </a:solidFill>
                <a:latin typeface="Bookman Old Style" panose="02050604050505020204" pitchFamily="18" charset="0"/>
              </a:rPr>
              <a:t>I</a:t>
            </a:r>
            <a:r>
              <a:rPr lang="fr-FR" sz="1200" b="1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B</a:t>
            </a:r>
            <a:r>
              <a:rPr lang="fr-FR" sz="12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 &lt; 0.</a:t>
            </a:r>
          </a:p>
        </p:txBody>
      </p:sp>
    </p:spTree>
    <p:extLst>
      <p:ext uri="{BB962C8B-B14F-4D97-AF65-F5344CB8AC3E}">
        <p14:creationId xmlns:p14="http://schemas.microsoft.com/office/powerpoint/2010/main" val="15897212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6"/>
            <a:ext cx="52086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-Transistor-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1620" y="507690"/>
            <a:ext cx="69931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4. Polarisation </a:t>
            </a:r>
            <a:r>
              <a:rPr lang="fr-FR" sz="18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du transistor</a:t>
            </a:r>
            <a:endParaRPr lang="fr-FR" b="1" spc="-5" dirty="0">
              <a:solidFill>
                <a:srgbClr val="FF0000"/>
              </a:solidFill>
              <a:latin typeface="Bookman Old Style" panose="02050604050505020204" pitchFamily="18" charset="0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715000" y="365260"/>
            <a:ext cx="3328256" cy="10117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46">
            <a:extLst>
              <a:ext uri="{FF2B5EF4-FFF2-40B4-BE49-F238E27FC236}">
                <a16:creationId xmlns:a16="http://schemas.microsoft.com/office/drawing/2014/main" id="{7198176F-4D83-4A98-1EFA-F78693C2B68B}"/>
              </a:ext>
            </a:extLst>
          </p:cNvPr>
          <p:cNvSpPr txBox="1"/>
          <p:nvPr/>
        </p:nvSpPr>
        <p:spPr>
          <a:xfrm>
            <a:off x="8828933" y="486598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44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3206C0-B920-4CD8-8FF9-7BD8ABA1AB10}"/>
              </a:ext>
            </a:extLst>
          </p:cNvPr>
          <p:cNvSpPr txBox="1"/>
          <p:nvPr/>
        </p:nvSpPr>
        <p:spPr>
          <a:xfrm>
            <a:off x="658743" y="768943"/>
            <a:ext cx="86853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600" b="1" spc="-5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defRPr>
            </a:lvl1pPr>
          </a:lstStyle>
          <a:p>
            <a:r>
              <a:rPr lang="fr-FR" sz="1400" dirty="0"/>
              <a:t>4.4 Fonctionnement en amplification (régime linéaire)  </a:t>
            </a:r>
            <a:br>
              <a:rPr lang="fr-FR" dirty="0"/>
            </a:br>
            <a:endParaRPr lang="fr-F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E48808-6FD4-98B6-A08E-EA3F250E50A7}"/>
              </a:ext>
            </a:extLst>
          </p:cNvPr>
          <p:cNvSpPr txBox="1"/>
          <p:nvPr/>
        </p:nvSpPr>
        <p:spPr>
          <a:xfrm>
            <a:off x="636657" y="1121036"/>
            <a:ext cx="7848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600" dirty="0">
                <a:latin typeface="Bookman Old Style" panose="02050604050505020204" pitchFamily="18" charset="0"/>
              </a:rPr>
              <a:t>En mode amplification </a:t>
            </a:r>
            <a:r>
              <a:rPr lang="fr-FR" sz="1600" b="1" dirty="0">
                <a:latin typeface="Bookman Old Style" panose="02050604050505020204" pitchFamily="18" charset="0"/>
              </a:rPr>
              <a:t>le point de fonctionnement P</a:t>
            </a:r>
            <a:r>
              <a:rPr lang="fr-FR" sz="1600" dirty="0">
                <a:latin typeface="Bookman Old Style" panose="02050604050505020204" pitchFamily="18" charset="0"/>
              </a:rPr>
              <a:t> est en </a:t>
            </a:r>
            <a:r>
              <a:rPr lang="fr-FR" sz="1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A</a:t>
            </a:r>
          </a:p>
          <a:p>
            <a:endParaRPr lang="fr-FR" sz="1600" dirty="0">
              <a:latin typeface="Bookman Old Style" panose="0205060405050502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D8F042C-7E6C-AF52-3119-8DFEAE558097}"/>
                  </a:ext>
                </a:extLst>
              </p:cNvPr>
              <p:cNvSpPr txBox="1"/>
              <p:nvPr/>
            </p:nvSpPr>
            <p:spPr>
              <a:xfrm>
                <a:off x="603907" y="1689048"/>
                <a:ext cx="5448300" cy="25545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buFont typeface="Wingdings" panose="05000000000000000000" pitchFamily="2" charset="2"/>
                  <a:buChar char="§"/>
                </a:pPr>
                <a:r>
                  <a:rPr lang="fr-FR" sz="1600" dirty="0">
                    <a:latin typeface="Bookman Old Style" panose="02050604050505020204" pitchFamily="18" charset="0"/>
                  </a:rPr>
                  <a:t>Le point </a:t>
                </a:r>
                <a:r>
                  <a:rPr lang="fr-FR" sz="1600" b="1" dirty="0">
                    <a:latin typeface="Bookman Old Style" panose="02050604050505020204" pitchFamily="18" charset="0"/>
                  </a:rPr>
                  <a:t>P</a:t>
                </a:r>
                <a:r>
                  <a:rPr lang="fr-FR" sz="1600" dirty="0">
                    <a:latin typeface="Bookman Old Style" panose="02050604050505020204" pitchFamily="18" charset="0"/>
                  </a:rPr>
                  <a:t> est choisi dans la partie horizontale de la caractéristique</a:t>
                </a:r>
              </a:p>
              <a:p>
                <a:pPr algn="just"/>
                <a:r>
                  <a:rPr lang="fr-FR" sz="1600" dirty="0">
                    <a:latin typeface="Bookman Old Style" panose="02050604050505020204" pitchFamily="18" charset="0"/>
                  </a:rPr>
                  <a:t>                      </a:t>
                </a:r>
                <a:r>
                  <a:rPr lang="fr-FR" sz="1600" b="1" i="1" dirty="0">
                    <a:latin typeface="Bookman Old Style" panose="02050604050505020204" pitchFamily="18" charset="0"/>
                  </a:rPr>
                  <a:t>I</a:t>
                </a:r>
                <a:r>
                  <a:rPr lang="fr-FR" sz="1600" b="1" baseline="-25000" dirty="0">
                    <a:latin typeface="Bookman Old Style" panose="02050604050505020204" pitchFamily="18" charset="0"/>
                  </a:rPr>
                  <a:t>C</a:t>
                </a:r>
                <a:r>
                  <a:rPr lang="fr-FR" sz="1600" b="1" dirty="0">
                    <a:latin typeface="Bookman Old Style" panose="02050604050505020204" pitchFamily="18" charset="0"/>
                  </a:rPr>
                  <a:t> = </a:t>
                </a:r>
                <a:r>
                  <a:rPr lang="fr-FR" sz="1600" b="1" i="1" dirty="0">
                    <a:latin typeface="Bookman Old Style" panose="02050604050505020204" pitchFamily="18" charset="0"/>
                  </a:rPr>
                  <a:t>f</a:t>
                </a:r>
                <a:r>
                  <a:rPr lang="fr-FR" sz="1600" b="1" dirty="0">
                    <a:latin typeface="Bookman Old Style" panose="02050604050505020204" pitchFamily="18" charset="0"/>
                  </a:rPr>
                  <a:t>(</a:t>
                </a:r>
                <a:r>
                  <a:rPr lang="fr-FR" sz="1600" b="1" i="1" dirty="0">
                    <a:latin typeface="Bookman Old Style" panose="02050604050505020204" pitchFamily="18" charset="0"/>
                  </a:rPr>
                  <a:t>V</a:t>
                </a:r>
                <a:r>
                  <a:rPr lang="fr-FR" sz="1600" b="1" baseline="-25000" dirty="0">
                    <a:latin typeface="Bookman Old Style" panose="02050604050505020204" pitchFamily="18" charset="0"/>
                  </a:rPr>
                  <a:t>CE</a:t>
                </a:r>
                <a:r>
                  <a:rPr lang="fr-FR" sz="1600" b="1" dirty="0">
                    <a:latin typeface="Bookman Old Style" panose="02050604050505020204" pitchFamily="18" charset="0"/>
                  </a:rPr>
                  <a:t>)</a:t>
                </a:r>
              </a:p>
              <a:p>
                <a:pPr algn="just"/>
                <a:endParaRPr lang="fr-FR" sz="1600" dirty="0">
                  <a:latin typeface="Bookman Old Style" panose="02050604050505020204" pitchFamily="18" charset="0"/>
                </a:endParaRPr>
              </a:p>
              <a:p>
                <a:pPr marL="285750" indent="-285750" algn="just">
                  <a:buFont typeface="Wingdings" panose="05000000000000000000" pitchFamily="2" charset="2"/>
                  <a:buChar char="§"/>
                </a:pPr>
                <a:r>
                  <a:rPr lang="fr-FR" sz="1600" dirty="0">
                    <a:latin typeface="Bookman Old Style" panose="02050604050505020204" pitchFamily="18" charset="0"/>
                  </a:rPr>
                  <a:t>Le transistor est un </a:t>
                </a:r>
                <a:r>
                  <a:rPr lang="fr-FR" sz="1600" b="1" dirty="0">
                    <a:solidFill>
                      <a:srgbClr val="FF0000"/>
                    </a:solidFill>
                    <a:latin typeface="Bookman Old Style" panose="02050604050505020204" pitchFamily="18" charset="0"/>
                  </a:rPr>
                  <a:t>amplificateur de courant</a:t>
                </a:r>
              </a:p>
              <a:p>
                <a:pPr algn="just"/>
                <a:r>
                  <a:rPr lang="fr-FR" sz="1600" b="1" dirty="0">
                    <a:solidFill>
                      <a:srgbClr val="FF0000"/>
                    </a:solidFill>
                    <a:latin typeface="Bookman Old Style" panose="02050604050505020204" pitchFamily="18" charset="0"/>
                  </a:rPr>
                  <a:t>                   </a:t>
                </a:r>
                <a:r>
                  <a:rPr lang="fr-FR" sz="1600" dirty="0">
                    <a:latin typeface="Bookman Old Style" panose="02050604050505020204" pitchFamily="18" charset="0"/>
                  </a:rPr>
                  <a:t>(</a:t>
                </a:r>
                <a:r>
                  <a:rPr lang="fr-FR" sz="1600" b="1" dirty="0">
                    <a:latin typeface="Bookman Old Style" panose="02050604050505020204" pitchFamily="18" charset="0"/>
                  </a:rPr>
                  <a:t>I</a:t>
                </a:r>
                <a:r>
                  <a:rPr lang="fr-FR" sz="1600" b="1" baseline="-25000" dirty="0">
                    <a:latin typeface="Bookman Old Style" panose="02050604050505020204" pitchFamily="18" charset="0"/>
                  </a:rPr>
                  <a:t>C</a:t>
                </a:r>
                <a:r>
                  <a:rPr lang="fr-FR" sz="1600" b="1" dirty="0">
                    <a:latin typeface="Bookman Old Style" panose="0205060405050502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fr-FR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fr-FR" sz="1600" b="1" dirty="0">
                    <a:latin typeface="Bookman Old Style" panose="02050604050505020204" pitchFamily="18" charset="0"/>
                  </a:rPr>
                  <a:t>I</a:t>
                </a:r>
                <a:r>
                  <a:rPr lang="fr-FR" sz="1600" b="1" baseline="-25000" dirty="0">
                    <a:latin typeface="Bookman Old Style" panose="02050604050505020204" pitchFamily="18" charset="0"/>
                  </a:rPr>
                  <a:t>B</a:t>
                </a:r>
                <a:r>
                  <a:rPr lang="fr-FR" sz="1600" dirty="0">
                    <a:latin typeface="Bookman Old Style" panose="02050604050505020204" pitchFamily="18" charset="0"/>
                  </a:rPr>
                  <a:t>) commandé par le courant </a:t>
                </a:r>
                <a:r>
                  <a:rPr lang="fr-FR" sz="1600" b="1" dirty="0">
                    <a:latin typeface="Bookman Old Style" panose="02050604050505020204" pitchFamily="18" charset="0"/>
                  </a:rPr>
                  <a:t>I</a:t>
                </a:r>
                <a:r>
                  <a:rPr lang="fr-FR" sz="1600" b="1" baseline="-25000" dirty="0">
                    <a:latin typeface="Bookman Old Style" panose="02050604050505020204" pitchFamily="18" charset="0"/>
                  </a:rPr>
                  <a:t>B</a:t>
                </a:r>
                <a:r>
                  <a:rPr lang="fr-FR" sz="1600" dirty="0">
                    <a:latin typeface="Bookman Old Style" panose="02050604050505020204" pitchFamily="18" charset="0"/>
                  </a:rPr>
                  <a:t>. </a:t>
                </a:r>
              </a:p>
              <a:p>
                <a:pPr algn="just"/>
                <a:endParaRPr lang="fr-FR" sz="1600" dirty="0">
                  <a:latin typeface="Bookman Old Style" panose="02050604050505020204" pitchFamily="18" charset="0"/>
                </a:endParaRPr>
              </a:p>
              <a:p>
                <a:pPr marL="285750" indent="-285750" algn="just">
                  <a:buFont typeface="Wingdings" panose="05000000000000000000" pitchFamily="2" charset="2"/>
                  <a:buChar char="§"/>
                </a:pPr>
                <a:r>
                  <a:rPr lang="fr-FR" sz="1600" dirty="0">
                    <a:latin typeface="Bookman Old Style" panose="02050604050505020204" pitchFamily="18" charset="0"/>
                  </a:rPr>
                  <a:t>Ce régime est dit linéaire et la tension </a:t>
                </a:r>
              </a:p>
              <a:p>
                <a:pPr algn="just"/>
                <a:r>
                  <a:rPr lang="fr-FR" sz="1600" b="1" dirty="0">
                    <a:latin typeface="Bookman Old Style" panose="02050604050505020204" pitchFamily="18" charset="0"/>
                  </a:rPr>
                  <a:t>     V</a:t>
                </a:r>
                <a:r>
                  <a:rPr lang="fr-FR" sz="1600" b="1" baseline="-25000" dirty="0">
                    <a:latin typeface="Bookman Old Style" panose="02050604050505020204" pitchFamily="18" charset="0"/>
                  </a:rPr>
                  <a:t>BE</a:t>
                </a:r>
                <a:r>
                  <a:rPr lang="fr-FR" sz="1600" b="1" dirty="0">
                    <a:latin typeface="Bookman Old Style" panose="02050604050505020204" pitchFamily="18" charset="0"/>
                  </a:rPr>
                  <a:t> = 0.6 V </a:t>
                </a:r>
                <a:r>
                  <a:rPr lang="fr-FR" sz="1600" dirty="0">
                    <a:latin typeface="Bookman Old Style" panose="02050604050505020204" pitchFamily="18" charset="0"/>
                  </a:rPr>
                  <a:t>pour le transistor </a:t>
                </a:r>
                <a:r>
                  <a:rPr lang="fr-FR" sz="1600" b="1" dirty="0">
                    <a:latin typeface="Bookman Old Style" panose="02050604050505020204" pitchFamily="18" charset="0"/>
                  </a:rPr>
                  <a:t>NPN</a:t>
                </a:r>
                <a:r>
                  <a:rPr lang="fr-FR" sz="1600" dirty="0">
                    <a:latin typeface="Bookman Old Style" panose="02050604050505020204" pitchFamily="18" charset="0"/>
                  </a:rPr>
                  <a:t>.</a:t>
                </a:r>
              </a:p>
              <a:p>
                <a:pPr algn="just"/>
                <a:r>
                  <a:rPr lang="fr-FR" sz="1600" dirty="0">
                    <a:latin typeface="Bookman Old Style" panose="02050604050505020204" pitchFamily="18" charset="0"/>
                  </a:rPr>
                  <a:t> </a:t>
                </a: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D8F042C-7E6C-AF52-3119-8DFEAE558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907" y="1689048"/>
                <a:ext cx="5448300" cy="2554545"/>
              </a:xfrm>
              <a:prstGeom prst="rect">
                <a:avLst/>
              </a:prstGeom>
              <a:blipFill>
                <a:blip r:embed="rId3"/>
                <a:stretch>
                  <a:fillRect l="-447" t="-716" r="-67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2">
            <a:extLst>
              <a:ext uri="{FF2B5EF4-FFF2-40B4-BE49-F238E27FC236}">
                <a16:creationId xmlns:a16="http://schemas.microsoft.com/office/drawing/2014/main" id="{1BD2CF79-FDCC-0D6D-C331-B3F9EABBB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/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5890588" y="1566955"/>
            <a:ext cx="3196442" cy="3150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3226F51-185F-2BDB-E456-0DFBB79AEDE2}"/>
              </a:ext>
            </a:extLst>
          </p:cNvPr>
          <p:cNvSpPr/>
          <p:nvPr/>
        </p:nvSpPr>
        <p:spPr>
          <a:xfrm>
            <a:off x="7901730" y="2876550"/>
            <a:ext cx="213570" cy="2286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849812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>
            <a:extLst>
              <a:ext uri="{FF2B5EF4-FFF2-40B4-BE49-F238E27FC236}">
                <a16:creationId xmlns:a16="http://schemas.microsoft.com/office/drawing/2014/main" id="{1BD2CF79-FDCC-0D6D-C331-B3F9EABBB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5956553" y="1519075"/>
            <a:ext cx="3196442" cy="3150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6"/>
            <a:ext cx="52086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-Transistor-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1620" y="507690"/>
            <a:ext cx="69931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4. Polarisation </a:t>
            </a:r>
            <a:r>
              <a:rPr lang="fr-FR" sz="18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du transistor</a:t>
            </a:r>
            <a:endParaRPr lang="fr-FR" b="1" spc="-5" dirty="0">
              <a:solidFill>
                <a:srgbClr val="FF0000"/>
              </a:solidFill>
              <a:latin typeface="Bookman Old Style" panose="02050604050505020204" pitchFamily="18" charset="0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715000" y="365260"/>
            <a:ext cx="3328256" cy="10117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46">
            <a:extLst>
              <a:ext uri="{FF2B5EF4-FFF2-40B4-BE49-F238E27FC236}">
                <a16:creationId xmlns:a16="http://schemas.microsoft.com/office/drawing/2014/main" id="{7198176F-4D83-4A98-1EFA-F78693C2B68B}"/>
              </a:ext>
            </a:extLst>
          </p:cNvPr>
          <p:cNvSpPr txBox="1"/>
          <p:nvPr/>
        </p:nvSpPr>
        <p:spPr>
          <a:xfrm>
            <a:off x="8828933" y="486598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45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3206C0-B920-4CD8-8FF9-7BD8ABA1AB10}"/>
              </a:ext>
            </a:extLst>
          </p:cNvPr>
          <p:cNvSpPr txBox="1"/>
          <p:nvPr/>
        </p:nvSpPr>
        <p:spPr>
          <a:xfrm>
            <a:off x="658743" y="768943"/>
            <a:ext cx="86853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600" b="1" spc="-5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defRPr>
            </a:lvl1pPr>
          </a:lstStyle>
          <a:p>
            <a:r>
              <a:rPr lang="fr-FR" sz="1400" dirty="0"/>
              <a:t>4.5 Fonctionnement en commutation</a:t>
            </a:r>
            <a:br>
              <a:rPr lang="fr-FR" dirty="0"/>
            </a:br>
            <a:endParaRPr lang="fr-F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E48808-6FD4-98B6-A08E-EA3F250E50A7}"/>
              </a:ext>
            </a:extLst>
          </p:cNvPr>
          <p:cNvSpPr txBox="1"/>
          <p:nvPr/>
        </p:nvSpPr>
        <p:spPr>
          <a:xfrm>
            <a:off x="599138" y="1129521"/>
            <a:ext cx="69181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400" dirty="0">
                <a:latin typeface="Bookman Old Style" panose="02050604050505020204" pitchFamily="18" charset="0"/>
              </a:rPr>
              <a:t>En mode commutation, on distingue la </a:t>
            </a:r>
            <a:r>
              <a:rPr lang="fr-FR" sz="1400" b="1" dirty="0">
                <a:latin typeface="Bookman Old Style" panose="02050604050505020204" pitchFamily="18" charset="0"/>
              </a:rPr>
              <a:t>Saturation</a:t>
            </a:r>
            <a:r>
              <a:rPr lang="fr-FR" sz="1400" dirty="0">
                <a:latin typeface="Bookman Old Style" panose="02050604050505020204" pitchFamily="18" charset="0"/>
              </a:rPr>
              <a:t> et le </a:t>
            </a:r>
            <a:r>
              <a:rPr lang="fr-FR" sz="1400" b="1" dirty="0">
                <a:latin typeface="Bookman Old Style" panose="02050604050505020204" pitchFamily="18" charset="0"/>
              </a:rPr>
              <a:t>Blocage</a:t>
            </a:r>
            <a:r>
              <a:rPr lang="fr-FR" sz="1400" dirty="0">
                <a:latin typeface="Bookman Old Style" panose="02050604050505020204" pitchFamily="18" charset="0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D8F042C-7E6C-AF52-3119-8DFEAE558097}"/>
                  </a:ext>
                </a:extLst>
              </p:cNvPr>
              <p:cNvSpPr txBox="1"/>
              <p:nvPr/>
            </p:nvSpPr>
            <p:spPr>
              <a:xfrm>
                <a:off x="228617" y="1548721"/>
                <a:ext cx="6400784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fr-FR" sz="1400" b="1" u="sng" dirty="0">
                    <a:latin typeface="Bookman Old Style" panose="02050604050505020204" pitchFamily="18" charset="0"/>
                  </a:rPr>
                  <a:t>Saturation</a:t>
                </a:r>
                <a:r>
                  <a:rPr lang="fr-FR" sz="1400" b="1" dirty="0">
                    <a:latin typeface="Bookman Old Style" panose="02050604050505020204" pitchFamily="18" charset="0"/>
                  </a:rPr>
                  <a:t> : </a:t>
                </a:r>
                <a:r>
                  <a:rPr lang="fr-FR" sz="1400" dirty="0">
                    <a:solidFill>
                      <a:srgbClr val="7030A0"/>
                    </a:solidFill>
                    <a:latin typeface="Bookman Old Style" panose="02050604050505020204" pitchFamily="18" charset="0"/>
                  </a:rPr>
                  <a:t>le point </a:t>
                </a:r>
                <a:r>
                  <a:rPr lang="fr-FR" sz="1400" b="1" dirty="0">
                    <a:solidFill>
                      <a:srgbClr val="7030A0"/>
                    </a:solidFill>
                    <a:latin typeface="Bookman Old Style" panose="02050604050505020204" pitchFamily="18" charset="0"/>
                  </a:rPr>
                  <a:t>P</a:t>
                </a:r>
                <a:r>
                  <a:rPr lang="fr-FR" sz="1400" dirty="0">
                    <a:solidFill>
                      <a:srgbClr val="7030A0"/>
                    </a:solidFill>
                    <a:latin typeface="Bookman Old Style" panose="02050604050505020204" pitchFamily="18" charset="0"/>
                  </a:rPr>
                  <a:t> est en (</a:t>
                </a:r>
                <a:r>
                  <a:rPr lang="fr-FR" sz="1400" b="1" dirty="0">
                    <a:solidFill>
                      <a:srgbClr val="FF0000"/>
                    </a:solidFill>
                    <a:latin typeface="Bookman Old Style" panose="02050604050505020204" pitchFamily="18" charset="0"/>
                  </a:rPr>
                  <a:t>S</a:t>
                </a:r>
                <a:r>
                  <a:rPr lang="fr-FR" sz="1400" dirty="0">
                    <a:solidFill>
                      <a:srgbClr val="7030A0"/>
                    </a:solidFill>
                    <a:latin typeface="Bookman Old Style" panose="02050604050505020204" pitchFamily="18" charset="0"/>
                  </a:rPr>
                  <a:t>)</a:t>
                </a:r>
              </a:p>
              <a:p>
                <a:pPr algn="just"/>
                <a:endParaRPr lang="fr-FR" sz="1400" dirty="0">
                  <a:latin typeface="Bookman Old Style" panose="02050604050505020204" pitchFamily="18" charset="0"/>
                </a:endParaRPr>
              </a:p>
              <a:p>
                <a:pPr algn="just"/>
                <a:r>
                  <a:rPr lang="fr-FR" sz="1400" dirty="0">
                    <a:latin typeface="Bookman Old Style" panose="02050604050505020204" pitchFamily="18" charset="0"/>
                  </a:rPr>
                  <a:t>Le point </a:t>
                </a:r>
                <a:r>
                  <a:rPr lang="fr-FR" sz="1400" b="1" dirty="0">
                    <a:latin typeface="Bookman Old Style" panose="02050604050505020204" pitchFamily="18" charset="0"/>
                  </a:rPr>
                  <a:t>P</a:t>
                </a:r>
                <a:r>
                  <a:rPr lang="fr-FR" sz="1400" dirty="0">
                    <a:latin typeface="Bookman Old Style" panose="02050604050505020204" pitchFamily="18" charset="0"/>
                  </a:rPr>
                  <a:t> est choisi dans la partie verticale des caractéristiques </a:t>
                </a:r>
                <a:r>
                  <a:rPr lang="fr-FR" sz="1400" b="1" dirty="0">
                    <a:latin typeface="Bookman Old Style" panose="02050604050505020204" pitchFamily="18" charset="0"/>
                  </a:rPr>
                  <a:t>I</a:t>
                </a:r>
                <a:r>
                  <a:rPr lang="fr-FR" sz="1400" b="1" baseline="-25000" dirty="0">
                    <a:latin typeface="Bookman Old Style" panose="02050604050505020204" pitchFamily="18" charset="0"/>
                  </a:rPr>
                  <a:t>C</a:t>
                </a:r>
                <a:r>
                  <a:rPr lang="fr-FR" sz="1400" b="1" dirty="0">
                    <a:latin typeface="Bookman Old Style" panose="02050604050505020204" pitchFamily="18" charset="0"/>
                  </a:rPr>
                  <a:t> =</a:t>
                </a:r>
                <a:r>
                  <a:rPr lang="fr-FR" sz="1400" b="1" i="1" dirty="0">
                    <a:latin typeface="Bookman Old Style" panose="02050604050505020204" pitchFamily="18" charset="0"/>
                  </a:rPr>
                  <a:t>f</a:t>
                </a:r>
                <a:r>
                  <a:rPr lang="fr-FR" sz="1400" b="1" dirty="0">
                    <a:latin typeface="Bookman Old Style" panose="02050604050505020204" pitchFamily="18" charset="0"/>
                  </a:rPr>
                  <a:t>(V</a:t>
                </a:r>
                <a:r>
                  <a:rPr lang="fr-FR" sz="1400" b="1" baseline="-25000" dirty="0">
                    <a:latin typeface="Bookman Old Style" panose="02050604050505020204" pitchFamily="18" charset="0"/>
                  </a:rPr>
                  <a:t>CE</a:t>
                </a:r>
                <a:r>
                  <a:rPr lang="fr-FR" sz="1400" b="1" dirty="0">
                    <a:latin typeface="Bookman Old Style" panose="02050604050505020204" pitchFamily="18" charset="0"/>
                  </a:rPr>
                  <a:t>) </a:t>
                </a:r>
                <a:r>
                  <a:rPr lang="fr-FR" sz="1400" dirty="0">
                    <a:latin typeface="Bookman Old Style" panose="02050604050505020204" pitchFamily="18" charset="0"/>
                  </a:rPr>
                  <a:t>: tout accroissement de </a:t>
                </a:r>
                <a:r>
                  <a:rPr lang="fr-FR" sz="1400" b="1" dirty="0">
                    <a:latin typeface="Bookman Old Style" panose="02050604050505020204" pitchFamily="18" charset="0"/>
                  </a:rPr>
                  <a:t>I</a:t>
                </a:r>
                <a:r>
                  <a:rPr lang="fr-FR" sz="1400" b="1" baseline="-25000" dirty="0">
                    <a:latin typeface="Bookman Old Style" panose="02050604050505020204" pitchFamily="18" charset="0"/>
                  </a:rPr>
                  <a:t>B</a:t>
                </a:r>
                <a:r>
                  <a:rPr lang="fr-FR" sz="1400" dirty="0">
                    <a:latin typeface="Bookman Old Style" panose="02050604050505020204" pitchFamily="18" charset="0"/>
                  </a:rPr>
                  <a:t> est sans effet sur </a:t>
                </a:r>
                <a:r>
                  <a:rPr lang="fr-FR" sz="1400" b="1" dirty="0">
                    <a:latin typeface="Bookman Old Style" panose="02050604050505020204" pitchFamily="18" charset="0"/>
                  </a:rPr>
                  <a:t>I</a:t>
                </a:r>
                <a:r>
                  <a:rPr lang="fr-FR" sz="1400" b="1" baseline="-25000" dirty="0">
                    <a:latin typeface="Bookman Old Style" panose="02050604050505020204" pitchFamily="18" charset="0"/>
                  </a:rPr>
                  <a:t>C</a:t>
                </a:r>
                <a:r>
                  <a:rPr lang="fr-FR" sz="1400" dirty="0">
                    <a:latin typeface="Bookman Old Style" panose="02050604050505020204" pitchFamily="18" charset="0"/>
                  </a:rPr>
                  <a:t>. Le transistor saturé est </a:t>
                </a:r>
                <a:r>
                  <a:rPr lang="fr-FR" sz="1400" b="1" dirty="0">
                    <a:solidFill>
                      <a:srgbClr val="7030A0"/>
                    </a:solidFill>
                    <a:latin typeface="Bookman Old Style" panose="02050604050505020204" pitchFamily="18" charset="0"/>
                  </a:rPr>
                  <a:t>un interrupteur fermé</a:t>
                </a:r>
                <a:r>
                  <a:rPr lang="fr-FR" sz="1400" dirty="0">
                    <a:solidFill>
                      <a:srgbClr val="7030A0"/>
                    </a:solidFill>
                    <a:latin typeface="Bookman Old Style" panose="02050604050505020204" pitchFamily="18" charset="0"/>
                  </a:rPr>
                  <a:t> </a:t>
                </a:r>
                <a:r>
                  <a:rPr lang="fr-FR" sz="1400" dirty="0">
                    <a:latin typeface="Bookman Old Style" panose="02050604050505020204" pitchFamily="18" charset="0"/>
                  </a:rPr>
                  <a:t>entre collecteur et émetteur.</a:t>
                </a:r>
              </a:p>
              <a:p>
                <a:pPr algn="just"/>
                <a:r>
                  <a:rPr lang="fr-FR" sz="1400" dirty="0">
                    <a:latin typeface="Bookman Old Style" panose="02050604050505020204" pitchFamily="18" charset="0"/>
                  </a:rPr>
                  <a:t>On a </a:t>
                </a:r>
                <a:r>
                  <a:rPr lang="fr-FR" sz="1400" b="1" dirty="0">
                    <a:latin typeface="Bookman Old Style" panose="02050604050505020204" pitchFamily="18" charset="0"/>
                  </a:rPr>
                  <a:t>V</a:t>
                </a:r>
                <a:r>
                  <a:rPr lang="fr-FR" sz="1400" b="1" baseline="-25000" dirty="0">
                    <a:latin typeface="Bookman Old Style" panose="02050604050505020204" pitchFamily="18" charset="0"/>
                  </a:rPr>
                  <a:t>CE</a:t>
                </a:r>
                <a:r>
                  <a:rPr lang="fr-FR" sz="1400" b="1" dirty="0">
                    <a:latin typeface="Bookman Old Style" panose="02050604050505020204" pitchFamily="18" charset="0"/>
                  </a:rPr>
                  <a:t> = </a:t>
                </a:r>
                <a:r>
                  <a:rPr lang="fr-FR" sz="1400" b="1" dirty="0" err="1">
                    <a:latin typeface="Bookman Old Style" panose="02050604050505020204" pitchFamily="18" charset="0"/>
                  </a:rPr>
                  <a:t>V</a:t>
                </a:r>
                <a:r>
                  <a:rPr lang="fr-FR" sz="1400" b="1" baseline="-25000" dirty="0" err="1">
                    <a:latin typeface="Bookman Old Style" panose="02050604050505020204" pitchFamily="18" charset="0"/>
                  </a:rPr>
                  <a:t>CEsat</a:t>
                </a:r>
                <a:r>
                  <a:rPr lang="fr-FR" sz="1400" b="1" dirty="0">
                    <a:latin typeface="Bookman Old Style" panose="02050604050505020204" pitchFamily="18" charset="0"/>
                  </a:rPr>
                  <a:t> ≈ 0.</a:t>
                </a:r>
                <a:r>
                  <a:rPr lang="fr-FR" sz="1400" dirty="0">
                    <a:latin typeface="Bookman Old Style" panose="02050604050505020204" pitchFamily="18" charset="0"/>
                  </a:rPr>
                  <a:t> </a:t>
                </a:r>
              </a:p>
              <a:p>
                <a:pPr algn="just"/>
                <a:r>
                  <a:rPr lang="fr-FR" sz="1400" dirty="0">
                    <a:latin typeface="Bookman Old Style" panose="02050604050505020204" pitchFamily="18" charset="0"/>
                  </a:rPr>
                  <a:t>Condition de saturation </a:t>
                </a:r>
                <a:r>
                  <a:rPr lang="fr-FR" sz="1400" b="1" dirty="0">
                    <a:latin typeface="Bookman Old Style" panose="02050604050505020204" pitchFamily="18" charset="0"/>
                  </a:rPr>
                  <a:t>I</a:t>
                </a:r>
                <a:r>
                  <a:rPr lang="fr-FR" sz="1400" b="1" baseline="-25000" dirty="0">
                    <a:latin typeface="Bookman Old Style" panose="02050604050505020204" pitchFamily="18" charset="0"/>
                  </a:rPr>
                  <a:t>C</a:t>
                </a:r>
                <a:r>
                  <a:rPr lang="fr-FR" sz="1400" b="1" dirty="0">
                    <a:latin typeface="Bookman Old Style" panose="02050604050505020204" pitchFamily="18" charset="0"/>
                  </a:rPr>
                  <a:t> (=</a:t>
                </a:r>
                <a:r>
                  <a:rPr lang="fr-FR" sz="1400" b="1" dirty="0" err="1">
                    <a:latin typeface="Bookman Old Style" panose="02050604050505020204" pitchFamily="18" charset="0"/>
                  </a:rPr>
                  <a:t>I</a:t>
                </a:r>
                <a:r>
                  <a:rPr lang="fr-FR" sz="1400" b="1" baseline="-25000" dirty="0" err="1">
                    <a:latin typeface="Bookman Old Style" panose="02050604050505020204" pitchFamily="18" charset="0"/>
                  </a:rPr>
                  <a:t>Csat</a:t>
                </a:r>
                <a:r>
                  <a:rPr lang="fr-FR" sz="1400" b="1" dirty="0">
                    <a:latin typeface="Bookman Old Style" panose="02050604050505020204" pitchFamily="18" charset="0"/>
                  </a:rPr>
                  <a:t>) &lt; </a:t>
                </a:r>
                <a14:m>
                  <m:oMath xmlns:m="http://schemas.openxmlformats.org/officeDocument/2006/math">
                    <m:r>
                      <a:rPr lang="fr-F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fr-FR" sz="1400" b="1" dirty="0">
                    <a:latin typeface="Bookman Old Style" panose="02050604050505020204" pitchFamily="18" charset="0"/>
                  </a:rPr>
                  <a:t>I</a:t>
                </a:r>
                <a:r>
                  <a:rPr lang="fr-FR" sz="1400" b="1" baseline="-25000" dirty="0">
                    <a:latin typeface="Bookman Old Style" panose="02050604050505020204" pitchFamily="18" charset="0"/>
                  </a:rPr>
                  <a:t>B</a:t>
                </a:r>
                <a:r>
                  <a:rPr lang="fr-FR" sz="1400" dirty="0">
                    <a:latin typeface="Bookman Old Style" panose="02050604050505020204" pitchFamily="18" charset="0"/>
                  </a:rPr>
                  <a:t>.</a:t>
                </a:r>
              </a:p>
              <a:p>
                <a:pPr algn="just"/>
                <a:r>
                  <a:rPr lang="fr-FR" sz="1400" dirty="0">
                    <a:latin typeface="Bookman Old Style" panose="02050604050505020204" pitchFamily="18" charset="0"/>
                  </a:rPr>
                  <a:t>On a aussi (pour un transistor NPN) </a:t>
                </a:r>
                <a:r>
                  <a:rPr lang="fr-FR" sz="1400" b="1" dirty="0">
                    <a:latin typeface="Bookman Old Style" panose="02050604050505020204" pitchFamily="18" charset="0"/>
                  </a:rPr>
                  <a:t>V</a:t>
                </a:r>
                <a:r>
                  <a:rPr lang="fr-FR" sz="1400" b="1" baseline="-25000" dirty="0">
                    <a:latin typeface="Bookman Old Style" panose="02050604050505020204" pitchFamily="18" charset="0"/>
                  </a:rPr>
                  <a:t>BE</a:t>
                </a:r>
                <a:r>
                  <a:rPr lang="fr-FR" sz="1400" b="1" dirty="0">
                    <a:latin typeface="Bookman Old Style" panose="02050604050505020204" pitchFamily="18" charset="0"/>
                  </a:rPr>
                  <a:t> &gt; 0.6 V</a:t>
                </a:r>
                <a:r>
                  <a:rPr lang="fr-FR" sz="1400" dirty="0">
                    <a:latin typeface="Bookman Old Style" panose="02050604050505020204" pitchFamily="18" charset="0"/>
                  </a:rPr>
                  <a:t>.</a:t>
                </a:r>
              </a:p>
              <a:p>
                <a:pPr algn="just"/>
                <a:r>
                  <a:rPr lang="fr-FR" sz="1400" dirty="0">
                    <a:latin typeface="Bookman Old Style" panose="02050604050505020204" pitchFamily="18" charset="0"/>
                  </a:rPr>
                  <a:t>  </a:t>
                </a: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D8F042C-7E6C-AF52-3119-8DFEAE558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17" y="1548721"/>
                <a:ext cx="6400784" cy="2031325"/>
              </a:xfrm>
              <a:prstGeom prst="rect">
                <a:avLst/>
              </a:prstGeom>
              <a:blipFill>
                <a:blip r:embed="rId5"/>
                <a:stretch>
                  <a:fillRect l="-286" t="-601" r="-28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3226F51-185F-2BDB-E456-0DFBB79AEDE2}"/>
              </a:ext>
            </a:extLst>
          </p:cNvPr>
          <p:cNvSpPr/>
          <p:nvPr/>
        </p:nvSpPr>
        <p:spPr>
          <a:xfrm>
            <a:off x="8473638" y="3600525"/>
            <a:ext cx="201543" cy="152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B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588F3C7-A804-5037-C4AD-A648CFE2A0BA}"/>
              </a:ext>
            </a:extLst>
          </p:cNvPr>
          <p:cNvSpPr/>
          <p:nvPr/>
        </p:nvSpPr>
        <p:spPr>
          <a:xfrm>
            <a:off x="7442384" y="2076525"/>
            <a:ext cx="201543" cy="152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C5F1FB-53ED-6626-AE27-089098F93CE7}"/>
              </a:ext>
            </a:extLst>
          </p:cNvPr>
          <p:cNvSpPr txBox="1"/>
          <p:nvPr/>
        </p:nvSpPr>
        <p:spPr>
          <a:xfrm>
            <a:off x="228616" y="3399299"/>
            <a:ext cx="704051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400" b="1" u="sng" dirty="0">
                <a:latin typeface="Bookman Old Style" panose="02050604050505020204" pitchFamily="18" charset="0"/>
              </a:rPr>
              <a:t>Blocage : </a:t>
            </a:r>
            <a:r>
              <a:rPr lang="fr-FR" sz="1400" dirty="0">
                <a:solidFill>
                  <a:srgbClr val="7030A0"/>
                </a:solidFill>
                <a:latin typeface="Bookman Old Style" panose="02050604050505020204" pitchFamily="18" charset="0"/>
              </a:rPr>
              <a:t>le point </a:t>
            </a:r>
            <a:r>
              <a:rPr lang="fr-FR" sz="1400" b="1" dirty="0">
                <a:solidFill>
                  <a:srgbClr val="7030A0"/>
                </a:solidFill>
                <a:latin typeface="Bookman Old Style" panose="02050604050505020204" pitchFamily="18" charset="0"/>
              </a:rPr>
              <a:t>P</a:t>
            </a:r>
            <a:r>
              <a:rPr lang="fr-FR" sz="1400" dirty="0">
                <a:solidFill>
                  <a:srgbClr val="7030A0"/>
                </a:solidFill>
                <a:latin typeface="Bookman Old Style" panose="02050604050505020204" pitchFamily="18" charset="0"/>
              </a:rPr>
              <a:t> est en (</a:t>
            </a:r>
            <a:r>
              <a:rPr lang="fr-FR" sz="1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B</a:t>
            </a:r>
            <a:r>
              <a:rPr lang="fr-FR" sz="1400" dirty="0">
                <a:solidFill>
                  <a:srgbClr val="7030A0"/>
                </a:solidFill>
                <a:latin typeface="Bookman Old Style" panose="02050604050505020204" pitchFamily="18" charset="0"/>
              </a:rPr>
              <a:t>)</a:t>
            </a:r>
          </a:p>
          <a:p>
            <a:pPr algn="just"/>
            <a:r>
              <a:rPr lang="fr-FR" sz="1400" dirty="0">
                <a:latin typeface="Bookman Old Style" panose="02050604050505020204" pitchFamily="18" charset="0"/>
              </a:rPr>
              <a:t>Le point P est choisi sur l'axe horizontal V</a:t>
            </a:r>
            <a:r>
              <a:rPr lang="fr-FR" sz="1400" baseline="-25000" dirty="0">
                <a:latin typeface="Bookman Old Style" panose="02050604050505020204" pitchFamily="18" charset="0"/>
              </a:rPr>
              <a:t>CE</a:t>
            </a:r>
            <a:endParaRPr lang="fr-FR" sz="1400" dirty="0">
              <a:latin typeface="Bookman Old Style" panose="02050604050505020204" pitchFamily="18" charset="0"/>
            </a:endParaRPr>
          </a:p>
          <a:p>
            <a:pPr algn="just"/>
            <a:r>
              <a:rPr lang="fr-FR" sz="1400" dirty="0">
                <a:latin typeface="Bookman Old Style" panose="02050604050505020204" pitchFamily="18" charset="0"/>
              </a:rPr>
              <a:t>Le transistor bloqué est un </a:t>
            </a:r>
            <a:r>
              <a:rPr lang="fr-FR" sz="1400" b="1" dirty="0">
                <a:solidFill>
                  <a:srgbClr val="7030A0"/>
                </a:solidFill>
                <a:latin typeface="Bookman Old Style" panose="02050604050505020204" pitchFamily="18" charset="0"/>
              </a:rPr>
              <a:t>interrupteur ouvert </a:t>
            </a:r>
            <a:r>
              <a:rPr lang="fr-FR" sz="1400" dirty="0">
                <a:latin typeface="Bookman Old Style" panose="02050604050505020204" pitchFamily="18" charset="0"/>
              </a:rPr>
              <a:t>entre collecteur et émetteur. </a:t>
            </a:r>
          </a:p>
          <a:p>
            <a:pPr algn="just"/>
            <a:r>
              <a:rPr lang="fr-FR" sz="1400" dirty="0">
                <a:latin typeface="Bookman Old Style" panose="02050604050505020204" pitchFamily="18" charset="0"/>
              </a:rPr>
              <a:t>On a </a:t>
            </a:r>
            <a:r>
              <a:rPr lang="fr-FR" sz="1400" b="1" dirty="0">
                <a:latin typeface="Bookman Old Style" panose="02050604050505020204" pitchFamily="18" charset="0"/>
              </a:rPr>
              <a:t>I</a:t>
            </a:r>
            <a:r>
              <a:rPr lang="fr-FR" sz="1400" b="1" baseline="-25000" dirty="0">
                <a:latin typeface="Bookman Old Style" panose="02050604050505020204" pitchFamily="18" charset="0"/>
              </a:rPr>
              <a:t>B</a:t>
            </a:r>
            <a:r>
              <a:rPr lang="fr-FR" sz="1400" b="1" dirty="0">
                <a:latin typeface="Bookman Old Style" panose="02050604050505020204" pitchFamily="18" charset="0"/>
              </a:rPr>
              <a:t> ≈ 0 </a:t>
            </a:r>
            <a:r>
              <a:rPr lang="fr-FR" sz="1400" dirty="0">
                <a:latin typeface="Bookman Old Style" panose="02050604050505020204" pitchFamily="18" charset="0"/>
              </a:rPr>
              <a:t>et </a:t>
            </a:r>
            <a:r>
              <a:rPr lang="fr-FR" sz="1400" b="1" dirty="0">
                <a:latin typeface="Bookman Old Style" panose="02050604050505020204" pitchFamily="18" charset="0"/>
              </a:rPr>
              <a:t>I</a:t>
            </a:r>
            <a:r>
              <a:rPr lang="fr-FR" sz="1400" b="1" baseline="-25000" dirty="0">
                <a:latin typeface="Bookman Old Style" panose="02050604050505020204" pitchFamily="18" charset="0"/>
              </a:rPr>
              <a:t>C</a:t>
            </a:r>
            <a:r>
              <a:rPr lang="fr-FR" sz="1400" b="1" dirty="0">
                <a:latin typeface="Bookman Old Style" panose="02050604050505020204" pitchFamily="18" charset="0"/>
              </a:rPr>
              <a:t> ≈ 0</a:t>
            </a:r>
          </a:p>
          <a:p>
            <a:pPr algn="just"/>
            <a:r>
              <a:rPr lang="fr-FR" sz="1400" dirty="0">
                <a:latin typeface="Bookman Old Style" panose="02050604050505020204" pitchFamily="18" charset="0"/>
              </a:rPr>
              <a:t>Pour un transistor NPN, </a:t>
            </a:r>
            <a:r>
              <a:rPr lang="fr-FR" sz="1400" b="1" dirty="0">
                <a:latin typeface="Bookman Old Style" panose="02050604050505020204" pitchFamily="18" charset="0"/>
              </a:rPr>
              <a:t>I</a:t>
            </a:r>
            <a:r>
              <a:rPr lang="fr-FR" sz="1400" b="1" baseline="-25000" dirty="0">
                <a:latin typeface="Bookman Old Style" panose="02050604050505020204" pitchFamily="18" charset="0"/>
              </a:rPr>
              <a:t>B</a:t>
            </a:r>
            <a:r>
              <a:rPr lang="fr-FR" sz="1400" b="1" dirty="0">
                <a:latin typeface="Bookman Old Style" panose="02050604050505020204" pitchFamily="18" charset="0"/>
              </a:rPr>
              <a:t> ≈ 0 (ou I</a:t>
            </a:r>
            <a:r>
              <a:rPr lang="fr-FR" sz="1400" b="1" baseline="-25000" dirty="0">
                <a:latin typeface="Bookman Old Style" panose="02050604050505020204" pitchFamily="18" charset="0"/>
              </a:rPr>
              <a:t>B</a:t>
            </a:r>
            <a:r>
              <a:rPr lang="fr-FR" sz="1400" b="1" dirty="0">
                <a:latin typeface="Bookman Old Style" panose="02050604050505020204" pitchFamily="18" charset="0"/>
              </a:rPr>
              <a:t> &lt; 0)</a:t>
            </a:r>
            <a:r>
              <a:rPr lang="fr-FR" sz="1400" dirty="0">
                <a:latin typeface="Bookman Old Style" panose="02050604050505020204" pitchFamily="18" charset="0"/>
              </a:rPr>
              <a:t>. </a:t>
            </a:r>
          </a:p>
          <a:p>
            <a:pPr algn="just"/>
            <a:r>
              <a:rPr lang="fr-FR" sz="1400" dirty="0">
                <a:latin typeface="Bookman Old Style" panose="02050604050505020204" pitchFamily="18" charset="0"/>
              </a:rPr>
              <a:t>On aussi </a:t>
            </a:r>
            <a:r>
              <a:rPr lang="fr-FR" sz="1400" b="1" dirty="0">
                <a:latin typeface="Bookman Old Style" panose="02050604050505020204" pitchFamily="18" charset="0"/>
              </a:rPr>
              <a:t>V</a:t>
            </a:r>
            <a:r>
              <a:rPr lang="fr-FR" sz="1400" b="1" baseline="-25000" dirty="0">
                <a:latin typeface="Bookman Old Style" panose="02050604050505020204" pitchFamily="18" charset="0"/>
              </a:rPr>
              <a:t>BE</a:t>
            </a:r>
            <a:r>
              <a:rPr lang="fr-FR" sz="1400" b="1" dirty="0">
                <a:latin typeface="Bookman Old Style" panose="02050604050505020204" pitchFamily="18" charset="0"/>
              </a:rPr>
              <a:t> &lt; 0</a:t>
            </a:r>
            <a:r>
              <a:rPr lang="fr-FR" sz="1400" dirty="0">
                <a:latin typeface="Bookman Old Style" panose="02050604050505020204" pitchFamily="18" charset="0"/>
              </a:rPr>
              <a:t> ; (</a:t>
            </a:r>
            <a:r>
              <a:rPr lang="fr-FR" sz="1400" b="1" dirty="0">
                <a:latin typeface="Bookman Old Style" panose="02050604050505020204" pitchFamily="18" charset="0"/>
              </a:rPr>
              <a:t>V</a:t>
            </a:r>
            <a:r>
              <a:rPr lang="fr-FR" sz="1400" b="1" baseline="-25000" dirty="0">
                <a:latin typeface="Bookman Old Style" panose="02050604050505020204" pitchFamily="18" charset="0"/>
              </a:rPr>
              <a:t>BE</a:t>
            </a:r>
            <a:r>
              <a:rPr lang="fr-FR" sz="1400" b="1" dirty="0">
                <a:latin typeface="Bookman Old Style" panose="02050604050505020204" pitchFamily="18" charset="0"/>
              </a:rPr>
              <a:t> = 0.5 V </a:t>
            </a:r>
            <a:r>
              <a:rPr lang="fr-FR" sz="1400" dirty="0">
                <a:latin typeface="Bookman Old Style" panose="02050604050505020204" pitchFamily="18" charset="0"/>
              </a:rPr>
              <a:t>suffit pour bloquer le transistor). </a:t>
            </a:r>
          </a:p>
          <a:p>
            <a:pPr algn="just"/>
            <a:r>
              <a:rPr lang="fr-FR" sz="1400" dirty="0">
                <a:latin typeface="Bookman Old Style" panose="02050604050505020204" pitchFamily="18" charset="0"/>
              </a:rPr>
              <a:t>Pour un transistor PNP, le courant </a:t>
            </a:r>
            <a:r>
              <a:rPr lang="fr-FR" sz="1400" b="1" dirty="0">
                <a:latin typeface="Bookman Old Style" panose="02050604050505020204" pitchFamily="18" charset="0"/>
              </a:rPr>
              <a:t>I</a:t>
            </a:r>
            <a:r>
              <a:rPr lang="fr-FR" sz="1400" b="1" baseline="-25000" dirty="0">
                <a:latin typeface="Bookman Old Style" panose="02050604050505020204" pitchFamily="18" charset="0"/>
              </a:rPr>
              <a:t>B</a:t>
            </a:r>
            <a:r>
              <a:rPr lang="fr-FR" sz="1400" b="1" dirty="0">
                <a:latin typeface="Bookman Old Style" panose="02050604050505020204" pitchFamily="18" charset="0"/>
              </a:rPr>
              <a:t> &gt; 0</a:t>
            </a:r>
            <a:r>
              <a:rPr lang="fr-FR" sz="1400" dirty="0">
                <a:latin typeface="Bookman Old Style" panose="0205060405050502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899976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6"/>
            <a:ext cx="52086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-Transistor-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1620" y="507690"/>
            <a:ext cx="69931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4. Polarisation </a:t>
            </a:r>
            <a:r>
              <a:rPr lang="fr-FR" sz="18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du transistor</a:t>
            </a:r>
            <a:endParaRPr lang="fr-FR" b="1" spc="-5" dirty="0">
              <a:solidFill>
                <a:srgbClr val="FF0000"/>
              </a:solidFill>
              <a:latin typeface="Bookman Old Style" panose="02050604050505020204" pitchFamily="18" charset="0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715000" y="365260"/>
            <a:ext cx="3328256" cy="10117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46">
            <a:extLst>
              <a:ext uri="{FF2B5EF4-FFF2-40B4-BE49-F238E27FC236}">
                <a16:creationId xmlns:a16="http://schemas.microsoft.com/office/drawing/2014/main" id="{7198176F-4D83-4A98-1EFA-F78693C2B68B}"/>
              </a:ext>
            </a:extLst>
          </p:cNvPr>
          <p:cNvSpPr txBox="1"/>
          <p:nvPr/>
        </p:nvSpPr>
        <p:spPr>
          <a:xfrm>
            <a:off x="8828933" y="486598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46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C72328-F671-0D88-6318-C7E7FDBE9A01}"/>
              </a:ext>
            </a:extLst>
          </p:cNvPr>
          <p:cNvSpPr txBox="1"/>
          <p:nvPr/>
        </p:nvSpPr>
        <p:spPr>
          <a:xfrm>
            <a:off x="658743" y="768943"/>
            <a:ext cx="86853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600" b="1" spc="-5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defRPr>
            </a:lvl1pPr>
          </a:lstStyle>
          <a:p>
            <a:r>
              <a:rPr lang="fr-FR" sz="1400" dirty="0"/>
              <a:t>4.5 Types de polarisation </a:t>
            </a:r>
            <a:br>
              <a:rPr lang="fr-FR" dirty="0"/>
            </a:br>
            <a:endParaRPr lang="fr-FR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3EEB75-DA97-A328-000D-9D9A8F923B9F}"/>
              </a:ext>
            </a:extLst>
          </p:cNvPr>
          <p:cNvSpPr txBox="1"/>
          <p:nvPr/>
        </p:nvSpPr>
        <p:spPr>
          <a:xfrm>
            <a:off x="781110" y="1063519"/>
            <a:ext cx="48576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Wingdings" panose="05000000000000000000" pitchFamily="2" charset="2"/>
              <a:buChar char="q"/>
            </a:pPr>
            <a:r>
              <a:rPr lang="fr-FR" sz="1400" b="1" spc="-5" dirty="0">
                <a:solidFill>
                  <a:srgbClr val="0000FF"/>
                </a:solidFill>
                <a:latin typeface="Bookman Old Style" panose="02050604050505020204" pitchFamily="18" charset="0"/>
                <a:cs typeface="Arial"/>
              </a:rPr>
              <a:t>Polarisation Instable (par résistance de base)</a:t>
            </a:r>
            <a:endParaRPr lang="fr-FR" sz="1400" dirty="0">
              <a:solidFill>
                <a:srgbClr val="0000FF"/>
              </a:solidFill>
              <a:latin typeface="Bookman Old Style" panose="02050604050505020204" pitchFamily="18" charset="0"/>
              <a:cs typeface="Arial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258388F-7069-62F2-DD60-7524EFE309DB}"/>
              </a:ext>
            </a:extLst>
          </p:cNvPr>
          <p:cNvGrpSpPr/>
          <p:nvPr/>
        </p:nvGrpSpPr>
        <p:grpSpPr>
          <a:xfrm>
            <a:off x="2723885" y="1387424"/>
            <a:ext cx="4724245" cy="3322101"/>
            <a:chOff x="3778090" y="1712562"/>
            <a:chExt cx="7629688" cy="4567715"/>
          </a:xfrm>
        </p:grpSpPr>
        <p:sp>
          <p:nvSpPr>
            <p:cNvPr id="3" name="object 6"/>
            <p:cNvSpPr txBox="1"/>
            <p:nvPr/>
          </p:nvSpPr>
          <p:spPr>
            <a:xfrm>
              <a:off x="3778090" y="3199941"/>
              <a:ext cx="1293782" cy="739676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14"/>
                </a:spcBef>
              </a:pPr>
              <a:r>
                <a:rPr sz="3400" spc="125" dirty="0">
                  <a:latin typeface="Times New Roman"/>
                  <a:cs typeface="Times New Roman"/>
                </a:rPr>
                <a:t>R</a:t>
              </a:r>
              <a:r>
                <a:rPr sz="3375" spc="187" baseline="-17283" dirty="0">
                  <a:latin typeface="Times New Roman"/>
                  <a:cs typeface="Times New Roman"/>
                </a:rPr>
                <a:t>B</a:t>
              </a:r>
              <a:endParaRPr sz="3375" baseline="-17283" dirty="0">
                <a:latin typeface="Times New Roman"/>
                <a:cs typeface="Times New Roman"/>
              </a:endParaRPr>
            </a:p>
          </p:txBody>
        </p:sp>
        <p:grpSp>
          <p:nvGrpSpPr>
            <p:cNvPr id="4" name="object 7"/>
            <p:cNvGrpSpPr/>
            <p:nvPr/>
          </p:nvGrpSpPr>
          <p:grpSpPr>
            <a:xfrm>
              <a:off x="5144896" y="2329307"/>
              <a:ext cx="4636770" cy="3950970"/>
              <a:chOff x="5144896" y="2329307"/>
              <a:chExt cx="4636770" cy="3950970"/>
            </a:xfrm>
          </p:grpSpPr>
          <p:sp>
            <p:nvSpPr>
              <p:cNvPr id="5" name="object 8"/>
              <p:cNvSpPr/>
              <p:nvPr/>
            </p:nvSpPr>
            <p:spPr>
              <a:xfrm>
                <a:off x="8979788" y="2353437"/>
                <a:ext cx="582930" cy="2025650"/>
              </a:xfrm>
              <a:custGeom>
                <a:avLst/>
                <a:gdLst/>
                <a:ahLst/>
                <a:cxnLst/>
                <a:rect l="l" t="t" r="r" b="b"/>
                <a:pathLst>
                  <a:path w="582929" h="2025650">
                    <a:moveTo>
                      <a:pt x="292607" y="0"/>
                    </a:moveTo>
                    <a:lnTo>
                      <a:pt x="292607" y="404621"/>
                    </a:lnTo>
                    <a:lnTo>
                      <a:pt x="0" y="404621"/>
                    </a:lnTo>
                    <a:lnTo>
                      <a:pt x="0" y="1213865"/>
                    </a:lnTo>
                    <a:lnTo>
                      <a:pt x="292607" y="1213865"/>
                    </a:lnTo>
                    <a:lnTo>
                      <a:pt x="292607" y="2025396"/>
                    </a:lnTo>
                    <a:lnTo>
                      <a:pt x="292607" y="1213865"/>
                    </a:lnTo>
                    <a:lnTo>
                      <a:pt x="582929" y="1213865"/>
                    </a:lnTo>
                    <a:lnTo>
                      <a:pt x="582929" y="404621"/>
                    </a:lnTo>
                    <a:lnTo>
                      <a:pt x="292607" y="404621"/>
                    </a:lnTo>
                  </a:path>
                </a:pathLst>
              </a:custGeom>
              <a:ln w="4772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" name="object 9"/>
              <p:cNvSpPr/>
              <p:nvPr/>
            </p:nvSpPr>
            <p:spPr>
              <a:xfrm>
                <a:off x="5461634" y="2353437"/>
                <a:ext cx="380619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806190">
                    <a:moveTo>
                      <a:pt x="0" y="0"/>
                    </a:moveTo>
                    <a:lnTo>
                      <a:pt x="3806190" y="0"/>
                    </a:lnTo>
                  </a:path>
                </a:pathLst>
              </a:custGeom>
              <a:ln w="4772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" name="object 10"/>
              <p:cNvSpPr/>
              <p:nvPr/>
            </p:nvSpPr>
            <p:spPr>
              <a:xfrm>
                <a:off x="5169026" y="2353437"/>
                <a:ext cx="578485" cy="2432685"/>
              </a:xfrm>
              <a:custGeom>
                <a:avLst/>
                <a:gdLst/>
                <a:ahLst/>
                <a:cxnLst/>
                <a:rect l="l" t="t" r="r" b="b"/>
                <a:pathLst>
                  <a:path w="578485" h="2432685">
                    <a:moveTo>
                      <a:pt x="288036" y="0"/>
                    </a:moveTo>
                    <a:lnTo>
                      <a:pt x="288036" y="811530"/>
                    </a:lnTo>
                    <a:lnTo>
                      <a:pt x="0" y="811530"/>
                    </a:lnTo>
                    <a:lnTo>
                      <a:pt x="0" y="1620774"/>
                    </a:lnTo>
                    <a:lnTo>
                      <a:pt x="288036" y="1620774"/>
                    </a:lnTo>
                    <a:lnTo>
                      <a:pt x="288036" y="2432304"/>
                    </a:lnTo>
                    <a:lnTo>
                      <a:pt x="288036" y="1620774"/>
                    </a:lnTo>
                    <a:lnTo>
                      <a:pt x="578358" y="1620774"/>
                    </a:lnTo>
                    <a:lnTo>
                      <a:pt x="578358" y="811530"/>
                    </a:lnTo>
                    <a:lnTo>
                      <a:pt x="288036" y="811530"/>
                    </a:lnTo>
                  </a:path>
                </a:pathLst>
              </a:custGeom>
              <a:ln w="4772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11"/>
              <p:cNvSpPr/>
              <p:nvPr/>
            </p:nvSpPr>
            <p:spPr>
              <a:xfrm>
                <a:off x="5461634" y="4790313"/>
                <a:ext cx="3319779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19779">
                    <a:moveTo>
                      <a:pt x="0" y="0"/>
                    </a:moveTo>
                    <a:lnTo>
                      <a:pt x="3319271" y="0"/>
                    </a:lnTo>
                  </a:path>
                </a:pathLst>
              </a:custGeom>
              <a:ln w="4772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" name="object 12"/>
              <p:cNvSpPr/>
              <p:nvPr/>
            </p:nvSpPr>
            <p:spPr>
              <a:xfrm>
                <a:off x="7875650" y="4653152"/>
                <a:ext cx="279400" cy="247015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47014">
                    <a:moveTo>
                      <a:pt x="266551" y="126721"/>
                    </a:moveTo>
                    <a:lnTo>
                      <a:pt x="0" y="0"/>
                    </a:lnTo>
                    <a:lnTo>
                      <a:pt x="54864" y="121158"/>
                    </a:lnTo>
                    <a:lnTo>
                      <a:pt x="54864" y="222154"/>
                    </a:lnTo>
                    <a:lnTo>
                      <a:pt x="266551" y="126721"/>
                    </a:lnTo>
                    <a:close/>
                  </a:path>
                  <a:path w="279400" h="247014">
                    <a:moveTo>
                      <a:pt x="54864" y="222154"/>
                    </a:moveTo>
                    <a:lnTo>
                      <a:pt x="54864" y="121158"/>
                    </a:lnTo>
                    <a:lnTo>
                      <a:pt x="0" y="246887"/>
                    </a:lnTo>
                    <a:lnTo>
                      <a:pt x="54864" y="222154"/>
                    </a:lnTo>
                    <a:close/>
                  </a:path>
                  <a:path w="279400" h="247014">
                    <a:moveTo>
                      <a:pt x="278892" y="132587"/>
                    </a:moveTo>
                    <a:lnTo>
                      <a:pt x="278892" y="121158"/>
                    </a:lnTo>
                    <a:lnTo>
                      <a:pt x="266551" y="126721"/>
                    </a:lnTo>
                    <a:lnTo>
                      <a:pt x="278892" y="132587"/>
                    </a:lnTo>
                    <a:close/>
                  </a:path>
                </a:pathLst>
              </a:custGeom>
              <a:solidFill>
                <a:srgbClr val="00A65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" name="object 13"/>
              <p:cNvSpPr/>
              <p:nvPr/>
            </p:nvSpPr>
            <p:spPr>
              <a:xfrm>
                <a:off x="7875650" y="4653152"/>
                <a:ext cx="279400" cy="247015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47014">
                    <a:moveTo>
                      <a:pt x="278892" y="121158"/>
                    </a:moveTo>
                    <a:lnTo>
                      <a:pt x="0" y="246887"/>
                    </a:lnTo>
                    <a:lnTo>
                      <a:pt x="54864" y="121158"/>
                    </a:lnTo>
                    <a:lnTo>
                      <a:pt x="0" y="0"/>
                    </a:lnTo>
                    <a:lnTo>
                      <a:pt x="278892" y="132587"/>
                    </a:lnTo>
                    <a:lnTo>
                      <a:pt x="278892" y="121158"/>
                    </a:lnTo>
                    <a:close/>
                  </a:path>
                  <a:path w="279400" h="247014">
                    <a:moveTo>
                      <a:pt x="278892" y="121158"/>
                    </a:moveTo>
                    <a:lnTo>
                      <a:pt x="0" y="246887"/>
                    </a:lnTo>
                    <a:lnTo>
                      <a:pt x="54864" y="121158"/>
                    </a:lnTo>
                    <a:lnTo>
                      <a:pt x="0" y="0"/>
                    </a:lnTo>
                    <a:lnTo>
                      <a:pt x="278892" y="132587"/>
                    </a:lnTo>
                    <a:lnTo>
                      <a:pt x="278892" y="121158"/>
                    </a:lnTo>
                  </a:path>
                </a:pathLst>
              </a:custGeom>
              <a:ln w="29832">
                <a:solidFill>
                  <a:srgbClr val="00A65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" name="object 14"/>
              <p:cNvSpPr/>
              <p:nvPr/>
            </p:nvSpPr>
            <p:spPr>
              <a:xfrm>
                <a:off x="8588882" y="5693283"/>
                <a:ext cx="1168400" cy="562610"/>
              </a:xfrm>
              <a:custGeom>
                <a:avLst/>
                <a:gdLst/>
                <a:ahLst/>
                <a:cxnLst/>
                <a:rect l="l" t="t" r="r" b="b"/>
                <a:pathLst>
                  <a:path w="1168400" h="562610">
                    <a:moveTo>
                      <a:pt x="681227" y="0"/>
                    </a:moveTo>
                    <a:lnTo>
                      <a:pt x="681227" y="404621"/>
                    </a:lnTo>
                    <a:lnTo>
                      <a:pt x="194310" y="404621"/>
                    </a:lnTo>
                    <a:lnTo>
                      <a:pt x="0" y="562355"/>
                    </a:lnTo>
                    <a:lnTo>
                      <a:pt x="194310" y="404621"/>
                    </a:lnTo>
                    <a:lnTo>
                      <a:pt x="388620" y="404621"/>
                    </a:lnTo>
                    <a:lnTo>
                      <a:pt x="194310" y="562355"/>
                    </a:lnTo>
                    <a:lnTo>
                      <a:pt x="388620" y="404621"/>
                    </a:lnTo>
                    <a:lnTo>
                      <a:pt x="585216" y="404621"/>
                    </a:lnTo>
                    <a:lnTo>
                      <a:pt x="388620" y="562355"/>
                    </a:lnTo>
                    <a:lnTo>
                      <a:pt x="585216" y="404621"/>
                    </a:lnTo>
                    <a:lnTo>
                      <a:pt x="779526" y="404621"/>
                    </a:lnTo>
                    <a:lnTo>
                      <a:pt x="585216" y="562355"/>
                    </a:lnTo>
                    <a:lnTo>
                      <a:pt x="779526" y="404621"/>
                    </a:lnTo>
                    <a:lnTo>
                      <a:pt x="973836" y="404621"/>
                    </a:lnTo>
                    <a:lnTo>
                      <a:pt x="779526" y="562355"/>
                    </a:lnTo>
                    <a:lnTo>
                      <a:pt x="973836" y="404621"/>
                    </a:lnTo>
                    <a:lnTo>
                      <a:pt x="1168146" y="404621"/>
                    </a:lnTo>
                    <a:lnTo>
                      <a:pt x="973836" y="562355"/>
                    </a:lnTo>
                  </a:path>
                </a:pathLst>
              </a:custGeom>
              <a:ln w="4772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42" name="object 15"/>
            <p:cNvSpPr txBox="1"/>
            <p:nvPr/>
          </p:nvSpPr>
          <p:spPr>
            <a:xfrm>
              <a:off x="7140444" y="3917520"/>
              <a:ext cx="976851" cy="739676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14"/>
                </a:spcBef>
              </a:pPr>
              <a:r>
                <a:rPr sz="3400" spc="45" dirty="0">
                  <a:solidFill>
                    <a:srgbClr val="00A650"/>
                  </a:solidFill>
                  <a:latin typeface="Times New Roman"/>
                  <a:cs typeface="Times New Roman"/>
                </a:rPr>
                <a:t>I</a:t>
              </a:r>
              <a:r>
                <a:rPr sz="3375" spc="67" baseline="-17283" dirty="0">
                  <a:solidFill>
                    <a:srgbClr val="00A650"/>
                  </a:solidFill>
                  <a:latin typeface="Times New Roman"/>
                  <a:cs typeface="Times New Roman"/>
                </a:rPr>
                <a:t>B</a:t>
              </a:r>
              <a:endParaRPr sz="3375" baseline="-17283" dirty="0">
                <a:latin typeface="Times New Roman"/>
                <a:cs typeface="Times New Roman"/>
              </a:endParaRPr>
            </a:p>
          </p:txBody>
        </p:sp>
        <p:grpSp>
          <p:nvGrpSpPr>
            <p:cNvPr id="50" name="object 16"/>
            <p:cNvGrpSpPr/>
            <p:nvPr/>
          </p:nvGrpSpPr>
          <p:grpSpPr>
            <a:xfrm>
              <a:off x="7254938" y="1959038"/>
              <a:ext cx="1720214" cy="3567429"/>
              <a:chOff x="7254938" y="1959038"/>
              <a:chExt cx="1720214" cy="3567429"/>
            </a:xfrm>
          </p:grpSpPr>
          <p:sp>
            <p:nvSpPr>
              <p:cNvPr id="51" name="object 17"/>
              <p:cNvSpPr/>
              <p:nvPr/>
            </p:nvSpPr>
            <p:spPr>
              <a:xfrm>
                <a:off x="7269861" y="1973961"/>
                <a:ext cx="185420" cy="356870"/>
              </a:xfrm>
              <a:custGeom>
                <a:avLst/>
                <a:gdLst/>
                <a:ahLst/>
                <a:cxnLst/>
                <a:rect l="l" t="t" r="r" b="b"/>
                <a:pathLst>
                  <a:path w="185420" h="356869">
                    <a:moveTo>
                      <a:pt x="185166" y="77724"/>
                    </a:moveTo>
                    <a:lnTo>
                      <a:pt x="173736" y="116586"/>
                    </a:lnTo>
                    <a:lnTo>
                      <a:pt x="144018" y="144018"/>
                    </a:lnTo>
                    <a:lnTo>
                      <a:pt x="98298" y="155448"/>
                    </a:lnTo>
                    <a:lnTo>
                      <a:pt x="75438" y="153162"/>
                    </a:lnTo>
                    <a:lnTo>
                      <a:pt x="32004" y="137160"/>
                    </a:lnTo>
                    <a:lnTo>
                      <a:pt x="6858" y="105156"/>
                    </a:lnTo>
                    <a:lnTo>
                      <a:pt x="0" y="89154"/>
                    </a:lnTo>
                    <a:lnTo>
                      <a:pt x="0" y="68580"/>
                    </a:lnTo>
                    <a:lnTo>
                      <a:pt x="18288" y="34290"/>
                    </a:lnTo>
                    <a:lnTo>
                      <a:pt x="54864" y="9144"/>
                    </a:lnTo>
                    <a:lnTo>
                      <a:pt x="98298" y="0"/>
                    </a:lnTo>
                    <a:lnTo>
                      <a:pt x="123444" y="6858"/>
                    </a:lnTo>
                    <a:lnTo>
                      <a:pt x="162306" y="25146"/>
                    </a:lnTo>
                    <a:lnTo>
                      <a:pt x="185166" y="77724"/>
                    </a:lnTo>
                  </a:path>
                  <a:path w="185420" h="356869">
                    <a:moveTo>
                      <a:pt x="84582" y="155448"/>
                    </a:moveTo>
                    <a:lnTo>
                      <a:pt x="84582" y="356616"/>
                    </a:lnTo>
                  </a:path>
                </a:pathLst>
              </a:custGeom>
              <a:ln w="2983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2" name="object 18"/>
              <p:cNvSpPr/>
              <p:nvPr/>
            </p:nvSpPr>
            <p:spPr>
              <a:xfrm>
                <a:off x="8316849" y="4977765"/>
                <a:ext cx="651510" cy="542290"/>
              </a:xfrm>
              <a:custGeom>
                <a:avLst/>
                <a:gdLst/>
                <a:ahLst/>
                <a:cxnLst/>
                <a:rect l="l" t="t" r="r" b="b"/>
                <a:pathLst>
                  <a:path w="651509" h="542289">
                    <a:moveTo>
                      <a:pt x="166749" y="138664"/>
                    </a:moveTo>
                    <a:lnTo>
                      <a:pt x="0" y="0"/>
                    </a:lnTo>
                    <a:lnTo>
                      <a:pt x="105155" y="244601"/>
                    </a:lnTo>
                    <a:lnTo>
                      <a:pt x="164592" y="139446"/>
                    </a:lnTo>
                    <a:lnTo>
                      <a:pt x="166749" y="138664"/>
                    </a:lnTo>
                    <a:close/>
                  </a:path>
                  <a:path w="651509" h="542289">
                    <a:moveTo>
                      <a:pt x="297179" y="91439"/>
                    </a:moveTo>
                    <a:lnTo>
                      <a:pt x="6857" y="4572"/>
                    </a:lnTo>
                    <a:lnTo>
                      <a:pt x="167460" y="138407"/>
                    </a:lnTo>
                    <a:lnTo>
                      <a:pt x="297179" y="91439"/>
                    </a:lnTo>
                    <a:close/>
                  </a:path>
                  <a:path w="651509" h="542289">
                    <a:moveTo>
                      <a:pt x="651509" y="541782"/>
                    </a:moveTo>
                    <a:lnTo>
                      <a:pt x="167460" y="138407"/>
                    </a:lnTo>
                    <a:lnTo>
                      <a:pt x="166749" y="138664"/>
                    </a:lnTo>
                    <a:lnTo>
                      <a:pt x="651509" y="541782"/>
                    </a:lnTo>
                    <a:close/>
                  </a:path>
                </a:pathLst>
              </a:custGeom>
              <a:solidFill>
                <a:srgbClr val="ED1C2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3" name="object 19"/>
              <p:cNvSpPr/>
              <p:nvPr/>
            </p:nvSpPr>
            <p:spPr>
              <a:xfrm>
                <a:off x="8316849" y="4975479"/>
                <a:ext cx="651510" cy="544195"/>
              </a:xfrm>
              <a:custGeom>
                <a:avLst/>
                <a:gdLst/>
                <a:ahLst/>
                <a:cxnLst/>
                <a:rect l="l" t="t" r="r" b="b"/>
                <a:pathLst>
                  <a:path w="651509" h="544195">
                    <a:moveTo>
                      <a:pt x="651509" y="544068"/>
                    </a:moveTo>
                    <a:lnTo>
                      <a:pt x="0" y="2286"/>
                    </a:lnTo>
                    <a:lnTo>
                      <a:pt x="105155" y="246887"/>
                    </a:lnTo>
                    <a:lnTo>
                      <a:pt x="164592" y="141732"/>
                    </a:lnTo>
                    <a:lnTo>
                      <a:pt x="297179" y="93725"/>
                    </a:lnTo>
                    <a:lnTo>
                      <a:pt x="6857" y="6858"/>
                    </a:lnTo>
                    <a:lnTo>
                      <a:pt x="651509" y="544068"/>
                    </a:lnTo>
                    <a:close/>
                  </a:path>
                  <a:path w="651509" h="544195">
                    <a:moveTo>
                      <a:pt x="649224" y="541782"/>
                    </a:moveTo>
                    <a:lnTo>
                      <a:pt x="0" y="0"/>
                    </a:lnTo>
                    <a:lnTo>
                      <a:pt x="105155" y="246887"/>
                    </a:lnTo>
                    <a:lnTo>
                      <a:pt x="164592" y="139446"/>
                    </a:lnTo>
                    <a:lnTo>
                      <a:pt x="294894" y="91440"/>
                    </a:lnTo>
                    <a:lnTo>
                      <a:pt x="4572" y="4572"/>
                    </a:lnTo>
                    <a:lnTo>
                      <a:pt x="649224" y="541782"/>
                    </a:lnTo>
                  </a:path>
                </a:pathLst>
              </a:custGeom>
              <a:ln w="12700">
                <a:solidFill>
                  <a:srgbClr val="ED1C2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4" name="object 20"/>
            <p:cNvSpPr txBox="1"/>
            <p:nvPr/>
          </p:nvSpPr>
          <p:spPr>
            <a:xfrm>
              <a:off x="7462661" y="1712562"/>
              <a:ext cx="1451389" cy="739676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14"/>
                </a:spcBef>
              </a:pPr>
              <a:r>
                <a:rPr lang="fr-FR" sz="5100" spc="165" baseline="11437" dirty="0">
                  <a:latin typeface="Times New Roman"/>
                  <a:cs typeface="Times New Roman"/>
                </a:rPr>
                <a:t>V</a:t>
              </a:r>
              <a:r>
                <a:rPr sz="2250" spc="110" dirty="0">
                  <a:latin typeface="Times New Roman"/>
                  <a:cs typeface="Times New Roman"/>
                </a:rPr>
                <a:t>CC</a:t>
              </a:r>
              <a:endParaRPr sz="2250" dirty="0">
                <a:latin typeface="Times New Roman"/>
                <a:cs typeface="Times New Roman"/>
              </a:endParaRPr>
            </a:p>
          </p:txBody>
        </p:sp>
        <p:sp>
          <p:nvSpPr>
            <p:cNvPr id="55" name="object 21"/>
            <p:cNvSpPr txBox="1"/>
            <p:nvPr/>
          </p:nvSpPr>
          <p:spPr>
            <a:xfrm>
              <a:off x="7836628" y="2773531"/>
              <a:ext cx="1046006" cy="739676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14"/>
                </a:spcBef>
              </a:pPr>
              <a:r>
                <a:rPr sz="3400" spc="135" dirty="0">
                  <a:latin typeface="Times New Roman"/>
                  <a:cs typeface="Times New Roman"/>
                </a:rPr>
                <a:t>R</a:t>
              </a:r>
              <a:r>
                <a:rPr sz="3375" spc="202" baseline="-17283" dirty="0">
                  <a:latin typeface="Times New Roman"/>
                  <a:cs typeface="Times New Roman"/>
                </a:rPr>
                <a:t>C</a:t>
              </a:r>
              <a:endParaRPr sz="3375" baseline="-17283" dirty="0">
                <a:latin typeface="Times New Roman"/>
                <a:cs typeface="Times New Roman"/>
              </a:endParaRPr>
            </a:p>
          </p:txBody>
        </p:sp>
        <p:sp>
          <p:nvSpPr>
            <p:cNvPr id="56" name="object 22"/>
            <p:cNvSpPr txBox="1"/>
            <p:nvPr/>
          </p:nvSpPr>
          <p:spPr>
            <a:xfrm>
              <a:off x="7131999" y="5358666"/>
              <a:ext cx="1607599" cy="739676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14"/>
                </a:spcBef>
              </a:pPr>
              <a:r>
                <a:rPr lang="fr-FR" sz="5100" spc="165" baseline="11437" dirty="0">
                  <a:solidFill>
                    <a:srgbClr val="ED1C24"/>
                  </a:solidFill>
                  <a:latin typeface="Times New Roman"/>
                  <a:cs typeface="Times New Roman"/>
                </a:rPr>
                <a:t>V</a:t>
              </a:r>
              <a:r>
                <a:rPr sz="2250" spc="110" dirty="0">
                  <a:solidFill>
                    <a:srgbClr val="ED1C24"/>
                  </a:solidFill>
                  <a:latin typeface="Times New Roman"/>
                  <a:cs typeface="Times New Roman"/>
                </a:rPr>
                <a:t>BE</a:t>
              </a:r>
              <a:endParaRPr sz="2250" dirty="0">
                <a:latin typeface="Times New Roman"/>
                <a:cs typeface="Times New Roman"/>
              </a:endParaRPr>
            </a:p>
          </p:txBody>
        </p:sp>
        <p:grpSp>
          <p:nvGrpSpPr>
            <p:cNvPr id="57" name="object 23"/>
            <p:cNvGrpSpPr/>
            <p:nvPr/>
          </p:nvGrpSpPr>
          <p:grpSpPr>
            <a:xfrm>
              <a:off x="8770563" y="4368488"/>
              <a:ext cx="519430" cy="1311275"/>
              <a:chOff x="8770563" y="4368488"/>
              <a:chExt cx="519430" cy="1311275"/>
            </a:xfrm>
          </p:grpSpPr>
          <p:sp>
            <p:nvSpPr>
              <p:cNvPr id="58" name="object 24"/>
              <p:cNvSpPr/>
              <p:nvPr/>
            </p:nvSpPr>
            <p:spPr>
              <a:xfrm>
                <a:off x="8785479" y="4383404"/>
                <a:ext cx="489584" cy="816610"/>
              </a:xfrm>
              <a:custGeom>
                <a:avLst/>
                <a:gdLst/>
                <a:ahLst/>
                <a:cxnLst/>
                <a:rect l="l" t="t" r="r" b="b"/>
                <a:pathLst>
                  <a:path w="489584" h="816610">
                    <a:moveTo>
                      <a:pt x="98298" y="811530"/>
                    </a:moveTo>
                    <a:lnTo>
                      <a:pt x="98298" y="0"/>
                    </a:lnTo>
                    <a:lnTo>
                      <a:pt x="0" y="0"/>
                    </a:lnTo>
                    <a:lnTo>
                      <a:pt x="0" y="811530"/>
                    </a:lnTo>
                    <a:lnTo>
                      <a:pt x="98298" y="811530"/>
                    </a:lnTo>
                    <a:close/>
                  </a:path>
                  <a:path w="489584" h="816610">
                    <a:moveTo>
                      <a:pt x="319257" y="636965"/>
                    </a:moveTo>
                    <a:lnTo>
                      <a:pt x="98298" y="406908"/>
                    </a:lnTo>
                    <a:lnTo>
                      <a:pt x="318570" y="637485"/>
                    </a:lnTo>
                    <a:lnTo>
                      <a:pt x="319257" y="636965"/>
                    </a:lnTo>
                    <a:close/>
                  </a:path>
                  <a:path w="489584" h="816610">
                    <a:moveTo>
                      <a:pt x="489203" y="816102"/>
                    </a:moveTo>
                    <a:lnTo>
                      <a:pt x="318570" y="637485"/>
                    </a:lnTo>
                    <a:lnTo>
                      <a:pt x="194310" y="731520"/>
                    </a:lnTo>
                    <a:lnTo>
                      <a:pt x="489203" y="816102"/>
                    </a:lnTo>
                    <a:close/>
                  </a:path>
                  <a:path w="489584" h="816610">
                    <a:moveTo>
                      <a:pt x="486918" y="811530"/>
                    </a:moveTo>
                    <a:lnTo>
                      <a:pt x="448055" y="539496"/>
                    </a:lnTo>
                    <a:lnTo>
                      <a:pt x="319257" y="636965"/>
                    </a:lnTo>
                    <a:lnTo>
                      <a:pt x="486918" y="81153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9" name="object 25"/>
              <p:cNvSpPr/>
              <p:nvPr/>
            </p:nvSpPr>
            <p:spPr>
              <a:xfrm>
                <a:off x="8785479" y="4383404"/>
                <a:ext cx="489584" cy="1296670"/>
              </a:xfrm>
              <a:custGeom>
                <a:avLst/>
                <a:gdLst/>
                <a:ahLst/>
                <a:cxnLst/>
                <a:rect l="l" t="t" r="r" b="b"/>
                <a:pathLst>
                  <a:path w="489584" h="1296670">
                    <a:moveTo>
                      <a:pt x="486918" y="0"/>
                    </a:moveTo>
                    <a:lnTo>
                      <a:pt x="98298" y="406908"/>
                    </a:lnTo>
                    <a:lnTo>
                      <a:pt x="98298" y="0"/>
                    </a:lnTo>
                    <a:lnTo>
                      <a:pt x="0" y="0"/>
                    </a:lnTo>
                    <a:lnTo>
                      <a:pt x="0" y="811530"/>
                    </a:lnTo>
                    <a:lnTo>
                      <a:pt x="98298" y="811530"/>
                    </a:lnTo>
                    <a:lnTo>
                      <a:pt x="98298" y="406908"/>
                    </a:lnTo>
                    <a:lnTo>
                      <a:pt x="486918" y="811530"/>
                    </a:lnTo>
                    <a:lnTo>
                      <a:pt x="448055" y="539496"/>
                    </a:lnTo>
                    <a:lnTo>
                      <a:pt x="194310" y="731520"/>
                    </a:lnTo>
                    <a:lnTo>
                      <a:pt x="489203" y="816102"/>
                    </a:lnTo>
                    <a:lnTo>
                      <a:pt x="98298" y="406908"/>
                    </a:lnTo>
                    <a:lnTo>
                      <a:pt x="486918" y="0"/>
                    </a:lnTo>
                    <a:close/>
                  </a:path>
                  <a:path w="489584" h="1296670">
                    <a:moveTo>
                      <a:pt x="486918" y="0"/>
                    </a:moveTo>
                    <a:lnTo>
                      <a:pt x="98298" y="406908"/>
                    </a:lnTo>
                    <a:lnTo>
                      <a:pt x="98298" y="0"/>
                    </a:lnTo>
                    <a:lnTo>
                      <a:pt x="0" y="0"/>
                    </a:lnTo>
                    <a:lnTo>
                      <a:pt x="0" y="811530"/>
                    </a:lnTo>
                    <a:lnTo>
                      <a:pt x="98298" y="811530"/>
                    </a:lnTo>
                    <a:lnTo>
                      <a:pt x="98298" y="406908"/>
                    </a:lnTo>
                    <a:lnTo>
                      <a:pt x="486918" y="811530"/>
                    </a:lnTo>
                    <a:lnTo>
                      <a:pt x="448055" y="539496"/>
                    </a:lnTo>
                    <a:lnTo>
                      <a:pt x="194310" y="731520"/>
                    </a:lnTo>
                    <a:lnTo>
                      <a:pt x="489203" y="816102"/>
                    </a:lnTo>
                    <a:lnTo>
                      <a:pt x="98298" y="406908"/>
                    </a:lnTo>
                    <a:lnTo>
                      <a:pt x="486918" y="0"/>
                    </a:lnTo>
                  </a:path>
                  <a:path w="489584" h="1296670">
                    <a:moveTo>
                      <a:pt x="486918" y="797814"/>
                    </a:moveTo>
                    <a:lnTo>
                      <a:pt x="486918" y="1296162"/>
                    </a:lnTo>
                  </a:path>
                </a:pathLst>
              </a:custGeom>
              <a:ln w="2983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1" name="object 22">
              <a:extLst>
                <a:ext uri="{FF2B5EF4-FFF2-40B4-BE49-F238E27FC236}">
                  <a16:creationId xmlns:a16="http://schemas.microsoft.com/office/drawing/2014/main" id="{D6C22799-11E2-3175-2AF7-DAAE98740E8D}"/>
                </a:ext>
              </a:extLst>
            </p:cNvPr>
            <p:cNvSpPr txBox="1"/>
            <p:nvPr/>
          </p:nvSpPr>
          <p:spPr>
            <a:xfrm>
              <a:off x="9800179" y="4446691"/>
              <a:ext cx="1607599" cy="739676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14"/>
                </a:spcBef>
              </a:pPr>
              <a:r>
                <a:rPr lang="fr-FR" sz="5100" spc="165" baseline="11437" dirty="0">
                  <a:solidFill>
                    <a:srgbClr val="ED1C24"/>
                  </a:solidFill>
                  <a:latin typeface="Times New Roman"/>
                  <a:cs typeface="Times New Roman"/>
                </a:rPr>
                <a:t>V</a:t>
              </a:r>
              <a:r>
                <a:rPr lang="fr-FR" sz="2250" spc="110" baseline="11437" dirty="0">
                  <a:solidFill>
                    <a:srgbClr val="ED1C24"/>
                  </a:solidFill>
                  <a:latin typeface="Times New Roman"/>
                  <a:cs typeface="Times New Roman"/>
                </a:rPr>
                <a:t>C</a:t>
              </a:r>
              <a:r>
                <a:rPr sz="2250" spc="110" dirty="0">
                  <a:solidFill>
                    <a:srgbClr val="ED1C24"/>
                  </a:solidFill>
                  <a:latin typeface="Times New Roman"/>
                  <a:cs typeface="Times New Roman"/>
                </a:rPr>
                <a:t>E</a:t>
              </a:r>
              <a:endParaRPr sz="2250" dirty="0">
                <a:latin typeface="Times New Roman"/>
                <a:cs typeface="Times New Roman"/>
              </a:endParaRPr>
            </a:p>
          </p:txBody>
        </p:sp>
      </p:grpSp>
      <p:sp>
        <p:nvSpPr>
          <p:cNvPr id="62" name="object 15">
            <a:extLst>
              <a:ext uri="{FF2B5EF4-FFF2-40B4-BE49-F238E27FC236}">
                <a16:creationId xmlns:a16="http://schemas.microsoft.com/office/drawing/2014/main" id="{498FA8D5-B978-AA36-F318-F905930F7C88}"/>
              </a:ext>
            </a:extLst>
          </p:cNvPr>
          <p:cNvSpPr/>
          <p:nvPr/>
        </p:nvSpPr>
        <p:spPr>
          <a:xfrm>
            <a:off x="6156838" y="3388172"/>
            <a:ext cx="185896" cy="535677"/>
          </a:xfrm>
          <a:custGeom>
            <a:avLst/>
            <a:gdLst/>
            <a:ahLst/>
            <a:cxnLst/>
            <a:rect l="l" t="t" r="r" b="b"/>
            <a:pathLst>
              <a:path w="162559" h="1765300">
                <a:moveTo>
                  <a:pt x="82296" y="1764791"/>
                </a:moveTo>
                <a:lnTo>
                  <a:pt x="82296" y="2286"/>
                </a:lnTo>
                <a:lnTo>
                  <a:pt x="2285" y="169163"/>
                </a:lnTo>
                <a:lnTo>
                  <a:pt x="82296" y="139446"/>
                </a:lnTo>
                <a:lnTo>
                  <a:pt x="162305" y="169163"/>
                </a:lnTo>
                <a:lnTo>
                  <a:pt x="82296" y="6858"/>
                </a:lnTo>
                <a:lnTo>
                  <a:pt x="82296" y="1764791"/>
                </a:lnTo>
                <a:close/>
              </a:path>
              <a:path w="162559" h="1765300">
                <a:moveTo>
                  <a:pt x="82296" y="1762505"/>
                </a:moveTo>
                <a:lnTo>
                  <a:pt x="82296" y="0"/>
                </a:lnTo>
                <a:lnTo>
                  <a:pt x="0" y="166877"/>
                </a:lnTo>
                <a:lnTo>
                  <a:pt x="82296" y="137160"/>
                </a:lnTo>
                <a:lnTo>
                  <a:pt x="162305" y="169163"/>
                </a:lnTo>
                <a:lnTo>
                  <a:pt x="82296" y="6858"/>
                </a:lnTo>
                <a:lnTo>
                  <a:pt x="82296" y="1762505"/>
                </a:lnTo>
              </a:path>
            </a:pathLst>
          </a:custGeom>
          <a:ln w="12700">
            <a:solidFill>
              <a:srgbClr val="ED1C2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982897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6"/>
            <a:ext cx="52086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-Transistor-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1620" y="507690"/>
            <a:ext cx="69931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4. Polarisation </a:t>
            </a:r>
            <a:r>
              <a:rPr lang="fr-FR" sz="18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du transistor</a:t>
            </a:r>
            <a:endParaRPr lang="fr-FR" b="1" spc="-5" dirty="0">
              <a:solidFill>
                <a:srgbClr val="FF0000"/>
              </a:solidFill>
              <a:latin typeface="Bookman Old Style" panose="02050604050505020204" pitchFamily="18" charset="0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715000" y="365260"/>
            <a:ext cx="3328256" cy="10117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46">
            <a:extLst>
              <a:ext uri="{FF2B5EF4-FFF2-40B4-BE49-F238E27FC236}">
                <a16:creationId xmlns:a16="http://schemas.microsoft.com/office/drawing/2014/main" id="{7198176F-4D83-4A98-1EFA-F78693C2B68B}"/>
              </a:ext>
            </a:extLst>
          </p:cNvPr>
          <p:cNvSpPr txBox="1"/>
          <p:nvPr/>
        </p:nvSpPr>
        <p:spPr>
          <a:xfrm>
            <a:off x="8828933" y="486598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47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C72328-F671-0D88-6318-C7E7FDBE9A01}"/>
              </a:ext>
            </a:extLst>
          </p:cNvPr>
          <p:cNvSpPr txBox="1"/>
          <p:nvPr/>
        </p:nvSpPr>
        <p:spPr>
          <a:xfrm>
            <a:off x="658743" y="768943"/>
            <a:ext cx="86853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600" b="1" spc="-5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defRPr>
            </a:lvl1pPr>
          </a:lstStyle>
          <a:p>
            <a:r>
              <a:rPr lang="fr-FR" sz="1400" dirty="0"/>
              <a:t>4.5 Types de polarisation </a:t>
            </a:r>
            <a:br>
              <a:rPr lang="fr-FR" dirty="0"/>
            </a:br>
            <a:endParaRPr lang="fr-FR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3EEB75-DA97-A328-000D-9D9A8F923B9F}"/>
              </a:ext>
            </a:extLst>
          </p:cNvPr>
          <p:cNvSpPr txBox="1"/>
          <p:nvPr/>
        </p:nvSpPr>
        <p:spPr>
          <a:xfrm>
            <a:off x="781110" y="1063519"/>
            <a:ext cx="58482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Wingdings" panose="05000000000000000000" pitchFamily="2" charset="2"/>
              <a:buChar char="q"/>
            </a:pPr>
            <a:r>
              <a:rPr lang="fr-FR" sz="1400" b="1" spc="-5" dirty="0">
                <a:solidFill>
                  <a:srgbClr val="0000FF"/>
                </a:solidFill>
                <a:latin typeface="Bookman Old Style" panose="02050604050505020204" pitchFamily="18" charset="0"/>
                <a:cs typeface="Arial"/>
              </a:rPr>
              <a:t>Polarisation par contre-réaction (par le collecteur)</a:t>
            </a:r>
            <a:endParaRPr lang="fr-FR" sz="1400" dirty="0">
              <a:solidFill>
                <a:srgbClr val="0000FF"/>
              </a:solidFill>
              <a:latin typeface="Bookman Old Style" panose="02050604050505020204" pitchFamily="18" charset="0"/>
              <a:cs typeface="Arial"/>
            </a:endParaRP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3598CC6E-6A16-9D91-5CA5-F8D5A2B09B1E}"/>
              </a:ext>
            </a:extLst>
          </p:cNvPr>
          <p:cNvGrpSpPr/>
          <p:nvPr/>
        </p:nvGrpSpPr>
        <p:grpSpPr>
          <a:xfrm>
            <a:off x="2793384" y="752464"/>
            <a:ext cx="4611191" cy="3883346"/>
            <a:chOff x="4872018" y="590088"/>
            <a:chExt cx="4128224" cy="4795137"/>
          </a:xfrm>
        </p:grpSpPr>
        <p:grpSp>
          <p:nvGrpSpPr>
            <p:cNvPr id="3" name="object 6">
              <a:extLst>
                <a:ext uri="{FF2B5EF4-FFF2-40B4-BE49-F238E27FC236}">
                  <a16:creationId xmlns:a16="http://schemas.microsoft.com/office/drawing/2014/main" id="{3C7F5D33-2A7E-9888-32BA-1130954D83D1}"/>
                </a:ext>
              </a:extLst>
            </p:cNvPr>
            <p:cNvGrpSpPr/>
            <p:nvPr/>
          </p:nvGrpSpPr>
          <p:grpSpPr>
            <a:xfrm>
              <a:off x="6227743" y="1352340"/>
              <a:ext cx="1835785" cy="2656840"/>
              <a:chOff x="6433311" y="2572639"/>
              <a:chExt cx="1835785" cy="2656840"/>
            </a:xfrm>
          </p:grpSpPr>
          <p:sp>
            <p:nvSpPr>
              <p:cNvPr id="4" name="object 7">
                <a:extLst>
                  <a:ext uri="{FF2B5EF4-FFF2-40B4-BE49-F238E27FC236}">
                    <a16:creationId xmlns:a16="http://schemas.microsoft.com/office/drawing/2014/main" id="{19EC85E7-F5FB-A265-A299-E3541B63388D}"/>
                  </a:ext>
                </a:extLst>
              </p:cNvPr>
              <p:cNvSpPr/>
              <p:nvPr/>
            </p:nvSpPr>
            <p:spPr>
              <a:xfrm>
                <a:off x="7624190" y="2598039"/>
                <a:ext cx="619760" cy="2082800"/>
              </a:xfrm>
              <a:custGeom>
                <a:avLst/>
                <a:gdLst/>
                <a:ahLst/>
                <a:cxnLst/>
                <a:rect l="l" t="t" r="r" b="b"/>
                <a:pathLst>
                  <a:path w="619759" h="2082800">
                    <a:moveTo>
                      <a:pt x="310895" y="0"/>
                    </a:moveTo>
                    <a:lnTo>
                      <a:pt x="310895" y="416052"/>
                    </a:lnTo>
                    <a:lnTo>
                      <a:pt x="0" y="416052"/>
                    </a:lnTo>
                    <a:lnTo>
                      <a:pt x="0" y="1248156"/>
                    </a:lnTo>
                    <a:lnTo>
                      <a:pt x="310895" y="1248156"/>
                    </a:lnTo>
                    <a:lnTo>
                      <a:pt x="310895" y="2082546"/>
                    </a:lnTo>
                    <a:lnTo>
                      <a:pt x="310895" y="1248156"/>
                    </a:lnTo>
                    <a:lnTo>
                      <a:pt x="619505" y="1248156"/>
                    </a:lnTo>
                    <a:lnTo>
                      <a:pt x="619505" y="416052"/>
                    </a:lnTo>
                    <a:lnTo>
                      <a:pt x="310895" y="416052"/>
                    </a:lnTo>
                  </a:path>
                </a:pathLst>
              </a:custGeom>
              <a:ln w="5073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" name="object 8">
                <a:extLst>
                  <a:ext uri="{FF2B5EF4-FFF2-40B4-BE49-F238E27FC236}">
                    <a16:creationId xmlns:a16="http://schemas.microsoft.com/office/drawing/2014/main" id="{0FB6879A-58E1-9F2D-BB76-7AB1F583E893}"/>
                  </a:ext>
                </a:extLst>
              </p:cNvPr>
              <p:cNvSpPr/>
              <p:nvPr/>
            </p:nvSpPr>
            <p:spPr>
              <a:xfrm>
                <a:off x="6449186" y="4961763"/>
                <a:ext cx="295275" cy="251460"/>
              </a:xfrm>
              <a:custGeom>
                <a:avLst/>
                <a:gdLst/>
                <a:ahLst/>
                <a:cxnLst/>
                <a:rect l="l" t="t" r="r" b="b"/>
                <a:pathLst>
                  <a:path w="295275" h="251460">
                    <a:moveTo>
                      <a:pt x="284546" y="130141"/>
                    </a:moveTo>
                    <a:lnTo>
                      <a:pt x="0" y="0"/>
                    </a:lnTo>
                    <a:lnTo>
                      <a:pt x="57149" y="125729"/>
                    </a:lnTo>
                    <a:lnTo>
                      <a:pt x="57149" y="227093"/>
                    </a:lnTo>
                    <a:lnTo>
                      <a:pt x="284546" y="130141"/>
                    </a:lnTo>
                    <a:close/>
                  </a:path>
                  <a:path w="295275" h="251460">
                    <a:moveTo>
                      <a:pt x="57149" y="227093"/>
                    </a:moveTo>
                    <a:lnTo>
                      <a:pt x="57149" y="125729"/>
                    </a:lnTo>
                    <a:lnTo>
                      <a:pt x="0" y="251460"/>
                    </a:lnTo>
                    <a:lnTo>
                      <a:pt x="57149" y="227093"/>
                    </a:lnTo>
                    <a:close/>
                  </a:path>
                  <a:path w="295275" h="251460">
                    <a:moveTo>
                      <a:pt x="294893" y="134874"/>
                    </a:moveTo>
                    <a:lnTo>
                      <a:pt x="294893" y="125729"/>
                    </a:lnTo>
                    <a:lnTo>
                      <a:pt x="284546" y="130141"/>
                    </a:lnTo>
                    <a:lnTo>
                      <a:pt x="294893" y="134874"/>
                    </a:lnTo>
                    <a:close/>
                  </a:path>
                </a:pathLst>
              </a:custGeom>
              <a:solidFill>
                <a:srgbClr val="00A65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" name="object 9">
                <a:extLst>
                  <a:ext uri="{FF2B5EF4-FFF2-40B4-BE49-F238E27FC236}">
                    <a16:creationId xmlns:a16="http://schemas.microsoft.com/office/drawing/2014/main" id="{E6485B26-8F44-F830-29D9-A82571C76F90}"/>
                  </a:ext>
                </a:extLst>
              </p:cNvPr>
              <p:cNvSpPr/>
              <p:nvPr/>
            </p:nvSpPr>
            <p:spPr>
              <a:xfrm>
                <a:off x="6449186" y="4961763"/>
                <a:ext cx="295275" cy="251460"/>
              </a:xfrm>
              <a:custGeom>
                <a:avLst/>
                <a:gdLst/>
                <a:ahLst/>
                <a:cxnLst/>
                <a:rect l="l" t="t" r="r" b="b"/>
                <a:pathLst>
                  <a:path w="295275" h="251460">
                    <a:moveTo>
                      <a:pt x="294893" y="125729"/>
                    </a:moveTo>
                    <a:lnTo>
                      <a:pt x="0" y="251460"/>
                    </a:lnTo>
                    <a:lnTo>
                      <a:pt x="57149" y="125729"/>
                    </a:lnTo>
                    <a:lnTo>
                      <a:pt x="0" y="0"/>
                    </a:lnTo>
                    <a:lnTo>
                      <a:pt x="294893" y="134874"/>
                    </a:lnTo>
                    <a:lnTo>
                      <a:pt x="294893" y="125729"/>
                    </a:lnTo>
                    <a:close/>
                  </a:path>
                  <a:path w="295275" h="251460">
                    <a:moveTo>
                      <a:pt x="294893" y="125729"/>
                    </a:moveTo>
                    <a:lnTo>
                      <a:pt x="0" y="251460"/>
                    </a:lnTo>
                    <a:lnTo>
                      <a:pt x="57149" y="125729"/>
                    </a:lnTo>
                    <a:lnTo>
                      <a:pt x="0" y="0"/>
                    </a:lnTo>
                    <a:lnTo>
                      <a:pt x="294893" y="134874"/>
                    </a:lnTo>
                    <a:lnTo>
                      <a:pt x="294893" y="125729"/>
                    </a:lnTo>
                  </a:path>
                </a:pathLst>
              </a:custGeom>
              <a:ln w="31711">
                <a:solidFill>
                  <a:srgbClr val="00A65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D836E3C4-1F26-5B51-98DC-A447CE65A8C3}"/>
                </a:ext>
              </a:extLst>
            </p:cNvPr>
            <p:cNvSpPr txBox="1"/>
            <p:nvPr/>
          </p:nvSpPr>
          <p:spPr>
            <a:xfrm>
              <a:off x="5775305" y="3211226"/>
              <a:ext cx="441959" cy="560704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10"/>
                </a:spcBef>
              </a:pPr>
              <a:r>
                <a:rPr sz="3500" spc="70" dirty="0">
                  <a:solidFill>
                    <a:srgbClr val="00A650"/>
                  </a:solidFill>
                  <a:latin typeface="Times New Roman"/>
                  <a:cs typeface="Times New Roman"/>
                </a:rPr>
                <a:t>I</a:t>
              </a:r>
              <a:r>
                <a:rPr sz="3525" spc="104" baseline="-16548" dirty="0">
                  <a:solidFill>
                    <a:srgbClr val="00A650"/>
                  </a:solidFill>
                  <a:latin typeface="Times New Roman"/>
                  <a:cs typeface="Times New Roman"/>
                </a:rPr>
                <a:t>B</a:t>
              </a:r>
              <a:endParaRPr sz="3525" baseline="-16548" dirty="0">
                <a:latin typeface="Times New Roman"/>
                <a:cs typeface="Times New Roman"/>
              </a:endParaRPr>
            </a:p>
          </p:txBody>
        </p:sp>
        <p:grpSp>
          <p:nvGrpSpPr>
            <p:cNvPr id="17" name="object 11">
              <a:extLst>
                <a:ext uri="{FF2B5EF4-FFF2-40B4-BE49-F238E27FC236}">
                  <a16:creationId xmlns:a16="http://schemas.microsoft.com/office/drawing/2014/main" id="{C3854781-D873-0420-C7EA-E275FA47C599}"/>
                </a:ext>
              </a:extLst>
            </p:cNvPr>
            <p:cNvGrpSpPr/>
            <p:nvPr/>
          </p:nvGrpSpPr>
          <p:grpSpPr>
            <a:xfrm>
              <a:off x="7631348" y="1016678"/>
              <a:ext cx="228600" cy="397510"/>
              <a:chOff x="7836916" y="2236977"/>
              <a:chExt cx="228600" cy="397510"/>
            </a:xfrm>
          </p:grpSpPr>
          <p:sp>
            <p:nvSpPr>
              <p:cNvPr id="20" name="object 12">
                <a:extLst>
                  <a:ext uri="{FF2B5EF4-FFF2-40B4-BE49-F238E27FC236}">
                    <a16:creationId xmlns:a16="http://schemas.microsoft.com/office/drawing/2014/main" id="{354B5405-7FD6-533C-A1E0-C32EDF08BDDF}"/>
                  </a:ext>
                </a:extLst>
              </p:cNvPr>
              <p:cNvSpPr/>
              <p:nvPr/>
            </p:nvSpPr>
            <p:spPr>
              <a:xfrm>
                <a:off x="7852791" y="2252852"/>
                <a:ext cx="196850" cy="158115"/>
              </a:xfrm>
              <a:custGeom>
                <a:avLst/>
                <a:gdLst/>
                <a:ahLst/>
                <a:cxnLst/>
                <a:rect l="l" t="t" r="r" b="b"/>
                <a:pathLst>
                  <a:path w="196850" h="158114">
                    <a:moveTo>
                      <a:pt x="196595" y="80009"/>
                    </a:moveTo>
                    <a:lnTo>
                      <a:pt x="185165" y="116585"/>
                    </a:lnTo>
                    <a:lnTo>
                      <a:pt x="153161" y="146303"/>
                    </a:lnTo>
                    <a:lnTo>
                      <a:pt x="105155" y="157733"/>
                    </a:lnTo>
                    <a:lnTo>
                      <a:pt x="80009" y="155447"/>
                    </a:lnTo>
                    <a:lnTo>
                      <a:pt x="34289" y="139445"/>
                    </a:lnTo>
                    <a:lnTo>
                      <a:pt x="6857" y="107441"/>
                    </a:lnTo>
                    <a:lnTo>
                      <a:pt x="0" y="89153"/>
                    </a:lnTo>
                    <a:lnTo>
                      <a:pt x="0" y="68579"/>
                    </a:lnTo>
                    <a:lnTo>
                      <a:pt x="18287" y="32003"/>
                    </a:lnTo>
                    <a:lnTo>
                      <a:pt x="57150" y="6857"/>
                    </a:lnTo>
                    <a:lnTo>
                      <a:pt x="105155" y="0"/>
                    </a:lnTo>
                    <a:lnTo>
                      <a:pt x="130301" y="4571"/>
                    </a:lnTo>
                    <a:lnTo>
                      <a:pt x="171450" y="25145"/>
                    </a:lnTo>
                    <a:lnTo>
                      <a:pt x="194309" y="59435"/>
                    </a:lnTo>
                    <a:lnTo>
                      <a:pt x="196595" y="80009"/>
                    </a:lnTo>
                  </a:path>
                </a:pathLst>
              </a:custGeom>
              <a:ln w="3171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" name="object 13">
                <a:extLst>
                  <a:ext uri="{FF2B5EF4-FFF2-40B4-BE49-F238E27FC236}">
                    <a16:creationId xmlns:a16="http://schemas.microsoft.com/office/drawing/2014/main" id="{FA972177-F8FB-B3E0-8313-F20046F4A8DD}"/>
                  </a:ext>
                </a:extLst>
              </p:cNvPr>
              <p:cNvSpPr/>
              <p:nvPr/>
            </p:nvSpPr>
            <p:spPr>
              <a:xfrm>
                <a:off x="7941945" y="2410586"/>
                <a:ext cx="0" cy="208279"/>
              </a:xfrm>
              <a:custGeom>
                <a:avLst/>
                <a:gdLst/>
                <a:ahLst/>
                <a:cxnLst/>
                <a:rect l="l" t="t" r="r" b="b"/>
                <a:pathLst>
                  <a:path h="208280">
                    <a:moveTo>
                      <a:pt x="0" y="0"/>
                    </a:moveTo>
                    <a:lnTo>
                      <a:pt x="0" y="208026"/>
                    </a:lnTo>
                  </a:path>
                </a:pathLst>
              </a:custGeom>
              <a:ln w="3171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3" name="object 14">
              <a:extLst>
                <a:ext uri="{FF2B5EF4-FFF2-40B4-BE49-F238E27FC236}">
                  <a16:creationId xmlns:a16="http://schemas.microsoft.com/office/drawing/2014/main" id="{D688C1F0-8C18-6651-1B38-1B040C9FB9B7}"/>
                </a:ext>
              </a:extLst>
            </p:cNvPr>
            <p:cNvSpPr txBox="1"/>
            <p:nvPr/>
          </p:nvSpPr>
          <p:spPr>
            <a:xfrm>
              <a:off x="7791261" y="590088"/>
              <a:ext cx="780948" cy="682490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10"/>
                </a:spcBef>
              </a:pPr>
              <a:r>
                <a:rPr lang="fr-FR" sz="3500" spc="5" dirty="0">
                  <a:latin typeface="Times New Roman"/>
                  <a:cs typeface="Times New Roman"/>
                </a:rPr>
                <a:t>V</a:t>
              </a:r>
              <a:endParaRPr sz="3500" dirty="0">
                <a:latin typeface="Times New Roman"/>
                <a:cs typeface="Times New Roman"/>
              </a:endParaRPr>
            </a:p>
          </p:txBody>
        </p:sp>
        <p:sp>
          <p:nvSpPr>
            <p:cNvPr id="42" name="object 15">
              <a:extLst>
                <a:ext uri="{FF2B5EF4-FFF2-40B4-BE49-F238E27FC236}">
                  <a16:creationId xmlns:a16="http://schemas.microsoft.com/office/drawing/2014/main" id="{86240131-69D9-0FE3-CF37-C68C4D1D967A}"/>
                </a:ext>
              </a:extLst>
            </p:cNvPr>
            <p:cNvSpPr txBox="1"/>
            <p:nvPr/>
          </p:nvSpPr>
          <p:spPr>
            <a:xfrm>
              <a:off x="7981970" y="891986"/>
              <a:ext cx="422909" cy="3835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2350" spc="-5" dirty="0">
                  <a:latin typeface="Times New Roman"/>
                  <a:cs typeface="Times New Roman"/>
                </a:rPr>
                <a:t>CC</a:t>
              </a:r>
              <a:endParaRPr sz="2350">
                <a:latin typeface="Times New Roman"/>
                <a:cs typeface="Times New Roman"/>
              </a:endParaRPr>
            </a:p>
          </p:txBody>
        </p:sp>
        <p:sp>
          <p:nvSpPr>
            <p:cNvPr id="50" name="object 16">
              <a:extLst>
                <a:ext uri="{FF2B5EF4-FFF2-40B4-BE49-F238E27FC236}">
                  <a16:creationId xmlns:a16="http://schemas.microsoft.com/office/drawing/2014/main" id="{F1A841AC-EF43-E672-C149-1F3F438ADCCA}"/>
                </a:ext>
              </a:extLst>
            </p:cNvPr>
            <p:cNvSpPr txBox="1"/>
            <p:nvPr/>
          </p:nvSpPr>
          <p:spPr>
            <a:xfrm>
              <a:off x="8223308" y="1809496"/>
              <a:ext cx="615950" cy="560704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10"/>
                </a:spcBef>
              </a:pPr>
              <a:r>
                <a:rPr sz="3500" spc="170" dirty="0">
                  <a:latin typeface="Times New Roman"/>
                  <a:cs typeface="Times New Roman"/>
                </a:rPr>
                <a:t>R</a:t>
              </a:r>
              <a:r>
                <a:rPr sz="3525" spc="254" baseline="-17730" dirty="0">
                  <a:latin typeface="Times New Roman"/>
                  <a:cs typeface="Times New Roman"/>
                </a:rPr>
                <a:t>C</a:t>
              </a:r>
              <a:endParaRPr sz="3525" baseline="-17730" dirty="0">
                <a:latin typeface="Times New Roman"/>
                <a:cs typeface="Times New Roman"/>
              </a:endParaRPr>
            </a:p>
          </p:txBody>
        </p:sp>
        <p:sp>
          <p:nvSpPr>
            <p:cNvPr id="51" name="object 17">
              <a:extLst>
                <a:ext uri="{FF2B5EF4-FFF2-40B4-BE49-F238E27FC236}">
                  <a16:creationId xmlns:a16="http://schemas.microsoft.com/office/drawing/2014/main" id="{F63BF737-BC37-5BBD-5492-913B117617DB}"/>
                </a:ext>
              </a:extLst>
            </p:cNvPr>
            <p:cNvSpPr txBox="1"/>
            <p:nvPr/>
          </p:nvSpPr>
          <p:spPr>
            <a:xfrm>
              <a:off x="6024749" y="4330125"/>
              <a:ext cx="829944" cy="682490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10"/>
                </a:spcBef>
              </a:pPr>
              <a:r>
                <a:rPr lang="fr-FR" sz="5250" spc="195" baseline="11111" dirty="0">
                  <a:solidFill>
                    <a:srgbClr val="ED1C24"/>
                  </a:solidFill>
                  <a:latin typeface="Times New Roman"/>
                  <a:cs typeface="Times New Roman"/>
                </a:rPr>
                <a:t>V</a:t>
              </a:r>
              <a:r>
                <a:rPr sz="2350" spc="130" dirty="0">
                  <a:solidFill>
                    <a:srgbClr val="ED1C24"/>
                  </a:solidFill>
                  <a:latin typeface="Times New Roman"/>
                  <a:cs typeface="Times New Roman"/>
                </a:rPr>
                <a:t>BE</a:t>
              </a:r>
              <a:endParaRPr sz="2350" dirty="0">
                <a:latin typeface="Times New Roman"/>
                <a:cs typeface="Times New Roman"/>
              </a:endParaRPr>
            </a:p>
          </p:txBody>
        </p:sp>
        <p:grpSp>
          <p:nvGrpSpPr>
            <p:cNvPr id="52" name="object 18">
              <a:extLst>
                <a:ext uri="{FF2B5EF4-FFF2-40B4-BE49-F238E27FC236}">
                  <a16:creationId xmlns:a16="http://schemas.microsoft.com/office/drawing/2014/main" id="{B06B5B2A-A639-F53E-651E-231BDDD1E1F5}"/>
                </a:ext>
              </a:extLst>
            </p:cNvPr>
            <p:cNvGrpSpPr/>
            <p:nvPr/>
          </p:nvGrpSpPr>
          <p:grpSpPr>
            <a:xfrm>
              <a:off x="5509940" y="2733465"/>
              <a:ext cx="2757170" cy="2651760"/>
              <a:chOff x="5715508" y="3953764"/>
              <a:chExt cx="2757170" cy="2651760"/>
            </a:xfrm>
          </p:grpSpPr>
          <p:sp>
            <p:nvSpPr>
              <p:cNvPr id="53" name="object 19">
                <a:extLst>
                  <a:ext uri="{FF2B5EF4-FFF2-40B4-BE49-F238E27FC236}">
                    <a16:creationId xmlns:a16="http://schemas.microsoft.com/office/drawing/2014/main" id="{6CFB84A1-651A-1B93-C70E-9D3AF2880691}"/>
                  </a:ext>
                </a:extLst>
              </p:cNvPr>
              <p:cNvSpPr/>
              <p:nvPr/>
            </p:nvSpPr>
            <p:spPr>
              <a:xfrm>
                <a:off x="7418451" y="4685157"/>
                <a:ext cx="521334" cy="836930"/>
              </a:xfrm>
              <a:custGeom>
                <a:avLst/>
                <a:gdLst/>
                <a:ahLst/>
                <a:cxnLst/>
                <a:rect l="l" t="t" r="r" b="b"/>
                <a:pathLst>
                  <a:path w="521334" h="836929">
                    <a:moveTo>
                      <a:pt x="105155" y="834389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834389"/>
                    </a:lnTo>
                    <a:lnTo>
                      <a:pt x="105155" y="834389"/>
                    </a:lnTo>
                    <a:close/>
                  </a:path>
                  <a:path w="521334" h="836929">
                    <a:moveTo>
                      <a:pt x="339126" y="652593"/>
                    </a:moveTo>
                    <a:lnTo>
                      <a:pt x="105155" y="416051"/>
                    </a:lnTo>
                    <a:lnTo>
                      <a:pt x="338365" y="653148"/>
                    </a:lnTo>
                    <a:lnTo>
                      <a:pt x="339126" y="652593"/>
                    </a:lnTo>
                    <a:close/>
                  </a:path>
                  <a:path w="521334" h="836929">
                    <a:moveTo>
                      <a:pt x="516635" y="835417"/>
                    </a:moveTo>
                    <a:lnTo>
                      <a:pt x="516635" y="834389"/>
                    </a:lnTo>
                    <a:lnTo>
                      <a:pt x="338365" y="653148"/>
                    </a:lnTo>
                    <a:lnTo>
                      <a:pt x="205740" y="749807"/>
                    </a:lnTo>
                    <a:lnTo>
                      <a:pt x="516635" y="835417"/>
                    </a:lnTo>
                    <a:close/>
                  </a:path>
                  <a:path w="521334" h="836929">
                    <a:moveTo>
                      <a:pt x="516234" y="831648"/>
                    </a:moveTo>
                    <a:lnTo>
                      <a:pt x="475488" y="553212"/>
                    </a:lnTo>
                    <a:lnTo>
                      <a:pt x="339126" y="652593"/>
                    </a:lnTo>
                    <a:lnTo>
                      <a:pt x="516234" y="831648"/>
                    </a:lnTo>
                    <a:close/>
                  </a:path>
                  <a:path w="521334" h="836929">
                    <a:moveTo>
                      <a:pt x="521207" y="836676"/>
                    </a:moveTo>
                    <a:lnTo>
                      <a:pt x="516234" y="831648"/>
                    </a:lnTo>
                    <a:lnTo>
                      <a:pt x="516635" y="834389"/>
                    </a:lnTo>
                    <a:lnTo>
                      <a:pt x="516635" y="835417"/>
                    </a:lnTo>
                    <a:lnTo>
                      <a:pt x="521207" y="83667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4" name="object 20">
                <a:extLst>
                  <a:ext uri="{FF2B5EF4-FFF2-40B4-BE49-F238E27FC236}">
                    <a16:creationId xmlns:a16="http://schemas.microsoft.com/office/drawing/2014/main" id="{021F2A03-CC1C-D94B-A0A3-A8462B134192}"/>
                  </a:ext>
                </a:extLst>
              </p:cNvPr>
              <p:cNvSpPr/>
              <p:nvPr/>
            </p:nvSpPr>
            <p:spPr>
              <a:xfrm>
                <a:off x="7418451" y="4685157"/>
                <a:ext cx="521334" cy="836930"/>
              </a:xfrm>
              <a:custGeom>
                <a:avLst/>
                <a:gdLst/>
                <a:ahLst/>
                <a:cxnLst/>
                <a:rect l="l" t="t" r="r" b="b"/>
                <a:pathLst>
                  <a:path w="521334" h="836929">
                    <a:moveTo>
                      <a:pt x="516635" y="0"/>
                    </a:moveTo>
                    <a:lnTo>
                      <a:pt x="105155" y="416051"/>
                    </a:lnTo>
                    <a:lnTo>
                      <a:pt x="105155" y="0"/>
                    </a:lnTo>
                    <a:lnTo>
                      <a:pt x="0" y="0"/>
                    </a:lnTo>
                    <a:lnTo>
                      <a:pt x="0" y="834389"/>
                    </a:lnTo>
                    <a:lnTo>
                      <a:pt x="105155" y="834389"/>
                    </a:lnTo>
                    <a:lnTo>
                      <a:pt x="105155" y="416051"/>
                    </a:lnTo>
                    <a:lnTo>
                      <a:pt x="516635" y="834389"/>
                    </a:lnTo>
                    <a:lnTo>
                      <a:pt x="475488" y="553212"/>
                    </a:lnTo>
                    <a:lnTo>
                      <a:pt x="205740" y="749807"/>
                    </a:lnTo>
                    <a:lnTo>
                      <a:pt x="521207" y="836676"/>
                    </a:lnTo>
                    <a:lnTo>
                      <a:pt x="105155" y="416051"/>
                    </a:lnTo>
                    <a:lnTo>
                      <a:pt x="516635" y="0"/>
                    </a:lnTo>
                    <a:close/>
                  </a:path>
                  <a:path w="521334" h="836929">
                    <a:moveTo>
                      <a:pt x="516635" y="0"/>
                    </a:moveTo>
                    <a:lnTo>
                      <a:pt x="105155" y="416051"/>
                    </a:lnTo>
                    <a:lnTo>
                      <a:pt x="105155" y="0"/>
                    </a:lnTo>
                    <a:lnTo>
                      <a:pt x="0" y="0"/>
                    </a:lnTo>
                    <a:lnTo>
                      <a:pt x="0" y="834389"/>
                    </a:lnTo>
                    <a:lnTo>
                      <a:pt x="105155" y="834389"/>
                    </a:lnTo>
                    <a:lnTo>
                      <a:pt x="105155" y="416051"/>
                    </a:lnTo>
                    <a:lnTo>
                      <a:pt x="516635" y="834389"/>
                    </a:lnTo>
                    <a:lnTo>
                      <a:pt x="475488" y="553212"/>
                    </a:lnTo>
                    <a:lnTo>
                      <a:pt x="205740" y="749807"/>
                    </a:lnTo>
                    <a:lnTo>
                      <a:pt x="521207" y="836676"/>
                    </a:lnTo>
                    <a:lnTo>
                      <a:pt x="105155" y="416051"/>
                    </a:lnTo>
                    <a:lnTo>
                      <a:pt x="516635" y="0"/>
                    </a:lnTo>
                  </a:path>
                </a:pathLst>
              </a:custGeom>
              <a:ln w="3171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5" name="object 21">
                <a:extLst>
                  <a:ext uri="{FF2B5EF4-FFF2-40B4-BE49-F238E27FC236}">
                    <a16:creationId xmlns:a16="http://schemas.microsoft.com/office/drawing/2014/main" id="{C73516F1-3E64-98DF-A74D-A06BB9C8BE06}"/>
                  </a:ext>
                </a:extLst>
              </p:cNvPr>
              <p:cNvSpPr/>
              <p:nvPr/>
            </p:nvSpPr>
            <p:spPr>
              <a:xfrm>
                <a:off x="7208139" y="5540121"/>
                <a:ext cx="1248410" cy="1049655"/>
              </a:xfrm>
              <a:custGeom>
                <a:avLst/>
                <a:gdLst/>
                <a:ahLst/>
                <a:cxnLst/>
                <a:rect l="l" t="t" r="r" b="b"/>
                <a:pathLst>
                  <a:path w="1248409" h="1049654">
                    <a:moveTo>
                      <a:pt x="726947" y="0"/>
                    </a:moveTo>
                    <a:lnTo>
                      <a:pt x="726947" y="884681"/>
                    </a:lnTo>
                    <a:lnTo>
                      <a:pt x="210311" y="884681"/>
                    </a:lnTo>
                    <a:lnTo>
                      <a:pt x="0" y="1049274"/>
                    </a:lnTo>
                    <a:lnTo>
                      <a:pt x="210311" y="884681"/>
                    </a:lnTo>
                    <a:lnTo>
                      <a:pt x="416051" y="884681"/>
                    </a:lnTo>
                    <a:lnTo>
                      <a:pt x="210311" y="1049274"/>
                    </a:lnTo>
                    <a:lnTo>
                      <a:pt x="416051" y="884681"/>
                    </a:lnTo>
                    <a:lnTo>
                      <a:pt x="626363" y="884681"/>
                    </a:lnTo>
                    <a:lnTo>
                      <a:pt x="416051" y="1049274"/>
                    </a:lnTo>
                    <a:lnTo>
                      <a:pt x="626363" y="884681"/>
                    </a:lnTo>
                    <a:lnTo>
                      <a:pt x="832103" y="884681"/>
                    </a:lnTo>
                    <a:lnTo>
                      <a:pt x="626363" y="1049274"/>
                    </a:lnTo>
                    <a:lnTo>
                      <a:pt x="832103" y="884681"/>
                    </a:lnTo>
                    <a:lnTo>
                      <a:pt x="1042415" y="884681"/>
                    </a:lnTo>
                    <a:lnTo>
                      <a:pt x="832103" y="1049274"/>
                    </a:lnTo>
                    <a:lnTo>
                      <a:pt x="1042415" y="884681"/>
                    </a:lnTo>
                    <a:lnTo>
                      <a:pt x="1248155" y="884681"/>
                    </a:lnTo>
                    <a:lnTo>
                      <a:pt x="1042415" y="1049274"/>
                    </a:lnTo>
                  </a:path>
                </a:pathLst>
              </a:custGeom>
              <a:ln w="3171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56" name="object 22">
                <a:extLst>
                  <a:ext uri="{FF2B5EF4-FFF2-40B4-BE49-F238E27FC236}">
                    <a16:creationId xmlns:a16="http://schemas.microsoft.com/office/drawing/2014/main" id="{03D2B76C-38DE-F2BC-395A-B869E4E4192A}"/>
                  </a:ext>
                </a:extLst>
              </p:cNvPr>
              <p:cNvSpPr/>
              <p:nvPr/>
            </p:nvSpPr>
            <p:spPr>
              <a:xfrm>
                <a:off x="5731383" y="3969639"/>
                <a:ext cx="1271270" cy="509905"/>
              </a:xfrm>
              <a:custGeom>
                <a:avLst/>
                <a:gdLst/>
                <a:ahLst/>
                <a:cxnLst/>
                <a:rect l="l" t="t" r="r" b="b"/>
                <a:pathLst>
                  <a:path w="1271270" h="509904">
                    <a:moveTo>
                      <a:pt x="0" y="0"/>
                    </a:moveTo>
                    <a:lnTo>
                      <a:pt x="0" y="509778"/>
                    </a:lnTo>
                    <a:lnTo>
                      <a:pt x="1271015" y="509777"/>
                    </a:lnTo>
                    <a:lnTo>
                      <a:pt x="1271015" y="0"/>
                    </a:lnTo>
                    <a:lnTo>
                      <a:pt x="0" y="0"/>
                    </a:lnTo>
                  </a:path>
                </a:pathLst>
              </a:custGeom>
              <a:ln w="3171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7" name="object 23">
              <a:extLst>
                <a:ext uri="{FF2B5EF4-FFF2-40B4-BE49-F238E27FC236}">
                  <a16:creationId xmlns:a16="http://schemas.microsoft.com/office/drawing/2014/main" id="{392C7724-C843-5540-793D-4E18572E3DD0}"/>
                </a:ext>
              </a:extLst>
            </p:cNvPr>
            <p:cNvSpPr txBox="1"/>
            <p:nvPr/>
          </p:nvSpPr>
          <p:spPr>
            <a:xfrm>
              <a:off x="5775305" y="2023215"/>
              <a:ext cx="615950" cy="560704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10"/>
                </a:spcBef>
              </a:pPr>
              <a:r>
                <a:rPr sz="3500" spc="170" dirty="0">
                  <a:latin typeface="Times New Roman"/>
                  <a:cs typeface="Times New Roman"/>
                </a:rPr>
                <a:t>R</a:t>
              </a:r>
              <a:r>
                <a:rPr sz="3525" spc="254" baseline="-16548" dirty="0">
                  <a:latin typeface="Times New Roman"/>
                  <a:cs typeface="Times New Roman"/>
                </a:rPr>
                <a:t>C</a:t>
              </a:r>
              <a:endParaRPr sz="3525" baseline="-16548" dirty="0">
                <a:latin typeface="Times New Roman"/>
                <a:cs typeface="Times New Roman"/>
              </a:endParaRPr>
            </a:p>
          </p:txBody>
        </p:sp>
        <p:grpSp>
          <p:nvGrpSpPr>
            <p:cNvPr id="58" name="object 24">
              <a:extLst>
                <a:ext uri="{FF2B5EF4-FFF2-40B4-BE49-F238E27FC236}">
                  <a16:creationId xmlns:a16="http://schemas.microsoft.com/office/drawing/2014/main" id="{CF46498B-6ED1-D9EE-E184-BAD2E6E60B76}"/>
                </a:ext>
              </a:extLst>
            </p:cNvPr>
            <p:cNvGrpSpPr/>
            <p:nvPr/>
          </p:nvGrpSpPr>
          <p:grpSpPr>
            <a:xfrm>
              <a:off x="4872018" y="2936937"/>
              <a:ext cx="3223114" cy="1968480"/>
              <a:chOff x="5077586" y="4157236"/>
              <a:chExt cx="3223114" cy="1968480"/>
            </a:xfrm>
          </p:grpSpPr>
          <p:sp>
            <p:nvSpPr>
              <p:cNvPr id="59" name="object 25">
                <a:extLst>
                  <a:ext uri="{FF2B5EF4-FFF2-40B4-BE49-F238E27FC236}">
                    <a16:creationId xmlns:a16="http://schemas.microsoft.com/office/drawing/2014/main" id="{625E7025-DD90-3D09-E718-AE648F094A30}"/>
                  </a:ext>
                </a:extLst>
              </p:cNvPr>
              <p:cNvSpPr/>
              <p:nvPr/>
            </p:nvSpPr>
            <p:spPr>
              <a:xfrm>
                <a:off x="6984110" y="4225670"/>
                <a:ext cx="951230" cy="0"/>
              </a:xfrm>
              <a:custGeom>
                <a:avLst/>
                <a:gdLst/>
                <a:ahLst/>
                <a:cxnLst/>
                <a:rect l="l" t="t" r="r" b="b"/>
                <a:pathLst>
                  <a:path w="951229">
                    <a:moveTo>
                      <a:pt x="0" y="0"/>
                    </a:moveTo>
                    <a:lnTo>
                      <a:pt x="950976" y="0"/>
                    </a:lnTo>
                  </a:path>
                </a:pathLst>
              </a:custGeom>
              <a:ln w="3171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0" name="object 26">
                <a:extLst>
                  <a:ext uri="{FF2B5EF4-FFF2-40B4-BE49-F238E27FC236}">
                    <a16:creationId xmlns:a16="http://schemas.microsoft.com/office/drawing/2014/main" id="{A4AE4EF3-96CC-8BE0-EB7D-6D152F6C87FA}"/>
                  </a:ext>
                </a:extLst>
              </p:cNvPr>
              <p:cNvSpPr/>
              <p:nvPr/>
            </p:nvSpPr>
            <p:spPr>
              <a:xfrm>
                <a:off x="5077586" y="4225670"/>
                <a:ext cx="2350135" cy="868680"/>
              </a:xfrm>
              <a:custGeom>
                <a:avLst/>
                <a:gdLst/>
                <a:ahLst/>
                <a:cxnLst/>
                <a:rect l="l" t="t" r="r" b="b"/>
                <a:pathLst>
                  <a:path w="2350134" h="868679">
                    <a:moveTo>
                      <a:pt x="635508" y="0"/>
                    </a:moveTo>
                    <a:lnTo>
                      <a:pt x="0" y="0"/>
                    </a:lnTo>
                    <a:lnTo>
                      <a:pt x="0" y="868679"/>
                    </a:lnTo>
                    <a:lnTo>
                      <a:pt x="2350008" y="868679"/>
                    </a:lnTo>
                  </a:path>
                </a:pathLst>
              </a:custGeom>
              <a:ln w="3171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61" name="object 27">
                <a:extLst>
                  <a:ext uri="{FF2B5EF4-FFF2-40B4-BE49-F238E27FC236}">
                    <a16:creationId xmlns:a16="http://schemas.microsoft.com/office/drawing/2014/main" id="{D1548277-D720-4556-B351-772BA0C71EBD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855223" y="4157236"/>
                <a:ext cx="159727" cy="134581"/>
              </a:xfrm>
              <a:prstGeom prst="rect">
                <a:avLst/>
              </a:prstGeom>
            </p:spPr>
          </p:pic>
          <p:sp>
            <p:nvSpPr>
              <p:cNvPr id="68" name="object 28">
                <a:extLst>
                  <a:ext uri="{FF2B5EF4-FFF2-40B4-BE49-F238E27FC236}">
                    <a16:creationId xmlns:a16="http://schemas.microsoft.com/office/drawing/2014/main" id="{89AF3A88-D762-511E-A508-DF2CCA6C131E}"/>
                  </a:ext>
                </a:extLst>
              </p:cNvPr>
              <p:cNvSpPr/>
              <p:nvPr/>
            </p:nvSpPr>
            <p:spPr>
              <a:xfrm>
                <a:off x="7027544" y="5181218"/>
                <a:ext cx="283845" cy="245110"/>
              </a:xfrm>
              <a:custGeom>
                <a:avLst/>
                <a:gdLst/>
                <a:ahLst/>
                <a:cxnLst/>
                <a:rect l="l" t="t" r="r" b="b"/>
                <a:pathLst>
                  <a:path w="283845" h="245110">
                    <a:moveTo>
                      <a:pt x="283463" y="244601"/>
                    </a:moveTo>
                    <a:lnTo>
                      <a:pt x="144018" y="6857"/>
                    </a:lnTo>
                    <a:lnTo>
                      <a:pt x="144018" y="0"/>
                    </a:lnTo>
                    <a:lnTo>
                      <a:pt x="0" y="242315"/>
                    </a:lnTo>
                    <a:lnTo>
                      <a:pt x="144018" y="198881"/>
                    </a:lnTo>
                    <a:lnTo>
                      <a:pt x="283463" y="244601"/>
                    </a:lnTo>
                    <a:close/>
                  </a:path>
                </a:pathLst>
              </a:custGeom>
              <a:solidFill>
                <a:srgbClr val="ED1C2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9" name="object 29">
                <a:extLst>
                  <a:ext uri="{FF2B5EF4-FFF2-40B4-BE49-F238E27FC236}">
                    <a16:creationId xmlns:a16="http://schemas.microsoft.com/office/drawing/2014/main" id="{BF68B9DA-66AD-63C7-230F-D2D7CE02E7BC}"/>
                  </a:ext>
                </a:extLst>
              </p:cNvPr>
              <p:cNvSpPr/>
              <p:nvPr/>
            </p:nvSpPr>
            <p:spPr>
              <a:xfrm>
                <a:off x="7025258" y="5178931"/>
                <a:ext cx="285750" cy="94678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946785">
                    <a:moveTo>
                      <a:pt x="146304" y="946403"/>
                    </a:moveTo>
                    <a:lnTo>
                      <a:pt x="146304" y="2286"/>
                    </a:lnTo>
                    <a:lnTo>
                      <a:pt x="2286" y="244601"/>
                    </a:lnTo>
                    <a:lnTo>
                      <a:pt x="146304" y="201167"/>
                    </a:lnTo>
                    <a:lnTo>
                      <a:pt x="285750" y="246887"/>
                    </a:lnTo>
                    <a:lnTo>
                      <a:pt x="146304" y="9143"/>
                    </a:lnTo>
                    <a:lnTo>
                      <a:pt x="146304" y="946403"/>
                    </a:lnTo>
                    <a:close/>
                  </a:path>
                  <a:path w="285750" h="946785">
                    <a:moveTo>
                      <a:pt x="144018" y="944117"/>
                    </a:moveTo>
                    <a:lnTo>
                      <a:pt x="144018" y="0"/>
                    </a:lnTo>
                    <a:lnTo>
                      <a:pt x="0" y="244601"/>
                    </a:lnTo>
                    <a:lnTo>
                      <a:pt x="144018" y="201167"/>
                    </a:lnTo>
                    <a:lnTo>
                      <a:pt x="283464" y="246887"/>
                    </a:lnTo>
                    <a:lnTo>
                      <a:pt x="144018" y="9143"/>
                    </a:lnTo>
                    <a:lnTo>
                      <a:pt x="144018" y="944117"/>
                    </a:lnTo>
                  </a:path>
                </a:pathLst>
              </a:custGeom>
              <a:ln w="12700">
                <a:solidFill>
                  <a:srgbClr val="ED1C2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2" name="object 29">
                <a:extLst>
                  <a:ext uri="{FF2B5EF4-FFF2-40B4-BE49-F238E27FC236}">
                    <a16:creationId xmlns:a16="http://schemas.microsoft.com/office/drawing/2014/main" id="{32611B3F-1BDF-D20C-44B1-E545D9CAD3ED}"/>
                  </a:ext>
                </a:extLst>
              </p:cNvPr>
              <p:cNvSpPr/>
              <p:nvPr/>
            </p:nvSpPr>
            <p:spPr>
              <a:xfrm>
                <a:off x="8014950" y="4575301"/>
                <a:ext cx="285750" cy="946786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946785">
                    <a:moveTo>
                      <a:pt x="146304" y="946403"/>
                    </a:moveTo>
                    <a:lnTo>
                      <a:pt x="146304" y="2286"/>
                    </a:lnTo>
                    <a:lnTo>
                      <a:pt x="2286" y="244601"/>
                    </a:lnTo>
                    <a:lnTo>
                      <a:pt x="146304" y="201167"/>
                    </a:lnTo>
                    <a:lnTo>
                      <a:pt x="285750" y="246887"/>
                    </a:lnTo>
                    <a:lnTo>
                      <a:pt x="146304" y="9143"/>
                    </a:lnTo>
                    <a:lnTo>
                      <a:pt x="146304" y="946403"/>
                    </a:lnTo>
                    <a:close/>
                  </a:path>
                  <a:path w="285750" h="946785">
                    <a:moveTo>
                      <a:pt x="144018" y="944117"/>
                    </a:moveTo>
                    <a:lnTo>
                      <a:pt x="144018" y="0"/>
                    </a:lnTo>
                    <a:lnTo>
                      <a:pt x="0" y="244601"/>
                    </a:lnTo>
                    <a:lnTo>
                      <a:pt x="144018" y="201167"/>
                    </a:lnTo>
                    <a:lnTo>
                      <a:pt x="283464" y="246887"/>
                    </a:lnTo>
                    <a:lnTo>
                      <a:pt x="144018" y="9143"/>
                    </a:lnTo>
                    <a:lnTo>
                      <a:pt x="144018" y="944117"/>
                    </a:lnTo>
                  </a:path>
                </a:pathLst>
              </a:custGeom>
              <a:ln w="12700">
                <a:solidFill>
                  <a:srgbClr val="ED1C2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3" name="object 28">
                <a:extLst>
                  <a:ext uri="{FF2B5EF4-FFF2-40B4-BE49-F238E27FC236}">
                    <a16:creationId xmlns:a16="http://schemas.microsoft.com/office/drawing/2014/main" id="{C37FA50F-291D-9F5C-7681-8A0EC260ED83}"/>
                  </a:ext>
                </a:extLst>
              </p:cNvPr>
              <p:cNvSpPr/>
              <p:nvPr/>
            </p:nvSpPr>
            <p:spPr>
              <a:xfrm>
                <a:off x="8016855" y="4551780"/>
                <a:ext cx="283845" cy="245111"/>
              </a:xfrm>
              <a:custGeom>
                <a:avLst/>
                <a:gdLst/>
                <a:ahLst/>
                <a:cxnLst/>
                <a:rect l="l" t="t" r="r" b="b"/>
                <a:pathLst>
                  <a:path w="283845" h="245110">
                    <a:moveTo>
                      <a:pt x="283463" y="244601"/>
                    </a:moveTo>
                    <a:lnTo>
                      <a:pt x="144018" y="6857"/>
                    </a:lnTo>
                    <a:lnTo>
                      <a:pt x="144018" y="0"/>
                    </a:lnTo>
                    <a:lnTo>
                      <a:pt x="0" y="242315"/>
                    </a:lnTo>
                    <a:lnTo>
                      <a:pt x="144018" y="198881"/>
                    </a:lnTo>
                    <a:lnTo>
                      <a:pt x="283463" y="244601"/>
                    </a:lnTo>
                    <a:close/>
                  </a:path>
                </a:pathLst>
              </a:custGeom>
              <a:solidFill>
                <a:srgbClr val="ED1C2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71" name="object 17">
              <a:extLst>
                <a:ext uri="{FF2B5EF4-FFF2-40B4-BE49-F238E27FC236}">
                  <a16:creationId xmlns:a16="http://schemas.microsoft.com/office/drawing/2014/main" id="{7DFA2615-838E-F20F-0211-A32689648108}"/>
                </a:ext>
              </a:extLst>
            </p:cNvPr>
            <p:cNvSpPr txBox="1"/>
            <p:nvPr/>
          </p:nvSpPr>
          <p:spPr>
            <a:xfrm>
              <a:off x="8170298" y="3368250"/>
              <a:ext cx="829944" cy="682490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10"/>
                </a:spcBef>
              </a:pPr>
              <a:r>
                <a:rPr lang="fr-FR" sz="5250" spc="195" baseline="11111" dirty="0">
                  <a:solidFill>
                    <a:srgbClr val="ED1C24"/>
                  </a:solidFill>
                  <a:latin typeface="Times New Roman"/>
                  <a:cs typeface="Times New Roman"/>
                </a:rPr>
                <a:t>V</a:t>
              </a:r>
              <a:r>
                <a:rPr lang="fr-FR" sz="2350" spc="130" dirty="0">
                  <a:solidFill>
                    <a:srgbClr val="ED1C24"/>
                  </a:solidFill>
                  <a:latin typeface="Times New Roman"/>
                  <a:cs typeface="Times New Roman"/>
                </a:rPr>
                <a:t>C</a:t>
              </a:r>
              <a:r>
                <a:rPr sz="2350" spc="130" dirty="0">
                  <a:solidFill>
                    <a:srgbClr val="ED1C24"/>
                  </a:solidFill>
                  <a:latin typeface="Times New Roman"/>
                  <a:cs typeface="Times New Roman"/>
                </a:rPr>
                <a:t>E</a:t>
              </a:r>
              <a:endParaRPr sz="2350" dirty="0">
                <a:latin typeface="Times New Roman"/>
                <a:cs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5629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6"/>
            <a:ext cx="52086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-Transistor-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1620" y="507690"/>
            <a:ext cx="69931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4. Polarisation </a:t>
            </a:r>
            <a:r>
              <a:rPr lang="fr-FR" sz="18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du transistor</a:t>
            </a:r>
            <a:endParaRPr lang="fr-FR" b="1" spc="-5" dirty="0">
              <a:solidFill>
                <a:srgbClr val="FF0000"/>
              </a:solidFill>
              <a:latin typeface="Bookman Old Style" panose="02050604050505020204" pitchFamily="18" charset="0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715000" y="365260"/>
            <a:ext cx="3328256" cy="10117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46">
            <a:extLst>
              <a:ext uri="{FF2B5EF4-FFF2-40B4-BE49-F238E27FC236}">
                <a16:creationId xmlns:a16="http://schemas.microsoft.com/office/drawing/2014/main" id="{7198176F-4D83-4A98-1EFA-F78693C2B68B}"/>
              </a:ext>
            </a:extLst>
          </p:cNvPr>
          <p:cNvSpPr txBox="1"/>
          <p:nvPr/>
        </p:nvSpPr>
        <p:spPr>
          <a:xfrm>
            <a:off x="8828933" y="486598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48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C72328-F671-0D88-6318-C7E7FDBE9A01}"/>
              </a:ext>
            </a:extLst>
          </p:cNvPr>
          <p:cNvSpPr txBox="1"/>
          <p:nvPr/>
        </p:nvSpPr>
        <p:spPr>
          <a:xfrm>
            <a:off x="658743" y="768943"/>
            <a:ext cx="86853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600" b="1" spc="-5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defRPr>
            </a:lvl1pPr>
          </a:lstStyle>
          <a:p>
            <a:r>
              <a:rPr lang="fr-FR" sz="1400" dirty="0"/>
              <a:t>4.5 Types de polarisation </a:t>
            </a:r>
            <a:br>
              <a:rPr lang="fr-FR" dirty="0"/>
            </a:br>
            <a:endParaRPr lang="fr-FR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3EEB75-DA97-A328-000D-9D9A8F923B9F}"/>
              </a:ext>
            </a:extLst>
          </p:cNvPr>
          <p:cNvSpPr txBox="1"/>
          <p:nvPr/>
        </p:nvSpPr>
        <p:spPr>
          <a:xfrm>
            <a:off x="781110" y="1063519"/>
            <a:ext cx="58482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Wingdings" panose="05000000000000000000" pitchFamily="2" charset="2"/>
              <a:buChar char="q"/>
            </a:pPr>
            <a:r>
              <a:rPr lang="fr-FR" sz="1400" b="1" spc="-5" dirty="0">
                <a:solidFill>
                  <a:srgbClr val="0000FF"/>
                </a:solidFill>
                <a:latin typeface="Bookman Old Style" panose="02050604050505020204" pitchFamily="18" charset="0"/>
                <a:cs typeface="Arial"/>
              </a:rPr>
              <a:t>Polarisation par pont de base</a:t>
            </a:r>
            <a:endParaRPr lang="fr-FR" sz="1400" dirty="0">
              <a:solidFill>
                <a:srgbClr val="0000FF"/>
              </a:solidFill>
              <a:latin typeface="Bookman Old Style" panose="02050604050505020204" pitchFamily="18" charset="0"/>
              <a:cs typeface="Arial"/>
            </a:endParaRP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2368BC0A-61DB-D8EF-EF2A-9DDE16C98E92}"/>
              </a:ext>
            </a:extLst>
          </p:cNvPr>
          <p:cNvGrpSpPr/>
          <p:nvPr/>
        </p:nvGrpSpPr>
        <p:grpSpPr>
          <a:xfrm>
            <a:off x="3869878" y="780721"/>
            <a:ext cx="3506777" cy="4127481"/>
            <a:chOff x="3953919" y="494932"/>
            <a:chExt cx="3773313" cy="4558103"/>
          </a:xfrm>
        </p:grpSpPr>
        <p:sp>
          <p:nvSpPr>
            <p:cNvPr id="24" name="object 6"/>
            <p:cNvSpPr txBox="1"/>
            <p:nvPr/>
          </p:nvSpPr>
          <p:spPr>
            <a:xfrm>
              <a:off x="3992989" y="1487588"/>
              <a:ext cx="388355" cy="42131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95"/>
                </a:spcBef>
              </a:pPr>
              <a:r>
                <a:rPr sz="2400" spc="-30" dirty="0">
                  <a:latin typeface="Times New Roman"/>
                  <a:cs typeface="Times New Roman"/>
                </a:rPr>
                <a:t>R</a:t>
              </a:r>
              <a:r>
                <a:rPr sz="2400" spc="-44" baseline="-17361" dirty="0">
                  <a:latin typeface="Times New Roman"/>
                  <a:cs typeface="Times New Roman"/>
                </a:rPr>
                <a:t>1</a:t>
              </a:r>
              <a:endParaRPr sz="2400" baseline="-17361" dirty="0">
                <a:latin typeface="Times New Roman"/>
                <a:cs typeface="Times New Roman"/>
              </a:endParaRPr>
            </a:p>
          </p:txBody>
        </p:sp>
        <p:grpSp>
          <p:nvGrpSpPr>
            <p:cNvPr id="25" name="object 7"/>
            <p:cNvGrpSpPr/>
            <p:nvPr/>
          </p:nvGrpSpPr>
          <p:grpSpPr>
            <a:xfrm>
              <a:off x="4381344" y="949536"/>
              <a:ext cx="2816479" cy="4103499"/>
              <a:chOff x="6961251" y="2582035"/>
              <a:chExt cx="2816479" cy="4103499"/>
            </a:xfrm>
          </p:grpSpPr>
          <p:sp>
            <p:nvSpPr>
              <p:cNvPr id="26" name="object 8"/>
              <p:cNvSpPr/>
              <p:nvPr/>
            </p:nvSpPr>
            <p:spPr>
              <a:xfrm>
                <a:off x="9302115" y="2582036"/>
                <a:ext cx="356870" cy="1422400"/>
              </a:xfrm>
              <a:custGeom>
                <a:avLst/>
                <a:gdLst/>
                <a:ahLst/>
                <a:cxnLst/>
                <a:rect l="l" t="t" r="r" b="b"/>
                <a:pathLst>
                  <a:path w="356870" h="1422400">
                    <a:moveTo>
                      <a:pt x="178307" y="0"/>
                    </a:moveTo>
                    <a:lnTo>
                      <a:pt x="178307" y="285750"/>
                    </a:lnTo>
                    <a:lnTo>
                      <a:pt x="0" y="285750"/>
                    </a:lnTo>
                    <a:lnTo>
                      <a:pt x="0" y="852677"/>
                    </a:lnTo>
                    <a:lnTo>
                      <a:pt x="178307" y="852677"/>
                    </a:lnTo>
                    <a:lnTo>
                      <a:pt x="178307" y="1421891"/>
                    </a:lnTo>
                    <a:lnTo>
                      <a:pt x="178307" y="852677"/>
                    </a:lnTo>
                    <a:lnTo>
                      <a:pt x="356615" y="852677"/>
                    </a:lnTo>
                    <a:lnTo>
                      <a:pt x="356615" y="285750"/>
                    </a:lnTo>
                    <a:lnTo>
                      <a:pt x="178307" y="285750"/>
                    </a:lnTo>
                  </a:path>
                </a:pathLst>
              </a:custGeom>
              <a:ln w="2929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" name="object 9"/>
              <p:cNvSpPr/>
              <p:nvPr/>
            </p:nvSpPr>
            <p:spPr>
              <a:xfrm>
                <a:off x="7141845" y="2582036"/>
                <a:ext cx="23368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336800">
                    <a:moveTo>
                      <a:pt x="0" y="0"/>
                    </a:moveTo>
                    <a:lnTo>
                      <a:pt x="2336291" y="0"/>
                    </a:lnTo>
                  </a:path>
                </a:pathLst>
              </a:custGeom>
              <a:ln w="2929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8" name="object 10"/>
              <p:cNvSpPr/>
              <p:nvPr/>
            </p:nvSpPr>
            <p:spPr>
              <a:xfrm>
                <a:off x="9062085" y="6289929"/>
                <a:ext cx="715645" cy="395605"/>
              </a:xfrm>
              <a:custGeom>
                <a:avLst/>
                <a:gdLst/>
                <a:ahLst/>
                <a:cxnLst/>
                <a:rect l="l" t="t" r="r" b="b"/>
                <a:pathLst>
                  <a:path w="715645" h="395604">
                    <a:moveTo>
                      <a:pt x="418338" y="0"/>
                    </a:moveTo>
                    <a:lnTo>
                      <a:pt x="418338" y="283464"/>
                    </a:lnTo>
                    <a:lnTo>
                      <a:pt x="118872" y="283464"/>
                    </a:lnTo>
                    <a:lnTo>
                      <a:pt x="0" y="395478"/>
                    </a:lnTo>
                    <a:lnTo>
                      <a:pt x="118872" y="283464"/>
                    </a:lnTo>
                    <a:lnTo>
                      <a:pt x="237744" y="283464"/>
                    </a:lnTo>
                    <a:lnTo>
                      <a:pt x="118872" y="395478"/>
                    </a:lnTo>
                    <a:lnTo>
                      <a:pt x="237744" y="283464"/>
                    </a:lnTo>
                    <a:lnTo>
                      <a:pt x="358901" y="283464"/>
                    </a:lnTo>
                    <a:lnTo>
                      <a:pt x="237744" y="395478"/>
                    </a:lnTo>
                    <a:lnTo>
                      <a:pt x="358901" y="283464"/>
                    </a:lnTo>
                    <a:lnTo>
                      <a:pt x="477774" y="283464"/>
                    </a:lnTo>
                    <a:lnTo>
                      <a:pt x="358901" y="395478"/>
                    </a:lnTo>
                    <a:lnTo>
                      <a:pt x="477774" y="283464"/>
                    </a:lnTo>
                    <a:lnTo>
                      <a:pt x="596646" y="283464"/>
                    </a:lnTo>
                    <a:lnTo>
                      <a:pt x="477774" y="395478"/>
                    </a:lnTo>
                    <a:lnTo>
                      <a:pt x="596646" y="283464"/>
                    </a:lnTo>
                    <a:lnTo>
                      <a:pt x="715518" y="283464"/>
                    </a:lnTo>
                    <a:lnTo>
                      <a:pt x="596646" y="395478"/>
                    </a:lnTo>
                  </a:path>
                </a:pathLst>
              </a:custGeom>
              <a:ln w="2929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9" name="object 11"/>
              <p:cNvSpPr/>
              <p:nvPr/>
            </p:nvSpPr>
            <p:spPr>
              <a:xfrm>
                <a:off x="9302115" y="4577714"/>
                <a:ext cx="356870" cy="1710055"/>
              </a:xfrm>
              <a:custGeom>
                <a:avLst/>
                <a:gdLst/>
                <a:ahLst/>
                <a:cxnLst/>
                <a:rect l="l" t="t" r="r" b="b"/>
                <a:pathLst>
                  <a:path w="356870" h="1710054">
                    <a:moveTo>
                      <a:pt x="178307" y="1709927"/>
                    </a:moveTo>
                    <a:lnTo>
                      <a:pt x="178307" y="854963"/>
                    </a:lnTo>
                    <a:lnTo>
                      <a:pt x="0" y="854963"/>
                    </a:lnTo>
                    <a:lnTo>
                      <a:pt x="0" y="285750"/>
                    </a:lnTo>
                    <a:lnTo>
                      <a:pt x="178307" y="285750"/>
                    </a:lnTo>
                    <a:lnTo>
                      <a:pt x="178307" y="0"/>
                    </a:lnTo>
                    <a:lnTo>
                      <a:pt x="178307" y="285750"/>
                    </a:lnTo>
                    <a:lnTo>
                      <a:pt x="356615" y="285750"/>
                    </a:lnTo>
                    <a:lnTo>
                      <a:pt x="356615" y="854963"/>
                    </a:lnTo>
                    <a:lnTo>
                      <a:pt x="178307" y="854963"/>
                    </a:lnTo>
                  </a:path>
                </a:pathLst>
              </a:custGeom>
              <a:ln w="2929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0" name="object 12"/>
              <p:cNvSpPr/>
              <p:nvPr/>
            </p:nvSpPr>
            <p:spPr>
              <a:xfrm>
                <a:off x="6961251" y="4291964"/>
                <a:ext cx="356870" cy="1995805"/>
              </a:xfrm>
              <a:custGeom>
                <a:avLst/>
                <a:gdLst/>
                <a:ahLst/>
                <a:cxnLst/>
                <a:rect l="l" t="t" r="r" b="b"/>
                <a:pathLst>
                  <a:path w="356870" h="1995804">
                    <a:moveTo>
                      <a:pt x="178307" y="1995677"/>
                    </a:moveTo>
                    <a:lnTo>
                      <a:pt x="178307" y="1140714"/>
                    </a:lnTo>
                    <a:lnTo>
                      <a:pt x="0" y="1140714"/>
                    </a:lnTo>
                    <a:lnTo>
                      <a:pt x="0" y="571500"/>
                    </a:lnTo>
                    <a:lnTo>
                      <a:pt x="178307" y="571500"/>
                    </a:lnTo>
                    <a:lnTo>
                      <a:pt x="178307" y="0"/>
                    </a:lnTo>
                    <a:lnTo>
                      <a:pt x="178307" y="571500"/>
                    </a:lnTo>
                    <a:lnTo>
                      <a:pt x="356616" y="571500"/>
                    </a:lnTo>
                    <a:lnTo>
                      <a:pt x="356616" y="1140714"/>
                    </a:lnTo>
                    <a:lnTo>
                      <a:pt x="178307" y="1140714"/>
                    </a:lnTo>
                  </a:path>
                </a:pathLst>
              </a:custGeom>
              <a:ln w="2929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1" name="object 13"/>
              <p:cNvSpPr/>
              <p:nvPr/>
            </p:nvSpPr>
            <p:spPr>
              <a:xfrm>
                <a:off x="7141845" y="6289929"/>
                <a:ext cx="23368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336800">
                    <a:moveTo>
                      <a:pt x="0" y="0"/>
                    </a:moveTo>
                    <a:lnTo>
                      <a:pt x="2336291" y="0"/>
                    </a:lnTo>
                  </a:path>
                </a:pathLst>
              </a:custGeom>
              <a:ln w="2929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2" name="object 14"/>
              <p:cNvSpPr/>
              <p:nvPr/>
            </p:nvSpPr>
            <p:spPr>
              <a:xfrm>
                <a:off x="8225409" y="4451984"/>
                <a:ext cx="160020" cy="167005"/>
              </a:xfrm>
              <a:custGeom>
                <a:avLst/>
                <a:gdLst/>
                <a:ahLst/>
                <a:cxnLst/>
                <a:rect l="l" t="t" r="r" b="b"/>
                <a:pathLst>
                  <a:path w="160020" h="167004">
                    <a:moveTo>
                      <a:pt x="160020" y="166877"/>
                    </a:moveTo>
                    <a:lnTo>
                      <a:pt x="80010" y="4572"/>
                    </a:lnTo>
                    <a:lnTo>
                      <a:pt x="80010" y="0"/>
                    </a:lnTo>
                    <a:lnTo>
                      <a:pt x="0" y="166877"/>
                    </a:lnTo>
                    <a:lnTo>
                      <a:pt x="80010" y="137160"/>
                    </a:lnTo>
                    <a:lnTo>
                      <a:pt x="160020" y="166877"/>
                    </a:lnTo>
                    <a:close/>
                  </a:path>
                </a:pathLst>
              </a:custGeom>
              <a:solidFill>
                <a:srgbClr val="ED1C2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3" name="object 15"/>
              <p:cNvSpPr/>
              <p:nvPr/>
            </p:nvSpPr>
            <p:spPr>
              <a:xfrm>
                <a:off x="8223123" y="4449698"/>
                <a:ext cx="162560" cy="1765300"/>
              </a:xfrm>
              <a:custGeom>
                <a:avLst/>
                <a:gdLst/>
                <a:ahLst/>
                <a:cxnLst/>
                <a:rect l="l" t="t" r="r" b="b"/>
                <a:pathLst>
                  <a:path w="162559" h="1765300">
                    <a:moveTo>
                      <a:pt x="82296" y="1764791"/>
                    </a:moveTo>
                    <a:lnTo>
                      <a:pt x="82296" y="2286"/>
                    </a:lnTo>
                    <a:lnTo>
                      <a:pt x="2285" y="169163"/>
                    </a:lnTo>
                    <a:lnTo>
                      <a:pt x="82296" y="139446"/>
                    </a:lnTo>
                    <a:lnTo>
                      <a:pt x="162305" y="169163"/>
                    </a:lnTo>
                    <a:lnTo>
                      <a:pt x="82296" y="6858"/>
                    </a:lnTo>
                    <a:lnTo>
                      <a:pt x="82296" y="1764791"/>
                    </a:lnTo>
                    <a:close/>
                  </a:path>
                  <a:path w="162559" h="1765300">
                    <a:moveTo>
                      <a:pt x="82296" y="1762505"/>
                    </a:moveTo>
                    <a:lnTo>
                      <a:pt x="82296" y="0"/>
                    </a:lnTo>
                    <a:lnTo>
                      <a:pt x="0" y="166877"/>
                    </a:lnTo>
                    <a:lnTo>
                      <a:pt x="82296" y="137160"/>
                    </a:lnTo>
                    <a:lnTo>
                      <a:pt x="162305" y="169163"/>
                    </a:lnTo>
                    <a:lnTo>
                      <a:pt x="82296" y="6858"/>
                    </a:lnTo>
                    <a:lnTo>
                      <a:pt x="82296" y="1762505"/>
                    </a:lnTo>
                  </a:path>
                </a:pathLst>
              </a:custGeom>
              <a:ln w="12700">
                <a:solidFill>
                  <a:srgbClr val="ED1C2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4" name="object 16"/>
              <p:cNvSpPr/>
              <p:nvPr/>
            </p:nvSpPr>
            <p:spPr>
              <a:xfrm>
                <a:off x="6961251" y="2582035"/>
                <a:ext cx="356870" cy="1708150"/>
              </a:xfrm>
              <a:custGeom>
                <a:avLst/>
                <a:gdLst/>
                <a:ahLst/>
                <a:cxnLst/>
                <a:rect l="l" t="t" r="r" b="b"/>
                <a:pathLst>
                  <a:path w="356870" h="1708150">
                    <a:moveTo>
                      <a:pt x="178307" y="0"/>
                    </a:moveTo>
                    <a:lnTo>
                      <a:pt x="178307" y="569214"/>
                    </a:lnTo>
                    <a:lnTo>
                      <a:pt x="0" y="569214"/>
                    </a:lnTo>
                    <a:lnTo>
                      <a:pt x="0" y="1138427"/>
                    </a:lnTo>
                    <a:lnTo>
                      <a:pt x="178307" y="1138427"/>
                    </a:lnTo>
                    <a:lnTo>
                      <a:pt x="178307" y="1707641"/>
                    </a:lnTo>
                    <a:lnTo>
                      <a:pt x="178307" y="1138427"/>
                    </a:lnTo>
                    <a:lnTo>
                      <a:pt x="356616" y="1138427"/>
                    </a:lnTo>
                    <a:lnTo>
                      <a:pt x="356616" y="569214"/>
                    </a:lnTo>
                    <a:lnTo>
                      <a:pt x="178307" y="569214"/>
                    </a:lnTo>
                  </a:path>
                </a:pathLst>
              </a:custGeom>
              <a:ln w="2929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5" name="object 17"/>
              <p:cNvSpPr/>
              <p:nvPr/>
            </p:nvSpPr>
            <p:spPr>
              <a:xfrm>
                <a:off x="7141845" y="4291964"/>
                <a:ext cx="2037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037079">
                    <a:moveTo>
                      <a:pt x="0" y="0"/>
                    </a:moveTo>
                    <a:lnTo>
                      <a:pt x="2036826" y="0"/>
                    </a:lnTo>
                  </a:path>
                </a:pathLst>
              </a:custGeom>
              <a:ln w="2929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36" name="object 18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8614016" y="4186796"/>
                <a:ext cx="189763" cy="192049"/>
              </a:xfrm>
              <a:prstGeom prst="rect">
                <a:avLst/>
              </a:prstGeom>
            </p:spPr>
          </p:pic>
          <p:pic>
            <p:nvPicPr>
              <p:cNvPr id="37" name="object 19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036676" y="4490834"/>
                <a:ext cx="198907" cy="187477"/>
              </a:xfrm>
              <a:prstGeom prst="rect">
                <a:avLst/>
              </a:prstGeom>
            </p:spPr>
          </p:pic>
          <p:sp>
            <p:nvSpPr>
              <p:cNvPr id="72" name="object 15">
                <a:extLst>
                  <a:ext uri="{FF2B5EF4-FFF2-40B4-BE49-F238E27FC236}">
                    <a16:creationId xmlns:a16="http://schemas.microsoft.com/office/drawing/2014/main" id="{3CE192F5-B2FC-844F-A0A1-FB20300A49E7}"/>
                  </a:ext>
                </a:extLst>
              </p:cNvPr>
              <p:cNvSpPr/>
              <p:nvPr/>
            </p:nvSpPr>
            <p:spPr>
              <a:xfrm>
                <a:off x="9543214" y="3951185"/>
                <a:ext cx="200025" cy="591564"/>
              </a:xfrm>
              <a:custGeom>
                <a:avLst/>
                <a:gdLst/>
                <a:ahLst/>
                <a:cxnLst/>
                <a:rect l="l" t="t" r="r" b="b"/>
                <a:pathLst>
                  <a:path w="162559" h="1765300">
                    <a:moveTo>
                      <a:pt x="82296" y="1764791"/>
                    </a:moveTo>
                    <a:lnTo>
                      <a:pt x="82296" y="2286"/>
                    </a:lnTo>
                    <a:lnTo>
                      <a:pt x="2285" y="169163"/>
                    </a:lnTo>
                    <a:lnTo>
                      <a:pt x="82296" y="139446"/>
                    </a:lnTo>
                    <a:lnTo>
                      <a:pt x="162305" y="169163"/>
                    </a:lnTo>
                    <a:lnTo>
                      <a:pt x="82296" y="6858"/>
                    </a:lnTo>
                    <a:lnTo>
                      <a:pt x="82296" y="1764791"/>
                    </a:lnTo>
                    <a:close/>
                  </a:path>
                  <a:path w="162559" h="1765300">
                    <a:moveTo>
                      <a:pt x="82296" y="1762505"/>
                    </a:moveTo>
                    <a:lnTo>
                      <a:pt x="82296" y="0"/>
                    </a:lnTo>
                    <a:lnTo>
                      <a:pt x="0" y="166877"/>
                    </a:lnTo>
                    <a:lnTo>
                      <a:pt x="82296" y="137160"/>
                    </a:lnTo>
                    <a:lnTo>
                      <a:pt x="162305" y="169163"/>
                    </a:lnTo>
                    <a:lnTo>
                      <a:pt x="82296" y="6858"/>
                    </a:lnTo>
                    <a:lnTo>
                      <a:pt x="82296" y="1762505"/>
                    </a:lnTo>
                  </a:path>
                </a:pathLst>
              </a:custGeom>
              <a:ln w="12700">
                <a:solidFill>
                  <a:srgbClr val="ED1C2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38" name="object 20"/>
            <p:cNvSpPr txBox="1"/>
            <p:nvPr/>
          </p:nvSpPr>
          <p:spPr>
            <a:xfrm>
              <a:off x="5996012" y="2188806"/>
              <a:ext cx="307975" cy="39116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95"/>
                </a:spcBef>
              </a:pPr>
              <a:r>
                <a:rPr sz="2400" spc="-25" dirty="0">
                  <a:solidFill>
                    <a:srgbClr val="00A650"/>
                  </a:solidFill>
                  <a:latin typeface="Times New Roman"/>
                  <a:cs typeface="Times New Roman"/>
                </a:rPr>
                <a:t>I</a:t>
              </a:r>
              <a:r>
                <a:rPr sz="2400" spc="-37" baseline="-17361" dirty="0">
                  <a:solidFill>
                    <a:srgbClr val="00A650"/>
                  </a:solidFill>
                  <a:latin typeface="Times New Roman"/>
                  <a:cs typeface="Times New Roman"/>
                </a:rPr>
                <a:t>B</a:t>
              </a:r>
              <a:endParaRPr sz="2400" baseline="-17361">
                <a:latin typeface="Times New Roman"/>
                <a:cs typeface="Times New Roman"/>
              </a:endParaRPr>
            </a:p>
          </p:txBody>
        </p:sp>
        <p:sp>
          <p:nvSpPr>
            <p:cNvPr id="39" name="object 21"/>
            <p:cNvSpPr/>
            <p:nvPr/>
          </p:nvSpPr>
          <p:spPr>
            <a:xfrm>
              <a:off x="5672934" y="684361"/>
              <a:ext cx="112395" cy="249554"/>
            </a:xfrm>
            <a:custGeom>
              <a:avLst/>
              <a:gdLst/>
              <a:ahLst/>
              <a:cxnLst/>
              <a:rect l="l" t="t" r="r" b="b"/>
              <a:pathLst>
                <a:path w="112395" h="249555">
                  <a:moveTo>
                    <a:pt x="112013" y="52578"/>
                  </a:moveTo>
                  <a:lnTo>
                    <a:pt x="98298" y="89154"/>
                  </a:lnTo>
                  <a:lnTo>
                    <a:pt x="59435" y="107442"/>
                  </a:lnTo>
                  <a:lnTo>
                    <a:pt x="45719" y="105156"/>
                  </a:lnTo>
                  <a:lnTo>
                    <a:pt x="9143" y="84582"/>
                  </a:lnTo>
                  <a:lnTo>
                    <a:pt x="0" y="59436"/>
                  </a:lnTo>
                  <a:lnTo>
                    <a:pt x="0" y="45720"/>
                  </a:lnTo>
                  <a:lnTo>
                    <a:pt x="18287" y="11430"/>
                  </a:lnTo>
                  <a:lnTo>
                    <a:pt x="45719" y="0"/>
                  </a:lnTo>
                  <a:lnTo>
                    <a:pt x="59435" y="0"/>
                  </a:lnTo>
                  <a:lnTo>
                    <a:pt x="98298" y="16002"/>
                  </a:lnTo>
                  <a:lnTo>
                    <a:pt x="112013" y="52578"/>
                  </a:lnTo>
                </a:path>
                <a:path w="112395" h="249555">
                  <a:moveTo>
                    <a:pt x="50291" y="107442"/>
                  </a:moveTo>
                  <a:lnTo>
                    <a:pt x="50291" y="249174"/>
                  </a:lnTo>
                </a:path>
              </a:pathLst>
            </a:custGeom>
            <a:ln w="183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22"/>
            <p:cNvSpPr txBox="1"/>
            <p:nvPr/>
          </p:nvSpPr>
          <p:spPr>
            <a:xfrm>
              <a:off x="5104755" y="494932"/>
              <a:ext cx="1271698" cy="42131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95"/>
                </a:spcBef>
              </a:pPr>
              <a:r>
                <a:rPr lang="fr-FR" sz="3600" spc="-22" baseline="11574" dirty="0">
                  <a:latin typeface="Times New Roman"/>
                  <a:cs typeface="Times New Roman"/>
                </a:rPr>
                <a:t>V</a:t>
              </a:r>
              <a:r>
                <a:rPr sz="1600" spc="-15" dirty="0">
                  <a:latin typeface="Times New Roman"/>
                  <a:cs typeface="Times New Roman"/>
                </a:rPr>
                <a:t>CC</a:t>
              </a:r>
              <a:endParaRPr sz="1600" dirty="0">
                <a:latin typeface="Times New Roman"/>
                <a:cs typeface="Times New Roman"/>
              </a:endParaRPr>
            </a:p>
          </p:txBody>
        </p:sp>
        <p:sp>
          <p:nvSpPr>
            <p:cNvPr id="41" name="object 23"/>
            <p:cNvSpPr txBox="1"/>
            <p:nvPr/>
          </p:nvSpPr>
          <p:spPr>
            <a:xfrm>
              <a:off x="3953919" y="3292792"/>
              <a:ext cx="617360" cy="396535"/>
            </a:xfrm>
            <a:prstGeom prst="rect">
              <a:avLst/>
            </a:prstGeom>
            <a:ln w="29298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2800"/>
                </a:lnSpc>
              </a:pPr>
              <a:r>
                <a:rPr sz="2400" spc="-30" dirty="0">
                  <a:latin typeface="Times New Roman"/>
                  <a:cs typeface="Times New Roman"/>
                </a:rPr>
                <a:t>R</a:t>
              </a:r>
              <a:r>
                <a:rPr sz="2400" spc="-44" baseline="-17361" dirty="0">
                  <a:latin typeface="Times New Roman"/>
                  <a:cs typeface="Times New Roman"/>
                </a:rPr>
                <a:t>2</a:t>
              </a:r>
              <a:endParaRPr sz="2400" baseline="-17361" dirty="0">
                <a:latin typeface="Times New Roman"/>
                <a:cs typeface="Times New Roman"/>
              </a:endParaRPr>
            </a:p>
          </p:txBody>
        </p:sp>
        <p:sp>
          <p:nvSpPr>
            <p:cNvPr id="43" name="object 24"/>
            <p:cNvSpPr txBox="1"/>
            <p:nvPr/>
          </p:nvSpPr>
          <p:spPr>
            <a:xfrm>
              <a:off x="7153202" y="3258809"/>
              <a:ext cx="356870" cy="452755"/>
            </a:xfrm>
            <a:prstGeom prst="rect">
              <a:avLst/>
            </a:prstGeom>
            <a:ln w="29298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2800"/>
                </a:lnSpc>
              </a:pPr>
              <a:r>
                <a:rPr sz="2400" spc="-30" dirty="0">
                  <a:latin typeface="Times New Roman"/>
                  <a:cs typeface="Times New Roman"/>
                </a:rPr>
                <a:t>R</a:t>
              </a:r>
              <a:r>
                <a:rPr sz="2400" spc="-44" baseline="-17361" dirty="0">
                  <a:latin typeface="Times New Roman"/>
                  <a:cs typeface="Times New Roman"/>
                </a:rPr>
                <a:t>E</a:t>
              </a:r>
              <a:endParaRPr sz="2400" baseline="-17361" dirty="0">
                <a:latin typeface="Times New Roman"/>
                <a:cs typeface="Times New Roman"/>
              </a:endParaRPr>
            </a:p>
          </p:txBody>
        </p:sp>
        <p:sp>
          <p:nvSpPr>
            <p:cNvPr id="44" name="object 25"/>
            <p:cNvSpPr txBox="1"/>
            <p:nvPr/>
          </p:nvSpPr>
          <p:spPr>
            <a:xfrm>
              <a:off x="7130332" y="1327474"/>
              <a:ext cx="596900" cy="412113"/>
            </a:xfrm>
            <a:prstGeom prst="rect">
              <a:avLst/>
            </a:prstGeom>
            <a:ln w="29298">
              <a:noFill/>
            </a:ln>
          </p:spPr>
          <p:txBody>
            <a:bodyPr vert="horz" wrap="square" lIns="0" tIns="381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30"/>
                </a:spcBef>
              </a:pPr>
              <a:r>
                <a:rPr sz="2400" spc="-30" dirty="0">
                  <a:latin typeface="Times New Roman"/>
                  <a:cs typeface="Times New Roman"/>
                </a:rPr>
                <a:t>R</a:t>
              </a:r>
              <a:r>
                <a:rPr sz="2400" spc="-44" baseline="-17361" dirty="0">
                  <a:latin typeface="Times New Roman"/>
                  <a:cs typeface="Times New Roman"/>
                </a:rPr>
                <a:t>C</a:t>
              </a:r>
              <a:endParaRPr sz="2400" baseline="-17361" dirty="0">
                <a:latin typeface="Times New Roman"/>
                <a:cs typeface="Times New Roman"/>
              </a:endParaRPr>
            </a:p>
          </p:txBody>
        </p:sp>
        <p:sp>
          <p:nvSpPr>
            <p:cNvPr id="45" name="object 26"/>
            <p:cNvSpPr txBox="1"/>
            <p:nvPr/>
          </p:nvSpPr>
          <p:spPr>
            <a:xfrm>
              <a:off x="5764449" y="3754585"/>
              <a:ext cx="705200" cy="42131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95"/>
                </a:spcBef>
              </a:pPr>
              <a:r>
                <a:rPr lang="fr-FR" sz="3600" spc="-22" baseline="11574" dirty="0">
                  <a:solidFill>
                    <a:srgbClr val="ED1C24"/>
                  </a:solidFill>
                  <a:latin typeface="Times New Roman"/>
                  <a:cs typeface="Times New Roman"/>
                </a:rPr>
                <a:t>V</a:t>
              </a:r>
              <a:r>
                <a:rPr sz="1600" spc="-15" dirty="0">
                  <a:solidFill>
                    <a:srgbClr val="ED1C24"/>
                  </a:solidFill>
                  <a:latin typeface="Times New Roman"/>
                  <a:cs typeface="Times New Roman"/>
                </a:rPr>
                <a:t>BM</a:t>
              </a:r>
              <a:endParaRPr sz="1600" dirty="0">
                <a:latin typeface="Times New Roman"/>
                <a:cs typeface="Times New Roman"/>
              </a:endParaRPr>
            </a:p>
          </p:txBody>
        </p:sp>
        <p:grpSp>
          <p:nvGrpSpPr>
            <p:cNvPr id="46" name="object 27"/>
            <p:cNvGrpSpPr/>
            <p:nvPr/>
          </p:nvGrpSpPr>
          <p:grpSpPr>
            <a:xfrm>
              <a:off x="6308949" y="2783417"/>
              <a:ext cx="412750" cy="394970"/>
              <a:chOff x="8888856" y="4415916"/>
              <a:chExt cx="412750" cy="394970"/>
            </a:xfrm>
          </p:grpSpPr>
          <p:sp>
            <p:nvSpPr>
              <p:cNvPr id="47" name="object 28"/>
              <p:cNvSpPr/>
              <p:nvPr/>
            </p:nvSpPr>
            <p:spPr>
              <a:xfrm>
                <a:off x="8895206" y="4424552"/>
                <a:ext cx="400050" cy="379730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379729">
                    <a:moveTo>
                      <a:pt x="102680" y="97399"/>
                    </a:moveTo>
                    <a:lnTo>
                      <a:pt x="0" y="0"/>
                    </a:lnTo>
                    <a:lnTo>
                      <a:pt x="64008" y="173736"/>
                    </a:lnTo>
                    <a:lnTo>
                      <a:pt x="100584" y="98298"/>
                    </a:lnTo>
                    <a:lnTo>
                      <a:pt x="102680" y="97399"/>
                    </a:lnTo>
                    <a:close/>
                  </a:path>
                  <a:path w="400050" h="379729">
                    <a:moveTo>
                      <a:pt x="180594" y="64008"/>
                    </a:moveTo>
                    <a:lnTo>
                      <a:pt x="4572" y="2286"/>
                    </a:lnTo>
                    <a:lnTo>
                      <a:pt x="103795" y="96921"/>
                    </a:lnTo>
                    <a:lnTo>
                      <a:pt x="180594" y="64008"/>
                    </a:lnTo>
                    <a:close/>
                  </a:path>
                  <a:path w="400050" h="379729">
                    <a:moveTo>
                      <a:pt x="400050" y="379475"/>
                    </a:moveTo>
                    <a:lnTo>
                      <a:pt x="103795" y="96921"/>
                    </a:lnTo>
                    <a:lnTo>
                      <a:pt x="102680" y="97399"/>
                    </a:lnTo>
                    <a:lnTo>
                      <a:pt x="400050" y="379475"/>
                    </a:lnTo>
                    <a:close/>
                  </a:path>
                </a:pathLst>
              </a:custGeom>
              <a:solidFill>
                <a:srgbClr val="ED1C2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8" name="object 29"/>
              <p:cNvSpPr/>
              <p:nvPr/>
            </p:nvSpPr>
            <p:spPr>
              <a:xfrm>
                <a:off x="8895206" y="4422266"/>
                <a:ext cx="400050" cy="382270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382270">
                    <a:moveTo>
                      <a:pt x="400050" y="381762"/>
                    </a:moveTo>
                    <a:lnTo>
                      <a:pt x="0" y="2286"/>
                    </a:lnTo>
                    <a:lnTo>
                      <a:pt x="64008" y="176022"/>
                    </a:lnTo>
                    <a:lnTo>
                      <a:pt x="100584" y="100584"/>
                    </a:lnTo>
                    <a:lnTo>
                      <a:pt x="180594" y="66294"/>
                    </a:lnTo>
                    <a:lnTo>
                      <a:pt x="4572" y="4572"/>
                    </a:lnTo>
                    <a:lnTo>
                      <a:pt x="400050" y="381762"/>
                    </a:lnTo>
                    <a:close/>
                  </a:path>
                  <a:path w="400050" h="382270">
                    <a:moveTo>
                      <a:pt x="400050" y="381762"/>
                    </a:moveTo>
                    <a:lnTo>
                      <a:pt x="0" y="0"/>
                    </a:lnTo>
                    <a:lnTo>
                      <a:pt x="64008" y="173736"/>
                    </a:lnTo>
                    <a:lnTo>
                      <a:pt x="100584" y="98298"/>
                    </a:lnTo>
                    <a:lnTo>
                      <a:pt x="180594" y="66294"/>
                    </a:lnTo>
                    <a:lnTo>
                      <a:pt x="2286" y="4572"/>
                    </a:lnTo>
                    <a:lnTo>
                      <a:pt x="400050" y="381762"/>
                    </a:lnTo>
                  </a:path>
                </a:pathLst>
              </a:custGeom>
              <a:ln w="12700">
                <a:solidFill>
                  <a:srgbClr val="ED1C2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49" name="object 30"/>
            <p:cNvSpPr txBox="1"/>
            <p:nvPr/>
          </p:nvSpPr>
          <p:spPr>
            <a:xfrm>
              <a:off x="6069134" y="3055370"/>
              <a:ext cx="551815" cy="42131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95"/>
                </a:spcBef>
              </a:pPr>
              <a:r>
                <a:rPr lang="fr-FR" sz="3600" spc="-22" baseline="11574" dirty="0">
                  <a:solidFill>
                    <a:srgbClr val="ED1C24"/>
                  </a:solidFill>
                  <a:latin typeface="Times New Roman"/>
                  <a:cs typeface="Times New Roman"/>
                </a:rPr>
                <a:t>V</a:t>
              </a:r>
              <a:r>
                <a:rPr sz="1600" spc="-15" dirty="0">
                  <a:solidFill>
                    <a:srgbClr val="ED1C24"/>
                  </a:solidFill>
                  <a:latin typeface="Times New Roman"/>
                  <a:cs typeface="Times New Roman"/>
                </a:rPr>
                <a:t>BE</a:t>
              </a:r>
              <a:endParaRPr sz="1600" dirty="0">
                <a:latin typeface="Times New Roman"/>
                <a:cs typeface="Times New Roman"/>
              </a:endParaRPr>
            </a:p>
          </p:txBody>
        </p:sp>
        <p:sp>
          <p:nvSpPr>
            <p:cNvPr id="62" name="object 31"/>
            <p:cNvSpPr txBox="1"/>
            <p:nvPr/>
          </p:nvSpPr>
          <p:spPr>
            <a:xfrm>
              <a:off x="4677083" y="2714671"/>
              <a:ext cx="285750" cy="39116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95"/>
                </a:spcBef>
              </a:pPr>
              <a:r>
                <a:rPr sz="2400" spc="-25" dirty="0">
                  <a:solidFill>
                    <a:srgbClr val="00A650"/>
                  </a:solidFill>
                  <a:latin typeface="Times New Roman"/>
                  <a:cs typeface="Times New Roman"/>
                </a:rPr>
                <a:t>I</a:t>
              </a:r>
              <a:r>
                <a:rPr sz="2400" spc="-37" baseline="-17361" dirty="0">
                  <a:solidFill>
                    <a:srgbClr val="00A650"/>
                  </a:solidFill>
                  <a:latin typeface="Times New Roman"/>
                  <a:cs typeface="Times New Roman"/>
                </a:rPr>
                <a:t>P</a:t>
              </a:r>
              <a:endParaRPr sz="2400" baseline="-17361">
                <a:latin typeface="Times New Roman"/>
                <a:cs typeface="Times New Roman"/>
              </a:endParaRPr>
            </a:p>
          </p:txBody>
        </p:sp>
        <p:grpSp>
          <p:nvGrpSpPr>
            <p:cNvPr id="63" name="object 32"/>
            <p:cNvGrpSpPr/>
            <p:nvPr/>
          </p:nvGrpSpPr>
          <p:grpSpPr>
            <a:xfrm>
              <a:off x="6594179" y="2366845"/>
              <a:ext cx="318135" cy="589915"/>
              <a:chOff x="9174086" y="3999344"/>
              <a:chExt cx="318135" cy="589915"/>
            </a:xfrm>
          </p:grpSpPr>
          <p:sp>
            <p:nvSpPr>
              <p:cNvPr id="64" name="object 33"/>
              <p:cNvSpPr/>
              <p:nvPr/>
            </p:nvSpPr>
            <p:spPr>
              <a:xfrm>
                <a:off x="9183243" y="4008500"/>
                <a:ext cx="29972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299720" h="571500">
                    <a:moveTo>
                      <a:pt x="59435" y="569213"/>
                    </a:moveTo>
                    <a:lnTo>
                      <a:pt x="59435" y="0"/>
                    </a:lnTo>
                    <a:lnTo>
                      <a:pt x="0" y="0"/>
                    </a:lnTo>
                    <a:lnTo>
                      <a:pt x="0" y="569213"/>
                    </a:lnTo>
                    <a:lnTo>
                      <a:pt x="59435" y="569213"/>
                    </a:lnTo>
                    <a:close/>
                  </a:path>
                  <a:path w="299720" h="571500">
                    <a:moveTo>
                      <a:pt x="194937" y="446065"/>
                    </a:moveTo>
                    <a:lnTo>
                      <a:pt x="59435" y="283463"/>
                    </a:lnTo>
                    <a:lnTo>
                      <a:pt x="194811" y="446175"/>
                    </a:lnTo>
                    <a:close/>
                  </a:path>
                  <a:path w="299720" h="571500">
                    <a:moveTo>
                      <a:pt x="297179" y="570747"/>
                    </a:moveTo>
                    <a:lnTo>
                      <a:pt x="297179" y="569213"/>
                    </a:lnTo>
                    <a:lnTo>
                      <a:pt x="194811" y="446175"/>
                    </a:lnTo>
                    <a:lnTo>
                      <a:pt x="118872" y="512063"/>
                    </a:lnTo>
                    <a:lnTo>
                      <a:pt x="297179" y="570747"/>
                    </a:lnTo>
                    <a:close/>
                  </a:path>
                  <a:path w="299720" h="571500">
                    <a:moveTo>
                      <a:pt x="297116" y="568680"/>
                    </a:moveTo>
                    <a:lnTo>
                      <a:pt x="274320" y="377189"/>
                    </a:lnTo>
                    <a:lnTo>
                      <a:pt x="194937" y="446065"/>
                    </a:lnTo>
                    <a:lnTo>
                      <a:pt x="297116" y="568680"/>
                    </a:lnTo>
                    <a:close/>
                  </a:path>
                  <a:path w="299720" h="571500">
                    <a:moveTo>
                      <a:pt x="299465" y="571500"/>
                    </a:moveTo>
                    <a:lnTo>
                      <a:pt x="297116" y="568680"/>
                    </a:lnTo>
                    <a:lnTo>
                      <a:pt x="297179" y="569213"/>
                    </a:lnTo>
                    <a:lnTo>
                      <a:pt x="297179" y="570747"/>
                    </a:lnTo>
                    <a:lnTo>
                      <a:pt x="299465" y="5715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5" name="object 34"/>
              <p:cNvSpPr/>
              <p:nvPr/>
            </p:nvSpPr>
            <p:spPr>
              <a:xfrm>
                <a:off x="9183243" y="4008500"/>
                <a:ext cx="29972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299720" h="571500">
                    <a:moveTo>
                      <a:pt x="297179" y="0"/>
                    </a:moveTo>
                    <a:lnTo>
                      <a:pt x="59435" y="283463"/>
                    </a:lnTo>
                    <a:lnTo>
                      <a:pt x="59435" y="0"/>
                    </a:lnTo>
                    <a:lnTo>
                      <a:pt x="0" y="0"/>
                    </a:lnTo>
                    <a:lnTo>
                      <a:pt x="0" y="569213"/>
                    </a:lnTo>
                    <a:lnTo>
                      <a:pt x="59435" y="569213"/>
                    </a:lnTo>
                    <a:lnTo>
                      <a:pt x="59435" y="283463"/>
                    </a:lnTo>
                    <a:lnTo>
                      <a:pt x="297179" y="569213"/>
                    </a:lnTo>
                    <a:lnTo>
                      <a:pt x="274320" y="377189"/>
                    </a:lnTo>
                    <a:lnTo>
                      <a:pt x="118872" y="512063"/>
                    </a:lnTo>
                    <a:lnTo>
                      <a:pt x="299465" y="571500"/>
                    </a:lnTo>
                    <a:lnTo>
                      <a:pt x="59435" y="283463"/>
                    </a:lnTo>
                    <a:lnTo>
                      <a:pt x="297179" y="0"/>
                    </a:lnTo>
                    <a:close/>
                  </a:path>
                  <a:path w="299720" h="571500">
                    <a:moveTo>
                      <a:pt x="297179" y="0"/>
                    </a:moveTo>
                    <a:lnTo>
                      <a:pt x="59435" y="283463"/>
                    </a:lnTo>
                    <a:lnTo>
                      <a:pt x="59435" y="0"/>
                    </a:lnTo>
                    <a:lnTo>
                      <a:pt x="0" y="0"/>
                    </a:lnTo>
                    <a:lnTo>
                      <a:pt x="0" y="569213"/>
                    </a:lnTo>
                    <a:lnTo>
                      <a:pt x="59435" y="569213"/>
                    </a:lnTo>
                    <a:lnTo>
                      <a:pt x="59435" y="283463"/>
                    </a:lnTo>
                    <a:lnTo>
                      <a:pt x="297179" y="569213"/>
                    </a:lnTo>
                    <a:lnTo>
                      <a:pt x="274320" y="377189"/>
                    </a:lnTo>
                    <a:lnTo>
                      <a:pt x="118872" y="512063"/>
                    </a:lnTo>
                    <a:lnTo>
                      <a:pt x="299465" y="571500"/>
                    </a:lnTo>
                    <a:lnTo>
                      <a:pt x="59435" y="283463"/>
                    </a:lnTo>
                    <a:lnTo>
                      <a:pt x="297179" y="0"/>
                    </a:lnTo>
                  </a:path>
                </a:pathLst>
              </a:custGeom>
              <a:ln w="18313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7" name="object 30">
              <a:extLst>
                <a:ext uri="{FF2B5EF4-FFF2-40B4-BE49-F238E27FC236}">
                  <a16:creationId xmlns:a16="http://schemas.microsoft.com/office/drawing/2014/main" id="{9EC43B3A-1A1D-101A-9825-0A92F1A3B87C}"/>
                </a:ext>
              </a:extLst>
            </p:cNvPr>
            <p:cNvSpPr txBox="1"/>
            <p:nvPr/>
          </p:nvSpPr>
          <p:spPr>
            <a:xfrm>
              <a:off x="7088701" y="2395880"/>
              <a:ext cx="551815" cy="42131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95"/>
                </a:spcBef>
              </a:pPr>
              <a:r>
                <a:rPr lang="fr-FR" sz="3600" spc="-22" baseline="11574" dirty="0">
                  <a:solidFill>
                    <a:srgbClr val="ED1C24"/>
                  </a:solidFill>
                  <a:latin typeface="Times New Roman"/>
                  <a:cs typeface="Times New Roman"/>
                </a:rPr>
                <a:t>V</a:t>
              </a:r>
              <a:r>
                <a:rPr lang="fr-FR" sz="1600" spc="-15" baseline="11574" dirty="0">
                  <a:solidFill>
                    <a:srgbClr val="ED1C24"/>
                  </a:solidFill>
                  <a:latin typeface="Times New Roman"/>
                  <a:cs typeface="Times New Roman"/>
                </a:rPr>
                <a:t>C</a:t>
              </a:r>
              <a:r>
                <a:rPr sz="1600" spc="-15" dirty="0">
                  <a:solidFill>
                    <a:srgbClr val="ED1C24"/>
                  </a:solidFill>
                  <a:latin typeface="Times New Roman"/>
                  <a:cs typeface="Times New Roman"/>
                </a:rPr>
                <a:t>E</a:t>
              </a:r>
              <a:endParaRPr sz="1600" dirty="0">
                <a:latin typeface="Times New Roman"/>
                <a:cs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43703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6"/>
            <a:ext cx="52086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-Transistor-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1620" y="507690"/>
            <a:ext cx="69931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4. Polarisation </a:t>
            </a:r>
            <a:r>
              <a:rPr lang="fr-FR" sz="18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du transistor</a:t>
            </a:r>
            <a:endParaRPr lang="fr-FR" b="1" spc="-5" dirty="0">
              <a:solidFill>
                <a:srgbClr val="FF0000"/>
              </a:solidFill>
              <a:latin typeface="Bookman Old Style" panose="02050604050505020204" pitchFamily="18" charset="0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715000" y="365260"/>
            <a:ext cx="3328256" cy="10117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46">
            <a:extLst>
              <a:ext uri="{FF2B5EF4-FFF2-40B4-BE49-F238E27FC236}">
                <a16:creationId xmlns:a16="http://schemas.microsoft.com/office/drawing/2014/main" id="{7198176F-4D83-4A98-1EFA-F78693C2B68B}"/>
              </a:ext>
            </a:extLst>
          </p:cNvPr>
          <p:cNvSpPr txBox="1"/>
          <p:nvPr/>
        </p:nvSpPr>
        <p:spPr>
          <a:xfrm>
            <a:off x="8828933" y="486598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49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C72328-F671-0D88-6318-C7E7FDBE9A01}"/>
              </a:ext>
            </a:extLst>
          </p:cNvPr>
          <p:cNvSpPr txBox="1"/>
          <p:nvPr/>
        </p:nvSpPr>
        <p:spPr>
          <a:xfrm>
            <a:off x="658743" y="768943"/>
            <a:ext cx="86853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600" b="1" spc="-5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defRPr>
            </a:lvl1pPr>
          </a:lstStyle>
          <a:p>
            <a:r>
              <a:rPr lang="fr-FR" sz="1400" dirty="0"/>
              <a:t>4.5 Types de polarisation </a:t>
            </a:r>
            <a:br>
              <a:rPr lang="fr-FR" dirty="0"/>
            </a:br>
            <a:endParaRPr lang="fr-FR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3EEB75-DA97-A328-000D-9D9A8F923B9F}"/>
              </a:ext>
            </a:extLst>
          </p:cNvPr>
          <p:cNvSpPr txBox="1"/>
          <p:nvPr/>
        </p:nvSpPr>
        <p:spPr>
          <a:xfrm>
            <a:off x="781110" y="1063519"/>
            <a:ext cx="46726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Wingdings" panose="05000000000000000000" pitchFamily="2" charset="2"/>
              <a:buChar char="q"/>
            </a:pPr>
            <a:r>
              <a:rPr lang="fr-FR" sz="1400" b="1" spc="-5" dirty="0">
                <a:solidFill>
                  <a:srgbClr val="0000FF"/>
                </a:solidFill>
                <a:latin typeface="Bookman Old Style" panose="02050604050505020204" pitchFamily="18" charset="0"/>
                <a:cs typeface="Arial"/>
              </a:rPr>
              <a:t>Polarisation</a:t>
            </a:r>
            <a:r>
              <a:rPr lang="fr-FR" sz="1400" b="1" spc="-50" dirty="0">
                <a:solidFill>
                  <a:srgbClr val="0000FF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fr-FR" sz="1400" b="1" dirty="0">
                <a:solidFill>
                  <a:srgbClr val="0000FF"/>
                </a:solidFill>
                <a:latin typeface="Bookman Old Style" panose="02050604050505020204" pitchFamily="18" charset="0"/>
                <a:cs typeface="Arial"/>
              </a:rPr>
              <a:t>à</a:t>
            </a:r>
            <a:r>
              <a:rPr lang="fr-FR" sz="1400" b="1" spc="-30" dirty="0">
                <a:solidFill>
                  <a:srgbClr val="0000FF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fr-FR" sz="1400" b="1" spc="-10" dirty="0">
                <a:solidFill>
                  <a:srgbClr val="0000FF"/>
                </a:solidFill>
                <a:latin typeface="Bookman Old Style" panose="02050604050505020204" pitchFamily="18" charset="0"/>
                <a:cs typeface="Arial"/>
              </a:rPr>
              <a:t>deux</a:t>
            </a:r>
            <a:r>
              <a:rPr lang="fr-FR" sz="1400" b="1" spc="-30" dirty="0">
                <a:solidFill>
                  <a:srgbClr val="0000FF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fr-FR" sz="1400" b="1" spc="-5" dirty="0">
                <a:solidFill>
                  <a:srgbClr val="0000FF"/>
                </a:solidFill>
                <a:latin typeface="Bookman Old Style" panose="02050604050505020204" pitchFamily="18" charset="0"/>
                <a:cs typeface="Arial"/>
              </a:rPr>
              <a:t>sources</a:t>
            </a:r>
            <a:endParaRPr lang="fr-FR" sz="1400" dirty="0">
              <a:solidFill>
                <a:srgbClr val="0000FF"/>
              </a:solidFill>
              <a:latin typeface="Bookman Old Style" panose="02050604050505020204" pitchFamily="18" charset="0"/>
              <a:cs typeface="Arial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666AE77-A0EF-66B3-CFBD-2892F6E72652}"/>
              </a:ext>
            </a:extLst>
          </p:cNvPr>
          <p:cNvGrpSpPr/>
          <p:nvPr/>
        </p:nvGrpSpPr>
        <p:grpSpPr>
          <a:xfrm>
            <a:off x="1145947" y="1222707"/>
            <a:ext cx="6358493" cy="3455175"/>
            <a:chOff x="801139" y="1154607"/>
            <a:chExt cx="8306839" cy="4568190"/>
          </a:xfrm>
        </p:grpSpPr>
        <p:sp>
          <p:nvSpPr>
            <p:cNvPr id="24" name="object 6">
              <a:extLst>
                <a:ext uri="{FF2B5EF4-FFF2-40B4-BE49-F238E27FC236}">
                  <a16:creationId xmlns:a16="http://schemas.microsoft.com/office/drawing/2014/main" id="{B01D4BA8-1259-F139-74B5-888E825FCC6A}"/>
                </a:ext>
              </a:extLst>
            </p:cNvPr>
            <p:cNvSpPr txBox="1"/>
            <p:nvPr/>
          </p:nvSpPr>
          <p:spPr>
            <a:xfrm>
              <a:off x="3138013" y="2725305"/>
              <a:ext cx="323215" cy="560705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10"/>
                </a:spcBef>
              </a:pPr>
              <a:r>
                <a:rPr sz="3500" spc="5" dirty="0">
                  <a:latin typeface="Times New Roman"/>
                  <a:cs typeface="Times New Roman"/>
                </a:rPr>
                <a:t>R</a:t>
              </a:r>
              <a:endParaRPr sz="3500" dirty="0">
                <a:latin typeface="Times New Roman"/>
                <a:cs typeface="Times New Roman"/>
              </a:endParaRPr>
            </a:p>
          </p:txBody>
        </p:sp>
        <p:sp>
          <p:nvSpPr>
            <p:cNvPr id="25" name="object 7">
              <a:extLst>
                <a:ext uri="{FF2B5EF4-FFF2-40B4-BE49-F238E27FC236}">
                  <a16:creationId xmlns:a16="http://schemas.microsoft.com/office/drawing/2014/main" id="{743EBA5E-3B4B-D521-3F15-4E9D1364F323}"/>
                </a:ext>
              </a:extLst>
            </p:cNvPr>
            <p:cNvSpPr txBox="1"/>
            <p:nvPr/>
          </p:nvSpPr>
          <p:spPr>
            <a:xfrm>
              <a:off x="3539812" y="3005657"/>
              <a:ext cx="224154" cy="383541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2350" spc="-5" dirty="0">
                  <a:latin typeface="Times New Roman"/>
                  <a:cs typeface="Times New Roman"/>
                </a:rPr>
                <a:t>B</a:t>
              </a:r>
              <a:endParaRPr sz="2350" dirty="0">
                <a:latin typeface="Times New Roman"/>
                <a:cs typeface="Times New Roman"/>
              </a:endParaRPr>
            </a:p>
          </p:txBody>
        </p:sp>
        <p:grpSp>
          <p:nvGrpSpPr>
            <p:cNvPr id="26" name="object 8">
              <a:extLst>
                <a:ext uri="{FF2B5EF4-FFF2-40B4-BE49-F238E27FC236}">
                  <a16:creationId xmlns:a16="http://schemas.microsoft.com/office/drawing/2014/main" id="{9902C1F7-8C47-D778-7C6B-10FFC829C541}"/>
                </a:ext>
              </a:extLst>
            </p:cNvPr>
            <p:cNvGrpSpPr/>
            <p:nvPr/>
          </p:nvGrpSpPr>
          <p:grpSpPr>
            <a:xfrm>
              <a:off x="4603310" y="1154607"/>
              <a:ext cx="1748155" cy="4568190"/>
              <a:chOff x="4769040" y="2006917"/>
              <a:chExt cx="1748155" cy="4568190"/>
            </a:xfrm>
          </p:grpSpPr>
          <p:sp>
            <p:nvSpPr>
              <p:cNvPr id="27" name="object 9">
                <a:extLst>
                  <a:ext uri="{FF2B5EF4-FFF2-40B4-BE49-F238E27FC236}">
                    <a16:creationId xmlns:a16="http://schemas.microsoft.com/office/drawing/2014/main" id="{38E80328-CA57-9059-27E9-0310A7B06E51}"/>
                  </a:ext>
                </a:extLst>
              </p:cNvPr>
              <p:cNvSpPr/>
              <p:nvPr/>
            </p:nvSpPr>
            <p:spPr>
              <a:xfrm>
                <a:off x="5788533" y="2028824"/>
                <a:ext cx="530860" cy="2082800"/>
              </a:xfrm>
              <a:custGeom>
                <a:avLst/>
                <a:gdLst/>
                <a:ahLst/>
                <a:cxnLst/>
                <a:rect l="l" t="t" r="r" b="b"/>
                <a:pathLst>
                  <a:path w="530860" h="2082800">
                    <a:moveTo>
                      <a:pt x="267462" y="0"/>
                    </a:moveTo>
                    <a:lnTo>
                      <a:pt x="267462" y="416051"/>
                    </a:lnTo>
                    <a:lnTo>
                      <a:pt x="0" y="416051"/>
                    </a:lnTo>
                    <a:lnTo>
                      <a:pt x="0" y="1248155"/>
                    </a:lnTo>
                    <a:lnTo>
                      <a:pt x="267462" y="1248155"/>
                    </a:lnTo>
                    <a:lnTo>
                      <a:pt x="267462" y="2082545"/>
                    </a:lnTo>
                    <a:lnTo>
                      <a:pt x="267462" y="1248155"/>
                    </a:lnTo>
                    <a:lnTo>
                      <a:pt x="530351" y="1248155"/>
                    </a:lnTo>
                    <a:lnTo>
                      <a:pt x="530351" y="416051"/>
                    </a:lnTo>
                    <a:lnTo>
                      <a:pt x="267462" y="416051"/>
                    </a:lnTo>
                  </a:path>
                </a:pathLst>
              </a:custGeom>
              <a:ln w="4344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8" name="object 10">
                <a:extLst>
                  <a:ext uri="{FF2B5EF4-FFF2-40B4-BE49-F238E27FC236}">
                    <a16:creationId xmlns:a16="http://schemas.microsoft.com/office/drawing/2014/main" id="{5CCFF2B0-137A-3818-1505-7EC8589D14EB}"/>
                  </a:ext>
                </a:extLst>
              </p:cNvPr>
              <p:cNvSpPr/>
              <p:nvPr/>
            </p:nvSpPr>
            <p:spPr>
              <a:xfrm>
                <a:off x="5431917" y="5974460"/>
                <a:ext cx="1062990" cy="578485"/>
              </a:xfrm>
              <a:custGeom>
                <a:avLst/>
                <a:gdLst/>
                <a:ahLst/>
                <a:cxnLst/>
                <a:rect l="l" t="t" r="r" b="b"/>
                <a:pathLst>
                  <a:path w="1062989" h="578484">
                    <a:moveTo>
                      <a:pt x="619506" y="0"/>
                    </a:moveTo>
                    <a:lnTo>
                      <a:pt x="619506" y="413765"/>
                    </a:lnTo>
                    <a:lnTo>
                      <a:pt x="176022" y="413766"/>
                    </a:lnTo>
                    <a:lnTo>
                      <a:pt x="0" y="578358"/>
                    </a:lnTo>
                    <a:lnTo>
                      <a:pt x="176022" y="413766"/>
                    </a:lnTo>
                    <a:lnTo>
                      <a:pt x="354330" y="413766"/>
                    </a:lnTo>
                    <a:lnTo>
                      <a:pt x="176022" y="578358"/>
                    </a:lnTo>
                    <a:lnTo>
                      <a:pt x="354330" y="413766"/>
                    </a:lnTo>
                    <a:lnTo>
                      <a:pt x="532638" y="413765"/>
                    </a:lnTo>
                    <a:lnTo>
                      <a:pt x="354330" y="578358"/>
                    </a:lnTo>
                    <a:lnTo>
                      <a:pt x="532638" y="413765"/>
                    </a:lnTo>
                    <a:lnTo>
                      <a:pt x="710946" y="413765"/>
                    </a:lnTo>
                    <a:lnTo>
                      <a:pt x="532638" y="578358"/>
                    </a:lnTo>
                    <a:lnTo>
                      <a:pt x="710946" y="413765"/>
                    </a:lnTo>
                    <a:lnTo>
                      <a:pt x="886968" y="413765"/>
                    </a:lnTo>
                    <a:lnTo>
                      <a:pt x="710946" y="578358"/>
                    </a:lnTo>
                    <a:lnTo>
                      <a:pt x="886968" y="413765"/>
                    </a:lnTo>
                    <a:lnTo>
                      <a:pt x="1062990" y="413765"/>
                    </a:lnTo>
                    <a:lnTo>
                      <a:pt x="886968" y="578358"/>
                    </a:lnTo>
                  </a:path>
                </a:pathLst>
              </a:custGeom>
              <a:ln w="4344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9" name="object 11">
                <a:extLst>
                  <a:ext uri="{FF2B5EF4-FFF2-40B4-BE49-F238E27FC236}">
                    <a16:creationId xmlns:a16="http://schemas.microsoft.com/office/drawing/2014/main" id="{D4112F18-57EA-4530-620F-7FFDD79F79B2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82693" y="4392548"/>
                <a:ext cx="251460" cy="253746"/>
              </a:xfrm>
              <a:prstGeom prst="rect">
                <a:avLst/>
              </a:prstGeom>
            </p:spPr>
          </p:pic>
          <p:sp>
            <p:nvSpPr>
              <p:cNvPr id="30" name="object 12">
                <a:extLst>
                  <a:ext uri="{FF2B5EF4-FFF2-40B4-BE49-F238E27FC236}">
                    <a16:creationId xmlns:a16="http://schemas.microsoft.com/office/drawing/2014/main" id="{612C9B56-635D-F5A1-0E07-17FF3CD9BC9C}"/>
                  </a:ext>
                </a:extLst>
              </p:cNvPr>
              <p:cNvSpPr/>
              <p:nvPr/>
            </p:nvSpPr>
            <p:spPr>
              <a:xfrm>
                <a:off x="4782693" y="4392548"/>
                <a:ext cx="251460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251460" h="254000">
                    <a:moveTo>
                      <a:pt x="251460" y="125729"/>
                    </a:moveTo>
                    <a:lnTo>
                      <a:pt x="0" y="253746"/>
                    </a:lnTo>
                    <a:lnTo>
                      <a:pt x="48006" y="125729"/>
                    </a:lnTo>
                    <a:lnTo>
                      <a:pt x="0" y="0"/>
                    </a:lnTo>
                    <a:lnTo>
                      <a:pt x="251460" y="134874"/>
                    </a:lnTo>
                    <a:lnTo>
                      <a:pt x="251460" y="125729"/>
                    </a:lnTo>
                    <a:close/>
                  </a:path>
                  <a:path w="251460" h="254000">
                    <a:moveTo>
                      <a:pt x="251460" y="125729"/>
                    </a:moveTo>
                    <a:lnTo>
                      <a:pt x="0" y="253746"/>
                    </a:lnTo>
                    <a:lnTo>
                      <a:pt x="48006" y="125729"/>
                    </a:lnTo>
                    <a:lnTo>
                      <a:pt x="0" y="0"/>
                    </a:lnTo>
                    <a:lnTo>
                      <a:pt x="251460" y="134874"/>
                    </a:lnTo>
                    <a:lnTo>
                      <a:pt x="251460" y="125729"/>
                    </a:lnTo>
                  </a:path>
                </a:pathLst>
              </a:custGeom>
              <a:ln w="27152">
                <a:solidFill>
                  <a:srgbClr val="00A65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31" name="object 13">
              <a:extLst>
                <a:ext uri="{FF2B5EF4-FFF2-40B4-BE49-F238E27FC236}">
                  <a16:creationId xmlns:a16="http://schemas.microsoft.com/office/drawing/2014/main" id="{A961CAED-4D7A-5A80-80B5-E1020836A09C}"/>
                </a:ext>
              </a:extLst>
            </p:cNvPr>
            <p:cNvSpPr txBox="1"/>
            <p:nvPr/>
          </p:nvSpPr>
          <p:spPr>
            <a:xfrm>
              <a:off x="4377681" y="2819553"/>
              <a:ext cx="542596" cy="730761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10"/>
                </a:spcBef>
              </a:pPr>
              <a:r>
                <a:rPr sz="3500" spc="-30" dirty="0">
                  <a:solidFill>
                    <a:srgbClr val="00A650"/>
                  </a:solidFill>
                  <a:latin typeface="Times New Roman"/>
                  <a:cs typeface="Times New Roman"/>
                </a:rPr>
                <a:t>I</a:t>
              </a:r>
              <a:r>
                <a:rPr sz="3525" spc="-44" baseline="-16548" dirty="0">
                  <a:solidFill>
                    <a:srgbClr val="00A650"/>
                  </a:solidFill>
                  <a:latin typeface="Times New Roman"/>
                  <a:cs typeface="Times New Roman"/>
                </a:rPr>
                <a:t>B</a:t>
              </a:r>
              <a:endParaRPr sz="3525" baseline="-16548" dirty="0">
                <a:latin typeface="Times New Roman"/>
                <a:cs typeface="Times New Roman"/>
              </a:endParaRPr>
            </a:p>
          </p:txBody>
        </p:sp>
        <p:sp>
          <p:nvSpPr>
            <p:cNvPr id="32" name="object 14">
              <a:extLst>
                <a:ext uri="{FF2B5EF4-FFF2-40B4-BE49-F238E27FC236}">
                  <a16:creationId xmlns:a16="http://schemas.microsoft.com/office/drawing/2014/main" id="{3E3DFCC7-5849-59E8-AB80-D6B8723AF0B1}"/>
                </a:ext>
              </a:extLst>
            </p:cNvPr>
            <p:cNvSpPr txBox="1"/>
            <p:nvPr/>
          </p:nvSpPr>
          <p:spPr>
            <a:xfrm>
              <a:off x="7836930" y="1163383"/>
              <a:ext cx="1271048" cy="730761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10"/>
                </a:spcBef>
              </a:pPr>
              <a:r>
                <a:rPr lang="fr-FR" sz="5250" spc="-22" baseline="11904" dirty="0">
                  <a:latin typeface="Times New Roman"/>
                  <a:cs typeface="Times New Roman"/>
                </a:rPr>
                <a:t>V</a:t>
              </a:r>
              <a:r>
                <a:rPr sz="2350" spc="-15" dirty="0">
                  <a:latin typeface="Times New Roman"/>
                  <a:cs typeface="Times New Roman"/>
                </a:rPr>
                <a:t>CC</a:t>
              </a:r>
              <a:endParaRPr sz="2350" dirty="0">
                <a:latin typeface="Times New Roman"/>
                <a:cs typeface="Times New Roman"/>
              </a:endParaRPr>
            </a:p>
          </p:txBody>
        </p:sp>
        <p:sp>
          <p:nvSpPr>
            <p:cNvPr id="33" name="object 15">
              <a:extLst>
                <a:ext uri="{FF2B5EF4-FFF2-40B4-BE49-F238E27FC236}">
                  <a16:creationId xmlns:a16="http://schemas.microsoft.com/office/drawing/2014/main" id="{354E3A31-5021-0839-54A0-9BED26214AAC}"/>
                </a:ext>
              </a:extLst>
            </p:cNvPr>
            <p:cNvSpPr txBox="1"/>
            <p:nvPr/>
          </p:nvSpPr>
          <p:spPr>
            <a:xfrm>
              <a:off x="4761302" y="1538211"/>
              <a:ext cx="706881" cy="725675"/>
            </a:xfrm>
            <a:prstGeom prst="rect">
              <a:avLst/>
            </a:prstGeom>
            <a:ln w="43446">
              <a:noFill/>
            </a:ln>
          </p:spPr>
          <p:txBody>
            <a:bodyPr vert="horz" wrap="square" lIns="0" tIns="1016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80"/>
                </a:spcBef>
              </a:pPr>
              <a:r>
                <a:rPr sz="3500" spc="-30" dirty="0">
                  <a:latin typeface="Times New Roman"/>
                  <a:cs typeface="Times New Roman"/>
                </a:rPr>
                <a:t>R</a:t>
              </a:r>
              <a:r>
                <a:rPr sz="3525" spc="-44" baseline="-16548" dirty="0">
                  <a:latin typeface="Times New Roman"/>
                  <a:cs typeface="Times New Roman"/>
                </a:rPr>
                <a:t>C</a:t>
              </a:r>
              <a:endParaRPr sz="3525" baseline="-16548" dirty="0">
                <a:latin typeface="Times New Roman"/>
                <a:cs typeface="Times New Roman"/>
              </a:endParaRPr>
            </a:p>
          </p:txBody>
        </p:sp>
        <p:grpSp>
          <p:nvGrpSpPr>
            <p:cNvPr id="34" name="object 16">
              <a:extLst>
                <a:ext uri="{FF2B5EF4-FFF2-40B4-BE49-F238E27FC236}">
                  <a16:creationId xmlns:a16="http://schemas.microsoft.com/office/drawing/2014/main" id="{8F1261EF-0429-1853-E069-9969DCCCBF56}"/>
                </a:ext>
              </a:extLst>
            </p:cNvPr>
            <p:cNvGrpSpPr/>
            <p:nvPr/>
          </p:nvGrpSpPr>
          <p:grpSpPr>
            <a:xfrm>
              <a:off x="5010662" y="3865359"/>
              <a:ext cx="607060" cy="572770"/>
              <a:chOff x="5176392" y="4717669"/>
              <a:chExt cx="607060" cy="572770"/>
            </a:xfrm>
          </p:grpSpPr>
          <p:sp>
            <p:nvSpPr>
              <p:cNvPr id="35" name="object 17">
                <a:extLst>
                  <a:ext uri="{FF2B5EF4-FFF2-40B4-BE49-F238E27FC236}">
                    <a16:creationId xmlns:a16="http://schemas.microsoft.com/office/drawing/2014/main" id="{D6E8DC47-B0B2-6D5A-6E91-DC47EDAB1FF2}"/>
                  </a:ext>
                </a:extLst>
              </p:cNvPr>
              <p:cNvSpPr/>
              <p:nvPr/>
            </p:nvSpPr>
            <p:spPr>
              <a:xfrm>
                <a:off x="5185028" y="4726305"/>
                <a:ext cx="592455" cy="558165"/>
              </a:xfrm>
              <a:custGeom>
                <a:avLst/>
                <a:gdLst/>
                <a:ahLst/>
                <a:cxnLst/>
                <a:rect l="l" t="t" r="r" b="b"/>
                <a:pathLst>
                  <a:path w="592454" h="558164">
                    <a:moveTo>
                      <a:pt x="5009" y="4718"/>
                    </a:moveTo>
                    <a:lnTo>
                      <a:pt x="0" y="0"/>
                    </a:lnTo>
                    <a:lnTo>
                      <a:pt x="4572" y="12266"/>
                    </a:lnTo>
                    <a:lnTo>
                      <a:pt x="4572" y="4572"/>
                    </a:lnTo>
                    <a:lnTo>
                      <a:pt x="5009" y="4718"/>
                    </a:lnTo>
                    <a:close/>
                  </a:path>
                  <a:path w="592454" h="558164">
                    <a:moveTo>
                      <a:pt x="149746" y="141273"/>
                    </a:moveTo>
                    <a:lnTo>
                      <a:pt x="4572" y="4572"/>
                    </a:lnTo>
                    <a:lnTo>
                      <a:pt x="4572" y="12266"/>
                    </a:lnTo>
                    <a:lnTo>
                      <a:pt x="93725" y="251460"/>
                    </a:lnTo>
                    <a:lnTo>
                      <a:pt x="148590" y="141732"/>
                    </a:lnTo>
                    <a:lnTo>
                      <a:pt x="149746" y="141273"/>
                    </a:lnTo>
                    <a:close/>
                  </a:path>
                  <a:path w="592454" h="558164">
                    <a:moveTo>
                      <a:pt x="269748" y="93725"/>
                    </a:moveTo>
                    <a:lnTo>
                      <a:pt x="5009" y="4718"/>
                    </a:lnTo>
                    <a:lnTo>
                      <a:pt x="149895" y="141214"/>
                    </a:lnTo>
                    <a:lnTo>
                      <a:pt x="269748" y="93725"/>
                    </a:lnTo>
                    <a:close/>
                  </a:path>
                  <a:path w="592454" h="558164">
                    <a:moveTo>
                      <a:pt x="592074" y="557784"/>
                    </a:moveTo>
                    <a:lnTo>
                      <a:pt x="149895" y="141214"/>
                    </a:lnTo>
                    <a:lnTo>
                      <a:pt x="149746" y="141273"/>
                    </a:lnTo>
                    <a:lnTo>
                      <a:pt x="592074" y="557784"/>
                    </a:lnTo>
                    <a:close/>
                  </a:path>
                </a:pathLst>
              </a:custGeom>
              <a:solidFill>
                <a:srgbClr val="ED1C2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6" name="object 18">
                <a:extLst>
                  <a:ext uri="{FF2B5EF4-FFF2-40B4-BE49-F238E27FC236}">
                    <a16:creationId xmlns:a16="http://schemas.microsoft.com/office/drawing/2014/main" id="{BCA612F8-091F-45A7-3D71-B5E1E42B0B92}"/>
                  </a:ext>
                </a:extLst>
              </p:cNvPr>
              <p:cNvSpPr/>
              <p:nvPr/>
            </p:nvSpPr>
            <p:spPr>
              <a:xfrm>
                <a:off x="5182742" y="4724019"/>
                <a:ext cx="594360" cy="560070"/>
              </a:xfrm>
              <a:custGeom>
                <a:avLst/>
                <a:gdLst/>
                <a:ahLst/>
                <a:cxnLst/>
                <a:rect l="l" t="t" r="r" b="b"/>
                <a:pathLst>
                  <a:path w="594360" h="560070">
                    <a:moveTo>
                      <a:pt x="594360" y="560069"/>
                    </a:moveTo>
                    <a:lnTo>
                      <a:pt x="2286" y="2285"/>
                    </a:lnTo>
                    <a:lnTo>
                      <a:pt x="96012" y="253745"/>
                    </a:lnTo>
                    <a:lnTo>
                      <a:pt x="150876" y="144017"/>
                    </a:lnTo>
                    <a:lnTo>
                      <a:pt x="272034" y="96011"/>
                    </a:lnTo>
                    <a:lnTo>
                      <a:pt x="6858" y="6857"/>
                    </a:lnTo>
                    <a:lnTo>
                      <a:pt x="594360" y="560069"/>
                    </a:lnTo>
                    <a:close/>
                  </a:path>
                  <a:path w="594360" h="560070">
                    <a:moveTo>
                      <a:pt x="592074" y="557783"/>
                    </a:moveTo>
                    <a:lnTo>
                      <a:pt x="0" y="0"/>
                    </a:lnTo>
                    <a:lnTo>
                      <a:pt x="96012" y="253745"/>
                    </a:lnTo>
                    <a:lnTo>
                      <a:pt x="148590" y="144017"/>
                    </a:lnTo>
                    <a:lnTo>
                      <a:pt x="269748" y="93725"/>
                    </a:lnTo>
                    <a:lnTo>
                      <a:pt x="4572" y="4571"/>
                    </a:lnTo>
                    <a:lnTo>
                      <a:pt x="592074" y="557783"/>
                    </a:lnTo>
                  </a:path>
                </a:pathLst>
              </a:custGeom>
              <a:ln w="12700">
                <a:solidFill>
                  <a:srgbClr val="ED1C2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37" name="object 19">
              <a:extLst>
                <a:ext uri="{FF2B5EF4-FFF2-40B4-BE49-F238E27FC236}">
                  <a16:creationId xmlns:a16="http://schemas.microsoft.com/office/drawing/2014/main" id="{E55A5587-61A6-C183-9117-9EB250339C13}"/>
                </a:ext>
              </a:extLst>
            </p:cNvPr>
            <p:cNvSpPr txBox="1"/>
            <p:nvPr/>
          </p:nvSpPr>
          <p:spPr>
            <a:xfrm>
              <a:off x="4321825" y="4265674"/>
              <a:ext cx="1127914" cy="730761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10"/>
                </a:spcBef>
              </a:pPr>
              <a:r>
                <a:rPr lang="fr-FR" sz="5250" spc="-15" baseline="11111" dirty="0">
                  <a:solidFill>
                    <a:srgbClr val="ED1C24"/>
                  </a:solidFill>
                  <a:latin typeface="Times New Roman"/>
                  <a:cs typeface="Times New Roman"/>
                </a:rPr>
                <a:t>V</a:t>
              </a:r>
              <a:r>
                <a:rPr sz="2350" spc="-10" dirty="0">
                  <a:solidFill>
                    <a:srgbClr val="ED1C24"/>
                  </a:solidFill>
                  <a:latin typeface="Times New Roman"/>
                  <a:cs typeface="Times New Roman"/>
                </a:rPr>
                <a:t>BE</a:t>
              </a:r>
              <a:endParaRPr sz="2350" dirty="0">
                <a:latin typeface="Times New Roman"/>
                <a:cs typeface="Times New Roman"/>
              </a:endParaRPr>
            </a:p>
          </p:txBody>
        </p:sp>
        <p:grpSp>
          <p:nvGrpSpPr>
            <p:cNvPr id="38" name="object 20">
              <a:extLst>
                <a:ext uri="{FF2B5EF4-FFF2-40B4-BE49-F238E27FC236}">
                  <a16:creationId xmlns:a16="http://schemas.microsoft.com/office/drawing/2014/main" id="{C54CD48E-18EC-7955-9998-1061AB17EBD6}"/>
                </a:ext>
              </a:extLst>
            </p:cNvPr>
            <p:cNvGrpSpPr/>
            <p:nvPr/>
          </p:nvGrpSpPr>
          <p:grpSpPr>
            <a:xfrm>
              <a:off x="1265687" y="1167371"/>
              <a:ext cx="7070725" cy="4041902"/>
              <a:chOff x="1431417" y="2019681"/>
              <a:chExt cx="7070725" cy="4041902"/>
            </a:xfrm>
          </p:grpSpPr>
          <p:sp>
            <p:nvSpPr>
              <p:cNvPr id="39" name="object 21">
                <a:extLst>
                  <a:ext uri="{FF2B5EF4-FFF2-40B4-BE49-F238E27FC236}">
                    <a16:creationId xmlns:a16="http://schemas.microsoft.com/office/drawing/2014/main" id="{AF0855D3-137A-C542-EC10-410FD015AC9F}"/>
                  </a:ext>
                </a:extLst>
              </p:cNvPr>
              <p:cNvSpPr/>
              <p:nvPr/>
            </p:nvSpPr>
            <p:spPr>
              <a:xfrm>
                <a:off x="5612511" y="4115942"/>
                <a:ext cx="445770" cy="836930"/>
              </a:xfrm>
              <a:custGeom>
                <a:avLst/>
                <a:gdLst/>
                <a:ahLst/>
                <a:cxnLst/>
                <a:rect l="l" t="t" r="r" b="b"/>
                <a:pathLst>
                  <a:path w="445770" h="836929">
                    <a:moveTo>
                      <a:pt x="89153" y="834390"/>
                    </a:moveTo>
                    <a:lnTo>
                      <a:pt x="89153" y="0"/>
                    </a:lnTo>
                    <a:lnTo>
                      <a:pt x="0" y="0"/>
                    </a:lnTo>
                    <a:lnTo>
                      <a:pt x="0" y="834390"/>
                    </a:lnTo>
                    <a:lnTo>
                      <a:pt x="89153" y="834390"/>
                    </a:lnTo>
                    <a:close/>
                  </a:path>
                  <a:path w="445770" h="836929">
                    <a:moveTo>
                      <a:pt x="289413" y="653257"/>
                    </a:moveTo>
                    <a:lnTo>
                      <a:pt x="89153" y="418338"/>
                    </a:lnTo>
                    <a:lnTo>
                      <a:pt x="289302" y="653351"/>
                    </a:lnTo>
                    <a:close/>
                  </a:path>
                  <a:path w="445770" h="836929">
                    <a:moveTo>
                      <a:pt x="443484" y="835939"/>
                    </a:moveTo>
                    <a:lnTo>
                      <a:pt x="443484" y="834389"/>
                    </a:lnTo>
                    <a:lnTo>
                      <a:pt x="289302" y="653351"/>
                    </a:lnTo>
                    <a:lnTo>
                      <a:pt x="176022" y="749808"/>
                    </a:lnTo>
                    <a:lnTo>
                      <a:pt x="443484" y="835939"/>
                    </a:lnTo>
                    <a:close/>
                  </a:path>
                  <a:path w="445770" h="836929">
                    <a:moveTo>
                      <a:pt x="443423" y="833923"/>
                    </a:moveTo>
                    <a:lnTo>
                      <a:pt x="406908" y="553211"/>
                    </a:lnTo>
                    <a:lnTo>
                      <a:pt x="289413" y="653257"/>
                    </a:lnTo>
                    <a:lnTo>
                      <a:pt x="443423" y="833923"/>
                    </a:lnTo>
                    <a:close/>
                  </a:path>
                  <a:path w="445770" h="836929">
                    <a:moveTo>
                      <a:pt x="445769" y="836676"/>
                    </a:moveTo>
                    <a:lnTo>
                      <a:pt x="443423" y="833923"/>
                    </a:lnTo>
                    <a:lnTo>
                      <a:pt x="443484" y="834389"/>
                    </a:lnTo>
                    <a:lnTo>
                      <a:pt x="443484" y="835939"/>
                    </a:lnTo>
                    <a:lnTo>
                      <a:pt x="445769" y="83667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0" name="object 22">
                <a:extLst>
                  <a:ext uri="{FF2B5EF4-FFF2-40B4-BE49-F238E27FC236}">
                    <a16:creationId xmlns:a16="http://schemas.microsoft.com/office/drawing/2014/main" id="{5A5E21D6-7715-09FF-67E4-711233A270D6}"/>
                  </a:ext>
                </a:extLst>
              </p:cNvPr>
              <p:cNvSpPr/>
              <p:nvPr/>
            </p:nvSpPr>
            <p:spPr>
              <a:xfrm>
                <a:off x="1431417" y="3144393"/>
                <a:ext cx="7070725" cy="2917190"/>
              </a:xfrm>
              <a:custGeom>
                <a:avLst/>
                <a:gdLst/>
                <a:ahLst/>
                <a:cxnLst/>
                <a:rect l="l" t="t" r="r" b="b"/>
                <a:pathLst>
                  <a:path w="7070725" h="2917190">
                    <a:moveTo>
                      <a:pt x="4624578" y="971549"/>
                    </a:moveTo>
                    <a:lnTo>
                      <a:pt x="4270247" y="1389888"/>
                    </a:lnTo>
                    <a:lnTo>
                      <a:pt x="4270247" y="971550"/>
                    </a:lnTo>
                    <a:lnTo>
                      <a:pt x="4181093" y="971550"/>
                    </a:lnTo>
                    <a:lnTo>
                      <a:pt x="4181093" y="1805940"/>
                    </a:lnTo>
                    <a:lnTo>
                      <a:pt x="4270247" y="1805940"/>
                    </a:lnTo>
                    <a:lnTo>
                      <a:pt x="4270247" y="1389888"/>
                    </a:lnTo>
                    <a:lnTo>
                      <a:pt x="4624578" y="1805939"/>
                    </a:lnTo>
                    <a:lnTo>
                      <a:pt x="4588002" y="1524761"/>
                    </a:lnTo>
                    <a:lnTo>
                      <a:pt x="4357116" y="1721358"/>
                    </a:lnTo>
                    <a:lnTo>
                      <a:pt x="4626863" y="1808226"/>
                    </a:lnTo>
                    <a:lnTo>
                      <a:pt x="4270247" y="1389888"/>
                    </a:lnTo>
                    <a:lnTo>
                      <a:pt x="4624578" y="971549"/>
                    </a:lnTo>
                    <a:close/>
                  </a:path>
                  <a:path w="7070725" h="2917190">
                    <a:moveTo>
                      <a:pt x="4624578" y="971549"/>
                    </a:moveTo>
                    <a:lnTo>
                      <a:pt x="4270247" y="1389888"/>
                    </a:lnTo>
                    <a:lnTo>
                      <a:pt x="4270247" y="971550"/>
                    </a:lnTo>
                    <a:lnTo>
                      <a:pt x="4181093" y="971550"/>
                    </a:lnTo>
                    <a:lnTo>
                      <a:pt x="4181093" y="1805940"/>
                    </a:lnTo>
                    <a:lnTo>
                      <a:pt x="4270247" y="1805940"/>
                    </a:lnTo>
                    <a:lnTo>
                      <a:pt x="4270247" y="1389888"/>
                    </a:lnTo>
                    <a:lnTo>
                      <a:pt x="4624578" y="1805939"/>
                    </a:lnTo>
                    <a:lnTo>
                      <a:pt x="4588002" y="1524761"/>
                    </a:lnTo>
                    <a:lnTo>
                      <a:pt x="4357116" y="1721358"/>
                    </a:lnTo>
                    <a:lnTo>
                      <a:pt x="4626863" y="1808226"/>
                    </a:lnTo>
                    <a:lnTo>
                      <a:pt x="4270247" y="1389888"/>
                    </a:lnTo>
                    <a:lnTo>
                      <a:pt x="4624578" y="971549"/>
                    </a:lnTo>
                  </a:path>
                  <a:path w="7070725" h="2917190">
                    <a:moveTo>
                      <a:pt x="4624578" y="1789937"/>
                    </a:moveTo>
                    <a:lnTo>
                      <a:pt x="4624578" y="2864357"/>
                    </a:lnTo>
                  </a:path>
                  <a:path w="7070725" h="2917190">
                    <a:moveTo>
                      <a:pt x="1088136" y="2148840"/>
                    </a:moveTo>
                    <a:lnTo>
                      <a:pt x="1085850" y="2199132"/>
                    </a:lnTo>
                    <a:lnTo>
                      <a:pt x="1076706" y="2251710"/>
                    </a:lnTo>
                    <a:lnTo>
                      <a:pt x="1062990" y="2299716"/>
                    </a:lnTo>
                    <a:lnTo>
                      <a:pt x="1044702" y="2347722"/>
                    </a:lnTo>
                    <a:lnTo>
                      <a:pt x="1021841" y="2393442"/>
                    </a:lnTo>
                    <a:lnTo>
                      <a:pt x="992124" y="2436876"/>
                    </a:lnTo>
                    <a:lnTo>
                      <a:pt x="960120" y="2478024"/>
                    </a:lnTo>
                    <a:lnTo>
                      <a:pt x="923544" y="2514600"/>
                    </a:lnTo>
                    <a:lnTo>
                      <a:pt x="884682" y="2548890"/>
                    </a:lnTo>
                    <a:lnTo>
                      <a:pt x="841247" y="2578608"/>
                    </a:lnTo>
                    <a:lnTo>
                      <a:pt x="790956" y="2603754"/>
                    </a:lnTo>
                    <a:lnTo>
                      <a:pt x="742950" y="2624328"/>
                    </a:lnTo>
                    <a:lnTo>
                      <a:pt x="690372" y="2642616"/>
                    </a:lnTo>
                    <a:lnTo>
                      <a:pt x="637794" y="2651760"/>
                    </a:lnTo>
                    <a:lnTo>
                      <a:pt x="585216" y="2658618"/>
                    </a:lnTo>
                    <a:lnTo>
                      <a:pt x="530352" y="2660904"/>
                    </a:lnTo>
                    <a:lnTo>
                      <a:pt x="475488" y="2656332"/>
                    </a:lnTo>
                    <a:lnTo>
                      <a:pt x="420624" y="2647188"/>
                    </a:lnTo>
                    <a:lnTo>
                      <a:pt x="370332" y="2635758"/>
                    </a:lnTo>
                    <a:lnTo>
                      <a:pt x="320040" y="2615184"/>
                    </a:lnTo>
                    <a:lnTo>
                      <a:pt x="272034" y="2592324"/>
                    </a:lnTo>
                    <a:lnTo>
                      <a:pt x="226314" y="2562606"/>
                    </a:lnTo>
                    <a:lnTo>
                      <a:pt x="185166" y="2532888"/>
                    </a:lnTo>
                    <a:lnTo>
                      <a:pt x="144018" y="2496312"/>
                    </a:lnTo>
                    <a:lnTo>
                      <a:pt x="112014" y="2457450"/>
                    </a:lnTo>
                    <a:lnTo>
                      <a:pt x="77724" y="2414016"/>
                    </a:lnTo>
                    <a:lnTo>
                      <a:pt x="54864" y="2370582"/>
                    </a:lnTo>
                    <a:lnTo>
                      <a:pt x="32004" y="2322576"/>
                    </a:lnTo>
                    <a:lnTo>
                      <a:pt x="16002" y="2274570"/>
                    </a:lnTo>
                    <a:lnTo>
                      <a:pt x="4571" y="2226564"/>
                    </a:lnTo>
                    <a:lnTo>
                      <a:pt x="0" y="2173986"/>
                    </a:lnTo>
                    <a:lnTo>
                      <a:pt x="0" y="2123694"/>
                    </a:lnTo>
                    <a:lnTo>
                      <a:pt x="4571" y="2071116"/>
                    </a:lnTo>
                    <a:lnTo>
                      <a:pt x="16002" y="2023110"/>
                    </a:lnTo>
                    <a:lnTo>
                      <a:pt x="32004" y="1975104"/>
                    </a:lnTo>
                    <a:lnTo>
                      <a:pt x="54864" y="1927098"/>
                    </a:lnTo>
                    <a:lnTo>
                      <a:pt x="77724" y="1883664"/>
                    </a:lnTo>
                    <a:lnTo>
                      <a:pt x="112014" y="1840230"/>
                    </a:lnTo>
                    <a:lnTo>
                      <a:pt x="144018" y="1801368"/>
                    </a:lnTo>
                    <a:lnTo>
                      <a:pt x="185166" y="1764792"/>
                    </a:lnTo>
                    <a:lnTo>
                      <a:pt x="226314" y="1735074"/>
                    </a:lnTo>
                    <a:lnTo>
                      <a:pt x="272034" y="1705356"/>
                    </a:lnTo>
                    <a:lnTo>
                      <a:pt x="320040" y="1682496"/>
                    </a:lnTo>
                    <a:lnTo>
                      <a:pt x="370332" y="1661922"/>
                    </a:lnTo>
                    <a:lnTo>
                      <a:pt x="420624" y="1650492"/>
                    </a:lnTo>
                    <a:lnTo>
                      <a:pt x="475488" y="1641348"/>
                    </a:lnTo>
                    <a:lnTo>
                      <a:pt x="530352" y="1636776"/>
                    </a:lnTo>
                    <a:lnTo>
                      <a:pt x="585216" y="1639062"/>
                    </a:lnTo>
                    <a:lnTo>
                      <a:pt x="637794" y="1645920"/>
                    </a:lnTo>
                    <a:lnTo>
                      <a:pt x="690372" y="1655064"/>
                    </a:lnTo>
                    <a:lnTo>
                      <a:pt x="742950" y="1673352"/>
                    </a:lnTo>
                    <a:lnTo>
                      <a:pt x="790956" y="1693926"/>
                    </a:lnTo>
                    <a:lnTo>
                      <a:pt x="841247" y="1719072"/>
                    </a:lnTo>
                    <a:lnTo>
                      <a:pt x="884682" y="1748790"/>
                    </a:lnTo>
                    <a:lnTo>
                      <a:pt x="923544" y="1783080"/>
                    </a:lnTo>
                    <a:lnTo>
                      <a:pt x="960120" y="1819656"/>
                    </a:lnTo>
                    <a:lnTo>
                      <a:pt x="992124" y="1860804"/>
                    </a:lnTo>
                    <a:lnTo>
                      <a:pt x="1021841" y="1904238"/>
                    </a:lnTo>
                    <a:lnTo>
                      <a:pt x="1044702" y="1949958"/>
                    </a:lnTo>
                    <a:lnTo>
                      <a:pt x="1062990" y="1997964"/>
                    </a:lnTo>
                    <a:lnTo>
                      <a:pt x="1076706" y="2045970"/>
                    </a:lnTo>
                    <a:lnTo>
                      <a:pt x="1085850" y="2098548"/>
                    </a:lnTo>
                    <a:lnTo>
                      <a:pt x="1088136" y="2148840"/>
                    </a:lnTo>
                  </a:path>
                  <a:path w="7070725" h="2917190">
                    <a:moveTo>
                      <a:pt x="544068" y="2660904"/>
                    </a:moveTo>
                    <a:lnTo>
                      <a:pt x="544068" y="1636776"/>
                    </a:lnTo>
                  </a:path>
                  <a:path w="7070725" h="2917190">
                    <a:moveTo>
                      <a:pt x="544068" y="2660904"/>
                    </a:moveTo>
                    <a:lnTo>
                      <a:pt x="544068" y="2916936"/>
                    </a:lnTo>
                    <a:lnTo>
                      <a:pt x="4624578" y="2916935"/>
                    </a:lnTo>
                  </a:path>
                  <a:path w="7070725" h="2917190">
                    <a:moveTo>
                      <a:pt x="1632203" y="1124712"/>
                    </a:moveTo>
                    <a:lnTo>
                      <a:pt x="1632203" y="1636776"/>
                    </a:lnTo>
                    <a:lnTo>
                      <a:pt x="2720340" y="1636776"/>
                    </a:lnTo>
                    <a:lnTo>
                      <a:pt x="2720340" y="1124712"/>
                    </a:lnTo>
                    <a:lnTo>
                      <a:pt x="1632203" y="1124712"/>
                    </a:lnTo>
                  </a:path>
                  <a:path w="7070725" h="2917190">
                    <a:moveTo>
                      <a:pt x="2720340" y="1380744"/>
                    </a:moveTo>
                    <a:lnTo>
                      <a:pt x="4187952" y="1380744"/>
                    </a:lnTo>
                  </a:path>
                  <a:path w="7070725" h="2917190">
                    <a:moveTo>
                      <a:pt x="544068" y="1636776"/>
                    </a:moveTo>
                    <a:lnTo>
                      <a:pt x="544068" y="1380744"/>
                    </a:lnTo>
                    <a:lnTo>
                      <a:pt x="1632203" y="1380744"/>
                    </a:lnTo>
                  </a:path>
                  <a:path w="7070725" h="2917190">
                    <a:moveTo>
                      <a:pt x="7070598" y="512063"/>
                    </a:moveTo>
                    <a:lnTo>
                      <a:pt x="7068311" y="562355"/>
                    </a:lnTo>
                    <a:lnTo>
                      <a:pt x="7061454" y="614933"/>
                    </a:lnTo>
                    <a:lnTo>
                      <a:pt x="7047737" y="662939"/>
                    </a:lnTo>
                    <a:lnTo>
                      <a:pt x="7027163" y="710945"/>
                    </a:lnTo>
                    <a:lnTo>
                      <a:pt x="7006589" y="756665"/>
                    </a:lnTo>
                    <a:lnTo>
                      <a:pt x="6976872" y="800099"/>
                    </a:lnTo>
                    <a:lnTo>
                      <a:pt x="6944867" y="841247"/>
                    </a:lnTo>
                    <a:lnTo>
                      <a:pt x="6908291" y="877823"/>
                    </a:lnTo>
                    <a:lnTo>
                      <a:pt x="6867143" y="909827"/>
                    </a:lnTo>
                    <a:lnTo>
                      <a:pt x="6823709" y="941831"/>
                    </a:lnTo>
                    <a:lnTo>
                      <a:pt x="6775704" y="966977"/>
                    </a:lnTo>
                    <a:lnTo>
                      <a:pt x="6725411" y="987551"/>
                    </a:lnTo>
                    <a:lnTo>
                      <a:pt x="6675119" y="1005839"/>
                    </a:lnTo>
                    <a:lnTo>
                      <a:pt x="6622541" y="1014983"/>
                    </a:lnTo>
                    <a:lnTo>
                      <a:pt x="6567678" y="1019555"/>
                    </a:lnTo>
                    <a:lnTo>
                      <a:pt x="6515100" y="1024127"/>
                    </a:lnTo>
                    <a:lnTo>
                      <a:pt x="6460235" y="1017269"/>
                    </a:lnTo>
                    <a:lnTo>
                      <a:pt x="6405372" y="1010411"/>
                    </a:lnTo>
                    <a:lnTo>
                      <a:pt x="6352793" y="996695"/>
                    </a:lnTo>
                    <a:lnTo>
                      <a:pt x="6304787" y="976121"/>
                    </a:lnTo>
                    <a:lnTo>
                      <a:pt x="6256782" y="953261"/>
                    </a:lnTo>
                    <a:lnTo>
                      <a:pt x="6208776" y="925829"/>
                    </a:lnTo>
                    <a:lnTo>
                      <a:pt x="6167628" y="896111"/>
                    </a:lnTo>
                    <a:lnTo>
                      <a:pt x="6128765" y="859535"/>
                    </a:lnTo>
                    <a:lnTo>
                      <a:pt x="6094476" y="820673"/>
                    </a:lnTo>
                    <a:lnTo>
                      <a:pt x="6062472" y="777239"/>
                    </a:lnTo>
                    <a:lnTo>
                      <a:pt x="6037326" y="733805"/>
                    </a:lnTo>
                    <a:lnTo>
                      <a:pt x="6016752" y="685799"/>
                    </a:lnTo>
                    <a:lnTo>
                      <a:pt x="6000750" y="637793"/>
                    </a:lnTo>
                    <a:lnTo>
                      <a:pt x="5989319" y="587501"/>
                    </a:lnTo>
                    <a:lnTo>
                      <a:pt x="5984748" y="537209"/>
                    </a:lnTo>
                    <a:lnTo>
                      <a:pt x="5984748" y="486917"/>
                    </a:lnTo>
                    <a:lnTo>
                      <a:pt x="5989319" y="434339"/>
                    </a:lnTo>
                    <a:lnTo>
                      <a:pt x="6000750" y="386333"/>
                    </a:lnTo>
                    <a:lnTo>
                      <a:pt x="6016752" y="338327"/>
                    </a:lnTo>
                    <a:lnTo>
                      <a:pt x="6037326" y="288035"/>
                    </a:lnTo>
                    <a:lnTo>
                      <a:pt x="6062472" y="244601"/>
                    </a:lnTo>
                    <a:lnTo>
                      <a:pt x="6094476" y="201167"/>
                    </a:lnTo>
                    <a:lnTo>
                      <a:pt x="6128765" y="164591"/>
                    </a:lnTo>
                    <a:lnTo>
                      <a:pt x="6167628" y="128015"/>
                    </a:lnTo>
                    <a:lnTo>
                      <a:pt x="6208776" y="98298"/>
                    </a:lnTo>
                    <a:lnTo>
                      <a:pt x="6256782" y="68580"/>
                    </a:lnTo>
                    <a:lnTo>
                      <a:pt x="6304787" y="45719"/>
                    </a:lnTo>
                    <a:lnTo>
                      <a:pt x="6352793" y="25145"/>
                    </a:lnTo>
                    <a:lnTo>
                      <a:pt x="6405372" y="13715"/>
                    </a:lnTo>
                    <a:lnTo>
                      <a:pt x="6460235" y="4571"/>
                    </a:lnTo>
                    <a:lnTo>
                      <a:pt x="6515100" y="0"/>
                    </a:lnTo>
                    <a:lnTo>
                      <a:pt x="6567678" y="2286"/>
                    </a:lnTo>
                    <a:lnTo>
                      <a:pt x="6622541" y="6857"/>
                    </a:lnTo>
                    <a:lnTo>
                      <a:pt x="6675119" y="18287"/>
                    </a:lnTo>
                    <a:lnTo>
                      <a:pt x="6725411" y="36575"/>
                    </a:lnTo>
                    <a:lnTo>
                      <a:pt x="6775704" y="57150"/>
                    </a:lnTo>
                    <a:lnTo>
                      <a:pt x="6823709" y="82295"/>
                    </a:lnTo>
                    <a:lnTo>
                      <a:pt x="6867143" y="112013"/>
                    </a:lnTo>
                    <a:lnTo>
                      <a:pt x="6908291" y="146303"/>
                    </a:lnTo>
                    <a:lnTo>
                      <a:pt x="6944867" y="180593"/>
                    </a:lnTo>
                    <a:lnTo>
                      <a:pt x="6976872" y="221741"/>
                    </a:lnTo>
                    <a:lnTo>
                      <a:pt x="7006589" y="265175"/>
                    </a:lnTo>
                    <a:lnTo>
                      <a:pt x="7027163" y="313181"/>
                    </a:lnTo>
                    <a:lnTo>
                      <a:pt x="7047737" y="361187"/>
                    </a:lnTo>
                    <a:lnTo>
                      <a:pt x="7061454" y="409193"/>
                    </a:lnTo>
                    <a:lnTo>
                      <a:pt x="7068311" y="459485"/>
                    </a:lnTo>
                    <a:lnTo>
                      <a:pt x="7070598" y="512063"/>
                    </a:lnTo>
                  </a:path>
                </a:pathLst>
              </a:custGeom>
              <a:ln w="271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1" name="object 23">
                <a:extLst>
                  <a:ext uri="{FF2B5EF4-FFF2-40B4-BE49-F238E27FC236}">
                    <a16:creationId xmlns:a16="http://schemas.microsoft.com/office/drawing/2014/main" id="{DF350ED9-689F-A808-3F30-79F44BF3FCCA}"/>
                  </a:ext>
                </a:extLst>
              </p:cNvPr>
              <p:cNvSpPr/>
              <p:nvPr/>
            </p:nvSpPr>
            <p:spPr>
              <a:xfrm>
                <a:off x="6055994" y="2019681"/>
                <a:ext cx="1904364" cy="4041775"/>
              </a:xfrm>
              <a:custGeom>
                <a:avLst/>
                <a:gdLst/>
                <a:ahLst/>
                <a:cxnLst/>
                <a:rect l="l" t="t" r="r" b="b"/>
                <a:pathLst>
                  <a:path w="1904365" h="4041775">
                    <a:moveTo>
                      <a:pt x="0" y="0"/>
                    </a:moveTo>
                    <a:lnTo>
                      <a:pt x="1904237" y="0"/>
                    </a:lnTo>
                    <a:lnTo>
                      <a:pt x="1904237" y="4041647"/>
                    </a:lnTo>
                    <a:lnTo>
                      <a:pt x="0" y="4041647"/>
                    </a:lnTo>
                  </a:path>
                </a:pathLst>
              </a:custGeom>
              <a:ln w="271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43" name="object 25">
              <a:extLst>
                <a:ext uri="{FF2B5EF4-FFF2-40B4-BE49-F238E27FC236}">
                  <a16:creationId xmlns:a16="http://schemas.microsoft.com/office/drawing/2014/main" id="{18FDDD98-5DFE-B7FE-CC36-183E5F6020FF}"/>
                </a:ext>
              </a:extLst>
            </p:cNvPr>
            <p:cNvSpPr txBox="1"/>
            <p:nvPr/>
          </p:nvSpPr>
          <p:spPr>
            <a:xfrm>
              <a:off x="801139" y="3292087"/>
              <a:ext cx="438563" cy="730761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10"/>
                </a:spcBef>
              </a:pPr>
              <a:r>
                <a:rPr lang="fr-FR" sz="3500" spc="5" dirty="0">
                  <a:latin typeface="Times New Roman"/>
                  <a:cs typeface="Times New Roman"/>
                </a:rPr>
                <a:t>V</a:t>
              </a:r>
              <a:endParaRPr sz="3500" dirty="0">
                <a:latin typeface="Times New Roman"/>
                <a:cs typeface="Times New Roman"/>
              </a:endParaRPr>
            </a:p>
          </p:txBody>
        </p:sp>
        <p:sp>
          <p:nvSpPr>
            <p:cNvPr id="44" name="object 26">
              <a:extLst>
                <a:ext uri="{FF2B5EF4-FFF2-40B4-BE49-F238E27FC236}">
                  <a16:creationId xmlns:a16="http://schemas.microsoft.com/office/drawing/2014/main" id="{4E9999B4-3BCA-FCF4-C41D-85836652CC6E}"/>
                </a:ext>
              </a:extLst>
            </p:cNvPr>
            <p:cNvSpPr txBox="1"/>
            <p:nvPr/>
          </p:nvSpPr>
          <p:spPr>
            <a:xfrm>
              <a:off x="1209681" y="3531422"/>
              <a:ext cx="569865" cy="49423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lang="fr-FR" sz="2350" spc="-5" dirty="0">
                  <a:latin typeface="Times New Roman"/>
                  <a:cs typeface="Times New Roman"/>
                </a:rPr>
                <a:t>BB</a:t>
              </a:r>
              <a:endParaRPr sz="2350" dirty="0">
                <a:latin typeface="Times New Roman"/>
                <a:cs typeface="Times New Roman"/>
              </a:endParaRPr>
            </a:p>
          </p:txBody>
        </p:sp>
        <p:grpSp>
          <p:nvGrpSpPr>
            <p:cNvPr id="45" name="object 27">
              <a:extLst>
                <a:ext uri="{FF2B5EF4-FFF2-40B4-BE49-F238E27FC236}">
                  <a16:creationId xmlns:a16="http://schemas.microsoft.com/office/drawing/2014/main" id="{39B6E79B-CB35-0FC7-A26D-E3C6CE8C3DF8}"/>
                </a:ext>
              </a:extLst>
            </p:cNvPr>
            <p:cNvGrpSpPr/>
            <p:nvPr/>
          </p:nvGrpSpPr>
          <p:grpSpPr>
            <a:xfrm>
              <a:off x="6043935" y="2745218"/>
              <a:ext cx="257810" cy="1878330"/>
              <a:chOff x="6209665" y="3597528"/>
              <a:chExt cx="257810" cy="1878330"/>
            </a:xfrm>
          </p:grpSpPr>
          <p:sp>
            <p:nvSpPr>
              <p:cNvPr id="46" name="object 28">
                <a:extLst>
                  <a:ext uri="{FF2B5EF4-FFF2-40B4-BE49-F238E27FC236}">
                    <a16:creationId xmlns:a16="http://schemas.microsoft.com/office/drawing/2014/main" id="{55E93746-2529-2CFF-AF46-2435E8AE89D5}"/>
                  </a:ext>
                </a:extLst>
              </p:cNvPr>
              <p:cNvSpPr/>
              <p:nvPr/>
            </p:nvSpPr>
            <p:spPr>
              <a:xfrm>
                <a:off x="6218301" y="3603878"/>
                <a:ext cx="242570" cy="247015"/>
              </a:xfrm>
              <a:custGeom>
                <a:avLst/>
                <a:gdLst/>
                <a:ahLst/>
                <a:cxnLst/>
                <a:rect l="l" t="t" r="r" b="b"/>
                <a:pathLst>
                  <a:path w="242570" h="247014">
                    <a:moveTo>
                      <a:pt x="242315" y="246887"/>
                    </a:moveTo>
                    <a:lnTo>
                      <a:pt x="123444" y="9144"/>
                    </a:lnTo>
                    <a:lnTo>
                      <a:pt x="123444" y="0"/>
                    </a:lnTo>
                    <a:lnTo>
                      <a:pt x="0" y="244601"/>
                    </a:lnTo>
                    <a:lnTo>
                      <a:pt x="123444" y="201168"/>
                    </a:lnTo>
                    <a:lnTo>
                      <a:pt x="242315" y="246887"/>
                    </a:lnTo>
                    <a:close/>
                  </a:path>
                </a:pathLst>
              </a:custGeom>
              <a:solidFill>
                <a:srgbClr val="ED1C2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7" name="object 29">
                <a:extLst>
                  <a:ext uri="{FF2B5EF4-FFF2-40B4-BE49-F238E27FC236}">
                    <a16:creationId xmlns:a16="http://schemas.microsoft.com/office/drawing/2014/main" id="{CD7863F2-95CC-DC57-3910-D8D65EF983CB}"/>
                  </a:ext>
                </a:extLst>
              </p:cNvPr>
              <p:cNvSpPr/>
              <p:nvPr/>
            </p:nvSpPr>
            <p:spPr>
              <a:xfrm>
                <a:off x="6216015" y="3603878"/>
                <a:ext cx="245110" cy="1865630"/>
              </a:xfrm>
              <a:custGeom>
                <a:avLst/>
                <a:gdLst/>
                <a:ahLst/>
                <a:cxnLst/>
                <a:rect l="l" t="t" r="r" b="b"/>
                <a:pathLst>
                  <a:path w="245110" h="1865629">
                    <a:moveTo>
                      <a:pt x="125730" y="1865376"/>
                    </a:moveTo>
                    <a:lnTo>
                      <a:pt x="125730" y="0"/>
                    </a:lnTo>
                    <a:lnTo>
                      <a:pt x="2286" y="244601"/>
                    </a:lnTo>
                    <a:lnTo>
                      <a:pt x="125730" y="201168"/>
                    </a:lnTo>
                    <a:lnTo>
                      <a:pt x="244601" y="246887"/>
                    </a:lnTo>
                    <a:lnTo>
                      <a:pt x="125730" y="9144"/>
                    </a:lnTo>
                    <a:lnTo>
                      <a:pt x="125730" y="1865376"/>
                    </a:lnTo>
                    <a:close/>
                  </a:path>
                  <a:path w="245110" h="1865629">
                    <a:moveTo>
                      <a:pt x="123444" y="1865376"/>
                    </a:moveTo>
                    <a:lnTo>
                      <a:pt x="123444" y="0"/>
                    </a:lnTo>
                    <a:lnTo>
                      <a:pt x="0" y="242316"/>
                    </a:lnTo>
                    <a:lnTo>
                      <a:pt x="123444" y="198882"/>
                    </a:lnTo>
                    <a:lnTo>
                      <a:pt x="242315" y="244601"/>
                    </a:lnTo>
                    <a:lnTo>
                      <a:pt x="123444" y="6858"/>
                    </a:lnTo>
                    <a:lnTo>
                      <a:pt x="123444" y="1865376"/>
                    </a:lnTo>
                  </a:path>
                </a:pathLst>
              </a:custGeom>
              <a:ln w="12700">
                <a:solidFill>
                  <a:srgbClr val="ED1C2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48" name="object 30">
              <a:extLst>
                <a:ext uri="{FF2B5EF4-FFF2-40B4-BE49-F238E27FC236}">
                  <a16:creationId xmlns:a16="http://schemas.microsoft.com/office/drawing/2014/main" id="{8B1D092F-CB6D-9C29-B2EE-0E83F7EB8C7F}"/>
                </a:ext>
              </a:extLst>
            </p:cNvPr>
            <p:cNvSpPr txBox="1"/>
            <p:nvPr/>
          </p:nvSpPr>
          <p:spPr>
            <a:xfrm>
              <a:off x="6295141" y="3505720"/>
              <a:ext cx="1042025" cy="730761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10"/>
                </a:spcBef>
              </a:pPr>
              <a:r>
                <a:rPr lang="fr-FR" sz="5250" spc="52" baseline="11111" dirty="0">
                  <a:solidFill>
                    <a:srgbClr val="ED1C24"/>
                  </a:solidFill>
                  <a:latin typeface="Times New Roman"/>
                  <a:cs typeface="Times New Roman"/>
                </a:rPr>
                <a:t>V</a:t>
              </a:r>
              <a:r>
                <a:rPr sz="2350" spc="35" dirty="0">
                  <a:solidFill>
                    <a:srgbClr val="ED1C24"/>
                  </a:solidFill>
                  <a:latin typeface="Times New Roman"/>
                  <a:cs typeface="Times New Roman"/>
                </a:rPr>
                <a:t>CE</a:t>
              </a:r>
              <a:endParaRPr sz="2350" dirty="0">
                <a:latin typeface="Times New Roman"/>
                <a:cs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48877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6"/>
            <a:ext cx="52086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-Transistor-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1620" y="507690"/>
            <a:ext cx="69931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4. Polarisation </a:t>
            </a:r>
            <a:r>
              <a:rPr lang="fr-FR" sz="18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du transistor</a:t>
            </a:r>
            <a:endParaRPr lang="fr-FR" b="1" spc="-5" dirty="0">
              <a:solidFill>
                <a:srgbClr val="FF0000"/>
              </a:solidFill>
              <a:latin typeface="Bookman Old Style" panose="02050604050505020204" pitchFamily="18" charset="0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715000" y="365260"/>
            <a:ext cx="3328256" cy="10117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46">
            <a:extLst>
              <a:ext uri="{FF2B5EF4-FFF2-40B4-BE49-F238E27FC236}">
                <a16:creationId xmlns:a16="http://schemas.microsoft.com/office/drawing/2014/main" id="{7198176F-4D83-4A98-1EFA-F78693C2B68B}"/>
              </a:ext>
            </a:extLst>
          </p:cNvPr>
          <p:cNvSpPr txBox="1"/>
          <p:nvPr/>
        </p:nvSpPr>
        <p:spPr>
          <a:xfrm>
            <a:off x="8828933" y="486598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50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C72328-F671-0D88-6318-C7E7FDBE9A01}"/>
              </a:ext>
            </a:extLst>
          </p:cNvPr>
          <p:cNvSpPr txBox="1"/>
          <p:nvPr/>
        </p:nvSpPr>
        <p:spPr>
          <a:xfrm>
            <a:off x="658743" y="768943"/>
            <a:ext cx="86853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600" b="1" spc="-5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defRPr>
            </a:lvl1pPr>
          </a:lstStyle>
          <a:p>
            <a:r>
              <a:rPr lang="fr-FR" sz="1400" dirty="0"/>
              <a:t>4.5 Types de polarisation </a:t>
            </a:r>
            <a:br>
              <a:rPr lang="fr-FR" dirty="0"/>
            </a:b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BE416E-3453-0D38-B92B-DD625CCA52F3}"/>
              </a:ext>
            </a:extLst>
          </p:cNvPr>
          <p:cNvSpPr txBox="1"/>
          <p:nvPr/>
        </p:nvSpPr>
        <p:spPr>
          <a:xfrm>
            <a:off x="672271" y="967148"/>
            <a:ext cx="77994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600" dirty="0">
                <a:latin typeface="Bookman Old Style" panose="02050604050505020204" pitchFamily="18" charset="0"/>
              </a:rPr>
              <a:t>Le tableau suivant regroupe quelques montages de polarisation </a:t>
            </a:r>
          </a:p>
        </p:txBody>
      </p:sp>
      <p:pic>
        <p:nvPicPr>
          <p:cNvPr id="5" name="Espace réservé du contenu 7" descr="imag1.bmp">
            <a:extLst>
              <a:ext uri="{FF2B5EF4-FFF2-40B4-BE49-F238E27FC236}">
                <a16:creationId xmlns:a16="http://schemas.microsoft.com/office/drawing/2014/main" id="{A3801785-CE69-5224-B87D-9F5881648C1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05000" y="1322941"/>
            <a:ext cx="5927183" cy="384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2810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6"/>
            <a:ext cx="52086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-Transistor-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1620" y="507690"/>
            <a:ext cx="75917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Transistor bipolaire en régime variable et faibles signaux</a:t>
            </a: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715000" y="365260"/>
            <a:ext cx="3328256" cy="10117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46">
            <a:extLst>
              <a:ext uri="{FF2B5EF4-FFF2-40B4-BE49-F238E27FC236}">
                <a16:creationId xmlns:a16="http://schemas.microsoft.com/office/drawing/2014/main" id="{7198176F-4D83-4A98-1EFA-F78693C2B68B}"/>
              </a:ext>
            </a:extLst>
          </p:cNvPr>
          <p:cNvSpPr txBox="1"/>
          <p:nvPr/>
        </p:nvSpPr>
        <p:spPr>
          <a:xfrm>
            <a:off x="8828933" y="486598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51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E514BC-7A9D-27BC-A1DC-7898E2044751}"/>
              </a:ext>
            </a:extLst>
          </p:cNvPr>
          <p:cNvSpPr txBox="1"/>
          <p:nvPr/>
        </p:nvSpPr>
        <p:spPr>
          <a:xfrm>
            <a:off x="576301" y="966208"/>
            <a:ext cx="83795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dirty="0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Après </a:t>
            </a:r>
            <a:r>
              <a:rPr lang="en-US" sz="1600" dirty="0" err="1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avoir</a:t>
            </a:r>
            <a:r>
              <a:rPr lang="en-US" sz="1600" dirty="0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déterminé</a:t>
            </a:r>
            <a:r>
              <a:rPr lang="en-US" sz="1600" dirty="0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l'état</a:t>
            </a:r>
            <a:r>
              <a:rPr lang="en-US" sz="1600" dirty="0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fonctionnement</a:t>
            </a:r>
            <a:r>
              <a:rPr lang="en-US" sz="1600" dirty="0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du transistor </a:t>
            </a:r>
            <a:r>
              <a:rPr lang="en-US" sz="1600" dirty="0" err="1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en</a:t>
            </a:r>
            <a:r>
              <a:rPr lang="en-US" sz="1600" dirty="0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régime </a:t>
            </a:r>
            <a:r>
              <a:rPr lang="en-US" sz="1600" b="1" dirty="0" err="1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continu</a:t>
            </a:r>
            <a:r>
              <a:rPr lang="en-US" sz="1600" b="1" dirty="0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(point de repos), </a:t>
            </a:r>
            <a:r>
              <a:rPr lang="en-US" sz="1600" dirty="0" err="1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l'analyse</a:t>
            </a:r>
            <a:r>
              <a:rPr lang="en-US" sz="1600" dirty="0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en</a:t>
            </a:r>
            <a:r>
              <a:rPr lang="en-US" sz="1600" dirty="0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régime variable </a:t>
            </a:r>
            <a:r>
              <a:rPr lang="en-US" sz="1600" dirty="0" err="1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permet</a:t>
            </a:r>
            <a:r>
              <a:rPr lang="en-US" sz="1600" dirty="0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d'étudier</a:t>
            </a:r>
            <a:r>
              <a:rPr lang="en-US" sz="1600" dirty="0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ses</a:t>
            </a:r>
            <a:r>
              <a:rPr lang="en-US" sz="1600" dirty="0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propriétés</a:t>
            </a:r>
            <a:r>
              <a:rPr lang="en-US" sz="1600" dirty="0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d'</a:t>
            </a:r>
            <a:r>
              <a:rPr lang="en-US" sz="1600" b="1" dirty="0" err="1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amplification</a:t>
            </a:r>
            <a:r>
              <a:rPr lang="en-US" sz="1600" dirty="0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endParaRPr lang="fr-FR" sz="1600" dirty="0">
              <a:latin typeface="Bookman Old Style" panose="020506040505050202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39BE70-B750-9EA1-0C22-6EFF4C469AB8}"/>
              </a:ext>
            </a:extLst>
          </p:cNvPr>
          <p:cNvSpPr txBox="1"/>
          <p:nvPr/>
        </p:nvSpPr>
        <p:spPr>
          <a:xfrm>
            <a:off x="590982" y="1943812"/>
            <a:ext cx="8364887" cy="1615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Dans un </a:t>
            </a:r>
            <a:r>
              <a:rPr lang="en-US" sz="1600" b="1" dirty="0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montage à transistor </a:t>
            </a:r>
            <a:r>
              <a:rPr lang="en-US" sz="1600" dirty="0" err="1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en</a:t>
            </a:r>
            <a:r>
              <a:rPr lang="en-US" sz="1600" dirty="0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régime variable :</a:t>
            </a:r>
            <a:endParaRPr lang="fr-FR" sz="1600" dirty="0">
              <a:effectLst/>
              <a:latin typeface="Bookman Old Style" panose="0205060405050502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600" b="1" dirty="0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Source variable </a:t>
            </a:r>
            <a:r>
              <a:rPr lang="en-US" sz="1600" b="1" dirty="0" err="1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ajoutée</a:t>
            </a:r>
            <a:r>
              <a:rPr lang="en-US" sz="1600" dirty="0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Une tension variable </a:t>
            </a:r>
            <a:r>
              <a:rPr lang="en-US" sz="1600" b="1" dirty="0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e(t) = E sin(</a:t>
            </a:r>
            <a:r>
              <a:rPr lang="en-US" sz="1600" b="1" dirty="0" err="1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ωt</a:t>
            </a:r>
            <a:r>
              <a:rPr lang="en-US" sz="1600" b="1" dirty="0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 </a:t>
            </a:r>
            <a:r>
              <a:rPr lang="en-US" sz="1600" dirty="0" err="1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est</a:t>
            </a:r>
            <a:r>
              <a:rPr lang="en-US" sz="1600" dirty="0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introduite</a:t>
            </a:r>
            <a:r>
              <a:rPr lang="en-US" sz="1600" dirty="0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à </a:t>
            </a:r>
            <a:r>
              <a:rPr lang="en-US" sz="1600" dirty="0" err="1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l’entrée</a:t>
            </a:r>
            <a:r>
              <a:rPr lang="en-US" sz="1600" dirty="0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fr-FR" sz="1600" dirty="0">
              <a:effectLst/>
              <a:latin typeface="Bookman Old Style" panose="0205060405050502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600" b="1" dirty="0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Point de repos </a:t>
            </a:r>
            <a:r>
              <a:rPr lang="en-US" sz="1600" dirty="0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En </a:t>
            </a:r>
            <a:r>
              <a:rPr lang="en-US" sz="1600" dirty="0" err="1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annulant</a:t>
            </a:r>
            <a:r>
              <a:rPr lang="en-US" sz="1600" dirty="0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e (</a:t>
            </a:r>
            <a:r>
              <a:rPr lang="en-US" sz="1600" b="1" dirty="0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e(t) =0</a:t>
            </a:r>
            <a:r>
              <a:rPr lang="en-US" sz="1600" dirty="0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), on </a:t>
            </a:r>
            <a:r>
              <a:rPr lang="en-US" sz="1600" dirty="0" err="1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détermine</a:t>
            </a:r>
            <a:r>
              <a:rPr lang="en-US" sz="1600" dirty="0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les </a:t>
            </a:r>
            <a:r>
              <a:rPr lang="en-US" sz="1600" dirty="0" err="1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coordonnées</a:t>
            </a:r>
            <a:r>
              <a:rPr lang="en-US" sz="1600" dirty="0">
                <a:effectLst/>
                <a:latin typeface="Bookman Old Style" panose="0205060405050502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du point de repos </a:t>
            </a:r>
            <a:r>
              <a:rPr lang="fr-FR" sz="1600" b="1" dirty="0">
                <a:latin typeface="Bookman Old Style" panose="02050604050505020204" pitchFamily="18" charset="0"/>
              </a:rPr>
              <a:t>P (I</a:t>
            </a:r>
            <a:r>
              <a:rPr lang="fr-FR" sz="1600" b="1" baseline="-25000" dirty="0">
                <a:latin typeface="Bookman Old Style" panose="02050604050505020204" pitchFamily="18" charset="0"/>
              </a:rPr>
              <a:t>B0</a:t>
            </a:r>
            <a:r>
              <a:rPr lang="fr-FR" sz="1600" b="1" dirty="0">
                <a:latin typeface="Bookman Old Style" panose="02050604050505020204" pitchFamily="18" charset="0"/>
              </a:rPr>
              <a:t>, I</a:t>
            </a:r>
            <a:r>
              <a:rPr lang="fr-FR" sz="1600" b="1" baseline="-25000" dirty="0">
                <a:latin typeface="Bookman Old Style" panose="02050604050505020204" pitchFamily="18" charset="0"/>
              </a:rPr>
              <a:t>C0</a:t>
            </a:r>
            <a:r>
              <a:rPr lang="fr-FR" sz="1600" b="1" dirty="0">
                <a:latin typeface="Bookman Old Style" panose="02050604050505020204" pitchFamily="18" charset="0"/>
              </a:rPr>
              <a:t>, V</a:t>
            </a:r>
            <a:r>
              <a:rPr lang="fr-FR" sz="1600" b="1" baseline="-25000" dirty="0">
                <a:latin typeface="Bookman Old Style" panose="02050604050505020204" pitchFamily="18" charset="0"/>
              </a:rPr>
              <a:t>BE0</a:t>
            </a:r>
            <a:r>
              <a:rPr lang="fr-FR" sz="1600" b="1" dirty="0">
                <a:latin typeface="Bookman Old Style" panose="02050604050505020204" pitchFamily="18" charset="0"/>
              </a:rPr>
              <a:t>, V</a:t>
            </a:r>
            <a:r>
              <a:rPr lang="fr-FR" sz="1600" b="1" baseline="-25000" dirty="0">
                <a:latin typeface="Bookman Old Style" panose="02050604050505020204" pitchFamily="18" charset="0"/>
              </a:rPr>
              <a:t>CE0</a:t>
            </a:r>
            <a:r>
              <a:rPr lang="fr-FR" sz="1600" b="1" dirty="0">
                <a:latin typeface="Bookman Old Style" panose="02050604050505020204" pitchFamily="18" charset="0"/>
              </a:rPr>
              <a:t>).</a:t>
            </a:r>
            <a:endParaRPr lang="fr-FR" sz="1600" b="1" dirty="0">
              <a:effectLst/>
              <a:latin typeface="Bookman Old Style" panose="0205060405050502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2A14C3-CC7D-7DDF-3C8B-823DC74BB1B9}"/>
              </a:ext>
            </a:extLst>
          </p:cNvPr>
          <p:cNvSpPr txBox="1"/>
          <p:nvPr/>
        </p:nvSpPr>
        <p:spPr>
          <a:xfrm>
            <a:off x="683305" y="3706118"/>
            <a:ext cx="819386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600" dirty="0">
                <a:latin typeface="Bookman Old Style" panose="02050604050505020204" pitchFamily="18" charset="0"/>
              </a:rPr>
              <a:t>L’analyse du montage en régime variable peut être effectuée par deux méthodes :</a:t>
            </a:r>
            <a:r>
              <a:rPr lang="fr-FR" sz="1600" b="1" dirty="0">
                <a:solidFill>
                  <a:srgbClr val="7030A0"/>
                </a:solidFill>
                <a:latin typeface="Bookman Old Style" panose="02050604050505020204" pitchFamily="18" charset="0"/>
              </a:rPr>
              <a:t> </a:t>
            </a:r>
          </a:p>
          <a:p>
            <a:pPr algn="just"/>
            <a:r>
              <a:rPr lang="fr-FR" sz="1600" b="1" dirty="0">
                <a:solidFill>
                  <a:srgbClr val="7030A0"/>
                </a:solidFill>
                <a:latin typeface="Bookman Old Style" panose="02050604050505020204" pitchFamily="18" charset="0"/>
              </a:rPr>
              <a:t>                          - Méthode graphique</a:t>
            </a:r>
          </a:p>
          <a:p>
            <a:pPr algn="just"/>
            <a:r>
              <a:rPr lang="fr-FR" sz="1600" b="1" dirty="0">
                <a:solidFill>
                  <a:srgbClr val="7030A0"/>
                </a:solidFill>
                <a:latin typeface="Bookman Old Style" panose="02050604050505020204" pitchFamily="18" charset="0"/>
              </a:rPr>
              <a:t>                          - Méthode analytique </a:t>
            </a:r>
            <a:endParaRPr lang="fr-FR" sz="16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133903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6"/>
            <a:ext cx="52086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-Transistor-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1620" y="507690"/>
            <a:ext cx="75917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Transistor bipolaire en régime variable et faibles signaux</a:t>
            </a: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715000" y="365260"/>
            <a:ext cx="3328256" cy="10117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46">
            <a:extLst>
              <a:ext uri="{FF2B5EF4-FFF2-40B4-BE49-F238E27FC236}">
                <a16:creationId xmlns:a16="http://schemas.microsoft.com/office/drawing/2014/main" id="{7198176F-4D83-4A98-1EFA-F78693C2B68B}"/>
              </a:ext>
            </a:extLst>
          </p:cNvPr>
          <p:cNvSpPr txBox="1"/>
          <p:nvPr/>
        </p:nvSpPr>
        <p:spPr>
          <a:xfrm>
            <a:off x="8828933" y="486598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52</a:t>
            </a:fld>
            <a:endParaRPr sz="1600" dirty="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FE33CD0-9D56-E0FB-5745-4549CB3D1F57}"/>
                  </a:ext>
                </a:extLst>
              </p:cNvPr>
              <p:cNvSpPr txBox="1"/>
              <p:nvPr/>
            </p:nvSpPr>
            <p:spPr>
              <a:xfrm>
                <a:off x="555327" y="1185204"/>
                <a:ext cx="8482983" cy="38316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just">
                  <a:lnSpc>
                    <a:spcPct val="115000"/>
                  </a:lnSpc>
                  <a:tabLst>
                    <a:tab pos="228600" algn="l"/>
                  </a:tabLst>
                </a:pPr>
                <a:r>
                  <a:rPr lang="en-US" sz="1600" dirty="0">
                    <a:effectLst/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Le point de repos </a:t>
                </a:r>
                <a:r>
                  <a:rPr lang="en-US" sz="1600" dirty="0" err="1">
                    <a:effectLst/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devient</a:t>
                </a:r>
                <a:r>
                  <a:rPr lang="en-US" sz="1600" dirty="0">
                    <a:effectLst/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 la nouvelle origine pour les </a:t>
                </a:r>
                <a:r>
                  <a:rPr lang="en-US" sz="1600" dirty="0" err="1">
                    <a:effectLst/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calculs</a:t>
                </a:r>
                <a:r>
                  <a:rPr lang="en-US" sz="1600" dirty="0">
                    <a:effectLst/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effectLst/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en</a:t>
                </a:r>
                <a:r>
                  <a:rPr lang="en-US" sz="1600" dirty="0">
                    <a:effectLst/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 régime </a:t>
                </a:r>
                <a:r>
                  <a:rPr lang="en-US" sz="1600" dirty="0" err="1">
                    <a:effectLst/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dynamiques</a:t>
                </a:r>
                <a:r>
                  <a:rPr lang="en-US" sz="1600" dirty="0">
                    <a:effectLst/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.</a:t>
                </a:r>
                <a:endParaRPr lang="fr-FR" sz="1600" dirty="0">
                  <a:effectLst/>
                  <a:latin typeface="Bookman Old Style" panose="0205060405050502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 marL="285750" lvl="0" indent="-285750" algn="just">
                  <a:lnSpc>
                    <a:spcPct val="115000"/>
                  </a:lnSpc>
                  <a:spcAft>
                    <a:spcPts val="1000"/>
                  </a:spcAft>
                  <a:buFont typeface="Wingdings" panose="05000000000000000000" pitchFamily="2" charset="2"/>
                  <a:buChar char="§"/>
                  <a:tabLst>
                    <a:tab pos="228600" algn="l"/>
                  </a:tabLst>
                </a:pPr>
                <a:r>
                  <a:rPr lang="en-US" sz="1600" b="1" dirty="0" err="1">
                    <a:effectLst/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Droites</a:t>
                </a:r>
                <a:r>
                  <a:rPr lang="en-US" sz="1600" b="1" dirty="0">
                    <a:effectLst/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 </a:t>
                </a:r>
                <a:r>
                  <a:rPr lang="fr-FR" sz="1600" b="1" dirty="0">
                    <a:effectLst/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de </a:t>
                </a:r>
                <a:r>
                  <a:rPr lang="en-US" sz="1600" b="1" dirty="0">
                    <a:effectLst/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Charge </a:t>
                </a:r>
                <a:r>
                  <a:rPr lang="fr-FR" sz="1600" b="1" dirty="0">
                    <a:effectLst/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d’</a:t>
                </a:r>
                <a:r>
                  <a:rPr lang="en-US" sz="1600" b="1" dirty="0" err="1">
                    <a:effectLst/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Attaque</a:t>
                </a:r>
                <a:r>
                  <a:rPr lang="en-US" sz="1600" b="1" dirty="0">
                    <a:effectLst/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 </a:t>
                </a:r>
                <a:r>
                  <a:rPr lang="en-US" sz="1600" b="1" dirty="0" err="1">
                    <a:effectLst/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dynamiques</a:t>
                </a:r>
                <a:r>
                  <a:rPr lang="en-US" sz="1600" b="1" dirty="0">
                    <a:effectLst/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:</a:t>
                </a:r>
                <a:endParaRPr lang="fr-FR" sz="1600" dirty="0">
                  <a:effectLst/>
                  <a:latin typeface="Bookman Old Style" panose="0205060405050502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fr-FR" sz="1600" b="1" i="1" baseline="-25000" dirty="0" err="1" smtClean="0">
                          <a:latin typeface="Cambria Math" panose="02040503050406030204" pitchFamily="18" charset="0"/>
                        </a:rPr>
                        <m:t>𝒄𝒆</m:t>
                      </m:r>
                      <m:d>
                        <m:dPr>
                          <m:ctrlPr>
                            <a:rPr lang="fr-FR" sz="1600" b="1" i="1" baseline="-2500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1" i="1" dirty="0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fr-FR" sz="1600" b="1" i="1" dirty="0" smtClean="0">
                          <a:latin typeface="Cambria Math" panose="02040503050406030204" pitchFamily="18" charset="0"/>
                        </a:rPr>
                        <m:t>= −</m:t>
                      </m:r>
                      <m:r>
                        <a:rPr lang="fr-FR" sz="1600" b="1" i="1" dirty="0" smtClean="0">
                          <a:latin typeface="Cambria Math" panose="02040503050406030204" pitchFamily="18" charset="0"/>
                        </a:rPr>
                        <m:t>𝑹𝑪</m:t>
                      </m:r>
                      <m:r>
                        <a:rPr lang="fr-FR" sz="16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b="1" i="1" dirty="0" err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fr-FR" sz="1600" b="1" i="1" baseline="-25000" dirty="0" err="1" smtClean="0">
                          <a:latin typeface="Cambria Math" panose="02040503050406030204" pitchFamily="18" charset="0"/>
                        </a:rPr>
                        <m:t>𝒄</m:t>
                      </m:r>
                      <m:d>
                        <m:dPr>
                          <m:ctrlPr>
                            <a:rPr lang="fr-FR" sz="1600" b="1" i="1" baseline="-2500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1" i="1" dirty="0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fr-FR" sz="1600" b="1" i="1" dirty="0" smtClean="0">
                          <a:latin typeface="Cambria Math" panose="02040503050406030204" pitchFamily="18" charset="0"/>
                        </a:rPr>
                        <m:t>				           </m:t>
                      </m:r>
                      <m:r>
                        <a:rPr lang="fr-FR" sz="1600" b="1" i="1" dirty="0" err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fr-FR" sz="1600" b="1" i="1" baseline="-25000" dirty="0" err="1" smtClean="0">
                          <a:latin typeface="Cambria Math" panose="02040503050406030204" pitchFamily="18" charset="0"/>
                        </a:rPr>
                        <m:t>𝑪𝑬</m:t>
                      </m:r>
                      <m:r>
                        <a:rPr lang="fr-FR" sz="16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600" b="1" i="1" dirty="0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fr-FR" sz="1600" b="1" i="1" dirty="0" smtClean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fr-FR" sz="1600" b="1" i="1" dirty="0" smtClean="0">
                          <a:latin typeface="Cambria Math" panose="02040503050406030204" pitchFamily="18" charset="0"/>
                        </a:rPr>
                        <m:t>𝑽𝑪𝑪</m:t>
                      </m:r>
                      <m:r>
                        <a:rPr lang="fr-FR" sz="1600" b="1" i="1" dirty="0" smtClean="0">
                          <a:latin typeface="Cambria Math" panose="02040503050406030204" pitchFamily="18" charset="0"/>
                        </a:rPr>
                        <m:t> – </m:t>
                      </m:r>
                      <m:r>
                        <a:rPr lang="fr-FR" sz="1600" b="1" i="1" dirty="0" smtClean="0">
                          <a:latin typeface="Cambria Math" panose="02040503050406030204" pitchFamily="18" charset="0"/>
                        </a:rPr>
                        <m:t>𝑹𝑪</m:t>
                      </m:r>
                      <m:r>
                        <a:rPr lang="fr-FR" sz="16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b="1" i="1" dirty="0" err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fr-FR" sz="1600" b="1" i="1" baseline="-25000" dirty="0" err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fr-FR" sz="16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600" b="1" i="1" dirty="0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fr-FR" sz="16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600" b="1" dirty="0">
                  <a:latin typeface="Bookman Old Style" panose="02050604050505020204" pitchFamily="18" charset="0"/>
                </a:endParaRPr>
              </a:p>
              <a:p>
                <a:pPr algn="just"/>
                <a:endParaRPr lang="fr-FR" sz="1600" b="1" dirty="0">
                  <a:latin typeface="Bookman Old Style" panose="0205060405050502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fr-FR" sz="1600" b="1" i="1" baseline="-25000" dirty="0" err="1" smtClean="0">
                          <a:latin typeface="Cambria Math" panose="02040503050406030204" pitchFamily="18" charset="0"/>
                        </a:rPr>
                        <m:t>𝒃𝒆</m:t>
                      </m:r>
                      <m:d>
                        <m:dPr>
                          <m:ctrlPr>
                            <a:rPr lang="fr-FR" sz="1600" b="1" i="1" baseline="-2500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1" i="1" dirty="0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fr-FR" sz="1600" b="1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fr-FR" sz="1600" b="1" i="1" dirty="0" smtClean="0">
                          <a:latin typeface="Cambria Math" panose="02040503050406030204" pitchFamily="18" charset="0"/>
                        </a:rPr>
                        <m:t>𝒆</m:t>
                      </m:r>
                      <m:d>
                        <m:dPr>
                          <m:ctrlPr>
                            <a:rPr lang="fr-FR" sz="16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1" i="1" dirty="0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fr-FR" sz="1600" b="1" i="1" dirty="0" smtClean="0">
                          <a:latin typeface="Cambria Math" panose="02040503050406030204" pitchFamily="18" charset="0"/>
                        </a:rPr>
                        <m:t>– </m:t>
                      </m:r>
                      <m:r>
                        <a:rPr lang="fr-FR" sz="1600" b="1" i="1" dirty="0" smtClean="0">
                          <a:latin typeface="Cambria Math" panose="02040503050406030204" pitchFamily="18" charset="0"/>
                        </a:rPr>
                        <m:t>𝑹𝑩</m:t>
                      </m:r>
                      <m:r>
                        <a:rPr lang="fr-FR" sz="16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b="1" i="1" dirty="0" err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fr-FR" sz="1600" b="1" i="1" baseline="-25000" dirty="0" err="1" smtClean="0">
                          <a:latin typeface="Cambria Math" panose="02040503050406030204" pitchFamily="18" charset="0"/>
                        </a:rPr>
                        <m:t>𝒃</m:t>
                      </m:r>
                      <m:d>
                        <m:dPr>
                          <m:ctrlPr>
                            <a:rPr lang="fr-FR" sz="1600" b="1" i="1" baseline="-2500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1" i="1" dirty="0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fr-FR" sz="1600" b="1" i="1" dirty="0" smtClean="0">
                          <a:latin typeface="Cambria Math" panose="02040503050406030204" pitchFamily="18" charset="0"/>
                        </a:rPr>
                        <m:t>			             </m:t>
                      </m:r>
                      <m:r>
                        <a:rPr lang="fr-FR" sz="1600" b="1" i="1" dirty="0" err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fr-FR" sz="1600" b="1" i="1" baseline="-25000" dirty="0" err="1" smtClean="0">
                          <a:latin typeface="Cambria Math" panose="02040503050406030204" pitchFamily="18" charset="0"/>
                        </a:rPr>
                        <m:t>𝑩𝑬</m:t>
                      </m:r>
                      <m:r>
                        <a:rPr lang="fr-FR" sz="16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600" b="1" i="1" dirty="0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fr-FR" sz="1600" b="1" i="1" dirty="0" smtClean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fr-FR" sz="1600" b="1" i="1" dirty="0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fr-FR" sz="16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600" b="1" i="1" dirty="0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fr-FR" sz="1600" b="1" i="1" dirty="0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fr-FR" sz="1600" b="1" i="1" dirty="0" smtClean="0">
                          <a:latin typeface="Cambria Math" panose="02040503050406030204" pitchFamily="18" charset="0"/>
                        </a:rPr>
                        <m:t>𝑽𝑩𝑩</m:t>
                      </m:r>
                      <m:r>
                        <a:rPr lang="fr-FR" sz="1600" b="1" i="1" dirty="0" smtClean="0">
                          <a:latin typeface="Cambria Math" panose="02040503050406030204" pitchFamily="18" charset="0"/>
                        </a:rPr>
                        <m:t> – </m:t>
                      </m:r>
                      <m:r>
                        <a:rPr lang="fr-FR" sz="1600" b="1" i="1" dirty="0" smtClean="0">
                          <a:latin typeface="Cambria Math" panose="02040503050406030204" pitchFamily="18" charset="0"/>
                        </a:rPr>
                        <m:t>𝑹𝑩</m:t>
                      </m:r>
                      <m:r>
                        <a:rPr lang="fr-FR" sz="16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b="1" i="1" dirty="0" err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fr-FR" sz="1600" b="1" i="1" baseline="-25000" dirty="0" err="1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fr-FR" sz="16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600" b="1" i="1" dirty="0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fr-FR" sz="16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600" b="1" dirty="0">
                  <a:latin typeface="Bookman Old Style" panose="02050604050505020204" pitchFamily="18" charset="0"/>
                </a:endParaRPr>
              </a:p>
              <a:p>
                <a:pPr algn="just"/>
                <a:r>
                  <a:rPr lang="fr-FR" sz="1600" dirty="0">
                    <a:latin typeface="Bookman Old Style" panose="02050604050505020204" pitchFamily="18" charset="0"/>
                  </a:rPr>
                  <a:t>    </a:t>
                </a:r>
                <a:endParaRPr lang="en-US" sz="1600" dirty="0">
                  <a:latin typeface="Bookman Old Style" panose="0205060405050502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 typeface="Wingdings" panose="05000000000000000000" pitchFamily="2" charset="2"/>
                  <a:buChar char="§"/>
                </a:pPr>
                <a:r>
                  <a:rPr lang="en-US" sz="1600" b="1" dirty="0" err="1">
                    <a:effectLst/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Déplacement</a:t>
                </a:r>
                <a:r>
                  <a:rPr lang="en-US" sz="1600" b="1" dirty="0">
                    <a:effectLst/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 des points </a:t>
                </a:r>
                <a:r>
                  <a:rPr lang="en-US" sz="1600" dirty="0">
                    <a:effectLst/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:</a:t>
                </a:r>
              </a:p>
              <a:p>
                <a:pPr algn="just"/>
                <a:endParaRPr lang="fr-FR" sz="1600" dirty="0">
                  <a:effectLst/>
                  <a:latin typeface="Bookman Old Style" panose="0205060405050502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 lvl="0" algn="just">
                  <a:lnSpc>
                    <a:spcPct val="115000"/>
                  </a:lnSpc>
                  <a:tabLst>
                    <a:tab pos="457200" algn="l"/>
                  </a:tabLst>
                </a:pPr>
                <a:r>
                  <a:rPr lang="en-US" sz="1600" dirty="0">
                    <a:effectLst/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-   Le point </a:t>
                </a:r>
                <a:r>
                  <a:rPr lang="en-US" sz="1600" b="1" dirty="0">
                    <a:effectLst/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P</a:t>
                </a:r>
                <a:r>
                  <a:rPr lang="en-US" sz="1600" dirty="0">
                    <a:effectLst/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 se </a:t>
                </a:r>
                <a:r>
                  <a:rPr lang="en-US" sz="1600" dirty="0" err="1">
                    <a:effectLst/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déplace</a:t>
                </a:r>
                <a:r>
                  <a:rPr lang="en-US" sz="1600" dirty="0">
                    <a:effectLst/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 entre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dirty="0" smtClean="0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1" i="1" dirty="0" smtClean="0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1600" b="1" i="1" dirty="0" smtClean="0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600" b="1" dirty="0">
                    <a:effectLst/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 </a:t>
                </a:r>
                <a:r>
                  <a:rPr lang="en-US" sz="1600" dirty="0">
                    <a:effectLst/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dirty="0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1" i="1" dirty="0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lang="fr-FR" sz="1600" b="1" i="1" dirty="0" smtClean="0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 sur la </a:t>
                </a:r>
                <a:r>
                  <a:rPr lang="en-US" sz="1600" b="1" dirty="0">
                    <a:effectLst/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droite de charge </a:t>
                </a:r>
                <a:r>
                  <a:rPr lang="en-US" sz="1600" b="1" dirty="0" err="1">
                    <a:effectLst/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dynamique</a:t>
                </a:r>
                <a:r>
                  <a:rPr lang="en-US" sz="1600" dirty="0">
                    <a:effectLst/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.</a:t>
                </a:r>
                <a:endParaRPr lang="fr-FR" sz="1600" dirty="0">
                  <a:effectLst/>
                  <a:latin typeface="Bookman Old Style" panose="0205060405050502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Tx/>
                  <a:buChar char="-"/>
                </a:pPr>
                <a:r>
                  <a:rPr lang="fr-FR" sz="1600" dirty="0"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Le point </a:t>
                </a:r>
                <a:r>
                  <a:rPr lang="fr-FR" sz="1600" b="1" dirty="0"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E</a:t>
                </a:r>
                <a:r>
                  <a:rPr lang="fr-FR" sz="1600" dirty="0"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 de la </a:t>
                </a:r>
                <a:r>
                  <a:rPr lang="fr-FR" sz="1600" b="1" dirty="0"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droite d'attaque dynamique </a:t>
                </a:r>
                <a:r>
                  <a:rPr lang="fr-FR" sz="1600" dirty="0"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se déplace entre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dirty="0" smtClean="0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sz="1600" b="1" i="1" dirty="0" smtClean="0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  <m:sub>
                        <m:r>
                          <a:rPr lang="fr-FR" sz="1600" b="1" i="1" dirty="0" smtClean="0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fr-FR" sz="1600" b="1" dirty="0"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 </a:t>
                </a:r>
                <a:r>
                  <a:rPr lang="fr-FR" sz="1600" dirty="0"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dirty="0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sz="1600" b="1" i="1" dirty="0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  <m:sub>
                        <m:r>
                          <a:rPr lang="fr-FR" sz="1600" b="1" i="1" dirty="0" smtClean="0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fr-FR" sz="1600" dirty="0"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. La droite </a:t>
                </a:r>
                <a:r>
                  <a:rPr lang="fr-FR" sz="1600" b="1" dirty="0"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d'attaque dynamique </a:t>
                </a:r>
                <a:r>
                  <a:rPr lang="fr-FR" sz="1600" dirty="0"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se déplace parallèlement à elle-même.</a:t>
                </a:r>
              </a:p>
              <a:p>
                <a:pPr algn="just"/>
                <a:endParaRPr lang="fr-FR" sz="1600" dirty="0">
                  <a:latin typeface="Bookman Old Style" panose="0205060405050502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15000"/>
                  </a:lnSpc>
                  <a:spcAft>
                    <a:spcPts val="1000"/>
                  </a:spcAft>
                  <a:buFontTx/>
                  <a:buChar char="-"/>
                  <a:tabLst>
                    <a:tab pos="457200" algn="l"/>
                  </a:tabLst>
                </a:pPr>
                <a:r>
                  <a:rPr lang="en-US" sz="1600" dirty="0">
                    <a:effectLst/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Le point </a:t>
                </a:r>
                <a:r>
                  <a:rPr lang="en-US" sz="1600" b="1" dirty="0">
                    <a:effectLst/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T</a:t>
                </a:r>
                <a:r>
                  <a:rPr lang="en-US" sz="1600" dirty="0">
                    <a:effectLst/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 se </a:t>
                </a:r>
                <a:r>
                  <a:rPr lang="en-US" sz="1600" dirty="0" err="1">
                    <a:effectLst/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déplace</a:t>
                </a:r>
                <a:r>
                  <a:rPr lang="en-US" sz="1600" dirty="0">
                    <a:effectLst/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 entre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dirty="0" smtClean="0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sz="1600" b="1" i="1" dirty="0" smtClean="0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fr-FR" sz="1600" b="1" i="1" dirty="0" smtClean="0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 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dirty="0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sz="1600" b="1" i="1" dirty="0" smtClean="0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fr-FR" sz="1600" b="1" i="1" dirty="0" smtClean="0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 sur la </a:t>
                </a:r>
                <a:r>
                  <a:rPr lang="en-US" sz="1600" dirty="0" err="1">
                    <a:effectLst/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courbe</a:t>
                </a:r>
                <a:r>
                  <a:rPr lang="en-US" sz="1600" dirty="0">
                    <a:effectLst/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 de </a:t>
                </a:r>
                <a:r>
                  <a:rPr lang="en-US" sz="1600" dirty="0" err="1">
                    <a:effectLst/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transfert</a:t>
                </a:r>
                <a:r>
                  <a:rPr lang="en-US" sz="1600" dirty="0">
                    <a:effectLst/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 </a:t>
                </a:r>
                <a:r>
                  <a:rPr lang="fr-FR" sz="1600" b="1" dirty="0" err="1">
                    <a:latin typeface="Bookman Old Style" panose="02050604050505020204" pitchFamily="18" charset="0"/>
                  </a:rPr>
                  <a:t>i</a:t>
                </a:r>
                <a:r>
                  <a:rPr lang="fr-FR" sz="1600" b="1" baseline="-25000" dirty="0" err="1">
                    <a:latin typeface="Bookman Old Style" panose="02050604050505020204" pitchFamily="18" charset="0"/>
                  </a:rPr>
                  <a:t>c</a:t>
                </a:r>
                <a:r>
                  <a:rPr lang="fr-FR" sz="1600" b="1" dirty="0">
                    <a:latin typeface="Bookman Old Style" panose="02050604050505020204" pitchFamily="18" charset="0"/>
                  </a:rPr>
                  <a:t>=</a:t>
                </a:r>
                <a:r>
                  <a:rPr lang="fr-FR" sz="1600" b="1" i="1" dirty="0">
                    <a:latin typeface="Bookman Old Style" panose="02050604050505020204" pitchFamily="18" charset="0"/>
                  </a:rPr>
                  <a:t>f</a:t>
                </a:r>
                <a:r>
                  <a:rPr lang="fr-FR" sz="1600" b="1" dirty="0">
                    <a:latin typeface="Bookman Old Style" panose="02050604050505020204" pitchFamily="18" charset="0"/>
                  </a:rPr>
                  <a:t>(</a:t>
                </a:r>
                <a:r>
                  <a:rPr lang="fr-FR" sz="1600" b="1" dirty="0" err="1">
                    <a:latin typeface="Bookman Old Style" panose="02050604050505020204" pitchFamily="18" charset="0"/>
                  </a:rPr>
                  <a:t>i</a:t>
                </a:r>
                <a:r>
                  <a:rPr lang="fr-FR" sz="1600" b="1" baseline="-25000" dirty="0" err="1">
                    <a:latin typeface="Bookman Old Style" panose="02050604050505020204" pitchFamily="18" charset="0"/>
                  </a:rPr>
                  <a:t>b</a:t>
                </a:r>
                <a:r>
                  <a:rPr lang="fr-FR" sz="1600" b="1" dirty="0">
                    <a:latin typeface="Bookman Old Style" panose="02050604050505020204" pitchFamily="18" charset="0"/>
                  </a:rPr>
                  <a:t>).</a:t>
                </a:r>
                <a:r>
                  <a:rPr lang="en-US" sz="1600" dirty="0">
                    <a:effectLst/>
                    <a:latin typeface="Bookman Old Style" panose="0205060405050502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.</a:t>
                </a:r>
                <a:endParaRPr lang="fr-FR" sz="1600" dirty="0">
                  <a:effectLst/>
                  <a:latin typeface="Bookman Old Style" panose="0205060405050502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FE33CD0-9D56-E0FB-5745-4549CB3D1F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327" y="1185204"/>
                <a:ext cx="8482983" cy="3831690"/>
              </a:xfrm>
              <a:prstGeom prst="rect">
                <a:avLst/>
              </a:prstGeom>
              <a:blipFill>
                <a:blip r:embed="rId3"/>
                <a:stretch>
                  <a:fillRect l="-359" r="-359" b="-95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1A3206C0-B920-4CD8-8FF9-7BD8ABA1AB10}"/>
              </a:ext>
            </a:extLst>
          </p:cNvPr>
          <p:cNvSpPr txBox="1"/>
          <p:nvPr/>
        </p:nvSpPr>
        <p:spPr>
          <a:xfrm>
            <a:off x="629165" y="825591"/>
            <a:ext cx="8685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600" b="1" spc="-5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defRPr>
            </a:lvl1pPr>
          </a:lstStyle>
          <a:p>
            <a:r>
              <a:rPr lang="fr-FR" sz="1400" dirty="0"/>
              <a:t>5.1 Méthode d’analyse - </a:t>
            </a:r>
            <a:r>
              <a:rPr lang="fr-FR" sz="1400" dirty="0">
                <a:solidFill>
                  <a:schemeClr val="tx1"/>
                </a:solidFill>
              </a:rPr>
              <a:t>Méthode graphique</a:t>
            </a:r>
            <a:r>
              <a:rPr lang="fr-FR" sz="1400" dirty="0"/>
              <a:t> -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521427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6"/>
            <a:ext cx="52086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-Transistor-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1620" y="507690"/>
            <a:ext cx="75917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Transistor bipolaire en régime variable et faibles signaux</a:t>
            </a: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715000" y="365260"/>
            <a:ext cx="3328256" cy="10117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46">
            <a:extLst>
              <a:ext uri="{FF2B5EF4-FFF2-40B4-BE49-F238E27FC236}">
                <a16:creationId xmlns:a16="http://schemas.microsoft.com/office/drawing/2014/main" id="{7198176F-4D83-4A98-1EFA-F78693C2B68B}"/>
              </a:ext>
            </a:extLst>
          </p:cNvPr>
          <p:cNvSpPr txBox="1"/>
          <p:nvPr/>
        </p:nvSpPr>
        <p:spPr>
          <a:xfrm>
            <a:off x="8828933" y="486598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53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3206C0-B920-4CD8-8FF9-7BD8ABA1AB10}"/>
              </a:ext>
            </a:extLst>
          </p:cNvPr>
          <p:cNvSpPr txBox="1"/>
          <p:nvPr/>
        </p:nvSpPr>
        <p:spPr>
          <a:xfrm>
            <a:off x="629165" y="825591"/>
            <a:ext cx="8685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600" b="1" spc="-5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defRPr>
            </a:lvl1pPr>
          </a:lstStyle>
          <a:p>
            <a:r>
              <a:rPr lang="fr-FR" sz="1400" dirty="0"/>
              <a:t>5.1 Méthode d’analyse - </a:t>
            </a:r>
            <a:r>
              <a:rPr lang="fr-FR" sz="1400" dirty="0">
                <a:solidFill>
                  <a:schemeClr val="tx1"/>
                </a:solidFill>
              </a:rPr>
              <a:t>Méthode graphique</a:t>
            </a:r>
            <a:r>
              <a:rPr lang="fr-FR" sz="1400" dirty="0"/>
              <a:t> -</a:t>
            </a:r>
            <a:endParaRPr lang="fr-F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F0B0A8-EC14-1130-E53D-C418085E00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05200" y="1135950"/>
            <a:ext cx="5445090" cy="385281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67B3295-D60E-18A9-B337-0FF4BBCF2D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43" y="1218935"/>
            <a:ext cx="2055666" cy="193915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DE8999-B7ED-19D5-B555-5EBEFFC1A2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743" y="3573619"/>
            <a:ext cx="2055666" cy="130620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4551793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6"/>
            <a:ext cx="52086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-Transistor-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1620" y="507690"/>
            <a:ext cx="75917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Transistor bipolaire en régime variable et faibles signaux</a:t>
            </a: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715000" y="365260"/>
            <a:ext cx="3328256" cy="10117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46">
            <a:extLst>
              <a:ext uri="{FF2B5EF4-FFF2-40B4-BE49-F238E27FC236}">
                <a16:creationId xmlns:a16="http://schemas.microsoft.com/office/drawing/2014/main" id="{7198176F-4D83-4A98-1EFA-F78693C2B68B}"/>
              </a:ext>
            </a:extLst>
          </p:cNvPr>
          <p:cNvSpPr txBox="1"/>
          <p:nvPr/>
        </p:nvSpPr>
        <p:spPr>
          <a:xfrm>
            <a:off x="8828933" y="486598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54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3206C0-B920-4CD8-8FF9-7BD8ABA1AB10}"/>
              </a:ext>
            </a:extLst>
          </p:cNvPr>
          <p:cNvSpPr txBox="1"/>
          <p:nvPr/>
        </p:nvSpPr>
        <p:spPr>
          <a:xfrm>
            <a:off x="629165" y="825591"/>
            <a:ext cx="8685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600" b="1" spc="-5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defRPr>
            </a:lvl1pPr>
          </a:lstStyle>
          <a:p>
            <a:r>
              <a:rPr lang="fr-FR" sz="1400" dirty="0"/>
              <a:t>5.1 Méthode d’analyse - </a:t>
            </a:r>
            <a:r>
              <a:rPr lang="fr-FR" sz="1400" dirty="0">
                <a:solidFill>
                  <a:schemeClr val="tx1"/>
                </a:solidFill>
              </a:rPr>
              <a:t>Méthode analytique</a:t>
            </a:r>
            <a:r>
              <a:rPr lang="fr-FR" sz="1400" dirty="0"/>
              <a:t> -</a:t>
            </a:r>
            <a:endParaRPr lang="fr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64E301-5778-70F6-23C3-50E9C5FA4520}"/>
              </a:ext>
            </a:extLst>
          </p:cNvPr>
          <p:cNvSpPr txBox="1"/>
          <p:nvPr/>
        </p:nvSpPr>
        <p:spPr>
          <a:xfrm>
            <a:off x="576301" y="1109056"/>
            <a:ext cx="846201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400" dirty="0">
                <a:latin typeface="Bookman Old Style" panose="02050604050505020204" pitchFamily="18" charset="0"/>
              </a:rPr>
              <a:t>Le </a:t>
            </a:r>
            <a:r>
              <a:rPr lang="fr-FR" sz="1400" b="1" dirty="0">
                <a:latin typeface="Bookman Old Style" panose="02050604050505020204" pitchFamily="18" charset="0"/>
              </a:rPr>
              <a:t>transistor bipolaire </a:t>
            </a:r>
            <a:r>
              <a:rPr lang="fr-FR" sz="1400" dirty="0">
                <a:latin typeface="Bookman Old Style" panose="02050604050505020204" pitchFamily="18" charset="0"/>
              </a:rPr>
              <a:t>monté en </a:t>
            </a:r>
            <a:r>
              <a:rPr lang="fr-FR" sz="1400" b="1" dirty="0">
                <a:latin typeface="Bookman Old Style" panose="02050604050505020204" pitchFamily="18" charset="0"/>
              </a:rPr>
              <a:t>EC, BC </a:t>
            </a:r>
            <a:r>
              <a:rPr lang="fr-FR" sz="1400" dirty="0">
                <a:latin typeface="Bookman Old Style" panose="02050604050505020204" pitchFamily="18" charset="0"/>
              </a:rPr>
              <a:t>ou </a:t>
            </a:r>
            <a:r>
              <a:rPr lang="fr-FR" sz="1400" b="1" dirty="0">
                <a:latin typeface="Bookman Old Style" panose="02050604050505020204" pitchFamily="18" charset="0"/>
              </a:rPr>
              <a:t>CC</a:t>
            </a:r>
            <a:r>
              <a:rPr lang="fr-FR" sz="1400" dirty="0">
                <a:latin typeface="Bookman Old Style" panose="02050604050505020204" pitchFamily="18" charset="0"/>
              </a:rPr>
              <a:t> peut être considéré comme un </a:t>
            </a:r>
            <a:r>
              <a:rPr lang="fr-FR" sz="1400" b="1" dirty="0">
                <a:latin typeface="Bookman Old Style" panose="02050604050505020204" pitchFamily="18" charset="0"/>
              </a:rPr>
              <a:t>quadripôle</a:t>
            </a:r>
            <a:r>
              <a:rPr lang="fr-FR" sz="1400" dirty="0">
                <a:latin typeface="Bookman Old Style" panose="02050604050505020204" pitchFamily="18" charset="0"/>
              </a:rPr>
              <a:t> caractérisé par la </a:t>
            </a:r>
            <a:r>
              <a:rPr lang="fr-FR" sz="1400" b="1" dirty="0">
                <a:latin typeface="Bookman Old Style" panose="02050604050505020204" pitchFamily="18" charset="0"/>
              </a:rPr>
              <a:t>matrice hybride [h]</a:t>
            </a:r>
            <a:r>
              <a:rPr lang="fr-FR" sz="1400" dirty="0">
                <a:latin typeface="Bookman Old Style" panose="02050604050505020204" pitchFamily="18" charset="0"/>
              </a:rPr>
              <a:t>. Il est représenté, en </a:t>
            </a:r>
            <a:r>
              <a:rPr lang="fr-FR" sz="1400" b="1" dirty="0">
                <a:latin typeface="Bookman Old Style" panose="02050604050505020204" pitchFamily="18" charset="0"/>
              </a:rPr>
              <a:t>régime variable faibles signaux </a:t>
            </a:r>
            <a:r>
              <a:rPr lang="fr-FR" sz="1400" dirty="0">
                <a:latin typeface="Bookman Old Style" panose="02050604050505020204" pitchFamily="18" charset="0"/>
              </a:rPr>
              <a:t>et </a:t>
            </a:r>
            <a:r>
              <a:rPr lang="fr-FR" sz="1400" b="1" dirty="0">
                <a:latin typeface="Bookman Old Style" panose="02050604050505020204" pitchFamily="18" charset="0"/>
              </a:rPr>
              <a:t>basses fréquences</a:t>
            </a:r>
            <a:r>
              <a:rPr lang="fr-FR" sz="1400" dirty="0">
                <a:latin typeface="Bookman Old Style" panose="02050604050505020204" pitchFamily="18" charset="0"/>
              </a:rPr>
              <a:t>, par le schéma équivalent :</a:t>
            </a:r>
          </a:p>
        </p:txBody>
      </p:sp>
      <p:pic>
        <p:nvPicPr>
          <p:cNvPr id="16" name="Image 6" descr="Sans titre.bmp">
            <a:extLst>
              <a:ext uri="{FF2B5EF4-FFF2-40B4-BE49-F238E27FC236}">
                <a16:creationId xmlns:a16="http://schemas.microsoft.com/office/drawing/2014/main" id="{DF2F3938-1CC0-749F-C46A-509EA2ECEC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7800" y="1897509"/>
            <a:ext cx="6781800" cy="3222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38060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6"/>
            <a:ext cx="52086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-Transistor-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1620" y="507690"/>
            <a:ext cx="75917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Transistor bipolaire en régime variable et faibles signaux</a:t>
            </a: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715000" y="365260"/>
            <a:ext cx="3328256" cy="10117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46">
            <a:extLst>
              <a:ext uri="{FF2B5EF4-FFF2-40B4-BE49-F238E27FC236}">
                <a16:creationId xmlns:a16="http://schemas.microsoft.com/office/drawing/2014/main" id="{7198176F-4D83-4A98-1EFA-F78693C2B68B}"/>
              </a:ext>
            </a:extLst>
          </p:cNvPr>
          <p:cNvSpPr txBox="1"/>
          <p:nvPr/>
        </p:nvSpPr>
        <p:spPr>
          <a:xfrm>
            <a:off x="8828933" y="486598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55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3206C0-B920-4CD8-8FF9-7BD8ABA1AB10}"/>
              </a:ext>
            </a:extLst>
          </p:cNvPr>
          <p:cNvSpPr txBox="1"/>
          <p:nvPr/>
        </p:nvSpPr>
        <p:spPr>
          <a:xfrm>
            <a:off x="629165" y="825591"/>
            <a:ext cx="8685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600" b="1" spc="-5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defRPr>
            </a:lvl1pPr>
          </a:lstStyle>
          <a:p>
            <a:r>
              <a:rPr lang="fr-FR" sz="1400" dirty="0"/>
              <a:t>5.1 Méthode d’analyse - </a:t>
            </a:r>
            <a:r>
              <a:rPr lang="fr-FR" sz="1400" dirty="0">
                <a:solidFill>
                  <a:schemeClr val="tx1"/>
                </a:solidFill>
              </a:rPr>
              <a:t>Méthode analytique</a:t>
            </a:r>
            <a:r>
              <a:rPr lang="fr-FR" sz="1400" dirty="0"/>
              <a:t> -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6CF84A-46DD-B0EC-F435-3E5ED1FD80C7}"/>
              </a:ext>
            </a:extLst>
          </p:cNvPr>
          <p:cNvSpPr txBox="1"/>
          <p:nvPr/>
        </p:nvSpPr>
        <p:spPr>
          <a:xfrm>
            <a:off x="673424" y="1253193"/>
            <a:ext cx="848568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dirty="0">
                <a:latin typeface="Bookman Old Style" panose="02050604050505020204" pitchFamily="18" charset="0"/>
              </a:rPr>
              <a:t>Pour pouvoir analyser un transistor par le </a:t>
            </a:r>
            <a:r>
              <a:rPr lang="fr-FR" b="1" dirty="0">
                <a:latin typeface="Bookman Old Style" panose="02050604050505020204" pitchFamily="18" charset="0"/>
              </a:rPr>
              <a:t>modèle hybride </a:t>
            </a:r>
            <a:r>
              <a:rPr lang="fr-FR" dirty="0">
                <a:latin typeface="Bookman Old Style" panose="02050604050505020204" pitchFamily="18" charset="0"/>
              </a:rPr>
              <a:t>il faut que :</a:t>
            </a:r>
          </a:p>
          <a:p>
            <a:pPr algn="just"/>
            <a:endParaRPr lang="fr-FR" dirty="0">
              <a:latin typeface="Bookman Old Style" panose="02050604050505020204" pitchFamily="18" charset="0"/>
            </a:endParaRPr>
          </a:p>
          <a:p>
            <a:pPr algn="just"/>
            <a:r>
              <a:rPr lang="fr-FR" dirty="0">
                <a:latin typeface="Bookman Old Style" panose="02050604050505020204" pitchFamily="18" charset="0"/>
              </a:rPr>
              <a:t>- Le </a:t>
            </a:r>
            <a:r>
              <a:rPr lang="fr-FR" b="1" dirty="0">
                <a:latin typeface="Bookman Old Style" panose="02050604050505020204" pitchFamily="18" charset="0"/>
              </a:rPr>
              <a:t>signal</a:t>
            </a:r>
            <a:r>
              <a:rPr lang="fr-FR" dirty="0">
                <a:latin typeface="Bookman Old Style" panose="02050604050505020204" pitchFamily="18" charset="0"/>
              </a:rPr>
              <a:t> d'entrée soit </a:t>
            </a:r>
            <a:r>
              <a:rPr lang="fr-FR" b="1" dirty="0">
                <a:latin typeface="Bookman Old Style" panose="02050604050505020204" pitchFamily="18" charset="0"/>
              </a:rPr>
              <a:t>faible</a:t>
            </a:r>
          </a:p>
          <a:p>
            <a:pPr algn="just"/>
            <a:r>
              <a:rPr lang="fr-FR" dirty="0">
                <a:latin typeface="Bookman Old Style" panose="02050604050505020204" pitchFamily="18" charset="0"/>
              </a:rPr>
              <a:t>- On détermine le point de </a:t>
            </a:r>
            <a:r>
              <a:rPr lang="fr-FR" b="1" dirty="0">
                <a:latin typeface="Bookman Old Style" panose="02050604050505020204" pitchFamily="18" charset="0"/>
              </a:rPr>
              <a:t>fonctionnement</a:t>
            </a:r>
            <a:r>
              <a:rPr lang="fr-FR" dirty="0">
                <a:latin typeface="Bookman Old Style" panose="02050604050505020204" pitchFamily="18" charset="0"/>
              </a:rPr>
              <a:t> (en </a:t>
            </a:r>
            <a:r>
              <a:rPr lang="fr-FR" b="1" dirty="0">
                <a:latin typeface="Bookman Old Style" panose="02050604050505020204" pitchFamily="18" charset="0"/>
              </a:rPr>
              <a:t>statique</a:t>
            </a:r>
            <a:r>
              <a:rPr lang="fr-FR" dirty="0">
                <a:latin typeface="Bookman Old Style" panose="02050604050505020204" pitchFamily="18" charset="0"/>
              </a:rPr>
              <a:t>)</a:t>
            </a:r>
          </a:p>
          <a:p>
            <a:pPr algn="just"/>
            <a:r>
              <a:rPr lang="fr-FR" dirty="0">
                <a:latin typeface="Bookman Old Style" panose="02050604050505020204" pitchFamily="18" charset="0"/>
              </a:rPr>
              <a:t>- En </a:t>
            </a:r>
            <a:r>
              <a:rPr lang="fr-FR" b="1" dirty="0">
                <a:latin typeface="Bookman Old Style" panose="02050604050505020204" pitchFamily="18" charset="0"/>
              </a:rPr>
              <a:t>régime dynamique </a:t>
            </a:r>
            <a:r>
              <a:rPr lang="fr-FR" dirty="0">
                <a:latin typeface="Bookman Old Style" panose="02050604050505020204" pitchFamily="18" charset="0"/>
              </a:rPr>
              <a:t>on ne tient compte que des grandeurs variables dans le temps </a:t>
            </a:r>
            <a:r>
              <a:rPr lang="fr-FR" b="1" dirty="0" err="1">
                <a:latin typeface="Bookman Old Style" panose="02050604050505020204" pitchFamily="18" charset="0"/>
              </a:rPr>
              <a:t>i</a:t>
            </a:r>
            <a:r>
              <a:rPr lang="fr-FR" b="1" baseline="-25000" dirty="0" err="1">
                <a:latin typeface="Bookman Old Style" panose="02050604050505020204" pitchFamily="18" charset="0"/>
              </a:rPr>
              <a:t>b</a:t>
            </a:r>
            <a:r>
              <a:rPr lang="fr-FR" b="1" dirty="0">
                <a:latin typeface="Bookman Old Style" panose="02050604050505020204" pitchFamily="18" charset="0"/>
              </a:rPr>
              <a:t>,</a:t>
            </a:r>
            <a:r>
              <a:rPr lang="fr-FR" dirty="0">
                <a:latin typeface="Bookman Old Style" panose="02050604050505020204" pitchFamily="18" charset="0"/>
              </a:rPr>
              <a:t> </a:t>
            </a:r>
            <a:r>
              <a:rPr lang="fr-FR" b="1" dirty="0" err="1">
                <a:latin typeface="Bookman Old Style" panose="02050604050505020204" pitchFamily="18" charset="0"/>
              </a:rPr>
              <a:t>i</a:t>
            </a:r>
            <a:r>
              <a:rPr lang="fr-FR" b="1" baseline="-25000" dirty="0" err="1">
                <a:latin typeface="Bookman Old Style" panose="02050604050505020204" pitchFamily="18" charset="0"/>
              </a:rPr>
              <a:t>c</a:t>
            </a:r>
            <a:r>
              <a:rPr lang="fr-FR" b="1" dirty="0">
                <a:latin typeface="Bookman Old Style" panose="02050604050505020204" pitchFamily="18" charset="0"/>
              </a:rPr>
              <a:t>, </a:t>
            </a:r>
            <a:r>
              <a:rPr lang="fr-FR" b="1" dirty="0" err="1">
                <a:latin typeface="Bookman Old Style" panose="02050604050505020204" pitchFamily="18" charset="0"/>
              </a:rPr>
              <a:t>v</a:t>
            </a:r>
            <a:r>
              <a:rPr lang="fr-FR" b="1" baseline="-25000" dirty="0" err="1">
                <a:latin typeface="Bookman Old Style" panose="02050604050505020204" pitchFamily="18" charset="0"/>
              </a:rPr>
              <a:t>ce</a:t>
            </a:r>
            <a:r>
              <a:rPr lang="fr-FR" b="1" dirty="0">
                <a:latin typeface="Bookman Old Style" panose="02050604050505020204" pitchFamily="18" charset="0"/>
              </a:rPr>
              <a:t> et </a:t>
            </a:r>
            <a:r>
              <a:rPr lang="fr-FR" b="1" dirty="0" err="1">
                <a:latin typeface="Bookman Old Style" panose="02050604050505020204" pitchFamily="18" charset="0"/>
              </a:rPr>
              <a:t>v</a:t>
            </a:r>
            <a:r>
              <a:rPr lang="fr-FR" b="1" baseline="-25000" dirty="0" err="1">
                <a:latin typeface="Bookman Old Style" panose="02050604050505020204" pitchFamily="18" charset="0"/>
              </a:rPr>
              <a:t>be</a:t>
            </a:r>
            <a:r>
              <a:rPr lang="fr-FR" dirty="0">
                <a:latin typeface="Bookman Old Style" panose="02050604050505020204" pitchFamily="18" charset="0"/>
              </a:rPr>
              <a:t>.</a:t>
            </a:r>
          </a:p>
          <a:p>
            <a:pPr algn="just"/>
            <a:r>
              <a:rPr lang="fr-FR" dirty="0">
                <a:latin typeface="Bookman Old Style" panose="02050604050505020204" pitchFamily="18" charset="0"/>
              </a:rPr>
              <a:t> </a:t>
            </a:r>
          </a:p>
          <a:p>
            <a:pPr algn="just"/>
            <a:endParaRPr lang="fr-FR" dirty="0">
              <a:latin typeface="Bookman Old Style" panose="02050604050505020204" pitchFamily="18" charset="0"/>
            </a:endParaRPr>
          </a:p>
          <a:p>
            <a:pPr algn="just"/>
            <a:r>
              <a:rPr lang="fr-FR" dirty="0">
                <a:latin typeface="Bookman Old Style" panose="02050604050505020204" pitchFamily="18" charset="0"/>
              </a:rPr>
              <a:t>Les paramètres hybrides (</a:t>
            </a:r>
            <a:r>
              <a:rPr lang="fr-FR" b="1" dirty="0" err="1">
                <a:latin typeface="Bookman Old Style" panose="02050604050505020204" pitchFamily="18" charset="0"/>
              </a:rPr>
              <a:t>h</a:t>
            </a:r>
            <a:r>
              <a:rPr lang="fr-FR" b="1" baseline="-25000" dirty="0" err="1">
                <a:latin typeface="Bookman Old Style" panose="02050604050505020204" pitchFamily="18" charset="0"/>
              </a:rPr>
              <a:t>ije</a:t>
            </a:r>
            <a:r>
              <a:rPr lang="fr-FR" dirty="0">
                <a:latin typeface="Bookman Old Style" panose="02050604050505020204" pitchFamily="18" charset="0"/>
              </a:rPr>
              <a:t>), (</a:t>
            </a:r>
            <a:r>
              <a:rPr lang="fr-FR" b="1" dirty="0" err="1">
                <a:latin typeface="Bookman Old Style" panose="02050604050505020204" pitchFamily="18" charset="0"/>
              </a:rPr>
              <a:t>h</a:t>
            </a:r>
            <a:r>
              <a:rPr lang="fr-FR" b="1" baseline="-25000" dirty="0" err="1">
                <a:latin typeface="Bookman Old Style" panose="02050604050505020204" pitchFamily="18" charset="0"/>
              </a:rPr>
              <a:t>ijb</a:t>
            </a:r>
            <a:r>
              <a:rPr lang="fr-FR" dirty="0">
                <a:latin typeface="Bookman Old Style" panose="02050604050505020204" pitchFamily="18" charset="0"/>
              </a:rPr>
              <a:t>) et (</a:t>
            </a:r>
            <a:r>
              <a:rPr lang="fr-FR" b="1" dirty="0" err="1">
                <a:latin typeface="Bookman Old Style" panose="02050604050505020204" pitchFamily="18" charset="0"/>
              </a:rPr>
              <a:t>h</a:t>
            </a:r>
            <a:r>
              <a:rPr lang="fr-FR" b="1" baseline="-25000" dirty="0" err="1">
                <a:latin typeface="Bookman Old Style" panose="02050604050505020204" pitchFamily="18" charset="0"/>
              </a:rPr>
              <a:t>ijc</a:t>
            </a:r>
            <a:r>
              <a:rPr lang="fr-FR" dirty="0">
                <a:latin typeface="Bookman Old Style" panose="02050604050505020204" pitchFamily="18" charset="0"/>
              </a:rPr>
              <a:t>) ne sont pas indépendants mais sont liés entre eux par des relations qu’on résume dans le tableau de diapositive suivant :</a:t>
            </a:r>
          </a:p>
          <a:p>
            <a:pPr algn="just"/>
            <a:endParaRPr lang="fr-FR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390264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6"/>
            <a:ext cx="52086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-Transistor-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1620" y="507690"/>
            <a:ext cx="75917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Transistor bipolaire en régime variable et faibles signaux</a:t>
            </a: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715000" y="365260"/>
            <a:ext cx="3328256" cy="10117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46">
            <a:extLst>
              <a:ext uri="{FF2B5EF4-FFF2-40B4-BE49-F238E27FC236}">
                <a16:creationId xmlns:a16="http://schemas.microsoft.com/office/drawing/2014/main" id="{7198176F-4D83-4A98-1EFA-F78693C2B68B}"/>
              </a:ext>
            </a:extLst>
          </p:cNvPr>
          <p:cNvSpPr txBox="1"/>
          <p:nvPr/>
        </p:nvSpPr>
        <p:spPr>
          <a:xfrm>
            <a:off x="8828933" y="486598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56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3206C0-B920-4CD8-8FF9-7BD8ABA1AB10}"/>
              </a:ext>
            </a:extLst>
          </p:cNvPr>
          <p:cNvSpPr txBox="1"/>
          <p:nvPr/>
        </p:nvSpPr>
        <p:spPr>
          <a:xfrm>
            <a:off x="629165" y="825591"/>
            <a:ext cx="8685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600" b="1" spc="-5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defRPr>
            </a:lvl1pPr>
          </a:lstStyle>
          <a:p>
            <a:r>
              <a:rPr lang="fr-FR" sz="1400" dirty="0"/>
              <a:t>5.1 Méthode d’analyse - </a:t>
            </a:r>
            <a:r>
              <a:rPr lang="fr-FR" sz="1400" dirty="0">
                <a:solidFill>
                  <a:schemeClr val="tx1"/>
                </a:solidFill>
              </a:rPr>
              <a:t>Méthode analytique</a:t>
            </a:r>
            <a:r>
              <a:rPr lang="fr-FR" sz="1400" dirty="0"/>
              <a:t> -</a:t>
            </a:r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57A8E4-E219-7711-F8AF-74C8B282239B}"/>
              </a:ext>
            </a:extLst>
          </p:cNvPr>
          <p:cNvSpPr txBox="1"/>
          <p:nvPr/>
        </p:nvSpPr>
        <p:spPr>
          <a:xfrm>
            <a:off x="629165" y="1169101"/>
            <a:ext cx="807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800" b="1" dirty="0">
                <a:latin typeface="Bookman Old Style" panose="02050604050505020204" pitchFamily="18" charset="0"/>
              </a:rPr>
              <a:t>NB </a:t>
            </a:r>
            <a:r>
              <a:rPr lang="fr-FR" sz="1800" dirty="0">
                <a:latin typeface="Bookman Old Style" panose="02050604050505020204" pitchFamily="18" charset="0"/>
              </a:rPr>
              <a:t>:   </a:t>
            </a:r>
            <a:r>
              <a:rPr lang="fr-FR" sz="1800" dirty="0" err="1">
                <a:latin typeface="Bookman Old Style" panose="02050604050505020204" pitchFamily="18" charset="0"/>
              </a:rPr>
              <a:t>h</a:t>
            </a:r>
            <a:r>
              <a:rPr lang="fr-FR" sz="1800" baseline="-25000" dirty="0" err="1">
                <a:latin typeface="Bookman Old Style" panose="02050604050505020204" pitchFamily="18" charset="0"/>
              </a:rPr>
              <a:t>ije</a:t>
            </a:r>
            <a:r>
              <a:rPr lang="fr-FR" sz="1800" dirty="0">
                <a:latin typeface="Bookman Old Style" panose="02050604050505020204" pitchFamily="18" charset="0"/>
              </a:rPr>
              <a:t> ≠ </a:t>
            </a:r>
            <a:r>
              <a:rPr lang="fr-FR" sz="1800" dirty="0" err="1">
                <a:latin typeface="Bookman Old Style" panose="02050604050505020204" pitchFamily="18" charset="0"/>
              </a:rPr>
              <a:t>h</a:t>
            </a:r>
            <a:r>
              <a:rPr lang="fr-FR" sz="1800" baseline="-25000" dirty="0" err="1">
                <a:latin typeface="Bookman Old Style" panose="02050604050505020204" pitchFamily="18" charset="0"/>
              </a:rPr>
              <a:t>ijb</a:t>
            </a:r>
            <a:r>
              <a:rPr lang="fr-FR" sz="1800" dirty="0">
                <a:latin typeface="Bookman Old Style" panose="02050604050505020204" pitchFamily="18" charset="0"/>
              </a:rPr>
              <a:t> ≠ </a:t>
            </a:r>
            <a:r>
              <a:rPr lang="fr-FR" sz="1800" dirty="0" err="1">
                <a:latin typeface="Bookman Old Style" panose="02050604050505020204" pitchFamily="18" charset="0"/>
              </a:rPr>
              <a:t>h</a:t>
            </a:r>
            <a:r>
              <a:rPr lang="fr-FR" sz="1800" baseline="-25000" dirty="0" err="1">
                <a:latin typeface="Bookman Old Style" panose="02050604050505020204" pitchFamily="18" charset="0"/>
              </a:rPr>
              <a:t>ijc</a:t>
            </a:r>
            <a:r>
              <a:rPr lang="fr-FR" sz="1800" dirty="0">
                <a:latin typeface="Bookman Old Style" panose="02050604050505020204" pitchFamily="18" charset="0"/>
              </a:rPr>
              <a:t> , </a:t>
            </a:r>
            <a:r>
              <a:rPr lang="fr-FR" b="1" dirty="0">
                <a:latin typeface="Bookman Old Style" panose="02050604050505020204" pitchFamily="18" charset="0"/>
              </a:rPr>
              <a:t>o</a:t>
            </a:r>
            <a:r>
              <a:rPr lang="fr-FR" sz="1800" b="1" dirty="0">
                <a:latin typeface="Bookman Old Style" panose="02050604050505020204" pitchFamily="18" charset="0"/>
              </a:rPr>
              <a:t>n suppose </a:t>
            </a:r>
            <a:r>
              <a:rPr lang="fr-FR" sz="1800" dirty="0">
                <a:latin typeface="Bookman Old Style" panose="02050604050505020204" pitchFamily="18" charset="0"/>
              </a:rPr>
              <a:t>:  h</a:t>
            </a:r>
            <a:r>
              <a:rPr lang="fr-FR" sz="1800" baseline="-25000" dirty="0">
                <a:latin typeface="Bookman Old Style" panose="02050604050505020204" pitchFamily="18" charset="0"/>
              </a:rPr>
              <a:t>12b</a:t>
            </a:r>
            <a:r>
              <a:rPr lang="fr-FR" sz="1800" dirty="0">
                <a:latin typeface="Bookman Old Style" panose="02050604050505020204" pitchFamily="18" charset="0"/>
              </a:rPr>
              <a:t> &lt;&lt; 1 et h</a:t>
            </a:r>
            <a:r>
              <a:rPr lang="fr-FR" sz="1800" baseline="-25000" dirty="0">
                <a:latin typeface="Bookman Old Style" panose="02050604050505020204" pitchFamily="18" charset="0"/>
              </a:rPr>
              <a:t>11b</a:t>
            </a:r>
            <a:r>
              <a:rPr lang="fr-FR" sz="1800" dirty="0">
                <a:latin typeface="Bookman Old Style" panose="02050604050505020204" pitchFamily="18" charset="0"/>
              </a:rPr>
              <a:t>h</a:t>
            </a:r>
            <a:r>
              <a:rPr lang="fr-FR" sz="1800" baseline="-25000" dirty="0">
                <a:latin typeface="Bookman Old Style" panose="02050604050505020204" pitchFamily="18" charset="0"/>
              </a:rPr>
              <a:t>22b</a:t>
            </a:r>
            <a:r>
              <a:rPr lang="fr-FR" sz="1800" dirty="0">
                <a:latin typeface="Bookman Old Style" panose="02050604050505020204" pitchFamily="18" charset="0"/>
              </a:rPr>
              <a:t> &lt;&lt; 1+h</a:t>
            </a:r>
            <a:r>
              <a:rPr lang="fr-FR" sz="1800" baseline="-25000" dirty="0">
                <a:latin typeface="Bookman Old Style" panose="02050604050505020204" pitchFamily="18" charset="0"/>
              </a:rPr>
              <a:t>21b</a:t>
            </a:r>
            <a:endParaRPr lang="fr-FR" sz="1800" dirty="0">
              <a:latin typeface="Bookman Old Style" panose="02050604050505020204" pitchFamily="18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0F8AA76-E83E-3684-8ABE-48CFBE5F9825}"/>
              </a:ext>
            </a:extLst>
          </p:cNvPr>
          <p:cNvGrpSpPr/>
          <p:nvPr/>
        </p:nvGrpSpPr>
        <p:grpSpPr>
          <a:xfrm>
            <a:off x="751734" y="1662209"/>
            <a:ext cx="8077199" cy="3342535"/>
            <a:chOff x="103239" y="1666924"/>
            <a:chExt cx="8929718" cy="3876288"/>
          </a:xfrm>
        </p:grpSpPr>
        <p:pic>
          <p:nvPicPr>
            <p:cNvPr id="16" name="Image 2" descr="Sans titre.bmp">
              <a:extLst>
                <a:ext uri="{FF2B5EF4-FFF2-40B4-BE49-F238E27FC236}">
                  <a16:creationId xmlns:a16="http://schemas.microsoft.com/office/drawing/2014/main" id="{5CF050A8-98D1-545B-AC39-8FCC5A953C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3239" y="1666924"/>
              <a:ext cx="8929718" cy="3876288"/>
            </a:xfrm>
            <a:prstGeom prst="rect">
              <a:avLst/>
            </a:prstGeom>
          </p:spPr>
        </p:pic>
        <p:cxnSp>
          <p:nvCxnSpPr>
            <p:cNvPr id="17" name="Connecteur droit 4">
              <a:extLst>
                <a:ext uri="{FF2B5EF4-FFF2-40B4-BE49-F238E27FC236}">
                  <a16:creationId xmlns:a16="http://schemas.microsoft.com/office/drawing/2014/main" id="{EA75E31E-B95E-95B8-8E67-46E70C755445}"/>
                </a:ext>
              </a:extLst>
            </p:cNvPr>
            <p:cNvCxnSpPr/>
            <p:nvPr/>
          </p:nvCxnSpPr>
          <p:spPr>
            <a:xfrm rot="5400000">
              <a:off x="4746709" y="3524312"/>
              <a:ext cx="3714776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910279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6"/>
            <a:ext cx="52086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-Transistor-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1620" y="507690"/>
            <a:ext cx="75917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Transistor bipolaire en régime variable et faibles signaux</a:t>
            </a: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715000" y="365260"/>
            <a:ext cx="3328256" cy="10117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46">
            <a:extLst>
              <a:ext uri="{FF2B5EF4-FFF2-40B4-BE49-F238E27FC236}">
                <a16:creationId xmlns:a16="http://schemas.microsoft.com/office/drawing/2014/main" id="{7198176F-4D83-4A98-1EFA-F78693C2B68B}"/>
              </a:ext>
            </a:extLst>
          </p:cNvPr>
          <p:cNvSpPr txBox="1"/>
          <p:nvPr/>
        </p:nvSpPr>
        <p:spPr>
          <a:xfrm>
            <a:off x="8828933" y="486598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57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3206C0-B920-4CD8-8FF9-7BD8ABA1AB10}"/>
              </a:ext>
            </a:extLst>
          </p:cNvPr>
          <p:cNvSpPr txBox="1"/>
          <p:nvPr/>
        </p:nvSpPr>
        <p:spPr>
          <a:xfrm>
            <a:off x="629165" y="825591"/>
            <a:ext cx="86853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600" b="1" spc="-5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defRPr>
            </a:lvl1pPr>
          </a:lstStyle>
          <a:p>
            <a:r>
              <a:rPr lang="fr-FR" sz="1400" dirty="0"/>
              <a:t>5.2 Transistor en amplification</a:t>
            </a:r>
          </a:p>
          <a:p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DC3182-09E3-D633-0E75-3D0C5CBE4E28}"/>
              </a:ext>
            </a:extLst>
          </p:cNvPr>
          <p:cNvSpPr txBox="1"/>
          <p:nvPr/>
        </p:nvSpPr>
        <p:spPr>
          <a:xfrm>
            <a:off x="650354" y="1208900"/>
            <a:ext cx="849364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fr-FR" dirty="0">
                <a:latin typeface="Bookman Old Style" panose="02050604050505020204" pitchFamily="18" charset="0"/>
              </a:rPr>
              <a:t>Un </a:t>
            </a:r>
            <a:r>
              <a:rPr lang="fr-FR" b="1" dirty="0">
                <a:latin typeface="Bookman Old Style" panose="02050604050505020204" pitchFamily="18" charset="0"/>
              </a:rPr>
              <a:t>amplificateur</a:t>
            </a:r>
            <a:r>
              <a:rPr lang="fr-FR" dirty="0">
                <a:latin typeface="Bookman Old Style" panose="02050604050505020204" pitchFamily="18" charset="0"/>
              </a:rPr>
              <a:t> est un système qui pour de </a:t>
            </a:r>
            <a:r>
              <a:rPr lang="fr-FR" b="1" dirty="0">
                <a:latin typeface="Bookman Old Style" panose="02050604050505020204" pitchFamily="18" charset="0"/>
              </a:rPr>
              <a:t>faibles</a:t>
            </a:r>
            <a:r>
              <a:rPr lang="fr-FR" dirty="0">
                <a:latin typeface="Bookman Old Style" panose="02050604050505020204" pitchFamily="18" charset="0"/>
              </a:rPr>
              <a:t> </a:t>
            </a:r>
            <a:r>
              <a:rPr lang="fr-FR" b="1" dirty="0">
                <a:latin typeface="Bookman Old Style" panose="02050604050505020204" pitchFamily="18" charset="0"/>
              </a:rPr>
              <a:t>signaux</a:t>
            </a:r>
            <a:r>
              <a:rPr lang="fr-FR" dirty="0">
                <a:latin typeface="Bookman Old Style" panose="02050604050505020204" pitchFamily="18" charset="0"/>
              </a:rPr>
              <a:t> appliqués à l'</a:t>
            </a:r>
            <a:r>
              <a:rPr lang="fr-FR" b="1" dirty="0">
                <a:latin typeface="Bookman Old Style" panose="02050604050505020204" pitchFamily="18" charset="0"/>
              </a:rPr>
              <a:t>entrée</a:t>
            </a:r>
            <a:r>
              <a:rPr lang="fr-FR" dirty="0">
                <a:latin typeface="Bookman Old Style" panose="02050604050505020204" pitchFamily="18" charset="0"/>
              </a:rPr>
              <a:t> on obtient à </a:t>
            </a:r>
            <a:r>
              <a:rPr lang="fr-FR" b="1" dirty="0">
                <a:latin typeface="Bookman Old Style" panose="02050604050505020204" pitchFamily="18" charset="0"/>
              </a:rPr>
              <a:t>la sortie des signaux </a:t>
            </a:r>
            <a:r>
              <a:rPr lang="fr-FR" dirty="0">
                <a:latin typeface="Bookman Old Style" panose="02050604050505020204" pitchFamily="18" charset="0"/>
              </a:rPr>
              <a:t>assez </a:t>
            </a:r>
            <a:r>
              <a:rPr lang="fr-FR" b="1" dirty="0">
                <a:latin typeface="Bookman Old Style" panose="02050604050505020204" pitchFamily="18" charset="0"/>
              </a:rPr>
              <a:t>forts</a:t>
            </a:r>
            <a:r>
              <a:rPr lang="fr-FR" dirty="0">
                <a:latin typeface="Bookman Old Style" panose="02050604050505020204" pitchFamily="18" charset="0"/>
              </a:rPr>
              <a:t>.</a:t>
            </a:r>
          </a:p>
          <a:p>
            <a:pPr algn="just"/>
            <a:r>
              <a:rPr lang="fr-FR" dirty="0">
                <a:latin typeface="Bookman Old Style" panose="02050604050505020204" pitchFamily="18" charset="0"/>
              </a:rPr>
              <a:t> </a:t>
            </a:r>
          </a:p>
          <a:p>
            <a:pPr algn="just"/>
            <a:endParaRPr lang="fr-FR" b="1" dirty="0">
              <a:latin typeface="Bookman Old Style" panose="020506040505050202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fr-FR" dirty="0">
                <a:latin typeface="Bookman Old Style" panose="02050604050505020204" pitchFamily="18" charset="0"/>
              </a:rPr>
              <a:t>Les grandeurs qui peuvent caractériser un amplificateur sont:</a:t>
            </a:r>
          </a:p>
          <a:p>
            <a:pPr algn="just"/>
            <a:endParaRPr lang="fr-FR" dirty="0">
              <a:latin typeface="Bookman Old Style" panose="02050604050505020204" pitchFamily="18" charset="0"/>
            </a:endParaRPr>
          </a:p>
          <a:p>
            <a:pPr marL="285750" indent="-285750" algn="just">
              <a:buFontTx/>
              <a:buChar char="-"/>
            </a:pPr>
            <a:r>
              <a:rPr lang="fr-FR" dirty="0">
                <a:latin typeface="Bookman Old Style" panose="02050604050505020204" pitchFamily="18" charset="0"/>
              </a:rPr>
              <a:t>Amplification de tension </a:t>
            </a:r>
            <a:r>
              <a:rPr lang="fr-FR" b="1" dirty="0">
                <a:latin typeface="Bookman Old Style" panose="02050604050505020204" pitchFamily="18" charset="0"/>
              </a:rPr>
              <a:t>A</a:t>
            </a:r>
            <a:r>
              <a:rPr lang="fr-FR" b="1" baseline="-25000" dirty="0">
                <a:latin typeface="Bookman Old Style" panose="02050604050505020204" pitchFamily="18" charset="0"/>
              </a:rPr>
              <a:t>v</a:t>
            </a:r>
          </a:p>
          <a:p>
            <a:pPr marL="285750" indent="-285750" algn="just">
              <a:buFontTx/>
              <a:buChar char="-"/>
            </a:pPr>
            <a:endParaRPr lang="fr-FR" dirty="0">
              <a:latin typeface="Bookman Old Style" panose="02050604050505020204" pitchFamily="18" charset="0"/>
            </a:endParaRPr>
          </a:p>
          <a:p>
            <a:pPr marL="285750" indent="-285750" algn="just">
              <a:buFontTx/>
              <a:buChar char="-"/>
            </a:pPr>
            <a:r>
              <a:rPr lang="fr-FR" dirty="0">
                <a:latin typeface="Bookman Old Style" panose="02050604050505020204" pitchFamily="18" charset="0"/>
              </a:rPr>
              <a:t>Amplification de courant </a:t>
            </a:r>
            <a:r>
              <a:rPr lang="fr-FR" b="1" dirty="0">
                <a:latin typeface="Bookman Old Style" panose="02050604050505020204" pitchFamily="18" charset="0"/>
              </a:rPr>
              <a:t>A</a:t>
            </a:r>
            <a:r>
              <a:rPr lang="fr-FR" b="1" baseline="-25000" dirty="0">
                <a:latin typeface="Bookman Old Style" panose="02050604050505020204" pitchFamily="18" charset="0"/>
              </a:rPr>
              <a:t>i</a:t>
            </a:r>
          </a:p>
          <a:p>
            <a:pPr marL="285750" indent="-285750" algn="just">
              <a:buFontTx/>
              <a:buChar char="-"/>
            </a:pPr>
            <a:endParaRPr lang="fr-FR" dirty="0">
              <a:latin typeface="Bookman Old Style" panose="02050604050505020204" pitchFamily="18" charset="0"/>
            </a:endParaRPr>
          </a:p>
          <a:p>
            <a:pPr marL="285750" indent="-285750" algn="just">
              <a:buFontTx/>
              <a:buChar char="-"/>
            </a:pPr>
            <a:r>
              <a:rPr lang="fr-FR" dirty="0">
                <a:latin typeface="Bookman Old Style" panose="02050604050505020204" pitchFamily="18" charset="0"/>
              </a:rPr>
              <a:t>Impédance d'entrée </a:t>
            </a:r>
            <a:r>
              <a:rPr lang="fr-FR" b="1" dirty="0" err="1">
                <a:latin typeface="Bookman Old Style" panose="02050604050505020204" pitchFamily="18" charset="0"/>
              </a:rPr>
              <a:t>Z</a:t>
            </a:r>
            <a:r>
              <a:rPr lang="fr-FR" b="1" baseline="-25000" dirty="0" err="1">
                <a:latin typeface="Bookman Old Style" panose="02050604050505020204" pitchFamily="18" charset="0"/>
              </a:rPr>
              <a:t>e</a:t>
            </a:r>
            <a:endParaRPr lang="fr-FR" b="1" baseline="-25000" dirty="0">
              <a:latin typeface="Bookman Old Style" panose="02050604050505020204" pitchFamily="18" charset="0"/>
            </a:endParaRPr>
          </a:p>
          <a:p>
            <a:pPr marL="285750" indent="-285750" algn="just">
              <a:buFontTx/>
              <a:buChar char="-"/>
            </a:pPr>
            <a:endParaRPr lang="fr-FR" dirty="0">
              <a:latin typeface="Bookman Old Style" panose="02050604050505020204" pitchFamily="18" charset="0"/>
            </a:endParaRPr>
          </a:p>
          <a:p>
            <a:pPr algn="just"/>
            <a:r>
              <a:rPr lang="fr-FR" dirty="0">
                <a:latin typeface="Bookman Old Style" panose="02050604050505020204" pitchFamily="18" charset="0"/>
              </a:rPr>
              <a:t>-   Impédance de sortie </a:t>
            </a:r>
            <a:r>
              <a:rPr lang="fr-FR" b="1" dirty="0" err="1">
                <a:latin typeface="Bookman Old Style" panose="02050604050505020204" pitchFamily="18" charset="0"/>
              </a:rPr>
              <a:t>Z</a:t>
            </a:r>
            <a:r>
              <a:rPr lang="fr-FR" b="1" baseline="-25000" dirty="0" err="1">
                <a:latin typeface="Bookman Old Style" panose="02050604050505020204" pitchFamily="18" charset="0"/>
              </a:rPr>
              <a:t>s</a:t>
            </a:r>
            <a:endParaRPr lang="fr-FR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85517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6"/>
            <a:ext cx="52086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-Transistor-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1620" y="507690"/>
            <a:ext cx="75917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Transistor bipolaire en régime variable et faibles signaux</a:t>
            </a: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715000" y="365260"/>
            <a:ext cx="3328256" cy="10117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46">
            <a:extLst>
              <a:ext uri="{FF2B5EF4-FFF2-40B4-BE49-F238E27FC236}">
                <a16:creationId xmlns:a16="http://schemas.microsoft.com/office/drawing/2014/main" id="{7198176F-4D83-4A98-1EFA-F78693C2B68B}"/>
              </a:ext>
            </a:extLst>
          </p:cNvPr>
          <p:cNvSpPr txBox="1"/>
          <p:nvPr/>
        </p:nvSpPr>
        <p:spPr>
          <a:xfrm>
            <a:off x="8828933" y="486598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58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3206C0-B920-4CD8-8FF9-7BD8ABA1AB10}"/>
              </a:ext>
            </a:extLst>
          </p:cNvPr>
          <p:cNvSpPr txBox="1"/>
          <p:nvPr/>
        </p:nvSpPr>
        <p:spPr>
          <a:xfrm>
            <a:off x="629165" y="825591"/>
            <a:ext cx="8685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600" b="1" spc="-5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defRPr>
            </a:lvl1pPr>
          </a:lstStyle>
          <a:p>
            <a:r>
              <a:rPr lang="fr-FR" sz="1400" dirty="0"/>
              <a:t>5.2 Transistor en amplification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3DFB1DAA-6FBE-8B21-C637-F183EFBBD76A}"/>
              </a:ext>
            </a:extLst>
          </p:cNvPr>
          <p:cNvGrpSpPr/>
          <p:nvPr/>
        </p:nvGrpSpPr>
        <p:grpSpPr>
          <a:xfrm>
            <a:off x="5680725" y="1451269"/>
            <a:ext cx="3357586" cy="2464894"/>
            <a:chOff x="3662354" y="1984166"/>
            <a:chExt cx="3357586" cy="2464894"/>
          </a:xfrm>
        </p:grpSpPr>
        <p:sp>
          <p:nvSpPr>
            <p:cNvPr id="3" name="Text Box 3">
              <a:extLst>
                <a:ext uri="{FF2B5EF4-FFF2-40B4-BE49-F238E27FC236}">
                  <a16:creationId xmlns:a16="http://schemas.microsoft.com/office/drawing/2014/main" id="{1E2D13A4-15E2-42B5-5931-A04C63A871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2354" y="3892736"/>
              <a:ext cx="420754" cy="34462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e</a:t>
              </a:r>
              <a:r>
                <a:rPr kumimoji="0" lang="fr-FR" sz="11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g</a:t>
              </a:r>
              <a:endParaRPr kumimoji="0" 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5" name="Text Box 4">
              <a:extLst>
                <a:ext uri="{FF2B5EF4-FFF2-40B4-BE49-F238E27FC236}">
                  <a16:creationId xmlns:a16="http://schemas.microsoft.com/office/drawing/2014/main" id="{8B768BEC-4454-9703-B19E-0D6480AA6C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8394" y="3434876"/>
              <a:ext cx="420754" cy="34462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r</a:t>
              </a:r>
              <a:r>
                <a:rPr kumimoji="0" lang="fr-FR" sz="11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g</a:t>
              </a:r>
              <a:endParaRPr kumimoji="0" 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11" name="Text Box 5">
              <a:extLst>
                <a:ext uri="{FF2B5EF4-FFF2-40B4-BE49-F238E27FC236}">
                  <a16:creationId xmlns:a16="http://schemas.microsoft.com/office/drawing/2014/main" id="{6EF70EC8-7C3D-B15F-C4C2-D58928549C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82720" y="3813144"/>
              <a:ext cx="456240" cy="3700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C</a:t>
              </a:r>
              <a:r>
                <a:rPr kumimoji="0" lang="fr-FR" sz="11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E</a:t>
              </a:r>
              <a:endParaRPr kumimoji="0" 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13" name="Text Box 6">
              <a:extLst>
                <a:ext uri="{FF2B5EF4-FFF2-40B4-BE49-F238E27FC236}">
                  <a16:creationId xmlns:a16="http://schemas.microsoft.com/office/drawing/2014/main" id="{1BF89A7E-1656-6EAF-AC42-89B0AAEA51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0951" y="2932708"/>
              <a:ext cx="456240" cy="3700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C</a:t>
              </a:r>
              <a:r>
                <a:rPr kumimoji="0" lang="fr-FR" sz="11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1</a:t>
              </a:r>
              <a:endParaRPr kumimoji="0" 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16" name="Text Box 7">
              <a:extLst>
                <a:ext uri="{FF2B5EF4-FFF2-40B4-BE49-F238E27FC236}">
                  <a16:creationId xmlns:a16="http://schemas.microsoft.com/office/drawing/2014/main" id="{19082547-BB1F-3071-5951-E3079632DE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82720" y="2745625"/>
              <a:ext cx="456240" cy="3700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C</a:t>
              </a:r>
              <a:r>
                <a:rPr kumimoji="0" lang="fr-FR" sz="11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2</a:t>
              </a:r>
              <a:endParaRPr kumimoji="0" 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17" name="Text Box 8">
              <a:extLst>
                <a:ext uri="{FF2B5EF4-FFF2-40B4-BE49-F238E27FC236}">
                  <a16:creationId xmlns:a16="http://schemas.microsoft.com/office/drawing/2014/main" id="{AE05C198-6152-5586-DA53-3DE462AEC2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67080" y="3562880"/>
              <a:ext cx="452860" cy="3700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R</a:t>
              </a:r>
              <a:r>
                <a:rPr kumimoji="0" lang="fr-FR" sz="11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L</a:t>
              </a:r>
              <a:endParaRPr kumimoji="0" 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20" name="Text Box 9">
              <a:extLst>
                <a:ext uri="{FF2B5EF4-FFF2-40B4-BE49-F238E27FC236}">
                  <a16:creationId xmlns:a16="http://schemas.microsoft.com/office/drawing/2014/main" id="{94EA3BF2-C3EC-CF63-808B-9E3A1D5976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800" y="3763912"/>
              <a:ext cx="452860" cy="3700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R</a:t>
              </a:r>
              <a:r>
                <a:rPr kumimoji="0" lang="fr-FR" sz="11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2</a:t>
              </a:r>
              <a:endParaRPr kumimoji="0" 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21" name="Text Box 10">
              <a:extLst>
                <a:ext uri="{FF2B5EF4-FFF2-40B4-BE49-F238E27FC236}">
                  <a16:creationId xmlns:a16="http://schemas.microsoft.com/office/drawing/2014/main" id="{675569D8-33A2-50D6-758E-6BC02B3FF4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6329" y="3786066"/>
              <a:ext cx="452860" cy="3700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R</a:t>
              </a:r>
              <a:r>
                <a:rPr kumimoji="0" lang="fr-FR" sz="11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E</a:t>
              </a:r>
              <a:endParaRPr kumimoji="0" 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22" name="Text Box 11">
              <a:extLst>
                <a:ext uri="{FF2B5EF4-FFF2-40B4-BE49-F238E27FC236}">
                  <a16:creationId xmlns:a16="http://schemas.microsoft.com/office/drawing/2014/main" id="{9D46E970-B31B-9711-F976-9532113618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800" y="2410026"/>
              <a:ext cx="452860" cy="3700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R</a:t>
              </a:r>
              <a:r>
                <a:rPr kumimoji="0" lang="fr-FR" sz="11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1</a:t>
              </a:r>
              <a:endParaRPr kumimoji="0" 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23" name="Text Box 12">
              <a:extLst>
                <a:ext uri="{FF2B5EF4-FFF2-40B4-BE49-F238E27FC236}">
                  <a16:creationId xmlns:a16="http://schemas.microsoft.com/office/drawing/2014/main" id="{82D7551A-77C3-3025-6B6B-C35155BB5E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63656" y="2536388"/>
              <a:ext cx="452860" cy="3700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R</a:t>
              </a:r>
              <a:r>
                <a:rPr kumimoji="0" lang="fr-FR" sz="1100" b="1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C</a:t>
              </a:r>
              <a:endParaRPr kumimoji="0" 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25" name="Line 14">
              <a:extLst>
                <a:ext uri="{FF2B5EF4-FFF2-40B4-BE49-F238E27FC236}">
                  <a16:creationId xmlns:a16="http://schemas.microsoft.com/office/drawing/2014/main" id="{65773047-6F3B-ADCF-3E4E-E69F73065A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6923" y="3191177"/>
              <a:ext cx="0" cy="28554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26" name="Line 15">
              <a:extLst>
                <a:ext uri="{FF2B5EF4-FFF2-40B4-BE49-F238E27FC236}">
                  <a16:creationId xmlns:a16="http://schemas.microsoft.com/office/drawing/2014/main" id="{77323BE8-828F-B3AC-D669-B2E037EA7A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26784" y="3166561"/>
              <a:ext cx="162219" cy="1624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27" name="Line 16">
              <a:extLst>
                <a:ext uri="{FF2B5EF4-FFF2-40B4-BE49-F238E27FC236}">
                  <a16:creationId xmlns:a16="http://schemas.microsoft.com/office/drawing/2014/main" id="{595D0E3B-A8A4-F054-9B5C-FD1050634D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6784" y="3329027"/>
              <a:ext cx="162219" cy="15754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28" name="Line 17">
              <a:extLst>
                <a:ext uri="{FF2B5EF4-FFF2-40B4-BE49-F238E27FC236}">
                  <a16:creationId xmlns:a16="http://schemas.microsoft.com/office/drawing/2014/main" id="{9E49993B-2E8F-D6D7-AC21-52F85B8DCC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82243" y="3486570"/>
              <a:ext cx="1690" cy="9017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29" name="Line 18">
              <a:extLst>
                <a:ext uri="{FF2B5EF4-FFF2-40B4-BE49-F238E27FC236}">
                  <a16:creationId xmlns:a16="http://schemas.microsoft.com/office/drawing/2014/main" id="{7FA7A8A3-B08C-54DF-AF7F-801F5CA37C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83933" y="2181916"/>
              <a:ext cx="0" cy="9846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30" name="Line 19">
              <a:extLst>
                <a:ext uri="{FF2B5EF4-FFF2-40B4-BE49-F238E27FC236}">
                  <a16:creationId xmlns:a16="http://schemas.microsoft.com/office/drawing/2014/main" id="{D1D1677E-67DF-28FB-981F-1A7C5C9DA0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29209" y="3318360"/>
              <a:ext cx="79757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31" name="Line 20">
              <a:extLst>
                <a:ext uri="{FF2B5EF4-FFF2-40B4-BE49-F238E27FC236}">
                  <a16:creationId xmlns:a16="http://schemas.microsoft.com/office/drawing/2014/main" id="{0253E7AE-7412-15B8-A4AF-83C8EAC4D1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84062" y="2278740"/>
              <a:ext cx="0" cy="20242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32" name="Line 21">
              <a:extLst>
                <a:ext uri="{FF2B5EF4-FFF2-40B4-BE49-F238E27FC236}">
                  <a16:creationId xmlns:a16="http://schemas.microsoft.com/office/drawing/2014/main" id="{71454A8C-D053-40E3-2C7A-4402ABCDC3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5891" y="2280381"/>
              <a:ext cx="58297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grpSp>
          <p:nvGrpSpPr>
            <p:cNvPr id="33" name="Group 22">
              <a:extLst>
                <a:ext uri="{FF2B5EF4-FFF2-40B4-BE49-F238E27FC236}">
                  <a16:creationId xmlns:a16="http://schemas.microsoft.com/office/drawing/2014/main" id="{CFEF1192-5285-6F41-3134-98490C2090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09041" y="4385058"/>
              <a:ext cx="319368" cy="64002"/>
              <a:chOff x="9074" y="5502"/>
              <a:chExt cx="378" cy="78"/>
            </a:xfrm>
          </p:grpSpPr>
          <p:sp>
            <p:nvSpPr>
              <p:cNvPr id="34" name="Line 23">
                <a:extLst>
                  <a:ext uri="{FF2B5EF4-FFF2-40B4-BE49-F238E27FC236}">
                    <a16:creationId xmlns:a16="http://schemas.microsoft.com/office/drawing/2014/main" id="{4D168C26-7A26-F58C-557D-48BAF12D6A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46" y="5514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b="1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35" name="Line 24">
                <a:extLst>
                  <a:ext uri="{FF2B5EF4-FFF2-40B4-BE49-F238E27FC236}">
                    <a16:creationId xmlns:a16="http://schemas.microsoft.com/office/drawing/2014/main" id="{B9A64D75-9AC8-898A-7D01-B25DF473CC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170" y="5508"/>
                <a:ext cx="78" cy="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b="1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36" name="Line 25">
                <a:extLst>
                  <a:ext uri="{FF2B5EF4-FFF2-40B4-BE49-F238E27FC236}">
                    <a16:creationId xmlns:a16="http://schemas.microsoft.com/office/drawing/2014/main" id="{BF669A60-5D61-3F10-C90D-A0D957FC1E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374" y="5502"/>
                <a:ext cx="78" cy="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b="1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37" name="Line 26">
                <a:extLst>
                  <a:ext uri="{FF2B5EF4-FFF2-40B4-BE49-F238E27FC236}">
                    <a16:creationId xmlns:a16="http://schemas.microsoft.com/office/drawing/2014/main" id="{7B25EFB7-53CB-8EE5-E919-8B59996064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278" y="5508"/>
                <a:ext cx="78" cy="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b="1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38" name="Line 27">
                <a:extLst>
                  <a:ext uri="{FF2B5EF4-FFF2-40B4-BE49-F238E27FC236}">
                    <a16:creationId xmlns:a16="http://schemas.microsoft.com/office/drawing/2014/main" id="{C0C2A648-6F83-78AF-2970-251352D7CC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074" y="5502"/>
                <a:ext cx="78" cy="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b="1"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39" name="Line 28">
              <a:extLst>
                <a:ext uri="{FF2B5EF4-FFF2-40B4-BE49-F238E27FC236}">
                  <a16:creationId xmlns:a16="http://schemas.microsoft.com/office/drawing/2014/main" id="{913E2B12-CBB6-40D9-F6B6-0E1BE856F1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09583" y="2172070"/>
              <a:ext cx="14194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40" name="Rectangle 29">
              <a:extLst>
                <a:ext uri="{FF2B5EF4-FFF2-40B4-BE49-F238E27FC236}">
                  <a16:creationId xmlns:a16="http://schemas.microsoft.com/office/drawing/2014/main" id="{85296CD0-81EE-AF4F-5773-5832C31509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4930" y="2352588"/>
              <a:ext cx="101387" cy="4578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41" name="Rectangle 30">
              <a:extLst>
                <a:ext uri="{FF2B5EF4-FFF2-40B4-BE49-F238E27FC236}">
                  <a16:creationId xmlns:a16="http://schemas.microsoft.com/office/drawing/2014/main" id="{C8BA758C-44BA-A681-B856-D29DF3A50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1957" y="2352588"/>
              <a:ext cx="101387" cy="4578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42" name="Line 31">
              <a:extLst>
                <a:ext uri="{FF2B5EF4-FFF2-40B4-BE49-F238E27FC236}">
                  <a16:creationId xmlns:a16="http://schemas.microsoft.com/office/drawing/2014/main" id="{AB87897B-A9FB-86B9-EF18-88F88B2440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38871" y="4307928"/>
              <a:ext cx="244341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43" name="Rectangle 32">
              <a:extLst>
                <a:ext uri="{FF2B5EF4-FFF2-40B4-BE49-F238E27FC236}">
                  <a16:creationId xmlns:a16="http://schemas.microsoft.com/office/drawing/2014/main" id="{E13A3085-7411-B076-D04C-8820D25E5F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7594" y="3692525"/>
              <a:ext cx="101387" cy="4578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44" name="Rectangle 33">
              <a:extLst>
                <a:ext uri="{FF2B5EF4-FFF2-40B4-BE49-F238E27FC236}">
                  <a16:creationId xmlns:a16="http://schemas.microsoft.com/office/drawing/2014/main" id="{5DC83C40-C6A5-CDA0-0FCD-D2F38CD5C0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0705" y="3692525"/>
              <a:ext cx="101387" cy="4578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45" name="Line 34">
              <a:extLst>
                <a:ext uri="{FF2B5EF4-FFF2-40B4-BE49-F238E27FC236}">
                  <a16:creationId xmlns:a16="http://schemas.microsoft.com/office/drawing/2014/main" id="{47B6BBA5-AB7B-9664-B67C-1B355D1F83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28732" y="3318360"/>
              <a:ext cx="31936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46" name="Line 35">
              <a:extLst>
                <a:ext uri="{FF2B5EF4-FFF2-40B4-BE49-F238E27FC236}">
                  <a16:creationId xmlns:a16="http://schemas.microsoft.com/office/drawing/2014/main" id="{6634D86F-E51C-8F13-FF54-4995AB7436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732" y="3318360"/>
              <a:ext cx="0" cy="9846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47" name="Line 36">
              <a:extLst>
                <a:ext uri="{FF2B5EF4-FFF2-40B4-BE49-F238E27FC236}">
                  <a16:creationId xmlns:a16="http://schemas.microsoft.com/office/drawing/2014/main" id="{AAF38FD4-B7B6-06F9-E0F1-8DF2F99E6D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8100" y="3229742"/>
              <a:ext cx="0" cy="1723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48" name="Line 37">
              <a:extLst>
                <a:ext uri="{FF2B5EF4-FFF2-40B4-BE49-F238E27FC236}">
                  <a16:creationId xmlns:a16="http://schemas.microsoft.com/office/drawing/2014/main" id="{A7EEF6F4-7D38-45ED-23AF-477F6384A0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24140" y="3229742"/>
              <a:ext cx="0" cy="1723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49" name="Oval 38">
              <a:extLst>
                <a:ext uri="{FF2B5EF4-FFF2-40B4-BE49-F238E27FC236}">
                  <a16:creationId xmlns:a16="http://schemas.microsoft.com/office/drawing/2014/main" id="{069A02C9-A3E0-F941-8B80-36ED7F862E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6375" y="3853350"/>
              <a:ext cx="329506" cy="33477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50" name="Line 39">
              <a:extLst>
                <a:ext uri="{FF2B5EF4-FFF2-40B4-BE49-F238E27FC236}">
                  <a16:creationId xmlns:a16="http://schemas.microsoft.com/office/drawing/2014/main" id="{221CC537-CCE6-8A73-44A3-D34AEF9931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2243" y="3146047"/>
              <a:ext cx="5474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51" name="Line 40">
              <a:extLst>
                <a:ext uri="{FF2B5EF4-FFF2-40B4-BE49-F238E27FC236}">
                  <a16:creationId xmlns:a16="http://schemas.microsoft.com/office/drawing/2014/main" id="{07F8C87E-0C59-8293-196B-34789AC236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29336" y="3032813"/>
              <a:ext cx="0" cy="22154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52" name="Line 41">
              <a:extLst>
                <a:ext uri="{FF2B5EF4-FFF2-40B4-BE49-F238E27FC236}">
                  <a16:creationId xmlns:a16="http://schemas.microsoft.com/office/drawing/2014/main" id="{1D3255D3-C485-006A-34B7-B5CF93B644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10840" y="3032813"/>
              <a:ext cx="0" cy="22154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53" name="Line 42">
              <a:extLst>
                <a:ext uri="{FF2B5EF4-FFF2-40B4-BE49-F238E27FC236}">
                  <a16:creationId xmlns:a16="http://schemas.microsoft.com/office/drawing/2014/main" id="{2DF8A478-B47C-490E-0E55-B52A269A79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15910" y="3146047"/>
              <a:ext cx="4562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54" name="Line 43">
              <a:extLst>
                <a:ext uri="{FF2B5EF4-FFF2-40B4-BE49-F238E27FC236}">
                  <a16:creationId xmlns:a16="http://schemas.microsoft.com/office/drawing/2014/main" id="{15DA0E78-57AD-B3CE-8B90-4339D12AA3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77219" y="3146047"/>
              <a:ext cx="0" cy="11569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55" name="Rectangle 44">
              <a:extLst>
                <a:ext uri="{FF2B5EF4-FFF2-40B4-BE49-F238E27FC236}">
                  <a16:creationId xmlns:a16="http://schemas.microsoft.com/office/drawing/2014/main" id="{125D68ED-8F7D-7BF3-CC29-60956B848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1456" y="3480826"/>
              <a:ext cx="101387" cy="4578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56" name="Rectangle 45">
              <a:extLst>
                <a:ext uri="{FF2B5EF4-FFF2-40B4-BE49-F238E27FC236}">
                  <a16:creationId xmlns:a16="http://schemas.microsoft.com/office/drawing/2014/main" id="{CCE3F997-4285-FE7E-57C4-611971C0C1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7762" y="3444723"/>
              <a:ext cx="126733" cy="33477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57" name="Line 46">
              <a:extLst>
                <a:ext uri="{FF2B5EF4-FFF2-40B4-BE49-F238E27FC236}">
                  <a16:creationId xmlns:a16="http://schemas.microsoft.com/office/drawing/2014/main" id="{6EC281B3-7FA4-7A67-68D9-61F0A77F5F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7313" y="3498878"/>
              <a:ext cx="41568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58" name="Line 47">
              <a:extLst>
                <a:ext uri="{FF2B5EF4-FFF2-40B4-BE49-F238E27FC236}">
                  <a16:creationId xmlns:a16="http://schemas.microsoft.com/office/drawing/2014/main" id="{C246B402-E5D8-2E76-CE64-A6AB6A8EC8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02998" y="3498878"/>
              <a:ext cx="0" cy="32000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59" name="Line 48">
              <a:extLst>
                <a:ext uri="{FF2B5EF4-FFF2-40B4-BE49-F238E27FC236}">
                  <a16:creationId xmlns:a16="http://schemas.microsoft.com/office/drawing/2014/main" id="{679A8BEE-A4F3-11D9-6416-063CF862F3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92859" y="3892736"/>
              <a:ext cx="0" cy="4037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60" name="Line 49">
              <a:extLst>
                <a:ext uri="{FF2B5EF4-FFF2-40B4-BE49-F238E27FC236}">
                  <a16:creationId xmlns:a16="http://schemas.microsoft.com/office/drawing/2014/main" id="{D38B50C1-FF8B-B630-6818-EA531315C0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91472" y="3818888"/>
              <a:ext cx="2129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61" name="Line 50">
              <a:extLst>
                <a:ext uri="{FF2B5EF4-FFF2-40B4-BE49-F238E27FC236}">
                  <a16:creationId xmlns:a16="http://schemas.microsoft.com/office/drawing/2014/main" id="{45132F8E-A3DF-A8F8-5FAC-2083E2B432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91472" y="3892736"/>
              <a:ext cx="2129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62" name="Text Box 13">
              <a:extLst>
                <a:ext uri="{FF2B5EF4-FFF2-40B4-BE49-F238E27FC236}">
                  <a16:creationId xmlns:a16="http://schemas.microsoft.com/office/drawing/2014/main" id="{89FDD6EE-C533-E6E4-C4F8-3D4F90AFFE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01260" y="1984166"/>
              <a:ext cx="532280" cy="2822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V</a:t>
              </a:r>
              <a:r>
                <a:rPr kumimoji="0" lang="fr-FR" sz="11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CC</a:t>
              </a:r>
              <a:endParaRPr kumimoji="0" 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CF13BBA7-C870-1916-05D6-0E0D3046CD46}"/>
              </a:ext>
            </a:extLst>
          </p:cNvPr>
          <p:cNvSpPr txBox="1"/>
          <p:nvPr/>
        </p:nvSpPr>
        <p:spPr>
          <a:xfrm>
            <a:off x="568170" y="1238433"/>
            <a:ext cx="491822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600" dirty="0">
                <a:latin typeface="Bookman Old Style" panose="02050604050505020204" pitchFamily="18" charset="0"/>
              </a:rPr>
              <a:t>On considère un étage amplificateur à base de transistor bipolaire monté en </a:t>
            </a:r>
            <a:r>
              <a:rPr lang="fr-FR" sz="1600" b="1" dirty="0">
                <a:latin typeface="Bookman Old Style" panose="02050604050505020204" pitchFamily="18" charset="0"/>
              </a:rPr>
              <a:t>EC</a:t>
            </a:r>
            <a:r>
              <a:rPr lang="fr-FR" sz="1600" dirty="0">
                <a:latin typeface="Bookman Old Style" panose="02050604050505020204" pitchFamily="18" charset="0"/>
              </a:rPr>
              <a:t>. </a:t>
            </a:r>
          </a:p>
          <a:p>
            <a:pPr algn="just"/>
            <a:r>
              <a:rPr lang="fr-FR" sz="1600" dirty="0">
                <a:latin typeface="Bookman Old Style" panose="02050604050505020204" pitchFamily="18" charset="0"/>
              </a:rPr>
              <a:t>On applique à </a:t>
            </a:r>
            <a:r>
              <a:rPr lang="fr-FR" sz="1600" b="1" dirty="0">
                <a:latin typeface="Bookman Old Style" panose="02050604050505020204" pitchFamily="18" charset="0"/>
              </a:rPr>
              <a:t>l'entrée une tension variable </a:t>
            </a:r>
            <a:r>
              <a:rPr lang="fr-FR" sz="1600" dirty="0">
                <a:latin typeface="Bookman Old Style" panose="02050604050505020204" pitchFamily="18" charset="0"/>
              </a:rPr>
              <a:t>(ex: sinusoïdale) de fréquence </a:t>
            </a:r>
            <a:r>
              <a:rPr lang="fr-FR" sz="1600" b="1" i="1" dirty="0">
                <a:latin typeface="Bookman Old Style" panose="02050604050505020204" pitchFamily="18" charset="0"/>
              </a:rPr>
              <a:t>f</a:t>
            </a:r>
            <a:r>
              <a:rPr lang="fr-FR" sz="1600" dirty="0">
                <a:latin typeface="Bookman Old Style" panose="02050604050505020204" pitchFamily="18" charset="0"/>
              </a:rPr>
              <a:t> et d'amplitude E, </a:t>
            </a:r>
            <a:r>
              <a:rPr lang="fr-FR" sz="1600" dirty="0" err="1">
                <a:latin typeface="Bookman Old Style" panose="02050604050505020204" pitchFamily="18" charset="0"/>
              </a:rPr>
              <a:t>v</a:t>
            </a:r>
            <a:r>
              <a:rPr lang="fr-FR" sz="1600" baseline="-25000" dirty="0" err="1">
                <a:latin typeface="Bookman Old Style" panose="02050604050505020204" pitchFamily="18" charset="0"/>
              </a:rPr>
              <a:t>e</a:t>
            </a:r>
            <a:r>
              <a:rPr lang="fr-FR" sz="1600" dirty="0">
                <a:latin typeface="Bookman Old Style" panose="02050604050505020204" pitchFamily="18" charset="0"/>
              </a:rPr>
              <a:t>(t)=</a:t>
            </a:r>
            <a:r>
              <a:rPr lang="fr-FR" sz="1600" dirty="0" err="1">
                <a:latin typeface="Bookman Old Style" panose="02050604050505020204" pitchFamily="18" charset="0"/>
              </a:rPr>
              <a:t>Esin</a:t>
            </a:r>
            <a:r>
              <a:rPr lang="fr-FR" sz="1600" dirty="0">
                <a:latin typeface="Bookman Old Style" panose="02050604050505020204" pitchFamily="18" charset="0"/>
              </a:rPr>
              <a:t>(2p</a:t>
            </a:r>
            <a:r>
              <a:rPr lang="fr-FR" sz="1600" i="1" dirty="0">
                <a:latin typeface="Bookman Old Style" panose="02050604050505020204" pitchFamily="18" charset="0"/>
              </a:rPr>
              <a:t>f </a:t>
            </a:r>
            <a:r>
              <a:rPr lang="fr-FR" sz="1600" dirty="0">
                <a:latin typeface="Bookman Old Style" panose="02050604050505020204" pitchFamily="18" charset="0"/>
              </a:rPr>
              <a:t>t).</a:t>
            </a:r>
          </a:p>
          <a:p>
            <a:pPr algn="just"/>
            <a:endParaRPr lang="fr-FR" sz="1600" dirty="0">
              <a:latin typeface="Bookman Old Style" panose="02050604050505020204" pitchFamily="18" charset="0"/>
            </a:endParaRPr>
          </a:p>
          <a:p>
            <a:pPr algn="just"/>
            <a:r>
              <a:rPr lang="fr-FR" sz="1600" dirty="0">
                <a:latin typeface="Bookman Old Style" panose="02050604050505020204" pitchFamily="18" charset="0"/>
              </a:rPr>
              <a:t> On insère dans le montage les </a:t>
            </a:r>
            <a:r>
              <a:rPr lang="fr-FR" sz="1600" b="1" dirty="0">
                <a:latin typeface="Bookman Old Style" panose="02050604050505020204" pitchFamily="18" charset="0"/>
              </a:rPr>
              <a:t>capacités</a:t>
            </a:r>
            <a:r>
              <a:rPr lang="fr-FR" sz="1600" dirty="0">
                <a:latin typeface="Bookman Old Style" panose="02050604050505020204" pitchFamily="18" charset="0"/>
              </a:rPr>
              <a:t> </a:t>
            </a:r>
            <a:r>
              <a:rPr lang="fr-FR" sz="1600" b="1" dirty="0">
                <a:latin typeface="Bookman Old Style" panose="02050604050505020204" pitchFamily="18" charset="0"/>
              </a:rPr>
              <a:t>C</a:t>
            </a:r>
            <a:r>
              <a:rPr lang="fr-FR" sz="1600" b="1" baseline="-25000" dirty="0">
                <a:latin typeface="Bookman Old Style" panose="02050604050505020204" pitchFamily="18" charset="0"/>
              </a:rPr>
              <a:t>1</a:t>
            </a:r>
            <a:r>
              <a:rPr lang="fr-FR" sz="1600" dirty="0">
                <a:latin typeface="Bookman Old Style" panose="02050604050505020204" pitchFamily="18" charset="0"/>
              </a:rPr>
              <a:t> et </a:t>
            </a:r>
            <a:r>
              <a:rPr lang="fr-FR" sz="1600" b="1" dirty="0">
                <a:latin typeface="Bookman Old Style" panose="02050604050505020204" pitchFamily="18" charset="0"/>
              </a:rPr>
              <a:t>C</a:t>
            </a:r>
            <a:r>
              <a:rPr lang="fr-FR" sz="1600" b="1" baseline="-25000" dirty="0">
                <a:latin typeface="Bookman Old Style" panose="02050604050505020204" pitchFamily="18" charset="0"/>
              </a:rPr>
              <a:t>2</a:t>
            </a:r>
            <a:r>
              <a:rPr lang="fr-FR" sz="1600" dirty="0">
                <a:latin typeface="Bookman Old Style" panose="02050604050505020204" pitchFamily="18" charset="0"/>
              </a:rPr>
              <a:t> dites de couplage et </a:t>
            </a:r>
            <a:r>
              <a:rPr lang="fr-FR" sz="1600" b="1" dirty="0">
                <a:latin typeface="Bookman Old Style" panose="02050604050505020204" pitchFamily="18" charset="0"/>
              </a:rPr>
              <a:t>C</a:t>
            </a:r>
            <a:r>
              <a:rPr lang="fr-FR" sz="1600" b="1" baseline="-25000" dirty="0">
                <a:latin typeface="Bookman Old Style" panose="02050604050505020204" pitchFamily="18" charset="0"/>
              </a:rPr>
              <a:t>E</a:t>
            </a:r>
            <a:r>
              <a:rPr lang="fr-FR" sz="1600" dirty="0">
                <a:latin typeface="Bookman Old Style" panose="02050604050505020204" pitchFamily="18" charset="0"/>
              </a:rPr>
              <a:t> dite de découplage.</a:t>
            </a:r>
          </a:p>
          <a:p>
            <a:pPr algn="just"/>
            <a:r>
              <a:rPr lang="fr-FR" sz="1600" dirty="0">
                <a:latin typeface="Bookman Old Style" panose="02050604050505020204" pitchFamily="18" charset="0"/>
              </a:rPr>
              <a:t> </a:t>
            </a:r>
          </a:p>
          <a:p>
            <a:pPr algn="just"/>
            <a:r>
              <a:rPr lang="fr-FR" sz="1600" dirty="0">
                <a:latin typeface="Bookman Old Style" panose="02050604050505020204" pitchFamily="18" charset="0"/>
              </a:rPr>
              <a:t>Travaillant avec de </a:t>
            </a:r>
            <a:r>
              <a:rPr lang="fr-FR" sz="1600" b="1" dirty="0">
                <a:latin typeface="Bookman Old Style" panose="02050604050505020204" pitchFamily="18" charset="0"/>
              </a:rPr>
              <a:t>faibles signaux et basses fréquences</a:t>
            </a:r>
            <a:r>
              <a:rPr lang="fr-FR" sz="1600" dirty="0">
                <a:latin typeface="Bookman Old Style" panose="02050604050505020204" pitchFamily="18" charset="0"/>
              </a:rPr>
              <a:t>, ces </a:t>
            </a:r>
            <a:r>
              <a:rPr lang="fr-FR" sz="1600" b="1" dirty="0">
                <a:latin typeface="Bookman Old Style" panose="02050604050505020204" pitchFamily="18" charset="0"/>
              </a:rPr>
              <a:t>capacités</a:t>
            </a:r>
            <a:r>
              <a:rPr lang="fr-FR" sz="1600" dirty="0">
                <a:latin typeface="Bookman Old Style" panose="02050604050505020204" pitchFamily="18" charset="0"/>
              </a:rPr>
              <a:t> sont considérées comme des </a:t>
            </a:r>
            <a:r>
              <a:rPr lang="fr-FR" sz="1600" b="1" dirty="0">
                <a:latin typeface="Bookman Old Style" panose="02050604050505020204" pitchFamily="18" charset="0"/>
              </a:rPr>
              <a:t>interrupteurs </a:t>
            </a:r>
            <a:r>
              <a:rPr lang="fr-FR" sz="1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ouverts</a:t>
            </a:r>
            <a:r>
              <a:rPr lang="fr-FR" sz="1600" b="1" dirty="0">
                <a:latin typeface="Bookman Old Style" panose="02050604050505020204" pitchFamily="18" charset="0"/>
              </a:rPr>
              <a:t> </a:t>
            </a:r>
            <a:r>
              <a:rPr lang="fr-FR" sz="1600" dirty="0">
                <a:latin typeface="Bookman Old Style" panose="02050604050505020204" pitchFamily="18" charset="0"/>
              </a:rPr>
              <a:t>(</a:t>
            </a:r>
            <a:r>
              <a:rPr lang="fr-FR" sz="1600" b="1" dirty="0">
                <a:latin typeface="Bookman Old Style" panose="02050604050505020204" pitchFamily="18" charset="0"/>
              </a:rPr>
              <a:t>en </a:t>
            </a:r>
            <a:r>
              <a:rPr lang="fr-FR" sz="1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statique </a:t>
            </a:r>
            <a:r>
              <a:rPr lang="fr-FR" sz="1600" b="1" dirty="0">
                <a:latin typeface="Bookman Old Style" panose="02050604050505020204" pitchFamily="18" charset="0"/>
              </a:rPr>
              <a:t>: </a:t>
            </a:r>
            <a:r>
              <a:rPr lang="fr-FR" sz="1600" b="1" i="1" dirty="0">
                <a:latin typeface="Bookman Old Style" panose="02050604050505020204" pitchFamily="18" charset="0"/>
              </a:rPr>
              <a:t>f</a:t>
            </a:r>
            <a:r>
              <a:rPr lang="fr-FR" sz="1600" b="1" dirty="0">
                <a:latin typeface="Bookman Old Style" panose="02050604050505020204" pitchFamily="18" charset="0"/>
              </a:rPr>
              <a:t> = 0</a:t>
            </a:r>
            <a:r>
              <a:rPr lang="fr-FR" sz="1600" dirty="0">
                <a:latin typeface="Bookman Old Style" panose="02050604050505020204" pitchFamily="18" charset="0"/>
              </a:rPr>
              <a:t>) et comme des </a:t>
            </a:r>
            <a:r>
              <a:rPr lang="fr-FR" sz="1600" b="1" dirty="0">
                <a:latin typeface="Bookman Old Style" panose="02050604050505020204" pitchFamily="18" charset="0"/>
              </a:rPr>
              <a:t>interrupteurs</a:t>
            </a:r>
            <a:r>
              <a:rPr lang="fr-FR" sz="1600" dirty="0">
                <a:latin typeface="Bookman Old Style" panose="02050604050505020204" pitchFamily="18" charset="0"/>
              </a:rPr>
              <a:t> </a:t>
            </a:r>
            <a:r>
              <a:rPr lang="fr-FR" sz="16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fermées</a:t>
            </a:r>
            <a:r>
              <a:rPr lang="fr-FR" sz="1600" dirty="0">
                <a:latin typeface="Bookman Old Style" panose="02050604050505020204" pitchFamily="18" charset="0"/>
              </a:rPr>
              <a:t> en </a:t>
            </a:r>
            <a:r>
              <a:rPr lang="fr-FR" sz="16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dynamique</a:t>
            </a:r>
            <a:r>
              <a:rPr lang="fr-FR" sz="1600" dirty="0">
                <a:latin typeface="Bookman Old Style" panose="0205060405050502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9861139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6"/>
            <a:ext cx="52086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-Transistor-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1620" y="507690"/>
            <a:ext cx="75917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Transistor bipolaire en régime variable et faibles signaux</a:t>
            </a: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715000" y="365260"/>
            <a:ext cx="3328256" cy="10117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46">
            <a:extLst>
              <a:ext uri="{FF2B5EF4-FFF2-40B4-BE49-F238E27FC236}">
                <a16:creationId xmlns:a16="http://schemas.microsoft.com/office/drawing/2014/main" id="{7198176F-4D83-4A98-1EFA-F78693C2B68B}"/>
              </a:ext>
            </a:extLst>
          </p:cNvPr>
          <p:cNvSpPr txBox="1"/>
          <p:nvPr/>
        </p:nvSpPr>
        <p:spPr>
          <a:xfrm>
            <a:off x="8828933" y="486598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59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3206C0-B920-4CD8-8FF9-7BD8ABA1AB10}"/>
              </a:ext>
            </a:extLst>
          </p:cNvPr>
          <p:cNvSpPr txBox="1"/>
          <p:nvPr/>
        </p:nvSpPr>
        <p:spPr>
          <a:xfrm>
            <a:off x="629165" y="825591"/>
            <a:ext cx="8685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600" b="1" spc="-5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defRPr>
            </a:lvl1pPr>
          </a:lstStyle>
          <a:p>
            <a:r>
              <a:rPr lang="fr-FR" sz="1400" dirty="0"/>
              <a:t>5.2 Transistor en amplification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3DFB1DAA-6FBE-8B21-C637-F183EFBBD76A}"/>
              </a:ext>
            </a:extLst>
          </p:cNvPr>
          <p:cNvGrpSpPr/>
          <p:nvPr/>
        </p:nvGrpSpPr>
        <p:grpSpPr>
          <a:xfrm>
            <a:off x="6118703" y="1347462"/>
            <a:ext cx="3128986" cy="2515868"/>
            <a:chOff x="3662354" y="1984166"/>
            <a:chExt cx="3357586" cy="2464894"/>
          </a:xfrm>
        </p:grpSpPr>
        <p:sp>
          <p:nvSpPr>
            <p:cNvPr id="3" name="Text Box 3">
              <a:extLst>
                <a:ext uri="{FF2B5EF4-FFF2-40B4-BE49-F238E27FC236}">
                  <a16:creationId xmlns:a16="http://schemas.microsoft.com/office/drawing/2014/main" id="{1E2D13A4-15E2-42B5-5931-A04C63A871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2354" y="3892736"/>
              <a:ext cx="420754" cy="34462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e</a:t>
              </a:r>
              <a:r>
                <a:rPr kumimoji="0" lang="fr-FR" sz="11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g</a:t>
              </a:r>
              <a:endParaRPr kumimoji="0" 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5" name="Text Box 4">
              <a:extLst>
                <a:ext uri="{FF2B5EF4-FFF2-40B4-BE49-F238E27FC236}">
                  <a16:creationId xmlns:a16="http://schemas.microsoft.com/office/drawing/2014/main" id="{8B768BEC-4454-9703-B19E-0D6480AA6C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8394" y="3434876"/>
              <a:ext cx="420754" cy="34462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r</a:t>
              </a:r>
              <a:r>
                <a:rPr kumimoji="0" lang="fr-FR" sz="11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g</a:t>
              </a:r>
              <a:endParaRPr kumimoji="0" 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11" name="Text Box 5">
              <a:extLst>
                <a:ext uri="{FF2B5EF4-FFF2-40B4-BE49-F238E27FC236}">
                  <a16:creationId xmlns:a16="http://schemas.microsoft.com/office/drawing/2014/main" id="{6EF70EC8-7C3D-B15F-C4C2-D58928549C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82720" y="3813144"/>
              <a:ext cx="456240" cy="3700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C</a:t>
              </a:r>
              <a:r>
                <a:rPr kumimoji="0" lang="fr-FR" sz="11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E</a:t>
              </a:r>
              <a:endParaRPr kumimoji="0" 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13" name="Text Box 6">
              <a:extLst>
                <a:ext uri="{FF2B5EF4-FFF2-40B4-BE49-F238E27FC236}">
                  <a16:creationId xmlns:a16="http://schemas.microsoft.com/office/drawing/2014/main" id="{1BF89A7E-1656-6EAF-AC42-89B0AAEA51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0951" y="2932708"/>
              <a:ext cx="456240" cy="3700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C</a:t>
              </a:r>
              <a:r>
                <a:rPr kumimoji="0" lang="fr-FR" sz="11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1</a:t>
              </a:r>
              <a:endParaRPr kumimoji="0" 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16" name="Text Box 7">
              <a:extLst>
                <a:ext uri="{FF2B5EF4-FFF2-40B4-BE49-F238E27FC236}">
                  <a16:creationId xmlns:a16="http://schemas.microsoft.com/office/drawing/2014/main" id="{19082547-BB1F-3071-5951-E3079632DE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82720" y="2745625"/>
              <a:ext cx="456240" cy="3700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C</a:t>
              </a:r>
              <a:r>
                <a:rPr kumimoji="0" lang="fr-FR" sz="11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2</a:t>
              </a:r>
              <a:endParaRPr kumimoji="0" 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17" name="Text Box 8">
              <a:extLst>
                <a:ext uri="{FF2B5EF4-FFF2-40B4-BE49-F238E27FC236}">
                  <a16:creationId xmlns:a16="http://schemas.microsoft.com/office/drawing/2014/main" id="{AE05C198-6152-5586-DA53-3DE462AEC2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67080" y="3562880"/>
              <a:ext cx="452860" cy="3700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R</a:t>
              </a:r>
              <a:r>
                <a:rPr kumimoji="0" lang="fr-FR" sz="11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L</a:t>
              </a:r>
              <a:endParaRPr kumimoji="0" 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20" name="Text Box 9">
              <a:extLst>
                <a:ext uri="{FF2B5EF4-FFF2-40B4-BE49-F238E27FC236}">
                  <a16:creationId xmlns:a16="http://schemas.microsoft.com/office/drawing/2014/main" id="{94EA3BF2-C3EC-CF63-808B-9E3A1D5976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800" y="3763912"/>
              <a:ext cx="452860" cy="3700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R</a:t>
              </a:r>
              <a:r>
                <a:rPr kumimoji="0" lang="fr-FR" sz="11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2</a:t>
              </a:r>
              <a:endParaRPr kumimoji="0" 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21" name="Text Box 10">
              <a:extLst>
                <a:ext uri="{FF2B5EF4-FFF2-40B4-BE49-F238E27FC236}">
                  <a16:creationId xmlns:a16="http://schemas.microsoft.com/office/drawing/2014/main" id="{675569D8-33A2-50D6-758E-6BC02B3FF4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6329" y="3786066"/>
              <a:ext cx="452860" cy="3700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R</a:t>
              </a:r>
              <a:r>
                <a:rPr kumimoji="0" lang="fr-FR" sz="11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E</a:t>
              </a:r>
              <a:endParaRPr kumimoji="0" 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22" name="Text Box 11">
              <a:extLst>
                <a:ext uri="{FF2B5EF4-FFF2-40B4-BE49-F238E27FC236}">
                  <a16:creationId xmlns:a16="http://schemas.microsoft.com/office/drawing/2014/main" id="{9D46E970-B31B-9711-F976-9532113618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800" y="2410026"/>
              <a:ext cx="452860" cy="3700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R</a:t>
              </a:r>
              <a:r>
                <a:rPr kumimoji="0" lang="fr-FR" sz="11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1</a:t>
              </a:r>
              <a:endParaRPr kumimoji="0" 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23" name="Text Box 12">
              <a:extLst>
                <a:ext uri="{FF2B5EF4-FFF2-40B4-BE49-F238E27FC236}">
                  <a16:creationId xmlns:a16="http://schemas.microsoft.com/office/drawing/2014/main" id="{82D7551A-77C3-3025-6B6B-C35155BB5E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63656" y="2536388"/>
              <a:ext cx="452860" cy="3700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R</a:t>
              </a:r>
              <a:r>
                <a:rPr kumimoji="0" lang="fr-FR" sz="1100" b="1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C</a:t>
              </a:r>
              <a:endParaRPr kumimoji="0" 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25" name="Line 14">
              <a:extLst>
                <a:ext uri="{FF2B5EF4-FFF2-40B4-BE49-F238E27FC236}">
                  <a16:creationId xmlns:a16="http://schemas.microsoft.com/office/drawing/2014/main" id="{65773047-6F3B-ADCF-3E4E-E69F73065A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6923" y="3191177"/>
              <a:ext cx="0" cy="28554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26" name="Line 15">
              <a:extLst>
                <a:ext uri="{FF2B5EF4-FFF2-40B4-BE49-F238E27FC236}">
                  <a16:creationId xmlns:a16="http://schemas.microsoft.com/office/drawing/2014/main" id="{77323BE8-828F-B3AC-D669-B2E037EA7A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26784" y="3166561"/>
              <a:ext cx="162219" cy="1624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27" name="Line 16">
              <a:extLst>
                <a:ext uri="{FF2B5EF4-FFF2-40B4-BE49-F238E27FC236}">
                  <a16:creationId xmlns:a16="http://schemas.microsoft.com/office/drawing/2014/main" id="{595D0E3B-A8A4-F054-9B5C-FD1050634D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6784" y="3329027"/>
              <a:ext cx="162219" cy="15754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28" name="Line 17">
              <a:extLst>
                <a:ext uri="{FF2B5EF4-FFF2-40B4-BE49-F238E27FC236}">
                  <a16:creationId xmlns:a16="http://schemas.microsoft.com/office/drawing/2014/main" id="{9E49993B-2E8F-D6D7-AC21-52F85B8DCC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82243" y="3486570"/>
              <a:ext cx="1690" cy="9017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29" name="Line 18">
              <a:extLst>
                <a:ext uri="{FF2B5EF4-FFF2-40B4-BE49-F238E27FC236}">
                  <a16:creationId xmlns:a16="http://schemas.microsoft.com/office/drawing/2014/main" id="{7FA7A8A3-B08C-54DF-AF7F-801F5CA37C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83933" y="2181916"/>
              <a:ext cx="0" cy="9846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30" name="Line 19">
              <a:extLst>
                <a:ext uri="{FF2B5EF4-FFF2-40B4-BE49-F238E27FC236}">
                  <a16:creationId xmlns:a16="http://schemas.microsoft.com/office/drawing/2014/main" id="{D1D1677E-67DF-28FB-981F-1A7C5C9DA0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29209" y="3318360"/>
              <a:ext cx="79757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31" name="Line 20">
              <a:extLst>
                <a:ext uri="{FF2B5EF4-FFF2-40B4-BE49-F238E27FC236}">
                  <a16:creationId xmlns:a16="http://schemas.microsoft.com/office/drawing/2014/main" id="{0253E7AE-7412-15B8-A4AF-83C8EAC4D1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84062" y="2278740"/>
              <a:ext cx="0" cy="20242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32" name="Line 21">
              <a:extLst>
                <a:ext uri="{FF2B5EF4-FFF2-40B4-BE49-F238E27FC236}">
                  <a16:creationId xmlns:a16="http://schemas.microsoft.com/office/drawing/2014/main" id="{71454A8C-D053-40E3-2C7A-4402ABCDC3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5891" y="2280381"/>
              <a:ext cx="58297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grpSp>
          <p:nvGrpSpPr>
            <p:cNvPr id="33" name="Group 22">
              <a:extLst>
                <a:ext uri="{FF2B5EF4-FFF2-40B4-BE49-F238E27FC236}">
                  <a16:creationId xmlns:a16="http://schemas.microsoft.com/office/drawing/2014/main" id="{CFEF1192-5285-6F41-3134-98490C2090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09041" y="4385058"/>
              <a:ext cx="319368" cy="64002"/>
              <a:chOff x="9074" y="5502"/>
              <a:chExt cx="378" cy="78"/>
            </a:xfrm>
          </p:grpSpPr>
          <p:sp>
            <p:nvSpPr>
              <p:cNvPr id="34" name="Line 23">
                <a:extLst>
                  <a:ext uri="{FF2B5EF4-FFF2-40B4-BE49-F238E27FC236}">
                    <a16:creationId xmlns:a16="http://schemas.microsoft.com/office/drawing/2014/main" id="{4D168C26-7A26-F58C-557D-48BAF12D6A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46" y="5514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b="1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35" name="Line 24">
                <a:extLst>
                  <a:ext uri="{FF2B5EF4-FFF2-40B4-BE49-F238E27FC236}">
                    <a16:creationId xmlns:a16="http://schemas.microsoft.com/office/drawing/2014/main" id="{B9A64D75-9AC8-898A-7D01-B25DF473CC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170" y="5508"/>
                <a:ext cx="78" cy="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b="1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36" name="Line 25">
                <a:extLst>
                  <a:ext uri="{FF2B5EF4-FFF2-40B4-BE49-F238E27FC236}">
                    <a16:creationId xmlns:a16="http://schemas.microsoft.com/office/drawing/2014/main" id="{BF669A60-5D61-3F10-C90D-A0D957FC1E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374" y="5502"/>
                <a:ext cx="78" cy="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b="1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37" name="Line 26">
                <a:extLst>
                  <a:ext uri="{FF2B5EF4-FFF2-40B4-BE49-F238E27FC236}">
                    <a16:creationId xmlns:a16="http://schemas.microsoft.com/office/drawing/2014/main" id="{7B25EFB7-53CB-8EE5-E919-8B59996064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278" y="5508"/>
                <a:ext cx="78" cy="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b="1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38" name="Line 27">
                <a:extLst>
                  <a:ext uri="{FF2B5EF4-FFF2-40B4-BE49-F238E27FC236}">
                    <a16:creationId xmlns:a16="http://schemas.microsoft.com/office/drawing/2014/main" id="{C0C2A648-6F83-78AF-2970-251352D7CC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074" y="5502"/>
                <a:ext cx="78" cy="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b="1"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39" name="Line 28">
              <a:extLst>
                <a:ext uri="{FF2B5EF4-FFF2-40B4-BE49-F238E27FC236}">
                  <a16:creationId xmlns:a16="http://schemas.microsoft.com/office/drawing/2014/main" id="{913E2B12-CBB6-40D9-F6B6-0E1BE856F1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09583" y="2172070"/>
              <a:ext cx="14194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40" name="Rectangle 29">
              <a:extLst>
                <a:ext uri="{FF2B5EF4-FFF2-40B4-BE49-F238E27FC236}">
                  <a16:creationId xmlns:a16="http://schemas.microsoft.com/office/drawing/2014/main" id="{85296CD0-81EE-AF4F-5773-5832C31509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4930" y="2352588"/>
              <a:ext cx="101387" cy="4578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41" name="Rectangle 30">
              <a:extLst>
                <a:ext uri="{FF2B5EF4-FFF2-40B4-BE49-F238E27FC236}">
                  <a16:creationId xmlns:a16="http://schemas.microsoft.com/office/drawing/2014/main" id="{C8BA758C-44BA-A681-B856-D29DF3A50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1957" y="2352588"/>
              <a:ext cx="101387" cy="4578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42" name="Line 31">
              <a:extLst>
                <a:ext uri="{FF2B5EF4-FFF2-40B4-BE49-F238E27FC236}">
                  <a16:creationId xmlns:a16="http://schemas.microsoft.com/office/drawing/2014/main" id="{AB87897B-A9FB-86B9-EF18-88F88B2440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38871" y="4307928"/>
              <a:ext cx="244341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43" name="Rectangle 32">
              <a:extLst>
                <a:ext uri="{FF2B5EF4-FFF2-40B4-BE49-F238E27FC236}">
                  <a16:creationId xmlns:a16="http://schemas.microsoft.com/office/drawing/2014/main" id="{E13A3085-7411-B076-D04C-8820D25E5F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7594" y="3692525"/>
              <a:ext cx="101387" cy="4578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44" name="Rectangle 33">
              <a:extLst>
                <a:ext uri="{FF2B5EF4-FFF2-40B4-BE49-F238E27FC236}">
                  <a16:creationId xmlns:a16="http://schemas.microsoft.com/office/drawing/2014/main" id="{5DC83C40-C6A5-CDA0-0FCD-D2F38CD5C0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0705" y="3692525"/>
              <a:ext cx="101387" cy="4578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45" name="Line 34">
              <a:extLst>
                <a:ext uri="{FF2B5EF4-FFF2-40B4-BE49-F238E27FC236}">
                  <a16:creationId xmlns:a16="http://schemas.microsoft.com/office/drawing/2014/main" id="{47B6BBA5-AB7B-9664-B67C-1B355D1F83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28732" y="3318360"/>
              <a:ext cx="31936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46" name="Line 35">
              <a:extLst>
                <a:ext uri="{FF2B5EF4-FFF2-40B4-BE49-F238E27FC236}">
                  <a16:creationId xmlns:a16="http://schemas.microsoft.com/office/drawing/2014/main" id="{6634D86F-E51C-8F13-FF54-4995AB7436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732" y="3318360"/>
              <a:ext cx="0" cy="9846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47" name="Line 36">
              <a:extLst>
                <a:ext uri="{FF2B5EF4-FFF2-40B4-BE49-F238E27FC236}">
                  <a16:creationId xmlns:a16="http://schemas.microsoft.com/office/drawing/2014/main" id="{AAF38FD4-B7B6-06F9-E0F1-8DF2F99E6D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8100" y="3229742"/>
              <a:ext cx="0" cy="1723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48" name="Line 37">
              <a:extLst>
                <a:ext uri="{FF2B5EF4-FFF2-40B4-BE49-F238E27FC236}">
                  <a16:creationId xmlns:a16="http://schemas.microsoft.com/office/drawing/2014/main" id="{A7EEF6F4-7D38-45ED-23AF-477F6384A0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24140" y="3229742"/>
              <a:ext cx="0" cy="1723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49" name="Oval 38">
              <a:extLst>
                <a:ext uri="{FF2B5EF4-FFF2-40B4-BE49-F238E27FC236}">
                  <a16:creationId xmlns:a16="http://schemas.microsoft.com/office/drawing/2014/main" id="{069A02C9-A3E0-F941-8B80-36ED7F862E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6375" y="3853350"/>
              <a:ext cx="329506" cy="33477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50" name="Line 39">
              <a:extLst>
                <a:ext uri="{FF2B5EF4-FFF2-40B4-BE49-F238E27FC236}">
                  <a16:creationId xmlns:a16="http://schemas.microsoft.com/office/drawing/2014/main" id="{221CC537-CCE6-8A73-44A3-D34AEF9931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2243" y="3146047"/>
              <a:ext cx="5474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51" name="Line 40">
              <a:extLst>
                <a:ext uri="{FF2B5EF4-FFF2-40B4-BE49-F238E27FC236}">
                  <a16:creationId xmlns:a16="http://schemas.microsoft.com/office/drawing/2014/main" id="{07F8C87E-0C59-8293-196B-34789AC236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29336" y="3032813"/>
              <a:ext cx="0" cy="22154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52" name="Line 41">
              <a:extLst>
                <a:ext uri="{FF2B5EF4-FFF2-40B4-BE49-F238E27FC236}">
                  <a16:creationId xmlns:a16="http://schemas.microsoft.com/office/drawing/2014/main" id="{1D3255D3-C485-006A-34B7-B5CF93B644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10840" y="3032813"/>
              <a:ext cx="0" cy="22154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53" name="Line 42">
              <a:extLst>
                <a:ext uri="{FF2B5EF4-FFF2-40B4-BE49-F238E27FC236}">
                  <a16:creationId xmlns:a16="http://schemas.microsoft.com/office/drawing/2014/main" id="{2DF8A478-B47C-490E-0E55-B52A269A79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15910" y="3146047"/>
              <a:ext cx="4562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54" name="Line 43">
              <a:extLst>
                <a:ext uri="{FF2B5EF4-FFF2-40B4-BE49-F238E27FC236}">
                  <a16:creationId xmlns:a16="http://schemas.microsoft.com/office/drawing/2014/main" id="{15DA0E78-57AD-B3CE-8B90-4339D12AA3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77219" y="3146047"/>
              <a:ext cx="0" cy="11569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55" name="Rectangle 44">
              <a:extLst>
                <a:ext uri="{FF2B5EF4-FFF2-40B4-BE49-F238E27FC236}">
                  <a16:creationId xmlns:a16="http://schemas.microsoft.com/office/drawing/2014/main" id="{125D68ED-8F7D-7BF3-CC29-60956B848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1456" y="3480826"/>
              <a:ext cx="101387" cy="4578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56" name="Rectangle 45">
              <a:extLst>
                <a:ext uri="{FF2B5EF4-FFF2-40B4-BE49-F238E27FC236}">
                  <a16:creationId xmlns:a16="http://schemas.microsoft.com/office/drawing/2014/main" id="{CCE3F997-4285-FE7E-57C4-611971C0C1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7762" y="3444723"/>
              <a:ext cx="126733" cy="33477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57" name="Line 46">
              <a:extLst>
                <a:ext uri="{FF2B5EF4-FFF2-40B4-BE49-F238E27FC236}">
                  <a16:creationId xmlns:a16="http://schemas.microsoft.com/office/drawing/2014/main" id="{6EC281B3-7FA4-7A67-68D9-61F0A77F5F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7313" y="3498878"/>
              <a:ext cx="41568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58" name="Line 47">
              <a:extLst>
                <a:ext uri="{FF2B5EF4-FFF2-40B4-BE49-F238E27FC236}">
                  <a16:creationId xmlns:a16="http://schemas.microsoft.com/office/drawing/2014/main" id="{C246B402-E5D8-2E76-CE64-A6AB6A8EC8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02998" y="3498878"/>
              <a:ext cx="0" cy="32000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59" name="Line 48">
              <a:extLst>
                <a:ext uri="{FF2B5EF4-FFF2-40B4-BE49-F238E27FC236}">
                  <a16:creationId xmlns:a16="http://schemas.microsoft.com/office/drawing/2014/main" id="{679A8BEE-A4F3-11D9-6416-063CF862F3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92859" y="3892736"/>
              <a:ext cx="0" cy="4037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60" name="Line 49">
              <a:extLst>
                <a:ext uri="{FF2B5EF4-FFF2-40B4-BE49-F238E27FC236}">
                  <a16:creationId xmlns:a16="http://schemas.microsoft.com/office/drawing/2014/main" id="{D38B50C1-FF8B-B630-6818-EA531315C0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91472" y="3818888"/>
              <a:ext cx="2129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61" name="Line 50">
              <a:extLst>
                <a:ext uri="{FF2B5EF4-FFF2-40B4-BE49-F238E27FC236}">
                  <a16:creationId xmlns:a16="http://schemas.microsoft.com/office/drawing/2014/main" id="{45132F8E-A3DF-A8F8-5FAC-2083E2B432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91472" y="3892736"/>
              <a:ext cx="2129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62" name="Text Box 13">
              <a:extLst>
                <a:ext uri="{FF2B5EF4-FFF2-40B4-BE49-F238E27FC236}">
                  <a16:creationId xmlns:a16="http://schemas.microsoft.com/office/drawing/2014/main" id="{89FDD6EE-C533-E6E4-C4F8-3D4F90AFFE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01260" y="1984166"/>
              <a:ext cx="532280" cy="2822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V</a:t>
              </a:r>
              <a:r>
                <a:rPr kumimoji="0" lang="fr-FR" sz="11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CC</a:t>
              </a:r>
              <a:endParaRPr kumimoji="0" 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D6D5FC77-DCD1-9B56-1E7F-46D61BAFB5B8}"/>
              </a:ext>
            </a:extLst>
          </p:cNvPr>
          <p:cNvSpPr txBox="1"/>
          <p:nvPr/>
        </p:nvSpPr>
        <p:spPr>
          <a:xfrm>
            <a:off x="574368" y="1137042"/>
            <a:ext cx="5669997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fr-FR" sz="1600" dirty="0">
                <a:latin typeface="Bookman Old Style" panose="02050604050505020204" pitchFamily="18" charset="0"/>
              </a:rPr>
              <a:t>Les résistances </a:t>
            </a:r>
            <a:r>
              <a:rPr lang="fr-FR" sz="1600" b="1" dirty="0">
                <a:latin typeface="Bookman Old Style" panose="02050604050505020204" pitchFamily="18" charset="0"/>
              </a:rPr>
              <a:t>R</a:t>
            </a:r>
            <a:r>
              <a:rPr lang="fr-FR" sz="1600" b="1" baseline="-25000" dirty="0">
                <a:latin typeface="Bookman Old Style" panose="02050604050505020204" pitchFamily="18" charset="0"/>
              </a:rPr>
              <a:t>1</a:t>
            </a:r>
            <a:r>
              <a:rPr lang="fr-FR" sz="1600" dirty="0">
                <a:latin typeface="Bookman Old Style" panose="02050604050505020204" pitchFamily="18" charset="0"/>
              </a:rPr>
              <a:t>, </a:t>
            </a:r>
            <a:r>
              <a:rPr lang="fr-FR" sz="1600" b="1" dirty="0">
                <a:latin typeface="Bookman Old Style" panose="02050604050505020204" pitchFamily="18" charset="0"/>
              </a:rPr>
              <a:t>R</a:t>
            </a:r>
            <a:r>
              <a:rPr lang="fr-FR" sz="1600" b="1" baseline="-25000" dirty="0">
                <a:latin typeface="Bookman Old Style" panose="02050604050505020204" pitchFamily="18" charset="0"/>
              </a:rPr>
              <a:t>2</a:t>
            </a:r>
            <a:r>
              <a:rPr lang="fr-FR" sz="1600" dirty="0">
                <a:latin typeface="Bookman Old Style" panose="02050604050505020204" pitchFamily="18" charset="0"/>
              </a:rPr>
              <a:t>, </a:t>
            </a:r>
            <a:r>
              <a:rPr lang="fr-FR" sz="1600" b="1" dirty="0">
                <a:latin typeface="Bookman Old Style" panose="02050604050505020204" pitchFamily="18" charset="0"/>
              </a:rPr>
              <a:t>R</a:t>
            </a:r>
            <a:r>
              <a:rPr lang="fr-FR" sz="1600" b="1" baseline="-25000" dirty="0">
                <a:latin typeface="Bookman Old Style" panose="02050604050505020204" pitchFamily="18" charset="0"/>
              </a:rPr>
              <a:t>C</a:t>
            </a:r>
            <a:r>
              <a:rPr lang="fr-FR" sz="1600" dirty="0">
                <a:latin typeface="Bookman Old Style" panose="02050604050505020204" pitchFamily="18" charset="0"/>
              </a:rPr>
              <a:t> et </a:t>
            </a:r>
            <a:r>
              <a:rPr lang="fr-FR" sz="1600" b="1" dirty="0">
                <a:latin typeface="Bookman Old Style" panose="02050604050505020204" pitchFamily="18" charset="0"/>
              </a:rPr>
              <a:t>R</a:t>
            </a:r>
            <a:r>
              <a:rPr lang="fr-FR" sz="1600" b="1" baseline="-25000" dirty="0">
                <a:latin typeface="Bookman Old Style" panose="02050604050505020204" pitchFamily="18" charset="0"/>
              </a:rPr>
              <a:t>E</a:t>
            </a:r>
            <a:r>
              <a:rPr lang="fr-FR" sz="1600" dirty="0">
                <a:latin typeface="Bookman Old Style" panose="02050604050505020204" pitchFamily="18" charset="0"/>
              </a:rPr>
              <a:t> permettent de </a:t>
            </a:r>
            <a:r>
              <a:rPr lang="fr-FR" sz="1600" b="1" dirty="0">
                <a:latin typeface="Bookman Old Style" panose="02050604050505020204" pitchFamily="18" charset="0"/>
              </a:rPr>
              <a:t>fixer</a:t>
            </a:r>
            <a:r>
              <a:rPr lang="fr-FR" sz="1600" dirty="0">
                <a:latin typeface="Bookman Old Style" panose="02050604050505020204" pitchFamily="18" charset="0"/>
              </a:rPr>
              <a:t> le point de </a:t>
            </a:r>
            <a:r>
              <a:rPr lang="fr-FR" sz="1600" b="1" dirty="0">
                <a:latin typeface="Bookman Old Style" panose="02050604050505020204" pitchFamily="18" charset="0"/>
              </a:rPr>
              <a:t>fonctionnement</a:t>
            </a:r>
            <a:r>
              <a:rPr lang="fr-FR" sz="1600" dirty="0">
                <a:latin typeface="Bookman Old Style" panose="020506040505050202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En statique </a:t>
            </a:r>
            <a:r>
              <a:rPr lang="fr-FR" sz="1600" dirty="0">
                <a:latin typeface="Bookman Old Style" panose="02050604050505020204" pitchFamily="18" charset="0"/>
              </a:rPr>
              <a:t>: </a:t>
            </a:r>
            <a:r>
              <a:rPr lang="fr-FR" sz="1600" b="1" dirty="0">
                <a:latin typeface="Bookman Old Style" panose="02050604050505020204" pitchFamily="18" charset="0"/>
              </a:rPr>
              <a:t>C</a:t>
            </a:r>
            <a:r>
              <a:rPr lang="fr-FR" sz="1600" b="1" baseline="-25000" dirty="0">
                <a:latin typeface="Bookman Old Style" panose="02050604050505020204" pitchFamily="18" charset="0"/>
              </a:rPr>
              <a:t>1</a:t>
            </a:r>
            <a:r>
              <a:rPr lang="fr-FR" sz="1600" dirty="0">
                <a:latin typeface="Bookman Old Style" panose="02050604050505020204" pitchFamily="18" charset="0"/>
              </a:rPr>
              <a:t>, </a:t>
            </a:r>
            <a:r>
              <a:rPr lang="fr-FR" sz="1600" b="1" dirty="0">
                <a:latin typeface="Bookman Old Style" panose="02050604050505020204" pitchFamily="18" charset="0"/>
              </a:rPr>
              <a:t>C</a:t>
            </a:r>
            <a:r>
              <a:rPr lang="fr-FR" sz="1600" b="1" baseline="-25000" dirty="0">
                <a:latin typeface="Bookman Old Style" panose="02050604050505020204" pitchFamily="18" charset="0"/>
              </a:rPr>
              <a:t>2</a:t>
            </a:r>
            <a:r>
              <a:rPr lang="fr-FR" sz="1600" b="1" dirty="0">
                <a:latin typeface="Bookman Old Style" panose="02050604050505020204" pitchFamily="18" charset="0"/>
              </a:rPr>
              <a:t> </a:t>
            </a:r>
            <a:r>
              <a:rPr lang="fr-FR" sz="1600" dirty="0">
                <a:latin typeface="Bookman Old Style" panose="02050604050505020204" pitchFamily="18" charset="0"/>
              </a:rPr>
              <a:t>et </a:t>
            </a:r>
            <a:r>
              <a:rPr lang="fr-FR" sz="1600" b="1" dirty="0">
                <a:latin typeface="Bookman Old Style" panose="02050604050505020204" pitchFamily="18" charset="0"/>
              </a:rPr>
              <a:t>C</a:t>
            </a:r>
            <a:r>
              <a:rPr lang="fr-FR" sz="1600" b="1" baseline="-25000" dirty="0">
                <a:latin typeface="Bookman Old Style" panose="02050604050505020204" pitchFamily="18" charset="0"/>
              </a:rPr>
              <a:t>E</a:t>
            </a:r>
            <a:r>
              <a:rPr lang="fr-FR" sz="1600" dirty="0">
                <a:latin typeface="Bookman Old Style" panose="02050604050505020204" pitchFamily="18" charset="0"/>
              </a:rPr>
              <a:t> sont des </a:t>
            </a:r>
            <a:r>
              <a:rPr lang="fr-FR" sz="1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circuits ouverts</a:t>
            </a:r>
            <a:r>
              <a:rPr lang="fr-FR" sz="1600" dirty="0">
                <a:latin typeface="Bookman Old Style" panose="02050604050505020204" pitchFamily="18" charset="0"/>
              </a:rPr>
              <a:t>. Elles isolent le montage de l'e</a:t>
            </a:r>
            <a:r>
              <a:rPr lang="fr-FR" sz="1600" b="1" dirty="0">
                <a:latin typeface="Bookman Old Style" panose="02050604050505020204" pitchFamily="18" charset="0"/>
              </a:rPr>
              <a:t>ntrée</a:t>
            </a:r>
            <a:r>
              <a:rPr lang="fr-FR" sz="1600" dirty="0">
                <a:latin typeface="Bookman Old Style" panose="02050604050505020204" pitchFamily="18" charset="0"/>
              </a:rPr>
              <a:t> et de la </a:t>
            </a:r>
            <a:r>
              <a:rPr lang="fr-FR" sz="1600" b="1" dirty="0">
                <a:latin typeface="Bookman Old Style" panose="02050604050505020204" pitchFamily="18" charset="0"/>
              </a:rPr>
              <a:t>sortie</a:t>
            </a:r>
            <a:r>
              <a:rPr lang="fr-FR" sz="1600" dirty="0">
                <a:latin typeface="Bookman Old Style" panose="02050604050505020204" pitchFamily="18" charset="0"/>
              </a:rPr>
              <a:t>. On détermine </a:t>
            </a:r>
            <a:r>
              <a:rPr lang="fr-FR" sz="1600" b="1" dirty="0">
                <a:latin typeface="Bookman Old Style" panose="02050604050505020204" pitchFamily="18" charset="0"/>
              </a:rPr>
              <a:t>le point de fonctionnement</a:t>
            </a:r>
            <a:r>
              <a:rPr lang="fr-FR" sz="1600" dirty="0">
                <a:latin typeface="Bookman Old Style" panose="02050604050505020204" pitchFamily="18" charset="0"/>
              </a:rPr>
              <a:t> </a:t>
            </a:r>
            <a:r>
              <a:rPr lang="fr-FR" sz="1600" b="1" dirty="0">
                <a:latin typeface="Bookman Old Style" panose="02050604050505020204" pitchFamily="18" charset="0"/>
              </a:rPr>
              <a:t>P</a:t>
            </a:r>
            <a:r>
              <a:rPr lang="fr-FR" sz="1600" dirty="0">
                <a:latin typeface="Bookman Old Style" panose="02050604050505020204" pitchFamily="18" charset="0"/>
              </a:rPr>
              <a:t> (</a:t>
            </a:r>
            <a:r>
              <a:rPr lang="fr-FR" sz="1600" b="1" dirty="0">
                <a:latin typeface="Bookman Old Style" panose="02050604050505020204" pitchFamily="18" charset="0"/>
              </a:rPr>
              <a:t>I</a:t>
            </a:r>
            <a:r>
              <a:rPr lang="fr-FR" sz="1600" b="1" baseline="-25000" dirty="0">
                <a:latin typeface="Bookman Old Style" panose="02050604050505020204" pitchFamily="18" charset="0"/>
              </a:rPr>
              <a:t>B0</a:t>
            </a:r>
            <a:r>
              <a:rPr lang="fr-FR" sz="1600" b="1" dirty="0">
                <a:latin typeface="Bookman Old Style" panose="02050604050505020204" pitchFamily="18" charset="0"/>
              </a:rPr>
              <a:t>, I</a:t>
            </a:r>
            <a:r>
              <a:rPr lang="fr-FR" sz="1600" b="1" baseline="-25000" dirty="0">
                <a:latin typeface="Bookman Old Style" panose="02050604050505020204" pitchFamily="18" charset="0"/>
              </a:rPr>
              <a:t>C0</a:t>
            </a:r>
            <a:r>
              <a:rPr lang="fr-FR" sz="1600" b="1" dirty="0">
                <a:latin typeface="Bookman Old Style" panose="02050604050505020204" pitchFamily="18" charset="0"/>
              </a:rPr>
              <a:t>, V</a:t>
            </a:r>
            <a:r>
              <a:rPr lang="fr-FR" sz="1600" b="1" baseline="-25000" dirty="0">
                <a:latin typeface="Bookman Old Style" panose="02050604050505020204" pitchFamily="18" charset="0"/>
              </a:rPr>
              <a:t>BE0</a:t>
            </a:r>
            <a:r>
              <a:rPr lang="fr-FR" sz="1600" b="1" dirty="0">
                <a:latin typeface="Bookman Old Style" panose="02050604050505020204" pitchFamily="18" charset="0"/>
              </a:rPr>
              <a:t>, V</a:t>
            </a:r>
            <a:r>
              <a:rPr lang="fr-FR" sz="1600" b="1" baseline="-25000" dirty="0">
                <a:latin typeface="Bookman Old Style" panose="02050604050505020204" pitchFamily="18" charset="0"/>
              </a:rPr>
              <a:t>CE0</a:t>
            </a:r>
            <a:r>
              <a:rPr lang="fr-FR" sz="1600" dirty="0">
                <a:latin typeface="Bookman Old Style" panose="02050604050505020204" pitchFamily="18" charset="0"/>
              </a:rPr>
              <a:t>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En dynamique </a:t>
            </a:r>
            <a:r>
              <a:rPr lang="fr-FR" sz="1600" dirty="0">
                <a:latin typeface="Bookman Old Style" panose="02050604050505020204" pitchFamily="18" charset="0"/>
              </a:rPr>
              <a:t>: </a:t>
            </a:r>
            <a:r>
              <a:rPr lang="fr-FR" sz="1600" b="1" dirty="0">
                <a:latin typeface="Bookman Old Style" panose="02050604050505020204" pitchFamily="18" charset="0"/>
              </a:rPr>
              <a:t>C</a:t>
            </a:r>
            <a:r>
              <a:rPr lang="fr-FR" sz="1600" b="1" baseline="-25000" dirty="0">
                <a:latin typeface="Bookman Old Style" panose="02050604050505020204" pitchFamily="18" charset="0"/>
              </a:rPr>
              <a:t>1</a:t>
            </a:r>
            <a:r>
              <a:rPr lang="fr-FR" sz="1600" b="1" dirty="0">
                <a:latin typeface="Bookman Old Style" panose="02050604050505020204" pitchFamily="18" charset="0"/>
              </a:rPr>
              <a:t>, C</a:t>
            </a:r>
            <a:r>
              <a:rPr lang="fr-FR" sz="1600" b="1" baseline="-25000" dirty="0">
                <a:latin typeface="Bookman Old Style" panose="02050604050505020204" pitchFamily="18" charset="0"/>
              </a:rPr>
              <a:t>2</a:t>
            </a:r>
            <a:r>
              <a:rPr lang="fr-FR" sz="1600" b="1" dirty="0">
                <a:latin typeface="Bookman Old Style" panose="02050604050505020204" pitchFamily="18" charset="0"/>
              </a:rPr>
              <a:t> </a:t>
            </a:r>
            <a:r>
              <a:rPr lang="fr-FR" sz="1600" dirty="0">
                <a:latin typeface="Bookman Old Style" panose="02050604050505020204" pitchFamily="18" charset="0"/>
              </a:rPr>
              <a:t>et </a:t>
            </a:r>
            <a:r>
              <a:rPr lang="fr-FR" sz="1600" b="1" dirty="0">
                <a:latin typeface="Bookman Old Style" panose="02050604050505020204" pitchFamily="18" charset="0"/>
              </a:rPr>
              <a:t>C</a:t>
            </a:r>
            <a:r>
              <a:rPr lang="fr-FR" sz="1600" b="1" baseline="-25000" dirty="0">
                <a:latin typeface="Bookman Old Style" panose="02050604050505020204" pitchFamily="18" charset="0"/>
              </a:rPr>
              <a:t>E</a:t>
            </a:r>
            <a:r>
              <a:rPr lang="fr-FR" sz="1600" dirty="0">
                <a:latin typeface="Bookman Old Style" panose="02050604050505020204" pitchFamily="18" charset="0"/>
              </a:rPr>
              <a:t> sont des </a:t>
            </a:r>
            <a:r>
              <a:rPr lang="fr-FR" sz="1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circuits</a:t>
            </a:r>
            <a:r>
              <a:rPr lang="fr-FR" sz="1600" dirty="0">
                <a:solidFill>
                  <a:srgbClr val="FF0000"/>
                </a:solidFill>
                <a:latin typeface="Bookman Old Style" panose="02050604050505020204" pitchFamily="18" charset="0"/>
              </a:rPr>
              <a:t> </a:t>
            </a:r>
            <a:r>
              <a:rPr lang="fr-FR" sz="1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fermés</a:t>
            </a:r>
            <a:r>
              <a:rPr lang="fr-FR" sz="1600" dirty="0">
                <a:latin typeface="Bookman Old Style" panose="02050604050505020204" pitchFamily="18" charset="0"/>
              </a:rPr>
              <a:t>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fr-FR" sz="1600" dirty="0">
                <a:latin typeface="Bookman Old Style" panose="02050604050505020204" pitchFamily="18" charset="0"/>
              </a:rPr>
              <a:t>Elles permettent de connecter le montage au </a:t>
            </a:r>
            <a:r>
              <a:rPr lang="fr-FR" sz="1600" b="1" dirty="0">
                <a:latin typeface="Bookman Old Style" panose="02050604050505020204" pitchFamily="18" charset="0"/>
              </a:rPr>
              <a:t>générateur (</a:t>
            </a:r>
            <a:r>
              <a:rPr lang="fr-FR" sz="1600" b="1" dirty="0" err="1">
                <a:latin typeface="Bookman Old Style" panose="02050604050505020204" pitchFamily="18" charset="0"/>
              </a:rPr>
              <a:t>e</a:t>
            </a:r>
            <a:r>
              <a:rPr lang="fr-FR" sz="1600" b="1" baseline="-25000" dirty="0" err="1">
                <a:latin typeface="Bookman Old Style" panose="02050604050505020204" pitchFamily="18" charset="0"/>
              </a:rPr>
              <a:t>g</a:t>
            </a:r>
            <a:r>
              <a:rPr lang="fr-FR" sz="1600" b="1" dirty="0" err="1">
                <a:latin typeface="Bookman Old Style" panose="02050604050505020204" pitchFamily="18" charset="0"/>
              </a:rPr>
              <a:t>,r</a:t>
            </a:r>
            <a:r>
              <a:rPr lang="fr-FR" sz="1600" b="1" baseline="-25000" dirty="0" err="1">
                <a:latin typeface="Bookman Old Style" panose="02050604050505020204" pitchFamily="18" charset="0"/>
              </a:rPr>
              <a:t>g</a:t>
            </a:r>
            <a:r>
              <a:rPr lang="fr-FR" sz="1600" b="1" dirty="0">
                <a:latin typeface="Bookman Old Style" panose="02050604050505020204" pitchFamily="18" charset="0"/>
              </a:rPr>
              <a:t>) </a:t>
            </a:r>
            <a:r>
              <a:rPr lang="fr-FR" sz="1600" dirty="0">
                <a:latin typeface="Bookman Old Style" panose="02050604050505020204" pitchFamily="18" charset="0"/>
              </a:rPr>
              <a:t>et à la charge </a:t>
            </a:r>
            <a:r>
              <a:rPr lang="fr-FR" sz="1600" b="1" dirty="0">
                <a:latin typeface="Bookman Old Style" panose="02050604050505020204" pitchFamily="18" charset="0"/>
              </a:rPr>
              <a:t>R</a:t>
            </a:r>
            <a:r>
              <a:rPr lang="fr-FR" sz="1600" b="1" baseline="-25000" dirty="0">
                <a:latin typeface="Bookman Old Style" panose="02050604050505020204" pitchFamily="18" charset="0"/>
              </a:rPr>
              <a:t>L</a:t>
            </a:r>
            <a:r>
              <a:rPr lang="fr-FR" sz="1600" dirty="0">
                <a:latin typeface="Bookman Old Style" panose="02050604050505020204" pitchFamily="18" charset="0"/>
              </a:rPr>
              <a:t>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fr-FR" sz="1600" dirty="0">
                <a:latin typeface="Bookman Old Style" panose="02050604050505020204" pitchFamily="18" charset="0"/>
              </a:rPr>
              <a:t>Le transistor est caractérisé par la matrice </a:t>
            </a:r>
            <a:r>
              <a:rPr lang="fr-FR" sz="1600" b="1" dirty="0">
                <a:latin typeface="Bookman Old Style" panose="02050604050505020204" pitchFamily="18" charset="0"/>
              </a:rPr>
              <a:t>hybride [h], </a:t>
            </a:r>
            <a:r>
              <a:rPr lang="fr-FR" sz="1600" dirty="0">
                <a:latin typeface="Bookman Old Style" panose="02050604050505020204" pitchFamily="18" charset="0"/>
              </a:rPr>
              <a:t>on supposera </a:t>
            </a:r>
            <a:r>
              <a:rPr lang="fr-FR" sz="1600" b="1" dirty="0">
                <a:latin typeface="Bookman Old Style" panose="02050604050505020204" pitchFamily="18" charset="0"/>
              </a:rPr>
              <a:t>h</a:t>
            </a:r>
            <a:r>
              <a:rPr lang="fr-FR" sz="1600" b="1" baseline="-25000" dirty="0">
                <a:latin typeface="Bookman Old Style" panose="02050604050505020204" pitchFamily="18" charset="0"/>
              </a:rPr>
              <a:t>12e</a:t>
            </a:r>
            <a:r>
              <a:rPr lang="fr-FR" sz="1600" b="1" dirty="0">
                <a:latin typeface="Bookman Old Style" panose="02050604050505020204" pitchFamily="18" charset="0"/>
              </a:rPr>
              <a:t> = 0</a:t>
            </a:r>
            <a:r>
              <a:rPr lang="fr-FR" sz="1600" dirty="0">
                <a:latin typeface="Bookman Old Style" panose="02050604050505020204" pitchFamily="18" charset="0"/>
              </a:rPr>
              <a:t>.</a:t>
            </a:r>
          </a:p>
          <a:p>
            <a:pPr algn="just"/>
            <a:r>
              <a:rPr lang="fr-FR" sz="1600" dirty="0">
                <a:latin typeface="Bookman Old Style" panose="02050604050505020204" pitchFamily="18" charset="0"/>
              </a:rPr>
              <a:t>On ne considère que les grandeurs variables autour du </a:t>
            </a:r>
            <a:r>
              <a:rPr lang="fr-FR" sz="1600" b="1" dirty="0">
                <a:latin typeface="Bookman Old Style" panose="02050604050505020204" pitchFamily="18" charset="0"/>
              </a:rPr>
              <a:t>point de fonctionnement</a:t>
            </a:r>
            <a:r>
              <a:rPr lang="fr-FR" sz="1600" dirty="0">
                <a:latin typeface="Bookman Old Style" panose="02050604050505020204" pitchFamily="18" charset="0"/>
              </a:rPr>
              <a:t>. On remplace le transistor par son </a:t>
            </a:r>
            <a:r>
              <a:rPr lang="fr-FR" sz="1600" b="1" dirty="0">
                <a:latin typeface="Bookman Old Style" panose="02050604050505020204" pitchFamily="18" charset="0"/>
              </a:rPr>
              <a:t>schéma équivalent </a:t>
            </a:r>
            <a:r>
              <a:rPr lang="fr-FR" sz="1600" dirty="0">
                <a:latin typeface="Bookman Old Style" panose="02050604050505020204" pitchFamily="18" charset="0"/>
              </a:rPr>
              <a:t>et </a:t>
            </a:r>
            <a:r>
              <a:rPr lang="fr-FR" sz="1600" b="1" dirty="0">
                <a:latin typeface="Bookman Old Style" panose="02050604050505020204" pitchFamily="18" charset="0"/>
              </a:rPr>
              <a:t>on cherche </a:t>
            </a:r>
            <a:r>
              <a:rPr lang="fr-FR" sz="1600" dirty="0">
                <a:latin typeface="Bookman Old Style" panose="02050604050505020204" pitchFamily="18" charset="0"/>
              </a:rPr>
              <a:t>les </a:t>
            </a:r>
            <a:r>
              <a:rPr lang="fr-FR" sz="1600" b="1" dirty="0">
                <a:latin typeface="Bookman Old Style" panose="02050604050505020204" pitchFamily="18" charset="0"/>
              </a:rPr>
              <a:t>grandeurs</a:t>
            </a:r>
            <a:r>
              <a:rPr lang="fr-FR" sz="1600" dirty="0">
                <a:latin typeface="Bookman Old Style" panose="02050604050505020204" pitchFamily="18" charset="0"/>
              </a:rPr>
              <a:t> </a:t>
            </a:r>
            <a:r>
              <a:rPr lang="fr-FR" sz="1600" b="1" dirty="0">
                <a:latin typeface="Bookman Old Style" panose="02050604050505020204" pitchFamily="18" charset="0"/>
              </a:rPr>
              <a:t>caractéristiques de l'étage amplificateur</a:t>
            </a:r>
            <a:r>
              <a:rPr lang="fr-FR" sz="1600" dirty="0">
                <a:latin typeface="Bookman Old Style" panose="0205060405050502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653170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6"/>
            <a:ext cx="52086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-Transistor-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1620" y="507690"/>
            <a:ext cx="75917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Transistor bipolaire en régime variable et faibles signaux</a:t>
            </a: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715000" y="365260"/>
            <a:ext cx="3328256" cy="10117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46">
            <a:extLst>
              <a:ext uri="{FF2B5EF4-FFF2-40B4-BE49-F238E27FC236}">
                <a16:creationId xmlns:a16="http://schemas.microsoft.com/office/drawing/2014/main" id="{7198176F-4D83-4A98-1EFA-F78693C2B68B}"/>
              </a:ext>
            </a:extLst>
          </p:cNvPr>
          <p:cNvSpPr txBox="1"/>
          <p:nvPr/>
        </p:nvSpPr>
        <p:spPr>
          <a:xfrm>
            <a:off x="8828933" y="486598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60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3206C0-B920-4CD8-8FF9-7BD8ABA1AB10}"/>
              </a:ext>
            </a:extLst>
          </p:cNvPr>
          <p:cNvSpPr txBox="1"/>
          <p:nvPr/>
        </p:nvSpPr>
        <p:spPr>
          <a:xfrm>
            <a:off x="629165" y="825591"/>
            <a:ext cx="8685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600" b="1" spc="-5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defRPr>
            </a:lvl1pPr>
          </a:lstStyle>
          <a:p>
            <a:r>
              <a:rPr lang="fr-FR" sz="1400" dirty="0"/>
              <a:t>5.2 Transistor en amplification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3DFB1DAA-6FBE-8B21-C637-F183EFBBD76A}"/>
              </a:ext>
            </a:extLst>
          </p:cNvPr>
          <p:cNvGrpSpPr/>
          <p:nvPr/>
        </p:nvGrpSpPr>
        <p:grpSpPr>
          <a:xfrm>
            <a:off x="594477" y="1778797"/>
            <a:ext cx="3128986" cy="2515868"/>
            <a:chOff x="3662354" y="1984166"/>
            <a:chExt cx="3357586" cy="2464894"/>
          </a:xfrm>
        </p:grpSpPr>
        <p:sp>
          <p:nvSpPr>
            <p:cNvPr id="3" name="Text Box 3">
              <a:extLst>
                <a:ext uri="{FF2B5EF4-FFF2-40B4-BE49-F238E27FC236}">
                  <a16:creationId xmlns:a16="http://schemas.microsoft.com/office/drawing/2014/main" id="{1E2D13A4-15E2-42B5-5931-A04C63A871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2354" y="3892736"/>
              <a:ext cx="420754" cy="34462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e</a:t>
              </a:r>
              <a:r>
                <a:rPr kumimoji="0" lang="fr-FR" sz="11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g</a:t>
              </a:r>
              <a:endParaRPr kumimoji="0" 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5" name="Text Box 4">
              <a:extLst>
                <a:ext uri="{FF2B5EF4-FFF2-40B4-BE49-F238E27FC236}">
                  <a16:creationId xmlns:a16="http://schemas.microsoft.com/office/drawing/2014/main" id="{8B768BEC-4454-9703-B19E-0D6480AA6C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8394" y="3434876"/>
              <a:ext cx="420754" cy="34462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r</a:t>
              </a:r>
              <a:r>
                <a:rPr kumimoji="0" lang="fr-FR" sz="11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g</a:t>
              </a:r>
              <a:endParaRPr kumimoji="0" 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11" name="Text Box 5">
              <a:extLst>
                <a:ext uri="{FF2B5EF4-FFF2-40B4-BE49-F238E27FC236}">
                  <a16:creationId xmlns:a16="http://schemas.microsoft.com/office/drawing/2014/main" id="{6EF70EC8-7C3D-B15F-C4C2-D58928549C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82720" y="3813144"/>
              <a:ext cx="456240" cy="3700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C</a:t>
              </a:r>
              <a:r>
                <a:rPr kumimoji="0" lang="fr-FR" sz="11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E</a:t>
              </a:r>
              <a:endParaRPr kumimoji="0" 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13" name="Text Box 6">
              <a:extLst>
                <a:ext uri="{FF2B5EF4-FFF2-40B4-BE49-F238E27FC236}">
                  <a16:creationId xmlns:a16="http://schemas.microsoft.com/office/drawing/2014/main" id="{1BF89A7E-1656-6EAF-AC42-89B0AAEA51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0951" y="2932708"/>
              <a:ext cx="456240" cy="3700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C</a:t>
              </a:r>
              <a:r>
                <a:rPr kumimoji="0" lang="fr-FR" sz="11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1</a:t>
              </a:r>
              <a:endParaRPr kumimoji="0" 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16" name="Text Box 7">
              <a:extLst>
                <a:ext uri="{FF2B5EF4-FFF2-40B4-BE49-F238E27FC236}">
                  <a16:creationId xmlns:a16="http://schemas.microsoft.com/office/drawing/2014/main" id="{19082547-BB1F-3071-5951-E3079632DE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82720" y="2745625"/>
              <a:ext cx="456240" cy="3700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C</a:t>
              </a:r>
              <a:r>
                <a:rPr kumimoji="0" lang="fr-FR" sz="11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2</a:t>
              </a:r>
              <a:endParaRPr kumimoji="0" 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17" name="Text Box 8">
              <a:extLst>
                <a:ext uri="{FF2B5EF4-FFF2-40B4-BE49-F238E27FC236}">
                  <a16:creationId xmlns:a16="http://schemas.microsoft.com/office/drawing/2014/main" id="{AE05C198-6152-5586-DA53-3DE462AEC2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67080" y="3562880"/>
              <a:ext cx="452860" cy="3700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R</a:t>
              </a:r>
              <a:r>
                <a:rPr kumimoji="0" lang="fr-FR" sz="11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L</a:t>
              </a:r>
              <a:endParaRPr kumimoji="0" 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20" name="Text Box 9">
              <a:extLst>
                <a:ext uri="{FF2B5EF4-FFF2-40B4-BE49-F238E27FC236}">
                  <a16:creationId xmlns:a16="http://schemas.microsoft.com/office/drawing/2014/main" id="{94EA3BF2-C3EC-CF63-808B-9E3A1D5976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800" y="3763912"/>
              <a:ext cx="452860" cy="3700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R</a:t>
              </a:r>
              <a:r>
                <a:rPr kumimoji="0" lang="fr-FR" sz="11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2</a:t>
              </a:r>
              <a:endParaRPr kumimoji="0" 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21" name="Text Box 10">
              <a:extLst>
                <a:ext uri="{FF2B5EF4-FFF2-40B4-BE49-F238E27FC236}">
                  <a16:creationId xmlns:a16="http://schemas.microsoft.com/office/drawing/2014/main" id="{675569D8-33A2-50D6-758E-6BC02B3FF4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6329" y="3786066"/>
              <a:ext cx="452860" cy="3700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R</a:t>
              </a:r>
              <a:r>
                <a:rPr kumimoji="0" lang="fr-FR" sz="11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E</a:t>
              </a:r>
              <a:endParaRPr kumimoji="0" 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22" name="Text Box 11">
              <a:extLst>
                <a:ext uri="{FF2B5EF4-FFF2-40B4-BE49-F238E27FC236}">
                  <a16:creationId xmlns:a16="http://schemas.microsoft.com/office/drawing/2014/main" id="{9D46E970-B31B-9711-F976-9532113618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800" y="2410026"/>
              <a:ext cx="452860" cy="3700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R</a:t>
              </a:r>
              <a:r>
                <a:rPr kumimoji="0" lang="fr-FR" sz="11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1</a:t>
              </a:r>
              <a:endParaRPr kumimoji="0" 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23" name="Text Box 12">
              <a:extLst>
                <a:ext uri="{FF2B5EF4-FFF2-40B4-BE49-F238E27FC236}">
                  <a16:creationId xmlns:a16="http://schemas.microsoft.com/office/drawing/2014/main" id="{82D7551A-77C3-3025-6B6B-C35155BB5E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63656" y="2536388"/>
              <a:ext cx="452860" cy="3700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R</a:t>
              </a:r>
              <a:r>
                <a:rPr kumimoji="0" lang="fr-FR" sz="1100" b="1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C</a:t>
              </a:r>
              <a:endParaRPr kumimoji="0" 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25" name="Line 14">
              <a:extLst>
                <a:ext uri="{FF2B5EF4-FFF2-40B4-BE49-F238E27FC236}">
                  <a16:creationId xmlns:a16="http://schemas.microsoft.com/office/drawing/2014/main" id="{65773047-6F3B-ADCF-3E4E-E69F73065A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6923" y="3191177"/>
              <a:ext cx="0" cy="28554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26" name="Line 15">
              <a:extLst>
                <a:ext uri="{FF2B5EF4-FFF2-40B4-BE49-F238E27FC236}">
                  <a16:creationId xmlns:a16="http://schemas.microsoft.com/office/drawing/2014/main" id="{77323BE8-828F-B3AC-D669-B2E037EA7A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26784" y="3166561"/>
              <a:ext cx="162219" cy="1624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27" name="Line 16">
              <a:extLst>
                <a:ext uri="{FF2B5EF4-FFF2-40B4-BE49-F238E27FC236}">
                  <a16:creationId xmlns:a16="http://schemas.microsoft.com/office/drawing/2014/main" id="{595D0E3B-A8A4-F054-9B5C-FD1050634D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6784" y="3329027"/>
              <a:ext cx="162219" cy="15754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28" name="Line 17">
              <a:extLst>
                <a:ext uri="{FF2B5EF4-FFF2-40B4-BE49-F238E27FC236}">
                  <a16:creationId xmlns:a16="http://schemas.microsoft.com/office/drawing/2014/main" id="{9E49993B-2E8F-D6D7-AC21-52F85B8DCC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82243" y="3486570"/>
              <a:ext cx="1690" cy="9017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29" name="Line 18">
              <a:extLst>
                <a:ext uri="{FF2B5EF4-FFF2-40B4-BE49-F238E27FC236}">
                  <a16:creationId xmlns:a16="http://schemas.microsoft.com/office/drawing/2014/main" id="{7FA7A8A3-B08C-54DF-AF7F-801F5CA37C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83933" y="2181916"/>
              <a:ext cx="0" cy="9846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30" name="Line 19">
              <a:extLst>
                <a:ext uri="{FF2B5EF4-FFF2-40B4-BE49-F238E27FC236}">
                  <a16:creationId xmlns:a16="http://schemas.microsoft.com/office/drawing/2014/main" id="{D1D1677E-67DF-28FB-981F-1A7C5C9DA0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29209" y="3318360"/>
              <a:ext cx="79757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31" name="Line 20">
              <a:extLst>
                <a:ext uri="{FF2B5EF4-FFF2-40B4-BE49-F238E27FC236}">
                  <a16:creationId xmlns:a16="http://schemas.microsoft.com/office/drawing/2014/main" id="{0253E7AE-7412-15B8-A4AF-83C8EAC4D1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84062" y="2278740"/>
              <a:ext cx="0" cy="20242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32" name="Line 21">
              <a:extLst>
                <a:ext uri="{FF2B5EF4-FFF2-40B4-BE49-F238E27FC236}">
                  <a16:creationId xmlns:a16="http://schemas.microsoft.com/office/drawing/2014/main" id="{71454A8C-D053-40E3-2C7A-4402ABCDC3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5891" y="2280381"/>
              <a:ext cx="58297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grpSp>
          <p:nvGrpSpPr>
            <p:cNvPr id="33" name="Group 22">
              <a:extLst>
                <a:ext uri="{FF2B5EF4-FFF2-40B4-BE49-F238E27FC236}">
                  <a16:creationId xmlns:a16="http://schemas.microsoft.com/office/drawing/2014/main" id="{CFEF1192-5285-6F41-3134-98490C2090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09041" y="4385058"/>
              <a:ext cx="319368" cy="64002"/>
              <a:chOff x="9074" y="5502"/>
              <a:chExt cx="378" cy="78"/>
            </a:xfrm>
          </p:grpSpPr>
          <p:sp>
            <p:nvSpPr>
              <p:cNvPr id="34" name="Line 23">
                <a:extLst>
                  <a:ext uri="{FF2B5EF4-FFF2-40B4-BE49-F238E27FC236}">
                    <a16:creationId xmlns:a16="http://schemas.microsoft.com/office/drawing/2014/main" id="{4D168C26-7A26-F58C-557D-48BAF12D6A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46" y="5514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b="1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35" name="Line 24">
                <a:extLst>
                  <a:ext uri="{FF2B5EF4-FFF2-40B4-BE49-F238E27FC236}">
                    <a16:creationId xmlns:a16="http://schemas.microsoft.com/office/drawing/2014/main" id="{B9A64D75-9AC8-898A-7D01-B25DF473CC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170" y="5508"/>
                <a:ext cx="78" cy="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b="1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36" name="Line 25">
                <a:extLst>
                  <a:ext uri="{FF2B5EF4-FFF2-40B4-BE49-F238E27FC236}">
                    <a16:creationId xmlns:a16="http://schemas.microsoft.com/office/drawing/2014/main" id="{BF669A60-5D61-3F10-C90D-A0D957FC1E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374" y="5502"/>
                <a:ext cx="78" cy="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b="1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37" name="Line 26">
                <a:extLst>
                  <a:ext uri="{FF2B5EF4-FFF2-40B4-BE49-F238E27FC236}">
                    <a16:creationId xmlns:a16="http://schemas.microsoft.com/office/drawing/2014/main" id="{7B25EFB7-53CB-8EE5-E919-8B59996064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278" y="5508"/>
                <a:ext cx="78" cy="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b="1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38" name="Line 27">
                <a:extLst>
                  <a:ext uri="{FF2B5EF4-FFF2-40B4-BE49-F238E27FC236}">
                    <a16:creationId xmlns:a16="http://schemas.microsoft.com/office/drawing/2014/main" id="{C0C2A648-6F83-78AF-2970-251352D7CC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074" y="5502"/>
                <a:ext cx="78" cy="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b="1"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39" name="Line 28">
              <a:extLst>
                <a:ext uri="{FF2B5EF4-FFF2-40B4-BE49-F238E27FC236}">
                  <a16:creationId xmlns:a16="http://schemas.microsoft.com/office/drawing/2014/main" id="{913E2B12-CBB6-40D9-F6B6-0E1BE856F1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09583" y="2172070"/>
              <a:ext cx="14194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40" name="Rectangle 29">
              <a:extLst>
                <a:ext uri="{FF2B5EF4-FFF2-40B4-BE49-F238E27FC236}">
                  <a16:creationId xmlns:a16="http://schemas.microsoft.com/office/drawing/2014/main" id="{85296CD0-81EE-AF4F-5773-5832C31509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4930" y="2352588"/>
              <a:ext cx="101387" cy="4578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41" name="Rectangle 30">
              <a:extLst>
                <a:ext uri="{FF2B5EF4-FFF2-40B4-BE49-F238E27FC236}">
                  <a16:creationId xmlns:a16="http://schemas.microsoft.com/office/drawing/2014/main" id="{C8BA758C-44BA-A681-B856-D29DF3A50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1957" y="2352588"/>
              <a:ext cx="101387" cy="4578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42" name="Line 31">
              <a:extLst>
                <a:ext uri="{FF2B5EF4-FFF2-40B4-BE49-F238E27FC236}">
                  <a16:creationId xmlns:a16="http://schemas.microsoft.com/office/drawing/2014/main" id="{AB87897B-A9FB-86B9-EF18-88F88B2440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38871" y="4307928"/>
              <a:ext cx="244341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43" name="Rectangle 32">
              <a:extLst>
                <a:ext uri="{FF2B5EF4-FFF2-40B4-BE49-F238E27FC236}">
                  <a16:creationId xmlns:a16="http://schemas.microsoft.com/office/drawing/2014/main" id="{E13A3085-7411-B076-D04C-8820D25E5F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7594" y="3692525"/>
              <a:ext cx="101387" cy="4578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44" name="Rectangle 33">
              <a:extLst>
                <a:ext uri="{FF2B5EF4-FFF2-40B4-BE49-F238E27FC236}">
                  <a16:creationId xmlns:a16="http://schemas.microsoft.com/office/drawing/2014/main" id="{5DC83C40-C6A5-CDA0-0FCD-D2F38CD5C0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0705" y="3692525"/>
              <a:ext cx="101387" cy="4578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45" name="Line 34">
              <a:extLst>
                <a:ext uri="{FF2B5EF4-FFF2-40B4-BE49-F238E27FC236}">
                  <a16:creationId xmlns:a16="http://schemas.microsoft.com/office/drawing/2014/main" id="{47B6BBA5-AB7B-9664-B67C-1B355D1F83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28732" y="3318360"/>
              <a:ext cx="31936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46" name="Line 35">
              <a:extLst>
                <a:ext uri="{FF2B5EF4-FFF2-40B4-BE49-F238E27FC236}">
                  <a16:creationId xmlns:a16="http://schemas.microsoft.com/office/drawing/2014/main" id="{6634D86F-E51C-8F13-FF54-4995AB7436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732" y="3318360"/>
              <a:ext cx="0" cy="9846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47" name="Line 36">
              <a:extLst>
                <a:ext uri="{FF2B5EF4-FFF2-40B4-BE49-F238E27FC236}">
                  <a16:creationId xmlns:a16="http://schemas.microsoft.com/office/drawing/2014/main" id="{AAF38FD4-B7B6-06F9-E0F1-8DF2F99E6D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8100" y="3229742"/>
              <a:ext cx="0" cy="1723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48" name="Line 37">
              <a:extLst>
                <a:ext uri="{FF2B5EF4-FFF2-40B4-BE49-F238E27FC236}">
                  <a16:creationId xmlns:a16="http://schemas.microsoft.com/office/drawing/2014/main" id="{A7EEF6F4-7D38-45ED-23AF-477F6384A0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24140" y="3229742"/>
              <a:ext cx="0" cy="1723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49" name="Oval 38">
              <a:extLst>
                <a:ext uri="{FF2B5EF4-FFF2-40B4-BE49-F238E27FC236}">
                  <a16:creationId xmlns:a16="http://schemas.microsoft.com/office/drawing/2014/main" id="{069A02C9-A3E0-F941-8B80-36ED7F862E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6375" y="3853350"/>
              <a:ext cx="329506" cy="33477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50" name="Line 39">
              <a:extLst>
                <a:ext uri="{FF2B5EF4-FFF2-40B4-BE49-F238E27FC236}">
                  <a16:creationId xmlns:a16="http://schemas.microsoft.com/office/drawing/2014/main" id="{221CC537-CCE6-8A73-44A3-D34AEF9931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2243" y="3146047"/>
              <a:ext cx="5474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51" name="Line 40">
              <a:extLst>
                <a:ext uri="{FF2B5EF4-FFF2-40B4-BE49-F238E27FC236}">
                  <a16:creationId xmlns:a16="http://schemas.microsoft.com/office/drawing/2014/main" id="{07F8C87E-0C59-8293-196B-34789AC236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29336" y="3032813"/>
              <a:ext cx="0" cy="22154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52" name="Line 41">
              <a:extLst>
                <a:ext uri="{FF2B5EF4-FFF2-40B4-BE49-F238E27FC236}">
                  <a16:creationId xmlns:a16="http://schemas.microsoft.com/office/drawing/2014/main" id="{1D3255D3-C485-006A-34B7-B5CF93B644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10840" y="3032813"/>
              <a:ext cx="0" cy="22154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53" name="Line 42">
              <a:extLst>
                <a:ext uri="{FF2B5EF4-FFF2-40B4-BE49-F238E27FC236}">
                  <a16:creationId xmlns:a16="http://schemas.microsoft.com/office/drawing/2014/main" id="{2DF8A478-B47C-490E-0E55-B52A269A79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15910" y="3146047"/>
              <a:ext cx="4562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54" name="Line 43">
              <a:extLst>
                <a:ext uri="{FF2B5EF4-FFF2-40B4-BE49-F238E27FC236}">
                  <a16:creationId xmlns:a16="http://schemas.microsoft.com/office/drawing/2014/main" id="{15DA0E78-57AD-B3CE-8B90-4339D12AA3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77219" y="3146047"/>
              <a:ext cx="0" cy="11569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55" name="Rectangle 44">
              <a:extLst>
                <a:ext uri="{FF2B5EF4-FFF2-40B4-BE49-F238E27FC236}">
                  <a16:creationId xmlns:a16="http://schemas.microsoft.com/office/drawing/2014/main" id="{125D68ED-8F7D-7BF3-CC29-60956B848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1456" y="3480826"/>
              <a:ext cx="101387" cy="4578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56" name="Rectangle 45">
              <a:extLst>
                <a:ext uri="{FF2B5EF4-FFF2-40B4-BE49-F238E27FC236}">
                  <a16:creationId xmlns:a16="http://schemas.microsoft.com/office/drawing/2014/main" id="{CCE3F997-4285-FE7E-57C4-611971C0C1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7762" y="3444723"/>
              <a:ext cx="126733" cy="33477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57" name="Line 46">
              <a:extLst>
                <a:ext uri="{FF2B5EF4-FFF2-40B4-BE49-F238E27FC236}">
                  <a16:creationId xmlns:a16="http://schemas.microsoft.com/office/drawing/2014/main" id="{6EC281B3-7FA4-7A67-68D9-61F0A77F5F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7313" y="3498878"/>
              <a:ext cx="41568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58" name="Line 47">
              <a:extLst>
                <a:ext uri="{FF2B5EF4-FFF2-40B4-BE49-F238E27FC236}">
                  <a16:creationId xmlns:a16="http://schemas.microsoft.com/office/drawing/2014/main" id="{C246B402-E5D8-2E76-CE64-A6AB6A8EC8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02998" y="3498878"/>
              <a:ext cx="0" cy="32000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59" name="Line 48">
              <a:extLst>
                <a:ext uri="{FF2B5EF4-FFF2-40B4-BE49-F238E27FC236}">
                  <a16:creationId xmlns:a16="http://schemas.microsoft.com/office/drawing/2014/main" id="{679A8BEE-A4F3-11D9-6416-063CF862F3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92859" y="3892736"/>
              <a:ext cx="0" cy="4037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60" name="Line 49">
              <a:extLst>
                <a:ext uri="{FF2B5EF4-FFF2-40B4-BE49-F238E27FC236}">
                  <a16:creationId xmlns:a16="http://schemas.microsoft.com/office/drawing/2014/main" id="{D38B50C1-FF8B-B630-6818-EA531315C0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91472" y="3818888"/>
              <a:ext cx="2129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61" name="Line 50">
              <a:extLst>
                <a:ext uri="{FF2B5EF4-FFF2-40B4-BE49-F238E27FC236}">
                  <a16:creationId xmlns:a16="http://schemas.microsoft.com/office/drawing/2014/main" id="{45132F8E-A3DF-A8F8-5FAC-2083E2B432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91472" y="3892736"/>
              <a:ext cx="2129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62" name="Text Box 13">
              <a:extLst>
                <a:ext uri="{FF2B5EF4-FFF2-40B4-BE49-F238E27FC236}">
                  <a16:creationId xmlns:a16="http://schemas.microsoft.com/office/drawing/2014/main" id="{89FDD6EE-C533-E6E4-C4F8-3D4F90AFFE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01260" y="1984166"/>
              <a:ext cx="532280" cy="2822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V</a:t>
              </a:r>
              <a:r>
                <a:rPr kumimoji="0" lang="fr-FR" sz="11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CC</a:t>
              </a:r>
              <a:endParaRPr kumimoji="0" 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2AF1205-E786-4305-2CFB-674CAEAFE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230" y="2066899"/>
            <a:ext cx="2752115" cy="2306419"/>
          </a:xfrm>
          <a:prstGeom prst="rect">
            <a:avLst/>
          </a:prstGeom>
        </p:spPr>
      </p:pic>
      <p:sp>
        <p:nvSpPr>
          <p:cNvPr id="65" name="ZoneTexte 89">
            <a:extLst>
              <a:ext uri="{FF2B5EF4-FFF2-40B4-BE49-F238E27FC236}">
                <a16:creationId xmlns:a16="http://schemas.microsoft.com/office/drawing/2014/main" id="{FBF9EC5E-ED52-7128-0C94-0499FF93E30D}"/>
              </a:ext>
            </a:extLst>
          </p:cNvPr>
          <p:cNvSpPr txBox="1"/>
          <p:nvPr/>
        </p:nvSpPr>
        <p:spPr>
          <a:xfrm>
            <a:off x="5485735" y="1223199"/>
            <a:ext cx="35525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Schéma équivalent </a:t>
            </a:r>
            <a:r>
              <a:rPr lang="fr-FR" sz="1600" b="1" dirty="0">
                <a:latin typeface="Bookman Old Style" panose="02050604050505020204" pitchFamily="18" charset="0"/>
              </a:rPr>
              <a:t>en statique </a:t>
            </a:r>
          </a:p>
        </p:txBody>
      </p:sp>
      <p:sp>
        <p:nvSpPr>
          <p:cNvPr id="66" name="ZoneTexte 90">
            <a:extLst>
              <a:ext uri="{FF2B5EF4-FFF2-40B4-BE49-F238E27FC236}">
                <a16:creationId xmlns:a16="http://schemas.microsoft.com/office/drawing/2014/main" id="{C485E539-16DB-2CF3-C7B8-8D051E31DE3D}"/>
              </a:ext>
            </a:extLst>
          </p:cNvPr>
          <p:cNvSpPr txBox="1"/>
          <p:nvPr/>
        </p:nvSpPr>
        <p:spPr>
          <a:xfrm>
            <a:off x="962964" y="1211814"/>
            <a:ext cx="2787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Etage amplificateur (EC)</a:t>
            </a:r>
          </a:p>
        </p:txBody>
      </p:sp>
    </p:spTree>
    <p:extLst>
      <p:ext uri="{BB962C8B-B14F-4D97-AF65-F5344CB8AC3E}">
        <p14:creationId xmlns:p14="http://schemas.microsoft.com/office/powerpoint/2010/main" val="373000867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6"/>
            <a:ext cx="52086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-Transistor-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1620" y="507690"/>
            <a:ext cx="75917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Transistor bipolaire en régime variable et faibles signaux</a:t>
            </a: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715000" y="365260"/>
            <a:ext cx="3328256" cy="10117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46">
            <a:extLst>
              <a:ext uri="{FF2B5EF4-FFF2-40B4-BE49-F238E27FC236}">
                <a16:creationId xmlns:a16="http://schemas.microsoft.com/office/drawing/2014/main" id="{7198176F-4D83-4A98-1EFA-F78693C2B68B}"/>
              </a:ext>
            </a:extLst>
          </p:cNvPr>
          <p:cNvSpPr txBox="1"/>
          <p:nvPr/>
        </p:nvSpPr>
        <p:spPr>
          <a:xfrm>
            <a:off x="8828933" y="486598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61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3206C0-B920-4CD8-8FF9-7BD8ABA1AB10}"/>
              </a:ext>
            </a:extLst>
          </p:cNvPr>
          <p:cNvSpPr txBox="1"/>
          <p:nvPr/>
        </p:nvSpPr>
        <p:spPr>
          <a:xfrm>
            <a:off x="629165" y="825591"/>
            <a:ext cx="8685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600" b="1" spc="-5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defRPr>
            </a:lvl1pPr>
          </a:lstStyle>
          <a:p>
            <a:r>
              <a:rPr lang="fr-FR" sz="1400" dirty="0"/>
              <a:t>5.2 Transistor en amplification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3DFB1DAA-6FBE-8B21-C637-F183EFBBD76A}"/>
              </a:ext>
            </a:extLst>
          </p:cNvPr>
          <p:cNvGrpSpPr/>
          <p:nvPr/>
        </p:nvGrpSpPr>
        <p:grpSpPr>
          <a:xfrm>
            <a:off x="594477" y="1778797"/>
            <a:ext cx="3128986" cy="2515868"/>
            <a:chOff x="3662354" y="1984166"/>
            <a:chExt cx="3357586" cy="2464894"/>
          </a:xfrm>
        </p:grpSpPr>
        <p:sp>
          <p:nvSpPr>
            <p:cNvPr id="3" name="Text Box 3">
              <a:extLst>
                <a:ext uri="{FF2B5EF4-FFF2-40B4-BE49-F238E27FC236}">
                  <a16:creationId xmlns:a16="http://schemas.microsoft.com/office/drawing/2014/main" id="{1E2D13A4-15E2-42B5-5931-A04C63A871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2354" y="3892736"/>
              <a:ext cx="420754" cy="34462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e</a:t>
              </a:r>
              <a:r>
                <a:rPr kumimoji="0" lang="fr-FR" sz="11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g</a:t>
              </a:r>
              <a:endParaRPr kumimoji="0" 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5" name="Text Box 4">
              <a:extLst>
                <a:ext uri="{FF2B5EF4-FFF2-40B4-BE49-F238E27FC236}">
                  <a16:creationId xmlns:a16="http://schemas.microsoft.com/office/drawing/2014/main" id="{8B768BEC-4454-9703-B19E-0D6480AA6C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8394" y="3434876"/>
              <a:ext cx="420754" cy="34462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r</a:t>
              </a:r>
              <a:r>
                <a:rPr kumimoji="0" lang="fr-FR" sz="11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g</a:t>
              </a:r>
              <a:endParaRPr kumimoji="0" 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11" name="Text Box 5">
              <a:extLst>
                <a:ext uri="{FF2B5EF4-FFF2-40B4-BE49-F238E27FC236}">
                  <a16:creationId xmlns:a16="http://schemas.microsoft.com/office/drawing/2014/main" id="{6EF70EC8-7C3D-B15F-C4C2-D58928549C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82720" y="3813144"/>
              <a:ext cx="456240" cy="3700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C</a:t>
              </a:r>
              <a:r>
                <a:rPr kumimoji="0" lang="fr-FR" sz="11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E</a:t>
              </a:r>
              <a:endParaRPr kumimoji="0" 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13" name="Text Box 6">
              <a:extLst>
                <a:ext uri="{FF2B5EF4-FFF2-40B4-BE49-F238E27FC236}">
                  <a16:creationId xmlns:a16="http://schemas.microsoft.com/office/drawing/2014/main" id="{1BF89A7E-1656-6EAF-AC42-89B0AAEA51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0951" y="2932708"/>
              <a:ext cx="456240" cy="3700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C</a:t>
              </a:r>
              <a:r>
                <a:rPr kumimoji="0" lang="fr-FR" sz="11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1</a:t>
              </a:r>
              <a:endParaRPr kumimoji="0" 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16" name="Text Box 7">
              <a:extLst>
                <a:ext uri="{FF2B5EF4-FFF2-40B4-BE49-F238E27FC236}">
                  <a16:creationId xmlns:a16="http://schemas.microsoft.com/office/drawing/2014/main" id="{19082547-BB1F-3071-5951-E3079632DE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82720" y="2745625"/>
              <a:ext cx="456240" cy="3700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C</a:t>
              </a:r>
              <a:r>
                <a:rPr kumimoji="0" lang="fr-FR" sz="1100" b="1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2</a:t>
              </a:r>
              <a:endParaRPr kumimoji="0" 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17" name="Text Box 8">
              <a:extLst>
                <a:ext uri="{FF2B5EF4-FFF2-40B4-BE49-F238E27FC236}">
                  <a16:creationId xmlns:a16="http://schemas.microsoft.com/office/drawing/2014/main" id="{AE05C198-6152-5586-DA53-3DE462AEC2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67080" y="3562880"/>
              <a:ext cx="452860" cy="3700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R</a:t>
              </a:r>
              <a:r>
                <a:rPr kumimoji="0" lang="fr-FR" sz="11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L</a:t>
              </a:r>
              <a:endParaRPr kumimoji="0" 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20" name="Text Box 9">
              <a:extLst>
                <a:ext uri="{FF2B5EF4-FFF2-40B4-BE49-F238E27FC236}">
                  <a16:creationId xmlns:a16="http://schemas.microsoft.com/office/drawing/2014/main" id="{94EA3BF2-C3EC-CF63-808B-9E3A1D5976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800" y="3763912"/>
              <a:ext cx="452860" cy="3700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R</a:t>
              </a:r>
              <a:r>
                <a:rPr kumimoji="0" lang="fr-FR" sz="11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2</a:t>
              </a:r>
              <a:endParaRPr kumimoji="0" 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21" name="Text Box 10">
              <a:extLst>
                <a:ext uri="{FF2B5EF4-FFF2-40B4-BE49-F238E27FC236}">
                  <a16:creationId xmlns:a16="http://schemas.microsoft.com/office/drawing/2014/main" id="{675569D8-33A2-50D6-758E-6BC02B3FF4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6329" y="3786066"/>
              <a:ext cx="452860" cy="3700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R</a:t>
              </a:r>
              <a:r>
                <a:rPr kumimoji="0" lang="fr-FR" sz="11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E</a:t>
              </a:r>
              <a:endParaRPr kumimoji="0" 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22" name="Text Box 11">
              <a:extLst>
                <a:ext uri="{FF2B5EF4-FFF2-40B4-BE49-F238E27FC236}">
                  <a16:creationId xmlns:a16="http://schemas.microsoft.com/office/drawing/2014/main" id="{9D46E970-B31B-9711-F976-9532113618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800" y="2410026"/>
              <a:ext cx="452860" cy="3700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R</a:t>
              </a:r>
              <a:r>
                <a:rPr kumimoji="0" lang="fr-FR" sz="11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1</a:t>
              </a:r>
              <a:endParaRPr kumimoji="0" 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23" name="Text Box 12">
              <a:extLst>
                <a:ext uri="{FF2B5EF4-FFF2-40B4-BE49-F238E27FC236}">
                  <a16:creationId xmlns:a16="http://schemas.microsoft.com/office/drawing/2014/main" id="{82D7551A-77C3-3025-6B6B-C35155BB5E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63656" y="2536388"/>
              <a:ext cx="452860" cy="3700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R</a:t>
              </a:r>
              <a:r>
                <a:rPr kumimoji="0" lang="fr-FR" sz="1100" b="1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C</a:t>
              </a:r>
              <a:endParaRPr kumimoji="0" 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25" name="Line 14">
              <a:extLst>
                <a:ext uri="{FF2B5EF4-FFF2-40B4-BE49-F238E27FC236}">
                  <a16:creationId xmlns:a16="http://schemas.microsoft.com/office/drawing/2014/main" id="{65773047-6F3B-ADCF-3E4E-E69F73065A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6923" y="3191177"/>
              <a:ext cx="0" cy="28554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26" name="Line 15">
              <a:extLst>
                <a:ext uri="{FF2B5EF4-FFF2-40B4-BE49-F238E27FC236}">
                  <a16:creationId xmlns:a16="http://schemas.microsoft.com/office/drawing/2014/main" id="{77323BE8-828F-B3AC-D669-B2E037EA7A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26784" y="3166561"/>
              <a:ext cx="162219" cy="1624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27" name="Line 16">
              <a:extLst>
                <a:ext uri="{FF2B5EF4-FFF2-40B4-BE49-F238E27FC236}">
                  <a16:creationId xmlns:a16="http://schemas.microsoft.com/office/drawing/2014/main" id="{595D0E3B-A8A4-F054-9B5C-FD1050634D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6784" y="3329027"/>
              <a:ext cx="162219" cy="15754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28" name="Line 17">
              <a:extLst>
                <a:ext uri="{FF2B5EF4-FFF2-40B4-BE49-F238E27FC236}">
                  <a16:creationId xmlns:a16="http://schemas.microsoft.com/office/drawing/2014/main" id="{9E49993B-2E8F-D6D7-AC21-52F85B8DCC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82243" y="3486570"/>
              <a:ext cx="1690" cy="9017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29" name="Line 18">
              <a:extLst>
                <a:ext uri="{FF2B5EF4-FFF2-40B4-BE49-F238E27FC236}">
                  <a16:creationId xmlns:a16="http://schemas.microsoft.com/office/drawing/2014/main" id="{7FA7A8A3-B08C-54DF-AF7F-801F5CA37C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83933" y="2181916"/>
              <a:ext cx="0" cy="9846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30" name="Line 19">
              <a:extLst>
                <a:ext uri="{FF2B5EF4-FFF2-40B4-BE49-F238E27FC236}">
                  <a16:creationId xmlns:a16="http://schemas.microsoft.com/office/drawing/2014/main" id="{D1D1677E-67DF-28FB-981F-1A7C5C9DA0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29209" y="3318360"/>
              <a:ext cx="79757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31" name="Line 20">
              <a:extLst>
                <a:ext uri="{FF2B5EF4-FFF2-40B4-BE49-F238E27FC236}">
                  <a16:creationId xmlns:a16="http://schemas.microsoft.com/office/drawing/2014/main" id="{0253E7AE-7412-15B8-A4AF-83C8EAC4D1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84062" y="2278740"/>
              <a:ext cx="0" cy="20242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32" name="Line 21">
              <a:extLst>
                <a:ext uri="{FF2B5EF4-FFF2-40B4-BE49-F238E27FC236}">
                  <a16:creationId xmlns:a16="http://schemas.microsoft.com/office/drawing/2014/main" id="{71454A8C-D053-40E3-2C7A-4402ABCDC3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5891" y="2280381"/>
              <a:ext cx="58297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grpSp>
          <p:nvGrpSpPr>
            <p:cNvPr id="33" name="Group 22">
              <a:extLst>
                <a:ext uri="{FF2B5EF4-FFF2-40B4-BE49-F238E27FC236}">
                  <a16:creationId xmlns:a16="http://schemas.microsoft.com/office/drawing/2014/main" id="{CFEF1192-5285-6F41-3134-98490C2090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09041" y="4385058"/>
              <a:ext cx="319368" cy="64002"/>
              <a:chOff x="9074" y="5502"/>
              <a:chExt cx="378" cy="78"/>
            </a:xfrm>
          </p:grpSpPr>
          <p:sp>
            <p:nvSpPr>
              <p:cNvPr id="34" name="Line 23">
                <a:extLst>
                  <a:ext uri="{FF2B5EF4-FFF2-40B4-BE49-F238E27FC236}">
                    <a16:creationId xmlns:a16="http://schemas.microsoft.com/office/drawing/2014/main" id="{4D168C26-7A26-F58C-557D-48BAF12D6A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46" y="5514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b="1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35" name="Line 24">
                <a:extLst>
                  <a:ext uri="{FF2B5EF4-FFF2-40B4-BE49-F238E27FC236}">
                    <a16:creationId xmlns:a16="http://schemas.microsoft.com/office/drawing/2014/main" id="{B9A64D75-9AC8-898A-7D01-B25DF473CC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170" y="5508"/>
                <a:ext cx="78" cy="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b="1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36" name="Line 25">
                <a:extLst>
                  <a:ext uri="{FF2B5EF4-FFF2-40B4-BE49-F238E27FC236}">
                    <a16:creationId xmlns:a16="http://schemas.microsoft.com/office/drawing/2014/main" id="{BF669A60-5D61-3F10-C90D-A0D957FC1E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374" y="5502"/>
                <a:ext cx="78" cy="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b="1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37" name="Line 26">
                <a:extLst>
                  <a:ext uri="{FF2B5EF4-FFF2-40B4-BE49-F238E27FC236}">
                    <a16:creationId xmlns:a16="http://schemas.microsoft.com/office/drawing/2014/main" id="{7B25EFB7-53CB-8EE5-E919-8B59996064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278" y="5508"/>
                <a:ext cx="78" cy="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b="1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38" name="Line 27">
                <a:extLst>
                  <a:ext uri="{FF2B5EF4-FFF2-40B4-BE49-F238E27FC236}">
                    <a16:creationId xmlns:a16="http://schemas.microsoft.com/office/drawing/2014/main" id="{C0C2A648-6F83-78AF-2970-251352D7CC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074" y="5502"/>
                <a:ext cx="78" cy="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b="1"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39" name="Line 28">
              <a:extLst>
                <a:ext uri="{FF2B5EF4-FFF2-40B4-BE49-F238E27FC236}">
                  <a16:creationId xmlns:a16="http://schemas.microsoft.com/office/drawing/2014/main" id="{913E2B12-CBB6-40D9-F6B6-0E1BE856F1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09583" y="2172070"/>
              <a:ext cx="14194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40" name="Rectangle 29">
              <a:extLst>
                <a:ext uri="{FF2B5EF4-FFF2-40B4-BE49-F238E27FC236}">
                  <a16:creationId xmlns:a16="http://schemas.microsoft.com/office/drawing/2014/main" id="{85296CD0-81EE-AF4F-5773-5832C31509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4930" y="2352588"/>
              <a:ext cx="101387" cy="4578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41" name="Rectangle 30">
              <a:extLst>
                <a:ext uri="{FF2B5EF4-FFF2-40B4-BE49-F238E27FC236}">
                  <a16:creationId xmlns:a16="http://schemas.microsoft.com/office/drawing/2014/main" id="{C8BA758C-44BA-A681-B856-D29DF3A50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1957" y="2352588"/>
              <a:ext cx="101387" cy="4578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42" name="Line 31">
              <a:extLst>
                <a:ext uri="{FF2B5EF4-FFF2-40B4-BE49-F238E27FC236}">
                  <a16:creationId xmlns:a16="http://schemas.microsoft.com/office/drawing/2014/main" id="{AB87897B-A9FB-86B9-EF18-88F88B2440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38871" y="4307928"/>
              <a:ext cx="244341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43" name="Rectangle 32">
              <a:extLst>
                <a:ext uri="{FF2B5EF4-FFF2-40B4-BE49-F238E27FC236}">
                  <a16:creationId xmlns:a16="http://schemas.microsoft.com/office/drawing/2014/main" id="{E13A3085-7411-B076-D04C-8820D25E5F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7594" y="3692525"/>
              <a:ext cx="101387" cy="4578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44" name="Rectangle 33">
              <a:extLst>
                <a:ext uri="{FF2B5EF4-FFF2-40B4-BE49-F238E27FC236}">
                  <a16:creationId xmlns:a16="http://schemas.microsoft.com/office/drawing/2014/main" id="{5DC83C40-C6A5-CDA0-0FCD-D2F38CD5C0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0705" y="3692525"/>
              <a:ext cx="101387" cy="4578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45" name="Line 34">
              <a:extLst>
                <a:ext uri="{FF2B5EF4-FFF2-40B4-BE49-F238E27FC236}">
                  <a16:creationId xmlns:a16="http://schemas.microsoft.com/office/drawing/2014/main" id="{47B6BBA5-AB7B-9664-B67C-1B355D1F83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28732" y="3318360"/>
              <a:ext cx="31936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46" name="Line 35">
              <a:extLst>
                <a:ext uri="{FF2B5EF4-FFF2-40B4-BE49-F238E27FC236}">
                  <a16:creationId xmlns:a16="http://schemas.microsoft.com/office/drawing/2014/main" id="{6634D86F-E51C-8F13-FF54-4995AB7436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732" y="3318360"/>
              <a:ext cx="0" cy="9846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47" name="Line 36">
              <a:extLst>
                <a:ext uri="{FF2B5EF4-FFF2-40B4-BE49-F238E27FC236}">
                  <a16:creationId xmlns:a16="http://schemas.microsoft.com/office/drawing/2014/main" id="{AAF38FD4-B7B6-06F9-E0F1-8DF2F99E6D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8100" y="3229742"/>
              <a:ext cx="0" cy="1723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48" name="Line 37">
              <a:extLst>
                <a:ext uri="{FF2B5EF4-FFF2-40B4-BE49-F238E27FC236}">
                  <a16:creationId xmlns:a16="http://schemas.microsoft.com/office/drawing/2014/main" id="{A7EEF6F4-7D38-45ED-23AF-477F6384A0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24140" y="3229742"/>
              <a:ext cx="0" cy="1723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49" name="Oval 38">
              <a:extLst>
                <a:ext uri="{FF2B5EF4-FFF2-40B4-BE49-F238E27FC236}">
                  <a16:creationId xmlns:a16="http://schemas.microsoft.com/office/drawing/2014/main" id="{069A02C9-A3E0-F941-8B80-36ED7F862E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6375" y="3853350"/>
              <a:ext cx="329506" cy="33477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50" name="Line 39">
              <a:extLst>
                <a:ext uri="{FF2B5EF4-FFF2-40B4-BE49-F238E27FC236}">
                  <a16:creationId xmlns:a16="http://schemas.microsoft.com/office/drawing/2014/main" id="{221CC537-CCE6-8A73-44A3-D34AEF9931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2243" y="3146047"/>
              <a:ext cx="5474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51" name="Line 40">
              <a:extLst>
                <a:ext uri="{FF2B5EF4-FFF2-40B4-BE49-F238E27FC236}">
                  <a16:creationId xmlns:a16="http://schemas.microsoft.com/office/drawing/2014/main" id="{07F8C87E-0C59-8293-196B-34789AC236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29336" y="3032813"/>
              <a:ext cx="0" cy="22154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52" name="Line 41">
              <a:extLst>
                <a:ext uri="{FF2B5EF4-FFF2-40B4-BE49-F238E27FC236}">
                  <a16:creationId xmlns:a16="http://schemas.microsoft.com/office/drawing/2014/main" id="{1D3255D3-C485-006A-34B7-B5CF93B644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10840" y="3032813"/>
              <a:ext cx="0" cy="22154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53" name="Line 42">
              <a:extLst>
                <a:ext uri="{FF2B5EF4-FFF2-40B4-BE49-F238E27FC236}">
                  <a16:creationId xmlns:a16="http://schemas.microsoft.com/office/drawing/2014/main" id="{2DF8A478-B47C-490E-0E55-B52A269A79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15910" y="3146047"/>
              <a:ext cx="4562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54" name="Line 43">
              <a:extLst>
                <a:ext uri="{FF2B5EF4-FFF2-40B4-BE49-F238E27FC236}">
                  <a16:creationId xmlns:a16="http://schemas.microsoft.com/office/drawing/2014/main" id="{15DA0E78-57AD-B3CE-8B90-4339D12AA3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77219" y="3146047"/>
              <a:ext cx="0" cy="11569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55" name="Rectangle 44">
              <a:extLst>
                <a:ext uri="{FF2B5EF4-FFF2-40B4-BE49-F238E27FC236}">
                  <a16:creationId xmlns:a16="http://schemas.microsoft.com/office/drawing/2014/main" id="{125D68ED-8F7D-7BF3-CC29-60956B848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1456" y="3480826"/>
              <a:ext cx="101387" cy="4578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56" name="Rectangle 45">
              <a:extLst>
                <a:ext uri="{FF2B5EF4-FFF2-40B4-BE49-F238E27FC236}">
                  <a16:creationId xmlns:a16="http://schemas.microsoft.com/office/drawing/2014/main" id="{CCE3F997-4285-FE7E-57C4-611971C0C1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7762" y="3444723"/>
              <a:ext cx="126733" cy="33477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57" name="Line 46">
              <a:extLst>
                <a:ext uri="{FF2B5EF4-FFF2-40B4-BE49-F238E27FC236}">
                  <a16:creationId xmlns:a16="http://schemas.microsoft.com/office/drawing/2014/main" id="{6EC281B3-7FA4-7A67-68D9-61F0A77F5F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7313" y="3498878"/>
              <a:ext cx="41568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58" name="Line 47">
              <a:extLst>
                <a:ext uri="{FF2B5EF4-FFF2-40B4-BE49-F238E27FC236}">
                  <a16:creationId xmlns:a16="http://schemas.microsoft.com/office/drawing/2014/main" id="{C246B402-E5D8-2E76-CE64-A6AB6A8EC8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02998" y="3498878"/>
              <a:ext cx="0" cy="32000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59" name="Line 48">
              <a:extLst>
                <a:ext uri="{FF2B5EF4-FFF2-40B4-BE49-F238E27FC236}">
                  <a16:creationId xmlns:a16="http://schemas.microsoft.com/office/drawing/2014/main" id="{679A8BEE-A4F3-11D9-6416-063CF862F3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92859" y="3892736"/>
              <a:ext cx="0" cy="4037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60" name="Line 49">
              <a:extLst>
                <a:ext uri="{FF2B5EF4-FFF2-40B4-BE49-F238E27FC236}">
                  <a16:creationId xmlns:a16="http://schemas.microsoft.com/office/drawing/2014/main" id="{D38B50C1-FF8B-B630-6818-EA531315C0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91472" y="3818888"/>
              <a:ext cx="2129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61" name="Line 50">
              <a:extLst>
                <a:ext uri="{FF2B5EF4-FFF2-40B4-BE49-F238E27FC236}">
                  <a16:creationId xmlns:a16="http://schemas.microsoft.com/office/drawing/2014/main" id="{45132F8E-A3DF-A8F8-5FAC-2083E2B432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91472" y="3892736"/>
              <a:ext cx="2129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>
                <a:latin typeface="Bookman Old Style" panose="02050604050505020204" pitchFamily="18" charset="0"/>
              </a:endParaRPr>
            </a:p>
          </p:txBody>
        </p:sp>
        <p:sp>
          <p:nvSpPr>
            <p:cNvPr id="62" name="Text Box 13">
              <a:extLst>
                <a:ext uri="{FF2B5EF4-FFF2-40B4-BE49-F238E27FC236}">
                  <a16:creationId xmlns:a16="http://schemas.microsoft.com/office/drawing/2014/main" id="{89FDD6EE-C533-E6E4-C4F8-3D4F90AFFE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01260" y="1984166"/>
              <a:ext cx="532280" cy="2822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V</a:t>
              </a:r>
              <a:r>
                <a:rPr kumimoji="0" lang="fr-FR" sz="1100" b="1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CC</a:t>
              </a:r>
              <a:endParaRPr kumimoji="0" 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</p:grpSp>
      <p:sp>
        <p:nvSpPr>
          <p:cNvPr id="65" name="ZoneTexte 89">
            <a:extLst>
              <a:ext uri="{FF2B5EF4-FFF2-40B4-BE49-F238E27FC236}">
                <a16:creationId xmlns:a16="http://schemas.microsoft.com/office/drawing/2014/main" id="{FBF9EC5E-ED52-7128-0C94-0499FF93E30D}"/>
              </a:ext>
            </a:extLst>
          </p:cNvPr>
          <p:cNvSpPr txBox="1"/>
          <p:nvPr/>
        </p:nvSpPr>
        <p:spPr>
          <a:xfrm>
            <a:off x="4886930" y="1260238"/>
            <a:ext cx="38587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Schéma équivalent </a:t>
            </a:r>
            <a:r>
              <a:rPr lang="fr-FR" sz="1600" b="1" dirty="0">
                <a:latin typeface="Bookman Old Style" panose="02050604050505020204" pitchFamily="18" charset="0"/>
              </a:rPr>
              <a:t>en dynamique </a:t>
            </a:r>
          </a:p>
        </p:txBody>
      </p:sp>
      <p:sp>
        <p:nvSpPr>
          <p:cNvPr id="66" name="ZoneTexte 90">
            <a:extLst>
              <a:ext uri="{FF2B5EF4-FFF2-40B4-BE49-F238E27FC236}">
                <a16:creationId xmlns:a16="http://schemas.microsoft.com/office/drawing/2014/main" id="{C485E539-16DB-2CF3-C7B8-8D051E31DE3D}"/>
              </a:ext>
            </a:extLst>
          </p:cNvPr>
          <p:cNvSpPr txBox="1"/>
          <p:nvPr/>
        </p:nvSpPr>
        <p:spPr>
          <a:xfrm>
            <a:off x="962964" y="1211814"/>
            <a:ext cx="2787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Etage amplificateur (EC)</a:t>
            </a:r>
          </a:p>
        </p:txBody>
      </p:sp>
      <p:grpSp>
        <p:nvGrpSpPr>
          <p:cNvPr id="64" name="Group 51">
            <a:extLst>
              <a:ext uri="{FF2B5EF4-FFF2-40B4-BE49-F238E27FC236}">
                <a16:creationId xmlns:a16="http://schemas.microsoft.com/office/drawing/2014/main" id="{B679DC5E-DC42-B235-12D2-F74C82387FE3}"/>
              </a:ext>
            </a:extLst>
          </p:cNvPr>
          <p:cNvGrpSpPr>
            <a:grpSpLocks/>
          </p:cNvGrpSpPr>
          <p:nvPr/>
        </p:nvGrpSpPr>
        <p:grpSpPr bwMode="auto">
          <a:xfrm>
            <a:off x="4547822" y="2383577"/>
            <a:ext cx="4464057" cy="1857388"/>
            <a:chOff x="5580" y="13051"/>
            <a:chExt cx="5568" cy="1872"/>
          </a:xfrm>
        </p:grpSpPr>
        <p:sp>
          <p:nvSpPr>
            <p:cNvPr id="67" name="Text Box 52">
              <a:extLst>
                <a:ext uri="{FF2B5EF4-FFF2-40B4-BE49-F238E27FC236}">
                  <a16:creationId xmlns:a16="http://schemas.microsoft.com/office/drawing/2014/main" id="{527DB0B9-97BC-9D9A-3472-5413E6B904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26" y="14167"/>
              <a:ext cx="540" cy="3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R</a:t>
              </a:r>
              <a:r>
                <a:rPr kumimoji="0" lang="fr-FR" sz="11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C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8" name="Text Box 53">
              <a:extLst>
                <a:ext uri="{FF2B5EF4-FFF2-40B4-BE49-F238E27FC236}">
                  <a16:creationId xmlns:a16="http://schemas.microsoft.com/office/drawing/2014/main" id="{9F5BAB43-027B-6FE8-58D3-12DC11277E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50" y="13921"/>
              <a:ext cx="498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v</a:t>
              </a:r>
              <a:r>
                <a:rPr kumimoji="0" lang="fr-FR" sz="11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s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9" name="Text Box 54">
              <a:extLst>
                <a:ext uri="{FF2B5EF4-FFF2-40B4-BE49-F238E27FC236}">
                  <a16:creationId xmlns:a16="http://schemas.microsoft.com/office/drawing/2014/main" id="{B2DB715D-537A-96E5-275E-BD495A26C1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0" y="13963"/>
              <a:ext cx="498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v</a:t>
              </a:r>
              <a:r>
                <a:rPr kumimoji="0" lang="fr-FR" sz="11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e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0" name="Text Box 55">
              <a:extLst>
                <a:ext uri="{FF2B5EF4-FFF2-40B4-BE49-F238E27FC236}">
                  <a16:creationId xmlns:a16="http://schemas.microsoft.com/office/drawing/2014/main" id="{8E03D90B-B9C0-2DC7-019C-D8F27B2643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94" y="13057"/>
              <a:ext cx="498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i</a:t>
              </a:r>
              <a:r>
                <a:rPr kumimoji="0" lang="fr-FR" sz="11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s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1" name="Text Box 56">
              <a:extLst>
                <a:ext uri="{FF2B5EF4-FFF2-40B4-BE49-F238E27FC236}">
                  <a16:creationId xmlns:a16="http://schemas.microsoft.com/office/drawing/2014/main" id="{80C1C48E-9A9D-D85E-9B4B-A795F7F4B8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90" y="13201"/>
              <a:ext cx="498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i</a:t>
              </a:r>
              <a:r>
                <a:rPr kumimoji="0" lang="fr-FR" sz="11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b</a:t>
              </a:r>
              <a:endParaRPr kumimoji="0" 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2" name="Text Box 57">
              <a:extLst>
                <a:ext uri="{FF2B5EF4-FFF2-40B4-BE49-F238E27FC236}">
                  <a16:creationId xmlns:a16="http://schemas.microsoft.com/office/drawing/2014/main" id="{5E91C2B1-BA44-CFA4-16E5-16CD42A170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0" y="13051"/>
              <a:ext cx="498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i</a:t>
              </a:r>
              <a:r>
                <a:rPr kumimoji="0" lang="fr-FR" sz="11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e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3" name="Text Box 58">
              <a:extLst>
                <a:ext uri="{FF2B5EF4-FFF2-40B4-BE49-F238E27FC236}">
                  <a16:creationId xmlns:a16="http://schemas.microsoft.com/office/drawing/2014/main" id="{E86485B2-860F-33BD-B9E9-EBD192DFC9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26" y="14239"/>
              <a:ext cx="684" cy="4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non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4" name="Text Box 59">
              <a:extLst>
                <a:ext uri="{FF2B5EF4-FFF2-40B4-BE49-F238E27FC236}">
                  <a16:creationId xmlns:a16="http://schemas.microsoft.com/office/drawing/2014/main" id="{BD1F209D-30D4-12FB-3D68-9148BAD4EE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48" y="14077"/>
              <a:ext cx="540" cy="3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R</a:t>
              </a:r>
              <a:r>
                <a:rPr kumimoji="0" lang="fr-FR" sz="11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L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5" name="Text Box 60">
              <a:extLst>
                <a:ext uri="{FF2B5EF4-FFF2-40B4-BE49-F238E27FC236}">
                  <a16:creationId xmlns:a16="http://schemas.microsoft.com/office/drawing/2014/main" id="{BF2289F5-F40A-A68C-0E2A-0F8D55F60F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64" y="13537"/>
              <a:ext cx="768" cy="3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h</a:t>
              </a:r>
              <a:r>
                <a:rPr kumimoji="0" lang="fr-FR" sz="11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21e</a:t>
              </a:r>
              <a:r>
                <a:rPr kumimoji="0" lang="fr-FR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i</a:t>
              </a:r>
              <a:r>
                <a:rPr kumimoji="0" lang="fr-FR" sz="11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b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6" name="Text Box 61">
              <a:extLst>
                <a:ext uri="{FF2B5EF4-FFF2-40B4-BE49-F238E27FC236}">
                  <a16:creationId xmlns:a16="http://schemas.microsoft.com/office/drawing/2014/main" id="{CEDF891E-2123-56ED-E41D-5B60940D46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94" y="13519"/>
              <a:ext cx="612" cy="3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h</a:t>
              </a:r>
              <a:r>
                <a:rPr kumimoji="0" lang="fr-FR" sz="11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11e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7" name="Text Box 62">
              <a:extLst>
                <a:ext uri="{FF2B5EF4-FFF2-40B4-BE49-F238E27FC236}">
                  <a16:creationId xmlns:a16="http://schemas.microsoft.com/office/drawing/2014/main" id="{D46E3D6C-1B94-71BB-363A-20CCEBE482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06" y="13471"/>
              <a:ext cx="846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R</a:t>
              </a:r>
              <a:r>
                <a:rPr kumimoji="0" lang="fr-FR" sz="11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1</a:t>
              </a:r>
              <a:r>
                <a:rPr kumimoji="0" lang="fr-FR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//R</a:t>
              </a:r>
              <a:r>
                <a:rPr kumimoji="0" lang="fr-FR" sz="11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2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8" name="Text Box 63">
              <a:extLst>
                <a:ext uri="{FF2B5EF4-FFF2-40B4-BE49-F238E27FC236}">
                  <a16:creationId xmlns:a16="http://schemas.microsoft.com/office/drawing/2014/main" id="{D48676FF-3099-A428-CB8E-29D0A4DA61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8" y="13681"/>
              <a:ext cx="498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r</a:t>
              </a:r>
              <a:r>
                <a:rPr kumimoji="0" lang="fr-FR" sz="11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g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9" name="Text Box 64">
              <a:extLst>
                <a:ext uri="{FF2B5EF4-FFF2-40B4-BE49-F238E27FC236}">
                  <a16:creationId xmlns:a16="http://schemas.microsoft.com/office/drawing/2014/main" id="{AC349ED3-339C-6031-A467-7E3FA1A9F0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16" y="14281"/>
              <a:ext cx="498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e</a:t>
              </a:r>
              <a:r>
                <a:rPr kumimoji="0" lang="fr-FR" sz="11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g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0" name="Line 65">
              <a:extLst>
                <a:ext uri="{FF2B5EF4-FFF2-40B4-BE49-F238E27FC236}">
                  <a16:creationId xmlns:a16="http://schemas.microsoft.com/office/drawing/2014/main" id="{8535D456-08F0-2471-A875-9C2AD24A82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48" y="13411"/>
              <a:ext cx="0" cy="1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1" name="Oval 66">
              <a:extLst>
                <a:ext uri="{FF2B5EF4-FFF2-40B4-BE49-F238E27FC236}">
                  <a16:creationId xmlns:a16="http://schemas.microsoft.com/office/drawing/2014/main" id="{B2278BDC-5E02-F496-0308-2F4E293BDF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8" y="14083"/>
              <a:ext cx="378" cy="33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2" name="Line 67">
              <a:extLst>
                <a:ext uri="{FF2B5EF4-FFF2-40B4-BE49-F238E27FC236}">
                  <a16:creationId xmlns:a16="http://schemas.microsoft.com/office/drawing/2014/main" id="{0CF6AE3B-D7E8-243D-207B-555CC6A32D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0" y="13411"/>
              <a:ext cx="15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3" name="Line 68">
              <a:extLst>
                <a:ext uri="{FF2B5EF4-FFF2-40B4-BE49-F238E27FC236}">
                  <a16:creationId xmlns:a16="http://schemas.microsoft.com/office/drawing/2014/main" id="{0EC9AE5E-6EAA-4E81-D91D-51D62985C5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6" y="14923"/>
              <a:ext cx="37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4" name="Line 69">
              <a:extLst>
                <a:ext uri="{FF2B5EF4-FFF2-40B4-BE49-F238E27FC236}">
                  <a16:creationId xmlns:a16="http://schemas.microsoft.com/office/drawing/2014/main" id="{F5042F10-8636-959D-1AAA-EE30031231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54" y="13411"/>
              <a:ext cx="147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5" name="Line 70">
              <a:extLst>
                <a:ext uri="{FF2B5EF4-FFF2-40B4-BE49-F238E27FC236}">
                  <a16:creationId xmlns:a16="http://schemas.microsoft.com/office/drawing/2014/main" id="{2BC91028-336C-376A-0F8B-E46CA3CF05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42" y="13411"/>
              <a:ext cx="0" cy="1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6" name="Line 71">
              <a:extLst>
                <a:ext uri="{FF2B5EF4-FFF2-40B4-BE49-F238E27FC236}">
                  <a16:creationId xmlns:a16="http://schemas.microsoft.com/office/drawing/2014/main" id="{3E700A05-AE77-7FAA-2B92-7CE37B992D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78" y="13411"/>
              <a:ext cx="0" cy="1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7" name="Oval 72">
              <a:extLst>
                <a:ext uri="{FF2B5EF4-FFF2-40B4-BE49-F238E27FC236}">
                  <a16:creationId xmlns:a16="http://schemas.microsoft.com/office/drawing/2014/main" id="{6A5775E4-01FE-7097-E968-E220597EA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8" y="13843"/>
              <a:ext cx="378" cy="33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8" name="Line 73">
              <a:extLst>
                <a:ext uri="{FF2B5EF4-FFF2-40B4-BE49-F238E27FC236}">
                  <a16:creationId xmlns:a16="http://schemas.microsoft.com/office/drawing/2014/main" id="{715564DD-E1E4-C165-B7AD-57500BC577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8" y="13411"/>
              <a:ext cx="0" cy="1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9" name="Line 74">
              <a:extLst>
                <a:ext uri="{FF2B5EF4-FFF2-40B4-BE49-F238E27FC236}">
                  <a16:creationId xmlns:a16="http://schemas.microsoft.com/office/drawing/2014/main" id="{1E2DBF99-7C53-07BA-31BC-0DABCFB7B2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2" y="13411"/>
              <a:ext cx="0" cy="1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0" name="Line 75">
              <a:extLst>
                <a:ext uri="{FF2B5EF4-FFF2-40B4-BE49-F238E27FC236}">
                  <a16:creationId xmlns:a16="http://schemas.microsoft.com/office/drawing/2014/main" id="{83936E45-7BC6-8217-45C9-17D3401921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0" y="13411"/>
              <a:ext cx="0" cy="1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1" name="Rectangle 76">
              <a:extLst>
                <a:ext uri="{FF2B5EF4-FFF2-40B4-BE49-F238E27FC236}">
                  <a16:creationId xmlns:a16="http://schemas.microsoft.com/office/drawing/2014/main" id="{602A9ACA-3025-0EF5-0D31-063BE9981D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6" y="13855"/>
              <a:ext cx="168" cy="6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2" name="Rectangle 77">
              <a:extLst>
                <a:ext uri="{FF2B5EF4-FFF2-40B4-BE49-F238E27FC236}">
                  <a16:creationId xmlns:a16="http://schemas.microsoft.com/office/drawing/2014/main" id="{4F7BB6B7-A79E-6097-9EFD-8A6DCFB950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14" y="13855"/>
              <a:ext cx="168" cy="6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3" name="Rectangle 78">
              <a:extLst>
                <a:ext uri="{FF2B5EF4-FFF2-40B4-BE49-F238E27FC236}">
                  <a16:creationId xmlns:a16="http://schemas.microsoft.com/office/drawing/2014/main" id="{2A7BCCBD-2334-928A-B049-B72E203230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4" y="13843"/>
              <a:ext cx="168" cy="6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4" name="Rectangle 79">
              <a:extLst>
                <a:ext uri="{FF2B5EF4-FFF2-40B4-BE49-F238E27FC236}">
                  <a16:creationId xmlns:a16="http://schemas.microsoft.com/office/drawing/2014/main" id="{BAC7FF6F-10E0-E121-3563-E4356D4342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46" y="13831"/>
              <a:ext cx="168" cy="6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5" name="Rectangle 80">
              <a:extLst>
                <a:ext uri="{FF2B5EF4-FFF2-40B4-BE49-F238E27FC236}">
                  <a16:creationId xmlns:a16="http://schemas.microsoft.com/office/drawing/2014/main" id="{28446247-2455-71CD-C31B-636E007187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8" y="13693"/>
              <a:ext cx="15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6" name="Oval 81">
              <a:extLst>
                <a:ext uri="{FF2B5EF4-FFF2-40B4-BE49-F238E27FC236}">
                  <a16:creationId xmlns:a16="http://schemas.microsoft.com/office/drawing/2014/main" id="{25724736-1C4D-0820-7C9C-E70718B285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2" y="14251"/>
              <a:ext cx="402" cy="40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7" name="Line 82">
              <a:extLst>
                <a:ext uri="{FF2B5EF4-FFF2-40B4-BE49-F238E27FC236}">
                  <a16:creationId xmlns:a16="http://schemas.microsoft.com/office/drawing/2014/main" id="{86A050CD-39C2-EE5B-FD75-08AACE55D9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54" y="14011"/>
              <a:ext cx="0" cy="3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8" name="Line 83">
              <a:extLst>
                <a:ext uri="{FF2B5EF4-FFF2-40B4-BE49-F238E27FC236}">
                  <a16:creationId xmlns:a16="http://schemas.microsoft.com/office/drawing/2014/main" id="{52CD4908-7337-846C-68B8-91096FE685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710" y="13441"/>
              <a:ext cx="0" cy="13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9" name="Line 84">
              <a:extLst>
                <a:ext uri="{FF2B5EF4-FFF2-40B4-BE49-F238E27FC236}">
                  <a16:creationId xmlns:a16="http://schemas.microsoft.com/office/drawing/2014/main" id="{C41BDE5A-F185-C0DC-A6F1-1801B1C818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70" y="13393"/>
              <a:ext cx="0" cy="14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0" name="Line 85">
              <a:extLst>
                <a:ext uri="{FF2B5EF4-FFF2-40B4-BE49-F238E27FC236}">
                  <a16:creationId xmlns:a16="http://schemas.microsoft.com/office/drawing/2014/main" id="{71A7BB73-2B2F-C2DE-2B7A-F969A2AB52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22" y="13411"/>
              <a:ext cx="1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1" name="Line 86">
              <a:extLst>
                <a:ext uri="{FF2B5EF4-FFF2-40B4-BE49-F238E27FC236}">
                  <a16:creationId xmlns:a16="http://schemas.microsoft.com/office/drawing/2014/main" id="{E1855404-CEE8-7D06-6859-47BC692D79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8" y="13483"/>
              <a:ext cx="0" cy="1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" name="Line 87">
              <a:extLst>
                <a:ext uri="{FF2B5EF4-FFF2-40B4-BE49-F238E27FC236}">
                  <a16:creationId xmlns:a16="http://schemas.microsoft.com/office/drawing/2014/main" id="{749B5E3A-8019-A3CF-DB18-C40DDD0B77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20" y="13411"/>
              <a:ext cx="10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3" name="Line 88">
              <a:extLst>
                <a:ext uri="{FF2B5EF4-FFF2-40B4-BE49-F238E27FC236}">
                  <a16:creationId xmlns:a16="http://schemas.microsoft.com/office/drawing/2014/main" id="{930D9272-588C-A656-A2DB-A4C3B74B67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774" y="13411"/>
              <a:ext cx="0" cy="14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4" name="Rectangle 89">
              <a:extLst>
                <a:ext uri="{FF2B5EF4-FFF2-40B4-BE49-F238E27FC236}">
                  <a16:creationId xmlns:a16="http://schemas.microsoft.com/office/drawing/2014/main" id="{30CC8931-4ECF-F0B7-0C8F-2A2AC1A8D2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0" y="13831"/>
              <a:ext cx="168" cy="6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59053949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6"/>
            <a:ext cx="52086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-Transistor-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1620" y="507690"/>
            <a:ext cx="75917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Transistor bipolaire en régime variable et faibles signaux</a:t>
            </a: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715000" y="365260"/>
            <a:ext cx="3328256" cy="10117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46">
            <a:extLst>
              <a:ext uri="{FF2B5EF4-FFF2-40B4-BE49-F238E27FC236}">
                <a16:creationId xmlns:a16="http://schemas.microsoft.com/office/drawing/2014/main" id="{7198176F-4D83-4A98-1EFA-F78693C2B68B}"/>
              </a:ext>
            </a:extLst>
          </p:cNvPr>
          <p:cNvSpPr txBox="1"/>
          <p:nvPr/>
        </p:nvSpPr>
        <p:spPr>
          <a:xfrm>
            <a:off x="8828933" y="486598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62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3206C0-B920-4CD8-8FF9-7BD8ABA1AB10}"/>
              </a:ext>
            </a:extLst>
          </p:cNvPr>
          <p:cNvSpPr txBox="1"/>
          <p:nvPr/>
        </p:nvSpPr>
        <p:spPr>
          <a:xfrm>
            <a:off x="629165" y="825591"/>
            <a:ext cx="8685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600" b="1" spc="-5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defRPr>
            </a:lvl1pPr>
          </a:lstStyle>
          <a:p>
            <a:r>
              <a:rPr lang="fr-FR" sz="1400" dirty="0"/>
              <a:t>5.2 Transistor en amplification</a:t>
            </a:r>
          </a:p>
        </p:txBody>
      </p:sp>
      <p:grpSp>
        <p:nvGrpSpPr>
          <p:cNvPr id="64" name="Group 51">
            <a:extLst>
              <a:ext uri="{FF2B5EF4-FFF2-40B4-BE49-F238E27FC236}">
                <a16:creationId xmlns:a16="http://schemas.microsoft.com/office/drawing/2014/main" id="{B679DC5E-DC42-B235-12D2-F74C82387FE3}"/>
              </a:ext>
            </a:extLst>
          </p:cNvPr>
          <p:cNvGrpSpPr>
            <a:grpSpLocks/>
          </p:cNvGrpSpPr>
          <p:nvPr/>
        </p:nvGrpSpPr>
        <p:grpSpPr bwMode="auto">
          <a:xfrm>
            <a:off x="658743" y="3204625"/>
            <a:ext cx="4464057" cy="1857388"/>
            <a:chOff x="5580" y="13051"/>
            <a:chExt cx="5568" cy="1872"/>
          </a:xfrm>
        </p:grpSpPr>
        <p:sp>
          <p:nvSpPr>
            <p:cNvPr id="67" name="Text Box 52">
              <a:extLst>
                <a:ext uri="{FF2B5EF4-FFF2-40B4-BE49-F238E27FC236}">
                  <a16:creationId xmlns:a16="http://schemas.microsoft.com/office/drawing/2014/main" id="{527DB0B9-97BC-9D9A-3472-5413E6B904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26" y="14167"/>
              <a:ext cx="540" cy="3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R</a:t>
              </a:r>
              <a:r>
                <a:rPr kumimoji="0" lang="fr-FR" sz="11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C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8" name="Text Box 53">
              <a:extLst>
                <a:ext uri="{FF2B5EF4-FFF2-40B4-BE49-F238E27FC236}">
                  <a16:creationId xmlns:a16="http://schemas.microsoft.com/office/drawing/2014/main" id="{9F5BAB43-027B-6FE8-58D3-12DC11277E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50" y="13921"/>
              <a:ext cx="498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v</a:t>
              </a:r>
              <a:r>
                <a:rPr kumimoji="0" lang="fr-FR" sz="11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s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9" name="Text Box 54">
              <a:extLst>
                <a:ext uri="{FF2B5EF4-FFF2-40B4-BE49-F238E27FC236}">
                  <a16:creationId xmlns:a16="http://schemas.microsoft.com/office/drawing/2014/main" id="{B2DB715D-537A-96E5-275E-BD495A26C1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0" y="13963"/>
              <a:ext cx="498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v</a:t>
              </a:r>
              <a:r>
                <a:rPr kumimoji="0" lang="fr-FR" sz="11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e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0" name="Text Box 55">
              <a:extLst>
                <a:ext uri="{FF2B5EF4-FFF2-40B4-BE49-F238E27FC236}">
                  <a16:creationId xmlns:a16="http://schemas.microsoft.com/office/drawing/2014/main" id="{8E03D90B-B9C0-2DC7-019C-D8F27B2643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94" y="13057"/>
              <a:ext cx="498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i</a:t>
              </a:r>
              <a:r>
                <a:rPr kumimoji="0" lang="fr-FR" sz="11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s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1" name="Text Box 56">
              <a:extLst>
                <a:ext uri="{FF2B5EF4-FFF2-40B4-BE49-F238E27FC236}">
                  <a16:creationId xmlns:a16="http://schemas.microsoft.com/office/drawing/2014/main" id="{80C1C48E-9A9D-D85E-9B4B-A795F7F4B8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90" y="13201"/>
              <a:ext cx="498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i</a:t>
              </a:r>
              <a:r>
                <a:rPr kumimoji="0" lang="fr-FR" sz="11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b</a:t>
              </a:r>
              <a:endParaRPr kumimoji="0" 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2" name="Text Box 57">
              <a:extLst>
                <a:ext uri="{FF2B5EF4-FFF2-40B4-BE49-F238E27FC236}">
                  <a16:creationId xmlns:a16="http://schemas.microsoft.com/office/drawing/2014/main" id="{5E91C2B1-BA44-CFA4-16E5-16CD42A170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0" y="13051"/>
              <a:ext cx="498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i</a:t>
              </a:r>
              <a:r>
                <a:rPr kumimoji="0" lang="fr-FR" sz="11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e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3" name="Text Box 58">
              <a:extLst>
                <a:ext uri="{FF2B5EF4-FFF2-40B4-BE49-F238E27FC236}">
                  <a16:creationId xmlns:a16="http://schemas.microsoft.com/office/drawing/2014/main" id="{E86485B2-860F-33BD-B9E9-EBD192DFC9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26" y="14239"/>
              <a:ext cx="684" cy="4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non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4" name="Text Box 59">
              <a:extLst>
                <a:ext uri="{FF2B5EF4-FFF2-40B4-BE49-F238E27FC236}">
                  <a16:creationId xmlns:a16="http://schemas.microsoft.com/office/drawing/2014/main" id="{BD1F209D-30D4-12FB-3D68-9148BAD4EE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48" y="14077"/>
              <a:ext cx="540" cy="3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R</a:t>
              </a:r>
              <a:r>
                <a:rPr kumimoji="0" lang="fr-FR" sz="11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L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5" name="Text Box 60">
              <a:extLst>
                <a:ext uri="{FF2B5EF4-FFF2-40B4-BE49-F238E27FC236}">
                  <a16:creationId xmlns:a16="http://schemas.microsoft.com/office/drawing/2014/main" id="{BF2289F5-F40A-A68C-0E2A-0F8D55F60F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64" y="13537"/>
              <a:ext cx="768" cy="3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h</a:t>
              </a:r>
              <a:r>
                <a:rPr kumimoji="0" lang="fr-FR" sz="11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21e</a:t>
              </a:r>
              <a:r>
                <a:rPr kumimoji="0" lang="fr-FR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i</a:t>
              </a:r>
              <a:r>
                <a:rPr kumimoji="0" lang="fr-FR" sz="11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b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6" name="Text Box 61">
              <a:extLst>
                <a:ext uri="{FF2B5EF4-FFF2-40B4-BE49-F238E27FC236}">
                  <a16:creationId xmlns:a16="http://schemas.microsoft.com/office/drawing/2014/main" id="{CEDF891E-2123-56ED-E41D-5B60940D46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94" y="13519"/>
              <a:ext cx="612" cy="3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h</a:t>
              </a:r>
              <a:r>
                <a:rPr kumimoji="0" lang="fr-FR" sz="11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11e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7" name="Text Box 62">
              <a:extLst>
                <a:ext uri="{FF2B5EF4-FFF2-40B4-BE49-F238E27FC236}">
                  <a16:creationId xmlns:a16="http://schemas.microsoft.com/office/drawing/2014/main" id="{D46E3D6C-1B94-71BB-363A-20CCEBE482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06" y="13471"/>
              <a:ext cx="846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R</a:t>
              </a:r>
              <a:r>
                <a:rPr kumimoji="0" lang="fr-FR" sz="11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1</a:t>
              </a:r>
              <a:r>
                <a:rPr kumimoji="0" lang="fr-FR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//R</a:t>
              </a:r>
              <a:r>
                <a:rPr kumimoji="0" lang="fr-FR" sz="11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2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8" name="Text Box 63">
              <a:extLst>
                <a:ext uri="{FF2B5EF4-FFF2-40B4-BE49-F238E27FC236}">
                  <a16:creationId xmlns:a16="http://schemas.microsoft.com/office/drawing/2014/main" id="{D48676FF-3099-A428-CB8E-29D0A4DA61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8" y="13681"/>
              <a:ext cx="498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r</a:t>
              </a:r>
              <a:r>
                <a:rPr kumimoji="0" lang="fr-FR" sz="11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g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9" name="Text Box 64">
              <a:extLst>
                <a:ext uri="{FF2B5EF4-FFF2-40B4-BE49-F238E27FC236}">
                  <a16:creationId xmlns:a16="http://schemas.microsoft.com/office/drawing/2014/main" id="{AC349ED3-339C-6031-A467-7E3FA1A9F0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16" y="14281"/>
              <a:ext cx="498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e</a:t>
              </a:r>
              <a:r>
                <a:rPr kumimoji="0" lang="fr-FR" sz="11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g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0" name="Line 65">
              <a:extLst>
                <a:ext uri="{FF2B5EF4-FFF2-40B4-BE49-F238E27FC236}">
                  <a16:creationId xmlns:a16="http://schemas.microsoft.com/office/drawing/2014/main" id="{8535D456-08F0-2471-A875-9C2AD24A82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48" y="13411"/>
              <a:ext cx="0" cy="1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1" name="Oval 66">
              <a:extLst>
                <a:ext uri="{FF2B5EF4-FFF2-40B4-BE49-F238E27FC236}">
                  <a16:creationId xmlns:a16="http://schemas.microsoft.com/office/drawing/2014/main" id="{B2278BDC-5E02-F496-0308-2F4E293BDF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8" y="14083"/>
              <a:ext cx="378" cy="33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2" name="Line 67">
              <a:extLst>
                <a:ext uri="{FF2B5EF4-FFF2-40B4-BE49-F238E27FC236}">
                  <a16:creationId xmlns:a16="http://schemas.microsoft.com/office/drawing/2014/main" id="{0CF6AE3B-D7E8-243D-207B-555CC6A32D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0" y="13411"/>
              <a:ext cx="15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3" name="Line 68">
              <a:extLst>
                <a:ext uri="{FF2B5EF4-FFF2-40B4-BE49-F238E27FC236}">
                  <a16:creationId xmlns:a16="http://schemas.microsoft.com/office/drawing/2014/main" id="{0EC9AE5E-6EAA-4E81-D91D-51D62985C5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6" y="14923"/>
              <a:ext cx="37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4" name="Line 69">
              <a:extLst>
                <a:ext uri="{FF2B5EF4-FFF2-40B4-BE49-F238E27FC236}">
                  <a16:creationId xmlns:a16="http://schemas.microsoft.com/office/drawing/2014/main" id="{F5042F10-8636-959D-1AAA-EE30031231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54" y="13411"/>
              <a:ext cx="147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5" name="Line 70">
              <a:extLst>
                <a:ext uri="{FF2B5EF4-FFF2-40B4-BE49-F238E27FC236}">
                  <a16:creationId xmlns:a16="http://schemas.microsoft.com/office/drawing/2014/main" id="{2BC91028-336C-376A-0F8B-E46CA3CF05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42" y="13411"/>
              <a:ext cx="0" cy="1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6" name="Line 71">
              <a:extLst>
                <a:ext uri="{FF2B5EF4-FFF2-40B4-BE49-F238E27FC236}">
                  <a16:creationId xmlns:a16="http://schemas.microsoft.com/office/drawing/2014/main" id="{3E700A05-AE77-7FAA-2B92-7CE37B992D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78" y="13411"/>
              <a:ext cx="0" cy="1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7" name="Oval 72">
              <a:extLst>
                <a:ext uri="{FF2B5EF4-FFF2-40B4-BE49-F238E27FC236}">
                  <a16:creationId xmlns:a16="http://schemas.microsoft.com/office/drawing/2014/main" id="{6A5775E4-01FE-7097-E968-E220597EA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8" y="13843"/>
              <a:ext cx="378" cy="33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8" name="Line 73">
              <a:extLst>
                <a:ext uri="{FF2B5EF4-FFF2-40B4-BE49-F238E27FC236}">
                  <a16:creationId xmlns:a16="http://schemas.microsoft.com/office/drawing/2014/main" id="{715564DD-E1E4-C165-B7AD-57500BC577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8" y="13411"/>
              <a:ext cx="0" cy="1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9" name="Line 74">
              <a:extLst>
                <a:ext uri="{FF2B5EF4-FFF2-40B4-BE49-F238E27FC236}">
                  <a16:creationId xmlns:a16="http://schemas.microsoft.com/office/drawing/2014/main" id="{1E2DBF99-7C53-07BA-31BC-0DABCFB7B2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2" y="13411"/>
              <a:ext cx="0" cy="1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0" name="Line 75">
              <a:extLst>
                <a:ext uri="{FF2B5EF4-FFF2-40B4-BE49-F238E27FC236}">
                  <a16:creationId xmlns:a16="http://schemas.microsoft.com/office/drawing/2014/main" id="{83936E45-7BC6-8217-45C9-17D3401921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0" y="13411"/>
              <a:ext cx="0" cy="1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1" name="Rectangle 76">
              <a:extLst>
                <a:ext uri="{FF2B5EF4-FFF2-40B4-BE49-F238E27FC236}">
                  <a16:creationId xmlns:a16="http://schemas.microsoft.com/office/drawing/2014/main" id="{602A9ACA-3025-0EF5-0D31-063BE9981D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6" y="13855"/>
              <a:ext cx="168" cy="6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2" name="Rectangle 77">
              <a:extLst>
                <a:ext uri="{FF2B5EF4-FFF2-40B4-BE49-F238E27FC236}">
                  <a16:creationId xmlns:a16="http://schemas.microsoft.com/office/drawing/2014/main" id="{4F7BB6B7-A79E-6097-9EFD-8A6DCFB950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14" y="13855"/>
              <a:ext cx="168" cy="6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3" name="Rectangle 78">
              <a:extLst>
                <a:ext uri="{FF2B5EF4-FFF2-40B4-BE49-F238E27FC236}">
                  <a16:creationId xmlns:a16="http://schemas.microsoft.com/office/drawing/2014/main" id="{2A7BCCBD-2334-928A-B049-B72E203230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4" y="13843"/>
              <a:ext cx="168" cy="6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4" name="Rectangle 79">
              <a:extLst>
                <a:ext uri="{FF2B5EF4-FFF2-40B4-BE49-F238E27FC236}">
                  <a16:creationId xmlns:a16="http://schemas.microsoft.com/office/drawing/2014/main" id="{BAC7FF6F-10E0-E121-3563-E4356D4342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46" y="13831"/>
              <a:ext cx="168" cy="6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5" name="Rectangle 80">
              <a:extLst>
                <a:ext uri="{FF2B5EF4-FFF2-40B4-BE49-F238E27FC236}">
                  <a16:creationId xmlns:a16="http://schemas.microsoft.com/office/drawing/2014/main" id="{28446247-2455-71CD-C31B-636E007187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8" y="13693"/>
              <a:ext cx="15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6" name="Oval 81">
              <a:extLst>
                <a:ext uri="{FF2B5EF4-FFF2-40B4-BE49-F238E27FC236}">
                  <a16:creationId xmlns:a16="http://schemas.microsoft.com/office/drawing/2014/main" id="{25724736-1C4D-0820-7C9C-E70718B285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2" y="14251"/>
              <a:ext cx="402" cy="40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7" name="Line 82">
              <a:extLst>
                <a:ext uri="{FF2B5EF4-FFF2-40B4-BE49-F238E27FC236}">
                  <a16:creationId xmlns:a16="http://schemas.microsoft.com/office/drawing/2014/main" id="{86A050CD-39C2-EE5B-FD75-08AACE55D9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54" y="14011"/>
              <a:ext cx="0" cy="3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8" name="Line 83">
              <a:extLst>
                <a:ext uri="{FF2B5EF4-FFF2-40B4-BE49-F238E27FC236}">
                  <a16:creationId xmlns:a16="http://schemas.microsoft.com/office/drawing/2014/main" id="{52CD4908-7337-846C-68B8-91096FE685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710" y="13441"/>
              <a:ext cx="0" cy="13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9" name="Line 84">
              <a:extLst>
                <a:ext uri="{FF2B5EF4-FFF2-40B4-BE49-F238E27FC236}">
                  <a16:creationId xmlns:a16="http://schemas.microsoft.com/office/drawing/2014/main" id="{C41BDE5A-F185-C0DC-A6F1-1801B1C818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70" y="13393"/>
              <a:ext cx="0" cy="14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0" name="Line 85">
              <a:extLst>
                <a:ext uri="{FF2B5EF4-FFF2-40B4-BE49-F238E27FC236}">
                  <a16:creationId xmlns:a16="http://schemas.microsoft.com/office/drawing/2014/main" id="{71A7BB73-2B2F-C2DE-2B7A-F969A2AB52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22" y="13411"/>
              <a:ext cx="1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1" name="Line 86">
              <a:extLst>
                <a:ext uri="{FF2B5EF4-FFF2-40B4-BE49-F238E27FC236}">
                  <a16:creationId xmlns:a16="http://schemas.microsoft.com/office/drawing/2014/main" id="{E1855404-CEE8-7D06-6859-47BC692D79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8" y="13483"/>
              <a:ext cx="0" cy="1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" name="Line 87">
              <a:extLst>
                <a:ext uri="{FF2B5EF4-FFF2-40B4-BE49-F238E27FC236}">
                  <a16:creationId xmlns:a16="http://schemas.microsoft.com/office/drawing/2014/main" id="{749B5E3A-8019-A3CF-DB18-C40DDD0B77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20" y="13411"/>
              <a:ext cx="10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3" name="Line 88">
              <a:extLst>
                <a:ext uri="{FF2B5EF4-FFF2-40B4-BE49-F238E27FC236}">
                  <a16:creationId xmlns:a16="http://schemas.microsoft.com/office/drawing/2014/main" id="{930D9272-588C-A656-A2DB-A4C3B74B67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774" y="13411"/>
              <a:ext cx="0" cy="14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4" name="Rectangle 89">
              <a:extLst>
                <a:ext uri="{FF2B5EF4-FFF2-40B4-BE49-F238E27FC236}">
                  <a16:creationId xmlns:a16="http://schemas.microsoft.com/office/drawing/2014/main" id="{30CC8931-4ECF-F0B7-0C8F-2A2AC1A8D2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0" y="13831"/>
              <a:ext cx="168" cy="6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4" name="Rectangle 74">
            <a:extLst>
              <a:ext uri="{FF2B5EF4-FFF2-40B4-BE49-F238E27FC236}">
                <a16:creationId xmlns:a16="http://schemas.microsoft.com/office/drawing/2014/main" id="{944E1A75-7033-5485-10D0-E7737BE2B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301" y="1167025"/>
            <a:ext cx="277649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Low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v-SE" b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- </a:t>
            </a:r>
            <a:r>
              <a:rPr kumimoji="0" lang="sv-SE" b="1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Gain en tension :</a:t>
            </a:r>
            <a:endParaRPr kumimoji="0" lang="sv-SE" b="1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Bookman Old Style" panose="02050604050505020204" pitchFamily="18" charset="0"/>
              <a:cs typeface="Arial" pitchFamily="34" charset="0"/>
            </a:endParaRPr>
          </a:p>
        </p:txBody>
      </p:sp>
      <p:graphicFrame>
        <p:nvGraphicFramePr>
          <p:cNvPr id="105" name="Object 73">
            <a:extLst>
              <a:ext uri="{FF2B5EF4-FFF2-40B4-BE49-F238E27FC236}">
                <a16:creationId xmlns:a16="http://schemas.microsoft.com/office/drawing/2014/main" id="{F80BA2C1-7BEE-7506-2031-1E8DDEDFFC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3293212"/>
              </p:ext>
            </p:extLst>
          </p:nvPr>
        </p:nvGraphicFramePr>
        <p:xfrm>
          <a:off x="3188575" y="1152451"/>
          <a:ext cx="775901" cy="547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82810" imgH="343049" progId="Equation.DSMT4">
                  <p:embed/>
                </p:oleObj>
              </mc:Choice>
              <mc:Fallback>
                <p:oleObj name="Equation" r:id="rId3" imgW="482810" imgH="343049" progId="Equation.DSMT4">
                  <p:embed/>
                  <p:pic>
                    <p:nvPicPr>
                      <p:cNvPr id="51273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8575" y="1152451"/>
                        <a:ext cx="775901" cy="54769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" name="Rectangle 76">
            <a:extLst>
              <a:ext uri="{FF2B5EF4-FFF2-40B4-BE49-F238E27FC236}">
                <a16:creationId xmlns:a16="http://schemas.microsoft.com/office/drawing/2014/main" id="{887ED6E4-91A6-C280-86A0-AF7C92EB8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400" y="1743638"/>
            <a:ext cx="729879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Low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v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v</a:t>
            </a:r>
            <a:r>
              <a:rPr kumimoji="0" lang="sv-SE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e</a:t>
            </a:r>
            <a:r>
              <a:rPr kumimoji="0" lang="sv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 = (R</a:t>
            </a:r>
            <a:r>
              <a:rPr kumimoji="0" lang="sv-SE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1</a:t>
            </a:r>
            <a:r>
              <a:rPr kumimoji="0" lang="sv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//R</a:t>
            </a:r>
            <a:r>
              <a:rPr kumimoji="0" lang="sv-SE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2</a:t>
            </a:r>
            <a:r>
              <a:rPr kumimoji="0" lang="sv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//h</a:t>
            </a:r>
            <a:r>
              <a:rPr kumimoji="0" lang="sv-SE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11e</a:t>
            </a:r>
            <a:r>
              <a:rPr kumimoji="0" lang="sv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)i</a:t>
            </a:r>
            <a:r>
              <a:rPr kumimoji="0" lang="sv-SE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e</a:t>
            </a:r>
            <a:r>
              <a:rPr kumimoji="0" lang="sv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 = h</a:t>
            </a:r>
            <a:r>
              <a:rPr kumimoji="0" lang="sv-SE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11e</a:t>
            </a:r>
            <a:r>
              <a:rPr kumimoji="0" lang="sv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 i</a:t>
            </a:r>
            <a:r>
              <a:rPr kumimoji="0" lang="sv-SE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b</a:t>
            </a:r>
            <a:r>
              <a:rPr kumimoji="0" lang="sv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		v</a:t>
            </a:r>
            <a:r>
              <a:rPr kumimoji="0" lang="sv-SE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s</a:t>
            </a:r>
            <a:r>
              <a:rPr kumimoji="0" lang="sv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 = -(R</a:t>
            </a:r>
            <a:r>
              <a:rPr kumimoji="0" lang="sv-SE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L</a:t>
            </a:r>
            <a:r>
              <a:rPr kumimoji="0" lang="sv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//h</a:t>
            </a:r>
            <a:r>
              <a:rPr kumimoji="0" lang="sv-SE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22e</a:t>
            </a:r>
            <a:r>
              <a:rPr kumimoji="0" lang="sv-SE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-1</a:t>
            </a:r>
            <a:r>
              <a:rPr kumimoji="0" lang="sv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 h</a:t>
            </a:r>
            <a:r>
              <a:rPr kumimoji="0" lang="sv-SE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21e</a:t>
            </a:r>
            <a:r>
              <a:rPr kumimoji="0" lang="sv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)i</a:t>
            </a:r>
            <a:r>
              <a:rPr kumimoji="0" lang="sv-SE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b</a:t>
            </a:r>
            <a:endParaRPr kumimoji="0" lang="sv-S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  <a:cs typeface="Arial" pitchFamily="34" charset="0"/>
            </a:endParaRPr>
          </a:p>
        </p:txBody>
      </p:sp>
      <p:graphicFrame>
        <p:nvGraphicFramePr>
          <p:cNvPr id="107" name="Object 77">
            <a:extLst>
              <a:ext uri="{FF2B5EF4-FFF2-40B4-BE49-F238E27FC236}">
                <a16:creationId xmlns:a16="http://schemas.microsoft.com/office/drawing/2014/main" id="{2693C386-FC49-929F-7F07-03D0D2A1C1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7235206"/>
              </p:ext>
            </p:extLst>
          </p:nvPr>
        </p:nvGraphicFramePr>
        <p:xfrm>
          <a:off x="1326412" y="2357380"/>
          <a:ext cx="1865408" cy="693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155700" imgH="431800" progId="">
                  <p:embed/>
                </p:oleObj>
              </mc:Choice>
              <mc:Fallback>
                <p:oleObj r:id="rId5" imgW="1155700" imgH="431800" progId="">
                  <p:embed/>
                  <p:pic>
                    <p:nvPicPr>
                      <p:cNvPr id="51277" name="Object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6412" y="2357380"/>
                        <a:ext cx="1865408" cy="69374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" name="Rectangle 107">
            <a:extLst>
              <a:ext uri="{FF2B5EF4-FFF2-40B4-BE49-F238E27FC236}">
                <a16:creationId xmlns:a16="http://schemas.microsoft.com/office/drawing/2014/main" id="{14E197F3-34E7-7D47-4E8F-ADAC962C195A}"/>
              </a:ext>
            </a:extLst>
          </p:cNvPr>
          <p:cNvSpPr/>
          <p:nvPr/>
        </p:nvSpPr>
        <p:spPr>
          <a:xfrm>
            <a:off x="5313209" y="3040330"/>
            <a:ext cx="20072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>
                <a:latin typeface="Bookman Old Style" panose="02050604050505020204" pitchFamily="18" charset="0"/>
              </a:rPr>
              <a:t> si h</a:t>
            </a:r>
            <a:r>
              <a:rPr lang="fr-FR" baseline="-25000" dirty="0">
                <a:latin typeface="Bookman Old Style" panose="02050604050505020204" pitchFamily="18" charset="0"/>
              </a:rPr>
              <a:t>22e</a:t>
            </a:r>
            <a:r>
              <a:rPr lang="fr-FR" baseline="30000" dirty="0">
                <a:latin typeface="Bookman Old Style" panose="02050604050505020204" pitchFamily="18" charset="0"/>
              </a:rPr>
              <a:t>-1</a:t>
            </a:r>
            <a:r>
              <a:rPr lang="fr-FR" dirty="0">
                <a:latin typeface="Bookman Old Style" panose="02050604050505020204" pitchFamily="18" charset="0"/>
              </a:rPr>
              <a:t>&gt;&gt; R</a:t>
            </a:r>
            <a:r>
              <a:rPr lang="fr-FR" baseline="-25000" dirty="0">
                <a:latin typeface="Bookman Old Style" panose="02050604050505020204" pitchFamily="18" charset="0"/>
              </a:rPr>
              <a:t>L</a:t>
            </a:r>
            <a:r>
              <a:rPr lang="fr-FR" dirty="0">
                <a:latin typeface="Bookman Old Style" panose="02050604050505020204" pitchFamily="18" charset="0"/>
              </a:rPr>
              <a:t>  : </a:t>
            </a:r>
          </a:p>
        </p:txBody>
      </p:sp>
      <p:graphicFrame>
        <p:nvGraphicFramePr>
          <p:cNvPr id="109" name="Object 80">
            <a:extLst>
              <a:ext uri="{FF2B5EF4-FFF2-40B4-BE49-F238E27FC236}">
                <a16:creationId xmlns:a16="http://schemas.microsoft.com/office/drawing/2014/main" id="{2CE19927-1269-BDD3-AD3F-13D7EB6CE4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0793689"/>
              </p:ext>
            </p:extLst>
          </p:nvPr>
        </p:nvGraphicFramePr>
        <p:xfrm>
          <a:off x="6934200" y="4201853"/>
          <a:ext cx="1387494" cy="632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749300" imgH="342900" progId="">
                  <p:embed/>
                </p:oleObj>
              </mc:Choice>
              <mc:Fallback>
                <p:oleObj r:id="rId7" imgW="749300" imgH="342900" progId="">
                  <p:embed/>
                  <p:pic>
                    <p:nvPicPr>
                      <p:cNvPr id="51280" name="Object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4201853"/>
                        <a:ext cx="1387494" cy="63227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0533996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6"/>
            <a:ext cx="52086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-Transistor-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1620" y="507690"/>
            <a:ext cx="75917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Transistor bipolaire en régime variable et faibles signaux</a:t>
            </a: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715000" y="365260"/>
            <a:ext cx="3328256" cy="10117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46">
            <a:extLst>
              <a:ext uri="{FF2B5EF4-FFF2-40B4-BE49-F238E27FC236}">
                <a16:creationId xmlns:a16="http://schemas.microsoft.com/office/drawing/2014/main" id="{7198176F-4D83-4A98-1EFA-F78693C2B68B}"/>
              </a:ext>
            </a:extLst>
          </p:cNvPr>
          <p:cNvSpPr txBox="1"/>
          <p:nvPr/>
        </p:nvSpPr>
        <p:spPr>
          <a:xfrm>
            <a:off x="8828933" y="486598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63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3206C0-B920-4CD8-8FF9-7BD8ABA1AB10}"/>
              </a:ext>
            </a:extLst>
          </p:cNvPr>
          <p:cNvSpPr txBox="1"/>
          <p:nvPr/>
        </p:nvSpPr>
        <p:spPr>
          <a:xfrm>
            <a:off x="629165" y="825591"/>
            <a:ext cx="8685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600" b="1" spc="-5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defRPr>
            </a:lvl1pPr>
          </a:lstStyle>
          <a:p>
            <a:r>
              <a:rPr lang="fr-FR" sz="1400" dirty="0"/>
              <a:t>5.2 Transistor en amplification</a:t>
            </a:r>
          </a:p>
        </p:txBody>
      </p:sp>
      <p:sp>
        <p:nvSpPr>
          <p:cNvPr id="23" name="Rectangle 84">
            <a:extLst>
              <a:ext uri="{FF2B5EF4-FFF2-40B4-BE49-F238E27FC236}">
                <a16:creationId xmlns:a16="http://schemas.microsoft.com/office/drawing/2014/main" id="{54AFB63F-2BE8-F658-785A-64D26E1A6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674" y="1172463"/>
            <a:ext cx="25587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Low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b="1" i="1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- Gain en courant : </a:t>
            </a:r>
            <a:endParaRPr kumimoji="0" lang="fr-FR" b="1" i="1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Bookman Old Style" panose="02050604050505020204" pitchFamily="18" charset="0"/>
              <a:cs typeface="Arial" pitchFamily="34" charset="0"/>
            </a:endParaRPr>
          </a:p>
        </p:txBody>
      </p:sp>
      <p:graphicFrame>
        <p:nvGraphicFramePr>
          <p:cNvPr id="25" name="Object 83">
            <a:extLst>
              <a:ext uri="{FF2B5EF4-FFF2-40B4-BE49-F238E27FC236}">
                <a16:creationId xmlns:a16="http://schemas.microsoft.com/office/drawing/2014/main" id="{6D8F43A8-12E0-1A0C-3C8F-2881DA4CA3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6492736"/>
              </p:ext>
            </p:extLst>
          </p:nvPr>
        </p:nvGraphicFramePr>
        <p:xfrm>
          <a:off x="2810071" y="1135950"/>
          <a:ext cx="730260" cy="4925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06048" imgH="279158" progId="">
                  <p:embed/>
                </p:oleObj>
              </mc:Choice>
              <mc:Fallback>
                <p:oleObj r:id="rId3" imgW="406048" imgH="279158" progId="">
                  <p:embed/>
                  <p:pic>
                    <p:nvPicPr>
                      <p:cNvPr id="51283" name="Object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0071" y="1135950"/>
                        <a:ext cx="730260" cy="4925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85">
            <a:extLst>
              <a:ext uri="{FF2B5EF4-FFF2-40B4-BE49-F238E27FC236}">
                <a16:creationId xmlns:a16="http://schemas.microsoft.com/office/drawing/2014/main" id="{A7CA9856-24CA-A75F-02B7-51FD21736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903" y="1574106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i</a:t>
            </a:r>
            <a:r>
              <a:rPr kumimoji="0" lang="fr-FR" b="0" i="0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e</a:t>
            </a:r>
            <a:r>
              <a:rPr kumimoji="0" 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 et </a:t>
            </a:r>
            <a:r>
              <a:rPr kumimoji="0" lang="fr-F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i</a:t>
            </a:r>
            <a:r>
              <a:rPr kumimoji="0" lang="fr-FR" b="0" i="0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s</a:t>
            </a:r>
            <a:r>
              <a:rPr kumimoji="0" 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 sont respectivement courant d'entrée et courant de sortie</a:t>
            </a:r>
            <a:endParaRPr kumimoji="0" lang="fr-F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  <a:cs typeface="Arial" pitchFamily="34" charset="0"/>
            </a:endParaRPr>
          </a:p>
        </p:txBody>
      </p:sp>
      <p:graphicFrame>
        <p:nvGraphicFramePr>
          <p:cNvPr id="27" name="Object 86">
            <a:extLst>
              <a:ext uri="{FF2B5EF4-FFF2-40B4-BE49-F238E27FC236}">
                <a16:creationId xmlns:a16="http://schemas.microsoft.com/office/drawing/2014/main" id="{AC2E49CA-4C25-5370-9200-B687959C81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0379634"/>
              </p:ext>
            </p:extLst>
          </p:nvPr>
        </p:nvGraphicFramePr>
        <p:xfrm>
          <a:off x="975143" y="1956751"/>
          <a:ext cx="2811502" cy="6247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14500" imgH="381000" progId="Equation.DSMT4">
                  <p:embed/>
                </p:oleObj>
              </mc:Choice>
              <mc:Fallback>
                <p:oleObj name="Equation" r:id="rId5" imgW="1714500" imgH="381000" progId="Equation.DSMT4">
                  <p:embed/>
                  <p:pic>
                    <p:nvPicPr>
                      <p:cNvPr id="51286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5143" y="1956751"/>
                        <a:ext cx="2811502" cy="62477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88">
            <a:extLst>
              <a:ext uri="{FF2B5EF4-FFF2-40B4-BE49-F238E27FC236}">
                <a16:creationId xmlns:a16="http://schemas.microsoft.com/office/drawing/2014/main" id="{AA732FAB-3CD6-8242-9168-A77C744BC0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2725705"/>
              </p:ext>
            </p:extLst>
          </p:nvPr>
        </p:nvGraphicFramePr>
        <p:xfrm>
          <a:off x="920010" y="2556370"/>
          <a:ext cx="4384675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25680" imgH="355320" progId="Equation.DSMT4">
                  <p:embed/>
                </p:oleObj>
              </mc:Choice>
              <mc:Fallback>
                <p:oleObj name="Equation" r:id="rId7" imgW="2425680" imgH="355320" progId="Equation.DSMT4">
                  <p:embed/>
                  <p:pic>
                    <p:nvPicPr>
                      <p:cNvPr id="51288" name="Object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010" y="2556370"/>
                        <a:ext cx="4384675" cy="636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90">
            <a:extLst>
              <a:ext uri="{FF2B5EF4-FFF2-40B4-BE49-F238E27FC236}">
                <a16:creationId xmlns:a16="http://schemas.microsoft.com/office/drawing/2014/main" id="{2523C767-0AC8-20CE-3B5C-63DF1E34AE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3399170"/>
              </p:ext>
            </p:extLst>
          </p:nvPr>
        </p:nvGraphicFramePr>
        <p:xfrm>
          <a:off x="6786295" y="2609050"/>
          <a:ext cx="1716112" cy="82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68400" imgH="558800" progId="Equation.DSMT4">
                  <p:embed/>
                </p:oleObj>
              </mc:Choice>
              <mc:Fallback>
                <p:oleObj name="Equation" r:id="rId9" imgW="1168400" imgH="558800" progId="Equation.DSMT4">
                  <p:embed/>
                  <p:pic>
                    <p:nvPicPr>
                      <p:cNvPr id="51290" name="Object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6295" y="2609050"/>
                        <a:ext cx="1716112" cy="82317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0" name="Connecteur droit avec flèche 86">
            <a:extLst>
              <a:ext uri="{FF2B5EF4-FFF2-40B4-BE49-F238E27FC236}">
                <a16:creationId xmlns:a16="http://schemas.microsoft.com/office/drawing/2014/main" id="{C5F55FB7-8FAD-C10C-E8E3-B24AEEECDEC3}"/>
              </a:ext>
            </a:extLst>
          </p:cNvPr>
          <p:cNvCxnSpPr/>
          <p:nvPr/>
        </p:nvCxnSpPr>
        <p:spPr>
          <a:xfrm>
            <a:off x="5659800" y="2874663"/>
            <a:ext cx="72000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1" name="Object 92">
            <a:extLst>
              <a:ext uri="{FF2B5EF4-FFF2-40B4-BE49-F238E27FC236}">
                <a16:creationId xmlns:a16="http://schemas.microsoft.com/office/drawing/2014/main" id="{8B69033E-1871-520B-7E13-658D6B5C14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0022552"/>
              </p:ext>
            </p:extLst>
          </p:nvPr>
        </p:nvGraphicFramePr>
        <p:xfrm>
          <a:off x="6142026" y="3745211"/>
          <a:ext cx="2896285" cy="9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714500" imgH="558800" progId="">
                  <p:embed/>
                </p:oleObj>
              </mc:Choice>
              <mc:Fallback>
                <p:oleObj r:id="rId11" imgW="1714500" imgH="558800" progId="">
                  <p:embed/>
                  <p:pic>
                    <p:nvPicPr>
                      <p:cNvPr id="51292" name="Object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2026" y="3745211"/>
                        <a:ext cx="2896285" cy="949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ZoneTexte 89">
            <a:extLst>
              <a:ext uri="{FF2B5EF4-FFF2-40B4-BE49-F238E27FC236}">
                <a16:creationId xmlns:a16="http://schemas.microsoft.com/office/drawing/2014/main" id="{7401F81B-228C-50E8-4D6A-08639375D634}"/>
              </a:ext>
            </a:extLst>
          </p:cNvPr>
          <p:cNvSpPr txBox="1"/>
          <p:nvPr/>
        </p:nvSpPr>
        <p:spPr>
          <a:xfrm>
            <a:off x="5304685" y="3660481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Bookman Old Style" panose="02050604050505020204" pitchFamily="18" charset="0"/>
              </a:rPr>
              <a:t>D’où :</a:t>
            </a:r>
          </a:p>
        </p:txBody>
      </p:sp>
      <p:grpSp>
        <p:nvGrpSpPr>
          <p:cNvPr id="33" name="Group 51">
            <a:extLst>
              <a:ext uri="{FF2B5EF4-FFF2-40B4-BE49-F238E27FC236}">
                <a16:creationId xmlns:a16="http://schemas.microsoft.com/office/drawing/2014/main" id="{5A508630-1D0B-EA1F-9368-4FB3AB0473D1}"/>
              </a:ext>
            </a:extLst>
          </p:cNvPr>
          <p:cNvGrpSpPr>
            <a:grpSpLocks/>
          </p:cNvGrpSpPr>
          <p:nvPr/>
        </p:nvGrpSpPr>
        <p:grpSpPr bwMode="auto">
          <a:xfrm>
            <a:off x="561620" y="3192957"/>
            <a:ext cx="4464057" cy="1857388"/>
            <a:chOff x="5580" y="13051"/>
            <a:chExt cx="5568" cy="1872"/>
          </a:xfrm>
        </p:grpSpPr>
        <p:sp>
          <p:nvSpPr>
            <p:cNvPr id="34" name="Text Box 52">
              <a:extLst>
                <a:ext uri="{FF2B5EF4-FFF2-40B4-BE49-F238E27FC236}">
                  <a16:creationId xmlns:a16="http://schemas.microsoft.com/office/drawing/2014/main" id="{678D919D-BE37-E580-EE30-0BA8997BBD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26" y="14167"/>
              <a:ext cx="540" cy="3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R</a:t>
              </a:r>
              <a:r>
                <a:rPr kumimoji="0" lang="fr-FR" sz="11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C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5" name="Text Box 53">
              <a:extLst>
                <a:ext uri="{FF2B5EF4-FFF2-40B4-BE49-F238E27FC236}">
                  <a16:creationId xmlns:a16="http://schemas.microsoft.com/office/drawing/2014/main" id="{6A96906D-9D95-941E-7FBB-A3F4F8C723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50" y="13921"/>
              <a:ext cx="498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v</a:t>
              </a:r>
              <a:r>
                <a:rPr kumimoji="0" lang="fr-FR" sz="11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s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6" name="Text Box 54">
              <a:extLst>
                <a:ext uri="{FF2B5EF4-FFF2-40B4-BE49-F238E27FC236}">
                  <a16:creationId xmlns:a16="http://schemas.microsoft.com/office/drawing/2014/main" id="{33C912EA-EBED-54F8-28FE-B5D0EBD164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0" y="13963"/>
              <a:ext cx="498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v</a:t>
              </a:r>
              <a:r>
                <a:rPr kumimoji="0" lang="fr-FR" sz="11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e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" name="Text Box 55">
              <a:extLst>
                <a:ext uri="{FF2B5EF4-FFF2-40B4-BE49-F238E27FC236}">
                  <a16:creationId xmlns:a16="http://schemas.microsoft.com/office/drawing/2014/main" id="{CD4767D0-7563-B837-A279-4C87F39B6D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94" y="13057"/>
              <a:ext cx="498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i</a:t>
              </a:r>
              <a:r>
                <a:rPr kumimoji="0" lang="fr-FR" sz="11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s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8" name="Text Box 56">
              <a:extLst>
                <a:ext uri="{FF2B5EF4-FFF2-40B4-BE49-F238E27FC236}">
                  <a16:creationId xmlns:a16="http://schemas.microsoft.com/office/drawing/2014/main" id="{6C41322F-4259-1FAA-8ABA-4D16ABEE19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90" y="13201"/>
              <a:ext cx="498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i</a:t>
              </a:r>
              <a:r>
                <a:rPr kumimoji="0" lang="fr-FR" sz="11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b</a:t>
              </a:r>
              <a:endParaRPr kumimoji="0" 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9" name="Text Box 57">
              <a:extLst>
                <a:ext uri="{FF2B5EF4-FFF2-40B4-BE49-F238E27FC236}">
                  <a16:creationId xmlns:a16="http://schemas.microsoft.com/office/drawing/2014/main" id="{2F04A1E4-DB64-D7E0-7D0E-1D5C47A670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0" y="13051"/>
              <a:ext cx="498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i</a:t>
              </a:r>
              <a:r>
                <a:rPr kumimoji="0" lang="fr-FR" sz="11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e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0" name="Text Box 58">
              <a:extLst>
                <a:ext uri="{FF2B5EF4-FFF2-40B4-BE49-F238E27FC236}">
                  <a16:creationId xmlns:a16="http://schemas.microsoft.com/office/drawing/2014/main" id="{0CC0ED6A-79DA-62D4-4026-B4B08DCB62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26" y="14239"/>
              <a:ext cx="684" cy="4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non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1" name="Text Box 59">
              <a:extLst>
                <a:ext uri="{FF2B5EF4-FFF2-40B4-BE49-F238E27FC236}">
                  <a16:creationId xmlns:a16="http://schemas.microsoft.com/office/drawing/2014/main" id="{C6994900-8A5C-7643-FD52-99569745C7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48" y="14077"/>
              <a:ext cx="540" cy="3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R</a:t>
              </a:r>
              <a:r>
                <a:rPr kumimoji="0" lang="fr-FR" sz="11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L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2" name="Text Box 60">
              <a:extLst>
                <a:ext uri="{FF2B5EF4-FFF2-40B4-BE49-F238E27FC236}">
                  <a16:creationId xmlns:a16="http://schemas.microsoft.com/office/drawing/2014/main" id="{A1D5FFE6-5918-FF64-00CE-3176F774A1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64" y="13537"/>
              <a:ext cx="768" cy="3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h</a:t>
              </a:r>
              <a:r>
                <a:rPr kumimoji="0" lang="fr-FR" sz="11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21e</a:t>
              </a:r>
              <a:r>
                <a:rPr kumimoji="0" lang="fr-FR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i</a:t>
              </a:r>
              <a:r>
                <a:rPr kumimoji="0" lang="fr-FR" sz="11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b</a:t>
              </a:r>
              <a:endParaRPr kumimoji="0" 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3" name="Text Box 61">
              <a:extLst>
                <a:ext uri="{FF2B5EF4-FFF2-40B4-BE49-F238E27FC236}">
                  <a16:creationId xmlns:a16="http://schemas.microsoft.com/office/drawing/2014/main" id="{F443CE02-D608-C606-A86A-D0E212B9BD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94" y="13519"/>
              <a:ext cx="612" cy="3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h</a:t>
              </a:r>
              <a:r>
                <a:rPr kumimoji="0" lang="fr-FR" sz="11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11e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4" name="Text Box 62">
              <a:extLst>
                <a:ext uri="{FF2B5EF4-FFF2-40B4-BE49-F238E27FC236}">
                  <a16:creationId xmlns:a16="http://schemas.microsoft.com/office/drawing/2014/main" id="{C0848102-90C3-9F2C-9566-A2181C164B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78" y="13567"/>
              <a:ext cx="846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R</a:t>
              </a:r>
              <a:r>
                <a:rPr kumimoji="0" lang="fr-FR" sz="11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1</a:t>
              </a:r>
              <a:r>
                <a:rPr kumimoji="0" lang="fr-FR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//R</a:t>
              </a:r>
              <a:r>
                <a:rPr kumimoji="0" lang="fr-FR" sz="11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2</a:t>
              </a:r>
              <a:endParaRPr kumimoji="0" 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5" name="Text Box 63">
              <a:extLst>
                <a:ext uri="{FF2B5EF4-FFF2-40B4-BE49-F238E27FC236}">
                  <a16:creationId xmlns:a16="http://schemas.microsoft.com/office/drawing/2014/main" id="{A779A3B4-2771-177C-51E3-CB8B6A04B1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8" y="13681"/>
              <a:ext cx="498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r</a:t>
              </a:r>
              <a:r>
                <a:rPr kumimoji="0" lang="fr-FR" sz="11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g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6" name="Text Box 64">
              <a:extLst>
                <a:ext uri="{FF2B5EF4-FFF2-40B4-BE49-F238E27FC236}">
                  <a16:creationId xmlns:a16="http://schemas.microsoft.com/office/drawing/2014/main" id="{AA37F459-AEDA-B95B-4851-D0E8BBFC46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16" y="14281"/>
              <a:ext cx="498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e</a:t>
              </a:r>
              <a:r>
                <a:rPr kumimoji="0" lang="fr-FR" sz="11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g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7" name="Line 65">
              <a:extLst>
                <a:ext uri="{FF2B5EF4-FFF2-40B4-BE49-F238E27FC236}">
                  <a16:creationId xmlns:a16="http://schemas.microsoft.com/office/drawing/2014/main" id="{153AB6AC-BB21-414C-A662-60611955AA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48" y="13411"/>
              <a:ext cx="0" cy="1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8" name="Oval 66">
              <a:extLst>
                <a:ext uri="{FF2B5EF4-FFF2-40B4-BE49-F238E27FC236}">
                  <a16:creationId xmlns:a16="http://schemas.microsoft.com/office/drawing/2014/main" id="{FF52341D-55CE-7B42-776C-72F6DB06D2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8" y="14083"/>
              <a:ext cx="378" cy="33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9" name="Line 67">
              <a:extLst>
                <a:ext uri="{FF2B5EF4-FFF2-40B4-BE49-F238E27FC236}">
                  <a16:creationId xmlns:a16="http://schemas.microsoft.com/office/drawing/2014/main" id="{A184DB4B-2091-4E42-F308-60B87B3F87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0" y="13411"/>
              <a:ext cx="15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0" name="Line 68">
              <a:extLst>
                <a:ext uri="{FF2B5EF4-FFF2-40B4-BE49-F238E27FC236}">
                  <a16:creationId xmlns:a16="http://schemas.microsoft.com/office/drawing/2014/main" id="{17D7A446-9388-28F8-4A20-DA8355E303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6" y="14923"/>
              <a:ext cx="37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1" name="Line 69">
              <a:extLst>
                <a:ext uri="{FF2B5EF4-FFF2-40B4-BE49-F238E27FC236}">
                  <a16:creationId xmlns:a16="http://schemas.microsoft.com/office/drawing/2014/main" id="{FA39D1D0-0526-85B7-F13D-6550E48407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54" y="13411"/>
              <a:ext cx="147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2" name="Line 70">
              <a:extLst>
                <a:ext uri="{FF2B5EF4-FFF2-40B4-BE49-F238E27FC236}">
                  <a16:creationId xmlns:a16="http://schemas.microsoft.com/office/drawing/2014/main" id="{FFB0854A-03CB-3B77-5E15-048269087A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42" y="13411"/>
              <a:ext cx="0" cy="1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3" name="Line 71">
              <a:extLst>
                <a:ext uri="{FF2B5EF4-FFF2-40B4-BE49-F238E27FC236}">
                  <a16:creationId xmlns:a16="http://schemas.microsoft.com/office/drawing/2014/main" id="{373684AF-185F-1367-A433-13F8E5D3D8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78" y="13411"/>
              <a:ext cx="0" cy="1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4" name="Oval 72">
              <a:extLst>
                <a:ext uri="{FF2B5EF4-FFF2-40B4-BE49-F238E27FC236}">
                  <a16:creationId xmlns:a16="http://schemas.microsoft.com/office/drawing/2014/main" id="{2C9C7862-DD64-D973-5134-6E0C3AC57D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8" y="13843"/>
              <a:ext cx="378" cy="33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5" name="Line 73">
              <a:extLst>
                <a:ext uri="{FF2B5EF4-FFF2-40B4-BE49-F238E27FC236}">
                  <a16:creationId xmlns:a16="http://schemas.microsoft.com/office/drawing/2014/main" id="{9377E061-03E7-CFA5-0B19-45FF2BB215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8" y="13411"/>
              <a:ext cx="0" cy="1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6" name="Line 74">
              <a:extLst>
                <a:ext uri="{FF2B5EF4-FFF2-40B4-BE49-F238E27FC236}">
                  <a16:creationId xmlns:a16="http://schemas.microsoft.com/office/drawing/2014/main" id="{937D7C2B-C425-16B0-4412-F073DCEA34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2" y="13411"/>
              <a:ext cx="0" cy="1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7" name="Line 75">
              <a:extLst>
                <a:ext uri="{FF2B5EF4-FFF2-40B4-BE49-F238E27FC236}">
                  <a16:creationId xmlns:a16="http://schemas.microsoft.com/office/drawing/2014/main" id="{0F2EEB6E-B108-7429-E5EE-E38165713C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0" y="13411"/>
              <a:ext cx="0" cy="1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8" name="Rectangle 76">
              <a:extLst>
                <a:ext uri="{FF2B5EF4-FFF2-40B4-BE49-F238E27FC236}">
                  <a16:creationId xmlns:a16="http://schemas.microsoft.com/office/drawing/2014/main" id="{3F8A5F72-FDED-518F-37F7-CD4895694B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6" y="13855"/>
              <a:ext cx="168" cy="6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9" name="Rectangle 77">
              <a:extLst>
                <a:ext uri="{FF2B5EF4-FFF2-40B4-BE49-F238E27FC236}">
                  <a16:creationId xmlns:a16="http://schemas.microsoft.com/office/drawing/2014/main" id="{5C0785EE-A93B-8677-136B-1B205DE325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14" y="13855"/>
              <a:ext cx="168" cy="6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0" name="Rectangle 78">
              <a:extLst>
                <a:ext uri="{FF2B5EF4-FFF2-40B4-BE49-F238E27FC236}">
                  <a16:creationId xmlns:a16="http://schemas.microsoft.com/office/drawing/2014/main" id="{7C4EA5DA-58E0-C979-1D39-35D51DF72D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4" y="13843"/>
              <a:ext cx="168" cy="6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1" name="Rectangle 79">
              <a:extLst>
                <a:ext uri="{FF2B5EF4-FFF2-40B4-BE49-F238E27FC236}">
                  <a16:creationId xmlns:a16="http://schemas.microsoft.com/office/drawing/2014/main" id="{23D1C862-9910-1D9B-8429-CCEF4AA9D0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46" y="13831"/>
              <a:ext cx="168" cy="6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2" name="Rectangle 80">
              <a:extLst>
                <a:ext uri="{FF2B5EF4-FFF2-40B4-BE49-F238E27FC236}">
                  <a16:creationId xmlns:a16="http://schemas.microsoft.com/office/drawing/2014/main" id="{E5140ABC-BFEE-4381-B7C1-A880B2436C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8" y="13693"/>
              <a:ext cx="15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3" name="Oval 81">
              <a:extLst>
                <a:ext uri="{FF2B5EF4-FFF2-40B4-BE49-F238E27FC236}">
                  <a16:creationId xmlns:a16="http://schemas.microsoft.com/office/drawing/2014/main" id="{E125C0AA-F32A-05DE-AB22-6DF88973C3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2" y="14251"/>
              <a:ext cx="402" cy="40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5" name="Line 82">
              <a:extLst>
                <a:ext uri="{FF2B5EF4-FFF2-40B4-BE49-F238E27FC236}">
                  <a16:creationId xmlns:a16="http://schemas.microsoft.com/office/drawing/2014/main" id="{CA7889A7-0581-D5C1-6335-E562E86126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54" y="14011"/>
              <a:ext cx="0" cy="3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6" name="Line 83">
              <a:extLst>
                <a:ext uri="{FF2B5EF4-FFF2-40B4-BE49-F238E27FC236}">
                  <a16:creationId xmlns:a16="http://schemas.microsoft.com/office/drawing/2014/main" id="{783FF42C-DFAD-2F99-4D73-C795ACE423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710" y="13441"/>
              <a:ext cx="0" cy="13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0" name="Line 84">
              <a:extLst>
                <a:ext uri="{FF2B5EF4-FFF2-40B4-BE49-F238E27FC236}">
                  <a16:creationId xmlns:a16="http://schemas.microsoft.com/office/drawing/2014/main" id="{A6C1E364-781B-FB4B-F96F-E926E870D9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70" y="13393"/>
              <a:ext cx="0" cy="14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1" name="Line 85">
              <a:extLst>
                <a:ext uri="{FF2B5EF4-FFF2-40B4-BE49-F238E27FC236}">
                  <a16:creationId xmlns:a16="http://schemas.microsoft.com/office/drawing/2014/main" id="{8AF98D86-EF07-F7D9-D1EF-0B64D0A8C1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22" y="13411"/>
              <a:ext cx="1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2" name="Line 86">
              <a:extLst>
                <a:ext uri="{FF2B5EF4-FFF2-40B4-BE49-F238E27FC236}">
                  <a16:creationId xmlns:a16="http://schemas.microsoft.com/office/drawing/2014/main" id="{0B0620BE-DE41-7BF7-352B-471A930625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8" y="13483"/>
              <a:ext cx="0" cy="1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3" name="Line 87">
              <a:extLst>
                <a:ext uri="{FF2B5EF4-FFF2-40B4-BE49-F238E27FC236}">
                  <a16:creationId xmlns:a16="http://schemas.microsoft.com/office/drawing/2014/main" id="{632D5009-F824-E2D1-F289-70CAE4CA63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20" y="13411"/>
              <a:ext cx="10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4" name="Line 88">
              <a:extLst>
                <a:ext uri="{FF2B5EF4-FFF2-40B4-BE49-F238E27FC236}">
                  <a16:creationId xmlns:a16="http://schemas.microsoft.com/office/drawing/2014/main" id="{B8730134-358E-BC02-6732-2CCA2DA2FD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774" y="13411"/>
              <a:ext cx="0" cy="14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5" name="Rectangle 89">
              <a:extLst>
                <a:ext uri="{FF2B5EF4-FFF2-40B4-BE49-F238E27FC236}">
                  <a16:creationId xmlns:a16="http://schemas.microsoft.com/office/drawing/2014/main" id="{71C80E6D-D05E-8F9C-B3DC-CAB91B6E26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0" y="13831"/>
              <a:ext cx="168" cy="6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414283919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6"/>
            <a:ext cx="52086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-Transistor-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1620" y="507690"/>
            <a:ext cx="75917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Transistor bipolaire en régime variable et faibles signaux</a:t>
            </a: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715000" y="365260"/>
            <a:ext cx="3328256" cy="10117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46">
            <a:extLst>
              <a:ext uri="{FF2B5EF4-FFF2-40B4-BE49-F238E27FC236}">
                <a16:creationId xmlns:a16="http://schemas.microsoft.com/office/drawing/2014/main" id="{7198176F-4D83-4A98-1EFA-F78693C2B68B}"/>
              </a:ext>
            </a:extLst>
          </p:cNvPr>
          <p:cNvSpPr txBox="1"/>
          <p:nvPr/>
        </p:nvSpPr>
        <p:spPr>
          <a:xfrm>
            <a:off x="8828933" y="486598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64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3206C0-B920-4CD8-8FF9-7BD8ABA1AB10}"/>
              </a:ext>
            </a:extLst>
          </p:cNvPr>
          <p:cNvSpPr txBox="1"/>
          <p:nvPr/>
        </p:nvSpPr>
        <p:spPr>
          <a:xfrm>
            <a:off x="629165" y="825591"/>
            <a:ext cx="8685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600" b="1" spc="-5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defRPr>
            </a:lvl1pPr>
          </a:lstStyle>
          <a:p>
            <a:r>
              <a:rPr lang="fr-FR" sz="1400" dirty="0"/>
              <a:t>5.2 Transistor en amplification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D3A57B-9F56-F1FA-4B7A-57238CEB046D}"/>
              </a:ext>
            </a:extLst>
          </p:cNvPr>
          <p:cNvSpPr/>
          <p:nvPr/>
        </p:nvSpPr>
        <p:spPr>
          <a:xfrm>
            <a:off x="530860" y="1185163"/>
            <a:ext cx="28664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fr-FR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- Impédance d'entrée: </a:t>
            </a:r>
          </a:p>
        </p:txBody>
      </p:sp>
      <p:graphicFrame>
        <p:nvGraphicFramePr>
          <p:cNvPr id="4" name="Object 1">
            <a:extLst>
              <a:ext uri="{FF2B5EF4-FFF2-40B4-BE49-F238E27FC236}">
                <a16:creationId xmlns:a16="http://schemas.microsoft.com/office/drawing/2014/main" id="{4365CB15-6133-9BF9-C09D-9C86E96A69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6385147"/>
              </p:ext>
            </p:extLst>
          </p:nvPr>
        </p:nvGraphicFramePr>
        <p:xfrm>
          <a:off x="3722260" y="1165845"/>
          <a:ext cx="1862163" cy="5540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155700" imgH="342900" progId="">
                  <p:embed/>
                </p:oleObj>
              </mc:Choice>
              <mc:Fallback>
                <p:oleObj r:id="rId3" imgW="1155700" imgH="342900" progId="">
                  <p:embed/>
                  <p:pic>
                    <p:nvPicPr>
                      <p:cNvPr id="59393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2260" y="1165845"/>
                        <a:ext cx="1862163" cy="5540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1A3805C-71B1-7878-F80F-F4A795F06021}"/>
              </a:ext>
            </a:extLst>
          </p:cNvPr>
          <p:cNvSpPr/>
          <p:nvPr/>
        </p:nvSpPr>
        <p:spPr>
          <a:xfrm>
            <a:off x="527365" y="1724599"/>
            <a:ext cx="29674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fr-FR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-</a:t>
            </a:r>
            <a:r>
              <a:rPr lang="fr-FR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 </a:t>
            </a:r>
            <a:r>
              <a:rPr lang="fr-FR" b="1" u="sng" dirty="0">
                <a:solidFill>
                  <a:srgbClr val="0000FF"/>
                </a:solidFill>
                <a:latin typeface="Bookman Old Style" panose="02050604050505020204" pitchFamily="18" charset="0"/>
              </a:rPr>
              <a:t>Impédance de sortie</a:t>
            </a:r>
            <a:r>
              <a:rPr lang="fr-FR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 :</a:t>
            </a:r>
          </a:p>
        </p:txBody>
      </p:sp>
      <p:graphicFrame>
        <p:nvGraphicFramePr>
          <p:cNvPr id="11" name="Object 3">
            <a:extLst>
              <a:ext uri="{FF2B5EF4-FFF2-40B4-BE49-F238E27FC236}">
                <a16:creationId xmlns:a16="http://schemas.microsoft.com/office/drawing/2014/main" id="{BE261E84-DFED-3956-BEB4-CC6E43AF3A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8514618"/>
              </p:ext>
            </p:extLst>
          </p:nvPr>
        </p:nvGraphicFramePr>
        <p:xfrm>
          <a:off x="3722260" y="1615184"/>
          <a:ext cx="949338" cy="628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72840" imgH="444240" progId="Equation.DSMT4">
                  <p:embed/>
                </p:oleObj>
              </mc:Choice>
              <mc:Fallback>
                <p:oleObj name="Equation" r:id="rId5" imgW="672840" imgH="444240" progId="Equation.DSMT4">
                  <p:embed/>
                  <p:pic>
                    <p:nvPicPr>
                      <p:cNvPr id="5939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2260" y="1615184"/>
                        <a:ext cx="949338" cy="62843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6">
            <a:extLst>
              <a:ext uri="{FF2B5EF4-FFF2-40B4-BE49-F238E27FC236}">
                <a16:creationId xmlns:a16="http://schemas.microsoft.com/office/drawing/2014/main" id="{1895F8E3-E372-8CF0-7494-9925613BC1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3608770"/>
              </p:ext>
            </p:extLst>
          </p:nvPr>
        </p:nvGraphicFramePr>
        <p:xfrm>
          <a:off x="1341438" y="3108325"/>
          <a:ext cx="312578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77680" imgH="241200" progId="Equation.DSMT4">
                  <p:embed/>
                </p:oleObj>
              </mc:Choice>
              <mc:Fallback>
                <p:oleObj name="Equation" r:id="rId7" imgW="1777680" imgH="241200" progId="Equation.DSMT4">
                  <p:embed/>
                  <p:pic>
                    <p:nvPicPr>
                      <p:cNvPr id="5939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1438" y="3108325"/>
                        <a:ext cx="3125787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5">
            <a:extLst>
              <a:ext uri="{FF2B5EF4-FFF2-40B4-BE49-F238E27FC236}">
                <a16:creationId xmlns:a16="http://schemas.microsoft.com/office/drawing/2014/main" id="{1E7DD551-6950-F607-57D3-2700128C69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5277000"/>
              </p:ext>
            </p:extLst>
          </p:nvPr>
        </p:nvGraphicFramePr>
        <p:xfrm>
          <a:off x="1304594" y="3847655"/>
          <a:ext cx="1889354" cy="693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219200" imgH="444500" progId="">
                  <p:embed/>
                </p:oleObj>
              </mc:Choice>
              <mc:Fallback>
                <p:oleObj r:id="rId9" imgW="1219200" imgH="444500" progId="">
                  <p:embed/>
                  <p:pic>
                    <p:nvPicPr>
                      <p:cNvPr id="593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4594" y="3847655"/>
                        <a:ext cx="1889354" cy="69374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38">
            <a:extLst>
              <a:ext uri="{FF2B5EF4-FFF2-40B4-BE49-F238E27FC236}">
                <a16:creationId xmlns:a16="http://schemas.microsoft.com/office/drawing/2014/main" id="{9E1F77F3-9239-CC7F-8E04-758C8538D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186" y="2235783"/>
            <a:ext cx="880750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Pour calculer l'impédance de sortie, </a:t>
            </a:r>
            <a:r>
              <a:rPr kumimoji="0" 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on enlève la charge R</a:t>
            </a:r>
            <a:r>
              <a:rPr kumimoji="0" lang="fr-FR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L</a:t>
            </a:r>
            <a:r>
              <a:rPr kumimoji="0" 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et on </a:t>
            </a:r>
            <a:r>
              <a:rPr kumimoji="0" 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court-circuite</a:t>
            </a:r>
            <a:r>
              <a:rPr kumimoji="0" 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fr-FR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e</a:t>
            </a:r>
            <a:r>
              <a:rPr kumimoji="0" lang="fr-FR" b="1" i="0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g</a:t>
            </a:r>
            <a:r>
              <a:rPr kumimoji="0" 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 tout en gardant la résistance interne du GBF.</a:t>
            </a:r>
            <a:endParaRPr kumimoji="0" lang="fr-F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  <a:cs typeface="Arial" pitchFamily="34" charset="0"/>
            </a:endParaRPr>
          </a:p>
        </p:txBody>
      </p:sp>
      <p:sp>
        <p:nvSpPr>
          <p:cNvPr id="20" name="Rectangle 48">
            <a:extLst>
              <a:ext uri="{FF2B5EF4-FFF2-40B4-BE49-F238E27FC236}">
                <a16:creationId xmlns:a16="http://schemas.microsoft.com/office/drawing/2014/main" id="{D0C20FF2-2F42-4CB3-88B6-90D776755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556" y="3113358"/>
            <a:ext cx="8321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On a:  </a:t>
            </a:r>
            <a:endParaRPr kumimoji="0" lang="fr-F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  <a:cs typeface="Arial" pitchFamily="34" charset="0"/>
            </a:endParaRPr>
          </a:p>
        </p:txBody>
      </p:sp>
      <p:sp>
        <p:nvSpPr>
          <p:cNvPr id="21" name="Rectangle 49">
            <a:extLst>
              <a:ext uri="{FF2B5EF4-FFF2-40B4-BE49-F238E27FC236}">
                <a16:creationId xmlns:a16="http://schemas.microsoft.com/office/drawing/2014/main" id="{988047F5-80CA-46CB-6E91-3A77454FE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556" y="3671578"/>
            <a:ext cx="91282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Arial" pitchFamily="34" charset="0"/>
              </a:rPr>
              <a:t>D'où : </a:t>
            </a:r>
            <a:endParaRPr kumimoji="0" lang="fr-F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  <a:cs typeface="Arial" pitchFamily="34" charset="0"/>
            </a:endParaRPr>
          </a:p>
        </p:txBody>
      </p:sp>
      <p:sp>
        <p:nvSpPr>
          <p:cNvPr id="22" name="Rectangle 50">
            <a:extLst>
              <a:ext uri="{FF2B5EF4-FFF2-40B4-BE49-F238E27FC236}">
                <a16:creationId xmlns:a16="http://schemas.microsoft.com/office/drawing/2014/main" id="{0BAA4719-7739-5EC0-35DC-9C04DB88C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88" y="2069464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5" name="Group 7">
            <a:extLst>
              <a:ext uri="{FF2B5EF4-FFF2-40B4-BE49-F238E27FC236}">
                <a16:creationId xmlns:a16="http://schemas.microsoft.com/office/drawing/2014/main" id="{1DA30EF8-D50F-D633-D34B-D716CF5FE839}"/>
              </a:ext>
            </a:extLst>
          </p:cNvPr>
          <p:cNvGrpSpPr>
            <a:grpSpLocks/>
          </p:cNvGrpSpPr>
          <p:nvPr/>
        </p:nvGrpSpPr>
        <p:grpSpPr bwMode="auto">
          <a:xfrm>
            <a:off x="4922374" y="2881305"/>
            <a:ext cx="3958158" cy="2008215"/>
            <a:chOff x="6331" y="8395"/>
            <a:chExt cx="4733" cy="1866"/>
          </a:xfrm>
        </p:grpSpPr>
        <p:sp>
          <p:nvSpPr>
            <p:cNvPr id="106" name="Text Box 37">
              <a:extLst>
                <a:ext uri="{FF2B5EF4-FFF2-40B4-BE49-F238E27FC236}">
                  <a16:creationId xmlns:a16="http://schemas.microsoft.com/office/drawing/2014/main" id="{7321EC86-D9A4-B2C0-BA00-80F6A45576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56" y="9505"/>
              <a:ext cx="540" cy="3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Low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R</a:t>
              </a:r>
              <a:r>
                <a:rPr kumimoji="0" lang="fr-FR" sz="1000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C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7" name="Text Box 36">
              <a:extLst>
                <a:ext uri="{FF2B5EF4-FFF2-40B4-BE49-F238E27FC236}">
                  <a16:creationId xmlns:a16="http://schemas.microsoft.com/office/drawing/2014/main" id="{E7B4B5CF-3EA7-1884-A6C3-1D31C992FF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6" y="9259"/>
              <a:ext cx="498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Low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v</a:t>
              </a:r>
              <a:r>
                <a:rPr kumimoji="0" lang="fr-FR" sz="1000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s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" name="Text Box 35">
              <a:extLst>
                <a:ext uri="{FF2B5EF4-FFF2-40B4-BE49-F238E27FC236}">
                  <a16:creationId xmlns:a16="http://schemas.microsoft.com/office/drawing/2014/main" id="{1F28B993-6D6E-B448-5912-8C352DD2FE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0" y="8395"/>
              <a:ext cx="498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Low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i</a:t>
              </a:r>
              <a:r>
                <a:rPr kumimoji="0" lang="fr-FR" sz="1000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s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" name="Text Box 34">
              <a:extLst>
                <a:ext uri="{FF2B5EF4-FFF2-40B4-BE49-F238E27FC236}">
                  <a16:creationId xmlns:a16="http://schemas.microsoft.com/office/drawing/2014/main" id="{10A242FC-633D-B3D1-549D-A6AB4FA89C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76" y="8539"/>
              <a:ext cx="498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Low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i</a:t>
              </a:r>
              <a:r>
                <a:rPr kumimoji="0" lang="fr-FR" sz="1000" b="0" i="0" u="none" strike="noStrike" cap="none" normalizeH="0" baseline="-30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b</a:t>
              </a:r>
              <a:endParaRPr kumimoji="0" 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6" name="Text Box 31">
              <a:extLst>
                <a:ext uri="{FF2B5EF4-FFF2-40B4-BE49-F238E27FC236}">
                  <a16:creationId xmlns:a16="http://schemas.microsoft.com/office/drawing/2014/main" id="{C8342295-9EBE-C5B9-D785-D9F59AC35D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50" y="8989"/>
              <a:ext cx="768" cy="3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Low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h</a:t>
              </a:r>
              <a:r>
                <a:rPr kumimoji="0" lang="fr-FR" sz="1000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21e</a:t>
              </a:r>
              <a:r>
                <a:rPr kumimoji="0" lang="fr-FR" sz="1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i</a:t>
              </a:r>
              <a:r>
                <a:rPr kumimoji="0" lang="fr-FR" sz="1000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b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7" name="Text Box 30">
              <a:extLst>
                <a:ext uri="{FF2B5EF4-FFF2-40B4-BE49-F238E27FC236}">
                  <a16:creationId xmlns:a16="http://schemas.microsoft.com/office/drawing/2014/main" id="{4AD883C7-BEA5-EF52-6A7B-A2E0ED5D60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0" y="9328"/>
              <a:ext cx="612" cy="3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Low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h</a:t>
              </a:r>
              <a:r>
                <a:rPr kumimoji="0" lang="fr-FR" sz="1000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11e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8" name="Text Box 29">
              <a:extLst>
                <a:ext uri="{FF2B5EF4-FFF2-40B4-BE49-F238E27FC236}">
                  <a16:creationId xmlns:a16="http://schemas.microsoft.com/office/drawing/2014/main" id="{DD7EF3CD-E5E5-5F43-0D87-041648595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2" y="9298"/>
              <a:ext cx="846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Low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R</a:t>
              </a:r>
              <a:r>
                <a:rPr kumimoji="0" lang="fr-FR" sz="1000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1</a:t>
              </a:r>
              <a:r>
                <a:rPr kumimoji="0" lang="fr-FR" sz="1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//R</a:t>
              </a:r>
              <a:r>
                <a:rPr kumimoji="0" lang="fr-FR" sz="1000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2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9" name="Text Box 28">
              <a:extLst>
                <a:ext uri="{FF2B5EF4-FFF2-40B4-BE49-F238E27FC236}">
                  <a16:creationId xmlns:a16="http://schemas.microsoft.com/office/drawing/2014/main" id="{763DCA16-E9CB-C22B-1090-5B666D2305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31" y="9400"/>
              <a:ext cx="498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Low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r</a:t>
              </a:r>
              <a:r>
                <a:rPr kumimoji="0" lang="fr-FR" sz="1000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g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0" name="Line 27">
              <a:extLst>
                <a:ext uri="{FF2B5EF4-FFF2-40B4-BE49-F238E27FC236}">
                  <a16:creationId xmlns:a16="http://schemas.microsoft.com/office/drawing/2014/main" id="{C16305A4-F894-3EFC-E449-F9D6F3068E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34" y="8749"/>
              <a:ext cx="0" cy="1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1" name="Oval 26">
              <a:extLst>
                <a:ext uri="{FF2B5EF4-FFF2-40B4-BE49-F238E27FC236}">
                  <a16:creationId xmlns:a16="http://schemas.microsoft.com/office/drawing/2014/main" id="{AA2C6349-48E9-041C-C593-EBEE4E6FC2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4" y="9421"/>
              <a:ext cx="378" cy="33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2" name="Line 25">
              <a:extLst>
                <a:ext uri="{FF2B5EF4-FFF2-40B4-BE49-F238E27FC236}">
                  <a16:creationId xmlns:a16="http://schemas.microsoft.com/office/drawing/2014/main" id="{3A660118-F69D-4DEC-7AFE-61D7B9DC7A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66" y="8749"/>
              <a:ext cx="15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3" name="Line 24">
              <a:extLst>
                <a:ext uri="{FF2B5EF4-FFF2-40B4-BE49-F238E27FC236}">
                  <a16:creationId xmlns:a16="http://schemas.microsoft.com/office/drawing/2014/main" id="{9051F615-6C80-C885-AE8B-B26F6E7E06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72" y="10261"/>
              <a:ext cx="37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4" name="Line 23">
              <a:extLst>
                <a:ext uri="{FF2B5EF4-FFF2-40B4-BE49-F238E27FC236}">
                  <a16:creationId xmlns:a16="http://schemas.microsoft.com/office/drawing/2014/main" id="{B2CDEE54-8BC9-C8E9-00FE-A1D3643C2E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40" y="8749"/>
              <a:ext cx="147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5" name="Line 22">
              <a:extLst>
                <a:ext uri="{FF2B5EF4-FFF2-40B4-BE49-F238E27FC236}">
                  <a16:creationId xmlns:a16="http://schemas.microsoft.com/office/drawing/2014/main" id="{8D175ABB-C211-E6AD-711C-6B2F7AE77E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64" y="8749"/>
              <a:ext cx="0" cy="1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6" name="Oval 21">
              <a:extLst>
                <a:ext uri="{FF2B5EF4-FFF2-40B4-BE49-F238E27FC236}">
                  <a16:creationId xmlns:a16="http://schemas.microsoft.com/office/drawing/2014/main" id="{7180EDB1-C1BD-424A-5394-13AF84B94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4" y="9181"/>
              <a:ext cx="378" cy="33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7" name="Line 20">
              <a:extLst>
                <a:ext uri="{FF2B5EF4-FFF2-40B4-BE49-F238E27FC236}">
                  <a16:creationId xmlns:a16="http://schemas.microsoft.com/office/drawing/2014/main" id="{A16B43E8-644E-BBB1-A824-1F42FBBBC6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84" y="8749"/>
              <a:ext cx="0" cy="1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8" name="Line 19">
              <a:extLst>
                <a:ext uri="{FF2B5EF4-FFF2-40B4-BE49-F238E27FC236}">
                  <a16:creationId xmlns:a16="http://schemas.microsoft.com/office/drawing/2014/main" id="{C90F87C2-373D-F2CF-34EE-FA5C9D2CDB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88" y="8749"/>
              <a:ext cx="0" cy="1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9" name="Line 18">
              <a:extLst>
                <a:ext uri="{FF2B5EF4-FFF2-40B4-BE49-F238E27FC236}">
                  <a16:creationId xmlns:a16="http://schemas.microsoft.com/office/drawing/2014/main" id="{C08D3D0A-F66A-BD2D-E806-95F8B46F8D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66" y="8749"/>
              <a:ext cx="0" cy="1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0" name="Rectangle 17">
              <a:extLst>
                <a:ext uri="{FF2B5EF4-FFF2-40B4-BE49-F238E27FC236}">
                  <a16:creationId xmlns:a16="http://schemas.microsoft.com/office/drawing/2014/main" id="{24656AAD-325D-550F-237C-1F94DA0DF1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92" y="9193"/>
              <a:ext cx="168" cy="6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1" name="Rectangle 16">
              <a:extLst>
                <a:ext uri="{FF2B5EF4-FFF2-40B4-BE49-F238E27FC236}">
                  <a16:creationId xmlns:a16="http://schemas.microsoft.com/office/drawing/2014/main" id="{B3FC64FB-9E28-52B7-EB7C-7879E5AA4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00" y="9193"/>
              <a:ext cx="168" cy="6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2" name="Rectangle 15">
              <a:extLst>
                <a:ext uri="{FF2B5EF4-FFF2-40B4-BE49-F238E27FC236}">
                  <a16:creationId xmlns:a16="http://schemas.microsoft.com/office/drawing/2014/main" id="{2474C1CF-7F55-9471-4212-43D31CC19B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80" y="9181"/>
              <a:ext cx="168" cy="6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3" name="Rectangle 14">
              <a:extLst>
                <a:ext uri="{FF2B5EF4-FFF2-40B4-BE49-F238E27FC236}">
                  <a16:creationId xmlns:a16="http://schemas.microsoft.com/office/drawing/2014/main" id="{FA545BD3-B510-F136-1500-038B9842A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4" y="9349"/>
              <a:ext cx="15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4" name="Line 13">
              <a:extLst>
                <a:ext uri="{FF2B5EF4-FFF2-40B4-BE49-F238E27FC236}">
                  <a16:creationId xmlns:a16="http://schemas.microsoft.com/office/drawing/2014/main" id="{9A1659D3-FB7D-D716-11AB-532B1B5F02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40" y="9349"/>
              <a:ext cx="0" cy="3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5" name="Line 12">
              <a:extLst>
                <a:ext uri="{FF2B5EF4-FFF2-40B4-BE49-F238E27FC236}">
                  <a16:creationId xmlns:a16="http://schemas.microsoft.com/office/drawing/2014/main" id="{FA544BD0-EB61-82B7-67E5-538BD9909B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26" y="8779"/>
              <a:ext cx="0" cy="13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6" name="Line 11">
              <a:extLst>
                <a:ext uri="{FF2B5EF4-FFF2-40B4-BE49-F238E27FC236}">
                  <a16:creationId xmlns:a16="http://schemas.microsoft.com/office/drawing/2014/main" id="{89FC3F20-5344-14D3-808B-393227E0AD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84" y="8821"/>
              <a:ext cx="0" cy="1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7" name="Line 10">
              <a:extLst>
                <a:ext uri="{FF2B5EF4-FFF2-40B4-BE49-F238E27FC236}">
                  <a16:creationId xmlns:a16="http://schemas.microsoft.com/office/drawing/2014/main" id="{B887CEA7-6809-4C13-0618-A84E7AD76A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206" y="8749"/>
              <a:ext cx="10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8" name="Line 9">
              <a:extLst>
                <a:ext uri="{FF2B5EF4-FFF2-40B4-BE49-F238E27FC236}">
                  <a16:creationId xmlns:a16="http://schemas.microsoft.com/office/drawing/2014/main" id="{6B870DDD-CA8B-F466-BB2E-E6110BC607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960" y="8749"/>
              <a:ext cx="0" cy="150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9" name="Rectangle 8">
              <a:extLst>
                <a:ext uri="{FF2B5EF4-FFF2-40B4-BE49-F238E27FC236}">
                  <a16:creationId xmlns:a16="http://schemas.microsoft.com/office/drawing/2014/main" id="{5208FDD5-A8C1-B366-7E51-7DCA21470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76" y="9169"/>
              <a:ext cx="168" cy="6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239735550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6"/>
            <a:ext cx="52086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-Transistor-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1620" y="507690"/>
            <a:ext cx="75917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6. Transistor bipolaire en hautes fréquences</a:t>
            </a: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5715000" y="365260"/>
            <a:ext cx="3328256" cy="10117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46">
            <a:extLst>
              <a:ext uri="{FF2B5EF4-FFF2-40B4-BE49-F238E27FC236}">
                <a16:creationId xmlns:a16="http://schemas.microsoft.com/office/drawing/2014/main" id="{7198176F-4D83-4A98-1EFA-F78693C2B68B}"/>
              </a:ext>
            </a:extLst>
          </p:cNvPr>
          <p:cNvSpPr txBox="1"/>
          <p:nvPr/>
        </p:nvSpPr>
        <p:spPr>
          <a:xfrm>
            <a:off x="8828933" y="486598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65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22" name="Rectangle 50">
            <a:extLst>
              <a:ext uri="{FF2B5EF4-FFF2-40B4-BE49-F238E27FC236}">
                <a16:creationId xmlns:a16="http://schemas.microsoft.com/office/drawing/2014/main" id="{0BAA4719-7739-5EC0-35DC-9C04DB88C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88" y="2069464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DA8A8A-D8C4-A0BE-4148-C5CC92FC5B9E}"/>
              </a:ext>
            </a:extLst>
          </p:cNvPr>
          <p:cNvSpPr txBox="1"/>
          <p:nvPr/>
        </p:nvSpPr>
        <p:spPr>
          <a:xfrm>
            <a:off x="579878" y="1141834"/>
            <a:ext cx="831453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600" dirty="0">
                <a:latin typeface="Bookman Old Style" panose="02050604050505020204" pitchFamily="18" charset="0"/>
              </a:rPr>
              <a:t>Les </a:t>
            </a:r>
            <a:r>
              <a:rPr lang="fr-FR" sz="1600" b="1" dirty="0">
                <a:latin typeface="Bookman Old Style" panose="02050604050505020204" pitchFamily="18" charset="0"/>
              </a:rPr>
              <a:t>transistors haute fréquence</a:t>
            </a:r>
            <a:r>
              <a:rPr lang="fr-FR" sz="1600" dirty="0">
                <a:latin typeface="Bookman Old Style" panose="02050604050505020204" pitchFamily="18" charset="0"/>
              </a:rPr>
              <a:t> sont conçus pour fonctionner efficacement dans des gammes de fréquence élevées, comme en radiofréquence (RF) et micro-ondes. Ils se distinguent par :</a:t>
            </a:r>
          </a:p>
          <a:p>
            <a:pPr algn="just"/>
            <a:endParaRPr lang="fr-FR" sz="1600" dirty="0">
              <a:latin typeface="Bookman Old Style" panose="02050604050505020204" pitchFamily="18" charset="0"/>
            </a:endParaRPr>
          </a:p>
          <a:p>
            <a:pPr algn="just"/>
            <a:endParaRPr lang="fr-FR" sz="1600" dirty="0">
              <a:latin typeface="Bookman Old Style" panose="020506040505050202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sz="1600" b="1" dirty="0">
                <a:latin typeface="Bookman Old Style" panose="02050604050505020204" pitchFamily="18" charset="0"/>
              </a:rPr>
              <a:t>Caractéristiques principales</a:t>
            </a:r>
            <a:r>
              <a:rPr lang="fr-FR" sz="1600" dirty="0">
                <a:latin typeface="Bookman Old Style" panose="02050604050505020204" pitchFamily="18" charset="0"/>
              </a:rPr>
              <a:t> : Temps de commutation court, faible capacité parasite, et gain élevé en fréquence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fr-FR" sz="1600" dirty="0">
              <a:latin typeface="Bookman Old Style" panose="020506040505050202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sz="1600" b="1" dirty="0">
                <a:latin typeface="Bookman Old Style" panose="02050604050505020204" pitchFamily="18" charset="0"/>
              </a:rPr>
              <a:t>Applications</a:t>
            </a:r>
            <a:r>
              <a:rPr lang="fr-FR" sz="1600" dirty="0">
                <a:latin typeface="Bookman Old Style" panose="02050604050505020204" pitchFamily="18" charset="0"/>
              </a:rPr>
              <a:t>: Amplificateurs RF, oscillateurs, modulateurs/démodulateurs, utilisés dans les communications sans fil, radars et satellites.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fr-FR" sz="1600" dirty="0">
              <a:latin typeface="Bookman Old Style" panose="020506040505050202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sz="1600" b="1" dirty="0">
                <a:latin typeface="Bookman Old Style" panose="02050604050505020204" pitchFamily="18" charset="0"/>
              </a:rPr>
              <a:t>Défis</a:t>
            </a:r>
            <a:r>
              <a:rPr lang="fr-FR" sz="1600" dirty="0">
                <a:latin typeface="Bookman Old Style" panose="02050604050505020204" pitchFamily="18" charset="0"/>
              </a:rPr>
              <a:t> : Échauffement, effet peau, et interférences complexes nécessitant une conception soignée.</a:t>
            </a:r>
          </a:p>
        </p:txBody>
      </p:sp>
    </p:spTree>
    <p:extLst>
      <p:ext uri="{BB962C8B-B14F-4D97-AF65-F5344CB8AC3E}">
        <p14:creationId xmlns:p14="http://schemas.microsoft.com/office/powerpoint/2010/main" val="196502823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43" y="263676"/>
            <a:ext cx="52086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Composants Electroniques de base </a:t>
            </a:r>
            <a:br>
              <a:rPr lang="fr-FR" sz="1600" b="1" dirty="0">
                <a:latin typeface="Bookman Old Style" panose="02050604050505020204" pitchFamily="18" charset="0"/>
              </a:rPr>
            </a:br>
            <a:endParaRPr sz="16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rgbClr val="CC00CC"/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C00CC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4488884" y="361950"/>
            <a:ext cx="4548079" cy="95934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46">
            <a:extLst>
              <a:ext uri="{FF2B5EF4-FFF2-40B4-BE49-F238E27FC236}">
                <a16:creationId xmlns:a16="http://schemas.microsoft.com/office/drawing/2014/main" id="{7198176F-4D83-4A98-1EFA-F78693C2B68B}"/>
              </a:ext>
            </a:extLst>
          </p:cNvPr>
          <p:cNvSpPr txBox="1"/>
          <p:nvPr/>
        </p:nvSpPr>
        <p:spPr>
          <a:xfrm>
            <a:off x="8828933" y="486598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66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22" name="Rectangle 50">
            <a:extLst>
              <a:ext uri="{FF2B5EF4-FFF2-40B4-BE49-F238E27FC236}">
                <a16:creationId xmlns:a16="http://schemas.microsoft.com/office/drawing/2014/main" id="{0BAA4719-7739-5EC0-35DC-9C04DB88C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88" y="2069464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3C7BEC-82AB-A135-DBCA-6199F84E5306}"/>
              </a:ext>
            </a:extLst>
          </p:cNvPr>
          <p:cNvSpPr txBox="1"/>
          <p:nvPr/>
        </p:nvSpPr>
        <p:spPr>
          <a:xfrm>
            <a:off x="1524000" y="2168990"/>
            <a:ext cx="6324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5400" b="1" kern="0" dirty="0">
                <a:solidFill>
                  <a:srgbClr val="CC00CC"/>
                </a:solidFill>
                <a:latin typeface="Bookman Old Style" panose="02050604050505020204" pitchFamily="18" charset="0"/>
                <a:ea typeface="+mj-ea"/>
                <a:cs typeface="+mj-cs"/>
              </a:rPr>
              <a:t>Fin de Chapitre </a:t>
            </a:r>
          </a:p>
        </p:txBody>
      </p:sp>
    </p:spTree>
    <p:extLst>
      <p:ext uri="{BB962C8B-B14F-4D97-AF65-F5344CB8AC3E}">
        <p14:creationId xmlns:p14="http://schemas.microsoft.com/office/powerpoint/2010/main" val="310848426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762005" y="484817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67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057400" y="108213"/>
            <a:ext cx="645975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sz="2800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Site Web pour le cours </a:t>
            </a: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362200" y="631433"/>
            <a:ext cx="3709256" cy="10448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059489B7-63CA-8F91-F7DC-D794191D98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1695" y="1007498"/>
            <a:ext cx="3524250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71842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2686" y="1809750"/>
            <a:ext cx="92964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3600" b="1" dirty="0">
                <a:latin typeface="Bookman Old Style" panose="02050604050505020204" pitchFamily="18" charset="0"/>
              </a:rPr>
              <a:t>https://sites.google.com/view/iasse</a:t>
            </a:r>
            <a:br>
              <a:rPr lang="fr-FR" sz="3600" b="1" dirty="0">
                <a:latin typeface="Bookman Old Style" panose="02050604050505020204" pitchFamily="18" charset="0"/>
              </a:rPr>
            </a:br>
            <a:endParaRPr sz="3600" dirty="0">
              <a:latin typeface="Bookman Old Style" panose="020506040505050202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762005" y="4848178"/>
            <a:ext cx="418756" cy="277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1600" b="1" dirty="0">
                <a:latin typeface="Arial"/>
                <a:cs typeface="Arial"/>
              </a:rPr>
              <a:t>68</a:t>
            </a:fld>
            <a:endParaRPr sz="16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302251" y="595883"/>
            <a:ext cx="645975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sz="2800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Site web pour le cours </a:t>
            </a: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67000" y="1162922"/>
            <a:ext cx="3709256" cy="104485"/>
            <a:chOff x="1881480" y="350569"/>
            <a:chExt cx="7147385" cy="156271"/>
          </a:xfrm>
          <a:solidFill>
            <a:srgbClr val="CC00CC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2480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196272</TotalTime>
  <Words>6529</Words>
  <Application>Microsoft Office PowerPoint</Application>
  <PresentationFormat>On-screen Show (16:9)</PresentationFormat>
  <Paragraphs>1177</Paragraphs>
  <Slides>68</Slides>
  <Notes>64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8" baseType="lpstr">
      <vt:lpstr>Arial</vt:lpstr>
      <vt:lpstr>Book Antiqua</vt:lpstr>
      <vt:lpstr>Bookman Old Style</vt:lpstr>
      <vt:lpstr>Calibri</vt:lpstr>
      <vt:lpstr>Cambria Math</vt:lpstr>
      <vt:lpstr>Symbol</vt:lpstr>
      <vt:lpstr>Times New Roman</vt:lpstr>
      <vt:lpstr>Wingdings</vt:lpstr>
      <vt:lpstr>Office Theme</vt:lpstr>
      <vt:lpstr>MathType 7.0 Equation</vt:lpstr>
      <vt:lpstr>PowerPoint Presentation</vt:lpstr>
      <vt:lpstr>Plan</vt:lpstr>
      <vt:lpstr>Plan</vt:lpstr>
      <vt:lpstr>Plan</vt:lpstr>
      <vt:lpstr>Composants Electroniques de base -Diodes- </vt:lpstr>
      <vt:lpstr>Composants Electroniques de base -Diodes- </vt:lpstr>
      <vt:lpstr>Composants Electroniques de base -Diodes- </vt:lpstr>
      <vt:lpstr>Composants Electroniques de base -Diodes- </vt:lpstr>
      <vt:lpstr>Composants Electroniques de base -Diodes- </vt:lpstr>
      <vt:lpstr>Composants Electroniques de base -Diodes- </vt:lpstr>
      <vt:lpstr>Composants Electroniques de base -Diodes- </vt:lpstr>
      <vt:lpstr>Composants Electroniques de base -Diodes- </vt:lpstr>
      <vt:lpstr>Composants Electroniques de base -Diodes- </vt:lpstr>
      <vt:lpstr>Composants Electroniques de base -Diodes- </vt:lpstr>
      <vt:lpstr>Composants Electroniques de base -Diodes- </vt:lpstr>
      <vt:lpstr>Composants Electroniques de base -Diodes- </vt:lpstr>
      <vt:lpstr>Composants Electroniques de base -Diodes- </vt:lpstr>
      <vt:lpstr>Composants Electroniques de base -Diodes- </vt:lpstr>
      <vt:lpstr>Composants Electroniques de base -Diodes- </vt:lpstr>
      <vt:lpstr>Composants Electroniques de base -Diodes- </vt:lpstr>
      <vt:lpstr>Composants Electroniques de base -Diodes- </vt:lpstr>
      <vt:lpstr>Composants Electroniques de base -Diodes- </vt:lpstr>
      <vt:lpstr>Composants Electroniques de base -Diodes- </vt:lpstr>
      <vt:lpstr>Composants Electroniques de base -Diodes- </vt:lpstr>
      <vt:lpstr>Composants Electroniques de base -Diodes- </vt:lpstr>
      <vt:lpstr>Composants Electroniques de base -Diodes- </vt:lpstr>
      <vt:lpstr>Composants Electroniques de base -Diodes- </vt:lpstr>
      <vt:lpstr>Plan</vt:lpstr>
      <vt:lpstr>Composants Electroniques de base -Transistor- </vt:lpstr>
      <vt:lpstr>Composants Electroniques de base -Transistor- </vt:lpstr>
      <vt:lpstr>Composants Electroniques de base -Transistor- </vt:lpstr>
      <vt:lpstr>Composants Electroniques de base -Transistor- </vt:lpstr>
      <vt:lpstr>Composants Electroniques de base -Transistor- </vt:lpstr>
      <vt:lpstr>Composants Electroniques de base -Transistor- </vt:lpstr>
      <vt:lpstr>Composants Electroniques de base -Transistor- </vt:lpstr>
      <vt:lpstr>Composants Electroniques de base -Transistor- </vt:lpstr>
      <vt:lpstr>Composants Electroniques de base -Transistor- </vt:lpstr>
      <vt:lpstr>Composants Electroniques de base -Transistor- </vt:lpstr>
      <vt:lpstr>Composants Electroniques de base -Transistor- </vt:lpstr>
      <vt:lpstr>Composants Electroniques de base -Transistor- </vt:lpstr>
      <vt:lpstr>Composants Electroniques de base -Transistor- </vt:lpstr>
      <vt:lpstr>Composants Electroniques de base -Transistor- </vt:lpstr>
      <vt:lpstr>Composants Electroniques de base -Transistor- </vt:lpstr>
      <vt:lpstr>Composants Electroniques de base -Transistor- </vt:lpstr>
      <vt:lpstr>Composants Electroniques de base -Transistor- </vt:lpstr>
      <vt:lpstr>Composants Electroniques de base -Transistor- </vt:lpstr>
      <vt:lpstr>Composants Electroniques de base -Transistor- </vt:lpstr>
      <vt:lpstr>Composants Electroniques de base -Transistor- </vt:lpstr>
      <vt:lpstr>Composants Electroniques de base -Transistor- </vt:lpstr>
      <vt:lpstr>Composants Electroniques de base -Transistor- </vt:lpstr>
      <vt:lpstr>Composants Electroniques de base -Transistor- </vt:lpstr>
      <vt:lpstr>Composants Electroniques de base -Transistor- </vt:lpstr>
      <vt:lpstr>Composants Electroniques de base -Transistor- </vt:lpstr>
      <vt:lpstr>Composants Electroniques de base -Transistor- </vt:lpstr>
      <vt:lpstr>Composants Electroniques de base -Transistor- </vt:lpstr>
      <vt:lpstr>Composants Electroniques de base -Transistor- </vt:lpstr>
      <vt:lpstr>Composants Electroniques de base -Transistor- </vt:lpstr>
      <vt:lpstr>Composants Electroniques de base -Transistor- </vt:lpstr>
      <vt:lpstr>Composants Electroniques de base -Transistor- </vt:lpstr>
      <vt:lpstr>Composants Electroniques de base -Transistor- </vt:lpstr>
      <vt:lpstr>Composants Electroniques de base -Transistor- </vt:lpstr>
      <vt:lpstr>Composants Electroniques de base -Transistor- </vt:lpstr>
      <vt:lpstr>Composants Electroniques de base -Transistor- </vt:lpstr>
      <vt:lpstr>Composants Electroniques de base -Transistor- </vt:lpstr>
      <vt:lpstr>Composants Electroniques de base -Transistor- </vt:lpstr>
      <vt:lpstr>Composants Electroniques de base  </vt:lpstr>
      <vt:lpstr>PowerPoint Presentation</vt:lpstr>
      <vt:lpstr>https://sites.google.com/view/iasse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Electrostatique et électrocinétique</dc:title>
  <cp:lastModifiedBy>lhoussain elhajjami</cp:lastModifiedBy>
  <cp:revision>2233</cp:revision>
  <dcterms:created xsi:type="dcterms:W3CDTF">2023-11-13T11:26:33Z</dcterms:created>
  <dcterms:modified xsi:type="dcterms:W3CDTF">2024-12-10T12:43:27Z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2023-02-20T00:00:00Z</vt:filetime>
  </property>
  <property fmtid="{D5CDD505-2E9C-101B-9397-08002B2CF9AE}" pid="3" name="LastSaved">
    <vt:filetime>2023-11-13T00:00:00Z</vt:filetime>
  </property>
</Properties>
</file>