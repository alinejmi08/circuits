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55"/>
  </p:notesMasterIdLst>
  <p:sldIdLst>
    <p:sldId id="260" r:id="rId2"/>
    <p:sldId id="261" r:id="rId3"/>
    <p:sldId id="259" r:id="rId4"/>
    <p:sldId id="490" r:id="rId5"/>
    <p:sldId id="279" r:id="rId6"/>
    <p:sldId id="491" r:id="rId7"/>
    <p:sldId id="268" r:id="rId8"/>
    <p:sldId id="492" r:id="rId9"/>
    <p:sldId id="269" r:id="rId10"/>
    <p:sldId id="270" r:id="rId11"/>
    <p:sldId id="272" r:id="rId12"/>
    <p:sldId id="273" r:id="rId13"/>
    <p:sldId id="271" r:id="rId14"/>
    <p:sldId id="274" r:id="rId15"/>
    <p:sldId id="288" r:id="rId16"/>
    <p:sldId id="275" r:id="rId17"/>
    <p:sldId id="307" r:id="rId18"/>
    <p:sldId id="309" r:id="rId19"/>
    <p:sldId id="313" r:id="rId20"/>
    <p:sldId id="276" r:id="rId21"/>
    <p:sldId id="277" r:id="rId22"/>
    <p:sldId id="310" r:id="rId23"/>
    <p:sldId id="278" r:id="rId24"/>
    <p:sldId id="292" r:id="rId25"/>
    <p:sldId id="293" r:id="rId26"/>
    <p:sldId id="280" r:id="rId27"/>
    <p:sldId id="493" r:id="rId28"/>
    <p:sldId id="290" r:id="rId29"/>
    <p:sldId id="294" r:id="rId30"/>
    <p:sldId id="300" r:id="rId31"/>
    <p:sldId id="298" r:id="rId32"/>
    <p:sldId id="306" r:id="rId33"/>
    <p:sldId id="315" r:id="rId34"/>
    <p:sldId id="494" r:id="rId35"/>
    <p:sldId id="316" r:id="rId36"/>
    <p:sldId id="495" r:id="rId37"/>
    <p:sldId id="317" r:id="rId38"/>
    <p:sldId id="318" r:id="rId39"/>
    <p:sldId id="319" r:id="rId40"/>
    <p:sldId id="496" r:id="rId41"/>
    <p:sldId id="289" r:id="rId42"/>
    <p:sldId id="281" r:id="rId43"/>
    <p:sldId id="283" r:id="rId44"/>
    <p:sldId id="497" r:id="rId45"/>
    <p:sldId id="284" r:id="rId46"/>
    <p:sldId id="312" r:id="rId47"/>
    <p:sldId id="320" r:id="rId48"/>
    <p:sldId id="321" r:id="rId49"/>
    <p:sldId id="301" r:id="rId50"/>
    <p:sldId id="302" r:id="rId51"/>
    <p:sldId id="303" r:id="rId52"/>
    <p:sldId id="304" r:id="rId53"/>
    <p:sldId id="305" r:id="rId5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0EC2"/>
    <a:srgbClr val="BDE4FF"/>
    <a:srgbClr val="FFFF99"/>
    <a:srgbClr val="61D6FF"/>
    <a:srgbClr val="FF8989"/>
    <a:srgbClr val="16D8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62" autoAdjust="0"/>
    <p:restoredTop sz="92971" autoAdjust="0"/>
  </p:normalViewPr>
  <p:slideViewPr>
    <p:cSldViewPr>
      <p:cViewPr varScale="1">
        <p:scale>
          <a:sx n="74" d="100"/>
          <a:sy n="74" d="100"/>
        </p:scale>
        <p:origin x="570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2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Relationship Id="rId5" Type="http://schemas.openxmlformats.org/officeDocument/2006/relationships/image" Target="../media/image34.wmf"/><Relationship Id="rId4" Type="http://schemas.openxmlformats.org/officeDocument/2006/relationships/image" Target="../media/image3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2.wmf"/><Relationship Id="rId4" Type="http://schemas.openxmlformats.org/officeDocument/2006/relationships/image" Target="../media/image46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2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5" Type="http://schemas.openxmlformats.org/officeDocument/2006/relationships/image" Target="../media/image67.wmf"/><Relationship Id="rId4" Type="http://schemas.openxmlformats.org/officeDocument/2006/relationships/image" Target="../media/image6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69.wmf"/><Relationship Id="rId1" Type="http://schemas.openxmlformats.org/officeDocument/2006/relationships/image" Target="../media/image68.wmf"/><Relationship Id="rId5" Type="http://schemas.openxmlformats.org/officeDocument/2006/relationships/image" Target="../media/image72.wmf"/><Relationship Id="rId4" Type="http://schemas.openxmlformats.org/officeDocument/2006/relationships/image" Target="../media/image7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" Type="http://schemas.openxmlformats.org/officeDocument/2006/relationships/image" Target="../media/image81.wmf"/><Relationship Id="rId4" Type="http://schemas.openxmlformats.org/officeDocument/2006/relationships/image" Target="../media/image67.w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85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0.wmf"/><Relationship Id="rId2" Type="http://schemas.openxmlformats.org/officeDocument/2006/relationships/image" Target="../media/image89.wmf"/><Relationship Id="rId1" Type="http://schemas.openxmlformats.org/officeDocument/2006/relationships/image" Target="../media/image88.wmf"/><Relationship Id="rId4" Type="http://schemas.openxmlformats.org/officeDocument/2006/relationships/image" Target="../media/image9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5.wmf"/><Relationship Id="rId2" Type="http://schemas.openxmlformats.org/officeDocument/2006/relationships/image" Target="../media/image94.wmf"/><Relationship Id="rId1" Type="http://schemas.openxmlformats.org/officeDocument/2006/relationships/image" Target="../media/image93.wmf"/><Relationship Id="rId4" Type="http://schemas.openxmlformats.org/officeDocument/2006/relationships/image" Target="../media/image96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Relationship Id="rId4" Type="http://schemas.openxmlformats.org/officeDocument/2006/relationships/image" Target="../media/image100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wmf"/><Relationship Id="rId2" Type="http://schemas.openxmlformats.org/officeDocument/2006/relationships/image" Target="../media/image121.wmf"/><Relationship Id="rId1" Type="http://schemas.openxmlformats.org/officeDocument/2006/relationships/image" Target="../media/image120.wmf"/><Relationship Id="rId5" Type="http://schemas.openxmlformats.org/officeDocument/2006/relationships/image" Target="../media/image124.wmf"/><Relationship Id="rId4" Type="http://schemas.openxmlformats.org/officeDocument/2006/relationships/image" Target="../media/image123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wmf"/><Relationship Id="rId2" Type="http://schemas.openxmlformats.org/officeDocument/2006/relationships/image" Target="../media/image126.wmf"/><Relationship Id="rId1" Type="http://schemas.openxmlformats.org/officeDocument/2006/relationships/image" Target="../media/image125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wmf"/><Relationship Id="rId2" Type="http://schemas.openxmlformats.org/officeDocument/2006/relationships/image" Target="../media/image129.wmf"/><Relationship Id="rId1" Type="http://schemas.openxmlformats.org/officeDocument/2006/relationships/image" Target="../media/image128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wmf"/><Relationship Id="rId1" Type="http://schemas.openxmlformats.org/officeDocument/2006/relationships/image" Target="../media/image131.wmf"/></Relationships>
</file>

<file path=ppt/drawings/_rels/vmlDrawing2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wmf"/><Relationship Id="rId1" Type="http://schemas.openxmlformats.org/officeDocument/2006/relationships/image" Target="../media/image133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Relationship Id="rId5" Type="http://schemas.openxmlformats.org/officeDocument/2006/relationships/image" Target="../media/image139.wmf"/><Relationship Id="rId4" Type="http://schemas.openxmlformats.org/officeDocument/2006/relationships/image" Target="../media/image138.wmf"/></Relationships>
</file>

<file path=ppt/drawings/_rels/vmlDrawing31.v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wmf"/><Relationship Id="rId3" Type="http://schemas.openxmlformats.org/officeDocument/2006/relationships/image" Target="../media/image142.wmf"/><Relationship Id="rId7" Type="http://schemas.openxmlformats.org/officeDocument/2006/relationships/image" Target="../media/image146.wmf"/><Relationship Id="rId2" Type="http://schemas.openxmlformats.org/officeDocument/2006/relationships/image" Target="../media/image141.wmf"/><Relationship Id="rId1" Type="http://schemas.openxmlformats.org/officeDocument/2006/relationships/image" Target="../media/image140.wmf"/><Relationship Id="rId6" Type="http://schemas.openxmlformats.org/officeDocument/2006/relationships/image" Target="../media/image145.wmf"/><Relationship Id="rId5" Type="http://schemas.openxmlformats.org/officeDocument/2006/relationships/image" Target="../media/image144.wmf"/><Relationship Id="rId4" Type="http://schemas.openxmlformats.org/officeDocument/2006/relationships/image" Target="../media/image143.wmf"/></Relationships>
</file>

<file path=ppt/drawings/_rels/vmlDrawing3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55.wmf"/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Relationship Id="rId9" Type="http://schemas.openxmlformats.org/officeDocument/2006/relationships/image" Target="../media/image15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864842-7B0E-4CF9-8D03-2DC526794304}" type="datetimeFigureOut">
              <a:rPr lang="fr-FR" smtClean="0"/>
              <a:t>26/10/2026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656650-4B28-4C44-A644-3CB8021BC5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39573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Un</a:t>
            </a:r>
            <a:r>
              <a:rPr lang="fr-FR" baseline="0" dirty="0"/>
              <a:t> SE il doit avoir l’architecture d’un ordinateur mais c pas un ordinateur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A7ADD1-564E-426F-A644-664AEAE70886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8818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sz="800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56650-4B28-4C44-A644-3CB8021BC560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1187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56650-4B28-4C44-A644-3CB8021BC560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1795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56650-4B28-4C44-A644-3CB8021BC560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03940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56650-4B28-4C44-A644-3CB8021BC56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0296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56650-4B28-4C44-A644-3CB8021BC56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13045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56650-4B28-4C44-A644-3CB8021BC56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810804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56650-4B28-4C44-A644-3CB8021BC56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580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56650-4B28-4C44-A644-3CB8021BC56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018822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56650-4B28-4C44-A644-3CB8021BC56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542286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56650-4B28-4C44-A644-3CB8021BC56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55238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4656650-4B28-4C44-A644-3CB8021BC56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2687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56650-4B28-4C44-A644-3CB8021BC560}" type="slidenum">
              <a:rPr lang="fr-FR" smtClean="0"/>
              <a:t>31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351179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 quadripôle compliqué peut être considéré comme une association de plusieurs quadripôles simples.</a:t>
            </a:r>
          </a:p>
          <a:p>
            <a:pPr marL="285750" marR="0" lvl="0" indent="-2857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Cinq façons d’association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cascade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série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parallèle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série-parallèle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et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parallèle-série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Il est recommander de choisir la matrice la plus appropriée suivant l’association de quadripôles.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56650-4B28-4C44-A644-3CB8021BC560}" type="slidenum">
              <a:rPr lang="fr-FR" smtClean="0"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5249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marR="0" lvl="0" indent="-2857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Un quadripôle compliqué peut être considéré comme une association de plusieurs quadripôles simples.</a:t>
            </a:r>
          </a:p>
          <a:p>
            <a:pPr marL="285750" marR="0" lvl="0" indent="-2857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Cinq façons d’association :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cascade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série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parallèle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série-parallèle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et</a:t>
            </a:r>
            <a:r>
              <a:rPr kumimoji="0" lang="fr-F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parallèle-série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</a:t>
            </a:r>
          </a:p>
          <a:p>
            <a:pPr marL="285750" marR="0" lvl="0" indent="-285750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Il est recommander de choisir la matrice la plus appropriée suivant l’association de quadripôles.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56650-4B28-4C44-A644-3CB8021BC560}" type="slidenum">
              <a:rPr lang="fr-FR" smtClean="0"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87532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3A87A-8667-DD35-986D-B7631B1673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5F546E4-3EDB-F7F5-8BA3-8E4C9DA20E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13E0EC1-BFA7-C3C6-D100-F37DC6473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FC956-2C69-4BA0-9022-3D8EB50FFD6F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0D712DB-8D3B-B040-0095-A3D3AEECE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303342C-13FF-D7B8-4F99-B049B8AE6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83672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2B0726-1344-78A5-6223-2425E2D10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CF4016-D67F-944E-69F5-F9B72BDDB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11D4AF2-2915-EC20-E407-675F790DE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12D7A6-56EE-467F-BF0F-536E702E7357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4C6978-52F0-9EEC-6085-64BB5084B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46DE2D-DA72-50A1-373D-C6837AA80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45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415DE7-6C95-6B5E-0559-2D47C08AD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8BBE93-0735-3F72-8BAA-192AEC180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68F6A99-6D23-3EEF-108D-9786A86E4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3F5396-7176-48A3-AE2B-CBAAB732F614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F390C4-B78E-FE75-6D42-F2BFDCC45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16E1C95-C090-933A-BFFB-88D6CAE3E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79564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B6FFA4-7DBD-B294-2049-5606F103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368E77-A4BA-D5A8-F59C-53300E9A01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0BF151F-B7E3-68B8-CB46-E9F6F6AB6E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8E834B0-5F35-8DB6-5888-4864AF55D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64CFA-ACE8-4A2A-900A-3511A0FF094F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16A279-2A97-FA6F-89AB-414D50A9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C801434-E05E-0431-C56F-E7C55E342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329496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BF3EB-292D-8F5E-DCA6-A6A9D9F6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FBF2D11-C205-9960-6568-9953B424BE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F46EC84-37B0-608C-839C-457EE25C4B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EF17D55-457F-AE5A-9699-DCCCBCEA0C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94112F9-636D-41DC-4EC3-0FCB6CBB6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D56900B-D82C-EC63-4B7F-B74DB624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D682B2-72FA-4582-B95F-4A0CB32C3585}" type="datetime1">
              <a:rPr lang="en-US" smtClean="0"/>
              <a:t>10/26/2026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51693DBE-D1DB-8B23-4F07-7D3FF002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880A770-97DB-C15B-6D19-5886D86FA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5161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1F6A5D-068A-86AA-0D66-9739B3372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4028309-F6C6-D904-0684-E9D7360B7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CF0C59-5ACF-4142-93F2-8D71042D6D0E}" type="datetime1">
              <a:rPr lang="en-US" smtClean="0"/>
              <a:t>10/26/2026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1AD49F-00A7-E660-13CE-AB54A3DD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C8013EA-8540-8E62-1BB2-B840D7DBB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8582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7FFAFA07-42CA-640D-04E1-BE6E018772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921DF2-8AA2-4865-AA26-7BAFF48A1351}" type="datetime1">
              <a:rPr lang="en-US" smtClean="0"/>
              <a:t>10/26/2026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28551B0-2241-96D6-3009-0ECBC2D88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16BEF46-EDCE-A7E3-E8B1-BBC5784D0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47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418BCB-0B3E-FE49-C455-50CBCB715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CC99C0-D25E-8E6F-80EE-4BAB4C1E0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01CB94-14E5-4BE2-1CBB-9E5049C80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40D0A6-2DA5-F0FA-E020-E6F2B169E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A82A9-9DE9-4C31-8B8F-2D00888342D0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75DE6F5-C932-3C5B-BE00-D9381E26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B4C6161-39D8-B2BC-E4AF-C8DCDD210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7506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BC6CFA-E1DE-CB9F-A28B-525D4D72F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3D51C0B8-F0AE-BC05-758D-D590BBD385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0EB0893-8FF5-DD22-2A1A-2B4FB956C0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2975CB6-4099-7E28-666B-6678250C6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23B7-32CC-4AEF-974F-A54C78AA88C4}" type="datetime1">
              <a:rPr lang="en-US" smtClean="0"/>
              <a:t>10/26/2026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CE3B766-4B3C-4FF9-F2CB-3EB82ADFE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5A9F6E2-11CC-A576-B7EB-34C88E820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25653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11CFC6-00FC-C21C-B53C-BB3B3CAE0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47E33E4-6500-D42F-CECB-6E44F406EA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F4018FD-09D3-B49E-7F0D-CBA0EE07A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F7771A-21FA-4958-82E7-72E31D4748CB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84E1BC-0F54-EFCC-5456-A3947D8DD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8081355-71DE-5C24-1480-D6C935742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57884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7757A3A-B625-7AD7-9BF7-E73AF3CD62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7644DA-7E25-9746-53A5-7E9451F9A2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22011D6-5EAF-5AAF-5270-924B9ADBE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58F64-8036-4009-BB65-02311FA07399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970C001-941E-1A83-7D2E-1A20D3A2B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B9ADA5-F3EE-65DF-B203-2C1371C4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09369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EF5A2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rgbClr val="BEBEBE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Habilitation</a:t>
            </a:r>
            <a:r>
              <a:rPr spc="-35" dirty="0"/>
              <a:t> </a:t>
            </a:r>
            <a:r>
              <a:rPr spc="-5" dirty="0"/>
              <a:t>électrique,</a:t>
            </a:r>
            <a:r>
              <a:rPr spc="5" dirty="0"/>
              <a:t> </a:t>
            </a:r>
            <a:r>
              <a:rPr spc="-5" dirty="0"/>
              <a:t>comment</a:t>
            </a:r>
            <a:r>
              <a:rPr spc="15" dirty="0"/>
              <a:t> </a:t>
            </a:r>
            <a:r>
              <a:rPr dirty="0"/>
              <a:t>choisir le</a:t>
            </a:r>
            <a:r>
              <a:rPr spc="-5" dirty="0"/>
              <a:t> </a:t>
            </a:r>
            <a:r>
              <a:rPr dirty="0"/>
              <a:t>symbole d’habilitation</a:t>
            </a:r>
            <a:r>
              <a:rPr spc="-25" dirty="0"/>
              <a:t> </a:t>
            </a:r>
            <a:r>
              <a:rPr dirty="0"/>
              <a:t>?</a:t>
            </a:r>
            <a:r>
              <a:rPr spc="10" dirty="0"/>
              <a:t> </a:t>
            </a:r>
            <a:r>
              <a:rPr dirty="0"/>
              <a:t>– 20</a:t>
            </a:r>
            <a:r>
              <a:rPr spc="-5" dirty="0"/>
              <a:t> </a:t>
            </a:r>
            <a:r>
              <a:rPr dirty="0"/>
              <a:t>juin</a:t>
            </a:r>
            <a:r>
              <a:rPr spc="5" dirty="0"/>
              <a:t> </a:t>
            </a:r>
            <a:r>
              <a:rPr spc="-5" dirty="0"/>
              <a:t>2019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01DD8-1361-4314-B72E-944E183172FB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2000" b="1" i="0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ts val="2315"/>
              </a:lnSpc>
            </a:pPr>
            <a:fld id="{81D60167-4931-47E6-BA6A-407CBD079E47}" type="slidenum">
              <a:rPr dirty="0"/>
              <a:t>‹N°›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58227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5000">
              <a:schemeClr val="accent1">
                <a:lumMod val="0"/>
                <a:lumOff val="100000"/>
              </a:schemeClr>
            </a:gs>
            <a:gs pos="83000">
              <a:schemeClr val="accent1">
                <a:lumMod val="0"/>
                <a:lumOff val="100000"/>
              </a:schemeClr>
            </a:gs>
            <a:gs pos="100000">
              <a:schemeClr val="accent1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4BD65D8-5996-2E79-FFF1-D9449CECD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7950A4-82D8-BA3E-1B69-F697A7131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6BB4F47-55E5-B733-CE7E-B2762BEE46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AD9B7E-DA71-415C-8133-346BAFCB51F8}" type="datetime1">
              <a:rPr lang="en-US" smtClean="0"/>
              <a:t>10/26/2026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837257-6A4B-BB63-948F-FC850FA601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fr-FR"/>
              <a:t>Habilitation</a:t>
            </a:r>
            <a:r>
              <a:rPr lang="fr-FR" spc="-35"/>
              <a:t> </a:t>
            </a:r>
            <a:r>
              <a:rPr lang="fr-FR" spc="-5"/>
              <a:t>électrique,</a:t>
            </a:r>
            <a:r>
              <a:rPr lang="fr-FR" spc="5"/>
              <a:t> </a:t>
            </a:r>
            <a:r>
              <a:rPr lang="fr-FR" spc="-5"/>
              <a:t>comment</a:t>
            </a:r>
            <a:r>
              <a:rPr lang="fr-FR" spc="15"/>
              <a:t> </a:t>
            </a:r>
            <a:r>
              <a:rPr lang="fr-FR"/>
              <a:t>choisir le</a:t>
            </a:r>
            <a:r>
              <a:rPr lang="fr-FR" spc="-5"/>
              <a:t> </a:t>
            </a:r>
            <a:r>
              <a:rPr lang="fr-FR"/>
              <a:t>symbole d’habilitation</a:t>
            </a:r>
            <a:r>
              <a:rPr lang="fr-FR" spc="-25"/>
              <a:t> </a:t>
            </a:r>
            <a:r>
              <a:rPr lang="fr-FR"/>
              <a:t>?</a:t>
            </a:r>
            <a:r>
              <a:rPr lang="fr-FR" spc="10"/>
              <a:t> </a:t>
            </a:r>
            <a:r>
              <a:rPr lang="fr-FR"/>
              <a:t>– 20</a:t>
            </a:r>
            <a:r>
              <a:rPr lang="fr-FR" spc="-5"/>
              <a:t> </a:t>
            </a:r>
            <a:r>
              <a:rPr lang="fr-FR"/>
              <a:t>juin</a:t>
            </a:r>
            <a:r>
              <a:rPr lang="fr-FR" spc="5"/>
              <a:t> </a:t>
            </a:r>
            <a:r>
              <a:rPr lang="fr-FR" spc="-5"/>
              <a:t>2019</a:t>
            </a:r>
            <a:endParaRPr lang="fr-FR" spc="-5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70C64C-33FE-231B-EB2A-DE5618DBE2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5242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1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5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15.png"/><Relationship Id="rId12" Type="http://schemas.openxmlformats.org/officeDocument/2006/relationships/image" Target="../media/image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png"/><Relationship Id="rId11" Type="http://schemas.openxmlformats.org/officeDocument/2006/relationships/oleObject" Target="../embeddings/oleObject1.bin"/><Relationship Id="rId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2.png"/><Relationship Id="rId18" Type="http://schemas.openxmlformats.org/officeDocument/2006/relationships/image" Target="../media/image28.png"/><Relationship Id="rId26" Type="http://schemas.openxmlformats.org/officeDocument/2006/relationships/image" Target="../media/image133.png"/><Relationship Id="rId3" Type="http://schemas.openxmlformats.org/officeDocument/2006/relationships/image" Target="../media/image10.png"/><Relationship Id="rId7" Type="http://schemas.openxmlformats.org/officeDocument/2006/relationships/image" Target="../media/image24.png"/><Relationship Id="rId12" Type="http://schemas.openxmlformats.org/officeDocument/2006/relationships/image" Target="../media/image21.png"/><Relationship Id="rId17" Type="http://schemas.openxmlformats.org/officeDocument/2006/relationships/image" Target="../media/image27.png"/><Relationship Id="rId2" Type="http://schemas.openxmlformats.org/officeDocument/2006/relationships/image" Target="../media/image9.png"/><Relationship Id="rId16" Type="http://schemas.openxmlformats.org/officeDocument/2006/relationships/image" Target="../media/image26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0.png"/><Relationship Id="rId15" Type="http://schemas.openxmlformats.org/officeDocument/2006/relationships/image" Target="../media/image25.png"/><Relationship Id="rId28" Type="http://schemas.openxmlformats.org/officeDocument/2006/relationships/image" Target="../media/image270.png"/><Relationship Id="rId10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11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Relationship Id="rId27" Type="http://schemas.openxmlformats.org/officeDocument/2006/relationships/image" Target="../media/image230.png"/><Relationship Id="rId30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60.png"/><Relationship Id="rId18" Type="http://schemas.openxmlformats.org/officeDocument/2006/relationships/image" Target="../media/image58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12" Type="http://schemas.openxmlformats.org/officeDocument/2006/relationships/image" Target="../media/image350.png"/><Relationship Id="rId17" Type="http://schemas.openxmlformats.org/officeDocument/2006/relationships/image" Target="../media/image57.png"/><Relationship Id="rId2" Type="http://schemas.openxmlformats.org/officeDocument/2006/relationships/image" Target="../media/image40.png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5" Type="http://schemas.openxmlformats.org/officeDocument/2006/relationships/image" Target="../media/image54.png"/><Relationship Id="rId4" Type="http://schemas.openxmlformats.org/officeDocument/2006/relationships/image" Target="../media/image42.png"/><Relationship Id="rId1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65.png"/><Relationship Id="rId18" Type="http://schemas.openxmlformats.org/officeDocument/2006/relationships/image" Target="../media/image37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64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360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490.png"/><Relationship Id="rId5" Type="http://schemas.openxmlformats.org/officeDocument/2006/relationships/image" Target="../media/image48.png"/><Relationship Id="rId19" Type="http://schemas.openxmlformats.org/officeDocument/2006/relationships/image" Target="../media/image380.png"/><Relationship Id="rId4" Type="http://schemas.openxmlformats.org/officeDocument/2006/relationships/image" Target="../media/image47.png"/><Relationship Id="rId14" Type="http://schemas.openxmlformats.org/officeDocument/2006/relationships/image" Target="../media/image66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13" Type="http://schemas.openxmlformats.org/officeDocument/2006/relationships/image" Target="../media/image71.png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70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5.wmf"/><Relationship Id="rId11" Type="http://schemas.openxmlformats.org/officeDocument/2006/relationships/image" Target="../media/image69.png"/><Relationship Id="rId5" Type="http://schemas.openxmlformats.org/officeDocument/2006/relationships/oleObject" Target="../embeddings/oleObject7.bin"/><Relationship Id="rId10" Type="http://schemas.openxmlformats.org/officeDocument/2006/relationships/image" Target="../media/image68.png"/><Relationship Id="rId4" Type="http://schemas.openxmlformats.org/officeDocument/2006/relationships/image" Target="../media/image24.wmf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9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29.wmf"/><Relationship Id="rId4" Type="http://schemas.openxmlformats.org/officeDocument/2006/relationships/image" Target="../media/image27.wmf"/><Relationship Id="rId9" Type="http://schemas.openxmlformats.org/officeDocument/2006/relationships/oleObject" Target="../embeddings/oleObject1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31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33.wmf"/><Relationship Id="rId4" Type="http://schemas.openxmlformats.org/officeDocument/2006/relationships/image" Target="../media/image30.wmf"/><Relationship Id="rId9" Type="http://schemas.openxmlformats.org/officeDocument/2006/relationships/oleObject" Target="../embeddings/oleObject15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6.png"/><Relationship Id="rId3" Type="http://schemas.openxmlformats.org/officeDocument/2006/relationships/oleObject" Target="../embeddings/oleObject17.bin"/><Relationship Id="rId7" Type="http://schemas.openxmlformats.org/officeDocument/2006/relationships/image" Target="../media/image370.png"/><Relationship Id="rId12" Type="http://schemas.openxmlformats.org/officeDocument/2006/relationships/image" Target="../media/image7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7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36.wmf"/><Relationship Id="rId11" Type="http://schemas.openxmlformats.org/officeDocument/2006/relationships/image" Target="../media/image730.png"/><Relationship Id="rId5" Type="http://schemas.openxmlformats.org/officeDocument/2006/relationships/oleObject" Target="../embeddings/oleObject18.bin"/><Relationship Id="rId15" Type="http://schemas.openxmlformats.org/officeDocument/2006/relationships/oleObject" Target="../embeddings/oleObject19.bin"/><Relationship Id="rId10" Type="http://schemas.openxmlformats.org/officeDocument/2006/relationships/image" Target="../media/image590.png"/><Relationship Id="rId4" Type="http://schemas.openxmlformats.org/officeDocument/2006/relationships/image" Target="../media/image35.wmf"/><Relationship Id="rId9" Type="http://schemas.openxmlformats.org/officeDocument/2006/relationships/image" Target="../media/image74.png"/><Relationship Id="rId1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79.png"/><Relationship Id="rId4" Type="http://schemas.openxmlformats.org/officeDocument/2006/relationships/image" Target="../media/image38.wmf"/><Relationship Id="rId9" Type="http://schemas.openxmlformats.org/officeDocument/2006/relationships/image" Target="../media/image7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7" Type="http://schemas.openxmlformats.org/officeDocument/2006/relationships/image" Target="../media/image83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1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8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8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24.bin"/><Relationship Id="rId4" Type="http://schemas.openxmlformats.org/officeDocument/2006/relationships/image" Target="../media/image8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42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44.wmf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46.wmf"/><Relationship Id="rId5" Type="http://schemas.openxmlformats.org/officeDocument/2006/relationships/image" Target="../media/image43.w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5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29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48.wmf"/><Relationship Id="rId18" Type="http://schemas.openxmlformats.org/officeDocument/2006/relationships/image" Target="../media/image103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96.png"/><Relationship Id="rId12" Type="http://schemas.openxmlformats.org/officeDocument/2006/relationships/oleObject" Target="../embeddings/oleObject30.bin"/><Relationship Id="rId17" Type="http://schemas.openxmlformats.org/officeDocument/2006/relationships/image" Target="../media/image10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1.png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95.png"/><Relationship Id="rId11" Type="http://schemas.openxmlformats.org/officeDocument/2006/relationships/image" Target="../media/image100.png"/><Relationship Id="rId5" Type="http://schemas.openxmlformats.org/officeDocument/2006/relationships/image" Target="../media/image940.png"/><Relationship Id="rId15" Type="http://schemas.openxmlformats.org/officeDocument/2006/relationships/image" Target="../media/image49.wmf"/><Relationship Id="rId10" Type="http://schemas.openxmlformats.org/officeDocument/2006/relationships/image" Target="../media/image99.png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55.png"/><Relationship Id="rId9" Type="http://schemas.openxmlformats.org/officeDocument/2006/relationships/image" Target="../media/image98.png"/><Relationship Id="rId14" Type="http://schemas.openxmlformats.org/officeDocument/2006/relationships/oleObject" Target="../embeddings/oleObject31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3.bin"/><Relationship Id="rId13" Type="http://schemas.openxmlformats.org/officeDocument/2006/relationships/image" Target="../media/image111.png"/><Relationship Id="rId18" Type="http://schemas.openxmlformats.org/officeDocument/2006/relationships/image" Target="../media/image61.png"/><Relationship Id="rId3" Type="http://schemas.openxmlformats.org/officeDocument/2006/relationships/notesSlide" Target="../notesSlides/notesSlide8.xml"/><Relationship Id="rId7" Type="http://schemas.openxmlformats.org/officeDocument/2006/relationships/image" Target="../media/image56.wmf"/><Relationship Id="rId12" Type="http://schemas.openxmlformats.org/officeDocument/2006/relationships/image" Target="../media/image110.png"/><Relationship Id="rId17" Type="http://schemas.openxmlformats.org/officeDocument/2006/relationships/image" Target="../media/image11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14.png"/><Relationship Id="rId20" Type="http://schemas.openxmlformats.org/officeDocument/2006/relationships/image" Target="../media/image47.wmf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32.bin"/><Relationship Id="rId11" Type="http://schemas.openxmlformats.org/officeDocument/2006/relationships/image" Target="../media/image109.png"/><Relationship Id="rId5" Type="http://schemas.openxmlformats.org/officeDocument/2006/relationships/image" Target="../media/image107.png"/><Relationship Id="rId15" Type="http://schemas.openxmlformats.org/officeDocument/2006/relationships/image" Target="../media/image113.png"/><Relationship Id="rId10" Type="http://schemas.openxmlformats.org/officeDocument/2006/relationships/image" Target="../media/image108.png"/><Relationship Id="rId19" Type="http://schemas.openxmlformats.org/officeDocument/2006/relationships/oleObject" Target="../embeddings/oleObject29.bin"/><Relationship Id="rId4" Type="http://schemas.openxmlformats.org/officeDocument/2006/relationships/image" Target="../media/image106.png"/><Relationship Id="rId9" Type="http://schemas.openxmlformats.org/officeDocument/2006/relationships/image" Target="../media/image57.wmf"/><Relationship Id="rId14" Type="http://schemas.openxmlformats.org/officeDocument/2006/relationships/image" Target="../media/image11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118.png"/><Relationship Id="rId5" Type="http://schemas.openxmlformats.org/officeDocument/2006/relationships/image" Target="../media/image62.wmf"/><Relationship Id="rId4" Type="http://schemas.openxmlformats.org/officeDocument/2006/relationships/oleObject" Target="../embeddings/oleObject34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7.bin"/><Relationship Id="rId13" Type="http://schemas.openxmlformats.org/officeDocument/2006/relationships/oleObject" Target="../embeddings/oleObject39.bin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64.wmf"/><Relationship Id="rId12" Type="http://schemas.openxmlformats.org/officeDocument/2006/relationships/image" Target="../media/image12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6.bin"/><Relationship Id="rId11" Type="http://schemas.openxmlformats.org/officeDocument/2006/relationships/image" Target="../media/image66.wmf"/><Relationship Id="rId5" Type="http://schemas.openxmlformats.org/officeDocument/2006/relationships/image" Target="../media/image63.wmf"/><Relationship Id="rId10" Type="http://schemas.openxmlformats.org/officeDocument/2006/relationships/oleObject" Target="../embeddings/oleObject38.bin"/><Relationship Id="rId4" Type="http://schemas.openxmlformats.org/officeDocument/2006/relationships/oleObject" Target="../embeddings/oleObject35.bin"/><Relationship Id="rId9" Type="http://schemas.openxmlformats.org/officeDocument/2006/relationships/image" Target="../media/image65.wmf"/><Relationship Id="rId14" Type="http://schemas.openxmlformats.org/officeDocument/2006/relationships/image" Target="../media/image67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2.bin"/><Relationship Id="rId13" Type="http://schemas.openxmlformats.org/officeDocument/2006/relationships/image" Target="../media/image72.wmf"/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69.wmf"/><Relationship Id="rId12" Type="http://schemas.openxmlformats.org/officeDocument/2006/relationships/oleObject" Target="../embeddings/oleObject4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41.bin"/><Relationship Id="rId11" Type="http://schemas.openxmlformats.org/officeDocument/2006/relationships/image" Target="../media/image71.wmf"/><Relationship Id="rId5" Type="http://schemas.openxmlformats.org/officeDocument/2006/relationships/image" Target="../media/image68.wmf"/><Relationship Id="rId10" Type="http://schemas.openxmlformats.org/officeDocument/2006/relationships/oleObject" Target="../embeddings/oleObject43.bin"/><Relationship Id="rId4" Type="http://schemas.openxmlformats.org/officeDocument/2006/relationships/oleObject" Target="../embeddings/oleObject40.bin"/><Relationship Id="rId9" Type="http://schemas.openxmlformats.org/officeDocument/2006/relationships/image" Target="../media/image70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13" Type="http://schemas.openxmlformats.org/officeDocument/2006/relationships/image" Target="../media/image139.png"/><Relationship Id="rId18" Type="http://schemas.openxmlformats.org/officeDocument/2006/relationships/oleObject" Target="../embeddings/oleObject39.bin"/><Relationship Id="rId3" Type="http://schemas.openxmlformats.org/officeDocument/2006/relationships/image" Target="../media/image80.png"/><Relationship Id="rId7" Type="http://schemas.openxmlformats.org/officeDocument/2006/relationships/image" Target="../media/image74.wmf"/><Relationship Id="rId12" Type="http://schemas.openxmlformats.org/officeDocument/2006/relationships/image" Target="../media/image138.png"/><Relationship Id="rId17" Type="http://schemas.openxmlformats.org/officeDocument/2006/relationships/image" Target="../media/image14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2.png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46.bin"/><Relationship Id="rId11" Type="http://schemas.openxmlformats.org/officeDocument/2006/relationships/image" Target="../media/image137.png"/><Relationship Id="rId5" Type="http://schemas.openxmlformats.org/officeDocument/2006/relationships/image" Target="../media/image73.wmf"/><Relationship Id="rId15" Type="http://schemas.openxmlformats.org/officeDocument/2006/relationships/image" Target="../media/image141.png"/><Relationship Id="rId10" Type="http://schemas.openxmlformats.org/officeDocument/2006/relationships/image" Target="../media/image136.png"/><Relationship Id="rId19" Type="http://schemas.openxmlformats.org/officeDocument/2006/relationships/image" Target="../media/image67.wmf"/><Relationship Id="rId4" Type="http://schemas.openxmlformats.org/officeDocument/2006/relationships/oleObject" Target="../embeddings/oleObject45.bin"/><Relationship Id="rId9" Type="http://schemas.openxmlformats.org/officeDocument/2006/relationships/image" Target="../media/image135.png"/><Relationship Id="rId14" Type="http://schemas.openxmlformats.org/officeDocument/2006/relationships/image" Target="../media/image140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8.bin"/><Relationship Id="rId13" Type="http://schemas.openxmlformats.org/officeDocument/2006/relationships/image" Target="../media/image136.png"/><Relationship Id="rId18" Type="http://schemas.openxmlformats.org/officeDocument/2006/relationships/image" Target="../media/image151.png"/><Relationship Id="rId3" Type="http://schemas.openxmlformats.org/officeDocument/2006/relationships/notesSlide" Target="../notesSlides/notesSlide13.xml"/><Relationship Id="rId21" Type="http://schemas.openxmlformats.org/officeDocument/2006/relationships/oleObject" Target="../embeddings/oleObject39.bin"/><Relationship Id="rId7" Type="http://schemas.openxmlformats.org/officeDocument/2006/relationships/image" Target="../media/image148.png"/><Relationship Id="rId12" Type="http://schemas.openxmlformats.org/officeDocument/2006/relationships/image" Target="../media/image149.png"/><Relationship Id="rId17" Type="http://schemas.openxmlformats.org/officeDocument/2006/relationships/image" Target="../media/image150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9.png"/><Relationship Id="rId20" Type="http://schemas.openxmlformats.org/officeDocument/2006/relationships/image" Target="../media/image153.png"/><Relationship Id="rId1" Type="http://schemas.openxmlformats.org/officeDocument/2006/relationships/vmlDrawing" Target="../drawings/vmlDrawing19.vml"/><Relationship Id="rId6" Type="http://schemas.openxmlformats.org/officeDocument/2006/relationships/image" Target="../media/image81.wmf"/><Relationship Id="rId11" Type="http://schemas.openxmlformats.org/officeDocument/2006/relationships/image" Target="../media/image83.wmf"/><Relationship Id="rId5" Type="http://schemas.openxmlformats.org/officeDocument/2006/relationships/oleObject" Target="../embeddings/oleObject47.bin"/><Relationship Id="rId15" Type="http://schemas.openxmlformats.org/officeDocument/2006/relationships/image" Target="../media/image138.png"/><Relationship Id="rId10" Type="http://schemas.openxmlformats.org/officeDocument/2006/relationships/oleObject" Target="../embeddings/oleObject49.bin"/><Relationship Id="rId19" Type="http://schemas.openxmlformats.org/officeDocument/2006/relationships/image" Target="../media/image152.png"/><Relationship Id="rId4" Type="http://schemas.openxmlformats.org/officeDocument/2006/relationships/image" Target="../media/image84.png"/><Relationship Id="rId9" Type="http://schemas.openxmlformats.org/officeDocument/2006/relationships/image" Target="../media/image82.wmf"/><Relationship Id="rId14" Type="http://schemas.openxmlformats.org/officeDocument/2006/relationships/image" Target="../media/image137.png"/><Relationship Id="rId22" Type="http://schemas.openxmlformats.org/officeDocument/2006/relationships/image" Target="../media/image67.w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1020.png"/><Relationship Id="rId4" Type="http://schemas.openxmlformats.org/officeDocument/2006/relationships/image" Target="../media/image85.w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3.bin"/><Relationship Id="rId3" Type="http://schemas.openxmlformats.org/officeDocument/2006/relationships/notesSlide" Target="../notesSlides/notesSlide15.xml"/><Relationship Id="rId7" Type="http://schemas.openxmlformats.org/officeDocument/2006/relationships/image" Target="../media/image8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6" Type="http://schemas.openxmlformats.org/officeDocument/2006/relationships/oleObject" Target="../embeddings/oleObject52.bin"/><Relationship Id="rId11" Type="http://schemas.openxmlformats.org/officeDocument/2006/relationships/image" Target="../media/image91.wmf"/><Relationship Id="rId5" Type="http://schemas.openxmlformats.org/officeDocument/2006/relationships/image" Target="../media/image88.wmf"/><Relationship Id="rId10" Type="http://schemas.openxmlformats.org/officeDocument/2006/relationships/oleObject" Target="../embeddings/oleObject54.bin"/><Relationship Id="rId4" Type="http://schemas.openxmlformats.org/officeDocument/2006/relationships/oleObject" Target="../embeddings/oleObject51.bin"/><Relationship Id="rId9" Type="http://schemas.openxmlformats.org/officeDocument/2006/relationships/image" Target="../media/image90.wmf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94.wmf"/><Relationship Id="rId5" Type="http://schemas.openxmlformats.org/officeDocument/2006/relationships/oleObject" Target="../embeddings/oleObject56.bin"/><Relationship Id="rId10" Type="http://schemas.openxmlformats.org/officeDocument/2006/relationships/image" Target="../media/image96.wmf"/><Relationship Id="rId4" Type="http://schemas.openxmlformats.org/officeDocument/2006/relationships/image" Target="../media/image93.wmf"/><Relationship Id="rId9" Type="http://schemas.openxmlformats.org/officeDocument/2006/relationships/oleObject" Target="../embeddings/oleObject58.bin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wmf"/><Relationship Id="rId3" Type="http://schemas.openxmlformats.org/officeDocument/2006/relationships/image" Target="../media/image104.png"/><Relationship Id="rId7" Type="http://schemas.openxmlformats.org/officeDocument/2006/relationships/oleObject" Target="../embeddings/oleObject60.bin"/><Relationship Id="rId12" Type="http://schemas.openxmlformats.org/officeDocument/2006/relationships/image" Target="../media/image10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97.wmf"/><Relationship Id="rId11" Type="http://schemas.openxmlformats.org/officeDocument/2006/relationships/oleObject" Target="../embeddings/oleObject62.bin"/><Relationship Id="rId5" Type="http://schemas.openxmlformats.org/officeDocument/2006/relationships/oleObject" Target="../embeddings/oleObject59.bin"/><Relationship Id="rId10" Type="http://schemas.openxmlformats.org/officeDocument/2006/relationships/image" Target="../media/image99.wmf"/><Relationship Id="rId4" Type="http://schemas.microsoft.com/office/2007/relationships/hdphoto" Target="../media/hdphoto3.wdp"/><Relationship Id="rId9" Type="http://schemas.openxmlformats.org/officeDocument/2006/relationships/oleObject" Target="../embeddings/oleObject61.bin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8.w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117.wmf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wmf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1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21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0" Type="http://schemas.openxmlformats.org/officeDocument/2006/relationships/image" Target="../media/image123.wmf"/><Relationship Id="rId4" Type="http://schemas.openxmlformats.org/officeDocument/2006/relationships/image" Target="../media/image120.wmf"/><Relationship Id="rId9" Type="http://schemas.openxmlformats.org/officeDocument/2006/relationships/oleObject" Target="../embeddings/oleObject69.bin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wmf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26.wmf"/><Relationship Id="rId5" Type="http://schemas.openxmlformats.org/officeDocument/2006/relationships/oleObject" Target="../embeddings/oleObject72.bin"/><Relationship Id="rId4" Type="http://schemas.openxmlformats.org/officeDocument/2006/relationships/image" Target="../media/image125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6.bin"/><Relationship Id="rId3" Type="http://schemas.openxmlformats.org/officeDocument/2006/relationships/oleObject" Target="../embeddings/oleObject74.bin"/><Relationship Id="rId7" Type="http://schemas.openxmlformats.org/officeDocument/2006/relationships/image" Target="../media/image188.png"/><Relationship Id="rId12" Type="http://schemas.openxmlformats.org/officeDocument/2006/relationships/image" Target="../media/image19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9.wmf"/><Relationship Id="rId11" Type="http://schemas.openxmlformats.org/officeDocument/2006/relationships/image" Target="../media/image190.png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189.png"/><Relationship Id="rId4" Type="http://schemas.openxmlformats.org/officeDocument/2006/relationships/image" Target="../media/image128.wmf"/><Relationship Id="rId9" Type="http://schemas.openxmlformats.org/officeDocument/2006/relationships/image" Target="../media/image130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32.wmf"/><Relationship Id="rId5" Type="http://schemas.openxmlformats.org/officeDocument/2006/relationships/oleObject" Target="../embeddings/oleObject78.bin"/><Relationship Id="rId4" Type="http://schemas.openxmlformats.org/officeDocument/2006/relationships/image" Target="../media/image131.wmf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95.png"/><Relationship Id="rId7" Type="http://schemas.openxmlformats.org/officeDocument/2006/relationships/image" Target="../media/image199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8.png"/><Relationship Id="rId5" Type="http://schemas.openxmlformats.org/officeDocument/2006/relationships/image" Target="../media/image197.png"/><Relationship Id="rId4" Type="http://schemas.openxmlformats.org/officeDocument/2006/relationships/image" Target="../media/image196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4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133.wmf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7.wmf"/><Relationship Id="rId3" Type="http://schemas.openxmlformats.org/officeDocument/2006/relationships/oleObject" Target="../embeddings/oleObject81.bin"/><Relationship Id="rId7" Type="http://schemas.openxmlformats.org/officeDocument/2006/relationships/oleObject" Target="../embeddings/oleObject83.bin"/><Relationship Id="rId12" Type="http://schemas.openxmlformats.org/officeDocument/2006/relationships/image" Target="../media/image13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36.wmf"/><Relationship Id="rId11" Type="http://schemas.openxmlformats.org/officeDocument/2006/relationships/oleObject" Target="../embeddings/oleObject85.bin"/><Relationship Id="rId5" Type="http://schemas.openxmlformats.org/officeDocument/2006/relationships/oleObject" Target="../embeddings/oleObject82.bin"/><Relationship Id="rId10" Type="http://schemas.openxmlformats.org/officeDocument/2006/relationships/image" Target="../media/image138.wmf"/><Relationship Id="rId4" Type="http://schemas.openxmlformats.org/officeDocument/2006/relationships/image" Target="../media/image135.wmf"/><Relationship Id="rId9" Type="http://schemas.openxmlformats.org/officeDocument/2006/relationships/oleObject" Target="../embeddings/oleObject84.bin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wmf"/><Relationship Id="rId13" Type="http://schemas.openxmlformats.org/officeDocument/2006/relationships/oleObject" Target="../embeddings/oleObject91.bin"/><Relationship Id="rId18" Type="http://schemas.openxmlformats.org/officeDocument/2006/relationships/image" Target="../media/image147.wmf"/><Relationship Id="rId3" Type="http://schemas.openxmlformats.org/officeDocument/2006/relationships/oleObject" Target="../embeddings/oleObject86.bin"/><Relationship Id="rId7" Type="http://schemas.openxmlformats.org/officeDocument/2006/relationships/oleObject" Target="../embeddings/oleObject88.bin"/><Relationship Id="rId12" Type="http://schemas.openxmlformats.org/officeDocument/2006/relationships/image" Target="../media/image144.wmf"/><Relationship Id="rId17" Type="http://schemas.openxmlformats.org/officeDocument/2006/relationships/oleObject" Target="../embeddings/oleObject9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46.wmf"/><Relationship Id="rId1" Type="http://schemas.openxmlformats.org/officeDocument/2006/relationships/vmlDrawing" Target="../drawings/vmlDrawing31.vml"/><Relationship Id="rId6" Type="http://schemas.openxmlformats.org/officeDocument/2006/relationships/image" Target="../media/image141.wmf"/><Relationship Id="rId11" Type="http://schemas.openxmlformats.org/officeDocument/2006/relationships/oleObject" Target="../embeddings/oleObject90.bin"/><Relationship Id="rId5" Type="http://schemas.openxmlformats.org/officeDocument/2006/relationships/oleObject" Target="../embeddings/oleObject87.bin"/><Relationship Id="rId15" Type="http://schemas.openxmlformats.org/officeDocument/2006/relationships/oleObject" Target="../embeddings/oleObject92.bin"/><Relationship Id="rId10" Type="http://schemas.openxmlformats.org/officeDocument/2006/relationships/image" Target="../media/image143.wmf"/><Relationship Id="rId4" Type="http://schemas.openxmlformats.org/officeDocument/2006/relationships/image" Target="../media/image140.wmf"/><Relationship Id="rId9" Type="http://schemas.openxmlformats.org/officeDocument/2006/relationships/oleObject" Target="../embeddings/oleObject89.bin"/><Relationship Id="rId14" Type="http://schemas.openxmlformats.org/officeDocument/2006/relationships/image" Target="../media/image145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wmf"/><Relationship Id="rId13" Type="http://schemas.openxmlformats.org/officeDocument/2006/relationships/oleObject" Target="../embeddings/oleObject99.bin"/><Relationship Id="rId18" Type="http://schemas.openxmlformats.org/officeDocument/2006/relationships/image" Target="../media/image155.wm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12" Type="http://schemas.openxmlformats.org/officeDocument/2006/relationships/image" Target="../media/image152.wmf"/><Relationship Id="rId17" Type="http://schemas.openxmlformats.org/officeDocument/2006/relationships/oleObject" Target="../embeddings/oleObject10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54.wmf"/><Relationship Id="rId20" Type="http://schemas.openxmlformats.org/officeDocument/2006/relationships/image" Target="../media/image156.wmf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9.wmf"/><Relationship Id="rId11" Type="http://schemas.openxmlformats.org/officeDocument/2006/relationships/oleObject" Target="../embeddings/oleObject98.bin"/><Relationship Id="rId5" Type="http://schemas.openxmlformats.org/officeDocument/2006/relationships/oleObject" Target="../embeddings/oleObject95.bin"/><Relationship Id="rId15" Type="http://schemas.openxmlformats.org/officeDocument/2006/relationships/oleObject" Target="../embeddings/oleObject100.bin"/><Relationship Id="rId10" Type="http://schemas.openxmlformats.org/officeDocument/2006/relationships/image" Target="../media/image151.wmf"/><Relationship Id="rId19" Type="http://schemas.openxmlformats.org/officeDocument/2006/relationships/oleObject" Target="../embeddings/oleObject102.bin"/><Relationship Id="rId4" Type="http://schemas.openxmlformats.org/officeDocument/2006/relationships/image" Target="../media/image148.wmf"/><Relationship Id="rId9" Type="http://schemas.openxmlformats.org/officeDocument/2006/relationships/oleObject" Target="../embeddings/oleObject97.bin"/><Relationship Id="rId14" Type="http://schemas.openxmlformats.org/officeDocument/2006/relationships/image" Target="../media/image153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CAD97733-82B8-B369-9161-2BE05DF7393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5715" y="238644"/>
            <a:ext cx="3700570" cy="867770"/>
          </a:xfrm>
          <a:prstGeom prst="rect">
            <a:avLst/>
          </a:prstGeom>
        </p:spPr>
      </p:pic>
      <p:sp>
        <p:nvSpPr>
          <p:cNvPr id="3" name="TextBox 14">
            <a:extLst>
              <a:ext uri="{FF2B5EF4-FFF2-40B4-BE49-F238E27FC236}">
                <a16:creationId xmlns:a16="http://schemas.microsoft.com/office/drawing/2014/main" id="{9D1F54DC-487D-022E-C391-8F4A27E3CF2A}"/>
              </a:ext>
            </a:extLst>
          </p:cNvPr>
          <p:cNvSpPr txBox="1"/>
          <p:nvPr/>
        </p:nvSpPr>
        <p:spPr>
          <a:xfrm>
            <a:off x="2895915" y="1371546"/>
            <a:ext cx="670559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 b="1" u="sng" dirty="0">
                <a:latin typeface="Bookman Old Style" panose="02050604050505020204" pitchFamily="18" charset="0"/>
                <a:ea typeface="+mj-ea"/>
                <a:cs typeface="Arial"/>
              </a:rPr>
              <a:t>DEUST 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Electrique et Systèmes Embarqués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Génie Physique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Mécanique et Systèmes Industriels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Génie Informatique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b="1" dirty="0">
                <a:latin typeface="Bookman Old Style" panose="02050604050505020204" pitchFamily="18" charset="0"/>
                <a:ea typeface="+mj-ea"/>
                <a:cs typeface="Arial"/>
              </a:rPr>
              <a:t>Génie Chimique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fr-FR" sz="1200" dirty="0">
                <a:latin typeface="Bookman Old Style" panose="02050604050505020204" pitchFamily="18" charset="0"/>
                <a:ea typeface="+mj-ea"/>
                <a:cs typeface="Arial"/>
              </a:rPr>
              <a:t>Mathématiques et Sciences des Données </a:t>
            </a:r>
          </a:p>
        </p:txBody>
      </p:sp>
      <p:sp>
        <p:nvSpPr>
          <p:cNvPr id="6" name="object 10">
            <a:extLst>
              <a:ext uri="{FF2B5EF4-FFF2-40B4-BE49-F238E27FC236}">
                <a16:creationId xmlns:a16="http://schemas.microsoft.com/office/drawing/2014/main" id="{085D4105-B0B8-F558-1CF1-584813346E83}"/>
              </a:ext>
            </a:extLst>
          </p:cNvPr>
          <p:cNvSpPr txBox="1"/>
          <p:nvPr/>
        </p:nvSpPr>
        <p:spPr>
          <a:xfrm>
            <a:off x="3587291" y="4891977"/>
            <a:ext cx="7481085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fr-FR" sz="3200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Chapitre 2 : Les Quadripôles</a:t>
            </a:r>
            <a:endParaRPr sz="3200" b="1" dirty="0">
              <a:solidFill>
                <a:srgbClr val="0000FF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object 12">
            <a:extLst>
              <a:ext uri="{FF2B5EF4-FFF2-40B4-BE49-F238E27FC236}">
                <a16:creationId xmlns:a16="http://schemas.microsoft.com/office/drawing/2014/main" id="{B788B841-179A-3C6D-2B69-4213B5EB151F}"/>
              </a:ext>
            </a:extLst>
          </p:cNvPr>
          <p:cNvSpPr txBox="1"/>
          <p:nvPr/>
        </p:nvSpPr>
        <p:spPr>
          <a:xfrm>
            <a:off x="1810457" y="3272305"/>
            <a:ext cx="9652000" cy="13967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28575">
            <a:solidFill>
              <a:srgbClr val="0000FF"/>
            </a:solidFill>
          </a:ln>
        </p:spPr>
        <p:txBody>
          <a:bodyPr vert="horz" wrap="square" lIns="0" tIns="16933" rIns="0" bIns="0" rtlCol="0">
            <a:spAutoFit/>
          </a:bodyPr>
          <a:lstStyle/>
          <a:p>
            <a:pPr marL="16933" algn="ctr">
              <a:spcBef>
                <a:spcPts val="133"/>
              </a:spcBef>
            </a:pPr>
            <a:endParaRPr lang="fr-FR" sz="2933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ookman Old Style" panose="02050604050505020204" pitchFamily="18" charset="0"/>
              <a:ea typeface="+mj-ea"/>
              <a:cs typeface="Arial"/>
            </a:endParaRPr>
          </a:p>
          <a:p>
            <a:pPr marL="16933" algn="ctr">
              <a:spcBef>
                <a:spcPts val="133"/>
              </a:spcBef>
            </a:pPr>
            <a:r>
              <a:rPr lang="fr-FR" sz="2933" b="1" dirty="0">
                <a:ln w="0"/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ookman Old Style" panose="02050604050505020204" pitchFamily="18" charset="0"/>
                <a:ea typeface="+mj-ea"/>
                <a:cs typeface="Arial"/>
              </a:rPr>
              <a:t>CIRCUITS ELECTRIQUES ET ELECTRONIQUES</a:t>
            </a:r>
          </a:p>
          <a:p>
            <a:pPr marL="16933" algn="ctr">
              <a:spcBef>
                <a:spcPts val="133"/>
              </a:spcBef>
            </a:pPr>
            <a:endParaRPr sz="2933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Bookman Old Style" panose="02050604050505020204" pitchFamily="18" charset="0"/>
              <a:ea typeface="+mj-ea"/>
              <a:cs typeface="Arial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2ED82E1-93E1-169B-583B-A2F2DFEBFC12}"/>
              </a:ext>
            </a:extLst>
          </p:cNvPr>
          <p:cNvSpPr txBox="1"/>
          <p:nvPr/>
        </p:nvSpPr>
        <p:spPr>
          <a:xfrm>
            <a:off x="5757630" y="6134062"/>
            <a:ext cx="2491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Pr. </a:t>
            </a:r>
            <a:r>
              <a:rPr lang="fr-FR" sz="2000" b="1" dirty="0" smtClean="0"/>
              <a:t>Ali NEJMI</a:t>
            </a:r>
            <a:endParaRPr lang="fr-FR" sz="2000" b="1" dirty="0"/>
          </a:p>
        </p:txBody>
      </p:sp>
      <p:sp>
        <p:nvSpPr>
          <p:cNvPr id="10" name="ZoneTexte 9"/>
          <p:cNvSpPr txBox="1"/>
          <p:nvPr/>
        </p:nvSpPr>
        <p:spPr>
          <a:xfrm>
            <a:off x="4877114" y="5596023"/>
            <a:ext cx="472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https://alinejmi08.github.io/circuits/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77896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22">
            <a:extLst>
              <a:ext uri="{FF2B5EF4-FFF2-40B4-BE49-F238E27FC236}">
                <a16:creationId xmlns:a16="http://schemas.microsoft.com/office/drawing/2014/main" id="{3381EE25-FE56-110C-3ACE-9498A9392D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922966" y="1504175"/>
            <a:ext cx="8046224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Définitions &amp; conventions de signes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400" b="1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Description matricielle d’un quadripôle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400" b="1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Association de quadripôles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fr-FR" sz="2400" b="1" dirty="0">
              <a:solidFill>
                <a:srgbClr val="0070C0"/>
              </a:solidFill>
              <a:latin typeface="Bookman Old Style" panose="020506040505050202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Grandeurs caractéristiques d’un quadripôle</a:t>
            </a:r>
            <a:b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</a:br>
            <a: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/>
            </a:r>
            <a:b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</a:br>
            <a:r>
              <a:rPr lang="fr-FR" sz="24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Exercice d’application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600" b="1" dirty="0">
              <a:latin typeface="Bookman Old Style" panose="020506040505050202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C0D49B6-86D3-F31B-9519-A3006A382C4D}"/>
              </a:ext>
            </a:extLst>
          </p:cNvPr>
          <p:cNvSpPr txBox="1"/>
          <p:nvPr/>
        </p:nvSpPr>
        <p:spPr>
          <a:xfrm>
            <a:off x="1862254" y="624468"/>
            <a:ext cx="25313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B050"/>
                </a:solidFill>
              </a:rPr>
              <a:t>Sommaire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205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/>
          <p:cNvSpPr txBox="1"/>
          <p:nvPr/>
        </p:nvSpPr>
        <p:spPr>
          <a:xfrm>
            <a:off x="1407696" y="891456"/>
            <a:ext cx="9552226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algn="just"/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Un quadripôle est un composant ou un circuit (ensemble de composants) à deux entrées et deux sorties, permettant le transfert d'énergie entre deux autres dipôles. Les signaux électriques en entrée et en sortie peuvent être différentes (tension, courant, puissance). 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5"/>
          <p:cNvSpPr txBox="1">
            <a:spLocks/>
          </p:cNvSpPr>
          <p:nvPr/>
        </p:nvSpPr>
        <p:spPr>
          <a:xfrm>
            <a:off x="930889" y="350392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lvl="0">
              <a:spcBef>
                <a:spcPts val="100"/>
              </a:spcBef>
            </a:pPr>
            <a:r>
              <a:rPr lang="fr-FR" sz="1800" b="1" kern="0" spc="-15" dirty="0">
                <a:solidFill>
                  <a:srgbClr val="00AF50"/>
                </a:solidFill>
                <a:latin typeface="Bookman Old Style" panose="02050604050505020204" pitchFamily="18" charset="0"/>
              </a:rPr>
              <a:t>I-1 Définitions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00AF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07695" y="1919406"/>
            <a:ext cx="955222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lvl="0" algn="just"/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Le quadripôle est caractérisé par deux grandeurs (i1, v1) à l’entrée et deux grandeurs (i2, v2)  à la sortie. </a:t>
            </a: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BE7FECC-BE85-4444-1CF2-6C54FDF2A868}"/>
              </a:ext>
            </a:extLst>
          </p:cNvPr>
          <p:cNvGrpSpPr/>
          <p:nvPr/>
        </p:nvGrpSpPr>
        <p:grpSpPr>
          <a:xfrm>
            <a:off x="2850598" y="2548635"/>
            <a:ext cx="7616710" cy="2122801"/>
            <a:chOff x="2850598" y="2548635"/>
            <a:chExt cx="7616710" cy="2122801"/>
          </a:xfrm>
        </p:grpSpPr>
        <p:sp>
          <p:nvSpPr>
            <p:cNvPr id="27" name="Triangle isocèle 26"/>
            <p:cNvSpPr/>
            <p:nvPr/>
          </p:nvSpPr>
          <p:spPr>
            <a:xfrm rot="5400000">
              <a:off x="5158210" y="2884355"/>
              <a:ext cx="204716" cy="198500"/>
            </a:xfrm>
            <a:prstGeom prst="triangle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600">
                <a:latin typeface="Bookman Old Style" panose="02050604050505020204" pitchFamily="18" charset="0"/>
              </a:endParaRPr>
            </a:p>
          </p:txBody>
        </p:sp>
        <p:grpSp>
          <p:nvGrpSpPr>
            <p:cNvPr id="11" name="Groupe 10">
              <a:extLst>
                <a:ext uri="{FF2B5EF4-FFF2-40B4-BE49-F238E27FC236}">
                  <a16:creationId xmlns:a16="http://schemas.microsoft.com/office/drawing/2014/main" id="{49D99F74-7423-EB6A-88A7-1ED38E3D269C}"/>
                </a:ext>
              </a:extLst>
            </p:cNvPr>
            <p:cNvGrpSpPr/>
            <p:nvPr/>
          </p:nvGrpSpPr>
          <p:grpSpPr>
            <a:xfrm>
              <a:off x="2850598" y="2548635"/>
              <a:ext cx="7616710" cy="2122801"/>
              <a:chOff x="2850598" y="2548635"/>
              <a:chExt cx="7616710" cy="2122801"/>
            </a:xfrm>
          </p:grpSpPr>
          <p:grpSp>
            <p:nvGrpSpPr>
              <p:cNvPr id="10" name="Groupe 9">
                <a:extLst>
                  <a:ext uri="{FF2B5EF4-FFF2-40B4-BE49-F238E27FC236}">
                    <a16:creationId xmlns:a16="http://schemas.microsoft.com/office/drawing/2014/main" id="{AFF90BB2-C709-D16E-C8C6-79B3C1EBFCB0}"/>
                  </a:ext>
                </a:extLst>
              </p:cNvPr>
              <p:cNvGrpSpPr/>
              <p:nvPr/>
            </p:nvGrpSpPr>
            <p:grpSpPr>
              <a:xfrm>
                <a:off x="2850598" y="2548635"/>
                <a:ext cx="7616710" cy="2122801"/>
                <a:chOff x="2850598" y="2548635"/>
                <a:chExt cx="7616710" cy="2122801"/>
              </a:xfrm>
            </p:grpSpPr>
            <p:sp>
              <p:nvSpPr>
                <p:cNvPr id="33" name="Rectangle 32"/>
                <p:cNvSpPr/>
                <p:nvPr/>
              </p:nvSpPr>
              <p:spPr>
                <a:xfrm>
                  <a:off x="8273397" y="3196123"/>
                  <a:ext cx="686548" cy="3385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fr-FR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v</a:t>
                  </a:r>
                  <a:r>
                    <a:rPr lang="fr-FR" sz="1600" b="1" i="1" dirty="0">
                      <a:solidFill>
                        <a:srgbClr val="C00000"/>
                      </a:solidFill>
                      <a:latin typeface="Bookman Old Style" panose="02050604050505020204" pitchFamily="18" charset="0"/>
                      <a:cs typeface="Times New Roman" panose="02020603050405020304" pitchFamily="18" charset="0"/>
                    </a:rPr>
                    <a:t>2(t)</a:t>
                  </a:r>
                  <a:endParaRPr kumimoji="0" lang="fr-FR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Bookman Old Style" panose="02050604050505020204" pitchFamily="18" charset="0"/>
                  </a:endParaRPr>
                </a:p>
              </p:txBody>
            </p:sp>
            <p:grpSp>
              <p:nvGrpSpPr>
                <p:cNvPr id="9" name="Groupe 8">
                  <a:extLst>
                    <a:ext uri="{FF2B5EF4-FFF2-40B4-BE49-F238E27FC236}">
                      <a16:creationId xmlns:a16="http://schemas.microsoft.com/office/drawing/2014/main" id="{0D055F1D-51DE-8BBD-C907-F10C18B09852}"/>
                    </a:ext>
                  </a:extLst>
                </p:cNvPr>
                <p:cNvGrpSpPr/>
                <p:nvPr/>
              </p:nvGrpSpPr>
              <p:grpSpPr>
                <a:xfrm>
                  <a:off x="2850598" y="2548635"/>
                  <a:ext cx="7616710" cy="2122801"/>
                  <a:chOff x="2842767" y="2519405"/>
                  <a:chExt cx="7616710" cy="2122801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>
                    <a:off x="3193321" y="4303652"/>
                    <a:ext cx="6774611" cy="338554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lvl="0" algn="just"/>
                    <a:r>
                      <a:rPr lang="fr-FR" sz="1600" b="1" dirty="0">
                        <a:solidFill>
                          <a:prstClr val="black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Boîte munie de deux bornes d’entrée et deux bornes de sortie</a:t>
                    </a:r>
                  </a:p>
                </p:txBody>
              </p:sp>
              <p:cxnSp>
                <p:nvCxnSpPr>
                  <p:cNvPr id="18" name="Connecteur droit 17"/>
                  <p:cNvCxnSpPr/>
                  <p:nvPr/>
                </p:nvCxnSpPr>
                <p:spPr>
                  <a:xfrm>
                    <a:off x="4467005" y="2959687"/>
                    <a:ext cx="4444368" cy="2769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Connecteur droit avec flèche 25"/>
                  <p:cNvCxnSpPr/>
                  <p:nvPr/>
                </p:nvCxnSpPr>
                <p:spPr>
                  <a:xfrm flipV="1">
                    <a:off x="4885213" y="2986983"/>
                    <a:ext cx="0" cy="72072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3"/>
                  </a:lnRef>
                  <a:fillRef idx="0">
                    <a:schemeClr val="accent3"/>
                  </a:fillRef>
                  <a:effectRef idx="2">
                    <a:schemeClr val="accent3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Triangle isocèle 27"/>
                  <p:cNvSpPr/>
                  <p:nvPr/>
                </p:nvSpPr>
                <p:spPr>
                  <a:xfrm rot="16200000" flipH="1">
                    <a:off x="7898415" y="2877293"/>
                    <a:ext cx="204716" cy="198500"/>
                  </a:xfrm>
                  <a:prstGeom prst="triangle">
                    <a:avLst/>
                  </a:prstGeom>
                </p:spPr>
                <p:style>
                  <a:lnRef idx="2">
                    <a:schemeClr val="accent2">
                      <a:shade val="50000"/>
                    </a:schemeClr>
                  </a:lnRef>
                  <a:fillRef idx="1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29" name="ZoneTexte 28"/>
                  <p:cNvSpPr txBox="1"/>
                  <p:nvPr/>
                </p:nvSpPr>
                <p:spPr>
                  <a:xfrm>
                    <a:off x="2842767" y="3189626"/>
                    <a:ext cx="1235121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fr-FR" sz="1600" b="1" dirty="0">
                        <a:solidFill>
                          <a:srgbClr val="00B050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Entrée</a:t>
                    </a:r>
                  </a:p>
                </p:txBody>
              </p:sp>
              <p:sp>
                <p:nvSpPr>
                  <p:cNvPr id="30" name="ZoneTexte 29"/>
                  <p:cNvSpPr txBox="1"/>
                  <p:nvPr/>
                </p:nvSpPr>
                <p:spPr>
                  <a:xfrm>
                    <a:off x="9476387" y="3212534"/>
                    <a:ext cx="983090" cy="33855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fr-FR" sz="1600" b="1" dirty="0">
                        <a:solidFill>
                          <a:srgbClr val="C00000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Sortie</a:t>
                    </a:r>
                  </a:p>
                </p:txBody>
              </p:sp>
              <p:sp>
                <p:nvSpPr>
                  <p:cNvPr id="31" name="Rectangle 30"/>
                  <p:cNvSpPr/>
                  <p:nvPr/>
                </p:nvSpPr>
                <p:spPr>
                  <a:xfrm>
                    <a:off x="4344587" y="3212534"/>
                    <a:ext cx="645963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fr-FR" sz="1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v</a:t>
                    </a:r>
                    <a:r>
                      <a:rPr lang="fr-FR" sz="1600" b="1" i="1" dirty="0">
                        <a:solidFill>
                          <a:srgbClr val="00B050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1(t)</a:t>
                    </a:r>
                    <a:endParaRPr kumimoji="0" lang="fr-FR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32" name="Rectangle 31"/>
                  <p:cNvSpPr/>
                  <p:nvPr/>
                </p:nvSpPr>
                <p:spPr>
                  <a:xfrm>
                    <a:off x="4159833" y="2586037"/>
                    <a:ext cx="1108545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fr-FR" sz="1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fr-FR" sz="1600" b="1" i="1" dirty="0">
                        <a:solidFill>
                          <a:srgbClr val="00B050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1(t)</a:t>
                    </a:r>
                    <a:endParaRPr kumimoji="0" lang="fr-FR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p:cxnSp>
                <p:nvCxnSpPr>
                  <p:cNvPr id="34" name="Connecteur droit avec flèche 33"/>
                  <p:cNvCxnSpPr/>
                  <p:nvPr/>
                </p:nvCxnSpPr>
                <p:spPr>
                  <a:xfrm flipV="1">
                    <a:off x="8262294" y="2986982"/>
                    <a:ext cx="0" cy="720725"/>
                  </a:xfrm>
                  <a:prstGeom prst="straightConnector1">
                    <a:avLst/>
                  </a:prstGeom>
                  <a:ln>
                    <a:tailEnd type="triangle"/>
                  </a:ln>
                </p:spPr>
                <p:style>
                  <a:lnRef idx="3">
                    <a:schemeClr val="accent2"/>
                  </a:lnRef>
                  <a:fillRef idx="0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Rectangle 34"/>
                  <p:cNvSpPr/>
                  <p:nvPr/>
                </p:nvSpPr>
                <p:spPr>
                  <a:xfrm>
                    <a:off x="7857056" y="2519405"/>
                    <a:ext cx="819138" cy="338554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fr-FR" sz="1600" b="1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fr-FR" sz="1600" b="1" i="1" noProof="0" dirty="0">
                        <a:solidFill>
                          <a:srgbClr val="C00000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2(t)</a:t>
                    </a:r>
                    <a:endParaRPr kumimoji="0" lang="fr-FR" sz="1600" b="1" i="1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C00000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p:cxnSp>
                <p:nvCxnSpPr>
                  <p:cNvPr id="38" name="Connecteur droit 37"/>
                  <p:cNvCxnSpPr/>
                  <p:nvPr/>
                </p:nvCxnSpPr>
                <p:spPr>
                  <a:xfrm flipV="1">
                    <a:off x="4467005" y="3780072"/>
                    <a:ext cx="4438664" cy="755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9" name="Rectangle 38"/>
                  <p:cNvSpPr/>
                  <p:nvPr/>
                </p:nvSpPr>
                <p:spPr>
                  <a:xfrm>
                    <a:off x="5594286" y="2758159"/>
                    <a:ext cx="1876930" cy="1272166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3"/>
                  </a:lnRef>
                  <a:fillRef idx="1">
                    <a:schemeClr val="lt1"/>
                  </a:fillRef>
                  <a:effectRef idx="0">
                    <a:schemeClr val="accent3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13" name="Flèche droite 12"/>
                  <p:cNvSpPr/>
                  <p:nvPr/>
                </p:nvSpPr>
                <p:spPr>
                  <a:xfrm>
                    <a:off x="3801647" y="3202620"/>
                    <a:ext cx="516442" cy="356338"/>
                  </a:xfrm>
                  <a:prstGeom prst="rightArrow">
                    <a:avLst/>
                  </a:prstGeom>
                  <a:solidFill>
                    <a:srgbClr val="00B05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44" name="Flèche droite 43"/>
                  <p:cNvSpPr/>
                  <p:nvPr/>
                </p:nvSpPr>
                <p:spPr>
                  <a:xfrm flipH="1">
                    <a:off x="8959945" y="3218699"/>
                    <a:ext cx="516442" cy="356338"/>
                  </a:xfrm>
                  <a:prstGeom prst="rightArrow">
                    <a:avLst/>
                  </a:prstGeom>
                  <a:solidFill>
                    <a:srgbClr val="FF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</p:grpSp>
          </p:grpSp>
          <p:sp>
            <p:nvSpPr>
              <p:cNvPr id="40" name="Rectangle 39"/>
              <p:cNvSpPr/>
              <p:nvPr/>
            </p:nvSpPr>
            <p:spPr>
              <a:xfrm>
                <a:off x="5684123" y="3240742"/>
                <a:ext cx="160008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6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Quadripôle</a:t>
                </a:r>
                <a:endParaRPr kumimoji="0" lang="fr-FR" sz="16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p:grpSp>
      </p:grpSp>
      <p:sp>
        <p:nvSpPr>
          <p:cNvPr id="36" name="Rectangle 35"/>
          <p:cNvSpPr/>
          <p:nvPr/>
        </p:nvSpPr>
        <p:spPr>
          <a:xfrm>
            <a:off x="1407695" y="5390069"/>
            <a:ext cx="1006857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600" b="1" dirty="0" smtClean="0">
                <a:solidFill>
                  <a:srgbClr val="00B0F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Quadripôles </a:t>
            </a:r>
            <a:r>
              <a:rPr lang="fr-FR" sz="1600" b="1" dirty="0">
                <a:solidFill>
                  <a:srgbClr val="00B0F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passifs </a:t>
            </a:r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le circuit ne comporte aucune source d’énergie</a:t>
            </a:r>
          </a:p>
          <a:p>
            <a:pPr algn="just"/>
            <a:r>
              <a:rPr lang="fr-FR" sz="1600" b="1" dirty="0">
                <a:solidFill>
                  <a:srgbClr val="00B0F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Quadripôles actifs </a:t>
            </a:r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le circuit  comporte des sources de tension ou/et courant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48795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Espace réservé du contenu 2">
            <a:extLst>
              <a:ext uri="{FF2B5EF4-FFF2-40B4-BE49-F238E27FC236}">
                <a16:creationId xmlns:a16="http://schemas.microsoft.com/office/drawing/2014/main" id="{F970179B-CD82-DC3F-E71E-DD791646D590}"/>
              </a:ext>
            </a:extLst>
          </p:cNvPr>
          <p:cNvSpPr txBox="1">
            <a:spLocks/>
          </p:cNvSpPr>
          <p:nvPr/>
        </p:nvSpPr>
        <p:spPr>
          <a:xfrm>
            <a:off x="1500727" y="1750641"/>
            <a:ext cx="8182442" cy="5539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1" i="0">
                <a:solidFill>
                  <a:srgbClr val="4F82BD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380990" indent="-380990">
              <a:buFont typeface="Wingdings" panose="05000000000000000000" pitchFamily="2" charset="2"/>
              <a:buChar char="q"/>
            </a:pPr>
            <a:r>
              <a:rPr lang="fr-FR" kern="0" dirty="0">
                <a:solidFill>
                  <a:schemeClr val="tx1"/>
                </a:solidFill>
                <a:latin typeface="Bookman Old Style" panose="02050604050505020204" pitchFamily="18" charset="0"/>
              </a:rPr>
              <a:t> Trois conventions de signe sont rencontrées :</a:t>
            </a:r>
          </a:p>
          <a:p>
            <a:endParaRPr lang="fr-FR" kern="0" dirty="0">
              <a:latin typeface="Bookman Old Style" panose="02050604050505020204" pitchFamily="18" charset="0"/>
            </a:endParaRPr>
          </a:p>
        </p:txBody>
      </p:sp>
      <p:sp>
        <p:nvSpPr>
          <p:cNvPr id="69" name="Text Box 14">
            <a:extLst>
              <a:ext uri="{FF2B5EF4-FFF2-40B4-BE49-F238E27FC236}">
                <a16:creationId xmlns:a16="http://schemas.microsoft.com/office/drawing/2014/main" id="{074A4911-EC94-AABB-3649-71D0C2A525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2137" y="3987479"/>
            <a:ext cx="622300" cy="74295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v</a:t>
            </a:r>
            <a:r>
              <a:rPr lang="fr-FR" b="1" baseline="-25000">
                <a:latin typeface="Bookman Old Style" panose="02050604050505020204" pitchFamily="18" charset="0"/>
              </a:rPr>
              <a:t>2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70" name="Text Box 15">
            <a:extLst>
              <a:ext uri="{FF2B5EF4-FFF2-40B4-BE49-F238E27FC236}">
                <a16:creationId xmlns:a16="http://schemas.microsoft.com/office/drawing/2014/main" id="{11E449F9-67A9-C6F4-DCFF-9D355CDAA9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3636" y="4002297"/>
            <a:ext cx="609600" cy="7471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v</a:t>
            </a:r>
            <a:r>
              <a:rPr lang="fr-FR" b="1" baseline="-25000">
                <a:latin typeface="Bookman Old Style" panose="02050604050505020204" pitchFamily="18" charset="0"/>
              </a:rPr>
              <a:t>1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71" name="Text Box 16">
            <a:extLst>
              <a:ext uri="{FF2B5EF4-FFF2-40B4-BE49-F238E27FC236}">
                <a16:creationId xmlns:a16="http://schemas.microsoft.com/office/drawing/2014/main" id="{C315A448-E1F3-2F9F-ED24-9DAB815BD3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885" y="3130230"/>
            <a:ext cx="516467" cy="74718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i</a:t>
            </a:r>
            <a:r>
              <a:rPr lang="fr-FR" b="1" baseline="-25000">
                <a:latin typeface="Bookman Old Style" panose="02050604050505020204" pitchFamily="18" charset="0"/>
              </a:rPr>
              <a:t>2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72" name="Text Box 17">
            <a:extLst>
              <a:ext uri="{FF2B5EF4-FFF2-40B4-BE49-F238E27FC236}">
                <a16:creationId xmlns:a16="http://schemas.microsoft.com/office/drawing/2014/main" id="{2F94C6A9-DA7E-1F36-337C-30CF95E5C5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303" y="3130230"/>
            <a:ext cx="518583" cy="74294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i</a:t>
            </a:r>
            <a:r>
              <a:rPr lang="fr-FR" b="1" baseline="-25000">
                <a:latin typeface="Bookman Old Style" panose="02050604050505020204" pitchFamily="18" charset="0"/>
              </a:rPr>
              <a:t>1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73" name="Rectangle 18">
            <a:extLst>
              <a:ext uri="{FF2B5EF4-FFF2-40B4-BE49-F238E27FC236}">
                <a16:creationId xmlns:a16="http://schemas.microsoft.com/office/drawing/2014/main" id="{008218EE-F13F-CF6B-BF67-16914AE168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1303" y="3382112"/>
            <a:ext cx="1270000" cy="165311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74" name="Line 19">
            <a:extLst>
              <a:ext uri="{FF2B5EF4-FFF2-40B4-BE49-F238E27FC236}">
                <a16:creationId xmlns:a16="http://schemas.microsoft.com/office/drawing/2014/main" id="{63FC1953-5F5A-A175-CDB3-29A9572781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620" y="3612829"/>
            <a:ext cx="81703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75" name="Line 20">
            <a:extLst>
              <a:ext uri="{FF2B5EF4-FFF2-40B4-BE49-F238E27FC236}">
                <a16:creationId xmlns:a16="http://schemas.microsoft.com/office/drawing/2014/main" id="{3C16A26B-096D-6D8C-CA3C-0080BCAA0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0620" y="4741012"/>
            <a:ext cx="81703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76" name="Line 21">
            <a:extLst>
              <a:ext uri="{FF2B5EF4-FFF2-40B4-BE49-F238E27FC236}">
                <a16:creationId xmlns:a16="http://schemas.microsoft.com/office/drawing/2014/main" id="{5AA62219-7965-9174-B67A-4406DCBA27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6119" y="3612829"/>
            <a:ext cx="814917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77" name="Line 22">
            <a:extLst>
              <a:ext uri="{FF2B5EF4-FFF2-40B4-BE49-F238E27FC236}">
                <a16:creationId xmlns:a16="http://schemas.microsoft.com/office/drawing/2014/main" id="{BCE3EE81-B6F9-ACFA-8AEE-796A6F22922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20936" y="4741012"/>
            <a:ext cx="819149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78" name="Line 23">
            <a:extLst>
              <a:ext uri="{FF2B5EF4-FFF2-40B4-BE49-F238E27FC236}">
                <a16:creationId xmlns:a16="http://schemas.microsoft.com/office/drawing/2014/main" id="{7EB3AE52-8CE3-9189-E7DA-42197D2AF0D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9286" y="3606479"/>
            <a:ext cx="220133" cy="0"/>
          </a:xfrm>
          <a:prstGeom prst="line">
            <a:avLst/>
          </a:prstGeom>
          <a:ln>
            <a:headEnd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79" name="Line 24">
            <a:extLst>
              <a:ext uri="{FF2B5EF4-FFF2-40B4-BE49-F238E27FC236}">
                <a16:creationId xmlns:a16="http://schemas.microsoft.com/office/drawing/2014/main" id="{2C70D878-6DD0-567E-1D8E-07139092B5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096103" y="3606479"/>
            <a:ext cx="220133" cy="0"/>
          </a:xfrm>
          <a:prstGeom prst="line">
            <a:avLst/>
          </a:prstGeom>
          <a:ln>
            <a:headEnd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80" name="Line 25">
            <a:extLst>
              <a:ext uri="{FF2B5EF4-FFF2-40B4-BE49-F238E27FC236}">
                <a16:creationId xmlns:a16="http://schemas.microsoft.com/office/drawing/2014/main" id="{0510B015-3F49-5C68-0738-95FE137A690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82936" y="3773696"/>
            <a:ext cx="0" cy="82973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81" name="Line 26">
            <a:extLst>
              <a:ext uri="{FF2B5EF4-FFF2-40B4-BE49-F238E27FC236}">
                <a16:creationId xmlns:a16="http://schemas.microsoft.com/office/drawing/2014/main" id="{4BEB46E1-B7F2-8FE7-581E-5EAD2BC7053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552" y="3712313"/>
            <a:ext cx="0" cy="82761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82" name="Text Box 27">
            <a:extLst>
              <a:ext uri="{FF2B5EF4-FFF2-40B4-BE49-F238E27FC236}">
                <a16:creationId xmlns:a16="http://schemas.microsoft.com/office/drawing/2014/main" id="{8D857B35-59A4-1EC1-CAE3-3D7502D14B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65803" y="3892230"/>
            <a:ext cx="518583" cy="74294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 dirty="0">
                <a:latin typeface="Bookman Old Style" panose="02050604050505020204" pitchFamily="18" charset="0"/>
              </a:rPr>
              <a:t>Q</a:t>
            </a:r>
          </a:p>
        </p:txBody>
      </p:sp>
      <p:sp>
        <p:nvSpPr>
          <p:cNvPr id="83" name="Text Box 14">
            <a:extLst>
              <a:ext uri="{FF2B5EF4-FFF2-40B4-BE49-F238E27FC236}">
                <a16:creationId xmlns:a16="http://schemas.microsoft.com/office/drawing/2014/main" id="{03360B93-3C35-133A-9711-19D777E92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6886" y="4006530"/>
            <a:ext cx="624417" cy="74294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 dirty="0">
                <a:latin typeface="Bookman Old Style" panose="02050604050505020204" pitchFamily="18" charset="0"/>
              </a:rPr>
              <a:t>v</a:t>
            </a:r>
            <a:r>
              <a:rPr lang="fr-FR" b="1" baseline="-25000" dirty="0">
                <a:latin typeface="Bookman Old Style" panose="02050604050505020204" pitchFamily="18" charset="0"/>
              </a:rPr>
              <a:t>2</a:t>
            </a:r>
            <a:endParaRPr lang="fr-FR" b="1" dirty="0">
              <a:latin typeface="Bookman Old Style" panose="02050604050505020204" pitchFamily="18" charset="0"/>
            </a:endParaRPr>
          </a:p>
        </p:txBody>
      </p:sp>
      <p:sp>
        <p:nvSpPr>
          <p:cNvPr id="84" name="Text Box 15">
            <a:extLst>
              <a:ext uri="{FF2B5EF4-FFF2-40B4-BE49-F238E27FC236}">
                <a16:creationId xmlns:a16="http://schemas.microsoft.com/office/drawing/2014/main" id="{9A033F92-93F2-4569-2F13-A273DAAC7E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8385" y="4002297"/>
            <a:ext cx="609600" cy="74718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v</a:t>
            </a:r>
            <a:r>
              <a:rPr lang="fr-FR" b="1" baseline="-25000">
                <a:latin typeface="Bookman Old Style" panose="02050604050505020204" pitchFamily="18" charset="0"/>
              </a:rPr>
              <a:t>1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85" name="Text Box 16">
            <a:extLst>
              <a:ext uri="{FF2B5EF4-FFF2-40B4-BE49-F238E27FC236}">
                <a16:creationId xmlns:a16="http://schemas.microsoft.com/office/drawing/2014/main" id="{3BEC5802-D02E-4369-6794-B8E4893A27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70636" y="3130230"/>
            <a:ext cx="516467" cy="74718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i</a:t>
            </a:r>
            <a:r>
              <a:rPr lang="fr-FR" b="1" baseline="-25000">
                <a:latin typeface="Bookman Old Style" panose="02050604050505020204" pitchFamily="18" charset="0"/>
              </a:rPr>
              <a:t>2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86" name="Text Box 17">
            <a:extLst>
              <a:ext uri="{FF2B5EF4-FFF2-40B4-BE49-F238E27FC236}">
                <a16:creationId xmlns:a16="http://schemas.microsoft.com/office/drawing/2014/main" id="{12DBA06D-B2B2-6FB5-77A9-74FF685861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169" y="3130230"/>
            <a:ext cx="516467" cy="74294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i</a:t>
            </a:r>
            <a:r>
              <a:rPr lang="fr-FR" b="1" baseline="-25000">
                <a:latin typeface="Bookman Old Style" panose="02050604050505020204" pitchFamily="18" charset="0"/>
              </a:rPr>
              <a:t>1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87" name="Rectangle 18">
            <a:extLst>
              <a:ext uri="{FF2B5EF4-FFF2-40B4-BE49-F238E27FC236}">
                <a16:creationId xmlns:a16="http://schemas.microsoft.com/office/drawing/2014/main" id="{FF3C0287-F63F-E8CC-EA19-7E5933039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6052" y="3382112"/>
            <a:ext cx="1270000" cy="165311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88" name="Line 19">
            <a:extLst>
              <a:ext uri="{FF2B5EF4-FFF2-40B4-BE49-F238E27FC236}">
                <a16:creationId xmlns:a16="http://schemas.microsoft.com/office/drawing/2014/main" id="{C4475F9D-4E8F-2E44-17BD-4B21BF941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370" y="3612829"/>
            <a:ext cx="81703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89" name="Line 20">
            <a:extLst>
              <a:ext uri="{FF2B5EF4-FFF2-40B4-BE49-F238E27FC236}">
                <a16:creationId xmlns:a16="http://schemas.microsoft.com/office/drawing/2014/main" id="{170CD77D-FC11-154B-75F6-40A46351C8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25370" y="4741012"/>
            <a:ext cx="81703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90" name="Line 21">
            <a:extLst>
              <a:ext uri="{FF2B5EF4-FFF2-40B4-BE49-F238E27FC236}">
                <a16:creationId xmlns:a16="http://schemas.microsoft.com/office/drawing/2014/main" id="{5FFC14C8-10B1-45E6-97CD-43F148AD2F99}"/>
              </a:ext>
            </a:extLst>
          </p:cNvPr>
          <p:cNvSpPr>
            <a:spLocks noChangeShapeType="1"/>
          </p:cNvSpPr>
          <p:nvPr/>
        </p:nvSpPr>
        <p:spPr bwMode="auto">
          <a:xfrm>
            <a:off x="6520870" y="3612829"/>
            <a:ext cx="814916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91" name="Line 22">
            <a:extLst>
              <a:ext uri="{FF2B5EF4-FFF2-40B4-BE49-F238E27FC236}">
                <a16:creationId xmlns:a16="http://schemas.microsoft.com/office/drawing/2014/main" id="{0DAF1B33-B961-09B3-89EE-52ACD860F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5686" y="4741012"/>
            <a:ext cx="81915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92" name="Line 23">
            <a:extLst>
              <a:ext uri="{FF2B5EF4-FFF2-40B4-BE49-F238E27FC236}">
                <a16:creationId xmlns:a16="http://schemas.microsoft.com/office/drawing/2014/main" id="{694606A1-5803-5D61-FBA0-461F8B98FD1E}"/>
              </a:ext>
            </a:extLst>
          </p:cNvPr>
          <p:cNvSpPr>
            <a:spLocks noChangeShapeType="1"/>
          </p:cNvSpPr>
          <p:nvPr/>
        </p:nvSpPr>
        <p:spPr bwMode="auto">
          <a:xfrm>
            <a:off x="4764036" y="3606479"/>
            <a:ext cx="220133" cy="0"/>
          </a:xfrm>
          <a:prstGeom prst="line">
            <a:avLst/>
          </a:prstGeom>
          <a:ln>
            <a:headEnd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93" name="Line 24">
            <a:extLst>
              <a:ext uri="{FF2B5EF4-FFF2-40B4-BE49-F238E27FC236}">
                <a16:creationId xmlns:a16="http://schemas.microsoft.com/office/drawing/2014/main" id="{222F1AC7-4E1C-6719-5587-0F40A90B46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10852" y="3606479"/>
            <a:ext cx="220133" cy="0"/>
          </a:xfrm>
          <a:prstGeom prst="line">
            <a:avLst/>
          </a:prstGeom>
          <a:ln>
            <a:headEnd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94" name="Line 25">
            <a:extLst>
              <a:ext uri="{FF2B5EF4-FFF2-40B4-BE49-F238E27FC236}">
                <a16:creationId xmlns:a16="http://schemas.microsoft.com/office/drawing/2014/main" id="{0C81EEE7-BA59-5BC0-3885-EF85D63E735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97685" y="3773696"/>
            <a:ext cx="0" cy="82973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95" name="Line 26">
            <a:extLst>
              <a:ext uri="{FF2B5EF4-FFF2-40B4-BE49-F238E27FC236}">
                <a16:creationId xmlns:a16="http://schemas.microsoft.com/office/drawing/2014/main" id="{AA9D7486-B96B-B145-EB59-B475D8A865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442303" y="3712313"/>
            <a:ext cx="0" cy="82761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96" name="Text Box 27">
            <a:extLst>
              <a:ext uri="{FF2B5EF4-FFF2-40B4-BE49-F238E27FC236}">
                <a16:creationId xmlns:a16="http://schemas.microsoft.com/office/drawing/2014/main" id="{26108D22-E1D3-BB3A-1034-5007567F3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82669" y="3892230"/>
            <a:ext cx="516467" cy="74294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Q</a:t>
            </a:r>
          </a:p>
        </p:txBody>
      </p:sp>
      <p:sp>
        <p:nvSpPr>
          <p:cNvPr id="97" name="Text Box 15">
            <a:extLst>
              <a:ext uri="{FF2B5EF4-FFF2-40B4-BE49-F238E27FC236}">
                <a16:creationId xmlns:a16="http://schemas.microsoft.com/office/drawing/2014/main" id="{0605C8A7-2C7C-7E6D-43B6-5E3520F601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4827" y="4002297"/>
            <a:ext cx="609600" cy="74718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 dirty="0">
                <a:latin typeface="Bookman Old Style" panose="02050604050505020204" pitchFamily="18" charset="0"/>
              </a:rPr>
              <a:t>v</a:t>
            </a:r>
            <a:r>
              <a:rPr lang="fr-FR" b="1" baseline="-25000" dirty="0">
                <a:latin typeface="Bookman Old Style" panose="02050604050505020204" pitchFamily="18" charset="0"/>
              </a:rPr>
              <a:t>1</a:t>
            </a:r>
            <a:endParaRPr lang="fr-FR" b="1" dirty="0">
              <a:latin typeface="Bookman Old Style" panose="02050604050505020204" pitchFamily="18" charset="0"/>
            </a:endParaRPr>
          </a:p>
        </p:txBody>
      </p:sp>
      <p:sp>
        <p:nvSpPr>
          <p:cNvPr id="98" name="Text Box 16">
            <a:extLst>
              <a:ext uri="{FF2B5EF4-FFF2-40B4-BE49-F238E27FC236}">
                <a16:creationId xmlns:a16="http://schemas.microsoft.com/office/drawing/2014/main" id="{EE621FDF-5714-151D-844D-63AACDA66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71137" y="3130230"/>
            <a:ext cx="518583" cy="747183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i</a:t>
            </a:r>
            <a:r>
              <a:rPr lang="fr-FR" b="1" baseline="-25000">
                <a:latin typeface="Bookman Old Style" panose="02050604050505020204" pitchFamily="18" charset="0"/>
              </a:rPr>
              <a:t>2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99" name="Text Box 17">
            <a:extLst>
              <a:ext uri="{FF2B5EF4-FFF2-40B4-BE49-F238E27FC236}">
                <a16:creationId xmlns:a16="http://schemas.microsoft.com/office/drawing/2014/main" id="{B47E5A51-0108-B8F9-7B85-DE024508F3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0669" y="3130230"/>
            <a:ext cx="516467" cy="74294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i</a:t>
            </a:r>
            <a:r>
              <a:rPr lang="fr-FR" b="1" baseline="-25000">
                <a:latin typeface="Bookman Old Style" panose="02050604050505020204" pitchFamily="18" charset="0"/>
              </a:rPr>
              <a:t>1</a:t>
            </a:r>
            <a:endParaRPr lang="fr-FR" b="1">
              <a:latin typeface="Bookman Old Style" panose="02050604050505020204" pitchFamily="18" charset="0"/>
            </a:endParaRPr>
          </a:p>
        </p:txBody>
      </p:sp>
      <p:sp>
        <p:nvSpPr>
          <p:cNvPr id="100" name="Rectangle 18">
            <a:extLst>
              <a:ext uri="{FF2B5EF4-FFF2-40B4-BE49-F238E27FC236}">
                <a16:creationId xmlns:a16="http://schemas.microsoft.com/office/drawing/2014/main" id="{238E1283-CAA7-C197-D7F1-0A922457F1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36552" y="3382112"/>
            <a:ext cx="1270000" cy="1653117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1" name="Line 19">
            <a:extLst>
              <a:ext uri="{FF2B5EF4-FFF2-40B4-BE49-F238E27FC236}">
                <a16:creationId xmlns:a16="http://schemas.microsoft.com/office/drawing/2014/main" id="{43073194-2C6D-00E4-25A5-A4B63DAB91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5870" y="3612829"/>
            <a:ext cx="81703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2" name="Line 20">
            <a:extLst>
              <a:ext uri="{FF2B5EF4-FFF2-40B4-BE49-F238E27FC236}">
                <a16:creationId xmlns:a16="http://schemas.microsoft.com/office/drawing/2014/main" id="{EBCFD74C-2695-32B1-4188-A58321DF34DE}"/>
              </a:ext>
            </a:extLst>
          </p:cNvPr>
          <p:cNvSpPr>
            <a:spLocks noChangeShapeType="1"/>
          </p:cNvSpPr>
          <p:nvPr/>
        </p:nvSpPr>
        <p:spPr bwMode="auto">
          <a:xfrm>
            <a:off x="8425870" y="4741012"/>
            <a:ext cx="817033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3" name="Line 21">
            <a:extLst>
              <a:ext uri="{FF2B5EF4-FFF2-40B4-BE49-F238E27FC236}">
                <a16:creationId xmlns:a16="http://schemas.microsoft.com/office/drawing/2014/main" id="{73E47D5E-CCC6-DB54-3164-262B5EDC5B09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21370" y="3612829"/>
            <a:ext cx="814916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4" name="Line 22">
            <a:extLst>
              <a:ext uri="{FF2B5EF4-FFF2-40B4-BE49-F238E27FC236}">
                <a16:creationId xmlns:a16="http://schemas.microsoft.com/office/drawing/2014/main" id="{6E4238C9-97B5-4A1E-6DAA-C1F55B77AE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536186" y="4741012"/>
            <a:ext cx="819151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5" name="Line 23">
            <a:extLst>
              <a:ext uri="{FF2B5EF4-FFF2-40B4-BE49-F238E27FC236}">
                <a16:creationId xmlns:a16="http://schemas.microsoft.com/office/drawing/2014/main" id="{6680BCB2-64D5-01D2-C1C1-0B4D5C33553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64536" y="3606479"/>
            <a:ext cx="220133" cy="0"/>
          </a:xfrm>
          <a:prstGeom prst="line">
            <a:avLst/>
          </a:prstGeom>
          <a:ln>
            <a:headEnd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6" name="Line 24">
            <a:extLst>
              <a:ext uri="{FF2B5EF4-FFF2-40B4-BE49-F238E27FC236}">
                <a16:creationId xmlns:a16="http://schemas.microsoft.com/office/drawing/2014/main" id="{20E64A85-1354-BC1F-6344-3460BBA0EB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811352" y="3606479"/>
            <a:ext cx="220133" cy="0"/>
          </a:xfrm>
          <a:prstGeom prst="line">
            <a:avLst/>
          </a:prstGeom>
          <a:ln>
            <a:headEnd/>
            <a:tailEnd type="arrow" w="med" len="med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 dirty="0">
              <a:latin typeface="Bookman Old Style" panose="02050604050505020204" pitchFamily="18" charset="0"/>
            </a:endParaRPr>
          </a:p>
        </p:txBody>
      </p:sp>
      <p:sp>
        <p:nvSpPr>
          <p:cNvPr id="107" name="Line 25">
            <a:extLst>
              <a:ext uri="{FF2B5EF4-FFF2-40B4-BE49-F238E27FC236}">
                <a16:creationId xmlns:a16="http://schemas.microsoft.com/office/drawing/2014/main" id="{75620851-B1CB-9C51-1F14-6C40E99143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298185" y="3773696"/>
            <a:ext cx="0" cy="829733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8" name="Line 26">
            <a:extLst>
              <a:ext uri="{FF2B5EF4-FFF2-40B4-BE49-F238E27FC236}">
                <a16:creationId xmlns:a16="http://schemas.microsoft.com/office/drawing/2014/main" id="{5A222261-5100-12ED-5E0D-433B0DEDC6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442803" y="3712313"/>
            <a:ext cx="0" cy="827617"/>
          </a:xfrm>
          <a:prstGeom prst="line">
            <a:avLst/>
          </a:prstGeom>
          <a:ln>
            <a:headEnd/>
            <a:tailEnd type="triangle" w="med" len="med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  <p:txBody>
          <a:bodyPr/>
          <a:lstStyle/>
          <a:p>
            <a:pPr>
              <a:defRPr/>
            </a:pPr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9" name="Text Box 27">
            <a:extLst>
              <a:ext uri="{FF2B5EF4-FFF2-40B4-BE49-F238E27FC236}">
                <a16:creationId xmlns:a16="http://schemas.microsoft.com/office/drawing/2014/main" id="{E42C010B-A314-3878-35E2-1C046DFFB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169" y="3892230"/>
            <a:ext cx="516467" cy="74294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>
                <a:latin typeface="Bookman Old Style" panose="02050604050505020204" pitchFamily="18" charset="0"/>
              </a:rPr>
              <a:t>Q</a:t>
            </a:r>
          </a:p>
        </p:txBody>
      </p:sp>
      <p:sp>
        <p:nvSpPr>
          <p:cNvPr id="110" name="ZoneTexte 94">
            <a:extLst>
              <a:ext uri="{FF2B5EF4-FFF2-40B4-BE49-F238E27FC236}">
                <a16:creationId xmlns:a16="http://schemas.microsoft.com/office/drawing/2014/main" id="{8DC8BC97-2646-856D-9025-C7C6E69FE5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147" y="2746277"/>
            <a:ext cx="376131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Convention Transmetteur</a:t>
            </a:r>
          </a:p>
        </p:txBody>
      </p:sp>
      <p:sp>
        <p:nvSpPr>
          <p:cNvPr id="111" name="ZoneTexte 96">
            <a:extLst>
              <a:ext uri="{FF2B5EF4-FFF2-40B4-BE49-F238E27FC236}">
                <a16:creationId xmlns:a16="http://schemas.microsoft.com/office/drawing/2014/main" id="{33D372EF-89CE-E2FC-1ABA-2AE8C51D61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2947" y="2745071"/>
            <a:ext cx="36195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Convention Récepteur</a:t>
            </a:r>
          </a:p>
        </p:txBody>
      </p:sp>
      <p:sp>
        <p:nvSpPr>
          <p:cNvPr id="112" name="ZoneTexte 97">
            <a:extLst>
              <a:ext uri="{FF2B5EF4-FFF2-40B4-BE49-F238E27FC236}">
                <a16:creationId xmlns:a16="http://schemas.microsoft.com/office/drawing/2014/main" id="{478489DA-54BA-D4A9-81C4-F72E2E537D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7078" y="2768099"/>
            <a:ext cx="37613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0000FF"/>
                </a:solidFill>
                <a:latin typeface="Bookman Old Style" panose="02050604050505020204" pitchFamily="18" charset="0"/>
              </a:rPr>
              <a:t>Convention Générateur</a:t>
            </a:r>
          </a:p>
        </p:txBody>
      </p:sp>
      <p:sp>
        <p:nvSpPr>
          <p:cNvPr id="117" name="ZoneTexte 98">
            <a:extLst>
              <a:ext uri="{FF2B5EF4-FFF2-40B4-BE49-F238E27FC236}">
                <a16:creationId xmlns:a16="http://schemas.microsoft.com/office/drawing/2014/main" id="{DE610D1D-39C2-FF63-6B89-B2F1B5EF2C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075" y="5113547"/>
            <a:ext cx="3526211" cy="6669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Le quadripôle transmet de l’énergie</a:t>
            </a:r>
          </a:p>
        </p:txBody>
      </p:sp>
      <p:sp>
        <p:nvSpPr>
          <p:cNvPr id="118" name="ZoneTexte 99">
            <a:extLst>
              <a:ext uri="{FF2B5EF4-FFF2-40B4-BE49-F238E27FC236}">
                <a16:creationId xmlns:a16="http://schemas.microsoft.com/office/drawing/2014/main" id="{0AD3FC64-0A15-D14F-8C86-817426D5A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3185" y="5189229"/>
            <a:ext cx="3619499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 b="1">
                <a:solidFill>
                  <a:srgbClr val="7030A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fr-FR" sz="1800" dirty="0"/>
              <a:t>L’énergie est rentrante</a:t>
            </a:r>
          </a:p>
        </p:txBody>
      </p:sp>
      <p:sp>
        <p:nvSpPr>
          <p:cNvPr id="119" name="ZoneTexte 100">
            <a:extLst>
              <a:ext uri="{FF2B5EF4-FFF2-40B4-BE49-F238E27FC236}">
                <a16:creationId xmlns:a16="http://schemas.microsoft.com/office/drawing/2014/main" id="{126A7699-5723-FE75-B698-7D24B2EA1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5736" y="5189229"/>
            <a:ext cx="3048000" cy="379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1400" b="1">
                <a:solidFill>
                  <a:srgbClr val="7030A0"/>
                </a:solidFill>
                <a:latin typeface="Bookman Old Style" panose="02050604050505020204" pitchFamily="18" charset="0"/>
              </a:defRPr>
            </a:lvl1pPr>
          </a:lstStyle>
          <a:p>
            <a:r>
              <a:rPr lang="fr-FR" sz="1800" dirty="0"/>
              <a:t>L’énergie est sortante</a:t>
            </a:r>
          </a:p>
        </p:txBody>
      </p:sp>
      <p:sp>
        <p:nvSpPr>
          <p:cNvPr id="3" name="Text Box 14">
            <a:extLst>
              <a:ext uri="{FF2B5EF4-FFF2-40B4-BE49-F238E27FC236}">
                <a16:creationId xmlns:a16="http://schemas.microsoft.com/office/drawing/2014/main" id="{97FF8B0E-7486-702A-984E-E5640A685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3977" y="3876740"/>
            <a:ext cx="624417" cy="7429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Aft>
                <a:spcPts val="1333"/>
              </a:spcAft>
            </a:pPr>
            <a:r>
              <a:rPr lang="fr-FR" b="1" dirty="0">
                <a:latin typeface="Bookman Old Style" panose="02050604050505020204" pitchFamily="18" charset="0"/>
              </a:rPr>
              <a:t>v</a:t>
            </a:r>
            <a:r>
              <a:rPr lang="fr-FR" b="1" baseline="-25000" dirty="0">
                <a:latin typeface="Bookman Old Style" panose="02050604050505020204" pitchFamily="18" charset="0"/>
              </a:rPr>
              <a:t>2</a:t>
            </a:r>
            <a:endParaRPr lang="fr-FR" b="1" dirty="0">
              <a:latin typeface="Bookman Old Style" panose="02050604050505020204" pitchFamily="18" charset="0"/>
            </a:endParaRPr>
          </a:p>
        </p:txBody>
      </p:sp>
      <p:sp>
        <p:nvSpPr>
          <p:cNvPr id="120" name="ZoneTexte 101">
            <a:extLst>
              <a:ext uri="{FF2B5EF4-FFF2-40B4-BE49-F238E27FC236}">
                <a16:creationId xmlns:a16="http://schemas.microsoft.com/office/drawing/2014/main" id="{2DE80E06-477A-C4BC-61AA-167C4F690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3057" y="872887"/>
            <a:ext cx="103606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just" fontAlgn="auto">
              <a:spcAft>
                <a:spcPts val="0"/>
              </a:spcAft>
              <a:buFont typeface="Arial" pitchFamily="34" charset="0"/>
              <a:buNone/>
              <a:defRPr sz="1500" b="1">
                <a:latin typeface="Bookman Old Style" panose="02050604050505020204" pitchFamily="18" charset="0"/>
              </a:defRPr>
            </a:lvl1pPr>
          </a:lstStyle>
          <a:p>
            <a:pPr marL="380990" indent="-380990">
              <a:buFont typeface="Wingdings" panose="05000000000000000000" pitchFamily="2" charset="2"/>
              <a:buChar char="q"/>
            </a:pPr>
            <a:r>
              <a:rPr lang="fr-FR" sz="1800" b="0" dirty="0"/>
              <a:t>On utilisera la convention (</a:t>
            </a:r>
            <a:r>
              <a:rPr lang="fr-FR" sz="1800" dirty="0"/>
              <a:t>récepteur</a:t>
            </a:r>
            <a:r>
              <a:rPr lang="fr-FR" sz="1800" b="0" dirty="0"/>
              <a:t>). C’est la convention la plus généralement rencontrée.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8946441" y="6176232"/>
            <a:ext cx="2743200" cy="365125"/>
          </a:xfrm>
        </p:spPr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6781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9"/>
          <p:cNvSpPr txBox="1"/>
          <p:nvPr/>
        </p:nvSpPr>
        <p:spPr>
          <a:xfrm>
            <a:off x="1271464" y="1001003"/>
            <a:ext cx="9048428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En général le quadripôle est alimenté par un dipôle générateur (source de tension ou source de courant) et il est chargé par un dipôle récepteur (charge ZC). 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e 10">
            <a:extLst>
              <a:ext uri="{FF2B5EF4-FFF2-40B4-BE49-F238E27FC236}">
                <a16:creationId xmlns:a16="http://schemas.microsoft.com/office/drawing/2014/main" id="{9D2A3906-EA10-CED6-E14D-06F5F9BBA7D3}"/>
              </a:ext>
            </a:extLst>
          </p:cNvPr>
          <p:cNvGrpSpPr/>
          <p:nvPr/>
        </p:nvGrpSpPr>
        <p:grpSpPr>
          <a:xfrm>
            <a:off x="2567608" y="2564904"/>
            <a:ext cx="7071386" cy="2090257"/>
            <a:chOff x="2802375" y="1505418"/>
            <a:chExt cx="7071386" cy="2090257"/>
          </a:xfrm>
        </p:grpSpPr>
        <p:cxnSp>
          <p:nvCxnSpPr>
            <p:cNvPr id="19" name="Connecteur droit 18"/>
            <p:cNvCxnSpPr/>
            <p:nvPr/>
          </p:nvCxnSpPr>
          <p:spPr>
            <a:xfrm>
              <a:off x="3527448" y="2198722"/>
              <a:ext cx="0" cy="8211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>
              <a:off x="9135619" y="2198722"/>
              <a:ext cx="0" cy="8211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0" name="Groupe 9">
              <a:extLst>
                <a:ext uri="{FF2B5EF4-FFF2-40B4-BE49-F238E27FC236}">
                  <a16:creationId xmlns:a16="http://schemas.microsoft.com/office/drawing/2014/main" id="{A595288C-6ACD-50E2-2C36-6E6A1DACB3DC}"/>
                </a:ext>
              </a:extLst>
            </p:cNvPr>
            <p:cNvGrpSpPr/>
            <p:nvPr/>
          </p:nvGrpSpPr>
          <p:grpSpPr>
            <a:xfrm>
              <a:off x="2802375" y="1505418"/>
              <a:ext cx="7071386" cy="2090257"/>
              <a:chOff x="2813534" y="1505418"/>
              <a:chExt cx="7071386" cy="2090257"/>
            </a:xfrm>
          </p:grpSpPr>
          <p:cxnSp>
            <p:nvCxnSpPr>
              <p:cNvPr id="17" name="Connecteur droit 16"/>
              <p:cNvCxnSpPr/>
              <p:nvPr/>
            </p:nvCxnSpPr>
            <p:spPr>
              <a:xfrm>
                <a:off x="3529062" y="2201490"/>
                <a:ext cx="5607947" cy="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8" name="Rectangle 17"/>
              <p:cNvSpPr/>
              <p:nvPr/>
            </p:nvSpPr>
            <p:spPr>
              <a:xfrm>
                <a:off x="8847690" y="1936649"/>
                <a:ext cx="1037230" cy="1272166"/>
              </a:xfrm>
              <a:prstGeom prst="rect">
                <a:avLst/>
              </a:prstGeom>
              <a:noFill/>
              <a:ln>
                <a:solidFill>
                  <a:srgbClr val="E00EC2"/>
                </a:solidFill>
                <a:prstDash val="dash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0" name="Ellipse 19"/>
              <p:cNvSpPr/>
              <p:nvPr/>
            </p:nvSpPr>
            <p:spPr>
              <a:xfrm>
                <a:off x="3350026" y="2377033"/>
                <a:ext cx="382137" cy="395785"/>
              </a:xfrm>
              <a:prstGeom prst="ellipse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rgbClr val="0070C0"/>
                  </a:solidFill>
                </a:endParaRPr>
              </a:p>
            </p:txBody>
          </p:sp>
          <p:sp>
            <p:nvSpPr>
              <p:cNvPr id="22" name="Rectangle 21"/>
              <p:cNvSpPr/>
              <p:nvPr/>
            </p:nvSpPr>
            <p:spPr>
              <a:xfrm>
                <a:off x="9012789" y="2421932"/>
                <a:ext cx="245660" cy="395785"/>
              </a:xfrm>
              <a:prstGeom prst="rect">
                <a:avLst/>
              </a:prstGeom>
              <a:ln>
                <a:solidFill>
                  <a:srgbClr val="E00EC2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cxnSp>
            <p:nvCxnSpPr>
              <p:cNvPr id="23" name="Connecteur droit avec flèche 22"/>
              <p:cNvCxnSpPr/>
              <p:nvPr/>
            </p:nvCxnSpPr>
            <p:spPr>
              <a:xfrm flipV="1">
                <a:off x="5110849" y="2226018"/>
                <a:ext cx="0" cy="7207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3"/>
              </a:lnRef>
              <a:fillRef idx="0">
                <a:schemeClr val="accent3"/>
              </a:fillRef>
              <a:effectRef idx="2">
                <a:schemeClr val="accent3"/>
              </a:effectRef>
              <a:fontRef idx="minor">
                <a:schemeClr val="tx1"/>
              </a:fontRef>
            </p:style>
          </p:cxnSp>
          <p:sp>
            <p:nvSpPr>
              <p:cNvPr id="24" name="Triangle isocèle 23"/>
              <p:cNvSpPr/>
              <p:nvPr/>
            </p:nvSpPr>
            <p:spPr>
              <a:xfrm rot="5400000">
                <a:off x="5383846" y="2101088"/>
                <a:ext cx="204716" cy="198500"/>
              </a:xfrm>
              <a:prstGeom prst="triangle">
                <a:avLst/>
              </a:prstGeom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5" name="Triangle isocèle 24"/>
              <p:cNvSpPr/>
              <p:nvPr/>
            </p:nvSpPr>
            <p:spPr>
              <a:xfrm rot="16200000" flipH="1">
                <a:off x="8124051" y="2116328"/>
                <a:ext cx="204716" cy="198500"/>
              </a:xfrm>
              <a:prstGeom prst="triangl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6" name="ZoneTexte 25"/>
              <p:cNvSpPr txBox="1"/>
              <p:nvPr/>
            </p:nvSpPr>
            <p:spPr>
              <a:xfrm>
                <a:off x="3194976" y="3226343"/>
                <a:ext cx="1235121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Générateur</a:t>
                </a:r>
              </a:p>
            </p:txBody>
          </p:sp>
          <p:sp>
            <p:nvSpPr>
              <p:cNvPr id="27" name="ZoneTexte 26"/>
              <p:cNvSpPr txBox="1"/>
              <p:nvPr/>
            </p:nvSpPr>
            <p:spPr>
              <a:xfrm>
                <a:off x="8877767" y="1505418"/>
                <a:ext cx="98309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fr-FR" dirty="0">
                    <a:solidFill>
                      <a:srgbClr val="E00EC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Charge</a:t>
                </a: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4692641" y="2435159"/>
                <a:ext cx="4027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4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fr-FR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5011310" y="1809413"/>
                <a:ext cx="4027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sz="1400" b="1" i="1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fr-FR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8499033" y="2435158"/>
                <a:ext cx="4027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fr-FR" sz="1400" b="1" i="1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fr-FR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cxnSp>
            <p:nvCxnSpPr>
              <p:cNvPr id="31" name="Connecteur droit avec flèche 30"/>
              <p:cNvCxnSpPr/>
              <p:nvPr/>
            </p:nvCxnSpPr>
            <p:spPr>
              <a:xfrm flipV="1">
                <a:off x="8487930" y="2226017"/>
                <a:ext cx="0" cy="72072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3">
                <a:schemeClr val="accent2"/>
              </a:lnRef>
              <a:fillRef idx="0">
                <a:schemeClr val="accent2"/>
              </a:fillRef>
              <a:effectRef idx="2">
                <a:schemeClr val="accent2"/>
              </a:effectRef>
              <a:fontRef idx="minor">
                <a:schemeClr val="tx1"/>
              </a:fontRef>
            </p:style>
          </p:cxnSp>
          <p:sp>
            <p:nvSpPr>
              <p:cNvPr id="32" name="Rectangle 31"/>
              <p:cNvSpPr/>
              <p:nvPr/>
            </p:nvSpPr>
            <p:spPr>
              <a:xfrm>
                <a:off x="8082692" y="1758440"/>
                <a:ext cx="4027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sz="1400" b="1" i="1" noProof="0" dirty="0">
                    <a:solidFill>
                      <a:srgbClr val="C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fr-FR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13534" y="2370635"/>
                <a:ext cx="96271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b="1" i="1" dirty="0" err="1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r>
                  <a:rPr lang="fr-FR" sz="1400" b="1" i="1" noProof="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g(t)</a:t>
                </a:r>
                <a:endParaRPr kumimoji="0" lang="fr-FR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9284844" y="2388066"/>
                <a:ext cx="40279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E00EC2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fr-FR" sz="1400" b="1" i="1" noProof="0" dirty="0">
                    <a:solidFill>
                      <a:srgbClr val="E00EC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endParaRPr kumimoji="0" lang="fr-FR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E00EC2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cxnSp>
            <p:nvCxnSpPr>
              <p:cNvPr id="35" name="Connecteur droit 34"/>
              <p:cNvCxnSpPr/>
              <p:nvPr/>
            </p:nvCxnSpPr>
            <p:spPr>
              <a:xfrm>
                <a:off x="3523358" y="3019106"/>
                <a:ext cx="5607947" cy="1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6" name="Rectangle 35"/>
              <p:cNvSpPr/>
              <p:nvPr/>
            </p:nvSpPr>
            <p:spPr>
              <a:xfrm>
                <a:off x="5819922" y="1997194"/>
                <a:ext cx="1876930" cy="1272166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6104600" y="2375249"/>
                <a:ext cx="1307573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1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Quadripôle</a:t>
                </a:r>
                <a:endParaRPr kumimoji="0" lang="fr-FR" sz="1400" b="1" i="1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38" name="Rectangle 37"/>
              <p:cNvSpPr/>
              <p:nvPr/>
            </p:nvSpPr>
            <p:spPr>
              <a:xfrm rot="5400000">
                <a:off x="4099938" y="2022918"/>
                <a:ext cx="245660" cy="395785"/>
              </a:xfrm>
              <a:prstGeom prst="rect">
                <a:avLst/>
              </a:prstGeom>
              <a:ln>
                <a:solidFill>
                  <a:srgbClr val="0070C0"/>
                </a:solidFill>
              </a:ln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rgbClr val="0070C0"/>
                  </a:solidFill>
                </a:endParaRPr>
              </a:p>
            </p:txBody>
          </p:sp>
          <p:sp>
            <p:nvSpPr>
              <p:cNvPr id="39" name="Rectangle 38"/>
              <p:cNvSpPr/>
              <p:nvPr/>
            </p:nvSpPr>
            <p:spPr>
              <a:xfrm>
                <a:off x="4005966" y="1650914"/>
                <a:ext cx="467271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fr-FR" sz="1400" b="1" i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</a:t>
                </a:r>
                <a:endParaRPr kumimoji="0" lang="fr-FR" sz="1400" b="1" i="1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Calibri"/>
                </a:endParaRPr>
              </a:p>
            </p:txBody>
          </p:sp>
          <p:sp>
            <p:nvSpPr>
              <p:cNvPr id="40" name="Rectangle 39"/>
              <p:cNvSpPr/>
              <p:nvPr/>
            </p:nvSpPr>
            <p:spPr>
              <a:xfrm>
                <a:off x="2813534" y="1691149"/>
                <a:ext cx="1782341" cy="1517665"/>
              </a:xfrm>
              <a:prstGeom prst="rect">
                <a:avLst/>
              </a:prstGeom>
              <a:noFill/>
              <a:ln>
                <a:solidFill>
                  <a:srgbClr val="0070C0"/>
                </a:solidFill>
                <a:prstDash val="dash"/>
              </a:ln>
            </p:spPr>
            <p:style>
              <a:lnRef idx="2">
                <a:schemeClr val="accent4"/>
              </a:lnRef>
              <a:fillRef idx="1">
                <a:schemeClr val="lt1"/>
              </a:fillRef>
              <a:effectRef idx="0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0320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9"/>
          <p:cNvSpPr txBox="1"/>
          <p:nvPr/>
        </p:nvSpPr>
        <p:spPr>
          <a:xfrm>
            <a:off x="911424" y="908720"/>
            <a:ext cx="9064921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Les quatre paramètres (i</a:t>
            </a:r>
            <a:r>
              <a:rPr kumimoji="0" lang="fr-FR" sz="1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1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, v</a:t>
            </a:r>
            <a:r>
              <a:rPr kumimoji="0" lang="fr-FR" sz="1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1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, i</a:t>
            </a:r>
            <a:r>
              <a:rPr kumimoji="0" lang="fr-FR" sz="1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2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, v</a:t>
            </a:r>
            <a:r>
              <a:rPr kumimoji="0" lang="fr-FR" sz="1800" b="1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2</a:t>
            </a: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)  peuvent être reliés de différentes manières. 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055440" y="1844824"/>
                <a:ext cx="9937104" cy="34501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Un quadripôle est dit </a:t>
                </a:r>
                <a:r>
                  <a:rPr lang="fr-FR" b="1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linéaire</a:t>
                </a: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s’il existe une relation linéaire entre </a:t>
                </a:r>
                <a:r>
                  <a:rPr 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fr-FR" b="1" baseline="-25000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1</a:t>
                </a:r>
                <a:r>
                  <a:rPr 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, v</a:t>
                </a:r>
                <a:r>
                  <a:rPr lang="fr-FR" b="1" baseline="-25000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1</a:t>
                </a:r>
                <a:r>
                  <a:rPr 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, i</a:t>
                </a:r>
                <a:r>
                  <a:rPr lang="fr-FR" b="1" baseline="-25000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</a:t>
                </a:r>
                <a:r>
                  <a:rPr lang="fr-FR" dirty="0"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et</a:t>
                </a:r>
                <a:r>
                  <a:rPr 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 v</a:t>
                </a:r>
                <a:r>
                  <a:rPr lang="fr-FR" b="1" baseline="-25000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Un quadripôle est dit </a:t>
                </a:r>
                <a:r>
                  <a:rPr lang="fr-FR" b="1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symétrique</a:t>
                </a: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s’il présente le même aspect vu de l’entrée et vu de la sortie.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Un quadripôle passif est dit </a:t>
                </a:r>
                <a:r>
                  <a:rPr lang="fr-FR" b="1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réciproque </a:t>
                </a: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si une source de tension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fr-F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(</m:t>
                    </m:r>
                    <m:r>
                      <a:rPr lang="fr-F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fr-F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 </m:t>
                    </m:r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placée en entrée conduit à un courant </a:t>
                </a:r>
                <a:r>
                  <a:rPr 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fr-FR" b="1" baseline="-25000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2</a:t>
                </a: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égal au courant </a:t>
                </a:r>
                <a:r>
                  <a:rPr lang="fr-FR" b="1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i</a:t>
                </a:r>
                <a:r>
                  <a:rPr lang="fr-FR" b="1" baseline="-25000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1</a:t>
                </a: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obtenu lorsque la source de tension est placée en sortie.</a:t>
                </a:r>
              </a:p>
              <a:p>
                <a:pPr marL="285750" indent="-285750" algn="just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Un quadripôle est </a:t>
                </a:r>
                <a:r>
                  <a:rPr lang="fr-FR" b="1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unilatéral</a:t>
                </a:r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si la tension ou courant d’entrée ne dépend pas des paramètres de sortie.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5440" y="1844824"/>
                <a:ext cx="9937104" cy="3450175"/>
              </a:xfrm>
              <a:prstGeom prst="rect">
                <a:avLst/>
              </a:prstGeom>
              <a:blipFill>
                <a:blip r:embed="rId2"/>
                <a:stretch>
                  <a:fillRect l="-368" r="-552" b="-70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8146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5"/>
          <p:cNvSpPr txBox="1">
            <a:spLocks/>
          </p:cNvSpPr>
          <p:nvPr/>
        </p:nvSpPr>
        <p:spPr>
          <a:xfrm>
            <a:off x="921297" y="260648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lvl="0">
              <a:spcBef>
                <a:spcPts val="100"/>
              </a:spcBef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I-2 </a:t>
            </a:r>
            <a:r>
              <a:rPr lang="fr-FR" sz="1800" b="1" kern="0" spc="-15" dirty="0">
                <a:solidFill>
                  <a:srgbClr val="00AF50"/>
                </a:solidFill>
                <a:latin typeface="Bookman Old Style" panose="02050604050505020204" pitchFamily="18" charset="0"/>
              </a:rPr>
              <a:t>Description matricielle d’un quadripôle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00AF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13" name="object 19"/>
          <p:cNvSpPr txBox="1"/>
          <p:nvPr/>
        </p:nvSpPr>
        <p:spPr>
          <a:xfrm>
            <a:off x="1482956" y="3966096"/>
            <a:ext cx="9170033" cy="13978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>
              <a:buFont typeface="Arial" panose="020B0604020202020204" pitchFamily="34" charset="0"/>
              <a:buChar char="•"/>
            </a:pPr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où [Z] est la matrice impédance du quadripôle. </a:t>
            </a:r>
            <a:endParaRPr lang="fr-FR" dirty="0" smtClean="0">
              <a:solidFill>
                <a:prstClr val="black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298450" marR="5080" lvl="0" indent="-285750" algn="just">
              <a:buFont typeface="Arial" panose="020B0604020202020204" pitchFamily="34" charset="0"/>
              <a:buChar char="•"/>
            </a:pPr>
            <a:r>
              <a:rPr lang="fr-FR" dirty="0" smtClean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Les </a:t>
            </a:r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coefficients </a:t>
            </a:r>
            <a:r>
              <a:rPr lang="fr-FR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zij</a:t>
            </a:r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(s’expriment en </a:t>
            </a:r>
            <a:r>
              <a:rPr lang="el-G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Ω)</a:t>
            </a:r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de cette matrice s’appellent les paramètres Z en circuit ouvert, puisqu’ils peuvent être mesurés en ouvrant successivement les circuits d’entrée et de sortie. </a:t>
            </a:r>
          </a:p>
          <a:p>
            <a:pPr marL="298450" marR="5080" lvl="0" indent="-285750" algn="just">
              <a:buFont typeface="Arial" panose="020B0604020202020204" pitchFamily="34" charset="0"/>
              <a:buChar char="•"/>
            </a:pPr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L’indice i est relatif à la tension et indice j est relatif au courant. </a:t>
            </a:r>
          </a:p>
        </p:txBody>
      </p:sp>
      <p:sp>
        <p:nvSpPr>
          <p:cNvPr id="15" name="object 5"/>
          <p:cNvSpPr txBox="1">
            <a:spLocks/>
          </p:cNvSpPr>
          <p:nvPr/>
        </p:nvSpPr>
        <p:spPr>
          <a:xfrm>
            <a:off x="1343472" y="978471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lvl="0">
              <a:spcBef>
                <a:spcPts val="100"/>
              </a:spcBef>
            </a:pPr>
            <a:r>
              <a:rPr lang="fr-FR" sz="1800" b="1" kern="0" spc="-15" dirty="0">
                <a:solidFill>
                  <a:srgbClr val="C00000"/>
                </a:solidFill>
                <a:latin typeface="Bookman Old Style" panose="02050604050505020204" pitchFamily="18" charset="0"/>
              </a:rPr>
              <a:t>I-2-1 Matrice impédance [Z] 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1856095"/>
              </p:ext>
            </p:extLst>
          </p:nvPr>
        </p:nvGraphicFramePr>
        <p:xfrm>
          <a:off x="1343487" y="2000603"/>
          <a:ext cx="10296557" cy="11715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Equation" r:id="rId3" imgW="4851360" imgH="533160" progId="Equation.DSMT4">
                  <p:embed/>
                </p:oleObj>
              </mc:Choice>
              <mc:Fallback>
                <p:oleObj name="Equation" r:id="rId3" imgW="4851360" imgH="533160" progId="Equation.DSMT4">
                  <p:embed/>
                  <p:pic>
                    <p:nvPicPr>
                      <p:cNvPr id="11" name="Obje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3487" y="2000603"/>
                        <a:ext cx="10296557" cy="11715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10418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19"/>
          <p:cNvSpPr txBox="1"/>
          <p:nvPr/>
        </p:nvSpPr>
        <p:spPr>
          <a:xfrm>
            <a:off x="983432" y="620688"/>
            <a:ext cx="36788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Définitions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199456" y="1412776"/>
                <a:ext cx="9741582" cy="26943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15000"/>
                  </a:lnSpc>
                  <a:buFont typeface="Times New Roman" panose="02020603050405020304" pitchFamily="18" charset="0"/>
                  <a:buChar char="-"/>
                </a:pPr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un quadripôle est dit </a:t>
                </a:r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réciproque (passif)</a:t>
                </a:r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si les termes de la seconde diagonale sont égaux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fr-FR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fr-FR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lvl="0" indent="-342900" algn="just">
                  <a:lnSpc>
                    <a:spcPct val="115000"/>
                  </a:lnSpc>
                  <a:buFont typeface="Times New Roman" panose="02020603050405020304" pitchFamily="18" charset="0"/>
                  <a:buChar char="-"/>
                </a:pPr>
                <a:endParaRPr lang="fr-FR" dirty="0"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74638" lvl="0" algn="just">
                  <a:lnSpc>
                    <a:spcPct val="115000"/>
                  </a:lnSpc>
                </a:pPr>
                <a:r>
                  <a:rPr lang="fr-FR" b="1" dirty="0">
                    <a:effectLst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Cette propriété est une caractéristique des quadripôles composés d’éléments passifs (sans générateurs de courant ou de tension).</a:t>
                </a:r>
              </a:p>
              <a:p>
                <a:pPr marL="274638" lvl="0" algn="just">
                  <a:lnSpc>
                    <a:spcPct val="115000"/>
                  </a:lnSpc>
                </a:pPr>
                <a:endParaRPr lang="fr-FR" b="1" dirty="0">
                  <a:effectLst/>
                  <a:latin typeface="Bookman Old Style" panose="0205060405050502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spcBef>
                    <a:spcPts val="600"/>
                  </a:spcBef>
                  <a:buFont typeface="Times New Roman" panose="02020603050405020304" pitchFamily="18" charset="0"/>
                  <a:buChar char="-"/>
                </a:pPr>
                <a:r>
                  <a:rPr lang="fr-FR" u="sng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 de plus</a:t>
                </a:r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les termes de la première diagonale sont égaux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b>
                        <m:r>
                          <a:rPr lang="fr-FR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  <m:r>
                      <a:rPr lang="fr-FR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b="0" i="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z</m:t>
                        </m:r>
                      </m:e>
                      <m:sub>
                        <m:r>
                          <a:rPr lang="fr-FR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alors le quadripôle est </a:t>
                </a:r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symétrique</a:t>
                </a:r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1412776"/>
                <a:ext cx="9741582" cy="2694392"/>
              </a:xfrm>
              <a:prstGeom prst="rect">
                <a:avLst/>
              </a:prstGeom>
              <a:blipFill>
                <a:blip r:embed="rId2"/>
                <a:stretch>
                  <a:fillRect l="-438" t="-679" r="-501" b="-29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58849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891841"/>
              </p:ext>
            </p:extLst>
          </p:nvPr>
        </p:nvGraphicFramePr>
        <p:xfrm>
          <a:off x="1811275" y="2073198"/>
          <a:ext cx="1451174" cy="855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0" name="Equation" r:id="rId3" imgW="1066800" imgH="571500" progId="Equation.DSMT4">
                  <p:embed/>
                </p:oleObj>
              </mc:Choice>
              <mc:Fallback>
                <p:oleObj name="Equation" r:id="rId3" imgW="1066800" imgH="571500" progId="Equation.DSMT4">
                  <p:embed/>
                  <p:pic>
                    <p:nvPicPr>
                      <p:cNvPr id="9" name="Obje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275" y="2073198"/>
                        <a:ext cx="1451174" cy="8553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32036540"/>
              </p:ext>
            </p:extLst>
          </p:nvPr>
        </p:nvGraphicFramePr>
        <p:xfrm>
          <a:off x="1828601" y="4493357"/>
          <a:ext cx="1437435" cy="898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1" name="Equation" r:id="rId5" imgW="1079032" imgH="571252" progId="Equation.DSMT4">
                  <p:embed/>
                </p:oleObj>
              </mc:Choice>
              <mc:Fallback>
                <p:oleObj name="Equation" r:id="rId5" imgW="1079032" imgH="571252" progId="Equation.DSMT4">
                  <p:embed/>
                  <p:pic>
                    <p:nvPicPr>
                      <p:cNvPr id="10" name="Obje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601" y="4493357"/>
                        <a:ext cx="1437435" cy="8985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3323802"/>
              </p:ext>
            </p:extLst>
          </p:nvPr>
        </p:nvGraphicFramePr>
        <p:xfrm>
          <a:off x="1811275" y="5493620"/>
          <a:ext cx="1423696" cy="887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Equation" r:id="rId7" imgW="1091726" imgH="571252" progId="Equation.DSMT4">
                  <p:embed/>
                </p:oleObj>
              </mc:Choice>
              <mc:Fallback>
                <p:oleObj name="Equation" r:id="rId7" imgW="1091726" imgH="571252" progId="Equation.DSMT4">
                  <p:embed/>
                  <p:pic>
                    <p:nvPicPr>
                      <p:cNvPr id="14" name="Obje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1275" y="5493620"/>
                        <a:ext cx="1423696" cy="88770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310226"/>
              </p:ext>
            </p:extLst>
          </p:nvPr>
        </p:nvGraphicFramePr>
        <p:xfrm>
          <a:off x="1775520" y="3261449"/>
          <a:ext cx="1460552" cy="8855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name="Equation" r:id="rId9" imgW="1040948" imgH="571252" progId="Equation.DSMT4">
                  <p:embed/>
                </p:oleObj>
              </mc:Choice>
              <mc:Fallback>
                <p:oleObj name="Equation" r:id="rId9" imgW="1040948" imgH="571252" progId="Equation.DSMT4">
                  <p:embed/>
                  <p:pic>
                    <p:nvPicPr>
                      <p:cNvPr id="17" name="Obje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5520" y="3261449"/>
                        <a:ext cx="1460552" cy="88551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911424" y="284071"/>
            <a:ext cx="456407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Signification physique des paramètres </a:t>
            </a:r>
            <a:r>
              <a:rPr kumimoji="0" lang="fr-FR" altLang="fr-FR" sz="1600" b="1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kumimoji="0" lang="fr-FR" altLang="fr-FR" sz="1600" b="1" i="0" u="none" strike="noStrike" cap="none" normalizeH="0" baseline="-30000" dirty="0" err="1">
                <a:ln>
                  <a:noFill/>
                </a:ln>
                <a:solidFill>
                  <a:srgbClr val="FF00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ij</a:t>
            </a:r>
            <a:endParaRPr kumimoji="0" lang="fr-FR" altLang="fr-FR" sz="16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3262449" y="2333519"/>
            <a:ext cx="467628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impédance d’entrée à vide (sortie ouverte). 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3302892" y="4648402"/>
            <a:ext cx="412484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impédance de sotie à entrée ouverte. 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3428375" y="5951935"/>
            <a:ext cx="8484823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</a:pPr>
            <a:r>
              <a:rPr kumimoji="0" lang="fr-FR" altLang="fr-FR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impédance de transfert directe ou 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transimpédance</a:t>
            </a:r>
            <a:r>
              <a:rPr kumimoji="0" lang="fr-FR" altLang="fr-F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directe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à vide (sortie ouverte).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3411048" y="3500673"/>
            <a:ext cx="804739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</a:pPr>
            <a:r>
              <a:rPr kumimoji="0" lang="fr-FR" altLang="fr-F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impédance de transfert inverse ou </a:t>
            </a:r>
            <a:r>
              <a:rPr kumimoji="0" lang="fr-FR" altLang="fr-FR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transimpédance</a:t>
            </a:r>
            <a:r>
              <a:rPr kumimoji="0" lang="fr-FR" altLang="fr-FR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inverse</a:t>
            </a:r>
            <a:r>
              <a:rPr kumimoji="0" lang="fr-FR" altLang="fr-F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à entrée ouverte. </a:t>
            </a: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t 10">
            <a:extLst>
              <a:ext uri="{FF2B5EF4-FFF2-40B4-BE49-F238E27FC236}">
                <a16:creationId xmlns:a16="http://schemas.microsoft.com/office/drawing/2014/main" id="{A769E0B4-ADD8-9B3E-6B7B-35391F7431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7172483"/>
              </p:ext>
            </p:extLst>
          </p:nvPr>
        </p:nvGraphicFramePr>
        <p:xfrm>
          <a:off x="1631504" y="877733"/>
          <a:ext cx="8387475" cy="9543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4" name="Equation" r:id="rId11" imgW="4851360" imgH="533160" progId="Equation.DSMT4">
                  <p:embed/>
                </p:oleObj>
              </mc:Choice>
              <mc:Fallback>
                <p:oleObj name="Equation" r:id="rId11" imgW="4851360" imgH="533160" progId="Equation.DSMT4">
                  <p:embed/>
                  <p:pic>
                    <p:nvPicPr>
                      <p:cNvPr id="11" name="Objet 10">
                        <a:extLst>
                          <a:ext uri="{FF2B5EF4-FFF2-40B4-BE49-F238E27FC236}">
                            <a16:creationId xmlns:a16="http://schemas.microsoft.com/office/drawing/2014/main" id="{A769E0B4-ADD8-9B3E-6B7B-35391F74317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877733"/>
                        <a:ext cx="8387475" cy="95436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46076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/>
      <p:bldP spid="2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76331" y="187053"/>
            <a:ext cx="1019276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Tout quadripôle, défini par les équations précédentes peut donc être représenté par un quadripôle équivalent dont les éléments s’expriment directement en fonction des impédances </a:t>
            </a:r>
            <a:r>
              <a:rPr lang="fr-FR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z</a:t>
            </a:r>
            <a:r>
              <a:rPr lang="fr-FR" sz="1400" dirty="0" err="1">
                <a:latin typeface="Bookman Old Style" panose="02050604050505020204" pitchFamily="18" charset="0"/>
                <a:cs typeface="Times New Roman" panose="02020603050405020304" pitchFamily="18" charset="0"/>
              </a:rPr>
              <a:t>ij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précédemment définies. Le schéma de ce quadripôle équivalent est donné à la figure suivante.</a:t>
            </a:r>
          </a:p>
          <a:p>
            <a:pPr algn="just"/>
            <a:endParaRPr lang="fr-FR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FAEC21B7-42A4-3E17-1120-14FB862654D3}"/>
              </a:ext>
            </a:extLst>
          </p:cNvPr>
          <p:cNvGrpSpPr/>
          <p:nvPr/>
        </p:nvGrpSpPr>
        <p:grpSpPr>
          <a:xfrm>
            <a:off x="2179927" y="2592780"/>
            <a:ext cx="6791798" cy="2788666"/>
            <a:chOff x="2538448" y="2076576"/>
            <a:chExt cx="6791798" cy="2788666"/>
          </a:xfrm>
        </p:grpSpPr>
        <p:cxnSp>
          <p:nvCxnSpPr>
            <p:cNvPr id="18" name="Connecteur droit 17"/>
            <p:cNvCxnSpPr>
              <a:stCxn id="16" idx="0"/>
            </p:cNvCxnSpPr>
            <p:nvPr/>
          </p:nvCxnSpPr>
          <p:spPr>
            <a:xfrm flipH="1" flipV="1">
              <a:off x="5381386" y="2717757"/>
              <a:ext cx="9500" cy="71361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1" name="Groupe 20">
              <a:extLst>
                <a:ext uri="{FF2B5EF4-FFF2-40B4-BE49-F238E27FC236}">
                  <a16:creationId xmlns:a16="http://schemas.microsoft.com/office/drawing/2014/main" id="{76815239-147E-294F-8D11-C1909668AA84}"/>
                </a:ext>
              </a:extLst>
            </p:cNvPr>
            <p:cNvGrpSpPr/>
            <p:nvPr/>
          </p:nvGrpSpPr>
          <p:grpSpPr>
            <a:xfrm>
              <a:off x="2538448" y="2076576"/>
              <a:ext cx="6791798" cy="2788666"/>
              <a:chOff x="2822764" y="4257108"/>
              <a:chExt cx="6791798" cy="2788666"/>
            </a:xfrm>
          </p:grpSpPr>
          <p:sp>
            <p:nvSpPr>
              <p:cNvPr id="29" name="Flèche gauche 28"/>
              <p:cNvSpPr/>
              <p:nvPr/>
            </p:nvSpPr>
            <p:spPr>
              <a:xfrm>
                <a:off x="8763026" y="4791899"/>
                <a:ext cx="329080" cy="183717"/>
              </a:xfrm>
              <a:prstGeom prst="lef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8763936" y="4404254"/>
                <a:ext cx="814952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sz="1400" i="1" dirty="0" err="1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2</a:t>
                </a:r>
                <a:endParaRPr kumimoji="0" lang="fr-FR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  <p:grpSp>
            <p:nvGrpSpPr>
              <p:cNvPr id="17" name="Groupe 16">
                <a:extLst>
                  <a:ext uri="{FF2B5EF4-FFF2-40B4-BE49-F238E27FC236}">
                    <a16:creationId xmlns:a16="http://schemas.microsoft.com/office/drawing/2014/main" id="{02806066-ECB5-9514-6AAE-BB0665CFD30F}"/>
                  </a:ext>
                </a:extLst>
              </p:cNvPr>
              <p:cNvGrpSpPr/>
              <p:nvPr/>
            </p:nvGrpSpPr>
            <p:grpSpPr>
              <a:xfrm>
                <a:off x="2822764" y="4257108"/>
                <a:ext cx="6791798" cy="2788666"/>
                <a:chOff x="2822764" y="4257108"/>
                <a:chExt cx="6791798" cy="2788666"/>
              </a:xfrm>
            </p:grpSpPr>
            <p:cxnSp>
              <p:nvCxnSpPr>
                <p:cNvPr id="19" name="Connecteur droit 18"/>
                <p:cNvCxnSpPr/>
                <p:nvPr/>
              </p:nvCxnSpPr>
              <p:spPr>
                <a:xfrm flipV="1">
                  <a:off x="6799212" y="4916804"/>
                  <a:ext cx="1" cy="531748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e 12">
                  <a:extLst>
                    <a:ext uri="{FF2B5EF4-FFF2-40B4-BE49-F238E27FC236}">
                      <a16:creationId xmlns:a16="http://schemas.microsoft.com/office/drawing/2014/main" id="{1D61F1E1-09B2-25F4-FA59-111DFDC2FABF}"/>
                    </a:ext>
                  </a:extLst>
                </p:cNvPr>
                <p:cNvGrpSpPr/>
                <p:nvPr/>
              </p:nvGrpSpPr>
              <p:grpSpPr>
                <a:xfrm>
                  <a:off x="2822764" y="4257108"/>
                  <a:ext cx="6791798" cy="2788666"/>
                  <a:chOff x="2854007" y="2956860"/>
                  <a:chExt cx="6769182" cy="2764577"/>
                </a:xfrm>
              </p:grpSpPr>
              <p:cxnSp>
                <p:nvCxnSpPr>
                  <p:cNvPr id="11" name="Connecteur droit 10"/>
                  <p:cNvCxnSpPr/>
                  <p:nvPr/>
                </p:nvCxnSpPr>
                <p:spPr>
                  <a:xfrm flipH="1" flipV="1">
                    <a:off x="3069988" y="3573952"/>
                    <a:ext cx="2626959" cy="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" name="Ellipse 11"/>
                  <p:cNvSpPr/>
                  <p:nvPr/>
                </p:nvSpPr>
                <p:spPr>
                  <a:xfrm>
                    <a:off x="6503628" y="4285511"/>
                    <a:ext cx="609600" cy="70585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fr-F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15" name="Rectangle 14"/>
                  <p:cNvSpPr/>
                  <p:nvPr/>
                </p:nvSpPr>
                <p:spPr>
                  <a:xfrm rot="5400000">
                    <a:off x="4502904" y="3075400"/>
                    <a:ext cx="328670" cy="1035870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fr-F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16" name="Ellipse 15"/>
                  <p:cNvSpPr/>
                  <p:nvPr/>
                </p:nvSpPr>
                <p:spPr>
                  <a:xfrm>
                    <a:off x="5392146" y="4299949"/>
                    <a:ext cx="609600" cy="705853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fr-F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p:cxnSp>
                <p:nvCxnSpPr>
                  <p:cNvPr id="20" name="Connecteur droit 19"/>
                  <p:cNvCxnSpPr/>
                  <p:nvPr/>
                </p:nvCxnSpPr>
                <p:spPr>
                  <a:xfrm flipH="1">
                    <a:off x="6808428" y="3573952"/>
                    <a:ext cx="2705135" cy="1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Connecteur droit 21"/>
                  <p:cNvCxnSpPr/>
                  <p:nvPr/>
                </p:nvCxnSpPr>
                <p:spPr>
                  <a:xfrm flipH="1" flipV="1">
                    <a:off x="5696945" y="4990203"/>
                    <a:ext cx="1" cy="725996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Connecteur droit 22"/>
                  <p:cNvCxnSpPr/>
                  <p:nvPr/>
                </p:nvCxnSpPr>
                <p:spPr>
                  <a:xfrm flipH="1">
                    <a:off x="3069988" y="5716199"/>
                    <a:ext cx="6553201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5" name="Connecteur droit 24"/>
                  <p:cNvCxnSpPr/>
                  <p:nvPr/>
                </p:nvCxnSpPr>
                <p:spPr>
                  <a:xfrm flipV="1">
                    <a:off x="6817214" y="4088857"/>
                    <a:ext cx="0" cy="163258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Connecteur droit 25"/>
                  <p:cNvCxnSpPr/>
                  <p:nvPr/>
                </p:nvCxnSpPr>
                <p:spPr>
                  <a:xfrm flipV="1">
                    <a:off x="8940107" y="3797596"/>
                    <a:ext cx="1" cy="1756198"/>
                  </a:xfrm>
                  <a:prstGeom prst="line">
                    <a:avLst/>
                  </a:prstGeom>
                  <a:ln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Connecteur droit 26"/>
                  <p:cNvCxnSpPr/>
                  <p:nvPr/>
                </p:nvCxnSpPr>
                <p:spPr>
                  <a:xfrm flipV="1">
                    <a:off x="3554311" y="3790076"/>
                    <a:ext cx="1" cy="1756198"/>
                  </a:xfrm>
                  <a:prstGeom prst="line">
                    <a:avLst/>
                  </a:prstGeom>
                  <a:ln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8" name="Connecteur droit 27"/>
                  <p:cNvCxnSpPr/>
                  <p:nvPr/>
                </p:nvCxnSpPr>
                <p:spPr>
                  <a:xfrm flipV="1">
                    <a:off x="6817214" y="4285511"/>
                    <a:ext cx="0" cy="665281"/>
                  </a:xfrm>
                  <a:prstGeom prst="line">
                    <a:avLst/>
                  </a:prstGeom>
                  <a:ln w="38100"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Flèche gauche 29"/>
                  <p:cNvSpPr/>
                  <p:nvPr/>
                </p:nvSpPr>
                <p:spPr>
                  <a:xfrm flipH="1" flipV="1">
                    <a:off x="3290975" y="3482093"/>
                    <a:ext cx="329080" cy="183717"/>
                  </a:xfrm>
                  <a:prstGeom prst="leftArrow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fr-F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Rectangle 33"/>
                      <p:cNvSpPr/>
                      <p:nvPr/>
                    </p:nvSpPr>
                    <p:spPr>
                      <a:xfrm>
                        <a:off x="7600487" y="2956860"/>
                        <a:ext cx="720527" cy="369332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fr-FR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34" name="Rectangle 33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600487" y="2956860"/>
                        <a:ext cx="720527" cy="36933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38" name="Rectangle 37"/>
                  <p:cNvSpPr/>
                  <p:nvPr/>
                </p:nvSpPr>
                <p:spPr>
                  <a:xfrm>
                    <a:off x="3212579" y="3123712"/>
                    <a:ext cx="814952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fr-FR" sz="18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fr-FR" sz="1400" i="1" dirty="0" err="1">
                        <a:solidFill>
                          <a:prstClr val="black"/>
                        </a:solidFill>
                        <a:latin typeface="Bookman Old Style" panose="020506040505050202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fr-FR" sz="1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p:cxnSp>
                <p:nvCxnSpPr>
                  <p:cNvPr id="40" name="Connecteur droit 39"/>
                  <p:cNvCxnSpPr/>
                  <p:nvPr/>
                </p:nvCxnSpPr>
                <p:spPr>
                  <a:xfrm flipV="1">
                    <a:off x="5696945" y="4320234"/>
                    <a:ext cx="0" cy="665281"/>
                  </a:xfrm>
                  <a:prstGeom prst="line">
                    <a:avLst/>
                  </a:prstGeom>
                  <a:ln w="38100">
                    <a:headEnd type="none" w="med" len="med"/>
                    <a:tailEnd type="triangle" w="med" len="med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" name="Rectangle 13"/>
                  <p:cNvSpPr/>
                  <p:nvPr/>
                </p:nvSpPr>
                <p:spPr>
                  <a:xfrm rot="5400000">
                    <a:off x="7810163" y="3075400"/>
                    <a:ext cx="328670" cy="1035870"/>
                  </a:xfrm>
                  <a:prstGeom prst="rect">
                    <a:avLst/>
                  </a:prstGeom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fr-FR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Rectangle 42"/>
                      <p:cNvSpPr/>
                      <p:nvPr/>
                    </p:nvSpPr>
                    <p:spPr>
                      <a:xfrm>
                        <a:off x="7134161" y="4403909"/>
                        <a:ext cx="720527" cy="369332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lvl="0"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fr-FR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3" name="Rectangle 42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7134161" y="4403909"/>
                        <a:ext cx="720527" cy="36933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5" name="Rectangle 44"/>
                      <p:cNvSpPr/>
                      <p:nvPr/>
                    </p:nvSpPr>
                    <p:spPr>
                      <a:xfrm>
                        <a:off x="4700657" y="4447393"/>
                        <a:ext cx="743361" cy="366142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fr-FR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fr-FR" i="1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fr-FR" dirty="0">
                          <a:latin typeface="Bookman Old Style" panose="0205060405050502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5" name="Rectangle 44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700657" y="4447393"/>
                        <a:ext cx="743361" cy="366142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" name="Rectangle 46"/>
                      <p:cNvSpPr/>
                      <p:nvPr/>
                    </p:nvSpPr>
                    <p:spPr>
                      <a:xfrm>
                        <a:off x="4346103" y="3002097"/>
                        <a:ext cx="720527" cy="369332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11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fr-FR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7" name="Rectangle 46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346103" y="3002097"/>
                        <a:ext cx="720527" cy="369332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" name="Rectangle 47"/>
                      <p:cNvSpPr/>
                      <p:nvPr/>
                    </p:nvSpPr>
                    <p:spPr>
                      <a:xfrm>
                        <a:off x="8896731" y="4373890"/>
                        <a:ext cx="720527" cy="369332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fr-FR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48" name="Rectangle 4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896731" y="4373890"/>
                        <a:ext cx="720527" cy="369332"/>
                      </a:xfrm>
                      <a:prstGeom prst="rect">
                        <a:avLst/>
                      </a:prstGeom>
                      <a:blipFill>
                        <a:blip r:embed="rId8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0" name="Rectangle 49"/>
                      <p:cNvSpPr/>
                      <p:nvPr/>
                    </p:nvSpPr>
                    <p:spPr>
                      <a:xfrm>
                        <a:off x="2854007" y="4481546"/>
                        <a:ext cx="720527" cy="369332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kumimoji="0" lang="fr-FR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fr-FR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50" name="Rectangle 49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54007" y="4481546"/>
                        <a:ext cx="720527" cy="369332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</p:grp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738C6C2-0046-580D-F4BA-576A3BEBC04F}"/>
                  </a:ext>
                </a:extLst>
              </p:cNvPr>
              <p:cNvSpPr txBox="1"/>
              <p:nvPr/>
            </p:nvSpPr>
            <p:spPr>
              <a:xfrm>
                <a:off x="895059" y="5700993"/>
                <a:ext cx="10009585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générateur de tension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fr-FR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) est contrôlé par la grandeur de sortie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, et le générateur de tension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fr-F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fr-F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) est contrôlé par la grandeur d’entrée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fr-F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1738C6C2-0046-580D-F4BA-576A3BEBC0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059" y="5700993"/>
                <a:ext cx="10009585" cy="923330"/>
              </a:xfrm>
              <a:prstGeom prst="rect">
                <a:avLst/>
              </a:prstGeom>
              <a:blipFill>
                <a:blip r:embed="rId10"/>
                <a:stretch>
                  <a:fillRect l="-548" t="-263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4" name="Objet 23">
            <a:extLst>
              <a:ext uri="{FF2B5EF4-FFF2-40B4-BE49-F238E27FC236}">
                <a16:creationId xmlns:a16="http://schemas.microsoft.com/office/drawing/2014/main" id="{AB6C3A97-FA23-533D-DD6C-74BCBA8023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742898"/>
              </p:ext>
            </p:extLst>
          </p:nvPr>
        </p:nvGraphicFramePr>
        <p:xfrm>
          <a:off x="2081747" y="1439723"/>
          <a:ext cx="7519988" cy="855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Equation" r:id="rId11" imgW="4851360" imgH="533160" progId="Equation.DSMT4">
                  <p:embed/>
                </p:oleObj>
              </mc:Choice>
              <mc:Fallback>
                <p:oleObj name="Equation" r:id="rId11" imgW="4851360" imgH="533160" progId="Equation.DSMT4">
                  <p:embed/>
                  <p:pic>
                    <p:nvPicPr>
                      <p:cNvPr id="24" name="Objet 23">
                        <a:extLst>
                          <a:ext uri="{FF2B5EF4-FFF2-40B4-BE49-F238E27FC236}">
                            <a16:creationId xmlns:a16="http://schemas.microsoft.com/office/drawing/2014/main" id="{AB6C3A97-FA23-533D-DD6C-74BCBA802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747" y="1439723"/>
                        <a:ext cx="7519988" cy="855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e 34">
            <a:extLst>
              <a:ext uri="{FF2B5EF4-FFF2-40B4-BE49-F238E27FC236}">
                <a16:creationId xmlns:a16="http://schemas.microsoft.com/office/drawing/2014/main" id="{E5ED3476-F36C-7F37-553E-AD11E952483E}"/>
              </a:ext>
            </a:extLst>
          </p:cNvPr>
          <p:cNvGrpSpPr/>
          <p:nvPr/>
        </p:nvGrpSpPr>
        <p:grpSpPr>
          <a:xfrm>
            <a:off x="3308422" y="2610661"/>
            <a:ext cx="4669813" cy="2906571"/>
            <a:chOff x="3666943" y="2094457"/>
            <a:chExt cx="4669813" cy="2906571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980BDF-7280-0D31-F347-F22B38D64975}"/>
                </a:ext>
              </a:extLst>
            </p:cNvPr>
            <p:cNvSpPr/>
            <p:nvPr/>
          </p:nvSpPr>
          <p:spPr>
            <a:xfrm>
              <a:off x="3666943" y="2122207"/>
              <a:ext cx="4669813" cy="2878821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Bookman Old Style" panose="02050604050505020204" pitchFamily="18" charset="0"/>
              </a:endParaRP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095CB83F-97D2-4956-BE9E-40F9ADC15AAB}"/>
                </a:ext>
              </a:extLst>
            </p:cNvPr>
            <p:cNvSpPr txBox="1"/>
            <p:nvPr/>
          </p:nvSpPr>
          <p:spPr>
            <a:xfrm>
              <a:off x="5523200" y="2094457"/>
              <a:ext cx="112925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4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Q</a:t>
              </a:r>
            </a:p>
          </p:txBody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600299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9"/>
          <p:cNvSpPr txBox="1"/>
          <p:nvPr/>
        </p:nvSpPr>
        <p:spPr>
          <a:xfrm>
            <a:off x="739424" y="225636"/>
            <a:ext cx="36788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Exemple 1 : Quadripôle en T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object 19"/>
          <p:cNvSpPr txBox="1"/>
          <p:nvPr/>
        </p:nvSpPr>
        <p:spPr>
          <a:xfrm>
            <a:off x="968337" y="883381"/>
            <a:ext cx="6426221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On procède de la manière suivante :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"/>
          <p:cNvGrpSpPr>
            <a:grpSpLocks/>
          </p:cNvGrpSpPr>
          <p:nvPr/>
        </p:nvGrpSpPr>
        <p:grpSpPr bwMode="auto">
          <a:xfrm>
            <a:off x="7877969" y="59606"/>
            <a:ext cx="3331247" cy="1684869"/>
            <a:chOff x="3632" y="10150"/>
            <a:chExt cx="3556" cy="1674"/>
          </a:xfrm>
        </p:grpSpPr>
        <p:sp>
          <p:nvSpPr>
            <p:cNvPr id="13" name="AutoShape 24"/>
            <p:cNvSpPr>
              <a:spLocks noChangeShapeType="1"/>
            </p:cNvSpPr>
            <p:nvPr/>
          </p:nvSpPr>
          <p:spPr bwMode="auto">
            <a:xfrm flipH="1">
              <a:off x="3632" y="1059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4567" y="10150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22"/>
            <p:cNvSpPr>
              <a:spLocks noChangeShapeType="1"/>
            </p:cNvSpPr>
            <p:nvPr/>
          </p:nvSpPr>
          <p:spPr bwMode="auto">
            <a:xfrm>
              <a:off x="3846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utoShape 19"/>
            <p:cNvSpPr>
              <a:spLocks noChangeShapeType="1"/>
            </p:cNvSpPr>
            <p:nvPr/>
          </p:nvSpPr>
          <p:spPr bwMode="auto">
            <a:xfrm flipV="1">
              <a:off x="7103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utoShape 18"/>
            <p:cNvSpPr>
              <a:spLocks noChangeShapeType="1"/>
            </p:cNvSpPr>
            <p:nvPr/>
          </p:nvSpPr>
          <p:spPr bwMode="auto">
            <a:xfrm flipH="1" flipV="1">
              <a:off x="3632" y="1182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AutoShape 17"/>
            <p:cNvSpPr>
              <a:spLocks noChangeShapeType="1"/>
            </p:cNvSpPr>
            <p:nvPr/>
          </p:nvSpPr>
          <p:spPr bwMode="auto">
            <a:xfrm>
              <a:off x="6533" y="11820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AutoShape 16"/>
            <p:cNvSpPr>
              <a:spLocks noChangeShapeType="1"/>
            </p:cNvSpPr>
            <p:nvPr/>
          </p:nvSpPr>
          <p:spPr bwMode="auto">
            <a:xfrm flipH="1">
              <a:off x="6581" y="10592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utoShape 15"/>
            <p:cNvSpPr>
              <a:spLocks noChangeShapeType="1"/>
            </p:cNvSpPr>
            <p:nvPr/>
          </p:nvSpPr>
          <p:spPr bwMode="auto">
            <a:xfrm flipH="1">
              <a:off x="3985" y="11817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11"/>
            <p:cNvSpPr>
              <a:spLocks noChangeShapeType="1"/>
            </p:cNvSpPr>
            <p:nvPr/>
          </p:nvSpPr>
          <p:spPr bwMode="auto">
            <a:xfrm flipV="1">
              <a:off x="3710" y="10671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449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8"/>
            <p:cNvSpPr>
              <a:spLocks noChangeArrowheads="1"/>
            </p:cNvSpPr>
            <p:nvPr/>
          </p:nvSpPr>
          <p:spPr bwMode="auto">
            <a:xfrm>
              <a:off x="5722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AutoShape 7"/>
            <p:cNvSpPr>
              <a:spLocks noChangeShapeType="1"/>
            </p:cNvSpPr>
            <p:nvPr/>
          </p:nvSpPr>
          <p:spPr bwMode="auto">
            <a:xfrm flipV="1">
              <a:off x="5405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 rot="16200000">
              <a:off x="5109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>
              <a:off x="5795" y="10151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4910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AutoShape 3"/>
            <p:cNvSpPr>
              <a:spLocks noChangeShapeType="1"/>
            </p:cNvSpPr>
            <p:nvPr/>
          </p:nvSpPr>
          <p:spPr bwMode="auto">
            <a:xfrm>
              <a:off x="5405" y="11459"/>
              <a:ext cx="0" cy="247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1" name="Tableau 7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1776"/>
                  </p:ext>
                </p:extLst>
              </p:nvPr>
            </p:nvGraphicFramePr>
            <p:xfrm>
              <a:off x="0" y="1833223"/>
              <a:ext cx="4996072" cy="1298766"/>
            </p:xfrm>
            <a:graphic>
              <a:graphicData uri="http://schemas.openxmlformats.org/drawingml/2006/table">
                <a:tbl>
                  <a:tblPr/>
                  <a:tblGrid>
                    <a:gridCol w="4996072">
                      <a:extLst>
                        <a:ext uri="{9D8B030D-6E8A-4147-A177-3AD203B41FA5}">
                          <a16:colId xmlns:a16="http://schemas.microsoft.com/office/drawing/2014/main" val="27934120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457200" algn="just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fr-F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fr-FR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fr-FR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fr-FR" sz="1800" i="1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fr-FR" sz="1800" b="0" i="1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𝑈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fr-FR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fr-FR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fr-FR" sz="1800" i="1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fr-FR" sz="1800" b="0" i="1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fr-FR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fr-FR" sz="180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fr-FR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fr-F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535" marR="895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62813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1" name="Tableau 7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1776"/>
                  </p:ext>
                </p:extLst>
              </p:nvPr>
            </p:nvGraphicFramePr>
            <p:xfrm>
              <a:off x="0" y="1833223"/>
              <a:ext cx="4996072" cy="1298766"/>
            </p:xfrm>
            <a:graphic>
              <a:graphicData uri="http://schemas.openxmlformats.org/drawingml/2006/table">
                <a:tbl>
                  <a:tblPr/>
                  <a:tblGrid>
                    <a:gridCol w="4996072">
                      <a:extLst>
                        <a:ext uri="{9D8B030D-6E8A-4147-A177-3AD203B41FA5}">
                          <a16:colId xmlns:a16="http://schemas.microsoft.com/office/drawing/2014/main" val="2793412043"/>
                        </a:ext>
                      </a:extLst>
                    </a:gridCol>
                  </a:tblGrid>
                  <a:tr h="129876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9535" marR="895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2813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1137259" y="3092146"/>
                <a:ext cx="2883141" cy="8811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kumimoji="0" lang="fr-F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fr-FR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kumimoji="0" lang="fr-FR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fr-FR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kumimoji="0" lang="fr-FR" sz="1800" b="0" i="1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kumimoji="0" lang="fr-FR" sz="1800" b="0" i="0" u="none" strike="noStrike" kern="1200" cap="none" spc="0" normalizeH="0" baseline="0" noProof="0">
                                          <a:ln>
                                            <a:noFill/>
                                          </a:ln>
                                          <a:solidFill>
                                            <a:prstClr val="black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fr-FR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fr-F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7259" y="3092146"/>
                <a:ext cx="2883141" cy="88113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8260629" y="3553007"/>
                <a:ext cx="3393300" cy="7087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0" lang="fr-F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i="1" ker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kumimoji="0" lang="fr-FR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</a:rPr>
                        <m:t> </m:t>
                      </m:r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0629" y="3553007"/>
                <a:ext cx="3393300" cy="7087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5" name="Tableau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016131"/>
                  </p:ext>
                </p:extLst>
              </p:nvPr>
            </p:nvGraphicFramePr>
            <p:xfrm>
              <a:off x="-1595649" y="4547117"/>
              <a:ext cx="7364398" cy="1298766"/>
            </p:xfrm>
            <a:graphic>
              <a:graphicData uri="http://schemas.openxmlformats.org/drawingml/2006/table">
                <a:tbl>
                  <a:tblPr/>
                  <a:tblGrid>
                    <a:gridCol w="7364398">
                      <a:extLst>
                        <a:ext uri="{9D8B030D-6E8A-4147-A177-3AD203B41FA5}">
                          <a16:colId xmlns:a16="http://schemas.microsoft.com/office/drawing/2014/main" val="27934120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457200" algn="just">
                            <a:lnSpc>
                              <a:spcPct val="150000"/>
                            </a:lnSpc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  <m:r>
                                      <a:rPr lang="fr-FR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fr-FR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kumimoji="0" lang="fr-FR" sz="1800" b="0" i="1" u="none" strike="noStrike" kern="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kumimoji="0" lang="fr-FR" sz="1800" b="0" i="1" u="none" strike="noStrike" kern="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kumimoji="0" lang="fr-FR" sz="1800" b="0" i="1" u="none" strike="noStrike" kern="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𝑈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kumimoji="0" lang="fr-FR" sz="1800" b="0" i="1" u="none" strike="noStrike" kern="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fr-FR" sz="180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lang="fr-FR" sz="1800" i="1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fr-FR" sz="1800" b="0" i="1" smtClean="0">
                                                        <a:effectLst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fr-FR" sz="1800" b="0" i="1" smtClean="0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2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kumimoji="0" lang="fr-FR" sz="1800" b="0" i="1" u="none" strike="noStrike" kern="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kumimoji="0" lang="fr-FR" sz="1800" b="0" i="1" u="none" strike="noStrike" kern="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kumimoji="0" lang="fr-FR" sz="18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fr-FR" sz="18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fr-F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535" marR="895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62813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5" name="Tableau 4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47016131"/>
                  </p:ext>
                </p:extLst>
              </p:nvPr>
            </p:nvGraphicFramePr>
            <p:xfrm>
              <a:off x="-1595649" y="4547117"/>
              <a:ext cx="7364398" cy="1298766"/>
            </p:xfrm>
            <a:graphic>
              <a:graphicData uri="http://schemas.openxmlformats.org/drawingml/2006/table">
                <a:tbl>
                  <a:tblPr/>
                  <a:tblGrid>
                    <a:gridCol w="7364398">
                      <a:extLst>
                        <a:ext uri="{9D8B030D-6E8A-4147-A177-3AD203B41FA5}">
                          <a16:colId xmlns:a16="http://schemas.microsoft.com/office/drawing/2014/main" val="2793412043"/>
                        </a:ext>
                      </a:extLst>
                    </a:gridCol>
                  </a:tblGrid>
                  <a:tr h="129876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9535" marR="895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7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2813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44979" y="5838506"/>
                <a:ext cx="2883141" cy="8811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0" lang="fr-F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kumimoji="0" lang="fr-FR" sz="18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i="1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i="1"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b="0" i="1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fr-FR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kumimoji="0" lang="fr-F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979" y="5838506"/>
                <a:ext cx="2883141" cy="8811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119005" y="2297608"/>
                <a:ext cx="100251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1" ker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005" y="2297608"/>
                <a:ext cx="1002518" cy="369332"/>
              </a:xfrm>
              <a:prstGeom prst="rect">
                <a:avLst/>
              </a:prstGeom>
              <a:blipFill>
                <a:blip r:embed="rId9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3372632" y="3260006"/>
                <a:ext cx="49526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632" y="3260006"/>
                <a:ext cx="495264" cy="369332"/>
              </a:xfrm>
              <a:prstGeom prst="rect">
                <a:avLst/>
              </a:prstGeom>
              <a:blipFill>
                <a:blip r:embed="rId10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2646414" y="4982115"/>
                <a:ext cx="474424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46414" y="4982115"/>
                <a:ext cx="47442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2905311" y="5972277"/>
                <a:ext cx="100784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fr-FR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5311" y="5972277"/>
                <a:ext cx="1007840" cy="369332"/>
              </a:xfrm>
              <a:prstGeom prst="rect">
                <a:avLst/>
              </a:prstGeom>
              <a:blipFill>
                <a:blip r:embed="rId12"/>
                <a:stretch>
                  <a:fillRect b="-1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Rectangle 61"/>
          <p:cNvSpPr/>
          <p:nvPr/>
        </p:nvSpPr>
        <p:spPr>
          <a:xfrm>
            <a:off x="5327798" y="3073676"/>
            <a:ext cx="356566" cy="399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6261404" y="3248380"/>
            <a:ext cx="356566" cy="265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5" name="object 19"/>
              <p:cNvSpPr txBox="1"/>
              <p:nvPr/>
            </p:nvSpPr>
            <p:spPr>
              <a:xfrm>
                <a:off x="968337" y="1616798"/>
                <a:ext cx="2283475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8450" marR="508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cas 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MA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0" lang="ar-MA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kumimoji="0" lang="ar-MA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5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37" y="1616798"/>
                <a:ext cx="2283475" cy="289823"/>
              </a:xfrm>
              <a:prstGeom prst="rect">
                <a:avLst/>
              </a:prstGeom>
              <a:blipFill>
                <a:blip r:embed="rId13"/>
                <a:stretch>
                  <a:fillRect l="-5348" t="-22917" b="-47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object 19"/>
              <p:cNvSpPr txBox="1"/>
              <p:nvPr/>
            </p:nvSpPr>
            <p:spPr>
              <a:xfrm>
                <a:off x="968337" y="4233328"/>
                <a:ext cx="2283475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8450" marR="508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cas 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MA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0" lang="ar-MA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kumimoji="0" lang="ar-MA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6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337" y="4233328"/>
                <a:ext cx="2283475" cy="289823"/>
              </a:xfrm>
              <a:prstGeom prst="rect">
                <a:avLst/>
              </a:prstGeom>
              <a:blipFill>
                <a:blip r:embed="rId14"/>
                <a:stretch>
                  <a:fillRect l="-5348" t="-20833" b="-47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Text Box 26"/>
              <p:cNvSpPr txBox="1">
                <a:spLocks noChangeArrowheads="1"/>
              </p:cNvSpPr>
              <p:nvPr/>
            </p:nvSpPr>
            <p:spPr bwMode="auto">
              <a:xfrm>
                <a:off x="7974752" y="59591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7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74752" y="59591"/>
                <a:ext cx="613272" cy="496894"/>
              </a:xfrm>
              <a:prstGeom prst="rect">
                <a:avLst/>
              </a:prstGeom>
              <a:blipFill>
                <a:blip r:embed="rId15"/>
                <a:stretch>
                  <a:fillRect r="-138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Box 25"/>
              <p:cNvSpPr txBox="1">
                <a:spLocks noChangeArrowheads="1"/>
              </p:cNvSpPr>
              <p:nvPr/>
            </p:nvSpPr>
            <p:spPr bwMode="auto">
              <a:xfrm>
                <a:off x="7456455" y="885327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56455" y="885327"/>
                <a:ext cx="713544" cy="496894"/>
              </a:xfrm>
              <a:prstGeom prst="rect">
                <a:avLst/>
              </a:prstGeom>
              <a:blipFill>
                <a:blip r:embed="rId16"/>
                <a:stretch>
                  <a:fillRect r="-1453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 Box 18"/>
              <p:cNvSpPr txBox="1">
                <a:spLocks noChangeArrowheads="1"/>
              </p:cNvSpPr>
              <p:nvPr/>
            </p:nvSpPr>
            <p:spPr bwMode="auto">
              <a:xfrm>
                <a:off x="10595944" y="151463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95944" y="151463"/>
                <a:ext cx="613272" cy="496894"/>
              </a:xfrm>
              <a:prstGeom prst="rect">
                <a:avLst/>
              </a:prstGeom>
              <a:blipFill>
                <a:blip r:embed="rId17"/>
                <a:stretch>
                  <a:fillRect r="-138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 Box 15"/>
              <p:cNvSpPr txBox="1">
                <a:spLocks noChangeArrowheads="1"/>
              </p:cNvSpPr>
              <p:nvPr/>
            </p:nvSpPr>
            <p:spPr bwMode="auto">
              <a:xfrm>
                <a:off x="10982702" y="880272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82702" y="880272"/>
                <a:ext cx="713544" cy="496894"/>
              </a:xfrm>
              <a:prstGeom prst="rect">
                <a:avLst/>
              </a:prstGeom>
              <a:blipFill>
                <a:blip r:embed="rId18"/>
                <a:stretch>
                  <a:fillRect r="-1367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Groupe 31"/>
          <p:cNvGrpSpPr/>
          <p:nvPr/>
        </p:nvGrpSpPr>
        <p:grpSpPr>
          <a:xfrm>
            <a:off x="4897346" y="1919474"/>
            <a:ext cx="3014021" cy="1692921"/>
            <a:chOff x="8359760" y="1751751"/>
            <a:chExt cx="3014021" cy="1692921"/>
          </a:xfrm>
        </p:grpSpPr>
        <p:cxnSp>
          <p:nvCxnSpPr>
            <p:cNvPr id="26" name="Connecteur droit 25"/>
            <p:cNvCxnSpPr/>
            <p:nvPr/>
          </p:nvCxnSpPr>
          <p:spPr>
            <a:xfrm flipH="1">
              <a:off x="8749665" y="2196219"/>
              <a:ext cx="17541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72" name="Group 1"/>
            <p:cNvGrpSpPr>
              <a:grpSpLocks/>
            </p:cNvGrpSpPr>
            <p:nvPr/>
          </p:nvGrpSpPr>
          <p:grpSpPr bwMode="auto">
            <a:xfrm>
              <a:off x="8914176" y="1751751"/>
              <a:ext cx="1848299" cy="1692921"/>
              <a:chOff x="3710" y="10150"/>
              <a:chExt cx="1973" cy="1682"/>
            </a:xfrm>
          </p:grpSpPr>
          <p:sp>
            <p:nvSpPr>
              <p:cNvPr id="83" name="Text Box 23"/>
              <p:cNvSpPr txBox="1">
                <a:spLocks noChangeArrowheads="1"/>
              </p:cNvSpPr>
              <p:nvPr/>
            </p:nvSpPr>
            <p:spPr bwMode="auto">
              <a:xfrm>
                <a:off x="4567" y="10150"/>
                <a:ext cx="535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alt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0" lang="fr-FR" altLang="fr-FR" sz="1800" b="0" i="0" u="none" strike="noStrike" kern="1200" cap="none" spc="0" normalizeH="0" baseline="-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4" name="AutoShape 22"/>
              <p:cNvSpPr>
                <a:spLocks noChangeShapeType="1"/>
              </p:cNvSpPr>
              <p:nvPr/>
            </p:nvSpPr>
            <p:spPr bwMode="auto">
              <a:xfrm>
                <a:off x="3846" y="10589"/>
                <a:ext cx="333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5" name="AutoShape 19"/>
              <p:cNvSpPr>
                <a:spLocks noChangeShapeType="1"/>
              </p:cNvSpPr>
              <p:nvPr/>
            </p:nvSpPr>
            <p:spPr bwMode="auto">
              <a:xfrm flipV="1">
                <a:off x="5682" y="10672"/>
                <a:ext cx="1" cy="1034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9" name="AutoShape 15"/>
              <p:cNvSpPr>
                <a:spLocks noChangeShapeType="1"/>
              </p:cNvSpPr>
              <p:nvPr/>
            </p:nvSpPr>
            <p:spPr bwMode="auto">
              <a:xfrm flipH="1">
                <a:off x="3985" y="11832"/>
                <a:ext cx="318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0" name="AutoShape 11"/>
              <p:cNvSpPr>
                <a:spLocks noChangeShapeType="1"/>
              </p:cNvSpPr>
              <p:nvPr/>
            </p:nvSpPr>
            <p:spPr bwMode="auto">
              <a:xfrm flipV="1">
                <a:off x="3710" y="10671"/>
                <a:ext cx="1" cy="1035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1" name="Rectangle 9"/>
              <p:cNvSpPr>
                <a:spLocks noChangeArrowheads="1"/>
              </p:cNvSpPr>
              <p:nvPr/>
            </p:nvSpPr>
            <p:spPr bwMode="auto">
              <a:xfrm>
                <a:off x="4492" y="10481"/>
                <a:ext cx="590" cy="1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3" name="AutoShape 7"/>
              <p:cNvSpPr>
                <a:spLocks noChangeShapeType="1"/>
              </p:cNvSpPr>
              <p:nvPr/>
            </p:nvSpPr>
            <p:spPr bwMode="auto">
              <a:xfrm flipV="1">
                <a:off x="5405" y="10589"/>
                <a:ext cx="0" cy="123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4" name="Rectangle 6"/>
              <p:cNvSpPr>
                <a:spLocks noChangeArrowheads="1"/>
              </p:cNvSpPr>
              <p:nvPr/>
            </p:nvSpPr>
            <p:spPr bwMode="auto">
              <a:xfrm rot="16200000">
                <a:off x="5109" y="11032"/>
                <a:ext cx="590" cy="1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6" name="Text Box 4"/>
              <p:cNvSpPr txBox="1">
                <a:spLocks noChangeArrowheads="1"/>
              </p:cNvSpPr>
              <p:nvPr/>
            </p:nvSpPr>
            <p:spPr bwMode="auto">
              <a:xfrm>
                <a:off x="4910" y="10993"/>
                <a:ext cx="535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alt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0" lang="fr-FR" altLang="fr-FR" sz="1800" b="0" i="0" u="none" strike="noStrike" kern="1200" cap="none" spc="0" normalizeH="0" baseline="-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97" name="AutoShape 3"/>
              <p:cNvSpPr>
                <a:spLocks noChangeShapeType="1"/>
              </p:cNvSpPr>
              <p:nvPr/>
            </p:nvSpPr>
            <p:spPr bwMode="auto">
              <a:xfrm>
                <a:off x="5405" y="11459"/>
                <a:ext cx="0" cy="24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98" name="Connecteur droit 97"/>
            <p:cNvCxnSpPr/>
            <p:nvPr/>
          </p:nvCxnSpPr>
          <p:spPr>
            <a:xfrm flipH="1">
              <a:off x="8754459" y="3442088"/>
              <a:ext cx="17541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9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8878057" y="1810513"/>
                  <a:ext cx="613272" cy="4968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99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878057" y="1810513"/>
                  <a:ext cx="613272" cy="496894"/>
                </a:xfrm>
                <a:prstGeom prst="rect">
                  <a:avLst/>
                </a:prstGeom>
                <a:blipFill>
                  <a:blip r:embed="rId26"/>
                  <a:stretch>
                    <a:fillRect r="-1386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8359760" y="2636249"/>
                  <a:ext cx="713544" cy="4968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fr-FR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0" name="Text 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59760" y="2636249"/>
                  <a:ext cx="713544" cy="496894"/>
                </a:xfrm>
                <a:prstGeom prst="rect">
                  <a:avLst/>
                </a:prstGeom>
                <a:blipFill>
                  <a:blip r:embed="rId27"/>
                  <a:stretch>
                    <a:fillRect r="-1453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0660237" y="2611933"/>
                  <a:ext cx="713544" cy="4968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1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660237" y="2611933"/>
                  <a:ext cx="713544" cy="496894"/>
                </a:xfrm>
                <a:prstGeom prst="rect">
                  <a:avLst/>
                </a:prstGeom>
                <a:blipFill>
                  <a:blip r:embed="rId28"/>
                  <a:stretch>
                    <a:fillRect r="-13675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e 32"/>
          <p:cNvGrpSpPr/>
          <p:nvPr/>
        </p:nvGrpSpPr>
        <p:grpSpPr>
          <a:xfrm>
            <a:off x="4597774" y="4868969"/>
            <a:ext cx="2953222" cy="1684415"/>
            <a:chOff x="9278929" y="4657749"/>
            <a:chExt cx="2953222" cy="1684415"/>
          </a:xfrm>
        </p:grpSpPr>
        <p:cxnSp>
          <p:nvCxnSpPr>
            <p:cNvPr id="119" name="Connecteur droit 118"/>
            <p:cNvCxnSpPr/>
            <p:nvPr/>
          </p:nvCxnSpPr>
          <p:spPr>
            <a:xfrm flipH="1">
              <a:off x="10212461" y="5111535"/>
              <a:ext cx="17541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/>
                <p:cNvSpPr/>
                <p:nvPr/>
              </p:nvSpPr>
              <p:spPr>
                <a:xfrm>
                  <a:off x="11234861" y="4665302"/>
                  <a:ext cx="44037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 i="1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fr-FR" dirty="0">
                    <a:latin typeface="Bookman Old Style" panose="02050604050505020204" pitchFamily="18" charset="0"/>
                  </a:endParaRPr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4861" y="4665302"/>
                  <a:ext cx="440377" cy="369332"/>
                </a:xfrm>
                <a:prstGeom prst="rect">
                  <a:avLst/>
                </a:prstGeom>
                <a:blipFill>
                  <a:blip r:embed="rId29"/>
                  <a:stretch>
                    <a:fillRect r="-19444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9278929" y="5553637"/>
                  <a:ext cx="505010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fr-FR" dirty="0">
                    <a:latin typeface="Bookman Old Style" panose="02050604050505020204" pitchFamily="18" charset="0"/>
                  </a:endParaRPr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78929" y="5553637"/>
                  <a:ext cx="505010" cy="369332"/>
                </a:xfrm>
                <a:prstGeom prst="rect">
                  <a:avLst/>
                </a:prstGeom>
                <a:blipFill>
                  <a:blip r:embed="rId30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/>
                <p:cNvSpPr/>
                <p:nvPr/>
              </p:nvSpPr>
              <p:spPr>
                <a:xfrm>
                  <a:off x="11721818" y="5540882"/>
                  <a:ext cx="510333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fr-FR" dirty="0">
                    <a:latin typeface="Bookman Old Style" panose="02050604050505020204" pitchFamily="18" charset="0"/>
                  </a:endParaRPr>
                </a:p>
              </p:txBody>
            </p:sp>
          </mc:Choice>
          <mc:Fallback xmlns="">
            <p:sp>
              <p:nvSpPr>
                <p:cNvPr id="70" name="Rectangle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21818" y="5540882"/>
                  <a:ext cx="510333" cy="369332"/>
                </a:xfrm>
                <a:prstGeom prst="rect">
                  <a:avLst/>
                </a:prstGeom>
                <a:blipFill>
                  <a:blip r:embed="rId31"/>
                  <a:stretch>
                    <a:fillRect b="-1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2" name="Group 1"/>
            <p:cNvGrpSpPr>
              <a:grpSpLocks/>
            </p:cNvGrpSpPr>
            <p:nvPr/>
          </p:nvGrpSpPr>
          <p:grpSpPr bwMode="auto">
            <a:xfrm>
              <a:off x="9695673" y="4657749"/>
              <a:ext cx="2108728" cy="1679837"/>
              <a:chOff x="4853" y="10151"/>
              <a:chExt cx="2251" cy="1669"/>
            </a:xfrm>
          </p:grpSpPr>
          <p:sp>
            <p:nvSpPr>
              <p:cNvPr id="106" name="AutoShape 19"/>
              <p:cNvSpPr>
                <a:spLocks noChangeShapeType="1"/>
              </p:cNvSpPr>
              <p:nvPr/>
            </p:nvSpPr>
            <p:spPr bwMode="auto">
              <a:xfrm flipV="1">
                <a:off x="7103" y="10672"/>
                <a:ext cx="1" cy="1034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8" name="AutoShape 17"/>
              <p:cNvSpPr>
                <a:spLocks noChangeShapeType="1"/>
              </p:cNvSpPr>
              <p:nvPr/>
            </p:nvSpPr>
            <p:spPr bwMode="auto">
              <a:xfrm>
                <a:off x="6533" y="11820"/>
                <a:ext cx="333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9" name="AutoShape 16"/>
              <p:cNvSpPr>
                <a:spLocks noChangeShapeType="1"/>
              </p:cNvSpPr>
              <p:nvPr/>
            </p:nvSpPr>
            <p:spPr bwMode="auto">
              <a:xfrm flipH="1">
                <a:off x="6581" y="10592"/>
                <a:ext cx="318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1" name="AutoShape 11"/>
              <p:cNvSpPr>
                <a:spLocks noChangeShapeType="1"/>
              </p:cNvSpPr>
              <p:nvPr/>
            </p:nvSpPr>
            <p:spPr bwMode="auto">
              <a:xfrm flipV="1">
                <a:off x="4853" y="10686"/>
                <a:ext cx="1" cy="1035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3" name="Rectangle 8"/>
              <p:cNvSpPr>
                <a:spLocks noChangeArrowheads="1"/>
              </p:cNvSpPr>
              <p:nvPr/>
            </p:nvSpPr>
            <p:spPr bwMode="auto">
              <a:xfrm>
                <a:off x="5722" y="10482"/>
                <a:ext cx="590" cy="1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4" name="AutoShape 7"/>
              <p:cNvSpPr>
                <a:spLocks noChangeShapeType="1"/>
              </p:cNvSpPr>
              <p:nvPr/>
            </p:nvSpPr>
            <p:spPr bwMode="auto">
              <a:xfrm flipV="1">
                <a:off x="5405" y="10589"/>
                <a:ext cx="0" cy="123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5" name="Rectangle 6"/>
              <p:cNvSpPr>
                <a:spLocks noChangeArrowheads="1"/>
              </p:cNvSpPr>
              <p:nvPr/>
            </p:nvSpPr>
            <p:spPr bwMode="auto">
              <a:xfrm rot="16200000">
                <a:off x="5109" y="11032"/>
                <a:ext cx="590" cy="1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6" name="Text Box 5"/>
              <p:cNvSpPr txBox="1">
                <a:spLocks noChangeArrowheads="1"/>
              </p:cNvSpPr>
              <p:nvPr/>
            </p:nvSpPr>
            <p:spPr bwMode="auto">
              <a:xfrm>
                <a:off x="5795" y="10151"/>
                <a:ext cx="535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alt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0" lang="fr-FR" altLang="fr-FR" sz="1800" b="0" i="0" u="none" strike="noStrike" kern="1200" cap="none" spc="0" normalizeH="0" baseline="-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7" name="Text Box 4"/>
              <p:cNvSpPr txBox="1">
                <a:spLocks noChangeArrowheads="1"/>
              </p:cNvSpPr>
              <p:nvPr/>
            </p:nvSpPr>
            <p:spPr bwMode="auto">
              <a:xfrm>
                <a:off x="4910" y="10993"/>
                <a:ext cx="535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altLang="fr-FR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0" lang="fr-FR" altLang="fr-FR" sz="1800" b="0" i="0" u="none" strike="noStrike" kern="1200" cap="none" spc="0" normalizeH="0" baseline="-30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8" name="AutoShape 3"/>
              <p:cNvSpPr>
                <a:spLocks noChangeShapeType="1"/>
              </p:cNvSpPr>
              <p:nvPr/>
            </p:nvSpPr>
            <p:spPr bwMode="auto">
              <a:xfrm>
                <a:off x="5405" y="11459"/>
                <a:ext cx="0" cy="24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20" name="Connecteur droit 119"/>
            <p:cNvCxnSpPr/>
            <p:nvPr/>
          </p:nvCxnSpPr>
          <p:spPr>
            <a:xfrm flipH="1">
              <a:off x="10217255" y="6342164"/>
              <a:ext cx="175410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>
                <a:latin typeface="Bookman Old Style" panose="02050604050505020204" pitchFamily="18" charset="0"/>
              </a:rPr>
              <a:t>11</a:t>
            </a:fld>
            <a:endParaRPr lang="fr-FR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2256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80" grpId="0"/>
      <p:bldP spid="47" grpId="0"/>
      <p:bldP spid="10" grpId="0"/>
      <p:bldP spid="58" grpId="0"/>
      <p:bldP spid="59" grpId="0"/>
      <p:bldP spid="60" grpId="0"/>
      <p:bldP spid="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9"/>
          <p:cNvSpPr txBox="1"/>
          <p:nvPr/>
        </p:nvSpPr>
        <p:spPr>
          <a:xfrm>
            <a:off x="943707" y="375893"/>
            <a:ext cx="36788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Exemple 1 : Quadripôle en T</a:t>
            </a:r>
          </a:p>
        </p:txBody>
      </p:sp>
      <p:sp>
        <p:nvSpPr>
          <p:cNvPr id="24" name="object 19"/>
          <p:cNvSpPr txBox="1"/>
          <p:nvPr/>
        </p:nvSpPr>
        <p:spPr>
          <a:xfrm>
            <a:off x="1531341" y="1613974"/>
            <a:ext cx="1024572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algn="just"/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En appliquant la loi des mailles, nous avons les deux relations suivantes 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2" name="Group 1"/>
          <p:cNvGrpSpPr>
            <a:grpSpLocks/>
          </p:cNvGrpSpPr>
          <p:nvPr/>
        </p:nvGrpSpPr>
        <p:grpSpPr bwMode="auto">
          <a:xfrm>
            <a:off x="8261204" y="1760646"/>
            <a:ext cx="3331247" cy="1684869"/>
            <a:chOff x="3632" y="10150"/>
            <a:chExt cx="3556" cy="1674"/>
          </a:xfrm>
        </p:grpSpPr>
        <p:sp>
          <p:nvSpPr>
            <p:cNvPr id="13" name="AutoShape 24"/>
            <p:cNvSpPr>
              <a:spLocks noChangeShapeType="1"/>
            </p:cNvSpPr>
            <p:nvPr/>
          </p:nvSpPr>
          <p:spPr bwMode="auto">
            <a:xfrm flipH="1">
              <a:off x="3632" y="1059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23"/>
            <p:cNvSpPr txBox="1">
              <a:spLocks noChangeArrowheads="1"/>
            </p:cNvSpPr>
            <p:nvPr/>
          </p:nvSpPr>
          <p:spPr bwMode="auto">
            <a:xfrm>
              <a:off x="4567" y="10150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6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AutoShape 22"/>
            <p:cNvSpPr>
              <a:spLocks noChangeShapeType="1"/>
            </p:cNvSpPr>
            <p:nvPr/>
          </p:nvSpPr>
          <p:spPr bwMode="auto">
            <a:xfrm>
              <a:off x="3846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utoShape 19"/>
            <p:cNvSpPr>
              <a:spLocks noChangeShapeType="1"/>
            </p:cNvSpPr>
            <p:nvPr/>
          </p:nvSpPr>
          <p:spPr bwMode="auto">
            <a:xfrm flipV="1">
              <a:off x="7103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utoShape 18"/>
            <p:cNvSpPr>
              <a:spLocks noChangeShapeType="1"/>
            </p:cNvSpPr>
            <p:nvPr/>
          </p:nvSpPr>
          <p:spPr bwMode="auto">
            <a:xfrm flipH="1" flipV="1">
              <a:off x="3632" y="1182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AutoShape 17"/>
            <p:cNvSpPr>
              <a:spLocks noChangeShapeType="1"/>
            </p:cNvSpPr>
            <p:nvPr/>
          </p:nvSpPr>
          <p:spPr bwMode="auto">
            <a:xfrm>
              <a:off x="6533" y="11820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AutoShape 16"/>
            <p:cNvSpPr>
              <a:spLocks noChangeShapeType="1"/>
            </p:cNvSpPr>
            <p:nvPr/>
          </p:nvSpPr>
          <p:spPr bwMode="auto">
            <a:xfrm flipH="1">
              <a:off x="6581" y="10592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AutoShape 15"/>
            <p:cNvSpPr>
              <a:spLocks noChangeShapeType="1"/>
            </p:cNvSpPr>
            <p:nvPr/>
          </p:nvSpPr>
          <p:spPr bwMode="auto">
            <a:xfrm flipH="1">
              <a:off x="3985" y="11817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AutoShape 11"/>
            <p:cNvSpPr>
              <a:spLocks noChangeShapeType="1"/>
            </p:cNvSpPr>
            <p:nvPr/>
          </p:nvSpPr>
          <p:spPr bwMode="auto">
            <a:xfrm flipV="1">
              <a:off x="3710" y="10671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Rectangle 9"/>
            <p:cNvSpPr>
              <a:spLocks noChangeArrowheads="1"/>
            </p:cNvSpPr>
            <p:nvPr/>
          </p:nvSpPr>
          <p:spPr bwMode="auto">
            <a:xfrm>
              <a:off x="449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Rectangle 8"/>
            <p:cNvSpPr>
              <a:spLocks noChangeArrowheads="1"/>
            </p:cNvSpPr>
            <p:nvPr/>
          </p:nvSpPr>
          <p:spPr bwMode="auto">
            <a:xfrm>
              <a:off x="5722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AutoShape 7"/>
            <p:cNvSpPr>
              <a:spLocks noChangeShapeType="1"/>
            </p:cNvSpPr>
            <p:nvPr/>
          </p:nvSpPr>
          <p:spPr bwMode="auto">
            <a:xfrm flipV="1">
              <a:off x="5405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Rectangle 6"/>
            <p:cNvSpPr>
              <a:spLocks noChangeArrowheads="1"/>
            </p:cNvSpPr>
            <p:nvPr/>
          </p:nvSpPr>
          <p:spPr bwMode="auto">
            <a:xfrm rot="16200000">
              <a:off x="5109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 Box 5"/>
            <p:cNvSpPr txBox="1">
              <a:spLocks noChangeArrowheads="1"/>
            </p:cNvSpPr>
            <p:nvPr/>
          </p:nvSpPr>
          <p:spPr bwMode="auto">
            <a:xfrm>
              <a:off x="5795" y="10151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6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Text Box 4"/>
            <p:cNvSpPr txBox="1">
              <a:spLocks noChangeArrowheads="1"/>
            </p:cNvSpPr>
            <p:nvPr/>
          </p:nvSpPr>
          <p:spPr bwMode="auto">
            <a:xfrm>
              <a:off x="4910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6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AutoShape 3"/>
            <p:cNvSpPr>
              <a:spLocks noChangeShapeType="1"/>
            </p:cNvSpPr>
            <p:nvPr/>
          </p:nvSpPr>
          <p:spPr bwMode="auto">
            <a:xfrm>
              <a:off x="5405" y="11459"/>
              <a:ext cx="0" cy="247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4268758" y="4940363"/>
                <a:ext cx="3037498" cy="64030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fr-F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6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6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0" lang="fr-F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fr-F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fr-FR" sz="1600" b="0" i="1" u="none" strike="noStrike" kern="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sSub>
                                      <m:sSubPr>
                                        <m:ctrlPr>
                                          <a:rPr kumimoji="0" lang="fr-FR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kumimoji="0" lang="fr-FR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kumimoji="0" lang="fr-FR" sz="16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kumimoji="0" lang="fr-FR" sz="16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0" lang="fr-F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6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6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6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kumimoji="0" lang="fr-FR" sz="16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</a:rPr>
                        <m:t> </m:t>
                      </m:r>
                    </m:oMath>
                  </m:oMathPara>
                </a14:m>
                <a:endParaRPr kumimoji="0" 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758" y="4940363"/>
                <a:ext cx="3037498" cy="64030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277631" y="2444489"/>
                <a:ext cx="4164923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sz="16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6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sz="16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sz="1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631" y="2444489"/>
                <a:ext cx="4164923" cy="338554"/>
              </a:xfrm>
              <a:prstGeom prst="rect">
                <a:avLst/>
              </a:prstGeom>
              <a:blipFill>
                <a:blip r:embed="rId3"/>
                <a:stretch>
                  <a:fillRect r="-248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2294477" y="2957417"/>
                <a:ext cx="418306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 sz="16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6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sz="16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sz="1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4477" y="2957417"/>
                <a:ext cx="4183068" cy="338554"/>
              </a:xfrm>
              <a:prstGeom prst="rect">
                <a:avLst/>
              </a:prstGeom>
              <a:blipFill>
                <a:blip r:embed="rId4"/>
                <a:stretch>
                  <a:fillRect r="-247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1531151" y="3871675"/>
                <a:ext cx="10030543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spcBef>
                    <a:spcPts val="600"/>
                  </a:spcBef>
                  <a:spcAft>
                    <a:spcPts val="0"/>
                  </a:spcAft>
                </a:pPr>
                <a:r>
                  <a:rPr lang="fr-FR" sz="1600" dirty="0"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Ce quadripôle est réciproque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fr-FR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fr-FR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fr-F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𝑧</m:t>
                        </m:r>
                      </m:e>
                      <m:sub>
                        <m:r>
                          <a:rPr lang="fr-FR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fr-FR" sz="16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). Il est symétrique à la condition que 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fr-FR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fr-FR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lang="fr-F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fr-FR" sz="1600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600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1151" y="3871675"/>
                <a:ext cx="10030543" cy="338554"/>
              </a:xfrm>
              <a:prstGeom prst="rect">
                <a:avLst/>
              </a:prstGeom>
              <a:blipFill>
                <a:blip r:embed="rId5"/>
                <a:stretch>
                  <a:fillRect l="-304" t="-5357" b="-2142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object 19"/>
          <p:cNvSpPr txBox="1"/>
          <p:nvPr/>
        </p:nvSpPr>
        <p:spPr>
          <a:xfrm>
            <a:off x="1358621" y="1042504"/>
            <a:ext cx="228347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Calcul direct :</a:t>
            </a:r>
            <a:endParaRPr kumimoji="0" lang="ar-MA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1531151" y="6017796"/>
            <a:ext cx="516679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On retrouve les résultats calculés précédemment.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 Box 26"/>
              <p:cNvSpPr txBox="1">
                <a:spLocks noChangeArrowheads="1"/>
              </p:cNvSpPr>
              <p:nvPr/>
            </p:nvSpPr>
            <p:spPr bwMode="auto">
              <a:xfrm>
                <a:off x="8313767" y="1796593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sz="16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13767" y="1796593"/>
                <a:ext cx="613272" cy="496894"/>
              </a:xfrm>
              <a:prstGeom prst="rect">
                <a:avLst/>
              </a:prstGeom>
              <a:blipFill>
                <a:blip r:embed="rId6"/>
                <a:stretch>
                  <a:fillRect r="-5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 Box 25"/>
              <p:cNvSpPr txBox="1">
                <a:spLocks noChangeArrowheads="1"/>
              </p:cNvSpPr>
              <p:nvPr/>
            </p:nvSpPr>
            <p:spPr bwMode="auto">
              <a:xfrm>
                <a:off x="7795470" y="2622329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 sz="160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95470" y="2622329"/>
                <a:ext cx="713544" cy="496894"/>
              </a:xfrm>
              <a:prstGeom prst="rect">
                <a:avLst/>
              </a:prstGeom>
              <a:blipFill>
                <a:blip r:embed="rId7"/>
                <a:stretch>
                  <a:fillRect r="-6838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 Box 18"/>
              <p:cNvSpPr txBox="1">
                <a:spLocks noChangeArrowheads="1"/>
              </p:cNvSpPr>
              <p:nvPr/>
            </p:nvSpPr>
            <p:spPr bwMode="auto">
              <a:xfrm>
                <a:off x="10934959" y="1820225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sz="1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34959" y="1820225"/>
                <a:ext cx="613272" cy="496894"/>
              </a:xfrm>
              <a:prstGeom prst="rect">
                <a:avLst/>
              </a:prstGeom>
              <a:blipFill>
                <a:blip r:embed="rId8"/>
                <a:stretch>
                  <a:fillRect r="-4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 Box 15"/>
              <p:cNvSpPr txBox="1">
                <a:spLocks noChangeArrowheads="1"/>
              </p:cNvSpPr>
              <p:nvPr/>
            </p:nvSpPr>
            <p:spPr bwMode="auto">
              <a:xfrm>
                <a:off x="11349013" y="2617274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6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 sz="1600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349013" y="2617274"/>
                <a:ext cx="713544" cy="496894"/>
              </a:xfrm>
              <a:prstGeom prst="rect">
                <a:avLst/>
              </a:prstGeom>
              <a:blipFill>
                <a:blip r:embed="rId9"/>
                <a:stretch>
                  <a:fillRect r="-598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0391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80" grpId="0"/>
      <p:bldP spid="10" grpId="0"/>
      <p:bldP spid="58" grpId="0"/>
      <p:bldP spid="59" grpId="0"/>
      <p:bldP spid="64" grpId="0"/>
      <p:bldP spid="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9"/>
          <p:cNvSpPr txBox="1"/>
          <p:nvPr/>
        </p:nvSpPr>
        <p:spPr>
          <a:xfrm>
            <a:off x="874542" y="304560"/>
            <a:ext cx="36788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algn="just">
              <a:defRPr/>
            </a:pP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Exemple 2 : Quadripôle en </a:t>
            </a:r>
            <a:r>
              <a:rPr lang="el-GR" sz="1600" b="1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π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p:sp>
        <p:nvSpPr>
          <p:cNvPr id="24" name="object 19"/>
          <p:cNvSpPr txBox="1"/>
          <p:nvPr/>
        </p:nvSpPr>
        <p:spPr>
          <a:xfrm>
            <a:off x="1519555" y="908686"/>
            <a:ext cx="4870103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algn="just"/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On procède de la même manière 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1" name="Tableau 7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7917952"/>
                  </p:ext>
                </p:extLst>
              </p:nvPr>
            </p:nvGraphicFramePr>
            <p:xfrm>
              <a:off x="1372557" y="2310256"/>
              <a:ext cx="5319142" cy="1298766"/>
            </p:xfrm>
            <a:graphic>
              <a:graphicData uri="http://schemas.openxmlformats.org/drawingml/2006/table">
                <a:tbl>
                  <a:tblPr/>
                  <a:tblGrid>
                    <a:gridCol w="5319142">
                      <a:extLst>
                        <a:ext uri="{9D8B030D-6E8A-4147-A177-3AD203B41FA5}">
                          <a16:colId xmlns:a16="http://schemas.microsoft.com/office/drawing/2014/main" val="279341204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457200" marR="0" lvl="0" indent="0" algn="just" defTabSz="914400" eaLnBrk="1" fontAlgn="auto" latinLnBrk="0" hangingPunct="1">
                            <a:lnSpc>
                              <a:spcPct val="150000"/>
                            </a:lnSpc>
                            <a:spcBef>
                              <a:spcPts val="0"/>
                            </a:spcBef>
                            <a:spcAft>
                              <a:spcPts val="100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fr-FR" sz="180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  <m:r>
                                  <a:rPr lang="fr-F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d>
                                      <m:dPr>
                                        <m:begChr m:val=""/>
                                        <m:endChr m:val="|"/>
                                        <m:ctrlPr>
                                          <a:rPr kumimoji="0" lang="fr-FR" sz="18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kumimoji="0" lang="fr-FR" sz="1800" b="0" i="1" u="none" strike="noStrike" kern="0" cap="none" spc="0" normalizeH="0" baseline="0" noProof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kumimoji="0" lang="fr-FR" sz="1800" b="0" i="1" u="none" strike="noStrike" kern="0" cap="none" spc="0" normalizeH="0" baseline="0" noProof="0" smtClean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kumimoji="0" lang="fr-FR" sz="1800" b="0" i="1" u="none" strike="noStrike" kern="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kumimoji="0" lang="fr-FR" sz="1800" b="0" i="1" u="none" strike="noStrike" kern="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𝑈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kumimoji="0" lang="fr-FR" sz="1800" b="0" i="1" u="none" strike="noStrike" kern="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kumimoji="0" lang="fr-FR" sz="1800" b="0" i="1" u="none" strike="noStrike" kern="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̅"/>
                                                    <m:ctrlPr>
                                                      <a:rPr kumimoji="0" lang="fr-FR" sz="1800" b="0" i="1" u="none" strike="noStrike" kern="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kumimoji="0" lang="fr-FR" sz="1800" b="0" i="1" u="none" strike="noStrike" kern="0" cap="none" spc="0" normalizeH="0" baseline="0" noProof="0" smtClean="0">
                                                        <a:ln>
                                                          <a:noFill/>
                                                        </a:ln>
                                                        <a:solidFill>
                                                          <a:prstClr val="black"/>
                                                        </a:solidFill>
                                                        <a:effectLst/>
                                                        <a:uLnTx/>
                                                        <a:uFillTx/>
                                                        <a:latin typeface="Cambria Math" panose="02040503050406030204" pitchFamily="18" charset="0"/>
                                                        <a:ea typeface="Calibri" panose="020F0502020204030204" pitchFamily="34" charset="0"/>
                                                        <a:cs typeface="Times New Roman" panose="02020603050405020304" pitchFamily="18" charset="0"/>
                                                      </a:rPr>
                                                      <m:t>𝐼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kumimoji="0" lang="fr-FR" sz="1800" b="0" i="1" u="none" strike="noStrike" kern="0" cap="none" spc="0" normalizeH="0" baseline="0" noProof="0">
                                                    <a:ln>
                                                      <a:noFill/>
                                                    </a:ln>
                                                    <a:solidFill>
                                                      <a:prstClr val="black"/>
                                                    </a:solidFill>
                                                    <a:effectLst/>
                                                    <a:uLnTx/>
                                                    <a:uFillTx/>
                                                    <a:latin typeface="Cambria Math" panose="02040503050406030204" pitchFamily="18" charset="0"/>
                                                    <a:ea typeface="Calibri" panose="020F0502020204030204" pitchFamily="34" charset="0"/>
                                                    <a:cs typeface="Times New Roman" panose="02020603050405020304" pitchFamily="18" charset="0"/>
                                                  </a:rPr>
                                                  <m:t>1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</m:d>
                                  </m:e>
                                  <m:sub>
                                    <m:sSub>
                                      <m:sSubPr>
                                        <m:ctrlPr>
                                          <a:rPr kumimoji="0" lang="fr-FR" sz="18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̅"/>
                                            <m:ctrlPr>
                                              <a:rPr kumimoji="0" lang="fr-FR" sz="1800" b="0" i="1" u="none" strike="noStrike" kern="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kumimoji="0" lang="fr-FR" sz="1800" b="0" i="1" u="none" strike="noStrike" kern="0" cap="none" spc="0" normalizeH="0" baseline="0" noProof="0" smtClean="0">
                                                <a:ln>
                                                  <a:noFill/>
                                                </a:ln>
                                                <a:solidFill>
                                                  <a:prstClr val="black"/>
                                                </a:solidFill>
                                                <a:effectLst/>
                                                <a:uLnTx/>
                                                <a:uFillTx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𝐼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kumimoji="0" lang="fr-FR" sz="1800" b="0" i="1" u="none" strike="noStrike" kern="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kumimoji="0" lang="fr-FR" sz="18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kumimoji="0" lang="fr-FR" sz="1800" b="0" i="1" u="none" strike="noStrike" kern="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fr-FR" sz="1800" i="1" smtClean="0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sz="1800" b="0" i="1" smtClean="0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𝑍</m:t>
                                    </m:r>
                                  </m:e>
                                  <m:sub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 sz="1800" i="1">
                                    <a:effectLst/>
                                    <a:latin typeface="Cambria Math" panose="02040503050406030204" pitchFamily="18" charset="0"/>
                                    <a:ea typeface="Calibri" panose="020F0502020204030204" pitchFamily="34" charset="0"/>
                                    <a:cs typeface="Times New Roman" panose="02020603050405020304" pitchFamily="18" charset="0"/>
                                  </a:rPr>
                                  <m:t>//</m:t>
                                </m:r>
                                <m:d>
                                  <m:dPr>
                                    <m:ctrlP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fr-FR" sz="18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fr-FR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sz="1800" b="0" i="1" smtClean="0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sz="1800" i="1">
                                        <a:effectLst/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sz="1800" b="0" i="1" smtClean="0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sz="1800" i="1">
                                            <a:effectLst/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fr-FR" sz="1800" dirty="0">
                            <a:effectLst/>
                            <a:latin typeface="Calibri" panose="020F0502020204030204" pitchFamily="34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89535" marR="895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462813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1" name="Tableau 7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47917952"/>
                  </p:ext>
                </p:extLst>
              </p:nvPr>
            </p:nvGraphicFramePr>
            <p:xfrm>
              <a:off x="1372557" y="2310256"/>
              <a:ext cx="5319142" cy="1298766"/>
            </p:xfrm>
            <a:graphic>
              <a:graphicData uri="http://schemas.openxmlformats.org/drawingml/2006/table">
                <a:tbl>
                  <a:tblPr/>
                  <a:tblGrid>
                    <a:gridCol w="5319142">
                      <a:extLst>
                        <a:ext uri="{9D8B030D-6E8A-4147-A177-3AD203B41FA5}">
                          <a16:colId xmlns:a16="http://schemas.microsoft.com/office/drawing/2014/main" val="2793412043"/>
                        </a:ext>
                      </a:extLst>
                    </a:gridCol>
                  </a:tblGrid>
                  <a:tr h="1298766"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marL="89535" marR="89535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2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46281326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1782729" y="3657120"/>
                <a:ext cx="2614242" cy="793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6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6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600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b="0" i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b="0" i="1" kern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2729" y="3657120"/>
                <a:ext cx="2614242" cy="7935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1943801" y="4712619"/>
                <a:ext cx="1408783" cy="6327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3801" y="4712619"/>
                <a:ext cx="1408783" cy="632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2151154" y="5712478"/>
                <a:ext cx="2729017" cy="59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𝐷𝑜𝑛𝑐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 i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b="0" i="1" smtClean="0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154" y="5712478"/>
                <a:ext cx="2729017" cy="594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3718607" y="4693367"/>
                <a:ext cx="2653034" cy="6327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𝑒𝑡</m:t>
                      </m:r>
                      <m:r>
                        <a:rPr lang="fr-FR" sz="16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        </m:t>
                      </m:r>
                      <m:f>
                        <m:f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b="0" i="1" kern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fr-FR" sz="160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fr-FR" sz="160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8607" y="4693367"/>
                <a:ext cx="2653034" cy="6327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bject 19"/>
              <p:cNvSpPr txBox="1"/>
              <p:nvPr/>
            </p:nvSpPr>
            <p:spPr>
              <a:xfrm>
                <a:off x="1519570" y="1686655"/>
                <a:ext cx="2283475" cy="25904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8450" marR="508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cas 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MA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0" lang="ar-MA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kumimoji="0" lang="fr-FR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  <m:r>
                      <a:rPr kumimoji="0" lang="fr-FR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fr-FR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kumimoji="0" lang="ar-MA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570" y="1686655"/>
                <a:ext cx="2283475" cy="259045"/>
              </a:xfrm>
              <a:prstGeom prst="rect">
                <a:avLst/>
              </a:prstGeom>
              <a:blipFill>
                <a:blip r:embed="rId7"/>
                <a:stretch>
                  <a:fillRect l="-4533" t="-21429" b="-476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8761863" y="3672900"/>
            <a:ext cx="232012" cy="397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Rectangle 29"/>
          <p:cNvSpPr/>
          <p:nvPr/>
        </p:nvSpPr>
        <p:spPr>
          <a:xfrm>
            <a:off x="8844545" y="4933812"/>
            <a:ext cx="232012" cy="397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Rectangle 30"/>
          <p:cNvSpPr/>
          <p:nvPr/>
        </p:nvSpPr>
        <p:spPr>
          <a:xfrm>
            <a:off x="8233929" y="4933812"/>
            <a:ext cx="232012" cy="397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/>
          <p:cNvSpPr/>
          <p:nvPr/>
        </p:nvSpPr>
        <p:spPr>
          <a:xfrm>
            <a:off x="9995669" y="5058749"/>
            <a:ext cx="162294" cy="39749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28" name="Groupe 27"/>
          <p:cNvGrpSpPr/>
          <p:nvPr/>
        </p:nvGrpSpPr>
        <p:grpSpPr>
          <a:xfrm>
            <a:off x="7662720" y="181159"/>
            <a:ext cx="4065803" cy="1647366"/>
            <a:chOff x="11997082" y="318887"/>
            <a:chExt cx="4065803" cy="1647366"/>
          </a:xfrm>
        </p:grpSpPr>
        <p:grpSp>
          <p:nvGrpSpPr>
            <p:cNvPr id="33" name="Groupe 32"/>
            <p:cNvGrpSpPr/>
            <p:nvPr/>
          </p:nvGrpSpPr>
          <p:grpSpPr>
            <a:xfrm>
              <a:off x="11997082" y="318887"/>
              <a:ext cx="4065803" cy="1647366"/>
              <a:chOff x="6888361" y="2274952"/>
              <a:chExt cx="4065803" cy="1647366"/>
            </a:xfrm>
          </p:grpSpPr>
          <p:grpSp>
            <p:nvGrpSpPr>
              <p:cNvPr id="38" name="Group 1"/>
              <p:cNvGrpSpPr>
                <a:grpSpLocks/>
              </p:cNvGrpSpPr>
              <p:nvPr/>
            </p:nvGrpSpPr>
            <p:grpSpPr bwMode="auto">
              <a:xfrm>
                <a:off x="7513851" y="2274952"/>
                <a:ext cx="2938039" cy="1647366"/>
                <a:chOff x="1943" y="1659"/>
                <a:chExt cx="3381" cy="1663"/>
              </a:xfrm>
            </p:grpSpPr>
            <p:sp>
              <p:nvSpPr>
                <p:cNvPr id="42" name="AutoShape 25"/>
                <p:cNvSpPr>
                  <a:spLocks noChangeShapeType="1"/>
                </p:cNvSpPr>
                <p:nvPr/>
              </p:nvSpPr>
              <p:spPr bwMode="auto">
                <a:xfrm flipH="1">
                  <a:off x="2750" y="2088"/>
                  <a:ext cx="2574" cy="4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3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289" y="2417"/>
                  <a:ext cx="535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altLang="fr-FR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Z</a:t>
                  </a:r>
                  <a:r>
                    <a:rPr kumimoji="0" lang="fr-FR" altLang="fr-FR" b="0" i="0" u="none" strike="noStrike" cap="none" normalizeH="0" baseline="-30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0" lang="fr-FR" altLang="fr-FR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altLang="fr-FR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4" name="AutoShape 22"/>
                <p:cNvSpPr>
                  <a:spLocks noChangeShapeType="1"/>
                </p:cNvSpPr>
                <p:nvPr/>
              </p:nvSpPr>
              <p:spPr bwMode="auto">
                <a:xfrm flipV="1">
                  <a:off x="5239" y="2170"/>
                  <a:ext cx="1" cy="1034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5" name="AutoShape 21"/>
                <p:cNvSpPr>
                  <a:spLocks noChangeShapeType="1"/>
                </p:cNvSpPr>
                <p:nvPr/>
              </p:nvSpPr>
              <p:spPr bwMode="auto">
                <a:xfrm flipH="1">
                  <a:off x="2750" y="3322"/>
                  <a:ext cx="2574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6" name="AutoShape 20"/>
                <p:cNvSpPr>
                  <a:spLocks noChangeShapeType="1"/>
                </p:cNvSpPr>
                <p:nvPr/>
              </p:nvSpPr>
              <p:spPr bwMode="auto">
                <a:xfrm>
                  <a:off x="4859" y="3318"/>
                  <a:ext cx="143" cy="1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AutoShape 19"/>
                <p:cNvSpPr>
                  <a:spLocks noChangeShapeType="1"/>
                </p:cNvSpPr>
                <p:nvPr/>
              </p:nvSpPr>
              <p:spPr bwMode="auto">
                <a:xfrm flipH="1" flipV="1">
                  <a:off x="4717" y="2091"/>
                  <a:ext cx="142" cy="1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8" name="AutoShape 16"/>
                <p:cNvSpPr>
                  <a:spLocks noChangeShapeType="1"/>
                </p:cNvSpPr>
                <p:nvPr/>
              </p:nvSpPr>
              <p:spPr bwMode="auto">
                <a:xfrm flipV="1">
                  <a:off x="1943" y="2185"/>
                  <a:ext cx="1" cy="1035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Rectangle 14"/>
                <p:cNvSpPr>
                  <a:spLocks noChangeArrowheads="1"/>
                </p:cNvSpPr>
                <p:nvPr/>
              </p:nvSpPr>
              <p:spPr bwMode="auto">
                <a:xfrm>
                  <a:off x="3223" y="1990"/>
                  <a:ext cx="590" cy="19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AutoShape 13"/>
                <p:cNvSpPr>
                  <a:spLocks noChangeShapeType="1"/>
                </p:cNvSpPr>
                <p:nvPr/>
              </p:nvSpPr>
              <p:spPr bwMode="auto">
                <a:xfrm flipV="1">
                  <a:off x="2750" y="2087"/>
                  <a:ext cx="0" cy="1231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1" name="Rectangle 12"/>
                <p:cNvSpPr>
                  <a:spLocks noChangeArrowheads="1"/>
                </p:cNvSpPr>
                <p:nvPr/>
              </p:nvSpPr>
              <p:spPr bwMode="auto">
                <a:xfrm rot="16200000">
                  <a:off x="2454" y="2530"/>
                  <a:ext cx="590" cy="19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2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319" y="2424"/>
                  <a:ext cx="535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Z</a:t>
                  </a:r>
                  <a:r>
                    <a:rPr kumimoji="0" lang="fr-FR" altLang="fr-FR" b="0" i="0" u="none" strike="noStrike" cap="none" normalizeH="0" baseline="-30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3" name="AutoShape 10"/>
                <p:cNvSpPr>
                  <a:spLocks noChangeShapeType="1"/>
                </p:cNvSpPr>
                <p:nvPr/>
              </p:nvSpPr>
              <p:spPr bwMode="auto">
                <a:xfrm flipH="1" flipV="1">
                  <a:off x="2948" y="3319"/>
                  <a:ext cx="174" cy="3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4" name="AutoShape 8"/>
                <p:cNvSpPr>
                  <a:spLocks noChangeShapeType="1"/>
                </p:cNvSpPr>
                <p:nvPr/>
              </p:nvSpPr>
              <p:spPr bwMode="auto">
                <a:xfrm flipV="1">
                  <a:off x="4215" y="2089"/>
                  <a:ext cx="0" cy="1231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5" name="Rectangle 7"/>
                <p:cNvSpPr>
                  <a:spLocks noChangeArrowheads="1"/>
                </p:cNvSpPr>
                <p:nvPr/>
              </p:nvSpPr>
              <p:spPr bwMode="auto">
                <a:xfrm rot="16200000">
                  <a:off x="3919" y="2532"/>
                  <a:ext cx="590" cy="19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6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240" y="1659"/>
                  <a:ext cx="535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Z</a:t>
                  </a:r>
                  <a:r>
                    <a:rPr kumimoji="0" lang="fr-FR" altLang="fr-FR" b="0" i="0" u="none" strike="noStrike" cap="none" normalizeH="0" baseline="-30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7" name="AutoShape 5"/>
                <p:cNvSpPr>
                  <a:spLocks noChangeShapeType="1"/>
                </p:cNvSpPr>
                <p:nvPr/>
              </p:nvSpPr>
              <p:spPr bwMode="auto">
                <a:xfrm>
                  <a:off x="4215" y="2959"/>
                  <a:ext cx="0" cy="247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8" name="AutoShape 3"/>
                <p:cNvSpPr>
                  <a:spLocks noChangeShapeType="1"/>
                </p:cNvSpPr>
                <p:nvPr/>
              </p:nvSpPr>
              <p:spPr bwMode="auto">
                <a:xfrm>
                  <a:off x="2789" y="2089"/>
                  <a:ext cx="333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 Box 2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77062" y="2307796"/>
                    <a:ext cx="613272" cy="49689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v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9" name="Text Box 2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9777062" y="2307796"/>
                    <a:ext cx="613272" cy="496894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88361" y="3089798"/>
                    <a:ext cx="701779" cy="496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v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0" name="Text 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888361" y="3089798"/>
                    <a:ext cx="701779" cy="496894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  <a:ln>
                    <a:noFill/>
                  </a:ln>
                  <a:extLst/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0240620" y="3141919"/>
                    <a:ext cx="713544" cy="496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v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Text 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10240620" y="3141919"/>
                    <a:ext cx="713544" cy="49689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/>
                    </a:stretch>
                  </a:blipFill>
                  <a:ln>
                    <a:noFill/>
                  </a:ln>
                  <a:extLst/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4" name="Connecteur droit 33"/>
            <p:cNvCxnSpPr/>
            <p:nvPr/>
          </p:nvCxnSpPr>
          <p:spPr>
            <a:xfrm flipH="1">
              <a:off x="12481560" y="746760"/>
              <a:ext cx="8534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 flipH="1">
              <a:off x="12496521" y="1962290"/>
              <a:ext cx="85344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2461715" y="318918"/>
                  <a:ext cx="613272" cy="4968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6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461715" y="318918"/>
                  <a:ext cx="613272" cy="496894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AutoShape 3"/>
            <p:cNvSpPr>
              <a:spLocks noChangeShapeType="1"/>
            </p:cNvSpPr>
            <p:nvPr/>
          </p:nvSpPr>
          <p:spPr bwMode="auto">
            <a:xfrm>
              <a:off x="12808814" y="747321"/>
              <a:ext cx="289372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Groupe 58"/>
          <p:cNvGrpSpPr/>
          <p:nvPr/>
        </p:nvGrpSpPr>
        <p:grpSpPr>
          <a:xfrm>
            <a:off x="7844899" y="3309828"/>
            <a:ext cx="3623924" cy="1647366"/>
            <a:chOff x="11997082" y="318887"/>
            <a:chExt cx="3623924" cy="1647366"/>
          </a:xfrm>
        </p:grpSpPr>
        <p:grpSp>
          <p:nvGrpSpPr>
            <p:cNvPr id="60" name="Groupe 59"/>
            <p:cNvGrpSpPr/>
            <p:nvPr/>
          </p:nvGrpSpPr>
          <p:grpSpPr>
            <a:xfrm>
              <a:off x="11997082" y="318887"/>
              <a:ext cx="3623924" cy="1647366"/>
              <a:chOff x="6888361" y="2274952"/>
              <a:chExt cx="3623924" cy="1647366"/>
            </a:xfrm>
          </p:grpSpPr>
          <p:grpSp>
            <p:nvGrpSpPr>
              <p:cNvPr id="65" name="Group 1"/>
              <p:cNvGrpSpPr>
                <a:grpSpLocks/>
              </p:cNvGrpSpPr>
              <p:nvPr/>
            </p:nvGrpSpPr>
            <p:grpSpPr bwMode="auto">
              <a:xfrm>
                <a:off x="7249680" y="2274952"/>
                <a:ext cx="2793788" cy="1647366"/>
                <a:chOff x="1639" y="1659"/>
                <a:chExt cx="3215" cy="1663"/>
              </a:xfrm>
            </p:grpSpPr>
            <p:sp>
              <p:nvSpPr>
                <p:cNvPr id="69" name="AutoShape 25"/>
                <p:cNvSpPr>
                  <a:spLocks noChangeShapeType="1"/>
                </p:cNvSpPr>
                <p:nvPr/>
              </p:nvSpPr>
              <p:spPr bwMode="auto">
                <a:xfrm flipH="1">
                  <a:off x="1645" y="2088"/>
                  <a:ext cx="2574" cy="4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0" name="Text Box 24"/>
                <p:cNvSpPr txBox="1">
                  <a:spLocks noChangeArrowheads="1"/>
                </p:cNvSpPr>
                <p:nvPr/>
              </p:nvSpPr>
              <p:spPr bwMode="auto">
                <a:xfrm>
                  <a:off x="2289" y="2417"/>
                  <a:ext cx="535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altLang="fr-FR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Z</a:t>
                  </a:r>
                  <a:r>
                    <a:rPr kumimoji="0" lang="fr-FR" altLang="fr-FR" b="0" i="0" u="none" strike="noStrike" cap="none" normalizeH="0" baseline="-3000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  <a:endParaRPr kumimoji="0" lang="fr-FR" altLang="fr-FR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altLang="fr-FR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2" name="AutoShape 22"/>
                <p:cNvSpPr>
                  <a:spLocks noChangeShapeType="1"/>
                </p:cNvSpPr>
                <p:nvPr/>
              </p:nvSpPr>
              <p:spPr bwMode="auto">
                <a:xfrm flipV="1">
                  <a:off x="4731" y="2078"/>
                  <a:ext cx="1" cy="1034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5" name="AutoShape 21"/>
                <p:cNvSpPr>
                  <a:spLocks noChangeShapeType="1"/>
                </p:cNvSpPr>
                <p:nvPr/>
              </p:nvSpPr>
              <p:spPr bwMode="auto">
                <a:xfrm flipH="1">
                  <a:off x="1639" y="3307"/>
                  <a:ext cx="2574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AutoShape 16"/>
                <p:cNvSpPr>
                  <a:spLocks noChangeShapeType="1"/>
                </p:cNvSpPr>
                <p:nvPr/>
              </p:nvSpPr>
              <p:spPr bwMode="auto">
                <a:xfrm flipV="1">
                  <a:off x="1943" y="2185"/>
                  <a:ext cx="1" cy="1035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1" name="Rectangle 14"/>
                <p:cNvSpPr>
                  <a:spLocks noChangeArrowheads="1"/>
                </p:cNvSpPr>
                <p:nvPr/>
              </p:nvSpPr>
              <p:spPr bwMode="auto">
                <a:xfrm>
                  <a:off x="3223" y="1990"/>
                  <a:ext cx="590" cy="19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4" name="AutoShape 13"/>
                <p:cNvSpPr>
                  <a:spLocks noChangeShapeType="1"/>
                </p:cNvSpPr>
                <p:nvPr/>
              </p:nvSpPr>
              <p:spPr bwMode="auto">
                <a:xfrm flipV="1">
                  <a:off x="2750" y="2087"/>
                  <a:ext cx="0" cy="1231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5" name="Rectangle 12"/>
                <p:cNvSpPr>
                  <a:spLocks noChangeArrowheads="1"/>
                </p:cNvSpPr>
                <p:nvPr/>
              </p:nvSpPr>
              <p:spPr bwMode="auto">
                <a:xfrm rot="16200000">
                  <a:off x="2454" y="2530"/>
                  <a:ext cx="590" cy="19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6" name="Text Box 11"/>
                <p:cNvSpPr txBox="1">
                  <a:spLocks noChangeArrowheads="1"/>
                </p:cNvSpPr>
                <p:nvPr/>
              </p:nvSpPr>
              <p:spPr bwMode="auto">
                <a:xfrm>
                  <a:off x="4319" y="2424"/>
                  <a:ext cx="535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Z</a:t>
                  </a:r>
                  <a:r>
                    <a:rPr kumimoji="0" lang="fr-FR" altLang="fr-FR" b="0" i="0" u="none" strike="noStrike" cap="none" normalizeH="0" baseline="-30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7" name="AutoShape 10"/>
                <p:cNvSpPr>
                  <a:spLocks noChangeShapeType="1"/>
                </p:cNvSpPr>
                <p:nvPr/>
              </p:nvSpPr>
              <p:spPr bwMode="auto">
                <a:xfrm flipH="1" flipV="1">
                  <a:off x="2368" y="3319"/>
                  <a:ext cx="174" cy="3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8" name="AutoShape 8"/>
                <p:cNvSpPr>
                  <a:spLocks noChangeShapeType="1"/>
                </p:cNvSpPr>
                <p:nvPr/>
              </p:nvSpPr>
              <p:spPr bwMode="auto">
                <a:xfrm flipV="1">
                  <a:off x="4215" y="2089"/>
                  <a:ext cx="0" cy="1231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9" name="Rectangle 7"/>
                <p:cNvSpPr>
                  <a:spLocks noChangeArrowheads="1"/>
                </p:cNvSpPr>
                <p:nvPr/>
              </p:nvSpPr>
              <p:spPr bwMode="auto">
                <a:xfrm rot="16200000">
                  <a:off x="3919" y="2532"/>
                  <a:ext cx="590" cy="190"/>
                </a:xfrm>
                <a:prstGeom prst="rect">
                  <a:avLst/>
                </a:prstGeom>
                <a:solidFill>
                  <a:srgbClr val="FFFFFF"/>
                </a:solidFill>
                <a:ln w="12700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0" name="Text Box 6"/>
                <p:cNvSpPr txBox="1">
                  <a:spLocks noChangeArrowheads="1"/>
                </p:cNvSpPr>
                <p:nvPr/>
              </p:nvSpPr>
              <p:spPr bwMode="auto">
                <a:xfrm>
                  <a:off x="3240" y="1659"/>
                  <a:ext cx="535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Z</a:t>
                  </a:r>
                  <a:r>
                    <a:rPr kumimoji="0" lang="fr-FR" altLang="fr-FR" b="0" i="0" u="none" strike="noStrike" cap="none" normalizeH="0" baseline="-3000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1" name="AutoShape 5"/>
                <p:cNvSpPr>
                  <a:spLocks noChangeShapeType="1"/>
                </p:cNvSpPr>
                <p:nvPr/>
              </p:nvSpPr>
              <p:spPr bwMode="auto">
                <a:xfrm>
                  <a:off x="4215" y="2959"/>
                  <a:ext cx="0" cy="247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92" name="AutoShape 3"/>
                <p:cNvSpPr>
                  <a:spLocks noChangeShapeType="1"/>
                </p:cNvSpPr>
                <p:nvPr/>
              </p:nvSpPr>
              <p:spPr bwMode="auto">
                <a:xfrm>
                  <a:off x="2789" y="2089"/>
                  <a:ext cx="333" cy="0"/>
                </a:xfrm>
                <a:prstGeom prst="straightConnector1">
                  <a:avLst/>
                </a:prstGeom>
                <a:noFill/>
                <a:ln w="12700">
                  <a:solidFill>
                    <a:srgbClr val="000000"/>
                  </a:solidFill>
                  <a:round/>
                  <a:headEnd/>
                  <a:tailEnd type="stealth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fr-FR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Text Box 2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888361" y="3089798"/>
                    <a:ext cx="701779" cy="496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v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7" name="Text Box 2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6888361" y="3089798"/>
                    <a:ext cx="701779" cy="496894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r="-13043"/>
                    </a:stretch>
                  </a:blipFill>
                  <a:ln>
                    <a:noFill/>
                  </a:ln>
                  <a:extLst/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8" name="Text Box 1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798741" y="3050457"/>
                    <a:ext cx="713544" cy="496894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lvl="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b="0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8" name="Text Box 1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9798741" y="3050457"/>
                    <a:ext cx="713544" cy="496894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r="-14530"/>
                    </a:stretch>
                  </a:blipFill>
                  <a:ln>
                    <a:noFill/>
                  </a:ln>
                  <a:extLst/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2461715" y="318918"/>
                  <a:ext cx="613272" cy="4968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461715" y="318918"/>
                  <a:ext cx="613272" cy="496894"/>
                </a:xfrm>
                <a:prstGeom prst="rect">
                  <a:avLst/>
                </a:prstGeom>
                <a:blipFill>
                  <a:blip r:embed="rId18"/>
                  <a:stretch>
                    <a:fillRect r="-1386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4" name="AutoShape 3"/>
            <p:cNvSpPr>
              <a:spLocks noChangeShapeType="1"/>
            </p:cNvSpPr>
            <p:nvPr/>
          </p:nvSpPr>
          <p:spPr bwMode="auto">
            <a:xfrm>
              <a:off x="12808814" y="747321"/>
              <a:ext cx="289372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0205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4" grpId="0"/>
      <p:bldP spid="76" grpId="0"/>
      <p:bldP spid="7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bject 19"/>
              <p:cNvSpPr txBox="1"/>
              <p:nvPr/>
            </p:nvSpPr>
            <p:spPr>
              <a:xfrm>
                <a:off x="1256572" y="649390"/>
                <a:ext cx="2283475" cy="259045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8450" marR="508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cas 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MA" sz="16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0" lang="ar-MA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6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kumimoji="0" lang="fr-FR" sz="16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kumimoji="0" lang="fr-FR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fr-FR" sz="16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</m:oMath>
                </a14:m>
                <a:endParaRPr kumimoji="0" lang="ar-MA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2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6572" y="649390"/>
                <a:ext cx="2283475" cy="259045"/>
              </a:xfrm>
              <a:prstGeom prst="rect">
                <a:avLst/>
              </a:prstGeom>
              <a:blipFill>
                <a:blip r:embed="rId3"/>
                <a:stretch>
                  <a:fillRect l="-4533" t="-21429" b="-4761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1765241" y="3790609"/>
                <a:ext cx="1404039" cy="6327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fr-F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fr-F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fr-FR" sz="16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241" y="3790609"/>
                <a:ext cx="1404039" cy="6327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Rectangle 75"/>
              <p:cNvSpPr/>
              <p:nvPr/>
            </p:nvSpPr>
            <p:spPr>
              <a:xfrm>
                <a:off x="1797910" y="4872707"/>
                <a:ext cx="2705035" cy="59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fr-F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𝐷𝑜𝑛𝑐</m:t>
                          </m:r>
                          <m:r>
                            <a:rPr kumimoji="0" lang="fr-F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kumimoji="0" lang="fr-FR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kumimoji="0" lang="fr-FR" sz="16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kumimoji="0" lang="fr-F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fr-F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fr-FR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fr-FR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fr-FR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fr-FR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16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fr-FR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kumimoji="0" 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6" name="Rectangle 7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910" y="4872707"/>
                <a:ext cx="2705035" cy="59490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ectangle 78"/>
              <p:cNvSpPr/>
              <p:nvPr/>
            </p:nvSpPr>
            <p:spPr>
              <a:xfrm>
                <a:off x="3540047" y="3771357"/>
                <a:ext cx="2234586" cy="63273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𝑒𝑡</m:t>
                      </m:r>
                      <m:f>
                        <m:fPr>
                          <m:ctrlPr>
                            <a:rPr lang="fr-FR" sz="16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kumimoji="0" lang="fr-FR" sz="1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sz="16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6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fr-FR" sz="1600" b="0" i="0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fr-FR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fr-FR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d>
                            <m:dPr>
                              <m:ctrlPr>
                                <a:rPr kumimoji="0" lang="fr-FR" sz="16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fr-FR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0" lang="fr-FR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fr-FR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kumimoji="0" lang="fr-FR" sz="16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kumimoji="0" lang="fr-FR" sz="1600" b="0" i="1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kumimoji="0" lang="fr-FR" sz="1600" b="0" i="0" u="none" strike="noStrike" kern="1200" cap="none" spc="0" normalizeH="0" baseline="0" noProof="0">
                                      <a:ln>
                                        <a:noFill/>
                                      </a:ln>
                                      <a:solidFill>
                                        <a:prstClr val="black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kumimoji="0" 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9" name="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0047" y="3771357"/>
                <a:ext cx="2234586" cy="6327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Rectangle 36"/>
              <p:cNvSpPr/>
              <p:nvPr/>
            </p:nvSpPr>
            <p:spPr>
              <a:xfrm>
                <a:off x="1769670" y="1556792"/>
                <a:ext cx="1437253" cy="6978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fr-FR" sz="16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𝑈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den>
                          </m:f>
                        </m:e>
                        <m:sub>
                          <m:r>
                            <a:rPr lang="fr-FR" sz="1600" b="0" i="1" kern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37" name="Rectangle 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9670" y="1556792"/>
                <a:ext cx="1437253" cy="6978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765241" y="2566076"/>
                <a:ext cx="2566793" cy="7935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1600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b="0" i="1" kern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  <m:f>
                                <m:f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b="0" i="1" kern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fr-FR" sz="1600" i="1" ker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Pr>
                                    <m:e>
                                      <m:acc>
                                        <m:accPr>
                                          <m:chr m:val="̅"/>
                                          <m:ctrlPr>
                                            <a:rPr lang="fr-FR" sz="1600" i="1" ker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fr-FR" sz="1600" b="0" i="1" kern="0" smtClean="0">
                                              <a:solidFill>
                                                <a:prstClr val="black"/>
                                              </a:solidFill>
                                              <a:latin typeface="Cambria Math" panose="02040503050406030204" pitchFamily="18" charset="0"/>
                                              <a:ea typeface="Calibri" panose="020F0502020204030204" pitchFamily="34" charset="0"/>
                                              <a:cs typeface="Times New Roman" panose="02020603050405020304" pitchFamily="18" charset="0"/>
                                            </a:rPr>
                                            <m:t>𝐼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fr-FR" sz="1600" b="0" i="1" kern="0" smtClean="0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1600" i="1" ker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sz="1600" i="1" ker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fr-FR" sz="1600" i="1" ker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5241" y="2566076"/>
                <a:ext cx="2566793" cy="79355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7115065" y="4537829"/>
                <a:ext cx="4744504" cy="13006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𝑈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0" lang="fr-F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i="1" ker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 ker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 i="1" ker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 ker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 ker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 i="1" kern="0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  <a:ea typeface="Calibri" panose="020F0502020204030204" pitchFamily="34" charset="0"/>
                                                <a:cs typeface="Times New Roman" panose="020206030504050203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 i="1" ker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  <a:ea typeface="Calibri" panose="020F0502020204030204" pitchFamily="34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 i="1" kern="0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  <a:ea typeface="Calibri" panose="020F0502020204030204" pitchFamily="34" charset="0"/>
                                            <a:cs typeface="Times New Roman" panose="020206030504050203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fr-FR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num>
                                  <m:den>
                                    <m:d>
                                      <m:d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den>
                                </m:f>
                              </m:e>
                              <m:e>
                                <m:f>
                                  <m:fPr>
                                    <m:ctrlPr>
                                      <a:rPr lang="fr-FR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fr-FR" i="1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𝑍</m:t>
                                            </m:r>
                                          </m:e>
                                          <m:sub>
                                            <m:r>
                                              <a:rPr lang="fr-FR">
                                                <a:solidFill>
                                                  <a:prstClr val="black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fr-FR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r>
                                      <a:rPr lang="fr-FR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fr-FR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𝑍</m:t>
                                        </m:r>
                                      </m:e>
                                      <m:sub>
                                        <m:r>
                                          <a:rPr lang="fr-FR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den>
                                </m:f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+mn-cs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kumimoji="0" lang="fr-FR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5065" y="4537829"/>
                <a:ext cx="4744504" cy="13006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e 8"/>
          <p:cNvGrpSpPr/>
          <p:nvPr/>
        </p:nvGrpSpPr>
        <p:grpSpPr>
          <a:xfrm>
            <a:off x="7311831" y="2274952"/>
            <a:ext cx="3642333" cy="1647366"/>
            <a:chOff x="7311831" y="2274952"/>
            <a:chExt cx="3642333" cy="1647366"/>
          </a:xfrm>
        </p:grpSpPr>
        <p:grpSp>
          <p:nvGrpSpPr>
            <p:cNvPr id="10" name="Group 1"/>
            <p:cNvGrpSpPr>
              <a:grpSpLocks/>
            </p:cNvGrpSpPr>
            <p:nvPr/>
          </p:nvGrpSpPr>
          <p:grpSpPr bwMode="auto">
            <a:xfrm>
              <a:off x="7814520" y="2274952"/>
              <a:ext cx="2637370" cy="1647366"/>
              <a:chOff x="2289" y="1659"/>
              <a:chExt cx="3035" cy="1663"/>
            </a:xfrm>
          </p:grpSpPr>
          <p:sp>
            <p:nvSpPr>
              <p:cNvPr id="11" name="AutoShape 25"/>
              <p:cNvSpPr>
                <a:spLocks noChangeShapeType="1"/>
              </p:cNvSpPr>
              <p:nvPr/>
            </p:nvSpPr>
            <p:spPr bwMode="auto">
              <a:xfrm flipH="1">
                <a:off x="2750" y="2088"/>
                <a:ext cx="2574" cy="4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 Box 24"/>
              <p:cNvSpPr txBox="1">
                <a:spLocks noChangeArrowheads="1"/>
              </p:cNvSpPr>
              <p:nvPr/>
            </p:nvSpPr>
            <p:spPr bwMode="auto">
              <a:xfrm>
                <a:off x="2289" y="2417"/>
                <a:ext cx="535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altLang="fr-FR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0" lang="fr-FR" altLang="fr-FR" b="0" i="0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AutoShape 22"/>
              <p:cNvSpPr>
                <a:spLocks noChangeShapeType="1"/>
              </p:cNvSpPr>
              <p:nvPr/>
            </p:nvSpPr>
            <p:spPr bwMode="auto">
              <a:xfrm flipV="1">
                <a:off x="5239" y="2170"/>
                <a:ext cx="1" cy="1034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AutoShape 21"/>
              <p:cNvSpPr>
                <a:spLocks noChangeShapeType="1"/>
              </p:cNvSpPr>
              <p:nvPr/>
            </p:nvSpPr>
            <p:spPr bwMode="auto">
              <a:xfrm flipH="1">
                <a:off x="2750" y="3322"/>
                <a:ext cx="2574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AutoShape 20"/>
              <p:cNvSpPr>
                <a:spLocks noChangeShapeType="1"/>
              </p:cNvSpPr>
              <p:nvPr/>
            </p:nvSpPr>
            <p:spPr bwMode="auto">
              <a:xfrm>
                <a:off x="4859" y="3318"/>
                <a:ext cx="143" cy="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7" name="AutoShape 19"/>
              <p:cNvSpPr>
                <a:spLocks noChangeShapeType="1"/>
              </p:cNvSpPr>
              <p:nvPr/>
            </p:nvSpPr>
            <p:spPr bwMode="auto">
              <a:xfrm flipH="1" flipV="1">
                <a:off x="4717" y="2091"/>
                <a:ext cx="142" cy="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AutoShape 16"/>
              <p:cNvSpPr>
                <a:spLocks noChangeShapeType="1"/>
              </p:cNvSpPr>
              <p:nvPr/>
            </p:nvSpPr>
            <p:spPr bwMode="auto">
              <a:xfrm flipV="1">
                <a:off x="2350" y="2169"/>
                <a:ext cx="1" cy="1035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3" name="Rectangle 14"/>
              <p:cNvSpPr>
                <a:spLocks noChangeArrowheads="1"/>
              </p:cNvSpPr>
              <p:nvPr/>
            </p:nvSpPr>
            <p:spPr bwMode="auto">
              <a:xfrm>
                <a:off x="3223" y="1990"/>
                <a:ext cx="590" cy="1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AutoShape 13"/>
              <p:cNvSpPr>
                <a:spLocks noChangeShapeType="1"/>
              </p:cNvSpPr>
              <p:nvPr/>
            </p:nvSpPr>
            <p:spPr bwMode="auto">
              <a:xfrm flipV="1">
                <a:off x="2750" y="2087"/>
                <a:ext cx="0" cy="123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6" name="Rectangle 12"/>
              <p:cNvSpPr>
                <a:spLocks noChangeArrowheads="1"/>
              </p:cNvSpPr>
              <p:nvPr/>
            </p:nvSpPr>
            <p:spPr bwMode="auto">
              <a:xfrm rot="16200000">
                <a:off x="2454" y="2530"/>
                <a:ext cx="590" cy="1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Text Box 11"/>
              <p:cNvSpPr txBox="1">
                <a:spLocks noChangeArrowheads="1"/>
              </p:cNvSpPr>
              <p:nvPr/>
            </p:nvSpPr>
            <p:spPr bwMode="auto">
              <a:xfrm>
                <a:off x="4319" y="2424"/>
                <a:ext cx="535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0" lang="fr-FR" altLang="fr-FR" b="0" i="0" u="none" strike="noStrike" cap="none" normalizeH="0" baseline="-3000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8" name="AutoShape 10"/>
              <p:cNvSpPr>
                <a:spLocks noChangeShapeType="1"/>
              </p:cNvSpPr>
              <p:nvPr/>
            </p:nvSpPr>
            <p:spPr bwMode="auto">
              <a:xfrm flipH="1" flipV="1">
                <a:off x="2948" y="3319"/>
                <a:ext cx="174" cy="3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AutoShape 8"/>
              <p:cNvSpPr>
                <a:spLocks noChangeShapeType="1"/>
              </p:cNvSpPr>
              <p:nvPr/>
            </p:nvSpPr>
            <p:spPr bwMode="auto">
              <a:xfrm flipV="1">
                <a:off x="4215" y="2089"/>
                <a:ext cx="0" cy="1231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1" name="Rectangle 7"/>
              <p:cNvSpPr>
                <a:spLocks noChangeArrowheads="1"/>
              </p:cNvSpPr>
              <p:nvPr/>
            </p:nvSpPr>
            <p:spPr bwMode="auto">
              <a:xfrm rot="16200000">
                <a:off x="3919" y="2532"/>
                <a:ext cx="590" cy="19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2" name="Text Box 6"/>
              <p:cNvSpPr txBox="1">
                <a:spLocks noChangeArrowheads="1"/>
              </p:cNvSpPr>
              <p:nvPr/>
            </p:nvSpPr>
            <p:spPr bwMode="auto">
              <a:xfrm>
                <a:off x="3240" y="1659"/>
                <a:ext cx="535" cy="46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fr-FR" altLang="fr-FR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kumimoji="0" lang="fr-FR" altLang="fr-FR" b="0" i="0" u="none" strike="noStrike" cap="none" normalizeH="0" baseline="-3000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3" name="AutoShape 5"/>
              <p:cNvSpPr>
                <a:spLocks noChangeShapeType="1"/>
              </p:cNvSpPr>
              <p:nvPr/>
            </p:nvSpPr>
            <p:spPr bwMode="auto">
              <a:xfrm>
                <a:off x="4215" y="2959"/>
                <a:ext cx="0" cy="247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5" name="AutoShape 3"/>
              <p:cNvSpPr>
                <a:spLocks noChangeShapeType="1"/>
              </p:cNvSpPr>
              <p:nvPr/>
            </p:nvSpPr>
            <p:spPr bwMode="auto">
              <a:xfrm>
                <a:off x="2789" y="2089"/>
                <a:ext cx="333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9777062" y="2307796"/>
                  <a:ext cx="613272" cy="4968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3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777062" y="2307796"/>
                  <a:ext cx="613272" cy="496894"/>
                </a:xfrm>
                <a:prstGeom prst="rect">
                  <a:avLst/>
                </a:prstGeom>
                <a:blipFill>
                  <a:blip r:embed="rId12"/>
                  <a:stretch>
                    <a:fillRect r="-14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7311831" y="3076733"/>
                  <a:ext cx="701779" cy="4968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fr-FR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Text 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11831" y="3076733"/>
                  <a:ext cx="701779" cy="496894"/>
                </a:xfrm>
                <a:prstGeom prst="rect">
                  <a:avLst/>
                </a:prstGeom>
                <a:blipFill>
                  <a:blip r:embed="rId13"/>
                  <a:stretch>
                    <a:fillRect r="-12931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0240620" y="3141919"/>
                  <a:ext cx="713544" cy="4968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240620" y="3141919"/>
                  <a:ext cx="713544" cy="496894"/>
                </a:xfrm>
                <a:prstGeom prst="rect">
                  <a:avLst/>
                </a:prstGeom>
                <a:blipFill>
                  <a:blip r:embed="rId14"/>
                  <a:stretch>
                    <a:fillRect r="-13675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4" name="Groupe 23">
            <a:extLst>
              <a:ext uri="{FF2B5EF4-FFF2-40B4-BE49-F238E27FC236}">
                <a16:creationId xmlns:a16="http://schemas.microsoft.com/office/drawing/2014/main" id="{12C0E5D5-EDE7-1673-995F-6344B626CBC7}"/>
              </a:ext>
            </a:extLst>
          </p:cNvPr>
          <p:cNvGrpSpPr/>
          <p:nvPr/>
        </p:nvGrpSpPr>
        <p:grpSpPr>
          <a:xfrm>
            <a:off x="7662720" y="181159"/>
            <a:ext cx="4065803" cy="1647366"/>
            <a:chOff x="7662720" y="181159"/>
            <a:chExt cx="4065803" cy="1647366"/>
          </a:xfrm>
        </p:grpSpPr>
        <p:grpSp>
          <p:nvGrpSpPr>
            <p:cNvPr id="19" name="Groupe 18"/>
            <p:cNvGrpSpPr/>
            <p:nvPr/>
          </p:nvGrpSpPr>
          <p:grpSpPr>
            <a:xfrm>
              <a:off x="7662720" y="181159"/>
              <a:ext cx="4065803" cy="1647366"/>
              <a:chOff x="11997082" y="318887"/>
              <a:chExt cx="4065803" cy="1647366"/>
            </a:xfrm>
          </p:grpSpPr>
          <p:grpSp>
            <p:nvGrpSpPr>
              <p:cNvPr id="40" name="Groupe 39"/>
              <p:cNvGrpSpPr/>
              <p:nvPr/>
            </p:nvGrpSpPr>
            <p:grpSpPr>
              <a:xfrm>
                <a:off x="11997082" y="318887"/>
                <a:ext cx="4065803" cy="1647366"/>
                <a:chOff x="6888361" y="2274952"/>
                <a:chExt cx="4065803" cy="1647366"/>
              </a:xfrm>
            </p:grpSpPr>
            <p:grpSp>
              <p:nvGrpSpPr>
                <p:cNvPr id="41" name="Group 1"/>
                <p:cNvGrpSpPr>
                  <a:grpSpLocks/>
                </p:cNvGrpSpPr>
                <p:nvPr/>
              </p:nvGrpSpPr>
              <p:grpSpPr bwMode="auto">
                <a:xfrm>
                  <a:off x="7513851" y="2274952"/>
                  <a:ext cx="2938039" cy="1647366"/>
                  <a:chOff x="1943" y="1659"/>
                  <a:chExt cx="3381" cy="1663"/>
                </a:xfrm>
              </p:grpSpPr>
              <p:sp>
                <p:nvSpPr>
                  <p:cNvPr id="49" name="AutoShape 25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50" y="2088"/>
                    <a:ext cx="2574" cy="4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" name="Text Box 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2289" y="2417"/>
                    <a:ext cx="535" cy="4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fr-FR" altLang="fr-FR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Z</a:t>
                    </a:r>
                    <a:r>
                      <a:rPr kumimoji="0" lang="fr-FR" altLang="fr-FR" b="0" i="0" u="none" strike="noStrike" cap="none" normalizeH="0" baseline="-30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fr-FR" altLang="fr-FR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altLang="fr-FR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1" name="AutoShape 22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239" y="2170"/>
                    <a:ext cx="1" cy="1034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" name="AutoShap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2750" y="3322"/>
                    <a:ext cx="2574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3" name="AutoShape 20"/>
                  <p:cNvSpPr>
                    <a:spLocks noChangeShapeType="1"/>
                  </p:cNvSpPr>
                  <p:nvPr/>
                </p:nvSpPr>
                <p:spPr bwMode="auto">
                  <a:xfrm>
                    <a:off x="4859" y="3318"/>
                    <a:ext cx="143" cy="1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4" name="AutoShape 19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4717" y="2091"/>
                    <a:ext cx="142" cy="1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5" name="AutoShap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943" y="2185"/>
                    <a:ext cx="1" cy="1035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6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223" y="1990"/>
                    <a:ext cx="590" cy="19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7" name="AutoShap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2750" y="2087"/>
                    <a:ext cx="0" cy="1231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8" name="Rectangle 12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2454" y="2530"/>
                    <a:ext cx="590" cy="19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9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319" y="2424"/>
                    <a:ext cx="535" cy="4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fr-FR" altLang="fr-FR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Z</a:t>
                    </a:r>
                    <a:r>
                      <a:rPr kumimoji="0" lang="fr-FR" altLang="fr-FR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0" name="AutoShape 10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2948" y="3319"/>
                    <a:ext cx="174" cy="3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1" name="AutoShape 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215" y="2089"/>
                    <a:ext cx="0" cy="1231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2" name="Rectangle 7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3919" y="2532"/>
                    <a:ext cx="590" cy="19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3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240" y="1659"/>
                    <a:ext cx="535" cy="4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fr-FR" altLang="fr-FR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Z</a:t>
                    </a:r>
                    <a:r>
                      <a:rPr kumimoji="0" lang="fr-FR" altLang="fr-FR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4" name="AutoShape 5"/>
                  <p:cNvSpPr>
                    <a:spLocks noChangeShapeType="1"/>
                  </p:cNvSpPr>
                  <p:nvPr/>
                </p:nvSpPr>
                <p:spPr bwMode="auto">
                  <a:xfrm>
                    <a:off x="4215" y="2959"/>
                    <a:ext cx="0" cy="247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5" name="AutoShape 3"/>
                  <p:cNvSpPr>
                    <a:spLocks noChangeShapeType="1"/>
                  </p:cNvSpPr>
                  <p:nvPr/>
                </p:nvSpPr>
                <p:spPr bwMode="auto">
                  <a:xfrm>
                    <a:off x="2789" y="2089"/>
                    <a:ext cx="333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6" name="Text Box 2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6888361" y="3089798"/>
                      <a:ext cx="701779" cy="49689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fr-FR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fr-FR" altLang="fr-FR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6" name="Text Box 2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6888361" y="3089798"/>
                      <a:ext cx="701779" cy="496894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>
                      <a:noFill/>
                    </a:ln>
                    <a:extLst/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8" name="Text Box 15"/>
                    <p:cNvSpPr txBox="1">
                      <a:spLocks noChangeArrowheads="1"/>
                    </p:cNvSpPr>
                    <p:nvPr/>
                  </p:nvSpPr>
                  <p:spPr bwMode="auto">
                    <a:xfrm>
                      <a:off x="10240620" y="3141919"/>
                      <a:ext cx="713544" cy="496894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vert="horz" wrap="square" lIns="91440" tIns="45720" rIns="91440" bIns="45720" numCol="1" anchor="t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lvl="0"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fr-FR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fr-FR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kumimoji="0" lang="fr-FR" altLang="fr-FR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48" name="Text Box 15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10240620" y="3141919"/>
                      <a:ext cx="713544" cy="496894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/>
                      </a:stretch>
                    </a:blipFill>
                    <a:ln>
                      <a:noFill/>
                    </a:ln>
                    <a:extLst/>
                  </p:spPr>
                  <p:txBody>
                    <a:bodyPr/>
                    <a:lstStyle/>
                    <a:p>
                      <a:r>
                        <a:rPr lang="fr-FR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18" name="Connecteur droit 17"/>
              <p:cNvCxnSpPr/>
              <p:nvPr/>
            </p:nvCxnSpPr>
            <p:spPr>
              <a:xfrm flipH="1">
                <a:off x="12481560" y="746760"/>
                <a:ext cx="85344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6" name="Connecteur droit 65"/>
              <p:cNvCxnSpPr/>
              <p:nvPr/>
            </p:nvCxnSpPr>
            <p:spPr>
              <a:xfrm flipH="1">
                <a:off x="12496521" y="1962290"/>
                <a:ext cx="853440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68" name="AutoShape 3"/>
              <p:cNvSpPr>
                <a:spLocks noChangeShapeType="1"/>
              </p:cNvSpPr>
              <p:nvPr/>
            </p:nvSpPr>
            <p:spPr bwMode="auto">
              <a:xfrm>
                <a:off x="12808814" y="747321"/>
                <a:ext cx="289372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26">
                  <a:extLst>
                    <a:ext uri="{FF2B5EF4-FFF2-40B4-BE49-F238E27FC236}">
                      <a16:creationId xmlns:a16="http://schemas.microsoft.com/office/drawing/2014/main" id="{E9013A68-66A1-6323-03CA-54F95F6AF82B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0476241" y="230085"/>
                  <a:ext cx="613272" cy="4968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 Box 26">
                  <a:extLst>
                    <a:ext uri="{FF2B5EF4-FFF2-40B4-BE49-F238E27FC236}">
                      <a16:creationId xmlns:a16="http://schemas.microsoft.com/office/drawing/2014/main" id="{E9013A68-66A1-6323-03CA-54F95F6AF8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476241" y="230085"/>
                  <a:ext cx="613272" cy="496894"/>
                </a:xfrm>
                <a:prstGeom prst="rect">
                  <a:avLst/>
                </a:prstGeom>
                <a:blipFill>
                  <a:blip r:embed="rId18"/>
                  <a:stretch>
                    <a:fillRect r="-14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 Box 26">
                  <a:extLst>
                    <a:ext uri="{FF2B5EF4-FFF2-40B4-BE49-F238E27FC236}">
                      <a16:creationId xmlns:a16="http://schemas.microsoft.com/office/drawing/2014/main" id="{3EAC4EEB-7089-C401-20A3-A18EBA225C6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8248658" y="261367"/>
                  <a:ext cx="613272" cy="4968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Text Box 26">
                  <a:extLst>
                    <a:ext uri="{FF2B5EF4-FFF2-40B4-BE49-F238E27FC236}">
                      <a16:creationId xmlns:a16="http://schemas.microsoft.com/office/drawing/2014/main" id="{3EAC4EEB-7089-C401-20A3-A18EBA225C6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48658" y="261367"/>
                  <a:ext cx="613272" cy="496894"/>
                </a:xfrm>
                <a:prstGeom prst="rect">
                  <a:avLst/>
                </a:prstGeom>
                <a:blipFill>
                  <a:blip r:embed="rId19"/>
                  <a:stretch>
                    <a:fillRect r="-1386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10B62D9-870D-9D80-4250-3626A92235D8}"/>
                  </a:ext>
                </a:extLst>
              </p:cNvPr>
              <p:cNvSpPr/>
              <p:nvPr/>
            </p:nvSpPr>
            <p:spPr>
              <a:xfrm>
                <a:off x="3108960" y="1618603"/>
                <a:ext cx="3120085" cy="61177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/</m:t>
                          </m:r>
                        </m:den>
                      </m:f>
                      <m:d>
                        <m:d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fr-FR" sz="16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1600" i="1">
                                      <a:latin typeface="Cambria Math" panose="02040503050406030204" pitchFamily="18" charset="0"/>
                                    </a:rPr>
                                    <m:t>𝑍</m:t>
                                  </m:r>
                                </m:e>
                                <m:sub>
                                  <m:r>
                                    <a:rPr lang="fr-FR" sz="1600" i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sz="16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sz="16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10B62D9-870D-9D80-4250-3626A92235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960" y="1618603"/>
                <a:ext cx="3120085" cy="61177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32403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6" grpId="0"/>
      <p:bldP spid="79" grpId="0"/>
      <p:bldP spid="37" grpId="0"/>
      <p:bldP spid="38" grpId="0"/>
      <p:bldP spid="47" grpId="0"/>
      <p:bldP spid="2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9"/>
          <p:cNvSpPr txBox="1"/>
          <p:nvPr/>
        </p:nvSpPr>
        <p:spPr>
          <a:xfrm>
            <a:off x="976105" y="384804"/>
            <a:ext cx="36788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Exercice d’application :</a:t>
            </a:r>
          </a:p>
        </p:txBody>
      </p:sp>
      <p:sp>
        <p:nvSpPr>
          <p:cNvPr id="24" name="object 19"/>
          <p:cNvSpPr txBox="1"/>
          <p:nvPr/>
        </p:nvSpPr>
        <p:spPr>
          <a:xfrm>
            <a:off x="1519555" y="961684"/>
            <a:ext cx="1024572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Trouver les paramètres de la matrice impédance</a:t>
            </a:r>
            <a:r>
              <a:rPr kumimoji="0" lang="fr-FR" sz="16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du quadripôle présenté ci-contre.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9938844"/>
              </p:ext>
            </p:extLst>
          </p:nvPr>
        </p:nvGraphicFramePr>
        <p:xfrm>
          <a:off x="3915851" y="1645737"/>
          <a:ext cx="1655763" cy="947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2" name="Equation" r:id="rId3" imgW="1028520" imgH="533160" progId="Equation.DSMT4">
                  <p:embed/>
                </p:oleObj>
              </mc:Choice>
              <mc:Fallback>
                <p:oleObj name="Equation" r:id="rId3" imgW="1028520" imgH="533160" progId="Equation.DSMT4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5851" y="1645737"/>
                        <a:ext cx="1655763" cy="9477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object 19"/>
          <p:cNvSpPr txBox="1"/>
          <p:nvPr/>
        </p:nvSpPr>
        <p:spPr>
          <a:xfrm>
            <a:off x="1519916" y="1926224"/>
            <a:ext cx="446953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Matrice impédance [Z] 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object 19"/>
          <p:cNvSpPr txBox="1"/>
          <p:nvPr/>
        </p:nvSpPr>
        <p:spPr>
          <a:xfrm>
            <a:off x="1558349" y="2849842"/>
            <a:ext cx="446953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Équations du circuit 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3" name="Obje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932616"/>
              </p:ext>
            </p:extLst>
          </p:nvPr>
        </p:nvGraphicFramePr>
        <p:xfrm>
          <a:off x="1519555" y="3245466"/>
          <a:ext cx="5519738" cy="1577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3" name="Equation" r:id="rId5" imgW="3429000" imgH="888840" progId="Equation.DSMT4">
                  <p:embed/>
                </p:oleObj>
              </mc:Choice>
              <mc:Fallback>
                <p:oleObj name="Equation" r:id="rId5" imgW="3429000" imgH="888840" progId="Equation.DSMT4">
                  <p:embed/>
                  <p:pic>
                    <p:nvPicPr>
                      <p:cNvPr id="23" name="Obje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555" y="3245466"/>
                        <a:ext cx="5519738" cy="15779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24546255"/>
              </p:ext>
            </p:extLst>
          </p:nvPr>
        </p:nvGraphicFramePr>
        <p:xfrm>
          <a:off x="5989041" y="4683517"/>
          <a:ext cx="3249612" cy="1535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84" name="Equation" r:id="rId7" imgW="2019240" imgH="863280" progId="Equation.DSMT4">
                  <p:embed/>
                </p:oleObj>
              </mc:Choice>
              <mc:Fallback>
                <p:oleObj name="Equation" r:id="rId7" imgW="2019240" imgH="863280" progId="Equation.DSMT4">
                  <p:embed/>
                  <p:pic>
                    <p:nvPicPr>
                      <p:cNvPr id="25" name="Obje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89041" y="4683517"/>
                        <a:ext cx="3249612" cy="15351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e 8"/>
          <p:cNvGrpSpPr/>
          <p:nvPr/>
        </p:nvGrpSpPr>
        <p:grpSpPr>
          <a:xfrm>
            <a:off x="7940971" y="1393098"/>
            <a:ext cx="3508587" cy="1513378"/>
            <a:chOff x="7940971" y="1393098"/>
            <a:chExt cx="3508587" cy="15133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10353768" y="1476183"/>
                  <a:ext cx="613272" cy="4968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6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 sz="16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6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353768" y="1476183"/>
                  <a:ext cx="613272" cy="496894"/>
                </a:xfrm>
                <a:prstGeom prst="rect">
                  <a:avLst/>
                </a:prstGeom>
                <a:blipFill>
                  <a:blip r:embed="rId9"/>
                  <a:stretch>
                    <a:fillRect r="-13861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8377293" y="1512615"/>
                  <a:ext cx="613272" cy="4968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 sz="1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377293" y="1512615"/>
                  <a:ext cx="613272" cy="496894"/>
                </a:xfrm>
                <a:prstGeom prst="rect">
                  <a:avLst/>
                </a:prstGeom>
                <a:blipFill>
                  <a:blip r:embed="rId10"/>
                  <a:stretch>
                    <a:fillRect r="-13861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7940971" y="2207913"/>
                  <a:ext cx="701779" cy="4968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6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fr-FR" sz="160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Text 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40971" y="2207913"/>
                  <a:ext cx="701779" cy="496894"/>
                </a:xfrm>
                <a:prstGeom prst="rect">
                  <a:avLst/>
                </a:prstGeom>
                <a:blipFill>
                  <a:blip r:embed="rId11"/>
                  <a:stretch>
                    <a:fillRect r="-1739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10736014" y="2256073"/>
                  <a:ext cx="713544" cy="49689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sz="16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sz="1600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fr-FR" sz="1600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5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0736014" y="2256073"/>
                  <a:ext cx="713544" cy="496894"/>
                </a:xfrm>
                <a:prstGeom prst="rect">
                  <a:avLst/>
                </a:prstGeom>
                <a:blipFill>
                  <a:blip r:embed="rId12"/>
                  <a:stretch>
                    <a:fillRect r="-1709"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6" name="Group 20"/>
            <p:cNvGrpSpPr>
              <a:grpSpLocks/>
            </p:cNvGrpSpPr>
            <p:nvPr/>
          </p:nvGrpSpPr>
          <p:grpSpPr bwMode="auto">
            <a:xfrm rot="16200000">
              <a:off x="9568078" y="1332927"/>
              <a:ext cx="127635" cy="1060450"/>
              <a:chOff x="4438" y="13457"/>
              <a:chExt cx="171" cy="1243"/>
            </a:xfrm>
          </p:grpSpPr>
          <p:grpSp>
            <p:nvGrpSpPr>
              <p:cNvPr id="27" name="Group 21"/>
              <p:cNvGrpSpPr>
                <a:grpSpLocks/>
              </p:cNvGrpSpPr>
              <p:nvPr/>
            </p:nvGrpSpPr>
            <p:grpSpPr bwMode="auto">
              <a:xfrm rot="5400000" flipH="1">
                <a:off x="4448" y="14122"/>
                <a:ext cx="152" cy="171"/>
                <a:chOff x="3826" y="448"/>
                <a:chExt cx="570" cy="171"/>
              </a:xfrm>
            </p:grpSpPr>
            <p:sp>
              <p:nvSpPr>
                <p:cNvPr id="36" name="Arc 22"/>
                <p:cNvSpPr>
                  <a:spLocks/>
                </p:cNvSpPr>
                <p:nvPr/>
              </p:nvSpPr>
              <p:spPr bwMode="auto">
                <a:xfrm rot="5400000" flipH="1">
                  <a:off x="4168" y="391"/>
                  <a:ext cx="171" cy="28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fr-FR" sz="1600">
                    <a:latin typeface="Bookman Old Style" panose="02050604050505020204" pitchFamily="18" charset="0"/>
                  </a:endParaRPr>
                </a:p>
              </p:txBody>
            </p:sp>
            <p:sp>
              <p:nvSpPr>
                <p:cNvPr id="37" name="Arc 23"/>
                <p:cNvSpPr>
                  <a:spLocks/>
                </p:cNvSpPr>
                <p:nvPr/>
              </p:nvSpPr>
              <p:spPr bwMode="auto">
                <a:xfrm rot="-5400000">
                  <a:off x="3883" y="391"/>
                  <a:ext cx="171" cy="28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fr-FR" sz="1600">
                    <a:latin typeface="Bookman Old Style" panose="02050604050505020204" pitchFamily="18" charset="0"/>
                  </a:endParaRPr>
                </a:p>
              </p:txBody>
            </p:sp>
          </p:grpSp>
          <p:grpSp>
            <p:nvGrpSpPr>
              <p:cNvPr id="28" name="Group 24"/>
              <p:cNvGrpSpPr>
                <a:grpSpLocks/>
              </p:cNvGrpSpPr>
              <p:nvPr/>
            </p:nvGrpSpPr>
            <p:grpSpPr bwMode="auto">
              <a:xfrm rot="5400000" flipH="1">
                <a:off x="4448" y="13970"/>
                <a:ext cx="152" cy="171"/>
                <a:chOff x="3826" y="448"/>
                <a:chExt cx="570" cy="171"/>
              </a:xfrm>
            </p:grpSpPr>
            <p:sp>
              <p:nvSpPr>
                <p:cNvPr id="34" name="Arc 25"/>
                <p:cNvSpPr>
                  <a:spLocks/>
                </p:cNvSpPr>
                <p:nvPr/>
              </p:nvSpPr>
              <p:spPr bwMode="auto">
                <a:xfrm rot="5400000" flipH="1">
                  <a:off x="4168" y="391"/>
                  <a:ext cx="171" cy="28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fr-FR" sz="1600">
                    <a:latin typeface="Bookman Old Style" panose="02050604050505020204" pitchFamily="18" charset="0"/>
                  </a:endParaRPr>
                </a:p>
              </p:txBody>
            </p:sp>
            <p:sp>
              <p:nvSpPr>
                <p:cNvPr id="35" name="Arc 26"/>
                <p:cNvSpPr>
                  <a:spLocks/>
                </p:cNvSpPr>
                <p:nvPr/>
              </p:nvSpPr>
              <p:spPr bwMode="auto">
                <a:xfrm rot="-5400000">
                  <a:off x="3883" y="391"/>
                  <a:ext cx="171" cy="28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fr-FR" sz="1600">
                    <a:latin typeface="Bookman Old Style" panose="02050604050505020204" pitchFamily="18" charset="0"/>
                  </a:endParaRPr>
                </a:p>
              </p:txBody>
            </p:sp>
          </p:grpSp>
          <p:grpSp>
            <p:nvGrpSpPr>
              <p:cNvPr id="29" name="Group 27"/>
              <p:cNvGrpSpPr>
                <a:grpSpLocks/>
              </p:cNvGrpSpPr>
              <p:nvPr/>
            </p:nvGrpSpPr>
            <p:grpSpPr bwMode="auto">
              <a:xfrm rot="5400000" flipH="1">
                <a:off x="4448" y="13818"/>
                <a:ext cx="152" cy="171"/>
                <a:chOff x="3826" y="448"/>
                <a:chExt cx="570" cy="171"/>
              </a:xfrm>
            </p:grpSpPr>
            <p:sp>
              <p:nvSpPr>
                <p:cNvPr id="32" name="Arc 28"/>
                <p:cNvSpPr>
                  <a:spLocks/>
                </p:cNvSpPr>
                <p:nvPr/>
              </p:nvSpPr>
              <p:spPr bwMode="auto">
                <a:xfrm rot="5400000" flipH="1">
                  <a:off x="4168" y="391"/>
                  <a:ext cx="171" cy="28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fr-FR" sz="1600">
                    <a:latin typeface="Bookman Old Style" panose="02050604050505020204" pitchFamily="18" charset="0"/>
                  </a:endParaRPr>
                </a:p>
              </p:txBody>
            </p:sp>
            <p:sp>
              <p:nvSpPr>
                <p:cNvPr id="33" name="Arc 29"/>
                <p:cNvSpPr>
                  <a:spLocks/>
                </p:cNvSpPr>
                <p:nvPr/>
              </p:nvSpPr>
              <p:spPr bwMode="auto">
                <a:xfrm rot="-5400000">
                  <a:off x="3883" y="391"/>
                  <a:ext cx="171" cy="285"/>
                </a:xfrm>
                <a:custGeom>
                  <a:avLst/>
                  <a:gdLst>
                    <a:gd name="G0" fmla="+- 0 0 0"/>
                    <a:gd name="G1" fmla="+- 21600 0 0"/>
                    <a:gd name="G2" fmla="+- 21600 0 0"/>
                    <a:gd name="T0" fmla="*/ 0 w 21600"/>
                    <a:gd name="T1" fmla="*/ 0 h 21600"/>
                    <a:gd name="T2" fmla="*/ 21600 w 21600"/>
                    <a:gd name="T3" fmla="*/ 2160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close/>
                    </a:path>
                  </a:pathLst>
                </a:cu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ot="0" vert="horz" wrap="square" lIns="91440" tIns="45720" rIns="91440" bIns="45720" anchor="t" anchorCtr="0" upright="1">
                  <a:noAutofit/>
                </a:bodyPr>
                <a:lstStyle/>
                <a:p>
                  <a:endParaRPr lang="fr-FR" sz="1600">
                    <a:latin typeface="Bookman Old Style" panose="02050604050505020204" pitchFamily="18" charset="0"/>
                  </a:endParaRPr>
                </a:p>
              </p:txBody>
            </p:sp>
          </p:grpSp>
          <p:cxnSp>
            <p:nvCxnSpPr>
              <p:cNvPr id="30" name="Line 30"/>
              <p:cNvCxnSpPr/>
              <p:nvPr/>
            </p:nvCxnSpPr>
            <p:spPr bwMode="auto">
              <a:xfrm flipH="1">
                <a:off x="4438" y="14282"/>
                <a:ext cx="1" cy="41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31" name="Line 31"/>
              <p:cNvCxnSpPr/>
              <p:nvPr/>
            </p:nvCxnSpPr>
            <p:spPr bwMode="auto">
              <a:xfrm flipH="1" flipV="1">
                <a:off x="4438" y="13457"/>
                <a:ext cx="0" cy="36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" name="Connecteur droit 10"/>
            <p:cNvCxnSpPr/>
            <p:nvPr/>
          </p:nvCxnSpPr>
          <p:spPr>
            <a:xfrm>
              <a:off x="10162121" y="1926224"/>
              <a:ext cx="0" cy="43034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eur droit 38"/>
            <p:cNvCxnSpPr/>
            <p:nvPr/>
          </p:nvCxnSpPr>
          <p:spPr>
            <a:xfrm flipH="1">
              <a:off x="10017589" y="2356566"/>
              <a:ext cx="30663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eur droit 39"/>
            <p:cNvCxnSpPr/>
            <p:nvPr/>
          </p:nvCxnSpPr>
          <p:spPr>
            <a:xfrm flipH="1">
              <a:off x="10032829" y="2508966"/>
              <a:ext cx="30663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eur droit 41"/>
            <p:cNvCxnSpPr/>
            <p:nvPr/>
          </p:nvCxnSpPr>
          <p:spPr>
            <a:xfrm>
              <a:off x="10170907" y="2504520"/>
              <a:ext cx="0" cy="390462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eur droit 43"/>
            <p:cNvCxnSpPr/>
            <p:nvPr/>
          </p:nvCxnSpPr>
          <p:spPr>
            <a:xfrm flipH="1">
              <a:off x="8399469" y="1926224"/>
              <a:ext cx="70220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/>
            <p:nvPr/>
          </p:nvCxnSpPr>
          <p:spPr>
            <a:xfrm>
              <a:off x="10162121" y="1926224"/>
              <a:ext cx="799093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/>
            <p:nvPr/>
          </p:nvCxnSpPr>
          <p:spPr>
            <a:xfrm>
              <a:off x="8399469" y="2905775"/>
              <a:ext cx="2561745" cy="701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droit avec flèche 50"/>
            <p:cNvCxnSpPr/>
            <p:nvPr/>
          </p:nvCxnSpPr>
          <p:spPr>
            <a:xfrm>
              <a:off x="8461854" y="1926224"/>
              <a:ext cx="5178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3" name="Connecteur droit avec flèche 52"/>
            <p:cNvCxnSpPr/>
            <p:nvPr/>
          </p:nvCxnSpPr>
          <p:spPr>
            <a:xfrm flipH="1">
              <a:off x="10465469" y="1926224"/>
              <a:ext cx="32810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9304911" y="1393098"/>
                  <a:ext cx="613272" cy="4968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kumimoji="0" lang="fr-FR" altLang="fr-F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4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304911" y="1393098"/>
                  <a:ext cx="613272" cy="496894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9532721" y="2243055"/>
                  <a:ext cx="613272" cy="49689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oMath>
                    </m:oMathPara>
                  </a14:m>
                  <a:endParaRPr kumimoji="0" lang="fr-FR" altLang="fr-FR" sz="1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5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532721" y="2243055"/>
                  <a:ext cx="613272" cy="496894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>
                  <a:noFill/>
                </a:ln>
                <a:extLst/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7" name="Connecteur droit avec flèche 56"/>
            <p:cNvCxnSpPr/>
            <p:nvPr/>
          </p:nvCxnSpPr>
          <p:spPr>
            <a:xfrm flipV="1">
              <a:off x="8536070" y="2034037"/>
              <a:ext cx="0" cy="7668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Connecteur droit avec flèche 58"/>
            <p:cNvCxnSpPr/>
            <p:nvPr/>
          </p:nvCxnSpPr>
          <p:spPr>
            <a:xfrm flipV="1">
              <a:off x="10839294" y="2055229"/>
              <a:ext cx="0" cy="743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84651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9"/>
          <p:cNvSpPr txBox="1"/>
          <p:nvPr/>
        </p:nvSpPr>
        <p:spPr>
          <a:xfrm>
            <a:off x="1340459" y="2218208"/>
            <a:ext cx="10516261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algn="just"/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Si nous exprimons par exemple les courants                      en fonction des tensions                    , </a:t>
            </a:r>
          </a:p>
          <a:p>
            <a:pPr marL="12700" marR="5080" lvl="0" algn="just"/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nous obtenons des coefficients homogènes à des admittances.</a:t>
            </a:r>
          </a:p>
        </p:txBody>
      </p:sp>
      <p:sp>
        <p:nvSpPr>
          <p:cNvPr id="15" name="object 5"/>
          <p:cNvSpPr txBox="1">
            <a:spLocks/>
          </p:cNvSpPr>
          <p:nvPr/>
        </p:nvSpPr>
        <p:spPr>
          <a:xfrm>
            <a:off x="911424" y="322482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I-2-2 Matrice admittance [Y] 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177322"/>
              </p:ext>
            </p:extLst>
          </p:nvPr>
        </p:nvGraphicFramePr>
        <p:xfrm>
          <a:off x="2238375" y="941388"/>
          <a:ext cx="7666038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6" name="Equation" r:id="rId3" imgW="4762440" imgH="533160" progId="Equation.DSMT4">
                  <p:embed/>
                </p:oleObj>
              </mc:Choice>
              <mc:Fallback>
                <p:oleObj name="Equation" r:id="rId3" imgW="4762440" imgH="533160" progId="Equation.DSMT4">
                  <p:embed/>
                  <p:pic>
                    <p:nvPicPr>
                      <p:cNvPr id="10" name="Obje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8375" y="941388"/>
                        <a:ext cx="7666038" cy="947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" name="object 19"/>
          <p:cNvSpPr txBox="1"/>
          <p:nvPr/>
        </p:nvSpPr>
        <p:spPr>
          <a:xfrm>
            <a:off x="1482699" y="4131021"/>
            <a:ext cx="36788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Définitions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1632399" y="4572952"/>
                <a:ext cx="8734181" cy="1508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15000"/>
                  </a:lnSpc>
                  <a:buFont typeface="Times New Roman" panose="02020603050405020304" pitchFamily="18" charset="0"/>
                  <a:buChar char="-"/>
                  <a:defRPr/>
                </a:pP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un quadripôle est dit </a:t>
                </a:r>
                <a:r>
                  <a:rPr lang="fr-FR" sz="1600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réciproque (passif)</a:t>
                </a: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si les termes de la seconde diagonale sont égaux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fr-F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0" lang="fr-F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kumimoji="0" lang="fr-FR" sz="160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kumimoji="0" lang="fr-F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fr-F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kumimoji="0" lang="fr-F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342900" marR="0" lvl="0" indent="-342900" algn="just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Times New Roman" panose="02020603050405020304" pitchFamily="18" charset="0"/>
                  <a:buChar char="-"/>
                  <a:tabLst/>
                  <a:defRPr/>
                </a:pPr>
                <a:endParaRPr kumimoji="0" 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marR="0" lvl="0" indent="-342900" algn="just" defTabSz="914400" rtl="0" eaLnBrk="1" fontAlgn="auto" latinLnBrk="0" hangingPunct="1">
                  <a:lnSpc>
                    <a:spcPct val="11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Times New Roman" panose="02020603050405020304" pitchFamily="18" charset="0"/>
                  <a:buChar char="-"/>
                  <a:tabLst/>
                  <a:defRPr/>
                </a:pPr>
                <a:r>
                  <a:rPr kumimoji="0" lang="fr-FR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 de plus</a:t>
                </a: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les termes de la première diagonale sont égaux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fr-FR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a:rPr kumimoji="0" lang="fr-FR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  <m:r>
                      <a:rPr kumimoji="0" lang="fr-FR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kumimoji="0" lang="fr-F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fr-FR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y</m:t>
                        </m:r>
                      </m:e>
                      <m:sub>
                        <m:r>
                          <a:rPr kumimoji="0" lang="fr-FR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alors le quadripôle est </a:t>
                </a:r>
                <a:r>
                  <a:rPr kumimoji="0" lang="fr-FR" sz="16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symétrique</a:t>
                </a: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399" y="4572952"/>
                <a:ext cx="8734181" cy="1508105"/>
              </a:xfrm>
              <a:prstGeom prst="rect">
                <a:avLst/>
              </a:prstGeom>
              <a:blipFill>
                <a:blip r:embed="rId5"/>
                <a:stretch>
                  <a:fillRect l="-279" r="-349" b="-282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09979" y="2958910"/>
                <a:ext cx="9632342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Les éléments </a:t>
                </a:r>
                <a:r>
                  <a:rPr lang="fr-FR" sz="1600" dirty="0" err="1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yij</a:t>
                </a:r>
                <a:r>
                  <a:rPr lang="fr-FR" sz="1600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de la matrice [Y] sont des admittances (s’expriment 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l-G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l-G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Ω</m:t>
                        </m:r>
                      </m:e>
                      <m:sup>
                        <m: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lang="el-GR" sz="1600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)</a:t>
                </a:r>
                <a:r>
                  <a:rPr lang="fr-FR" sz="1600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fr-FR" sz="1600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L’indice </a:t>
                </a:r>
                <a:r>
                  <a:rPr lang="fr-FR" sz="1600" i="1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fr-FR" sz="1600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est relatif au courant et indice </a:t>
                </a:r>
                <a:r>
                  <a:rPr lang="fr-FR" sz="1600" i="1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j</a:t>
                </a:r>
                <a:r>
                  <a:rPr lang="fr-FR" sz="1600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est relatif à la tension. </a:t>
                </a:r>
                <a:endParaRPr lang="fr-FR" sz="1600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9979" y="2958910"/>
                <a:ext cx="9632342" cy="707886"/>
              </a:xfrm>
              <a:prstGeom prst="rect">
                <a:avLst/>
              </a:prstGeom>
              <a:blipFill>
                <a:blip r:embed="rId6"/>
                <a:stretch>
                  <a:fillRect l="-253" b="-102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Objet 10">
            <a:extLst>
              <a:ext uri="{FF2B5EF4-FFF2-40B4-BE49-F238E27FC236}">
                <a16:creationId xmlns:a16="http://schemas.microsoft.com/office/drawing/2014/main" id="{F9146977-41E8-FDFD-5699-AB10D6D3C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3628481"/>
              </p:ext>
            </p:extLst>
          </p:nvPr>
        </p:nvGraphicFramePr>
        <p:xfrm>
          <a:off x="9768409" y="2164418"/>
          <a:ext cx="879430" cy="3763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7" name="Equation" r:id="rId7" imgW="622080" imgH="241200" progId="Equation.DSMT4">
                  <p:embed/>
                </p:oleObj>
              </mc:Choice>
              <mc:Fallback>
                <p:oleObj name="Equation" r:id="rId7" imgW="622080" imgH="241200" progId="Equation.DSMT4">
                  <p:embed/>
                  <p:pic>
                    <p:nvPicPr>
                      <p:cNvPr id="11" name="Objet 10">
                        <a:extLst>
                          <a:ext uri="{FF2B5EF4-FFF2-40B4-BE49-F238E27FC236}">
                            <a16:creationId xmlns:a16="http://schemas.microsoft.com/office/drawing/2014/main" id="{F9146977-41E8-FDFD-5699-AB10D6D3CCC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68409" y="2164418"/>
                        <a:ext cx="879430" cy="37630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 11">
            <a:extLst>
              <a:ext uri="{FF2B5EF4-FFF2-40B4-BE49-F238E27FC236}">
                <a16:creationId xmlns:a16="http://schemas.microsoft.com/office/drawing/2014/main" id="{7388BEE8-6191-50C4-EC97-3922B175A6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856900"/>
              </p:ext>
            </p:extLst>
          </p:nvPr>
        </p:nvGraphicFramePr>
        <p:xfrm>
          <a:off x="6071498" y="2132856"/>
          <a:ext cx="744582" cy="35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08" name="Equation" r:id="rId9" imgW="558720" imgH="241200" progId="Equation.DSMT4">
                  <p:embed/>
                </p:oleObj>
              </mc:Choice>
              <mc:Fallback>
                <p:oleObj name="Equation" r:id="rId9" imgW="558720" imgH="241200" progId="Equation.DSMT4">
                  <p:embed/>
                  <p:pic>
                    <p:nvPicPr>
                      <p:cNvPr id="12" name="Objet 11">
                        <a:extLst>
                          <a:ext uri="{FF2B5EF4-FFF2-40B4-BE49-F238E27FC236}">
                            <a16:creationId xmlns:a16="http://schemas.microsoft.com/office/drawing/2014/main" id="{7388BEE8-6191-50C4-EC97-3922B175A6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1498" y="2132856"/>
                        <a:ext cx="744582" cy="354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29681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8" grpId="0"/>
      <p:bldP spid="49" grpId="0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8300414"/>
              </p:ext>
            </p:extLst>
          </p:nvPr>
        </p:nvGraphicFramePr>
        <p:xfrm>
          <a:off x="2063750" y="2040658"/>
          <a:ext cx="12985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6" name="Equation" r:id="rId3" imgW="711000" imgH="419040" progId="Equation.DSMT4">
                  <p:embed/>
                </p:oleObj>
              </mc:Choice>
              <mc:Fallback>
                <p:oleObj name="Equation" r:id="rId3" imgW="711000" imgH="419040" progId="Equation.DSMT4">
                  <p:embed/>
                  <p:pic>
                    <p:nvPicPr>
                      <p:cNvPr id="9" name="Obje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0" y="2040658"/>
                        <a:ext cx="1298575" cy="898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1966428"/>
              </p:ext>
            </p:extLst>
          </p:nvPr>
        </p:nvGraphicFramePr>
        <p:xfrm>
          <a:off x="2109788" y="4404445"/>
          <a:ext cx="1250950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7" name="Equation" r:id="rId5" imgW="723600" imgH="419040" progId="Equation.DSMT4">
                  <p:embed/>
                </p:oleObj>
              </mc:Choice>
              <mc:Fallback>
                <p:oleObj name="Equation" r:id="rId5" imgW="723600" imgH="419040" progId="Equation.DSMT4">
                  <p:embed/>
                  <p:pic>
                    <p:nvPicPr>
                      <p:cNvPr id="10" name="Obje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9788" y="4404445"/>
                        <a:ext cx="1250950" cy="8921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0917317"/>
              </p:ext>
            </p:extLst>
          </p:nvPr>
        </p:nvGraphicFramePr>
        <p:xfrm>
          <a:off x="2125663" y="5647457"/>
          <a:ext cx="1219200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8" name="Equation" r:id="rId7" imgW="711000" imgH="419040" progId="Equation.DSMT4">
                  <p:embed/>
                </p:oleObj>
              </mc:Choice>
              <mc:Fallback>
                <p:oleObj name="Equation" r:id="rId7" imgW="711000" imgH="419040" progId="Equation.DSMT4">
                  <p:embed/>
                  <p:pic>
                    <p:nvPicPr>
                      <p:cNvPr id="14" name="Obje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5663" y="5647457"/>
                        <a:ext cx="1219200" cy="8778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3515427"/>
              </p:ext>
            </p:extLst>
          </p:nvPr>
        </p:nvGraphicFramePr>
        <p:xfrm>
          <a:off x="2081213" y="3194770"/>
          <a:ext cx="1279525" cy="858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89" name="Equation" r:id="rId9" imgW="711000" imgH="419040" progId="Equation.DSMT4">
                  <p:embed/>
                </p:oleObj>
              </mc:Choice>
              <mc:Fallback>
                <p:oleObj name="Equation" r:id="rId9" imgW="711000" imgH="419040" progId="Equation.DSMT4">
                  <p:embed/>
                  <p:pic>
                    <p:nvPicPr>
                      <p:cNvPr id="17" name="Obje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81213" y="3194770"/>
                        <a:ext cx="1279525" cy="8588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5"/>
          <p:cNvSpPr>
            <a:spLocks noChangeArrowheads="1"/>
          </p:cNvSpPr>
          <p:nvPr/>
        </p:nvSpPr>
        <p:spPr bwMode="auto">
          <a:xfrm>
            <a:off x="1127448" y="256700"/>
            <a:ext cx="518122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fr-FR" alt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Signification physique des paramètres y</a:t>
            </a:r>
            <a:r>
              <a:rPr lang="fr-FR" altLang="fr-FR" b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ij</a:t>
            </a:r>
            <a:endParaRPr lang="fr-FR" altLang="fr-FR" b="1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3526713" y="2343023"/>
            <a:ext cx="553869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  <a:defRPr/>
            </a:pPr>
            <a:r>
              <a:rPr kumimoji="0" lang="fr-FR" alt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admittance d’entrée à sortie en court-circuit. </a:t>
            </a: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7"/>
          <p:cNvSpPr>
            <a:spLocks noChangeArrowheads="1"/>
          </p:cNvSpPr>
          <p:nvPr/>
        </p:nvSpPr>
        <p:spPr bwMode="auto">
          <a:xfrm>
            <a:off x="3526713" y="4745175"/>
            <a:ext cx="5676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fr-FR" altLang="fr-FR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admittance de sortie à entrée en court-circuit. </a:t>
            </a:r>
          </a:p>
        </p:txBody>
      </p:sp>
      <p:sp>
        <p:nvSpPr>
          <p:cNvPr id="22" name="Rectangle 8"/>
          <p:cNvSpPr>
            <a:spLocks noChangeArrowheads="1"/>
          </p:cNvSpPr>
          <p:nvPr/>
        </p:nvSpPr>
        <p:spPr bwMode="auto">
          <a:xfrm>
            <a:off x="3526713" y="5901734"/>
            <a:ext cx="84848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lang="fr-FR" altLang="fr-FR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: admittance de transfert directe à sortie en court-circuit. </a:t>
            </a:r>
          </a:p>
        </p:txBody>
      </p:sp>
      <p:sp>
        <p:nvSpPr>
          <p:cNvPr id="23" name="Rectangle 9"/>
          <p:cNvSpPr>
            <a:spLocks noChangeArrowheads="1"/>
          </p:cNvSpPr>
          <p:nvPr/>
        </p:nvSpPr>
        <p:spPr bwMode="auto">
          <a:xfrm>
            <a:off x="3526713" y="3499582"/>
            <a:ext cx="69092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  <a:defRPr/>
            </a:pPr>
            <a:r>
              <a:rPr kumimoji="0" lang="fr-FR" alt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admittance de transfert inverse à entrée en court-circuit. </a:t>
            </a: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t 10">
            <a:extLst>
              <a:ext uri="{FF2B5EF4-FFF2-40B4-BE49-F238E27FC236}">
                <a16:creationId xmlns:a16="http://schemas.microsoft.com/office/drawing/2014/main" id="{35FD1B79-F397-71AB-7036-84E670CDBC9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1073624"/>
              </p:ext>
            </p:extLst>
          </p:nvPr>
        </p:nvGraphicFramePr>
        <p:xfrm>
          <a:off x="1919536" y="869235"/>
          <a:ext cx="7632848" cy="966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0" name="Equation" r:id="rId11" imgW="4647960" imgH="533160" progId="Equation.DSMT4">
                  <p:embed/>
                </p:oleObj>
              </mc:Choice>
              <mc:Fallback>
                <p:oleObj name="Equation" r:id="rId11" imgW="4647960" imgH="533160" progId="Equation.DSMT4">
                  <p:embed/>
                  <p:pic>
                    <p:nvPicPr>
                      <p:cNvPr id="11" name="Objet 10">
                        <a:extLst>
                          <a:ext uri="{FF2B5EF4-FFF2-40B4-BE49-F238E27FC236}">
                            <a16:creationId xmlns:a16="http://schemas.microsoft.com/office/drawing/2014/main" id="{35FD1B79-F397-71AB-7036-84E670CDBC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869235"/>
                        <a:ext cx="7632848" cy="9668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1751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22" grpId="0"/>
      <p:bldP spid="2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9"/>
          <p:cNvSpPr txBox="1"/>
          <p:nvPr/>
        </p:nvSpPr>
        <p:spPr>
          <a:xfrm>
            <a:off x="1689284" y="216523"/>
            <a:ext cx="9230499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Le modèle d’un quadripôle utilisant les paramètres Y est celui donné à la figure ci-dessous. 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1591879"/>
              </p:ext>
            </p:extLst>
          </p:nvPr>
        </p:nvGraphicFramePr>
        <p:xfrm>
          <a:off x="3381061" y="3529149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4" name="Equation" r:id="rId3" imgW="914400" imgH="198720" progId="Equation.DSMT4">
                  <p:embed/>
                </p:oleObj>
              </mc:Choice>
              <mc:Fallback>
                <p:oleObj name="Equation" r:id="rId3" imgW="914400" imgH="198720" progId="Equation.DSMT4">
                  <p:embed/>
                  <p:pic>
                    <p:nvPicPr>
                      <p:cNvPr id="18" name="Objet 1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81061" y="3529149"/>
                        <a:ext cx="914400" cy="1984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035574"/>
              </p:ext>
            </p:extLst>
          </p:nvPr>
        </p:nvGraphicFramePr>
        <p:xfrm>
          <a:off x="4408372" y="5890451"/>
          <a:ext cx="3177150" cy="433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5" name="Equation" r:id="rId5" imgW="1574640" imgH="228600" progId="Equation.DSMT4">
                  <p:embed/>
                </p:oleObj>
              </mc:Choice>
              <mc:Fallback>
                <p:oleObj name="Equation" r:id="rId5" imgW="1574640" imgH="228600" progId="Equation.DSMT4">
                  <p:embed/>
                  <p:pic>
                    <p:nvPicPr>
                      <p:cNvPr id="19" name="Objet 18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08372" y="5890451"/>
                        <a:ext cx="3177150" cy="4334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e 15">
            <a:extLst>
              <a:ext uri="{FF2B5EF4-FFF2-40B4-BE49-F238E27FC236}">
                <a16:creationId xmlns:a16="http://schemas.microsoft.com/office/drawing/2014/main" id="{7E5559BE-BDB7-9D83-FDB9-87C5C7E806CD}"/>
              </a:ext>
            </a:extLst>
          </p:cNvPr>
          <p:cNvGrpSpPr/>
          <p:nvPr/>
        </p:nvGrpSpPr>
        <p:grpSpPr>
          <a:xfrm>
            <a:off x="2230046" y="1746148"/>
            <a:ext cx="7189971" cy="2610969"/>
            <a:chOff x="2709548" y="3030624"/>
            <a:chExt cx="7189971" cy="2610969"/>
          </a:xfrm>
        </p:grpSpPr>
        <p:grpSp>
          <p:nvGrpSpPr>
            <p:cNvPr id="15" name="Groupe 14">
              <a:extLst>
                <a:ext uri="{FF2B5EF4-FFF2-40B4-BE49-F238E27FC236}">
                  <a16:creationId xmlns:a16="http://schemas.microsoft.com/office/drawing/2014/main" id="{6E7DF815-332A-4324-813F-A1F5188052B7}"/>
                </a:ext>
              </a:extLst>
            </p:cNvPr>
            <p:cNvGrpSpPr/>
            <p:nvPr/>
          </p:nvGrpSpPr>
          <p:grpSpPr>
            <a:xfrm>
              <a:off x="2709548" y="3030624"/>
              <a:ext cx="7189971" cy="2610969"/>
              <a:chOff x="2709548" y="3076499"/>
              <a:chExt cx="7189971" cy="261096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Rectangle 40"/>
                  <p:cNvSpPr/>
                  <p:nvPr/>
                </p:nvSpPr>
                <p:spPr>
                  <a:xfrm>
                    <a:off x="7264022" y="4353450"/>
                    <a:ext cx="720527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fr-FR" sz="1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1" name="Rectangle 4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64022" y="4353450"/>
                    <a:ext cx="720527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4918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/>
                  <p:cNvSpPr/>
                  <p:nvPr/>
                </p:nvSpPr>
                <p:spPr>
                  <a:xfrm>
                    <a:off x="4787210" y="4381984"/>
                    <a:ext cx="811184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kumimoji="0" lang="fr-FR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87210" y="4381984"/>
                    <a:ext cx="811184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Rectangle 58"/>
                  <p:cNvSpPr/>
                  <p:nvPr/>
                </p:nvSpPr>
                <p:spPr>
                  <a:xfrm>
                    <a:off x="4418854" y="3636208"/>
                    <a:ext cx="805862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kumimoji="0" lang="fr-FR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59" name="Rectangle 5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18854" y="3636208"/>
                    <a:ext cx="805862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b="-819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14" name="Groupe 13">
                <a:extLst>
                  <a:ext uri="{FF2B5EF4-FFF2-40B4-BE49-F238E27FC236}">
                    <a16:creationId xmlns:a16="http://schemas.microsoft.com/office/drawing/2014/main" id="{20F618D2-ABEC-1BA4-3121-8815F78341DA}"/>
                  </a:ext>
                </a:extLst>
              </p:cNvPr>
              <p:cNvGrpSpPr/>
              <p:nvPr/>
            </p:nvGrpSpPr>
            <p:grpSpPr>
              <a:xfrm>
                <a:off x="2709548" y="3076499"/>
                <a:ext cx="7189971" cy="2610969"/>
                <a:chOff x="2709548" y="3076499"/>
                <a:chExt cx="7189971" cy="2610969"/>
              </a:xfrm>
            </p:grpSpPr>
            <p:cxnSp>
              <p:nvCxnSpPr>
                <p:cNvPr id="54" name="Connecteur droit 53"/>
                <p:cNvCxnSpPr/>
                <p:nvPr/>
              </p:nvCxnSpPr>
              <p:spPr>
                <a:xfrm>
                  <a:off x="8239041" y="3508711"/>
                  <a:ext cx="0" cy="215702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3" name="Groupe 12">
                  <a:extLst>
                    <a:ext uri="{FF2B5EF4-FFF2-40B4-BE49-F238E27FC236}">
                      <a16:creationId xmlns:a16="http://schemas.microsoft.com/office/drawing/2014/main" id="{D1ED4C91-764B-BEAC-D79D-C40A409B4C25}"/>
                    </a:ext>
                  </a:extLst>
                </p:cNvPr>
                <p:cNvGrpSpPr/>
                <p:nvPr/>
              </p:nvGrpSpPr>
              <p:grpSpPr>
                <a:xfrm>
                  <a:off x="2709548" y="3076499"/>
                  <a:ext cx="7189971" cy="2610969"/>
                  <a:chOff x="2709548" y="3054771"/>
                  <a:chExt cx="7189971" cy="2610969"/>
                </a:xfrm>
              </p:grpSpPr>
              <p:cxnSp>
                <p:nvCxnSpPr>
                  <p:cNvPr id="55" name="Connecteur droit 54"/>
                  <p:cNvCxnSpPr/>
                  <p:nvPr/>
                </p:nvCxnSpPr>
                <p:spPr>
                  <a:xfrm>
                    <a:off x="4416504" y="3508711"/>
                    <a:ext cx="0" cy="2157029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2" name="Groupe 11">
                    <a:extLst>
                      <a:ext uri="{FF2B5EF4-FFF2-40B4-BE49-F238E27FC236}">
                        <a16:creationId xmlns:a16="http://schemas.microsoft.com/office/drawing/2014/main" id="{7081E4F4-DA6F-218C-85EB-CFF264288C14}"/>
                      </a:ext>
                    </a:extLst>
                  </p:cNvPr>
                  <p:cNvGrpSpPr/>
                  <p:nvPr/>
                </p:nvGrpSpPr>
                <p:grpSpPr>
                  <a:xfrm>
                    <a:off x="2709548" y="3054771"/>
                    <a:ext cx="7189971" cy="2592487"/>
                    <a:chOff x="2717039" y="3073253"/>
                    <a:chExt cx="7189971" cy="2592487"/>
                  </a:xfrm>
                </p:grpSpPr>
                <p:cxnSp>
                  <p:nvCxnSpPr>
                    <p:cNvPr id="58" name="Connecteur droit 57"/>
                    <p:cNvCxnSpPr/>
                    <p:nvPr/>
                  </p:nvCxnSpPr>
                  <p:spPr>
                    <a:xfrm flipH="1">
                      <a:off x="5522006" y="4600076"/>
                      <a:ext cx="609600" cy="0"/>
                    </a:xfrm>
                    <a:prstGeom prst="line">
                      <a:avLst/>
                    </a:prstGeom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" name="Groupe 10">
                      <a:extLst>
                        <a:ext uri="{FF2B5EF4-FFF2-40B4-BE49-F238E27FC236}">
                          <a16:creationId xmlns:a16="http://schemas.microsoft.com/office/drawing/2014/main" id="{32DB8BAB-A3A3-71F6-60F1-5DDB652DE83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717039" y="3073253"/>
                      <a:ext cx="7189971" cy="2592487"/>
                      <a:chOff x="2536620" y="3855084"/>
                      <a:chExt cx="7189971" cy="2592487"/>
                    </a:xfrm>
                  </p:grpSpPr>
                  <p:cxnSp>
                    <p:nvCxnSpPr>
                      <p:cNvPr id="26" name="Connecteur droit 25"/>
                      <p:cNvCxnSpPr/>
                      <p:nvPr/>
                    </p:nvCxnSpPr>
                    <p:spPr>
                      <a:xfrm flipV="1">
                        <a:off x="6758403" y="4303392"/>
                        <a:ext cx="1675" cy="2131328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0" name="Groupe 9">
                        <a:extLst>
                          <a:ext uri="{FF2B5EF4-FFF2-40B4-BE49-F238E27FC236}">
                            <a16:creationId xmlns:a16="http://schemas.microsoft.com/office/drawing/2014/main" id="{113ADA7B-D2D2-6B2C-23C7-EE266A634FA4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2536620" y="3855084"/>
                        <a:ext cx="7189971" cy="2592487"/>
                        <a:chOff x="2709548" y="3085740"/>
                        <a:chExt cx="7189971" cy="2592487"/>
                      </a:xfrm>
                    </p:grpSpPr>
                    <p:cxnSp>
                      <p:nvCxnSpPr>
                        <p:cNvPr id="25" name="Connecteur droit 24"/>
                        <p:cNvCxnSpPr>
                          <a:stCxn id="24" idx="0"/>
                        </p:cNvCxnSpPr>
                        <p:nvPr/>
                      </p:nvCxnSpPr>
                      <p:spPr>
                        <a:xfrm flipH="1" flipV="1">
                          <a:off x="5826806" y="3535981"/>
                          <a:ext cx="1" cy="725996"/>
                        </a:xfrm>
                        <a:prstGeom prst="line">
                          <a:avLst/>
                        </a:prstGeom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9" name="Groupe 8">
                          <a:extLst>
                            <a:ext uri="{FF2B5EF4-FFF2-40B4-BE49-F238E27FC236}">
                              <a16:creationId xmlns:a16="http://schemas.microsoft.com/office/drawing/2014/main" id="{E6773B4E-AA0F-0969-24B5-FA45A711F025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2709548" y="3085740"/>
                          <a:ext cx="7189971" cy="2592487"/>
                          <a:chOff x="2709548" y="3073253"/>
                          <a:chExt cx="7189971" cy="2592487"/>
                        </a:xfrm>
                      </p:grpSpPr>
                      <p:cxnSp>
                        <p:nvCxnSpPr>
                          <p:cNvPr id="21" name="Connecteur droit 20"/>
                          <p:cNvCxnSpPr/>
                          <p:nvPr/>
                        </p:nvCxnSpPr>
                        <p:spPr>
                          <a:xfrm flipH="1" flipV="1">
                            <a:off x="3199849" y="3523493"/>
                            <a:ext cx="2626959" cy="1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24" name="Ellipse 23"/>
                          <p:cNvSpPr/>
                          <p:nvPr/>
                        </p:nvSpPr>
                        <p:spPr>
                          <a:xfrm>
                            <a:off x="5522007" y="4249490"/>
                            <a:ext cx="609600" cy="705853"/>
                          </a:xfrm>
                          <a:prstGeom prst="ellipse">
                            <a:avLst/>
                          </a:prstGeom>
                          <a:noFill/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27" name="Connecteur droit 26"/>
                          <p:cNvCxnSpPr/>
                          <p:nvPr/>
                        </p:nvCxnSpPr>
                        <p:spPr>
                          <a:xfrm flipH="1">
                            <a:off x="6938289" y="3523493"/>
                            <a:ext cx="2705135" cy="1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8" name="Connecteur droit 27"/>
                          <p:cNvCxnSpPr/>
                          <p:nvPr/>
                        </p:nvCxnSpPr>
                        <p:spPr>
                          <a:xfrm flipH="1" flipV="1">
                            <a:off x="5826806" y="4939744"/>
                            <a:ext cx="1" cy="725996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29" name="Connecteur droit 28"/>
                          <p:cNvCxnSpPr/>
                          <p:nvPr/>
                        </p:nvCxnSpPr>
                        <p:spPr>
                          <a:xfrm flipH="1">
                            <a:off x="3199849" y="5665740"/>
                            <a:ext cx="6553201" cy="0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1" name="Connecteur droit 30"/>
                          <p:cNvCxnSpPr/>
                          <p:nvPr/>
                        </p:nvCxnSpPr>
                        <p:spPr>
                          <a:xfrm flipV="1">
                            <a:off x="9222368" y="3747137"/>
                            <a:ext cx="1" cy="1756198"/>
                          </a:xfrm>
                          <a:prstGeom prst="line">
                            <a:avLst/>
                          </a:prstGeom>
                          <a:ln>
                            <a:headEnd type="none" w="med" len="med"/>
                            <a:tailEnd type="triangle" w="med" len="med"/>
                          </a:ln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2" name="Connecteur droit 31"/>
                          <p:cNvCxnSpPr/>
                          <p:nvPr/>
                        </p:nvCxnSpPr>
                        <p:spPr>
                          <a:xfrm flipV="1">
                            <a:off x="3409852" y="3739617"/>
                            <a:ext cx="1" cy="1756198"/>
                          </a:xfrm>
                          <a:prstGeom prst="line">
                            <a:avLst/>
                          </a:prstGeom>
                          <a:ln>
                            <a:headEnd type="none" w="med" len="med"/>
                            <a:tailEnd type="triangle" w="med" len="med"/>
                          </a:ln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34" name="Flèche gauche 33"/>
                          <p:cNvSpPr/>
                          <p:nvPr/>
                        </p:nvSpPr>
                        <p:spPr>
                          <a:xfrm>
                            <a:off x="8813232" y="3457825"/>
                            <a:ext cx="329080" cy="183717"/>
                          </a:xfrm>
                          <a:prstGeom prst="leftArrow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35" name="Flèche gauche 34"/>
                          <p:cNvSpPr/>
                          <p:nvPr/>
                        </p:nvSpPr>
                        <p:spPr>
                          <a:xfrm flipH="1" flipV="1">
                            <a:off x="3573236" y="3431634"/>
                            <a:ext cx="329080" cy="183717"/>
                          </a:xfrm>
                          <a:prstGeom prst="leftArrow">
                            <a:avLst/>
                          </a:prstGeom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37" name="Rectangle 36"/>
                          <p:cNvSpPr/>
                          <p:nvPr/>
                        </p:nvSpPr>
                        <p:spPr>
                          <a:xfrm>
                            <a:off x="8856609" y="3077343"/>
                            <a:ext cx="814952" cy="369332"/>
                          </a:xfrm>
                          <a:prstGeom prst="rect">
                            <a:avLst/>
                          </a:prstGeom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fr-F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Bookman Old Style" panose="02050604050505020204" pitchFamily="18" charset="0"/>
                                <a:cs typeface="Times New Roman" panose="02020603050405020304" pitchFamily="18" charset="0"/>
                              </a:rPr>
                              <a:t>i</a:t>
                            </a:r>
                            <a:r>
                              <a:rPr kumimoji="0" lang="fr-FR" sz="14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Bookman Old Style" panose="02050604050505020204" pitchFamily="18" charset="0"/>
                                <a:cs typeface="Times New Roman" panose="02020603050405020304" pitchFamily="18" charset="0"/>
                              </a:rPr>
                              <a:t>2</a:t>
                            </a:r>
                            <a:endParaRPr kumimoji="0" lang="fr-FR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38" name="Rectangle 37"/>
                          <p:cNvSpPr/>
                          <p:nvPr/>
                        </p:nvSpPr>
                        <p:spPr>
                          <a:xfrm>
                            <a:off x="3494840" y="3073253"/>
                            <a:ext cx="814952" cy="369332"/>
                          </a:xfrm>
                          <a:prstGeom prst="rect">
                            <a:avLst/>
                          </a:prstGeom>
                        </p:spPr>
                        <p:txBody>
                          <a:bodyPr wrap="square">
                            <a:spAutoFit/>
                          </a:bodyPr>
                          <a:lstStyle/>
                          <a:p>
                            <a:pPr marL="0" marR="0" lvl="0" indent="0" algn="l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r>
                              <a:rPr kumimoji="0" lang="fr-FR" sz="1800" b="0" i="1" u="none" strike="noStrike" kern="1200" cap="none" spc="0" normalizeH="0" baseline="0" noProof="0" dirty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Bookman Old Style" panose="02050604050505020204" pitchFamily="18" charset="0"/>
                                <a:cs typeface="Times New Roman" panose="02020603050405020304" pitchFamily="18" charset="0"/>
                              </a:rPr>
                              <a:t>i</a:t>
                            </a:r>
                            <a:r>
                              <a:rPr kumimoji="0" lang="fr-FR" sz="1400" b="0" i="1" u="none" strike="noStrike" kern="1200" cap="none" spc="0" normalizeH="0" baseline="0" noProof="0" dirty="0" err="1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Bookman Old Style" panose="02050604050505020204" pitchFamily="18" charset="0"/>
                                <a:cs typeface="Times New Roman" panose="02020603050405020304" pitchFamily="18" charset="0"/>
                              </a:rPr>
                              <a:t>1</a:t>
                            </a:r>
                            <a:endParaRPr kumimoji="0" lang="fr-FR" sz="18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44" name="Rectangle 43"/>
                              <p:cNvSpPr/>
                              <p:nvPr/>
                            </p:nvSpPr>
                            <p:spPr>
                              <a:xfrm>
                                <a:off x="9178992" y="4323431"/>
                                <a:ext cx="720527" cy="369332"/>
                              </a:xfrm>
                              <a:prstGeom prst="rect">
                                <a:avLst/>
                              </a:prstGeom>
                            </p:spPr>
                            <p:txBody>
                              <a:bodyPr wrap="square">
                                <a:spAutoFit/>
                              </a:bodyPr>
                              <a:lstStyle/>
                              <a:p>
                                <a:pPr marL="0" marR="0" lvl="0" indent="0" algn="l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b>
                                        <m:sSubPr>
                                          <m:ctrlP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oMath>
                                  </m:oMathPara>
                                </a14:m>
                                <a:endParaRPr kumimoji="0" lang="fr-FR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Bookman Old Style" panose="02050604050505020204" pitchFamily="18" charset="0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44" name="Rectangle 43"/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9178992" y="4323431"/>
                                <a:ext cx="720527" cy="369332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0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fr-FR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45" name="Rectangle 44"/>
                              <p:cNvSpPr/>
                              <p:nvPr/>
                            </p:nvSpPr>
                            <p:spPr>
                              <a:xfrm>
                                <a:off x="2709548" y="4431087"/>
                                <a:ext cx="720527" cy="369332"/>
                              </a:xfrm>
                              <a:prstGeom prst="rect">
                                <a:avLst/>
                              </a:prstGeom>
                            </p:spPr>
                            <p:txBody>
                              <a:bodyPr wrap="square">
                                <a:spAutoFit/>
                              </a:bodyPr>
                              <a:lstStyle/>
                              <a:p>
                                <a:pPr marL="0" marR="0" lvl="0" indent="0" algn="l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b>
                                        <m:sSubPr>
                                          <m:ctrlP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oMath>
                                  </m:oMathPara>
                                </a14:m>
                                <a:endParaRPr kumimoji="0" lang="fr-FR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Bookman Old Style" panose="02050604050505020204" pitchFamily="18" charset="0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45" name="Rectangle 44"/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2709548" y="4431087"/>
                                <a:ext cx="720527" cy="369332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1"/>
                                <a:stretch>
                                  <a:fillRect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fr-FR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p:sp>
                        <p:nvSpPr>
                          <p:cNvPr id="22" name="Ellipse 21"/>
                          <p:cNvSpPr/>
                          <p:nvPr/>
                        </p:nvSpPr>
                        <p:spPr>
                          <a:xfrm>
                            <a:off x="6633489" y="4235052"/>
                            <a:ext cx="609600" cy="705853"/>
                          </a:xfrm>
                          <a:prstGeom prst="ellipse">
                            <a:avLst/>
                          </a:prstGeom>
                          <a:solidFill>
                            <a:schemeClr val="bg1"/>
                          </a:solidFill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p:cxnSp>
                        <p:nvCxnSpPr>
                          <p:cNvPr id="30" name="Connecteur droit 29"/>
                          <p:cNvCxnSpPr>
                            <a:stCxn id="22" idx="6"/>
                            <a:endCxn id="22" idx="2"/>
                          </p:cNvCxnSpPr>
                          <p:nvPr/>
                        </p:nvCxnSpPr>
                        <p:spPr>
                          <a:xfrm flipH="1">
                            <a:off x="6633489" y="4587979"/>
                            <a:ext cx="609600" cy="0"/>
                          </a:xfrm>
                          <a:prstGeom prst="line">
                            <a:avLst/>
                          </a:prstGeom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40" name="Rectangle 39"/>
                          <p:cNvSpPr/>
                          <p:nvPr/>
                        </p:nvSpPr>
                        <p:spPr>
                          <a:xfrm rot="10800000">
                            <a:off x="8092125" y="4039501"/>
                            <a:ext cx="328670" cy="1035870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23" name="Rectangle 22"/>
                          <p:cNvSpPr/>
                          <p:nvPr/>
                        </p:nvSpPr>
                        <p:spPr>
                          <a:xfrm rot="10800000">
                            <a:off x="4265870" y="4125546"/>
                            <a:ext cx="328670" cy="1035870"/>
                          </a:xfrm>
                          <a:prstGeom prst="rect">
                            <a:avLst/>
                          </a:prstGeom>
                        </p:spPr>
                        <p:style>
                          <a:lnRef idx="2">
                            <a:schemeClr val="dk1"/>
                          </a:lnRef>
                          <a:fillRef idx="1">
                            <a:schemeClr val="lt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dk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mc:AlternateContent xmlns:mc="http://schemas.openxmlformats.org/markup-compatibility/2006" xmlns:a14="http://schemas.microsoft.com/office/drawing/2010/main">
                        <mc:Choice Requires="a14">
                          <p:sp>
                            <p:nvSpPr>
                              <p:cNvPr id="60" name="Rectangle 59"/>
                              <p:cNvSpPr/>
                              <p:nvPr/>
                            </p:nvSpPr>
                            <p:spPr>
                              <a:xfrm>
                                <a:off x="7443489" y="3571491"/>
                                <a:ext cx="622999" cy="369332"/>
                              </a:xfrm>
                              <a:prstGeom prst="rect">
                                <a:avLst/>
                              </a:prstGeom>
                            </p:spPr>
                            <p:txBody>
                              <a:bodyPr wrap="square">
                                <a:spAutoFit/>
                              </a:bodyPr>
                              <a:lstStyle/>
                              <a:p>
                                <a:pPr marL="0" marR="0" lvl="0" indent="0" algn="l" defTabSz="914400" rtl="0" eaLnBrk="1" fontAlgn="auto" latinLnBrk="0" hangingPunct="1">
                                  <a:lnSpc>
                                    <a:spcPct val="100000"/>
                                  </a:lnSpc>
                                  <a:spcBef>
                                    <a:spcPts val="0"/>
                                  </a:spcBef>
                                  <a:spcAft>
                                    <a:spcPts val="0"/>
                                  </a:spcAft>
                                  <a:buClrTx/>
                                  <a:buSzTx/>
                                  <a:buFontTx/>
                                  <a:buNone/>
                                  <a:tabLst/>
                                  <a:defRPr/>
                                </a:pPr>
                                <a14:m>
                                  <m:oMathPara xmlns:m="http://schemas.openxmlformats.org/officeDocument/2006/math">
                                    <m:oMathParaPr>
                                      <m:jc m:val="centerGroup"/>
                                    </m:oMathParaPr>
                                    <m:oMath xmlns:m="http://schemas.openxmlformats.org/officeDocument/2006/math">
                                      <m:sSub>
                                        <m:sSubPr>
                                          <m:ctrlP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  <m:sub>
                                          <m:r>
                                            <a:rPr kumimoji="0" lang="fr-FR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kumimoji="0" lang="fr-FR" sz="1800" b="0" i="1" u="none" strike="noStrike" kern="1200" cap="none" spc="0" normalizeH="0" baseline="0" noProof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𝑣</m:t>
                                          </m:r>
                                        </m:e>
                                        <m:sub>
                                          <m:r>
                                            <a:rPr kumimoji="0" lang="fr-FR" sz="18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oMath>
                                  </m:oMathPara>
                                </a14:m>
                                <a:endParaRPr kumimoji="0" lang="fr-FR" sz="1800" b="0" i="1" u="none" strike="noStrike" kern="1200" cap="none" spc="0" normalizeH="0" baseline="0" noProof="0" dirty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Bookman Old Style" panose="02050604050505020204" pitchFamily="18" charset="0"/>
                                </a:endParaRPr>
                              </a:p>
                            </p:txBody>
                          </p:sp>
                        </mc:Choice>
                        <mc:Fallback xmlns="">
                          <p:sp>
                            <p:nvSpPr>
                              <p:cNvPr id="60" name="Rectangle 59"/>
                              <p:cNvSpPr>
                                <a:spLocks noRot="1" noChangeAspect="1" noMove="1" noResize="1" noEditPoints="1" noAdjustHandles="1" noChangeArrowheads="1" noChangeShapeType="1" noTextEdit="1"/>
                              </p:cNvSpPr>
                              <p:nvPr/>
                            </p:nvSpPr>
                            <p:spPr>
                              <a:xfrm>
                                <a:off x="7443489" y="3571491"/>
                                <a:ext cx="622999" cy="369332"/>
                              </a:xfrm>
                              <a:prstGeom prst="rect">
                                <a:avLst/>
                              </a:prstGeom>
                              <a:blipFill>
                                <a:blip r:embed="rId12"/>
                                <a:stretch>
                                  <a:fillRect r="-11650" b="-6557"/>
                                </a:stretch>
                              </a:blipFill>
                            </p:spPr>
                            <p:txBody>
                              <a:bodyPr/>
                              <a:lstStyle/>
                              <a:p>
                                <a:r>
                                  <a:rPr lang="fr-FR">
                                    <a:noFill/>
                                  </a:rPr>
                                  <a:t> </a:t>
                                </a:r>
                              </a:p>
                            </p:txBody>
                          </p:sp>
                        </mc:Fallback>
                      </mc:AlternateContent>
                      <p:sp>
                        <p:nvSpPr>
                          <p:cNvPr id="67" name="Triangle isocèle 66"/>
                          <p:cNvSpPr/>
                          <p:nvPr/>
                        </p:nvSpPr>
                        <p:spPr>
                          <a:xfrm flipV="1">
                            <a:off x="4306111" y="3718604"/>
                            <a:ext cx="209577" cy="169625"/>
                          </a:xfrm>
                          <a:prstGeom prst="triangle">
                            <a:avLst/>
                          </a:prstGeom>
                        </p:spPr>
                        <p:style>
                          <a:lnRef idx="2">
                            <a:schemeClr val="dk1">
                              <a:shade val="50000"/>
                            </a:schemeClr>
                          </a:lnRef>
                          <a:fillRef idx="1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8" name="Triangle isocèle 67"/>
                          <p:cNvSpPr/>
                          <p:nvPr/>
                        </p:nvSpPr>
                        <p:spPr>
                          <a:xfrm flipV="1">
                            <a:off x="5722017" y="3735866"/>
                            <a:ext cx="209577" cy="169625"/>
                          </a:xfrm>
                          <a:prstGeom prst="triangle">
                            <a:avLst/>
                          </a:prstGeom>
                        </p:spPr>
                        <p:style>
                          <a:lnRef idx="2">
                            <a:schemeClr val="dk1">
                              <a:shade val="50000"/>
                            </a:schemeClr>
                          </a:lnRef>
                          <a:fillRef idx="1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69" name="Triangle isocèle 68"/>
                          <p:cNvSpPr/>
                          <p:nvPr/>
                        </p:nvSpPr>
                        <p:spPr>
                          <a:xfrm flipV="1">
                            <a:off x="8134252" y="3733724"/>
                            <a:ext cx="209577" cy="169625"/>
                          </a:xfrm>
                          <a:prstGeom prst="triangle">
                            <a:avLst/>
                          </a:prstGeom>
                        </p:spPr>
                        <p:style>
                          <a:lnRef idx="2">
                            <a:schemeClr val="dk1">
                              <a:shade val="50000"/>
                            </a:schemeClr>
                          </a:lnRef>
                          <a:fillRef idx="1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marL="0" marR="0" lvl="0" indent="0" algn="ctr" defTabSz="914400" rtl="0" eaLnBrk="1" fontAlgn="auto" latinLnBrk="0" hangingPunct="1">
                              <a:lnSpc>
                                <a:spcPct val="100000"/>
                              </a:lnSpc>
                              <a:spcBef>
                                <a:spcPts val="0"/>
                              </a:spcBef>
                              <a:spcAft>
                                <a:spcPts val="0"/>
                              </a:spcAft>
                              <a:buClrTx/>
                              <a:buSzTx/>
                              <a:buFontTx/>
                              <a:buNone/>
                              <a:tabLst/>
                              <a:defRPr/>
                            </a:pPr>
                            <a:endPara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white"/>
                              </a:solidFill>
                              <a:effectLst/>
                              <a:uLnTx/>
                              <a:uFillTx/>
                              <a:latin typeface="Bookman Old Style" panose="02050604050505020204" pitchFamily="18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70" name="Triangle isocèle 69"/>
                        <p:cNvSpPr/>
                        <p:nvPr/>
                      </p:nvSpPr>
                      <p:spPr>
                        <a:xfrm flipV="1">
                          <a:off x="6834256" y="3733724"/>
                          <a:ext cx="209577" cy="169625"/>
                        </a:xfrm>
                        <a:prstGeom prst="triangle">
                          <a:avLst/>
                        </a:prstGeom>
                      </p:spPr>
                      <p:style>
                        <a:lnRef idx="2">
                          <a:schemeClr val="dk1">
                            <a:shade val="50000"/>
                          </a:schemeClr>
                        </a:lnRef>
                        <a:fillRef idx="1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kumimoji="0" lang="fr-FR" sz="18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Bookman Old Style" panose="02050604050505020204" pitchFamily="18" charset="0"/>
                          </a:endParaRPr>
                        </a:p>
                      </p:txBody>
                    </p:sp>
                  </p:grpSp>
                </p:grpSp>
              </p:grpSp>
            </p:grp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/>
                  <p:cNvSpPr/>
                  <p:nvPr/>
                </p:nvSpPr>
                <p:spPr>
                  <a:xfrm>
                    <a:off x="7913054" y="4326677"/>
                    <a:ext cx="720527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 lvl="0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sub>
                          </m:sSub>
                        </m:oMath>
                      </m:oMathPara>
                    </a14:m>
                    <a:endParaRPr kumimoji="0" lang="fr-FR" sz="1800" b="0" i="1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Bookman Old Style" panose="0205060405050502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36" name="Rectangle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13054" y="4326677"/>
                    <a:ext cx="720527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fr-F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/>
                <p:cNvSpPr/>
                <p:nvPr/>
              </p:nvSpPr>
              <p:spPr>
                <a:xfrm>
                  <a:off x="4099806" y="4336109"/>
                  <a:ext cx="720527" cy="369332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lvl="0"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kumimoji="0" lang="fr-FR" sz="18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</a:endParaRPr>
                </a:p>
              </p:txBody>
            </p:sp>
          </mc:Choice>
          <mc:Fallback xmlns="">
            <p:sp>
              <p:nvSpPr>
                <p:cNvPr id="47" name="Rectangle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9806" y="4336109"/>
                  <a:ext cx="720527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ZoneTexte 19">
            <a:extLst>
              <a:ext uri="{FF2B5EF4-FFF2-40B4-BE49-F238E27FC236}">
                <a16:creationId xmlns:a16="http://schemas.microsoft.com/office/drawing/2014/main" id="{9CDCCA8D-A69F-0ACA-969C-76220E22FE67}"/>
              </a:ext>
            </a:extLst>
          </p:cNvPr>
          <p:cNvSpPr txBox="1"/>
          <p:nvPr/>
        </p:nvSpPr>
        <p:spPr>
          <a:xfrm>
            <a:off x="1689284" y="5178576"/>
            <a:ext cx="51730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En comparant les équations de la matrice impédance et de la matrice admittance, nous obtenons :</a:t>
            </a:r>
            <a:endParaRPr lang="fr-FR" dirty="0">
              <a:latin typeface="Bookman Old Style" panose="02050604050505020204" pitchFamily="18" charset="0"/>
            </a:endParaRPr>
          </a:p>
        </p:txBody>
      </p:sp>
      <p:graphicFrame>
        <p:nvGraphicFramePr>
          <p:cNvPr id="33" name="Objet 32">
            <a:extLst>
              <a:ext uri="{FF2B5EF4-FFF2-40B4-BE49-F238E27FC236}">
                <a16:creationId xmlns:a16="http://schemas.microsoft.com/office/drawing/2014/main" id="{966A36C1-7DAC-3BAD-107C-C04A2F12B4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075869"/>
              </p:ext>
            </p:extLst>
          </p:nvPr>
        </p:nvGraphicFramePr>
        <p:xfrm>
          <a:off x="4946650" y="941388"/>
          <a:ext cx="2249488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56" name="Equation" r:id="rId15" imgW="1396800" imgH="533160" progId="Equation.DSMT4">
                  <p:embed/>
                </p:oleObj>
              </mc:Choice>
              <mc:Fallback>
                <p:oleObj name="Equation" r:id="rId15" imgW="1396800" imgH="533160" progId="Equation.DSMT4">
                  <p:embed/>
                  <p:pic>
                    <p:nvPicPr>
                      <p:cNvPr id="33" name="Objet 32">
                        <a:extLst>
                          <a:ext uri="{FF2B5EF4-FFF2-40B4-BE49-F238E27FC236}">
                            <a16:creationId xmlns:a16="http://schemas.microsoft.com/office/drawing/2014/main" id="{966A36C1-7DAC-3BAD-107C-C04A2F12B4D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6650" y="941388"/>
                        <a:ext cx="2249488" cy="9477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6" name="Groupe 45">
            <a:extLst>
              <a:ext uri="{FF2B5EF4-FFF2-40B4-BE49-F238E27FC236}">
                <a16:creationId xmlns:a16="http://schemas.microsoft.com/office/drawing/2014/main" id="{EAA0B712-E70E-7D07-71B4-506F4EC65ED0}"/>
              </a:ext>
            </a:extLst>
          </p:cNvPr>
          <p:cNvGrpSpPr/>
          <p:nvPr/>
        </p:nvGrpSpPr>
        <p:grpSpPr>
          <a:xfrm>
            <a:off x="3463984" y="1970916"/>
            <a:ext cx="4813261" cy="2654429"/>
            <a:chOff x="3463984" y="1970916"/>
            <a:chExt cx="4813261" cy="2654429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6C96F952-07A8-8E49-2D90-7E98549E84A1}"/>
                </a:ext>
              </a:extLst>
            </p:cNvPr>
            <p:cNvSpPr/>
            <p:nvPr/>
          </p:nvSpPr>
          <p:spPr>
            <a:xfrm>
              <a:off x="3463984" y="1970916"/>
              <a:ext cx="4813261" cy="2654429"/>
            </a:xfrm>
            <a:prstGeom prst="rect">
              <a:avLst/>
            </a:prstGeom>
            <a:noFill/>
            <a:ln w="38100">
              <a:solidFill>
                <a:srgbClr val="0070C0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latin typeface="Bookman Old Style" panose="02050604050505020204" pitchFamily="18" charset="0"/>
              </a:endParaRPr>
            </a:p>
          </p:txBody>
        </p:sp>
        <p:sp>
          <p:nvSpPr>
            <p:cNvPr id="43" name="ZoneTexte 42">
              <a:extLst>
                <a:ext uri="{FF2B5EF4-FFF2-40B4-BE49-F238E27FC236}">
                  <a16:creationId xmlns:a16="http://schemas.microsoft.com/office/drawing/2014/main" id="{72AA1367-0412-140A-05EF-CA539F330FFF}"/>
                </a:ext>
              </a:extLst>
            </p:cNvPr>
            <p:cNvSpPr txBox="1"/>
            <p:nvPr/>
          </p:nvSpPr>
          <p:spPr>
            <a:xfrm>
              <a:off x="5523200" y="2094457"/>
              <a:ext cx="112925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400" b="1" dirty="0">
                  <a:solidFill>
                    <a:srgbClr val="0070C0"/>
                  </a:solidFill>
                  <a:latin typeface="Bookman Old Style" panose="02050604050505020204" pitchFamily="18" charset="0"/>
                </a:rPr>
                <a:t>Q</a:t>
              </a:r>
            </a:p>
          </p:txBody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4841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5"/>
          <p:cNvSpPr txBox="1">
            <a:spLocks/>
          </p:cNvSpPr>
          <p:nvPr/>
        </p:nvSpPr>
        <p:spPr>
          <a:xfrm>
            <a:off x="966986" y="301831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Lien entre les paramètres impédances et admittances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519555" y="908685"/>
            <a:ext cx="1013904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</a:rPr>
              <a:t>Pour des raisons de simplicité, la détermination de la matrice admittance peut passer par la détermination de la matrice impédance .</a:t>
            </a:r>
          </a:p>
        </p:txBody>
      </p:sp>
      <p:graphicFrame>
        <p:nvGraphicFramePr>
          <p:cNvPr id="12" name="Obje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7794153"/>
              </p:ext>
            </p:extLst>
          </p:nvPr>
        </p:nvGraphicFramePr>
        <p:xfrm>
          <a:off x="3548728" y="2735385"/>
          <a:ext cx="48466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8" name="Equation" r:id="rId3" imgW="3009600" imgH="482400" progId="Equation.DSMT4">
                  <p:embed/>
                </p:oleObj>
              </mc:Choice>
              <mc:Fallback>
                <p:oleObj name="Equation" r:id="rId3" imgW="3009600" imgH="482400" progId="Equation.DSMT4">
                  <p:embed/>
                  <p:pic>
                    <p:nvPicPr>
                      <p:cNvPr id="12" name="Obje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48728" y="2735385"/>
                        <a:ext cx="4846637" cy="8572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7887438"/>
              </p:ext>
            </p:extLst>
          </p:nvPr>
        </p:nvGraphicFramePr>
        <p:xfrm>
          <a:off x="2675852" y="1644650"/>
          <a:ext cx="7321550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9" name="Equation" r:id="rId5" imgW="4724280" imgH="533160" progId="Equation.DSMT4">
                  <p:embed/>
                </p:oleObj>
              </mc:Choice>
              <mc:Fallback>
                <p:oleObj name="Equation" r:id="rId5" imgW="4724280" imgH="533160" progId="Equation.DSMT4">
                  <p:embed/>
                  <p:pic>
                    <p:nvPicPr>
                      <p:cNvPr id="13" name="Obje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5852" y="1644650"/>
                        <a:ext cx="7321550" cy="8556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1519554" y="3883114"/>
            <a:ext cx="1013904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Exemple : association de résistances en étoile</a:t>
            </a:r>
          </a:p>
        </p:txBody>
      </p:sp>
      <p:graphicFrame>
        <p:nvGraphicFramePr>
          <p:cNvPr id="15" name="Obje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4065671"/>
              </p:ext>
            </p:extLst>
          </p:nvPr>
        </p:nvGraphicFramePr>
        <p:xfrm>
          <a:off x="3640138" y="4349750"/>
          <a:ext cx="4232275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80" name="Equation" r:id="rId7" imgW="2628720" imgH="507960" progId="Equation.DSMT4">
                  <p:embed/>
                </p:oleObj>
              </mc:Choice>
              <mc:Fallback>
                <p:oleObj name="Equation" r:id="rId7" imgW="2628720" imgH="507960" progId="Equation.DSMT4">
                  <p:embed/>
                  <p:pic>
                    <p:nvPicPr>
                      <p:cNvPr id="15" name="Obje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138" y="4349750"/>
                        <a:ext cx="4232275" cy="9017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840392" y="5582985"/>
                <a:ext cx="4575996" cy="6594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fr-FR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fr-FR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fr-FR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kumimoji="0" lang="fr-FR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kumimoji="0" lang="fr-FR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fr-FR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kumimoji="0" lang="fr-FR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kumimoji="0" lang="fr-FR" b="0" i="0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392" y="5582985"/>
                <a:ext cx="4575996" cy="65947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696489" y="5650226"/>
                <a:ext cx="1313821" cy="5554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fr-FR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12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21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fr-FR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kumimoji="0" lang="fr-FR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kumimoji="0" 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6489" y="5650226"/>
                <a:ext cx="1313821" cy="55547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lèche droite 15"/>
          <p:cNvSpPr/>
          <p:nvPr/>
        </p:nvSpPr>
        <p:spPr>
          <a:xfrm>
            <a:off x="1923378" y="5882243"/>
            <a:ext cx="773111" cy="164957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grpSp>
        <p:nvGrpSpPr>
          <p:cNvPr id="34" name="Groupe 33">
            <a:extLst>
              <a:ext uri="{FF2B5EF4-FFF2-40B4-BE49-F238E27FC236}">
                <a16:creationId xmlns:a16="http://schemas.microsoft.com/office/drawing/2014/main" id="{991ED285-A4CA-D8F0-5800-E51238CD4D5C}"/>
              </a:ext>
            </a:extLst>
          </p:cNvPr>
          <p:cNvGrpSpPr/>
          <p:nvPr/>
        </p:nvGrpSpPr>
        <p:grpSpPr>
          <a:xfrm>
            <a:off x="8273249" y="3769604"/>
            <a:ext cx="3044920" cy="2061992"/>
            <a:chOff x="8183595" y="3592635"/>
            <a:chExt cx="3044920" cy="2061992"/>
          </a:xfrm>
        </p:grpSpPr>
        <p:grpSp>
          <p:nvGrpSpPr>
            <p:cNvPr id="30" name="Groupe 29">
              <a:extLst>
                <a:ext uri="{FF2B5EF4-FFF2-40B4-BE49-F238E27FC236}">
                  <a16:creationId xmlns:a16="http://schemas.microsoft.com/office/drawing/2014/main" id="{CD7C8D0C-6A56-6A6A-A36F-3D09ABF64612}"/>
                </a:ext>
              </a:extLst>
            </p:cNvPr>
            <p:cNvGrpSpPr/>
            <p:nvPr/>
          </p:nvGrpSpPr>
          <p:grpSpPr>
            <a:xfrm>
              <a:off x="8183595" y="3980541"/>
              <a:ext cx="3044920" cy="1674086"/>
              <a:chOff x="9047232" y="4147763"/>
              <a:chExt cx="3044920" cy="1674086"/>
            </a:xfrm>
          </p:grpSpPr>
          <p:grpSp>
            <p:nvGrpSpPr>
              <p:cNvPr id="20" name="Groupe 19">
                <a:extLst>
                  <a:ext uri="{FF2B5EF4-FFF2-40B4-BE49-F238E27FC236}">
                    <a16:creationId xmlns:a16="http://schemas.microsoft.com/office/drawing/2014/main" id="{CD34FBDE-B91F-AFC4-DB36-AA532F7F0C61}"/>
                  </a:ext>
                </a:extLst>
              </p:cNvPr>
              <p:cNvGrpSpPr/>
              <p:nvPr/>
            </p:nvGrpSpPr>
            <p:grpSpPr>
              <a:xfrm>
                <a:off x="10273862" y="4147763"/>
                <a:ext cx="1219200" cy="201987"/>
                <a:chOff x="8902262" y="4197990"/>
                <a:chExt cx="1219200" cy="201987"/>
              </a:xfrm>
            </p:grpSpPr>
            <p:cxnSp>
              <p:nvCxnSpPr>
                <p:cNvPr id="18" name="Connecteur droit 17">
                  <a:extLst>
                    <a:ext uri="{FF2B5EF4-FFF2-40B4-BE49-F238E27FC236}">
                      <a16:creationId xmlns:a16="http://schemas.microsoft.com/office/drawing/2014/main" id="{29198CA8-9BBA-7F1B-DDCE-7744EB8F480B}"/>
                    </a:ext>
                  </a:extLst>
                </p:cNvPr>
                <p:cNvCxnSpPr/>
                <p:nvPr/>
              </p:nvCxnSpPr>
              <p:spPr>
                <a:xfrm>
                  <a:off x="8902262" y="4290511"/>
                  <a:ext cx="599090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67D2646B-E217-31E6-3C64-8E355929D0D9}"/>
                    </a:ext>
                  </a:extLst>
                </p:cNvPr>
                <p:cNvSpPr/>
                <p:nvPr/>
              </p:nvSpPr>
              <p:spPr>
                <a:xfrm>
                  <a:off x="9501352" y="4197990"/>
                  <a:ext cx="620110" cy="20198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40000"/>
                        <a:lumOff val="60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shade val="100000"/>
                        <a:satMod val="11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latin typeface="Bookman Old Style" panose="02050604050505020204" pitchFamily="18" charset="0"/>
                  </a:endParaRPr>
                </a:p>
              </p:txBody>
            </p:sp>
          </p:grpSp>
          <p:grpSp>
            <p:nvGrpSpPr>
              <p:cNvPr id="22" name="Groupe 21">
                <a:extLst>
                  <a:ext uri="{FF2B5EF4-FFF2-40B4-BE49-F238E27FC236}">
                    <a16:creationId xmlns:a16="http://schemas.microsoft.com/office/drawing/2014/main" id="{2B5C66C6-0110-D056-5C30-FE961838BB10}"/>
                  </a:ext>
                </a:extLst>
              </p:cNvPr>
              <p:cNvGrpSpPr/>
              <p:nvPr/>
            </p:nvGrpSpPr>
            <p:grpSpPr>
              <a:xfrm>
                <a:off x="9047232" y="4149284"/>
                <a:ext cx="1219200" cy="201987"/>
                <a:chOff x="8902262" y="4197990"/>
                <a:chExt cx="1219200" cy="201987"/>
              </a:xfrm>
            </p:grpSpPr>
            <p:cxnSp>
              <p:nvCxnSpPr>
                <p:cNvPr id="23" name="Connecteur droit 22">
                  <a:extLst>
                    <a:ext uri="{FF2B5EF4-FFF2-40B4-BE49-F238E27FC236}">
                      <a16:creationId xmlns:a16="http://schemas.microsoft.com/office/drawing/2014/main" id="{294A6097-C63A-0013-10F3-EDBBAA13912B}"/>
                    </a:ext>
                  </a:extLst>
                </p:cNvPr>
                <p:cNvCxnSpPr/>
                <p:nvPr/>
              </p:nvCxnSpPr>
              <p:spPr>
                <a:xfrm>
                  <a:off x="8902262" y="4290511"/>
                  <a:ext cx="599090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7F4101-B598-20F9-62F0-6D6AD01AD8A3}"/>
                    </a:ext>
                  </a:extLst>
                </p:cNvPr>
                <p:cNvSpPr/>
                <p:nvPr/>
              </p:nvSpPr>
              <p:spPr>
                <a:xfrm>
                  <a:off x="9501352" y="4197990"/>
                  <a:ext cx="620110" cy="20198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40000"/>
                        <a:lumOff val="60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shade val="100000"/>
                        <a:satMod val="11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latin typeface="Bookman Old Style" panose="02050604050505020204" pitchFamily="18" charset="0"/>
                  </a:endParaRPr>
                </a:p>
              </p:txBody>
            </p:sp>
          </p:grpSp>
          <p:grpSp>
            <p:nvGrpSpPr>
              <p:cNvPr id="25" name="Groupe 24">
                <a:extLst>
                  <a:ext uri="{FF2B5EF4-FFF2-40B4-BE49-F238E27FC236}">
                    <a16:creationId xmlns:a16="http://schemas.microsoft.com/office/drawing/2014/main" id="{7B9FDE22-0D97-418E-5AAE-93E0C0CF3DFE}"/>
                  </a:ext>
                </a:extLst>
              </p:cNvPr>
              <p:cNvGrpSpPr/>
              <p:nvPr/>
            </p:nvGrpSpPr>
            <p:grpSpPr>
              <a:xfrm rot="5400000">
                <a:off x="10062957" y="4638733"/>
                <a:ext cx="998880" cy="201987"/>
                <a:chOff x="8902263" y="4189519"/>
                <a:chExt cx="998880" cy="201987"/>
              </a:xfrm>
            </p:grpSpPr>
            <p:cxnSp>
              <p:nvCxnSpPr>
                <p:cNvPr id="26" name="Connecteur droit 25">
                  <a:extLst>
                    <a:ext uri="{FF2B5EF4-FFF2-40B4-BE49-F238E27FC236}">
                      <a16:creationId xmlns:a16="http://schemas.microsoft.com/office/drawing/2014/main" id="{576DF12F-1AFB-C7CB-3B15-BB1F4664E06D}"/>
                    </a:ext>
                  </a:extLst>
                </p:cNvPr>
                <p:cNvCxnSpPr/>
                <p:nvPr/>
              </p:nvCxnSpPr>
              <p:spPr>
                <a:xfrm>
                  <a:off x="8902263" y="4290511"/>
                  <a:ext cx="396000" cy="0"/>
                </a:xfrm>
                <a:prstGeom prst="line">
                  <a:avLst/>
                </a:prstGeom>
                <a:ln w="28575">
                  <a:solidFill>
                    <a:srgbClr val="0070C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BC6320FA-A6E3-8802-FB8F-90616E17072E}"/>
                    </a:ext>
                  </a:extLst>
                </p:cNvPr>
                <p:cNvSpPr/>
                <p:nvPr/>
              </p:nvSpPr>
              <p:spPr>
                <a:xfrm>
                  <a:off x="9281033" y="4189519"/>
                  <a:ext cx="620110" cy="201987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40000"/>
                        <a:lumOff val="60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40000"/>
                        <a:lumOff val="60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40000"/>
                        <a:lumOff val="60000"/>
                        <a:shade val="100000"/>
                        <a:satMod val="115000"/>
                      </a:schemeClr>
                    </a:gs>
                  </a:gsLst>
                  <a:path path="circle">
                    <a:fillToRect l="100000" t="100000"/>
                  </a:path>
                  <a:tileRect r="-100000" b="-100000"/>
                </a:gra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FR">
                    <a:latin typeface="Bookman Old Style" panose="02050604050505020204" pitchFamily="18" charset="0"/>
                  </a:endParaRPr>
                </a:p>
              </p:txBody>
            </p:sp>
          </p:grpSp>
          <p:cxnSp>
            <p:nvCxnSpPr>
              <p:cNvPr id="28" name="Connecteur droit 27">
                <a:extLst>
                  <a:ext uri="{FF2B5EF4-FFF2-40B4-BE49-F238E27FC236}">
                    <a16:creationId xmlns:a16="http://schemas.microsoft.com/office/drawing/2014/main" id="{145A2C6B-D145-21C3-00EA-27AA3C4AE90E}"/>
                  </a:ext>
                </a:extLst>
              </p:cNvPr>
              <p:cNvCxnSpPr/>
              <p:nvPr/>
            </p:nvCxnSpPr>
            <p:spPr>
              <a:xfrm>
                <a:off x="11493062" y="4260147"/>
                <a:ext cx="59909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necteur droit 28">
                <a:extLst>
                  <a:ext uri="{FF2B5EF4-FFF2-40B4-BE49-F238E27FC236}">
                    <a16:creationId xmlns:a16="http://schemas.microsoft.com/office/drawing/2014/main" id="{D3EA8783-36B3-E667-574A-8326085F491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10262852" y="5522304"/>
                <a:ext cx="599090" cy="0"/>
              </a:xfrm>
              <a:prstGeom prst="line">
                <a:avLst/>
              </a:prstGeom>
              <a:ln w="28575">
                <a:solidFill>
                  <a:srgbClr val="0070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ZoneTexte 30">
              <a:extLst>
                <a:ext uri="{FF2B5EF4-FFF2-40B4-BE49-F238E27FC236}">
                  <a16:creationId xmlns:a16="http://schemas.microsoft.com/office/drawing/2014/main" id="{1BA2942E-BEB2-B561-3AD3-DF4FA4A76876}"/>
                </a:ext>
              </a:extLst>
            </p:cNvPr>
            <p:cNvSpPr txBox="1"/>
            <p:nvPr/>
          </p:nvSpPr>
          <p:spPr>
            <a:xfrm>
              <a:off x="8782685" y="3592635"/>
              <a:ext cx="508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Bookman Old Style" panose="02050604050505020204" pitchFamily="18" charset="0"/>
                </a:rPr>
                <a:t>R1</a:t>
              </a:r>
            </a:p>
          </p:txBody>
        </p:sp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1028FE35-1B84-1994-B813-D4373D651C81}"/>
                </a:ext>
              </a:extLst>
            </p:cNvPr>
            <p:cNvSpPr txBox="1"/>
            <p:nvPr/>
          </p:nvSpPr>
          <p:spPr>
            <a:xfrm>
              <a:off x="10120965" y="3610574"/>
              <a:ext cx="508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Bookman Old Style" panose="02050604050505020204" pitchFamily="18" charset="0"/>
                </a:rPr>
                <a:t>R2</a:t>
              </a:r>
            </a:p>
          </p:txBody>
        </p:sp>
        <p:sp>
          <p:nvSpPr>
            <p:cNvPr id="33" name="ZoneTexte 32">
              <a:extLst>
                <a:ext uri="{FF2B5EF4-FFF2-40B4-BE49-F238E27FC236}">
                  <a16:creationId xmlns:a16="http://schemas.microsoft.com/office/drawing/2014/main" id="{11721C48-A8F9-6B20-AB60-CD1A8BAEF441}"/>
                </a:ext>
              </a:extLst>
            </p:cNvPr>
            <p:cNvSpPr txBox="1"/>
            <p:nvPr/>
          </p:nvSpPr>
          <p:spPr>
            <a:xfrm>
              <a:off x="9775951" y="4580184"/>
              <a:ext cx="508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dirty="0">
                  <a:latin typeface="Bookman Old Style" panose="02050604050505020204" pitchFamily="18" charset="0"/>
                </a:rPr>
                <a:t>R3</a:t>
              </a:r>
            </a:p>
          </p:txBody>
        </p: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19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309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0" grpId="0"/>
      <p:bldP spid="11" grpId="0"/>
      <p:bldP spid="1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19"/>
          <p:cNvSpPr txBox="1"/>
          <p:nvPr/>
        </p:nvSpPr>
        <p:spPr>
          <a:xfrm>
            <a:off x="1014048" y="328746"/>
            <a:ext cx="36788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Exemple  : Quadripôle en </a:t>
            </a:r>
            <a:r>
              <a:rPr kumimoji="0" lang="el-G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π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58" name="Group 1"/>
          <p:cNvGrpSpPr>
            <a:grpSpLocks/>
          </p:cNvGrpSpPr>
          <p:nvPr/>
        </p:nvGrpSpPr>
        <p:grpSpPr bwMode="auto">
          <a:xfrm>
            <a:off x="8084665" y="318487"/>
            <a:ext cx="4099520" cy="1876680"/>
            <a:chOff x="3650" y="4663"/>
            <a:chExt cx="4579" cy="1760"/>
          </a:xfrm>
        </p:grpSpPr>
        <p:sp>
          <p:nvSpPr>
            <p:cNvPr id="59" name="AutoShape 29"/>
            <p:cNvSpPr>
              <a:spLocks noChangeShapeType="1"/>
            </p:cNvSpPr>
            <p:nvPr/>
          </p:nvSpPr>
          <p:spPr bwMode="auto">
            <a:xfrm flipH="1">
              <a:off x="4033" y="5092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Text Box 28"/>
            <p:cNvSpPr txBox="1">
              <a:spLocks noChangeArrowheads="1"/>
            </p:cNvSpPr>
            <p:nvPr/>
          </p:nvSpPr>
          <p:spPr bwMode="auto">
            <a:xfrm>
              <a:off x="4452" y="5434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AutoShape 27"/>
            <p:cNvSpPr>
              <a:spLocks noChangeShapeType="1"/>
            </p:cNvSpPr>
            <p:nvPr/>
          </p:nvSpPr>
          <p:spPr bwMode="auto">
            <a:xfrm>
              <a:off x="4247" y="5091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Text Box 26"/>
            <p:cNvSpPr txBox="1">
              <a:spLocks noChangeArrowheads="1"/>
            </p:cNvSpPr>
            <p:nvPr/>
          </p:nvSpPr>
          <p:spPr bwMode="auto">
            <a:xfrm>
              <a:off x="4247" y="4708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3" name="Text Box 25"/>
            <p:cNvSpPr txBox="1">
              <a:spLocks noChangeArrowheads="1"/>
            </p:cNvSpPr>
            <p:nvPr/>
          </p:nvSpPr>
          <p:spPr bwMode="auto">
            <a:xfrm>
              <a:off x="3650" y="5469"/>
              <a:ext cx="797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AutoShape 24"/>
            <p:cNvSpPr>
              <a:spLocks noChangeShapeType="1"/>
            </p:cNvSpPr>
            <p:nvPr/>
          </p:nvSpPr>
          <p:spPr bwMode="auto">
            <a:xfrm flipV="1">
              <a:off x="7504" y="5174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AutoShape 23"/>
            <p:cNvSpPr>
              <a:spLocks noChangeShapeType="1"/>
            </p:cNvSpPr>
            <p:nvPr/>
          </p:nvSpPr>
          <p:spPr bwMode="auto">
            <a:xfrm flipH="1" flipV="1">
              <a:off x="4033" y="6322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AutoShape 22"/>
            <p:cNvSpPr>
              <a:spLocks noChangeShapeType="1"/>
            </p:cNvSpPr>
            <p:nvPr/>
          </p:nvSpPr>
          <p:spPr bwMode="auto">
            <a:xfrm>
              <a:off x="6934" y="6322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AutoShape 21"/>
            <p:cNvSpPr>
              <a:spLocks noChangeShapeType="1"/>
            </p:cNvSpPr>
            <p:nvPr/>
          </p:nvSpPr>
          <p:spPr bwMode="auto">
            <a:xfrm flipH="1">
              <a:off x="6982" y="5094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8" name="AutoShape 20"/>
            <p:cNvSpPr>
              <a:spLocks noChangeShapeType="1"/>
            </p:cNvSpPr>
            <p:nvPr/>
          </p:nvSpPr>
          <p:spPr bwMode="auto">
            <a:xfrm flipH="1">
              <a:off x="4386" y="6321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Text Box 19"/>
            <p:cNvSpPr txBox="1">
              <a:spLocks noChangeArrowheads="1"/>
            </p:cNvSpPr>
            <p:nvPr/>
          </p:nvSpPr>
          <p:spPr bwMode="auto">
            <a:xfrm>
              <a:off x="4344" y="5957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Text Box 18"/>
            <p:cNvSpPr txBox="1">
              <a:spLocks noChangeArrowheads="1"/>
            </p:cNvSpPr>
            <p:nvPr/>
          </p:nvSpPr>
          <p:spPr bwMode="auto">
            <a:xfrm>
              <a:off x="6910" y="4708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 Box 17"/>
            <p:cNvSpPr txBox="1">
              <a:spLocks noChangeArrowheads="1"/>
            </p:cNvSpPr>
            <p:nvPr/>
          </p:nvSpPr>
          <p:spPr bwMode="auto">
            <a:xfrm>
              <a:off x="6942" y="5949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AutoShape 16"/>
            <p:cNvSpPr>
              <a:spLocks noChangeShapeType="1"/>
            </p:cNvSpPr>
            <p:nvPr/>
          </p:nvSpPr>
          <p:spPr bwMode="auto">
            <a:xfrm flipV="1">
              <a:off x="4111" y="5173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Text Box 15"/>
            <p:cNvSpPr txBox="1">
              <a:spLocks noChangeArrowheads="1"/>
            </p:cNvSpPr>
            <p:nvPr/>
          </p:nvSpPr>
          <p:spPr bwMode="auto">
            <a:xfrm>
              <a:off x="7432" y="5495"/>
              <a:ext cx="797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u</a:t>
              </a:r>
              <a:r>
                <a:rPr kumimoji="0" lang="fr-FR" altLang="fr-FR" b="0" i="0" u="none" strike="noStrike" cap="none" normalizeH="0" baseline="-3000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Rectangle 14"/>
            <p:cNvSpPr>
              <a:spLocks noChangeArrowheads="1"/>
            </p:cNvSpPr>
            <p:nvPr/>
          </p:nvSpPr>
          <p:spPr bwMode="auto">
            <a:xfrm>
              <a:off x="5488" y="4994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AutoShape 13"/>
            <p:cNvSpPr>
              <a:spLocks noChangeShapeType="1"/>
            </p:cNvSpPr>
            <p:nvPr/>
          </p:nvSpPr>
          <p:spPr bwMode="auto">
            <a:xfrm flipV="1">
              <a:off x="5015" y="5091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Rectangle 12"/>
            <p:cNvSpPr>
              <a:spLocks noChangeArrowheads="1"/>
            </p:cNvSpPr>
            <p:nvPr/>
          </p:nvSpPr>
          <p:spPr bwMode="auto">
            <a:xfrm rot="16200000">
              <a:off x="4719" y="5534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 Box 11"/>
            <p:cNvSpPr txBox="1">
              <a:spLocks noChangeArrowheads="1"/>
            </p:cNvSpPr>
            <p:nvPr/>
          </p:nvSpPr>
          <p:spPr bwMode="auto">
            <a:xfrm>
              <a:off x="6597" y="5442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AutoShape 10"/>
            <p:cNvSpPr>
              <a:spLocks noChangeShapeType="1"/>
            </p:cNvSpPr>
            <p:nvPr/>
          </p:nvSpPr>
          <p:spPr bwMode="auto">
            <a:xfrm>
              <a:off x="5015" y="5961"/>
              <a:ext cx="0" cy="247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3" name="Text Box 9"/>
            <p:cNvSpPr txBox="1">
              <a:spLocks noChangeArrowheads="1"/>
            </p:cNvSpPr>
            <p:nvPr/>
          </p:nvSpPr>
          <p:spPr bwMode="auto">
            <a:xfrm>
              <a:off x="4974" y="5892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r>
                <a:rPr kumimoji="0" lang="fr-FR" altLang="fr-FR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-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AutoShape 8"/>
            <p:cNvSpPr>
              <a:spLocks noChangeShapeType="1"/>
            </p:cNvSpPr>
            <p:nvPr/>
          </p:nvSpPr>
          <p:spPr bwMode="auto">
            <a:xfrm flipV="1">
              <a:off x="6480" y="5093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Rectangle 7"/>
            <p:cNvSpPr>
              <a:spLocks noChangeArrowheads="1"/>
            </p:cNvSpPr>
            <p:nvPr/>
          </p:nvSpPr>
          <p:spPr bwMode="auto">
            <a:xfrm rot="16200000">
              <a:off x="6184" y="5536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Text Box 6"/>
            <p:cNvSpPr txBox="1">
              <a:spLocks noChangeArrowheads="1"/>
            </p:cNvSpPr>
            <p:nvPr/>
          </p:nvSpPr>
          <p:spPr bwMode="auto">
            <a:xfrm>
              <a:off x="5505" y="466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AutoShape 5"/>
            <p:cNvSpPr>
              <a:spLocks noChangeShapeType="1"/>
            </p:cNvSpPr>
            <p:nvPr/>
          </p:nvSpPr>
          <p:spPr bwMode="auto">
            <a:xfrm>
              <a:off x="6480" y="5963"/>
              <a:ext cx="0" cy="247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Text Box 4"/>
            <p:cNvSpPr txBox="1">
              <a:spLocks noChangeArrowheads="1"/>
            </p:cNvSpPr>
            <p:nvPr/>
          </p:nvSpPr>
          <p:spPr bwMode="auto">
            <a:xfrm>
              <a:off x="6439" y="5894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kumimoji="0" lang="fr-FR" altLang="fr-FR" b="0" i="0" u="none" strike="noStrike" cap="none" normalizeH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+</a:t>
              </a: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9" name="AutoShape 3"/>
            <p:cNvSpPr>
              <a:spLocks noChangeShapeType="1"/>
            </p:cNvSpPr>
            <p:nvPr/>
          </p:nvSpPr>
          <p:spPr bwMode="auto">
            <a:xfrm>
              <a:off x="5054" y="5093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Text Box 2"/>
            <p:cNvSpPr txBox="1">
              <a:spLocks noChangeArrowheads="1"/>
            </p:cNvSpPr>
            <p:nvPr/>
          </p:nvSpPr>
          <p:spPr bwMode="auto">
            <a:xfrm>
              <a:off x="5089" y="4724"/>
              <a:ext cx="348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endParaRPr kumimoji="0" lang="fr-FR" altLang="fr-FR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3" name="Rectangle 92"/>
          <p:cNvSpPr/>
          <p:nvPr/>
        </p:nvSpPr>
        <p:spPr>
          <a:xfrm>
            <a:off x="1285836" y="1043412"/>
            <a:ext cx="624191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Prenons le quadripôle en </a:t>
            </a:r>
            <a:r>
              <a:rPr lang="el-G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π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de la figure et appliquons les lois de Kirchhoff aux nœuds d’entrée et de sortie, nous obtenons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4" name="Rectangle 93"/>
              <p:cNvSpPr/>
              <p:nvPr/>
            </p:nvSpPr>
            <p:spPr>
              <a:xfrm>
                <a:off x="1288228" y="2441302"/>
                <a:ext cx="7932556" cy="64844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̅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fr-FR" b="0" i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94" name="Rectangle 9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8228" y="2441302"/>
                <a:ext cx="7932556" cy="6484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Rectangle 94"/>
              <p:cNvSpPr/>
              <p:nvPr/>
            </p:nvSpPr>
            <p:spPr>
              <a:xfrm>
                <a:off x="702091" y="3066539"/>
                <a:ext cx="9280109" cy="64703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−</m:t>
                      </m:r>
                      <m:acc>
                        <m:accPr>
                          <m:chr m:val="̅"/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</m:acc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den>
                          </m:f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) 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̅"/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𝑈</m:t>
                                  </m:r>
                                </m:e>
                              </m:acc>
                            </m:e>
                            <m: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95" name="Rectangle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91" y="3066539"/>
                <a:ext cx="9280109" cy="64703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7" name="Objet 9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9430929"/>
              </p:ext>
            </p:extLst>
          </p:nvPr>
        </p:nvGraphicFramePr>
        <p:xfrm>
          <a:off x="1625600" y="4605338"/>
          <a:ext cx="6354763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46" name="Equation" r:id="rId5" imgW="3555720" imgH="228600" progId="Equation.DSMT4">
                  <p:embed/>
                </p:oleObj>
              </mc:Choice>
              <mc:Fallback>
                <p:oleObj name="Equation" r:id="rId5" imgW="3555720" imgH="228600" progId="Equation.DSMT4">
                  <p:embed/>
                  <p:pic>
                    <p:nvPicPr>
                      <p:cNvPr id="97" name="Objet 9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625600" y="4605338"/>
                        <a:ext cx="6354763" cy="442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Rectangle 97"/>
          <p:cNvSpPr/>
          <p:nvPr/>
        </p:nvSpPr>
        <p:spPr>
          <a:xfrm>
            <a:off x="962453" y="3982518"/>
            <a:ext cx="39869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Nous trouvons par identification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4134874" y="5593982"/>
                <a:ext cx="4925040" cy="7087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𝐼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kumimoji="0" lang="fr-F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fr-FR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fr-FR" b="0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kumimoji="0" lang="fr-FR" sz="18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fr-FR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 b="0" i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fr-FR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/</m:t>
                                </m:r>
                                <m:sSub>
                                  <m:sSubPr>
                                    <m:ctrlPr>
                                      <a:rPr lang="fr-FR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fr-FR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fr-FR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kumimoji="0" lang="fr-FR" sz="1800" b="0" i="1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kumimoji="0" lang="fr-FR" sz="1800" b="0" i="1" u="none" strike="noStrike" kern="1200" cap="none" spc="0" normalizeH="0" baseline="0" noProof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kumimoji="0" lang="fr-FR" sz="1800" b="0" i="1" u="none" strike="noStrike" kern="120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kumimoji="0" lang="fr-FR" sz="1800" b="0" i="0" u="none" strike="noStrike" kern="1200" cap="none" spc="0" normalizeH="0" baseline="0" noProof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kumimoji="0" lang="fr-FR" sz="180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Bookman Old Style" panose="02050604050505020204" pitchFamily="18" charset="0"/>
                        </a:rPr>
                        <m:t> </m:t>
                      </m:r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4874" y="5593982"/>
                <a:ext cx="4925040" cy="7087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" name="Rectangle 99"/>
          <p:cNvSpPr/>
          <p:nvPr/>
        </p:nvSpPr>
        <p:spPr>
          <a:xfrm>
            <a:off x="990761" y="5238156"/>
            <a:ext cx="3754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La matrice admittance devient :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7394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/>
      <p:bldP spid="95" grpId="0"/>
      <p:bldP spid="98" grpId="0"/>
      <p:bldP spid="99" grpId="0"/>
      <p:bldP spid="10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bject 5"/>
          <p:cNvSpPr txBox="1">
            <a:spLocks/>
          </p:cNvSpPr>
          <p:nvPr/>
        </p:nvSpPr>
        <p:spPr>
          <a:xfrm>
            <a:off x="921297" y="230507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I-2-3 Matrice hybride [H] 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324298" y="959111"/>
                <a:ext cx="9812262" cy="12003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Les matrices hybrides [H] sont utilisées plus particulièrement dans l’étude des transistors où les paramètres  sont de natures différentes (tension d’entrée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e>
                      <m:sub>
                        <m: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et courant de sortie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e>
                      <m:sub>
                        <m:r>
                          <a:rPr lang="fr-FR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). On utilise les deux équations suivantes pour décrire le quadripôle :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298" y="959111"/>
                <a:ext cx="9812262" cy="1200329"/>
              </a:xfrm>
              <a:prstGeom prst="rect">
                <a:avLst/>
              </a:prstGeom>
              <a:blipFill>
                <a:blip r:embed="rId4"/>
                <a:stretch>
                  <a:fillRect l="-497" t="-2030" r="-497" b="-761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7620184"/>
              </p:ext>
            </p:extLst>
          </p:nvPr>
        </p:nvGraphicFramePr>
        <p:xfrm>
          <a:off x="2335657" y="2476305"/>
          <a:ext cx="7646543" cy="780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Equation" r:id="rId5" imgW="4622760" imgH="533160" progId="Equation.DSMT4">
                  <p:embed/>
                </p:oleObj>
              </mc:Choice>
              <mc:Fallback>
                <p:oleObj name="Equation" r:id="rId5" imgW="4622760" imgH="533160" progId="Equation.DSMT4">
                  <p:embed/>
                  <p:pic>
                    <p:nvPicPr>
                      <p:cNvPr id="14" name="Obje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657" y="2476305"/>
                        <a:ext cx="7646543" cy="780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object 19"/>
          <p:cNvSpPr txBox="1"/>
          <p:nvPr/>
        </p:nvSpPr>
        <p:spPr>
          <a:xfrm>
            <a:off x="1309979" y="3904033"/>
            <a:ext cx="36788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Définitions :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1109460" y="4462746"/>
                <a:ext cx="10340098" cy="11249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15000"/>
                  </a:lnSpc>
                  <a:buFont typeface="Times New Roman" panose="02020603050405020304" pitchFamily="18" charset="0"/>
                  <a:buChar char="-"/>
                </a:pPr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un quadripôle est dit </a:t>
                </a:r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réciproque (passif)</a:t>
                </a:r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si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12</m:t>
                        </m:r>
                      </m:sub>
                    </m:sSub>
                    <m:r>
                      <a:rPr lang="fr-FR" i="1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</m:t>
                    </m:r>
                    <m:r>
                      <a:rPr lang="fr-FR" b="0" i="1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fr-FR" i="1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21</m:t>
                        </m:r>
                      </m:sub>
                    </m:sSub>
                  </m:oMath>
                </a14:m>
                <a:r>
                  <a:rPr lang="fr-FR" dirty="0">
                    <a:effectLst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lvl="0" indent="-342900" algn="just">
                  <a:lnSpc>
                    <a:spcPct val="115000"/>
                  </a:lnSpc>
                  <a:buFont typeface="Times New Roman" panose="02020603050405020304" pitchFamily="18" charset="0"/>
                  <a:buChar char="-"/>
                </a:pPr>
                <a:endParaRPr lang="fr-FR" dirty="0">
                  <a:effectLst/>
                  <a:latin typeface="Bookman Old Style" panose="02050604050505020204" pitchFamily="18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spcBef>
                    <a:spcPts val="600"/>
                  </a:spcBef>
                  <a:buFont typeface="Times New Roman" panose="02020603050405020304" pitchFamily="18" charset="0"/>
                  <a:buChar char="-"/>
                </a:pPr>
                <a:r>
                  <a:rPr lang="fr-FR" u="sng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 de plus</a:t>
                </a:r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le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fr-F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fr-F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 b="0" i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fr-F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fr-FR"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fr-FR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FR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alors le quadripôle est </a:t>
                </a:r>
                <a:r>
                  <a:rPr lang="fr-FR" b="1" u="sng" dirty="0">
                    <a:solidFill>
                      <a:srgbClr val="FF0000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symétrique</a:t>
                </a:r>
                <a:r>
                  <a:rPr lang="fr-FR" dirty="0"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460" y="4462746"/>
                <a:ext cx="10340098" cy="1124923"/>
              </a:xfrm>
              <a:prstGeom prst="rect">
                <a:avLst/>
              </a:prstGeom>
              <a:blipFill>
                <a:blip r:embed="rId7"/>
                <a:stretch>
                  <a:fillRect l="-413" t="-1081" b="-594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2761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8070790"/>
              </p:ext>
            </p:extLst>
          </p:nvPr>
        </p:nvGraphicFramePr>
        <p:xfrm>
          <a:off x="2777025" y="2179572"/>
          <a:ext cx="120808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6" name="Equation" r:id="rId4" imgW="888840" imgH="507960" progId="Equation.DSMT4">
                  <p:embed/>
                </p:oleObj>
              </mc:Choice>
              <mc:Fallback>
                <p:oleObj name="Equation" r:id="rId4" imgW="888840" imgH="507960" progId="Equation.DSMT4">
                  <p:embed/>
                  <p:pic>
                    <p:nvPicPr>
                      <p:cNvPr id="18" name="Obje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025" y="2179572"/>
                        <a:ext cx="1208088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366154"/>
              </p:ext>
            </p:extLst>
          </p:nvPr>
        </p:nvGraphicFramePr>
        <p:xfrm>
          <a:off x="2777025" y="4233589"/>
          <a:ext cx="12001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7" name="Equation" r:id="rId6" imgW="901440" imgH="507960" progId="Equation.DSMT4">
                  <p:embed/>
                </p:oleObj>
              </mc:Choice>
              <mc:Fallback>
                <p:oleObj name="Equation" r:id="rId6" imgW="901440" imgH="507960" progId="Equation.DSMT4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025" y="4233589"/>
                        <a:ext cx="1200150" cy="800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683098"/>
              </p:ext>
            </p:extLst>
          </p:nvPr>
        </p:nvGraphicFramePr>
        <p:xfrm>
          <a:off x="2777025" y="5232300"/>
          <a:ext cx="11588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8" name="Equation" r:id="rId8" imgW="888840" imgH="507960" progId="Equation.DSMT4">
                  <p:embed/>
                </p:oleObj>
              </mc:Choice>
              <mc:Fallback>
                <p:oleObj name="Equation" r:id="rId8" imgW="888840" imgH="507960" progId="Equation.DSMT4">
                  <p:embed/>
                  <p:pic>
                    <p:nvPicPr>
                      <p:cNvPr id="21" name="Obje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7025" y="5232300"/>
                        <a:ext cx="1158875" cy="7889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5079378"/>
              </p:ext>
            </p:extLst>
          </p:nvPr>
        </p:nvGraphicFramePr>
        <p:xfrm>
          <a:off x="2656814" y="3154880"/>
          <a:ext cx="124618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09" name="Equation" r:id="rId10" imgW="888840" imgH="507960" progId="Equation.DSMT4">
                  <p:embed/>
                </p:oleObj>
              </mc:Choice>
              <mc:Fallback>
                <p:oleObj name="Equation" r:id="rId10" imgW="888840" imgH="507960" progId="Equation.DSMT4">
                  <p:embed/>
                  <p:pic>
                    <p:nvPicPr>
                      <p:cNvPr id="22" name="Obje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814" y="3154880"/>
                        <a:ext cx="1246187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5"/>
          <p:cNvSpPr>
            <a:spLocks noChangeArrowheads="1"/>
          </p:cNvSpPr>
          <p:nvPr/>
        </p:nvSpPr>
        <p:spPr bwMode="auto">
          <a:xfrm>
            <a:off x="1043580" y="341692"/>
            <a:ext cx="519565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alt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Signification physique des paramètres </a:t>
            </a:r>
            <a:r>
              <a:rPr lang="fr-FR" altLang="fr-FR" b="1" dirty="0" err="1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hij</a:t>
            </a:r>
            <a:endParaRPr lang="fr-FR" altLang="fr-FR" b="1" dirty="0">
              <a:solidFill>
                <a:srgbClr val="FF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6"/>
          <p:cNvSpPr>
            <a:spLocks noChangeArrowheads="1"/>
          </p:cNvSpPr>
          <p:nvPr/>
        </p:nvSpPr>
        <p:spPr bwMode="auto">
          <a:xfrm>
            <a:off x="4105443" y="2376364"/>
            <a:ext cx="534312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  <a:defRPr/>
            </a:pPr>
            <a:r>
              <a:rPr kumimoji="0" lang="fr-FR" alt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impédance d’entrée à sortie en court-circuit</a:t>
            </a: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7"/>
          <p:cNvSpPr>
            <a:spLocks noChangeArrowheads="1"/>
          </p:cNvSpPr>
          <p:nvPr/>
        </p:nvSpPr>
        <p:spPr bwMode="auto">
          <a:xfrm>
            <a:off x="4096809" y="4407045"/>
            <a:ext cx="4610558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  <a:defRPr/>
            </a:pPr>
            <a:r>
              <a:rPr kumimoji="0" lang="fr-FR" alt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admittance de sortie à entrée ouverte</a:t>
            </a: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  <a:defRPr/>
            </a:pP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9"/>
          <p:cNvSpPr>
            <a:spLocks noChangeArrowheads="1"/>
          </p:cNvSpPr>
          <p:nvPr/>
        </p:nvSpPr>
        <p:spPr bwMode="auto">
          <a:xfrm>
            <a:off x="4005490" y="3367366"/>
            <a:ext cx="859401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/>
            <a:r>
              <a:rPr kumimoji="0" lang="fr-FR" alt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gain en tension inverse à entrée </a:t>
            </a:r>
            <a:r>
              <a:rPr lang="fr-FR" altLang="fr-FR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ouverte (ou rapport de transfert inverse)</a:t>
            </a: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 9"/>
          <p:cNvSpPr>
            <a:spLocks noChangeArrowheads="1"/>
          </p:cNvSpPr>
          <p:nvPr/>
        </p:nvSpPr>
        <p:spPr bwMode="auto">
          <a:xfrm>
            <a:off x="4119637" y="5464464"/>
            <a:ext cx="493917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144463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144463" algn="l"/>
              </a:tabLst>
              <a:defRPr/>
            </a:pPr>
            <a:r>
              <a:rPr kumimoji="0" lang="fr-FR" alt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gain en courant à sortie en court-circuit</a:t>
            </a:r>
            <a:endParaRPr kumimoji="0" lang="fr-FR" alt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90C5F555-7EEB-0319-7E70-424815A5CE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7524850"/>
              </p:ext>
            </p:extLst>
          </p:nvPr>
        </p:nvGraphicFramePr>
        <p:xfrm>
          <a:off x="2656814" y="1246063"/>
          <a:ext cx="7646543" cy="7807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10" name="Equation" r:id="rId12" imgW="4622760" imgH="533160" progId="Equation.DSMT4">
                  <p:embed/>
                </p:oleObj>
              </mc:Choice>
              <mc:Fallback>
                <p:oleObj name="Equation" r:id="rId12" imgW="4622760" imgH="533160" progId="Equation.DSMT4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90C5F555-7EEB-0319-7E70-424815A5CEA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6814" y="1246063"/>
                        <a:ext cx="7646543" cy="7807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224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5"/>
          <p:cNvSpPr>
            <a:spLocks noChangeArrowheads="1"/>
          </p:cNvSpPr>
          <p:nvPr/>
        </p:nvSpPr>
        <p:spPr bwMode="auto">
          <a:xfrm>
            <a:off x="918598" y="300644"/>
            <a:ext cx="262604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Schéma équivalent :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19555" y="1125862"/>
            <a:ext cx="854964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Le modèle d’un quadripôle utilisant les paramètres h est celui donné à la figure suivante :</a:t>
            </a:r>
          </a:p>
        </p:txBody>
      </p:sp>
      <p:cxnSp>
        <p:nvCxnSpPr>
          <p:cNvPr id="29" name="Connecteur droit 28"/>
          <p:cNvCxnSpPr/>
          <p:nvPr/>
        </p:nvCxnSpPr>
        <p:spPr>
          <a:xfrm flipH="1" flipV="1">
            <a:off x="3015431" y="3025346"/>
            <a:ext cx="2354728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Ellipse 29"/>
          <p:cNvSpPr/>
          <p:nvPr/>
        </p:nvSpPr>
        <p:spPr>
          <a:xfrm>
            <a:off x="6176840" y="3551971"/>
            <a:ext cx="609600" cy="70585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31" name="Ellipse 30"/>
          <p:cNvSpPr/>
          <p:nvPr/>
        </p:nvSpPr>
        <p:spPr>
          <a:xfrm>
            <a:off x="6176840" y="3940467"/>
            <a:ext cx="609600" cy="70585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674164" y="3589649"/>
            <a:ext cx="328670" cy="1035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33" name="Rectangle 32"/>
          <p:cNvSpPr/>
          <p:nvPr/>
        </p:nvSpPr>
        <p:spPr>
          <a:xfrm rot="5400000">
            <a:off x="4176116" y="2526794"/>
            <a:ext cx="328670" cy="1035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5065358" y="3751343"/>
            <a:ext cx="609600" cy="70585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36" name="Connecteur droit 35"/>
          <p:cNvCxnSpPr>
            <a:stCxn id="34" idx="0"/>
          </p:cNvCxnSpPr>
          <p:nvPr/>
        </p:nvCxnSpPr>
        <p:spPr>
          <a:xfrm flipH="1" flipV="1">
            <a:off x="5370157" y="3025347"/>
            <a:ext cx="1" cy="725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 flipV="1">
            <a:off x="6481640" y="3036265"/>
            <a:ext cx="1" cy="531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H="1">
            <a:off x="6481640" y="3025346"/>
            <a:ext cx="237952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Connecteur droit 38"/>
          <p:cNvCxnSpPr/>
          <p:nvPr/>
        </p:nvCxnSpPr>
        <p:spPr>
          <a:xfrm flipV="1">
            <a:off x="7837766" y="3028687"/>
            <a:ext cx="1" cy="531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Connecteur droit 39"/>
          <p:cNvCxnSpPr/>
          <p:nvPr/>
        </p:nvCxnSpPr>
        <p:spPr>
          <a:xfrm flipH="1" flipV="1">
            <a:off x="5370157" y="4441597"/>
            <a:ext cx="1" cy="725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 flipH="1">
            <a:off x="3152274" y="5167593"/>
            <a:ext cx="565246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Connecteur droit 41"/>
          <p:cNvCxnSpPr/>
          <p:nvPr/>
        </p:nvCxnSpPr>
        <p:spPr>
          <a:xfrm flipV="1">
            <a:off x="7838499" y="4625519"/>
            <a:ext cx="1" cy="531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Connecteur droit 42"/>
          <p:cNvCxnSpPr/>
          <p:nvPr/>
        </p:nvCxnSpPr>
        <p:spPr>
          <a:xfrm flipV="1">
            <a:off x="6475186" y="4641083"/>
            <a:ext cx="1" cy="531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Connecteur droit 43"/>
          <p:cNvCxnSpPr/>
          <p:nvPr/>
        </p:nvCxnSpPr>
        <p:spPr>
          <a:xfrm flipV="1">
            <a:off x="8701924" y="3227678"/>
            <a:ext cx="1" cy="175619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necteur droit 44"/>
          <p:cNvCxnSpPr/>
          <p:nvPr/>
        </p:nvCxnSpPr>
        <p:spPr>
          <a:xfrm flipV="1">
            <a:off x="3331224" y="3254922"/>
            <a:ext cx="1" cy="175619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eur droit 45"/>
          <p:cNvCxnSpPr/>
          <p:nvPr/>
        </p:nvCxnSpPr>
        <p:spPr>
          <a:xfrm>
            <a:off x="6475186" y="3767385"/>
            <a:ext cx="0" cy="665281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Flèche gauche 46"/>
          <p:cNvSpPr/>
          <p:nvPr/>
        </p:nvSpPr>
        <p:spPr>
          <a:xfrm>
            <a:off x="8207373" y="2944406"/>
            <a:ext cx="329080" cy="1837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8" name="Flèche gauche 47"/>
          <p:cNvSpPr/>
          <p:nvPr/>
        </p:nvSpPr>
        <p:spPr>
          <a:xfrm flipH="1" flipV="1">
            <a:off x="3374249" y="2933488"/>
            <a:ext cx="329080" cy="1837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8000638" y="3927253"/>
            <a:ext cx="814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h</a:t>
            </a:r>
            <a:r>
              <a:rPr kumimoji="0" lang="fr-FR" sz="1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22</a:t>
            </a:r>
            <a:endParaRPr kumimoji="0" lang="fr-FR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4109283" y="2520388"/>
            <a:ext cx="814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h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11</a:t>
            </a:r>
            <a:endParaRPr kumimoji="0" lang="fr-FR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2859017" y="3942423"/>
            <a:ext cx="814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sz="1400" i="1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718781" y="3904897"/>
            <a:ext cx="814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h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21 </a:t>
            </a: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sz="1400" i="1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4133427" y="3924061"/>
            <a:ext cx="12651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h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12 </a:t>
            </a: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sz="1400" i="1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722116" y="3880881"/>
            <a:ext cx="814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sz="1400" i="1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8250750" y="2579164"/>
            <a:ext cx="814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sz="1400" i="1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3271859" y="2573923"/>
            <a:ext cx="814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sz="1400" i="1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58627" y="5723964"/>
            <a:ext cx="62808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fr-FR" u="sng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Quadripôle utilisant le modèle de la matrice hybride h</a:t>
            </a:r>
          </a:p>
        </p:txBody>
      </p:sp>
      <p:cxnSp>
        <p:nvCxnSpPr>
          <p:cNvPr id="57" name="Connecteur droit 56"/>
          <p:cNvCxnSpPr/>
          <p:nvPr/>
        </p:nvCxnSpPr>
        <p:spPr>
          <a:xfrm flipV="1">
            <a:off x="5370157" y="3762911"/>
            <a:ext cx="0" cy="665281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riangle isocèle 57"/>
          <p:cNvSpPr/>
          <p:nvPr/>
        </p:nvSpPr>
        <p:spPr>
          <a:xfrm flipV="1">
            <a:off x="6388883" y="3179517"/>
            <a:ext cx="209577" cy="169625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59" name="Triangle isocèle 58"/>
          <p:cNvSpPr/>
          <p:nvPr/>
        </p:nvSpPr>
        <p:spPr>
          <a:xfrm flipV="1">
            <a:off x="7732977" y="3205195"/>
            <a:ext cx="209577" cy="169625"/>
          </a:xfrm>
          <a:prstGeom prst="triangl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887846" y="3156351"/>
            <a:ext cx="9681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h</a:t>
            </a:r>
            <a:r>
              <a:rPr kumimoji="0" lang="fr-FR" sz="1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22 </a:t>
            </a: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sz="1400" i="1" noProof="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sz="1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2724E3BB-25A3-B7D8-9D1D-ABB28687A4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4126958"/>
              </p:ext>
            </p:extLst>
          </p:nvPr>
        </p:nvGraphicFramePr>
        <p:xfrm>
          <a:off x="5074321" y="1697021"/>
          <a:ext cx="22050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8" name="Equation" r:id="rId4" imgW="1333440" imgH="533160" progId="Equation.DSMT4">
                  <p:embed/>
                </p:oleObj>
              </mc:Choice>
              <mc:Fallback>
                <p:oleObj name="Equation" r:id="rId4" imgW="1333440" imgH="533160" progId="Equation.DSMT4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2724E3BB-25A3-B7D8-9D1D-ABB28687A4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4321" y="1697021"/>
                        <a:ext cx="2205038" cy="781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82876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19"/>
          <p:cNvSpPr txBox="1"/>
          <p:nvPr/>
        </p:nvSpPr>
        <p:spPr>
          <a:xfrm>
            <a:off x="983432" y="423680"/>
            <a:ext cx="402355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Exemple :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" name="object 19"/>
              <p:cNvSpPr txBox="1"/>
              <p:nvPr/>
            </p:nvSpPr>
            <p:spPr>
              <a:xfrm>
                <a:off x="1218178" y="1285440"/>
                <a:ext cx="3122116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cas 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fr-F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</m:t>
                    </m:r>
                  </m:oMath>
                </a14:m>
                <a:endParaRPr kumimoji="0" lang="ar-MA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82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178" y="1285440"/>
                <a:ext cx="3122116" cy="289823"/>
              </a:xfrm>
              <a:prstGeom prst="rect">
                <a:avLst/>
              </a:prstGeom>
              <a:blipFill>
                <a:blip r:embed="rId4"/>
                <a:stretch>
                  <a:fillRect l="-4297" t="-23404" b="-489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3" name="Group 1"/>
          <p:cNvGrpSpPr>
            <a:grpSpLocks/>
          </p:cNvGrpSpPr>
          <p:nvPr/>
        </p:nvGrpSpPr>
        <p:grpSpPr bwMode="auto">
          <a:xfrm>
            <a:off x="7365388" y="77450"/>
            <a:ext cx="4159503" cy="1773250"/>
            <a:chOff x="3522" y="4663"/>
            <a:chExt cx="4646" cy="1663"/>
          </a:xfrm>
        </p:grpSpPr>
        <p:sp>
          <p:nvSpPr>
            <p:cNvPr id="54" name="AutoShape 29"/>
            <p:cNvSpPr>
              <a:spLocks noChangeShapeType="1"/>
            </p:cNvSpPr>
            <p:nvPr/>
          </p:nvSpPr>
          <p:spPr bwMode="auto">
            <a:xfrm flipH="1">
              <a:off x="4033" y="5092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4452" y="5434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dirty="0"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AutoShape 27"/>
            <p:cNvSpPr>
              <a:spLocks noChangeShapeType="1"/>
            </p:cNvSpPr>
            <p:nvPr/>
          </p:nvSpPr>
          <p:spPr bwMode="auto">
            <a:xfrm>
              <a:off x="4247" y="5091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 Box 26"/>
                <p:cNvSpPr txBox="1">
                  <a:spLocks noChangeArrowheads="1"/>
                </p:cNvSpPr>
                <p:nvPr/>
              </p:nvSpPr>
              <p:spPr bwMode="auto">
                <a:xfrm>
                  <a:off x="4140" y="4695"/>
                  <a:ext cx="685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7" name="Text 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4140" y="4695"/>
                  <a:ext cx="685" cy="466"/>
                </a:xfrm>
                <a:prstGeom prst="rect">
                  <a:avLst/>
                </a:prstGeom>
                <a:blipFill>
                  <a:blip r:embed="rId5"/>
                  <a:stretch>
                    <a:fillRect r="-12871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Text Box 25"/>
                <p:cNvSpPr txBox="1">
                  <a:spLocks noChangeArrowheads="1"/>
                </p:cNvSpPr>
                <p:nvPr/>
              </p:nvSpPr>
              <p:spPr bwMode="auto">
                <a:xfrm>
                  <a:off x="3522" y="5485"/>
                  <a:ext cx="797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fr-FR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8" name="Text 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522" y="5485"/>
                  <a:ext cx="797" cy="466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AutoShape 24"/>
            <p:cNvSpPr>
              <a:spLocks noChangeShapeType="1"/>
            </p:cNvSpPr>
            <p:nvPr/>
          </p:nvSpPr>
          <p:spPr bwMode="auto">
            <a:xfrm flipV="1">
              <a:off x="7504" y="5174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utoShape 23"/>
            <p:cNvSpPr>
              <a:spLocks noChangeShapeType="1"/>
            </p:cNvSpPr>
            <p:nvPr/>
          </p:nvSpPr>
          <p:spPr bwMode="auto">
            <a:xfrm flipH="1" flipV="1">
              <a:off x="4033" y="6322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AutoShape 21"/>
            <p:cNvSpPr>
              <a:spLocks noChangeShapeType="1"/>
            </p:cNvSpPr>
            <p:nvPr/>
          </p:nvSpPr>
          <p:spPr bwMode="auto">
            <a:xfrm flipH="1">
              <a:off x="6982" y="5094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 Box 18"/>
                <p:cNvSpPr txBox="1">
                  <a:spLocks noChangeArrowheads="1"/>
                </p:cNvSpPr>
                <p:nvPr/>
              </p:nvSpPr>
              <p:spPr bwMode="auto">
                <a:xfrm>
                  <a:off x="6910" y="4708"/>
                  <a:ext cx="685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𝐼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5" name="Text Box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910" y="4708"/>
                  <a:ext cx="685" cy="466"/>
                </a:xfrm>
                <a:prstGeom prst="rect">
                  <a:avLst/>
                </a:prstGeom>
                <a:blipFill>
                  <a:blip r:embed="rId7"/>
                  <a:stretch>
                    <a:fillRect r="-14000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7" name="AutoShape 16"/>
            <p:cNvSpPr>
              <a:spLocks noChangeShapeType="1"/>
            </p:cNvSpPr>
            <p:nvPr/>
          </p:nvSpPr>
          <p:spPr bwMode="auto">
            <a:xfrm flipV="1">
              <a:off x="4111" y="5173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Text Box 15"/>
                <p:cNvSpPr txBox="1">
                  <a:spLocks noChangeArrowheads="1"/>
                </p:cNvSpPr>
                <p:nvPr/>
              </p:nvSpPr>
              <p:spPr bwMode="auto">
                <a:xfrm>
                  <a:off x="7371" y="5494"/>
                  <a:ext cx="797" cy="46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lv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fr-FR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fr-FR" b="0" i="1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</m:acc>
                          </m:e>
                          <m:sub>
                            <m:r>
                              <a:rPr lang="fr-FR" b="0" i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fr-FR" altLang="fr-FR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Bookman Old Style" panose="020506040505050202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8" name="Text 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371" y="5494"/>
                  <a:ext cx="797" cy="466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9" name="Rectangle 14"/>
            <p:cNvSpPr>
              <a:spLocks noChangeArrowheads="1"/>
            </p:cNvSpPr>
            <p:nvPr/>
          </p:nvSpPr>
          <p:spPr bwMode="auto">
            <a:xfrm>
              <a:off x="5488" y="4994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AutoShape 13"/>
            <p:cNvSpPr>
              <a:spLocks noChangeShapeType="1"/>
            </p:cNvSpPr>
            <p:nvPr/>
          </p:nvSpPr>
          <p:spPr bwMode="auto">
            <a:xfrm flipV="1">
              <a:off x="5015" y="5091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12"/>
            <p:cNvSpPr>
              <a:spLocks noChangeArrowheads="1"/>
            </p:cNvSpPr>
            <p:nvPr/>
          </p:nvSpPr>
          <p:spPr bwMode="auto">
            <a:xfrm rot="16200000">
              <a:off x="4719" y="5534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 Box 11"/>
            <p:cNvSpPr txBox="1">
              <a:spLocks noChangeArrowheads="1"/>
            </p:cNvSpPr>
            <p:nvPr/>
          </p:nvSpPr>
          <p:spPr bwMode="auto">
            <a:xfrm>
              <a:off x="6597" y="5442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fr-FR" altLang="fr-FR" baseline="-30000" dirty="0"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AutoShape 8"/>
            <p:cNvSpPr>
              <a:spLocks noChangeShapeType="1"/>
            </p:cNvSpPr>
            <p:nvPr/>
          </p:nvSpPr>
          <p:spPr bwMode="auto">
            <a:xfrm flipV="1">
              <a:off x="6480" y="5093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7"/>
            <p:cNvSpPr>
              <a:spLocks noChangeArrowheads="1"/>
            </p:cNvSpPr>
            <p:nvPr/>
          </p:nvSpPr>
          <p:spPr bwMode="auto">
            <a:xfrm rot="16200000">
              <a:off x="6184" y="5536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 Box 6"/>
            <p:cNvSpPr txBox="1">
              <a:spLocks noChangeArrowheads="1"/>
            </p:cNvSpPr>
            <p:nvPr/>
          </p:nvSpPr>
          <p:spPr bwMode="auto">
            <a:xfrm>
              <a:off x="5505" y="466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fr-FR" altLang="fr-FR" dirty="0"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fr-FR" altLang="fr-FR" baseline="-30000" dirty="0"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5" name="Groupe 114"/>
          <p:cNvGrpSpPr/>
          <p:nvPr/>
        </p:nvGrpSpPr>
        <p:grpSpPr>
          <a:xfrm>
            <a:off x="8150194" y="2531379"/>
            <a:ext cx="3719383" cy="1776807"/>
            <a:chOff x="8156374" y="3511427"/>
            <a:chExt cx="3719383" cy="1776807"/>
          </a:xfrm>
        </p:grpSpPr>
        <p:cxnSp>
          <p:nvCxnSpPr>
            <p:cNvPr id="112" name="Connecteur droit 111"/>
            <p:cNvCxnSpPr/>
            <p:nvPr/>
          </p:nvCxnSpPr>
          <p:spPr>
            <a:xfrm flipH="1">
              <a:off x="8156374" y="3960877"/>
              <a:ext cx="367824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Connecteur droit avec flèche 108"/>
            <p:cNvCxnSpPr/>
            <p:nvPr/>
          </p:nvCxnSpPr>
          <p:spPr>
            <a:xfrm flipV="1">
              <a:off x="11123715" y="4089578"/>
              <a:ext cx="0" cy="113281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Connecteur droit 110"/>
            <p:cNvCxnSpPr/>
            <p:nvPr/>
          </p:nvCxnSpPr>
          <p:spPr>
            <a:xfrm flipH="1">
              <a:off x="8197516" y="5270514"/>
              <a:ext cx="3678241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14" name="Groupe 113"/>
            <p:cNvGrpSpPr/>
            <p:nvPr/>
          </p:nvGrpSpPr>
          <p:grpSpPr>
            <a:xfrm>
              <a:off x="8311173" y="3511427"/>
              <a:ext cx="3541099" cy="1776807"/>
              <a:chOff x="8311173" y="3511427"/>
              <a:chExt cx="3541099" cy="1776807"/>
            </a:xfrm>
          </p:grpSpPr>
          <p:grpSp>
            <p:nvGrpSpPr>
              <p:cNvPr id="107" name="Groupe 106"/>
              <p:cNvGrpSpPr/>
              <p:nvPr/>
            </p:nvGrpSpPr>
            <p:grpSpPr>
              <a:xfrm>
                <a:off x="8311173" y="3511427"/>
                <a:ext cx="3541099" cy="1776807"/>
                <a:chOff x="8598110" y="3086747"/>
                <a:chExt cx="3541099" cy="1776807"/>
              </a:xfrm>
            </p:grpSpPr>
            <p:grpSp>
              <p:nvGrpSpPr>
                <p:cNvPr id="83" name="Group 1"/>
                <p:cNvGrpSpPr>
                  <a:grpSpLocks/>
                </p:cNvGrpSpPr>
                <p:nvPr/>
              </p:nvGrpSpPr>
              <p:grpSpPr bwMode="auto">
                <a:xfrm>
                  <a:off x="8598110" y="3086747"/>
                  <a:ext cx="3119180" cy="1771118"/>
                  <a:chOff x="4111" y="4663"/>
                  <a:chExt cx="3484" cy="1661"/>
                </a:xfrm>
              </p:grpSpPr>
              <p:sp>
                <p:nvSpPr>
                  <p:cNvPr id="85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452" y="5434"/>
                    <a:ext cx="535" cy="4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fr-FR" altLang="fr-FR" dirty="0">
                        <a:latin typeface="Bookman Old Style" panose="0205060405050502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R</a:t>
                    </a:r>
                    <a:r>
                      <a:rPr kumimoji="0" lang="fr-FR" altLang="fr-FR" b="0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86" name="AutoShape 27"/>
                  <p:cNvSpPr>
                    <a:spLocks noChangeShapeType="1"/>
                  </p:cNvSpPr>
                  <p:nvPr/>
                </p:nvSpPr>
                <p:spPr bwMode="auto">
                  <a:xfrm>
                    <a:off x="4247" y="5091"/>
                    <a:ext cx="333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87" name="Text Box 2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4247" y="4708"/>
                        <a:ext cx="685" cy="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lvl="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fr-F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fr-FR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fr-FR" altLang="fr-FR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87" name="Text Box 26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4247" y="4708"/>
                        <a:ext cx="685" cy="466"/>
                      </a:xfrm>
                      <a:prstGeom prst="rect">
                        <a:avLst/>
                      </a:prstGeom>
                      <a:blipFill>
                        <a:blip r:embed="rId9"/>
                        <a:stretch>
                          <a:fillRect r="-13861"/>
                        </a:stretch>
                      </a:blipFill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91" name="AutoShape 21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6982" y="5094"/>
                    <a:ext cx="318" cy="0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92" name="Text Box 18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6910" y="4708"/>
                        <a:ext cx="685" cy="4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 vert="horz" wrap="square" lIns="91440" tIns="45720" rIns="91440" bIns="45720" numCol="1" anchor="t" anchorCtr="0" compatLnSpc="1">
                        <a:prstTxWarp prst="textNoShape">
                          <a:avLst/>
                        </a:prstTxWarp>
                      </a:bodyPr>
                      <a:lstStyle/>
                      <a:p>
                        <a:pPr lvl="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fr-FR" i="1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fr-F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i="1">
                                          <a:solidFill>
                                            <a:prstClr val="black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fr-FR" b="0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kumimoji="0" lang="fr-FR" altLang="fr-FR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Bookman Old Style" panose="020506040505050202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92" name="Text Box 18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6910" y="4708"/>
                        <a:ext cx="685" cy="466"/>
                      </a:xfrm>
                      <a:prstGeom prst="rect">
                        <a:avLst/>
                      </a:prstGeom>
                      <a:blipFill>
                        <a:blip r:embed="rId10"/>
                        <a:stretch>
                          <a:fillRect r="-13861"/>
                        </a:stretch>
                      </a:blipFill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  <p:txBody>
                      <a:bodyPr/>
                      <a:lstStyle/>
                      <a:p>
                        <a:r>
                          <a:rPr lang="fr-FR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93" name="AutoShap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4111" y="5173"/>
                    <a:ext cx="1" cy="1035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 type="stealth" w="med" len="lg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5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5488" y="4994"/>
                    <a:ext cx="590" cy="19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6" name="AutoShape 13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5015" y="5091"/>
                    <a:ext cx="0" cy="1231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7" name="Rectangle 12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4719" y="5534"/>
                    <a:ext cx="590" cy="19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8" name="Text Box 11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6597" y="5442"/>
                    <a:ext cx="535" cy="4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fr-FR" altLang="fr-FR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Bookman Old Style" panose="0205060405050502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R</a:t>
                    </a:r>
                    <a:r>
                      <a:rPr lang="fr-FR" altLang="fr-FR" baseline="-30000" dirty="0">
                        <a:latin typeface="Bookman Old Style" panose="0205060405050502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99" name="AutoShape 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6480" y="5093"/>
                    <a:ext cx="0" cy="1231"/>
                  </a:xfrm>
                  <a:prstGeom prst="straightConnector1">
                    <a:avLst/>
                  </a:prstGeom>
                  <a:noFill/>
                  <a:ln w="12700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0" name="Rectangle 7"/>
                  <p:cNvSpPr>
                    <a:spLocks noChangeArrowheads="1"/>
                  </p:cNvSpPr>
                  <p:nvPr/>
                </p:nvSpPr>
                <p:spPr bwMode="auto">
                  <a:xfrm rot="16200000">
                    <a:off x="6184" y="5536"/>
                    <a:ext cx="590" cy="190"/>
                  </a:xfrm>
                  <a:prstGeom prst="rect">
                    <a:avLst/>
                  </a:prstGeom>
                  <a:solidFill>
                    <a:srgbClr val="FFFFFF"/>
                  </a:solidFill>
                  <a:ln w="12700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fr-FR"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01" name="Text Box 6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505" y="4663"/>
                    <a:ext cx="535" cy="466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12700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fr-FR" altLang="fr-FR" dirty="0">
                        <a:latin typeface="Bookman Old Style" panose="0205060405050502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R</a:t>
                    </a:r>
                    <a:r>
                      <a:rPr lang="fr-FR" altLang="fr-FR" baseline="-30000" dirty="0">
                        <a:latin typeface="Bookman Old Style" panose="0205060405050502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fr-FR" altLang="fr-FR" b="0" i="0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Bookman Old Style" panose="020506040505050202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cxnSp>
              <p:nvCxnSpPr>
                <p:cNvPr id="12" name="Connecteur droit 11"/>
                <p:cNvCxnSpPr/>
                <p:nvPr/>
              </p:nvCxnSpPr>
              <p:spPr>
                <a:xfrm>
                  <a:off x="12137594" y="3522904"/>
                  <a:ext cx="1615" cy="1340650"/>
                </a:xfrm>
                <a:prstGeom prst="line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3" name="Multiplication 112"/>
              <p:cNvSpPr/>
              <p:nvPr/>
            </p:nvSpPr>
            <p:spPr>
              <a:xfrm>
                <a:off x="10123393" y="4195208"/>
                <a:ext cx="609600" cy="679651"/>
              </a:xfrm>
              <a:prstGeom prst="mathMultiply">
                <a:avLst>
                  <a:gd name="adj1" fmla="val 2467"/>
                </a:avLst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latin typeface="Bookman Old Style" panose="02050604050505020204" pitchFamily="18" charset="0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/>
              <p:cNvSpPr/>
              <p:nvPr/>
            </p:nvSpPr>
            <p:spPr>
              <a:xfrm>
                <a:off x="3354097" y="4864366"/>
                <a:ext cx="1267719" cy="656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16" name="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4097" y="4864366"/>
                <a:ext cx="1267719" cy="6562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1" name="Objet 6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4397075"/>
              </p:ext>
            </p:extLst>
          </p:nvPr>
        </p:nvGraphicFramePr>
        <p:xfrm>
          <a:off x="2190750" y="2733675"/>
          <a:ext cx="120491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8" name="Equation" r:id="rId12" imgW="888840" imgH="507960" progId="Equation.DSMT4">
                  <p:embed/>
                </p:oleObj>
              </mc:Choice>
              <mc:Fallback>
                <p:oleObj name="Equation" r:id="rId12" imgW="888840" imgH="507960" progId="Equation.DSMT4">
                  <p:embed/>
                  <p:pic>
                    <p:nvPicPr>
                      <p:cNvPr id="61" name="Obje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0750" y="2733675"/>
                        <a:ext cx="1204913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Rectangle 62"/>
          <p:cNvSpPr/>
          <p:nvPr/>
        </p:nvSpPr>
        <p:spPr>
          <a:xfrm>
            <a:off x="1418133" y="2128533"/>
            <a:ext cx="6825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Détermination de h11 :</a:t>
            </a:r>
          </a:p>
        </p:txBody>
      </p:sp>
      <p:graphicFrame>
        <p:nvGraphicFramePr>
          <p:cNvPr id="64" name="Objet 6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9532997"/>
              </p:ext>
            </p:extLst>
          </p:nvPr>
        </p:nvGraphicFramePr>
        <p:xfrm>
          <a:off x="2105025" y="4848225"/>
          <a:ext cx="12065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99" name="Equation" r:id="rId14" imgW="888840" imgH="507960" progId="Equation.DSMT4">
                  <p:embed/>
                </p:oleObj>
              </mc:Choice>
              <mc:Fallback>
                <p:oleObj name="Equation" r:id="rId14" imgW="888840" imgH="507960" progId="Equation.DSMT4">
                  <p:embed/>
                  <p:pic>
                    <p:nvPicPr>
                      <p:cNvPr id="64" name="Obje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5025" y="4848225"/>
                        <a:ext cx="1206500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Rectangle 65"/>
          <p:cNvSpPr/>
          <p:nvPr/>
        </p:nvSpPr>
        <p:spPr>
          <a:xfrm>
            <a:off x="1372931" y="4257006"/>
            <a:ext cx="6825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Détermination de </a:t>
            </a:r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h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21</a:t>
            </a:r>
            <a:r>
              <a:rPr kumimoji="0" lang="fr-FR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3" name="Rectangle 72"/>
              <p:cNvSpPr/>
              <p:nvPr/>
            </p:nvSpPr>
            <p:spPr>
              <a:xfrm>
                <a:off x="3370052" y="2764657"/>
                <a:ext cx="1267719" cy="656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73" name="Rectangle 7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052" y="2764657"/>
                <a:ext cx="1267719" cy="656205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 Box 25"/>
              <p:cNvSpPr txBox="1">
                <a:spLocks noChangeArrowheads="1"/>
              </p:cNvSpPr>
              <p:nvPr/>
            </p:nvSpPr>
            <p:spPr bwMode="auto">
              <a:xfrm>
                <a:off x="7623233" y="3397917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4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23233" y="3397917"/>
                <a:ext cx="713544" cy="496894"/>
              </a:xfrm>
              <a:prstGeom prst="rect">
                <a:avLst/>
              </a:prstGeom>
              <a:blipFill>
                <a:blip r:embed="rId17"/>
                <a:stretch>
                  <a:fillRect r="-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 Box 25"/>
              <p:cNvSpPr txBox="1">
                <a:spLocks noChangeArrowheads="1"/>
              </p:cNvSpPr>
              <p:nvPr/>
            </p:nvSpPr>
            <p:spPr bwMode="auto">
              <a:xfrm>
                <a:off x="11102483" y="3484570"/>
                <a:ext cx="853971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 sz="14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fr-FR" sz="1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8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02483" y="3484570"/>
                <a:ext cx="853971" cy="49689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9B8AF66C-B331-F578-CC88-FCB286027E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694122"/>
              </p:ext>
            </p:extLst>
          </p:nvPr>
        </p:nvGraphicFramePr>
        <p:xfrm>
          <a:off x="4525619" y="750222"/>
          <a:ext cx="22050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00" name="Equation" r:id="rId19" imgW="1333440" imgH="533160" progId="Equation.DSMT4">
                  <p:embed/>
                </p:oleObj>
              </mc:Choice>
              <mc:Fallback>
                <p:oleObj name="Equation" r:id="rId19" imgW="1333440" imgH="533160" progId="Equation.DSMT4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9B8AF66C-B331-F578-CC88-FCB286027E8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25619" y="750222"/>
                        <a:ext cx="2205038" cy="781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63341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63" grpId="0"/>
      <p:bldP spid="66" grpId="0"/>
      <p:bldP spid="73" grpId="0"/>
      <p:bldP spid="74" grpId="0"/>
      <p:bldP spid="7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object 19"/>
          <p:cNvSpPr txBox="1"/>
          <p:nvPr/>
        </p:nvSpPr>
        <p:spPr>
          <a:xfrm>
            <a:off x="1024276" y="269133"/>
            <a:ext cx="367881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Exemple :</a:t>
            </a:r>
          </a:p>
        </p:txBody>
      </p:sp>
      <p:grpSp>
        <p:nvGrpSpPr>
          <p:cNvPr id="53" name="Group 1"/>
          <p:cNvGrpSpPr>
            <a:grpSpLocks/>
          </p:cNvGrpSpPr>
          <p:nvPr/>
        </p:nvGrpSpPr>
        <p:grpSpPr bwMode="auto">
          <a:xfrm>
            <a:off x="7822880" y="77450"/>
            <a:ext cx="3183641" cy="1773250"/>
            <a:chOff x="4033" y="4663"/>
            <a:chExt cx="3556" cy="1663"/>
          </a:xfrm>
        </p:grpSpPr>
        <p:sp>
          <p:nvSpPr>
            <p:cNvPr id="54" name="AutoShape 29"/>
            <p:cNvSpPr>
              <a:spLocks noChangeShapeType="1"/>
            </p:cNvSpPr>
            <p:nvPr/>
          </p:nvSpPr>
          <p:spPr bwMode="auto">
            <a:xfrm flipH="1">
              <a:off x="4033" y="5092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Box 28"/>
            <p:cNvSpPr txBox="1">
              <a:spLocks noChangeArrowheads="1"/>
            </p:cNvSpPr>
            <p:nvPr/>
          </p:nvSpPr>
          <p:spPr bwMode="auto">
            <a:xfrm>
              <a:off x="4452" y="5434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AutoShape 27"/>
            <p:cNvSpPr>
              <a:spLocks noChangeShapeType="1"/>
            </p:cNvSpPr>
            <p:nvPr/>
          </p:nvSpPr>
          <p:spPr bwMode="auto">
            <a:xfrm>
              <a:off x="4247" y="5091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utoShape 24"/>
            <p:cNvSpPr>
              <a:spLocks noChangeShapeType="1"/>
            </p:cNvSpPr>
            <p:nvPr/>
          </p:nvSpPr>
          <p:spPr bwMode="auto">
            <a:xfrm flipV="1">
              <a:off x="7504" y="5174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utoShape 23"/>
            <p:cNvSpPr>
              <a:spLocks noChangeShapeType="1"/>
            </p:cNvSpPr>
            <p:nvPr/>
          </p:nvSpPr>
          <p:spPr bwMode="auto">
            <a:xfrm flipH="1" flipV="1">
              <a:off x="4033" y="6322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AutoShape 21"/>
            <p:cNvSpPr>
              <a:spLocks noChangeShapeType="1"/>
            </p:cNvSpPr>
            <p:nvPr/>
          </p:nvSpPr>
          <p:spPr bwMode="auto">
            <a:xfrm flipH="1">
              <a:off x="6982" y="5094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AutoShape 16"/>
            <p:cNvSpPr>
              <a:spLocks noChangeShapeType="1"/>
            </p:cNvSpPr>
            <p:nvPr/>
          </p:nvSpPr>
          <p:spPr bwMode="auto">
            <a:xfrm flipV="1">
              <a:off x="4111" y="5173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14"/>
            <p:cNvSpPr>
              <a:spLocks noChangeArrowheads="1"/>
            </p:cNvSpPr>
            <p:nvPr/>
          </p:nvSpPr>
          <p:spPr bwMode="auto">
            <a:xfrm>
              <a:off x="5488" y="4994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AutoShape 13"/>
            <p:cNvSpPr>
              <a:spLocks noChangeShapeType="1"/>
            </p:cNvSpPr>
            <p:nvPr/>
          </p:nvSpPr>
          <p:spPr bwMode="auto">
            <a:xfrm flipV="1">
              <a:off x="5015" y="5091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Rectangle 12"/>
            <p:cNvSpPr>
              <a:spLocks noChangeArrowheads="1"/>
            </p:cNvSpPr>
            <p:nvPr/>
          </p:nvSpPr>
          <p:spPr bwMode="auto">
            <a:xfrm rot="16200000">
              <a:off x="4719" y="5534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Text Box 11"/>
            <p:cNvSpPr txBox="1">
              <a:spLocks noChangeArrowheads="1"/>
            </p:cNvSpPr>
            <p:nvPr/>
          </p:nvSpPr>
          <p:spPr bwMode="auto">
            <a:xfrm>
              <a:off x="6597" y="5442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5" name="AutoShape 8"/>
            <p:cNvSpPr>
              <a:spLocks noChangeShapeType="1"/>
            </p:cNvSpPr>
            <p:nvPr/>
          </p:nvSpPr>
          <p:spPr bwMode="auto">
            <a:xfrm flipV="1">
              <a:off x="6480" y="5093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6" name="Rectangle 7"/>
            <p:cNvSpPr>
              <a:spLocks noChangeArrowheads="1"/>
            </p:cNvSpPr>
            <p:nvPr/>
          </p:nvSpPr>
          <p:spPr bwMode="auto">
            <a:xfrm rot="16200000">
              <a:off x="6184" y="5536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 Box 6"/>
            <p:cNvSpPr txBox="1">
              <a:spLocks noChangeArrowheads="1"/>
            </p:cNvSpPr>
            <p:nvPr/>
          </p:nvSpPr>
          <p:spPr bwMode="auto">
            <a:xfrm>
              <a:off x="5505" y="466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1" name="Group 1"/>
          <p:cNvGrpSpPr>
            <a:grpSpLocks/>
          </p:cNvGrpSpPr>
          <p:nvPr/>
        </p:nvGrpSpPr>
        <p:grpSpPr bwMode="auto">
          <a:xfrm>
            <a:off x="7923599" y="2805049"/>
            <a:ext cx="3183641" cy="1773250"/>
            <a:chOff x="4033" y="4663"/>
            <a:chExt cx="3556" cy="1663"/>
          </a:xfrm>
        </p:grpSpPr>
        <p:sp>
          <p:nvSpPr>
            <p:cNvPr id="63" name="AutoShape 29"/>
            <p:cNvSpPr>
              <a:spLocks noChangeShapeType="1"/>
            </p:cNvSpPr>
            <p:nvPr/>
          </p:nvSpPr>
          <p:spPr bwMode="auto">
            <a:xfrm flipH="1">
              <a:off x="4033" y="5092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4" name="Text Box 28"/>
            <p:cNvSpPr txBox="1">
              <a:spLocks noChangeArrowheads="1"/>
            </p:cNvSpPr>
            <p:nvPr/>
          </p:nvSpPr>
          <p:spPr bwMode="auto">
            <a:xfrm>
              <a:off x="4452" y="5434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6" name="AutoShape 27"/>
            <p:cNvSpPr>
              <a:spLocks noChangeShapeType="1"/>
            </p:cNvSpPr>
            <p:nvPr/>
          </p:nvSpPr>
          <p:spPr bwMode="auto">
            <a:xfrm>
              <a:off x="4247" y="5091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AutoShape 24"/>
            <p:cNvSpPr>
              <a:spLocks noChangeShapeType="1"/>
            </p:cNvSpPr>
            <p:nvPr/>
          </p:nvSpPr>
          <p:spPr bwMode="auto">
            <a:xfrm flipV="1">
              <a:off x="7504" y="5174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9" name="AutoShape 23"/>
            <p:cNvSpPr>
              <a:spLocks noChangeShapeType="1"/>
            </p:cNvSpPr>
            <p:nvPr/>
          </p:nvSpPr>
          <p:spPr bwMode="auto">
            <a:xfrm flipH="1" flipV="1">
              <a:off x="4033" y="6322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AutoShape 21"/>
            <p:cNvSpPr>
              <a:spLocks noChangeShapeType="1"/>
            </p:cNvSpPr>
            <p:nvPr/>
          </p:nvSpPr>
          <p:spPr bwMode="auto">
            <a:xfrm flipH="1">
              <a:off x="6982" y="5094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4" name="AutoShape 16"/>
            <p:cNvSpPr>
              <a:spLocks noChangeShapeType="1"/>
            </p:cNvSpPr>
            <p:nvPr/>
          </p:nvSpPr>
          <p:spPr bwMode="auto">
            <a:xfrm flipV="1">
              <a:off x="4111" y="5173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14"/>
            <p:cNvSpPr>
              <a:spLocks noChangeArrowheads="1"/>
            </p:cNvSpPr>
            <p:nvPr/>
          </p:nvSpPr>
          <p:spPr bwMode="auto">
            <a:xfrm>
              <a:off x="5488" y="4994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2" name="AutoShape 13"/>
            <p:cNvSpPr>
              <a:spLocks noChangeShapeType="1"/>
            </p:cNvSpPr>
            <p:nvPr/>
          </p:nvSpPr>
          <p:spPr bwMode="auto">
            <a:xfrm flipV="1">
              <a:off x="5015" y="5091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3" name="Rectangle 12"/>
            <p:cNvSpPr>
              <a:spLocks noChangeArrowheads="1"/>
            </p:cNvSpPr>
            <p:nvPr/>
          </p:nvSpPr>
          <p:spPr bwMode="auto">
            <a:xfrm rot="16200000">
              <a:off x="4719" y="5534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4" name="Text Box 11"/>
            <p:cNvSpPr txBox="1">
              <a:spLocks noChangeArrowheads="1"/>
            </p:cNvSpPr>
            <p:nvPr/>
          </p:nvSpPr>
          <p:spPr bwMode="auto">
            <a:xfrm>
              <a:off x="6597" y="5442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5" name="AutoShape 8"/>
            <p:cNvSpPr>
              <a:spLocks noChangeShapeType="1"/>
            </p:cNvSpPr>
            <p:nvPr/>
          </p:nvSpPr>
          <p:spPr bwMode="auto">
            <a:xfrm flipV="1">
              <a:off x="6480" y="5093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Rectangle 7"/>
            <p:cNvSpPr>
              <a:spLocks noChangeArrowheads="1"/>
            </p:cNvSpPr>
            <p:nvPr/>
          </p:nvSpPr>
          <p:spPr bwMode="auto">
            <a:xfrm rot="16200000">
              <a:off x="6184" y="5536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8" name="Text Box 6"/>
            <p:cNvSpPr txBox="1">
              <a:spLocks noChangeArrowheads="1"/>
            </p:cNvSpPr>
            <p:nvPr/>
          </p:nvSpPr>
          <p:spPr bwMode="auto">
            <a:xfrm>
              <a:off x="5505" y="466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angle 115"/>
              <p:cNvSpPr/>
              <p:nvPr/>
            </p:nvSpPr>
            <p:spPr>
              <a:xfrm>
                <a:off x="2863681" y="4842290"/>
                <a:ext cx="1267719" cy="656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fr-FR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16" name="Rectangle 1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3681" y="4842290"/>
                <a:ext cx="1267719" cy="65620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109"/>
              <p:cNvSpPr/>
              <p:nvPr/>
            </p:nvSpPr>
            <p:spPr>
              <a:xfrm>
                <a:off x="3016223" y="2864007"/>
                <a:ext cx="1794274" cy="6576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fr-FR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kumimoji="0" lang="fr-FR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fr-FR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d>
                            <m:dPr>
                              <m:ctrlPr>
                                <a:rPr kumimoji="0" lang="fr-FR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b="0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fr-FR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i="1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fr-FR" b="0" i="0" smtClean="0">
                                      <a:solidFill>
                                        <a:prstClr val="black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fr-FR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10" name="Rectangle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6223" y="2864007"/>
                <a:ext cx="1794274" cy="6576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3" name="Objet 8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660914"/>
              </p:ext>
            </p:extLst>
          </p:nvPr>
        </p:nvGraphicFramePr>
        <p:xfrm>
          <a:off x="1519238" y="4791075"/>
          <a:ext cx="120650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2" name="Equation" r:id="rId6" imgW="888840" imgH="507960" progId="Equation.DSMT4">
                  <p:embed/>
                </p:oleObj>
              </mc:Choice>
              <mc:Fallback>
                <p:oleObj name="Equation" r:id="rId6" imgW="888840" imgH="507960" progId="Equation.DSMT4">
                  <p:embed/>
                  <p:pic>
                    <p:nvPicPr>
                      <p:cNvPr id="83" name="Objet 8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238" y="4791075"/>
                        <a:ext cx="1206500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" name="Rectangle 84"/>
          <p:cNvSpPr/>
          <p:nvPr/>
        </p:nvSpPr>
        <p:spPr>
          <a:xfrm>
            <a:off x="1107061" y="3934684"/>
            <a:ext cx="6825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Détermination de h12 :</a:t>
            </a:r>
          </a:p>
        </p:txBody>
      </p:sp>
      <p:graphicFrame>
        <p:nvGraphicFramePr>
          <p:cNvPr id="86" name="Objet 8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1104974"/>
              </p:ext>
            </p:extLst>
          </p:nvPr>
        </p:nvGraphicFramePr>
        <p:xfrm>
          <a:off x="1771650" y="2846388"/>
          <a:ext cx="122396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3" name="Equation" r:id="rId8" imgW="901440" imgH="507960" progId="Equation.DSMT4">
                  <p:embed/>
                </p:oleObj>
              </mc:Choice>
              <mc:Fallback>
                <p:oleObj name="Equation" r:id="rId8" imgW="901440" imgH="507960" progId="Equation.DSMT4">
                  <p:embed/>
                  <p:pic>
                    <p:nvPicPr>
                      <p:cNvPr id="86" name="Objet 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71650" y="2846388"/>
                        <a:ext cx="1223963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Rectangle 86"/>
          <p:cNvSpPr/>
          <p:nvPr/>
        </p:nvSpPr>
        <p:spPr>
          <a:xfrm>
            <a:off x="1107061" y="2039482"/>
            <a:ext cx="6825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Détermination de h22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Text Box 26"/>
              <p:cNvSpPr txBox="1">
                <a:spLocks noChangeArrowheads="1"/>
              </p:cNvSpPr>
              <p:nvPr/>
            </p:nvSpPr>
            <p:spPr bwMode="auto">
              <a:xfrm>
                <a:off x="7918675" y="111571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8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8675" y="111571"/>
                <a:ext cx="613272" cy="496894"/>
              </a:xfrm>
              <a:prstGeom prst="rect">
                <a:avLst/>
              </a:prstGeom>
              <a:blipFill>
                <a:blip r:embed="rId10"/>
                <a:stretch>
                  <a:fillRect r="-128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Text Box 25"/>
              <p:cNvSpPr txBox="1">
                <a:spLocks noChangeArrowheads="1"/>
              </p:cNvSpPr>
              <p:nvPr/>
            </p:nvSpPr>
            <p:spPr bwMode="auto">
              <a:xfrm>
                <a:off x="7365388" y="953945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1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65388" y="953945"/>
                <a:ext cx="713544" cy="496894"/>
              </a:xfrm>
              <a:prstGeom prst="rect">
                <a:avLst/>
              </a:prstGeom>
              <a:blipFill>
                <a:blip r:embed="rId11"/>
                <a:stretch>
                  <a:fillRect r="-17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 Box 18"/>
              <p:cNvSpPr txBox="1">
                <a:spLocks noChangeArrowheads="1"/>
              </p:cNvSpPr>
              <p:nvPr/>
            </p:nvSpPr>
            <p:spPr bwMode="auto">
              <a:xfrm>
                <a:off x="10398620" y="125433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2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398620" y="125433"/>
                <a:ext cx="613272" cy="496894"/>
              </a:xfrm>
              <a:prstGeom prst="rect">
                <a:avLst/>
              </a:prstGeom>
              <a:blipFill>
                <a:blip r:embed="rId12"/>
                <a:stretch>
                  <a:fillRect r="-14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Text Box 15"/>
              <p:cNvSpPr txBox="1">
                <a:spLocks noChangeArrowheads="1"/>
              </p:cNvSpPr>
              <p:nvPr/>
            </p:nvSpPr>
            <p:spPr bwMode="auto">
              <a:xfrm>
                <a:off x="10811347" y="963542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3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811347" y="963542"/>
                <a:ext cx="713544" cy="496894"/>
              </a:xfrm>
              <a:prstGeom prst="rect">
                <a:avLst/>
              </a:prstGeom>
              <a:blipFill>
                <a:blip r:embed="rId13"/>
                <a:stretch>
                  <a:fillRect r="-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Text Box 26"/>
              <p:cNvSpPr txBox="1">
                <a:spLocks noChangeArrowheads="1"/>
              </p:cNvSpPr>
              <p:nvPr/>
            </p:nvSpPr>
            <p:spPr bwMode="auto">
              <a:xfrm>
                <a:off x="7636018" y="2882051"/>
                <a:ext cx="1255277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4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36018" y="2882051"/>
                <a:ext cx="1255277" cy="4968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 Box 25"/>
              <p:cNvSpPr txBox="1">
                <a:spLocks noChangeArrowheads="1"/>
              </p:cNvSpPr>
              <p:nvPr/>
            </p:nvSpPr>
            <p:spPr bwMode="auto">
              <a:xfrm>
                <a:off x="7494924" y="3688762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5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94924" y="3688762"/>
                <a:ext cx="713544" cy="496894"/>
              </a:xfrm>
              <a:prstGeom prst="rect">
                <a:avLst/>
              </a:prstGeom>
              <a:blipFill>
                <a:blip r:embed="rId15"/>
                <a:stretch>
                  <a:fillRect r="-847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 Box 18"/>
              <p:cNvSpPr txBox="1">
                <a:spLocks noChangeArrowheads="1"/>
              </p:cNvSpPr>
              <p:nvPr/>
            </p:nvSpPr>
            <p:spPr bwMode="auto">
              <a:xfrm>
                <a:off x="10528156" y="2860250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28156" y="2860250"/>
                <a:ext cx="613272" cy="496894"/>
              </a:xfrm>
              <a:prstGeom prst="rect">
                <a:avLst/>
              </a:prstGeom>
              <a:blipFill>
                <a:blip r:embed="rId16"/>
                <a:stretch>
                  <a:fillRect r="-138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 Box 15"/>
              <p:cNvSpPr txBox="1">
                <a:spLocks noChangeArrowheads="1"/>
              </p:cNvSpPr>
              <p:nvPr/>
            </p:nvSpPr>
            <p:spPr bwMode="auto">
              <a:xfrm>
                <a:off x="10940883" y="3698359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7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40883" y="3698359"/>
                <a:ext cx="713544" cy="496894"/>
              </a:xfrm>
              <a:prstGeom prst="rect">
                <a:avLst/>
              </a:prstGeom>
              <a:blipFill>
                <a:blip r:embed="rId17"/>
                <a:stretch>
                  <a:fillRect r="-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8" name="object 19"/>
              <p:cNvSpPr txBox="1"/>
              <p:nvPr/>
            </p:nvSpPr>
            <p:spPr>
              <a:xfrm>
                <a:off x="1048522" y="1306769"/>
                <a:ext cx="3122116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85750" lvl="0" indent="-28575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kumimoji="0" lang="fr-FR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cas 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  <m:r>
                      <a:rPr kumimoji="0" lang="fr-FR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fr-FR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kumimoji="0" lang="fr-FR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</m:t>
                    </m:r>
                  </m:oMath>
                </a14:m>
                <a:endParaRPr kumimoji="0" lang="ar-MA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98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8522" y="1306769"/>
                <a:ext cx="3122116" cy="289823"/>
              </a:xfrm>
              <a:prstGeom prst="rect">
                <a:avLst/>
              </a:prstGeom>
              <a:blipFill>
                <a:blip r:embed="rId18"/>
                <a:stretch>
                  <a:fillRect l="-4102" t="-22917" b="-47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C0828680-39BD-C574-92C2-B5BAB06B304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377205"/>
              </p:ext>
            </p:extLst>
          </p:nvPr>
        </p:nvGraphicFramePr>
        <p:xfrm>
          <a:off x="4574860" y="756192"/>
          <a:ext cx="2205038" cy="781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4" name="Equation" r:id="rId19" imgW="1333440" imgH="533160" progId="Equation.DSMT4">
                  <p:embed/>
                </p:oleObj>
              </mc:Choice>
              <mc:Fallback>
                <p:oleObj name="Equation" r:id="rId19" imgW="1333440" imgH="533160" progId="Equation.DSMT4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C0828680-39BD-C574-92C2-B5BAB06B30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4860" y="756192"/>
                        <a:ext cx="2205038" cy="7810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72207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" grpId="0"/>
      <p:bldP spid="110" grpId="0"/>
      <p:bldP spid="85" grpId="0"/>
      <p:bldP spid="87" grpId="0"/>
      <p:bldP spid="94" grpId="0"/>
      <p:bldP spid="95" grpId="0"/>
      <p:bldP spid="96" grpId="0"/>
      <p:bldP spid="97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Connecteur droit 52"/>
          <p:cNvCxnSpPr/>
          <p:nvPr/>
        </p:nvCxnSpPr>
        <p:spPr>
          <a:xfrm flipV="1">
            <a:off x="3216578" y="3243854"/>
            <a:ext cx="2766883" cy="78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54"/>
          <p:cNvCxnSpPr/>
          <p:nvPr/>
        </p:nvCxnSpPr>
        <p:spPr>
          <a:xfrm>
            <a:off x="7182069" y="4070262"/>
            <a:ext cx="22938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>
            <a:off x="3223639" y="4057590"/>
            <a:ext cx="2962718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object 5"/>
          <p:cNvSpPr txBox="1">
            <a:spLocks/>
          </p:cNvSpPr>
          <p:nvPr/>
        </p:nvSpPr>
        <p:spPr>
          <a:xfrm>
            <a:off x="937768" y="422908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lvl="0">
              <a:spcBef>
                <a:spcPts val="100"/>
              </a:spcBef>
            </a:pPr>
            <a:r>
              <a:rPr lang="fr-FR" sz="1800" b="1" kern="0" spc="-15" dirty="0">
                <a:solidFill>
                  <a:srgbClr val="C00000"/>
                </a:solidFill>
                <a:latin typeface="Bookman Old Style" panose="02050604050505020204" pitchFamily="18" charset="0"/>
              </a:rPr>
              <a:t>I-2-4 Matrice de transfert T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08411" y="1349097"/>
            <a:ext cx="908007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La matrice de transfert présente un grand intérêt particulier dans le cas de la mise en cascade (en série) de plusieurs quadripôles.</a:t>
            </a: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>
            <a:off x="7166829" y="3236450"/>
            <a:ext cx="22938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320136" y="3037950"/>
            <a:ext cx="1037230" cy="1272166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465585" y="3037950"/>
            <a:ext cx="1037230" cy="1272166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cxnSp>
        <p:nvCxnSpPr>
          <p:cNvPr id="20" name="Connecteur droit 19"/>
          <p:cNvCxnSpPr/>
          <p:nvPr/>
        </p:nvCxnSpPr>
        <p:spPr>
          <a:xfrm>
            <a:off x="3223639" y="3236450"/>
            <a:ext cx="0" cy="821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Ellipse 15"/>
          <p:cNvSpPr/>
          <p:nvPr/>
        </p:nvSpPr>
        <p:spPr>
          <a:xfrm>
            <a:off x="3046217" y="3414761"/>
            <a:ext cx="382137" cy="39578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cxnSp>
        <p:nvCxnSpPr>
          <p:cNvPr id="32" name="Connecteur droit 31"/>
          <p:cNvCxnSpPr/>
          <p:nvPr/>
        </p:nvCxnSpPr>
        <p:spPr>
          <a:xfrm>
            <a:off x="9460665" y="3236450"/>
            <a:ext cx="0" cy="821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9337835" y="3428409"/>
            <a:ext cx="245660" cy="39578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cxnSp>
        <p:nvCxnSpPr>
          <p:cNvPr id="35" name="Connecteur droit avec flèche 34"/>
          <p:cNvCxnSpPr/>
          <p:nvPr/>
        </p:nvCxnSpPr>
        <p:spPr>
          <a:xfrm flipV="1">
            <a:off x="4192630" y="3263746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36" name="Connecteur droit avec flèche 35"/>
          <p:cNvCxnSpPr/>
          <p:nvPr/>
        </p:nvCxnSpPr>
        <p:spPr>
          <a:xfrm flipV="1">
            <a:off x="6432910" y="3265985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7" name="Triangle isocèle 36"/>
          <p:cNvSpPr/>
          <p:nvPr/>
        </p:nvSpPr>
        <p:spPr>
          <a:xfrm rot="5400000">
            <a:off x="3830357" y="3150848"/>
            <a:ext cx="204716" cy="1985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8" name="Triangle isocèle 37"/>
          <p:cNvSpPr/>
          <p:nvPr/>
        </p:nvSpPr>
        <p:spPr>
          <a:xfrm rot="16200000" flipH="1">
            <a:off x="5996048" y="3137200"/>
            <a:ext cx="204716" cy="198500"/>
          </a:xfrm>
          <a:prstGeom prst="triangl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9" name="Triangle isocèle 38"/>
          <p:cNvSpPr/>
          <p:nvPr/>
        </p:nvSpPr>
        <p:spPr>
          <a:xfrm rot="16200000" flipH="1">
            <a:off x="8826082" y="3150848"/>
            <a:ext cx="204716" cy="1985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40" name="ZoneTexte 39"/>
          <p:cNvSpPr txBox="1"/>
          <p:nvPr/>
        </p:nvSpPr>
        <p:spPr>
          <a:xfrm>
            <a:off x="1562235" y="3428409"/>
            <a:ext cx="164529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Générateur</a:t>
            </a:r>
          </a:p>
        </p:txBody>
      </p:sp>
      <p:sp>
        <p:nvSpPr>
          <p:cNvPr id="41" name="ZoneTexte 40"/>
          <p:cNvSpPr txBox="1"/>
          <p:nvPr/>
        </p:nvSpPr>
        <p:spPr>
          <a:xfrm>
            <a:off x="9618517" y="3379679"/>
            <a:ext cx="1235121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Charge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74422" y="3472887"/>
            <a:ext cx="5683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b="1" i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3457821" y="2847141"/>
            <a:ext cx="5901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b="1" i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723091" y="2807704"/>
            <a:ext cx="58699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b="1" i="1" noProof="0" dirty="0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5999606" y="3489367"/>
            <a:ext cx="57502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b="1" i="1" dirty="0">
                <a:solidFill>
                  <a:srgbClr val="7030A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8790341" y="3460703"/>
            <a:ext cx="577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b="1" i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47" name="Connecteur droit avec flèche 46"/>
          <p:cNvCxnSpPr/>
          <p:nvPr/>
        </p:nvCxnSpPr>
        <p:spPr>
          <a:xfrm flipV="1">
            <a:off x="9178611" y="3250098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8525643" y="2780928"/>
            <a:ext cx="6674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b="1" i="1" noProof="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25" name="Connecteur droit 24"/>
          <p:cNvCxnSpPr/>
          <p:nvPr/>
        </p:nvCxnSpPr>
        <p:spPr>
          <a:xfrm flipV="1">
            <a:off x="6186357" y="3236450"/>
            <a:ext cx="980472" cy="42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4" name="Connecteur droit 53"/>
          <p:cNvCxnSpPr/>
          <p:nvPr/>
        </p:nvCxnSpPr>
        <p:spPr>
          <a:xfrm flipV="1">
            <a:off x="6203390" y="4070262"/>
            <a:ext cx="980472" cy="42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4667384" y="3462354"/>
            <a:ext cx="6757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Q[T]</a:t>
            </a:r>
            <a:endParaRPr kumimoji="0" lang="fr-FR" b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54478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1036292" y="836712"/>
            <a:ext cx="94521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Les relations définissant la matrice de transfert T sont les suivantes dont on exprime les grandeurs de sortie en fonction des grandeurs d’entrée:</a:t>
            </a:r>
          </a:p>
        </p:txBody>
      </p:sp>
      <p:graphicFrame>
        <p:nvGraphicFramePr>
          <p:cNvPr id="50" name="Obje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8705224"/>
              </p:ext>
            </p:extLst>
          </p:nvPr>
        </p:nvGraphicFramePr>
        <p:xfrm>
          <a:off x="1919536" y="2045582"/>
          <a:ext cx="7269162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09" name="Equation" r:id="rId4" imgW="4470120" imgH="533160" progId="Equation.DSMT4">
                  <p:embed/>
                </p:oleObj>
              </mc:Choice>
              <mc:Fallback>
                <p:oleObj name="Equation" r:id="rId4" imgW="4470120" imgH="533160" progId="Equation.DSMT4">
                  <p:embed/>
                  <p:pic>
                    <p:nvPicPr>
                      <p:cNvPr id="50" name="Obje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9536" y="2045582"/>
                        <a:ext cx="7269162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/>
          <p:cNvSpPr/>
          <p:nvPr/>
        </p:nvSpPr>
        <p:spPr>
          <a:xfrm>
            <a:off x="1511802" y="4991925"/>
            <a:ext cx="93664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t12 est une impédance, t21 une admittance, t11 et t22 sont des gains.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1199456" y="3519347"/>
                <a:ext cx="9289032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Contrairement aux autres représentations matricielles, pour cette matrice de transfert T, on utilise le courant </a:t>
                </a:r>
                <a14:m>
                  <m:oMath xmlns:m="http://schemas.openxmlformats.org/officeDocument/2006/math">
                    <m:r>
                      <a:rPr lang="fr-F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fr-FR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fr-FR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(courant sortant du quadripôle) à la place du courant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fr-FR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(courant entrant dans le quadripôle).</a:t>
                </a: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9456" y="3519347"/>
                <a:ext cx="9289032" cy="923330"/>
              </a:xfrm>
              <a:prstGeom prst="rect">
                <a:avLst/>
              </a:prstGeom>
              <a:blipFill>
                <a:blip r:embed="rId6"/>
                <a:stretch>
                  <a:fillRect l="-591" t="-2632" r="-525" b="-986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284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  <p:bldP spid="11" grpId="0"/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"/>
          <p:cNvSpPr>
            <a:spLocks noChangeArrowheads="1"/>
          </p:cNvSpPr>
          <p:nvPr/>
        </p:nvSpPr>
        <p:spPr bwMode="auto">
          <a:xfrm>
            <a:off x="911424" y="2037994"/>
            <a:ext cx="7444667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6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Signification physique des paramètres de la matrice de transfert T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302324" y="3267148"/>
            <a:ext cx="8401558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gain en tension obtenu avec l’entrée du quadripôle en circuit ouvert</a:t>
            </a:r>
          </a:p>
          <a:p>
            <a:endParaRPr lang="fr-FR" sz="1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impédance de transfert négative avec l’entrée du quadripôle court-circuitée</a:t>
            </a:r>
          </a:p>
          <a:p>
            <a:endParaRPr lang="fr-FR" sz="1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admittance de transfert avec l’entrée du quadripôle en circuit ouvert</a:t>
            </a:r>
          </a:p>
          <a:p>
            <a:endParaRPr lang="fr-FR" sz="1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endParaRPr lang="fr-FR" sz="16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: gain en courant négatif avec entrée du quadripôle en court-circuit</a:t>
            </a:r>
          </a:p>
        </p:txBody>
      </p:sp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06026"/>
              </p:ext>
            </p:extLst>
          </p:nvPr>
        </p:nvGraphicFramePr>
        <p:xfrm>
          <a:off x="1860448" y="3108598"/>
          <a:ext cx="11541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6" name="Equation" r:id="rId4" imgW="850680" imgH="507960" progId="Equation.DSMT4">
                  <p:embed/>
                </p:oleObj>
              </mc:Choice>
              <mc:Fallback>
                <p:oleObj name="Equation" r:id="rId4" imgW="850680" imgH="507960" progId="Equation.DSMT4">
                  <p:embed/>
                  <p:pic>
                    <p:nvPicPr>
                      <p:cNvPr id="17" name="Obje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0448" y="3108598"/>
                        <a:ext cx="1154112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6386149"/>
              </p:ext>
            </p:extLst>
          </p:nvPr>
        </p:nvGraphicFramePr>
        <p:xfrm>
          <a:off x="1817585" y="3969023"/>
          <a:ext cx="130175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7" name="Equation" r:id="rId6" imgW="977760" imgH="507960" progId="Equation.DSMT4">
                  <p:embed/>
                </p:oleObj>
              </mc:Choice>
              <mc:Fallback>
                <p:oleObj name="Equation" r:id="rId6" imgW="977760" imgH="507960" progId="Equation.DSMT4">
                  <p:embed/>
                  <p:pic>
                    <p:nvPicPr>
                      <p:cNvPr id="18" name="Obje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17585" y="3969023"/>
                        <a:ext cx="1301750" cy="800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4090023"/>
              </p:ext>
            </p:extLst>
          </p:nvPr>
        </p:nvGraphicFramePr>
        <p:xfrm>
          <a:off x="1869973" y="4924698"/>
          <a:ext cx="1109662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8" name="Equation" r:id="rId8" imgW="850680" imgH="507960" progId="Equation.DSMT4">
                  <p:embed/>
                </p:oleObj>
              </mc:Choice>
              <mc:Fallback>
                <p:oleObj name="Equation" r:id="rId8" imgW="850680" imgH="507960" progId="Equation.DSMT4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69973" y="4924698"/>
                        <a:ext cx="1109662" cy="788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93233989"/>
              </p:ext>
            </p:extLst>
          </p:nvPr>
        </p:nvGraphicFramePr>
        <p:xfrm>
          <a:off x="1784248" y="5881960"/>
          <a:ext cx="1354137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9" name="Equation" r:id="rId10" imgW="965160" imgH="507960" progId="Equation.DSMT4">
                  <p:embed/>
                </p:oleObj>
              </mc:Choice>
              <mc:Fallback>
                <p:oleObj name="Equation" r:id="rId10" imgW="965160" imgH="507960" progId="Equation.DSMT4">
                  <p:embed/>
                  <p:pic>
                    <p:nvPicPr>
                      <p:cNvPr id="20" name="Obje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4248" y="5881960"/>
                        <a:ext cx="1354137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object 19"/>
          <p:cNvSpPr txBox="1"/>
          <p:nvPr/>
        </p:nvSpPr>
        <p:spPr>
          <a:xfrm>
            <a:off x="911424" y="208711"/>
            <a:ext cx="3678810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Définitions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278964" y="570812"/>
                <a:ext cx="10340098" cy="12350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lvl="0" indent="-342900" algn="just">
                  <a:lnSpc>
                    <a:spcPct val="150000"/>
                  </a:lnSpc>
                  <a:buFont typeface="Times New Roman" panose="02020603050405020304" pitchFamily="18" charset="0"/>
                  <a:buChar char="-"/>
                  <a:defRPr/>
                </a:pP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un quadripôle est dit </a:t>
                </a:r>
                <a:r>
                  <a:rPr kumimoji="0" lang="fr-FR" sz="16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réciproque (passif)</a:t>
                </a: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si</a:t>
                </a:r>
                <a:r>
                  <a:rPr kumimoji="0" lang="fr-FR" sz="1600" b="0" i="0" u="none" strike="noStrike" kern="1200" cap="none" spc="0" normalizeH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 </a:t>
                </a:r>
                <a:r>
                  <a:rPr lang="fr-FR" sz="1600" noProof="0" dirty="0">
                    <a:solidFill>
                      <a:prstClr val="black"/>
                    </a:solidFill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fr-FR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fr-FR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fr-FR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fr-FR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  <m:sSub>
                      <m:sSubPr>
                        <m:ctrlPr>
                          <a:rPr lang="fr-FR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r>
                      <a:rPr lang="fr-FR" sz="16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fr-FR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fr-FR" sz="16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fr-FR" sz="160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sub>
                    </m:sSub>
                    <m:r>
                      <a:rPr lang="fr-FR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FR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1</m:t>
                    </m:r>
                  </m:oMath>
                </a14:m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342900" marR="0" lvl="0" indent="-342900" algn="just" defTabSz="914400" rtl="0" eaLnBrk="1" fontAlgn="auto" latinLnBrk="0" hangingPunct="1">
                  <a:lnSpc>
                    <a:spcPct val="150000"/>
                  </a:lnSpc>
                  <a:spcBef>
                    <a:spcPts val="600"/>
                  </a:spcBef>
                  <a:spcAft>
                    <a:spcPts val="0"/>
                  </a:spcAft>
                  <a:buClrTx/>
                  <a:buSzTx/>
                  <a:buFont typeface="Times New Roman" panose="02020603050405020304" pitchFamily="18" charset="0"/>
                  <a:buChar char="-"/>
                  <a:tabLst/>
                  <a:defRPr/>
                </a:pPr>
                <a:r>
                  <a:rPr kumimoji="0" lang="fr-FR" sz="1600" b="0" i="0" u="sng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Si de plus</a:t>
                </a: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les termes de la première diagonale sont égaux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fr-FR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kumimoji="0" lang="fr-FR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11</m:t>
                        </m:r>
                      </m:sub>
                    </m:sSub>
                    <m:r>
                      <a:rPr kumimoji="0" lang="fr-FR" sz="1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= </m:t>
                    </m:r>
                    <m:sSub>
                      <m:sSubPr>
                        <m:ctrlPr>
                          <a:rPr kumimoji="0" lang="fr-FR" sz="16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fr-FR" sz="16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t</m:t>
                        </m:r>
                      </m:e>
                      <m:sub>
                        <m:r>
                          <a:rPr kumimoji="0" lang="fr-FR" sz="1600" b="0" i="0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22</m:t>
                        </m:r>
                      </m:sub>
                    </m:sSub>
                  </m:oMath>
                </a14:m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, alors le quadripôle est </a:t>
                </a:r>
                <a:r>
                  <a:rPr kumimoji="0" lang="fr-FR" sz="1600" b="1" i="0" u="sng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symétrique</a:t>
                </a: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964" y="570812"/>
                <a:ext cx="10340098" cy="1235082"/>
              </a:xfrm>
              <a:prstGeom prst="rect">
                <a:avLst/>
              </a:prstGeom>
              <a:blipFill>
                <a:blip r:embed="rId12"/>
                <a:stretch>
                  <a:fillRect l="-236" r="-295" b="-594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D9E2D6FD-CF25-8A3B-0BAD-0347BB7C362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6503371"/>
              </p:ext>
            </p:extLst>
          </p:nvPr>
        </p:nvGraphicFramePr>
        <p:xfrm>
          <a:off x="4590234" y="2415312"/>
          <a:ext cx="21272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30" name="Equation" r:id="rId13" imgW="1307880" imgH="533160" progId="Equation.DSMT4">
                  <p:embed/>
                </p:oleObj>
              </mc:Choice>
              <mc:Fallback>
                <p:oleObj name="Equation" r:id="rId13" imgW="1307880" imgH="533160" progId="Equation.DSMT4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D9E2D6FD-CF25-8A3B-0BAD-0347BB7C362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90234" y="2415312"/>
                        <a:ext cx="2127250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28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/>
          <p:cNvSpPr/>
          <p:nvPr/>
        </p:nvSpPr>
        <p:spPr>
          <a:xfrm>
            <a:off x="1198446" y="350220"/>
            <a:ext cx="969445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defRPr/>
            </a:pPr>
            <a:r>
              <a:rPr lang="fr-FR" b="1" u="sng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Remarque</a:t>
            </a:r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: On utilise parfois la matrice de transfert inverse </a:t>
            </a:r>
            <a:r>
              <a:rPr lang="fr-FR" i="1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Ti</a:t>
            </a:r>
            <a:r>
              <a:rPr lang="fr-FR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qui donne les paramètres d’entrée en fonction des paramètres de sortie :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6660347"/>
              </p:ext>
            </p:extLst>
          </p:nvPr>
        </p:nvGraphicFramePr>
        <p:xfrm>
          <a:off x="2887345" y="1298673"/>
          <a:ext cx="631666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50" name="Equation" r:id="rId4" imgW="4686120" imgH="533160" progId="Equation.DSMT4">
                  <p:embed/>
                </p:oleObj>
              </mc:Choice>
              <mc:Fallback>
                <p:oleObj name="Equation" r:id="rId4" imgW="4686120" imgH="533160" progId="Equation.DSMT4">
                  <p:embed/>
                  <p:pic>
                    <p:nvPicPr>
                      <p:cNvPr id="16" name="Obje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7345" y="1298673"/>
                        <a:ext cx="6316663" cy="8604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e 16"/>
          <p:cNvGrpSpPr/>
          <p:nvPr/>
        </p:nvGrpSpPr>
        <p:grpSpPr>
          <a:xfrm>
            <a:off x="1878013" y="2730500"/>
            <a:ext cx="10079878" cy="3585832"/>
            <a:chOff x="2005188" y="1607971"/>
            <a:chExt cx="10079878" cy="3585832"/>
          </a:xfrm>
        </p:grpSpPr>
        <p:sp>
          <p:nvSpPr>
            <p:cNvPr id="18" name="Rectangle 17"/>
            <p:cNvSpPr/>
            <p:nvPr/>
          </p:nvSpPr>
          <p:spPr>
            <a:xfrm>
              <a:off x="3502540" y="1777483"/>
              <a:ext cx="8582526" cy="341632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fr-FR" dirty="0">
                  <a:latin typeface="Bookman Old Style" panose="02050604050505020204" pitchFamily="18" charset="0"/>
                  <a:cs typeface="Times New Roman" panose="02020603050405020304" pitchFamily="18" charset="0"/>
                </a:rPr>
                <a:t>: rapport de tension avec la sortie du quadripôle en circuit ouvert </a:t>
              </a:r>
            </a:p>
            <a:p>
              <a:endParaRPr lang="fr-FR" dirty="0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endParaRPr lang="fr-FR" dirty="0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r>
                <a:rPr lang="fr-FR" dirty="0">
                  <a:latin typeface="Bookman Old Style" panose="02050604050505020204" pitchFamily="18" charset="0"/>
                  <a:cs typeface="Times New Roman" panose="02020603050405020304" pitchFamily="18" charset="0"/>
                </a:rPr>
                <a:t>: impédance de transfert négative avec la sortie du quadripôle court-circuitée</a:t>
              </a:r>
            </a:p>
            <a:p>
              <a:r>
                <a:rPr lang="fr-FR" dirty="0">
                  <a:latin typeface="Bookman Old Style" panose="02050604050505020204" pitchFamily="18" charset="0"/>
                  <a:cs typeface="Times New Roman" panose="02020603050405020304" pitchFamily="18" charset="0"/>
                </a:rPr>
                <a:t> </a:t>
              </a:r>
            </a:p>
            <a:p>
              <a:endParaRPr lang="fr-FR" dirty="0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endParaRPr lang="fr-FR" dirty="0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r>
                <a:rPr lang="fr-FR" dirty="0">
                  <a:latin typeface="Bookman Old Style" panose="02050604050505020204" pitchFamily="18" charset="0"/>
                  <a:cs typeface="Times New Roman" panose="02020603050405020304" pitchFamily="18" charset="0"/>
                </a:rPr>
                <a:t>: admittance de transfert avec la sortie du quadripôle en circuit ouvert </a:t>
              </a:r>
            </a:p>
            <a:p>
              <a:endParaRPr lang="fr-FR" dirty="0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endParaRPr lang="fr-FR" dirty="0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r>
                <a:rPr lang="fr-FR" dirty="0">
                  <a:latin typeface="Bookman Old Style" panose="02050604050505020204" pitchFamily="18" charset="0"/>
                  <a:cs typeface="Times New Roman" panose="02020603050405020304" pitchFamily="18" charset="0"/>
                </a:rPr>
                <a:t>: rapport de courant négatif avec la sortie du quadripôle en court-circuit</a:t>
              </a:r>
            </a:p>
          </p:txBody>
        </p:sp>
        <p:graphicFrame>
          <p:nvGraphicFramePr>
            <p:cNvPr id="19" name="Obje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60970566"/>
                </p:ext>
              </p:extLst>
            </p:nvPr>
          </p:nvGraphicFramePr>
          <p:xfrm>
            <a:off x="2073450" y="1607971"/>
            <a:ext cx="1223963" cy="7588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51" name="Equation" r:id="rId6" imgW="901440" imgH="507960" progId="Equation.DSMT4">
                    <p:embed/>
                  </p:oleObj>
                </mc:Choice>
                <mc:Fallback>
                  <p:oleObj name="Equation" r:id="rId6" imgW="901440" imgH="507960" progId="Equation.DSMT4">
                    <p:embed/>
                    <p:pic>
                      <p:nvPicPr>
                        <p:cNvPr id="19" name="Obje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3450" y="1607971"/>
                          <a:ext cx="1223963" cy="75882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57698838"/>
                </p:ext>
              </p:extLst>
            </p:nvPr>
          </p:nvGraphicFramePr>
          <p:xfrm>
            <a:off x="2046463" y="2468396"/>
            <a:ext cx="1335087" cy="800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52" name="Equation" r:id="rId8" imgW="1002960" imgH="507960" progId="Equation.DSMT4">
                    <p:embed/>
                  </p:oleObj>
                </mc:Choice>
                <mc:Fallback>
                  <p:oleObj name="Equation" r:id="rId8" imgW="1002960" imgH="507960" progId="Equation.DSMT4">
                    <p:embed/>
                    <p:pic>
                      <p:nvPicPr>
                        <p:cNvPr id="20" name="Obje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46463" y="2468396"/>
                          <a:ext cx="1335087" cy="8001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t 2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7355836"/>
                </p:ext>
              </p:extLst>
            </p:nvPr>
          </p:nvGraphicFramePr>
          <p:xfrm>
            <a:off x="2068688" y="3424071"/>
            <a:ext cx="1209675" cy="7889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53" name="Equation" r:id="rId10" imgW="927000" imgH="507960" progId="Equation.DSMT4">
                    <p:embed/>
                  </p:oleObj>
                </mc:Choice>
                <mc:Fallback>
                  <p:oleObj name="Equation" r:id="rId10" imgW="927000" imgH="507960" progId="Equation.DSMT4">
                    <p:embed/>
                    <p:pic>
                      <p:nvPicPr>
                        <p:cNvPr id="21" name="Obje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68688" y="3424071"/>
                          <a:ext cx="1209675" cy="78898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t 2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473114989"/>
                </p:ext>
              </p:extLst>
            </p:nvPr>
          </p:nvGraphicFramePr>
          <p:xfrm>
            <a:off x="2005188" y="4381334"/>
            <a:ext cx="1406525" cy="7874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554" name="Equation" r:id="rId12" imgW="1002960" imgH="507960" progId="Equation.DSMT4">
                    <p:embed/>
                  </p:oleObj>
                </mc:Choice>
                <mc:Fallback>
                  <p:oleObj name="Equation" r:id="rId12" imgW="1002960" imgH="507960" progId="Equation.DSMT4">
                    <p:embed/>
                    <p:pic>
                      <p:nvPicPr>
                        <p:cNvPr id="22" name="Obje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5188" y="4381334"/>
                          <a:ext cx="1406525" cy="78740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29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73564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264693" y="742859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object 19"/>
          <p:cNvSpPr txBox="1"/>
          <p:nvPr/>
        </p:nvSpPr>
        <p:spPr>
          <a:xfrm>
            <a:off x="1009563" y="395495"/>
            <a:ext cx="55670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Exemple : association de résistances en étoile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4" name="Group 1"/>
          <p:cNvGrpSpPr>
            <a:grpSpLocks/>
          </p:cNvGrpSpPr>
          <p:nvPr/>
        </p:nvGrpSpPr>
        <p:grpSpPr bwMode="auto">
          <a:xfrm>
            <a:off x="8216818" y="235621"/>
            <a:ext cx="3331247" cy="1684869"/>
            <a:chOff x="3632" y="10150"/>
            <a:chExt cx="3556" cy="1674"/>
          </a:xfrm>
        </p:grpSpPr>
        <p:sp>
          <p:nvSpPr>
            <p:cNvPr id="50" name="AutoShape 24"/>
            <p:cNvSpPr>
              <a:spLocks noChangeShapeType="1"/>
            </p:cNvSpPr>
            <p:nvPr/>
          </p:nvSpPr>
          <p:spPr bwMode="auto">
            <a:xfrm flipH="1">
              <a:off x="3632" y="1059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4567" y="10150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AutoShape 22"/>
            <p:cNvSpPr>
              <a:spLocks noChangeShapeType="1"/>
            </p:cNvSpPr>
            <p:nvPr/>
          </p:nvSpPr>
          <p:spPr bwMode="auto">
            <a:xfrm>
              <a:off x="3846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utoShape 19"/>
            <p:cNvSpPr>
              <a:spLocks noChangeShapeType="1"/>
            </p:cNvSpPr>
            <p:nvPr/>
          </p:nvSpPr>
          <p:spPr bwMode="auto">
            <a:xfrm flipV="1">
              <a:off x="7103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utoShape 18"/>
            <p:cNvSpPr>
              <a:spLocks noChangeShapeType="1"/>
            </p:cNvSpPr>
            <p:nvPr/>
          </p:nvSpPr>
          <p:spPr bwMode="auto">
            <a:xfrm flipH="1" flipV="1">
              <a:off x="3632" y="1182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AutoShape 16"/>
            <p:cNvSpPr>
              <a:spLocks noChangeShapeType="1"/>
            </p:cNvSpPr>
            <p:nvPr/>
          </p:nvSpPr>
          <p:spPr bwMode="auto">
            <a:xfrm rot="10800000" flipV="1">
              <a:off x="6581" y="10592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AutoShape 11"/>
            <p:cNvSpPr>
              <a:spLocks noChangeShapeType="1"/>
            </p:cNvSpPr>
            <p:nvPr/>
          </p:nvSpPr>
          <p:spPr bwMode="auto">
            <a:xfrm flipV="1">
              <a:off x="3710" y="10671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9"/>
            <p:cNvSpPr>
              <a:spLocks noChangeArrowheads="1"/>
            </p:cNvSpPr>
            <p:nvPr/>
          </p:nvSpPr>
          <p:spPr bwMode="auto">
            <a:xfrm>
              <a:off x="449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5722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AutoShape 7"/>
            <p:cNvSpPr>
              <a:spLocks noChangeShapeType="1"/>
            </p:cNvSpPr>
            <p:nvPr/>
          </p:nvSpPr>
          <p:spPr bwMode="auto">
            <a:xfrm flipV="1">
              <a:off x="5405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6"/>
            <p:cNvSpPr>
              <a:spLocks noChangeArrowheads="1"/>
            </p:cNvSpPr>
            <p:nvPr/>
          </p:nvSpPr>
          <p:spPr bwMode="auto">
            <a:xfrm rot="16200000">
              <a:off x="5109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5"/>
            <p:cNvSpPr txBox="1">
              <a:spLocks noChangeArrowheads="1"/>
            </p:cNvSpPr>
            <p:nvPr/>
          </p:nvSpPr>
          <p:spPr bwMode="auto">
            <a:xfrm>
              <a:off x="5795" y="10151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altLang="fr-FR" baseline="-30000" dirty="0">
                  <a:solidFill>
                    <a:prstClr val="black"/>
                  </a:solidFill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 Box 4"/>
            <p:cNvSpPr txBox="1">
              <a:spLocks noChangeArrowheads="1"/>
            </p:cNvSpPr>
            <p:nvPr/>
          </p:nvSpPr>
          <p:spPr bwMode="auto">
            <a:xfrm>
              <a:off x="4910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altLang="fr-FR" baseline="-30000" dirty="0">
                  <a:solidFill>
                    <a:prstClr val="black"/>
                  </a:solidFill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object 19"/>
              <p:cNvSpPr txBox="1"/>
              <p:nvPr/>
            </p:nvSpPr>
            <p:spPr>
              <a:xfrm>
                <a:off x="1242189" y="1268438"/>
                <a:ext cx="2283475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8450" marR="508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cas 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ar-MA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kumimoji="0" lang="ar-MA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kumimoji="0" lang="fr-FR" sz="18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B05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𝑰</m:t>
                            </m:r>
                          </m:e>
                        </m:acc>
                      </m:e>
                      <m:sub>
                        <m:r>
                          <a:rPr kumimoji="0" lang="fr-FR" sz="18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B05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:</m:t>
                    </m:r>
                  </m:oMath>
                </a14:m>
                <a:endParaRPr kumimoji="0" lang="ar-MA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2189" y="1268438"/>
                <a:ext cx="2283475" cy="289823"/>
              </a:xfrm>
              <a:prstGeom prst="rect">
                <a:avLst/>
              </a:prstGeom>
              <a:blipFill>
                <a:blip r:embed="rId3"/>
                <a:stretch>
                  <a:fillRect l="-5348" t="-22917" r="-1872" b="-4791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1"/>
          <p:cNvGrpSpPr>
            <a:grpSpLocks/>
          </p:cNvGrpSpPr>
          <p:nvPr/>
        </p:nvGrpSpPr>
        <p:grpSpPr bwMode="auto">
          <a:xfrm>
            <a:off x="7832139" y="3131496"/>
            <a:ext cx="3331247" cy="1790548"/>
            <a:chOff x="3632" y="10045"/>
            <a:chExt cx="3556" cy="1779"/>
          </a:xfrm>
        </p:grpSpPr>
        <p:sp>
          <p:nvSpPr>
            <p:cNvPr id="80" name="AutoShape 24"/>
            <p:cNvSpPr>
              <a:spLocks noChangeShapeType="1"/>
            </p:cNvSpPr>
            <p:nvPr/>
          </p:nvSpPr>
          <p:spPr bwMode="auto">
            <a:xfrm flipH="1">
              <a:off x="3632" y="1059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 Box 23"/>
            <p:cNvSpPr txBox="1">
              <a:spLocks noChangeArrowheads="1"/>
            </p:cNvSpPr>
            <p:nvPr/>
          </p:nvSpPr>
          <p:spPr bwMode="auto">
            <a:xfrm>
              <a:off x="4567" y="10045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AutoShape 22"/>
            <p:cNvSpPr>
              <a:spLocks noChangeShapeType="1"/>
            </p:cNvSpPr>
            <p:nvPr/>
          </p:nvSpPr>
          <p:spPr bwMode="auto">
            <a:xfrm>
              <a:off x="3846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AutoShape 19"/>
            <p:cNvSpPr>
              <a:spLocks noChangeShapeType="1"/>
            </p:cNvSpPr>
            <p:nvPr/>
          </p:nvSpPr>
          <p:spPr bwMode="auto">
            <a:xfrm flipV="1">
              <a:off x="7103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AutoShape 18"/>
            <p:cNvSpPr>
              <a:spLocks noChangeShapeType="1"/>
            </p:cNvSpPr>
            <p:nvPr/>
          </p:nvSpPr>
          <p:spPr bwMode="auto">
            <a:xfrm flipH="1" flipV="1">
              <a:off x="3632" y="1182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AutoShape 16"/>
            <p:cNvSpPr>
              <a:spLocks noChangeShapeType="1"/>
            </p:cNvSpPr>
            <p:nvPr/>
          </p:nvSpPr>
          <p:spPr bwMode="auto">
            <a:xfrm rot="10800000">
              <a:off x="6581" y="10592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AutoShape 11"/>
            <p:cNvSpPr>
              <a:spLocks noChangeShapeType="1"/>
            </p:cNvSpPr>
            <p:nvPr/>
          </p:nvSpPr>
          <p:spPr bwMode="auto">
            <a:xfrm flipV="1">
              <a:off x="3710" y="10671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9"/>
            <p:cNvSpPr>
              <a:spLocks noChangeArrowheads="1"/>
            </p:cNvSpPr>
            <p:nvPr/>
          </p:nvSpPr>
          <p:spPr bwMode="auto">
            <a:xfrm>
              <a:off x="449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8"/>
            <p:cNvSpPr>
              <a:spLocks noChangeArrowheads="1"/>
            </p:cNvSpPr>
            <p:nvPr/>
          </p:nvSpPr>
          <p:spPr bwMode="auto">
            <a:xfrm>
              <a:off x="5722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utoShape 7"/>
            <p:cNvSpPr>
              <a:spLocks noChangeShapeType="1"/>
            </p:cNvSpPr>
            <p:nvPr/>
          </p:nvSpPr>
          <p:spPr bwMode="auto">
            <a:xfrm flipV="1">
              <a:off x="5405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6"/>
            <p:cNvSpPr>
              <a:spLocks noChangeArrowheads="1"/>
            </p:cNvSpPr>
            <p:nvPr/>
          </p:nvSpPr>
          <p:spPr bwMode="auto">
            <a:xfrm rot="16200000">
              <a:off x="5109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 Box 5"/>
            <p:cNvSpPr txBox="1">
              <a:spLocks noChangeArrowheads="1"/>
            </p:cNvSpPr>
            <p:nvPr/>
          </p:nvSpPr>
          <p:spPr bwMode="auto">
            <a:xfrm>
              <a:off x="5811" y="10076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Box 4"/>
            <p:cNvSpPr txBox="1">
              <a:spLocks noChangeArrowheads="1"/>
            </p:cNvSpPr>
            <p:nvPr/>
          </p:nvSpPr>
          <p:spPr bwMode="auto">
            <a:xfrm>
              <a:off x="4910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6" name="Multiplication 95"/>
          <p:cNvSpPr/>
          <p:nvPr/>
        </p:nvSpPr>
        <p:spPr>
          <a:xfrm>
            <a:off x="8608998" y="3339219"/>
            <a:ext cx="609600" cy="679651"/>
          </a:xfrm>
          <a:prstGeom prst="mathMultiply">
            <a:avLst>
              <a:gd name="adj1" fmla="val 2467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12" name="Connecteur droit 11"/>
          <p:cNvCxnSpPr/>
          <p:nvPr/>
        </p:nvCxnSpPr>
        <p:spPr>
          <a:xfrm flipH="1" flipV="1">
            <a:off x="8501513" y="3162697"/>
            <a:ext cx="806" cy="5163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/>
          <p:cNvCxnSpPr/>
          <p:nvPr/>
        </p:nvCxnSpPr>
        <p:spPr>
          <a:xfrm>
            <a:off x="8501513" y="3162697"/>
            <a:ext cx="787379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/>
          <p:cNvCxnSpPr/>
          <p:nvPr/>
        </p:nvCxnSpPr>
        <p:spPr>
          <a:xfrm flipH="1" flipV="1">
            <a:off x="9294166" y="3162697"/>
            <a:ext cx="806" cy="51633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8" name="Obje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816335"/>
              </p:ext>
            </p:extLst>
          </p:nvPr>
        </p:nvGraphicFramePr>
        <p:xfrm>
          <a:off x="2215940" y="2733264"/>
          <a:ext cx="11541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8" name="Equation" r:id="rId4" imgW="850680" imgH="507960" progId="Equation.DSMT4">
                  <p:embed/>
                </p:oleObj>
              </mc:Choice>
              <mc:Fallback>
                <p:oleObj name="Equation" r:id="rId4" imgW="850680" imgH="507960" progId="Equation.DSMT4">
                  <p:embed/>
                  <p:pic>
                    <p:nvPicPr>
                      <p:cNvPr id="98" name="Obje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5940" y="2733264"/>
                        <a:ext cx="1154112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1372931" y="2128361"/>
            <a:ext cx="6825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Détermination de t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11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(gain en tension) :</a:t>
            </a:r>
          </a:p>
        </p:txBody>
      </p:sp>
      <p:graphicFrame>
        <p:nvGraphicFramePr>
          <p:cNvPr id="100" name="Objet 9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3073104"/>
              </p:ext>
            </p:extLst>
          </p:nvPr>
        </p:nvGraphicFramePr>
        <p:xfrm>
          <a:off x="2171490" y="4862101"/>
          <a:ext cx="115411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9" name="Equation" r:id="rId6" imgW="850680" imgH="507960" progId="Equation.DSMT4">
                  <p:embed/>
                </p:oleObj>
              </mc:Choice>
              <mc:Fallback>
                <p:oleObj name="Equation" r:id="rId6" imgW="850680" imgH="507960" progId="Equation.DSMT4">
                  <p:embed/>
                  <p:pic>
                    <p:nvPicPr>
                      <p:cNvPr id="100" name="Obje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1490" y="4862101"/>
                        <a:ext cx="1154112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Rectangle 100"/>
          <p:cNvSpPr/>
          <p:nvPr/>
        </p:nvSpPr>
        <p:spPr>
          <a:xfrm>
            <a:off x="1372931" y="4257006"/>
            <a:ext cx="6825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Détermination de t</a:t>
            </a:r>
            <a:r>
              <a:rPr kumimoji="0" 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21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(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admittance de transfert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)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370052" y="2764657"/>
                <a:ext cx="1245084" cy="656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fr-FR" sz="18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0052" y="2764657"/>
                <a:ext cx="1245084" cy="6562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3489822" y="4882985"/>
                <a:ext cx="732508" cy="6580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fr-FR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kumimoji="0" lang="fr-FR" sz="18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0" lang="fr-FR" sz="1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0" lang="fr-FR" sz="1800" b="0" i="1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kumimoji="0" lang="fr-FR" sz="1800" b="0" i="0" u="none" strike="noStrike" kern="1200" cap="none" spc="0" normalizeH="0" baseline="0" noProof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822" y="4882985"/>
                <a:ext cx="732508" cy="65806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26"/>
              <p:cNvSpPr txBox="1">
                <a:spLocks noChangeArrowheads="1"/>
              </p:cNvSpPr>
              <p:nvPr/>
            </p:nvSpPr>
            <p:spPr bwMode="auto">
              <a:xfrm>
                <a:off x="8297177" y="302592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7177" y="302592"/>
                <a:ext cx="613272" cy="496894"/>
              </a:xfrm>
              <a:prstGeom prst="rect">
                <a:avLst/>
              </a:prstGeom>
              <a:blipFill>
                <a:blip r:embed="rId10"/>
                <a:stretch>
                  <a:fillRect r="-138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25"/>
              <p:cNvSpPr txBox="1">
                <a:spLocks noChangeArrowheads="1"/>
              </p:cNvSpPr>
              <p:nvPr/>
            </p:nvSpPr>
            <p:spPr bwMode="auto">
              <a:xfrm>
                <a:off x="7743890" y="1144966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3890" y="1144966"/>
                <a:ext cx="713544" cy="496894"/>
              </a:xfrm>
              <a:prstGeom prst="rect">
                <a:avLst/>
              </a:prstGeom>
              <a:blipFill>
                <a:blip r:embed="rId11"/>
                <a:stretch>
                  <a:fillRect r="-17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Box 18"/>
              <p:cNvSpPr txBox="1">
                <a:spLocks noChangeArrowheads="1"/>
              </p:cNvSpPr>
              <p:nvPr/>
            </p:nvSpPr>
            <p:spPr bwMode="auto">
              <a:xfrm>
                <a:off x="10777122" y="316454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77122" y="316454"/>
                <a:ext cx="613272" cy="496894"/>
              </a:xfrm>
              <a:prstGeom prst="rect">
                <a:avLst/>
              </a:prstGeom>
              <a:blipFill>
                <a:blip r:embed="rId12"/>
                <a:stretch>
                  <a:fillRect r="-128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Box 15"/>
              <p:cNvSpPr txBox="1">
                <a:spLocks noChangeArrowheads="1"/>
              </p:cNvSpPr>
              <p:nvPr/>
            </p:nvSpPr>
            <p:spPr bwMode="auto">
              <a:xfrm>
                <a:off x="11299033" y="1154563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99033" y="1154563"/>
                <a:ext cx="713544" cy="496894"/>
              </a:xfrm>
              <a:prstGeom prst="rect">
                <a:avLst/>
              </a:prstGeom>
              <a:blipFill>
                <a:blip r:embed="rId13"/>
                <a:stretch>
                  <a:fillRect r="-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 Box 26"/>
              <p:cNvSpPr txBox="1">
                <a:spLocks noChangeArrowheads="1"/>
              </p:cNvSpPr>
              <p:nvPr/>
            </p:nvSpPr>
            <p:spPr bwMode="auto">
              <a:xfrm>
                <a:off x="7474020" y="3361269"/>
                <a:ext cx="1255277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sz="140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kumimoji="0" lang="fr-FR" altLang="fr-FR" sz="1400" b="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474020" y="3361269"/>
                <a:ext cx="1255277" cy="49689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Box 25"/>
              <p:cNvSpPr txBox="1">
                <a:spLocks noChangeArrowheads="1"/>
              </p:cNvSpPr>
              <p:nvPr/>
            </p:nvSpPr>
            <p:spPr bwMode="auto">
              <a:xfrm>
                <a:off x="7332926" y="4167980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332926" y="4167980"/>
                <a:ext cx="713544" cy="496894"/>
              </a:xfrm>
              <a:prstGeom prst="rect">
                <a:avLst/>
              </a:prstGeom>
              <a:blipFill>
                <a:blip r:embed="rId15"/>
                <a:stretch>
                  <a:fillRect r="-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9" name="Text Box 18"/>
              <p:cNvSpPr txBox="1">
                <a:spLocks noChangeArrowheads="1"/>
              </p:cNvSpPr>
              <p:nvPr/>
            </p:nvSpPr>
            <p:spPr bwMode="auto">
              <a:xfrm>
                <a:off x="10531188" y="3327566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9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31188" y="3327566"/>
                <a:ext cx="613272" cy="496894"/>
              </a:xfrm>
              <a:prstGeom prst="rect">
                <a:avLst/>
              </a:prstGeom>
              <a:blipFill>
                <a:blip r:embed="rId16"/>
                <a:stretch>
                  <a:fillRect r="-14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 Box 15"/>
              <p:cNvSpPr txBox="1">
                <a:spLocks noChangeArrowheads="1"/>
              </p:cNvSpPr>
              <p:nvPr/>
            </p:nvSpPr>
            <p:spPr bwMode="auto">
              <a:xfrm>
                <a:off x="10920559" y="4176928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2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920559" y="4176928"/>
                <a:ext cx="713544" cy="496894"/>
              </a:xfrm>
              <a:prstGeom prst="rect">
                <a:avLst/>
              </a:prstGeom>
              <a:blipFill>
                <a:blip r:embed="rId17"/>
                <a:stretch>
                  <a:fillRect r="-17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32D3AEC8-1DD5-7A9A-8352-343A1C5C79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9540136"/>
              </p:ext>
            </p:extLst>
          </p:nvPr>
        </p:nvGraphicFramePr>
        <p:xfrm>
          <a:off x="5229010" y="843733"/>
          <a:ext cx="21272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20" name="Equation" r:id="rId18" imgW="1307880" imgH="533160" progId="Equation.DSMT4">
                  <p:embed/>
                </p:oleObj>
              </mc:Choice>
              <mc:Fallback>
                <p:oleObj name="Equation" r:id="rId18" imgW="1307880" imgH="533160" progId="Equation.DSMT4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32D3AEC8-1DD5-7A9A-8352-343A1C5C79A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9010" y="843733"/>
                        <a:ext cx="2127250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57083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17" grpId="0"/>
      <p:bldP spid="101" grpId="0"/>
      <p:bldP spid="18" grpId="0"/>
      <p:bldP spid="19" grpId="0"/>
      <p:bldP spid="75" grpId="0"/>
      <p:bldP spid="76" grpId="0"/>
      <p:bldP spid="99" grpId="0"/>
      <p:bldP spid="10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object 19"/>
          <p:cNvSpPr txBox="1"/>
          <p:nvPr/>
        </p:nvSpPr>
        <p:spPr>
          <a:xfrm>
            <a:off x="933910" y="215899"/>
            <a:ext cx="556704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algn="just"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Exemple :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  <a:ea typeface="Times New Roman" panose="02020603050405020304" pitchFamily="18" charset="0"/>
              </a:rPr>
              <a:t>association de résistances en étoile</a:t>
            </a:r>
            <a:endParaRPr kumimoji="0" lang="fr-FR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p:grpSp>
        <p:nvGrpSpPr>
          <p:cNvPr id="44" name="Group 1"/>
          <p:cNvGrpSpPr>
            <a:grpSpLocks/>
          </p:cNvGrpSpPr>
          <p:nvPr/>
        </p:nvGrpSpPr>
        <p:grpSpPr bwMode="auto">
          <a:xfrm>
            <a:off x="8216818" y="235621"/>
            <a:ext cx="3331247" cy="1684869"/>
            <a:chOff x="3632" y="10150"/>
            <a:chExt cx="3556" cy="1674"/>
          </a:xfrm>
        </p:grpSpPr>
        <p:sp>
          <p:nvSpPr>
            <p:cNvPr id="50" name="AutoShape 24"/>
            <p:cNvSpPr>
              <a:spLocks noChangeShapeType="1"/>
            </p:cNvSpPr>
            <p:nvPr/>
          </p:nvSpPr>
          <p:spPr bwMode="auto">
            <a:xfrm flipH="1">
              <a:off x="3632" y="1059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1" name="Text Box 23"/>
            <p:cNvSpPr txBox="1">
              <a:spLocks noChangeArrowheads="1"/>
            </p:cNvSpPr>
            <p:nvPr/>
          </p:nvSpPr>
          <p:spPr bwMode="auto">
            <a:xfrm>
              <a:off x="4567" y="10150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2" name="AutoShape 22"/>
            <p:cNvSpPr>
              <a:spLocks noChangeShapeType="1"/>
            </p:cNvSpPr>
            <p:nvPr/>
          </p:nvSpPr>
          <p:spPr bwMode="auto">
            <a:xfrm>
              <a:off x="3846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AutoShape 19"/>
            <p:cNvSpPr>
              <a:spLocks noChangeShapeType="1"/>
            </p:cNvSpPr>
            <p:nvPr/>
          </p:nvSpPr>
          <p:spPr bwMode="auto">
            <a:xfrm flipV="1">
              <a:off x="7103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0" name="AutoShape 18"/>
            <p:cNvSpPr>
              <a:spLocks noChangeShapeType="1"/>
            </p:cNvSpPr>
            <p:nvPr/>
          </p:nvSpPr>
          <p:spPr bwMode="auto">
            <a:xfrm flipH="1" flipV="1">
              <a:off x="3632" y="1182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2" name="AutoShape 16"/>
            <p:cNvSpPr>
              <a:spLocks noChangeShapeType="1"/>
            </p:cNvSpPr>
            <p:nvPr/>
          </p:nvSpPr>
          <p:spPr bwMode="auto">
            <a:xfrm rot="10800000">
              <a:off x="6581" y="10592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AutoShape 11"/>
            <p:cNvSpPr>
              <a:spLocks noChangeShapeType="1"/>
            </p:cNvSpPr>
            <p:nvPr/>
          </p:nvSpPr>
          <p:spPr bwMode="auto">
            <a:xfrm flipV="1">
              <a:off x="3710" y="10671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9" name="Rectangle 9"/>
            <p:cNvSpPr>
              <a:spLocks noChangeArrowheads="1"/>
            </p:cNvSpPr>
            <p:nvPr/>
          </p:nvSpPr>
          <p:spPr bwMode="auto">
            <a:xfrm>
              <a:off x="449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5722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AutoShape 7"/>
            <p:cNvSpPr>
              <a:spLocks noChangeShapeType="1"/>
            </p:cNvSpPr>
            <p:nvPr/>
          </p:nvSpPr>
          <p:spPr bwMode="auto">
            <a:xfrm flipV="1">
              <a:off x="5405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Rectangle 6"/>
            <p:cNvSpPr>
              <a:spLocks noChangeArrowheads="1"/>
            </p:cNvSpPr>
            <p:nvPr/>
          </p:nvSpPr>
          <p:spPr bwMode="auto">
            <a:xfrm rot="16200000">
              <a:off x="5109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5"/>
            <p:cNvSpPr txBox="1">
              <a:spLocks noChangeArrowheads="1"/>
            </p:cNvSpPr>
            <p:nvPr/>
          </p:nvSpPr>
          <p:spPr bwMode="auto">
            <a:xfrm>
              <a:off x="5795" y="10151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altLang="fr-FR" baseline="-30000" dirty="0">
                  <a:solidFill>
                    <a:prstClr val="black"/>
                  </a:solidFill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4" name="Text Box 4"/>
            <p:cNvSpPr txBox="1">
              <a:spLocks noChangeArrowheads="1"/>
            </p:cNvSpPr>
            <p:nvPr/>
          </p:nvSpPr>
          <p:spPr bwMode="auto">
            <a:xfrm>
              <a:off x="4910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lang="fr-FR" altLang="fr-FR" baseline="-30000" dirty="0">
                  <a:solidFill>
                    <a:prstClr val="black"/>
                  </a:solidFill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object 19"/>
              <p:cNvSpPr txBox="1"/>
              <p:nvPr/>
            </p:nvSpPr>
            <p:spPr>
              <a:xfrm>
                <a:off x="1183028" y="1017460"/>
                <a:ext cx="2283475" cy="289823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298450" marR="5080" lvl="0" indent="-285750" algn="just">
                  <a:buFont typeface="Arial" panose="020B0604020202020204" pitchFamily="34" charset="0"/>
                  <a:buChar char="•"/>
                  <a:defRPr/>
                </a:pPr>
                <a:r>
                  <a:rPr kumimoji="0" lang="fr-FR" sz="1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Le cas où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MA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1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acc>
                          <m:accPr>
                            <m:chr m:val="̅"/>
                            <m:ctrlPr>
                              <a:rPr lang="ar-MA" b="1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fr-FR" b="1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𝑽</m:t>
                            </m:r>
                          </m:e>
                        </m:acc>
                      </m:e>
                      <m:sub>
                        <m:r>
                          <a:rPr lang="fr-FR" b="1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fr-FR" b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FR" b="1">
                        <a:solidFill>
                          <a:srgbClr val="00B05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kumimoji="0" lang="fr-FR" sz="1800" b="1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:</m:t>
                    </m:r>
                  </m:oMath>
                </a14:m>
                <a:endParaRPr kumimoji="0" lang="ar-MA" sz="18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7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028" y="1017460"/>
                <a:ext cx="2283475" cy="289823"/>
              </a:xfrm>
              <a:prstGeom prst="rect">
                <a:avLst/>
              </a:prstGeom>
              <a:blipFill>
                <a:blip r:embed="rId4"/>
                <a:stretch>
                  <a:fillRect l="-5067" t="-23404" b="-489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1"/>
          <p:cNvGrpSpPr>
            <a:grpSpLocks/>
          </p:cNvGrpSpPr>
          <p:nvPr/>
        </p:nvGrpSpPr>
        <p:grpSpPr bwMode="auto">
          <a:xfrm>
            <a:off x="7912359" y="2602941"/>
            <a:ext cx="3389328" cy="1790548"/>
            <a:chOff x="3486" y="10045"/>
            <a:chExt cx="3618" cy="1779"/>
          </a:xfrm>
        </p:grpSpPr>
        <p:sp>
          <p:nvSpPr>
            <p:cNvPr id="80" name="AutoShape 24"/>
            <p:cNvSpPr>
              <a:spLocks noChangeShapeType="1"/>
            </p:cNvSpPr>
            <p:nvPr/>
          </p:nvSpPr>
          <p:spPr bwMode="auto">
            <a:xfrm flipH="1">
              <a:off x="3486" y="1059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1" name="Text Box 23"/>
            <p:cNvSpPr txBox="1">
              <a:spLocks noChangeArrowheads="1"/>
            </p:cNvSpPr>
            <p:nvPr/>
          </p:nvSpPr>
          <p:spPr bwMode="auto">
            <a:xfrm>
              <a:off x="4567" y="10045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2" name="AutoShape 22"/>
            <p:cNvSpPr>
              <a:spLocks noChangeShapeType="1"/>
            </p:cNvSpPr>
            <p:nvPr/>
          </p:nvSpPr>
          <p:spPr bwMode="auto">
            <a:xfrm>
              <a:off x="3846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5" name="AutoShape 19"/>
            <p:cNvSpPr>
              <a:spLocks noChangeShapeType="1"/>
            </p:cNvSpPr>
            <p:nvPr/>
          </p:nvSpPr>
          <p:spPr bwMode="auto">
            <a:xfrm flipV="1">
              <a:off x="7103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6" name="AutoShape 18"/>
            <p:cNvSpPr>
              <a:spLocks noChangeShapeType="1"/>
            </p:cNvSpPr>
            <p:nvPr/>
          </p:nvSpPr>
          <p:spPr bwMode="auto">
            <a:xfrm flipH="1" flipV="1">
              <a:off x="3502" y="11820"/>
              <a:ext cx="3556" cy="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7" name="AutoShape 16"/>
            <p:cNvSpPr>
              <a:spLocks noChangeShapeType="1"/>
            </p:cNvSpPr>
            <p:nvPr/>
          </p:nvSpPr>
          <p:spPr bwMode="auto">
            <a:xfrm rot="10800000">
              <a:off x="6581" y="10592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8" name="AutoShape 11"/>
            <p:cNvSpPr>
              <a:spLocks noChangeShapeType="1"/>
            </p:cNvSpPr>
            <p:nvPr/>
          </p:nvSpPr>
          <p:spPr bwMode="auto">
            <a:xfrm flipV="1">
              <a:off x="3985" y="10671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0" name="Rectangle 9"/>
            <p:cNvSpPr>
              <a:spLocks noChangeArrowheads="1"/>
            </p:cNvSpPr>
            <p:nvPr/>
          </p:nvSpPr>
          <p:spPr bwMode="auto">
            <a:xfrm>
              <a:off x="449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Rectangle 8"/>
            <p:cNvSpPr>
              <a:spLocks noChangeArrowheads="1"/>
            </p:cNvSpPr>
            <p:nvPr/>
          </p:nvSpPr>
          <p:spPr bwMode="auto">
            <a:xfrm>
              <a:off x="5722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AutoShape 7"/>
            <p:cNvSpPr>
              <a:spLocks noChangeShapeType="1"/>
            </p:cNvSpPr>
            <p:nvPr/>
          </p:nvSpPr>
          <p:spPr bwMode="auto">
            <a:xfrm flipV="1">
              <a:off x="5405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6"/>
            <p:cNvSpPr>
              <a:spLocks noChangeArrowheads="1"/>
            </p:cNvSpPr>
            <p:nvPr/>
          </p:nvSpPr>
          <p:spPr bwMode="auto">
            <a:xfrm rot="16200000">
              <a:off x="5109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Text Box 5"/>
            <p:cNvSpPr txBox="1">
              <a:spLocks noChangeArrowheads="1"/>
            </p:cNvSpPr>
            <p:nvPr/>
          </p:nvSpPr>
          <p:spPr bwMode="auto">
            <a:xfrm>
              <a:off x="5811" y="10076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Text Box 4"/>
            <p:cNvSpPr txBox="1">
              <a:spLocks noChangeArrowheads="1"/>
            </p:cNvSpPr>
            <p:nvPr/>
          </p:nvSpPr>
          <p:spPr bwMode="auto">
            <a:xfrm>
              <a:off x="4910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sz="18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98" name="Objet 9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2677753"/>
              </p:ext>
            </p:extLst>
          </p:nvPr>
        </p:nvGraphicFramePr>
        <p:xfrm>
          <a:off x="2022762" y="3891385"/>
          <a:ext cx="1327150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0" name="Equation" r:id="rId5" imgW="977760" imgH="507960" progId="Equation.DSMT4">
                  <p:embed/>
                </p:oleObj>
              </mc:Choice>
              <mc:Fallback>
                <p:oleObj name="Equation" r:id="rId5" imgW="977760" imgH="507960" progId="Equation.DSMT4">
                  <p:embed/>
                  <p:pic>
                    <p:nvPicPr>
                      <p:cNvPr id="98" name="Obje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22762" y="3891385"/>
                        <a:ext cx="1327150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Rectangle 16"/>
          <p:cNvSpPr/>
          <p:nvPr/>
        </p:nvSpPr>
        <p:spPr>
          <a:xfrm>
            <a:off x="1310470" y="3286243"/>
            <a:ext cx="6825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Détermination de t</a:t>
            </a:r>
            <a:r>
              <a:rPr lang="fr-FR" sz="12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12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(impédance de transfert négative )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349912" y="3938760"/>
                <a:ext cx="2027478" cy="656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fr-FR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fr-FR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b="0" i="0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9912" y="3938760"/>
                <a:ext cx="2027478" cy="65620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Connecteur droit 21"/>
          <p:cNvCxnSpPr/>
          <p:nvPr/>
        </p:nvCxnSpPr>
        <p:spPr>
          <a:xfrm flipV="1">
            <a:off x="7912359" y="3150472"/>
            <a:ext cx="0" cy="123777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2" name="Objet 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0760316"/>
              </p:ext>
            </p:extLst>
          </p:nvPr>
        </p:nvGraphicFramePr>
        <p:xfrm>
          <a:off x="3467100" y="4968875"/>
          <a:ext cx="4111625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1" name="Equation" r:id="rId8" imgW="2527200" imgH="914400" progId="Equation.DSMT4">
                  <p:embed/>
                </p:oleObj>
              </mc:Choice>
              <mc:Fallback>
                <p:oleObj name="Equation" r:id="rId8" imgW="2527200" imgH="914400" progId="Equation.DSMT4">
                  <p:embed/>
                  <p:pic>
                    <p:nvPicPr>
                      <p:cNvPr id="102" name="Objet 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4968875"/>
                        <a:ext cx="4111625" cy="15636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3" name="Objet 10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2305673"/>
              </p:ext>
            </p:extLst>
          </p:nvPr>
        </p:nvGraphicFramePr>
        <p:xfrm>
          <a:off x="2123997" y="2382143"/>
          <a:ext cx="1309688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2" name="Equation" r:id="rId10" imgW="965160" imgH="507960" progId="Equation.DSMT4">
                  <p:embed/>
                </p:oleObj>
              </mc:Choice>
              <mc:Fallback>
                <p:oleObj name="Equation" r:id="rId10" imgW="965160" imgH="507960" progId="Equation.DSMT4">
                  <p:embed/>
                  <p:pic>
                    <p:nvPicPr>
                      <p:cNvPr id="103" name="Objet 1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997" y="2382143"/>
                        <a:ext cx="1309688" cy="7588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" name="Rectangle 103"/>
          <p:cNvSpPr/>
          <p:nvPr/>
        </p:nvSpPr>
        <p:spPr>
          <a:xfrm>
            <a:off x="1312632" y="1805470"/>
            <a:ext cx="682596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Détermination de t</a:t>
            </a:r>
            <a:r>
              <a:rPr lang="fr-FR" sz="12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22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 (gain en courant négatif )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Rectangle 104"/>
              <p:cNvSpPr/>
              <p:nvPr/>
            </p:nvSpPr>
            <p:spPr>
              <a:xfrm>
                <a:off x="3548799" y="2417855"/>
                <a:ext cx="1136465" cy="6562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fr-FR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105" name="Rectangle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8799" y="2417855"/>
                <a:ext cx="1136465" cy="65620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 Box 26"/>
              <p:cNvSpPr txBox="1">
                <a:spLocks noChangeArrowheads="1"/>
              </p:cNvSpPr>
              <p:nvPr/>
            </p:nvSpPr>
            <p:spPr bwMode="auto">
              <a:xfrm>
                <a:off x="8297177" y="302592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6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97177" y="302592"/>
                <a:ext cx="613272" cy="496894"/>
              </a:xfrm>
              <a:prstGeom prst="rect">
                <a:avLst/>
              </a:prstGeom>
              <a:blipFill>
                <a:blip r:embed="rId13"/>
                <a:stretch>
                  <a:fillRect r="-138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 Box 25"/>
              <p:cNvSpPr txBox="1">
                <a:spLocks noChangeArrowheads="1"/>
              </p:cNvSpPr>
              <p:nvPr/>
            </p:nvSpPr>
            <p:spPr bwMode="auto">
              <a:xfrm>
                <a:off x="7743890" y="1144966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1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43890" y="1144966"/>
                <a:ext cx="713544" cy="496894"/>
              </a:xfrm>
              <a:prstGeom prst="rect">
                <a:avLst/>
              </a:prstGeom>
              <a:blipFill>
                <a:blip r:embed="rId14"/>
                <a:stretch>
                  <a:fillRect r="-17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 Box 18"/>
              <p:cNvSpPr txBox="1">
                <a:spLocks noChangeArrowheads="1"/>
              </p:cNvSpPr>
              <p:nvPr/>
            </p:nvSpPr>
            <p:spPr bwMode="auto">
              <a:xfrm>
                <a:off x="10777122" y="316454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777122" y="316454"/>
                <a:ext cx="613272" cy="496894"/>
              </a:xfrm>
              <a:prstGeom prst="rect">
                <a:avLst/>
              </a:prstGeom>
              <a:blipFill>
                <a:blip r:embed="rId15"/>
                <a:stretch>
                  <a:fillRect r="-1287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 Box 15"/>
              <p:cNvSpPr txBox="1">
                <a:spLocks noChangeArrowheads="1"/>
              </p:cNvSpPr>
              <p:nvPr/>
            </p:nvSpPr>
            <p:spPr bwMode="auto">
              <a:xfrm>
                <a:off x="11299033" y="1154563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4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299033" y="1154563"/>
                <a:ext cx="713544" cy="496894"/>
              </a:xfrm>
              <a:prstGeom prst="rect">
                <a:avLst/>
              </a:prstGeom>
              <a:blipFill>
                <a:blip r:embed="rId16"/>
                <a:stretch>
                  <a:fillRect r="-85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 Box 26"/>
              <p:cNvSpPr txBox="1">
                <a:spLocks noChangeArrowheads="1"/>
              </p:cNvSpPr>
              <p:nvPr/>
            </p:nvSpPr>
            <p:spPr bwMode="auto">
              <a:xfrm>
                <a:off x="8148207" y="2707248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6" name="Text 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48207" y="2707248"/>
                <a:ext cx="613272" cy="496894"/>
              </a:xfrm>
              <a:prstGeom prst="rect">
                <a:avLst/>
              </a:prstGeom>
              <a:blipFill>
                <a:blip r:embed="rId17"/>
                <a:stretch>
                  <a:fillRect r="-14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 Box 25"/>
              <p:cNvSpPr txBox="1">
                <a:spLocks noChangeArrowheads="1"/>
              </p:cNvSpPr>
              <p:nvPr/>
            </p:nvSpPr>
            <p:spPr bwMode="auto">
              <a:xfrm>
                <a:off x="7063663" y="3640946"/>
                <a:ext cx="883357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sz="1400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sz="1400" b="1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</m:acc>
                        </m:e>
                        <m:sub>
                          <m:r>
                            <a:rPr lang="fr-FR" sz="14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fr-FR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1400" b="1" i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kumimoji="0" lang="fr-FR" altLang="fr-FR" sz="1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5" name="Text 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063663" y="3640946"/>
                <a:ext cx="883357" cy="49689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 Box 18"/>
              <p:cNvSpPr txBox="1">
                <a:spLocks noChangeArrowheads="1"/>
              </p:cNvSpPr>
              <p:nvPr/>
            </p:nvSpPr>
            <p:spPr bwMode="auto">
              <a:xfrm>
                <a:off x="10628152" y="2721110"/>
                <a:ext cx="613272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6" name="Text 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628152" y="2721110"/>
                <a:ext cx="613272" cy="496894"/>
              </a:xfrm>
              <a:prstGeom prst="rect">
                <a:avLst/>
              </a:prstGeom>
              <a:blipFill>
                <a:blip r:embed="rId19"/>
                <a:stretch>
                  <a:fillRect r="-1386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Text Box 15"/>
              <p:cNvSpPr txBox="1">
                <a:spLocks noChangeArrowheads="1"/>
              </p:cNvSpPr>
              <p:nvPr/>
            </p:nvSpPr>
            <p:spPr bwMode="auto">
              <a:xfrm>
                <a:off x="11150063" y="3559219"/>
                <a:ext cx="713544" cy="4968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̅"/>
                              <m:ctrlPr>
                                <a:rPr lang="fr-FR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</m:e>
                        <m:sub>
                          <m:r>
                            <a:rPr lang="fr-FR" b="0" i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6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150063" y="3559219"/>
                <a:ext cx="713544" cy="496894"/>
              </a:xfrm>
              <a:prstGeom prst="rect">
                <a:avLst/>
              </a:prstGeom>
              <a:blipFill>
                <a:blip r:embed="rId20"/>
                <a:stretch>
                  <a:fillRect r="-170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Objet 8">
            <a:extLst>
              <a:ext uri="{FF2B5EF4-FFF2-40B4-BE49-F238E27FC236}">
                <a16:creationId xmlns:a16="http://schemas.microsoft.com/office/drawing/2014/main" id="{0D0C4537-9291-8F55-23D6-50D215C82E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3762916"/>
              </p:ext>
            </p:extLst>
          </p:nvPr>
        </p:nvGraphicFramePr>
        <p:xfrm>
          <a:off x="5610288" y="862994"/>
          <a:ext cx="212725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73" name="Equation" r:id="rId21" imgW="1307880" imgH="533160" progId="Equation.DSMT4">
                  <p:embed/>
                </p:oleObj>
              </mc:Choice>
              <mc:Fallback>
                <p:oleObj name="Equation" r:id="rId21" imgW="1307880" imgH="533160" progId="Equation.DSMT4">
                  <p:embed/>
                  <p:pic>
                    <p:nvPicPr>
                      <p:cNvPr id="9" name="Objet 8">
                        <a:extLst>
                          <a:ext uri="{FF2B5EF4-FFF2-40B4-BE49-F238E27FC236}">
                            <a16:creationId xmlns:a16="http://schemas.microsoft.com/office/drawing/2014/main" id="{0D0C4537-9291-8F55-23D6-50D215C82E8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0288" y="862994"/>
                        <a:ext cx="2127250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3234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04" grpId="0"/>
      <p:bldP spid="105" grpId="0"/>
      <p:bldP spid="66" grpId="0"/>
      <p:bldP spid="75" grpId="0"/>
      <p:bldP spid="76" grpId="0"/>
      <p:bldP spid="9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5"/>
          <p:cNvSpPr txBox="1">
            <a:spLocks/>
          </p:cNvSpPr>
          <p:nvPr/>
        </p:nvSpPr>
        <p:spPr>
          <a:xfrm>
            <a:off x="623392" y="188640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lvl="0">
              <a:spcBef>
                <a:spcPts val="100"/>
              </a:spcBef>
              <a:defRPr/>
            </a:pPr>
            <a:r>
              <a:rPr lang="fr-FR" sz="1800" b="1" kern="0" spc="-15" dirty="0">
                <a:solidFill>
                  <a:srgbClr val="FF0000"/>
                </a:solidFill>
                <a:latin typeface="Bookman Old Style" panose="02050604050505020204" pitchFamily="18" charset="0"/>
              </a:rPr>
              <a:t>Passage d’une matrice à une autre :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0" y="7143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9" name="Obje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0279711"/>
              </p:ext>
            </p:extLst>
          </p:nvPr>
        </p:nvGraphicFramePr>
        <p:xfrm>
          <a:off x="9528228" y="2794928"/>
          <a:ext cx="2541852" cy="18219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0" name="Equation" r:id="rId3" imgW="1002960" imgH="723600" progId="Equation.DSMT4">
                  <p:embed/>
                </p:oleObj>
              </mc:Choice>
              <mc:Fallback>
                <p:oleObj name="Equation" r:id="rId3" imgW="1002960" imgH="723600" progId="Equation.DSMT4">
                  <p:embed/>
                  <p:pic>
                    <p:nvPicPr>
                      <p:cNvPr id="9" name="Objet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528228" y="2794928"/>
                        <a:ext cx="2541852" cy="18219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au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7267645"/>
                  </p:ext>
                </p:extLst>
              </p:nvPr>
            </p:nvGraphicFramePr>
            <p:xfrm>
              <a:off x="1400228" y="714375"/>
              <a:ext cx="8128000" cy="598301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40997372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601252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1513682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57255130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43798991"/>
                        </a:ext>
                      </a:extLst>
                    </a:gridCol>
                  </a:tblGrid>
                  <a:tr h="666414">
                    <a:tc>
                      <a:txBody>
                        <a:bodyPr/>
                        <a:lstStyle/>
                        <a:p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[T]</a:t>
                          </a:r>
                        </a:p>
                      </a:txBody>
                      <a:tcPr anchor="ctr"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[Z]</a:t>
                          </a:r>
                        </a:p>
                      </a:txBody>
                      <a:tcPr anchor="ctr"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[Y]</a:t>
                          </a:r>
                        </a:p>
                      </a:txBody>
                      <a:tcPr anchor="ctr"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[H]</a:t>
                          </a:r>
                        </a:p>
                      </a:txBody>
                      <a:tcPr anchor="ctr"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2071991"/>
                      </a:ext>
                    </a:extLst>
                  </a:tr>
                  <a:tr h="666414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[T]</a:t>
                          </a: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BDE4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𝑡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𝑍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𝑌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r>
                                            <m:rPr>
                                              <m:brk m:alnAt="7"/>
                                            </m:rP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782290806"/>
                      </a:ext>
                    </a:extLst>
                  </a:tr>
                  <a:tr h="666414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[Z]</a:t>
                          </a:r>
                        </a:p>
                      </a:txBody>
                      <a:tcPr anchor="ctr">
                        <a:solidFill>
                          <a:srgbClr val="BDE4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𝑧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𝑌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𝑌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𝑌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𝑌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616814908"/>
                      </a:ext>
                    </a:extLst>
                  </a:tr>
                  <a:tr h="666414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[Y]</a:t>
                          </a:r>
                        </a:p>
                      </a:txBody>
                      <a:tcPr anchor="ctr">
                        <a:solidFill>
                          <a:srgbClr val="BDE4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𝑍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𝑍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𝑌</m:t>
                                              </m:r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𝑌</m:t>
                                              </m:r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𝑦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marL="0" marR="0" lvl="0" indent="0" defTabSz="91440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𝐻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h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61683938"/>
                      </a:ext>
                    </a:extLst>
                  </a:tr>
                  <a:tr h="666414">
                    <a:tc>
                      <a:txBody>
                        <a:bodyPr/>
                        <a:lstStyle/>
                        <a:p>
                          <a:r>
                            <a:rPr lang="fr-FR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[H]</a:t>
                          </a:r>
                        </a:p>
                      </a:txBody>
                      <a:tcPr anchor="ctr">
                        <a:solidFill>
                          <a:srgbClr val="BDE4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𝑇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𝑡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𝑍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𝑧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22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kumimoji="0" lang="fr-FR" sz="1800" b="0" i="1" u="none" strike="noStrike" kern="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r>
                                            <a:rPr kumimoji="0" lang="fr-FR" sz="1800" b="0" i="1" u="none" strike="noStrike" kern="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prstClr val="black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+mn-ea"/>
                                              <a:cs typeface="Times New Roman" panose="020206030504050203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12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  <m:mr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21</m:t>
                                                  </m:r>
                                                </m:sub>
                                              </m:sSub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  <m:e>
                                          <m:f>
                                            <m:f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∆</m:t>
                                              </m:r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  <a:cs typeface="Times New Roman" panose="02020603050405020304" pitchFamily="18" charset="0"/>
                                                </a:rPr>
                                                <m:t>𝑌</m:t>
                                              </m:r>
                                            </m:num>
                                            <m:den>
                                              <m:sSub>
                                                <m:sSubPr>
                                                  <m:ctrlP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𝑦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kumimoji="0" lang="fr-FR" sz="1800" b="0" i="1" u="none" strike="noStrike" kern="0" cap="none" spc="0" normalizeH="0" baseline="0" noProof="0" smtClean="0">
                                                      <a:ln>
                                                        <a:noFill/>
                                                      </a:ln>
                                                      <a:solidFill>
                                                        <a:prstClr val="black"/>
                                                      </a:solidFill>
                                                      <a:effectLst/>
                                                      <a:uLnTx/>
                                                      <a:uFillTx/>
                                                      <a:latin typeface="Cambria Math" panose="02040503050406030204" pitchFamily="18" charset="0"/>
                                                      <a:ea typeface="+mn-ea"/>
                                                      <a:cs typeface="Times New Roman" panose="02020603050405020304" pitchFamily="18" charset="0"/>
                                                    </a:rPr>
                                                    <m:t>11</m:t>
                                                  </m:r>
                                                </m:sub>
                                              </m:sSub>
                                            </m:den>
                                          </m:f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["/>
                                    <m:endChr m:val="]"/>
                                    <m:ctrlPr>
                                      <a:rPr lang="fr-FR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m>
                                      <m:mPr>
                                        <m:mcs>
                                          <m:mc>
                                            <m:mcPr>
                                              <m:count m:val="2"/>
                                              <m:mcJc m:val="center"/>
                                            </m:mcPr>
                                          </m:mc>
                                        </m:mcs>
                                        <m:ctrlPr>
                                          <a:rPr kumimoji="0" lang="fr-FR" sz="1800" b="0" i="1" u="none" strike="noStrike" kern="0" cap="none" spc="0" normalizeH="0" baseline="0" noProof="0" smtClean="0">
                                            <a:ln>
                                              <a:noFill/>
                                            </a:ln>
                                            <a:solidFill>
                                              <a:prstClr val="black"/>
                                            </a:solidFill>
                                            <a:effectLst/>
                                            <a:uLnTx/>
                                            <a:uFillTx/>
                                            <a:latin typeface="Cambria Math" panose="02040503050406030204" pitchFamily="18" charset="0"/>
                                            <a:ea typeface="+mn-ea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mP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12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  <m:m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21</m:t>
                                              </m:r>
                                            </m:sub>
                                          </m:sSub>
                                        </m:e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h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fr-FR" sz="1800" b="0" i="1" u="none" strike="noStrike" kern="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prstClr val="black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+mn-ea"/>
                                                  <a:cs typeface="Times New Roman" panose="02020603050405020304" pitchFamily="18" charset="0"/>
                                                </a:rPr>
                                                <m:t>22</m:t>
                                              </m:r>
                                            </m:sub>
                                          </m:sSub>
                                        </m:e>
                                      </m:mr>
                                    </m:m>
                                  </m:e>
                                </m:d>
                              </m:oMath>
                            </m:oMathPara>
                          </a14:m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8350050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au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7267645"/>
                  </p:ext>
                </p:extLst>
              </p:nvPr>
            </p:nvGraphicFramePr>
            <p:xfrm>
              <a:off x="1400228" y="714375"/>
              <a:ext cx="8128000" cy="598301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40997372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601252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1513682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57255130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43798991"/>
                        </a:ext>
                      </a:extLst>
                    </a:gridCol>
                  </a:tblGrid>
                  <a:tr h="666414">
                    <a:tc>
                      <a:txBody>
                        <a:bodyPr/>
                        <a:lstStyle/>
                        <a:p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[T]</a:t>
                          </a:r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[Z]</a:t>
                          </a:r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[Y]</a:t>
                          </a:r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FF99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fr-F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[H]</a:t>
                          </a:r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FFFF99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2071991"/>
                      </a:ext>
                    </a:extLst>
                  </a:tr>
                  <a:tr h="1262317">
                    <a:tc>
                      <a:txBody>
                        <a:bodyPr/>
                        <a:lstStyle/>
                        <a:p>
                          <a:r>
                            <a:rPr lang="fr-F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[T]</a:t>
                          </a:r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BDE4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75" t="-52885" r="-300749" b="-320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375" t="-52885" r="-200749" b="-320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0375" t="-52885" r="-100749" b="-3206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0375" t="-52885" r="-749" b="-3206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2290806"/>
                      </a:ext>
                    </a:extLst>
                  </a:tr>
                  <a:tr h="1262317">
                    <a:tc>
                      <a:txBody>
                        <a:bodyPr/>
                        <a:lstStyle/>
                        <a:p>
                          <a:r>
                            <a:rPr lang="fr-F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[Z]</a:t>
                          </a:r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DE4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75" t="-153623" r="-300749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375" t="-153623" r="-200749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0375" t="-153623" r="-100749" b="-22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0375" t="-153623" r="-749" b="-22222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16814908"/>
                      </a:ext>
                    </a:extLst>
                  </a:tr>
                  <a:tr h="1536637">
                    <a:tc>
                      <a:txBody>
                        <a:bodyPr/>
                        <a:lstStyle/>
                        <a:p>
                          <a:r>
                            <a:rPr lang="fr-F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[Y]</a:t>
                          </a:r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DE4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75" t="-208333" r="-300749" b="-82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375" t="-208333" r="-200749" b="-82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0375" t="-208333" r="-100749" b="-8254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0375" t="-208333" r="-749" b="-8254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61683938"/>
                      </a:ext>
                    </a:extLst>
                  </a:tr>
                  <a:tr h="1255332">
                    <a:tc>
                      <a:txBody>
                        <a:bodyPr/>
                        <a:lstStyle/>
                        <a:p>
                          <a:r>
                            <a:rPr lang="fr-FR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[H]</a:t>
                          </a:r>
                          <a:endParaRPr lang="fr-FR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solidFill>
                          <a:srgbClr val="BDE4F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00375" t="-377184" r="-300749" b="-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200375" t="-377184" r="-200749" b="-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00375" t="-377184" r="-100749" b="-9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fr-FR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400375" t="-377184" r="-749" b="-9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3500508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8758376" y="6338553"/>
            <a:ext cx="2743200" cy="365125"/>
          </a:xfrm>
        </p:spPr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78293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5"/>
          <p:cNvSpPr txBox="1">
            <a:spLocks/>
          </p:cNvSpPr>
          <p:nvPr/>
        </p:nvSpPr>
        <p:spPr>
          <a:xfrm>
            <a:off x="1378642" y="1524225"/>
            <a:ext cx="5935756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I-3-1 Association série-série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97845" y="3140968"/>
            <a:ext cx="5418235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Dans ce cas, il y a une 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additivité</a:t>
            </a: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des tensions </a:t>
            </a: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aux bornes des quadripôles dont 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E00EC2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les courants sont identiques</a:t>
            </a: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, et ce pour les deux cotés. On en déduit la matrice impédance équivalente [Z] 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539627" y="2079994"/>
            <a:ext cx="46330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On utilise les matrices impédances Z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24913" y="2564904"/>
            <a:ext cx="4659252" cy="2768956"/>
          </a:xfrm>
          <a:prstGeom prst="rect">
            <a:avLst/>
          </a:prstGeom>
        </p:spPr>
      </p:pic>
      <p:sp>
        <p:nvSpPr>
          <p:cNvPr id="19" name="object 5"/>
          <p:cNvSpPr txBox="1">
            <a:spLocks/>
          </p:cNvSpPr>
          <p:nvPr/>
        </p:nvSpPr>
        <p:spPr>
          <a:xfrm>
            <a:off x="1199456" y="487128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I-3 Association de quadripôles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00AF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5868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4511824" y="5780094"/>
            <a:ext cx="26642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On déduit </a:t>
            </a: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Z 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 </a:t>
            </a: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 + </a:t>
            </a:r>
            <a:r>
              <a:rPr kumimoji="0" 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Z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’’. </a:t>
            </a: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4" name="Obje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9377029"/>
              </p:ext>
            </p:extLst>
          </p:nvPr>
        </p:nvGraphicFramePr>
        <p:xfrm>
          <a:off x="2135560" y="620688"/>
          <a:ext cx="6000571" cy="904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6" name="Equation" r:id="rId4" imgW="3873240" imgH="533160" progId="Equation.DSMT4">
                  <p:embed/>
                </p:oleObj>
              </mc:Choice>
              <mc:Fallback>
                <p:oleObj name="Equation" r:id="rId4" imgW="3873240" imgH="533160" progId="Equation.DSMT4">
                  <p:embed/>
                  <p:pic>
                    <p:nvPicPr>
                      <p:cNvPr id="14" name="Obje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620688"/>
                        <a:ext cx="6000571" cy="904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0484900"/>
              </p:ext>
            </p:extLst>
          </p:nvPr>
        </p:nvGraphicFramePr>
        <p:xfrm>
          <a:off x="3431704" y="1927534"/>
          <a:ext cx="5094121" cy="7943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7" name="Equation" r:id="rId6" imgW="3746160" imgH="558720" progId="Equation.DSMT4">
                  <p:embed/>
                </p:oleObj>
              </mc:Choice>
              <mc:Fallback>
                <p:oleObj name="Equation" r:id="rId6" imgW="3746160" imgH="558720" progId="Equation.DSMT4">
                  <p:embed/>
                  <p:pic>
                    <p:nvPicPr>
                      <p:cNvPr id="22" name="Obje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1704" y="1927534"/>
                        <a:ext cx="5094121" cy="7943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2980996"/>
              </p:ext>
            </p:extLst>
          </p:nvPr>
        </p:nvGraphicFramePr>
        <p:xfrm>
          <a:off x="2135560" y="4335430"/>
          <a:ext cx="9097283" cy="10389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8" name="Equation" r:id="rId8" imgW="5562360" imgH="533160" progId="Equation.DSMT4">
                  <p:embed/>
                </p:oleObj>
              </mc:Choice>
              <mc:Fallback>
                <p:oleObj name="Equation" r:id="rId8" imgW="5562360" imgH="533160" progId="Equation.DSMT4">
                  <p:embed/>
                  <p:pic>
                    <p:nvPicPr>
                      <p:cNvPr id="24" name="Obje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4335430"/>
                        <a:ext cx="9097283" cy="103895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445601"/>
              </p:ext>
            </p:extLst>
          </p:nvPr>
        </p:nvGraphicFramePr>
        <p:xfrm>
          <a:off x="2135560" y="3124278"/>
          <a:ext cx="7254000" cy="8054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69" name="Equation" r:id="rId10" imgW="5257800" imgH="533160" progId="Equation.DSMT4">
                  <p:embed/>
                </p:oleObj>
              </mc:Choice>
              <mc:Fallback>
                <p:oleObj name="Equation" r:id="rId10" imgW="5257800" imgH="533160" progId="Equation.DSMT4">
                  <p:embed/>
                  <p:pic>
                    <p:nvPicPr>
                      <p:cNvPr id="21" name="Obje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3124278"/>
                        <a:ext cx="7254000" cy="8054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44234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519555" y="2780928"/>
            <a:ext cx="506498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On utilise les matrices admittances Y et on obtient Y=Y’+Y"</a:t>
            </a:r>
          </a:p>
        </p:txBody>
      </p:sp>
      <p:sp>
        <p:nvSpPr>
          <p:cNvPr id="18" name="object 5"/>
          <p:cNvSpPr txBox="1">
            <a:spLocks/>
          </p:cNvSpPr>
          <p:nvPr/>
        </p:nvSpPr>
        <p:spPr>
          <a:xfrm>
            <a:off x="983432" y="415699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I-3-2 Association parallèle-parallèle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32104" y="2060848"/>
            <a:ext cx="4556467" cy="32812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1519555" y="1466226"/>
            <a:ext cx="571984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Il y a une 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E00EC2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identité</a:t>
            </a: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srgbClr val="E00EC2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E00EC2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des tensions </a:t>
            </a: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et </a:t>
            </a: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additivité des courants</a:t>
            </a:r>
            <a:r>
              <a:rPr kumimoji="0" lang="fr-FR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. On en déduit la matrice admittance équivalente [Y] :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6460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7266708"/>
              </p:ext>
            </p:extLst>
          </p:nvPr>
        </p:nvGraphicFramePr>
        <p:xfrm>
          <a:off x="2184166" y="527060"/>
          <a:ext cx="6079874" cy="904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6" name="Equation" r:id="rId3" imgW="3924000" imgH="533160" progId="Equation.DSMT4">
                  <p:embed/>
                </p:oleObj>
              </mc:Choice>
              <mc:Fallback>
                <p:oleObj name="Equation" r:id="rId3" imgW="3924000" imgH="533160" progId="Equation.DSMT4">
                  <p:embed/>
                  <p:pic>
                    <p:nvPicPr>
                      <p:cNvPr id="15" name="Obje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166" y="527060"/>
                        <a:ext cx="6079874" cy="904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6994934"/>
              </p:ext>
            </p:extLst>
          </p:nvPr>
        </p:nvGraphicFramePr>
        <p:xfrm>
          <a:off x="2184166" y="1680415"/>
          <a:ext cx="5856050" cy="9128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7" name="Equation" r:id="rId5" imgW="3746160" imgH="558720" progId="Equation.DSMT4">
                  <p:embed/>
                </p:oleObj>
              </mc:Choice>
              <mc:Fallback>
                <p:oleObj name="Equation" r:id="rId5" imgW="3746160" imgH="558720" progId="Equation.DSMT4">
                  <p:embed/>
                  <p:pic>
                    <p:nvPicPr>
                      <p:cNvPr id="16" name="Obje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166" y="1680415"/>
                        <a:ext cx="5856050" cy="91283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6867823"/>
              </p:ext>
            </p:extLst>
          </p:nvPr>
        </p:nvGraphicFramePr>
        <p:xfrm>
          <a:off x="1271464" y="4293096"/>
          <a:ext cx="10241374" cy="1140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8" name="Equation" r:id="rId7" imgW="5702040" imgH="533160" progId="Equation.DSMT4">
                  <p:embed/>
                </p:oleObj>
              </mc:Choice>
              <mc:Fallback>
                <p:oleObj name="Equation" r:id="rId7" imgW="5702040" imgH="533160" progId="Equation.DSMT4">
                  <p:embed/>
                  <p:pic>
                    <p:nvPicPr>
                      <p:cNvPr id="17" name="Obje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4293096"/>
                        <a:ext cx="10241374" cy="114044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4370188"/>
              </p:ext>
            </p:extLst>
          </p:nvPr>
        </p:nvGraphicFramePr>
        <p:xfrm>
          <a:off x="2184166" y="2842173"/>
          <a:ext cx="8086988" cy="9044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89" name="Equation" r:id="rId9" imgW="5219640" imgH="533160" progId="Equation.DSMT4">
                  <p:embed/>
                </p:oleObj>
              </mc:Choice>
              <mc:Fallback>
                <p:oleObj name="Equation" r:id="rId9" imgW="5219640" imgH="533160" progId="Equation.DSMT4">
                  <p:embed/>
                  <p:pic>
                    <p:nvPicPr>
                      <p:cNvPr id="20" name="Obje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4166" y="2842173"/>
                        <a:ext cx="8086988" cy="9044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78596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5"/>
          <p:cNvSpPr txBox="1">
            <a:spLocks/>
          </p:cNvSpPr>
          <p:nvPr/>
        </p:nvSpPr>
        <p:spPr>
          <a:xfrm>
            <a:off x="1127448" y="371036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I-3-3 Association série-parallèle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343472" y="987820"/>
            <a:ext cx="486248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On utilise les matrices hybrides H et on obtient H = H’ + H’’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48128" y="717633"/>
            <a:ext cx="4670360" cy="2963701"/>
          </a:xfrm>
          <a:prstGeom prst="rect">
            <a:avLst/>
          </a:prstGeom>
        </p:spPr>
      </p:pic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8428410"/>
              </p:ext>
            </p:extLst>
          </p:nvPr>
        </p:nvGraphicFramePr>
        <p:xfrm>
          <a:off x="1519555" y="1961112"/>
          <a:ext cx="5094287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6" name="Equation" r:id="rId5" imgW="3911400" imgH="533160" progId="Equation.DSMT4">
                  <p:embed/>
                </p:oleObj>
              </mc:Choice>
              <mc:Fallback>
                <p:oleObj name="Equation" r:id="rId5" imgW="3911400" imgH="533160" progId="Equation.DSMT4">
                  <p:embed/>
                  <p:pic>
                    <p:nvPicPr>
                      <p:cNvPr id="16" name="Obje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555" y="1961112"/>
                        <a:ext cx="5094287" cy="7604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6483596"/>
              </p:ext>
            </p:extLst>
          </p:nvPr>
        </p:nvGraphicFramePr>
        <p:xfrm>
          <a:off x="1523699" y="3170391"/>
          <a:ext cx="4840287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7" name="Equation" r:id="rId7" imgW="3771720" imgH="558720" progId="Equation.DSMT4">
                  <p:embed/>
                </p:oleObj>
              </mc:Choice>
              <mc:Fallback>
                <p:oleObj name="Equation" r:id="rId7" imgW="3771720" imgH="558720" progId="Equation.DSMT4">
                  <p:embed/>
                  <p:pic>
                    <p:nvPicPr>
                      <p:cNvPr id="17" name="Obje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3699" y="3170391"/>
                        <a:ext cx="4840287" cy="749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/>
        </p:nvGraphicFramePr>
        <p:xfrm>
          <a:off x="1519555" y="5359081"/>
          <a:ext cx="8475662" cy="958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8" name="Equation" r:id="rId9" imgW="5613120" imgH="533160" progId="Equation.DSMT4">
                  <p:embed/>
                </p:oleObj>
              </mc:Choice>
              <mc:Fallback>
                <p:oleObj name="Equation" r:id="rId9" imgW="5613120" imgH="533160" progId="Equation.DSMT4">
                  <p:embed/>
                  <p:pic>
                    <p:nvPicPr>
                      <p:cNvPr id="20" name="Obje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555" y="5359081"/>
                        <a:ext cx="8475662" cy="9588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0952984"/>
              </p:ext>
            </p:extLst>
          </p:nvPr>
        </p:nvGraphicFramePr>
        <p:xfrm>
          <a:off x="1519555" y="4196715"/>
          <a:ext cx="7096125" cy="76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69" name="Equation" r:id="rId11" imgW="5448240" imgH="533160" progId="Equation.DSMT4">
                  <p:embed/>
                </p:oleObj>
              </mc:Choice>
              <mc:Fallback>
                <p:oleObj name="Equation" r:id="rId11" imgW="5448240" imgH="533160" progId="Equation.DSMT4">
                  <p:embed/>
                  <p:pic>
                    <p:nvPicPr>
                      <p:cNvPr id="22" name="Obje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9555" y="4196715"/>
                        <a:ext cx="7096125" cy="7604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43540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1662493" y="1220598"/>
            <a:ext cx="931030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On utilise les matrices hybrides inverses G et on a G = G’ + G’’  avec G = H</a:t>
            </a:r>
            <a:r>
              <a:rPr kumimoji="0" lang="fr-FR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</a:rPr>
              <a:t>-1</a:t>
            </a:r>
            <a:endParaRPr kumimoji="0" lang="fr-FR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ea typeface="Times New Roman" panose="02020603050405020304" pitchFamily="18" charset="0"/>
            </a:endParaRPr>
          </a:p>
        </p:txBody>
      </p:sp>
      <p:sp>
        <p:nvSpPr>
          <p:cNvPr id="18" name="object 5"/>
          <p:cNvSpPr txBox="1">
            <a:spLocks/>
          </p:cNvSpPr>
          <p:nvPr/>
        </p:nvSpPr>
        <p:spPr>
          <a:xfrm>
            <a:off x="1199456" y="446601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I-3-4 Association parallèle-série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pic>
        <p:nvPicPr>
          <p:cNvPr id="15" name="Image 14"/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3960960" y="2338323"/>
            <a:ext cx="5706886" cy="327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6683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bject 5"/>
          <p:cNvSpPr txBox="1">
            <a:spLocks/>
          </p:cNvSpPr>
          <p:nvPr/>
        </p:nvSpPr>
        <p:spPr>
          <a:xfrm>
            <a:off x="1199456" y="444504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I-3-5 Association en cascade (ou en chaine)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2135560" y="1251187"/>
                <a:ext cx="8683435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</a:rPr>
                  <a:t>On utilise les matrices de transfert T et on obtient  </a:t>
                </a:r>
                <a14:m>
                  <m:oMath xmlns:m="http://schemas.openxmlformats.org/officeDocument/2006/math">
                    <m:r>
                      <a:rPr kumimoji="0" lang="fr-FR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𝑻</m:t>
                    </m:r>
                    <m:r>
                      <a:rPr kumimoji="0" lang="fr-FR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 = </m:t>
                    </m:r>
                    <m:r>
                      <a:rPr kumimoji="0" lang="fr-FR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𝑻</m:t>
                    </m:r>
                    <m:r>
                      <a:rPr kumimoji="0" lang="fr-FR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’</m:t>
                    </m:r>
                    <m:r>
                      <a:rPr kumimoji="0" lang="fr-FR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×</m:t>
                    </m:r>
                    <m:r>
                      <a:rPr kumimoji="0" lang="fr-FR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𝑻</m:t>
                    </m:r>
                    <m:r>
                      <a:rPr kumimoji="0" lang="fr-FR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’’</m:t>
                    </m:r>
                  </m:oMath>
                </a14:m>
                <a:endParaRPr kumimoji="0" lang="fr-FR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5560" y="1251187"/>
                <a:ext cx="8683435" cy="369332"/>
              </a:xfrm>
              <a:prstGeom prst="rect">
                <a:avLst/>
              </a:prstGeom>
              <a:blipFill>
                <a:blip r:embed="rId2"/>
                <a:stretch>
                  <a:fillRect l="-561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Image 9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4818" y="2851729"/>
            <a:ext cx="7790209" cy="1810736"/>
          </a:xfrm>
          <a:prstGeom prst="rect">
            <a:avLst/>
          </a:prstGeom>
        </p:spPr>
      </p:pic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39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3331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823689" y="5175143"/>
            <a:ext cx="65520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Remarque : le produit matriciel n’est pas commutatif.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27448" y="755729"/>
            <a:ext cx="92107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On utilise les matrices de transfert [T’] et [T’’] des deux quadripôles associés.</a:t>
            </a:r>
          </a:p>
        </p:txBody>
      </p:sp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7693839"/>
              </p:ext>
            </p:extLst>
          </p:nvPr>
        </p:nvGraphicFramePr>
        <p:xfrm>
          <a:off x="1557541" y="1535672"/>
          <a:ext cx="58435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3" name="Equation" r:id="rId3" imgW="3593880" imgH="533160" progId="Equation.DSMT4">
                  <p:embed/>
                </p:oleObj>
              </mc:Choice>
              <mc:Fallback>
                <p:oleObj name="Equation" r:id="rId3" imgW="3593880" imgH="533160" progId="Equation.DSMT4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541" y="1535672"/>
                        <a:ext cx="5843587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3229001"/>
              </p:ext>
            </p:extLst>
          </p:nvPr>
        </p:nvGraphicFramePr>
        <p:xfrm>
          <a:off x="1557541" y="3531505"/>
          <a:ext cx="8674100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4" name="Equation" r:id="rId5" imgW="5333760" imgH="533160" progId="Equation.DSMT4">
                  <p:embed/>
                </p:oleObj>
              </mc:Choice>
              <mc:Fallback>
                <p:oleObj name="Equation" r:id="rId5" imgW="5333760" imgH="533160" progId="Equation.DSMT4">
                  <p:embed/>
                  <p:pic>
                    <p:nvPicPr>
                      <p:cNvPr id="20" name="Obje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7541" y="3531505"/>
                        <a:ext cx="8674100" cy="9112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/>
          <p:cNvSpPr/>
          <p:nvPr/>
        </p:nvSpPr>
        <p:spPr>
          <a:xfrm>
            <a:off x="1557541" y="2636595"/>
            <a:ext cx="921070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Comme : </a:t>
            </a:r>
          </a:p>
        </p:txBody>
      </p:sp>
      <p:graphicFrame>
        <p:nvGraphicFramePr>
          <p:cNvPr id="24" name="Obje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828700"/>
              </p:ext>
            </p:extLst>
          </p:nvPr>
        </p:nvGraphicFramePr>
        <p:xfrm>
          <a:off x="3071664" y="2615679"/>
          <a:ext cx="3159125" cy="41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895" name="Equation" r:id="rId7" imgW="1942920" imgH="241200" progId="Equation.DSMT4">
                  <p:embed/>
                </p:oleObj>
              </mc:Choice>
              <mc:Fallback>
                <p:oleObj name="Equation" r:id="rId7" imgW="1942920" imgH="241200" progId="Equation.DSMT4">
                  <p:embed/>
                  <p:pic>
                    <p:nvPicPr>
                      <p:cNvPr id="24" name="Obje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664" y="2615679"/>
                        <a:ext cx="3159125" cy="4111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22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2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object 5"/>
          <p:cNvSpPr txBox="1">
            <a:spLocks/>
          </p:cNvSpPr>
          <p:nvPr/>
        </p:nvSpPr>
        <p:spPr>
          <a:xfrm>
            <a:off x="936005" y="425180"/>
            <a:ext cx="8134984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0" i="0">
                <a:solidFill>
                  <a:srgbClr val="EE5A23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marR="0" lvl="0" indent="0" algn="l" defTabSz="9144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800" b="1" i="0" u="none" strike="noStrike" kern="0" cap="none" spc="-15" normalizeH="0" baseline="0" noProof="0" dirty="0">
                <a:ln>
                  <a:noFill/>
                </a:ln>
                <a:solidFill>
                  <a:srgbClr val="00AF50"/>
                </a:solidFill>
                <a:effectLst/>
                <a:uLnTx/>
                <a:uFillTx/>
                <a:latin typeface="Bookman Old Style" panose="02050604050505020204" pitchFamily="18" charset="0"/>
              </a:rPr>
              <a:t>I-4 Grandeurs caractéristiques d’un quadripôle</a:t>
            </a:r>
            <a:endParaRPr kumimoji="0" lang="fr-FR" sz="1800" b="1" i="0" u="none" strike="noStrike" kern="0" cap="none" spc="-5" normalizeH="0" baseline="0" noProof="0" dirty="0">
              <a:ln>
                <a:noFill/>
              </a:ln>
              <a:solidFill>
                <a:srgbClr val="00AF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0" y="7143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5" name="Connecteur droit 24"/>
          <p:cNvCxnSpPr/>
          <p:nvPr/>
        </p:nvCxnSpPr>
        <p:spPr>
          <a:xfrm>
            <a:off x="3421710" y="3848934"/>
            <a:ext cx="560794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8740338" y="3584093"/>
            <a:ext cx="1037230" cy="1272166"/>
          </a:xfrm>
          <a:prstGeom prst="rect">
            <a:avLst/>
          </a:prstGeom>
          <a:noFill/>
          <a:ln>
            <a:solidFill>
              <a:srgbClr val="E00EC2"/>
            </a:solidFill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cxnSp>
        <p:nvCxnSpPr>
          <p:cNvPr id="30" name="Connecteur droit 29"/>
          <p:cNvCxnSpPr/>
          <p:nvPr/>
        </p:nvCxnSpPr>
        <p:spPr>
          <a:xfrm>
            <a:off x="3420096" y="3846166"/>
            <a:ext cx="0" cy="821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1" name="Ellipse 30"/>
          <p:cNvSpPr/>
          <p:nvPr/>
        </p:nvSpPr>
        <p:spPr>
          <a:xfrm>
            <a:off x="3242674" y="4024477"/>
            <a:ext cx="382137" cy="395785"/>
          </a:xfrm>
          <a:prstGeom prst="ellipse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cxnSp>
        <p:nvCxnSpPr>
          <p:cNvPr id="32" name="Connecteur droit 31"/>
          <p:cNvCxnSpPr/>
          <p:nvPr/>
        </p:nvCxnSpPr>
        <p:spPr>
          <a:xfrm>
            <a:off x="9028267" y="3846166"/>
            <a:ext cx="0" cy="821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8905437" y="4069376"/>
            <a:ext cx="245660" cy="395785"/>
          </a:xfrm>
          <a:prstGeom prst="rect">
            <a:avLst/>
          </a:prstGeom>
          <a:ln>
            <a:solidFill>
              <a:srgbClr val="E00EC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cxnSp>
        <p:nvCxnSpPr>
          <p:cNvPr id="34" name="Connecteur droit avec flèche 33"/>
          <p:cNvCxnSpPr/>
          <p:nvPr/>
        </p:nvCxnSpPr>
        <p:spPr>
          <a:xfrm flipV="1">
            <a:off x="5003497" y="3873462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36" name="Triangle isocèle 35"/>
          <p:cNvSpPr/>
          <p:nvPr/>
        </p:nvSpPr>
        <p:spPr>
          <a:xfrm rot="5400000">
            <a:off x="5276494" y="3748532"/>
            <a:ext cx="204716" cy="1985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8" name="Triangle isocèle 37"/>
          <p:cNvSpPr/>
          <p:nvPr/>
        </p:nvSpPr>
        <p:spPr>
          <a:xfrm rot="16200000" flipH="1">
            <a:off x="8016699" y="3763772"/>
            <a:ext cx="204716" cy="1985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39" name="ZoneTexte 38"/>
          <p:cNvSpPr txBox="1"/>
          <p:nvPr/>
        </p:nvSpPr>
        <p:spPr>
          <a:xfrm>
            <a:off x="3087624" y="4873787"/>
            <a:ext cx="171223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70C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Générateur</a:t>
            </a:r>
          </a:p>
        </p:txBody>
      </p:sp>
      <p:sp>
        <p:nvSpPr>
          <p:cNvPr id="40" name="ZoneTexte 39"/>
          <p:cNvSpPr txBox="1"/>
          <p:nvPr/>
        </p:nvSpPr>
        <p:spPr>
          <a:xfrm>
            <a:off x="8770415" y="3152862"/>
            <a:ext cx="98309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E00EC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Charge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85289" y="4082603"/>
            <a:ext cx="61230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b="1" i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4903958" y="3456857"/>
            <a:ext cx="5239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b="1" i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391681" y="4082602"/>
            <a:ext cx="48736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b="1" i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46" name="Connecteur droit avec flèche 45"/>
          <p:cNvCxnSpPr/>
          <p:nvPr/>
        </p:nvCxnSpPr>
        <p:spPr>
          <a:xfrm flipV="1">
            <a:off x="8380578" y="3873461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7" name="Rectangle 46"/>
          <p:cNvSpPr/>
          <p:nvPr/>
        </p:nvSpPr>
        <p:spPr>
          <a:xfrm>
            <a:off x="7975340" y="3405884"/>
            <a:ext cx="5977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b="1" i="1" noProof="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2831499" y="4018536"/>
            <a:ext cx="5461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e</a:t>
            </a:r>
            <a:r>
              <a:rPr lang="fr-FR" b="1" i="1" noProof="0" dirty="0" err="1">
                <a:solidFill>
                  <a:srgbClr val="0070C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177492" y="4035510"/>
            <a:ext cx="63753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E00EC2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</a:t>
            </a:r>
            <a:r>
              <a:rPr lang="fr-FR" b="1" i="1" noProof="0" dirty="0">
                <a:solidFill>
                  <a:srgbClr val="E00EC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E00EC2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53" name="Connecteur droit 52"/>
          <p:cNvCxnSpPr/>
          <p:nvPr/>
        </p:nvCxnSpPr>
        <p:spPr>
          <a:xfrm>
            <a:off x="3416006" y="4666550"/>
            <a:ext cx="5607947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5712570" y="3644638"/>
            <a:ext cx="1876930" cy="12721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997248" y="4022693"/>
            <a:ext cx="130757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Quadripôle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4" name="Rectangle 53"/>
          <p:cNvSpPr/>
          <p:nvPr/>
        </p:nvSpPr>
        <p:spPr>
          <a:xfrm rot="5400000">
            <a:off x="3992586" y="3670362"/>
            <a:ext cx="245660" cy="395785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3898614" y="3298358"/>
            <a:ext cx="64314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</a:t>
            </a:r>
            <a:r>
              <a:rPr lang="fr-FR" b="1" i="1" dirty="0">
                <a:solidFill>
                  <a:srgbClr val="0070C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</a:t>
            </a:r>
            <a:endParaRPr kumimoji="0" lang="fr-FR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2861922" y="3338593"/>
            <a:ext cx="1626601" cy="1517665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latin typeface="Bookman Old Style" panose="020506040505050202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20239" y="1021004"/>
            <a:ext cx="960029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Dans la partie précédente nous avons étudié le quadripôle comme un élément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isolé 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dont le but de déterminer </a:t>
            </a:r>
            <a:r>
              <a:rPr lang="fr-FR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la matrice 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qui le caractérise, mais dans la pratique ce quadripôle est souvent </a:t>
            </a:r>
            <a:r>
              <a:rPr lang="fr-FR" b="1" dirty="0">
                <a:solidFill>
                  <a:srgbClr val="0070C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alimenté par une source et connecté à une charge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 L’étude des quadripôles chargés, nécessite de définir des grandeurs caractéristiques supplémentaires, comme </a:t>
            </a:r>
            <a:r>
              <a:rPr lang="fr-FR" b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les impédances d’entrée, de sortie, et les gains en tension et en courant</a:t>
            </a:r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9583126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 19"/>
          <p:cNvSpPr txBox="1"/>
          <p:nvPr/>
        </p:nvSpPr>
        <p:spPr>
          <a:xfrm>
            <a:off x="1241603" y="253720"/>
            <a:ext cx="1036969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algn="just"/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On définit :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object 19"/>
          <p:cNvSpPr txBox="1"/>
          <p:nvPr/>
        </p:nvSpPr>
        <p:spPr>
          <a:xfrm>
            <a:off x="1574673" y="752271"/>
            <a:ext cx="3891505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>
              <a:buFont typeface="Wingdings" panose="05000000000000000000" pitchFamily="2" charset="2"/>
              <a:buChar char="q"/>
            </a:pP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Impédance d’entrée en charge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016770"/>
              </p:ext>
            </p:extLst>
          </p:nvPr>
        </p:nvGraphicFramePr>
        <p:xfrm>
          <a:off x="5619582" y="560154"/>
          <a:ext cx="1089154" cy="6928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2" name="Equation" r:id="rId3" imgW="622030" imgH="482391" progId="Equation.DSMT4">
                  <p:embed/>
                </p:oleObj>
              </mc:Choice>
              <mc:Fallback>
                <p:oleObj name="Equation" r:id="rId3" imgW="622030" imgH="482391" progId="Equation.DSMT4">
                  <p:embed/>
                  <p:pic>
                    <p:nvPicPr>
                      <p:cNvPr id="10" name="Obje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19582" y="560154"/>
                        <a:ext cx="1089154" cy="69285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3"/>
          <p:cNvSpPr/>
          <p:nvPr/>
        </p:nvSpPr>
        <p:spPr>
          <a:xfrm>
            <a:off x="1574673" y="1349074"/>
            <a:ext cx="917827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C’est l’impédance équivalente à l’entrée du quadripôle lorsqu’il débite sur une charge Zc. Si on utilise les paramètres Impédances : </a:t>
            </a:r>
          </a:p>
        </p:txBody>
      </p:sp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0900820"/>
              </p:ext>
            </p:extLst>
          </p:nvPr>
        </p:nvGraphicFramePr>
        <p:xfrm>
          <a:off x="1574673" y="2237031"/>
          <a:ext cx="3387725" cy="866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3" name="Equation" r:id="rId5" imgW="2184120" imgH="533160" progId="Equation.DSMT4">
                  <p:embed/>
                </p:oleObj>
              </mc:Choice>
              <mc:Fallback>
                <p:oleObj name="Equation" r:id="rId5" imgW="2184120" imgH="533160" progId="Equation.DSMT4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673" y="2237031"/>
                        <a:ext cx="3387725" cy="8661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2060650"/>
              </p:ext>
            </p:extLst>
          </p:nvPr>
        </p:nvGraphicFramePr>
        <p:xfrm>
          <a:off x="1574673" y="3211519"/>
          <a:ext cx="4544351" cy="7660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4" name="Equation" r:id="rId7" imgW="3479760" imgH="469800" progId="Equation.DSMT4">
                  <p:embed/>
                </p:oleObj>
              </mc:Choice>
              <mc:Fallback>
                <p:oleObj name="Equation" r:id="rId7" imgW="3479760" imgH="469800" progId="Equation.DSMT4">
                  <p:embed/>
                  <p:pic>
                    <p:nvPicPr>
                      <p:cNvPr id="21" name="Obje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673" y="3211519"/>
                        <a:ext cx="4544351" cy="76604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266118"/>
              </p:ext>
            </p:extLst>
          </p:nvPr>
        </p:nvGraphicFramePr>
        <p:xfrm>
          <a:off x="1574673" y="4133692"/>
          <a:ext cx="6465825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5" name="Equation" r:id="rId9" imgW="4749480" imgH="431640" progId="Equation.DSMT4">
                  <p:embed/>
                </p:oleObj>
              </mc:Choice>
              <mc:Fallback>
                <p:oleObj name="Equation" r:id="rId9" imgW="4749480" imgH="431640" progId="Equation.DSMT4">
                  <p:embed/>
                  <p:pic>
                    <p:nvPicPr>
                      <p:cNvPr id="22" name="Obje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4673" y="4133692"/>
                        <a:ext cx="6465825" cy="6619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721893" y="213106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cxnSp>
        <p:nvCxnSpPr>
          <p:cNvPr id="20" name="Connecteur droit 19"/>
          <p:cNvCxnSpPr/>
          <p:nvPr/>
        </p:nvCxnSpPr>
        <p:spPr>
          <a:xfrm>
            <a:off x="7067041" y="2595891"/>
            <a:ext cx="4215718" cy="18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necteur droit 22"/>
          <p:cNvCxnSpPr/>
          <p:nvPr/>
        </p:nvCxnSpPr>
        <p:spPr>
          <a:xfrm>
            <a:off x="11280556" y="2595349"/>
            <a:ext cx="0" cy="821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necteur droit avec flèche 24"/>
          <p:cNvCxnSpPr/>
          <p:nvPr/>
        </p:nvCxnSpPr>
        <p:spPr>
          <a:xfrm flipV="1">
            <a:off x="7378304" y="2601682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7" name="Triangle isocèle 26"/>
          <p:cNvSpPr/>
          <p:nvPr/>
        </p:nvSpPr>
        <p:spPr>
          <a:xfrm rot="5400000">
            <a:off x="7636061" y="2507232"/>
            <a:ext cx="204716" cy="1985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Bookman Old Style" panose="02050604050505020204" pitchFamily="18" charset="0"/>
            </a:endParaRPr>
          </a:p>
        </p:txBody>
      </p:sp>
      <p:sp>
        <p:nvSpPr>
          <p:cNvPr id="29" name="Triangle isocèle 28"/>
          <p:cNvSpPr/>
          <p:nvPr/>
        </p:nvSpPr>
        <p:spPr>
          <a:xfrm rot="16200000" flipH="1">
            <a:off x="10391506" y="2507232"/>
            <a:ext cx="204716" cy="1985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Bookman Old Style" panose="020506040505050202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60096" y="2810823"/>
            <a:ext cx="4027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sz="1600" b="1" i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278765" y="2185077"/>
            <a:ext cx="4027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sz="1600" b="1" i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766488" y="2810822"/>
            <a:ext cx="40279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sz="1600" b="1" i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33" name="Connecteur droit avec flèche 32"/>
          <p:cNvCxnSpPr/>
          <p:nvPr/>
        </p:nvCxnSpPr>
        <p:spPr>
          <a:xfrm flipV="1">
            <a:off x="10755385" y="2632161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10350147" y="2134104"/>
            <a:ext cx="4027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sz="1600" b="1" i="1" noProof="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35" name="Connecteur droit 34"/>
          <p:cNvCxnSpPr/>
          <p:nvPr/>
        </p:nvCxnSpPr>
        <p:spPr>
          <a:xfrm>
            <a:off x="7082281" y="3432990"/>
            <a:ext cx="4200478" cy="2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087377" y="2372858"/>
            <a:ext cx="1876930" cy="12721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600">
              <a:latin typeface="Bookman Old Style" panose="02050604050505020204" pitchFamily="18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72055" y="2750913"/>
            <a:ext cx="14221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Quadripôle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 rot="5400000">
            <a:off x="11048887" y="2859902"/>
            <a:ext cx="463338" cy="245360"/>
          </a:xfrm>
          <a:prstGeom prst="rect">
            <a:avLst/>
          </a:prstGeom>
          <a:ln>
            <a:solidFill>
              <a:srgbClr val="E00EC2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1396172" y="2824809"/>
            <a:ext cx="532234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600" b="1" i="1" dirty="0">
                <a:solidFill>
                  <a:srgbClr val="E00EC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Zc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E00EC2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0" name="object 19"/>
          <p:cNvSpPr txBox="1"/>
          <p:nvPr/>
        </p:nvSpPr>
        <p:spPr>
          <a:xfrm>
            <a:off x="1360321" y="5342734"/>
            <a:ext cx="3541299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>
              <a:buFont typeface="Wingdings" panose="05000000000000000000" pitchFamily="2" charset="2"/>
              <a:buChar char="q"/>
            </a:pPr>
            <a:r>
              <a:rPr lang="fr-FR" sz="1600" b="1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Impédance d’entrée à vide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" name="Objet 4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1311009"/>
              </p:ext>
            </p:extLst>
          </p:nvPr>
        </p:nvGraphicFramePr>
        <p:xfrm>
          <a:off x="4792522" y="5045087"/>
          <a:ext cx="184148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746" name="Equation" r:id="rId11" imgW="914400" imgH="507960" progId="Equation.DSMT4">
                  <p:embed/>
                </p:oleObj>
              </mc:Choice>
              <mc:Fallback>
                <p:oleObj name="Equation" r:id="rId11" imgW="914400" imgH="507960" progId="Equation.DSMT4">
                  <p:embed/>
                  <p:pic>
                    <p:nvPicPr>
                      <p:cNvPr id="41" name="Obje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2522" y="5045087"/>
                        <a:ext cx="1841485" cy="898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6708736" y="5338319"/>
            <a:ext cx="5296738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→Ceci correspond à </a:t>
            </a:r>
            <a:r>
              <a:rPr lang="fr-FR" sz="1600" dirty="0" err="1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Zc</a:t>
            </a:r>
            <a:r>
              <a:rPr lang="fr-FR" sz="1600" baseline="-250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fr-FR" sz="16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 ∞, dans ce cas : Ze0 ≈ z</a:t>
            </a:r>
            <a:r>
              <a:rPr lang="fr-FR" sz="1600" baseline="-250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11</a:t>
            </a:r>
            <a:r>
              <a:rPr lang="fr-FR" sz="1600" dirty="0">
                <a:latin typeface="Bookman Old Style" panose="0205060405050502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fr-FR" sz="1600" dirty="0">
              <a:latin typeface="Bookman Old Style" panose="020506040505050202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40880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9"/>
          <p:cNvSpPr txBox="1"/>
          <p:nvPr/>
        </p:nvSpPr>
        <p:spPr>
          <a:xfrm>
            <a:off x="1108256" y="663637"/>
            <a:ext cx="272489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Impédance de sortie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66973" y="1637785"/>
            <a:ext cx="1018682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C’est l’impédance équivalente vue à la sortie du quadripôle quand son entrée est fermée sur l’impédance interne du générateur </a:t>
            </a:r>
            <a:r>
              <a:rPr lang="fr-FR" sz="1600" dirty="0" err="1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Zg</a:t>
            </a:r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.</a:t>
            </a:r>
            <a:endParaRPr kumimoji="0" 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Obje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5264248"/>
              </p:ext>
            </p:extLst>
          </p:nvPr>
        </p:nvGraphicFramePr>
        <p:xfrm>
          <a:off x="4354379" y="472795"/>
          <a:ext cx="1533842" cy="89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0" name="Equation" r:id="rId3" imgW="914400" imgH="520560" progId="Equation.DSMT4">
                  <p:embed/>
                </p:oleObj>
              </mc:Choice>
              <mc:Fallback>
                <p:oleObj name="Equation" r:id="rId3" imgW="914400" imgH="520560" progId="Equation.DSMT4">
                  <p:embed/>
                  <p:pic>
                    <p:nvPicPr>
                      <p:cNvPr id="11" name="Obje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4379" y="472795"/>
                        <a:ext cx="1533842" cy="894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tangle 14"/>
          <p:cNvSpPr/>
          <p:nvPr/>
        </p:nvSpPr>
        <p:spPr>
          <a:xfrm>
            <a:off x="1172928" y="2968442"/>
            <a:ext cx="125226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De même :</a:t>
            </a:r>
          </a:p>
        </p:txBody>
      </p:sp>
      <p:graphicFrame>
        <p:nvGraphicFramePr>
          <p:cNvPr id="31" name="Obje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4436460"/>
              </p:ext>
            </p:extLst>
          </p:nvPr>
        </p:nvGraphicFramePr>
        <p:xfrm>
          <a:off x="2470705" y="2784642"/>
          <a:ext cx="3767348" cy="8885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1" name="Equation" r:id="rId5" imgW="1942920" imgH="558720" progId="Equation.DSMT4">
                  <p:embed/>
                </p:oleObj>
              </mc:Choice>
              <mc:Fallback>
                <p:oleObj name="Equation" r:id="rId5" imgW="1942920" imgH="558720" progId="Equation.DSMT4">
                  <p:embed/>
                  <p:pic>
                    <p:nvPicPr>
                      <p:cNvPr id="31" name="Obje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70705" y="2784642"/>
                        <a:ext cx="3767348" cy="88857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" name="Objet 3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5452838"/>
              </p:ext>
            </p:extLst>
          </p:nvPr>
        </p:nvGraphicFramePr>
        <p:xfrm>
          <a:off x="1172897" y="4181156"/>
          <a:ext cx="6616700" cy="881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2" name="Equation" r:id="rId7" imgW="4368600" imgH="482400" progId="Equation.DSMT4">
                  <p:embed/>
                </p:oleObj>
              </mc:Choice>
              <mc:Fallback>
                <p:oleObj name="Equation" r:id="rId7" imgW="4368600" imgH="482400" progId="Equation.DSMT4">
                  <p:embed/>
                  <p:pic>
                    <p:nvPicPr>
                      <p:cNvPr id="33" name="Obje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897" y="4181156"/>
                        <a:ext cx="6616700" cy="881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2" name="Connecteur droit 31"/>
          <p:cNvCxnSpPr/>
          <p:nvPr/>
        </p:nvCxnSpPr>
        <p:spPr>
          <a:xfrm>
            <a:off x="7153322" y="2883696"/>
            <a:ext cx="4215718" cy="18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necteur droit 50"/>
          <p:cNvCxnSpPr/>
          <p:nvPr/>
        </p:nvCxnSpPr>
        <p:spPr>
          <a:xfrm>
            <a:off x="7153322" y="2880124"/>
            <a:ext cx="0" cy="8211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Connecteur droit avec flèche 54"/>
          <p:cNvCxnSpPr/>
          <p:nvPr/>
        </p:nvCxnSpPr>
        <p:spPr>
          <a:xfrm flipV="1">
            <a:off x="7779458" y="2890564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56" name="Triangle isocèle 55"/>
          <p:cNvSpPr/>
          <p:nvPr/>
        </p:nvSpPr>
        <p:spPr>
          <a:xfrm rot="5400000">
            <a:off x="8037215" y="2796114"/>
            <a:ext cx="204716" cy="198500"/>
          </a:xfrm>
          <a:prstGeom prst="triangle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Bookman Old Style" panose="02050604050505020204" pitchFamily="18" charset="0"/>
            </a:endParaRPr>
          </a:p>
        </p:txBody>
      </p:sp>
      <p:sp>
        <p:nvSpPr>
          <p:cNvPr id="57" name="Triangle isocèle 56"/>
          <p:cNvSpPr/>
          <p:nvPr/>
        </p:nvSpPr>
        <p:spPr>
          <a:xfrm rot="16200000" flipH="1">
            <a:off x="10792660" y="2796114"/>
            <a:ext cx="204716" cy="198500"/>
          </a:xfrm>
          <a:prstGeom prst="triangl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00">
              <a:latin typeface="Bookman Old Style" panose="02050604050505020204" pitchFamily="18" charset="0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7361250" y="3099705"/>
            <a:ext cx="65204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sz="1600" b="1" i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679919" y="2473959"/>
            <a:ext cx="4027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sz="1600" b="1" i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1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11167642" y="3099704"/>
            <a:ext cx="77997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v</a:t>
            </a:r>
            <a:r>
              <a:rPr lang="fr-FR" sz="1600" b="1" i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63" name="Connecteur droit avec flèche 62"/>
          <p:cNvCxnSpPr/>
          <p:nvPr/>
        </p:nvCxnSpPr>
        <p:spPr>
          <a:xfrm flipV="1">
            <a:off x="11156539" y="2921043"/>
            <a:ext cx="0" cy="720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10751301" y="2422986"/>
            <a:ext cx="40279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  <a:r>
              <a:rPr lang="fr-FR" sz="1600" b="1" i="1" noProof="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2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67" name="Connecteur droit 66"/>
          <p:cNvCxnSpPr/>
          <p:nvPr/>
        </p:nvCxnSpPr>
        <p:spPr>
          <a:xfrm>
            <a:off x="7153322" y="3720795"/>
            <a:ext cx="4200478" cy="2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8488531" y="2661740"/>
            <a:ext cx="1876930" cy="127216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600">
              <a:latin typeface="Bookman Old Style" panose="02050604050505020204" pitchFamily="18" charset="0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8602517" y="3102737"/>
            <a:ext cx="15922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Quadripôle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70" name="Rectangle 69"/>
          <p:cNvSpPr/>
          <p:nvPr/>
        </p:nvSpPr>
        <p:spPr>
          <a:xfrm rot="5400000">
            <a:off x="6921653" y="3144677"/>
            <a:ext cx="463338" cy="245360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1600">
              <a:solidFill>
                <a:srgbClr val="0070C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6630755" y="3093472"/>
            <a:ext cx="467271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1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</a:t>
            </a:r>
            <a:r>
              <a:rPr lang="fr-FR" sz="1600" b="1" i="1" dirty="0">
                <a:solidFill>
                  <a:srgbClr val="0070C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</a:t>
            </a:r>
            <a:endParaRPr kumimoji="0" lang="fr-FR" sz="1600" b="1" i="1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21515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23"/>
          <p:cNvSpPr>
            <a:spLocks noChangeArrowheads="1"/>
          </p:cNvSpPr>
          <p:nvPr/>
        </p:nvSpPr>
        <p:spPr bwMode="auto">
          <a:xfrm>
            <a:off x="1407763" y="1758539"/>
            <a:ext cx="7763399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algn="just"/>
            <a:r>
              <a:rPr lang="fr-FR" altLang="fr-FR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Considérons un quadripôle d’impédance de sortie Z</a:t>
            </a:r>
            <a:r>
              <a:rPr lang="fr-FR" altLang="fr-FR" baseline="-30000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altLang="fr-FR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chargé par l’impédance Z</a:t>
            </a:r>
            <a:r>
              <a:rPr lang="fr-FR" altLang="fr-FR" baseline="-30000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altLang="fr-FR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L’impédance équivalente à ses deux impédances mises en parallèle est :</a:t>
            </a:r>
            <a:endParaRPr lang="fr-FR" altLang="fr-FR" dirty="0">
              <a:solidFill>
                <a:prstClr val="black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5" name="Group 11"/>
          <p:cNvGrpSpPr>
            <a:grpSpLocks/>
          </p:cNvGrpSpPr>
          <p:nvPr/>
        </p:nvGrpSpPr>
        <p:grpSpPr bwMode="auto">
          <a:xfrm>
            <a:off x="8040216" y="4518421"/>
            <a:ext cx="3096377" cy="1173884"/>
            <a:chOff x="7410" y="6979"/>
            <a:chExt cx="3057" cy="1030"/>
          </a:xfrm>
        </p:grpSpPr>
        <p:sp>
          <p:nvSpPr>
            <p:cNvPr id="36" name="Rectangle 22"/>
            <p:cNvSpPr>
              <a:spLocks noChangeArrowheads="1"/>
            </p:cNvSpPr>
            <p:nvPr/>
          </p:nvSpPr>
          <p:spPr bwMode="auto">
            <a:xfrm>
              <a:off x="7950" y="6979"/>
              <a:ext cx="1341" cy="103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AutoShape 21"/>
            <p:cNvSpPr>
              <a:spLocks noChangeShapeType="1"/>
            </p:cNvSpPr>
            <p:nvPr/>
          </p:nvSpPr>
          <p:spPr bwMode="auto">
            <a:xfrm flipH="1">
              <a:off x="8751" y="7163"/>
              <a:ext cx="1462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8" name="AutoShape 20"/>
            <p:cNvSpPr>
              <a:spLocks noChangeShapeType="1"/>
            </p:cNvSpPr>
            <p:nvPr/>
          </p:nvSpPr>
          <p:spPr bwMode="auto">
            <a:xfrm flipH="1" flipV="1">
              <a:off x="7410" y="7156"/>
              <a:ext cx="538" cy="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AutoShape 19"/>
            <p:cNvSpPr>
              <a:spLocks noChangeShapeType="1"/>
            </p:cNvSpPr>
            <p:nvPr/>
          </p:nvSpPr>
          <p:spPr bwMode="auto">
            <a:xfrm flipH="1">
              <a:off x="8751" y="7819"/>
              <a:ext cx="1462" cy="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 Box 18"/>
            <p:cNvSpPr txBox="1">
              <a:spLocks noChangeArrowheads="1"/>
            </p:cNvSpPr>
            <p:nvPr/>
          </p:nvSpPr>
          <p:spPr bwMode="auto">
            <a:xfrm>
              <a:off x="9806" y="7275"/>
              <a:ext cx="661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AutoShape 17"/>
            <p:cNvSpPr>
              <a:spLocks noChangeShapeType="1"/>
            </p:cNvSpPr>
            <p:nvPr/>
          </p:nvSpPr>
          <p:spPr bwMode="auto">
            <a:xfrm flipH="1">
              <a:off x="7410" y="7827"/>
              <a:ext cx="54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2" name="AutoShape 16"/>
            <p:cNvSpPr>
              <a:spLocks noChangeShapeType="1"/>
            </p:cNvSpPr>
            <p:nvPr/>
          </p:nvSpPr>
          <p:spPr bwMode="auto">
            <a:xfrm>
              <a:off x="9764" y="7156"/>
              <a:ext cx="0" cy="673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3" name="Rectangle 15"/>
            <p:cNvSpPr>
              <a:spLocks noChangeArrowheads="1"/>
            </p:cNvSpPr>
            <p:nvPr/>
          </p:nvSpPr>
          <p:spPr bwMode="auto">
            <a:xfrm>
              <a:off x="9705" y="7270"/>
              <a:ext cx="110" cy="46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4" name="Text Box 14"/>
            <p:cNvSpPr txBox="1">
              <a:spLocks noChangeArrowheads="1"/>
            </p:cNvSpPr>
            <p:nvPr/>
          </p:nvSpPr>
          <p:spPr bwMode="auto">
            <a:xfrm>
              <a:off x="8777" y="7306"/>
              <a:ext cx="661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fr-FR" altLang="fr-FR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Z</a:t>
              </a:r>
              <a:r>
                <a:rPr kumimoji="0" lang="fr-FR" altLang="fr-FR" b="0" i="0" u="none" strike="noStrike" cap="none" normalizeH="0" baseline="-30000" dirty="0">
                  <a:ln>
                    <a:noFill/>
                  </a:ln>
                  <a:solidFill>
                    <a:schemeClr val="tx1"/>
                  </a:solidFill>
                  <a:effectLst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kumimoji="0" lang="fr-FR" altLang="fr-F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AutoShape 13"/>
            <p:cNvSpPr>
              <a:spLocks noChangeShapeType="1"/>
            </p:cNvSpPr>
            <p:nvPr/>
          </p:nvSpPr>
          <p:spPr bwMode="auto">
            <a:xfrm>
              <a:off x="8751" y="7161"/>
              <a:ext cx="0" cy="658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Rectangle 12"/>
            <p:cNvSpPr>
              <a:spLocks noChangeArrowheads="1"/>
            </p:cNvSpPr>
            <p:nvPr/>
          </p:nvSpPr>
          <p:spPr bwMode="auto">
            <a:xfrm>
              <a:off x="8692" y="7287"/>
              <a:ext cx="110" cy="46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48" name="Rectangle 47"/>
          <p:cNvSpPr/>
          <p:nvPr/>
        </p:nvSpPr>
        <p:spPr>
          <a:xfrm>
            <a:off x="1263616" y="908720"/>
            <a:ext cx="9224872" cy="64633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tabLst>
                <a:tab pos="269875" algn="l"/>
              </a:tabLst>
            </a:pPr>
            <a:r>
              <a:rPr lang="fr-FR" altLang="fr-FR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 bon quadripôle doit présenter la même caractéristique de sortie, indépendamment de la charge.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/>
              <p:cNvSpPr/>
              <p:nvPr/>
            </p:nvSpPr>
            <p:spPr>
              <a:xfrm>
                <a:off x="4871864" y="2652887"/>
                <a:ext cx="1728192" cy="6576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fr-FR" i="1">
                              <a:latin typeface="Cambria Math" panose="02040503050406030204" pitchFamily="18" charset="0"/>
                            </a:rPr>
                            <m:t>𝑒𝑞</m:t>
                          </m:r>
                        </m:sub>
                      </m:sSub>
                      <m:r>
                        <a:rPr lang="fr-FR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fr-FR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fr-F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  <m:sub>
                              <m:r>
                                <a:rPr lang="fr-FR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fr-FR" dirty="0"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49" name="Rectangle 4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1864" y="2652887"/>
                <a:ext cx="1728192" cy="65768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ectangle 49"/>
          <p:cNvSpPr/>
          <p:nvPr/>
        </p:nvSpPr>
        <p:spPr>
          <a:xfrm>
            <a:off x="1407763" y="3591329"/>
            <a:ext cx="792209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Pour que </a:t>
            </a:r>
            <a:r>
              <a:rPr lang="fr-FR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Z</a:t>
            </a:r>
            <a:r>
              <a:rPr lang="fr-FR" baseline="-25000" dirty="0" err="1">
                <a:latin typeface="Bookman Old Style" panose="02050604050505020204" pitchFamily="18" charset="0"/>
                <a:ea typeface="Times New Roman" panose="02020603050405020304" pitchFamily="18" charset="0"/>
              </a:rPr>
              <a:t>eq</a:t>
            </a:r>
            <a:r>
              <a:rPr lang="fr-FR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soit très proche de Z</a:t>
            </a:r>
            <a:r>
              <a:rPr lang="fr-FR" baseline="-250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s</a:t>
            </a:r>
            <a:r>
              <a:rPr lang="fr-FR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, il faut que Z</a:t>
            </a:r>
            <a:r>
              <a:rPr lang="fr-FR" baseline="-250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s</a:t>
            </a:r>
            <a:r>
              <a:rPr lang="fr-FR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 soit très petite devant Z</a:t>
            </a:r>
            <a:r>
              <a:rPr lang="fr-FR" baseline="-25000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c</a:t>
            </a:r>
            <a:r>
              <a:rPr lang="fr-FR" dirty="0">
                <a:latin typeface="Bookman Old Style" panose="02050604050505020204" pitchFamily="18" charset="0"/>
                <a:ea typeface="Times New Roman" panose="02020603050405020304" pitchFamily="18" charset="0"/>
              </a:rPr>
              <a:t>.</a:t>
            </a:r>
            <a:endParaRPr lang="fr-FR" dirty="0">
              <a:latin typeface="Bookman Old Style" panose="020506040505050202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195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48" grpId="0" animBg="1"/>
      <p:bldP spid="49" grpId="0"/>
      <p:bldP spid="50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9"/>
          <p:cNvSpPr txBox="1"/>
          <p:nvPr/>
        </p:nvSpPr>
        <p:spPr>
          <a:xfrm>
            <a:off x="1062935" y="256846"/>
            <a:ext cx="3302031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Gain en tension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457200" y="265747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10" name="Obje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271824"/>
              </p:ext>
            </p:extLst>
          </p:nvPr>
        </p:nvGraphicFramePr>
        <p:xfrm>
          <a:off x="3990441" y="95662"/>
          <a:ext cx="1042988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4" name="Equation" r:id="rId3" imgW="685502" imgH="495085" progId="Equation.DSMT4">
                  <p:embed/>
                </p:oleObj>
              </mc:Choice>
              <mc:Fallback>
                <p:oleObj name="Equation" r:id="rId3" imgW="685502" imgH="495085" progId="Equation.DSMT4">
                  <p:embed/>
                  <p:pic>
                    <p:nvPicPr>
                      <p:cNvPr id="10" name="Obje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0441" y="95662"/>
                        <a:ext cx="1042988" cy="736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" name="object 19"/>
          <p:cNvSpPr txBox="1"/>
          <p:nvPr/>
        </p:nvSpPr>
        <p:spPr>
          <a:xfrm>
            <a:off x="1062935" y="3584052"/>
            <a:ext cx="272489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Gain en courant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Obje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060711"/>
              </p:ext>
            </p:extLst>
          </p:nvPr>
        </p:nvGraphicFramePr>
        <p:xfrm>
          <a:off x="4028179" y="3369056"/>
          <a:ext cx="1027390" cy="7363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5" name="Equation" r:id="rId5" imgW="583947" imgH="495085" progId="Equation.DSMT4">
                  <p:embed/>
                </p:oleObj>
              </mc:Choice>
              <mc:Fallback>
                <p:oleObj name="Equation" r:id="rId5" imgW="583947" imgH="495085" progId="Equation.DSMT4">
                  <p:embed/>
                  <p:pic>
                    <p:nvPicPr>
                      <p:cNvPr id="16" name="Obje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8179" y="3369056"/>
                        <a:ext cx="1027390" cy="73631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701897" y="5267802"/>
                <a:ext cx="8786591" cy="60478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600" b="1" u="sng" dirty="0">
                    <a:solidFill>
                      <a:srgbClr val="00B050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N. B. </a:t>
                </a:r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: Le gain en tension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</m:sub>
                    </m:sSub>
                    <m:r>
                      <a:rPr lang="fr-FR" sz="16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et l’impédance d’entrée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dépendent de la charge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, alors que l’impédance de sortie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dépend de l’impédance interne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b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de l’alimentation. 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1897" y="5267802"/>
                <a:ext cx="8786591" cy="604781"/>
              </a:xfrm>
              <a:prstGeom prst="rect">
                <a:avLst/>
              </a:prstGeom>
              <a:blipFill>
                <a:blip r:embed="rId7"/>
                <a:stretch>
                  <a:fillRect l="-347" t="-3030" r="-347" b="-909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bject 19"/>
          <p:cNvSpPr txBox="1"/>
          <p:nvPr/>
        </p:nvSpPr>
        <p:spPr>
          <a:xfrm>
            <a:off x="1062935" y="2025468"/>
            <a:ext cx="2927506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Gain en tension à vide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2" name="Obje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317389"/>
              </p:ext>
            </p:extLst>
          </p:nvPr>
        </p:nvGraphicFramePr>
        <p:xfrm>
          <a:off x="4541874" y="1751479"/>
          <a:ext cx="1678408" cy="91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36" name="Equation" r:id="rId8" imgW="939600" imgH="507960" progId="Equation.DSMT4">
                  <p:embed/>
                </p:oleObj>
              </mc:Choice>
              <mc:Fallback>
                <p:oleObj name="Equation" r:id="rId8" imgW="939600" imgH="507960" progId="Equation.DSMT4">
                  <p:embed/>
                  <p:pic>
                    <p:nvPicPr>
                      <p:cNvPr id="52" name="Obje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1874" y="1751479"/>
                        <a:ext cx="1678408" cy="9168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1703512" y="1012523"/>
                <a:ext cx="8784976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C’est le rapport de la tension de sortie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sz="160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fr-FR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fr-FR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par la tension d’entrée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fr-FR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𝑉</m:t>
                            </m:r>
                          </m:e>
                        </m:acc>
                      </m:e>
                      <m:sub>
                        <m:r>
                          <a:rPr lang="fr-FR" sz="16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quand la sortie est chargée par une impédance Zc.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1012523"/>
                <a:ext cx="8784976" cy="584775"/>
              </a:xfrm>
              <a:prstGeom prst="rect">
                <a:avLst/>
              </a:prstGeom>
              <a:blipFill>
                <a:blip r:embed="rId10"/>
                <a:stretch>
                  <a:fillRect l="-347" t="-3125" r="-347" b="-125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Rectangle 52"/>
              <p:cNvSpPr/>
              <p:nvPr/>
            </p:nvSpPr>
            <p:spPr>
              <a:xfrm>
                <a:off x="1703512" y="2792751"/>
                <a:ext cx="1063847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Gain en tension à vide noté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</m:t>
                        </m:r>
                        <m:r>
                          <a:rPr lang="fr-FR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correspond à Zc = ∞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fr-FR" b="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  <m:r>
                      <a:rPr lang="fr-FR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fr-FR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r>
                  <a:rPr lang="fr-F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53" name="Rectangle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2792751"/>
                <a:ext cx="10638470" cy="369332"/>
              </a:xfrm>
              <a:prstGeom prst="rect">
                <a:avLst/>
              </a:prstGeom>
              <a:blipFill>
                <a:blip r:embed="rId11"/>
                <a:stretch>
                  <a:fillRect l="-458" t="-8197" b="-2459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1703512" y="4398950"/>
                <a:ext cx="10323615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C’est le rapport de l’intensité du courant de sortie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fr-FR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fr-FR" sz="1600" dirty="0"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par celle d’entrée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6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̅"/>
                            <m:ctrlPr>
                              <a:rPr lang="fr-FR" sz="16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fr-FR" sz="1600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𝐼</m:t>
                            </m:r>
                          </m:e>
                        </m:acc>
                      </m:e>
                      <m:sub>
                        <m:r>
                          <a:rPr lang="fr-FR" sz="16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fr-FR" sz="16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.</m:t>
                    </m:r>
                  </m:oMath>
                </a14:m>
                <a:endParaRPr lang="fr-FR" sz="1600" dirty="0"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3512" y="4398950"/>
                <a:ext cx="10323615" cy="338554"/>
              </a:xfrm>
              <a:prstGeom prst="rect">
                <a:avLst/>
              </a:prstGeom>
              <a:blipFill>
                <a:blip r:embed="rId12"/>
                <a:stretch>
                  <a:fillRect l="-295" t="-5455" b="-236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86073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18" grpId="0"/>
      <p:bldP spid="50" grpId="0"/>
      <p:bldP spid="53" grpId="0"/>
      <p:bldP spid="11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19"/>
          <p:cNvSpPr txBox="1"/>
          <p:nvPr/>
        </p:nvSpPr>
        <p:spPr>
          <a:xfrm>
            <a:off x="1007011" y="463495"/>
            <a:ext cx="10538092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Gain </a:t>
            </a:r>
            <a:r>
              <a:rPr lang="fr-FR" sz="1600" b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de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tension en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fonction des éléments de la matrice impédance (</a:t>
            </a:r>
            <a:r>
              <a:rPr kumimoji="0" lang="fr-FR" sz="1600" b="1" i="0" u="none" strike="noStrike" kern="1200" cap="none" spc="0" normalizeH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zij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), admittance (</a:t>
            </a:r>
            <a:r>
              <a:rPr kumimoji="0" lang="fr-FR" sz="1600" b="1" i="0" u="none" strike="noStrike" kern="1200" cap="none" spc="0" normalizeH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yij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) et hybride (</a:t>
            </a:r>
            <a:r>
              <a:rPr kumimoji="0" lang="fr-FR" sz="1600" b="1" i="0" u="none" strike="noStrike" kern="1200" cap="none" spc="0" normalizeH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hij</a:t>
            </a:r>
            <a:r>
              <a:rPr lang="fr-FR" sz="1600" b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Connecteur droit 19"/>
          <p:cNvCxnSpPr/>
          <p:nvPr/>
        </p:nvCxnSpPr>
        <p:spPr>
          <a:xfrm>
            <a:off x="7029080" y="1689112"/>
            <a:ext cx="41476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1" name="Group 1"/>
          <p:cNvGrpSpPr>
            <a:grpSpLocks/>
          </p:cNvGrpSpPr>
          <p:nvPr/>
        </p:nvGrpSpPr>
        <p:grpSpPr bwMode="auto">
          <a:xfrm>
            <a:off x="7559982" y="1199955"/>
            <a:ext cx="3889576" cy="1728148"/>
            <a:chOff x="3742" y="10103"/>
            <a:chExt cx="4152" cy="1717"/>
          </a:xfrm>
        </p:grpSpPr>
        <p:sp>
          <p:nvSpPr>
            <p:cNvPr id="22" name="Text Box 13"/>
            <p:cNvSpPr txBox="1">
              <a:spLocks noChangeArrowheads="1"/>
            </p:cNvSpPr>
            <p:nvPr/>
          </p:nvSpPr>
          <p:spPr bwMode="auto">
            <a:xfrm>
              <a:off x="6929" y="10162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AutoShape 22"/>
            <p:cNvSpPr>
              <a:spLocks noChangeShapeType="1"/>
            </p:cNvSpPr>
            <p:nvPr/>
          </p:nvSpPr>
          <p:spPr bwMode="auto">
            <a:xfrm>
              <a:off x="4373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Box 21"/>
            <p:cNvSpPr txBox="1">
              <a:spLocks noChangeArrowheads="1"/>
            </p:cNvSpPr>
            <p:nvPr/>
          </p:nvSpPr>
          <p:spPr bwMode="auto">
            <a:xfrm>
              <a:off x="4355" y="10184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20"/>
            <p:cNvSpPr txBox="1">
              <a:spLocks noChangeArrowheads="1"/>
            </p:cNvSpPr>
            <p:nvPr/>
          </p:nvSpPr>
          <p:spPr bwMode="auto">
            <a:xfrm>
              <a:off x="4194" y="11018"/>
              <a:ext cx="580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AutoShape 19"/>
            <p:cNvSpPr>
              <a:spLocks noChangeShapeType="1"/>
            </p:cNvSpPr>
            <p:nvPr/>
          </p:nvSpPr>
          <p:spPr bwMode="auto">
            <a:xfrm flipV="1">
              <a:off x="7137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AutoShape 16"/>
            <p:cNvSpPr>
              <a:spLocks noChangeShapeType="1"/>
            </p:cNvSpPr>
            <p:nvPr/>
          </p:nvSpPr>
          <p:spPr bwMode="auto">
            <a:xfrm rot="10800000" flipV="1">
              <a:off x="6942" y="10595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9" name="AutoShape 11"/>
            <p:cNvSpPr>
              <a:spLocks noChangeShapeType="1"/>
            </p:cNvSpPr>
            <p:nvPr/>
          </p:nvSpPr>
          <p:spPr bwMode="auto">
            <a:xfrm flipV="1">
              <a:off x="4585" y="10703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 Box 10"/>
            <p:cNvSpPr txBox="1">
              <a:spLocks noChangeArrowheads="1"/>
            </p:cNvSpPr>
            <p:nvPr/>
          </p:nvSpPr>
          <p:spPr bwMode="auto">
            <a:xfrm>
              <a:off x="7097" y="10993"/>
              <a:ext cx="797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Rectangle 9"/>
            <p:cNvSpPr>
              <a:spLocks noChangeArrowheads="1"/>
            </p:cNvSpPr>
            <p:nvPr/>
          </p:nvSpPr>
          <p:spPr bwMode="auto">
            <a:xfrm>
              <a:off x="374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2" name="Rectangle 8"/>
            <p:cNvSpPr>
              <a:spLocks noChangeArrowheads="1"/>
            </p:cNvSpPr>
            <p:nvPr/>
          </p:nvSpPr>
          <p:spPr bwMode="auto">
            <a:xfrm>
              <a:off x="5841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AutoShape 7"/>
            <p:cNvSpPr>
              <a:spLocks noChangeShapeType="1"/>
            </p:cNvSpPr>
            <p:nvPr/>
          </p:nvSpPr>
          <p:spPr bwMode="auto">
            <a:xfrm flipV="1">
              <a:off x="5269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Rectangle 6"/>
            <p:cNvSpPr>
              <a:spLocks noChangeArrowheads="1"/>
            </p:cNvSpPr>
            <p:nvPr/>
          </p:nvSpPr>
          <p:spPr bwMode="auto">
            <a:xfrm rot="16200000">
              <a:off x="4973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5" name="Text Box 5"/>
            <p:cNvSpPr txBox="1">
              <a:spLocks noChangeArrowheads="1"/>
            </p:cNvSpPr>
            <p:nvPr/>
          </p:nvSpPr>
          <p:spPr bwMode="auto">
            <a:xfrm>
              <a:off x="5897" y="10103"/>
              <a:ext cx="53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sz="16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Box 4"/>
            <p:cNvSpPr txBox="1">
              <a:spLocks noChangeArrowheads="1"/>
            </p:cNvSpPr>
            <p:nvPr/>
          </p:nvSpPr>
          <p:spPr bwMode="auto">
            <a:xfrm>
              <a:off x="4808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kumimoji="0" lang="fr-FR" altLang="fr-FR" sz="1600" b="0" i="0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7" name="Connecteur droit 36"/>
          <p:cNvCxnSpPr/>
          <p:nvPr/>
        </p:nvCxnSpPr>
        <p:spPr>
          <a:xfrm>
            <a:off x="11176695" y="1689110"/>
            <a:ext cx="0" cy="1238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AutoShape 22"/>
          <p:cNvSpPr>
            <a:spLocks noChangeShapeType="1"/>
          </p:cNvSpPr>
          <p:nvPr/>
        </p:nvSpPr>
        <p:spPr bwMode="auto">
          <a:xfrm>
            <a:off x="9000190" y="1682128"/>
            <a:ext cx="311953" cy="0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Box 21"/>
          <p:cNvSpPr txBox="1">
            <a:spLocks noChangeArrowheads="1"/>
          </p:cNvSpPr>
          <p:nvPr/>
        </p:nvSpPr>
        <p:spPr bwMode="auto">
          <a:xfrm>
            <a:off x="9014941" y="1166803"/>
            <a:ext cx="641705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</a:p>
        </p:txBody>
      </p:sp>
      <p:cxnSp>
        <p:nvCxnSpPr>
          <p:cNvPr id="40" name="Connecteur droit 39"/>
          <p:cNvCxnSpPr/>
          <p:nvPr/>
        </p:nvCxnSpPr>
        <p:spPr>
          <a:xfrm>
            <a:off x="7029080" y="2928103"/>
            <a:ext cx="41476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eur droit 40"/>
          <p:cNvCxnSpPr/>
          <p:nvPr/>
        </p:nvCxnSpPr>
        <p:spPr>
          <a:xfrm>
            <a:off x="7026948" y="1676026"/>
            <a:ext cx="0" cy="12520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Ellipse 41"/>
          <p:cNvSpPr/>
          <p:nvPr/>
        </p:nvSpPr>
        <p:spPr>
          <a:xfrm>
            <a:off x="6783142" y="2095734"/>
            <a:ext cx="494164" cy="494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3" name="Text Box 23"/>
          <p:cNvSpPr txBox="1">
            <a:spLocks noChangeArrowheads="1"/>
          </p:cNvSpPr>
          <p:nvPr/>
        </p:nvSpPr>
        <p:spPr bwMode="auto">
          <a:xfrm>
            <a:off x="6444695" y="2154666"/>
            <a:ext cx="501186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endParaRPr kumimoji="0" lang="fr-FR" alt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Connecteur droit 43"/>
          <p:cNvCxnSpPr/>
          <p:nvPr/>
        </p:nvCxnSpPr>
        <p:spPr>
          <a:xfrm>
            <a:off x="10218148" y="1689111"/>
            <a:ext cx="0" cy="1238992"/>
          </a:xfrm>
          <a:prstGeom prst="line">
            <a:avLst/>
          </a:prstGeom>
          <a:ln>
            <a:headEnd type="oval" w="med" len="med"/>
            <a:tailEnd type="oval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Ellipse 44"/>
          <p:cNvSpPr/>
          <p:nvPr/>
        </p:nvSpPr>
        <p:spPr>
          <a:xfrm>
            <a:off x="10040151" y="1933687"/>
            <a:ext cx="379403" cy="455492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6" name="Ellipse 45"/>
          <p:cNvSpPr/>
          <p:nvPr/>
        </p:nvSpPr>
        <p:spPr>
          <a:xfrm>
            <a:off x="10034729" y="2214716"/>
            <a:ext cx="379403" cy="455492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48" name="Connecteur droit avec flèche 47"/>
          <p:cNvCxnSpPr>
            <a:stCxn id="46" idx="4"/>
            <a:endCxn id="45" idx="0"/>
          </p:cNvCxnSpPr>
          <p:nvPr/>
        </p:nvCxnSpPr>
        <p:spPr>
          <a:xfrm flipV="1">
            <a:off x="10224431" y="1933687"/>
            <a:ext cx="5422" cy="7365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1096486" y="2047608"/>
            <a:ext cx="204480" cy="52795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1" name="Text Box 5"/>
          <p:cNvSpPr txBox="1">
            <a:spLocks noChangeArrowheads="1"/>
          </p:cNvSpPr>
          <p:nvPr/>
        </p:nvSpPr>
        <p:spPr bwMode="auto">
          <a:xfrm>
            <a:off x="11285733" y="2139183"/>
            <a:ext cx="501186" cy="40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fr-FR" sz="1600" baseline="-30000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Text Box 5"/>
          <p:cNvSpPr txBox="1">
            <a:spLocks noChangeArrowheads="1"/>
          </p:cNvSpPr>
          <p:nvPr/>
        </p:nvSpPr>
        <p:spPr bwMode="auto">
          <a:xfrm>
            <a:off x="9602967" y="2070455"/>
            <a:ext cx="501186" cy="40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l-G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β</a:t>
            </a:r>
            <a:r>
              <a: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xi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61885" y="1136440"/>
            <a:ext cx="1958296" cy="2086364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6" name="Text Box 23"/>
          <p:cNvSpPr txBox="1">
            <a:spLocks noChangeArrowheads="1"/>
          </p:cNvSpPr>
          <p:nvPr/>
        </p:nvSpPr>
        <p:spPr bwMode="auto">
          <a:xfrm>
            <a:off x="7619543" y="1216595"/>
            <a:ext cx="501186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altLang="fr-FR" sz="1600" noProof="0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fr-FR" altLang="fr-FR" sz="1600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Forme libre 56"/>
          <p:cNvSpPr/>
          <p:nvPr/>
        </p:nvSpPr>
        <p:spPr>
          <a:xfrm>
            <a:off x="6874967" y="2194062"/>
            <a:ext cx="289003" cy="311623"/>
          </a:xfrm>
          <a:custGeom>
            <a:avLst/>
            <a:gdLst>
              <a:gd name="connsiteX0" fmla="*/ 0 w 320040"/>
              <a:gd name="connsiteY0" fmla="*/ 213394 h 366156"/>
              <a:gd name="connsiteX1" fmla="*/ 137160 w 320040"/>
              <a:gd name="connsiteY1" fmla="*/ 34 h 366156"/>
              <a:gd name="connsiteX2" fmla="*/ 182880 w 320040"/>
              <a:gd name="connsiteY2" fmla="*/ 198154 h 366156"/>
              <a:gd name="connsiteX3" fmla="*/ 228600 w 320040"/>
              <a:gd name="connsiteY3" fmla="*/ 365794 h 366156"/>
              <a:gd name="connsiteX4" fmla="*/ 320040 w 320040"/>
              <a:gd name="connsiteY4" fmla="*/ 152434 h 36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040" h="366156">
                <a:moveTo>
                  <a:pt x="0" y="213394"/>
                </a:moveTo>
                <a:cubicBezTo>
                  <a:pt x="53340" y="107984"/>
                  <a:pt x="106680" y="2574"/>
                  <a:pt x="137160" y="34"/>
                </a:cubicBezTo>
                <a:cubicBezTo>
                  <a:pt x="167640" y="-2506"/>
                  <a:pt x="167640" y="137194"/>
                  <a:pt x="182880" y="198154"/>
                </a:cubicBezTo>
                <a:cubicBezTo>
                  <a:pt x="198120" y="259114"/>
                  <a:pt x="205740" y="373414"/>
                  <a:pt x="228600" y="365794"/>
                </a:cubicBezTo>
                <a:cubicBezTo>
                  <a:pt x="251460" y="358174"/>
                  <a:pt x="285750" y="255304"/>
                  <a:pt x="320040" y="15243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00">
              <a:latin typeface="Bookman Old Style" panose="02050604050505020204" pitchFamily="18" charset="0"/>
            </a:endParaRPr>
          </a:p>
        </p:txBody>
      </p:sp>
      <p:sp>
        <p:nvSpPr>
          <p:cNvPr id="58" name="Text Box 23"/>
          <p:cNvSpPr txBox="1">
            <a:spLocks noChangeArrowheads="1"/>
          </p:cNvSpPr>
          <p:nvPr/>
        </p:nvSpPr>
        <p:spPr bwMode="auto">
          <a:xfrm>
            <a:off x="9264540" y="1798620"/>
            <a:ext cx="1151725" cy="947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alt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Q</a:t>
            </a: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9" name="Objet 5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5964667"/>
              </p:ext>
            </p:extLst>
          </p:nvPr>
        </p:nvGraphicFramePr>
        <p:xfrm>
          <a:off x="2893262" y="680125"/>
          <a:ext cx="2260600" cy="2671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0" name="Equation" r:id="rId3" imgW="1054080" imgH="1333440" progId="Equation.DSMT4">
                  <p:embed/>
                </p:oleObj>
              </mc:Choice>
              <mc:Fallback>
                <p:oleObj name="Equation" r:id="rId3" imgW="1054080" imgH="1333440" progId="Equation.DSMT4">
                  <p:embed/>
                  <p:pic>
                    <p:nvPicPr>
                      <p:cNvPr id="59" name="Objet 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3262" y="680125"/>
                        <a:ext cx="2260600" cy="26717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object 19"/>
          <p:cNvSpPr txBox="1"/>
          <p:nvPr/>
        </p:nvSpPr>
        <p:spPr>
          <a:xfrm>
            <a:off x="1007011" y="3480973"/>
            <a:ext cx="10880328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Gain de courant en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fonction des éléments de la matrice impédance (</a:t>
            </a:r>
            <a:r>
              <a:rPr kumimoji="0" lang="fr-FR" sz="1600" b="1" i="0" u="none" strike="noStrike" kern="1200" cap="none" spc="0" normalizeH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zij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), admittance (</a:t>
            </a:r>
            <a:r>
              <a:rPr kumimoji="0" lang="fr-FR" sz="1600" b="1" i="0" u="none" strike="noStrike" kern="1200" cap="none" spc="0" normalizeH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yij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) et hybride (</a:t>
            </a:r>
            <a:r>
              <a:rPr kumimoji="0" lang="fr-FR" sz="1600" b="1" i="0" u="none" strike="noStrike" kern="1200" cap="none" spc="0" normalizeH="0" noProof="0" dirty="0" err="1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hij</a:t>
            </a:r>
            <a:r>
              <a:rPr lang="fr-FR" sz="1600" b="1" dirty="0">
                <a:solidFill>
                  <a:srgbClr val="00B05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)</a:t>
            </a:r>
            <a:r>
              <a:rPr kumimoji="0" lang="fr-FR" sz="1600" b="1" i="0" u="none" strike="noStrike" kern="1200" cap="none" spc="0" normalizeH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</a:t>
            </a: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3" name="Objet 6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1510686"/>
              </p:ext>
            </p:extLst>
          </p:nvPr>
        </p:nvGraphicFramePr>
        <p:xfrm>
          <a:off x="2893262" y="3851967"/>
          <a:ext cx="2476500" cy="2676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31" name="Equation" r:id="rId5" imgW="1155600" imgH="1333440" progId="Equation.DSMT4">
                  <p:embed/>
                </p:oleObj>
              </mc:Choice>
              <mc:Fallback>
                <p:oleObj name="Equation" r:id="rId5" imgW="1155600" imgH="1333440" progId="Equation.DSMT4">
                  <p:embed/>
                  <p:pic>
                    <p:nvPicPr>
                      <p:cNvPr id="63" name="Obje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3262" y="3851967"/>
                        <a:ext cx="2476500" cy="26765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1909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/>
      <p:bldP spid="42" grpId="0" animBg="1"/>
      <p:bldP spid="43" grpId="0"/>
      <p:bldP spid="45" grpId="0" animBg="1"/>
      <p:bldP spid="46" grpId="0" animBg="1"/>
      <p:bldP spid="49" grpId="0" animBg="1"/>
      <p:bldP spid="51" grpId="0"/>
      <p:bldP spid="54" grpId="0"/>
      <p:bldP spid="55" grpId="0" animBg="1"/>
      <p:bldP spid="56" grpId="0"/>
      <p:bldP spid="58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/>
          <p:nvPr/>
        </p:nvSpPr>
        <p:spPr>
          <a:xfrm>
            <a:off x="690844" y="287400"/>
            <a:ext cx="581441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Schéma équivalent en utilisant les caractéristiques 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593104" y="852060"/>
                <a:ext cx="9505795" cy="156966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marR="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Vu entre ses bornes d’entrée, le quadripôle peut être représenté par son impédance d’entrée </a:t>
                </a:r>
                <a:r>
                  <a:rPr kumimoji="0" lang="fr-FR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Ze</a:t>
                </a: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285750" marR="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En utilisant le théorème de </a:t>
                </a:r>
                <a:r>
                  <a:rPr kumimoji="0" lang="fr-FR" sz="16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Thévenin</a:t>
                </a: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 on peut montrer que vu de la sortie, le quadripôle est équivalent à la tension à vide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fr-FR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0" lang="fr-FR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kumimoji="0" lang="fr-FR" sz="16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𝑣𝑂</m:t>
                        </m:r>
                      </m:sub>
                    </m:sSub>
                    <m:r>
                      <a:rPr kumimoji="0" lang="fr-FR" sz="16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(la charge Zc tend vers l’infini) en série avec l’impédance de sortie Zs.</a:t>
                </a:r>
              </a:p>
              <a:p>
                <a:pPr marL="285750" marR="0" lvl="0" indent="-28575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fr-FR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D’où le schéma équivalent du quadripôle en utilisant ses caractéristiques :</a:t>
                </a:r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3104" y="852060"/>
                <a:ext cx="9505795" cy="1569660"/>
              </a:xfrm>
              <a:prstGeom prst="rect">
                <a:avLst/>
              </a:prstGeom>
              <a:blipFill>
                <a:blip r:embed="rId2"/>
                <a:stretch>
                  <a:fillRect l="-256" t="-1167" r="-321" b="-428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necteur droit 24"/>
          <p:cNvCxnSpPr/>
          <p:nvPr/>
        </p:nvCxnSpPr>
        <p:spPr>
          <a:xfrm flipH="1">
            <a:off x="3460377" y="3119999"/>
            <a:ext cx="268663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479977" y="3663399"/>
            <a:ext cx="328670" cy="1035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28" name="Rectangle 27"/>
          <p:cNvSpPr/>
          <p:nvPr/>
        </p:nvSpPr>
        <p:spPr>
          <a:xfrm rot="5400000">
            <a:off x="4232134" y="2618150"/>
            <a:ext cx="328670" cy="1035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29" name="Connecteur droit 28"/>
          <p:cNvCxnSpPr/>
          <p:nvPr/>
        </p:nvCxnSpPr>
        <p:spPr>
          <a:xfrm flipH="1" flipV="1">
            <a:off x="6148850" y="3116800"/>
            <a:ext cx="1" cy="725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/>
          <p:cNvCxnSpPr/>
          <p:nvPr/>
        </p:nvCxnSpPr>
        <p:spPr>
          <a:xfrm flipH="1" flipV="1">
            <a:off x="7252222" y="3145069"/>
            <a:ext cx="1657" cy="15688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necteur droit 30"/>
          <p:cNvCxnSpPr/>
          <p:nvPr/>
        </p:nvCxnSpPr>
        <p:spPr>
          <a:xfrm flipH="1">
            <a:off x="7260333" y="3116799"/>
            <a:ext cx="2379523" cy="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Connecteur droit 31"/>
          <p:cNvCxnSpPr/>
          <p:nvPr/>
        </p:nvCxnSpPr>
        <p:spPr>
          <a:xfrm flipV="1">
            <a:off x="9627537" y="3118479"/>
            <a:ext cx="1" cy="531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/>
          <p:cNvCxnSpPr/>
          <p:nvPr/>
        </p:nvCxnSpPr>
        <p:spPr>
          <a:xfrm flipH="1" flipV="1">
            <a:off x="6148850" y="4533050"/>
            <a:ext cx="1" cy="7259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Connecteur droit 33"/>
          <p:cNvCxnSpPr/>
          <p:nvPr/>
        </p:nvCxnSpPr>
        <p:spPr>
          <a:xfrm flipH="1">
            <a:off x="3454196" y="5259046"/>
            <a:ext cx="619340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eur droit 34"/>
          <p:cNvCxnSpPr/>
          <p:nvPr/>
        </p:nvCxnSpPr>
        <p:spPr>
          <a:xfrm flipV="1">
            <a:off x="9628270" y="4715311"/>
            <a:ext cx="1" cy="531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35"/>
          <p:cNvCxnSpPr/>
          <p:nvPr/>
        </p:nvCxnSpPr>
        <p:spPr>
          <a:xfrm flipV="1">
            <a:off x="7253879" y="4732536"/>
            <a:ext cx="1" cy="5317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Connecteur droit 36"/>
          <p:cNvCxnSpPr/>
          <p:nvPr/>
        </p:nvCxnSpPr>
        <p:spPr>
          <a:xfrm flipV="1">
            <a:off x="8911740" y="3355753"/>
            <a:ext cx="1" cy="175619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Connecteur droit 37"/>
          <p:cNvCxnSpPr/>
          <p:nvPr/>
        </p:nvCxnSpPr>
        <p:spPr>
          <a:xfrm flipV="1">
            <a:off x="5296784" y="3361264"/>
            <a:ext cx="1" cy="1756198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9" name="Flèche gauche 38"/>
          <p:cNvSpPr/>
          <p:nvPr/>
        </p:nvSpPr>
        <p:spPr>
          <a:xfrm>
            <a:off x="8986066" y="3035859"/>
            <a:ext cx="329080" cy="1837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0" name="Flèche gauche 39"/>
          <p:cNvSpPr/>
          <p:nvPr/>
        </p:nvSpPr>
        <p:spPr>
          <a:xfrm flipH="1" flipV="1">
            <a:off x="5341334" y="3038234"/>
            <a:ext cx="329080" cy="183717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9917567" y="3883310"/>
            <a:ext cx="8149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Zc</a:t>
            </a:r>
            <a:endParaRPr kumimoji="0" 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4648350" y="4016073"/>
                <a:ext cx="81495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fr-FR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fr-FR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8350" y="4016073"/>
                <a:ext cx="814952" cy="3385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ectangle 42"/>
              <p:cNvSpPr/>
              <p:nvPr/>
            </p:nvSpPr>
            <p:spPr>
              <a:xfrm>
                <a:off x="8688079" y="4038969"/>
                <a:ext cx="81495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fr-FR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</m:e>
                        <m:sub>
                          <m: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43" name="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8079" y="4038969"/>
                <a:ext cx="814952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8786912" y="2602418"/>
                <a:ext cx="81495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912" y="2602418"/>
                <a:ext cx="814952" cy="3385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Rectangle 44"/>
              <p:cNvSpPr/>
              <p:nvPr/>
            </p:nvSpPr>
            <p:spPr>
              <a:xfrm>
                <a:off x="5033299" y="2679820"/>
                <a:ext cx="814952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  <m:sub>
                          <m:r>
                            <a:rPr kumimoji="0" lang="fr-FR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kumimoji="0" 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45" name="Rectangle 4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3299" y="2679820"/>
                <a:ext cx="814952" cy="33855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Ellipse 45"/>
          <p:cNvSpPr/>
          <p:nvPr/>
        </p:nvSpPr>
        <p:spPr>
          <a:xfrm>
            <a:off x="6960746" y="3899565"/>
            <a:ext cx="609600" cy="70585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47" name="Connecteur droit 46"/>
          <p:cNvCxnSpPr/>
          <p:nvPr/>
        </p:nvCxnSpPr>
        <p:spPr>
          <a:xfrm flipV="1">
            <a:off x="7265545" y="3911133"/>
            <a:ext cx="0" cy="665281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 rot="5400000">
            <a:off x="8005809" y="2627134"/>
            <a:ext cx="328670" cy="1035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7992747" y="2593433"/>
            <a:ext cx="8149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Zs</a:t>
            </a:r>
            <a:endParaRPr kumimoji="0" 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/>
              <p:cNvSpPr/>
              <p:nvPr/>
            </p:nvSpPr>
            <p:spPr>
              <a:xfrm>
                <a:off x="7534623" y="4059107"/>
                <a:ext cx="581569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fr-FR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𝐴</m:t>
                          </m:r>
                        </m:e>
                        <m:sub>
                          <m: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𝑣</m:t>
                          </m:r>
                          <m:r>
                            <a:rPr kumimoji="0" lang="fr-FR" sz="1600" b="0" i="1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𝑂</m:t>
                          </m:r>
                        </m:sub>
                      </m:sSub>
                    </m:oMath>
                  </m:oMathPara>
                </a14:m>
                <a:endParaRPr kumimoji="0" 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50" name="Rectangle 4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34623" y="4059107"/>
                <a:ext cx="581569" cy="33855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50"/>
          <p:cNvSpPr/>
          <p:nvPr/>
        </p:nvSpPr>
        <p:spPr>
          <a:xfrm>
            <a:off x="5967481" y="3663134"/>
            <a:ext cx="328670" cy="103587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5531050" y="3996403"/>
            <a:ext cx="8149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Ze</a:t>
            </a:r>
            <a:endParaRPr kumimoji="0" 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53" name="Connecteur droit 52"/>
          <p:cNvCxnSpPr/>
          <p:nvPr/>
        </p:nvCxnSpPr>
        <p:spPr>
          <a:xfrm flipV="1">
            <a:off x="3454196" y="3142432"/>
            <a:ext cx="0" cy="21113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Ellipse 53"/>
          <p:cNvSpPr/>
          <p:nvPr/>
        </p:nvSpPr>
        <p:spPr>
          <a:xfrm>
            <a:off x="3165985" y="3793568"/>
            <a:ext cx="609600" cy="705853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cxnSp>
        <p:nvCxnSpPr>
          <p:cNvPr id="55" name="Connecteur droit 54"/>
          <p:cNvCxnSpPr/>
          <p:nvPr/>
        </p:nvCxnSpPr>
        <p:spPr>
          <a:xfrm flipV="1">
            <a:off x="3470784" y="3805136"/>
            <a:ext cx="0" cy="665281"/>
          </a:xfrm>
          <a:prstGeom prst="line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2680669" y="3937399"/>
                <a:ext cx="448648" cy="3585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𝑒</m:t>
                          </m:r>
                        </m:e>
                        <m:sub>
                          <m:r>
                            <a:rPr kumimoji="0" lang="fr-FR" sz="1600" b="0" i="1" u="none" strike="noStrike" kern="1200" cap="none" spc="0" normalizeH="0" baseline="0" noProof="0" dirty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𝑔</m:t>
                          </m:r>
                        </m:sub>
                      </m:sSub>
                    </m:oMath>
                  </m:oMathPara>
                </a14:m>
                <a:endParaRPr kumimoji="0" 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0669" y="3937399"/>
                <a:ext cx="448648" cy="358560"/>
              </a:xfrm>
              <a:prstGeom prst="rect">
                <a:avLst/>
              </a:prstGeom>
              <a:blipFill>
                <a:blip r:embed="rId8"/>
                <a:stretch>
                  <a:fillRect b="-169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/>
          <p:cNvSpPr/>
          <p:nvPr/>
        </p:nvSpPr>
        <p:spPr>
          <a:xfrm>
            <a:off x="4208432" y="2611112"/>
            <a:ext cx="8149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Zg</a:t>
            </a:r>
            <a:endParaRPr kumimoji="0" 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925210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20"/>
          <p:cNvGrpSpPr>
            <a:grpSpLocks/>
          </p:cNvGrpSpPr>
          <p:nvPr/>
        </p:nvGrpSpPr>
        <p:grpSpPr bwMode="auto">
          <a:xfrm rot="16200000">
            <a:off x="2256451" y="1756748"/>
            <a:ext cx="131367" cy="1332601"/>
            <a:chOff x="4433" y="13350"/>
            <a:chExt cx="176" cy="1562"/>
          </a:xfrm>
        </p:grpSpPr>
        <p:grpSp>
          <p:nvGrpSpPr>
            <p:cNvPr id="21" name="Group 21"/>
            <p:cNvGrpSpPr>
              <a:grpSpLocks/>
            </p:cNvGrpSpPr>
            <p:nvPr/>
          </p:nvGrpSpPr>
          <p:grpSpPr bwMode="auto">
            <a:xfrm rot="5400000" flipH="1">
              <a:off x="4448" y="14122"/>
              <a:ext cx="152" cy="171"/>
              <a:chOff x="3826" y="448"/>
              <a:chExt cx="570" cy="171"/>
            </a:xfrm>
          </p:grpSpPr>
          <p:sp>
            <p:nvSpPr>
              <p:cNvPr id="31" name="Arc 22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32" name="Arc 23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22" name="Group 24"/>
            <p:cNvGrpSpPr>
              <a:grpSpLocks/>
            </p:cNvGrpSpPr>
            <p:nvPr/>
          </p:nvGrpSpPr>
          <p:grpSpPr bwMode="auto">
            <a:xfrm rot="5400000" flipH="1">
              <a:off x="4448" y="13970"/>
              <a:ext cx="152" cy="171"/>
              <a:chOff x="3826" y="448"/>
              <a:chExt cx="570" cy="171"/>
            </a:xfrm>
          </p:grpSpPr>
          <p:sp>
            <p:nvSpPr>
              <p:cNvPr id="29" name="Arc 25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30" name="Arc 26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23" name="Group 27"/>
            <p:cNvGrpSpPr>
              <a:grpSpLocks/>
            </p:cNvGrpSpPr>
            <p:nvPr/>
          </p:nvGrpSpPr>
          <p:grpSpPr bwMode="auto">
            <a:xfrm rot="5400000" flipH="1">
              <a:off x="4448" y="13818"/>
              <a:ext cx="152" cy="171"/>
              <a:chOff x="3826" y="448"/>
              <a:chExt cx="570" cy="171"/>
            </a:xfrm>
          </p:grpSpPr>
          <p:sp>
            <p:nvSpPr>
              <p:cNvPr id="27" name="Arc 28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28" name="Arc 29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cxnSp>
          <p:nvCxnSpPr>
            <p:cNvPr id="24" name="Line 30"/>
            <p:cNvCxnSpPr/>
            <p:nvPr/>
          </p:nvCxnSpPr>
          <p:spPr bwMode="auto">
            <a:xfrm flipV="1">
              <a:off x="4447" y="14282"/>
              <a:ext cx="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Line 31"/>
            <p:cNvCxnSpPr/>
            <p:nvPr/>
          </p:nvCxnSpPr>
          <p:spPr bwMode="auto">
            <a:xfrm rot="5400000" flipV="1">
              <a:off x="4202" y="13581"/>
              <a:ext cx="468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3" name="object 19"/>
          <p:cNvSpPr txBox="1"/>
          <p:nvPr/>
        </p:nvSpPr>
        <p:spPr>
          <a:xfrm>
            <a:off x="1149044" y="445293"/>
            <a:ext cx="612652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Comportement des composants passifs :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object 19"/>
          <p:cNvSpPr txBox="1"/>
          <p:nvPr/>
        </p:nvSpPr>
        <p:spPr>
          <a:xfrm>
            <a:off x="2529764" y="1103295"/>
            <a:ext cx="222828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r-FR" sz="1800" b="1" i="0" u="sng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En basses fréquences</a:t>
            </a:r>
            <a:endParaRPr kumimoji="0" sz="1800" b="1" i="0" u="sng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object 19"/>
          <p:cNvSpPr txBox="1"/>
          <p:nvPr/>
        </p:nvSpPr>
        <p:spPr>
          <a:xfrm>
            <a:off x="7757622" y="1103295"/>
            <a:ext cx="2228288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lvl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fr-FR" sz="1800" b="1" i="0" u="sng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En hautes fréquences</a:t>
            </a:r>
            <a:endParaRPr kumimoji="0" sz="1800" b="1" i="0" u="sng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3356325" y="2313321"/>
            <a:ext cx="575166" cy="343356"/>
            <a:chOff x="3643908" y="2133600"/>
            <a:chExt cx="575166" cy="343356"/>
          </a:xfrm>
        </p:grpSpPr>
        <p:cxnSp>
          <p:nvCxnSpPr>
            <p:cNvPr id="13" name="Connecteur droit 12"/>
            <p:cNvCxnSpPr/>
            <p:nvPr/>
          </p:nvCxnSpPr>
          <p:spPr>
            <a:xfrm flipH="1">
              <a:off x="3643908" y="2133600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 flipH="1">
              <a:off x="3643908" y="2308865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Connecteur droit 37"/>
            <p:cNvCxnSpPr/>
            <p:nvPr/>
          </p:nvCxnSpPr>
          <p:spPr>
            <a:xfrm flipH="1">
              <a:off x="3643908" y="2476956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9" name="Groupe 68"/>
          <p:cNvGrpSpPr/>
          <p:nvPr/>
        </p:nvGrpSpPr>
        <p:grpSpPr>
          <a:xfrm>
            <a:off x="3356325" y="3591101"/>
            <a:ext cx="575166" cy="343356"/>
            <a:chOff x="3643908" y="2133600"/>
            <a:chExt cx="575166" cy="343356"/>
          </a:xfrm>
        </p:grpSpPr>
        <p:cxnSp>
          <p:nvCxnSpPr>
            <p:cNvPr id="70" name="Connecteur droit 69"/>
            <p:cNvCxnSpPr/>
            <p:nvPr/>
          </p:nvCxnSpPr>
          <p:spPr>
            <a:xfrm flipH="1">
              <a:off x="3643908" y="2133600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Connecteur droit 70"/>
            <p:cNvCxnSpPr/>
            <p:nvPr/>
          </p:nvCxnSpPr>
          <p:spPr>
            <a:xfrm flipH="1">
              <a:off x="3643908" y="2308865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Connecteur droit 71"/>
            <p:cNvCxnSpPr/>
            <p:nvPr/>
          </p:nvCxnSpPr>
          <p:spPr>
            <a:xfrm flipH="1">
              <a:off x="3643908" y="2476956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73" name="Groupe 72"/>
          <p:cNvGrpSpPr/>
          <p:nvPr/>
        </p:nvGrpSpPr>
        <p:grpSpPr>
          <a:xfrm>
            <a:off x="4211877" y="3475547"/>
            <a:ext cx="1493844" cy="280515"/>
            <a:chOff x="4100651" y="2197586"/>
            <a:chExt cx="1493844" cy="280515"/>
          </a:xfrm>
        </p:grpSpPr>
        <p:grpSp>
          <p:nvGrpSpPr>
            <p:cNvPr id="74" name="Group 20"/>
            <p:cNvGrpSpPr>
              <a:grpSpLocks/>
            </p:cNvGrpSpPr>
            <p:nvPr/>
          </p:nvGrpSpPr>
          <p:grpSpPr bwMode="auto">
            <a:xfrm rot="16200000">
              <a:off x="4844214" y="1727820"/>
              <a:ext cx="6718" cy="1493844"/>
              <a:chOff x="4438" y="13161"/>
              <a:chExt cx="9" cy="1751"/>
            </a:xfrm>
          </p:grpSpPr>
          <p:cxnSp>
            <p:nvCxnSpPr>
              <p:cNvPr id="76" name="Line 30"/>
              <p:cNvCxnSpPr/>
              <p:nvPr/>
            </p:nvCxnSpPr>
            <p:spPr bwMode="auto">
              <a:xfrm flipV="1">
                <a:off x="4447" y="14282"/>
                <a:ext cx="0" cy="6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Line 31"/>
              <p:cNvCxnSpPr/>
              <p:nvPr/>
            </p:nvCxnSpPr>
            <p:spPr bwMode="auto">
              <a:xfrm rot="5400000" flipV="1">
                <a:off x="4110" y="13489"/>
                <a:ext cx="6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75" name="Connecteur droit 74"/>
            <p:cNvCxnSpPr/>
            <p:nvPr/>
          </p:nvCxnSpPr>
          <p:spPr>
            <a:xfrm flipV="1">
              <a:off x="4637492" y="2197586"/>
              <a:ext cx="375422" cy="280514"/>
            </a:xfrm>
            <a:prstGeom prst="line">
              <a:avLst/>
            </a:prstGeom>
            <a:ln>
              <a:headEnd type="oval"/>
              <a:tailEnd type="oval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82" name="Groupe 81"/>
          <p:cNvGrpSpPr/>
          <p:nvPr/>
        </p:nvGrpSpPr>
        <p:grpSpPr>
          <a:xfrm>
            <a:off x="4289005" y="2420809"/>
            <a:ext cx="1493844" cy="57473"/>
            <a:chOff x="4100651" y="2420628"/>
            <a:chExt cx="1493844" cy="57473"/>
          </a:xfrm>
        </p:grpSpPr>
        <p:grpSp>
          <p:nvGrpSpPr>
            <p:cNvPr id="83" name="Group 20"/>
            <p:cNvGrpSpPr>
              <a:grpSpLocks/>
            </p:cNvGrpSpPr>
            <p:nvPr/>
          </p:nvGrpSpPr>
          <p:grpSpPr bwMode="auto">
            <a:xfrm rot="16200000">
              <a:off x="4844214" y="1727820"/>
              <a:ext cx="6718" cy="1493844"/>
              <a:chOff x="4438" y="13161"/>
              <a:chExt cx="9" cy="1751"/>
            </a:xfrm>
          </p:grpSpPr>
          <p:cxnSp>
            <p:nvCxnSpPr>
              <p:cNvPr id="85" name="Line 30"/>
              <p:cNvCxnSpPr/>
              <p:nvPr/>
            </p:nvCxnSpPr>
            <p:spPr bwMode="auto">
              <a:xfrm flipV="1">
                <a:off x="4447" y="14282"/>
                <a:ext cx="0" cy="6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Line 31"/>
              <p:cNvCxnSpPr/>
              <p:nvPr/>
            </p:nvCxnSpPr>
            <p:spPr bwMode="auto">
              <a:xfrm rot="5400000" flipV="1">
                <a:off x="4110" y="13489"/>
                <a:ext cx="6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84" name="Connecteur droit 83"/>
            <p:cNvCxnSpPr/>
            <p:nvPr/>
          </p:nvCxnSpPr>
          <p:spPr>
            <a:xfrm flipV="1">
              <a:off x="4637492" y="2420628"/>
              <a:ext cx="419526" cy="57472"/>
            </a:xfrm>
            <a:prstGeom prst="line">
              <a:avLst/>
            </a:prstGeom>
            <a:ln>
              <a:headEnd type="oval"/>
              <a:tailEnd type="oval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1" name="Groupe 100"/>
          <p:cNvGrpSpPr/>
          <p:nvPr/>
        </p:nvGrpSpPr>
        <p:grpSpPr>
          <a:xfrm>
            <a:off x="1603789" y="3454683"/>
            <a:ext cx="1391467" cy="610837"/>
            <a:chOff x="1603789" y="3454683"/>
            <a:chExt cx="1391467" cy="610837"/>
          </a:xfrm>
        </p:grpSpPr>
        <p:grpSp>
          <p:nvGrpSpPr>
            <p:cNvPr id="57" name="Group 20"/>
            <p:cNvGrpSpPr>
              <a:grpSpLocks/>
            </p:cNvGrpSpPr>
            <p:nvPr/>
          </p:nvGrpSpPr>
          <p:grpSpPr bwMode="auto">
            <a:xfrm rot="16200000">
              <a:off x="2298403" y="3061452"/>
              <a:ext cx="2239" cy="1391467"/>
              <a:chOff x="4456" y="13170"/>
              <a:chExt cx="3" cy="1631"/>
            </a:xfrm>
          </p:grpSpPr>
          <p:cxnSp>
            <p:nvCxnSpPr>
              <p:cNvPr id="61" name="Line 30"/>
              <p:cNvCxnSpPr/>
              <p:nvPr/>
            </p:nvCxnSpPr>
            <p:spPr bwMode="auto">
              <a:xfrm rot="5400000" flipH="1" flipV="1">
                <a:off x="4103" y="14449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62" name="Line 31"/>
              <p:cNvCxnSpPr/>
              <p:nvPr/>
            </p:nvCxnSpPr>
            <p:spPr bwMode="auto">
              <a:xfrm rot="5400000" flipV="1">
                <a:off x="4139" y="13490"/>
                <a:ext cx="6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97" name="Connecteur droit 96"/>
            <p:cNvCxnSpPr/>
            <p:nvPr/>
          </p:nvCxnSpPr>
          <p:spPr>
            <a:xfrm>
              <a:off x="2165759" y="3462765"/>
              <a:ext cx="0" cy="602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Connecteur droit 97"/>
            <p:cNvCxnSpPr/>
            <p:nvPr/>
          </p:nvCxnSpPr>
          <p:spPr>
            <a:xfrm>
              <a:off x="2384056" y="3454683"/>
              <a:ext cx="0" cy="602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9" name="Groupe 108"/>
          <p:cNvGrpSpPr/>
          <p:nvPr/>
        </p:nvGrpSpPr>
        <p:grpSpPr>
          <a:xfrm>
            <a:off x="3356325" y="4889508"/>
            <a:ext cx="575166" cy="343356"/>
            <a:chOff x="3643908" y="2133600"/>
            <a:chExt cx="575166" cy="343356"/>
          </a:xfrm>
        </p:grpSpPr>
        <p:cxnSp>
          <p:nvCxnSpPr>
            <p:cNvPr id="110" name="Connecteur droit 109"/>
            <p:cNvCxnSpPr/>
            <p:nvPr/>
          </p:nvCxnSpPr>
          <p:spPr>
            <a:xfrm flipH="1">
              <a:off x="3643908" y="2133600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Connecteur droit 110"/>
            <p:cNvCxnSpPr/>
            <p:nvPr/>
          </p:nvCxnSpPr>
          <p:spPr>
            <a:xfrm flipH="1">
              <a:off x="3643908" y="2308865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Connecteur droit 111"/>
            <p:cNvCxnSpPr/>
            <p:nvPr/>
          </p:nvCxnSpPr>
          <p:spPr>
            <a:xfrm flipH="1">
              <a:off x="3643908" y="2476956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8" name="Groupe 127"/>
          <p:cNvGrpSpPr/>
          <p:nvPr/>
        </p:nvGrpSpPr>
        <p:grpSpPr>
          <a:xfrm>
            <a:off x="1594404" y="4916804"/>
            <a:ext cx="1382082" cy="198755"/>
            <a:chOff x="1594404" y="4916804"/>
            <a:chExt cx="1382082" cy="198755"/>
          </a:xfrm>
        </p:grpSpPr>
        <p:grpSp>
          <p:nvGrpSpPr>
            <p:cNvPr id="103" name="Group 20"/>
            <p:cNvGrpSpPr>
              <a:grpSpLocks/>
            </p:cNvGrpSpPr>
            <p:nvPr/>
          </p:nvGrpSpPr>
          <p:grpSpPr bwMode="auto">
            <a:xfrm rot="16200000">
              <a:off x="2283952" y="4350446"/>
              <a:ext cx="2985" cy="1382082"/>
              <a:chOff x="4455" y="13170"/>
              <a:chExt cx="4" cy="1620"/>
            </a:xfrm>
          </p:grpSpPr>
          <p:cxnSp>
            <p:nvCxnSpPr>
              <p:cNvPr id="106" name="Line 30"/>
              <p:cNvCxnSpPr/>
              <p:nvPr/>
            </p:nvCxnSpPr>
            <p:spPr bwMode="auto">
              <a:xfrm rot="5400000" flipH="1" flipV="1">
                <a:off x="4189" y="14521"/>
                <a:ext cx="535" cy="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7" name="Line 31"/>
              <p:cNvCxnSpPr/>
              <p:nvPr/>
            </p:nvCxnSpPr>
            <p:spPr bwMode="auto">
              <a:xfrm rot="5400000">
                <a:off x="4165" y="13464"/>
                <a:ext cx="58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6" name="Connecteur droit 115"/>
            <p:cNvCxnSpPr/>
            <p:nvPr/>
          </p:nvCxnSpPr>
          <p:spPr>
            <a:xfrm flipV="1">
              <a:off x="2095626" y="4916804"/>
              <a:ext cx="64838" cy="1235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Connecteur droit 117"/>
            <p:cNvCxnSpPr/>
            <p:nvPr/>
          </p:nvCxnSpPr>
          <p:spPr>
            <a:xfrm>
              <a:off x="2160464" y="4916804"/>
              <a:ext cx="64839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1" name="Connecteur droit 120"/>
            <p:cNvCxnSpPr/>
            <p:nvPr/>
          </p:nvCxnSpPr>
          <p:spPr>
            <a:xfrm flipV="1">
              <a:off x="2225303" y="4916804"/>
              <a:ext cx="64838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3" name="Connecteur droit 122"/>
            <p:cNvCxnSpPr/>
            <p:nvPr/>
          </p:nvCxnSpPr>
          <p:spPr>
            <a:xfrm>
              <a:off x="2290141" y="4916804"/>
              <a:ext cx="64839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Connecteur droit 124"/>
            <p:cNvCxnSpPr/>
            <p:nvPr/>
          </p:nvCxnSpPr>
          <p:spPr>
            <a:xfrm flipV="1">
              <a:off x="2354980" y="4916804"/>
              <a:ext cx="95978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Connecteur droit 126"/>
            <p:cNvCxnSpPr/>
            <p:nvPr/>
          </p:nvCxnSpPr>
          <p:spPr>
            <a:xfrm>
              <a:off x="2450958" y="4916804"/>
              <a:ext cx="69942" cy="122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29" name="Groupe 128"/>
          <p:cNvGrpSpPr/>
          <p:nvPr/>
        </p:nvGrpSpPr>
        <p:grpSpPr>
          <a:xfrm>
            <a:off x="4245388" y="4916804"/>
            <a:ext cx="1382082" cy="198755"/>
            <a:chOff x="1594404" y="4916804"/>
            <a:chExt cx="1382082" cy="198755"/>
          </a:xfrm>
        </p:grpSpPr>
        <p:grpSp>
          <p:nvGrpSpPr>
            <p:cNvPr id="130" name="Group 20"/>
            <p:cNvGrpSpPr>
              <a:grpSpLocks/>
            </p:cNvGrpSpPr>
            <p:nvPr/>
          </p:nvGrpSpPr>
          <p:grpSpPr bwMode="auto">
            <a:xfrm rot="16200000">
              <a:off x="2283952" y="4350446"/>
              <a:ext cx="2985" cy="1382082"/>
              <a:chOff x="4455" y="13170"/>
              <a:chExt cx="4" cy="1620"/>
            </a:xfrm>
          </p:grpSpPr>
          <p:cxnSp>
            <p:nvCxnSpPr>
              <p:cNvPr id="137" name="Line 30"/>
              <p:cNvCxnSpPr/>
              <p:nvPr/>
            </p:nvCxnSpPr>
            <p:spPr bwMode="auto">
              <a:xfrm rot="5400000" flipH="1" flipV="1">
                <a:off x="4189" y="14521"/>
                <a:ext cx="535" cy="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38" name="Line 31"/>
              <p:cNvCxnSpPr/>
              <p:nvPr/>
            </p:nvCxnSpPr>
            <p:spPr bwMode="auto">
              <a:xfrm rot="5400000">
                <a:off x="4165" y="13464"/>
                <a:ext cx="58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31" name="Connecteur droit 130"/>
            <p:cNvCxnSpPr/>
            <p:nvPr/>
          </p:nvCxnSpPr>
          <p:spPr>
            <a:xfrm flipV="1">
              <a:off x="2095626" y="4916804"/>
              <a:ext cx="64838" cy="1235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Connecteur droit 131"/>
            <p:cNvCxnSpPr/>
            <p:nvPr/>
          </p:nvCxnSpPr>
          <p:spPr>
            <a:xfrm>
              <a:off x="2160464" y="4916804"/>
              <a:ext cx="64839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3" name="Connecteur droit 132"/>
            <p:cNvCxnSpPr/>
            <p:nvPr/>
          </p:nvCxnSpPr>
          <p:spPr>
            <a:xfrm flipV="1">
              <a:off x="2225303" y="4916804"/>
              <a:ext cx="64838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Connecteur droit 133"/>
            <p:cNvCxnSpPr/>
            <p:nvPr/>
          </p:nvCxnSpPr>
          <p:spPr>
            <a:xfrm>
              <a:off x="2290141" y="4916804"/>
              <a:ext cx="64839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5" name="Connecteur droit 134"/>
            <p:cNvCxnSpPr/>
            <p:nvPr/>
          </p:nvCxnSpPr>
          <p:spPr>
            <a:xfrm flipV="1">
              <a:off x="2354980" y="4916804"/>
              <a:ext cx="95978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6" name="Connecteur droit 135"/>
            <p:cNvCxnSpPr/>
            <p:nvPr/>
          </p:nvCxnSpPr>
          <p:spPr>
            <a:xfrm>
              <a:off x="2450958" y="4916804"/>
              <a:ext cx="69942" cy="122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9" name="Group 20"/>
          <p:cNvGrpSpPr>
            <a:grpSpLocks/>
          </p:cNvGrpSpPr>
          <p:nvPr/>
        </p:nvGrpSpPr>
        <p:grpSpPr bwMode="auto">
          <a:xfrm rot="16200000">
            <a:off x="7563115" y="1759152"/>
            <a:ext cx="131367" cy="1332601"/>
            <a:chOff x="4433" y="13350"/>
            <a:chExt cx="176" cy="1562"/>
          </a:xfrm>
        </p:grpSpPr>
        <p:grpSp>
          <p:nvGrpSpPr>
            <p:cNvPr id="140" name="Group 21"/>
            <p:cNvGrpSpPr>
              <a:grpSpLocks/>
            </p:cNvGrpSpPr>
            <p:nvPr/>
          </p:nvGrpSpPr>
          <p:grpSpPr bwMode="auto">
            <a:xfrm rot="5400000" flipH="1">
              <a:off x="4448" y="14122"/>
              <a:ext cx="152" cy="171"/>
              <a:chOff x="3826" y="448"/>
              <a:chExt cx="570" cy="171"/>
            </a:xfrm>
          </p:grpSpPr>
          <p:sp>
            <p:nvSpPr>
              <p:cNvPr id="149" name="Arc 22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50" name="Arc 23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41" name="Group 24"/>
            <p:cNvGrpSpPr>
              <a:grpSpLocks/>
            </p:cNvGrpSpPr>
            <p:nvPr/>
          </p:nvGrpSpPr>
          <p:grpSpPr bwMode="auto">
            <a:xfrm rot="5400000" flipH="1">
              <a:off x="4448" y="13970"/>
              <a:ext cx="152" cy="171"/>
              <a:chOff x="3826" y="448"/>
              <a:chExt cx="570" cy="171"/>
            </a:xfrm>
          </p:grpSpPr>
          <p:sp>
            <p:nvSpPr>
              <p:cNvPr id="147" name="Arc 25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48" name="Arc 26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42" name="Group 27"/>
            <p:cNvGrpSpPr>
              <a:grpSpLocks/>
            </p:cNvGrpSpPr>
            <p:nvPr/>
          </p:nvGrpSpPr>
          <p:grpSpPr bwMode="auto">
            <a:xfrm rot="5400000" flipH="1">
              <a:off x="4448" y="13818"/>
              <a:ext cx="152" cy="171"/>
              <a:chOff x="3826" y="448"/>
              <a:chExt cx="570" cy="171"/>
            </a:xfrm>
          </p:grpSpPr>
          <p:sp>
            <p:nvSpPr>
              <p:cNvPr id="145" name="Arc 28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46" name="Arc 29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cxnSp>
          <p:nvCxnSpPr>
            <p:cNvPr id="143" name="Line 30"/>
            <p:cNvCxnSpPr/>
            <p:nvPr/>
          </p:nvCxnSpPr>
          <p:spPr bwMode="auto">
            <a:xfrm flipV="1">
              <a:off x="4447" y="14282"/>
              <a:ext cx="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4" name="Line 31"/>
            <p:cNvCxnSpPr/>
            <p:nvPr/>
          </p:nvCxnSpPr>
          <p:spPr bwMode="auto">
            <a:xfrm rot="5400000" flipV="1">
              <a:off x="4202" y="13581"/>
              <a:ext cx="468" cy="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51" name="Groupe 150"/>
          <p:cNvGrpSpPr/>
          <p:nvPr/>
        </p:nvGrpSpPr>
        <p:grpSpPr>
          <a:xfrm>
            <a:off x="8662989" y="2315725"/>
            <a:ext cx="575166" cy="343356"/>
            <a:chOff x="3643908" y="2133600"/>
            <a:chExt cx="575166" cy="343356"/>
          </a:xfrm>
        </p:grpSpPr>
        <p:cxnSp>
          <p:nvCxnSpPr>
            <p:cNvPr id="152" name="Connecteur droit 151"/>
            <p:cNvCxnSpPr/>
            <p:nvPr/>
          </p:nvCxnSpPr>
          <p:spPr>
            <a:xfrm flipH="1">
              <a:off x="3643908" y="2133600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cteur droit 152"/>
            <p:cNvCxnSpPr/>
            <p:nvPr/>
          </p:nvCxnSpPr>
          <p:spPr>
            <a:xfrm flipH="1">
              <a:off x="3643908" y="2308865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4" name="Connecteur droit 153"/>
            <p:cNvCxnSpPr/>
            <p:nvPr/>
          </p:nvCxnSpPr>
          <p:spPr>
            <a:xfrm flipH="1">
              <a:off x="3643908" y="2476956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5" name="Groupe 154"/>
          <p:cNvGrpSpPr/>
          <p:nvPr/>
        </p:nvGrpSpPr>
        <p:grpSpPr>
          <a:xfrm>
            <a:off x="8662989" y="3593505"/>
            <a:ext cx="575166" cy="343356"/>
            <a:chOff x="3643908" y="2133600"/>
            <a:chExt cx="575166" cy="343356"/>
          </a:xfrm>
        </p:grpSpPr>
        <p:cxnSp>
          <p:nvCxnSpPr>
            <p:cNvPr id="156" name="Connecteur droit 155"/>
            <p:cNvCxnSpPr/>
            <p:nvPr/>
          </p:nvCxnSpPr>
          <p:spPr>
            <a:xfrm flipH="1">
              <a:off x="3643908" y="2133600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7" name="Connecteur droit 156"/>
            <p:cNvCxnSpPr/>
            <p:nvPr/>
          </p:nvCxnSpPr>
          <p:spPr>
            <a:xfrm flipH="1">
              <a:off x="3643908" y="2308865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58" name="Connecteur droit 157"/>
            <p:cNvCxnSpPr/>
            <p:nvPr/>
          </p:nvCxnSpPr>
          <p:spPr>
            <a:xfrm flipH="1">
              <a:off x="3643908" y="2476956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9" name="Groupe 158"/>
          <p:cNvGrpSpPr/>
          <p:nvPr/>
        </p:nvGrpSpPr>
        <p:grpSpPr>
          <a:xfrm>
            <a:off x="9552478" y="2210365"/>
            <a:ext cx="1493844" cy="280515"/>
            <a:chOff x="4100651" y="2197586"/>
            <a:chExt cx="1493844" cy="280515"/>
          </a:xfrm>
        </p:grpSpPr>
        <p:grpSp>
          <p:nvGrpSpPr>
            <p:cNvPr id="160" name="Group 20"/>
            <p:cNvGrpSpPr>
              <a:grpSpLocks/>
            </p:cNvGrpSpPr>
            <p:nvPr/>
          </p:nvGrpSpPr>
          <p:grpSpPr bwMode="auto">
            <a:xfrm rot="16200000">
              <a:off x="4844214" y="1727820"/>
              <a:ext cx="6718" cy="1493844"/>
              <a:chOff x="4438" y="13161"/>
              <a:chExt cx="9" cy="1751"/>
            </a:xfrm>
          </p:grpSpPr>
          <p:cxnSp>
            <p:nvCxnSpPr>
              <p:cNvPr id="162" name="Line 30"/>
              <p:cNvCxnSpPr/>
              <p:nvPr/>
            </p:nvCxnSpPr>
            <p:spPr bwMode="auto">
              <a:xfrm flipV="1">
                <a:off x="4447" y="14282"/>
                <a:ext cx="0" cy="6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3" name="Line 31"/>
              <p:cNvCxnSpPr/>
              <p:nvPr/>
            </p:nvCxnSpPr>
            <p:spPr bwMode="auto">
              <a:xfrm rot="5400000" flipV="1">
                <a:off x="4110" y="13489"/>
                <a:ext cx="6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61" name="Connecteur droit 160"/>
            <p:cNvCxnSpPr/>
            <p:nvPr/>
          </p:nvCxnSpPr>
          <p:spPr>
            <a:xfrm flipV="1">
              <a:off x="4637492" y="2197586"/>
              <a:ext cx="375422" cy="280514"/>
            </a:xfrm>
            <a:prstGeom prst="line">
              <a:avLst/>
            </a:prstGeom>
            <a:ln>
              <a:headEnd type="oval"/>
              <a:tailEnd type="oval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4" name="Groupe 163"/>
          <p:cNvGrpSpPr/>
          <p:nvPr/>
        </p:nvGrpSpPr>
        <p:grpSpPr>
          <a:xfrm>
            <a:off x="9595669" y="3708285"/>
            <a:ext cx="1493844" cy="57473"/>
            <a:chOff x="4100651" y="2420628"/>
            <a:chExt cx="1493844" cy="57473"/>
          </a:xfrm>
        </p:grpSpPr>
        <p:grpSp>
          <p:nvGrpSpPr>
            <p:cNvPr id="165" name="Group 20"/>
            <p:cNvGrpSpPr>
              <a:grpSpLocks/>
            </p:cNvGrpSpPr>
            <p:nvPr/>
          </p:nvGrpSpPr>
          <p:grpSpPr bwMode="auto">
            <a:xfrm rot="16200000">
              <a:off x="4844214" y="1727820"/>
              <a:ext cx="6718" cy="1493844"/>
              <a:chOff x="4438" y="13161"/>
              <a:chExt cx="9" cy="1751"/>
            </a:xfrm>
          </p:grpSpPr>
          <p:cxnSp>
            <p:nvCxnSpPr>
              <p:cNvPr id="167" name="Line 30"/>
              <p:cNvCxnSpPr/>
              <p:nvPr/>
            </p:nvCxnSpPr>
            <p:spPr bwMode="auto">
              <a:xfrm flipV="1">
                <a:off x="4447" y="14282"/>
                <a:ext cx="0" cy="6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 type="oval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8" name="Line 31"/>
              <p:cNvCxnSpPr/>
              <p:nvPr/>
            </p:nvCxnSpPr>
            <p:spPr bwMode="auto">
              <a:xfrm rot="5400000" flipV="1">
                <a:off x="4110" y="13489"/>
                <a:ext cx="6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66" name="Connecteur droit 165"/>
            <p:cNvCxnSpPr/>
            <p:nvPr/>
          </p:nvCxnSpPr>
          <p:spPr>
            <a:xfrm flipV="1">
              <a:off x="4637492" y="2420628"/>
              <a:ext cx="419526" cy="57472"/>
            </a:xfrm>
            <a:prstGeom prst="line">
              <a:avLst/>
            </a:prstGeom>
            <a:ln>
              <a:headEnd type="oval"/>
              <a:tailEnd type="oval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9" name="Groupe 168"/>
          <p:cNvGrpSpPr/>
          <p:nvPr/>
        </p:nvGrpSpPr>
        <p:grpSpPr>
          <a:xfrm>
            <a:off x="6910453" y="3457087"/>
            <a:ext cx="1391467" cy="610837"/>
            <a:chOff x="1603789" y="3454683"/>
            <a:chExt cx="1391467" cy="610837"/>
          </a:xfrm>
        </p:grpSpPr>
        <p:grpSp>
          <p:nvGrpSpPr>
            <p:cNvPr id="170" name="Group 20"/>
            <p:cNvGrpSpPr>
              <a:grpSpLocks/>
            </p:cNvGrpSpPr>
            <p:nvPr/>
          </p:nvGrpSpPr>
          <p:grpSpPr bwMode="auto">
            <a:xfrm rot="16200000">
              <a:off x="2298403" y="3061452"/>
              <a:ext cx="2239" cy="1391467"/>
              <a:chOff x="4456" y="13170"/>
              <a:chExt cx="3" cy="1631"/>
            </a:xfrm>
          </p:grpSpPr>
          <p:cxnSp>
            <p:nvCxnSpPr>
              <p:cNvPr id="173" name="Line 30"/>
              <p:cNvCxnSpPr/>
              <p:nvPr/>
            </p:nvCxnSpPr>
            <p:spPr bwMode="auto">
              <a:xfrm rot="5400000" flipH="1" flipV="1">
                <a:off x="4103" y="14449"/>
                <a:ext cx="70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" name="Line 31"/>
              <p:cNvCxnSpPr/>
              <p:nvPr/>
            </p:nvCxnSpPr>
            <p:spPr bwMode="auto">
              <a:xfrm rot="5400000" flipV="1">
                <a:off x="4139" y="13490"/>
                <a:ext cx="63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71" name="Connecteur droit 170"/>
            <p:cNvCxnSpPr/>
            <p:nvPr/>
          </p:nvCxnSpPr>
          <p:spPr>
            <a:xfrm>
              <a:off x="2165759" y="3462765"/>
              <a:ext cx="0" cy="602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Connecteur droit 171"/>
            <p:cNvCxnSpPr/>
            <p:nvPr/>
          </p:nvCxnSpPr>
          <p:spPr>
            <a:xfrm>
              <a:off x="2384056" y="3454683"/>
              <a:ext cx="0" cy="602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5" name="Groupe 174"/>
          <p:cNvGrpSpPr/>
          <p:nvPr/>
        </p:nvGrpSpPr>
        <p:grpSpPr>
          <a:xfrm>
            <a:off x="8662989" y="4891912"/>
            <a:ext cx="575166" cy="343356"/>
            <a:chOff x="3643908" y="2133600"/>
            <a:chExt cx="575166" cy="343356"/>
          </a:xfrm>
        </p:grpSpPr>
        <p:cxnSp>
          <p:nvCxnSpPr>
            <p:cNvPr id="176" name="Connecteur droit 175"/>
            <p:cNvCxnSpPr/>
            <p:nvPr/>
          </p:nvCxnSpPr>
          <p:spPr>
            <a:xfrm flipH="1">
              <a:off x="3643908" y="2133600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Connecteur droit 176"/>
            <p:cNvCxnSpPr/>
            <p:nvPr/>
          </p:nvCxnSpPr>
          <p:spPr>
            <a:xfrm flipH="1">
              <a:off x="3643908" y="2308865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Connecteur droit 177"/>
            <p:cNvCxnSpPr/>
            <p:nvPr/>
          </p:nvCxnSpPr>
          <p:spPr>
            <a:xfrm flipH="1">
              <a:off x="3643908" y="2476956"/>
              <a:ext cx="575166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9" name="Groupe 178"/>
          <p:cNvGrpSpPr/>
          <p:nvPr/>
        </p:nvGrpSpPr>
        <p:grpSpPr>
          <a:xfrm>
            <a:off x="6901068" y="4919208"/>
            <a:ext cx="1382082" cy="198755"/>
            <a:chOff x="1594404" y="4916804"/>
            <a:chExt cx="1382082" cy="198755"/>
          </a:xfrm>
        </p:grpSpPr>
        <p:grpSp>
          <p:nvGrpSpPr>
            <p:cNvPr id="180" name="Group 20"/>
            <p:cNvGrpSpPr>
              <a:grpSpLocks/>
            </p:cNvGrpSpPr>
            <p:nvPr/>
          </p:nvGrpSpPr>
          <p:grpSpPr bwMode="auto">
            <a:xfrm rot="16200000">
              <a:off x="2283952" y="4350446"/>
              <a:ext cx="2985" cy="1382082"/>
              <a:chOff x="4455" y="13170"/>
              <a:chExt cx="4" cy="1620"/>
            </a:xfrm>
          </p:grpSpPr>
          <p:cxnSp>
            <p:nvCxnSpPr>
              <p:cNvPr id="187" name="Line 30"/>
              <p:cNvCxnSpPr/>
              <p:nvPr/>
            </p:nvCxnSpPr>
            <p:spPr bwMode="auto">
              <a:xfrm rot="5400000" flipH="1" flipV="1">
                <a:off x="4189" y="14521"/>
                <a:ext cx="535" cy="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88" name="Line 31"/>
              <p:cNvCxnSpPr/>
              <p:nvPr/>
            </p:nvCxnSpPr>
            <p:spPr bwMode="auto">
              <a:xfrm rot="5400000">
                <a:off x="4165" y="13464"/>
                <a:ext cx="58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81" name="Connecteur droit 180"/>
            <p:cNvCxnSpPr/>
            <p:nvPr/>
          </p:nvCxnSpPr>
          <p:spPr>
            <a:xfrm flipV="1">
              <a:off x="2095626" y="4916804"/>
              <a:ext cx="64838" cy="1235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Connecteur droit 181"/>
            <p:cNvCxnSpPr/>
            <p:nvPr/>
          </p:nvCxnSpPr>
          <p:spPr>
            <a:xfrm>
              <a:off x="2160464" y="4916804"/>
              <a:ext cx="64839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Connecteur droit 182"/>
            <p:cNvCxnSpPr/>
            <p:nvPr/>
          </p:nvCxnSpPr>
          <p:spPr>
            <a:xfrm flipV="1">
              <a:off x="2225303" y="4916804"/>
              <a:ext cx="64838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Connecteur droit 183"/>
            <p:cNvCxnSpPr/>
            <p:nvPr/>
          </p:nvCxnSpPr>
          <p:spPr>
            <a:xfrm>
              <a:off x="2290141" y="4916804"/>
              <a:ext cx="64839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5" name="Connecteur droit 184"/>
            <p:cNvCxnSpPr/>
            <p:nvPr/>
          </p:nvCxnSpPr>
          <p:spPr>
            <a:xfrm flipV="1">
              <a:off x="2354980" y="4916804"/>
              <a:ext cx="95978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6" name="Connecteur droit 185"/>
            <p:cNvCxnSpPr/>
            <p:nvPr/>
          </p:nvCxnSpPr>
          <p:spPr>
            <a:xfrm>
              <a:off x="2450958" y="4916804"/>
              <a:ext cx="69942" cy="122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9" name="Groupe 188"/>
          <p:cNvGrpSpPr/>
          <p:nvPr/>
        </p:nvGrpSpPr>
        <p:grpSpPr>
          <a:xfrm>
            <a:off x="9552052" y="4919208"/>
            <a:ext cx="1382082" cy="198755"/>
            <a:chOff x="1594404" y="4916804"/>
            <a:chExt cx="1382082" cy="198755"/>
          </a:xfrm>
        </p:grpSpPr>
        <p:grpSp>
          <p:nvGrpSpPr>
            <p:cNvPr id="190" name="Group 20"/>
            <p:cNvGrpSpPr>
              <a:grpSpLocks/>
            </p:cNvGrpSpPr>
            <p:nvPr/>
          </p:nvGrpSpPr>
          <p:grpSpPr bwMode="auto">
            <a:xfrm rot="16200000">
              <a:off x="2283952" y="4350446"/>
              <a:ext cx="2985" cy="1382082"/>
              <a:chOff x="4455" y="13170"/>
              <a:chExt cx="4" cy="1620"/>
            </a:xfrm>
          </p:grpSpPr>
          <p:cxnSp>
            <p:nvCxnSpPr>
              <p:cNvPr id="197" name="Line 30"/>
              <p:cNvCxnSpPr/>
              <p:nvPr/>
            </p:nvCxnSpPr>
            <p:spPr bwMode="auto">
              <a:xfrm rot="5400000" flipH="1" flipV="1">
                <a:off x="4189" y="14521"/>
                <a:ext cx="535" cy="3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98" name="Line 31"/>
              <p:cNvCxnSpPr/>
              <p:nvPr/>
            </p:nvCxnSpPr>
            <p:spPr bwMode="auto">
              <a:xfrm rot="5400000">
                <a:off x="4165" y="13464"/>
                <a:ext cx="587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91" name="Connecteur droit 190"/>
            <p:cNvCxnSpPr/>
            <p:nvPr/>
          </p:nvCxnSpPr>
          <p:spPr>
            <a:xfrm flipV="1">
              <a:off x="2095626" y="4916804"/>
              <a:ext cx="64838" cy="123563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Connecteur droit 191"/>
            <p:cNvCxnSpPr/>
            <p:nvPr/>
          </p:nvCxnSpPr>
          <p:spPr>
            <a:xfrm>
              <a:off x="2160464" y="4916804"/>
              <a:ext cx="64839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Connecteur droit 192"/>
            <p:cNvCxnSpPr/>
            <p:nvPr/>
          </p:nvCxnSpPr>
          <p:spPr>
            <a:xfrm flipV="1">
              <a:off x="2225303" y="4916804"/>
              <a:ext cx="64838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Connecteur droit 193"/>
            <p:cNvCxnSpPr/>
            <p:nvPr/>
          </p:nvCxnSpPr>
          <p:spPr>
            <a:xfrm>
              <a:off x="2290141" y="4916804"/>
              <a:ext cx="64839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5" name="Connecteur droit 194"/>
            <p:cNvCxnSpPr/>
            <p:nvPr/>
          </p:nvCxnSpPr>
          <p:spPr>
            <a:xfrm flipV="1">
              <a:off x="2354980" y="4916804"/>
              <a:ext cx="95978" cy="198755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Connecteur droit 195"/>
            <p:cNvCxnSpPr/>
            <p:nvPr/>
          </p:nvCxnSpPr>
          <p:spPr>
            <a:xfrm>
              <a:off x="2450958" y="4916804"/>
              <a:ext cx="69942" cy="12227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200" name="Connecteur droit 199"/>
          <p:cNvCxnSpPr/>
          <p:nvPr/>
        </p:nvCxnSpPr>
        <p:spPr>
          <a:xfrm>
            <a:off x="6304547" y="1629410"/>
            <a:ext cx="0" cy="468170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72215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/>
          <p:cNvCxnSpPr/>
          <p:nvPr/>
        </p:nvCxnSpPr>
        <p:spPr>
          <a:xfrm>
            <a:off x="3592725" y="2412666"/>
            <a:ext cx="41476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" name="Group 1"/>
          <p:cNvGrpSpPr>
            <a:grpSpLocks/>
          </p:cNvGrpSpPr>
          <p:nvPr/>
        </p:nvGrpSpPr>
        <p:grpSpPr bwMode="auto">
          <a:xfrm>
            <a:off x="4123627" y="1923509"/>
            <a:ext cx="3889576" cy="1728148"/>
            <a:chOff x="3742" y="10103"/>
            <a:chExt cx="4152" cy="1717"/>
          </a:xfrm>
        </p:grpSpPr>
        <p:sp>
          <p:nvSpPr>
            <p:cNvPr id="53" name="Text Box 13"/>
            <p:cNvSpPr txBox="1">
              <a:spLocks noChangeArrowheads="1"/>
            </p:cNvSpPr>
            <p:nvPr/>
          </p:nvSpPr>
          <p:spPr bwMode="auto">
            <a:xfrm>
              <a:off x="6928" y="10165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AutoShape 22"/>
            <p:cNvSpPr>
              <a:spLocks noChangeShapeType="1"/>
            </p:cNvSpPr>
            <p:nvPr/>
          </p:nvSpPr>
          <p:spPr bwMode="auto">
            <a:xfrm>
              <a:off x="4373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21"/>
            <p:cNvSpPr txBox="1">
              <a:spLocks noChangeArrowheads="1"/>
            </p:cNvSpPr>
            <p:nvPr/>
          </p:nvSpPr>
          <p:spPr bwMode="auto">
            <a:xfrm>
              <a:off x="4355" y="10168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Text Box 20"/>
            <p:cNvSpPr txBox="1">
              <a:spLocks noChangeArrowheads="1"/>
            </p:cNvSpPr>
            <p:nvPr/>
          </p:nvSpPr>
          <p:spPr bwMode="auto">
            <a:xfrm>
              <a:off x="4194" y="11018"/>
              <a:ext cx="580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8" name="AutoShape 19"/>
            <p:cNvSpPr>
              <a:spLocks noChangeShapeType="1"/>
            </p:cNvSpPr>
            <p:nvPr/>
          </p:nvSpPr>
          <p:spPr bwMode="auto">
            <a:xfrm flipV="1">
              <a:off x="7137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0" name="AutoShape 16"/>
            <p:cNvSpPr>
              <a:spLocks noChangeShapeType="1"/>
            </p:cNvSpPr>
            <p:nvPr/>
          </p:nvSpPr>
          <p:spPr bwMode="auto">
            <a:xfrm rot="10800000" flipV="1">
              <a:off x="6938" y="10576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1" name="AutoShape 11"/>
            <p:cNvSpPr>
              <a:spLocks noChangeShapeType="1"/>
            </p:cNvSpPr>
            <p:nvPr/>
          </p:nvSpPr>
          <p:spPr bwMode="auto">
            <a:xfrm flipV="1">
              <a:off x="4585" y="10703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2" name="Text Box 10"/>
            <p:cNvSpPr txBox="1">
              <a:spLocks noChangeArrowheads="1"/>
            </p:cNvSpPr>
            <p:nvPr/>
          </p:nvSpPr>
          <p:spPr bwMode="auto">
            <a:xfrm>
              <a:off x="7097" y="10993"/>
              <a:ext cx="797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9"/>
            <p:cNvSpPr>
              <a:spLocks noChangeArrowheads="1"/>
            </p:cNvSpPr>
            <p:nvPr/>
          </p:nvSpPr>
          <p:spPr bwMode="auto">
            <a:xfrm>
              <a:off x="374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8"/>
            <p:cNvSpPr>
              <a:spLocks noChangeArrowheads="1"/>
            </p:cNvSpPr>
            <p:nvPr/>
          </p:nvSpPr>
          <p:spPr bwMode="auto">
            <a:xfrm>
              <a:off x="5841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5" name="AutoShape 7"/>
            <p:cNvSpPr>
              <a:spLocks noChangeShapeType="1"/>
            </p:cNvSpPr>
            <p:nvPr/>
          </p:nvSpPr>
          <p:spPr bwMode="auto">
            <a:xfrm flipV="1">
              <a:off x="5269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 rot="16200000">
              <a:off x="4973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7" name="Text Box 5"/>
            <p:cNvSpPr txBox="1">
              <a:spLocks noChangeArrowheads="1"/>
            </p:cNvSpPr>
            <p:nvPr/>
          </p:nvSpPr>
          <p:spPr bwMode="auto">
            <a:xfrm>
              <a:off x="5897" y="10103"/>
              <a:ext cx="53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8" name="Text Box 4"/>
            <p:cNvSpPr txBox="1">
              <a:spLocks noChangeArrowheads="1"/>
            </p:cNvSpPr>
            <p:nvPr/>
          </p:nvSpPr>
          <p:spPr bwMode="auto">
            <a:xfrm>
              <a:off x="4808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0" name="Connecteur droit 39"/>
          <p:cNvCxnSpPr/>
          <p:nvPr/>
        </p:nvCxnSpPr>
        <p:spPr>
          <a:xfrm>
            <a:off x="7740340" y="2412664"/>
            <a:ext cx="0" cy="1238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bject 19"/>
          <p:cNvSpPr txBox="1"/>
          <p:nvPr/>
        </p:nvSpPr>
        <p:spPr>
          <a:xfrm>
            <a:off x="1113152" y="343313"/>
            <a:ext cx="3182648" cy="259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Exercice d’application :</a:t>
            </a:r>
            <a:endParaRPr kumimoji="0" sz="1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579655" y="911481"/>
            <a:ext cx="1058952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Soit la figure suivante 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58975" y="4653894"/>
            <a:ext cx="1020502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Trouver les expressions des paramètres de la matrice impédance du quadripôle.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Déterminer le gain en tension et le gain en courant du quadripôle en fonction des composants passifs.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Exprimer les impédances d’entrée et de sortie.</a:t>
            </a:r>
          </a:p>
        </p:txBody>
      </p:sp>
      <p:sp>
        <p:nvSpPr>
          <p:cNvPr id="99" name="AutoShape 22"/>
          <p:cNvSpPr>
            <a:spLocks noChangeShapeType="1"/>
          </p:cNvSpPr>
          <p:nvPr/>
        </p:nvSpPr>
        <p:spPr bwMode="auto">
          <a:xfrm>
            <a:off x="5563835" y="2405682"/>
            <a:ext cx="311953" cy="0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Text Box 21"/>
          <p:cNvSpPr txBox="1">
            <a:spLocks noChangeArrowheads="1"/>
          </p:cNvSpPr>
          <p:nvPr/>
        </p:nvSpPr>
        <p:spPr bwMode="auto">
          <a:xfrm>
            <a:off x="5578547" y="2026170"/>
            <a:ext cx="641705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</a:t>
            </a:r>
          </a:p>
        </p:txBody>
      </p:sp>
      <p:cxnSp>
        <p:nvCxnSpPr>
          <p:cNvPr id="101" name="Connecteur droit 100"/>
          <p:cNvCxnSpPr/>
          <p:nvPr/>
        </p:nvCxnSpPr>
        <p:spPr>
          <a:xfrm>
            <a:off x="3592725" y="3651657"/>
            <a:ext cx="41476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3590593" y="2399580"/>
            <a:ext cx="0" cy="12520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Ellipse 24"/>
          <p:cNvSpPr/>
          <p:nvPr/>
        </p:nvSpPr>
        <p:spPr>
          <a:xfrm>
            <a:off x="3346787" y="2819288"/>
            <a:ext cx="494164" cy="494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102" name="Text Box 23"/>
          <p:cNvSpPr txBox="1">
            <a:spLocks noChangeArrowheads="1"/>
          </p:cNvSpPr>
          <p:nvPr/>
        </p:nvSpPr>
        <p:spPr bwMode="auto">
          <a:xfrm>
            <a:off x="3038820" y="2878220"/>
            <a:ext cx="501186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0" lang="fr-FR" alt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660131" y="2771162"/>
            <a:ext cx="204480" cy="52795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104" name="Text Box 5"/>
          <p:cNvSpPr txBox="1">
            <a:spLocks noChangeArrowheads="1"/>
          </p:cNvSpPr>
          <p:nvPr/>
        </p:nvSpPr>
        <p:spPr bwMode="auto">
          <a:xfrm>
            <a:off x="7849378" y="2862737"/>
            <a:ext cx="501186" cy="40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altLang="fr-FR" sz="1600" baseline="-30000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5" name="Text Box 5"/>
          <p:cNvSpPr txBox="1">
            <a:spLocks noChangeArrowheads="1"/>
          </p:cNvSpPr>
          <p:nvPr/>
        </p:nvSpPr>
        <p:spPr bwMode="auto">
          <a:xfrm>
            <a:off x="6486646" y="2745338"/>
            <a:ext cx="501186" cy="40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25530" y="1859994"/>
            <a:ext cx="1958296" cy="208636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ookman Old Style" panose="02050604050505020204" pitchFamily="18" charset="0"/>
            </a:endParaRPr>
          </a:p>
        </p:txBody>
      </p:sp>
      <p:sp>
        <p:nvSpPr>
          <p:cNvPr id="45" name="Text Box 23"/>
          <p:cNvSpPr txBox="1">
            <a:spLocks noChangeArrowheads="1"/>
          </p:cNvSpPr>
          <p:nvPr/>
        </p:nvSpPr>
        <p:spPr bwMode="auto">
          <a:xfrm>
            <a:off x="4201381" y="1933579"/>
            <a:ext cx="501186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Forme libre 9"/>
          <p:cNvSpPr/>
          <p:nvPr/>
        </p:nvSpPr>
        <p:spPr>
          <a:xfrm>
            <a:off x="3444242" y="2904154"/>
            <a:ext cx="289003" cy="311623"/>
          </a:xfrm>
          <a:custGeom>
            <a:avLst/>
            <a:gdLst>
              <a:gd name="connsiteX0" fmla="*/ 0 w 320040"/>
              <a:gd name="connsiteY0" fmla="*/ 213394 h 366156"/>
              <a:gd name="connsiteX1" fmla="*/ 137160 w 320040"/>
              <a:gd name="connsiteY1" fmla="*/ 34 h 366156"/>
              <a:gd name="connsiteX2" fmla="*/ 182880 w 320040"/>
              <a:gd name="connsiteY2" fmla="*/ 198154 h 366156"/>
              <a:gd name="connsiteX3" fmla="*/ 228600 w 320040"/>
              <a:gd name="connsiteY3" fmla="*/ 365794 h 366156"/>
              <a:gd name="connsiteX4" fmla="*/ 320040 w 320040"/>
              <a:gd name="connsiteY4" fmla="*/ 152434 h 36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040" h="366156">
                <a:moveTo>
                  <a:pt x="0" y="213394"/>
                </a:moveTo>
                <a:cubicBezTo>
                  <a:pt x="53340" y="107984"/>
                  <a:pt x="106680" y="2574"/>
                  <a:pt x="137160" y="34"/>
                </a:cubicBezTo>
                <a:cubicBezTo>
                  <a:pt x="167640" y="-2506"/>
                  <a:pt x="167640" y="137194"/>
                  <a:pt x="182880" y="198154"/>
                </a:cubicBezTo>
                <a:cubicBezTo>
                  <a:pt x="198120" y="259114"/>
                  <a:pt x="205740" y="373414"/>
                  <a:pt x="228600" y="365794"/>
                </a:cubicBezTo>
                <a:cubicBezTo>
                  <a:pt x="251460" y="358174"/>
                  <a:pt x="285750" y="255304"/>
                  <a:pt x="320040" y="15243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1600">
              <a:latin typeface="Bookman Old Style" panose="02050604050505020204" pitchFamily="18" charset="0"/>
            </a:endParaRPr>
          </a:p>
        </p:txBody>
      </p:sp>
      <p:grpSp>
        <p:nvGrpSpPr>
          <p:cNvPr id="46" name="Group 20"/>
          <p:cNvGrpSpPr>
            <a:grpSpLocks/>
          </p:cNvGrpSpPr>
          <p:nvPr/>
        </p:nvGrpSpPr>
        <p:grpSpPr bwMode="auto">
          <a:xfrm>
            <a:off x="6796529" y="2418608"/>
            <a:ext cx="127635" cy="1241315"/>
            <a:chOff x="4438" y="13457"/>
            <a:chExt cx="171" cy="1455"/>
          </a:xfrm>
        </p:grpSpPr>
        <p:grpSp>
          <p:nvGrpSpPr>
            <p:cNvPr id="47" name="Group 21"/>
            <p:cNvGrpSpPr>
              <a:grpSpLocks/>
            </p:cNvGrpSpPr>
            <p:nvPr/>
          </p:nvGrpSpPr>
          <p:grpSpPr bwMode="auto">
            <a:xfrm rot="5400000" flipH="1">
              <a:off x="4448" y="14122"/>
              <a:ext cx="152" cy="171"/>
              <a:chOff x="3826" y="448"/>
              <a:chExt cx="570" cy="171"/>
            </a:xfrm>
          </p:grpSpPr>
          <p:sp>
            <p:nvSpPr>
              <p:cNvPr id="58" name="Arc 22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 sz="16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59" name="Arc 23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 sz="1600">
                  <a:latin typeface="Bookman Old Style" panose="02050604050505020204" pitchFamily="18" charset="0"/>
                </a:endParaRPr>
              </a:p>
            </p:txBody>
          </p:sp>
        </p:grpSp>
        <p:grpSp>
          <p:nvGrpSpPr>
            <p:cNvPr id="48" name="Group 24"/>
            <p:cNvGrpSpPr>
              <a:grpSpLocks/>
            </p:cNvGrpSpPr>
            <p:nvPr/>
          </p:nvGrpSpPr>
          <p:grpSpPr bwMode="auto">
            <a:xfrm rot="5400000" flipH="1">
              <a:off x="4448" y="13970"/>
              <a:ext cx="152" cy="171"/>
              <a:chOff x="3826" y="448"/>
              <a:chExt cx="570" cy="171"/>
            </a:xfrm>
          </p:grpSpPr>
          <p:sp>
            <p:nvSpPr>
              <p:cNvPr id="56" name="Arc 25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 sz="16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57" name="Arc 26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 sz="1600">
                  <a:latin typeface="Bookman Old Style" panose="02050604050505020204" pitchFamily="18" charset="0"/>
                </a:endParaRPr>
              </a:p>
            </p:txBody>
          </p:sp>
        </p:grpSp>
        <p:grpSp>
          <p:nvGrpSpPr>
            <p:cNvPr id="49" name="Group 27"/>
            <p:cNvGrpSpPr>
              <a:grpSpLocks/>
            </p:cNvGrpSpPr>
            <p:nvPr/>
          </p:nvGrpSpPr>
          <p:grpSpPr bwMode="auto">
            <a:xfrm rot="5400000" flipH="1">
              <a:off x="4448" y="13818"/>
              <a:ext cx="152" cy="171"/>
              <a:chOff x="3826" y="448"/>
              <a:chExt cx="570" cy="171"/>
            </a:xfrm>
          </p:grpSpPr>
          <p:sp>
            <p:nvSpPr>
              <p:cNvPr id="54" name="Arc 28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 sz="160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55" name="Arc 29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 sz="1600">
                  <a:latin typeface="Bookman Old Style" panose="02050604050505020204" pitchFamily="18" charset="0"/>
                </a:endParaRPr>
              </a:p>
            </p:txBody>
          </p:sp>
        </p:grpSp>
        <p:cxnSp>
          <p:nvCxnSpPr>
            <p:cNvPr id="50" name="Line 30"/>
            <p:cNvCxnSpPr/>
            <p:nvPr/>
          </p:nvCxnSpPr>
          <p:spPr bwMode="auto">
            <a:xfrm flipV="1">
              <a:off x="4447" y="14282"/>
              <a:ext cx="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Line 31"/>
            <p:cNvCxnSpPr/>
            <p:nvPr/>
          </p:nvCxnSpPr>
          <p:spPr bwMode="auto">
            <a:xfrm flipH="1">
              <a:off x="4438" y="1345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49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029293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Connecteur droit 20"/>
          <p:cNvCxnSpPr/>
          <p:nvPr/>
        </p:nvCxnSpPr>
        <p:spPr>
          <a:xfrm>
            <a:off x="6795443" y="2469504"/>
            <a:ext cx="41476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2" name="Group 1"/>
          <p:cNvGrpSpPr>
            <a:grpSpLocks/>
          </p:cNvGrpSpPr>
          <p:nvPr/>
        </p:nvGrpSpPr>
        <p:grpSpPr bwMode="auto">
          <a:xfrm>
            <a:off x="7326345" y="1980347"/>
            <a:ext cx="3889576" cy="1728148"/>
            <a:chOff x="3742" y="10103"/>
            <a:chExt cx="4152" cy="1717"/>
          </a:xfrm>
        </p:grpSpPr>
        <p:sp>
          <p:nvSpPr>
            <p:cNvPr id="53" name="Text Box 13"/>
            <p:cNvSpPr txBox="1">
              <a:spLocks noChangeArrowheads="1"/>
            </p:cNvSpPr>
            <p:nvPr/>
          </p:nvSpPr>
          <p:spPr bwMode="auto">
            <a:xfrm>
              <a:off x="6926" y="10179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sz="18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2" name="AutoShape 22"/>
            <p:cNvSpPr>
              <a:spLocks noChangeShapeType="1"/>
            </p:cNvSpPr>
            <p:nvPr/>
          </p:nvSpPr>
          <p:spPr bwMode="auto">
            <a:xfrm>
              <a:off x="4373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3" name="Text Box 21"/>
            <p:cNvSpPr txBox="1">
              <a:spLocks noChangeArrowheads="1"/>
            </p:cNvSpPr>
            <p:nvPr/>
          </p:nvSpPr>
          <p:spPr bwMode="auto">
            <a:xfrm>
              <a:off x="4402" y="10230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sz="18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7" name="Text Box 20"/>
            <p:cNvSpPr txBox="1">
              <a:spLocks noChangeArrowheads="1"/>
            </p:cNvSpPr>
            <p:nvPr/>
          </p:nvSpPr>
          <p:spPr bwMode="auto">
            <a:xfrm>
              <a:off x="4194" y="11018"/>
              <a:ext cx="580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kumimoji="0" lang="fr-FR" altLang="fr-FR" sz="18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8" name="AutoShape 19"/>
            <p:cNvSpPr>
              <a:spLocks noChangeShapeType="1"/>
            </p:cNvSpPr>
            <p:nvPr/>
          </p:nvSpPr>
          <p:spPr bwMode="auto">
            <a:xfrm flipV="1">
              <a:off x="7137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0" name="AutoShape 16"/>
            <p:cNvSpPr>
              <a:spLocks noChangeShapeType="1"/>
            </p:cNvSpPr>
            <p:nvPr/>
          </p:nvSpPr>
          <p:spPr bwMode="auto">
            <a:xfrm rot="10800000" flipV="1">
              <a:off x="6938" y="10576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1" name="AutoShape 11"/>
            <p:cNvSpPr>
              <a:spLocks noChangeShapeType="1"/>
            </p:cNvSpPr>
            <p:nvPr/>
          </p:nvSpPr>
          <p:spPr bwMode="auto">
            <a:xfrm flipV="1">
              <a:off x="4585" y="10703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2" name="Text Box 10"/>
            <p:cNvSpPr txBox="1">
              <a:spLocks noChangeArrowheads="1"/>
            </p:cNvSpPr>
            <p:nvPr/>
          </p:nvSpPr>
          <p:spPr bwMode="auto">
            <a:xfrm>
              <a:off x="7097" y="10993"/>
              <a:ext cx="797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kumimoji="0" lang="fr-FR" altLang="fr-FR" sz="18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3" name="Rectangle 9"/>
            <p:cNvSpPr>
              <a:spLocks noChangeArrowheads="1"/>
            </p:cNvSpPr>
            <p:nvPr/>
          </p:nvSpPr>
          <p:spPr bwMode="auto">
            <a:xfrm>
              <a:off x="374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4" name="Rectangle 8"/>
            <p:cNvSpPr>
              <a:spLocks noChangeArrowheads="1"/>
            </p:cNvSpPr>
            <p:nvPr/>
          </p:nvSpPr>
          <p:spPr bwMode="auto">
            <a:xfrm>
              <a:off x="5841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5" name="AutoShape 7"/>
            <p:cNvSpPr>
              <a:spLocks noChangeShapeType="1"/>
            </p:cNvSpPr>
            <p:nvPr/>
          </p:nvSpPr>
          <p:spPr bwMode="auto">
            <a:xfrm flipV="1">
              <a:off x="5269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6" name="Rectangle 6"/>
            <p:cNvSpPr>
              <a:spLocks noChangeArrowheads="1"/>
            </p:cNvSpPr>
            <p:nvPr/>
          </p:nvSpPr>
          <p:spPr bwMode="auto">
            <a:xfrm rot="16200000">
              <a:off x="4973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7" name="Text Box 5"/>
            <p:cNvSpPr txBox="1">
              <a:spLocks noChangeArrowheads="1"/>
            </p:cNvSpPr>
            <p:nvPr/>
          </p:nvSpPr>
          <p:spPr bwMode="auto">
            <a:xfrm>
              <a:off x="5897" y="10103"/>
              <a:ext cx="53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8" name="Text Box 4"/>
            <p:cNvSpPr txBox="1">
              <a:spLocks noChangeArrowheads="1"/>
            </p:cNvSpPr>
            <p:nvPr/>
          </p:nvSpPr>
          <p:spPr bwMode="auto">
            <a:xfrm>
              <a:off x="4808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cxnSp>
        <p:nvCxnSpPr>
          <p:cNvPr id="40" name="Connecteur droit 39"/>
          <p:cNvCxnSpPr/>
          <p:nvPr/>
        </p:nvCxnSpPr>
        <p:spPr>
          <a:xfrm>
            <a:off x="10943058" y="2469502"/>
            <a:ext cx="0" cy="123899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object 19"/>
          <p:cNvSpPr txBox="1"/>
          <p:nvPr/>
        </p:nvSpPr>
        <p:spPr>
          <a:xfrm>
            <a:off x="1199456" y="325281"/>
            <a:ext cx="272489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508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8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Correction :</a:t>
            </a:r>
            <a:endParaRPr kumimoji="0" sz="18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533115" y="804680"/>
            <a:ext cx="51243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Trouver les expressions des paramètres impédances du quadripôle.</a:t>
            </a:r>
          </a:p>
        </p:txBody>
      </p:sp>
      <p:sp>
        <p:nvSpPr>
          <p:cNvPr id="99" name="AutoShape 22"/>
          <p:cNvSpPr>
            <a:spLocks noChangeShapeType="1"/>
          </p:cNvSpPr>
          <p:nvPr/>
        </p:nvSpPr>
        <p:spPr bwMode="auto">
          <a:xfrm>
            <a:off x="8766553" y="2462520"/>
            <a:ext cx="311953" cy="0"/>
          </a:xfrm>
          <a:prstGeom prst="straightConnector1">
            <a:avLst/>
          </a:prstGeom>
          <a:noFill/>
          <a:ln w="12700">
            <a:solidFill>
              <a:srgbClr val="00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0" name="Text Box 21"/>
          <p:cNvSpPr txBox="1">
            <a:spLocks noChangeArrowheads="1"/>
          </p:cNvSpPr>
          <p:nvPr/>
        </p:nvSpPr>
        <p:spPr bwMode="auto">
          <a:xfrm>
            <a:off x="8858356" y="2084248"/>
            <a:ext cx="641705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</a:p>
        </p:txBody>
      </p:sp>
      <p:cxnSp>
        <p:nvCxnSpPr>
          <p:cNvPr id="101" name="Connecteur droit 100"/>
          <p:cNvCxnSpPr/>
          <p:nvPr/>
        </p:nvCxnSpPr>
        <p:spPr>
          <a:xfrm>
            <a:off x="6795443" y="3708495"/>
            <a:ext cx="414761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23"/>
          <p:cNvCxnSpPr/>
          <p:nvPr/>
        </p:nvCxnSpPr>
        <p:spPr>
          <a:xfrm>
            <a:off x="6793311" y="2456418"/>
            <a:ext cx="0" cy="12520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Ellipse 24"/>
          <p:cNvSpPr/>
          <p:nvPr/>
        </p:nvSpPr>
        <p:spPr>
          <a:xfrm>
            <a:off x="6549505" y="2876126"/>
            <a:ext cx="494164" cy="494188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2" name="Text Box 23"/>
          <p:cNvSpPr txBox="1">
            <a:spLocks noChangeArrowheads="1"/>
          </p:cNvSpPr>
          <p:nvPr/>
        </p:nvSpPr>
        <p:spPr bwMode="auto">
          <a:xfrm>
            <a:off x="6241538" y="2935058"/>
            <a:ext cx="501186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kumimoji="0" lang="fr-FR" altLang="fr-FR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0862849" y="2828000"/>
            <a:ext cx="204480" cy="52795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4" name="Text Box 5"/>
          <p:cNvSpPr txBox="1">
            <a:spLocks noChangeArrowheads="1"/>
          </p:cNvSpPr>
          <p:nvPr/>
        </p:nvSpPr>
        <p:spPr bwMode="auto">
          <a:xfrm>
            <a:off x="11052096" y="2919575"/>
            <a:ext cx="501186" cy="40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altLang="fr-FR" baseline="-30000" dirty="0">
                <a:solidFill>
                  <a:prstClr val="black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0" lang="fr-FR" alt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5" name="Text Box 5"/>
          <p:cNvSpPr txBox="1">
            <a:spLocks noChangeArrowheads="1"/>
          </p:cNvSpPr>
          <p:nvPr/>
        </p:nvSpPr>
        <p:spPr bwMode="auto">
          <a:xfrm>
            <a:off x="9710483" y="2850847"/>
            <a:ext cx="501186" cy="40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altLang="fr-FR" i="1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kumimoji="0" lang="fr-FR" altLang="fr-FR" sz="18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8328248" y="1916832"/>
            <a:ext cx="1958296" cy="2086364"/>
          </a:xfrm>
          <a:prstGeom prst="rect">
            <a:avLst/>
          </a:prstGeom>
          <a:noFill/>
          <a:ln w="28575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7" name="Obje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3984658"/>
              </p:ext>
            </p:extLst>
          </p:nvPr>
        </p:nvGraphicFramePr>
        <p:xfrm>
          <a:off x="1827213" y="3235325"/>
          <a:ext cx="2425700" cy="290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4" name="Equation" r:id="rId3" imgW="1409400" imgH="1803240" progId="Equation.DSMT4">
                  <p:embed/>
                </p:oleObj>
              </mc:Choice>
              <mc:Fallback>
                <p:oleObj name="Equation" r:id="rId3" imgW="1409400" imgH="1803240" progId="Equation.DSMT4">
                  <p:embed/>
                  <p:pic>
                    <p:nvPicPr>
                      <p:cNvPr id="47" name="Obje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7213" y="3235325"/>
                        <a:ext cx="2425700" cy="29083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5623820"/>
              </p:ext>
            </p:extLst>
          </p:nvPr>
        </p:nvGraphicFramePr>
        <p:xfrm>
          <a:off x="2135560" y="1780820"/>
          <a:ext cx="2303463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55" name="Equation" r:id="rId5" imgW="1193760" imgH="533160" progId="Equation.DSMT4">
                  <p:embed/>
                </p:oleObj>
              </mc:Choice>
              <mc:Fallback>
                <p:oleObj name="Equation" r:id="rId5" imgW="1193760" imgH="533160" progId="Equation.DSMT4">
                  <p:embed/>
                  <p:pic>
                    <p:nvPicPr>
                      <p:cNvPr id="48" name="Obje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5560" y="1780820"/>
                        <a:ext cx="2303463" cy="10541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" name="Text Box 23"/>
          <p:cNvSpPr txBox="1">
            <a:spLocks noChangeArrowheads="1"/>
          </p:cNvSpPr>
          <p:nvPr/>
        </p:nvSpPr>
        <p:spPr bwMode="auto">
          <a:xfrm>
            <a:off x="7364598" y="1985488"/>
            <a:ext cx="501186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kumimoji="0" lang="fr-FR" altLang="fr-F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endParaRPr kumimoji="0" lang="fr-FR" alt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09" name="Text Box 21"/>
          <p:cNvSpPr txBox="1">
            <a:spLocks noChangeArrowheads="1"/>
          </p:cNvSpPr>
          <p:nvPr/>
        </p:nvSpPr>
        <p:spPr bwMode="auto">
          <a:xfrm>
            <a:off x="8568733" y="2026879"/>
            <a:ext cx="336189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kumimoji="0" lang="fr-FR" altLang="fr-FR" sz="1800" b="1" i="1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 Box 21"/>
          <p:cNvSpPr txBox="1">
            <a:spLocks noChangeArrowheads="1"/>
          </p:cNvSpPr>
          <p:nvPr/>
        </p:nvSpPr>
        <p:spPr bwMode="auto">
          <a:xfrm>
            <a:off x="9879188" y="2035010"/>
            <a:ext cx="336189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800" b="1" i="1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kumimoji="0" lang="fr-FR" altLang="fr-FR" sz="1800" b="1" i="1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Forme libre 111"/>
          <p:cNvSpPr/>
          <p:nvPr/>
        </p:nvSpPr>
        <p:spPr>
          <a:xfrm>
            <a:off x="6645118" y="2964725"/>
            <a:ext cx="289003" cy="311623"/>
          </a:xfrm>
          <a:custGeom>
            <a:avLst/>
            <a:gdLst>
              <a:gd name="connsiteX0" fmla="*/ 0 w 320040"/>
              <a:gd name="connsiteY0" fmla="*/ 213394 h 366156"/>
              <a:gd name="connsiteX1" fmla="*/ 137160 w 320040"/>
              <a:gd name="connsiteY1" fmla="*/ 34 h 366156"/>
              <a:gd name="connsiteX2" fmla="*/ 182880 w 320040"/>
              <a:gd name="connsiteY2" fmla="*/ 198154 h 366156"/>
              <a:gd name="connsiteX3" fmla="*/ 228600 w 320040"/>
              <a:gd name="connsiteY3" fmla="*/ 365794 h 366156"/>
              <a:gd name="connsiteX4" fmla="*/ 320040 w 320040"/>
              <a:gd name="connsiteY4" fmla="*/ 152434 h 366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0040" h="366156">
                <a:moveTo>
                  <a:pt x="0" y="213394"/>
                </a:moveTo>
                <a:cubicBezTo>
                  <a:pt x="53340" y="107984"/>
                  <a:pt x="106680" y="2574"/>
                  <a:pt x="137160" y="34"/>
                </a:cubicBezTo>
                <a:cubicBezTo>
                  <a:pt x="167640" y="-2506"/>
                  <a:pt x="167640" y="137194"/>
                  <a:pt x="182880" y="198154"/>
                </a:cubicBezTo>
                <a:cubicBezTo>
                  <a:pt x="198120" y="259114"/>
                  <a:pt x="205740" y="373414"/>
                  <a:pt x="228600" y="365794"/>
                </a:cubicBezTo>
                <a:cubicBezTo>
                  <a:pt x="251460" y="358174"/>
                  <a:pt x="285750" y="255304"/>
                  <a:pt x="320040" y="152434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11" name="Group 20"/>
          <p:cNvGrpSpPr>
            <a:grpSpLocks/>
          </p:cNvGrpSpPr>
          <p:nvPr/>
        </p:nvGrpSpPr>
        <p:grpSpPr bwMode="auto">
          <a:xfrm>
            <a:off x="10010038" y="2484493"/>
            <a:ext cx="127635" cy="1241315"/>
            <a:chOff x="4438" y="13457"/>
            <a:chExt cx="171" cy="1455"/>
          </a:xfrm>
        </p:grpSpPr>
        <p:grpSp>
          <p:nvGrpSpPr>
            <p:cNvPr id="114" name="Group 21"/>
            <p:cNvGrpSpPr>
              <a:grpSpLocks/>
            </p:cNvGrpSpPr>
            <p:nvPr/>
          </p:nvGrpSpPr>
          <p:grpSpPr bwMode="auto">
            <a:xfrm rot="5400000" flipH="1">
              <a:off x="4448" y="14122"/>
              <a:ext cx="152" cy="171"/>
              <a:chOff x="3826" y="448"/>
              <a:chExt cx="570" cy="171"/>
            </a:xfrm>
          </p:grpSpPr>
          <p:sp>
            <p:nvSpPr>
              <p:cNvPr id="123" name="Arc 22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4" name="Arc 23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15" name="Group 24"/>
            <p:cNvGrpSpPr>
              <a:grpSpLocks/>
            </p:cNvGrpSpPr>
            <p:nvPr/>
          </p:nvGrpSpPr>
          <p:grpSpPr bwMode="auto">
            <a:xfrm rot="5400000" flipH="1">
              <a:off x="4448" y="13970"/>
              <a:ext cx="152" cy="171"/>
              <a:chOff x="3826" y="448"/>
              <a:chExt cx="570" cy="171"/>
            </a:xfrm>
          </p:grpSpPr>
          <p:sp>
            <p:nvSpPr>
              <p:cNvPr id="121" name="Arc 25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2" name="Arc 26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grpSp>
          <p:nvGrpSpPr>
            <p:cNvPr id="116" name="Group 27"/>
            <p:cNvGrpSpPr>
              <a:grpSpLocks/>
            </p:cNvGrpSpPr>
            <p:nvPr/>
          </p:nvGrpSpPr>
          <p:grpSpPr bwMode="auto">
            <a:xfrm rot="5400000" flipH="1">
              <a:off x="4448" y="13818"/>
              <a:ext cx="152" cy="171"/>
              <a:chOff x="3826" y="448"/>
              <a:chExt cx="570" cy="171"/>
            </a:xfrm>
          </p:grpSpPr>
          <p:sp>
            <p:nvSpPr>
              <p:cNvPr id="119" name="Arc 28"/>
              <p:cNvSpPr>
                <a:spLocks/>
              </p:cNvSpPr>
              <p:nvPr/>
            </p:nvSpPr>
            <p:spPr bwMode="auto">
              <a:xfrm rot="5400000" flipH="1">
                <a:off x="4168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  <p:sp>
            <p:nvSpPr>
              <p:cNvPr id="120" name="Arc 29"/>
              <p:cNvSpPr>
                <a:spLocks/>
              </p:cNvSpPr>
              <p:nvPr/>
            </p:nvSpPr>
            <p:spPr bwMode="auto">
              <a:xfrm rot="-5400000">
                <a:off x="3883" y="391"/>
                <a:ext cx="171" cy="285"/>
              </a:xfrm>
              <a:custGeom>
                <a:avLst/>
                <a:gdLst>
                  <a:gd name="G0" fmla="+- 0 0 0"/>
                  <a:gd name="G1" fmla="+- 21600 0 0"/>
                  <a:gd name="G2" fmla="+- 21600 0 0"/>
                  <a:gd name="T0" fmla="*/ 0 w 21600"/>
                  <a:gd name="T1" fmla="*/ 0 h 21600"/>
                  <a:gd name="T2" fmla="*/ 21600 w 21600"/>
                  <a:gd name="T3" fmla="*/ 21600 h 21600"/>
                  <a:gd name="T4" fmla="*/ 0 w 21600"/>
                  <a:gd name="T5" fmla="*/ 2160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rot="0" vert="horz" wrap="square" lIns="91440" tIns="45720" rIns="91440" bIns="45720" anchor="t" anchorCtr="0" upright="1">
                <a:noAutofit/>
              </a:bodyPr>
              <a:lstStyle/>
              <a:p>
                <a:endParaRPr lang="fr-FR"/>
              </a:p>
            </p:txBody>
          </p:sp>
        </p:grpSp>
        <p:cxnSp>
          <p:nvCxnSpPr>
            <p:cNvPr id="117" name="Line 30"/>
            <p:cNvCxnSpPr/>
            <p:nvPr/>
          </p:nvCxnSpPr>
          <p:spPr bwMode="auto">
            <a:xfrm flipV="1">
              <a:off x="4447" y="14282"/>
              <a:ext cx="0" cy="6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8" name="Line 31"/>
            <p:cNvCxnSpPr/>
            <p:nvPr/>
          </p:nvCxnSpPr>
          <p:spPr bwMode="auto">
            <a:xfrm flipH="1">
              <a:off x="4438" y="13457"/>
              <a:ext cx="0" cy="36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oval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50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9863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02525" y="576014"/>
            <a:ext cx="51243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 startAt="2"/>
            </a:pPr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Déterminer le gain en tension et le gain en courant du quadripôle en fonction des composants passifs.</a:t>
            </a:r>
          </a:p>
        </p:txBody>
      </p:sp>
      <p:graphicFrame>
        <p:nvGraphicFramePr>
          <p:cNvPr id="48" name="Obje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7888696"/>
              </p:ext>
            </p:extLst>
          </p:nvPr>
        </p:nvGraphicFramePr>
        <p:xfrm>
          <a:off x="1504315" y="1722438"/>
          <a:ext cx="3186113" cy="202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2" name="Equation" r:id="rId3" imgW="1714320" imgH="1117440" progId="Equation.DSMT4">
                  <p:embed/>
                </p:oleObj>
              </mc:Choice>
              <mc:Fallback>
                <p:oleObj name="Equation" r:id="rId3" imgW="1714320" imgH="1117440" progId="Equation.DSMT4">
                  <p:embed/>
                  <p:pic>
                    <p:nvPicPr>
                      <p:cNvPr id="48" name="Obje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4315" y="1722438"/>
                        <a:ext cx="3186113" cy="20240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Rectangle 89"/>
          <p:cNvSpPr/>
          <p:nvPr/>
        </p:nvSpPr>
        <p:spPr>
          <a:xfrm>
            <a:off x="902525" y="4061927"/>
            <a:ext cx="51243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 algn="just">
              <a:buFont typeface="Wingdings" panose="05000000000000000000" pitchFamily="2" charset="2"/>
              <a:buChar char="q"/>
            </a:pPr>
            <a:r>
              <a:rPr lang="fr-FR" sz="1600" dirty="0">
                <a:solidFill>
                  <a:srgbClr val="FF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Gain en courant : </a:t>
            </a:r>
          </a:p>
        </p:txBody>
      </p:sp>
      <p:graphicFrame>
        <p:nvGraphicFramePr>
          <p:cNvPr id="106" name="Obje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9630319"/>
              </p:ext>
            </p:extLst>
          </p:nvPr>
        </p:nvGraphicFramePr>
        <p:xfrm>
          <a:off x="2874963" y="3932238"/>
          <a:ext cx="754062" cy="642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3" name="Equation" r:id="rId5" imgW="495000" imgH="431640" progId="Equation.DSMT4">
                  <p:embed/>
                </p:oleObj>
              </mc:Choice>
              <mc:Fallback>
                <p:oleObj name="Equation" r:id="rId5" imgW="495000" imgH="431640" progId="Equation.DSMT4">
                  <p:embed/>
                  <p:pic>
                    <p:nvPicPr>
                      <p:cNvPr id="106" name="Obje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4963" y="3932238"/>
                        <a:ext cx="754062" cy="6429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1248080" y="4594251"/>
            <a:ext cx="400782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1600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En combinant les équations (2) et (4) :</a:t>
            </a:r>
          </a:p>
        </p:txBody>
      </p:sp>
      <p:graphicFrame>
        <p:nvGraphicFramePr>
          <p:cNvPr id="107" name="Obje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962755"/>
              </p:ext>
            </p:extLst>
          </p:nvPr>
        </p:nvGraphicFramePr>
        <p:xfrm>
          <a:off x="1366450" y="5094062"/>
          <a:ext cx="531177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4" name="Equation" r:id="rId7" imgW="2857320" imgH="266400" progId="Equation.DSMT4">
                  <p:embed/>
                </p:oleObj>
              </mc:Choice>
              <mc:Fallback>
                <p:oleObj name="Equation" r:id="rId7" imgW="2857320" imgH="266400" progId="Equation.DSMT4">
                  <p:embed/>
                  <p:pic>
                    <p:nvPicPr>
                      <p:cNvPr id="107" name="Obje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6450" y="5094062"/>
                        <a:ext cx="5311775" cy="482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8" name="Objet 10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1889199"/>
              </p:ext>
            </p:extLst>
          </p:nvPr>
        </p:nvGraphicFramePr>
        <p:xfrm>
          <a:off x="1364182" y="5758207"/>
          <a:ext cx="3563937" cy="849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5" name="Equation" r:id="rId9" imgW="1917360" imgH="469800" progId="Equation.DSMT4">
                  <p:embed/>
                </p:oleObj>
              </mc:Choice>
              <mc:Fallback>
                <p:oleObj name="Equation" r:id="rId9" imgW="1917360" imgH="469800" progId="Equation.DSMT4">
                  <p:embed/>
                  <p:pic>
                    <p:nvPicPr>
                      <p:cNvPr id="108" name="Objet 1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4182" y="5758207"/>
                        <a:ext cx="3563937" cy="8493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3481348"/>
              </p:ext>
            </p:extLst>
          </p:nvPr>
        </p:nvGraphicFramePr>
        <p:xfrm>
          <a:off x="4865459" y="5790409"/>
          <a:ext cx="4556125" cy="849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6" name="Equation" r:id="rId11" imgW="2450880" imgH="469800" progId="Equation.DSMT4">
                  <p:embed/>
                </p:oleObj>
              </mc:Choice>
              <mc:Fallback>
                <p:oleObj name="Equation" r:id="rId11" imgW="2450880" imgH="469800" progId="Equation.DSMT4">
                  <p:embed/>
                  <p:pic>
                    <p:nvPicPr>
                      <p:cNvPr id="53" name="Obje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5459" y="5790409"/>
                        <a:ext cx="4556125" cy="8493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">
            <a:extLst>
              <a:ext uri="{FF2B5EF4-FFF2-40B4-BE49-F238E27FC236}">
                <a16:creationId xmlns:a16="http://schemas.microsoft.com/office/drawing/2014/main" id="{2527705B-BE50-3947-A7A9-F626BC6F932D}"/>
              </a:ext>
            </a:extLst>
          </p:cNvPr>
          <p:cNvGrpSpPr>
            <a:grpSpLocks/>
          </p:cNvGrpSpPr>
          <p:nvPr/>
        </p:nvGrpSpPr>
        <p:grpSpPr bwMode="auto">
          <a:xfrm>
            <a:off x="7402789" y="1943709"/>
            <a:ext cx="3889576" cy="1728148"/>
            <a:chOff x="3742" y="10103"/>
            <a:chExt cx="4152" cy="1717"/>
          </a:xfrm>
        </p:grpSpPr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2287A54A-E6BA-9C65-F4F9-121CB748D5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26" y="10179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AutoShape 22">
              <a:extLst>
                <a:ext uri="{FF2B5EF4-FFF2-40B4-BE49-F238E27FC236}">
                  <a16:creationId xmlns:a16="http://schemas.microsoft.com/office/drawing/2014/main" id="{F8F6B556-6648-3CF1-0C78-CAA8528D72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73" y="10589"/>
              <a:ext cx="333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 Box 21">
              <a:extLst>
                <a:ext uri="{FF2B5EF4-FFF2-40B4-BE49-F238E27FC236}">
                  <a16:creationId xmlns:a16="http://schemas.microsoft.com/office/drawing/2014/main" id="{CD5E2112-0C88-EF9C-59C3-9E4BDC60DA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2" y="10230"/>
              <a:ext cx="68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Text Box 20">
              <a:extLst>
                <a:ext uri="{FF2B5EF4-FFF2-40B4-BE49-F238E27FC236}">
                  <a16:creationId xmlns:a16="http://schemas.microsoft.com/office/drawing/2014/main" id="{8AB12B95-C098-F54E-CD49-932F31E84C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4" y="11018"/>
              <a:ext cx="580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AutoShape 19">
              <a:extLst>
                <a:ext uri="{FF2B5EF4-FFF2-40B4-BE49-F238E27FC236}">
                  <a16:creationId xmlns:a16="http://schemas.microsoft.com/office/drawing/2014/main" id="{86D7B6DF-E2FC-238A-0340-A3B2CCD50D2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37" y="10672"/>
              <a:ext cx="1" cy="1034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AutoShape 16">
              <a:extLst>
                <a:ext uri="{FF2B5EF4-FFF2-40B4-BE49-F238E27FC236}">
                  <a16:creationId xmlns:a16="http://schemas.microsoft.com/office/drawing/2014/main" id="{FCEC2517-4D0D-E1CC-DB87-4ED3AC1EC515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 flipV="1">
              <a:off x="6938" y="10576"/>
              <a:ext cx="318" cy="0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AutoShape 11">
              <a:extLst>
                <a:ext uri="{FF2B5EF4-FFF2-40B4-BE49-F238E27FC236}">
                  <a16:creationId xmlns:a16="http://schemas.microsoft.com/office/drawing/2014/main" id="{1DCEF4BB-E7B3-777C-C933-DBE27197A26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5" y="10703"/>
              <a:ext cx="1" cy="1035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Text Box 10">
              <a:extLst>
                <a:ext uri="{FF2B5EF4-FFF2-40B4-BE49-F238E27FC236}">
                  <a16:creationId xmlns:a16="http://schemas.microsoft.com/office/drawing/2014/main" id="{7B5DE28B-6605-717F-7D7B-FE2BAFDE55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7" y="10993"/>
              <a:ext cx="797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kumimoji="0" lang="fr-FR" altLang="fr-FR" sz="1600" b="0" i="1" u="none" strike="noStrike" kern="1200" cap="none" spc="0" normalizeH="0" baseline="-3000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kumimoji="0" lang="fr-FR" altLang="fr-FR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Rectangle 9">
              <a:extLst>
                <a:ext uri="{FF2B5EF4-FFF2-40B4-BE49-F238E27FC236}">
                  <a16:creationId xmlns:a16="http://schemas.microsoft.com/office/drawing/2014/main" id="{5A369BAF-C42F-2ECD-B4DF-F85486192A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2" y="10481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Rectangle 8">
              <a:extLst>
                <a:ext uri="{FF2B5EF4-FFF2-40B4-BE49-F238E27FC236}">
                  <a16:creationId xmlns:a16="http://schemas.microsoft.com/office/drawing/2014/main" id="{661874E2-CF75-0134-D848-552A8CF4B7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41" y="1048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AutoShape 7">
              <a:extLst>
                <a:ext uri="{FF2B5EF4-FFF2-40B4-BE49-F238E27FC236}">
                  <a16:creationId xmlns:a16="http://schemas.microsoft.com/office/drawing/2014/main" id="{D901B0EA-76E0-149B-CD33-7D09AC2248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69" y="10589"/>
              <a:ext cx="0" cy="1231"/>
            </a:xfrm>
            <a:prstGeom prst="straightConnector1">
              <a:avLst/>
            </a:prstGeom>
            <a:noFill/>
            <a:ln w="12700">
              <a:solidFill>
                <a:srgbClr val="000000"/>
              </a:solidFill>
              <a:round/>
              <a:headEnd type="oval" w="med" len="med"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Rectangle 6">
              <a:extLst>
                <a:ext uri="{FF2B5EF4-FFF2-40B4-BE49-F238E27FC236}">
                  <a16:creationId xmlns:a16="http://schemas.microsoft.com/office/drawing/2014/main" id="{BF0FF049-DBD5-E8DE-0BF0-5F7F5536B18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>
              <a:off x="4973" y="11032"/>
              <a:ext cx="590" cy="1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Box 5">
              <a:extLst>
                <a:ext uri="{FF2B5EF4-FFF2-40B4-BE49-F238E27FC236}">
                  <a16:creationId xmlns:a16="http://schemas.microsoft.com/office/drawing/2014/main" id="{85EABBC2-5DDD-6C72-E6B0-881CBCBFF5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7" y="10103"/>
              <a:ext cx="535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Box 4">
              <a:extLst>
                <a:ext uri="{FF2B5EF4-FFF2-40B4-BE49-F238E27FC236}">
                  <a16:creationId xmlns:a16="http://schemas.microsoft.com/office/drawing/2014/main" id="{5F27319C-BEC4-AC3F-7FD4-6035B815E2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08" y="10993"/>
              <a:ext cx="535" cy="4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altLang="fr-FR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Text Box 5">
            <a:extLst>
              <a:ext uri="{FF2B5EF4-FFF2-40B4-BE49-F238E27FC236}">
                <a16:creationId xmlns:a16="http://schemas.microsoft.com/office/drawing/2014/main" id="{ACFB3583-89C9-AEB8-0EC2-26A1F4219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28540" y="2882937"/>
            <a:ext cx="501186" cy="406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fr-FR" altLang="fr-FR" sz="1600" baseline="-30000" dirty="0">
                <a:solidFill>
                  <a:prstClr val="black"/>
                </a:solidFill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Box 23">
            <a:extLst>
              <a:ext uri="{FF2B5EF4-FFF2-40B4-BE49-F238E27FC236}">
                <a16:creationId xmlns:a16="http://schemas.microsoft.com/office/drawing/2014/main" id="{18E884D5-E0A6-DDB3-3C95-1D235EBCD6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1042" y="1948850"/>
            <a:ext cx="501186" cy="4690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altLang="fr-F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ookman Old Style" panose="020506040505050202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RL</a:t>
            </a: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fr-FR" altLang="fr-F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1" name="Groupe 90">
            <a:extLst>
              <a:ext uri="{FF2B5EF4-FFF2-40B4-BE49-F238E27FC236}">
                <a16:creationId xmlns:a16="http://schemas.microsoft.com/office/drawing/2014/main" id="{33FA569D-1F93-4BA7-C00C-62214B9D1C3C}"/>
              </a:ext>
            </a:extLst>
          </p:cNvPr>
          <p:cNvGrpSpPr/>
          <p:nvPr/>
        </p:nvGrpSpPr>
        <p:grpSpPr>
          <a:xfrm>
            <a:off x="6328465" y="1880194"/>
            <a:ext cx="4815308" cy="2086364"/>
            <a:chOff x="6328465" y="1880194"/>
            <a:chExt cx="4815308" cy="2086364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E7A60BF-D31B-42F2-2D23-A8AAB4C8D18D}"/>
                </a:ext>
              </a:extLst>
            </p:cNvPr>
            <p:cNvSpPr/>
            <p:nvPr/>
          </p:nvSpPr>
          <p:spPr>
            <a:xfrm>
              <a:off x="8404692" y="1880194"/>
              <a:ext cx="1958296" cy="2086364"/>
            </a:xfrm>
            <a:prstGeom prst="rect">
              <a:avLst/>
            </a:prstGeom>
            <a:noFill/>
            <a:ln w="28575"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fr-FR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ookman Old Style" panose="02050604050505020204" pitchFamily="18" charset="0"/>
              </a:endParaRPr>
            </a:p>
          </p:txBody>
        </p:sp>
        <p:grpSp>
          <p:nvGrpSpPr>
            <p:cNvPr id="80" name="Groupe 79">
              <a:extLst>
                <a:ext uri="{FF2B5EF4-FFF2-40B4-BE49-F238E27FC236}">
                  <a16:creationId xmlns:a16="http://schemas.microsoft.com/office/drawing/2014/main" id="{240C7159-185D-FA4E-F86F-72E1286CAF9E}"/>
                </a:ext>
              </a:extLst>
            </p:cNvPr>
            <p:cNvGrpSpPr/>
            <p:nvPr/>
          </p:nvGrpSpPr>
          <p:grpSpPr>
            <a:xfrm>
              <a:off x="6328465" y="1990241"/>
              <a:ext cx="4815308" cy="1698929"/>
              <a:chOff x="6328465" y="1990241"/>
              <a:chExt cx="4815308" cy="1698929"/>
            </a:xfrm>
          </p:grpSpPr>
          <p:cxnSp>
            <p:nvCxnSpPr>
              <p:cNvPr id="9" name="Connecteur droit 8">
                <a:extLst>
                  <a:ext uri="{FF2B5EF4-FFF2-40B4-BE49-F238E27FC236}">
                    <a16:creationId xmlns:a16="http://schemas.microsoft.com/office/drawing/2014/main" id="{531BD941-92DC-4279-9054-BF8407A93D39}"/>
                  </a:ext>
                </a:extLst>
              </p:cNvPr>
              <p:cNvCxnSpPr/>
              <p:nvPr/>
            </p:nvCxnSpPr>
            <p:spPr>
              <a:xfrm>
                <a:off x="6871887" y="2432866"/>
                <a:ext cx="414761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Connecteur droit 26">
                <a:extLst>
                  <a:ext uri="{FF2B5EF4-FFF2-40B4-BE49-F238E27FC236}">
                    <a16:creationId xmlns:a16="http://schemas.microsoft.com/office/drawing/2014/main" id="{ED23D156-BEDE-8884-BCEA-BE2B6A5EF0A3}"/>
                  </a:ext>
                </a:extLst>
              </p:cNvPr>
              <p:cNvCxnSpPr/>
              <p:nvPr/>
            </p:nvCxnSpPr>
            <p:spPr>
              <a:xfrm>
                <a:off x="11019502" y="2432864"/>
                <a:ext cx="0" cy="1238992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" name="AutoShape 22">
                <a:extLst>
                  <a:ext uri="{FF2B5EF4-FFF2-40B4-BE49-F238E27FC236}">
                    <a16:creationId xmlns:a16="http://schemas.microsoft.com/office/drawing/2014/main" id="{58CC9069-1433-AA40-677C-4CC5A76087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842997" y="2425882"/>
                <a:ext cx="311953" cy="0"/>
              </a:xfrm>
              <a:prstGeom prst="straightConnector1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stealth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9" name="Text Box 21">
                <a:extLst>
                  <a:ext uri="{FF2B5EF4-FFF2-40B4-BE49-F238E27FC236}">
                    <a16:creationId xmlns:a16="http://schemas.microsoft.com/office/drawing/2014/main" id="{68C2EB36-B4D8-9AD5-D189-B6E7F8880E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934800" y="2047610"/>
                <a:ext cx="641705" cy="4690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altLang="fr-FR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i</a:t>
                </a:r>
              </a:p>
            </p:txBody>
          </p:sp>
          <p:cxnSp>
            <p:nvCxnSpPr>
              <p:cNvPr id="30" name="Connecteur droit 29">
                <a:extLst>
                  <a:ext uri="{FF2B5EF4-FFF2-40B4-BE49-F238E27FC236}">
                    <a16:creationId xmlns:a16="http://schemas.microsoft.com/office/drawing/2014/main" id="{EF8B73DA-557F-A4AE-B0F0-AC7CD3F765FF}"/>
                  </a:ext>
                </a:extLst>
              </p:cNvPr>
              <p:cNvCxnSpPr/>
              <p:nvPr/>
            </p:nvCxnSpPr>
            <p:spPr>
              <a:xfrm>
                <a:off x="6871887" y="3671857"/>
                <a:ext cx="4147615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1" name="Connecteur droit 30">
                <a:extLst>
                  <a:ext uri="{FF2B5EF4-FFF2-40B4-BE49-F238E27FC236}">
                    <a16:creationId xmlns:a16="http://schemas.microsoft.com/office/drawing/2014/main" id="{B70DA704-E50B-709F-9780-5A228AA06670}"/>
                  </a:ext>
                </a:extLst>
              </p:cNvPr>
              <p:cNvCxnSpPr/>
              <p:nvPr/>
            </p:nvCxnSpPr>
            <p:spPr>
              <a:xfrm>
                <a:off x="6869755" y="2419780"/>
                <a:ext cx="0" cy="125207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2" name="Ellipse 31">
                <a:extLst>
                  <a:ext uri="{FF2B5EF4-FFF2-40B4-BE49-F238E27FC236}">
                    <a16:creationId xmlns:a16="http://schemas.microsoft.com/office/drawing/2014/main" id="{EE3E00AB-3152-0300-1496-4FC8C3F34E58}"/>
                  </a:ext>
                </a:extLst>
              </p:cNvPr>
              <p:cNvSpPr/>
              <p:nvPr/>
            </p:nvSpPr>
            <p:spPr>
              <a:xfrm>
                <a:off x="6625949" y="2839488"/>
                <a:ext cx="494164" cy="494188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5DE0D27A-32A8-72DE-ADD4-8D76AA386BB4}"/>
                  </a:ext>
                </a:extLst>
              </p:cNvPr>
              <p:cNvSpPr/>
              <p:nvPr/>
            </p:nvSpPr>
            <p:spPr>
              <a:xfrm>
                <a:off x="10939293" y="2791362"/>
                <a:ext cx="204480" cy="527958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35" name="Text Box 5">
                <a:extLst>
                  <a:ext uri="{FF2B5EF4-FFF2-40B4-BE49-F238E27FC236}">
                    <a16:creationId xmlns:a16="http://schemas.microsoft.com/office/drawing/2014/main" id="{8FB3A3E7-D9B8-B5F1-37AB-5CC005CF12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786927" y="2814209"/>
                <a:ext cx="501186" cy="4066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fr-FR" altLang="fr-FR" sz="1600" i="1" dirty="0">
                    <a:solidFill>
                      <a:prstClr val="black"/>
                    </a:solidFill>
                    <a:latin typeface="Bookman Old Style" panose="02050604050505020204" pitchFamily="18" charset="0"/>
                    <a:cs typeface="Times New Roman" panose="02020603050405020304" pitchFamily="18" charset="0"/>
                  </a:rPr>
                  <a:t>L</a:t>
                </a:r>
                <a:endPara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Text Box 21">
                <a:extLst>
                  <a:ext uri="{FF2B5EF4-FFF2-40B4-BE49-F238E27FC236}">
                    <a16:creationId xmlns:a16="http://schemas.microsoft.com/office/drawing/2014/main" id="{3380DD2F-270A-D051-800C-1F41EF5C2A8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645177" y="1990241"/>
                <a:ext cx="336189" cy="4690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altLang="fr-FR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endParaRPr kumimoji="0" lang="fr-FR" altLang="fr-FR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9" name="Text Box 21">
                <a:extLst>
                  <a:ext uri="{FF2B5EF4-FFF2-40B4-BE49-F238E27FC236}">
                    <a16:creationId xmlns:a16="http://schemas.microsoft.com/office/drawing/2014/main" id="{78D7F843-11DE-4415-426B-77F567E6ADC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955632" y="1998372"/>
                <a:ext cx="336189" cy="4690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altLang="fr-FR" sz="1600" b="1" i="1" u="none" strike="noStrike" kern="1200" cap="none" spc="0" normalizeH="0" baseline="0" noProof="0" dirty="0">
                    <a:ln>
                      <a:noFill/>
                    </a:ln>
                    <a:solidFill>
                      <a:srgbClr val="00B0F0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endParaRPr kumimoji="0" lang="fr-FR" altLang="fr-FR" sz="1600" b="1" i="1" u="none" strike="noStrike" kern="1200" cap="none" spc="0" normalizeH="0" baseline="0" noProof="0" dirty="0">
                  <a:ln>
                    <a:noFill/>
                  </a:ln>
                  <a:solidFill>
                    <a:srgbClr val="00B0F0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0" name="Forme libre 111">
                <a:extLst>
                  <a:ext uri="{FF2B5EF4-FFF2-40B4-BE49-F238E27FC236}">
                    <a16:creationId xmlns:a16="http://schemas.microsoft.com/office/drawing/2014/main" id="{E1253769-E2C0-FB03-7DBD-0894B0A347C0}"/>
                  </a:ext>
                </a:extLst>
              </p:cNvPr>
              <p:cNvSpPr/>
              <p:nvPr/>
            </p:nvSpPr>
            <p:spPr>
              <a:xfrm>
                <a:off x="6721562" y="2928087"/>
                <a:ext cx="289003" cy="311623"/>
              </a:xfrm>
              <a:custGeom>
                <a:avLst/>
                <a:gdLst>
                  <a:gd name="connsiteX0" fmla="*/ 0 w 320040"/>
                  <a:gd name="connsiteY0" fmla="*/ 213394 h 366156"/>
                  <a:gd name="connsiteX1" fmla="*/ 137160 w 320040"/>
                  <a:gd name="connsiteY1" fmla="*/ 34 h 366156"/>
                  <a:gd name="connsiteX2" fmla="*/ 182880 w 320040"/>
                  <a:gd name="connsiteY2" fmla="*/ 198154 h 366156"/>
                  <a:gd name="connsiteX3" fmla="*/ 228600 w 320040"/>
                  <a:gd name="connsiteY3" fmla="*/ 365794 h 366156"/>
                  <a:gd name="connsiteX4" fmla="*/ 320040 w 320040"/>
                  <a:gd name="connsiteY4" fmla="*/ 152434 h 3661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0040" h="366156">
                    <a:moveTo>
                      <a:pt x="0" y="213394"/>
                    </a:moveTo>
                    <a:cubicBezTo>
                      <a:pt x="53340" y="107984"/>
                      <a:pt x="106680" y="2574"/>
                      <a:pt x="137160" y="34"/>
                    </a:cubicBezTo>
                    <a:cubicBezTo>
                      <a:pt x="167640" y="-2506"/>
                      <a:pt x="167640" y="137194"/>
                      <a:pt x="182880" y="198154"/>
                    </a:cubicBezTo>
                    <a:cubicBezTo>
                      <a:pt x="198120" y="259114"/>
                      <a:pt x="205740" y="373414"/>
                      <a:pt x="228600" y="365794"/>
                    </a:cubicBezTo>
                    <a:cubicBezTo>
                      <a:pt x="251460" y="358174"/>
                      <a:pt x="285750" y="255304"/>
                      <a:pt x="320040" y="152434"/>
                    </a:cubicBezTo>
                  </a:path>
                </a:pathLst>
              </a:cu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fr-FR" sz="1600">
                  <a:latin typeface="Bookman Old Style" panose="02050604050505020204" pitchFamily="18" charset="0"/>
                </a:endParaRPr>
              </a:p>
            </p:txBody>
          </p:sp>
          <p:grpSp>
            <p:nvGrpSpPr>
              <p:cNvPr id="41" name="Group 20">
                <a:extLst>
                  <a:ext uri="{FF2B5EF4-FFF2-40B4-BE49-F238E27FC236}">
                    <a16:creationId xmlns:a16="http://schemas.microsoft.com/office/drawing/2014/main" id="{E4E253A4-2F42-521F-D8C3-189AEBEF74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86482" y="2447855"/>
                <a:ext cx="127635" cy="1241315"/>
                <a:chOff x="4438" y="13457"/>
                <a:chExt cx="171" cy="1455"/>
              </a:xfrm>
            </p:grpSpPr>
            <p:grpSp>
              <p:nvGrpSpPr>
                <p:cNvPr id="42" name="Group 21">
                  <a:extLst>
                    <a:ext uri="{FF2B5EF4-FFF2-40B4-BE49-F238E27FC236}">
                      <a16:creationId xmlns:a16="http://schemas.microsoft.com/office/drawing/2014/main" id="{09740096-CB4B-69D8-10D7-9D4981CD1D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5400000" flipH="1">
                  <a:off x="4448" y="14122"/>
                  <a:ext cx="152" cy="171"/>
                  <a:chOff x="3826" y="448"/>
                  <a:chExt cx="570" cy="171"/>
                </a:xfrm>
              </p:grpSpPr>
              <p:sp>
                <p:nvSpPr>
                  <p:cNvPr id="77" name="Arc 22">
                    <a:extLst>
                      <a:ext uri="{FF2B5EF4-FFF2-40B4-BE49-F238E27FC236}">
                        <a16:creationId xmlns:a16="http://schemas.microsoft.com/office/drawing/2014/main" id="{AD2393E1-13B5-E127-E1EB-21C5FCDAF0C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5400000" flipH="1">
                    <a:off x="4168" y="391"/>
                    <a:ext cx="171" cy="285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78" name="Arc 23">
                    <a:extLst>
                      <a:ext uri="{FF2B5EF4-FFF2-40B4-BE49-F238E27FC236}">
                        <a16:creationId xmlns:a16="http://schemas.microsoft.com/office/drawing/2014/main" id="{EC381765-C90F-D027-C7FD-92AEDA7FEAD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5400000">
                    <a:off x="3883" y="391"/>
                    <a:ext cx="171" cy="285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</p:grpSp>
            <p:grpSp>
              <p:nvGrpSpPr>
                <p:cNvPr id="43" name="Group 24">
                  <a:extLst>
                    <a:ext uri="{FF2B5EF4-FFF2-40B4-BE49-F238E27FC236}">
                      <a16:creationId xmlns:a16="http://schemas.microsoft.com/office/drawing/2014/main" id="{DB6B61E0-F19E-6C18-264D-46777C66F1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5400000" flipH="1">
                  <a:off x="4448" y="13970"/>
                  <a:ext cx="152" cy="171"/>
                  <a:chOff x="3826" y="448"/>
                  <a:chExt cx="570" cy="171"/>
                </a:xfrm>
              </p:grpSpPr>
              <p:sp>
                <p:nvSpPr>
                  <p:cNvPr id="72" name="Arc 25">
                    <a:extLst>
                      <a:ext uri="{FF2B5EF4-FFF2-40B4-BE49-F238E27FC236}">
                        <a16:creationId xmlns:a16="http://schemas.microsoft.com/office/drawing/2014/main" id="{9EFED88F-A3EE-A036-F558-6DE930C69B1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5400000" flipH="1">
                    <a:off x="4168" y="391"/>
                    <a:ext cx="171" cy="285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73" name="Arc 26">
                    <a:extLst>
                      <a:ext uri="{FF2B5EF4-FFF2-40B4-BE49-F238E27FC236}">
                        <a16:creationId xmlns:a16="http://schemas.microsoft.com/office/drawing/2014/main" id="{9DB94D5B-5605-B99A-E373-772524857D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5400000">
                    <a:off x="3883" y="391"/>
                    <a:ext cx="171" cy="285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</p:grpSp>
            <p:grpSp>
              <p:nvGrpSpPr>
                <p:cNvPr id="44" name="Group 27">
                  <a:extLst>
                    <a:ext uri="{FF2B5EF4-FFF2-40B4-BE49-F238E27FC236}">
                      <a16:creationId xmlns:a16="http://schemas.microsoft.com/office/drawing/2014/main" id="{AF3F1BE2-747E-85C8-3115-E0B6CFDE324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rot="5400000" flipH="1">
                  <a:off x="4448" y="13818"/>
                  <a:ext cx="152" cy="171"/>
                  <a:chOff x="3826" y="448"/>
                  <a:chExt cx="570" cy="171"/>
                </a:xfrm>
              </p:grpSpPr>
              <p:sp>
                <p:nvSpPr>
                  <p:cNvPr id="47" name="Arc 28">
                    <a:extLst>
                      <a:ext uri="{FF2B5EF4-FFF2-40B4-BE49-F238E27FC236}">
                        <a16:creationId xmlns:a16="http://schemas.microsoft.com/office/drawing/2014/main" id="{32BBC706-FDA4-F8CF-F5BA-8C20589DCD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5400000" flipH="1">
                    <a:off x="4168" y="391"/>
                    <a:ext cx="171" cy="285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  <p:sp>
                <p:nvSpPr>
                  <p:cNvPr id="67" name="Arc 29">
                    <a:extLst>
                      <a:ext uri="{FF2B5EF4-FFF2-40B4-BE49-F238E27FC236}">
                        <a16:creationId xmlns:a16="http://schemas.microsoft.com/office/drawing/2014/main" id="{17709B13-7EF3-B280-D39D-9B24355398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 rot="-5400000">
                    <a:off x="3883" y="391"/>
                    <a:ext cx="171" cy="285"/>
                  </a:xfrm>
                  <a:custGeom>
                    <a:avLst/>
                    <a:gdLst>
                      <a:gd name="G0" fmla="+- 0 0 0"/>
                      <a:gd name="G1" fmla="+- 21600 0 0"/>
                      <a:gd name="G2" fmla="+- 21600 0 0"/>
                      <a:gd name="T0" fmla="*/ 0 w 21600"/>
                      <a:gd name="T1" fmla="*/ 0 h 21600"/>
                      <a:gd name="T2" fmla="*/ 21600 w 21600"/>
                      <a:gd name="T3" fmla="*/ 21600 h 21600"/>
                      <a:gd name="T4" fmla="*/ 0 w 21600"/>
                      <a:gd name="T5" fmla="*/ 2160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1600" h="21600" fill="none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</a:path>
                      <a:path w="21600" h="21600" stroke="0" extrusionOk="0">
                        <a:moveTo>
                          <a:pt x="-1" y="0"/>
                        </a:moveTo>
                        <a:cubicBezTo>
                          <a:pt x="11929" y="0"/>
                          <a:pt x="21600" y="9670"/>
                          <a:pt x="21600" y="21600"/>
                        </a:cubicBezTo>
                        <a:lnTo>
                          <a:pt x="0" y="21600"/>
                        </a:lnTo>
                        <a:close/>
                      </a:path>
                    </a:pathLst>
                  </a:cu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rot="0" vert="horz" wrap="square" lIns="91440" tIns="45720" rIns="91440" bIns="45720" anchor="t" anchorCtr="0" upright="1">
                    <a:noAutofit/>
                  </a:bodyPr>
                  <a:lstStyle/>
                  <a:p>
                    <a:endParaRPr lang="fr-FR" sz="1600">
                      <a:latin typeface="Bookman Old Style" panose="02050604050505020204" pitchFamily="18" charset="0"/>
                    </a:endParaRPr>
                  </a:p>
                </p:txBody>
              </p:sp>
            </p:grpSp>
            <p:cxnSp>
              <p:nvCxnSpPr>
                <p:cNvPr id="45" name="Line 30">
                  <a:extLst>
                    <a:ext uri="{FF2B5EF4-FFF2-40B4-BE49-F238E27FC236}">
                      <a16:creationId xmlns:a16="http://schemas.microsoft.com/office/drawing/2014/main" id="{5D36197A-CA0D-E6DB-338D-D540A7CA35A7}"/>
                    </a:ext>
                  </a:extLst>
                </p:cNvPr>
                <p:cNvCxnSpPr/>
                <p:nvPr/>
              </p:nvCxnSpPr>
              <p:spPr bwMode="auto">
                <a:xfrm flipV="1">
                  <a:off x="4447" y="14282"/>
                  <a:ext cx="0" cy="63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oval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46" name="Line 31">
                  <a:extLst>
                    <a:ext uri="{FF2B5EF4-FFF2-40B4-BE49-F238E27FC236}">
                      <a16:creationId xmlns:a16="http://schemas.microsoft.com/office/drawing/2014/main" id="{8C0297AF-4ED5-E65F-11EF-B6FC5683CFE4}"/>
                    </a:ext>
                  </a:extLst>
                </p:cNvPr>
                <p:cNvCxnSpPr/>
                <p:nvPr/>
              </p:nvCxnSpPr>
              <p:spPr bwMode="auto">
                <a:xfrm flipH="1">
                  <a:off x="4438" y="13457"/>
                  <a:ext cx="0" cy="360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 type="oval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sp>
            <p:nvSpPr>
              <p:cNvPr id="79" name="Text Box 23">
                <a:extLst>
                  <a:ext uri="{FF2B5EF4-FFF2-40B4-BE49-F238E27FC236}">
                    <a16:creationId xmlns:a16="http://schemas.microsoft.com/office/drawing/2014/main" id="{256F7B7D-8859-6E75-C05A-5736E7E0D5A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328465" y="2893619"/>
                <a:ext cx="501186" cy="46902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fr-FR" altLang="fr-FR" sz="1600" b="0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Bookman Old Style" panose="020506040505050202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</a:t>
                </a:r>
                <a:endPara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fr-FR" altLang="fr-FR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Bookman Old Style" panose="020506040505050202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51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23875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/>
      <p:bldP spid="10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/>
          <p:cNvSpPr/>
          <p:nvPr/>
        </p:nvSpPr>
        <p:spPr>
          <a:xfrm>
            <a:off x="902765" y="325158"/>
            <a:ext cx="512436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Gain en tension : </a:t>
            </a:r>
          </a:p>
        </p:txBody>
      </p:sp>
      <p:graphicFrame>
        <p:nvGraphicFramePr>
          <p:cNvPr id="106" name="Objet 10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293031"/>
              </p:ext>
            </p:extLst>
          </p:nvPr>
        </p:nvGraphicFramePr>
        <p:xfrm>
          <a:off x="3468160" y="188355"/>
          <a:ext cx="830263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0" name="Equation" r:id="rId3" imgW="545760" imgH="431640" progId="Equation.DSMT4">
                  <p:embed/>
                </p:oleObj>
              </mc:Choice>
              <mc:Fallback>
                <p:oleObj name="Equation" r:id="rId3" imgW="545760" imgH="431640" progId="Equation.DSMT4">
                  <p:embed/>
                  <p:pic>
                    <p:nvPicPr>
                      <p:cNvPr id="106" name="Obje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8160" y="188355"/>
                        <a:ext cx="830263" cy="64293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Obje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34993"/>
              </p:ext>
            </p:extLst>
          </p:nvPr>
        </p:nvGraphicFramePr>
        <p:xfrm>
          <a:off x="1629093" y="984204"/>
          <a:ext cx="261937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1" name="Equation" r:id="rId5" imgW="1409400" imgH="457200" progId="Equation.DSMT4">
                  <p:embed/>
                </p:oleObj>
              </mc:Choice>
              <mc:Fallback>
                <p:oleObj name="Equation" r:id="rId5" imgW="1409400" imgH="457200" progId="Equation.DSMT4">
                  <p:embed/>
                  <p:pic>
                    <p:nvPicPr>
                      <p:cNvPr id="107" name="Obje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9093" y="984204"/>
                        <a:ext cx="2619375" cy="828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t 5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3109245"/>
              </p:ext>
            </p:extLst>
          </p:nvPr>
        </p:nvGraphicFramePr>
        <p:xfrm>
          <a:off x="1611609" y="1846930"/>
          <a:ext cx="6253163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2" name="Equation" r:id="rId7" imgW="3365280" imgH="457200" progId="Equation.DSMT4">
                  <p:embed/>
                </p:oleObj>
              </mc:Choice>
              <mc:Fallback>
                <p:oleObj name="Equation" r:id="rId7" imgW="3365280" imgH="457200" progId="Equation.DSMT4">
                  <p:embed/>
                  <p:pic>
                    <p:nvPicPr>
                      <p:cNvPr id="52" name="Obje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609" y="1846930"/>
                        <a:ext cx="6253163" cy="828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" name="Objet 5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337755"/>
              </p:ext>
            </p:extLst>
          </p:nvPr>
        </p:nvGraphicFramePr>
        <p:xfrm>
          <a:off x="1482699" y="2886010"/>
          <a:ext cx="9085262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3" name="Equation" r:id="rId9" imgW="4889160" imgH="482400" progId="Equation.DSMT4">
                  <p:embed/>
                </p:oleObj>
              </mc:Choice>
              <mc:Fallback>
                <p:oleObj name="Equation" r:id="rId9" imgW="4889160" imgH="482400" progId="Equation.DSMT4">
                  <p:embed/>
                  <p:pic>
                    <p:nvPicPr>
                      <p:cNvPr id="53" name="Obje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2699" y="2886010"/>
                        <a:ext cx="9085262" cy="8747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Objet 6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0314149"/>
              </p:ext>
            </p:extLst>
          </p:nvPr>
        </p:nvGraphicFramePr>
        <p:xfrm>
          <a:off x="1611609" y="4039411"/>
          <a:ext cx="36576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4" name="Equation" r:id="rId11" imgW="1968480" imgH="482400" progId="Equation.DSMT4">
                  <p:embed/>
                </p:oleObj>
              </mc:Choice>
              <mc:Fallback>
                <p:oleObj name="Equation" r:id="rId11" imgW="1968480" imgH="482400" progId="Equation.DSMT4">
                  <p:embed/>
                  <p:pic>
                    <p:nvPicPr>
                      <p:cNvPr id="67" name="Objet 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1609" y="4039411"/>
                        <a:ext cx="3657600" cy="8747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/>
          <p:nvPr/>
        </p:nvSpPr>
        <p:spPr>
          <a:xfrm>
            <a:off x="875461" y="5428166"/>
            <a:ext cx="1492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>
                <a:latin typeface="Bookman Old Style" panose="02050604050505020204" pitchFamily="18" charset="0"/>
                <a:cs typeface="Times New Roman" panose="02020603050405020304" pitchFamily="18" charset="0"/>
              </a:rPr>
              <a:t>En posant :</a:t>
            </a:r>
            <a:endParaRPr lang="fr-FR" sz="1200" dirty="0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2" name="Objet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618909"/>
              </p:ext>
            </p:extLst>
          </p:nvPr>
        </p:nvGraphicFramePr>
        <p:xfrm>
          <a:off x="2315909" y="5434326"/>
          <a:ext cx="2147887" cy="414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5" name="Equation" r:id="rId13" imgW="1155600" imgH="228600" progId="Equation.DSMT4">
                  <p:embed/>
                </p:oleObj>
              </mc:Choice>
              <mc:Fallback>
                <p:oleObj name="Equation" r:id="rId13" imgW="1155600" imgH="228600" progId="Equation.DSMT4">
                  <p:embed/>
                  <p:pic>
                    <p:nvPicPr>
                      <p:cNvPr id="72" name="Obje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15909" y="5434326"/>
                        <a:ext cx="2147887" cy="4143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Objet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5174087"/>
              </p:ext>
            </p:extLst>
          </p:nvPr>
        </p:nvGraphicFramePr>
        <p:xfrm>
          <a:off x="4603036" y="5243217"/>
          <a:ext cx="2879725" cy="828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6" name="Equation" r:id="rId15" imgW="1549080" imgH="457200" progId="Equation.DSMT4">
                  <p:embed/>
                </p:oleObj>
              </mc:Choice>
              <mc:Fallback>
                <p:oleObj name="Equation" r:id="rId15" imgW="1549080" imgH="457200" progId="Equation.DSMT4">
                  <p:embed/>
                  <p:pic>
                    <p:nvPicPr>
                      <p:cNvPr id="73" name="Obje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3036" y="5243217"/>
                        <a:ext cx="2879725" cy="8286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0613934"/>
              </p:ext>
            </p:extLst>
          </p:nvPr>
        </p:nvGraphicFramePr>
        <p:xfrm>
          <a:off x="7622001" y="5243217"/>
          <a:ext cx="3917950" cy="852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977" name="Equation" r:id="rId17" imgW="2108160" imgH="469800" progId="Equation.DSMT4">
                  <p:embed/>
                </p:oleObj>
              </mc:Choice>
              <mc:Fallback>
                <p:oleObj name="Equation" r:id="rId17" imgW="2108160" imgH="469800" progId="Equation.DSMT4">
                  <p:embed/>
                  <p:pic>
                    <p:nvPicPr>
                      <p:cNvPr id="18" name="Obje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2001" y="5243217"/>
                        <a:ext cx="3917950" cy="85248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52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57475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/>
          <p:cNvSpPr/>
          <p:nvPr/>
        </p:nvSpPr>
        <p:spPr>
          <a:xfrm>
            <a:off x="1222915" y="914786"/>
            <a:ext cx="51243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Impédance d’entrée : </a:t>
            </a:r>
          </a:p>
        </p:txBody>
      </p:sp>
      <p:graphicFrame>
        <p:nvGraphicFramePr>
          <p:cNvPr id="107" name="Objet 10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65413659"/>
              </p:ext>
            </p:extLst>
          </p:nvPr>
        </p:nvGraphicFramePr>
        <p:xfrm>
          <a:off x="1412875" y="1499809"/>
          <a:ext cx="4813300" cy="7207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2" name="Equation" r:id="rId3" imgW="2590560" imgH="444240" progId="Equation.DSMT4">
                  <p:embed/>
                </p:oleObj>
              </mc:Choice>
              <mc:Fallback>
                <p:oleObj name="Equation" r:id="rId3" imgW="2590560" imgH="444240" progId="Equation.DSMT4">
                  <p:embed/>
                  <p:pic>
                    <p:nvPicPr>
                      <p:cNvPr id="107" name="Obje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12875" y="1499809"/>
                        <a:ext cx="4813300" cy="7207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9963397"/>
              </p:ext>
            </p:extLst>
          </p:nvPr>
        </p:nvGraphicFramePr>
        <p:xfrm>
          <a:off x="3932238" y="810723"/>
          <a:ext cx="882650" cy="68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3" name="Equation" r:id="rId5" imgW="672840" imgH="482400" progId="Equation.DSMT4">
                  <p:embed/>
                </p:oleObj>
              </mc:Choice>
              <mc:Fallback>
                <p:oleObj name="Equation" r:id="rId5" imgW="672840" imgH="482400" progId="Equation.DSMT4">
                  <p:embed/>
                  <p:pic>
                    <p:nvPicPr>
                      <p:cNvPr id="19" name="Obje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2238" y="810723"/>
                        <a:ext cx="882650" cy="6873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/>
          <p:cNvSpPr/>
          <p:nvPr/>
        </p:nvSpPr>
        <p:spPr>
          <a:xfrm>
            <a:off x="850015" y="329763"/>
            <a:ext cx="1020245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 startAt="3"/>
              <a:defRPr/>
            </a:pPr>
            <a:r>
              <a:rPr lang="fr-FR" sz="1600" dirty="0">
                <a:solidFill>
                  <a:prstClr val="black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Exprimer les impédances d’entrée et de sortie en fonction des paramètres de la matrice impédance [Z].</a:t>
            </a:r>
          </a:p>
        </p:txBody>
      </p:sp>
      <p:graphicFrame>
        <p:nvGraphicFramePr>
          <p:cNvPr id="21" name="Obje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2049478"/>
              </p:ext>
            </p:extLst>
          </p:nvPr>
        </p:nvGraphicFramePr>
        <p:xfrm>
          <a:off x="1257161" y="2323265"/>
          <a:ext cx="6574472" cy="805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4" name="Equation" r:id="rId7" imgW="3720960" imgH="507960" progId="Equation.DSMT4">
                  <p:embed/>
                </p:oleObj>
              </mc:Choice>
              <mc:Fallback>
                <p:oleObj name="Equation" r:id="rId7" imgW="3720960" imgH="507960" progId="Equation.DSMT4">
                  <p:embed/>
                  <p:pic>
                    <p:nvPicPr>
                      <p:cNvPr id="21" name="Obje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161" y="2323265"/>
                        <a:ext cx="6574472" cy="80595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0372112"/>
              </p:ext>
            </p:extLst>
          </p:nvPr>
        </p:nvGraphicFramePr>
        <p:xfrm>
          <a:off x="7895134" y="1860174"/>
          <a:ext cx="3703638" cy="161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5" name="Equation" r:id="rId9" imgW="1993680" imgH="888840" progId="Equation.DSMT4">
                  <p:embed/>
                </p:oleObj>
              </mc:Choice>
              <mc:Fallback>
                <p:oleObj name="Equation" r:id="rId9" imgW="1993680" imgH="888840" progId="Equation.DSMT4">
                  <p:embed/>
                  <p:pic>
                    <p:nvPicPr>
                      <p:cNvPr id="22" name="Obje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5134" y="1860174"/>
                        <a:ext cx="3703638" cy="16129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2"/>
          <p:cNvSpPr/>
          <p:nvPr/>
        </p:nvSpPr>
        <p:spPr>
          <a:xfrm>
            <a:off x="1222915" y="3399526"/>
            <a:ext cx="51243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fr-FR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Bookman Old Style" panose="02050604050505020204" pitchFamily="18" charset="0"/>
                <a:cs typeface="Times New Roman" panose="02020603050405020304" pitchFamily="18" charset="0"/>
              </a:rPr>
              <a:t>Impédance de sortie : </a:t>
            </a:r>
          </a:p>
        </p:txBody>
      </p:sp>
      <p:graphicFrame>
        <p:nvGraphicFramePr>
          <p:cNvPr id="24" name="Obje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2875794"/>
              </p:ext>
            </p:extLst>
          </p:nvPr>
        </p:nvGraphicFramePr>
        <p:xfrm>
          <a:off x="3837959" y="3225140"/>
          <a:ext cx="1412875" cy="8332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6" name="Equation" r:id="rId11" imgW="863280" imgH="495000" progId="Equation.DSMT4">
                  <p:embed/>
                </p:oleObj>
              </mc:Choice>
              <mc:Fallback>
                <p:oleObj name="Equation" r:id="rId11" imgW="863280" imgH="495000" progId="Equation.DSMT4">
                  <p:embed/>
                  <p:pic>
                    <p:nvPicPr>
                      <p:cNvPr id="24" name="Obje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7959" y="3225140"/>
                        <a:ext cx="1412875" cy="83320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t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9966619"/>
              </p:ext>
            </p:extLst>
          </p:nvPr>
        </p:nvGraphicFramePr>
        <p:xfrm>
          <a:off x="1257161" y="4154263"/>
          <a:ext cx="4076425" cy="4148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7" name="Equation" r:id="rId13" imgW="2336760" imgH="266400" progId="Equation.DSMT4">
                  <p:embed/>
                </p:oleObj>
              </mc:Choice>
              <mc:Fallback>
                <p:oleObj name="Equation" r:id="rId13" imgW="2336760" imgH="266400" progId="Equation.DSMT4">
                  <p:embed/>
                  <p:pic>
                    <p:nvPicPr>
                      <p:cNvPr id="25" name="Obje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161" y="4154263"/>
                        <a:ext cx="4076425" cy="41489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9215644"/>
              </p:ext>
            </p:extLst>
          </p:nvPr>
        </p:nvGraphicFramePr>
        <p:xfrm>
          <a:off x="1257161" y="4728248"/>
          <a:ext cx="6817984" cy="6888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8" name="Equation" r:id="rId15" imgW="3759120" imgH="444240" progId="Equation.DSMT4">
                  <p:embed/>
                </p:oleObj>
              </mc:Choice>
              <mc:Fallback>
                <p:oleObj name="Equation" r:id="rId15" imgW="3759120" imgH="444240" progId="Equation.DSMT4">
                  <p:embed/>
                  <p:pic>
                    <p:nvPicPr>
                      <p:cNvPr id="26" name="Obje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161" y="4728248"/>
                        <a:ext cx="6817984" cy="68887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2625146"/>
              </p:ext>
            </p:extLst>
          </p:nvPr>
        </p:nvGraphicFramePr>
        <p:xfrm>
          <a:off x="7464152" y="5631480"/>
          <a:ext cx="2878138" cy="85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29" name="Equation" r:id="rId17" imgW="1549080" imgH="469800" progId="Equation.DSMT4">
                  <p:embed/>
                </p:oleObj>
              </mc:Choice>
              <mc:Fallback>
                <p:oleObj name="Equation" r:id="rId17" imgW="1549080" imgH="469800" progId="Equation.DSMT4">
                  <p:embed/>
                  <p:pic>
                    <p:nvPicPr>
                      <p:cNvPr id="27" name="Obje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4152" y="5631480"/>
                        <a:ext cx="2878138" cy="85248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495248"/>
              </p:ext>
            </p:extLst>
          </p:nvPr>
        </p:nvGraphicFramePr>
        <p:xfrm>
          <a:off x="1214748" y="5631480"/>
          <a:ext cx="58737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30" name="Equation" r:id="rId19" imgW="3238200" imgH="507960" progId="Equation.DSMT4">
                  <p:embed/>
                </p:oleObj>
              </mc:Choice>
              <mc:Fallback>
                <p:oleObj name="Equation" r:id="rId19" imgW="3238200" imgH="507960" progId="Equation.DSMT4">
                  <p:embed/>
                  <p:pic>
                    <p:nvPicPr>
                      <p:cNvPr id="28" name="Obje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4748" y="5631480"/>
                        <a:ext cx="5873750" cy="7874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ce réservé du numéro de diapositiv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ts val="2315"/>
              </a:lnSpc>
            </a:pPr>
            <a:fld id="{81D60167-4931-47E6-BA6A-407CBD079E47}" type="slidenum">
              <a:rPr lang="fr-FR" smtClean="0"/>
              <a:t>53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83034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37738</TotalTime>
  <Words>2234</Words>
  <Application>Microsoft Office PowerPoint</Application>
  <PresentationFormat>Grand écran</PresentationFormat>
  <Paragraphs>639</Paragraphs>
  <Slides>53</Slides>
  <Notes>15</Notes>
  <HiddenSlides>0</HiddenSlides>
  <MMClips>0</MMClips>
  <ScaleCrop>false</ScaleCrop>
  <HeadingPairs>
    <vt:vector size="8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53</vt:i4>
      </vt:variant>
    </vt:vector>
  </HeadingPairs>
  <TitlesOfParts>
    <vt:vector size="64" baseType="lpstr">
      <vt:lpstr>Arial</vt:lpstr>
      <vt:lpstr>Arial MT</vt:lpstr>
      <vt:lpstr>Bookman Old Style</vt:lpstr>
      <vt:lpstr>Calibri</vt:lpstr>
      <vt:lpstr>Calibri Light</vt:lpstr>
      <vt:lpstr>Cambria Math</vt:lpstr>
      <vt:lpstr>Tahoma</vt:lpstr>
      <vt:lpstr>Times New Roman</vt:lpstr>
      <vt:lpstr>Wingdings</vt:lpstr>
      <vt:lpstr>Thème Office</vt:lpstr>
      <vt:lpstr>Equation</vt:lpstr>
      <vt:lpstr>Présentation PowerPoint</vt:lpstr>
      <vt:lpstr>Définitions &amp; conventions de signes  Description matricielle d’un quadripôle  Association de quadripôles  Grandeurs caractéristiques d’un quadripôle  Exercice d’application 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électronique Analogique</dc:title>
  <dc:creator>hp</dc:creator>
  <cp:lastModifiedBy>DELL</cp:lastModifiedBy>
  <cp:revision>801</cp:revision>
  <dcterms:created xsi:type="dcterms:W3CDTF">2022-09-27T23:01:30Z</dcterms:created>
  <dcterms:modified xsi:type="dcterms:W3CDTF">2026-10-26T21:11:44Z</dcterms:modified>
</cp:coreProperties>
</file>