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60" r:id="rId4"/>
    <p:sldId id="435" r:id="rId5"/>
    <p:sldId id="490" r:id="rId6"/>
    <p:sldId id="491" r:id="rId7"/>
    <p:sldId id="492" r:id="rId8"/>
    <p:sldId id="493" r:id="rId9"/>
    <p:sldId id="494" r:id="rId10"/>
    <p:sldId id="495" r:id="rId11"/>
    <p:sldId id="517" r:id="rId12"/>
    <p:sldId id="518" r:id="rId13"/>
    <p:sldId id="519" r:id="rId14"/>
    <p:sldId id="496" r:id="rId15"/>
    <p:sldId id="497" r:id="rId16"/>
    <p:sldId id="498" r:id="rId17"/>
    <p:sldId id="499" r:id="rId18"/>
    <p:sldId id="500" r:id="rId19"/>
    <p:sldId id="501" r:id="rId20"/>
    <p:sldId id="503" r:id="rId21"/>
    <p:sldId id="504" r:id="rId22"/>
    <p:sldId id="505" r:id="rId23"/>
    <p:sldId id="506" r:id="rId24"/>
    <p:sldId id="507" r:id="rId25"/>
    <p:sldId id="508" r:id="rId26"/>
    <p:sldId id="520" r:id="rId27"/>
    <p:sldId id="509" r:id="rId28"/>
    <p:sldId id="510" r:id="rId29"/>
    <p:sldId id="511" r:id="rId30"/>
    <p:sldId id="512" r:id="rId31"/>
    <p:sldId id="513" r:id="rId32"/>
    <p:sldId id="514" r:id="rId33"/>
    <p:sldId id="515" r:id="rId34"/>
    <p:sldId id="516" r:id="rId35"/>
    <p:sldId id="523" r:id="rId36"/>
    <p:sldId id="521" r:id="rId37"/>
    <p:sldId id="524" r:id="rId38"/>
    <p:sldId id="525" r:id="rId39"/>
    <p:sldId id="526" r:id="rId40"/>
    <p:sldId id="528" r:id="rId41"/>
    <p:sldId id="527" r:id="rId42"/>
    <p:sldId id="522" r:id="rId43"/>
    <p:sldId id="489" r:id="rId44"/>
    <p:sldId id="529" r:id="rId45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houssain elhajjami" initials="le" lastIdx="1" clrIdx="0">
    <p:extLst>
      <p:ext uri="{19B8F6BF-5375-455C-9EA6-DF929625EA0E}">
        <p15:presenceInfo xmlns:p15="http://schemas.microsoft.com/office/powerpoint/2012/main" userId="lhoussain elhajjami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FFFF"/>
    <a:srgbClr val="00FF00"/>
    <a:srgbClr val="FF9900"/>
    <a:srgbClr val="CC00CC"/>
    <a:srgbClr val="00CC99"/>
    <a:srgbClr val="8064A2"/>
    <a:srgbClr val="33CCCC"/>
    <a:srgbClr val="A87DB5"/>
    <a:srgbClr val="BD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yle léger 1 - Accentuation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E9639D4-E3E2-4D34-9284-5A2195B3D0D7}" styleName="Style clair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Style moyen 3 - Accentuation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80751" autoAdjust="0"/>
  </p:normalViewPr>
  <p:slideViewPr>
    <p:cSldViewPr>
      <p:cViewPr varScale="1">
        <p:scale>
          <a:sx n="91" d="100"/>
          <a:sy n="91" d="100"/>
        </p:scale>
        <p:origin x="1229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55BB1-077F-4953-B445-56E73AFDDD27}" type="datetimeFigureOut">
              <a:rPr lang="fr-FR" smtClean="0"/>
              <a:t>04/12/2024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A7ADD1-564E-426F-A644-664AEAE7088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0932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795903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12257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8185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23395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2757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e_0 est source de tension contrôlé en tension V_1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27917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80989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07460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4370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7195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4411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2436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1554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08488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03436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0476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2119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3972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82957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34802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V2/i1=z21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66252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V1=V2 </a:t>
            </a:r>
            <a:r>
              <a:rPr lang="fr-FR" dirty="0" err="1"/>
              <a:t>parceque</a:t>
            </a:r>
            <a:r>
              <a:rPr lang="fr-FR" dirty="0"/>
              <a:t> au borne de R tension </a:t>
            </a:r>
            <a:r>
              <a:rPr lang="fr-FR" dirty="0" err="1"/>
              <a:t>zerro</a:t>
            </a:r>
            <a:r>
              <a:rPr lang="fr-FR" dirty="0"/>
              <a:t> (I1=0)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3364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48554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09762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4237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176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7512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01395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46352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601258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48877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062110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, en courant et en puissance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06293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, en courant et en puissance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652264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, en courant et en puissance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93547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, en et en puissance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52478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, en et en puissance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55403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, en et en puissance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16149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, en et en puissance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97715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Zij</a:t>
            </a:r>
            <a:r>
              <a:rPr lang="fr-FR" dirty="0"/>
              <a:t> sont des impédances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79183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70541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A7ADD1-564E-426F-A644-664AEAE70886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0977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rgbClr val="4F82B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48777" y="1521459"/>
            <a:ext cx="5846444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02370" y="819403"/>
            <a:ext cx="8539258" cy="31559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rgbClr val="4F82B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46282" y="4824469"/>
            <a:ext cx="415925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wmf"/><Relationship Id="rId4" Type="http://schemas.openxmlformats.org/officeDocument/2006/relationships/oleObject" Target="../embeddings/oleObject3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w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wmf"/><Relationship Id="rId3" Type="http://schemas.openxmlformats.org/officeDocument/2006/relationships/oleObject" Target="../embeddings/oleObject5.bin"/><Relationship Id="rId7" Type="http://schemas.openxmlformats.org/officeDocument/2006/relationships/oleObject" Target="../embeddings/oleObject7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wmf"/><Relationship Id="rId5" Type="http://schemas.openxmlformats.org/officeDocument/2006/relationships/oleObject" Target="../embeddings/oleObject6.bin"/><Relationship Id="rId10" Type="http://schemas.openxmlformats.org/officeDocument/2006/relationships/image" Target="../media/image10.wmf"/><Relationship Id="rId4" Type="http://schemas.openxmlformats.org/officeDocument/2006/relationships/image" Target="../media/image7.wmf"/><Relationship Id="rId9" Type="http://schemas.openxmlformats.org/officeDocument/2006/relationships/oleObject" Target="../embeddings/oleObject8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18.w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3" Type="http://schemas.openxmlformats.org/officeDocument/2006/relationships/oleObject" Target="../embeddings/oleObject11.bin"/><Relationship Id="rId7" Type="http://schemas.openxmlformats.org/officeDocument/2006/relationships/oleObject" Target="../embeddings/oleObject13.bin"/><Relationship Id="rId12" Type="http://schemas.openxmlformats.org/officeDocument/2006/relationships/image" Target="../media/image24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wmf"/><Relationship Id="rId11" Type="http://schemas.openxmlformats.org/officeDocument/2006/relationships/oleObject" Target="../embeddings/oleObject15.bin"/><Relationship Id="rId5" Type="http://schemas.openxmlformats.org/officeDocument/2006/relationships/oleObject" Target="../embeddings/oleObject12.bin"/><Relationship Id="rId10" Type="http://schemas.openxmlformats.org/officeDocument/2006/relationships/image" Target="../media/image23.wmf"/><Relationship Id="rId4" Type="http://schemas.openxmlformats.org/officeDocument/2006/relationships/image" Target="../media/image20.wmf"/><Relationship Id="rId9" Type="http://schemas.openxmlformats.org/officeDocument/2006/relationships/oleObject" Target="../embeddings/oleObject14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w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25.w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wmf"/><Relationship Id="rId5" Type="http://schemas.openxmlformats.org/officeDocument/2006/relationships/oleObject" Target="../embeddings/oleObject19.bin"/><Relationship Id="rId4" Type="http://schemas.openxmlformats.org/officeDocument/2006/relationships/image" Target="../media/image27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3" Type="http://schemas.openxmlformats.org/officeDocument/2006/relationships/oleObject" Target="../embeddings/oleObject20.bin"/><Relationship Id="rId7" Type="http://schemas.openxmlformats.org/officeDocument/2006/relationships/oleObject" Target="../embeddings/oleObject22.bin"/><Relationship Id="rId12" Type="http://schemas.openxmlformats.org/officeDocument/2006/relationships/image" Target="../media/image33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wmf"/><Relationship Id="rId11" Type="http://schemas.openxmlformats.org/officeDocument/2006/relationships/oleObject" Target="../embeddings/oleObject24.bin"/><Relationship Id="rId5" Type="http://schemas.openxmlformats.org/officeDocument/2006/relationships/oleObject" Target="../embeddings/oleObject21.bin"/><Relationship Id="rId10" Type="http://schemas.openxmlformats.org/officeDocument/2006/relationships/image" Target="../media/image32.wmf"/><Relationship Id="rId4" Type="http://schemas.openxmlformats.org/officeDocument/2006/relationships/image" Target="../media/image29.wmf"/><Relationship Id="rId9" Type="http://schemas.openxmlformats.org/officeDocument/2006/relationships/oleObject" Target="../embeddings/oleObject23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wmf"/><Relationship Id="rId13" Type="http://schemas.openxmlformats.org/officeDocument/2006/relationships/oleObject" Target="../embeddings/oleObject30.bin"/><Relationship Id="rId3" Type="http://schemas.openxmlformats.org/officeDocument/2006/relationships/oleObject" Target="../embeddings/oleObject25.bin"/><Relationship Id="rId7" Type="http://schemas.openxmlformats.org/officeDocument/2006/relationships/oleObject" Target="../embeddings/oleObject27.bin"/><Relationship Id="rId12" Type="http://schemas.openxmlformats.org/officeDocument/2006/relationships/image" Target="../media/image38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wmf"/><Relationship Id="rId11" Type="http://schemas.openxmlformats.org/officeDocument/2006/relationships/oleObject" Target="../embeddings/oleObject29.bin"/><Relationship Id="rId5" Type="http://schemas.openxmlformats.org/officeDocument/2006/relationships/oleObject" Target="../embeddings/oleObject26.bin"/><Relationship Id="rId10" Type="http://schemas.openxmlformats.org/officeDocument/2006/relationships/image" Target="../media/image37.wmf"/><Relationship Id="rId4" Type="http://schemas.openxmlformats.org/officeDocument/2006/relationships/image" Target="../media/image34.wmf"/><Relationship Id="rId9" Type="http://schemas.openxmlformats.org/officeDocument/2006/relationships/oleObject" Target="../embeddings/oleObject28.bin"/><Relationship Id="rId14" Type="http://schemas.openxmlformats.org/officeDocument/2006/relationships/image" Target="../media/image39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wmf"/><Relationship Id="rId3" Type="http://schemas.openxmlformats.org/officeDocument/2006/relationships/oleObject" Target="../embeddings/oleObject31.bin"/><Relationship Id="rId7" Type="http://schemas.openxmlformats.org/officeDocument/2006/relationships/oleObject" Target="../embeddings/oleObject33.bin"/><Relationship Id="rId12" Type="http://schemas.openxmlformats.org/officeDocument/2006/relationships/image" Target="../media/image44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wmf"/><Relationship Id="rId11" Type="http://schemas.openxmlformats.org/officeDocument/2006/relationships/oleObject" Target="../embeddings/oleObject35.bin"/><Relationship Id="rId5" Type="http://schemas.openxmlformats.org/officeDocument/2006/relationships/oleObject" Target="../embeddings/oleObject32.bin"/><Relationship Id="rId10" Type="http://schemas.openxmlformats.org/officeDocument/2006/relationships/image" Target="../media/image43.wmf"/><Relationship Id="rId4" Type="http://schemas.openxmlformats.org/officeDocument/2006/relationships/image" Target="../media/image40.wmf"/><Relationship Id="rId9" Type="http://schemas.openxmlformats.org/officeDocument/2006/relationships/oleObject" Target="../embeddings/oleObject34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oleObject" Target="../embeddings/oleObject36.bin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wmf"/><Relationship Id="rId5" Type="http://schemas.openxmlformats.org/officeDocument/2006/relationships/oleObject" Target="../embeddings/oleObject37.bin"/><Relationship Id="rId10" Type="http://schemas.openxmlformats.org/officeDocument/2006/relationships/image" Target="../media/image46.png"/><Relationship Id="rId4" Type="http://schemas.openxmlformats.org/officeDocument/2006/relationships/image" Target="../media/image45.wmf"/><Relationship Id="rId9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oleObject" Target="../embeddings/oleObject38.bin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wmf"/><Relationship Id="rId5" Type="http://schemas.openxmlformats.org/officeDocument/2006/relationships/oleObject" Target="../embeddings/oleObject39.bin"/><Relationship Id="rId10" Type="http://schemas.openxmlformats.org/officeDocument/2006/relationships/image" Target="../media/image52.png"/><Relationship Id="rId4" Type="http://schemas.openxmlformats.org/officeDocument/2006/relationships/image" Target="../media/image47.wmf"/><Relationship Id="rId9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3" Type="http://schemas.openxmlformats.org/officeDocument/2006/relationships/oleObject" Target="../embeddings/oleObject40.bin"/><Relationship Id="rId7" Type="http://schemas.openxmlformats.org/officeDocument/2006/relationships/oleObject" Target="../embeddings/oleObject42.bin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wmf"/><Relationship Id="rId5" Type="http://schemas.openxmlformats.org/officeDocument/2006/relationships/oleObject" Target="../embeddings/oleObject41.bin"/><Relationship Id="rId10" Type="http://schemas.openxmlformats.org/officeDocument/2006/relationships/image" Target="../media/image52.wmf"/><Relationship Id="rId4" Type="http://schemas.openxmlformats.org/officeDocument/2006/relationships/image" Target="../media/image49.wmf"/><Relationship Id="rId9" Type="http://schemas.openxmlformats.org/officeDocument/2006/relationships/oleObject" Target="../embeddings/oleObject43.bin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wmf"/><Relationship Id="rId3" Type="http://schemas.openxmlformats.org/officeDocument/2006/relationships/oleObject" Target="../embeddings/oleObject44.bin"/><Relationship Id="rId7" Type="http://schemas.openxmlformats.org/officeDocument/2006/relationships/oleObject" Target="../embeddings/oleObject46.bin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wmf"/><Relationship Id="rId5" Type="http://schemas.openxmlformats.org/officeDocument/2006/relationships/oleObject" Target="../embeddings/oleObject45.bin"/><Relationship Id="rId10" Type="http://schemas.openxmlformats.org/officeDocument/2006/relationships/image" Target="../media/image56.wmf"/><Relationship Id="rId4" Type="http://schemas.openxmlformats.org/officeDocument/2006/relationships/image" Target="../media/image53.wmf"/><Relationship Id="rId9" Type="http://schemas.openxmlformats.org/officeDocument/2006/relationships/oleObject" Target="../embeddings/oleObject47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wmf"/><Relationship Id="rId4" Type="http://schemas.openxmlformats.org/officeDocument/2006/relationships/oleObject" Target="../embeddings/oleObject48.bin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wmf"/><Relationship Id="rId4" Type="http://schemas.openxmlformats.org/officeDocument/2006/relationships/oleObject" Target="../embeddings/oleObject49.bin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0.bin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w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1.bin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wmf"/><Relationship Id="rId5" Type="http://schemas.openxmlformats.org/officeDocument/2006/relationships/oleObject" Target="../embeddings/oleObject52.bin"/><Relationship Id="rId4" Type="http://schemas.openxmlformats.org/officeDocument/2006/relationships/image" Target="../media/image64.w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3.bin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4.bin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wm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5.bin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wmf"/><Relationship Id="rId5" Type="http://schemas.openxmlformats.org/officeDocument/2006/relationships/oleObject" Target="../embeddings/oleObject56.bin"/><Relationship Id="rId4" Type="http://schemas.openxmlformats.org/officeDocument/2006/relationships/image" Target="../media/image68.wmf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7.bin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wmf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8.bin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wmf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-11655" y="4857750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>
                <a:moveTo>
                  <a:pt x="0" y="0"/>
                </a:moveTo>
                <a:lnTo>
                  <a:pt x="9144000" y="1"/>
                </a:lnTo>
              </a:path>
            </a:pathLst>
          </a:custGeom>
          <a:ln w="25400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6" name="object 6"/>
          <p:cNvGrpSpPr/>
          <p:nvPr/>
        </p:nvGrpSpPr>
        <p:grpSpPr>
          <a:xfrm>
            <a:off x="20881" y="1140531"/>
            <a:ext cx="9123119" cy="3285520"/>
            <a:chOff x="-44576" y="1100670"/>
            <a:chExt cx="9123119" cy="3285520"/>
          </a:xfrm>
        </p:grpSpPr>
        <p:sp>
          <p:nvSpPr>
            <p:cNvPr id="7" name="object 7"/>
            <p:cNvSpPr/>
            <p:nvPr/>
          </p:nvSpPr>
          <p:spPr>
            <a:xfrm>
              <a:off x="3063823" y="1100670"/>
              <a:ext cx="6014720" cy="72390"/>
            </a:xfrm>
            <a:custGeom>
              <a:avLst/>
              <a:gdLst/>
              <a:ahLst/>
              <a:cxnLst/>
              <a:rect l="l" t="t" r="r" b="b"/>
              <a:pathLst>
                <a:path w="6014720" h="72390">
                  <a:moveTo>
                    <a:pt x="5978231" y="0"/>
                  </a:moveTo>
                  <a:lnTo>
                    <a:pt x="35996" y="0"/>
                  </a:lnTo>
                  <a:lnTo>
                    <a:pt x="21985" y="2829"/>
                  </a:lnTo>
                  <a:lnTo>
                    <a:pt x="10543" y="10544"/>
                  </a:lnTo>
                  <a:lnTo>
                    <a:pt x="2828" y="21987"/>
                  </a:lnTo>
                  <a:lnTo>
                    <a:pt x="0" y="36000"/>
                  </a:lnTo>
                  <a:lnTo>
                    <a:pt x="2828" y="50013"/>
                  </a:lnTo>
                  <a:lnTo>
                    <a:pt x="10543" y="61456"/>
                  </a:lnTo>
                  <a:lnTo>
                    <a:pt x="21985" y="69171"/>
                  </a:lnTo>
                  <a:lnTo>
                    <a:pt x="35996" y="72000"/>
                  </a:lnTo>
                  <a:lnTo>
                    <a:pt x="5978231" y="72000"/>
                  </a:lnTo>
                  <a:lnTo>
                    <a:pt x="5992243" y="69171"/>
                  </a:lnTo>
                  <a:lnTo>
                    <a:pt x="6003685" y="61456"/>
                  </a:lnTo>
                  <a:lnTo>
                    <a:pt x="6011399" y="50013"/>
                  </a:lnTo>
                  <a:lnTo>
                    <a:pt x="6014228" y="36000"/>
                  </a:lnTo>
                  <a:lnTo>
                    <a:pt x="6011399" y="21987"/>
                  </a:lnTo>
                  <a:lnTo>
                    <a:pt x="6003685" y="10544"/>
                  </a:lnTo>
                  <a:lnTo>
                    <a:pt x="5992243" y="2829"/>
                  </a:lnTo>
                  <a:lnTo>
                    <a:pt x="5978231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77943" y="4060054"/>
              <a:ext cx="326136" cy="32613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14297" y="4171433"/>
              <a:ext cx="6652895" cy="83185"/>
            </a:xfrm>
            <a:custGeom>
              <a:avLst/>
              <a:gdLst/>
              <a:ahLst/>
              <a:cxnLst/>
              <a:rect l="l" t="t" r="r" b="b"/>
              <a:pathLst>
                <a:path w="6652895" h="83185">
                  <a:moveTo>
                    <a:pt x="3013265" y="46761"/>
                  </a:moveTo>
                  <a:lnTo>
                    <a:pt x="3010433" y="32753"/>
                  </a:lnTo>
                  <a:lnTo>
                    <a:pt x="3002724" y="21310"/>
                  </a:lnTo>
                  <a:lnTo>
                    <a:pt x="2991281" y="13589"/>
                  </a:lnTo>
                  <a:lnTo>
                    <a:pt x="2977261" y="10756"/>
                  </a:lnTo>
                  <a:lnTo>
                    <a:pt x="36004" y="10756"/>
                  </a:lnTo>
                  <a:lnTo>
                    <a:pt x="21996" y="13589"/>
                  </a:lnTo>
                  <a:lnTo>
                    <a:pt x="10553" y="21310"/>
                  </a:lnTo>
                  <a:lnTo>
                    <a:pt x="2832" y="32753"/>
                  </a:lnTo>
                  <a:lnTo>
                    <a:pt x="0" y="46761"/>
                  </a:lnTo>
                  <a:lnTo>
                    <a:pt x="2832" y="60769"/>
                  </a:lnTo>
                  <a:lnTo>
                    <a:pt x="10553" y="72224"/>
                  </a:lnTo>
                  <a:lnTo>
                    <a:pt x="21996" y="79933"/>
                  </a:lnTo>
                  <a:lnTo>
                    <a:pt x="36004" y="82765"/>
                  </a:lnTo>
                  <a:lnTo>
                    <a:pt x="2977261" y="82765"/>
                  </a:lnTo>
                  <a:lnTo>
                    <a:pt x="2991269" y="79933"/>
                  </a:lnTo>
                  <a:lnTo>
                    <a:pt x="3002711" y="72224"/>
                  </a:lnTo>
                  <a:lnTo>
                    <a:pt x="3010433" y="60782"/>
                  </a:lnTo>
                  <a:lnTo>
                    <a:pt x="3013265" y="46761"/>
                  </a:lnTo>
                  <a:close/>
                </a:path>
                <a:path w="6652895" h="83185">
                  <a:moveTo>
                    <a:pt x="6652679" y="36004"/>
                  </a:moveTo>
                  <a:lnTo>
                    <a:pt x="6649847" y="21983"/>
                  </a:lnTo>
                  <a:lnTo>
                    <a:pt x="6642138" y="10541"/>
                  </a:lnTo>
                  <a:lnTo>
                    <a:pt x="6630695" y="2832"/>
                  </a:lnTo>
                  <a:lnTo>
                    <a:pt x="6616674" y="0"/>
                  </a:lnTo>
                  <a:lnTo>
                    <a:pt x="3675418" y="0"/>
                  </a:lnTo>
                  <a:lnTo>
                    <a:pt x="3661410" y="2832"/>
                  </a:lnTo>
                  <a:lnTo>
                    <a:pt x="3649967" y="10541"/>
                  </a:lnTo>
                  <a:lnTo>
                    <a:pt x="3642245" y="21983"/>
                  </a:lnTo>
                  <a:lnTo>
                    <a:pt x="3639413" y="36004"/>
                  </a:lnTo>
                  <a:lnTo>
                    <a:pt x="3642245" y="50012"/>
                  </a:lnTo>
                  <a:lnTo>
                    <a:pt x="3649967" y="61455"/>
                  </a:lnTo>
                  <a:lnTo>
                    <a:pt x="3661410" y="69176"/>
                  </a:lnTo>
                  <a:lnTo>
                    <a:pt x="3675418" y="71996"/>
                  </a:lnTo>
                  <a:lnTo>
                    <a:pt x="6616674" y="72009"/>
                  </a:lnTo>
                  <a:lnTo>
                    <a:pt x="6630695" y="69176"/>
                  </a:lnTo>
                  <a:lnTo>
                    <a:pt x="6642138" y="61455"/>
                  </a:lnTo>
                  <a:lnTo>
                    <a:pt x="6649847" y="50012"/>
                  </a:lnTo>
                  <a:lnTo>
                    <a:pt x="6652679" y="36004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052168" y="3642513"/>
              <a:ext cx="6014720" cy="72390"/>
            </a:xfrm>
            <a:custGeom>
              <a:avLst/>
              <a:gdLst/>
              <a:ahLst/>
              <a:cxnLst/>
              <a:rect l="l" t="t" r="r" b="b"/>
              <a:pathLst>
                <a:path w="6014720" h="72389">
                  <a:moveTo>
                    <a:pt x="5978231" y="0"/>
                  </a:moveTo>
                  <a:lnTo>
                    <a:pt x="35996" y="0"/>
                  </a:lnTo>
                  <a:lnTo>
                    <a:pt x="21985" y="2829"/>
                  </a:lnTo>
                  <a:lnTo>
                    <a:pt x="10543" y="10544"/>
                  </a:lnTo>
                  <a:lnTo>
                    <a:pt x="2828" y="21986"/>
                  </a:lnTo>
                  <a:lnTo>
                    <a:pt x="0" y="35999"/>
                  </a:lnTo>
                  <a:lnTo>
                    <a:pt x="2828" y="50012"/>
                  </a:lnTo>
                  <a:lnTo>
                    <a:pt x="10543" y="61455"/>
                  </a:lnTo>
                  <a:lnTo>
                    <a:pt x="21985" y="69171"/>
                  </a:lnTo>
                  <a:lnTo>
                    <a:pt x="35996" y="72000"/>
                  </a:lnTo>
                  <a:lnTo>
                    <a:pt x="5978231" y="72000"/>
                  </a:lnTo>
                  <a:lnTo>
                    <a:pt x="5992243" y="69171"/>
                  </a:lnTo>
                  <a:lnTo>
                    <a:pt x="6003685" y="61455"/>
                  </a:lnTo>
                  <a:lnTo>
                    <a:pt x="6011399" y="50012"/>
                  </a:lnTo>
                  <a:lnTo>
                    <a:pt x="6014228" y="35999"/>
                  </a:lnTo>
                  <a:lnTo>
                    <a:pt x="6011399" y="21986"/>
                  </a:lnTo>
                  <a:lnTo>
                    <a:pt x="6003685" y="10544"/>
                  </a:lnTo>
                  <a:lnTo>
                    <a:pt x="5992243" y="2829"/>
                  </a:lnTo>
                  <a:lnTo>
                    <a:pt x="5978231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7">
              <a:extLst>
                <a:ext uri="{FF2B5EF4-FFF2-40B4-BE49-F238E27FC236}">
                  <a16:creationId xmlns:a16="http://schemas.microsoft.com/office/drawing/2014/main" id="{637AACC0-9889-C865-E520-5EA6CBFCB6BF}"/>
                </a:ext>
              </a:extLst>
            </p:cNvPr>
            <p:cNvSpPr/>
            <p:nvPr/>
          </p:nvSpPr>
          <p:spPr>
            <a:xfrm>
              <a:off x="-44576" y="2778617"/>
              <a:ext cx="6014720" cy="72390"/>
            </a:xfrm>
            <a:custGeom>
              <a:avLst/>
              <a:gdLst/>
              <a:ahLst/>
              <a:cxnLst/>
              <a:rect l="l" t="t" r="r" b="b"/>
              <a:pathLst>
                <a:path w="6014720" h="72390">
                  <a:moveTo>
                    <a:pt x="5978231" y="0"/>
                  </a:moveTo>
                  <a:lnTo>
                    <a:pt x="35996" y="0"/>
                  </a:lnTo>
                  <a:lnTo>
                    <a:pt x="21985" y="2829"/>
                  </a:lnTo>
                  <a:lnTo>
                    <a:pt x="10543" y="10544"/>
                  </a:lnTo>
                  <a:lnTo>
                    <a:pt x="2828" y="21987"/>
                  </a:lnTo>
                  <a:lnTo>
                    <a:pt x="0" y="36000"/>
                  </a:lnTo>
                  <a:lnTo>
                    <a:pt x="2828" y="50013"/>
                  </a:lnTo>
                  <a:lnTo>
                    <a:pt x="10543" y="61456"/>
                  </a:lnTo>
                  <a:lnTo>
                    <a:pt x="21985" y="69171"/>
                  </a:lnTo>
                  <a:lnTo>
                    <a:pt x="35996" y="72000"/>
                  </a:lnTo>
                  <a:lnTo>
                    <a:pt x="5978231" y="72000"/>
                  </a:lnTo>
                  <a:lnTo>
                    <a:pt x="5992243" y="69171"/>
                  </a:lnTo>
                  <a:lnTo>
                    <a:pt x="6003685" y="61456"/>
                  </a:lnTo>
                  <a:lnTo>
                    <a:pt x="6011399" y="50013"/>
                  </a:lnTo>
                  <a:lnTo>
                    <a:pt x="6014228" y="36000"/>
                  </a:lnTo>
                  <a:lnTo>
                    <a:pt x="6011399" y="21987"/>
                  </a:lnTo>
                  <a:lnTo>
                    <a:pt x="6003685" y="10544"/>
                  </a:lnTo>
                  <a:lnTo>
                    <a:pt x="5992243" y="2829"/>
                  </a:lnTo>
                  <a:lnTo>
                    <a:pt x="5978231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179754" y="3116920"/>
            <a:ext cx="7239000" cy="351378"/>
          </a:xfrm>
          <a:prstGeom prst="rect">
            <a:avLst/>
          </a:prstGeom>
          <a:solidFill>
            <a:srgbClr val="00FF00"/>
          </a:solidFill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lang="fr-FR" sz="2200" b="1" dirty="0">
                <a:latin typeface="Bookman Old Style" panose="02050604050505020204" pitchFamily="18" charset="0"/>
                <a:ea typeface="+mj-ea"/>
                <a:cs typeface="Arial"/>
              </a:rPr>
              <a:t>CIRCUITS ELECTRIQUES ET ELECTRONIQUES</a:t>
            </a:r>
            <a:endParaRPr sz="2200" b="1" dirty="0">
              <a:latin typeface="Bookman Old Style" panose="02050604050505020204" pitchFamily="18" charset="0"/>
              <a:ea typeface="+mj-ea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497425" y="4452465"/>
            <a:ext cx="6746774" cy="6848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fr-FR" sz="1400" b="1" spc="-5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fr-FR" sz="1400" b="1" spc="-5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400" b="1" spc="-5" dirty="0">
                <a:solidFill>
                  <a:schemeClr val="bg1"/>
                </a:solidFill>
                <a:latin typeface="Bookman Old Style" panose="02050604050505020204" pitchFamily="18" charset="0"/>
                <a:cs typeface="Arial"/>
              </a:rPr>
              <a:t>                                                           </a:t>
            </a:r>
            <a:r>
              <a:rPr sz="1400" b="1" spc="-5" dirty="0" err="1">
                <a:latin typeface="Bookman Old Style" panose="02050604050505020204" pitchFamily="18" charset="0"/>
                <a:cs typeface="Calibri"/>
              </a:rPr>
              <a:t>Année</a:t>
            </a:r>
            <a:r>
              <a:rPr sz="1400" b="1" spc="-10" dirty="0">
                <a:latin typeface="Bookman Old Style" panose="02050604050505020204" pitchFamily="18" charset="0"/>
                <a:cs typeface="Calibri"/>
              </a:rPr>
              <a:t> universitaire:</a:t>
            </a:r>
            <a:r>
              <a:rPr sz="1400" b="1" spc="310" dirty="0">
                <a:latin typeface="Bookman Old Style" panose="02050604050505020204" pitchFamily="18" charset="0"/>
                <a:cs typeface="Calibri"/>
              </a:rPr>
              <a:t> </a:t>
            </a:r>
            <a:r>
              <a:rPr sz="1400" b="1" spc="-5" dirty="0">
                <a:latin typeface="Bookman Old Style" panose="02050604050505020204" pitchFamily="18" charset="0"/>
                <a:cs typeface="Calibri"/>
              </a:rPr>
              <a:t>202</a:t>
            </a:r>
            <a:r>
              <a:rPr lang="fr-FR" sz="1400" b="1" spc="-5" dirty="0">
                <a:latin typeface="Bookman Old Style" panose="02050604050505020204" pitchFamily="18" charset="0"/>
                <a:cs typeface="Calibri"/>
              </a:rPr>
              <a:t>4</a:t>
            </a:r>
            <a:r>
              <a:rPr sz="1400" b="1" spc="-5" dirty="0">
                <a:latin typeface="Bookman Old Style" panose="02050604050505020204" pitchFamily="18" charset="0"/>
                <a:cs typeface="Calibri"/>
              </a:rPr>
              <a:t>/202</a:t>
            </a:r>
            <a:r>
              <a:rPr lang="fr-FR" sz="1400" b="1" spc="-5" dirty="0">
                <a:latin typeface="Bookman Old Style" panose="02050604050505020204" pitchFamily="18" charset="0"/>
                <a:cs typeface="Calibri"/>
              </a:rPr>
              <a:t>5</a:t>
            </a:r>
            <a:endParaRPr sz="1400" dirty="0">
              <a:latin typeface="Bookman Old Style" panose="02050604050505020204" pitchFamily="18" charset="0"/>
              <a:cs typeface="Calibri"/>
            </a:endParaRPr>
          </a:p>
        </p:txBody>
      </p:sp>
      <p:sp>
        <p:nvSpPr>
          <p:cNvPr id="21" name="object 17"/>
          <p:cNvSpPr/>
          <p:nvPr/>
        </p:nvSpPr>
        <p:spPr>
          <a:xfrm>
            <a:off x="6629400" y="338955"/>
            <a:ext cx="2481438" cy="93344"/>
          </a:xfrm>
          <a:custGeom>
            <a:avLst/>
            <a:gdLst/>
            <a:ahLst/>
            <a:cxnLst/>
            <a:rect l="l" t="t" r="r" b="b"/>
            <a:pathLst>
              <a:path w="2707640" h="93345">
                <a:moveTo>
                  <a:pt x="2660455" y="0"/>
                </a:moveTo>
                <a:lnTo>
                  <a:pt x="46624" y="0"/>
                </a:lnTo>
                <a:lnTo>
                  <a:pt x="28476" y="3664"/>
                </a:lnTo>
                <a:lnTo>
                  <a:pt x="13656" y="13656"/>
                </a:lnTo>
                <a:lnTo>
                  <a:pt x="3664" y="28476"/>
                </a:lnTo>
                <a:lnTo>
                  <a:pt x="0" y="46622"/>
                </a:lnTo>
                <a:lnTo>
                  <a:pt x="3664" y="64771"/>
                </a:lnTo>
                <a:lnTo>
                  <a:pt x="13656" y="79592"/>
                </a:lnTo>
                <a:lnTo>
                  <a:pt x="28476" y="89584"/>
                </a:lnTo>
                <a:lnTo>
                  <a:pt x="46624" y="93248"/>
                </a:lnTo>
                <a:lnTo>
                  <a:pt x="2660451" y="93252"/>
                </a:lnTo>
                <a:lnTo>
                  <a:pt x="2678600" y="89588"/>
                </a:lnTo>
                <a:lnTo>
                  <a:pt x="2693420" y="79595"/>
                </a:lnTo>
                <a:lnTo>
                  <a:pt x="2703413" y="64774"/>
                </a:lnTo>
                <a:lnTo>
                  <a:pt x="2707079" y="46625"/>
                </a:lnTo>
                <a:lnTo>
                  <a:pt x="2703415" y="28476"/>
                </a:lnTo>
                <a:lnTo>
                  <a:pt x="2693424" y="13656"/>
                </a:lnTo>
                <a:lnTo>
                  <a:pt x="2678603" y="3664"/>
                </a:lnTo>
                <a:lnTo>
                  <a:pt x="2660455" y="0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28" name="Image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9778" y="4469"/>
            <a:ext cx="3700570" cy="867770"/>
          </a:xfrm>
          <a:prstGeom prst="rect">
            <a:avLst/>
          </a:prstGeom>
        </p:spPr>
      </p:pic>
      <p:sp>
        <p:nvSpPr>
          <p:cNvPr id="29" name="object 17"/>
          <p:cNvSpPr/>
          <p:nvPr/>
        </p:nvSpPr>
        <p:spPr>
          <a:xfrm>
            <a:off x="33162" y="338955"/>
            <a:ext cx="2481438" cy="93344"/>
          </a:xfrm>
          <a:custGeom>
            <a:avLst/>
            <a:gdLst/>
            <a:ahLst/>
            <a:cxnLst/>
            <a:rect l="l" t="t" r="r" b="b"/>
            <a:pathLst>
              <a:path w="2707640" h="93345">
                <a:moveTo>
                  <a:pt x="2660455" y="0"/>
                </a:moveTo>
                <a:lnTo>
                  <a:pt x="46624" y="0"/>
                </a:lnTo>
                <a:lnTo>
                  <a:pt x="28476" y="3664"/>
                </a:lnTo>
                <a:lnTo>
                  <a:pt x="13656" y="13656"/>
                </a:lnTo>
                <a:lnTo>
                  <a:pt x="3664" y="28476"/>
                </a:lnTo>
                <a:lnTo>
                  <a:pt x="0" y="46622"/>
                </a:lnTo>
                <a:lnTo>
                  <a:pt x="3664" y="64771"/>
                </a:lnTo>
                <a:lnTo>
                  <a:pt x="13656" y="79592"/>
                </a:lnTo>
                <a:lnTo>
                  <a:pt x="28476" y="89584"/>
                </a:lnTo>
                <a:lnTo>
                  <a:pt x="46624" y="93248"/>
                </a:lnTo>
                <a:lnTo>
                  <a:pt x="2660451" y="93252"/>
                </a:lnTo>
                <a:lnTo>
                  <a:pt x="2678600" y="89588"/>
                </a:lnTo>
                <a:lnTo>
                  <a:pt x="2693420" y="79595"/>
                </a:lnTo>
                <a:lnTo>
                  <a:pt x="2703413" y="64774"/>
                </a:lnTo>
                <a:lnTo>
                  <a:pt x="2707079" y="46625"/>
                </a:lnTo>
                <a:lnTo>
                  <a:pt x="2703415" y="28476"/>
                </a:lnTo>
                <a:lnTo>
                  <a:pt x="2693424" y="13656"/>
                </a:lnTo>
                <a:lnTo>
                  <a:pt x="2678603" y="3664"/>
                </a:lnTo>
                <a:lnTo>
                  <a:pt x="2660455" y="0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F5B5D0-6D27-C0B7-6123-6808C4258A70}"/>
              </a:ext>
            </a:extLst>
          </p:cNvPr>
          <p:cNvSpPr txBox="1"/>
          <p:nvPr/>
        </p:nvSpPr>
        <p:spPr>
          <a:xfrm>
            <a:off x="3365802" y="4324699"/>
            <a:ext cx="260746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800" b="1" dirty="0">
                <a:latin typeface="Bookman Old Style" panose="02050604050505020204" pitchFamily="18" charset="0"/>
                <a:cs typeface="Arial"/>
              </a:rPr>
              <a:t>Pr.</a:t>
            </a:r>
            <a:r>
              <a:rPr lang="fr-FR" sz="1800" b="1" spc="-35" dirty="0">
                <a:latin typeface="Bookman Old Style" panose="02050604050505020204" pitchFamily="18" charset="0"/>
                <a:cs typeface="Arial"/>
              </a:rPr>
              <a:t> </a:t>
            </a:r>
            <a:r>
              <a:rPr lang="fr-FR" sz="1800" b="1" spc="-5" dirty="0">
                <a:latin typeface="Bookman Old Style" panose="02050604050505020204" pitchFamily="18" charset="0"/>
                <a:cs typeface="Arial"/>
              </a:rPr>
              <a:t>L. EL HAJJAMI</a:t>
            </a:r>
          </a:p>
          <a:p>
            <a:r>
              <a:rPr lang="fr-FR" sz="1000" b="1" spc="-5" dirty="0">
                <a:latin typeface="Bookman Old Style" panose="02050604050505020204" pitchFamily="18" charset="0"/>
                <a:cs typeface="Arial"/>
              </a:rPr>
              <a:t>      l.elhajjami@usms.ac.ma</a:t>
            </a:r>
            <a:endParaRPr lang="fr-FR" sz="1000" b="1" dirty="0">
              <a:latin typeface="Bookman Old Style" panose="02050604050505020204" pitchFamily="18" charset="0"/>
              <a:cs typeface="Arial"/>
            </a:endParaRPr>
          </a:p>
          <a:p>
            <a:endParaRPr lang="fr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B76610-C08F-972D-F25A-69D8D7B02FE0}"/>
              </a:ext>
            </a:extLst>
          </p:cNvPr>
          <p:cNvSpPr txBox="1"/>
          <p:nvPr/>
        </p:nvSpPr>
        <p:spPr>
          <a:xfrm>
            <a:off x="1227455" y="1243967"/>
            <a:ext cx="670559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u="sng" dirty="0">
                <a:latin typeface="Bookman Old Style" panose="02050604050505020204" pitchFamily="18" charset="0"/>
                <a:ea typeface="+mj-ea"/>
                <a:cs typeface="Arial"/>
              </a:rPr>
              <a:t>DEUST :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200" b="1" dirty="0">
                <a:latin typeface="Bookman Old Style" panose="02050604050505020204" pitchFamily="18" charset="0"/>
                <a:ea typeface="+mj-ea"/>
                <a:cs typeface="Arial"/>
              </a:rPr>
              <a:t>Génie Electrique et Systèmes Embarqués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200" dirty="0">
                <a:latin typeface="Bookman Old Style" panose="02050604050505020204" pitchFamily="18" charset="0"/>
                <a:ea typeface="+mj-ea"/>
                <a:cs typeface="Arial"/>
              </a:rPr>
              <a:t>Génie Physique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200" b="1" dirty="0">
                <a:latin typeface="Bookman Old Style" panose="02050604050505020204" pitchFamily="18" charset="0"/>
                <a:ea typeface="+mj-ea"/>
                <a:cs typeface="Arial"/>
              </a:rPr>
              <a:t>Génie Mécanique et Systèmes Industriels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200" dirty="0">
                <a:latin typeface="Bookman Old Style" panose="02050604050505020204" pitchFamily="18" charset="0"/>
                <a:ea typeface="+mj-ea"/>
                <a:cs typeface="Arial"/>
              </a:rPr>
              <a:t>Génie Informatique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200" b="1" dirty="0">
                <a:latin typeface="Bookman Old Style" panose="02050604050505020204" pitchFamily="18" charset="0"/>
                <a:ea typeface="+mj-ea"/>
                <a:cs typeface="Arial"/>
              </a:rPr>
              <a:t>Génie Chimique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200" dirty="0">
                <a:latin typeface="Bookman Old Style" panose="02050604050505020204" pitchFamily="18" charset="0"/>
                <a:ea typeface="+mj-ea"/>
                <a:cs typeface="Arial"/>
              </a:rPr>
              <a:t>Mathématiques et Sciences des Données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4832710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>
                <a:moveTo>
                  <a:pt x="0" y="0"/>
                </a:moveTo>
                <a:lnTo>
                  <a:pt x="9144000" y="1"/>
                </a:lnTo>
              </a:path>
            </a:pathLst>
          </a:custGeom>
          <a:ln w="25400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60497" y="172196"/>
            <a:ext cx="934143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latin typeface="Bookman Old Style" panose="02050604050505020204" pitchFamily="18" charset="0"/>
                <a:cs typeface="Arial" panose="020B0604020202020204" pitchFamily="34" charset="0"/>
              </a:rPr>
              <a:t>Pl</a:t>
            </a:r>
            <a:r>
              <a:rPr spc="5" dirty="0">
                <a:latin typeface="Bookman Old Style" panose="02050604050505020204" pitchFamily="18" charset="0"/>
                <a:cs typeface="Arial" panose="020B0604020202020204" pitchFamily="34" charset="0"/>
              </a:rPr>
              <a:t>a</a:t>
            </a:r>
            <a:r>
              <a:rPr dirty="0">
                <a:latin typeface="Bookman Old Style" panose="02050604050505020204" pitchFamily="18" charset="0"/>
                <a:cs typeface="Arial" panose="020B0604020202020204" pitchFamily="34" charset="0"/>
              </a:rPr>
              <a:t>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875130" y="356345"/>
            <a:ext cx="7149465" cy="156845"/>
            <a:chOff x="1875130" y="356345"/>
            <a:chExt cx="7149465" cy="156845"/>
          </a:xfrm>
          <a:solidFill>
            <a:srgbClr val="00FF00"/>
          </a:solidFill>
        </p:grpSpPr>
        <p:sp>
          <p:nvSpPr>
            <p:cNvPr id="5" name="object 5"/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82778" y="356345"/>
            <a:ext cx="697230" cy="156845"/>
            <a:chOff x="82778" y="356345"/>
            <a:chExt cx="697230" cy="156845"/>
          </a:xfrm>
          <a:solidFill>
            <a:srgbClr val="00FF00"/>
          </a:solidFill>
        </p:grpSpPr>
        <p:sp>
          <p:nvSpPr>
            <p:cNvPr id="8" name="object 8"/>
            <p:cNvSpPr/>
            <p:nvPr/>
          </p:nvSpPr>
          <p:spPr>
            <a:xfrm>
              <a:off x="89128" y="362695"/>
              <a:ext cx="684530" cy="144145"/>
            </a:xfrm>
            <a:custGeom>
              <a:avLst/>
              <a:gdLst/>
              <a:ahLst/>
              <a:cxnLst/>
              <a:rect l="l" t="t" r="r" b="b"/>
              <a:pathLst>
                <a:path w="684530" h="144145">
                  <a:moveTo>
                    <a:pt x="611999" y="0"/>
                  </a:moveTo>
                  <a:lnTo>
                    <a:pt x="72000" y="0"/>
                  </a:lnTo>
                  <a:lnTo>
                    <a:pt x="43974" y="5658"/>
                  </a:lnTo>
                  <a:lnTo>
                    <a:pt x="21088" y="21088"/>
                  </a:lnTo>
                  <a:lnTo>
                    <a:pt x="5658" y="43974"/>
                  </a:lnTo>
                  <a:lnTo>
                    <a:pt x="0" y="71998"/>
                  </a:lnTo>
                  <a:lnTo>
                    <a:pt x="5658" y="100024"/>
                  </a:lnTo>
                  <a:lnTo>
                    <a:pt x="21088" y="122910"/>
                  </a:lnTo>
                  <a:lnTo>
                    <a:pt x="43974" y="138340"/>
                  </a:lnTo>
                  <a:lnTo>
                    <a:pt x="72000" y="143998"/>
                  </a:lnTo>
                  <a:lnTo>
                    <a:pt x="611998" y="144000"/>
                  </a:lnTo>
                  <a:lnTo>
                    <a:pt x="640024" y="138342"/>
                  </a:lnTo>
                  <a:lnTo>
                    <a:pt x="662910" y="122912"/>
                  </a:lnTo>
                  <a:lnTo>
                    <a:pt x="678340" y="100025"/>
                  </a:lnTo>
                  <a:lnTo>
                    <a:pt x="683999" y="72000"/>
                  </a:lnTo>
                  <a:lnTo>
                    <a:pt x="678341" y="43974"/>
                  </a:lnTo>
                  <a:lnTo>
                    <a:pt x="662911" y="21088"/>
                  </a:lnTo>
                  <a:lnTo>
                    <a:pt x="640025" y="5658"/>
                  </a:lnTo>
                  <a:lnTo>
                    <a:pt x="611999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89128" y="362695"/>
              <a:ext cx="684530" cy="144145"/>
            </a:xfrm>
            <a:custGeom>
              <a:avLst/>
              <a:gdLst/>
              <a:ahLst/>
              <a:cxnLst/>
              <a:rect l="l" t="t" r="r" b="b"/>
              <a:pathLst>
                <a:path w="684530" h="144145">
                  <a:moveTo>
                    <a:pt x="0" y="72000"/>
                  </a:moveTo>
                  <a:lnTo>
                    <a:pt x="5658" y="43974"/>
                  </a:lnTo>
                  <a:lnTo>
                    <a:pt x="21088" y="21088"/>
                  </a:lnTo>
                  <a:lnTo>
                    <a:pt x="43974" y="5658"/>
                  </a:lnTo>
                  <a:lnTo>
                    <a:pt x="72000" y="0"/>
                  </a:lnTo>
                  <a:lnTo>
                    <a:pt x="611999" y="0"/>
                  </a:lnTo>
                  <a:lnTo>
                    <a:pt x="640025" y="5658"/>
                  </a:lnTo>
                  <a:lnTo>
                    <a:pt x="662911" y="21088"/>
                  </a:lnTo>
                  <a:lnTo>
                    <a:pt x="678341" y="43974"/>
                  </a:lnTo>
                  <a:lnTo>
                    <a:pt x="683999" y="72000"/>
                  </a:lnTo>
                  <a:lnTo>
                    <a:pt x="678340" y="100026"/>
                  </a:lnTo>
                  <a:lnTo>
                    <a:pt x="662910" y="122912"/>
                  </a:lnTo>
                  <a:lnTo>
                    <a:pt x="640024" y="138342"/>
                  </a:lnTo>
                  <a:lnTo>
                    <a:pt x="611998" y="144000"/>
                  </a:lnTo>
                  <a:lnTo>
                    <a:pt x="72000" y="144000"/>
                  </a:lnTo>
                  <a:lnTo>
                    <a:pt x="43974" y="138341"/>
                  </a:lnTo>
                  <a:lnTo>
                    <a:pt x="21088" y="122911"/>
                  </a:lnTo>
                  <a:lnTo>
                    <a:pt x="5658" y="100025"/>
                  </a:lnTo>
                  <a:lnTo>
                    <a:pt x="0" y="71999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023284" y="888851"/>
            <a:ext cx="824559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4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</a:rPr>
              <a:t>Chapitre 1 : </a:t>
            </a:r>
            <a:r>
              <a:rPr lang="fr-FR" sz="20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</a:rPr>
              <a:t>Électrocinétique</a:t>
            </a:r>
            <a:endParaRPr sz="20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74323" y="721958"/>
            <a:ext cx="500380" cy="802640"/>
            <a:chOff x="482739" y="1033930"/>
            <a:chExt cx="500380" cy="802640"/>
          </a:xfrm>
          <a:solidFill>
            <a:schemeClr val="tx2">
              <a:lumMod val="50000"/>
            </a:schemeClr>
          </a:solidFill>
        </p:grpSpPr>
        <p:sp>
          <p:nvSpPr>
            <p:cNvPr id="12" name="object 12"/>
            <p:cNvSpPr/>
            <p:nvPr/>
          </p:nvSpPr>
          <p:spPr>
            <a:xfrm>
              <a:off x="491437" y="1072565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8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5"/>
                  </a:lnTo>
                  <a:lnTo>
                    <a:pt x="484086" y="375261"/>
                  </a:lnTo>
                  <a:lnTo>
                    <a:pt x="486466" y="362779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491437" y="1072565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74949" y="38879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9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6"/>
                  </a:lnTo>
                  <a:lnTo>
                    <a:pt x="484086" y="375261"/>
                  </a:lnTo>
                  <a:lnTo>
                    <a:pt x="486466" y="362778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</a:path>
              </a:pathLst>
            </a:custGeom>
            <a:grpFill/>
            <a:ln w="9525">
              <a:solidFill>
                <a:srgbClr val="25406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487501" y="1038692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77462" y="0"/>
                  </a:moveTo>
                  <a:lnTo>
                    <a:pt x="25988" y="22240"/>
                  </a:lnTo>
                  <a:lnTo>
                    <a:pt x="1880" y="72863"/>
                  </a:lnTo>
                  <a:lnTo>
                    <a:pt x="0" y="105919"/>
                  </a:lnTo>
                  <a:lnTo>
                    <a:pt x="3709" y="143282"/>
                  </a:lnTo>
                  <a:lnTo>
                    <a:pt x="12116" y="184309"/>
                  </a:lnTo>
                  <a:lnTo>
                    <a:pt x="24326" y="228357"/>
                  </a:lnTo>
                  <a:lnTo>
                    <a:pt x="39446" y="274785"/>
                  </a:lnTo>
                  <a:lnTo>
                    <a:pt x="56582" y="322948"/>
                  </a:lnTo>
                  <a:lnTo>
                    <a:pt x="93332" y="421916"/>
                  </a:lnTo>
                  <a:lnTo>
                    <a:pt x="111157" y="471434"/>
                  </a:lnTo>
                  <a:lnTo>
                    <a:pt x="127425" y="520119"/>
                  </a:lnTo>
                  <a:lnTo>
                    <a:pt x="141242" y="567328"/>
                  </a:lnTo>
                  <a:lnTo>
                    <a:pt x="151715" y="612419"/>
                  </a:lnTo>
                  <a:lnTo>
                    <a:pt x="157950" y="654749"/>
                  </a:lnTo>
                  <a:lnTo>
                    <a:pt x="159054" y="693675"/>
                  </a:lnTo>
                  <a:lnTo>
                    <a:pt x="154133" y="728556"/>
                  </a:lnTo>
                  <a:lnTo>
                    <a:pt x="142294" y="758748"/>
                  </a:lnTo>
                  <a:lnTo>
                    <a:pt x="480882" y="419753"/>
                  </a:lnTo>
                  <a:lnTo>
                    <a:pt x="488022" y="408832"/>
                  </a:lnTo>
                  <a:lnTo>
                    <a:pt x="490402" y="396220"/>
                  </a:lnTo>
                  <a:lnTo>
                    <a:pt x="488022" y="383553"/>
                  </a:lnTo>
                  <a:lnTo>
                    <a:pt x="480882" y="372465"/>
                  </a:lnTo>
                  <a:lnTo>
                    <a:pt x="127830" y="18988"/>
                  </a:lnTo>
                  <a:lnTo>
                    <a:pt x="104569" y="4202"/>
                  </a:lnTo>
                  <a:lnTo>
                    <a:pt x="7746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487501" y="1038692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142294" y="758749"/>
                  </a:moveTo>
                  <a:lnTo>
                    <a:pt x="154133" y="728556"/>
                  </a:lnTo>
                  <a:lnTo>
                    <a:pt x="159054" y="693676"/>
                  </a:lnTo>
                  <a:lnTo>
                    <a:pt x="157950" y="654749"/>
                  </a:lnTo>
                  <a:lnTo>
                    <a:pt x="151715" y="612420"/>
                  </a:lnTo>
                  <a:lnTo>
                    <a:pt x="141242" y="567329"/>
                  </a:lnTo>
                  <a:lnTo>
                    <a:pt x="127425" y="520120"/>
                  </a:lnTo>
                  <a:lnTo>
                    <a:pt x="111157" y="471435"/>
                  </a:lnTo>
                  <a:lnTo>
                    <a:pt x="93332" y="421916"/>
                  </a:lnTo>
                  <a:lnTo>
                    <a:pt x="74842" y="372207"/>
                  </a:lnTo>
                  <a:lnTo>
                    <a:pt x="56582" y="322949"/>
                  </a:lnTo>
                  <a:lnTo>
                    <a:pt x="39446" y="274785"/>
                  </a:lnTo>
                  <a:lnTo>
                    <a:pt x="24326" y="228358"/>
                  </a:lnTo>
                  <a:lnTo>
                    <a:pt x="12116" y="184310"/>
                  </a:lnTo>
                  <a:lnTo>
                    <a:pt x="3709" y="143283"/>
                  </a:lnTo>
                  <a:lnTo>
                    <a:pt x="0" y="105920"/>
                  </a:lnTo>
                  <a:lnTo>
                    <a:pt x="1880" y="72863"/>
                  </a:lnTo>
                  <a:lnTo>
                    <a:pt x="10245" y="44756"/>
                  </a:lnTo>
                  <a:lnTo>
                    <a:pt x="25988" y="22240"/>
                  </a:lnTo>
                  <a:lnTo>
                    <a:pt x="50078" y="6104"/>
                  </a:lnTo>
                  <a:lnTo>
                    <a:pt x="77462" y="0"/>
                  </a:lnTo>
                  <a:lnTo>
                    <a:pt x="104569" y="4202"/>
                  </a:lnTo>
                  <a:lnTo>
                    <a:pt x="127830" y="18989"/>
                  </a:lnTo>
                  <a:lnTo>
                    <a:pt x="480882" y="372466"/>
                  </a:lnTo>
                  <a:lnTo>
                    <a:pt x="488022" y="383553"/>
                  </a:lnTo>
                  <a:lnTo>
                    <a:pt x="490402" y="396220"/>
                  </a:lnTo>
                  <a:lnTo>
                    <a:pt x="488022" y="408832"/>
                  </a:lnTo>
                  <a:lnTo>
                    <a:pt x="480882" y="419753"/>
                  </a:lnTo>
                  <a:lnTo>
                    <a:pt x="142294" y="758749"/>
                  </a:lnTo>
                  <a:close/>
                </a:path>
              </a:pathLst>
            </a:custGeom>
            <a:grpFill/>
            <a:ln w="9525">
              <a:solidFill>
                <a:srgbClr val="25406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06125" y="846775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2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276190" y="1751328"/>
            <a:ext cx="500380" cy="802640"/>
            <a:chOff x="458377" y="2058221"/>
            <a:chExt cx="500380" cy="802640"/>
          </a:xfrm>
          <a:solidFill>
            <a:srgbClr val="0000FF"/>
          </a:solidFill>
        </p:grpSpPr>
        <p:sp>
          <p:nvSpPr>
            <p:cNvPr id="18" name="object 18"/>
            <p:cNvSpPr/>
            <p:nvPr/>
          </p:nvSpPr>
          <p:spPr>
            <a:xfrm>
              <a:off x="467075" y="2096858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9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5"/>
                  </a:lnTo>
                  <a:lnTo>
                    <a:pt x="484086" y="375261"/>
                  </a:lnTo>
                  <a:lnTo>
                    <a:pt x="486466" y="362779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467075" y="2096858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74949" y="38879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9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6"/>
                  </a:lnTo>
                  <a:lnTo>
                    <a:pt x="484086" y="375261"/>
                  </a:lnTo>
                  <a:lnTo>
                    <a:pt x="486466" y="362778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</a:path>
              </a:pathLst>
            </a:custGeom>
            <a:grpFill/>
            <a:ln w="9525">
              <a:solidFill>
                <a:srgbClr val="403152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463139" y="2062984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77462" y="0"/>
                  </a:moveTo>
                  <a:lnTo>
                    <a:pt x="25988" y="22239"/>
                  </a:lnTo>
                  <a:lnTo>
                    <a:pt x="1880" y="72863"/>
                  </a:lnTo>
                  <a:lnTo>
                    <a:pt x="0" y="105920"/>
                  </a:lnTo>
                  <a:lnTo>
                    <a:pt x="3709" y="143283"/>
                  </a:lnTo>
                  <a:lnTo>
                    <a:pt x="12116" y="184310"/>
                  </a:lnTo>
                  <a:lnTo>
                    <a:pt x="24326" y="228358"/>
                  </a:lnTo>
                  <a:lnTo>
                    <a:pt x="39446" y="274786"/>
                  </a:lnTo>
                  <a:lnTo>
                    <a:pt x="56583" y="322949"/>
                  </a:lnTo>
                  <a:lnTo>
                    <a:pt x="93332" y="421917"/>
                  </a:lnTo>
                  <a:lnTo>
                    <a:pt x="111157" y="471435"/>
                  </a:lnTo>
                  <a:lnTo>
                    <a:pt x="127425" y="520120"/>
                  </a:lnTo>
                  <a:lnTo>
                    <a:pt x="141242" y="567329"/>
                  </a:lnTo>
                  <a:lnTo>
                    <a:pt x="151715" y="612420"/>
                  </a:lnTo>
                  <a:lnTo>
                    <a:pt x="157950" y="654750"/>
                  </a:lnTo>
                  <a:lnTo>
                    <a:pt x="159054" y="693676"/>
                  </a:lnTo>
                  <a:lnTo>
                    <a:pt x="154133" y="728557"/>
                  </a:lnTo>
                  <a:lnTo>
                    <a:pt x="142294" y="758749"/>
                  </a:lnTo>
                  <a:lnTo>
                    <a:pt x="480882" y="419753"/>
                  </a:lnTo>
                  <a:lnTo>
                    <a:pt x="488022" y="408832"/>
                  </a:lnTo>
                  <a:lnTo>
                    <a:pt x="490402" y="396221"/>
                  </a:lnTo>
                  <a:lnTo>
                    <a:pt x="488022" y="383554"/>
                  </a:lnTo>
                  <a:lnTo>
                    <a:pt x="480882" y="372466"/>
                  </a:lnTo>
                  <a:lnTo>
                    <a:pt x="127830" y="18989"/>
                  </a:lnTo>
                  <a:lnTo>
                    <a:pt x="104569" y="4202"/>
                  </a:lnTo>
                  <a:lnTo>
                    <a:pt x="7746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463139" y="2062984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142294" y="758749"/>
                  </a:moveTo>
                  <a:lnTo>
                    <a:pt x="154133" y="728556"/>
                  </a:lnTo>
                  <a:lnTo>
                    <a:pt x="159054" y="693676"/>
                  </a:lnTo>
                  <a:lnTo>
                    <a:pt x="157950" y="654749"/>
                  </a:lnTo>
                  <a:lnTo>
                    <a:pt x="151715" y="612420"/>
                  </a:lnTo>
                  <a:lnTo>
                    <a:pt x="141242" y="567329"/>
                  </a:lnTo>
                  <a:lnTo>
                    <a:pt x="127425" y="520120"/>
                  </a:lnTo>
                  <a:lnTo>
                    <a:pt x="111157" y="471435"/>
                  </a:lnTo>
                  <a:lnTo>
                    <a:pt x="93332" y="421916"/>
                  </a:lnTo>
                  <a:lnTo>
                    <a:pt x="74842" y="372207"/>
                  </a:lnTo>
                  <a:lnTo>
                    <a:pt x="56582" y="322949"/>
                  </a:lnTo>
                  <a:lnTo>
                    <a:pt x="39446" y="274785"/>
                  </a:lnTo>
                  <a:lnTo>
                    <a:pt x="24326" y="228358"/>
                  </a:lnTo>
                  <a:lnTo>
                    <a:pt x="12116" y="184310"/>
                  </a:lnTo>
                  <a:lnTo>
                    <a:pt x="3709" y="143283"/>
                  </a:lnTo>
                  <a:lnTo>
                    <a:pt x="0" y="105920"/>
                  </a:lnTo>
                  <a:lnTo>
                    <a:pt x="1880" y="72863"/>
                  </a:lnTo>
                  <a:lnTo>
                    <a:pt x="10245" y="44756"/>
                  </a:lnTo>
                  <a:lnTo>
                    <a:pt x="25988" y="22240"/>
                  </a:lnTo>
                  <a:lnTo>
                    <a:pt x="50078" y="6104"/>
                  </a:lnTo>
                  <a:lnTo>
                    <a:pt x="77462" y="0"/>
                  </a:lnTo>
                  <a:lnTo>
                    <a:pt x="104569" y="4202"/>
                  </a:lnTo>
                  <a:lnTo>
                    <a:pt x="127830" y="18989"/>
                  </a:lnTo>
                  <a:lnTo>
                    <a:pt x="480882" y="372466"/>
                  </a:lnTo>
                  <a:lnTo>
                    <a:pt x="488022" y="383553"/>
                  </a:lnTo>
                  <a:lnTo>
                    <a:pt x="490402" y="396220"/>
                  </a:lnTo>
                  <a:lnTo>
                    <a:pt x="488022" y="408832"/>
                  </a:lnTo>
                  <a:lnTo>
                    <a:pt x="480882" y="419753"/>
                  </a:lnTo>
                  <a:lnTo>
                    <a:pt x="142294" y="758749"/>
                  </a:lnTo>
                  <a:close/>
                </a:path>
              </a:pathLst>
            </a:custGeom>
            <a:grpFill/>
            <a:ln w="9525">
              <a:solidFill>
                <a:srgbClr val="403152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12752" y="1872244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endParaRPr sz="2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84486" y="2810728"/>
            <a:ext cx="500380" cy="802640"/>
            <a:chOff x="482739" y="3001513"/>
            <a:chExt cx="500380" cy="802640"/>
          </a:xfrm>
          <a:solidFill>
            <a:schemeClr val="accent2"/>
          </a:solidFill>
        </p:grpSpPr>
        <p:sp>
          <p:nvSpPr>
            <p:cNvPr id="26" name="object 26"/>
            <p:cNvSpPr/>
            <p:nvPr/>
          </p:nvSpPr>
          <p:spPr>
            <a:xfrm>
              <a:off x="491437" y="3040150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8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5"/>
                  </a:lnTo>
                  <a:lnTo>
                    <a:pt x="484086" y="375261"/>
                  </a:lnTo>
                  <a:lnTo>
                    <a:pt x="486466" y="362779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7" name="object 27"/>
            <p:cNvSpPr/>
            <p:nvPr/>
          </p:nvSpPr>
          <p:spPr>
            <a:xfrm>
              <a:off x="491437" y="3040150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74949" y="38879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9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6"/>
                  </a:lnTo>
                  <a:lnTo>
                    <a:pt x="484086" y="375261"/>
                  </a:lnTo>
                  <a:lnTo>
                    <a:pt x="486466" y="362778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</a:path>
              </a:pathLst>
            </a:custGeom>
            <a:grpFill/>
            <a:ln w="9525">
              <a:solidFill>
                <a:srgbClr val="215968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487501" y="3006275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77462" y="0"/>
                  </a:moveTo>
                  <a:lnTo>
                    <a:pt x="25988" y="22240"/>
                  </a:lnTo>
                  <a:lnTo>
                    <a:pt x="1880" y="72863"/>
                  </a:lnTo>
                  <a:lnTo>
                    <a:pt x="0" y="105920"/>
                  </a:lnTo>
                  <a:lnTo>
                    <a:pt x="3709" y="143283"/>
                  </a:lnTo>
                  <a:lnTo>
                    <a:pt x="12116" y="184310"/>
                  </a:lnTo>
                  <a:lnTo>
                    <a:pt x="24326" y="228358"/>
                  </a:lnTo>
                  <a:lnTo>
                    <a:pt x="39446" y="274786"/>
                  </a:lnTo>
                  <a:lnTo>
                    <a:pt x="56582" y="322949"/>
                  </a:lnTo>
                  <a:lnTo>
                    <a:pt x="93332" y="421917"/>
                  </a:lnTo>
                  <a:lnTo>
                    <a:pt x="111157" y="471435"/>
                  </a:lnTo>
                  <a:lnTo>
                    <a:pt x="127425" y="520120"/>
                  </a:lnTo>
                  <a:lnTo>
                    <a:pt x="141242" y="567329"/>
                  </a:lnTo>
                  <a:lnTo>
                    <a:pt x="151715" y="612420"/>
                  </a:lnTo>
                  <a:lnTo>
                    <a:pt x="157950" y="654749"/>
                  </a:lnTo>
                  <a:lnTo>
                    <a:pt x="159054" y="693676"/>
                  </a:lnTo>
                  <a:lnTo>
                    <a:pt x="154133" y="728556"/>
                  </a:lnTo>
                  <a:lnTo>
                    <a:pt x="142294" y="758748"/>
                  </a:lnTo>
                  <a:lnTo>
                    <a:pt x="480882" y="419753"/>
                  </a:lnTo>
                  <a:lnTo>
                    <a:pt x="488022" y="408832"/>
                  </a:lnTo>
                  <a:lnTo>
                    <a:pt x="490402" y="396220"/>
                  </a:lnTo>
                  <a:lnTo>
                    <a:pt x="488022" y="383554"/>
                  </a:lnTo>
                  <a:lnTo>
                    <a:pt x="480882" y="372466"/>
                  </a:lnTo>
                  <a:lnTo>
                    <a:pt x="127830" y="18988"/>
                  </a:lnTo>
                  <a:lnTo>
                    <a:pt x="104569" y="4202"/>
                  </a:lnTo>
                  <a:lnTo>
                    <a:pt x="7746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9" name="object 29"/>
            <p:cNvSpPr/>
            <p:nvPr/>
          </p:nvSpPr>
          <p:spPr>
            <a:xfrm>
              <a:off x="487501" y="3006275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142294" y="758749"/>
                  </a:moveTo>
                  <a:lnTo>
                    <a:pt x="154133" y="728556"/>
                  </a:lnTo>
                  <a:lnTo>
                    <a:pt x="159054" y="693676"/>
                  </a:lnTo>
                  <a:lnTo>
                    <a:pt x="157950" y="654749"/>
                  </a:lnTo>
                  <a:lnTo>
                    <a:pt x="151715" y="612420"/>
                  </a:lnTo>
                  <a:lnTo>
                    <a:pt x="141242" y="567329"/>
                  </a:lnTo>
                  <a:lnTo>
                    <a:pt x="127425" y="520120"/>
                  </a:lnTo>
                  <a:lnTo>
                    <a:pt x="111157" y="471435"/>
                  </a:lnTo>
                  <a:lnTo>
                    <a:pt x="93332" y="421916"/>
                  </a:lnTo>
                  <a:lnTo>
                    <a:pt x="74842" y="372207"/>
                  </a:lnTo>
                  <a:lnTo>
                    <a:pt x="56582" y="322949"/>
                  </a:lnTo>
                  <a:lnTo>
                    <a:pt x="39446" y="274785"/>
                  </a:lnTo>
                  <a:lnTo>
                    <a:pt x="24326" y="228358"/>
                  </a:lnTo>
                  <a:lnTo>
                    <a:pt x="12116" y="184310"/>
                  </a:lnTo>
                  <a:lnTo>
                    <a:pt x="3709" y="143283"/>
                  </a:lnTo>
                  <a:lnTo>
                    <a:pt x="0" y="105920"/>
                  </a:lnTo>
                  <a:lnTo>
                    <a:pt x="1880" y="72863"/>
                  </a:lnTo>
                  <a:lnTo>
                    <a:pt x="10245" y="44756"/>
                  </a:lnTo>
                  <a:lnTo>
                    <a:pt x="25988" y="22240"/>
                  </a:lnTo>
                  <a:lnTo>
                    <a:pt x="50078" y="6104"/>
                  </a:lnTo>
                  <a:lnTo>
                    <a:pt x="77462" y="0"/>
                  </a:lnTo>
                  <a:lnTo>
                    <a:pt x="104569" y="4202"/>
                  </a:lnTo>
                  <a:lnTo>
                    <a:pt x="127830" y="18989"/>
                  </a:lnTo>
                  <a:lnTo>
                    <a:pt x="480882" y="372466"/>
                  </a:lnTo>
                  <a:lnTo>
                    <a:pt x="488022" y="383553"/>
                  </a:lnTo>
                  <a:lnTo>
                    <a:pt x="490402" y="396220"/>
                  </a:lnTo>
                  <a:lnTo>
                    <a:pt x="488022" y="408832"/>
                  </a:lnTo>
                  <a:lnTo>
                    <a:pt x="480882" y="419753"/>
                  </a:lnTo>
                  <a:lnTo>
                    <a:pt x="142294" y="758749"/>
                  </a:lnTo>
                  <a:close/>
                </a:path>
              </a:pathLst>
            </a:custGeom>
            <a:grpFill/>
            <a:ln w="9525">
              <a:solidFill>
                <a:srgbClr val="25406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12752" y="2967159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chemeClr val="bg1"/>
                </a:solidFill>
                <a:latin typeface="Arial"/>
                <a:cs typeface="Arial"/>
              </a:rPr>
              <a:t>3</a:t>
            </a:r>
            <a:endParaRPr sz="2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259321" y="3817654"/>
            <a:ext cx="500380" cy="802640"/>
            <a:chOff x="482739" y="3962348"/>
            <a:chExt cx="500380" cy="802640"/>
          </a:xfrm>
          <a:solidFill>
            <a:srgbClr val="92D050"/>
          </a:solidFill>
        </p:grpSpPr>
        <p:sp>
          <p:nvSpPr>
            <p:cNvPr id="33" name="object 33"/>
            <p:cNvSpPr/>
            <p:nvPr/>
          </p:nvSpPr>
          <p:spPr>
            <a:xfrm>
              <a:off x="491437" y="4000985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2"/>
                  </a:lnTo>
                  <a:lnTo>
                    <a:pt x="45876" y="753137"/>
                  </a:lnTo>
                  <a:lnTo>
                    <a:pt x="73288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6"/>
                  </a:lnTo>
                  <a:lnTo>
                    <a:pt x="484086" y="375261"/>
                  </a:lnTo>
                  <a:lnTo>
                    <a:pt x="486466" y="362778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4" name="object 34"/>
            <p:cNvSpPr/>
            <p:nvPr/>
          </p:nvSpPr>
          <p:spPr>
            <a:xfrm>
              <a:off x="491437" y="4000985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74949" y="38879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9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6"/>
                  </a:lnTo>
                  <a:lnTo>
                    <a:pt x="484086" y="375261"/>
                  </a:lnTo>
                  <a:lnTo>
                    <a:pt x="486466" y="362778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</a:path>
              </a:pathLst>
            </a:custGeom>
            <a:solidFill>
              <a:srgbClr val="CC00CC"/>
            </a:solidFill>
            <a:ln w="9525">
              <a:solidFill>
                <a:srgbClr val="4F6228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5" name="object 35"/>
            <p:cNvSpPr/>
            <p:nvPr/>
          </p:nvSpPr>
          <p:spPr>
            <a:xfrm>
              <a:off x="487501" y="3967110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77462" y="0"/>
                  </a:moveTo>
                  <a:lnTo>
                    <a:pt x="25988" y="22240"/>
                  </a:lnTo>
                  <a:lnTo>
                    <a:pt x="1880" y="72863"/>
                  </a:lnTo>
                  <a:lnTo>
                    <a:pt x="0" y="105920"/>
                  </a:lnTo>
                  <a:lnTo>
                    <a:pt x="3709" y="143283"/>
                  </a:lnTo>
                  <a:lnTo>
                    <a:pt x="12116" y="184310"/>
                  </a:lnTo>
                  <a:lnTo>
                    <a:pt x="24326" y="228358"/>
                  </a:lnTo>
                  <a:lnTo>
                    <a:pt x="39446" y="274785"/>
                  </a:lnTo>
                  <a:lnTo>
                    <a:pt x="56582" y="322949"/>
                  </a:lnTo>
                  <a:lnTo>
                    <a:pt x="93332" y="421916"/>
                  </a:lnTo>
                  <a:lnTo>
                    <a:pt x="111157" y="471435"/>
                  </a:lnTo>
                  <a:lnTo>
                    <a:pt x="127425" y="520120"/>
                  </a:lnTo>
                  <a:lnTo>
                    <a:pt x="141242" y="567329"/>
                  </a:lnTo>
                  <a:lnTo>
                    <a:pt x="151715" y="612420"/>
                  </a:lnTo>
                  <a:lnTo>
                    <a:pt x="157950" y="654749"/>
                  </a:lnTo>
                  <a:lnTo>
                    <a:pt x="159054" y="693676"/>
                  </a:lnTo>
                  <a:lnTo>
                    <a:pt x="154133" y="728556"/>
                  </a:lnTo>
                  <a:lnTo>
                    <a:pt x="142294" y="758748"/>
                  </a:lnTo>
                  <a:lnTo>
                    <a:pt x="480882" y="419753"/>
                  </a:lnTo>
                  <a:lnTo>
                    <a:pt x="488022" y="408832"/>
                  </a:lnTo>
                  <a:lnTo>
                    <a:pt x="490402" y="396220"/>
                  </a:lnTo>
                  <a:lnTo>
                    <a:pt x="488022" y="383553"/>
                  </a:lnTo>
                  <a:lnTo>
                    <a:pt x="480882" y="372466"/>
                  </a:lnTo>
                  <a:lnTo>
                    <a:pt x="127830" y="18989"/>
                  </a:lnTo>
                  <a:lnTo>
                    <a:pt x="104569" y="4202"/>
                  </a:lnTo>
                  <a:lnTo>
                    <a:pt x="7746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6" name="object 36"/>
            <p:cNvSpPr/>
            <p:nvPr/>
          </p:nvSpPr>
          <p:spPr>
            <a:xfrm>
              <a:off x="487501" y="3967110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142294" y="758749"/>
                  </a:moveTo>
                  <a:lnTo>
                    <a:pt x="154133" y="728556"/>
                  </a:lnTo>
                  <a:lnTo>
                    <a:pt x="159054" y="693676"/>
                  </a:lnTo>
                  <a:lnTo>
                    <a:pt x="157950" y="654749"/>
                  </a:lnTo>
                  <a:lnTo>
                    <a:pt x="151715" y="612420"/>
                  </a:lnTo>
                  <a:lnTo>
                    <a:pt x="141242" y="567329"/>
                  </a:lnTo>
                  <a:lnTo>
                    <a:pt x="127425" y="520120"/>
                  </a:lnTo>
                  <a:lnTo>
                    <a:pt x="111157" y="471435"/>
                  </a:lnTo>
                  <a:lnTo>
                    <a:pt x="93332" y="421916"/>
                  </a:lnTo>
                  <a:lnTo>
                    <a:pt x="74842" y="372207"/>
                  </a:lnTo>
                  <a:lnTo>
                    <a:pt x="56582" y="322949"/>
                  </a:lnTo>
                  <a:lnTo>
                    <a:pt x="39446" y="274785"/>
                  </a:lnTo>
                  <a:lnTo>
                    <a:pt x="24326" y="228358"/>
                  </a:lnTo>
                  <a:lnTo>
                    <a:pt x="12116" y="184310"/>
                  </a:lnTo>
                  <a:lnTo>
                    <a:pt x="3709" y="143283"/>
                  </a:lnTo>
                  <a:lnTo>
                    <a:pt x="0" y="105920"/>
                  </a:lnTo>
                  <a:lnTo>
                    <a:pt x="1880" y="72863"/>
                  </a:lnTo>
                  <a:lnTo>
                    <a:pt x="10245" y="44756"/>
                  </a:lnTo>
                  <a:lnTo>
                    <a:pt x="25988" y="22240"/>
                  </a:lnTo>
                  <a:lnTo>
                    <a:pt x="50078" y="6104"/>
                  </a:lnTo>
                  <a:lnTo>
                    <a:pt x="77462" y="0"/>
                  </a:lnTo>
                  <a:lnTo>
                    <a:pt x="104569" y="4202"/>
                  </a:lnTo>
                  <a:lnTo>
                    <a:pt x="127830" y="18989"/>
                  </a:lnTo>
                  <a:lnTo>
                    <a:pt x="480882" y="372466"/>
                  </a:lnTo>
                  <a:lnTo>
                    <a:pt x="488022" y="383553"/>
                  </a:lnTo>
                  <a:lnTo>
                    <a:pt x="490402" y="396220"/>
                  </a:lnTo>
                  <a:lnTo>
                    <a:pt x="488022" y="408832"/>
                  </a:lnTo>
                  <a:lnTo>
                    <a:pt x="480882" y="419753"/>
                  </a:lnTo>
                  <a:lnTo>
                    <a:pt x="142294" y="758749"/>
                  </a:lnTo>
                  <a:close/>
                </a:path>
              </a:pathLst>
            </a:custGeom>
            <a:solidFill>
              <a:srgbClr val="CC00CC"/>
            </a:solidFill>
            <a:ln w="9525">
              <a:solidFill>
                <a:srgbClr val="254061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397750" y="3960197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chemeClr val="bg1"/>
                </a:solidFill>
                <a:latin typeface="Arial"/>
                <a:cs typeface="Arial"/>
              </a:rPr>
              <a:t>4</a:t>
            </a:r>
            <a:endParaRPr sz="2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894655" y="4851687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7" name="object 10"/>
          <p:cNvSpPr txBox="1"/>
          <p:nvPr/>
        </p:nvSpPr>
        <p:spPr>
          <a:xfrm>
            <a:off x="1053314" y="1888340"/>
            <a:ext cx="748108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Chapitre 2 : </a:t>
            </a:r>
            <a:r>
              <a:rPr lang="fr-FR" sz="20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2000" b="1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48" name="object 10"/>
          <p:cNvSpPr txBox="1"/>
          <p:nvPr/>
        </p:nvSpPr>
        <p:spPr>
          <a:xfrm>
            <a:off x="1048448" y="2975243"/>
            <a:ext cx="878135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400" b="1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</a:rPr>
              <a:t>Chapitre 3 : </a:t>
            </a:r>
            <a:r>
              <a:rPr lang="fr-FR" sz="2000" b="1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</a:rPr>
              <a:t>Filtres Passifs</a:t>
            </a:r>
            <a:endParaRPr sz="2000" b="1" dirty="0">
              <a:solidFill>
                <a:schemeClr val="accent6">
                  <a:lumMod val="50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49" name="object 10"/>
          <p:cNvSpPr txBox="1"/>
          <p:nvPr/>
        </p:nvSpPr>
        <p:spPr>
          <a:xfrm>
            <a:off x="1023284" y="3992043"/>
            <a:ext cx="8077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2400" b="1" dirty="0">
                <a:solidFill>
                  <a:srgbClr val="CC00CC"/>
                </a:solidFill>
                <a:latin typeface="Bookman Old Style" panose="02050604050505020204" pitchFamily="18" charset="0"/>
              </a:rPr>
              <a:t>Chapitre 4 : Composants Electroniques de base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6" grpId="0"/>
      <p:bldP spid="22" grpId="0"/>
      <p:bldP spid="30" grpId="0"/>
      <p:bldP spid="37" grpId="0"/>
      <p:bldP spid="47" grpId="0"/>
      <p:bldP spid="48" grpId="0"/>
      <p:bldP spid="4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4781550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>
                <a:moveTo>
                  <a:pt x="0" y="0"/>
                </a:moveTo>
                <a:lnTo>
                  <a:pt x="9144000" y="1"/>
                </a:lnTo>
              </a:path>
            </a:pathLst>
          </a:custGeom>
          <a:ln w="25400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94657" y="137667"/>
            <a:ext cx="966472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latin typeface="Bookman Old Style" panose="02050604050505020204" pitchFamily="18" charset="0"/>
              </a:rPr>
              <a:t>Pl</a:t>
            </a:r>
            <a:r>
              <a:rPr spc="5" dirty="0">
                <a:latin typeface="Bookman Old Style" panose="02050604050505020204" pitchFamily="18" charset="0"/>
              </a:rPr>
              <a:t>a</a:t>
            </a:r>
            <a:r>
              <a:rPr dirty="0">
                <a:latin typeface="Bookman Old Style" panose="02050604050505020204" pitchFamily="18" charset="0"/>
              </a:rPr>
              <a:t>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854779" y="356344"/>
            <a:ext cx="7149465" cy="156845"/>
            <a:chOff x="1875130" y="356345"/>
            <a:chExt cx="7149465" cy="156845"/>
          </a:xfrm>
          <a:solidFill>
            <a:srgbClr val="0000FF"/>
          </a:solidFill>
        </p:grpSpPr>
        <p:sp>
          <p:nvSpPr>
            <p:cNvPr id="5" name="object 5"/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82778" y="356345"/>
            <a:ext cx="697230" cy="156845"/>
            <a:chOff x="82778" y="356345"/>
            <a:chExt cx="697230" cy="156845"/>
          </a:xfrm>
          <a:solidFill>
            <a:srgbClr val="0000FF"/>
          </a:solidFill>
        </p:grpSpPr>
        <p:sp>
          <p:nvSpPr>
            <p:cNvPr id="8" name="object 8"/>
            <p:cNvSpPr/>
            <p:nvPr/>
          </p:nvSpPr>
          <p:spPr>
            <a:xfrm>
              <a:off x="89128" y="362695"/>
              <a:ext cx="684530" cy="144145"/>
            </a:xfrm>
            <a:custGeom>
              <a:avLst/>
              <a:gdLst/>
              <a:ahLst/>
              <a:cxnLst/>
              <a:rect l="l" t="t" r="r" b="b"/>
              <a:pathLst>
                <a:path w="684530" h="144145">
                  <a:moveTo>
                    <a:pt x="611999" y="0"/>
                  </a:moveTo>
                  <a:lnTo>
                    <a:pt x="72000" y="0"/>
                  </a:lnTo>
                  <a:lnTo>
                    <a:pt x="43974" y="5658"/>
                  </a:lnTo>
                  <a:lnTo>
                    <a:pt x="21088" y="21088"/>
                  </a:lnTo>
                  <a:lnTo>
                    <a:pt x="5658" y="43974"/>
                  </a:lnTo>
                  <a:lnTo>
                    <a:pt x="0" y="71998"/>
                  </a:lnTo>
                  <a:lnTo>
                    <a:pt x="5658" y="100024"/>
                  </a:lnTo>
                  <a:lnTo>
                    <a:pt x="21088" y="122910"/>
                  </a:lnTo>
                  <a:lnTo>
                    <a:pt x="43974" y="138340"/>
                  </a:lnTo>
                  <a:lnTo>
                    <a:pt x="72000" y="143998"/>
                  </a:lnTo>
                  <a:lnTo>
                    <a:pt x="611998" y="144000"/>
                  </a:lnTo>
                  <a:lnTo>
                    <a:pt x="640024" y="138342"/>
                  </a:lnTo>
                  <a:lnTo>
                    <a:pt x="662910" y="122912"/>
                  </a:lnTo>
                  <a:lnTo>
                    <a:pt x="678340" y="100025"/>
                  </a:lnTo>
                  <a:lnTo>
                    <a:pt x="683999" y="72000"/>
                  </a:lnTo>
                  <a:lnTo>
                    <a:pt x="678341" y="43974"/>
                  </a:lnTo>
                  <a:lnTo>
                    <a:pt x="662911" y="21088"/>
                  </a:lnTo>
                  <a:lnTo>
                    <a:pt x="640025" y="5658"/>
                  </a:lnTo>
                  <a:lnTo>
                    <a:pt x="611999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9128" y="362695"/>
              <a:ext cx="684530" cy="144145"/>
            </a:xfrm>
            <a:custGeom>
              <a:avLst/>
              <a:gdLst/>
              <a:ahLst/>
              <a:cxnLst/>
              <a:rect l="l" t="t" r="r" b="b"/>
              <a:pathLst>
                <a:path w="684530" h="144145">
                  <a:moveTo>
                    <a:pt x="0" y="72000"/>
                  </a:moveTo>
                  <a:lnTo>
                    <a:pt x="5658" y="43974"/>
                  </a:lnTo>
                  <a:lnTo>
                    <a:pt x="21088" y="21088"/>
                  </a:lnTo>
                  <a:lnTo>
                    <a:pt x="43974" y="5658"/>
                  </a:lnTo>
                  <a:lnTo>
                    <a:pt x="72000" y="0"/>
                  </a:lnTo>
                  <a:lnTo>
                    <a:pt x="611999" y="0"/>
                  </a:lnTo>
                  <a:lnTo>
                    <a:pt x="640025" y="5658"/>
                  </a:lnTo>
                  <a:lnTo>
                    <a:pt x="662911" y="21088"/>
                  </a:lnTo>
                  <a:lnTo>
                    <a:pt x="678341" y="43974"/>
                  </a:lnTo>
                  <a:lnTo>
                    <a:pt x="683999" y="72000"/>
                  </a:lnTo>
                  <a:lnTo>
                    <a:pt x="678340" y="100026"/>
                  </a:lnTo>
                  <a:lnTo>
                    <a:pt x="662910" y="122912"/>
                  </a:lnTo>
                  <a:lnTo>
                    <a:pt x="640024" y="138342"/>
                  </a:lnTo>
                  <a:lnTo>
                    <a:pt x="611998" y="144000"/>
                  </a:lnTo>
                  <a:lnTo>
                    <a:pt x="72000" y="144000"/>
                  </a:lnTo>
                  <a:lnTo>
                    <a:pt x="43974" y="138341"/>
                  </a:lnTo>
                  <a:lnTo>
                    <a:pt x="21088" y="122911"/>
                  </a:lnTo>
                  <a:lnTo>
                    <a:pt x="5658" y="100025"/>
                  </a:lnTo>
                  <a:lnTo>
                    <a:pt x="0" y="71999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46881" y="1509049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894655" y="4851687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7" name="object 10">
            <a:extLst>
              <a:ext uri="{FF2B5EF4-FFF2-40B4-BE49-F238E27FC236}">
                <a16:creationId xmlns:a16="http://schemas.microsoft.com/office/drawing/2014/main" id="{868BE146-27EA-FE43-C50C-5A003F633563}"/>
              </a:ext>
            </a:extLst>
          </p:cNvPr>
          <p:cNvSpPr txBox="1"/>
          <p:nvPr/>
        </p:nvSpPr>
        <p:spPr>
          <a:xfrm>
            <a:off x="1905000" y="1065338"/>
            <a:ext cx="62484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Chapitre 2 : </a:t>
            </a:r>
            <a:r>
              <a:rPr lang="fr-FR" sz="20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2000" dirty="0">
              <a:solidFill>
                <a:srgbClr val="0000FF"/>
              </a:solidFill>
              <a:latin typeface="Bookman Old Style" panose="02050604050505020204" pitchFamily="18" charset="0"/>
              <a:cs typeface="Calibri"/>
            </a:endParaRPr>
          </a:p>
        </p:txBody>
      </p:sp>
      <p:grpSp>
        <p:nvGrpSpPr>
          <p:cNvPr id="18" name="object 11">
            <a:extLst>
              <a:ext uri="{FF2B5EF4-FFF2-40B4-BE49-F238E27FC236}">
                <a16:creationId xmlns:a16="http://schemas.microsoft.com/office/drawing/2014/main" id="{4C0FFD69-3304-CBE2-A2A2-FFDCF696975D}"/>
              </a:ext>
            </a:extLst>
          </p:cNvPr>
          <p:cNvGrpSpPr/>
          <p:nvPr/>
        </p:nvGrpSpPr>
        <p:grpSpPr>
          <a:xfrm>
            <a:off x="1128513" y="884640"/>
            <a:ext cx="500380" cy="802640"/>
            <a:chOff x="482739" y="1033930"/>
            <a:chExt cx="500380" cy="802640"/>
          </a:xfrm>
          <a:solidFill>
            <a:srgbClr val="0000FF"/>
          </a:solidFill>
        </p:grpSpPr>
        <p:sp>
          <p:nvSpPr>
            <p:cNvPr id="19" name="object 12">
              <a:extLst>
                <a:ext uri="{FF2B5EF4-FFF2-40B4-BE49-F238E27FC236}">
                  <a16:creationId xmlns:a16="http://schemas.microsoft.com/office/drawing/2014/main" id="{A7FFF4D5-AC81-E6D7-6415-EC40705A2549}"/>
                </a:ext>
              </a:extLst>
            </p:cNvPr>
            <p:cNvSpPr/>
            <p:nvPr/>
          </p:nvSpPr>
          <p:spPr>
            <a:xfrm>
              <a:off x="491437" y="1072565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8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5"/>
                  </a:lnTo>
                  <a:lnTo>
                    <a:pt x="484086" y="375261"/>
                  </a:lnTo>
                  <a:lnTo>
                    <a:pt x="486466" y="362779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3">
              <a:extLst>
                <a:ext uri="{FF2B5EF4-FFF2-40B4-BE49-F238E27FC236}">
                  <a16:creationId xmlns:a16="http://schemas.microsoft.com/office/drawing/2014/main" id="{8095066D-595C-6F7E-0B0D-60571A5F1785}"/>
                </a:ext>
              </a:extLst>
            </p:cNvPr>
            <p:cNvSpPr/>
            <p:nvPr/>
          </p:nvSpPr>
          <p:spPr>
            <a:xfrm>
              <a:off x="491437" y="1072565"/>
              <a:ext cx="487045" cy="759460"/>
            </a:xfrm>
            <a:custGeom>
              <a:avLst/>
              <a:gdLst/>
              <a:ahLst/>
              <a:cxnLst/>
              <a:rect l="l" t="t" r="r" b="b"/>
              <a:pathLst>
                <a:path w="487044" h="759460">
                  <a:moveTo>
                    <a:pt x="138049" y="0"/>
                  </a:moveTo>
                  <a:lnTo>
                    <a:pt x="149948" y="30211"/>
                  </a:lnTo>
                  <a:lnTo>
                    <a:pt x="155121" y="65214"/>
                  </a:lnTo>
                  <a:lnTo>
                    <a:pt x="154425" y="104347"/>
                  </a:lnTo>
                  <a:lnTo>
                    <a:pt x="148716" y="146947"/>
                  </a:lnTo>
                  <a:lnTo>
                    <a:pt x="138850" y="192353"/>
                  </a:lnTo>
                  <a:lnTo>
                    <a:pt x="125683" y="239903"/>
                  </a:lnTo>
                  <a:lnTo>
                    <a:pt x="110074" y="288935"/>
                  </a:lnTo>
                  <a:lnTo>
                    <a:pt x="92877" y="338787"/>
                  </a:lnTo>
                  <a:lnTo>
                    <a:pt x="74949" y="388797"/>
                  </a:lnTo>
                  <a:lnTo>
                    <a:pt x="57147" y="438303"/>
                  </a:lnTo>
                  <a:lnTo>
                    <a:pt x="40327" y="486644"/>
                  </a:lnTo>
                  <a:lnTo>
                    <a:pt x="25346" y="533157"/>
                  </a:lnTo>
                  <a:lnTo>
                    <a:pt x="13060" y="577181"/>
                  </a:lnTo>
                  <a:lnTo>
                    <a:pt x="4326" y="618053"/>
                  </a:lnTo>
                  <a:lnTo>
                    <a:pt x="0" y="655113"/>
                  </a:lnTo>
                  <a:lnTo>
                    <a:pt x="938" y="687697"/>
                  </a:lnTo>
                  <a:lnTo>
                    <a:pt x="7997" y="715144"/>
                  </a:lnTo>
                  <a:lnTo>
                    <a:pt x="22033" y="736793"/>
                  </a:lnTo>
                  <a:lnTo>
                    <a:pt x="45876" y="753137"/>
                  </a:lnTo>
                  <a:lnTo>
                    <a:pt x="73289" y="759115"/>
                  </a:lnTo>
                  <a:lnTo>
                    <a:pt x="100535" y="754671"/>
                  </a:lnTo>
                  <a:lnTo>
                    <a:pt x="123879" y="739749"/>
                  </a:lnTo>
                  <a:lnTo>
                    <a:pt x="476946" y="386136"/>
                  </a:lnTo>
                  <a:lnTo>
                    <a:pt x="484086" y="375261"/>
                  </a:lnTo>
                  <a:lnTo>
                    <a:pt x="486466" y="362778"/>
                  </a:lnTo>
                  <a:lnTo>
                    <a:pt x="484086" y="350296"/>
                  </a:lnTo>
                  <a:lnTo>
                    <a:pt x="476946" y="339421"/>
                  </a:lnTo>
                  <a:lnTo>
                    <a:pt x="138049" y="0"/>
                  </a:lnTo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4">
              <a:extLst>
                <a:ext uri="{FF2B5EF4-FFF2-40B4-BE49-F238E27FC236}">
                  <a16:creationId xmlns:a16="http://schemas.microsoft.com/office/drawing/2014/main" id="{BC4EB03B-CEE7-5557-90F4-17FE1E0CFC97}"/>
                </a:ext>
              </a:extLst>
            </p:cNvPr>
            <p:cNvSpPr/>
            <p:nvPr/>
          </p:nvSpPr>
          <p:spPr>
            <a:xfrm>
              <a:off x="487501" y="1038692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77462" y="0"/>
                  </a:moveTo>
                  <a:lnTo>
                    <a:pt x="25988" y="22240"/>
                  </a:lnTo>
                  <a:lnTo>
                    <a:pt x="1880" y="72863"/>
                  </a:lnTo>
                  <a:lnTo>
                    <a:pt x="0" y="105919"/>
                  </a:lnTo>
                  <a:lnTo>
                    <a:pt x="3709" y="143282"/>
                  </a:lnTo>
                  <a:lnTo>
                    <a:pt x="12116" y="184309"/>
                  </a:lnTo>
                  <a:lnTo>
                    <a:pt x="24326" y="228357"/>
                  </a:lnTo>
                  <a:lnTo>
                    <a:pt x="39446" y="274785"/>
                  </a:lnTo>
                  <a:lnTo>
                    <a:pt x="56582" y="322948"/>
                  </a:lnTo>
                  <a:lnTo>
                    <a:pt x="93332" y="421916"/>
                  </a:lnTo>
                  <a:lnTo>
                    <a:pt x="111157" y="471434"/>
                  </a:lnTo>
                  <a:lnTo>
                    <a:pt x="127425" y="520119"/>
                  </a:lnTo>
                  <a:lnTo>
                    <a:pt x="141242" y="567328"/>
                  </a:lnTo>
                  <a:lnTo>
                    <a:pt x="151715" y="612419"/>
                  </a:lnTo>
                  <a:lnTo>
                    <a:pt x="157950" y="654749"/>
                  </a:lnTo>
                  <a:lnTo>
                    <a:pt x="159054" y="693675"/>
                  </a:lnTo>
                  <a:lnTo>
                    <a:pt x="154133" y="728556"/>
                  </a:lnTo>
                  <a:lnTo>
                    <a:pt x="142294" y="758748"/>
                  </a:lnTo>
                  <a:lnTo>
                    <a:pt x="480882" y="419753"/>
                  </a:lnTo>
                  <a:lnTo>
                    <a:pt x="488022" y="408832"/>
                  </a:lnTo>
                  <a:lnTo>
                    <a:pt x="490402" y="396220"/>
                  </a:lnTo>
                  <a:lnTo>
                    <a:pt x="488022" y="383553"/>
                  </a:lnTo>
                  <a:lnTo>
                    <a:pt x="480882" y="372465"/>
                  </a:lnTo>
                  <a:lnTo>
                    <a:pt x="127830" y="18988"/>
                  </a:lnTo>
                  <a:lnTo>
                    <a:pt x="104569" y="4202"/>
                  </a:lnTo>
                  <a:lnTo>
                    <a:pt x="77462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15">
              <a:extLst>
                <a:ext uri="{FF2B5EF4-FFF2-40B4-BE49-F238E27FC236}">
                  <a16:creationId xmlns:a16="http://schemas.microsoft.com/office/drawing/2014/main" id="{6E5B9C91-1EE7-171E-A074-7186C46C6704}"/>
                </a:ext>
              </a:extLst>
            </p:cNvPr>
            <p:cNvSpPr/>
            <p:nvPr/>
          </p:nvSpPr>
          <p:spPr>
            <a:xfrm>
              <a:off x="487501" y="1038692"/>
              <a:ext cx="490855" cy="758825"/>
            </a:xfrm>
            <a:custGeom>
              <a:avLst/>
              <a:gdLst/>
              <a:ahLst/>
              <a:cxnLst/>
              <a:rect l="l" t="t" r="r" b="b"/>
              <a:pathLst>
                <a:path w="490855" h="758825">
                  <a:moveTo>
                    <a:pt x="142294" y="758749"/>
                  </a:moveTo>
                  <a:lnTo>
                    <a:pt x="154133" y="728556"/>
                  </a:lnTo>
                  <a:lnTo>
                    <a:pt x="159054" y="693676"/>
                  </a:lnTo>
                  <a:lnTo>
                    <a:pt x="157950" y="654749"/>
                  </a:lnTo>
                  <a:lnTo>
                    <a:pt x="151715" y="612420"/>
                  </a:lnTo>
                  <a:lnTo>
                    <a:pt x="141242" y="567329"/>
                  </a:lnTo>
                  <a:lnTo>
                    <a:pt x="127425" y="520120"/>
                  </a:lnTo>
                  <a:lnTo>
                    <a:pt x="111157" y="471435"/>
                  </a:lnTo>
                  <a:lnTo>
                    <a:pt x="93332" y="421916"/>
                  </a:lnTo>
                  <a:lnTo>
                    <a:pt x="74842" y="372207"/>
                  </a:lnTo>
                  <a:lnTo>
                    <a:pt x="56582" y="322949"/>
                  </a:lnTo>
                  <a:lnTo>
                    <a:pt x="39446" y="274785"/>
                  </a:lnTo>
                  <a:lnTo>
                    <a:pt x="24326" y="228358"/>
                  </a:lnTo>
                  <a:lnTo>
                    <a:pt x="12116" y="184310"/>
                  </a:lnTo>
                  <a:lnTo>
                    <a:pt x="3709" y="143283"/>
                  </a:lnTo>
                  <a:lnTo>
                    <a:pt x="0" y="105920"/>
                  </a:lnTo>
                  <a:lnTo>
                    <a:pt x="1880" y="72863"/>
                  </a:lnTo>
                  <a:lnTo>
                    <a:pt x="10245" y="44756"/>
                  </a:lnTo>
                  <a:lnTo>
                    <a:pt x="25988" y="22240"/>
                  </a:lnTo>
                  <a:lnTo>
                    <a:pt x="50078" y="6104"/>
                  </a:lnTo>
                  <a:lnTo>
                    <a:pt x="77462" y="0"/>
                  </a:lnTo>
                  <a:lnTo>
                    <a:pt x="104569" y="4202"/>
                  </a:lnTo>
                  <a:lnTo>
                    <a:pt x="127830" y="18989"/>
                  </a:lnTo>
                  <a:lnTo>
                    <a:pt x="480882" y="372466"/>
                  </a:lnTo>
                  <a:lnTo>
                    <a:pt x="488022" y="383553"/>
                  </a:lnTo>
                  <a:lnTo>
                    <a:pt x="490402" y="396220"/>
                  </a:lnTo>
                  <a:lnTo>
                    <a:pt x="488022" y="408832"/>
                  </a:lnTo>
                  <a:lnTo>
                    <a:pt x="480882" y="419753"/>
                  </a:lnTo>
                  <a:lnTo>
                    <a:pt x="142294" y="758749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16">
            <a:extLst>
              <a:ext uri="{FF2B5EF4-FFF2-40B4-BE49-F238E27FC236}">
                <a16:creationId xmlns:a16="http://schemas.microsoft.com/office/drawing/2014/main" id="{2660D9D2-E990-F002-5923-B43CDEFE0473}"/>
              </a:ext>
            </a:extLst>
          </p:cNvPr>
          <p:cNvSpPr txBox="1"/>
          <p:nvPr/>
        </p:nvSpPr>
        <p:spPr>
          <a:xfrm>
            <a:off x="1260315" y="1009457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endParaRPr sz="2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6" name="ZoneTexte 22">
            <a:extLst>
              <a:ext uri="{FF2B5EF4-FFF2-40B4-BE49-F238E27FC236}">
                <a16:creationId xmlns:a16="http://schemas.microsoft.com/office/drawing/2014/main" id="{63D39554-BCBC-8BC3-E6FB-ECFC52B95347}"/>
              </a:ext>
            </a:extLst>
          </p:cNvPr>
          <p:cNvSpPr txBox="1"/>
          <p:nvPr/>
        </p:nvSpPr>
        <p:spPr>
          <a:xfrm>
            <a:off x="1624130" y="1570606"/>
            <a:ext cx="628348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Introduction </a:t>
            </a:r>
          </a:p>
          <a:p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Représentation matricielle d’un quadripôle</a:t>
            </a:r>
          </a:p>
          <a:p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Quadripôle en charge (impédance d’entrée, impédance de sortie, gains en tension et en courant)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Association de quadripôles</a:t>
            </a:r>
          </a:p>
          <a:p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Quadripôles particuliers.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6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13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03555" y="1025174"/>
            <a:ext cx="8485283" cy="777223"/>
            <a:chOff x="695200" y="1293934"/>
            <a:chExt cx="8225156" cy="690246"/>
          </a:xfrm>
        </p:grpSpPr>
        <p:sp>
          <p:nvSpPr>
            <p:cNvPr id="12" name="object 12"/>
            <p:cNvSpPr/>
            <p:nvPr/>
          </p:nvSpPr>
          <p:spPr>
            <a:xfrm>
              <a:off x="695200" y="1293935"/>
              <a:ext cx="8225156" cy="690245"/>
            </a:xfrm>
            <a:custGeom>
              <a:avLst/>
              <a:gdLst/>
              <a:ahLst/>
              <a:cxnLst/>
              <a:rect l="l" t="t" r="r" b="b"/>
              <a:pathLst>
                <a:path w="8225155" h="690244">
                  <a:moveTo>
                    <a:pt x="8097059" y="0"/>
                  </a:moveTo>
                  <a:lnTo>
                    <a:pt x="127926" y="0"/>
                  </a:lnTo>
                  <a:lnTo>
                    <a:pt x="78131" y="10053"/>
                  </a:lnTo>
                  <a:lnTo>
                    <a:pt x="37468" y="37468"/>
                  </a:lnTo>
                  <a:lnTo>
                    <a:pt x="10053" y="78131"/>
                  </a:lnTo>
                  <a:lnTo>
                    <a:pt x="0" y="127927"/>
                  </a:lnTo>
                  <a:lnTo>
                    <a:pt x="0" y="561920"/>
                  </a:lnTo>
                  <a:lnTo>
                    <a:pt x="10053" y="611715"/>
                  </a:lnTo>
                  <a:lnTo>
                    <a:pt x="37468" y="652379"/>
                  </a:lnTo>
                  <a:lnTo>
                    <a:pt x="78131" y="679795"/>
                  </a:lnTo>
                  <a:lnTo>
                    <a:pt x="127926" y="689848"/>
                  </a:lnTo>
                  <a:lnTo>
                    <a:pt x="8097059" y="689848"/>
                  </a:lnTo>
                  <a:lnTo>
                    <a:pt x="8146853" y="679795"/>
                  </a:lnTo>
                  <a:lnTo>
                    <a:pt x="8187516" y="652379"/>
                  </a:lnTo>
                  <a:lnTo>
                    <a:pt x="8214932" y="611715"/>
                  </a:lnTo>
                  <a:lnTo>
                    <a:pt x="8224985" y="561920"/>
                  </a:lnTo>
                  <a:lnTo>
                    <a:pt x="8224985" y="127927"/>
                  </a:lnTo>
                  <a:lnTo>
                    <a:pt x="8214932" y="78131"/>
                  </a:lnTo>
                  <a:lnTo>
                    <a:pt x="8187516" y="37468"/>
                  </a:lnTo>
                  <a:lnTo>
                    <a:pt x="8146853" y="10053"/>
                  </a:lnTo>
                  <a:lnTo>
                    <a:pt x="8097059" y="0"/>
                  </a:lnTo>
                  <a:close/>
                </a:path>
              </a:pathLst>
            </a:custGeom>
            <a:solidFill>
              <a:srgbClr val="F2F2F2">
                <a:alpha val="74119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695200" y="1293934"/>
              <a:ext cx="8225155" cy="690245"/>
            </a:xfrm>
            <a:custGeom>
              <a:avLst/>
              <a:gdLst/>
              <a:ahLst/>
              <a:cxnLst/>
              <a:rect l="l" t="t" r="r" b="b"/>
              <a:pathLst>
                <a:path w="8225155" h="690244">
                  <a:moveTo>
                    <a:pt x="0" y="127927"/>
                  </a:moveTo>
                  <a:lnTo>
                    <a:pt x="10053" y="78132"/>
                  </a:lnTo>
                  <a:lnTo>
                    <a:pt x="37468" y="37469"/>
                  </a:lnTo>
                  <a:lnTo>
                    <a:pt x="78131" y="10053"/>
                  </a:lnTo>
                  <a:lnTo>
                    <a:pt x="127926" y="0"/>
                  </a:lnTo>
                  <a:lnTo>
                    <a:pt x="8097060" y="0"/>
                  </a:lnTo>
                  <a:lnTo>
                    <a:pt x="8146854" y="10053"/>
                  </a:lnTo>
                  <a:lnTo>
                    <a:pt x="8187517" y="37469"/>
                  </a:lnTo>
                  <a:lnTo>
                    <a:pt x="8214932" y="78132"/>
                  </a:lnTo>
                  <a:lnTo>
                    <a:pt x="8224986" y="127927"/>
                  </a:lnTo>
                  <a:lnTo>
                    <a:pt x="8224986" y="561921"/>
                  </a:lnTo>
                  <a:lnTo>
                    <a:pt x="8214932" y="611716"/>
                  </a:lnTo>
                  <a:lnTo>
                    <a:pt x="8187517" y="652379"/>
                  </a:lnTo>
                  <a:lnTo>
                    <a:pt x="8146854" y="679795"/>
                  </a:lnTo>
                  <a:lnTo>
                    <a:pt x="8097060" y="689849"/>
                  </a:lnTo>
                  <a:lnTo>
                    <a:pt x="127926" y="689849"/>
                  </a:lnTo>
                  <a:lnTo>
                    <a:pt x="78131" y="679795"/>
                  </a:lnTo>
                  <a:lnTo>
                    <a:pt x="37468" y="652379"/>
                  </a:lnTo>
                  <a:lnTo>
                    <a:pt x="10053" y="611716"/>
                  </a:lnTo>
                  <a:lnTo>
                    <a:pt x="0" y="561921"/>
                  </a:lnTo>
                  <a:lnTo>
                    <a:pt x="0" y="127927"/>
                  </a:lnTo>
                  <a:close/>
                </a:path>
              </a:pathLst>
            </a:custGeom>
            <a:ln w="1905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8631211" y="4824469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1909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93065" lvl="1" indent="-3810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Définitions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8325E06-8A90-68FD-3276-0A5C372BBE8B}"/>
              </a:ext>
            </a:extLst>
          </p:cNvPr>
          <p:cNvSpPr txBox="1"/>
          <p:nvPr/>
        </p:nvSpPr>
        <p:spPr>
          <a:xfrm>
            <a:off x="549740" y="1113650"/>
            <a:ext cx="8137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600" dirty="0">
                <a:latin typeface="Bookman Old Style" panose="02050604050505020204" pitchFamily="18" charset="0"/>
              </a:rPr>
              <a:t>Un </a:t>
            </a:r>
            <a:r>
              <a:rPr lang="fr-FR" sz="1600" b="1" dirty="0">
                <a:latin typeface="Bookman Old Style" panose="02050604050505020204" pitchFamily="18" charset="0"/>
              </a:rPr>
              <a:t>quadripôle</a:t>
            </a:r>
            <a:r>
              <a:rPr lang="fr-FR" sz="1600" dirty="0">
                <a:latin typeface="Bookman Old Style" panose="02050604050505020204" pitchFamily="18" charset="0"/>
              </a:rPr>
              <a:t> est un système à quatre bornes (</a:t>
            </a:r>
            <a:r>
              <a:rPr lang="fr-FR" sz="1600" b="1" dirty="0">
                <a:latin typeface="Bookman Old Style" panose="02050604050505020204" pitchFamily="18" charset="0"/>
              </a:rPr>
              <a:t>deux</a:t>
            </a:r>
            <a:r>
              <a:rPr lang="fr-FR" sz="1600" dirty="0">
                <a:latin typeface="Bookman Old Style" panose="02050604050505020204" pitchFamily="18" charset="0"/>
              </a:rPr>
              <a:t> à l'</a:t>
            </a:r>
            <a:r>
              <a:rPr lang="fr-FR" sz="1600" b="1" dirty="0">
                <a:latin typeface="Bookman Old Style" panose="02050604050505020204" pitchFamily="18" charset="0"/>
              </a:rPr>
              <a:t>entrée</a:t>
            </a:r>
            <a:r>
              <a:rPr lang="fr-FR" sz="1600" dirty="0">
                <a:latin typeface="Bookman Old Style" panose="02050604050505020204" pitchFamily="18" charset="0"/>
              </a:rPr>
              <a:t> et </a:t>
            </a:r>
            <a:r>
              <a:rPr lang="fr-FR" sz="1600" b="1" dirty="0">
                <a:latin typeface="Bookman Old Style" panose="02050604050505020204" pitchFamily="18" charset="0"/>
              </a:rPr>
              <a:t>deux</a:t>
            </a:r>
            <a:r>
              <a:rPr lang="fr-FR" sz="1600" dirty="0">
                <a:latin typeface="Bookman Old Style" panose="02050604050505020204" pitchFamily="18" charset="0"/>
              </a:rPr>
              <a:t> à la </a:t>
            </a:r>
            <a:r>
              <a:rPr lang="fr-FR" sz="1600" b="1" dirty="0">
                <a:latin typeface="Bookman Old Style" panose="02050604050505020204" pitchFamily="18" charset="0"/>
              </a:rPr>
              <a:t>sortie</a:t>
            </a:r>
            <a:r>
              <a:rPr lang="fr-FR" sz="1600" dirty="0">
                <a:latin typeface="Bookman Old Style" panose="02050604050505020204" pitchFamily="18" charset="0"/>
              </a:rPr>
              <a:t>) dans lequel des courants électriques peuvent circuler.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B32803-FC7B-A884-7EE2-1FBD4E170891}"/>
              </a:ext>
            </a:extLst>
          </p:cNvPr>
          <p:cNvSpPr txBox="1"/>
          <p:nvPr/>
        </p:nvSpPr>
        <p:spPr>
          <a:xfrm>
            <a:off x="442692" y="1962150"/>
            <a:ext cx="859112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sz="1500" dirty="0">
                <a:latin typeface="Bookman Old Style" panose="02050604050505020204" pitchFamily="18" charset="0"/>
              </a:rPr>
              <a:t>Nous nous concentrons uniquement sur les </a:t>
            </a:r>
            <a:r>
              <a:rPr lang="fr-FR" sz="1500" b="1" dirty="0">
                <a:latin typeface="Bookman Old Style" panose="02050604050505020204" pitchFamily="18" charset="0"/>
              </a:rPr>
              <a:t>quadripôles linéaires, </a:t>
            </a:r>
            <a:r>
              <a:rPr lang="fr-FR" sz="1500" dirty="0">
                <a:latin typeface="Bookman Old Style" panose="02050604050505020204" pitchFamily="18" charset="0"/>
              </a:rPr>
              <a:t>qui sont les </a:t>
            </a:r>
            <a:r>
              <a:rPr lang="fr-FR" sz="1500" b="1" dirty="0">
                <a:latin typeface="Bookman Old Style" panose="02050604050505020204" pitchFamily="18" charset="0"/>
              </a:rPr>
              <a:t>multipôles les plus courants</a:t>
            </a:r>
            <a:r>
              <a:rPr lang="fr-FR" sz="1500" dirty="0">
                <a:latin typeface="Bookman Old Style" panose="02050604050505020204" pitchFamily="18" charset="0"/>
              </a:rPr>
              <a:t>. Les valeurs des éléments qui les composent (éléments passifs, sources autonomes, coefficients des sources commandées) restent </a:t>
            </a:r>
            <a:r>
              <a:rPr lang="fr-FR" sz="1500" b="1" dirty="0">
                <a:latin typeface="Bookman Old Style" panose="02050604050505020204" pitchFamily="18" charset="0"/>
              </a:rPr>
              <a:t>constantes</a:t>
            </a:r>
            <a:r>
              <a:rPr lang="fr-FR" sz="1500" dirty="0">
                <a:latin typeface="Bookman Old Style" panose="02050604050505020204" pitchFamily="18" charset="0"/>
              </a:rPr>
              <a:t>, c'est-à-dire qu'elles </a:t>
            </a:r>
            <a:r>
              <a:rPr lang="fr-FR" sz="1500" b="1" dirty="0">
                <a:latin typeface="Bookman Old Style" panose="02050604050505020204" pitchFamily="18" charset="0"/>
              </a:rPr>
              <a:t>ne dépendent pas des tensions ou courants appliqués</a:t>
            </a:r>
            <a:r>
              <a:rPr lang="fr-FR" sz="1500" dirty="0">
                <a:latin typeface="Bookman Old Style" panose="02050604050505020204" pitchFamily="18" charset="0"/>
              </a:rPr>
              <a:t>. 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fr-FR" sz="1500" dirty="0">
              <a:latin typeface="Bookman Old Style" panose="02050604050505020204" pitchFamily="18" charset="0"/>
            </a:endParaRPr>
          </a:p>
          <a:p>
            <a:pPr marL="285750" indent="-285750" algn="just" fontAlgn="auto">
              <a:spcAft>
                <a:spcPts val="0"/>
              </a:spcAft>
              <a:buFont typeface="Wingdings" panose="05000000000000000000" pitchFamily="2" charset="2"/>
              <a:buChar char="q"/>
              <a:defRPr/>
            </a:pPr>
            <a:r>
              <a:rPr lang="fr-FR" sz="1500" b="1" dirty="0">
                <a:latin typeface="Bookman Old Style" panose="02050604050505020204" pitchFamily="18" charset="0"/>
              </a:rPr>
              <a:t>On distingue deux types de quadripôles :</a:t>
            </a:r>
          </a:p>
          <a:p>
            <a:pPr algn="just" fontAlgn="auto">
              <a:spcAft>
                <a:spcPts val="0"/>
              </a:spcAft>
              <a:defRPr/>
            </a:pPr>
            <a:endParaRPr lang="fr-FR" sz="1500" b="1" dirty="0">
              <a:solidFill>
                <a:srgbClr val="0070C0"/>
              </a:solidFill>
              <a:latin typeface="Bookman Old Style" panose="02050604050505020204" pitchFamily="18" charset="0"/>
            </a:endParaRPr>
          </a:p>
          <a:p>
            <a:pPr algn="just" fontAlgn="auto">
              <a:spcAft>
                <a:spcPts val="0"/>
              </a:spcAft>
              <a:defRPr/>
            </a:pPr>
            <a:r>
              <a:rPr lang="fr-FR" sz="15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- Quadripôle passif : </a:t>
            </a:r>
            <a:r>
              <a:rPr lang="fr-FR" sz="1500" dirty="0">
                <a:latin typeface="Bookman Old Style" panose="02050604050505020204" pitchFamily="18" charset="0"/>
              </a:rPr>
              <a:t>Il ne comporte pas de source d'énergie, il ne contient que des composants passifs (Ex: R, L, C …). </a:t>
            </a:r>
          </a:p>
          <a:p>
            <a:pPr algn="just" fontAlgn="auto">
              <a:spcAft>
                <a:spcPts val="0"/>
              </a:spcAft>
              <a:defRPr/>
            </a:pPr>
            <a:endParaRPr lang="fr-FR" sz="1500" dirty="0">
              <a:latin typeface="Bookman Old Style" panose="02050604050505020204" pitchFamily="18" charset="0"/>
            </a:endParaRPr>
          </a:p>
          <a:p>
            <a:pPr algn="just" fontAlgn="auto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fr-FR" sz="15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- Quadripôle actif : </a:t>
            </a:r>
            <a:r>
              <a:rPr lang="fr-FR" sz="1500" dirty="0">
                <a:latin typeface="Bookman Old Style" panose="02050604050505020204" pitchFamily="18" charset="0"/>
              </a:rPr>
              <a:t>En plus des composants passifs il contient des éléments source d'énergie.</a:t>
            </a:r>
          </a:p>
          <a:p>
            <a:pPr algn="just" fontAlgn="auto">
              <a:spcAft>
                <a:spcPts val="0"/>
              </a:spcAft>
              <a:buFont typeface="Arial" pitchFamily="34" charset="0"/>
              <a:buNone/>
              <a:defRPr/>
            </a:pPr>
            <a:endParaRPr lang="fr-FR" sz="1500" b="1" dirty="0">
              <a:latin typeface="Bookman Old Style" panose="02050604050505020204" pitchFamily="18" charset="0"/>
            </a:endParaRPr>
          </a:p>
          <a:p>
            <a:pPr algn="just"/>
            <a:endParaRPr lang="fr-FR" sz="15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4047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631211" y="4824469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1909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93065" lvl="1" indent="-3810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Définitions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0B32803-FC7B-A884-7EE2-1FBD4E170891}"/>
              </a:ext>
            </a:extLst>
          </p:cNvPr>
          <p:cNvSpPr txBox="1"/>
          <p:nvPr/>
        </p:nvSpPr>
        <p:spPr>
          <a:xfrm>
            <a:off x="216682" y="773562"/>
            <a:ext cx="85911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auto">
              <a:spcAft>
                <a:spcPts val="0"/>
              </a:spcAft>
              <a:buFont typeface="Arial" pitchFamily="34" charset="0"/>
              <a:buNone/>
              <a:defRPr/>
            </a:pPr>
            <a:endParaRPr lang="fr-FR" sz="1500" b="1" dirty="0">
              <a:latin typeface="Bookman Old Style" panose="02050604050505020204" pitchFamily="18" charset="0"/>
            </a:endParaRPr>
          </a:p>
          <a:p>
            <a:pPr marL="285750" indent="-285750" algn="just" fontAlgn="auto">
              <a:spcAft>
                <a:spcPts val="0"/>
              </a:spcAft>
              <a:buFont typeface="Wingdings" panose="05000000000000000000" pitchFamily="2" charset="2"/>
              <a:buChar char="q"/>
              <a:defRPr/>
            </a:pPr>
            <a:r>
              <a:rPr lang="fr-FR" sz="1500" b="1" dirty="0">
                <a:latin typeface="Bookman Old Style" panose="02050604050505020204" pitchFamily="18" charset="0"/>
              </a:rPr>
              <a:t>Une convention de signe</a:t>
            </a:r>
            <a:r>
              <a:rPr lang="fr-FR" sz="1500" dirty="0">
                <a:latin typeface="Bookman Old Style" panose="02050604050505020204" pitchFamily="18" charset="0"/>
              </a:rPr>
              <a:t> est nécessaire pour normaliser les calculs indépendamment des sens des tensions et courants. 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fr-FR" sz="1500" dirty="0">
              <a:latin typeface="Bookman Old Style" panose="02050604050505020204" pitchFamily="18" charset="0"/>
            </a:endParaRPr>
          </a:p>
        </p:txBody>
      </p:sp>
      <p:sp>
        <p:nvSpPr>
          <p:cNvPr id="68" name="Espace réservé du contenu 2">
            <a:extLst>
              <a:ext uri="{FF2B5EF4-FFF2-40B4-BE49-F238E27FC236}">
                <a16:creationId xmlns:a16="http://schemas.microsoft.com/office/drawing/2014/main" id="{F970179B-CD82-DC3F-E71E-DD791646D590}"/>
              </a:ext>
            </a:extLst>
          </p:cNvPr>
          <p:cNvSpPr txBox="1">
            <a:spLocks/>
          </p:cNvSpPr>
          <p:nvPr/>
        </p:nvSpPr>
        <p:spPr>
          <a:xfrm>
            <a:off x="309347" y="1698015"/>
            <a:ext cx="82296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800" b="1" i="0">
                <a:solidFill>
                  <a:srgbClr val="4F82BD"/>
                </a:solidFill>
                <a:latin typeface="Arial"/>
                <a:ea typeface="+mn-ea"/>
                <a:cs typeface="Arial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sz="1500" kern="0" dirty="0">
                <a:solidFill>
                  <a:schemeClr val="tx1"/>
                </a:solidFill>
                <a:latin typeface="Bookman Old Style" panose="02050604050505020204" pitchFamily="18" charset="0"/>
              </a:rPr>
              <a:t> Trois conventions de signe sont rencontrées :</a:t>
            </a:r>
          </a:p>
          <a:p>
            <a:endParaRPr lang="fr-FR" sz="1500" kern="0" dirty="0">
              <a:latin typeface="Bookman Old Style" panose="02050604050505020204" pitchFamily="18" charset="0"/>
            </a:endParaRPr>
          </a:p>
        </p:txBody>
      </p:sp>
      <p:sp>
        <p:nvSpPr>
          <p:cNvPr id="69" name="Text Box 14">
            <a:extLst>
              <a:ext uri="{FF2B5EF4-FFF2-40B4-BE49-F238E27FC236}">
                <a16:creationId xmlns:a16="http://schemas.microsoft.com/office/drawing/2014/main" id="{074A4911-EC94-AABB-3649-71D0C2A525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9102" y="2990609"/>
            <a:ext cx="466725" cy="557213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v</a:t>
            </a:r>
            <a:r>
              <a:rPr lang="fr-FR" sz="1500" b="1" baseline="-25000">
                <a:latin typeface="Bookman Old Style" panose="02050604050505020204" pitchFamily="18" charset="0"/>
              </a:rPr>
              <a:t>2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70" name="Text Box 15">
            <a:extLst>
              <a:ext uri="{FF2B5EF4-FFF2-40B4-BE49-F238E27FC236}">
                <a16:creationId xmlns:a16="http://schemas.microsoft.com/office/drawing/2014/main" id="{11E449F9-67A9-C6F4-DCFF-9D355CDAA9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227" y="3001722"/>
            <a:ext cx="457200" cy="56038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v</a:t>
            </a:r>
            <a:r>
              <a:rPr lang="fr-FR" sz="1500" b="1" baseline="-25000">
                <a:latin typeface="Bookman Old Style" panose="02050604050505020204" pitchFamily="18" charset="0"/>
              </a:rPr>
              <a:t>1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71" name="Text Box 16">
            <a:extLst>
              <a:ext uri="{FF2B5EF4-FFF2-40B4-BE49-F238E27FC236}">
                <a16:creationId xmlns:a16="http://schemas.microsoft.com/office/drawing/2014/main" id="{C315A448-E1F3-2F9F-ED24-9DAB815BD3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1914" y="2347672"/>
            <a:ext cx="387350" cy="56038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i</a:t>
            </a:r>
            <a:r>
              <a:rPr lang="fr-FR" sz="1500" b="1" baseline="-25000">
                <a:latin typeface="Bookman Old Style" panose="02050604050505020204" pitchFamily="18" charset="0"/>
              </a:rPr>
              <a:t>2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72" name="Text Box 17">
            <a:extLst>
              <a:ext uri="{FF2B5EF4-FFF2-40B4-BE49-F238E27FC236}">
                <a16:creationId xmlns:a16="http://schemas.microsoft.com/office/drawing/2014/main" id="{2F94C6A9-DA7E-1F36-337C-30CF95E5C5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977" y="2347672"/>
            <a:ext cx="388937" cy="557212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i</a:t>
            </a:r>
            <a:r>
              <a:rPr lang="fr-FR" sz="1500" b="1" baseline="-25000">
                <a:latin typeface="Bookman Old Style" panose="02050604050505020204" pitchFamily="18" charset="0"/>
              </a:rPr>
              <a:t>1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73" name="Rectangle 18">
            <a:extLst>
              <a:ext uri="{FF2B5EF4-FFF2-40B4-BE49-F238E27FC236}">
                <a16:creationId xmlns:a16="http://schemas.microsoft.com/office/drawing/2014/main" id="{008218EE-F13F-CF6B-BF67-16914AE168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977" y="2536584"/>
            <a:ext cx="952500" cy="1239838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74" name="Line 19">
            <a:extLst>
              <a:ext uri="{FF2B5EF4-FFF2-40B4-BE49-F238E27FC236}">
                <a16:creationId xmlns:a16="http://schemas.microsoft.com/office/drawing/2014/main" id="{63FC1953-5F5A-A175-CDB3-29A957278193}"/>
              </a:ext>
            </a:extLst>
          </p:cNvPr>
          <p:cNvSpPr>
            <a:spLocks noChangeShapeType="1"/>
          </p:cNvSpPr>
          <p:nvPr/>
        </p:nvSpPr>
        <p:spPr bwMode="auto">
          <a:xfrm>
            <a:off x="532964" y="2709622"/>
            <a:ext cx="6127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75" name="Line 20">
            <a:extLst>
              <a:ext uri="{FF2B5EF4-FFF2-40B4-BE49-F238E27FC236}">
                <a16:creationId xmlns:a16="http://schemas.microsoft.com/office/drawing/2014/main" id="{3C16A26B-096D-6D8C-CA3C-0080BCAA089A}"/>
              </a:ext>
            </a:extLst>
          </p:cNvPr>
          <p:cNvSpPr>
            <a:spLocks noChangeShapeType="1"/>
          </p:cNvSpPr>
          <p:nvPr/>
        </p:nvSpPr>
        <p:spPr bwMode="auto">
          <a:xfrm>
            <a:off x="532964" y="3555759"/>
            <a:ext cx="6127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76" name="Line 21">
            <a:extLst>
              <a:ext uri="{FF2B5EF4-FFF2-40B4-BE49-F238E27FC236}">
                <a16:creationId xmlns:a16="http://schemas.microsoft.com/office/drawing/2014/main" id="{5AA62219-7965-9174-B67A-4406DCBA27F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4589" y="2709622"/>
            <a:ext cx="611188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77" name="Line 22">
            <a:extLst>
              <a:ext uri="{FF2B5EF4-FFF2-40B4-BE49-F238E27FC236}">
                <a16:creationId xmlns:a16="http://schemas.microsoft.com/office/drawing/2014/main" id="{BCE3EE81-B6F9-ACFA-8AEE-796A6F229223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5702" y="3555759"/>
            <a:ext cx="614362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78" name="Line 23">
            <a:extLst>
              <a:ext uri="{FF2B5EF4-FFF2-40B4-BE49-F238E27FC236}">
                <a16:creationId xmlns:a16="http://schemas.microsoft.com/office/drawing/2014/main" id="{7EB3AE52-8CE3-9189-E7DA-42197D2AF0D1}"/>
              </a:ext>
            </a:extLst>
          </p:cNvPr>
          <p:cNvSpPr>
            <a:spLocks noChangeShapeType="1"/>
          </p:cNvSpPr>
          <p:nvPr/>
        </p:nvSpPr>
        <p:spPr bwMode="auto">
          <a:xfrm>
            <a:off x="786964" y="2704859"/>
            <a:ext cx="165100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79" name="Line 24">
            <a:extLst>
              <a:ext uri="{FF2B5EF4-FFF2-40B4-BE49-F238E27FC236}">
                <a16:creationId xmlns:a16="http://schemas.microsoft.com/office/drawing/2014/main" id="{2C70D878-6DD0-567E-1D8E-07139092B561}"/>
              </a:ext>
            </a:extLst>
          </p:cNvPr>
          <p:cNvSpPr>
            <a:spLocks noChangeShapeType="1"/>
          </p:cNvSpPr>
          <p:nvPr/>
        </p:nvSpPr>
        <p:spPr bwMode="auto">
          <a:xfrm>
            <a:off x="2322077" y="2704859"/>
            <a:ext cx="165100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80" name="Line 25">
            <a:extLst>
              <a:ext uri="{FF2B5EF4-FFF2-40B4-BE49-F238E27FC236}">
                <a16:creationId xmlns:a16="http://schemas.microsoft.com/office/drawing/2014/main" id="{0510B015-3F49-5C68-0738-95FE137A690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87202" y="2830272"/>
            <a:ext cx="0" cy="62230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81" name="Line 26">
            <a:extLst>
              <a:ext uri="{FF2B5EF4-FFF2-40B4-BE49-F238E27FC236}">
                <a16:creationId xmlns:a16="http://schemas.microsoft.com/office/drawing/2014/main" id="{4BEB46E1-B7F2-8FE7-581E-5EAD2BC7053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5664" y="2784234"/>
            <a:ext cx="0" cy="620713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82" name="Text Box 27">
            <a:extLst>
              <a:ext uri="{FF2B5EF4-FFF2-40B4-BE49-F238E27FC236}">
                <a16:creationId xmlns:a16="http://schemas.microsoft.com/office/drawing/2014/main" id="{8D857B35-59A4-1EC1-CAE3-3D7502D14B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4352" y="2919172"/>
            <a:ext cx="388937" cy="557212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 dirty="0">
                <a:latin typeface="Bookman Old Style" panose="02050604050505020204" pitchFamily="18" charset="0"/>
              </a:rPr>
              <a:t>Q</a:t>
            </a:r>
          </a:p>
        </p:txBody>
      </p:sp>
      <p:sp>
        <p:nvSpPr>
          <p:cNvPr id="83" name="Text Box 14">
            <a:extLst>
              <a:ext uri="{FF2B5EF4-FFF2-40B4-BE49-F238E27FC236}">
                <a16:creationId xmlns:a16="http://schemas.microsoft.com/office/drawing/2014/main" id="{03360B93-3C35-133A-9711-19D777E923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5164" y="3004897"/>
            <a:ext cx="468313" cy="557212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v</a:t>
            </a:r>
            <a:r>
              <a:rPr lang="fr-FR" sz="1500" b="1" baseline="-25000">
                <a:latin typeface="Bookman Old Style" panose="02050604050505020204" pitchFamily="18" charset="0"/>
              </a:rPr>
              <a:t>2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84" name="Text Box 15">
            <a:extLst>
              <a:ext uri="{FF2B5EF4-FFF2-40B4-BE49-F238E27FC236}">
                <a16:creationId xmlns:a16="http://schemas.microsoft.com/office/drawing/2014/main" id="{9A033F92-93F2-4569-2F13-A273DAAC7E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6289" y="3001722"/>
            <a:ext cx="457200" cy="56038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v</a:t>
            </a:r>
            <a:r>
              <a:rPr lang="fr-FR" sz="1500" b="1" baseline="-25000">
                <a:latin typeface="Bookman Old Style" panose="02050604050505020204" pitchFamily="18" charset="0"/>
              </a:rPr>
              <a:t>1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85" name="Text Box 16">
            <a:extLst>
              <a:ext uri="{FF2B5EF4-FFF2-40B4-BE49-F238E27FC236}">
                <a16:creationId xmlns:a16="http://schemas.microsoft.com/office/drawing/2014/main" id="{3BEC5802-D02E-4369-6794-B8E4893A27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7977" y="2347672"/>
            <a:ext cx="387350" cy="56038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i</a:t>
            </a:r>
            <a:r>
              <a:rPr lang="fr-FR" sz="1500" b="1" baseline="-25000">
                <a:latin typeface="Bookman Old Style" panose="02050604050505020204" pitchFamily="18" charset="0"/>
              </a:rPr>
              <a:t>2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86" name="Text Box 17">
            <a:extLst>
              <a:ext uri="{FF2B5EF4-FFF2-40B4-BE49-F238E27FC236}">
                <a16:creationId xmlns:a16="http://schemas.microsoft.com/office/drawing/2014/main" id="{12DBA06D-B2B2-6FB5-77A9-74FF685861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7627" y="2347672"/>
            <a:ext cx="387350" cy="557212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i</a:t>
            </a:r>
            <a:r>
              <a:rPr lang="fr-FR" sz="1500" b="1" baseline="-25000">
                <a:latin typeface="Bookman Old Style" panose="02050604050505020204" pitchFamily="18" charset="0"/>
              </a:rPr>
              <a:t>1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87" name="Rectangle 18">
            <a:extLst>
              <a:ext uri="{FF2B5EF4-FFF2-40B4-BE49-F238E27FC236}">
                <a16:creationId xmlns:a16="http://schemas.microsoft.com/office/drawing/2014/main" id="{FF3C0287-F63F-E8CC-EA19-7E5933039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7039" y="2536584"/>
            <a:ext cx="952500" cy="1239838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88" name="Line 19">
            <a:extLst>
              <a:ext uri="{FF2B5EF4-FFF2-40B4-BE49-F238E27FC236}">
                <a16:creationId xmlns:a16="http://schemas.microsoft.com/office/drawing/2014/main" id="{C4475F9D-4E8F-2E44-17BD-4B21BF9411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319027" y="2709622"/>
            <a:ext cx="6127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89" name="Line 20">
            <a:extLst>
              <a:ext uri="{FF2B5EF4-FFF2-40B4-BE49-F238E27FC236}">
                <a16:creationId xmlns:a16="http://schemas.microsoft.com/office/drawing/2014/main" id="{170CD77D-FC11-154B-75F6-40A46351C842}"/>
              </a:ext>
            </a:extLst>
          </p:cNvPr>
          <p:cNvSpPr>
            <a:spLocks noChangeShapeType="1"/>
          </p:cNvSpPr>
          <p:nvPr/>
        </p:nvSpPr>
        <p:spPr bwMode="auto">
          <a:xfrm>
            <a:off x="3319027" y="3555759"/>
            <a:ext cx="6127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90" name="Line 21">
            <a:extLst>
              <a:ext uri="{FF2B5EF4-FFF2-40B4-BE49-F238E27FC236}">
                <a16:creationId xmlns:a16="http://schemas.microsoft.com/office/drawing/2014/main" id="{5FFC14C8-10B1-45E6-97CD-43F148AD2F99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0652" y="2709622"/>
            <a:ext cx="611187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91" name="Line 22">
            <a:extLst>
              <a:ext uri="{FF2B5EF4-FFF2-40B4-BE49-F238E27FC236}">
                <a16:creationId xmlns:a16="http://schemas.microsoft.com/office/drawing/2014/main" id="{0DAF1B33-B961-09B3-89EE-52ACD860FE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1764" y="3555759"/>
            <a:ext cx="614363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92" name="Line 23">
            <a:extLst>
              <a:ext uri="{FF2B5EF4-FFF2-40B4-BE49-F238E27FC236}">
                <a16:creationId xmlns:a16="http://schemas.microsoft.com/office/drawing/2014/main" id="{694606A1-5803-5D61-FBA0-461F8B98FD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573027" y="2704859"/>
            <a:ext cx="165100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93" name="Line 24">
            <a:extLst>
              <a:ext uri="{FF2B5EF4-FFF2-40B4-BE49-F238E27FC236}">
                <a16:creationId xmlns:a16="http://schemas.microsoft.com/office/drawing/2014/main" id="{222F1AC7-4E1C-6719-5587-0F40A90B46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08139" y="2704859"/>
            <a:ext cx="165100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94" name="Line 25">
            <a:extLst>
              <a:ext uri="{FF2B5EF4-FFF2-40B4-BE49-F238E27FC236}">
                <a16:creationId xmlns:a16="http://schemas.microsoft.com/office/drawing/2014/main" id="{0C81EEE7-BA59-5BC0-3885-EF85D63E735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73264" y="2830272"/>
            <a:ext cx="0" cy="62230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95" name="Line 26">
            <a:extLst>
              <a:ext uri="{FF2B5EF4-FFF2-40B4-BE49-F238E27FC236}">
                <a16:creationId xmlns:a16="http://schemas.microsoft.com/office/drawing/2014/main" id="{AA9D7486-B96B-B145-EB59-B475D8A865B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31727" y="2784234"/>
            <a:ext cx="0" cy="620713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96" name="Text Box 27">
            <a:extLst>
              <a:ext uri="{FF2B5EF4-FFF2-40B4-BE49-F238E27FC236}">
                <a16:creationId xmlns:a16="http://schemas.microsoft.com/office/drawing/2014/main" id="{26108D22-E1D3-BB3A-1034-5007567F3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2002" y="2919172"/>
            <a:ext cx="387350" cy="557212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Q</a:t>
            </a:r>
          </a:p>
        </p:txBody>
      </p:sp>
      <p:sp>
        <p:nvSpPr>
          <p:cNvPr id="97" name="Text Box 15">
            <a:extLst>
              <a:ext uri="{FF2B5EF4-FFF2-40B4-BE49-F238E27FC236}">
                <a16:creationId xmlns:a16="http://schemas.microsoft.com/office/drawing/2014/main" id="{0605C8A7-2C7C-7E6D-43B6-5E3520F601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8102" y="3001722"/>
            <a:ext cx="457200" cy="56038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v</a:t>
            </a:r>
            <a:r>
              <a:rPr lang="fr-FR" sz="1500" b="1" baseline="-25000">
                <a:latin typeface="Bookman Old Style" panose="02050604050505020204" pitchFamily="18" charset="0"/>
              </a:rPr>
              <a:t>1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98" name="Text Box 16">
            <a:extLst>
              <a:ext uri="{FF2B5EF4-FFF2-40B4-BE49-F238E27FC236}">
                <a16:creationId xmlns:a16="http://schemas.microsoft.com/office/drawing/2014/main" id="{EE621FDF-5714-151D-844D-63AACDA66E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78352" y="2347672"/>
            <a:ext cx="388937" cy="56038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i</a:t>
            </a:r>
            <a:r>
              <a:rPr lang="fr-FR" sz="1500" b="1" baseline="-25000">
                <a:latin typeface="Bookman Old Style" panose="02050604050505020204" pitchFamily="18" charset="0"/>
              </a:rPr>
              <a:t>2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99" name="Text Box 17">
            <a:extLst>
              <a:ext uri="{FF2B5EF4-FFF2-40B4-BE49-F238E27FC236}">
                <a16:creationId xmlns:a16="http://schemas.microsoft.com/office/drawing/2014/main" id="{B47E5A51-0108-B8F9-7B85-DE024508F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8002" y="2347672"/>
            <a:ext cx="387350" cy="557212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i</a:t>
            </a:r>
            <a:r>
              <a:rPr lang="fr-FR" sz="1500" b="1" baseline="-25000">
                <a:latin typeface="Bookman Old Style" panose="02050604050505020204" pitchFamily="18" charset="0"/>
              </a:rPr>
              <a:t>1</a:t>
            </a:r>
            <a:endParaRPr lang="fr-FR" sz="1500" b="1">
              <a:latin typeface="Bookman Old Style" panose="02050604050505020204" pitchFamily="18" charset="0"/>
            </a:endParaRPr>
          </a:p>
        </p:txBody>
      </p:sp>
      <p:sp>
        <p:nvSpPr>
          <p:cNvPr id="100" name="Rectangle 18">
            <a:extLst>
              <a:ext uri="{FF2B5EF4-FFF2-40B4-BE49-F238E27FC236}">
                <a16:creationId xmlns:a16="http://schemas.microsoft.com/office/drawing/2014/main" id="{238E1283-CAA7-C197-D7F1-0A922457F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7414" y="2536584"/>
            <a:ext cx="952500" cy="1239838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101" name="Line 19">
            <a:extLst>
              <a:ext uri="{FF2B5EF4-FFF2-40B4-BE49-F238E27FC236}">
                <a16:creationId xmlns:a16="http://schemas.microsoft.com/office/drawing/2014/main" id="{43073194-2C6D-00E4-25A5-A4B63DAB9151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9402" y="2709622"/>
            <a:ext cx="6127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102" name="Line 20">
            <a:extLst>
              <a:ext uri="{FF2B5EF4-FFF2-40B4-BE49-F238E27FC236}">
                <a16:creationId xmlns:a16="http://schemas.microsoft.com/office/drawing/2014/main" id="{EBCFD74C-2695-32B1-4188-A58321DF34D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9402" y="3555759"/>
            <a:ext cx="6127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103" name="Line 21">
            <a:extLst>
              <a:ext uri="{FF2B5EF4-FFF2-40B4-BE49-F238E27FC236}">
                <a16:creationId xmlns:a16="http://schemas.microsoft.com/office/drawing/2014/main" id="{73E47D5E-CCC6-DB54-3164-262B5EDC5B09}"/>
              </a:ext>
            </a:extLst>
          </p:cNvPr>
          <p:cNvSpPr>
            <a:spLocks noChangeShapeType="1"/>
          </p:cNvSpPr>
          <p:nvPr/>
        </p:nvSpPr>
        <p:spPr bwMode="auto">
          <a:xfrm>
            <a:off x="7891027" y="2709622"/>
            <a:ext cx="611187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104" name="Line 22">
            <a:extLst>
              <a:ext uri="{FF2B5EF4-FFF2-40B4-BE49-F238E27FC236}">
                <a16:creationId xmlns:a16="http://schemas.microsoft.com/office/drawing/2014/main" id="{6E4238C9-97B5-4A1E-6DAA-C1F55B77AE71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2139" y="3555759"/>
            <a:ext cx="614363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105" name="Line 23">
            <a:extLst>
              <a:ext uri="{FF2B5EF4-FFF2-40B4-BE49-F238E27FC236}">
                <a16:creationId xmlns:a16="http://schemas.microsoft.com/office/drawing/2014/main" id="{6680BCB2-64D5-01D2-C1C1-0B4D5C3355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73402" y="2704859"/>
            <a:ext cx="165100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106" name="Line 24">
            <a:extLst>
              <a:ext uri="{FF2B5EF4-FFF2-40B4-BE49-F238E27FC236}">
                <a16:creationId xmlns:a16="http://schemas.microsoft.com/office/drawing/2014/main" id="{20E64A85-1354-BC1F-6344-3460BBA0EB36}"/>
              </a:ext>
            </a:extLst>
          </p:cNvPr>
          <p:cNvSpPr>
            <a:spLocks noChangeShapeType="1"/>
          </p:cNvSpPr>
          <p:nvPr/>
        </p:nvSpPr>
        <p:spPr bwMode="auto">
          <a:xfrm>
            <a:off x="8108514" y="2704859"/>
            <a:ext cx="165100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 dirty="0">
              <a:latin typeface="Bookman Old Style" panose="02050604050505020204" pitchFamily="18" charset="0"/>
            </a:endParaRPr>
          </a:p>
        </p:txBody>
      </p:sp>
      <p:sp>
        <p:nvSpPr>
          <p:cNvPr id="107" name="Line 25">
            <a:extLst>
              <a:ext uri="{FF2B5EF4-FFF2-40B4-BE49-F238E27FC236}">
                <a16:creationId xmlns:a16="http://schemas.microsoft.com/office/drawing/2014/main" id="{75620851-B1CB-9C51-1F14-6C40E99143E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473639" y="2830272"/>
            <a:ext cx="0" cy="62230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108" name="Line 26">
            <a:extLst>
              <a:ext uri="{FF2B5EF4-FFF2-40B4-BE49-F238E27FC236}">
                <a16:creationId xmlns:a16="http://schemas.microsoft.com/office/drawing/2014/main" id="{5A222261-5100-12ED-5E0D-433B0DEDC6E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32102" y="2784234"/>
            <a:ext cx="0" cy="620713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109" name="Text Box 27">
            <a:extLst>
              <a:ext uri="{FF2B5EF4-FFF2-40B4-BE49-F238E27FC236}">
                <a16:creationId xmlns:a16="http://schemas.microsoft.com/office/drawing/2014/main" id="{E42C010B-A314-3878-35E2-1C046DFFB0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62377" y="2919172"/>
            <a:ext cx="387350" cy="557212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500" b="1">
                <a:latin typeface="Bookman Old Style" panose="02050604050505020204" pitchFamily="18" charset="0"/>
              </a:rPr>
              <a:t>Q</a:t>
            </a:r>
          </a:p>
        </p:txBody>
      </p:sp>
      <p:sp>
        <p:nvSpPr>
          <p:cNvPr id="110" name="ZoneTexte 94">
            <a:extLst>
              <a:ext uri="{FF2B5EF4-FFF2-40B4-BE49-F238E27FC236}">
                <a16:creationId xmlns:a16="http://schemas.microsoft.com/office/drawing/2014/main" id="{8DC8BC97-2646-856D-9025-C7C6E69FE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360" y="2059708"/>
            <a:ext cx="2820988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fr-FR" sz="15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Convention Transmetteur</a:t>
            </a:r>
          </a:p>
        </p:txBody>
      </p:sp>
      <p:sp>
        <p:nvSpPr>
          <p:cNvPr id="111" name="ZoneTexte 96">
            <a:extLst>
              <a:ext uri="{FF2B5EF4-FFF2-40B4-BE49-F238E27FC236}">
                <a16:creationId xmlns:a16="http://schemas.microsoft.com/office/drawing/2014/main" id="{33D372EF-89CE-E2FC-1ABA-2AE8C51D61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7210" y="2058803"/>
            <a:ext cx="2714625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fr-FR" sz="15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Convention Récepteur</a:t>
            </a:r>
          </a:p>
        </p:txBody>
      </p:sp>
      <p:sp>
        <p:nvSpPr>
          <p:cNvPr id="112" name="ZoneTexte 97">
            <a:extLst>
              <a:ext uri="{FF2B5EF4-FFF2-40B4-BE49-F238E27FC236}">
                <a16:creationId xmlns:a16="http://schemas.microsoft.com/office/drawing/2014/main" id="{478489DA-54BA-D4A9-81C4-F72E2E537D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92808" y="2076074"/>
            <a:ext cx="2820987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fr-FR" sz="15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Convention Générateur</a:t>
            </a:r>
          </a:p>
        </p:txBody>
      </p:sp>
      <p:sp>
        <p:nvSpPr>
          <p:cNvPr id="117" name="ZoneTexte 98">
            <a:extLst>
              <a:ext uri="{FF2B5EF4-FFF2-40B4-BE49-F238E27FC236}">
                <a16:creationId xmlns:a16="http://schemas.microsoft.com/office/drawing/2014/main" id="{DE610D1D-39C2-FF63-6B89-B2F1B5EF2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806" y="3835160"/>
            <a:ext cx="264465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7030A0"/>
                </a:solidFill>
                <a:latin typeface="Bookman Old Style" panose="02050604050505020204" pitchFamily="18" charset="0"/>
              </a:rPr>
              <a:t>Le quadripôle transmet de l’énergie</a:t>
            </a:r>
          </a:p>
        </p:txBody>
      </p:sp>
      <p:sp>
        <p:nvSpPr>
          <p:cNvPr id="118" name="ZoneTexte 99">
            <a:extLst>
              <a:ext uri="{FF2B5EF4-FFF2-40B4-BE49-F238E27FC236}">
                <a16:creationId xmlns:a16="http://schemas.microsoft.com/office/drawing/2014/main" id="{0AD3FC64-0A15-D14F-8C86-817426D5A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4889" y="3891921"/>
            <a:ext cx="27146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fr-FR"/>
            </a:defPPr>
            <a:lvl1pPr algn="ctr">
              <a:defRPr sz="1400" b="1">
                <a:solidFill>
                  <a:srgbClr val="7030A0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fr-FR" dirty="0"/>
              <a:t>L’énergie est rentrante</a:t>
            </a:r>
          </a:p>
        </p:txBody>
      </p:sp>
      <p:sp>
        <p:nvSpPr>
          <p:cNvPr id="119" name="ZoneTexte 100">
            <a:extLst>
              <a:ext uri="{FF2B5EF4-FFF2-40B4-BE49-F238E27FC236}">
                <a16:creationId xmlns:a16="http://schemas.microsoft.com/office/drawing/2014/main" id="{126A7699-5723-FE75-B698-7D24B2EA10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1802" y="3891921"/>
            <a:ext cx="22860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fr-FR"/>
            </a:defPPr>
            <a:lvl1pPr algn="ctr">
              <a:defRPr sz="1400" b="1">
                <a:solidFill>
                  <a:srgbClr val="7030A0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fr-FR" dirty="0"/>
              <a:t>L’énergie est sortante</a:t>
            </a:r>
          </a:p>
        </p:txBody>
      </p:sp>
      <p:sp>
        <p:nvSpPr>
          <p:cNvPr id="120" name="ZoneTexte 101">
            <a:extLst>
              <a:ext uri="{FF2B5EF4-FFF2-40B4-BE49-F238E27FC236}">
                <a16:creationId xmlns:a16="http://schemas.microsoft.com/office/drawing/2014/main" id="{2DE80E06-477A-C4BC-61AA-167C4F690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780" y="4473810"/>
            <a:ext cx="83067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algn="just" fontAlgn="auto">
              <a:spcAft>
                <a:spcPts val="0"/>
              </a:spcAft>
              <a:buFont typeface="Arial" pitchFamily="34" charset="0"/>
              <a:buNone/>
              <a:defRPr sz="1500" b="1">
                <a:latin typeface="Bookman Old Style" panose="02050604050505020204" pitchFamily="18" charset="0"/>
              </a:defRPr>
            </a:lvl1pPr>
          </a:lstStyle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0" dirty="0"/>
              <a:t>On utilisera la convention (</a:t>
            </a:r>
            <a:r>
              <a:rPr lang="fr-FR" dirty="0"/>
              <a:t>récepteur</a:t>
            </a:r>
            <a:r>
              <a:rPr lang="fr-FR" b="0" dirty="0"/>
              <a:t>). C’est la convention la plus généralement rencontrée.</a:t>
            </a:r>
          </a:p>
        </p:txBody>
      </p:sp>
    </p:spTree>
    <p:extLst>
      <p:ext uri="{BB962C8B-B14F-4D97-AF65-F5344CB8AC3E}">
        <p14:creationId xmlns:p14="http://schemas.microsoft.com/office/powerpoint/2010/main" val="4156781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631211" y="4824469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2.1 Impédances d'entrée et de sortie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0957C8-C934-DD81-E947-EDE71AB7CFB8}"/>
              </a:ext>
            </a:extLst>
          </p:cNvPr>
          <p:cNvSpPr txBox="1"/>
          <p:nvPr/>
        </p:nvSpPr>
        <p:spPr>
          <a:xfrm>
            <a:off x="990600" y="115521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A. Impédance d'entrée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e</a:t>
            </a:r>
            <a:endParaRPr lang="fr-FR" sz="1600" dirty="0"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3F2A7-8B3F-D077-9338-27CA97A30184}"/>
              </a:ext>
            </a:extLst>
          </p:cNvPr>
          <p:cNvSpPr txBox="1"/>
          <p:nvPr/>
        </p:nvSpPr>
        <p:spPr>
          <a:xfrm>
            <a:off x="452136" y="1655127"/>
            <a:ext cx="8458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sz="1600" b="1" dirty="0">
                <a:latin typeface="Bookman Old Style" panose="02050604050505020204" pitchFamily="18" charset="0"/>
              </a:rPr>
              <a:t>Impédance d'entrée : </a:t>
            </a:r>
            <a:r>
              <a:rPr lang="fr-FR" sz="1600" dirty="0">
                <a:latin typeface="Bookman Old Style" panose="02050604050505020204" pitchFamily="18" charset="0"/>
              </a:rPr>
              <a:t>C'est l'impédance équivalente à l'entrée du quadripôle, lorsqu'il débite sur une charge Z</a:t>
            </a:r>
            <a:r>
              <a:rPr lang="fr-FR" sz="1600" baseline="-25000" dirty="0">
                <a:latin typeface="Bookman Old Style" panose="02050604050505020204" pitchFamily="18" charset="0"/>
              </a:rPr>
              <a:t>L</a:t>
            </a:r>
            <a:r>
              <a:rPr lang="fr-FR" sz="1600" dirty="0">
                <a:latin typeface="Bookman Old Style" panose="02050604050505020204" pitchFamily="18" charset="0"/>
              </a:rPr>
              <a:t>.</a:t>
            </a:r>
          </a:p>
        </p:txBody>
      </p:sp>
      <p:graphicFrame>
        <p:nvGraphicFramePr>
          <p:cNvPr id="12" name="Object 1">
            <a:extLst>
              <a:ext uri="{FF2B5EF4-FFF2-40B4-BE49-F238E27FC236}">
                <a16:creationId xmlns:a16="http://schemas.microsoft.com/office/drawing/2014/main" id="{11276D84-CDB4-F158-8599-C5A4DEE0CE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9714947"/>
              </p:ext>
            </p:extLst>
          </p:nvPr>
        </p:nvGraphicFramePr>
        <p:xfrm>
          <a:off x="742950" y="2800350"/>
          <a:ext cx="1643063" cy="1263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495300" imgH="381000" progId="">
                  <p:embed/>
                </p:oleObj>
              </mc:Choice>
              <mc:Fallback>
                <p:oleObj r:id="rId3" imgW="495300" imgH="381000" progId="">
                  <p:embed/>
                  <p:pic>
                    <p:nvPicPr>
                      <p:cNvPr id="1026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2950" y="2800350"/>
                        <a:ext cx="1643063" cy="12636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Groupe 49">
            <a:extLst>
              <a:ext uri="{FF2B5EF4-FFF2-40B4-BE49-F238E27FC236}">
                <a16:creationId xmlns:a16="http://schemas.microsoft.com/office/drawing/2014/main" id="{F75D135B-455B-AEF1-FA48-06FA43ADC0A4}"/>
              </a:ext>
            </a:extLst>
          </p:cNvPr>
          <p:cNvGrpSpPr>
            <a:grpSpLocks/>
          </p:cNvGrpSpPr>
          <p:nvPr/>
        </p:nvGrpSpPr>
        <p:grpSpPr bwMode="auto">
          <a:xfrm>
            <a:off x="3505200" y="2571750"/>
            <a:ext cx="4429125" cy="2106613"/>
            <a:chOff x="3500430" y="3179763"/>
            <a:chExt cx="4429156" cy="2106625"/>
          </a:xfrm>
        </p:grpSpPr>
        <p:sp>
          <p:nvSpPr>
            <p:cNvPr id="16" name="Text Box 21">
              <a:extLst>
                <a:ext uri="{FF2B5EF4-FFF2-40B4-BE49-F238E27FC236}">
                  <a16:creationId xmlns:a16="http://schemas.microsoft.com/office/drawing/2014/main" id="{309AE5CE-9E7F-BC51-759D-2A6019E97D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48114" y="4083132"/>
              <a:ext cx="481472" cy="56031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600" b="1" dirty="0">
                  <a:latin typeface="Bookman Old Style" panose="02050604050505020204" pitchFamily="18" charset="0"/>
                </a:rPr>
                <a:t>Z</a:t>
              </a:r>
              <a:r>
                <a:rPr lang="fr-FR" sz="1600" b="1" baseline="-25000" dirty="0">
                  <a:latin typeface="Bookman Old Style" panose="02050604050505020204" pitchFamily="18" charset="0"/>
                </a:rPr>
                <a:t>L</a:t>
              </a:r>
              <a:endParaRPr lang="fr-FR" sz="1600" b="1" dirty="0">
                <a:latin typeface="Bookman Old Style" panose="02050604050505020204" pitchFamily="18" charset="0"/>
              </a:endParaRPr>
            </a:p>
          </p:txBody>
        </p:sp>
        <p:sp>
          <p:nvSpPr>
            <p:cNvPr id="17" name="Rectangle 22">
              <a:extLst>
                <a:ext uri="{FF2B5EF4-FFF2-40B4-BE49-F238E27FC236}">
                  <a16:creationId xmlns:a16="http://schemas.microsoft.com/office/drawing/2014/main" id="{F68BA46E-BBCD-5FBC-92DE-8CF4001BB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74174" y="3406242"/>
              <a:ext cx="1452078" cy="1880146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20" name="Text Box 23">
              <a:extLst>
                <a:ext uri="{FF2B5EF4-FFF2-40B4-BE49-F238E27FC236}">
                  <a16:creationId xmlns:a16="http://schemas.microsoft.com/office/drawing/2014/main" id="{89EDB7A5-04CC-C97E-4B74-542BD133A5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57580" y="4071942"/>
              <a:ext cx="482836" cy="58418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600" b="1" dirty="0">
                  <a:latin typeface="Bookman Old Style" panose="02050604050505020204" pitchFamily="18" charset="0"/>
                </a:rPr>
                <a:t>Z</a:t>
              </a:r>
              <a:r>
                <a:rPr lang="fr-FR" sz="1600" b="1" baseline="-25000" dirty="0">
                  <a:latin typeface="Bookman Old Style" panose="02050604050505020204" pitchFamily="18" charset="0"/>
                </a:rPr>
                <a:t>e</a:t>
              </a:r>
              <a:endParaRPr lang="fr-FR" sz="1600" b="1" dirty="0">
                <a:latin typeface="Bookman Old Style" panose="02050604050505020204" pitchFamily="18" charset="0"/>
              </a:endParaRPr>
            </a:p>
          </p:txBody>
        </p:sp>
        <p:sp>
          <p:nvSpPr>
            <p:cNvPr id="21" name="Text Box 24">
              <a:extLst>
                <a:ext uri="{FF2B5EF4-FFF2-40B4-BE49-F238E27FC236}">
                  <a16:creationId xmlns:a16="http://schemas.microsoft.com/office/drawing/2014/main" id="{CB737EEC-6270-4F8D-4582-375F5DBD4A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0430" y="4071942"/>
              <a:ext cx="511174" cy="50230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600" b="1">
                  <a:latin typeface="Bookman Old Style" panose="02050604050505020204" pitchFamily="18" charset="0"/>
                </a:rPr>
                <a:t>v</a:t>
              </a:r>
              <a:r>
                <a:rPr lang="fr-FR" sz="1600" b="1" baseline="-25000">
                  <a:latin typeface="Bookman Old Style" panose="02050604050505020204" pitchFamily="18" charset="0"/>
                </a:rPr>
                <a:t>1</a:t>
              </a:r>
              <a:endParaRPr lang="fr-FR" sz="1600" b="1">
                <a:latin typeface="Bookman Old Style" panose="02050604050505020204" pitchFamily="18" charset="0"/>
              </a:endParaRPr>
            </a:p>
          </p:txBody>
        </p:sp>
        <p:sp>
          <p:nvSpPr>
            <p:cNvPr id="23" name="Text Box 25">
              <a:extLst>
                <a:ext uri="{FF2B5EF4-FFF2-40B4-BE49-F238E27FC236}">
                  <a16:creationId xmlns:a16="http://schemas.microsoft.com/office/drawing/2014/main" id="{C2D2E215-E050-2A60-C97C-FE77B544B7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13432" y="3179763"/>
              <a:ext cx="477646" cy="43180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600">
                  <a:latin typeface="Bookman Old Style" panose="02050604050505020204" pitchFamily="18" charset="0"/>
                </a:rPr>
                <a:t>i</a:t>
              </a:r>
              <a:r>
                <a:rPr lang="fr-FR" sz="1600" baseline="-25000">
                  <a:latin typeface="Bookman Old Style" panose="02050604050505020204" pitchFamily="18" charset="0"/>
                </a:rPr>
                <a:t>1</a:t>
              </a:r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24" name="Line 28">
              <a:extLst>
                <a:ext uri="{FF2B5EF4-FFF2-40B4-BE49-F238E27FC236}">
                  <a16:creationId xmlns:a16="http://schemas.microsoft.com/office/drawing/2014/main" id="{8C766AB0-206E-1900-66D7-1D56950E9D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057" y="3667373"/>
              <a:ext cx="931079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25" name="Line 29">
              <a:extLst>
                <a:ext uri="{FF2B5EF4-FFF2-40B4-BE49-F238E27FC236}">
                  <a16:creationId xmlns:a16="http://schemas.microsoft.com/office/drawing/2014/main" id="{E9D19DCC-AFAB-D95E-C750-57A0668A97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6419" y="4988697"/>
              <a:ext cx="931076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26" name="Line 31">
              <a:extLst>
                <a:ext uri="{FF2B5EF4-FFF2-40B4-BE49-F238E27FC236}">
                  <a16:creationId xmlns:a16="http://schemas.microsoft.com/office/drawing/2014/main" id="{9FACC7BE-9343-047D-1DAA-A8B537A974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63263" y="3782271"/>
              <a:ext cx="0" cy="945294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27" name="Line 34">
              <a:extLst>
                <a:ext uri="{FF2B5EF4-FFF2-40B4-BE49-F238E27FC236}">
                  <a16:creationId xmlns:a16="http://schemas.microsoft.com/office/drawing/2014/main" id="{2087F383-AFB3-53A3-C5F6-E60B254822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95377" y="3684591"/>
              <a:ext cx="0" cy="128476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28" name="Rectangle 36">
              <a:extLst>
                <a:ext uri="{FF2B5EF4-FFF2-40B4-BE49-F238E27FC236}">
                  <a16:creationId xmlns:a16="http://schemas.microsoft.com/office/drawing/2014/main" id="{B7032640-737C-0F67-C066-CB3EFAE827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92703" y="3822705"/>
              <a:ext cx="190501" cy="939805"/>
            </a:xfrm>
            <a:prstGeom prst="rect">
              <a:avLst/>
            </a:prstGeom>
            <a:solidFill>
              <a:srgbClr val="00FF00"/>
            </a:solidFill>
            <a:ln>
              <a:headEnd/>
              <a:tailEnd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29" name="Line 37">
              <a:extLst>
                <a:ext uri="{FF2B5EF4-FFF2-40B4-BE49-F238E27FC236}">
                  <a16:creationId xmlns:a16="http://schemas.microsoft.com/office/drawing/2014/main" id="{5C04FB50-05DB-3FCC-422D-CF062D04F2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77496" y="3683039"/>
              <a:ext cx="0" cy="128476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30" name="Rectangle 38">
              <a:extLst>
                <a:ext uri="{FF2B5EF4-FFF2-40B4-BE49-F238E27FC236}">
                  <a16:creationId xmlns:a16="http://schemas.microsoft.com/office/drawing/2014/main" id="{143AB5A2-5595-77CB-F5FE-97F71F260E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3931" y="3819530"/>
              <a:ext cx="190501" cy="944567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600">
                <a:latin typeface="Bookman Old Style" panose="02050604050505020204" pitchFamily="18" charset="0"/>
              </a:endParaRPr>
            </a:p>
          </p:txBody>
        </p:sp>
        <p:cxnSp>
          <p:nvCxnSpPr>
            <p:cNvPr id="31" name="Connecteur droit 45">
              <a:extLst>
                <a:ext uri="{FF2B5EF4-FFF2-40B4-BE49-F238E27FC236}">
                  <a16:creationId xmlns:a16="http://schemas.microsoft.com/office/drawing/2014/main" id="{831DAACB-C194-6AF8-6DA3-08CF80A122B9}"/>
                </a:ext>
              </a:extLst>
            </p:cNvPr>
            <p:cNvCxnSpPr>
              <a:stCxn id="27" idx="0"/>
            </p:cNvCxnSpPr>
            <p:nvPr/>
          </p:nvCxnSpPr>
          <p:spPr>
            <a:xfrm rot="5400000">
              <a:off x="4572000" y="3062288"/>
              <a:ext cx="3175" cy="12446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46">
              <a:extLst>
                <a:ext uri="{FF2B5EF4-FFF2-40B4-BE49-F238E27FC236}">
                  <a16:creationId xmlns:a16="http://schemas.microsoft.com/office/drawing/2014/main" id="{4D2CAB7C-681D-DA71-6EEC-CCC7E94F5DF8}"/>
                </a:ext>
              </a:extLst>
            </p:cNvPr>
            <p:cNvCxnSpPr/>
            <p:nvPr/>
          </p:nvCxnSpPr>
          <p:spPr>
            <a:xfrm rot="5400000">
              <a:off x="4572794" y="4341026"/>
              <a:ext cx="1587" cy="12446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Line 30">
              <a:extLst>
                <a:ext uri="{FF2B5EF4-FFF2-40B4-BE49-F238E27FC236}">
                  <a16:creationId xmlns:a16="http://schemas.microsoft.com/office/drawing/2014/main" id="{E316F0F4-0AC8-A741-AC09-A6DC0B2E17E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624652" y="3665188"/>
              <a:ext cx="249239" cy="0"/>
            </a:xfrm>
            <a:prstGeom prst="line">
              <a:avLst/>
            </a:prstGeom>
            <a:ln>
              <a:solidFill>
                <a:srgbClr val="FF0000"/>
              </a:solidFill>
              <a:headEnd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600">
                <a:latin typeface="Bookman Old Style" panose="02050604050505020204" pitchFamily="18" charset="0"/>
              </a:endParaRPr>
            </a:p>
          </p:txBody>
        </p:sp>
        <p:sp>
          <p:nvSpPr>
            <p:cNvPr id="34" name="Line 30">
              <a:extLst>
                <a:ext uri="{FF2B5EF4-FFF2-40B4-BE49-F238E27FC236}">
                  <a16:creationId xmlns:a16="http://schemas.microsoft.com/office/drawing/2014/main" id="{78EC6B12-3070-3DA4-05A5-96B5DA8918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52923" y="3684591"/>
              <a:ext cx="249240" cy="0"/>
            </a:xfrm>
            <a:prstGeom prst="line">
              <a:avLst/>
            </a:prstGeom>
            <a:ln>
              <a:solidFill>
                <a:srgbClr val="FF0000"/>
              </a:solidFill>
              <a:headEnd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600"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7738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631211" y="4824469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2.1 Impédances d'entrée et de sortie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0957C8-C934-DD81-E947-EDE71AB7CFB8}"/>
              </a:ext>
            </a:extLst>
          </p:cNvPr>
          <p:cNvSpPr txBox="1"/>
          <p:nvPr/>
        </p:nvSpPr>
        <p:spPr>
          <a:xfrm>
            <a:off x="990600" y="115521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A. Impédance d'entrée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e</a:t>
            </a:r>
            <a:endParaRPr lang="fr-FR" sz="1600" dirty="0"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3F2A7-8B3F-D077-9338-27CA97A30184}"/>
              </a:ext>
            </a:extLst>
          </p:cNvPr>
          <p:cNvSpPr txBox="1"/>
          <p:nvPr/>
        </p:nvSpPr>
        <p:spPr>
          <a:xfrm>
            <a:off x="517818" y="1558221"/>
            <a:ext cx="8458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u="sng" dirty="0">
                <a:solidFill>
                  <a:srgbClr val="0000FF"/>
                </a:solidFill>
                <a:latin typeface="Bookman Old Style" panose="02050604050505020204" pitchFamily="18" charset="0"/>
              </a:rPr>
              <a:t>Exemple: </a:t>
            </a:r>
            <a:r>
              <a:rPr lang="fr-FR" sz="1400" b="1" dirty="0">
                <a:latin typeface="Bookman Old Style" panose="02050604050505020204" pitchFamily="18" charset="0"/>
              </a:rPr>
              <a:t>Circuit RC</a:t>
            </a:r>
            <a:endParaRPr lang="fr-FR" sz="1400" b="1" u="sng" dirty="0">
              <a:solidFill>
                <a:srgbClr val="0000FF"/>
              </a:solidFill>
              <a:latin typeface="Bookman Old Style" panose="02050604050505020204" pitchFamily="18" charset="0"/>
            </a:endParaRPr>
          </a:p>
          <a:p>
            <a:endParaRPr lang="fr-FR" sz="1600" u="sng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8B3AA733-8C8A-3879-5066-B388DA68E2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63077" y="2982557"/>
            <a:ext cx="646112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 dirty="0">
                <a:latin typeface="Bookman Old Style" panose="02050604050505020204" pitchFamily="18" charset="0"/>
              </a:rPr>
              <a:t>v</a:t>
            </a:r>
            <a:r>
              <a:rPr lang="fr-FR" sz="2400" b="1" baseline="-25000" dirty="0">
                <a:latin typeface="Bookman Old Style" panose="02050604050505020204" pitchFamily="18" charset="0"/>
              </a:rPr>
              <a:t>1</a:t>
            </a:r>
            <a:endParaRPr lang="fr-FR" sz="2400" b="1" dirty="0">
              <a:latin typeface="Bookman Old Style" panose="02050604050505020204" pitchFamily="18" charset="0"/>
            </a:endParaRP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85943A4E-B9D8-4755-9D31-3709C6E6A1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25039" y="1757419"/>
            <a:ext cx="549275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 dirty="0">
                <a:latin typeface="Bookman Old Style" panose="02050604050505020204" pitchFamily="18" charset="0"/>
              </a:rPr>
              <a:t>i</a:t>
            </a:r>
            <a:r>
              <a:rPr lang="fr-FR" sz="2400" b="1" baseline="-25000" dirty="0">
                <a:latin typeface="Bookman Old Style" panose="02050604050505020204" pitchFamily="18" charset="0"/>
              </a:rPr>
              <a:t>1</a:t>
            </a:r>
            <a:endParaRPr lang="fr-FR" sz="2400" b="1" dirty="0">
              <a:latin typeface="Bookman Old Style" panose="02050604050505020204" pitchFamily="18" charset="0"/>
            </a:endParaRPr>
          </a:p>
        </p:txBody>
      </p:sp>
      <p:sp>
        <p:nvSpPr>
          <p:cNvPr id="22" name="Rectangle 4">
            <a:extLst>
              <a:ext uri="{FF2B5EF4-FFF2-40B4-BE49-F238E27FC236}">
                <a16:creationId xmlns:a16="http://schemas.microsoft.com/office/drawing/2014/main" id="{7FE25B31-D1CF-E77D-3B53-D6779C332E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702" y="2025706"/>
            <a:ext cx="2566987" cy="2798763"/>
          </a:xfrm>
          <a:prstGeom prst="rect">
            <a:avLst/>
          </a:prstGeom>
          <a:ln w="57150">
            <a:solidFill>
              <a:srgbClr val="FF0000"/>
            </a:solidFill>
            <a:prstDash val="sysDash"/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5" name="Line 5">
            <a:extLst>
              <a:ext uri="{FF2B5EF4-FFF2-40B4-BE49-F238E27FC236}">
                <a16:creationId xmlns:a16="http://schemas.microsoft.com/office/drawing/2014/main" id="{45CA7FBD-05D7-409D-5E34-4503D3B8C04F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6002" y="2451156"/>
            <a:ext cx="3459162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6" name="Line 6">
            <a:extLst>
              <a:ext uri="{FF2B5EF4-FFF2-40B4-BE49-F238E27FC236}">
                <a16:creationId xmlns:a16="http://schemas.microsoft.com/office/drawing/2014/main" id="{989C0A72-A9A6-3F11-AE59-FC1158ABCE54}"/>
              </a:ext>
            </a:extLst>
          </p:cNvPr>
          <p:cNvSpPr>
            <a:spLocks noChangeShapeType="1"/>
          </p:cNvSpPr>
          <p:nvPr/>
        </p:nvSpPr>
        <p:spPr bwMode="auto">
          <a:xfrm>
            <a:off x="7514264" y="2459094"/>
            <a:ext cx="0" cy="871537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7" name="Line 7">
            <a:extLst>
              <a:ext uri="{FF2B5EF4-FFF2-40B4-BE49-F238E27FC236}">
                <a16:creationId xmlns:a16="http://schemas.microsoft.com/office/drawing/2014/main" id="{501D40BB-FE08-313D-18EC-99B920719245}"/>
              </a:ext>
            </a:extLst>
          </p:cNvPr>
          <p:cNvSpPr>
            <a:spLocks noChangeShapeType="1"/>
          </p:cNvSpPr>
          <p:nvPr/>
        </p:nvSpPr>
        <p:spPr bwMode="auto">
          <a:xfrm>
            <a:off x="7514264" y="3581456"/>
            <a:ext cx="0" cy="82867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8" name="Line 8">
            <a:extLst>
              <a:ext uri="{FF2B5EF4-FFF2-40B4-BE49-F238E27FC236}">
                <a16:creationId xmlns:a16="http://schemas.microsoft.com/office/drawing/2014/main" id="{7CA3A66F-DE89-BB2B-C23E-9317C9486113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3614" y="4422831"/>
            <a:ext cx="351155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9" name="Line 9">
            <a:extLst>
              <a:ext uri="{FF2B5EF4-FFF2-40B4-BE49-F238E27FC236}">
                <a16:creationId xmlns:a16="http://schemas.microsoft.com/office/drawing/2014/main" id="{5D0F49CE-295F-BCF6-8E64-B01C047335E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37739" y="2770244"/>
            <a:ext cx="0" cy="13287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0" name="Line 10">
            <a:extLst>
              <a:ext uri="{FF2B5EF4-FFF2-40B4-BE49-F238E27FC236}">
                <a16:creationId xmlns:a16="http://schemas.microsoft.com/office/drawing/2014/main" id="{609FE8A4-C36C-0BE7-361E-8C13D1BE6AFA}"/>
              </a:ext>
            </a:extLst>
          </p:cNvPr>
          <p:cNvSpPr>
            <a:spLocks noChangeShapeType="1"/>
          </p:cNvSpPr>
          <p:nvPr/>
        </p:nvSpPr>
        <p:spPr bwMode="auto">
          <a:xfrm>
            <a:off x="5018714" y="2451156"/>
            <a:ext cx="206375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1" name="Text Box 11">
            <a:extLst>
              <a:ext uri="{FF2B5EF4-FFF2-40B4-BE49-F238E27FC236}">
                <a16:creationId xmlns:a16="http://schemas.microsoft.com/office/drawing/2014/main" id="{23BB8C41-B59A-9DED-B9DD-E64EF2CCF1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7914" y="2605144"/>
            <a:ext cx="549275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R</a:t>
            </a:r>
          </a:p>
        </p:txBody>
      </p:sp>
      <p:sp>
        <p:nvSpPr>
          <p:cNvPr id="42" name="Rectangle 12">
            <a:extLst>
              <a:ext uri="{FF2B5EF4-FFF2-40B4-BE49-F238E27FC236}">
                <a16:creationId xmlns:a16="http://schemas.microsoft.com/office/drawing/2014/main" id="{F09641B5-40F4-8C43-532B-F8F0D2B69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2814" y="2274944"/>
            <a:ext cx="920750" cy="354012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3" name="Text Box 13">
            <a:extLst>
              <a:ext uri="{FF2B5EF4-FFF2-40B4-BE49-F238E27FC236}">
                <a16:creationId xmlns:a16="http://schemas.microsoft.com/office/drawing/2014/main" id="{342A9FBE-D2BA-E2C6-EBE3-EA0643907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877" y="3146481"/>
            <a:ext cx="549275" cy="76358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C</a:t>
            </a:r>
          </a:p>
        </p:txBody>
      </p:sp>
      <p:sp>
        <p:nvSpPr>
          <p:cNvPr id="44" name="Line 14">
            <a:extLst>
              <a:ext uri="{FF2B5EF4-FFF2-40B4-BE49-F238E27FC236}">
                <a16:creationId xmlns:a16="http://schemas.microsoft.com/office/drawing/2014/main" id="{0E82D57E-A975-2F2A-309A-43FE42C3673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6614" y="3562406"/>
            <a:ext cx="481013" cy="0"/>
          </a:xfrm>
          <a:prstGeom prst="line">
            <a:avLst/>
          </a:prstGeom>
          <a:noFill/>
          <a:ln w="762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5" name="Line 15">
            <a:extLst>
              <a:ext uri="{FF2B5EF4-FFF2-40B4-BE49-F238E27FC236}">
                <a16:creationId xmlns:a16="http://schemas.microsoft.com/office/drawing/2014/main" id="{0467FD88-FA10-D82C-D1EC-FAE9E7327E55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6614" y="3330631"/>
            <a:ext cx="481013" cy="0"/>
          </a:xfrm>
          <a:prstGeom prst="line">
            <a:avLst/>
          </a:prstGeom>
          <a:noFill/>
          <a:ln w="762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cxnSp>
        <p:nvCxnSpPr>
          <p:cNvPr id="47" name="Connecteur droit 21">
            <a:extLst>
              <a:ext uri="{FF2B5EF4-FFF2-40B4-BE49-F238E27FC236}">
                <a16:creationId xmlns:a16="http://schemas.microsoft.com/office/drawing/2014/main" id="{DD8D48A8-BCAC-0A0E-AFDE-D383AF4CB120}"/>
              </a:ext>
            </a:extLst>
          </p:cNvPr>
          <p:cNvCxnSpPr>
            <a:cxnSpLocks/>
            <a:stCxn id="35" idx="1"/>
            <a:endCxn id="38" idx="1"/>
          </p:cNvCxnSpPr>
          <p:nvPr/>
        </p:nvCxnSpPr>
        <p:spPr>
          <a:xfrm rot="16200000" flipH="1">
            <a:off x="7377739" y="3436994"/>
            <a:ext cx="1973263" cy="158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2B0337B5-F113-2EB8-D0F9-8742687DADD6}"/>
              </a:ext>
            </a:extLst>
          </p:cNvPr>
          <p:cNvSpPr/>
          <p:nvPr/>
        </p:nvSpPr>
        <p:spPr>
          <a:xfrm>
            <a:off x="8219114" y="2889306"/>
            <a:ext cx="292100" cy="102235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9" name="Text Box 13">
            <a:extLst>
              <a:ext uri="{FF2B5EF4-FFF2-40B4-BE49-F238E27FC236}">
                <a16:creationId xmlns:a16="http://schemas.microsoft.com/office/drawing/2014/main" id="{26804ABD-6D72-AC01-F373-21F12B599F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84239" y="3071869"/>
            <a:ext cx="549275" cy="76358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Z</a:t>
            </a:r>
            <a:r>
              <a:rPr lang="fr-FR" sz="2400" b="1" baseline="-25000">
                <a:latin typeface="Bookman Old Style" panose="02050604050505020204" pitchFamily="18" charset="0"/>
              </a:rPr>
              <a:t>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095A26-5BFF-B9E7-EBB5-FB696E0595E2}"/>
              </a:ext>
            </a:extLst>
          </p:cNvPr>
          <p:cNvSpPr txBox="1"/>
          <p:nvPr/>
        </p:nvSpPr>
        <p:spPr>
          <a:xfrm>
            <a:off x="475913" y="1967367"/>
            <a:ext cx="27512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b="1" dirty="0">
                <a:latin typeface="Bookman Old Style" panose="02050604050505020204" pitchFamily="18" charset="0"/>
              </a:rPr>
              <a:t>V</a:t>
            </a:r>
            <a:r>
              <a:rPr lang="fr-FR" sz="1500" b="1" baseline="-25000" dirty="0">
                <a:latin typeface="Bookman Old Style" panose="02050604050505020204" pitchFamily="18" charset="0"/>
              </a:rPr>
              <a:t>1</a:t>
            </a:r>
            <a:r>
              <a:rPr lang="fr-FR" sz="1500" dirty="0">
                <a:latin typeface="Bookman Old Style" panose="02050604050505020204" pitchFamily="18" charset="0"/>
              </a:rPr>
              <a:t> est un signal sinusoïdal</a:t>
            </a:r>
          </a:p>
        </p:txBody>
      </p:sp>
      <p:graphicFrame>
        <p:nvGraphicFramePr>
          <p:cNvPr id="53" name="Object 18">
            <a:extLst>
              <a:ext uri="{FF2B5EF4-FFF2-40B4-BE49-F238E27FC236}">
                <a16:creationId xmlns:a16="http://schemas.microsoft.com/office/drawing/2014/main" id="{6E5C4B49-3D81-EF4F-BB12-4B689F8011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170174"/>
              </p:ext>
            </p:extLst>
          </p:nvPr>
        </p:nvGraphicFramePr>
        <p:xfrm>
          <a:off x="69683" y="3128126"/>
          <a:ext cx="4381500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676400" imgH="419100" progId="">
                  <p:embed/>
                </p:oleObj>
              </mc:Choice>
              <mc:Fallback>
                <p:oleObj r:id="rId3" imgW="1676400" imgH="419100" progId="">
                  <p:embed/>
                  <p:pic>
                    <p:nvPicPr>
                      <p:cNvPr id="205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683" y="3128126"/>
                        <a:ext cx="4381500" cy="1095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84613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631211" y="4824469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2.1 Impédances d'entrée et de sortie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0957C8-C934-DD81-E947-EDE71AB7CFB8}"/>
              </a:ext>
            </a:extLst>
          </p:cNvPr>
          <p:cNvSpPr txBox="1"/>
          <p:nvPr/>
        </p:nvSpPr>
        <p:spPr>
          <a:xfrm>
            <a:off x="990600" y="115521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B. Impédance de sortie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s</a:t>
            </a:r>
            <a:endParaRPr lang="fr-FR" sz="1600" b="1" dirty="0">
              <a:latin typeface="Bookman Old Style" panose="0205060405050502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43AB128-7835-DA1C-FC47-F20B3D64868D}"/>
                  </a:ext>
                </a:extLst>
              </p:cNvPr>
              <p:cNvSpPr txBox="1"/>
              <p:nvPr/>
            </p:nvSpPr>
            <p:spPr>
              <a:xfrm>
                <a:off x="208872" y="1637802"/>
                <a:ext cx="8327472" cy="8880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>
                  <a:buFont typeface="Wingdings" panose="05000000000000000000" pitchFamily="2" charset="2"/>
                  <a:buChar char="q"/>
                  <a:defRPr sz="1600" b="1">
                    <a:latin typeface="Bookman Old Style" panose="02050604050505020204" pitchFamily="18" charset="0"/>
                  </a:defRPr>
                </a:lvl1pPr>
              </a:lstStyle>
              <a:p>
                <a:pPr algn="just"/>
                <a:r>
                  <a:rPr lang="fr-FR" sz="1600" b="1" dirty="0"/>
                  <a:t>Impédance de sortie:  </a:t>
                </a:r>
                <a:r>
                  <a:rPr lang="fr-FR" b="0" dirty="0"/>
                  <a:t>C'est l'impédance interne du générateur de </a:t>
                </a:r>
                <a:r>
                  <a:rPr lang="fr-FR" dirty="0"/>
                  <a:t>Thévenin</a:t>
                </a:r>
                <a:r>
                  <a:rPr lang="fr-FR" b="0" dirty="0"/>
                  <a:t> (ou </a:t>
                </a:r>
                <a:r>
                  <a:rPr lang="fr-FR" dirty="0"/>
                  <a:t>Norton</a:t>
                </a:r>
                <a:r>
                  <a:rPr lang="fr-FR" b="0" dirty="0"/>
                  <a:t>) équivalente à la </a:t>
                </a:r>
                <a:r>
                  <a:rPr lang="fr-FR" dirty="0"/>
                  <a:t>sortie du quadripôle </a:t>
                </a:r>
                <a:r>
                  <a:rPr lang="fr-FR" b="0" dirty="0"/>
                  <a:t>lorsqu'il est excité par un générateur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1" i="1" dirty="0" smtClean="0"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fr-FR" sz="1800" b="1" i="1" dirty="0" smtClean="0">
                            <a:latin typeface="Cambria Math" panose="02040503050406030204" pitchFamily="18" charset="0"/>
                          </a:rPr>
                          <m:t>𝒈</m:t>
                        </m:r>
                      </m:sub>
                    </m:sSub>
                  </m:oMath>
                </a14:m>
                <a:r>
                  <a:rPr lang="fr-FR" b="0" dirty="0"/>
                  <a:t> d'impédance interne </a:t>
                </a:r>
                <a:r>
                  <a:rPr lang="fr-FR" dirty="0" err="1"/>
                  <a:t>Zg</a:t>
                </a:r>
                <a:r>
                  <a:rPr lang="fr-FR" b="0" dirty="0"/>
                  <a:t>.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43AB128-7835-DA1C-FC47-F20B3D648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872" y="1637802"/>
                <a:ext cx="8327472" cy="888064"/>
              </a:xfrm>
              <a:prstGeom prst="rect">
                <a:avLst/>
              </a:prstGeom>
              <a:blipFill>
                <a:blip r:embed="rId3"/>
                <a:stretch>
                  <a:fillRect l="-293" t="-2069" r="-439" b="-48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 Box 2">
            <a:extLst>
              <a:ext uri="{FF2B5EF4-FFF2-40B4-BE49-F238E27FC236}">
                <a16:creationId xmlns:a16="http://schemas.microsoft.com/office/drawing/2014/main" id="{129B5930-3099-AC3F-E87A-A1E100097C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429" y="3345483"/>
            <a:ext cx="642937" cy="6159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 i="1" dirty="0">
                <a:latin typeface="Bookman Old Style" panose="02050604050505020204" pitchFamily="18" charset="0"/>
              </a:rPr>
              <a:t>e</a:t>
            </a:r>
            <a:r>
              <a:rPr lang="fr-FR" sz="1400" b="1" baseline="-25000" dirty="0">
                <a:latin typeface="Bookman Old Style" panose="02050604050505020204" pitchFamily="18" charset="0"/>
              </a:rPr>
              <a:t>g</a:t>
            </a:r>
            <a:endParaRPr lang="fr-FR" sz="1400" b="1" dirty="0">
              <a:latin typeface="Bookman Old Style" panose="02050604050505020204" pitchFamily="18" charset="0"/>
            </a:endParaRPr>
          </a:p>
        </p:txBody>
      </p:sp>
      <p:sp>
        <p:nvSpPr>
          <p:cNvPr id="17" name="Text Box 3">
            <a:extLst>
              <a:ext uri="{FF2B5EF4-FFF2-40B4-BE49-F238E27FC236}">
                <a16:creationId xmlns:a16="http://schemas.microsoft.com/office/drawing/2014/main" id="{B5BD8582-95D1-18EF-9A1F-32AE3279B0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704" y="2578721"/>
            <a:ext cx="550862" cy="6159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>
                <a:latin typeface="Bookman Old Style" panose="02050604050505020204" pitchFamily="18" charset="0"/>
              </a:rPr>
              <a:t>i</a:t>
            </a:r>
            <a:r>
              <a:rPr lang="fr-FR" sz="1400" b="1" baseline="-25000">
                <a:latin typeface="Bookman Old Style" panose="02050604050505020204" pitchFamily="18" charset="0"/>
              </a:rPr>
              <a:t>2</a:t>
            </a:r>
            <a:endParaRPr lang="fr-FR" sz="1400" b="1">
              <a:latin typeface="Bookman Old Style" panose="02050604050505020204" pitchFamily="18" charset="0"/>
            </a:endParaRPr>
          </a:p>
        </p:txBody>
      </p:sp>
      <p:sp>
        <p:nvSpPr>
          <p:cNvPr id="20" name="Text Box 4">
            <a:extLst>
              <a:ext uri="{FF2B5EF4-FFF2-40B4-BE49-F238E27FC236}">
                <a16:creationId xmlns:a16="http://schemas.microsoft.com/office/drawing/2014/main" id="{BA1079B7-24C0-8826-5A8B-2B600F28C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3366" y="3112121"/>
            <a:ext cx="458788" cy="45243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>
                <a:latin typeface="Bookman Old Style" panose="02050604050505020204" pitchFamily="18" charset="0"/>
              </a:rPr>
              <a:t>Z</a:t>
            </a:r>
            <a:r>
              <a:rPr lang="fr-FR" sz="1400" b="1" baseline="-25000">
                <a:latin typeface="Bookman Old Style" panose="02050604050505020204" pitchFamily="18" charset="0"/>
              </a:rPr>
              <a:t>g</a:t>
            </a:r>
            <a:endParaRPr lang="fr-FR" sz="1400" b="1">
              <a:latin typeface="Bookman Old Style" panose="02050604050505020204" pitchFamily="18" charset="0"/>
            </a:endParaRPr>
          </a:p>
        </p:txBody>
      </p:sp>
      <p:sp>
        <p:nvSpPr>
          <p:cNvPr id="21" name="Text Box 5">
            <a:extLst>
              <a:ext uri="{FF2B5EF4-FFF2-40B4-BE49-F238E27FC236}">
                <a16:creationId xmlns:a16="http://schemas.microsoft.com/office/drawing/2014/main" id="{13165AF3-15B5-F311-1323-B2E0A1CD51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6216" y="3247058"/>
            <a:ext cx="646113" cy="61753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100" dirty="0">
                <a:latin typeface="Calibri" pitchFamily="34" charset="0"/>
              </a:rPr>
              <a:t>Z</a:t>
            </a:r>
            <a:r>
              <a:rPr lang="fr-FR" sz="1100" baseline="-25000" dirty="0">
                <a:latin typeface="Calibri" pitchFamily="34" charset="0"/>
              </a:rPr>
              <a:t>e</a:t>
            </a:r>
            <a:endParaRPr lang="fr-FR" dirty="0"/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D4BAD2C0-F6EF-9286-960D-05FAD4B162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341" y="2586658"/>
            <a:ext cx="550863" cy="61118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 dirty="0">
                <a:latin typeface="Bookman Old Style" panose="02050604050505020204" pitchFamily="18" charset="0"/>
              </a:rPr>
              <a:t>i</a:t>
            </a:r>
            <a:r>
              <a:rPr lang="fr-FR" sz="1400" b="1" baseline="-25000" dirty="0">
                <a:latin typeface="Bookman Old Style" panose="02050604050505020204" pitchFamily="18" charset="0"/>
              </a:rPr>
              <a:t>1</a:t>
            </a:r>
            <a:endParaRPr lang="fr-FR" sz="1400" b="1" dirty="0">
              <a:latin typeface="Bookman Old Style" panose="02050604050505020204" pitchFamily="18" charset="0"/>
            </a:endParaRPr>
          </a:p>
        </p:txBody>
      </p:sp>
      <p:sp>
        <p:nvSpPr>
          <p:cNvPr id="24" name="Rectangle 7">
            <a:extLst>
              <a:ext uri="{FF2B5EF4-FFF2-40B4-BE49-F238E27FC236}">
                <a16:creationId xmlns:a16="http://schemas.microsoft.com/office/drawing/2014/main" id="{E5CC45BB-BFFE-076D-5602-C991DC1B15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6191" y="2934321"/>
            <a:ext cx="1724025" cy="1360487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fr-FR">
              <a:latin typeface="Calibri" pitchFamily="34" charset="0"/>
            </a:endParaRPr>
          </a:p>
        </p:txBody>
      </p:sp>
      <p:sp>
        <p:nvSpPr>
          <p:cNvPr id="25" name="Line 8">
            <a:extLst>
              <a:ext uri="{FF2B5EF4-FFF2-40B4-BE49-F238E27FC236}">
                <a16:creationId xmlns:a16="http://schemas.microsoft.com/office/drawing/2014/main" id="{BA76BD5C-53E2-8B2B-C89F-CD4353D664CC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3876310" y="3603452"/>
            <a:ext cx="385762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Box 9">
            <a:extLst>
              <a:ext uri="{FF2B5EF4-FFF2-40B4-BE49-F238E27FC236}">
                <a16:creationId xmlns:a16="http://schemas.microsoft.com/office/drawing/2014/main" id="{D5B27C67-31A9-3D0B-BA4F-FE94D6FA0A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4466" y="3380408"/>
            <a:ext cx="646113" cy="612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b="1" i="1" dirty="0">
                <a:latin typeface="Calibri" pitchFamily="34" charset="0"/>
              </a:rPr>
              <a:t>e</a:t>
            </a:r>
            <a:r>
              <a:rPr lang="fr-FR" b="1" baseline="-25000" dirty="0"/>
              <a:t>0</a:t>
            </a:r>
            <a:endParaRPr lang="fr-FR" b="1" dirty="0"/>
          </a:p>
        </p:txBody>
      </p:sp>
      <p:sp>
        <p:nvSpPr>
          <p:cNvPr id="27" name="Text Box 10">
            <a:extLst>
              <a:ext uri="{FF2B5EF4-FFF2-40B4-BE49-F238E27FC236}">
                <a16:creationId xmlns:a16="http://schemas.microsoft.com/office/drawing/2014/main" id="{D58A3CB1-C2F6-DB3A-DAC6-498C1DC44E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9041" y="3167683"/>
            <a:ext cx="423863" cy="54292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>
                <a:latin typeface="Bookman Old Style" panose="02050604050505020204" pitchFamily="18" charset="0"/>
              </a:rPr>
              <a:t>Z</a:t>
            </a:r>
            <a:r>
              <a:rPr lang="fr-FR" sz="1400" b="1" baseline="-25000">
                <a:latin typeface="Bookman Old Style" panose="02050604050505020204" pitchFamily="18" charset="0"/>
              </a:rPr>
              <a:t>s</a:t>
            </a:r>
            <a:endParaRPr lang="fr-FR" sz="1400" b="1">
              <a:latin typeface="Bookman Old Style" panose="02050604050505020204" pitchFamily="18" charset="0"/>
            </a:endParaRPr>
          </a:p>
        </p:txBody>
      </p:sp>
      <p:sp>
        <p:nvSpPr>
          <p:cNvPr id="28" name="Line 13">
            <a:extLst>
              <a:ext uri="{FF2B5EF4-FFF2-40B4-BE49-F238E27FC236}">
                <a16:creationId xmlns:a16="http://schemas.microsoft.com/office/drawing/2014/main" id="{0F2B64B7-83EE-31A3-D2CE-5C1668108D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69191" y="4040808"/>
            <a:ext cx="13874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9" name="Line 14">
            <a:extLst>
              <a:ext uri="{FF2B5EF4-FFF2-40B4-BE49-F238E27FC236}">
                <a16:creationId xmlns:a16="http://schemas.microsoft.com/office/drawing/2014/main" id="{B6250A6F-B48F-D6EC-3459-6567E59DF93A}"/>
              </a:ext>
            </a:extLst>
          </p:cNvPr>
          <p:cNvSpPr>
            <a:spLocks noChangeShapeType="1"/>
          </p:cNvSpPr>
          <p:nvPr/>
        </p:nvSpPr>
        <p:spPr bwMode="auto">
          <a:xfrm>
            <a:off x="4069191" y="3077196"/>
            <a:ext cx="0" cy="94932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30" name="Oval 15">
            <a:extLst>
              <a:ext uri="{FF2B5EF4-FFF2-40B4-BE49-F238E27FC236}">
                <a16:creationId xmlns:a16="http://schemas.microsoft.com/office/drawing/2014/main" id="{32EA4F94-DA9A-2834-D08B-3DDDEAAF1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7254" y="3277221"/>
            <a:ext cx="509587" cy="582612"/>
          </a:xfrm>
          <a:prstGeom prst="ellipse">
            <a:avLst/>
          </a:prstGeom>
          <a:ln>
            <a:headEnd/>
            <a:tailEnd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/>
          </a:p>
        </p:txBody>
      </p:sp>
      <p:sp>
        <p:nvSpPr>
          <p:cNvPr id="31" name="Text Box 17">
            <a:extLst>
              <a:ext uri="{FF2B5EF4-FFF2-40B4-BE49-F238E27FC236}">
                <a16:creationId xmlns:a16="http://schemas.microsoft.com/office/drawing/2014/main" id="{9084F222-A8DC-BE62-5F00-08DC21D6E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36366" y="3262933"/>
            <a:ext cx="646113" cy="6159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>
                <a:latin typeface="Bookman Old Style" panose="02050604050505020204" pitchFamily="18" charset="0"/>
              </a:rPr>
              <a:t>v</a:t>
            </a:r>
            <a:r>
              <a:rPr lang="fr-FR" sz="1400" b="1" baseline="-25000">
                <a:latin typeface="Bookman Old Style" panose="02050604050505020204" pitchFamily="18" charset="0"/>
              </a:rPr>
              <a:t>2</a:t>
            </a:r>
            <a:endParaRPr lang="fr-FR" sz="1400" b="1">
              <a:latin typeface="Bookman Old Style" panose="02050604050505020204" pitchFamily="18" charset="0"/>
            </a:endParaRPr>
          </a:p>
        </p:txBody>
      </p:sp>
      <p:sp>
        <p:nvSpPr>
          <p:cNvPr id="32" name="Line 18">
            <a:extLst>
              <a:ext uri="{FF2B5EF4-FFF2-40B4-BE49-F238E27FC236}">
                <a16:creationId xmlns:a16="http://schemas.microsoft.com/office/drawing/2014/main" id="{682DCA99-747A-6F0E-FC2B-1E578332C28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25254" y="3213721"/>
            <a:ext cx="0" cy="6810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fr-FR"/>
          </a:p>
        </p:txBody>
      </p:sp>
      <p:sp>
        <p:nvSpPr>
          <p:cNvPr id="33" name="Line 19">
            <a:extLst>
              <a:ext uri="{FF2B5EF4-FFF2-40B4-BE49-F238E27FC236}">
                <a16:creationId xmlns:a16="http://schemas.microsoft.com/office/drawing/2014/main" id="{2C731BBB-B09A-6C74-9366-D1524C112F9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9154" y="3112121"/>
            <a:ext cx="1385887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34" name="Line 20">
            <a:extLst>
              <a:ext uri="{FF2B5EF4-FFF2-40B4-BE49-F238E27FC236}">
                <a16:creationId xmlns:a16="http://schemas.microsoft.com/office/drawing/2014/main" id="{AC702701-4679-35A5-4CD8-E065578EF8E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9154" y="4075733"/>
            <a:ext cx="1385887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0" name="Line 21">
            <a:extLst>
              <a:ext uri="{FF2B5EF4-FFF2-40B4-BE49-F238E27FC236}">
                <a16:creationId xmlns:a16="http://schemas.microsoft.com/office/drawing/2014/main" id="{9772E40F-ACD7-2CEE-2446-E9010816743C}"/>
              </a:ext>
            </a:extLst>
          </p:cNvPr>
          <p:cNvSpPr>
            <a:spLocks noChangeShapeType="1"/>
          </p:cNvSpPr>
          <p:nvPr/>
        </p:nvSpPr>
        <p:spPr bwMode="auto">
          <a:xfrm>
            <a:off x="6309154" y="3112121"/>
            <a:ext cx="0" cy="947737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2" name="Oval 22">
            <a:extLst>
              <a:ext uri="{FF2B5EF4-FFF2-40B4-BE49-F238E27FC236}">
                <a16:creationId xmlns:a16="http://schemas.microsoft.com/office/drawing/2014/main" id="{35998E4A-2C63-1134-A4FD-852E2F055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7216" y="3312146"/>
            <a:ext cx="508000" cy="582612"/>
          </a:xfrm>
          <a:prstGeom prst="ellipse">
            <a:avLst/>
          </a:prstGeom>
          <a:ln>
            <a:headEnd/>
            <a:tailEnd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/>
          </a:p>
        </p:txBody>
      </p:sp>
      <p:sp>
        <p:nvSpPr>
          <p:cNvPr id="54" name="Rectangle 23">
            <a:extLst>
              <a:ext uri="{FF2B5EF4-FFF2-40B4-BE49-F238E27FC236}">
                <a16:creationId xmlns:a16="http://schemas.microsoft.com/office/drawing/2014/main" id="{B2F320CA-9201-7B0C-05F7-79C1EA1FA0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42516" y="3013696"/>
            <a:ext cx="590550" cy="200025"/>
          </a:xfrm>
          <a:prstGeom prst="rect">
            <a:avLst/>
          </a:prstGeom>
          <a:solidFill>
            <a:srgbClr val="00FF00"/>
          </a:solidFill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/>
          </a:p>
        </p:txBody>
      </p:sp>
      <p:sp>
        <p:nvSpPr>
          <p:cNvPr id="55" name="Line 24">
            <a:extLst>
              <a:ext uri="{FF2B5EF4-FFF2-40B4-BE49-F238E27FC236}">
                <a16:creationId xmlns:a16="http://schemas.microsoft.com/office/drawing/2014/main" id="{382B29D6-8847-B51D-6903-D855E370FBFC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6103573" y="3603452"/>
            <a:ext cx="385762" cy="0"/>
          </a:xfrm>
          <a:prstGeom prst="line">
            <a:avLst/>
          </a:prstGeom>
          <a:noFill/>
          <a:ln w="6350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fr-FR"/>
          </a:p>
        </p:txBody>
      </p:sp>
      <p:sp>
        <p:nvSpPr>
          <p:cNvPr id="56" name="Line 25">
            <a:extLst>
              <a:ext uri="{FF2B5EF4-FFF2-40B4-BE49-F238E27FC236}">
                <a16:creationId xmlns:a16="http://schemas.microsoft.com/office/drawing/2014/main" id="{A2C6D229-B5A0-795E-0580-F4369AF8F22A}"/>
              </a:ext>
            </a:extLst>
          </p:cNvPr>
          <p:cNvSpPr>
            <a:spLocks noChangeShapeType="1"/>
          </p:cNvSpPr>
          <p:nvPr/>
        </p:nvSpPr>
        <p:spPr bwMode="auto">
          <a:xfrm>
            <a:off x="7326741" y="3112121"/>
            <a:ext cx="79692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7" name="Line 26">
            <a:extLst>
              <a:ext uri="{FF2B5EF4-FFF2-40B4-BE49-F238E27FC236}">
                <a16:creationId xmlns:a16="http://schemas.microsoft.com/office/drawing/2014/main" id="{293696A5-76AA-C2C8-B301-C5111000B266}"/>
              </a:ext>
            </a:extLst>
          </p:cNvPr>
          <p:cNvSpPr>
            <a:spLocks noChangeShapeType="1"/>
          </p:cNvSpPr>
          <p:nvPr/>
        </p:nvSpPr>
        <p:spPr bwMode="auto">
          <a:xfrm>
            <a:off x="7326741" y="4075733"/>
            <a:ext cx="83820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8" name="Line 27">
            <a:extLst>
              <a:ext uri="{FF2B5EF4-FFF2-40B4-BE49-F238E27FC236}">
                <a16:creationId xmlns:a16="http://schemas.microsoft.com/office/drawing/2014/main" id="{17A36AF6-7EDD-F22C-DBFD-F4F87844B62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87091" y="3112121"/>
            <a:ext cx="261938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/>
          </a:p>
        </p:txBody>
      </p:sp>
      <p:graphicFrame>
        <p:nvGraphicFramePr>
          <p:cNvPr id="59" name="Object 28">
            <a:extLst>
              <a:ext uri="{FF2B5EF4-FFF2-40B4-BE49-F238E27FC236}">
                <a16:creationId xmlns:a16="http://schemas.microsoft.com/office/drawing/2014/main" id="{21AADB15-7279-C781-94F5-98095B9E2FD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1142120"/>
              </p:ext>
            </p:extLst>
          </p:nvPr>
        </p:nvGraphicFramePr>
        <p:xfrm>
          <a:off x="50436" y="3347576"/>
          <a:ext cx="4125912" cy="1117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1727200" imgH="469900" progId="">
                  <p:embed/>
                </p:oleObj>
              </mc:Choice>
              <mc:Fallback>
                <p:oleObj r:id="rId4" imgW="1727200" imgH="469900" progId="">
                  <p:embed/>
                  <p:pic>
                    <p:nvPicPr>
                      <p:cNvPr id="307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36" y="3347576"/>
                        <a:ext cx="4125912" cy="1117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Line 12">
            <a:extLst>
              <a:ext uri="{FF2B5EF4-FFF2-40B4-BE49-F238E27FC236}">
                <a16:creationId xmlns:a16="http://schemas.microsoft.com/office/drawing/2014/main" id="{72F63356-9E22-FB5D-80A7-C9E49852061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72366" y="3077196"/>
            <a:ext cx="1385888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61" name="Line 11">
            <a:extLst>
              <a:ext uri="{FF2B5EF4-FFF2-40B4-BE49-F238E27FC236}">
                <a16:creationId xmlns:a16="http://schemas.microsoft.com/office/drawing/2014/main" id="{A78DF74C-0115-D807-D449-91C2352DCC35}"/>
              </a:ext>
            </a:extLst>
          </p:cNvPr>
          <p:cNvSpPr>
            <a:spLocks noChangeShapeType="1"/>
          </p:cNvSpPr>
          <p:nvPr/>
        </p:nvSpPr>
        <p:spPr bwMode="auto">
          <a:xfrm>
            <a:off x="5169329" y="3089896"/>
            <a:ext cx="233362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/>
          </a:p>
        </p:txBody>
      </p:sp>
      <p:sp>
        <p:nvSpPr>
          <p:cNvPr id="62" name="Rectangle 16">
            <a:extLst>
              <a:ext uri="{FF2B5EF4-FFF2-40B4-BE49-F238E27FC236}">
                <a16:creationId xmlns:a16="http://schemas.microsoft.com/office/drawing/2014/main" id="{7F7829D0-73D0-D103-A6AA-1AABA3A2B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4641" y="2978771"/>
            <a:ext cx="590550" cy="196850"/>
          </a:xfrm>
          <a:prstGeom prst="rect">
            <a:avLst/>
          </a:prstGeom>
          <a:solidFill>
            <a:srgbClr val="00FF00"/>
          </a:solidFill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/>
          </a:p>
        </p:txBody>
      </p:sp>
      <p:sp>
        <p:nvSpPr>
          <p:cNvPr id="63" name="ZoneTexte 43">
            <a:extLst>
              <a:ext uri="{FF2B5EF4-FFF2-40B4-BE49-F238E27FC236}">
                <a16:creationId xmlns:a16="http://schemas.microsoft.com/office/drawing/2014/main" id="{FAC2CD91-C3E0-CA89-52BF-B853CF7852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6316" y="3381996"/>
            <a:ext cx="255588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fr-FR">
                <a:latin typeface="Calibri" pitchFamily="34" charset="0"/>
              </a:rPr>
              <a:t>~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6BD26B-F650-85C0-5D97-F55095DE7B04}"/>
              </a:ext>
            </a:extLst>
          </p:cNvPr>
          <p:cNvSpPr txBox="1"/>
          <p:nvPr/>
        </p:nvSpPr>
        <p:spPr>
          <a:xfrm>
            <a:off x="210969" y="4484226"/>
            <a:ext cx="86672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sz="1600" b="1" dirty="0">
                <a:latin typeface="Bookman Old Style" panose="02050604050505020204" pitchFamily="18" charset="0"/>
              </a:rPr>
              <a:t>Expérimentalement</a:t>
            </a:r>
            <a:r>
              <a:rPr lang="fr-FR" sz="1600" dirty="0">
                <a:latin typeface="Bookman Old Style" panose="02050604050505020204" pitchFamily="18" charset="0"/>
              </a:rPr>
              <a:t> pour déterminer </a:t>
            </a:r>
            <a:r>
              <a:rPr lang="fr-FR" sz="1600" b="1" i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s</a:t>
            </a:r>
            <a:r>
              <a:rPr lang="fr-FR" sz="1600" dirty="0">
                <a:latin typeface="Bookman Old Style" panose="02050604050505020204" pitchFamily="18" charset="0"/>
              </a:rPr>
              <a:t>, on peut aussi exciter la sortie avec un générateur externe </a:t>
            </a:r>
            <a:r>
              <a:rPr lang="fr-FR" sz="1600" b="1" i="1" dirty="0">
                <a:latin typeface="Bookman Old Style" panose="02050604050505020204" pitchFamily="18" charset="0"/>
              </a:rPr>
              <a:t>e</a:t>
            </a:r>
            <a:r>
              <a:rPr lang="fr-FR" sz="1600" dirty="0">
                <a:latin typeface="Bookman Old Style" panose="02050604050505020204" pitchFamily="18" charset="0"/>
              </a:rPr>
              <a:t> d'impédance interne </a:t>
            </a:r>
            <a:r>
              <a:rPr lang="fr-FR" sz="1600" b="1" i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g</a:t>
            </a:r>
            <a:r>
              <a:rPr lang="fr-FR" sz="1600" b="1" dirty="0">
                <a:latin typeface="Bookman Old Style" panose="02050604050505020204" pitchFamily="18" charset="0"/>
              </a:rPr>
              <a:t> </a:t>
            </a:r>
            <a:r>
              <a:rPr lang="fr-FR" sz="1600" dirty="0">
                <a:latin typeface="Bookman Old Style" panose="02050604050505020204" pitchFamily="18" charset="0"/>
              </a:rPr>
              <a:t> (</a:t>
            </a:r>
            <a:r>
              <a:rPr lang="fr-FR" sz="1600" b="1" i="1" dirty="0" err="1">
                <a:latin typeface="Bookman Old Style" panose="02050604050505020204" pitchFamily="18" charset="0"/>
              </a:rPr>
              <a:t>e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g</a:t>
            </a:r>
            <a:r>
              <a:rPr lang="fr-FR" sz="1600" b="1" dirty="0">
                <a:latin typeface="Bookman Old Style" panose="02050604050505020204" pitchFamily="18" charset="0"/>
              </a:rPr>
              <a:t> = 0 </a:t>
            </a:r>
            <a:r>
              <a:rPr lang="fr-FR" sz="1600" dirty="0">
                <a:latin typeface="Bookman Old Style" panose="02050604050505020204" pitchFamily="18" charset="0"/>
              </a:rPr>
              <a:t>: entrée en court-circuit).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E096DF5-3747-7B6A-EF69-46842FD444DF}"/>
                  </a:ext>
                </a:extLst>
              </p:cNvPr>
              <p:cNvSpPr txBox="1"/>
              <p:nvPr/>
            </p:nvSpPr>
            <p:spPr>
              <a:xfrm>
                <a:off x="3834518" y="4278358"/>
                <a:ext cx="4572000" cy="4360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</m:sSub>
                      <m:sSub>
                        <m:sSubPr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fr-FR" sz="1400" b="1" dirty="0">
                  <a:latin typeface="Book Antiqua" panose="02040602050305030304" pitchFamily="18" charset="0"/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E096DF5-3747-7B6A-EF69-46842FD44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4518" y="4278358"/>
                <a:ext cx="4572000" cy="4360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 Box 24">
            <a:extLst>
              <a:ext uri="{FF2B5EF4-FFF2-40B4-BE49-F238E27FC236}">
                <a16:creationId xmlns:a16="http://schemas.microsoft.com/office/drawing/2014/main" id="{276B53DB-91BF-AC7F-A893-A229157425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858" y="3354656"/>
            <a:ext cx="511170" cy="502303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600" b="1">
                <a:latin typeface="Bookman Old Style" panose="02050604050505020204" pitchFamily="18" charset="0"/>
              </a:rPr>
              <a:t>v</a:t>
            </a:r>
            <a:r>
              <a:rPr lang="fr-FR" sz="1600" b="1" baseline="-25000">
                <a:latin typeface="Bookman Old Style" panose="02050604050505020204" pitchFamily="18" charset="0"/>
              </a:rPr>
              <a:t>1</a:t>
            </a:r>
            <a:endParaRPr lang="fr-FR" sz="1600" b="1">
              <a:latin typeface="Bookman Old Style" panose="02050604050505020204" pitchFamily="18" charset="0"/>
            </a:endParaRPr>
          </a:p>
        </p:txBody>
      </p:sp>
      <p:sp>
        <p:nvSpPr>
          <p:cNvPr id="69" name="Line 18">
            <a:extLst>
              <a:ext uri="{FF2B5EF4-FFF2-40B4-BE49-F238E27FC236}">
                <a16:creationId xmlns:a16="http://schemas.microsoft.com/office/drawing/2014/main" id="{9C543E46-FFA9-B75E-60F5-03754D0FB76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01988" y="3179345"/>
            <a:ext cx="0" cy="6810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8766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631211" y="4824469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9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2.1 Impédances d'entrée et de sortie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0957C8-C934-DD81-E947-EDE71AB7CFB8}"/>
              </a:ext>
            </a:extLst>
          </p:cNvPr>
          <p:cNvSpPr txBox="1"/>
          <p:nvPr/>
        </p:nvSpPr>
        <p:spPr>
          <a:xfrm>
            <a:off x="990600" y="115521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B. Impédance de sortie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s</a:t>
            </a:r>
            <a:endParaRPr lang="fr-FR" sz="1600" b="1" dirty="0">
              <a:latin typeface="Bookman Old Style" panose="02050604050505020204" pitchFamily="18" charset="0"/>
            </a:endParaRPr>
          </a:p>
        </p:txBody>
      </p:sp>
      <p:graphicFrame>
        <p:nvGraphicFramePr>
          <p:cNvPr id="5" name="Object 30">
            <a:extLst>
              <a:ext uri="{FF2B5EF4-FFF2-40B4-BE49-F238E27FC236}">
                <a16:creationId xmlns:a16="http://schemas.microsoft.com/office/drawing/2014/main" id="{AD9793AF-18F4-3EE6-AD74-6B47CDB17A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52083505"/>
              </p:ext>
            </p:extLst>
          </p:nvPr>
        </p:nvGraphicFramePr>
        <p:xfrm>
          <a:off x="294186" y="2946456"/>
          <a:ext cx="401637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435100" imgH="381000" progId="">
                  <p:embed/>
                </p:oleObj>
              </mc:Choice>
              <mc:Fallback>
                <p:oleObj r:id="rId3" imgW="1435100" imgH="381000" progId="">
                  <p:embed/>
                  <p:pic>
                    <p:nvPicPr>
                      <p:cNvPr id="3075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4186" y="2946456"/>
                        <a:ext cx="4016375" cy="1063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F4982C8-49FC-1520-0A00-5CC8DDFB0E98}"/>
              </a:ext>
            </a:extLst>
          </p:cNvPr>
          <p:cNvSpPr txBox="1"/>
          <p:nvPr/>
        </p:nvSpPr>
        <p:spPr>
          <a:xfrm>
            <a:off x="517818" y="1558221"/>
            <a:ext cx="8458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u="sng" dirty="0">
                <a:solidFill>
                  <a:srgbClr val="0000FF"/>
                </a:solidFill>
                <a:latin typeface="Bookman Old Style" panose="02050604050505020204" pitchFamily="18" charset="0"/>
              </a:rPr>
              <a:t>Exemple: </a:t>
            </a:r>
            <a:r>
              <a:rPr lang="fr-FR" sz="1400" b="1" dirty="0">
                <a:latin typeface="Bookman Old Style" panose="02050604050505020204" pitchFamily="18" charset="0"/>
              </a:rPr>
              <a:t>Circuit RC</a:t>
            </a:r>
            <a:endParaRPr lang="fr-FR" sz="1400" b="1" u="sng" dirty="0">
              <a:solidFill>
                <a:srgbClr val="0000FF"/>
              </a:solidFill>
              <a:latin typeface="Bookman Old Style" panose="02050604050505020204" pitchFamily="18" charset="0"/>
            </a:endParaRPr>
          </a:p>
          <a:p>
            <a:endParaRPr lang="fr-FR" sz="1600" u="sng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2" name="Text Box 3">
            <a:extLst>
              <a:ext uri="{FF2B5EF4-FFF2-40B4-BE49-F238E27FC236}">
                <a16:creationId xmlns:a16="http://schemas.microsoft.com/office/drawing/2014/main" id="{46016E42-B003-D809-EFB9-D117981A8C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2549" y="2946456"/>
            <a:ext cx="646112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 dirty="0">
                <a:latin typeface="Bookman Old Style" panose="02050604050505020204" pitchFamily="18" charset="0"/>
              </a:rPr>
              <a:t>v</a:t>
            </a:r>
            <a:r>
              <a:rPr lang="fr-FR" sz="2400" b="1" baseline="-25000" dirty="0">
                <a:latin typeface="Bookman Old Style" panose="02050604050505020204" pitchFamily="18" charset="0"/>
              </a:rPr>
              <a:t>2</a:t>
            </a:r>
            <a:endParaRPr lang="fr-FR" sz="2400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 Box 2">
            <a:extLst>
              <a:ext uri="{FF2B5EF4-FFF2-40B4-BE49-F238E27FC236}">
                <a16:creationId xmlns:a16="http://schemas.microsoft.com/office/drawing/2014/main" id="{9B0C6704-1FD8-628C-2878-2DDC849BE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8021" y="1941643"/>
            <a:ext cx="549275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 dirty="0">
                <a:latin typeface="Bookman Old Style" panose="02050604050505020204" pitchFamily="18" charset="0"/>
              </a:rPr>
              <a:t>i</a:t>
            </a:r>
            <a:r>
              <a:rPr lang="fr-FR" sz="2400" b="1" baseline="-25000" dirty="0">
                <a:latin typeface="Bookman Old Style" panose="02050604050505020204" pitchFamily="18" charset="0"/>
              </a:rPr>
              <a:t>2</a:t>
            </a:r>
            <a:endParaRPr lang="fr-FR" sz="2400" b="1" dirty="0">
              <a:latin typeface="Bookman Old Style" panose="02050604050505020204" pitchFamily="18" charset="0"/>
            </a:endParaRPr>
          </a:p>
        </p:txBody>
      </p:sp>
      <p:sp>
        <p:nvSpPr>
          <p:cNvPr id="35" name="Rectangle 4">
            <a:extLst>
              <a:ext uri="{FF2B5EF4-FFF2-40B4-BE49-F238E27FC236}">
                <a16:creationId xmlns:a16="http://schemas.microsoft.com/office/drawing/2014/main" id="{4467A15F-05BE-F72F-D7CC-75B6B5AB5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702" y="2025706"/>
            <a:ext cx="2566987" cy="2798763"/>
          </a:xfrm>
          <a:prstGeom prst="rect">
            <a:avLst/>
          </a:prstGeom>
          <a:ln w="57150">
            <a:solidFill>
              <a:srgbClr val="FF0000"/>
            </a:solidFill>
            <a:prstDash val="sysDash"/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6" name="Line 5">
            <a:extLst>
              <a:ext uri="{FF2B5EF4-FFF2-40B4-BE49-F238E27FC236}">
                <a16:creationId xmlns:a16="http://schemas.microsoft.com/office/drawing/2014/main" id="{E4F66CC7-6571-726F-1D7B-46B0F2832433}"/>
              </a:ext>
            </a:extLst>
          </p:cNvPr>
          <p:cNvSpPr>
            <a:spLocks noChangeShapeType="1"/>
          </p:cNvSpPr>
          <p:nvPr/>
        </p:nvSpPr>
        <p:spPr bwMode="auto">
          <a:xfrm>
            <a:off x="4823058" y="2451156"/>
            <a:ext cx="3542106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7" name="Line 6">
            <a:extLst>
              <a:ext uri="{FF2B5EF4-FFF2-40B4-BE49-F238E27FC236}">
                <a16:creationId xmlns:a16="http://schemas.microsoft.com/office/drawing/2014/main" id="{4DEE6D98-8B9F-9D2F-451B-139479348A54}"/>
              </a:ext>
            </a:extLst>
          </p:cNvPr>
          <p:cNvSpPr>
            <a:spLocks noChangeShapeType="1"/>
          </p:cNvSpPr>
          <p:nvPr/>
        </p:nvSpPr>
        <p:spPr bwMode="auto">
          <a:xfrm>
            <a:off x="7514264" y="2459094"/>
            <a:ext cx="0" cy="871537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8" name="Line 7">
            <a:extLst>
              <a:ext uri="{FF2B5EF4-FFF2-40B4-BE49-F238E27FC236}">
                <a16:creationId xmlns:a16="http://schemas.microsoft.com/office/drawing/2014/main" id="{78E9681A-8D64-802F-62DC-384C37FE381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14264" y="3581456"/>
            <a:ext cx="0" cy="82867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39" name="Line 8">
            <a:extLst>
              <a:ext uri="{FF2B5EF4-FFF2-40B4-BE49-F238E27FC236}">
                <a16:creationId xmlns:a16="http://schemas.microsoft.com/office/drawing/2014/main" id="{0D419FD1-462E-11F4-4705-1FC25163AB2A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3614" y="4422831"/>
            <a:ext cx="351155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1" name="Line 10">
            <a:extLst>
              <a:ext uri="{FF2B5EF4-FFF2-40B4-BE49-F238E27FC236}">
                <a16:creationId xmlns:a16="http://schemas.microsoft.com/office/drawing/2014/main" id="{5AAA02FD-FFB7-E072-E484-D526E7A4ADB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90528" y="2451156"/>
            <a:ext cx="273049" cy="0"/>
          </a:xfrm>
          <a:prstGeom prst="line">
            <a:avLst/>
          </a:prstGeom>
          <a:ln>
            <a:solidFill>
              <a:srgbClr val="FF0000"/>
            </a:solidFill>
            <a:headEnd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 dirty="0">
              <a:latin typeface="Bookman Old Style" panose="02050604050505020204" pitchFamily="18" charset="0"/>
            </a:endParaRPr>
          </a:p>
        </p:txBody>
      </p:sp>
      <p:sp>
        <p:nvSpPr>
          <p:cNvPr id="42" name="Text Box 11">
            <a:extLst>
              <a:ext uri="{FF2B5EF4-FFF2-40B4-BE49-F238E27FC236}">
                <a16:creationId xmlns:a16="http://schemas.microsoft.com/office/drawing/2014/main" id="{29B8EA8C-D909-A964-BBE0-3FA9A06C06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7914" y="2605144"/>
            <a:ext cx="549275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R</a:t>
            </a:r>
          </a:p>
        </p:txBody>
      </p:sp>
      <p:sp>
        <p:nvSpPr>
          <p:cNvPr id="43" name="Rectangle 12">
            <a:extLst>
              <a:ext uri="{FF2B5EF4-FFF2-40B4-BE49-F238E27FC236}">
                <a16:creationId xmlns:a16="http://schemas.microsoft.com/office/drawing/2014/main" id="{EE61D358-17CD-E737-5BC5-BCCF1E6B6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2814" y="2274944"/>
            <a:ext cx="920750" cy="354012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4" name="Text Box 13">
            <a:extLst>
              <a:ext uri="{FF2B5EF4-FFF2-40B4-BE49-F238E27FC236}">
                <a16:creationId xmlns:a16="http://schemas.microsoft.com/office/drawing/2014/main" id="{B3848A3E-5120-AF0E-92AD-3E74EE2AF2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877" y="3146481"/>
            <a:ext cx="549275" cy="76358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C</a:t>
            </a:r>
          </a:p>
        </p:txBody>
      </p:sp>
      <p:sp>
        <p:nvSpPr>
          <p:cNvPr id="45" name="Line 14">
            <a:extLst>
              <a:ext uri="{FF2B5EF4-FFF2-40B4-BE49-F238E27FC236}">
                <a16:creationId xmlns:a16="http://schemas.microsoft.com/office/drawing/2014/main" id="{099ED9A9-B78F-B27B-C7E1-BD05C6B5698E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6614" y="3562406"/>
            <a:ext cx="481013" cy="0"/>
          </a:xfrm>
          <a:prstGeom prst="line">
            <a:avLst/>
          </a:prstGeom>
          <a:noFill/>
          <a:ln w="762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7" name="Line 15">
            <a:extLst>
              <a:ext uri="{FF2B5EF4-FFF2-40B4-BE49-F238E27FC236}">
                <a16:creationId xmlns:a16="http://schemas.microsoft.com/office/drawing/2014/main" id="{E77B8D2A-76AE-65B6-FE40-DDCC785585DA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6614" y="3330631"/>
            <a:ext cx="481013" cy="0"/>
          </a:xfrm>
          <a:prstGeom prst="line">
            <a:avLst/>
          </a:prstGeom>
          <a:noFill/>
          <a:ln w="762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cxnSp>
        <p:nvCxnSpPr>
          <p:cNvPr id="48" name="Connecteur droit 21">
            <a:extLst>
              <a:ext uri="{FF2B5EF4-FFF2-40B4-BE49-F238E27FC236}">
                <a16:creationId xmlns:a16="http://schemas.microsoft.com/office/drawing/2014/main" id="{1A896C88-5778-0A3E-8466-8B2712FFDC48}"/>
              </a:ext>
            </a:extLst>
          </p:cNvPr>
          <p:cNvCxnSpPr>
            <a:cxnSpLocks/>
            <a:stCxn id="36" idx="1"/>
            <a:endCxn id="39" idx="1"/>
          </p:cNvCxnSpPr>
          <p:nvPr/>
        </p:nvCxnSpPr>
        <p:spPr>
          <a:xfrm>
            <a:off x="8365164" y="2451157"/>
            <a:ext cx="0" cy="19716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9A1712ED-B940-B149-4857-2B97FF2B7244}"/>
              </a:ext>
            </a:extLst>
          </p:cNvPr>
          <p:cNvSpPr/>
          <p:nvPr/>
        </p:nvSpPr>
        <p:spPr>
          <a:xfrm>
            <a:off x="8219114" y="2889306"/>
            <a:ext cx="292100" cy="102235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51" name="Text Box 13">
            <a:extLst>
              <a:ext uri="{FF2B5EF4-FFF2-40B4-BE49-F238E27FC236}">
                <a16:creationId xmlns:a16="http://schemas.microsoft.com/office/drawing/2014/main" id="{9A37E9EC-6E38-3C7D-1449-D1B475C4E2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3014" y="3968011"/>
            <a:ext cx="549275" cy="76358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 dirty="0">
                <a:latin typeface="Bookman Old Style" panose="02050604050505020204" pitchFamily="18" charset="0"/>
              </a:rPr>
              <a:t>Z</a:t>
            </a:r>
            <a:r>
              <a:rPr lang="fr-FR" sz="2400" b="1" baseline="-25000" dirty="0">
                <a:latin typeface="Bookman Old Style" panose="02050604050505020204" pitchFamily="18" charset="0"/>
              </a:rPr>
              <a:t>L</a:t>
            </a:r>
          </a:p>
        </p:txBody>
      </p:sp>
      <p:sp>
        <p:nvSpPr>
          <p:cNvPr id="40" name="Line 9">
            <a:extLst>
              <a:ext uri="{FF2B5EF4-FFF2-40B4-BE49-F238E27FC236}">
                <a16:creationId xmlns:a16="http://schemas.microsoft.com/office/drawing/2014/main" id="{3FDF868C-24A8-DE89-CFDE-B4267066D21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02549" y="2670673"/>
            <a:ext cx="0" cy="13287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71AF4425-1D22-63E6-5DAF-3964E24775D9}"/>
              </a:ext>
            </a:extLst>
          </p:cNvPr>
          <p:cNvCxnSpPr>
            <a:cxnSpLocks/>
            <a:stCxn id="39" idx="0"/>
          </p:cNvCxnSpPr>
          <p:nvPr/>
        </p:nvCxnSpPr>
        <p:spPr>
          <a:xfrm flipH="1" flipV="1">
            <a:off x="4841644" y="3514781"/>
            <a:ext cx="11970" cy="9080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 Box 4">
            <a:extLst>
              <a:ext uri="{FF2B5EF4-FFF2-40B4-BE49-F238E27FC236}">
                <a16:creationId xmlns:a16="http://schemas.microsoft.com/office/drawing/2014/main" id="{95EAAE5F-5B07-7ACC-5396-228BDF78E9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76" y="2632132"/>
            <a:ext cx="458788" cy="452437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 dirty="0" err="1">
                <a:latin typeface="Bookman Old Style" panose="02050604050505020204" pitchFamily="18" charset="0"/>
              </a:rPr>
              <a:t>Z</a:t>
            </a:r>
            <a:r>
              <a:rPr lang="fr-FR" sz="1400" b="1" baseline="-25000" dirty="0" err="1">
                <a:latin typeface="Bookman Old Style" panose="02050604050505020204" pitchFamily="18" charset="0"/>
              </a:rPr>
              <a:t>g</a:t>
            </a:r>
            <a:endParaRPr lang="fr-FR" sz="1400" b="1" dirty="0">
              <a:latin typeface="Bookman Old Style" panose="02050604050505020204" pitchFamily="18" charset="0"/>
            </a:endParaRPr>
          </a:p>
        </p:txBody>
      </p:sp>
      <p:sp>
        <p:nvSpPr>
          <p:cNvPr id="74" name="Rectangle 16">
            <a:extLst>
              <a:ext uri="{FF2B5EF4-FFF2-40B4-BE49-F238E27FC236}">
                <a16:creationId xmlns:a16="http://schemas.microsoft.com/office/drawing/2014/main" id="{27D05053-D2E0-B5D3-947A-A1786AEA448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543263" y="3108179"/>
            <a:ext cx="590550" cy="196850"/>
          </a:xfrm>
          <a:prstGeom prst="rect">
            <a:avLst/>
          </a:prstGeom>
          <a:solidFill>
            <a:srgbClr val="00FF00"/>
          </a:solidFill>
          <a:ln>
            <a:solidFill>
              <a:schemeClr val="tx1"/>
            </a:solidFill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F53745D-AA05-7DCB-CDC3-F4191F34D1E3}"/>
              </a:ext>
            </a:extLst>
          </p:cNvPr>
          <p:cNvCxnSpPr>
            <a:cxnSpLocks/>
            <a:stCxn id="74" idx="3"/>
          </p:cNvCxnSpPr>
          <p:nvPr/>
        </p:nvCxnSpPr>
        <p:spPr>
          <a:xfrm flipH="1" flipV="1">
            <a:off x="4823058" y="2451156"/>
            <a:ext cx="15480" cy="46017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4565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2.1 Impédances d'entrée et de sortie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0957C8-C934-DD81-E947-EDE71AB7CFB8}"/>
              </a:ext>
            </a:extLst>
          </p:cNvPr>
          <p:cNvSpPr txBox="1"/>
          <p:nvPr/>
        </p:nvSpPr>
        <p:spPr>
          <a:xfrm>
            <a:off x="957435" y="115521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B. Impédance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e</a:t>
            </a:r>
            <a:r>
              <a:rPr lang="fr-FR" sz="1600" b="1" baseline="-250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et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s</a:t>
            </a:r>
            <a:endParaRPr lang="fr-FR" sz="1600" b="1" dirty="0">
              <a:latin typeface="Bookman Old Style" panose="02050604050505020204" pitchFamily="18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2007EA54-A8D8-93F3-4F2E-3F4D60368B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491" y="1710605"/>
            <a:ext cx="559435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justLow"/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- Impédance d'entrée à sortie ouverte (</a:t>
            </a:r>
            <a:r>
              <a:rPr lang="fr-FR" sz="1400" b="1" i="1" dirty="0">
                <a:latin typeface="Bookman Old Style" panose="02050604050505020204" pitchFamily="18" charset="0"/>
                <a:ea typeface="Times New Roman" pitchFamily="18" charset="0"/>
              </a:rPr>
              <a:t>Z</a:t>
            </a:r>
            <a:r>
              <a:rPr lang="fr-FR" sz="1400" b="1" baseline="-30000" dirty="0">
                <a:latin typeface="Bookman Old Style" panose="02050604050505020204" pitchFamily="18" charset="0"/>
                <a:ea typeface="Times New Roman" pitchFamily="18" charset="0"/>
              </a:rPr>
              <a:t>L</a:t>
            </a:r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 </a:t>
            </a:r>
            <a:r>
              <a:rPr lang="fr-FR" sz="1400" b="1" i="1" dirty="0">
                <a:latin typeface="Bookman Old Style" panose="02050604050505020204" pitchFamily="18" charset="0"/>
                <a:ea typeface="Times New Roman" pitchFamily="18" charset="0"/>
              </a:rPr>
              <a:t>infinie</a:t>
            </a:r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):		</a:t>
            </a:r>
          </a:p>
        </p:txBody>
      </p:sp>
      <p:graphicFrame>
        <p:nvGraphicFramePr>
          <p:cNvPr id="17" name="Object 12">
            <a:extLst>
              <a:ext uri="{FF2B5EF4-FFF2-40B4-BE49-F238E27FC236}">
                <a16:creationId xmlns:a16="http://schemas.microsoft.com/office/drawing/2014/main" id="{C8E149F7-641A-DD74-DD03-41C5F0CC0A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6813453"/>
              </p:ext>
            </p:extLst>
          </p:nvPr>
        </p:nvGraphicFramePr>
        <p:xfrm>
          <a:off x="6205079" y="1539964"/>
          <a:ext cx="1387475" cy="693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914400" imgH="457200" progId="">
                  <p:embed/>
                </p:oleObj>
              </mc:Choice>
              <mc:Fallback>
                <p:oleObj r:id="rId3" imgW="914400" imgH="457200" progId="">
                  <p:embed/>
                  <p:pic>
                    <p:nvPicPr>
                      <p:cNvPr id="4098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05079" y="1539964"/>
                        <a:ext cx="1387475" cy="6937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ectangle 14">
            <a:extLst>
              <a:ext uri="{FF2B5EF4-FFF2-40B4-BE49-F238E27FC236}">
                <a16:creationId xmlns:a16="http://schemas.microsoft.com/office/drawing/2014/main" id="{A8389288-54FE-A497-D8D3-61CC5D438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491" y="2499427"/>
            <a:ext cx="570388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justLow"/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- Impédance d'entrée à sortie en court-circuit (</a:t>
            </a:r>
            <a:r>
              <a:rPr lang="fr-FR" sz="1400" b="1" i="1" dirty="0">
                <a:latin typeface="Bookman Old Style" panose="02050604050505020204" pitchFamily="18" charset="0"/>
                <a:ea typeface="Times New Roman" pitchFamily="18" charset="0"/>
              </a:rPr>
              <a:t>Z</a:t>
            </a:r>
            <a:r>
              <a:rPr lang="fr-FR" sz="1400" b="1" baseline="-30000" dirty="0">
                <a:latin typeface="Bookman Old Style" panose="02050604050505020204" pitchFamily="18" charset="0"/>
                <a:ea typeface="Times New Roman" pitchFamily="18" charset="0"/>
              </a:rPr>
              <a:t>L</a:t>
            </a:r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 = 0):	</a:t>
            </a:r>
          </a:p>
        </p:txBody>
      </p:sp>
      <p:graphicFrame>
        <p:nvGraphicFramePr>
          <p:cNvPr id="21" name="Object 11">
            <a:extLst>
              <a:ext uri="{FF2B5EF4-FFF2-40B4-BE49-F238E27FC236}">
                <a16:creationId xmlns:a16="http://schemas.microsoft.com/office/drawing/2014/main" id="{277444C1-A913-7BDC-737F-0F663752745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2385654"/>
              </p:ext>
            </p:extLst>
          </p:nvPr>
        </p:nvGraphicFramePr>
        <p:xfrm>
          <a:off x="6211371" y="2311210"/>
          <a:ext cx="1423987" cy="684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952500" imgH="457200" progId="">
                  <p:embed/>
                </p:oleObj>
              </mc:Choice>
              <mc:Fallback>
                <p:oleObj r:id="rId5" imgW="952500" imgH="457200" progId="">
                  <p:embed/>
                  <p:pic>
                    <p:nvPicPr>
                      <p:cNvPr id="409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11371" y="2311210"/>
                        <a:ext cx="1423987" cy="6842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Rectangle 15">
            <a:extLst>
              <a:ext uri="{FF2B5EF4-FFF2-40B4-BE49-F238E27FC236}">
                <a16:creationId xmlns:a16="http://schemas.microsoft.com/office/drawing/2014/main" id="{6A46751B-76F5-9DD4-9F5B-5E09F2AEDD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121" y="3401494"/>
            <a:ext cx="5922963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justLow"/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- Impédance de sortie à entrée ouverte (excitée par une source de courant (idéale): </a:t>
            </a:r>
            <a:r>
              <a:rPr lang="fr-FR" sz="1400" b="1" i="1" dirty="0" err="1">
                <a:latin typeface="Bookman Old Style" panose="02050604050505020204" pitchFamily="18" charset="0"/>
                <a:ea typeface="Times New Roman" pitchFamily="18" charset="0"/>
              </a:rPr>
              <a:t>Z</a:t>
            </a:r>
            <a:r>
              <a:rPr lang="fr-FR" sz="1400" b="1" baseline="-30000" dirty="0" err="1">
                <a:latin typeface="Bookman Old Style" panose="02050604050505020204" pitchFamily="18" charset="0"/>
                <a:ea typeface="Times New Roman" pitchFamily="18" charset="0"/>
              </a:rPr>
              <a:t>g</a:t>
            </a:r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 </a:t>
            </a:r>
            <a:r>
              <a:rPr lang="fr-FR" sz="1400" b="1" i="1" dirty="0">
                <a:latin typeface="Bookman Old Style" panose="02050604050505020204" pitchFamily="18" charset="0"/>
                <a:ea typeface="Times New Roman" pitchFamily="18" charset="0"/>
              </a:rPr>
              <a:t>infinie</a:t>
            </a:r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):</a:t>
            </a:r>
          </a:p>
          <a:p>
            <a:pPr algn="justLow" eaLnBrk="0" hangingPunct="0"/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									      </a:t>
            </a:r>
            <a:endParaRPr lang="fr-FR" sz="1400" b="1" dirty="0">
              <a:latin typeface="Bookman Old Style" panose="02050604050505020204" pitchFamily="18" charset="0"/>
            </a:endParaRPr>
          </a:p>
        </p:txBody>
      </p:sp>
      <p:graphicFrame>
        <p:nvGraphicFramePr>
          <p:cNvPr id="24" name="Object 10">
            <a:extLst>
              <a:ext uri="{FF2B5EF4-FFF2-40B4-BE49-F238E27FC236}">
                <a16:creationId xmlns:a16="http://schemas.microsoft.com/office/drawing/2014/main" id="{F4A77D7B-2C12-15F3-E580-E5232286D4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57463445"/>
              </p:ext>
            </p:extLst>
          </p:nvPr>
        </p:nvGraphicFramePr>
        <p:xfrm>
          <a:off x="6310189" y="3318923"/>
          <a:ext cx="248285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1879600" imgH="469900" progId="">
                  <p:embed/>
                </p:oleObj>
              </mc:Choice>
              <mc:Fallback>
                <p:oleObj r:id="rId7" imgW="1879600" imgH="469900" progId="">
                  <p:embed/>
                  <p:pic>
                    <p:nvPicPr>
                      <p:cNvPr id="410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10189" y="3318923"/>
                        <a:ext cx="2482850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Rectangle 16">
            <a:extLst>
              <a:ext uri="{FF2B5EF4-FFF2-40B4-BE49-F238E27FC236}">
                <a16:creationId xmlns:a16="http://schemas.microsoft.com/office/drawing/2014/main" id="{3505E41E-0B8C-CF89-AB2E-F450F6B14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491" y="4346192"/>
            <a:ext cx="5922963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justLow"/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- Impédance de sortie à entrée en court-circuit (excitée par une source de tension (idéale): </a:t>
            </a:r>
            <a:r>
              <a:rPr lang="fr-FR" sz="1400" b="1" i="1" dirty="0" err="1">
                <a:latin typeface="Bookman Old Style" panose="02050604050505020204" pitchFamily="18" charset="0"/>
                <a:ea typeface="Times New Roman" pitchFamily="18" charset="0"/>
              </a:rPr>
              <a:t>Z</a:t>
            </a:r>
            <a:r>
              <a:rPr lang="fr-FR" sz="1400" b="1" baseline="-30000" dirty="0" err="1">
                <a:latin typeface="Bookman Old Style" panose="02050604050505020204" pitchFamily="18" charset="0"/>
                <a:ea typeface="Times New Roman" pitchFamily="18" charset="0"/>
              </a:rPr>
              <a:t>g</a:t>
            </a:r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 = 0): </a:t>
            </a:r>
          </a:p>
          <a:p>
            <a:pPr algn="justLow" eaLnBrk="0" hangingPunct="0"/>
            <a:r>
              <a:rPr lang="fr-FR" sz="1400" b="1" dirty="0">
                <a:latin typeface="Bookman Old Style" panose="02050604050505020204" pitchFamily="18" charset="0"/>
                <a:ea typeface="Times New Roman" pitchFamily="18" charset="0"/>
              </a:rPr>
              <a:t>									      </a:t>
            </a:r>
            <a:endParaRPr lang="fr-FR" sz="1400" b="1" dirty="0">
              <a:latin typeface="Bookman Old Style" panose="02050604050505020204" pitchFamily="18" charset="0"/>
            </a:endParaRPr>
          </a:p>
        </p:txBody>
      </p:sp>
      <p:graphicFrame>
        <p:nvGraphicFramePr>
          <p:cNvPr id="26" name="Object 9">
            <a:extLst>
              <a:ext uri="{FF2B5EF4-FFF2-40B4-BE49-F238E27FC236}">
                <a16:creationId xmlns:a16="http://schemas.microsoft.com/office/drawing/2014/main" id="{123DD7E9-0FB7-CA93-09C7-42082B621E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9566248"/>
              </p:ext>
            </p:extLst>
          </p:nvPr>
        </p:nvGraphicFramePr>
        <p:xfrm>
          <a:off x="6335434" y="4102071"/>
          <a:ext cx="2060575" cy="788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9" imgW="1219200" imgH="469900" progId="">
                  <p:embed/>
                </p:oleObj>
              </mc:Choice>
              <mc:Fallback>
                <p:oleObj r:id="rId9" imgW="1219200" imgH="469900" progId="">
                  <p:embed/>
                  <p:pic>
                    <p:nvPicPr>
                      <p:cNvPr id="4101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35434" y="4102071"/>
                        <a:ext cx="2060575" cy="7889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99988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2.1 Impédances d'entrée et de sortie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0957C8-C934-DD81-E947-EDE71AB7CFB8}"/>
              </a:ext>
            </a:extLst>
          </p:cNvPr>
          <p:cNvSpPr txBox="1"/>
          <p:nvPr/>
        </p:nvSpPr>
        <p:spPr>
          <a:xfrm>
            <a:off x="957434" y="1155212"/>
            <a:ext cx="5216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B. Mesure expérimental de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e</a:t>
            </a:r>
            <a:r>
              <a:rPr lang="fr-FR" sz="1600" b="1" baseline="-250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et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s</a:t>
            </a:r>
            <a:endParaRPr lang="fr-FR" sz="1600" b="1" dirty="0">
              <a:latin typeface="Bookman Old Style" panose="020506040505050202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0D5AE0-FBAB-7AF6-4E27-9E917623A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038" y="2928667"/>
            <a:ext cx="4986166" cy="15756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510F137-D767-3A07-A4C7-DD012DD3F96B}"/>
              </a:ext>
            </a:extLst>
          </p:cNvPr>
          <p:cNvSpPr txBox="1"/>
          <p:nvPr/>
        </p:nvSpPr>
        <p:spPr>
          <a:xfrm>
            <a:off x="367039" y="1613039"/>
            <a:ext cx="870216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500" dirty="0">
                <a:latin typeface="Bookman Old Style" panose="02050604050505020204" pitchFamily="18" charset="0"/>
              </a:rPr>
              <a:t>La figure suivante montre le schéma équivalent d'une « </a:t>
            </a:r>
            <a:r>
              <a:rPr lang="fr-FR" sz="1500" b="1" dirty="0">
                <a:latin typeface="Bookman Old Style" panose="02050604050505020204" pitchFamily="18" charset="0"/>
              </a:rPr>
              <a:t>boîte noire </a:t>
            </a:r>
            <a:r>
              <a:rPr lang="fr-FR" sz="1500" dirty="0">
                <a:latin typeface="Bookman Old Style" panose="02050604050505020204" pitchFamily="18" charset="0"/>
              </a:rPr>
              <a:t>».</a:t>
            </a:r>
          </a:p>
          <a:p>
            <a:pPr algn="just"/>
            <a:endParaRPr lang="fr-FR" sz="1500" dirty="0">
              <a:latin typeface="Bookman Old Style" panose="02050604050505020204" pitchFamily="18" charset="0"/>
            </a:endParaRPr>
          </a:p>
          <a:p>
            <a:pPr algn="just"/>
            <a:r>
              <a:rPr lang="fr-FR" sz="1500" dirty="0">
                <a:latin typeface="Bookman Old Style" panose="02050604050505020204" pitchFamily="18" charset="0"/>
              </a:rPr>
              <a:t>Il s'agit du schéma équivalent d'un amplificateur avec </a:t>
            </a:r>
            <a:r>
              <a:rPr lang="fr-FR" sz="1500" b="1" dirty="0">
                <a:latin typeface="Bookman Old Style" panose="02050604050505020204" pitchFamily="18" charset="0"/>
              </a:rPr>
              <a:t>une impédance d'entrée </a:t>
            </a:r>
            <a:r>
              <a:rPr lang="fr-FR" sz="1500" dirty="0">
                <a:latin typeface="Bookman Old Style" panose="02050604050505020204" pitchFamily="18" charset="0"/>
              </a:rPr>
              <a:t>et une </a:t>
            </a:r>
            <a:r>
              <a:rPr lang="fr-FR" sz="1500" b="1" dirty="0">
                <a:latin typeface="Bookman Old Style" panose="02050604050505020204" pitchFamily="18" charset="0"/>
              </a:rPr>
              <a:t>impédance de sortie</a:t>
            </a:r>
            <a:r>
              <a:rPr lang="fr-FR" sz="1500" dirty="0">
                <a:latin typeface="Bookman Old Style" panose="020506040505050202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35382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2.1 Impédances d'entrée et de sortie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0957C8-C934-DD81-E947-EDE71AB7CFB8}"/>
              </a:ext>
            </a:extLst>
          </p:cNvPr>
          <p:cNvSpPr txBox="1"/>
          <p:nvPr/>
        </p:nvSpPr>
        <p:spPr>
          <a:xfrm>
            <a:off x="957434" y="1155212"/>
            <a:ext cx="5216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B. Mesure expérimental de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e</a:t>
            </a:r>
            <a:r>
              <a:rPr lang="fr-FR" sz="1600" b="1" baseline="-250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et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s</a:t>
            </a:r>
            <a:endParaRPr lang="fr-FR" sz="1600" b="1" dirty="0"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10F137-D767-3A07-A4C7-DD012DD3F96B}"/>
              </a:ext>
            </a:extLst>
          </p:cNvPr>
          <p:cNvSpPr txBox="1"/>
          <p:nvPr/>
        </p:nvSpPr>
        <p:spPr>
          <a:xfrm>
            <a:off x="391508" y="1492180"/>
            <a:ext cx="870216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500" b="1" u="sng" dirty="0">
                <a:latin typeface="Bookman Old Style" panose="02050604050505020204" pitchFamily="18" charset="0"/>
              </a:rPr>
              <a:t>Mesure de la résistance/impédance d'entrée: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91FFC-507D-0C8E-87B4-14EBCD937995}"/>
              </a:ext>
            </a:extLst>
          </p:cNvPr>
          <p:cNvSpPr txBox="1"/>
          <p:nvPr/>
        </p:nvSpPr>
        <p:spPr>
          <a:xfrm>
            <a:off x="452136" y="1902991"/>
            <a:ext cx="876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0" i="0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On place une boîte de résistances variables entre la sortie du GBF et l'entrée de la boîte noire</a:t>
            </a:r>
            <a:endParaRPr lang="fr-FR" sz="1400" dirty="0">
              <a:latin typeface="Bookman Old Style" panose="0205060405050502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EAF6858-F77B-34F5-1D72-9AC19AADD360}"/>
                  </a:ext>
                </a:extLst>
              </p:cNvPr>
              <p:cNvSpPr txBox="1"/>
              <p:nvPr/>
            </p:nvSpPr>
            <p:spPr>
              <a:xfrm>
                <a:off x="452136" y="2248996"/>
                <a:ext cx="8702165" cy="9560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>
                  <a:buFont typeface="Arial" panose="020B0604020202020204" pitchFamily="34" charset="0"/>
                  <a:buChar char="•"/>
                  <a:defRPr sz="1400" b="0" i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defRPr>
                </a:lvl1pPr>
              </a:lstStyle>
              <a:p>
                <a:pPr algn="just"/>
                <a:r>
                  <a:rPr lang="fr-FR" dirty="0"/>
                  <a:t>On visualise en </a:t>
                </a:r>
                <a:r>
                  <a:rPr lang="fr-FR" b="1" dirty="0"/>
                  <a:t>Y2</a:t>
                </a:r>
                <a:r>
                  <a:rPr lang="fr-FR" dirty="0"/>
                  <a:t> la tension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b="1" dirty="0"/>
                  <a:t> </a:t>
                </a:r>
                <a:r>
                  <a:rPr lang="fr-FR" dirty="0"/>
                  <a:t>aux bornes de l'entrée de la boîte noire et en </a:t>
                </a:r>
                <a:r>
                  <a:rPr lang="fr-FR" b="1" dirty="0"/>
                  <a:t>Y1</a:t>
                </a:r>
                <a:r>
                  <a:rPr lang="fr-FR" dirty="0"/>
                  <a:t> la tension </a:t>
                </a:r>
                <a14:m>
                  <m:oMath xmlns:m="http://schemas.openxmlformats.org/officeDocument/2006/math"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b="1" dirty="0"/>
                  <a:t> </a:t>
                </a:r>
                <a:r>
                  <a:rPr lang="fr-FR" dirty="0"/>
                  <a:t>du GBF.</a:t>
                </a:r>
              </a:p>
              <a:p>
                <a:pPr algn="just"/>
                <a:r>
                  <a:rPr lang="fr-FR" dirty="0"/>
                  <a:t>La règle du diviseur de tension donne 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fr-FR" sz="1800" b="1" i="1" dirty="0" smtClean="0"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d>
                      <m:dPr>
                        <m:ctrlPr>
                          <a:rPr lang="fr-FR" sz="18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1" i="1" dirty="0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fr-FR" sz="1800" b="1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8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1" i="1" dirty="0" smtClean="0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fr-FR" sz="1800" b="1" i="1" dirty="0" smtClean="0"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fr-FR" sz="18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1" i="1" dirty="0" smtClean="0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fr-FR" sz="1800" b="1" i="1" dirty="0" smtClean="0"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  <m:r>
                          <a:rPr lang="fr-FR" sz="1800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1" i="1" dirty="0" smtClean="0">
                            <a:latin typeface="Cambria Math" panose="02040503050406030204" pitchFamily="18" charset="0"/>
                          </a:rPr>
                          <m:t>𝑹</m:t>
                        </m:r>
                      </m:den>
                    </m:f>
                    <m:r>
                      <a:rPr lang="fr-FR" sz="1800" b="1" i="1" dirty="0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fr-FR" sz="18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800" b="1" i="1" dirty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sz="1800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800" b="1" dirty="0"/>
                  <a:t> </a:t>
                </a:r>
                <a:endParaRPr lang="fr-FR" sz="1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EAF6858-F77B-34F5-1D72-9AC19AADD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36" y="2248996"/>
                <a:ext cx="8702165" cy="956096"/>
              </a:xfrm>
              <a:prstGeom prst="rect">
                <a:avLst/>
              </a:prstGeom>
              <a:blipFill>
                <a:blip r:embed="rId3"/>
                <a:stretch>
                  <a:fillRect l="-70" t="-1274" r="-1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EFF044CD-B5CF-26FB-99F0-8968DD6CF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630" y="3166037"/>
            <a:ext cx="4318856" cy="14972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4BD53FA-24FE-D146-1291-82098397A867}"/>
                  </a:ext>
                </a:extLst>
              </p:cNvPr>
              <p:cNvSpPr txBox="1"/>
              <p:nvPr/>
            </p:nvSpPr>
            <p:spPr>
              <a:xfrm>
                <a:off x="452136" y="3155026"/>
                <a:ext cx="4609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 algn="just">
                  <a:buFont typeface="Arial" panose="020B0604020202020204" pitchFamily="34" charset="0"/>
                  <a:buChar char="•"/>
                  <a:defRPr sz="1400" b="0" i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fr-FR" dirty="0"/>
                  <a:t>Dans un premier temps, on choisit </a:t>
                </a:r>
                <a14:m>
                  <m:oMath xmlns:m="http://schemas.openxmlformats.org/officeDocument/2006/math"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𝑹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fr-FR" dirty="0"/>
                  <a:t>, </a:t>
                </a:r>
              </a:p>
              <a:p>
                <a:pPr marL="0" indent="0">
                  <a:buNone/>
                </a:pPr>
                <a:r>
                  <a:rPr lang="fr-FR" dirty="0"/>
                  <a:t>     alors 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d>
                      <m:d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b="1" dirty="0"/>
                  <a:t> </a:t>
                </a:r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4BD53FA-24FE-D146-1291-82098397A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36" y="3155026"/>
                <a:ext cx="4609750" cy="523220"/>
              </a:xfrm>
              <a:prstGeom prst="rect">
                <a:avLst/>
              </a:prstGeom>
              <a:blipFill>
                <a:blip r:embed="rId5"/>
                <a:stretch>
                  <a:fillRect l="-132" t="-2353" b="-1176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8DBBD1-4045-C622-0373-59B9DD6AFFCF}"/>
                  </a:ext>
                </a:extLst>
              </p:cNvPr>
              <p:cNvSpPr txBox="1"/>
              <p:nvPr/>
            </p:nvSpPr>
            <p:spPr>
              <a:xfrm>
                <a:off x="409684" y="3748879"/>
                <a:ext cx="4609750" cy="10752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 algn="just">
                  <a:buFont typeface="Arial" panose="020B0604020202020204" pitchFamily="34" charset="0"/>
                  <a:buChar char="•"/>
                  <a:defRPr sz="1400" b="0" i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fr-FR" dirty="0"/>
                  <a:t>Puis, on augmente la valeur de </a:t>
                </a:r>
                <a:r>
                  <a:rPr lang="fr-FR" b="1" dirty="0"/>
                  <a:t>R</a:t>
                </a:r>
                <a:r>
                  <a:rPr lang="fr-FR" dirty="0"/>
                  <a:t> afin de mesurer aux bornes de la boîte une tension moitié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)/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fr-FR" dirty="0"/>
                  <a:t>.</a:t>
                </a:r>
              </a:p>
              <a:p>
                <a:pPr marL="0" indent="0">
                  <a:buNone/>
                </a:pPr>
                <a:r>
                  <a:rPr lang="fr-FR" dirty="0"/>
                  <a:t>Par conséquent :</a:t>
                </a:r>
                <a:r>
                  <a:rPr lang="fr-FR" b="1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𝑹</m:t>
                        </m:r>
                      </m:den>
                    </m:f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fr-FR" dirty="0"/>
                  <a:t> , donc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𝑹</m:t>
                        </m:r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</m:oMath>
                </a14:m>
                <a:r>
                  <a:rPr lang="fr-FR" dirty="0"/>
                  <a:t>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8DBBD1-4045-C622-0373-59B9DD6AF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84" y="3748879"/>
                <a:ext cx="4609750" cy="1075294"/>
              </a:xfrm>
              <a:prstGeom prst="rect">
                <a:avLst/>
              </a:prstGeom>
              <a:blipFill>
                <a:blip r:embed="rId6"/>
                <a:stretch>
                  <a:fillRect l="-397" t="-1136" r="-39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6967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2.1 Impédances d'entrée et de sortie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0957C8-C934-DD81-E947-EDE71AB7CFB8}"/>
              </a:ext>
            </a:extLst>
          </p:cNvPr>
          <p:cNvSpPr txBox="1"/>
          <p:nvPr/>
        </p:nvSpPr>
        <p:spPr>
          <a:xfrm>
            <a:off x="957434" y="1155212"/>
            <a:ext cx="5216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B. Mesure expérimental de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e</a:t>
            </a:r>
            <a:r>
              <a:rPr lang="fr-FR" sz="1600" b="1" baseline="-250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  <a:latin typeface="Bookman Old Style" panose="02050604050505020204" pitchFamily="18" charset="0"/>
              </a:rPr>
              <a:t>et </a:t>
            </a:r>
            <a:r>
              <a:rPr lang="fr-FR" sz="1600" b="1" dirty="0" err="1">
                <a:latin typeface="Bookman Old Style" panose="02050604050505020204" pitchFamily="18" charset="0"/>
              </a:rPr>
              <a:t>Z</a:t>
            </a:r>
            <a:r>
              <a:rPr lang="fr-FR" sz="1600" b="1" baseline="-25000" dirty="0" err="1">
                <a:latin typeface="Bookman Old Style" panose="02050604050505020204" pitchFamily="18" charset="0"/>
              </a:rPr>
              <a:t>s</a:t>
            </a:r>
            <a:endParaRPr lang="fr-FR" sz="1600" b="1" dirty="0"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10F137-D767-3A07-A4C7-DD012DD3F96B}"/>
              </a:ext>
            </a:extLst>
          </p:cNvPr>
          <p:cNvSpPr txBox="1"/>
          <p:nvPr/>
        </p:nvSpPr>
        <p:spPr>
          <a:xfrm>
            <a:off x="391508" y="1492180"/>
            <a:ext cx="870216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500" b="1" u="sng" dirty="0">
                <a:latin typeface="Bookman Old Style" panose="02050604050505020204" pitchFamily="18" charset="0"/>
              </a:rPr>
              <a:t>Mesure de la résistance/impédance de sortie: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491FFC-507D-0C8E-87B4-14EBCD937995}"/>
                  </a:ext>
                </a:extLst>
              </p:cNvPr>
              <p:cNvSpPr txBox="1"/>
              <p:nvPr/>
            </p:nvSpPr>
            <p:spPr>
              <a:xfrm>
                <a:off x="452136" y="1902991"/>
                <a:ext cx="8763000" cy="7649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>
                  <a:buFont typeface="Arial" panose="020B0604020202020204" pitchFamily="34" charset="0"/>
                  <a:buChar char="•"/>
                  <a:defRPr sz="1400" b="0" i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fr-FR" dirty="0"/>
                  <a:t>On mesure sur la voie </a:t>
                </a:r>
                <a:r>
                  <a:rPr lang="fr-FR" b="1" dirty="0"/>
                  <a:t>Y2</a:t>
                </a:r>
                <a:r>
                  <a:rPr lang="fr-FR" dirty="0"/>
                  <a:t> de l'oscilloscope la tension aux bornes de la résistance </a:t>
                </a:r>
                <a:r>
                  <a:rPr lang="fr-FR" b="1" dirty="0"/>
                  <a:t>R</a:t>
                </a:r>
                <a:r>
                  <a:rPr lang="fr-FR" dirty="0"/>
                  <a:t> (qui est une succession de boîtes de résistances variables).</a:t>
                </a:r>
              </a:p>
              <a:p>
                <a:r>
                  <a:rPr lang="fr-FR" dirty="0"/>
                  <a:t>Le diviseur de tension donne, en supposant ici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err="1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dirty="0"/>
                  <a:t>réelle :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491FFC-507D-0C8E-87B4-14EBCD937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36" y="1902991"/>
                <a:ext cx="8763000" cy="764953"/>
              </a:xfrm>
              <a:prstGeom prst="rect">
                <a:avLst/>
              </a:prstGeom>
              <a:blipFill>
                <a:blip r:embed="rId3"/>
                <a:stretch>
                  <a:fillRect l="-70" t="-1587" r="-765" b="-71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48AD871-86B4-5D12-55F7-B9CAC9F2CA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248" y="3346056"/>
            <a:ext cx="4118407" cy="1248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6AC1C09-DC60-92B2-E693-D2D40C7FE20E}"/>
                  </a:ext>
                </a:extLst>
              </p:cNvPr>
              <p:cNvSpPr txBox="1"/>
              <p:nvPr/>
            </p:nvSpPr>
            <p:spPr>
              <a:xfrm>
                <a:off x="6176396" y="2247458"/>
                <a:ext cx="4643306" cy="5352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  <m:d>
                      <m:d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𝑹</m:t>
                        </m:r>
                      </m:num>
                      <m:den>
                        <m:sSub>
                          <m:sSubPr>
                            <m:ctrlP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fr-FR" b="1" i="1" dirty="0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b>
                        </m:s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𝑹</m:t>
                        </m:r>
                      </m:den>
                    </m:f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𝑮𝒆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b="1" dirty="0"/>
                  <a:t> </a:t>
                </a:r>
                <a:endParaRPr lang="fr-FR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6AC1C09-DC60-92B2-E693-D2D40C7FE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6396" y="2247458"/>
                <a:ext cx="4643306" cy="5352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64987F1-E255-8BCB-2E50-15ACE779FC97}"/>
              </a:ext>
            </a:extLst>
          </p:cNvPr>
          <p:cNvSpPr txBox="1"/>
          <p:nvPr/>
        </p:nvSpPr>
        <p:spPr>
          <a:xfrm>
            <a:off x="452136" y="2874958"/>
            <a:ext cx="4643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>
              <a:buFont typeface="Arial" panose="020B0604020202020204" pitchFamily="34" charset="0"/>
              <a:buChar char="•"/>
              <a:defRPr sz="1400" b="0" i="0">
                <a:solidFill>
                  <a:srgbClr val="000000"/>
                </a:solidFill>
                <a:effectLst/>
                <a:latin typeface="Bookman Old Style" panose="02050604050505020204" pitchFamily="18" charset="0"/>
              </a:defRPr>
            </a:lvl1pPr>
          </a:lstStyle>
          <a:p>
            <a:r>
              <a:rPr lang="fr-FR" dirty="0"/>
              <a:t>Choisir </a:t>
            </a:r>
            <a:r>
              <a:rPr lang="fr-FR" b="1" dirty="0"/>
              <a:t>R</a:t>
            </a:r>
            <a:r>
              <a:rPr lang="fr-FR" dirty="0"/>
              <a:t> très grande (voire "infinie"), alors 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FE19FB7-8441-F0DD-F997-16C2B902453F}"/>
                  </a:ext>
                </a:extLst>
              </p:cNvPr>
              <p:cNvSpPr txBox="1"/>
              <p:nvPr/>
            </p:nvSpPr>
            <p:spPr>
              <a:xfrm>
                <a:off x="4726798" y="2813403"/>
                <a:ext cx="46433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  <m:d>
                      <m:d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𝑮𝒆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b="1" dirty="0"/>
                  <a:t> </a:t>
                </a:r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FE19FB7-8441-F0DD-F997-16C2B90245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798" y="2813403"/>
                <a:ext cx="4643306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F4DEFE3-DAA4-7C2D-D45D-0E468EE0CF51}"/>
                  </a:ext>
                </a:extLst>
              </p:cNvPr>
              <p:cNvSpPr txBox="1"/>
              <p:nvPr/>
            </p:nvSpPr>
            <p:spPr>
              <a:xfrm>
                <a:off x="397800" y="3459599"/>
                <a:ext cx="5164800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>
                  <a:buFont typeface="Arial" panose="020B0604020202020204" pitchFamily="34" charset="0"/>
                  <a:buChar char="•"/>
                  <a:defRPr sz="1400" b="0" i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fr-FR" dirty="0"/>
                  <a:t>On diminue la valeur de </a:t>
                </a:r>
                <a:r>
                  <a:rPr lang="fr-FR" b="1" dirty="0"/>
                  <a:t>R </a:t>
                </a:r>
                <a:r>
                  <a:rPr lang="fr-FR" dirty="0"/>
                  <a:t>jusqu'à obtenir une tension </a:t>
                </a:r>
                <a:r>
                  <a:rPr lang="fr-FR" b="1" dirty="0"/>
                  <a:t>moitié</a:t>
                </a:r>
                <a:r>
                  <a:rPr lang="fr-FR" dirty="0"/>
                  <a:t> de celle que l'on avait avec </a:t>
                </a:r>
                <a:r>
                  <a:rPr lang="fr-FR" b="1" dirty="0"/>
                  <a:t>R</a:t>
                </a:r>
                <a:r>
                  <a:rPr lang="fr-FR" dirty="0"/>
                  <a:t> très grande (c'est facile à mesurer à l'oscilloscope).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r>
                  <a:rPr lang="fr-FR" dirty="0"/>
                  <a:t>On en déduit alors que 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0" dirty="0" smtClean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F4DEFE3-DAA4-7C2D-D45D-0E468EE0C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00" y="3459599"/>
                <a:ext cx="5164800" cy="1169551"/>
              </a:xfrm>
              <a:prstGeom prst="rect">
                <a:avLst/>
              </a:prstGeom>
              <a:blipFill>
                <a:blip r:embed="rId7"/>
                <a:stretch>
                  <a:fillRect l="-118" t="-1047" b="-47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8432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2.2 Paramètres de quadripôle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3" name="Object 1">
            <a:extLst>
              <a:ext uri="{FF2B5EF4-FFF2-40B4-BE49-F238E27FC236}">
                <a16:creationId xmlns:a16="http://schemas.microsoft.com/office/drawing/2014/main" id="{A5F80CDE-D005-24E2-A0AF-C40E06FD02E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7544185"/>
              </p:ext>
            </p:extLst>
          </p:nvPr>
        </p:nvGraphicFramePr>
        <p:xfrm>
          <a:off x="1015638" y="2340473"/>
          <a:ext cx="2117725" cy="1098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091726" imgH="418918" progId="">
                  <p:embed/>
                </p:oleObj>
              </mc:Choice>
              <mc:Fallback>
                <p:oleObj r:id="rId3" imgW="1091726" imgH="418918" progId="">
                  <p:embed/>
                  <p:pic>
                    <p:nvPicPr>
                      <p:cNvPr id="5122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15638" y="2340473"/>
                        <a:ext cx="2117725" cy="109855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e 33">
            <a:extLst>
              <a:ext uri="{FF2B5EF4-FFF2-40B4-BE49-F238E27FC236}">
                <a16:creationId xmlns:a16="http://schemas.microsoft.com/office/drawing/2014/main" id="{F2B7A195-C587-597C-C914-0034B2D03549}"/>
              </a:ext>
            </a:extLst>
          </p:cNvPr>
          <p:cNvGrpSpPr>
            <a:grpSpLocks/>
          </p:cNvGrpSpPr>
          <p:nvPr/>
        </p:nvGrpSpPr>
        <p:grpSpPr bwMode="auto">
          <a:xfrm>
            <a:off x="3850546" y="3015257"/>
            <a:ext cx="4826000" cy="1935163"/>
            <a:chOff x="3594024" y="3502026"/>
            <a:chExt cx="4825550" cy="1935189"/>
          </a:xfrm>
        </p:grpSpPr>
        <p:sp>
          <p:nvSpPr>
            <p:cNvPr id="11" name="Text Box 4">
              <a:extLst>
                <a:ext uri="{FF2B5EF4-FFF2-40B4-BE49-F238E27FC236}">
                  <a16:creationId xmlns:a16="http://schemas.microsoft.com/office/drawing/2014/main" id="{1D6152A1-942A-5123-4082-5BC0EF4678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02774" y="3503315"/>
              <a:ext cx="616800" cy="524731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400" b="1">
                  <a:latin typeface="Bookman Old Style" panose="02050604050505020204" pitchFamily="18" charset="0"/>
                </a:rPr>
                <a:t>I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2</a:t>
              </a:r>
              <a:endParaRPr lang="fr-FR" sz="1400" b="1">
                <a:latin typeface="Bookman Old Style" panose="02050604050505020204" pitchFamily="18" charset="0"/>
              </a:endParaRPr>
            </a:p>
          </p:txBody>
        </p:sp>
        <p:sp>
          <p:nvSpPr>
            <p:cNvPr id="12" name="Text Box 6">
              <a:extLst>
                <a:ext uri="{FF2B5EF4-FFF2-40B4-BE49-F238E27FC236}">
                  <a16:creationId xmlns:a16="http://schemas.microsoft.com/office/drawing/2014/main" id="{46200F35-E6EF-E51A-EC60-872DEDD8A1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37598" y="3502026"/>
              <a:ext cx="616800" cy="524731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400" b="1">
                  <a:latin typeface="Bookman Old Style" panose="02050604050505020204" pitchFamily="18" charset="0"/>
                </a:rPr>
                <a:t>z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22</a:t>
              </a:r>
              <a:endParaRPr lang="fr-FR" sz="1400" b="1">
                <a:latin typeface="Bookman Old Style" panose="02050604050505020204" pitchFamily="18" charset="0"/>
              </a:endParaRPr>
            </a:p>
          </p:txBody>
        </p:sp>
        <p:sp>
          <p:nvSpPr>
            <p:cNvPr id="22" name="Text Box 7">
              <a:extLst>
                <a:ext uri="{FF2B5EF4-FFF2-40B4-BE49-F238E27FC236}">
                  <a16:creationId xmlns:a16="http://schemas.microsoft.com/office/drawing/2014/main" id="{B030C976-82B7-43FD-90F4-01CD793CE7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86702" y="4547354"/>
              <a:ext cx="761929" cy="524731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400" b="1">
                  <a:latin typeface="Bookman Old Style" panose="02050604050505020204" pitchFamily="18" charset="0"/>
                </a:rPr>
                <a:t>z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21</a:t>
              </a:r>
              <a:r>
                <a:rPr lang="fr-FR" sz="1400" b="1">
                  <a:latin typeface="Bookman Old Style" panose="02050604050505020204" pitchFamily="18" charset="0"/>
                </a:rPr>
                <a:t>I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1</a:t>
              </a:r>
              <a:endParaRPr lang="fr-FR" sz="1400" b="1">
                <a:latin typeface="Bookman Old Style" panose="02050604050505020204" pitchFamily="18" charset="0"/>
              </a:endParaRPr>
            </a:p>
          </p:txBody>
        </p:sp>
        <p:sp>
          <p:nvSpPr>
            <p:cNvPr id="27" name="Text Box 8">
              <a:extLst>
                <a:ext uri="{FF2B5EF4-FFF2-40B4-BE49-F238E27FC236}">
                  <a16:creationId xmlns:a16="http://schemas.microsoft.com/office/drawing/2014/main" id="{0DDAE8A2-AFF9-534E-134A-1828B4CF85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8948" y="4583867"/>
              <a:ext cx="761929" cy="524731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400" b="1">
                  <a:latin typeface="Bookman Old Style" panose="02050604050505020204" pitchFamily="18" charset="0"/>
                </a:rPr>
                <a:t>z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12</a:t>
              </a:r>
              <a:r>
                <a:rPr lang="fr-FR" sz="1400" b="1">
                  <a:latin typeface="Bookman Old Style" panose="02050604050505020204" pitchFamily="18" charset="0"/>
                </a:rPr>
                <a:t>I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2</a:t>
              </a:r>
              <a:endParaRPr lang="fr-FR" sz="1400" b="1">
                <a:latin typeface="Bookman Old Style" panose="02050604050505020204" pitchFamily="18" charset="0"/>
              </a:endParaRPr>
            </a:p>
          </p:txBody>
        </p:sp>
        <p:sp>
          <p:nvSpPr>
            <p:cNvPr id="28" name="Text Box 9">
              <a:extLst>
                <a:ext uri="{FF2B5EF4-FFF2-40B4-BE49-F238E27FC236}">
                  <a16:creationId xmlns:a16="http://schemas.microsoft.com/office/drawing/2014/main" id="{1AD050C9-A35F-B1CC-B3C6-0BBD8E5493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8306" y="3502026"/>
              <a:ext cx="616800" cy="524731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400" b="1">
                  <a:latin typeface="Bookman Old Style" panose="02050604050505020204" pitchFamily="18" charset="0"/>
                </a:rPr>
                <a:t>z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11</a:t>
              </a:r>
              <a:endParaRPr lang="fr-FR" sz="1400" b="1">
                <a:latin typeface="Bookman Old Style" panose="02050604050505020204" pitchFamily="18" charset="0"/>
              </a:endParaRPr>
            </a:p>
          </p:txBody>
        </p:sp>
        <p:sp>
          <p:nvSpPr>
            <p:cNvPr id="29" name="Text Box 10">
              <a:extLst>
                <a:ext uri="{FF2B5EF4-FFF2-40B4-BE49-F238E27FC236}">
                  <a16:creationId xmlns:a16="http://schemas.microsoft.com/office/drawing/2014/main" id="{BA0DDB88-CE2B-06E3-487F-DF898BCD9A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1506" y="3544572"/>
              <a:ext cx="616800" cy="524731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400" b="1">
                  <a:latin typeface="Bookman Old Style" panose="02050604050505020204" pitchFamily="18" charset="0"/>
                </a:rPr>
                <a:t>I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1</a:t>
              </a:r>
              <a:endParaRPr lang="fr-FR" sz="1400" b="1">
                <a:latin typeface="Bookman Old Style" panose="02050604050505020204" pitchFamily="18" charset="0"/>
              </a:endParaRPr>
            </a:p>
          </p:txBody>
        </p:sp>
        <p:sp>
          <p:nvSpPr>
            <p:cNvPr id="30" name="Text Box 11">
              <a:extLst>
                <a:ext uri="{FF2B5EF4-FFF2-40B4-BE49-F238E27FC236}">
                  <a16:creationId xmlns:a16="http://schemas.microsoft.com/office/drawing/2014/main" id="{911BA334-865E-DD98-09D1-6C93146FED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4024" y="4508943"/>
              <a:ext cx="616800" cy="524731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fr-FR" sz="1400" b="1">
                  <a:latin typeface="Bookman Old Style" panose="02050604050505020204" pitchFamily="18" charset="0"/>
                </a:rPr>
                <a:t>V</a:t>
              </a:r>
              <a:r>
                <a:rPr lang="fr-FR" sz="1400" b="1" baseline="-25000">
                  <a:latin typeface="Bookman Old Style" panose="02050604050505020204" pitchFamily="18" charset="0"/>
                </a:rPr>
                <a:t>1</a:t>
              </a:r>
              <a:endParaRPr lang="fr-FR" sz="1400" b="1">
                <a:latin typeface="Bookman Old Style" panose="02050604050505020204" pitchFamily="18" charset="0"/>
              </a:endParaRPr>
            </a:p>
          </p:txBody>
        </p:sp>
        <p:sp>
          <p:nvSpPr>
            <p:cNvPr id="31" name="Line 12">
              <a:extLst>
                <a:ext uri="{FF2B5EF4-FFF2-40B4-BE49-F238E27FC236}">
                  <a16:creationId xmlns:a16="http://schemas.microsoft.com/office/drawing/2014/main" id="{21E40B66-8F1E-87D5-C8F3-83B0C9AA93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77788" y="4028047"/>
              <a:ext cx="1523858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32" name="Line 13">
              <a:extLst>
                <a:ext uri="{FF2B5EF4-FFF2-40B4-BE49-F238E27FC236}">
                  <a16:creationId xmlns:a16="http://schemas.microsoft.com/office/drawing/2014/main" id="{CE82BEE7-284C-3836-90CE-96E4456A8B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01646" y="4026757"/>
              <a:ext cx="0" cy="140401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33" name="Line 14">
              <a:extLst>
                <a:ext uri="{FF2B5EF4-FFF2-40B4-BE49-F238E27FC236}">
                  <a16:creationId xmlns:a16="http://schemas.microsoft.com/office/drawing/2014/main" id="{698A8D3F-B69F-1972-8FD7-89A62B664C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41506" y="5437215"/>
              <a:ext cx="4136186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34" name="Line 15">
              <a:extLst>
                <a:ext uri="{FF2B5EF4-FFF2-40B4-BE49-F238E27FC236}">
                  <a16:creationId xmlns:a16="http://schemas.microsoft.com/office/drawing/2014/main" id="{1D107E7E-6540-B0EE-BD56-7BB421FC66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74775" y="4012576"/>
              <a:ext cx="1378729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35" name="Line 16">
              <a:extLst>
                <a:ext uri="{FF2B5EF4-FFF2-40B4-BE49-F238E27FC236}">
                  <a16:creationId xmlns:a16="http://schemas.microsoft.com/office/drawing/2014/main" id="{49AD4BC3-BB18-0111-D763-5E73C9B6E0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74775" y="4012576"/>
              <a:ext cx="0" cy="141819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36" name="Oval 17">
              <a:extLst>
                <a:ext uri="{FF2B5EF4-FFF2-40B4-BE49-F238E27FC236}">
                  <a16:creationId xmlns:a16="http://schemas.microsoft.com/office/drawing/2014/main" id="{E9D75C99-CBA7-771C-1901-227858253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1858" y="4522803"/>
              <a:ext cx="447633" cy="482606"/>
            </a:xfrm>
            <a:prstGeom prst="ellipse">
              <a:avLst/>
            </a:prstGeom>
            <a:ln>
              <a:headEnd/>
              <a:tailEnd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37" name="Oval 18">
              <a:extLst>
                <a:ext uri="{FF2B5EF4-FFF2-40B4-BE49-F238E27FC236}">
                  <a16:creationId xmlns:a16="http://schemas.microsoft.com/office/drawing/2014/main" id="{24238036-1A98-84DD-8117-A99915DA63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4912" y="4522803"/>
              <a:ext cx="447633" cy="482606"/>
            </a:xfrm>
            <a:prstGeom prst="ellipse">
              <a:avLst/>
            </a:prstGeom>
            <a:ln>
              <a:headEnd/>
              <a:tailEnd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38" name="Rectangle 19">
              <a:extLst>
                <a:ext uri="{FF2B5EF4-FFF2-40B4-BE49-F238E27FC236}">
                  <a16:creationId xmlns:a16="http://schemas.microsoft.com/office/drawing/2014/main" id="{7F6D180E-D271-4AF8-6B9B-0A84A4539F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9610" y="3913195"/>
              <a:ext cx="688911" cy="198440"/>
            </a:xfrm>
            <a:prstGeom prst="rect">
              <a:avLst/>
            </a:prstGeom>
            <a:solidFill>
              <a:srgbClr val="00FF00"/>
            </a:solidFill>
            <a:ln>
              <a:headEnd/>
              <a:tailEnd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39" name="Rectangle 20">
              <a:extLst>
                <a:ext uri="{FF2B5EF4-FFF2-40B4-BE49-F238E27FC236}">
                  <a16:creationId xmlns:a16="http://schemas.microsoft.com/office/drawing/2014/main" id="{CB5CCABC-6B72-925A-680D-6EE3E678A1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13184" y="3913195"/>
              <a:ext cx="688911" cy="198440"/>
            </a:xfrm>
            <a:prstGeom prst="rect">
              <a:avLst/>
            </a:prstGeom>
            <a:solidFill>
              <a:srgbClr val="00FF00"/>
            </a:solidFill>
            <a:ln>
              <a:headEnd/>
              <a:tailEnd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40" name="Line 21">
              <a:extLst>
                <a:ext uri="{FF2B5EF4-FFF2-40B4-BE49-F238E27FC236}">
                  <a16:creationId xmlns:a16="http://schemas.microsoft.com/office/drawing/2014/main" id="{7946BFFB-1010-7144-AED4-7ABF6B0422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54356" y="4140210"/>
              <a:ext cx="0" cy="1149365"/>
            </a:xfrm>
            <a:prstGeom prst="line">
              <a:avLst/>
            </a:prstGeom>
            <a:ln w="38100">
              <a:headEnd/>
              <a:tailEnd type="triangle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41" name="Line 22">
              <a:extLst>
                <a:ext uri="{FF2B5EF4-FFF2-40B4-BE49-F238E27FC236}">
                  <a16:creationId xmlns:a16="http://schemas.microsoft.com/office/drawing/2014/main" id="{87E4ADC7-5A0A-3D31-2738-01848C47C4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52899" y="4113222"/>
              <a:ext cx="0" cy="1162066"/>
            </a:xfrm>
            <a:prstGeom prst="line">
              <a:avLst/>
            </a:prstGeom>
            <a:ln w="38100">
              <a:headEnd/>
              <a:tailEnd type="triangle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42" name="Line 23">
              <a:extLst>
                <a:ext uri="{FF2B5EF4-FFF2-40B4-BE49-F238E27FC236}">
                  <a16:creationId xmlns:a16="http://schemas.microsoft.com/office/drawing/2014/main" id="{8EC3FECF-AF02-D18E-722D-868C556B15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2935" y="4027496"/>
              <a:ext cx="109528" cy="0"/>
            </a:xfrm>
            <a:prstGeom prst="line">
              <a:avLst/>
            </a:prstGeom>
            <a:ln w="38100">
              <a:headEnd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43" name="Line 24">
              <a:extLst>
                <a:ext uri="{FF2B5EF4-FFF2-40B4-BE49-F238E27FC236}">
                  <a16:creationId xmlns:a16="http://schemas.microsoft.com/office/drawing/2014/main" id="{0DF6169A-4B3A-B04F-FACD-4E05FCE069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887812" y="4013208"/>
              <a:ext cx="120639" cy="0"/>
            </a:xfrm>
            <a:prstGeom prst="line">
              <a:avLst/>
            </a:prstGeom>
            <a:ln w="38100">
              <a:headEnd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44" name="Line 25">
              <a:extLst>
                <a:ext uri="{FF2B5EF4-FFF2-40B4-BE49-F238E27FC236}">
                  <a16:creationId xmlns:a16="http://schemas.microsoft.com/office/drawing/2014/main" id="{B97E51D7-D68C-25AC-880E-9E6193FE53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01646" y="4581142"/>
              <a:ext cx="0" cy="35454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45" name="Line 26">
              <a:extLst>
                <a:ext uri="{FF2B5EF4-FFF2-40B4-BE49-F238E27FC236}">
                  <a16:creationId xmlns:a16="http://schemas.microsoft.com/office/drawing/2014/main" id="{AC1E6136-E249-74CF-2908-1886ED5DC3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74775" y="4609506"/>
              <a:ext cx="0" cy="3120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</p:grpSp>
      <p:sp>
        <p:nvSpPr>
          <p:cNvPr id="47" name="ZoneTexte 29">
            <a:extLst>
              <a:ext uri="{FF2B5EF4-FFF2-40B4-BE49-F238E27FC236}">
                <a16:creationId xmlns:a16="http://schemas.microsoft.com/office/drawing/2014/main" id="{01DD9E71-FA11-46FF-778A-01C17C04F0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9110" y="2415928"/>
            <a:ext cx="48561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fr-FR" sz="1400" b="1" dirty="0">
                <a:latin typeface="Bookman Old Style" panose="02050604050505020204" pitchFamily="18" charset="0"/>
              </a:rPr>
              <a:t>Schéma électrique (équivalent aux équations)</a:t>
            </a:r>
          </a:p>
        </p:txBody>
      </p:sp>
      <p:graphicFrame>
        <p:nvGraphicFramePr>
          <p:cNvPr id="48" name="Object 27">
            <a:extLst>
              <a:ext uri="{FF2B5EF4-FFF2-40B4-BE49-F238E27FC236}">
                <a16:creationId xmlns:a16="http://schemas.microsoft.com/office/drawing/2014/main" id="{19A035AE-8B61-E3DA-E476-38781AEF00A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3866642"/>
              </p:ext>
            </p:extLst>
          </p:nvPr>
        </p:nvGraphicFramePr>
        <p:xfrm>
          <a:off x="790278" y="3900688"/>
          <a:ext cx="2571750" cy="1131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952500" imgH="419100" progId="">
                  <p:embed/>
                </p:oleObj>
              </mc:Choice>
              <mc:Fallback>
                <p:oleObj r:id="rId5" imgW="952500" imgH="419100" progId="">
                  <p:embed/>
                  <p:pic>
                    <p:nvPicPr>
                      <p:cNvPr id="5123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0278" y="3900688"/>
                        <a:ext cx="2571750" cy="11318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" name="ZoneTexte 32">
            <a:extLst>
              <a:ext uri="{FF2B5EF4-FFF2-40B4-BE49-F238E27FC236}">
                <a16:creationId xmlns:a16="http://schemas.microsoft.com/office/drawing/2014/main" id="{72C2249E-002F-D825-2A18-4F3E5434BA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441" y="3592911"/>
            <a:ext cx="197041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fr-FR" sz="1400" b="1" dirty="0">
                <a:latin typeface="Bookman Old Style" panose="02050604050505020204" pitchFamily="18" charset="0"/>
              </a:rPr>
              <a:t>Matrice impédance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0BF6AF-B8DB-7BD1-718F-52E8245651F0}"/>
              </a:ext>
            </a:extLst>
          </p:cNvPr>
          <p:cNvSpPr txBox="1"/>
          <p:nvPr/>
        </p:nvSpPr>
        <p:spPr>
          <a:xfrm>
            <a:off x="630607" y="1160661"/>
            <a:ext cx="854415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latin typeface="Bookman Old Style" panose="02050604050505020204" pitchFamily="18" charset="0"/>
              </a:rPr>
              <a:t>La </a:t>
            </a:r>
            <a:r>
              <a:rPr lang="fr-FR" sz="1500" b="1" dirty="0">
                <a:latin typeface="Bookman Old Style" panose="02050604050505020204" pitchFamily="18" charset="0"/>
              </a:rPr>
              <a:t>structure quadripôle</a:t>
            </a:r>
            <a:r>
              <a:rPr lang="fr-FR" sz="1500" dirty="0">
                <a:latin typeface="Bookman Old Style" panose="02050604050505020204" pitchFamily="18" charset="0"/>
              </a:rPr>
              <a:t> peut être mise en équations reliant les </a:t>
            </a:r>
            <a:r>
              <a:rPr lang="fr-FR" sz="1500" b="1" dirty="0">
                <a:latin typeface="Bookman Old Style" panose="02050604050505020204" pitchFamily="18" charset="0"/>
              </a:rPr>
              <a:t>courants</a:t>
            </a:r>
            <a:r>
              <a:rPr lang="fr-FR" sz="1500" dirty="0">
                <a:latin typeface="Bookman Old Style" panose="02050604050505020204" pitchFamily="18" charset="0"/>
              </a:rPr>
              <a:t> et les </a:t>
            </a:r>
            <a:r>
              <a:rPr lang="fr-FR" sz="1500" b="1" dirty="0">
                <a:latin typeface="Bookman Old Style" panose="02050604050505020204" pitchFamily="18" charset="0"/>
              </a:rPr>
              <a:t>tensions</a:t>
            </a:r>
            <a:r>
              <a:rPr lang="fr-FR" sz="1500" dirty="0">
                <a:latin typeface="Bookman Old Style" panose="02050604050505020204" pitchFamily="18" charset="0"/>
              </a:rPr>
              <a:t> </a:t>
            </a:r>
            <a:r>
              <a:rPr lang="fr-FR" sz="1500" b="1" dirty="0">
                <a:latin typeface="Bookman Old Style" panose="02050604050505020204" pitchFamily="18" charset="0"/>
              </a:rPr>
              <a:t>d'entrée (I</a:t>
            </a:r>
            <a:r>
              <a:rPr lang="fr-FR" sz="1500" b="1" baseline="-25000" dirty="0">
                <a:latin typeface="Bookman Old Style" panose="02050604050505020204" pitchFamily="18" charset="0"/>
              </a:rPr>
              <a:t>1</a:t>
            </a:r>
            <a:r>
              <a:rPr lang="fr-FR" sz="1500" b="1" dirty="0">
                <a:latin typeface="Bookman Old Style" panose="02050604050505020204" pitchFamily="18" charset="0"/>
              </a:rPr>
              <a:t>,V</a:t>
            </a:r>
            <a:r>
              <a:rPr lang="fr-FR" sz="1500" b="1" baseline="-25000" dirty="0">
                <a:latin typeface="Bookman Old Style" panose="02050604050505020204" pitchFamily="18" charset="0"/>
              </a:rPr>
              <a:t>1</a:t>
            </a:r>
            <a:r>
              <a:rPr lang="fr-FR" sz="1500" b="1" dirty="0">
                <a:latin typeface="Bookman Old Style" panose="02050604050505020204" pitchFamily="18" charset="0"/>
              </a:rPr>
              <a:t>) </a:t>
            </a:r>
            <a:r>
              <a:rPr lang="fr-FR" sz="1500" dirty="0">
                <a:latin typeface="Bookman Old Style" panose="02050604050505020204" pitchFamily="18" charset="0"/>
              </a:rPr>
              <a:t>et </a:t>
            </a:r>
            <a:r>
              <a:rPr lang="fr-FR" sz="1500" b="1" dirty="0">
                <a:latin typeface="Bookman Old Style" panose="02050604050505020204" pitchFamily="18" charset="0"/>
              </a:rPr>
              <a:t>de sortie (I</a:t>
            </a:r>
            <a:r>
              <a:rPr lang="fr-FR" sz="1500" b="1" baseline="-25000" dirty="0">
                <a:latin typeface="Bookman Old Style" panose="02050604050505020204" pitchFamily="18" charset="0"/>
              </a:rPr>
              <a:t>2</a:t>
            </a:r>
            <a:r>
              <a:rPr lang="fr-FR" sz="1500" b="1" dirty="0">
                <a:latin typeface="Bookman Old Style" panose="02050604050505020204" pitchFamily="18" charset="0"/>
              </a:rPr>
              <a:t>,V</a:t>
            </a:r>
            <a:r>
              <a:rPr lang="fr-FR" sz="1500" b="1" baseline="-25000" dirty="0">
                <a:latin typeface="Bookman Old Style" panose="02050604050505020204" pitchFamily="18" charset="0"/>
              </a:rPr>
              <a:t>2</a:t>
            </a:r>
            <a:r>
              <a:rPr lang="fr-FR" sz="1500" b="1" dirty="0">
                <a:latin typeface="Bookman Old Style" panose="02050604050505020204" pitchFamily="18" charset="0"/>
              </a:rPr>
              <a:t>)</a:t>
            </a:r>
            <a:r>
              <a:rPr lang="fr-FR" sz="1500" dirty="0">
                <a:latin typeface="Bookman Old Style" panose="02050604050505020204" pitchFamily="18" charset="0"/>
              </a:rPr>
              <a:t> ou sous forme électrique c'est le schéma équivalent.</a:t>
            </a:r>
            <a:br>
              <a:rPr lang="fr-FR" sz="1500" dirty="0">
                <a:latin typeface="Bookman Old Style" panose="02050604050505020204" pitchFamily="18" charset="0"/>
              </a:rPr>
            </a:br>
            <a:endParaRPr lang="fr-FR" sz="1500" dirty="0">
              <a:latin typeface="Bookman Old Style" panose="02050604050505020204" pitchFamily="18" charset="0"/>
            </a:endParaRPr>
          </a:p>
          <a:p>
            <a:r>
              <a:rPr lang="fr-FR" sz="15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Exemple avec la matrice impédance </a:t>
            </a:r>
            <a:r>
              <a:rPr lang="fr-FR" sz="1500" b="1" dirty="0">
                <a:latin typeface="Bookman Old Style" panose="02050604050505020204" pitchFamily="18" charset="0"/>
              </a:rPr>
              <a:t>[z]</a:t>
            </a:r>
            <a:r>
              <a:rPr lang="fr-FR" sz="15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, on a:</a:t>
            </a:r>
          </a:p>
        </p:txBody>
      </p:sp>
    </p:spTree>
    <p:extLst>
      <p:ext uri="{BB962C8B-B14F-4D97-AF65-F5344CB8AC3E}">
        <p14:creationId xmlns:p14="http://schemas.microsoft.com/office/powerpoint/2010/main" val="620933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2.2 Paramètres de quadripôle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3CF0F49-9352-EC82-E985-508EB45B902B}"/>
              </a:ext>
            </a:extLst>
          </p:cNvPr>
          <p:cNvSpPr txBox="1"/>
          <p:nvPr/>
        </p:nvSpPr>
        <p:spPr>
          <a:xfrm>
            <a:off x="426187" y="1174086"/>
            <a:ext cx="861706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>
              <a:buFont typeface="Wingdings" panose="05000000000000000000" pitchFamily="2" charset="2"/>
              <a:buChar char="q"/>
              <a:defRPr sz="1600" b="1">
                <a:latin typeface="Bookman Old Style" panose="02050604050505020204" pitchFamily="18" charset="0"/>
              </a:defRPr>
            </a:lvl1pPr>
          </a:lstStyle>
          <a:p>
            <a:pPr algn="just"/>
            <a:r>
              <a:rPr lang="fr-FR" dirty="0"/>
              <a:t>Le quadripôle </a:t>
            </a:r>
            <a:r>
              <a:rPr lang="fr-FR" b="0" dirty="0"/>
              <a:t>est ainsi modélisé par deux dipôles couplés. Ce couplage se traduit par l'intermédiaire des générateurs: Les grandeurs </a:t>
            </a:r>
            <a:r>
              <a:rPr lang="fr-FR" sz="1600" dirty="0"/>
              <a:t>V</a:t>
            </a:r>
            <a:r>
              <a:rPr lang="fr-FR" sz="1600" baseline="-25000" dirty="0"/>
              <a:t>1</a:t>
            </a:r>
            <a:r>
              <a:rPr lang="fr-FR" sz="1600" dirty="0"/>
              <a:t>, I</a:t>
            </a:r>
            <a:r>
              <a:rPr lang="fr-FR" sz="1600" baseline="-25000" dirty="0"/>
              <a:t>1</a:t>
            </a:r>
            <a:r>
              <a:rPr lang="fr-FR" sz="1600" dirty="0"/>
              <a:t>, V</a:t>
            </a:r>
            <a:r>
              <a:rPr lang="fr-FR" sz="1600" baseline="-25000" dirty="0"/>
              <a:t>2</a:t>
            </a:r>
            <a:r>
              <a:rPr lang="fr-FR" sz="1600" dirty="0"/>
              <a:t> et I</a:t>
            </a:r>
            <a:r>
              <a:rPr lang="fr-FR" sz="1600" baseline="-25000" dirty="0"/>
              <a:t>2</a:t>
            </a:r>
            <a:r>
              <a:rPr lang="fr-FR" sz="1600" dirty="0"/>
              <a:t> </a:t>
            </a:r>
            <a:r>
              <a:rPr lang="fr-FR" b="0" dirty="0"/>
              <a:t>sont liées par des relations linéaires (Quadripôle linéaire).</a:t>
            </a:r>
          </a:p>
        </p:txBody>
      </p:sp>
      <p:graphicFrame>
        <p:nvGraphicFramePr>
          <p:cNvPr id="26" name="Tableau 9">
            <a:extLst>
              <a:ext uri="{FF2B5EF4-FFF2-40B4-BE49-F238E27FC236}">
                <a16:creationId xmlns:a16="http://schemas.microsoft.com/office/drawing/2014/main" id="{B055C664-5A24-30E2-E98D-8D2CBAA039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54657"/>
              </p:ext>
            </p:extLst>
          </p:nvPr>
        </p:nvGraphicFramePr>
        <p:xfrm>
          <a:off x="547901" y="2089036"/>
          <a:ext cx="8138900" cy="281363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27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5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99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77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0143">
                <a:tc>
                  <a:txBody>
                    <a:bodyPr/>
                    <a:lstStyle/>
                    <a:p>
                      <a:pPr algn="ctr"/>
                      <a:endParaRPr lang="fr-FR" sz="10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0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Paramètres</a:t>
                      </a:r>
                      <a:endParaRPr lang="fr-FR" sz="10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Equations</a:t>
                      </a:r>
                    </a:p>
                    <a:p>
                      <a:pPr algn="ctr"/>
                      <a:r>
                        <a:rPr lang="fr-FR" sz="10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(notées aussi sous forme     matricielle)</a:t>
                      </a:r>
                      <a:endParaRPr lang="fr-FR" sz="10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sz="10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0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Calcul</a:t>
                      </a:r>
                      <a:endParaRPr lang="fr-FR" sz="10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0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0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 passif</a:t>
                      </a:r>
                      <a:endParaRPr lang="fr-FR" sz="10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0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0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symétrique</a:t>
                      </a:r>
                      <a:endParaRPr lang="fr-FR" sz="10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995">
                <a:tc>
                  <a:txBody>
                    <a:bodyPr/>
                    <a:lstStyle/>
                    <a:p>
                      <a:endParaRPr lang="fr-FR" sz="1000" kern="12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kern="12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kern="12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kern="1200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400" b="1" kern="1200" dirty="0">
                          <a:latin typeface="Bookman Old Style" panose="02050604050505020204" pitchFamily="18" charset="0"/>
                        </a:rPr>
                        <a:t>Impédance</a:t>
                      </a:r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b="1" dirty="0">
                        <a:latin typeface="Bookman Old Style" panose="02050604050505020204" pitchFamily="18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b="1" kern="1200" dirty="0">
                        <a:latin typeface="Bookman Old Style" panose="02050604050505020204" pitchFamily="18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b="1" kern="1200" dirty="0">
                        <a:latin typeface="Bookman Old Style" panose="02050604050505020204" pitchFamily="18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b="1" kern="1200" dirty="0">
                          <a:latin typeface="Bookman Old Style" panose="02050604050505020204" pitchFamily="18" charset="0"/>
                        </a:rPr>
                        <a:t>En notation matricielle: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b="1" kern="12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b="1" dirty="0">
                        <a:latin typeface="Bookman Old Style" panose="02050604050505020204" pitchFamily="18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b="1" kern="1200" dirty="0">
                        <a:latin typeface="Bookman Old Style" panose="02050604050505020204" pitchFamily="18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b="1" kern="1200" dirty="0">
                          <a:latin typeface="Bookman Old Style" panose="02050604050505020204" pitchFamily="18" charset="0"/>
                        </a:rPr>
                        <a:t>avec [z] : matrice impédance</a:t>
                      </a:r>
                    </a:p>
                    <a:p>
                      <a:endParaRPr lang="fr-FR" sz="1000" b="1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kern="1200" dirty="0">
                        <a:latin typeface="Bookman Old Style" panose="02050604050505020204" pitchFamily="18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kern="1200" dirty="0">
                        <a:latin typeface="Bookman Old Style" panose="02050604050505020204" pitchFamily="18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kern="1200" dirty="0">
                        <a:latin typeface="Bookman Old Style" panose="02050604050505020204" pitchFamily="18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latin typeface="Bookman Old Style" panose="02050604050505020204" pitchFamily="18" charset="0"/>
                        </a:rPr>
                        <a:t>etc…</a:t>
                      </a:r>
                      <a:endParaRPr lang="fr-FR" sz="10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000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400" b="1" dirty="0">
                          <a:latin typeface="Bookman Old Style" panose="02050604050505020204" pitchFamily="18" charset="0"/>
                        </a:rPr>
                        <a:t>z</a:t>
                      </a:r>
                      <a:r>
                        <a:rPr lang="fr-FR" sz="1400" b="1" baseline="-25000" dirty="0">
                          <a:latin typeface="Bookman Old Style" panose="02050604050505020204" pitchFamily="18" charset="0"/>
                        </a:rPr>
                        <a:t>12</a:t>
                      </a:r>
                      <a:r>
                        <a:rPr lang="fr-FR" sz="1400" b="1" dirty="0">
                          <a:latin typeface="Bookman Old Style" panose="02050604050505020204" pitchFamily="18" charset="0"/>
                        </a:rPr>
                        <a:t> = z</a:t>
                      </a:r>
                      <a:r>
                        <a:rPr lang="fr-FR" sz="1400" b="1" baseline="-25000" dirty="0">
                          <a:latin typeface="Bookman Old Style" panose="02050604050505020204" pitchFamily="18" charset="0"/>
                        </a:rPr>
                        <a:t>21</a:t>
                      </a:r>
                      <a:endParaRPr lang="fr-FR" sz="1400" b="1" dirty="0"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endParaRPr lang="fr-FR" sz="1400" b="1" kern="1200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endParaRPr lang="fr-FR" sz="1400" b="1" kern="1200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400" b="1" kern="1200" dirty="0">
                          <a:latin typeface="Bookman Old Style" panose="02050604050505020204" pitchFamily="18" charset="0"/>
                        </a:rPr>
                        <a:t>z</a:t>
                      </a:r>
                      <a:r>
                        <a:rPr lang="fr-FR" sz="1400" b="1" kern="1200" baseline="-25000" dirty="0">
                          <a:latin typeface="Bookman Old Style" panose="02050604050505020204" pitchFamily="18" charset="0"/>
                        </a:rPr>
                        <a:t>11</a:t>
                      </a:r>
                      <a:r>
                        <a:rPr lang="fr-FR" sz="1400" b="1" kern="1200" dirty="0">
                          <a:latin typeface="Bookman Old Style" panose="02050604050505020204" pitchFamily="18" charset="0"/>
                        </a:rPr>
                        <a:t> = z</a:t>
                      </a:r>
                      <a:r>
                        <a:rPr lang="fr-FR" sz="1400" b="1" kern="1200" baseline="-25000" dirty="0">
                          <a:latin typeface="Bookman Old Style" panose="02050604050505020204" pitchFamily="18" charset="0"/>
                        </a:rPr>
                        <a:t>22</a:t>
                      </a:r>
                      <a:endParaRPr lang="fr-FR" sz="1400" b="1" kern="1200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400" b="1" kern="1200" dirty="0">
                          <a:latin typeface="Bookman Old Style" panose="02050604050505020204" pitchFamily="18" charset="0"/>
                        </a:rPr>
                        <a:t>et</a:t>
                      </a:r>
                    </a:p>
                    <a:p>
                      <a:pPr algn="ctr"/>
                      <a:r>
                        <a:rPr lang="fr-FR" sz="1400" b="1" kern="1200" dirty="0">
                          <a:latin typeface="Bookman Old Style" panose="02050604050505020204" pitchFamily="18" charset="0"/>
                        </a:rPr>
                        <a:t>z</a:t>
                      </a:r>
                      <a:r>
                        <a:rPr lang="fr-FR" sz="1400" b="1" kern="1200" baseline="-25000" dirty="0">
                          <a:latin typeface="Bookman Old Style" panose="02050604050505020204" pitchFamily="18" charset="0"/>
                        </a:rPr>
                        <a:t>12</a:t>
                      </a:r>
                      <a:r>
                        <a:rPr lang="fr-FR" sz="1400" b="1" kern="1200" dirty="0">
                          <a:latin typeface="Bookman Old Style" panose="02050604050505020204" pitchFamily="18" charset="0"/>
                        </a:rPr>
                        <a:t> = z</a:t>
                      </a:r>
                      <a:r>
                        <a:rPr lang="fr-FR" sz="1400" b="1" kern="1200" baseline="-25000" dirty="0">
                          <a:latin typeface="Bookman Old Style" panose="02050604050505020204" pitchFamily="18" charset="0"/>
                        </a:rPr>
                        <a:t>21</a:t>
                      </a:r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0" name="Object 6">
            <a:extLst>
              <a:ext uri="{FF2B5EF4-FFF2-40B4-BE49-F238E27FC236}">
                <a16:creationId xmlns:a16="http://schemas.microsoft.com/office/drawing/2014/main" id="{6B6F1597-8F19-E364-55E8-61B2DC0DA9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8631364"/>
              </p:ext>
            </p:extLst>
          </p:nvPr>
        </p:nvGraphicFramePr>
        <p:xfrm>
          <a:off x="2222457" y="2737863"/>
          <a:ext cx="1280229" cy="48973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091726" imgH="418918" progId="">
                  <p:embed/>
                </p:oleObj>
              </mc:Choice>
              <mc:Fallback>
                <p:oleObj r:id="rId3" imgW="1091726" imgH="418918" progId="">
                  <p:embed/>
                  <p:pic>
                    <p:nvPicPr>
                      <p:cNvPr id="614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2457" y="2737863"/>
                        <a:ext cx="1280229" cy="48973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Object 8">
            <a:extLst>
              <a:ext uri="{FF2B5EF4-FFF2-40B4-BE49-F238E27FC236}">
                <a16:creationId xmlns:a16="http://schemas.microsoft.com/office/drawing/2014/main" id="{A2FF5B12-218E-F3DE-EB4A-D85A2BEF152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50038481"/>
              </p:ext>
            </p:extLst>
          </p:nvPr>
        </p:nvGraphicFramePr>
        <p:xfrm>
          <a:off x="2222457" y="3561737"/>
          <a:ext cx="1154239" cy="534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901700" imgH="419100" progId="">
                  <p:embed/>
                </p:oleObj>
              </mc:Choice>
              <mc:Fallback>
                <p:oleObj r:id="rId5" imgW="901700" imgH="419100" progId="">
                  <p:embed/>
                  <p:pic>
                    <p:nvPicPr>
                      <p:cNvPr id="6147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2457" y="3561737"/>
                        <a:ext cx="1154239" cy="53401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Object 10">
            <a:extLst>
              <a:ext uri="{FF2B5EF4-FFF2-40B4-BE49-F238E27FC236}">
                <a16:creationId xmlns:a16="http://schemas.microsoft.com/office/drawing/2014/main" id="{4233F3A7-87AE-B500-5F86-97BD7C0A64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2651688"/>
              </p:ext>
            </p:extLst>
          </p:nvPr>
        </p:nvGraphicFramePr>
        <p:xfrm>
          <a:off x="2264539" y="4372453"/>
          <a:ext cx="1154238" cy="5078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952500" imgH="419100" progId="">
                  <p:embed/>
                </p:oleObj>
              </mc:Choice>
              <mc:Fallback>
                <p:oleObj r:id="rId7" imgW="952500" imgH="419100" progId="">
                  <p:embed/>
                  <p:pic>
                    <p:nvPicPr>
                      <p:cNvPr id="6148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4539" y="4372453"/>
                        <a:ext cx="1154238" cy="50781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Object 12">
            <a:extLst>
              <a:ext uri="{FF2B5EF4-FFF2-40B4-BE49-F238E27FC236}">
                <a16:creationId xmlns:a16="http://schemas.microsoft.com/office/drawing/2014/main" id="{030637C2-7AE2-45C9-2176-95F9CC26D5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51828787"/>
              </p:ext>
            </p:extLst>
          </p:nvPr>
        </p:nvGraphicFramePr>
        <p:xfrm>
          <a:off x="3841749" y="2894669"/>
          <a:ext cx="1971675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9" imgW="1524000" imgH="457200" progId="">
                  <p:embed/>
                </p:oleObj>
              </mc:Choice>
              <mc:Fallback>
                <p:oleObj r:id="rId9" imgW="1524000" imgH="457200" progId="">
                  <p:embed/>
                  <p:pic>
                    <p:nvPicPr>
                      <p:cNvPr id="6149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41749" y="2894669"/>
                        <a:ext cx="1971675" cy="5921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" name="Object 14">
            <a:extLst>
              <a:ext uri="{FF2B5EF4-FFF2-40B4-BE49-F238E27FC236}">
                <a16:creationId xmlns:a16="http://schemas.microsoft.com/office/drawing/2014/main" id="{A8B8B012-E4E5-7DA0-9B35-F32A8B33D88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97061099"/>
              </p:ext>
            </p:extLst>
          </p:nvPr>
        </p:nvGraphicFramePr>
        <p:xfrm>
          <a:off x="3823493" y="3677314"/>
          <a:ext cx="2008188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11" imgW="1574800" imgH="457200" progId="">
                  <p:embed/>
                </p:oleObj>
              </mc:Choice>
              <mc:Fallback>
                <p:oleObj r:id="rId11" imgW="1574800" imgH="457200" progId="">
                  <p:embed/>
                  <p:pic>
                    <p:nvPicPr>
                      <p:cNvPr id="615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23493" y="3677314"/>
                        <a:ext cx="2008188" cy="584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39100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2.2 Paramètres de quadripôle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6F47BAE-31CF-DD2D-615A-12391C3E22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67116"/>
              </p:ext>
            </p:extLst>
          </p:nvPr>
        </p:nvGraphicFramePr>
        <p:xfrm>
          <a:off x="452136" y="1596341"/>
          <a:ext cx="8507530" cy="235682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01506">
                  <a:extLst>
                    <a:ext uri="{9D8B030D-6E8A-4147-A177-3AD203B41FA5}">
                      <a16:colId xmlns:a16="http://schemas.microsoft.com/office/drawing/2014/main" val="1114884962"/>
                    </a:ext>
                  </a:extLst>
                </a:gridCol>
                <a:gridCol w="1701506">
                  <a:extLst>
                    <a:ext uri="{9D8B030D-6E8A-4147-A177-3AD203B41FA5}">
                      <a16:colId xmlns:a16="http://schemas.microsoft.com/office/drawing/2014/main" val="490572068"/>
                    </a:ext>
                  </a:extLst>
                </a:gridCol>
                <a:gridCol w="1701506">
                  <a:extLst>
                    <a:ext uri="{9D8B030D-6E8A-4147-A177-3AD203B41FA5}">
                      <a16:colId xmlns:a16="http://schemas.microsoft.com/office/drawing/2014/main" val="809988464"/>
                    </a:ext>
                  </a:extLst>
                </a:gridCol>
                <a:gridCol w="1701506">
                  <a:extLst>
                    <a:ext uri="{9D8B030D-6E8A-4147-A177-3AD203B41FA5}">
                      <a16:colId xmlns:a16="http://schemas.microsoft.com/office/drawing/2014/main" val="739668112"/>
                    </a:ext>
                  </a:extLst>
                </a:gridCol>
                <a:gridCol w="1701506">
                  <a:extLst>
                    <a:ext uri="{9D8B030D-6E8A-4147-A177-3AD203B41FA5}">
                      <a16:colId xmlns:a16="http://schemas.microsoft.com/office/drawing/2014/main" val="2749457677"/>
                    </a:ext>
                  </a:extLst>
                </a:gridCol>
              </a:tblGrid>
              <a:tr h="547695"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Paramètres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Equations</a:t>
                      </a: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(notées aussi sous forme     matricielle)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Calcul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 passif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symétrique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3485071"/>
                  </a:ext>
                </a:extLst>
              </a:tr>
              <a:tr h="1350981">
                <a:tc>
                  <a:txBody>
                    <a:bodyPr/>
                    <a:lstStyle/>
                    <a:p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b="1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Admittance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etc…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endParaRPr lang="fr-FR" sz="1500" b="1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b="1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y</a:t>
                      </a:r>
                      <a:r>
                        <a:rPr lang="fr-FR" sz="1500" b="1" baseline="-250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12</a:t>
                      </a:r>
                      <a:r>
                        <a:rPr lang="fr-FR" sz="1500" b="1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 = y</a:t>
                      </a:r>
                      <a:r>
                        <a:rPr lang="fr-FR" sz="1500" b="1" baseline="-250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21</a:t>
                      </a:r>
                      <a:endParaRPr lang="fr-FR" sz="1500" b="1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b="1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b="1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y</a:t>
                      </a:r>
                      <a:r>
                        <a:rPr lang="fr-FR" sz="1500" b="1" baseline="-250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11</a:t>
                      </a:r>
                      <a:r>
                        <a:rPr lang="fr-FR" sz="1500" b="1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 = y</a:t>
                      </a:r>
                      <a:r>
                        <a:rPr lang="fr-FR" sz="1500" b="1" baseline="-250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22</a:t>
                      </a:r>
                      <a:endParaRPr lang="fr-FR" sz="1500" b="1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b="1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et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b="1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y</a:t>
                      </a:r>
                      <a:r>
                        <a:rPr lang="fr-FR" sz="1500" b="1" baseline="-250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12</a:t>
                      </a:r>
                      <a:r>
                        <a:rPr lang="fr-FR" sz="1500" b="1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 = y</a:t>
                      </a:r>
                      <a:r>
                        <a:rPr lang="fr-FR" sz="1500" b="1" baseline="-250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21</a:t>
                      </a:r>
                      <a:endParaRPr lang="fr-FR" sz="1500" b="1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415669"/>
                  </a:ext>
                </a:extLst>
              </a:tr>
            </a:tbl>
          </a:graphicData>
        </a:graphic>
      </p:graphicFrame>
      <p:graphicFrame>
        <p:nvGraphicFramePr>
          <p:cNvPr id="16" name="Object 7">
            <a:extLst>
              <a:ext uri="{FF2B5EF4-FFF2-40B4-BE49-F238E27FC236}">
                <a16:creationId xmlns:a16="http://schemas.microsoft.com/office/drawing/2014/main" id="{32E431E6-3D4E-8347-EED2-5818C2A61A8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1438138"/>
              </p:ext>
            </p:extLst>
          </p:nvPr>
        </p:nvGraphicFramePr>
        <p:xfrm>
          <a:off x="2209800" y="2946848"/>
          <a:ext cx="1692275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143000" imgH="419100" progId="">
                  <p:embed/>
                </p:oleObj>
              </mc:Choice>
              <mc:Fallback>
                <p:oleObj r:id="rId3" imgW="1143000" imgH="419100" progId="">
                  <p:embed/>
                  <p:pic>
                    <p:nvPicPr>
                      <p:cNvPr id="717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00" y="2946848"/>
                        <a:ext cx="1692275" cy="620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Object 9">
            <a:extLst>
              <a:ext uri="{FF2B5EF4-FFF2-40B4-BE49-F238E27FC236}">
                <a16:creationId xmlns:a16="http://schemas.microsoft.com/office/drawing/2014/main" id="{2DE1E42D-BCF5-0669-F623-740C0D2AC1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967608"/>
              </p:ext>
            </p:extLst>
          </p:nvPr>
        </p:nvGraphicFramePr>
        <p:xfrm>
          <a:off x="3902075" y="2765488"/>
          <a:ext cx="1350963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952500" imgH="457200" progId="">
                  <p:embed/>
                </p:oleObj>
              </mc:Choice>
              <mc:Fallback>
                <p:oleObj r:id="rId5" imgW="952500" imgH="457200" progId="">
                  <p:embed/>
                  <p:pic>
                    <p:nvPicPr>
                      <p:cNvPr id="7171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02075" y="2765488"/>
                        <a:ext cx="1350963" cy="647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845466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2.2 Paramètres de quadripôle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26C1626-9564-08FE-100F-C2FA5A9888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3624146"/>
              </p:ext>
            </p:extLst>
          </p:nvPr>
        </p:nvGraphicFramePr>
        <p:xfrm>
          <a:off x="371234" y="1487792"/>
          <a:ext cx="8772765" cy="2377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54553">
                  <a:extLst>
                    <a:ext uri="{9D8B030D-6E8A-4147-A177-3AD203B41FA5}">
                      <a16:colId xmlns:a16="http://schemas.microsoft.com/office/drawing/2014/main" val="1114884962"/>
                    </a:ext>
                  </a:extLst>
                </a:gridCol>
                <a:gridCol w="1754553">
                  <a:extLst>
                    <a:ext uri="{9D8B030D-6E8A-4147-A177-3AD203B41FA5}">
                      <a16:colId xmlns:a16="http://schemas.microsoft.com/office/drawing/2014/main" val="490572068"/>
                    </a:ext>
                  </a:extLst>
                </a:gridCol>
                <a:gridCol w="1754553">
                  <a:extLst>
                    <a:ext uri="{9D8B030D-6E8A-4147-A177-3AD203B41FA5}">
                      <a16:colId xmlns:a16="http://schemas.microsoft.com/office/drawing/2014/main" val="809988464"/>
                    </a:ext>
                  </a:extLst>
                </a:gridCol>
                <a:gridCol w="1527907">
                  <a:extLst>
                    <a:ext uri="{9D8B030D-6E8A-4147-A177-3AD203B41FA5}">
                      <a16:colId xmlns:a16="http://schemas.microsoft.com/office/drawing/2014/main" val="739668112"/>
                    </a:ext>
                  </a:extLst>
                </a:gridCol>
                <a:gridCol w="1981199">
                  <a:extLst>
                    <a:ext uri="{9D8B030D-6E8A-4147-A177-3AD203B41FA5}">
                      <a16:colId xmlns:a16="http://schemas.microsoft.com/office/drawing/2014/main" val="2749457677"/>
                    </a:ext>
                  </a:extLst>
                </a:gridCol>
              </a:tblGrid>
              <a:tr h="547695"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Paramètres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Equations</a:t>
                      </a: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(notées aussi sous forme     matricielle)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Calcul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 passif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symétrique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3485071"/>
                  </a:ext>
                </a:extLst>
              </a:tr>
              <a:tr h="1350981">
                <a:tc>
                  <a:txBody>
                    <a:bodyPr/>
                    <a:lstStyle/>
                    <a:p>
                      <a:endParaRPr lang="fr-FR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b="1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b="1" dirty="0">
                          <a:latin typeface="Bookman Old Style" panose="02050604050505020204" pitchFamily="18" charset="0"/>
                        </a:rPr>
                        <a:t>Hybride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r>
                        <a:rPr lang="fr-FR" sz="1400" b="1" dirty="0" err="1">
                          <a:latin typeface="Bookman Old Style" panose="02050604050505020204" pitchFamily="18" charset="0"/>
                        </a:rPr>
                        <a:t>Etc</a:t>
                      </a:r>
                      <a:r>
                        <a:rPr lang="fr-FR" sz="1400" b="1" dirty="0">
                          <a:latin typeface="Bookman Old Style" panose="02050604050505020204" pitchFamily="18" charset="0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800" b="1" dirty="0"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endParaRPr lang="fr-FR" sz="1800" b="1" dirty="0"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8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h</a:t>
                      </a:r>
                      <a:r>
                        <a:rPr lang="fr-FR" sz="1800" b="1" baseline="-25000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12</a:t>
                      </a:r>
                      <a:r>
                        <a:rPr lang="fr-FR" sz="18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 = -h</a:t>
                      </a:r>
                      <a:r>
                        <a:rPr lang="fr-FR" sz="1800" b="1" baseline="-25000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21</a:t>
                      </a:r>
                      <a:endParaRPr lang="fr-FR" sz="1800" b="1" dirty="0"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800" b="1" dirty="0"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6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h</a:t>
                      </a:r>
                      <a:r>
                        <a:rPr lang="fr-FR" sz="1600" b="1" baseline="-25000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11</a:t>
                      </a:r>
                      <a:r>
                        <a:rPr lang="fr-FR" sz="16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h</a:t>
                      </a:r>
                      <a:r>
                        <a:rPr lang="fr-FR" sz="1600" b="1" baseline="-25000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22</a:t>
                      </a:r>
                      <a:r>
                        <a:rPr lang="fr-FR" sz="16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 -h</a:t>
                      </a:r>
                      <a:r>
                        <a:rPr lang="fr-FR" sz="1600" b="1" baseline="-25000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12</a:t>
                      </a:r>
                      <a:r>
                        <a:rPr lang="fr-FR" sz="16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h</a:t>
                      </a:r>
                      <a:r>
                        <a:rPr lang="fr-FR" sz="1600" b="1" baseline="-25000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21 </a:t>
                      </a:r>
                      <a:r>
                        <a:rPr lang="fr-FR" sz="16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=1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8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et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8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h</a:t>
                      </a:r>
                      <a:r>
                        <a:rPr lang="fr-FR" sz="1800" b="1" baseline="-25000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12</a:t>
                      </a:r>
                      <a:r>
                        <a:rPr lang="fr-FR" sz="1800" b="1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 = - h</a:t>
                      </a:r>
                      <a:r>
                        <a:rPr lang="fr-FR" sz="1800" b="1" baseline="-25000" dirty="0">
                          <a:latin typeface="Bookman Old Style" panose="02050604050505020204" pitchFamily="18" charset="0"/>
                          <a:ea typeface="Times New Roman"/>
                          <a:cs typeface="Times New Roman" pitchFamily="18" charset="0"/>
                        </a:rPr>
                        <a:t>21</a:t>
                      </a:r>
                      <a:endParaRPr lang="fr-FR" sz="1800" b="1" dirty="0">
                        <a:latin typeface="Bookman Old Style" panose="02050604050505020204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415669"/>
                  </a:ext>
                </a:extLst>
              </a:tr>
            </a:tbl>
          </a:graphicData>
        </a:graphic>
      </p:graphicFrame>
      <p:graphicFrame>
        <p:nvGraphicFramePr>
          <p:cNvPr id="21" name="Object 11">
            <a:extLst>
              <a:ext uri="{FF2B5EF4-FFF2-40B4-BE49-F238E27FC236}">
                <a16:creationId xmlns:a16="http://schemas.microsoft.com/office/drawing/2014/main" id="{21EF27EE-FB6E-F5A1-9BEE-ED4F6EB88D2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3868711"/>
              </p:ext>
            </p:extLst>
          </p:nvPr>
        </p:nvGraphicFramePr>
        <p:xfrm>
          <a:off x="2118898" y="2858039"/>
          <a:ext cx="1731962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104900" imgH="419100" progId="">
                  <p:embed/>
                </p:oleObj>
              </mc:Choice>
              <mc:Fallback>
                <p:oleObj r:id="rId3" imgW="1104900" imgH="419100" progId="">
                  <p:embed/>
                  <p:pic>
                    <p:nvPicPr>
                      <p:cNvPr id="717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8898" y="2858039"/>
                        <a:ext cx="1731962" cy="657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25">
            <a:extLst>
              <a:ext uri="{FF2B5EF4-FFF2-40B4-BE49-F238E27FC236}">
                <a16:creationId xmlns:a16="http://schemas.microsoft.com/office/drawing/2014/main" id="{40491313-65CB-F32C-1B33-F3711B03FAF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8346554"/>
              </p:ext>
            </p:extLst>
          </p:nvPr>
        </p:nvGraphicFramePr>
        <p:xfrm>
          <a:off x="3980208" y="2858039"/>
          <a:ext cx="1444625" cy="693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952500" imgH="457200" progId="">
                  <p:embed/>
                </p:oleObj>
              </mc:Choice>
              <mc:Fallback>
                <p:oleObj r:id="rId5" imgW="952500" imgH="457200" progId="">
                  <p:embed/>
                  <p:pic>
                    <p:nvPicPr>
                      <p:cNvPr id="7178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80208" y="2858039"/>
                        <a:ext cx="1444625" cy="6937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86453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2.2 Paramètres de quadripôle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26C1626-9564-08FE-100F-C2FA5A9888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029002"/>
              </p:ext>
            </p:extLst>
          </p:nvPr>
        </p:nvGraphicFramePr>
        <p:xfrm>
          <a:off x="371234" y="1487792"/>
          <a:ext cx="8662575" cy="2377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32515">
                  <a:extLst>
                    <a:ext uri="{9D8B030D-6E8A-4147-A177-3AD203B41FA5}">
                      <a16:colId xmlns:a16="http://schemas.microsoft.com/office/drawing/2014/main" val="1114884962"/>
                    </a:ext>
                  </a:extLst>
                </a:gridCol>
                <a:gridCol w="1732515">
                  <a:extLst>
                    <a:ext uri="{9D8B030D-6E8A-4147-A177-3AD203B41FA5}">
                      <a16:colId xmlns:a16="http://schemas.microsoft.com/office/drawing/2014/main" val="490572068"/>
                    </a:ext>
                  </a:extLst>
                </a:gridCol>
                <a:gridCol w="1732515">
                  <a:extLst>
                    <a:ext uri="{9D8B030D-6E8A-4147-A177-3AD203B41FA5}">
                      <a16:colId xmlns:a16="http://schemas.microsoft.com/office/drawing/2014/main" val="809988464"/>
                    </a:ext>
                  </a:extLst>
                </a:gridCol>
                <a:gridCol w="1732515">
                  <a:extLst>
                    <a:ext uri="{9D8B030D-6E8A-4147-A177-3AD203B41FA5}">
                      <a16:colId xmlns:a16="http://schemas.microsoft.com/office/drawing/2014/main" val="739668112"/>
                    </a:ext>
                  </a:extLst>
                </a:gridCol>
                <a:gridCol w="1732515">
                  <a:extLst>
                    <a:ext uri="{9D8B030D-6E8A-4147-A177-3AD203B41FA5}">
                      <a16:colId xmlns:a16="http://schemas.microsoft.com/office/drawing/2014/main" val="2749457677"/>
                    </a:ext>
                  </a:extLst>
                </a:gridCol>
              </a:tblGrid>
              <a:tr h="547695"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Paramètres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Equations</a:t>
                      </a: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(notées aussi sous forme     matricielle)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Calcul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 passif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symétrique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3485071"/>
                  </a:ext>
                </a:extLst>
              </a:tr>
              <a:tr h="1350981">
                <a:tc>
                  <a:txBody>
                    <a:bodyPr/>
                    <a:lstStyle/>
                    <a:p>
                      <a:endParaRPr lang="fr-FR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b="1" dirty="0">
                          <a:latin typeface="Bookman Old Style" panose="02050604050505020204" pitchFamily="18" charset="0"/>
                        </a:rPr>
                        <a:t>Hybride inverse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sz="14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dirty="0">
                        <a:latin typeface="Bookman Old Style" panose="02050604050505020204" pitchFamily="18" charset="0"/>
                      </a:endParaRPr>
                    </a:p>
                    <a:p>
                      <a:pPr rtl="0"/>
                      <a:endParaRPr lang="fr-FR" sz="1400" b="0" dirty="0">
                        <a:latin typeface="Bookman Old Style" panose="02050604050505020204" pitchFamily="18" charset="0"/>
                      </a:endParaRPr>
                    </a:p>
                    <a:p>
                      <a:pPr rtl="0"/>
                      <a:r>
                        <a:rPr lang="fr-FR" sz="1400" b="1" dirty="0">
                          <a:latin typeface="Bookman Old Style" panose="02050604050505020204" pitchFamily="18" charset="0"/>
                        </a:rPr>
                        <a:t>etc…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b="1" dirty="0">
                          <a:latin typeface="Bookman Old Style" panose="02050604050505020204" pitchFamily="18" charset="0"/>
                        </a:rPr>
                        <a:t>et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415669"/>
                  </a:ext>
                </a:extLst>
              </a:tr>
            </a:tbl>
          </a:graphicData>
        </a:graphic>
      </p:graphicFrame>
      <p:graphicFrame>
        <p:nvGraphicFramePr>
          <p:cNvPr id="3" name="Object 17">
            <a:extLst>
              <a:ext uri="{FF2B5EF4-FFF2-40B4-BE49-F238E27FC236}">
                <a16:creationId xmlns:a16="http://schemas.microsoft.com/office/drawing/2014/main" id="{B14F6323-AFF2-9622-5B9B-7B22F6E7F8F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2833271"/>
              </p:ext>
            </p:extLst>
          </p:nvPr>
        </p:nvGraphicFramePr>
        <p:xfrm>
          <a:off x="2133600" y="2876550"/>
          <a:ext cx="1692275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143000" imgH="419100" progId="">
                  <p:embed/>
                </p:oleObj>
              </mc:Choice>
              <mc:Fallback>
                <p:oleObj r:id="rId3" imgW="1143000" imgH="419100" progId="">
                  <p:embed/>
                  <p:pic>
                    <p:nvPicPr>
                      <p:cNvPr id="717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3600" y="2876550"/>
                        <a:ext cx="1692275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15">
            <a:extLst>
              <a:ext uri="{FF2B5EF4-FFF2-40B4-BE49-F238E27FC236}">
                <a16:creationId xmlns:a16="http://schemas.microsoft.com/office/drawing/2014/main" id="{BBEC44ED-7F3B-7E8F-0A4F-EC4455CB62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6400213"/>
              </p:ext>
            </p:extLst>
          </p:nvPr>
        </p:nvGraphicFramePr>
        <p:xfrm>
          <a:off x="3963540" y="2820987"/>
          <a:ext cx="1477962" cy="731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927100" imgH="457200" progId="">
                  <p:embed/>
                </p:oleObj>
              </mc:Choice>
              <mc:Fallback>
                <p:oleObj r:id="rId5" imgW="927100" imgH="457200" progId="">
                  <p:embed/>
                  <p:pic>
                    <p:nvPicPr>
                      <p:cNvPr id="717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3540" y="2820987"/>
                        <a:ext cx="1477962" cy="7318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9">
            <a:extLst>
              <a:ext uri="{FF2B5EF4-FFF2-40B4-BE49-F238E27FC236}">
                <a16:creationId xmlns:a16="http://schemas.microsoft.com/office/drawing/2014/main" id="{6C139626-D1CF-67BF-9C58-D7D3DF40E8E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6785107"/>
              </p:ext>
            </p:extLst>
          </p:nvPr>
        </p:nvGraphicFramePr>
        <p:xfrm>
          <a:off x="5923205" y="2999355"/>
          <a:ext cx="876300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571748" imgH="228699" progId="">
                  <p:embed/>
                </p:oleObj>
              </mc:Choice>
              <mc:Fallback>
                <p:oleObj r:id="rId7" imgW="571748" imgH="228699" progId="">
                  <p:embed/>
                  <p:pic>
                    <p:nvPicPr>
                      <p:cNvPr id="717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23205" y="2999355"/>
                        <a:ext cx="876300" cy="3508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21">
            <a:extLst>
              <a:ext uri="{FF2B5EF4-FFF2-40B4-BE49-F238E27FC236}">
                <a16:creationId xmlns:a16="http://schemas.microsoft.com/office/drawing/2014/main" id="{904AD1F2-F6C1-9B7D-A012-C9B1F4C2C94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97695607"/>
              </p:ext>
            </p:extLst>
          </p:nvPr>
        </p:nvGraphicFramePr>
        <p:xfrm>
          <a:off x="7458075" y="2571750"/>
          <a:ext cx="1338263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9" imgW="838200" imgH="228600" progId="">
                  <p:embed/>
                </p:oleObj>
              </mc:Choice>
              <mc:Fallback>
                <p:oleObj r:id="rId9" imgW="838200" imgH="228600" progId="">
                  <p:embed/>
                  <p:pic>
                    <p:nvPicPr>
                      <p:cNvPr id="7176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8075" y="2571750"/>
                        <a:ext cx="1338263" cy="365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23">
            <a:extLst>
              <a:ext uri="{FF2B5EF4-FFF2-40B4-BE49-F238E27FC236}">
                <a16:creationId xmlns:a16="http://schemas.microsoft.com/office/drawing/2014/main" id="{D0EC73D8-E045-43C4-FA90-CF31C4D0D05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8172958"/>
              </p:ext>
            </p:extLst>
          </p:nvPr>
        </p:nvGraphicFramePr>
        <p:xfrm>
          <a:off x="7701963" y="3367881"/>
          <a:ext cx="985837" cy="369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11" imgW="609600" imgH="228600" progId="">
                  <p:embed/>
                </p:oleObj>
              </mc:Choice>
              <mc:Fallback>
                <p:oleObj r:id="rId11" imgW="609600" imgH="228600" progId="">
                  <p:embed/>
                  <p:pic>
                    <p:nvPicPr>
                      <p:cNvPr id="717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1963" y="3367881"/>
                        <a:ext cx="985837" cy="3698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661293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2.2 Paramètres de quadripôle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26C1626-9564-08FE-100F-C2FA5A9888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204011"/>
              </p:ext>
            </p:extLst>
          </p:nvPr>
        </p:nvGraphicFramePr>
        <p:xfrm>
          <a:off x="371234" y="1487792"/>
          <a:ext cx="8662575" cy="235682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32515">
                  <a:extLst>
                    <a:ext uri="{9D8B030D-6E8A-4147-A177-3AD203B41FA5}">
                      <a16:colId xmlns:a16="http://schemas.microsoft.com/office/drawing/2014/main" val="1114884962"/>
                    </a:ext>
                  </a:extLst>
                </a:gridCol>
                <a:gridCol w="1732515">
                  <a:extLst>
                    <a:ext uri="{9D8B030D-6E8A-4147-A177-3AD203B41FA5}">
                      <a16:colId xmlns:a16="http://schemas.microsoft.com/office/drawing/2014/main" val="490572068"/>
                    </a:ext>
                  </a:extLst>
                </a:gridCol>
                <a:gridCol w="2259736">
                  <a:extLst>
                    <a:ext uri="{9D8B030D-6E8A-4147-A177-3AD203B41FA5}">
                      <a16:colId xmlns:a16="http://schemas.microsoft.com/office/drawing/2014/main" val="80998846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739668112"/>
                    </a:ext>
                  </a:extLst>
                </a:gridCol>
                <a:gridCol w="1566209">
                  <a:extLst>
                    <a:ext uri="{9D8B030D-6E8A-4147-A177-3AD203B41FA5}">
                      <a16:colId xmlns:a16="http://schemas.microsoft.com/office/drawing/2014/main" val="2749457677"/>
                    </a:ext>
                  </a:extLst>
                </a:gridCol>
              </a:tblGrid>
              <a:tr h="547695"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Paramètres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Equations</a:t>
                      </a: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(notées aussi sous forme     matricielle)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Calcul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 passif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symétrique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3485071"/>
                  </a:ext>
                </a:extLst>
              </a:tr>
              <a:tr h="1350981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fr-FR" sz="1800" dirty="0">
                        <a:latin typeface="+mn-lt"/>
                        <a:ea typeface="Times New Roman"/>
                        <a:cs typeface="Arial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b="1" dirty="0">
                          <a:latin typeface="Bookman Old Style" panose="02050604050505020204" pitchFamily="18" charset="0"/>
                          <a:ea typeface="Times New Roman"/>
                          <a:cs typeface="Arial"/>
                        </a:rPr>
                        <a:t>Transmittance</a:t>
                      </a:r>
                    </a:p>
                    <a:p>
                      <a:endParaRPr lang="fr-FR" b="1" dirty="0"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600" b="1" dirty="0">
                          <a:latin typeface="Bookman Old Style" panose="02050604050505020204" pitchFamily="18" charset="0"/>
                        </a:rPr>
                        <a:t>et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415669"/>
                  </a:ext>
                </a:extLst>
              </a:tr>
            </a:tbl>
          </a:graphicData>
        </a:graphic>
      </p:graphicFrame>
      <p:graphicFrame>
        <p:nvGraphicFramePr>
          <p:cNvPr id="20" name="Object 1">
            <a:extLst>
              <a:ext uri="{FF2B5EF4-FFF2-40B4-BE49-F238E27FC236}">
                <a16:creationId xmlns:a16="http://schemas.microsoft.com/office/drawing/2014/main" id="{404C0E1D-7E36-0542-48D2-4946F13F81C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8775418"/>
              </p:ext>
            </p:extLst>
          </p:nvPr>
        </p:nvGraphicFramePr>
        <p:xfrm>
          <a:off x="2133600" y="2824403"/>
          <a:ext cx="1673225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066800" imgH="419100" progId="">
                  <p:embed/>
                </p:oleObj>
              </mc:Choice>
              <mc:Fallback>
                <p:oleObj r:id="rId3" imgW="1066800" imgH="419100" progId="">
                  <p:embed/>
                  <p:pic>
                    <p:nvPicPr>
                      <p:cNvPr id="8194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3600" y="2824403"/>
                        <a:ext cx="1673225" cy="657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3">
            <a:extLst>
              <a:ext uri="{FF2B5EF4-FFF2-40B4-BE49-F238E27FC236}">
                <a16:creationId xmlns:a16="http://schemas.microsoft.com/office/drawing/2014/main" id="{3F19CF41-D240-62F7-BBBB-9062BAAF5D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045414"/>
              </p:ext>
            </p:extLst>
          </p:nvPr>
        </p:nvGraphicFramePr>
        <p:xfrm>
          <a:off x="3894040" y="2485071"/>
          <a:ext cx="1935162" cy="663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1333500" imgH="457200" progId="">
                  <p:embed/>
                </p:oleObj>
              </mc:Choice>
              <mc:Fallback>
                <p:oleObj r:id="rId5" imgW="1333500" imgH="457200" progId="">
                  <p:embed/>
                  <p:pic>
                    <p:nvPicPr>
                      <p:cNvPr id="819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94040" y="2485071"/>
                        <a:ext cx="1935162" cy="663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5">
            <a:extLst>
              <a:ext uri="{FF2B5EF4-FFF2-40B4-BE49-F238E27FC236}">
                <a16:creationId xmlns:a16="http://schemas.microsoft.com/office/drawing/2014/main" id="{F145A702-6FEF-0A56-AAB5-E9E25A9AA7F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9641895"/>
              </p:ext>
            </p:extLst>
          </p:nvPr>
        </p:nvGraphicFramePr>
        <p:xfrm>
          <a:off x="3894040" y="3082668"/>
          <a:ext cx="1971675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1270000" imgH="457200" progId="">
                  <p:embed/>
                </p:oleObj>
              </mc:Choice>
              <mc:Fallback>
                <p:oleObj r:id="rId7" imgW="1270000" imgH="457200" progId="">
                  <p:embed/>
                  <p:pic>
                    <p:nvPicPr>
                      <p:cNvPr id="819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94040" y="3082668"/>
                        <a:ext cx="1971675" cy="711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49069FA-B5B1-1EA0-2A92-71AE3ECD550B}"/>
              </a:ext>
            </a:extLst>
          </p:cNvPr>
          <p:cNvSpPr txBox="1"/>
          <p:nvPr/>
        </p:nvSpPr>
        <p:spPr>
          <a:xfrm>
            <a:off x="684212" y="3992527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1200" dirty="0">
                <a:solidFill>
                  <a:srgbClr val="FF0000"/>
                </a:solidFill>
                <a:latin typeface="Bookman Old Style" panose="02050604050505020204" pitchFamily="18" charset="0"/>
              </a:rPr>
              <a:t>A</a:t>
            </a:r>
            <a:r>
              <a:rPr lang="fr-FR" sz="1400" b="1" kern="1200" baseline="-25000" dirty="0">
                <a:solidFill>
                  <a:srgbClr val="FF0000"/>
                </a:solidFill>
                <a:latin typeface="Bookman Old Style" panose="02050604050505020204" pitchFamily="18" charset="0"/>
              </a:rPr>
              <a:t>v0</a:t>
            </a:r>
            <a:r>
              <a:rPr lang="fr-FR" sz="1400" b="1" kern="1200" dirty="0">
                <a:solidFill>
                  <a:schemeClr val="dk1"/>
                </a:solidFill>
                <a:latin typeface="Bookman Old Style" panose="02050604050505020204" pitchFamily="18" charset="0"/>
              </a:rPr>
              <a:t>  Gain en tension à vide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BB5624-20E5-4309-C0DD-8918D51C1AB4}"/>
              </a:ext>
            </a:extLst>
          </p:cNvPr>
          <p:cNvSpPr txBox="1"/>
          <p:nvPr/>
        </p:nvSpPr>
        <p:spPr>
          <a:xfrm>
            <a:off x="684212" y="4448907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kern="1200" dirty="0">
                <a:solidFill>
                  <a:srgbClr val="FF0000"/>
                </a:solidFill>
                <a:latin typeface="Bookman Old Style" panose="02050604050505020204" pitchFamily="18" charset="0"/>
              </a:rPr>
              <a:t>A</a:t>
            </a:r>
            <a:r>
              <a:rPr lang="fr-FR" sz="1400" b="1" kern="1200" baseline="-25000" dirty="0">
                <a:solidFill>
                  <a:srgbClr val="FF0000"/>
                </a:solidFill>
                <a:latin typeface="Bookman Old Style" panose="02050604050505020204" pitchFamily="18" charset="0"/>
              </a:rPr>
              <a:t>i</a:t>
            </a:r>
            <a:r>
              <a:rPr lang="fr-FR" sz="1400" b="1" kern="1200" dirty="0">
                <a:solidFill>
                  <a:srgbClr val="FF0000"/>
                </a:solidFill>
                <a:latin typeface="Bookman Old Style" panose="02050604050505020204" pitchFamily="18" charset="0"/>
              </a:rPr>
              <a:t> </a:t>
            </a:r>
            <a:r>
              <a:rPr lang="fr-FR" sz="1400" b="1" kern="1200" dirty="0">
                <a:solidFill>
                  <a:schemeClr val="dk1"/>
                </a:solidFill>
                <a:latin typeface="Bookman Old Style" panose="02050604050505020204" pitchFamily="18" charset="0"/>
              </a:rPr>
              <a:t>Gain en courant à sortie en court-circuit</a:t>
            </a:r>
            <a:endParaRPr lang="fr-FR" sz="1400" b="1" dirty="0">
              <a:latin typeface="Bookman Old Style" panose="0205060405050502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A9B800-5E25-27F2-9FC2-94285B4B29CE}"/>
              </a:ext>
            </a:extLst>
          </p:cNvPr>
          <p:cNvSpPr txBox="1"/>
          <p:nvPr/>
        </p:nvSpPr>
        <p:spPr>
          <a:xfrm>
            <a:off x="3887470" y="3566925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kern="1200" dirty="0">
                <a:solidFill>
                  <a:schemeClr val="dk1"/>
                </a:solidFill>
                <a:latin typeface="Bookman Old Style" panose="02050604050505020204" pitchFamily="18" charset="0"/>
              </a:rPr>
              <a:t>etc...</a:t>
            </a:r>
            <a:endParaRPr lang="fr-FR" sz="1200" b="1" dirty="0">
              <a:latin typeface="Bookman Old Style" panose="02050604050505020204" pitchFamily="18" charset="0"/>
            </a:endParaRPr>
          </a:p>
        </p:txBody>
      </p:sp>
      <p:graphicFrame>
        <p:nvGraphicFramePr>
          <p:cNvPr id="29" name="Object 7">
            <a:extLst>
              <a:ext uri="{FF2B5EF4-FFF2-40B4-BE49-F238E27FC236}">
                <a16:creationId xmlns:a16="http://schemas.microsoft.com/office/drawing/2014/main" id="{D2C69A32-4760-99F6-3BD0-FD47D81E64C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3812119"/>
              </p:ext>
            </p:extLst>
          </p:nvPr>
        </p:nvGraphicFramePr>
        <p:xfrm>
          <a:off x="6126603" y="2996991"/>
          <a:ext cx="1251015" cy="2405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9" imgW="990600" imgH="190500" progId="">
                  <p:embed/>
                </p:oleObj>
              </mc:Choice>
              <mc:Fallback>
                <p:oleObj r:id="rId9" imgW="990600" imgH="190500" progId="">
                  <p:embed/>
                  <p:pic>
                    <p:nvPicPr>
                      <p:cNvPr id="819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26603" y="2996991"/>
                        <a:ext cx="1251015" cy="24053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Object 9">
            <a:extLst>
              <a:ext uri="{FF2B5EF4-FFF2-40B4-BE49-F238E27FC236}">
                <a16:creationId xmlns:a16="http://schemas.microsoft.com/office/drawing/2014/main" id="{290DA263-7FFE-4311-C532-9DA51DBFD9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4554850"/>
              </p:ext>
            </p:extLst>
          </p:nvPr>
        </p:nvGraphicFramePr>
        <p:xfrm>
          <a:off x="7763645" y="2672748"/>
          <a:ext cx="869789" cy="3053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11" imgW="545626" imgH="190335" progId="">
                  <p:embed/>
                </p:oleObj>
              </mc:Choice>
              <mc:Fallback>
                <p:oleObj r:id="rId11" imgW="545626" imgH="190335" progId="">
                  <p:embed/>
                  <p:pic>
                    <p:nvPicPr>
                      <p:cNvPr id="819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63645" y="2672748"/>
                        <a:ext cx="869789" cy="30533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Object 11">
            <a:extLst>
              <a:ext uri="{FF2B5EF4-FFF2-40B4-BE49-F238E27FC236}">
                <a16:creationId xmlns:a16="http://schemas.microsoft.com/office/drawing/2014/main" id="{A3DDCFC6-65EE-922F-1A6D-6674B4359A6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1917871"/>
              </p:ext>
            </p:extLst>
          </p:nvPr>
        </p:nvGraphicFramePr>
        <p:xfrm>
          <a:off x="7636100" y="3404461"/>
          <a:ext cx="1179652" cy="2268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13" imgW="990600" imgH="190500" progId="">
                  <p:embed/>
                </p:oleObj>
              </mc:Choice>
              <mc:Fallback>
                <p:oleObj r:id="rId13" imgW="990600" imgH="190500" progId="">
                  <p:embed/>
                  <p:pic>
                    <p:nvPicPr>
                      <p:cNvPr id="819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36100" y="3404461"/>
                        <a:ext cx="1179652" cy="2268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483689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73692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Grandeurs caractéristiques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2.2 Paramètres de quadripôle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26C1626-9564-08FE-100F-C2FA5A9888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57428"/>
              </p:ext>
            </p:extLst>
          </p:nvPr>
        </p:nvGraphicFramePr>
        <p:xfrm>
          <a:off x="381000" y="1487792"/>
          <a:ext cx="8652809" cy="2377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22749">
                  <a:extLst>
                    <a:ext uri="{9D8B030D-6E8A-4147-A177-3AD203B41FA5}">
                      <a16:colId xmlns:a16="http://schemas.microsoft.com/office/drawing/2014/main" val="1114884962"/>
                    </a:ext>
                  </a:extLst>
                </a:gridCol>
                <a:gridCol w="1732515">
                  <a:extLst>
                    <a:ext uri="{9D8B030D-6E8A-4147-A177-3AD203B41FA5}">
                      <a16:colId xmlns:a16="http://schemas.microsoft.com/office/drawing/2014/main" val="490572068"/>
                    </a:ext>
                  </a:extLst>
                </a:gridCol>
                <a:gridCol w="1726336">
                  <a:extLst>
                    <a:ext uri="{9D8B030D-6E8A-4147-A177-3AD203B41FA5}">
                      <a16:colId xmlns:a16="http://schemas.microsoft.com/office/drawing/2014/main" val="80998846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739668112"/>
                    </a:ext>
                  </a:extLst>
                </a:gridCol>
                <a:gridCol w="1566209">
                  <a:extLst>
                    <a:ext uri="{9D8B030D-6E8A-4147-A177-3AD203B41FA5}">
                      <a16:colId xmlns:a16="http://schemas.microsoft.com/office/drawing/2014/main" val="2749457677"/>
                    </a:ext>
                  </a:extLst>
                </a:gridCol>
              </a:tblGrid>
              <a:tr h="974413"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Paramètres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Equations</a:t>
                      </a: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(notées aussi sous forme     matricielle)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500" kern="12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500" kern="12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Calcul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 passif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50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Q symétrique</a:t>
                      </a:r>
                      <a:endParaRPr lang="fr-FR" sz="1500" dirty="0">
                        <a:solidFill>
                          <a:schemeClr val="tx1"/>
                        </a:solidFill>
                        <a:latin typeface="Bookman Old Style" panose="02050604050505020204" pitchFamily="18" charset="0"/>
                        <a:ea typeface="Times New Roman"/>
                        <a:cs typeface="Arial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3485071"/>
                  </a:ext>
                </a:extLst>
              </a:tr>
              <a:tr h="1328745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fr-FR" sz="1800" dirty="0">
                        <a:latin typeface="+mn-lt"/>
                        <a:ea typeface="Times New Roman"/>
                        <a:cs typeface="Arial"/>
                      </a:endParaRPr>
                    </a:p>
                    <a:p>
                      <a:pPr algn="just">
                        <a:spcAft>
                          <a:spcPts val="0"/>
                        </a:spcAft>
                      </a:pPr>
                      <a:endParaRPr lang="fr-FR" sz="1400" dirty="0">
                        <a:latin typeface="+mn-lt"/>
                        <a:ea typeface="Times New Roman"/>
                        <a:cs typeface="Arial"/>
                      </a:endParaRPr>
                    </a:p>
                    <a:p>
                      <a:pPr marL="0" algn="ctr">
                        <a:spcAft>
                          <a:spcPts val="0"/>
                        </a:spcAft>
                      </a:pPr>
                      <a:r>
                        <a:rPr lang="fr-FR" sz="1550" b="1" dirty="0">
                          <a:solidFill>
                            <a:schemeClr val="dk1"/>
                          </a:solidFill>
                          <a:latin typeface="Bookman Old Style" panose="02050604050505020204" pitchFamily="18" charset="0"/>
                          <a:ea typeface="Times New Roman"/>
                          <a:cs typeface="Arial"/>
                        </a:rPr>
                        <a:t>Transmittance</a:t>
                      </a:r>
                    </a:p>
                    <a:p>
                      <a:pPr marL="0" algn="ctr">
                        <a:spcAft>
                          <a:spcPts val="0"/>
                        </a:spcAft>
                      </a:pPr>
                      <a:r>
                        <a:rPr lang="fr-FR" sz="1550" b="1" dirty="0">
                          <a:solidFill>
                            <a:schemeClr val="dk1"/>
                          </a:solidFill>
                          <a:latin typeface="Bookman Old Style" panose="02050604050505020204" pitchFamily="18" charset="0"/>
                          <a:ea typeface="Times New Roman"/>
                          <a:cs typeface="Arial"/>
                        </a:rPr>
                        <a:t> inverse</a:t>
                      </a:r>
                      <a:endParaRPr lang="fr-FR" sz="1550" b="1" dirty="0">
                        <a:solidFill>
                          <a:schemeClr val="dk1"/>
                        </a:solidFill>
                        <a:latin typeface="Bookman Old Style" panose="02050604050505020204" pitchFamily="18" charset="0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  <a:p>
                      <a:r>
                        <a:rPr lang="fr-FR" sz="1400" b="1" dirty="0">
                          <a:latin typeface="Bookman Old Style" panose="02050604050505020204" pitchFamily="18" charset="0"/>
                        </a:rPr>
                        <a:t>etc…</a:t>
                      </a:r>
                    </a:p>
                    <a:p>
                      <a:endParaRPr lang="fr-FR" sz="1400" b="1" dirty="0">
                        <a:latin typeface="Bookman Old Style" panose="0205060405050502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endParaRPr lang="fr-FR" b="1" dirty="0">
                        <a:latin typeface="Bookman Old Style" panose="02050604050505020204" pitchFamily="18" charset="0"/>
                      </a:endParaRPr>
                    </a:p>
                    <a:p>
                      <a:pPr algn="ctr"/>
                      <a:r>
                        <a:rPr lang="fr-FR" sz="1800" b="1" dirty="0">
                          <a:latin typeface="Bookman Old Style" panose="02050604050505020204" pitchFamily="18" charset="0"/>
                        </a:rPr>
                        <a:t>et</a:t>
                      </a:r>
                      <a:endParaRPr lang="fr-FR" b="1" dirty="0">
                        <a:latin typeface="Bookman Old Style" panose="020506040505050202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415669"/>
                  </a:ext>
                </a:extLst>
              </a:tr>
            </a:tbl>
          </a:graphicData>
        </a:graphic>
      </p:graphicFrame>
      <p:graphicFrame>
        <p:nvGraphicFramePr>
          <p:cNvPr id="3" name="Object 13">
            <a:extLst>
              <a:ext uri="{FF2B5EF4-FFF2-40B4-BE49-F238E27FC236}">
                <a16:creationId xmlns:a16="http://schemas.microsoft.com/office/drawing/2014/main" id="{291260C8-5595-0D11-3E6B-5B12F9564A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8877938"/>
              </p:ext>
            </p:extLst>
          </p:nvPr>
        </p:nvGraphicFramePr>
        <p:xfrm>
          <a:off x="2174909" y="2856788"/>
          <a:ext cx="1432551" cy="6711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054100" imgH="495300" progId="">
                  <p:embed/>
                </p:oleObj>
              </mc:Choice>
              <mc:Fallback>
                <p:oleObj r:id="rId3" imgW="1054100" imgH="495300" progId="">
                  <p:embed/>
                  <p:pic>
                    <p:nvPicPr>
                      <p:cNvPr id="820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909" y="2856788"/>
                        <a:ext cx="1432551" cy="67117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15">
            <a:extLst>
              <a:ext uri="{FF2B5EF4-FFF2-40B4-BE49-F238E27FC236}">
                <a16:creationId xmlns:a16="http://schemas.microsoft.com/office/drawing/2014/main" id="{8046D724-59CD-405F-298C-3AA3CFD4AC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2354712"/>
              </p:ext>
            </p:extLst>
          </p:nvPr>
        </p:nvGraphicFramePr>
        <p:xfrm>
          <a:off x="4081616" y="2856788"/>
          <a:ext cx="1251576" cy="682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838200" imgH="457200" progId="">
                  <p:embed/>
                </p:oleObj>
              </mc:Choice>
              <mc:Fallback>
                <p:oleObj r:id="rId5" imgW="838200" imgH="457200" progId="">
                  <p:embed/>
                  <p:pic>
                    <p:nvPicPr>
                      <p:cNvPr id="8201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81616" y="2856788"/>
                        <a:ext cx="1251576" cy="68279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7">
            <a:extLst>
              <a:ext uri="{FF2B5EF4-FFF2-40B4-BE49-F238E27FC236}">
                <a16:creationId xmlns:a16="http://schemas.microsoft.com/office/drawing/2014/main" id="{C2C25932-5573-A2BE-34C5-617DC6E42CE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9354271"/>
              </p:ext>
            </p:extLst>
          </p:nvPr>
        </p:nvGraphicFramePr>
        <p:xfrm>
          <a:off x="5715000" y="3028950"/>
          <a:ext cx="1686904" cy="3891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990600" imgH="228600" progId="">
                  <p:embed/>
                </p:oleObj>
              </mc:Choice>
              <mc:Fallback>
                <p:oleObj r:id="rId7" imgW="990600" imgH="228600" progId="">
                  <p:embed/>
                  <p:pic>
                    <p:nvPicPr>
                      <p:cNvPr id="8202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0" y="3028950"/>
                        <a:ext cx="1686904" cy="38915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20">
            <a:extLst>
              <a:ext uri="{FF2B5EF4-FFF2-40B4-BE49-F238E27FC236}">
                <a16:creationId xmlns:a16="http://schemas.microsoft.com/office/drawing/2014/main" id="{E998E310-5238-6556-B076-7C21A232F30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9256674"/>
              </p:ext>
            </p:extLst>
          </p:nvPr>
        </p:nvGraphicFramePr>
        <p:xfrm>
          <a:off x="7749009" y="2581224"/>
          <a:ext cx="954087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9" imgW="545626" imgH="228402" progId="">
                  <p:embed/>
                </p:oleObj>
              </mc:Choice>
              <mc:Fallback>
                <p:oleObj r:id="rId9" imgW="545626" imgH="228402" progId="">
                  <p:embed/>
                  <p:pic>
                    <p:nvPicPr>
                      <p:cNvPr id="8203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49009" y="2581224"/>
                        <a:ext cx="954087" cy="401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9">
            <a:extLst>
              <a:ext uri="{FF2B5EF4-FFF2-40B4-BE49-F238E27FC236}">
                <a16:creationId xmlns:a16="http://schemas.microsoft.com/office/drawing/2014/main" id="{4AD2C8EA-81A7-FF80-A62C-AB720B1C355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2938019"/>
              </p:ext>
            </p:extLst>
          </p:nvPr>
        </p:nvGraphicFramePr>
        <p:xfrm>
          <a:off x="7678321" y="3418105"/>
          <a:ext cx="1335636" cy="3077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11" imgW="990600" imgH="228600" progId="">
                  <p:embed/>
                </p:oleObj>
              </mc:Choice>
              <mc:Fallback>
                <p:oleObj r:id="rId11" imgW="990600" imgH="228600" progId="">
                  <p:embed/>
                  <p:pic>
                    <p:nvPicPr>
                      <p:cNvPr id="8204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78321" y="3418105"/>
                        <a:ext cx="1335636" cy="30777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B00B5A5-33F6-2C70-5261-52DB017D2BE5}"/>
              </a:ext>
            </a:extLst>
          </p:cNvPr>
          <p:cNvSpPr txBox="1"/>
          <p:nvPr/>
        </p:nvSpPr>
        <p:spPr>
          <a:xfrm>
            <a:off x="478304" y="3974828"/>
            <a:ext cx="84582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highlight>
                  <a:srgbClr val="00FF00"/>
                </a:highlight>
                <a:latin typeface="Bookman Old Style" panose="02050604050505020204" pitchFamily="18" charset="0"/>
              </a:rPr>
              <a:t>Remarque</a:t>
            </a:r>
            <a:r>
              <a:rPr lang="fr-FR" sz="1400" dirty="0">
                <a:highlight>
                  <a:srgbClr val="00FF00"/>
                </a:highlight>
                <a:latin typeface="Bookman Old Style" panose="02050604050505020204" pitchFamily="18" charset="0"/>
              </a:rPr>
              <a:t>: </a:t>
            </a:r>
          </a:p>
          <a:p>
            <a:endParaRPr lang="fr-FR" sz="1400" dirty="0">
              <a:highlight>
                <a:srgbClr val="00FF00"/>
              </a:highlight>
              <a:latin typeface="Bookman Old Style" panose="02050604050505020204" pitchFamily="18" charset="0"/>
            </a:endParaRPr>
          </a:p>
          <a:p>
            <a:r>
              <a:rPr lang="fr-FR" sz="1400" dirty="0">
                <a:latin typeface="Bookman Old Style" panose="02050604050505020204" pitchFamily="18" charset="0"/>
              </a:rPr>
              <a:t>Le modèle basé sur les impédances d'entrée et de sortie ne doit pas être confondu avec celui donné par la matrice d'impédance (on n'a pas </a:t>
            </a:r>
            <a:r>
              <a:rPr lang="fr-FR" sz="1400" b="1" i="1" dirty="0" err="1">
                <a:latin typeface="Bookman Old Style" panose="02050604050505020204" pitchFamily="18" charset="0"/>
              </a:rPr>
              <a:t>Z</a:t>
            </a:r>
            <a:r>
              <a:rPr lang="fr-FR" sz="1400" b="1" baseline="-25000" dirty="0" err="1">
                <a:latin typeface="Bookman Old Style" panose="02050604050505020204" pitchFamily="18" charset="0"/>
              </a:rPr>
              <a:t>e</a:t>
            </a:r>
            <a:r>
              <a:rPr lang="fr-FR" sz="1400" b="1" baseline="-25000" dirty="0">
                <a:latin typeface="Bookman Old Style" panose="02050604050505020204" pitchFamily="18" charset="0"/>
              </a:rPr>
              <a:t> </a:t>
            </a:r>
            <a:r>
              <a:rPr lang="fr-FR" sz="1400" b="1" dirty="0">
                <a:latin typeface="Bookman Old Style" panose="02050604050505020204" pitchFamily="18" charset="0"/>
              </a:rPr>
              <a:t>≡ z</a:t>
            </a:r>
            <a:r>
              <a:rPr lang="fr-FR" sz="1400" b="1" baseline="-25000" dirty="0">
                <a:latin typeface="Bookman Old Style" panose="02050604050505020204" pitchFamily="18" charset="0"/>
              </a:rPr>
              <a:t>11</a:t>
            </a:r>
            <a:r>
              <a:rPr lang="fr-FR" sz="1400" dirty="0">
                <a:latin typeface="Bookman Old Style" panose="02050604050505020204" pitchFamily="18" charset="0"/>
              </a:rPr>
              <a:t>):</a:t>
            </a:r>
          </a:p>
        </p:txBody>
      </p:sp>
    </p:spTree>
    <p:extLst>
      <p:ext uri="{BB962C8B-B14F-4D97-AF65-F5344CB8AC3E}">
        <p14:creationId xmlns:p14="http://schemas.microsoft.com/office/powerpoint/2010/main" val="2461187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574901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3. Modèles électriques associés à des matrices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3.1 Matrice impédance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ZoneTexte 33">
            <a:extLst>
              <a:ext uri="{FF2B5EF4-FFF2-40B4-BE49-F238E27FC236}">
                <a16:creationId xmlns:a16="http://schemas.microsoft.com/office/drawing/2014/main" id="{B188B6FD-8A41-F88E-BFD9-D0AFF39361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29841" y="3576829"/>
            <a:ext cx="301396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fr-FR" sz="1400" b="1" dirty="0">
                <a:latin typeface="Bookman Old Style" panose="02050604050505020204" pitchFamily="18" charset="0"/>
              </a:rPr>
              <a:t>Schéma électrique équivalent</a:t>
            </a:r>
          </a:p>
        </p:txBody>
      </p:sp>
      <p:sp>
        <p:nvSpPr>
          <p:cNvPr id="22" name="Text Box 8">
            <a:extLst>
              <a:ext uri="{FF2B5EF4-FFF2-40B4-BE49-F238E27FC236}">
                <a16:creationId xmlns:a16="http://schemas.microsoft.com/office/drawing/2014/main" id="{5559AB91-6AAF-C052-B95F-E7D617B3E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7921" y="1738405"/>
            <a:ext cx="520700" cy="5270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>
                <a:latin typeface="Bookman Old Style" panose="02050604050505020204" pitchFamily="18" charset="0"/>
              </a:rPr>
              <a:t>I</a:t>
            </a:r>
            <a:r>
              <a:rPr lang="fr-FR" sz="1400" b="1" baseline="-25000">
                <a:latin typeface="Bookman Old Style" panose="02050604050505020204" pitchFamily="18" charset="0"/>
              </a:rPr>
              <a:t>2</a:t>
            </a:r>
            <a:endParaRPr lang="fr-FR" sz="1400" b="1">
              <a:latin typeface="Bookman Old Style" panose="02050604050505020204" pitchFamily="18" charset="0"/>
            </a:endParaRPr>
          </a:p>
        </p:txBody>
      </p:sp>
      <p:sp>
        <p:nvSpPr>
          <p:cNvPr id="23" name="Text Box 9">
            <a:extLst>
              <a:ext uri="{FF2B5EF4-FFF2-40B4-BE49-F238E27FC236}">
                <a16:creationId xmlns:a16="http://schemas.microsoft.com/office/drawing/2014/main" id="{F2362326-BCEC-1102-E536-DC0891DD06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46996" y="2644868"/>
            <a:ext cx="520700" cy="5270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>
                <a:latin typeface="Bookman Old Style" panose="02050604050505020204" pitchFamily="18" charset="0"/>
              </a:rPr>
              <a:t>V</a:t>
            </a:r>
            <a:r>
              <a:rPr lang="fr-FR" sz="1400" b="1" baseline="-25000">
                <a:latin typeface="Bookman Old Style" panose="02050604050505020204" pitchFamily="18" charset="0"/>
              </a:rPr>
              <a:t>2</a:t>
            </a:r>
            <a:endParaRPr lang="fr-FR" sz="1400" b="1">
              <a:latin typeface="Bookman Old Style" panose="02050604050505020204" pitchFamily="18" charset="0"/>
            </a:endParaRPr>
          </a:p>
        </p:txBody>
      </p:sp>
      <p:sp>
        <p:nvSpPr>
          <p:cNvPr id="24" name="Text Box 10">
            <a:extLst>
              <a:ext uri="{FF2B5EF4-FFF2-40B4-BE49-F238E27FC236}">
                <a16:creationId xmlns:a16="http://schemas.microsoft.com/office/drawing/2014/main" id="{F6558F8F-7BD3-0BB7-F2BF-66D6C39CCE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10383" y="1592355"/>
            <a:ext cx="519113" cy="5270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  <a:defRPr/>
            </a:pPr>
            <a:r>
              <a:rPr lang="fr-FR" sz="1400" b="1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z</a:t>
            </a:r>
            <a:r>
              <a:rPr lang="fr-FR" sz="1400" b="1" baseline="-2500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22</a:t>
            </a:r>
            <a:endParaRPr lang="fr-FR" sz="1400" b="1">
              <a:solidFill>
                <a:schemeClr val="accent6">
                  <a:lumMod val="50000"/>
                </a:schemeClr>
              </a:solidFill>
              <a:latin typeface="Bookman Old Style" panose="02050604050505020204" pitchFamily="18" charset="0"/>
              <a:cs typeface="Arial" pitchFamily="34" charset="0"/>
            </a:endParaRPr>
          </a:p>
        </p:txBody>
      </p:sp>
      <p:sp>
        <p:nvSpPr>
          <p:cNvPr id="25" name="Text Box 11">
            <a:extLst>
              <a:ext uri="{FF2B5EF4-FFF2-40B4-BE49-F238E27FC236}">
                <a16:creationId xmlns:a16="http://schemas.microsoft.com/office/drawing/2014/main" id="{176011FA-2B68-651B-2E3F-ABBEC08BA9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4971" y="2614705"/>
            <a:ext cx="642937" cy="5270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  <a:defRPr/>
            </a:pPr>
            <a:r>
              <a:rPr lang="fr-FR" sz="1400" b="1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z</a:t>
            </a:r>
            <a:r>
              <a:rPr lang="fr-FR" sz="1400" b="1" baseline="-25000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21</a:t>
            </a:r>
            <a:r>
              <a:rPr lang="fr-FR" sz="1400" b="1" dirty="0"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I</a:t>
            </a:r>
            <a:r>
              <a:rPr lang="fr-FR" sz="1400" b="1" baseline="-25000" dirty="0"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1</a:t>
            </a:r>
            <a:endParaRPr lang="fr-FR" sz="1400" b="1" dirty="0">
              <a:latin typeface="Bookman Old Style" panose="02050604050505020204" pitchFamily="18" charset="0"/>
              <a:cs typeface="Arial" pitchFamily="34" charset="0"/>
            </a:endParaRPr>
          </a:p>
        </p:txBody>
      </p:sp>
      <p:sp>
        <p:nvSpPr>
          <p:cNvPr id="26" name="Text Box 12">
            <a:extLst>
              <a:ext uri="{FF2B5EF4-FFF2-40B4-BE49-F238E27FC236}">
                <a16:creationId xmlns:a16="http://schemas.microsoft.com/office/drawing/2014/main" id="{C377064C-7827-97F6-0FAB-ADB696398C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1871" y="2581068"/>
            <a:ext cx="642938" cy="5270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  <a:defRPr/>
            </a:pPr>
            <a:r>
              <a:rPr lang="fr-FR" sz="1400" b="1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z</a:t>
            </a:r>
            <a:r>
              <a:rPr lang="fr-FR" sz="1400" b="1" baseline="-25000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12</a:t>
            </a:r>
            <a:r>
              <a:rPr lang="fr-FR" sz="1400" b="1" dirty="0"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I</a:t>
            </a:r>
            <a:r>
              <a:rPr lang="fr-FR" sz="1400" b="1" baseline="-25000" dirty="0"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2</a:t>
            </a:r>
            <a:endParaRPr lang="fr-FR" sz="1400" b="1" dirty="0">
              <a:latin typeface="Bookman Old Style" panose="02050604050505020204" pitchFamily="18" charset="0"/>
              <a:cs typeface="Arial" pitchFamily="34" charset="0"/>
            </a:endParaRPr>
          </a:p>
        </p:txBody>
      </p:sp>
      <p:sp>
        <p:nvSpPr>
          <p:cNvPr id="27" name="Text Box 13">
            <a:extLst>
              <a:ext uri="{FF2B5EF4-FFF2-40B4-BE49-F238E27FC236}">
                <a16:creationId xmlns:a16="http://schemas.microsoft.com/office/drawing/2014/main" id="{6AFF3B88-8001-8CB2-6B76-D11AF7A086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9646" y="1592355"/>
            <a:ext cx="520700" cy="5270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  <a:defRPr/>
            </a:pPr>
            <a:r>
              <a:rPr lang="fr-FR" sz="1400" b="1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z</a:t>
            </a:r>
            <a:r>
              <a:rPr lang="fr-FR" sz="1400" b="1" baseline="-25000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ea typeface="Arial" pitchFamily="34" charset="0"/>
                <a:cs typeface="Arial" pitchFamily="34" charset="0"/>
              </a:rPr>
              <a:t>11</a:t>
            </a:r>
            <a:endParaRPr lang="fr-FR" sz="1400" b="1" dirty="0">
              <a:solidFill>
                <a:schemeClr val="accent6">
                  <a:lumMod val="50000"/>
                </a:schemeClr>
              </a:solidFill>
              <a:latin typeface="Bookman Old Style" panose="02050604050505020204" pitchFamily="18" charset="0"/>
              <a:cs typeface="Arial" pitchFamily="34" charset="0"/>
            </a:endParaRPr>
          </a:p>
        </p:txBody>
      </p:sp>
      <p:sp>
        <p:nvSpPr>
          <p:cNvPr id="28" name="Text Box 14">
            <a:extLst>
              <a:ext uri="{FF2B5EF4-FFF2-40B4-BE49-F238E27FC236}">
                <a16:creationId xmlns:a16="http://schemas.microsoft.com/office/drawing/2014/main" id="{3B809237-1C4D-09E1-170C-1D1F2453C5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0533" y="1759043"/>
            <a:ext cx="519113" cy="5270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>
                <a:latin typeface="Bookman Old Style" panose="02050604050505020204" pitchFamily="18" charset="0"/>
              </a:rPr>
              <a:t>I</a:t>
            </a:r>
            <a:r>
              <a:rPr lang="fr-FR" sz="1400" b="1" baseline="-25000">
                <a:latin typeface="Bookman Old Style" panose="02050604050505020204" pitchFamily="18" charset="0"/>
              </a:rPr>
              <a:t>1</a:t>
            </a:r>
            <a:endParaRPr lang="fr-FR" sz="1400" b="1">
              <a:latin typeface="Bookman Old Style" panose="02050604050505020204" pitchFamily="18" charset="0"/>
            </a:endParaRPr>
          </a:p>
        </p:txBody>
      </p:sp>
      <p:sp>
        <p:nvSpPr>
          <p:cNvPr id="29" name="Text Box 15">
            <a:extLst>
              <a:ext uri="{FF2B5EF4-FFF2-40B4-BE49-F238E27FC236}">
                <a16:creationId xmlns:a16="http://schemas.microsoft.com/office/drawing/2014/main" id="{2F0176EC-71BA-4A39-8859-C4B7F74846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22708" y="2602005"/>
            <a:ext cx="520700" cy="5270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1400" b="1">
                <a:latin typeface="Bookman Old Style" panose="02050604050505020204" pitchFamily="18" charset="0"/>
              </a:rPr>
              <a:t>V</a:t>
            </a:r>
            <a:r>
              <a:rPr lang="fr-FR" sz="1400" b="1" baseline="-25000">
                <a:latin typeface="Bookman Old Style" panose="02050604050505020204" pitchFamily="18" charset="0"/>
              </a:rPr>
              <a:t>1</a:t>
            </a:r>
            <a:endParaRPr lang="fr-FR" sz="1400" b="1">
              <a:latin typeface="Bookman Old Style" panose="02050604050505020204" pitchFamily="18" charset="0"/>
            </a:endParaRPr>
          </a:p>
        </p:txBody>
      </p:sp>
      <p:sp>
        <p:nvSpPr>
          <p:cNvPr id="30" name="Line 16">
            <a:extLst>
              <a:ext uri="{FF2B5EF4-FFF2-40B4-BE49-F238E27FC236}">
                <a16:creationId xmlns:a16="http://schemas.microsoft.com/office/drawing/2014/main" id="{29DBF96A-ECD6-25F3-4A85-458C8A4C43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30696" y="2119405"/>
            <a:ext cx="1284287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1" name="Line 17">
            <a:extLst>
              <a:ext uri="{FF2B5EF4-FFF2-40B4-BE49-F238E27FC236}">
                <a16:creationId xmlns:a16="http://schemas.microsoft.com/office/drawing/2014/main" id="{212622BB-E1AC-BDDB-A76E-9AB6E69D8181}"/>
              </a:ext>
            </a:extLst>
          </p:cNvPr>
          <p:cNvSpPr>
            <a:spLocks noChangeShapeType="1"/>
          </p:cNvSpPr>
          <p:nvPr/>
        </p:nvSpPr>
        <p:spPr bwMode="auto">
          <a:xfrm>
            <a:off x="6214983" y="2119405"/>
            <a:ext cx="0" cy="1408113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2" name="Line 18">
            <a:extLst>
              <a:ext uri="{FF2B5EF4-FFF2-40B4-BE49-F238E27FC236}">
                <a16:creationId xmlns:a16="http://schemas.microsoft.com/office/drawing/2014/main" id="{237446CF-F55B-311C-EA06-B0474F21C4E1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0533" y="3521168"/>
            <a:ext cx="348615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3" name="Line 19">
            <a:extLst>
              <a:ext uri="{FF2B5EF4-FFF2-40B4-BE49-F238E27FC236}">
                <a16:creationId xmlns:a16="http://schemas.microsoft.com/office/drawing/2014/main" id="{742961C2-FB32-7BB4-A283-EDF539A6B7D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03996" y="2105118"/>
            <a:ext cx="116205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4" name="Line 20">
            <a:extLst>
              <a:ext uri="{FF2B5EF4-FFF2-40B4-BE49-F238E27FC236}">
                <a16:creationId xmlns:a16="http://schemas.microsoft.com/office/drawing/2014/main" id="{A5B3BCC4-D376-637F-8C3C-CBC2C3D0F0D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03996" y="2105118"/>
            <a:ext cx="0" cy="14224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5" name="Oval 21">
            <a:extLst>
              <a:ext uri="{FF2B5EF4-FFF2-40B4-BE49-F238E27FC236}">
                <a16:creationId xmlns:a16="http://schemas.microsoft.com/office/drawing/2014/main" id="{51F69331-BA1E-6E6F-97D6-29550A403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3208" y="2616293"/>
            <a:ext cx="473075" cy="484187"/>
          </a:xfrm>
          <a:prstGeom prst="ellipse">
            <a:avLst/>
          </a:prstGeom>
          <a:solidFill>
            <a:srgbClr val="00FFFF"/>
          </a:solidFill>
          <a:ln>
            <a:solidFill>
              <a:schemeClr val="tx1"/>
            </a:solidFill>
            <a:headEnd/>
            <a:tailEnd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6" name="Oval 22">
            <a:extLst>
              <a:ext uri="{FF2B5EF4-FFF2-40B4-BE49-F238E27FC236}">
                <a16:creationId xmlns:a16="http://schemas.microsoft.com/office/drawing/2014/main" id="{256BD2D1-C3CD-04A7-3BC3-7AF3CBA634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8096" y="2616293"/>
            <a:ext cx="455612" cy="484187"/>
          </a:xfrm>
          <a:prstGeom prst="ellipse">
            <a:avLst/>
          </a:prstGeom>
          <a:solidFill>
            <a:srgbClr val="00FFFF"/>
          </a:solidFill>
          <a:ln>
            <a:solidFill>
              <a:schemeClr val="tx1"/>
            </a:solidFill>
            <a:headEnd/>
            <a:tailEnd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7" name="Rectangle 23">
            <a:extLst>
              <a:ext uri="{FF2B5EF4-FFF2-40B4-BE49-F238E27FC236}">
                <a16:creationId xmlns:a16="http://schemas.microsoft.com/office/drawing/2014/main" id="{5DF1F1C9-8FDD-F96D-29F0-00B43CEF48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571" y="2005105"/>
            <a:ext cx="581025" cy="198438"/>
          </a:xfrm>
          <a:prstGeom prst="rect">
            <a:avLst/>
          </a:prstGeom>
          <a:solidFill>
            <a:srgbClr val="00FF00"/>
          </a:solidFill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8" name="Rectangle 24">
            <a:extLst>
              <a:ext uri="{FF2B5EF4-FFF2-40B4-BE49-F238E27FC236}">
                <a16:creationId xmlns:a16="http://schemas.microsoft.com/office/drawing/2014/main" id="{6D09F1EF-E4F0-F3B8-5FF8-75568D84E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9746" y="2005105"/>
            <a:ext cx="581025" cy="198438"/>
          </a:xfrm>
          <a:prstGeom prst="rect">
            <a:avLst/>
          </a:prstGeom>
          <a:solidFill>
            <a:srgbClr val="00FF00"/>
          </a:solidFill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39" name="Line 25">
            <a:extLst>
              <a:ext uri="{FF2B5EF4-FFF2-40B4-BE49-F238E27FC236}">
                <a16:creationId xmlns:a16="http://schemas.microsoft.com/office/drawing/2014/main" id="{E907F6CA-2C3A-6C20-76C4-7028F9A504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10058" y="2232118"/>
            <a:ext cx="0" cy="1152525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40" name="Line 26">
            <a:extLst>
              <a:ext uri="{FF2B5EF4-FFF2-40B4-BE49-F238E27FC236}">
                <a16:creationId xmlns:a16="http://schemas.microsoft.com/office/drawing/2014/main" id="{F346A5E7-105C-06EC-CD85-1B2C8705B1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66046" y="2205130"/>
            <a:ext cx="0" cy="1166813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41" name="Line 27">
            <a:extLst>
              <a:ext uri="{FF2B5EF4-FFF2-40B4-BE49-F238E27FC236}">
                <a16:creationId xmlns:a16="http://schemas.microsoft.com/office/drawing/2014/main" id="{9F20D6B4-FB71-B8FE-B2F6-B78458C2E447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3733" y="2119405"/>
            <a:ext cx="92075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42" name="Line 28">
            <a:extLst>
              <a:ext uri="{FF2B5EF4-FFF2-40B4-BE49-F238E27FC236}">
                <a16:creationId xmlns:a16="http://schemas.microsoft.com/office/drawing/2014/main" id="{F2F062A4-CB17-9D36-9A15-1FAA43EDDA5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42208" y="2105118"/>
            <a:ext cx="101600" cy="0"/>
          </a:xfrm>
          <a:prstGeom prst="line">
            <a:avLst/>
          </a:prstGeom>
          <a:ln>
            <a:headEnd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43" name="Line 29">
            <a:extLst>
              <a:ext uri="{FF2B5EF4-FFF2-40B4-BE49-F238E27FC236}">
                <a16:creationId xmlns:a16="http://schemas.microsoft.com/office/drawing/2014/main" id="{0035C665-8117-42C0-3CDA-D51A506EB0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14983" y="2675030"/>
            <a:ext cx="0" cy="355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44" name="Line 30">
            <a:extLst>
              <a:ext uri="{FF2B5EF4-FFF2-40B4-BE49-F238E27FC236}">
                <a16:creationId xmlns:a16="http://schemas.microsoft.com/office/drawing/2014/main" id="{C6B9B618-C13B-68A2-26EB-08DBF5E5EE0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03996" y="2703605"/>
            <a:ext cx="0" cy="3127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fr-FR" sz="1400">
              <a:latin typeface="Bookman Old Style" panose="02050604050505020204" pitchFamily="18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E9078F-E459-28D9-898A-C8C4DE1A9E48}"/>
              </a:ext>
            </a:extLst>
          </p:cNvPr>
          <p:cNvSpPr txBox="1"/>
          <p:nvPr/>
        </p:nvSpPr>
        <p:spPr>
          <a:xfrm>
            <a:off x="512654" y="4330281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latin typeface="Bookman Old Style" panose="02050604050505020204" pitchFamily="18" charset="0"/>
              </a:rPr>
              <a:t>Donc la matrice </a:t>
            </a:r>
            <a:r>
              <a:rPr lang="fr-FR" sz="1500" b="1" dirty="0">
                <a:latin typeface="Bookman Old Style" panose="02050604050505020204" pitchFamily="18" charset="0"/>
              </a:rPr>
              <a:t>d'impédance</a:t>
            </a:r>
            <a:r>
              <a:rPr lang="fr-FR" sz="1500" dirty="0">
                <a:latin typeface="Bookman Old Style" panose="02050604050505020204" pitchFamily="18" charset="0"/>
              </a:rPr>
              <a:t> est la suivante :</a:t>
            </a:r>
          </a:p>
        </p:txBody>
      </p:sp>
      <p:graphicFrame>
        <p:nvGraphicFramePr>
          <p:cNvPr id="48" name="Object 31">
            <a:extLst>
              <a:ext uri="{FF2B5EF4-FFF2-40B4-BE49-F238E27FC236}">
                <a16:creationId xmlns:a16="http://schemas.microsoft.com/office/drawing/2014/main" id="{3FF5A9BF-242B-DBE3-A08B-9761669966E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8811385"/>
              </p:ext>
            </p:extLst>
          </p:nvPr>
        </p:nvGraphicFramePr>
        <p:xfrm>
          <a:off x="5465115" y="4257454"/>
          <a:ext cx="1948897" cy="8493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965200" imgH="419100" progId="">
                  <p:embed/>
                </p:oleObj>
              </mc:Choice>
              <mc:Fallback>
                <p:oleObj r:id="rId3" imgW="965200" imgH="419100" progId="">
                  <p:embed/>
                  <p:pic>
                    <p:nvPicPr>
                      <p:cNvPr id="9220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65115" y="4257454"/>
                        <a:ext cx="1948897" cy="84938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" name="Object 3">
            <a:extLst>
              <a:ext uri="{FF2B5EF4-FFF2-40B4-BE49-F238E27FC236}">
                <a16:creationId xmlns:a16="http://schemas.microsoft.com/office/drawing/2014/main" id="{9E7F0473-AE4D-CDE8-9147-05FAFB7414C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7420979"/>
              </p:ext>
            </p:extLst>
          </p:nvPr>
        </p:nvGraphicFramePr>
        <p:xfrm>
          <a:off x="645560" y="1448011"/>
          <a:ext cx="2003423" cy="76615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1091726" imgH="418918" progId="">
                  <p:embed/>
                </p:oleObj>
              </mc:Choice>
              <mc:Fallback>
                <p:oleObj r:id="rId5" imgW="1091726" imgH="418918" progId="">
                  <p:embed/>
                  <p:pic>
                    <p:nvPicPr>
                      <p:cNvPr id="921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5560" y="1448011"/>
                        <a:ext cx="2003423" cy="766151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3FDC443-4319-0412-05F3-5EF81EFA9024}"/>
                  </a:ext>
                </a:extLst>
              </p:cNvPr>
              <p:cNvSpPr txBox="1"/>
              <p:nvPr/>
            </p:nvSpPr>
            <p:spPr>
              <a:xfrm>
                <a:off x="525156" y="2484208"/>
                <a:ext cx="1482009" cy="6942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2=0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3FDC443-4319-0412-05F3-5EF81EFA9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56" y="2484208"/>
                <a:ext cx="1482009" cy="694293"/>
              </a:xfrm>
              <a:prstGeom prst="rect">
                <a:avLst/>
              </a:prstGeom>
              <a:blipFill>
                <a:blip r:embed="rId7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7E2567C-B349-6F23-E030-1AEB6B06F2B8}"/>
                  </a:ext>
                </a:extLst>
              </p:cNvPr>
              <p:cNvSpPr txBox="1"/>
              <p:nvPr/>
            </p:nvSpPr>
            <p:spPr>
              <a:xfrm>
                <a:off x="2306319" y="2437707"/>
                <a:ext cx="1482009" cy="6942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1=0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7E2567C-B349-6F23-E030-1AEB6B06F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319" y="2437707"/>
                <a:ext cx="1482009" cy="694293"/>
              </a:xfrm>
              <a:prstGeom prst="rect">
                <a:avLst/>
              </a:prstGeom>
              <a:blipFill>
                <a:blip r:embed="rId8"/>
                <a:stretch>
                  <a:fillRect b="-8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9FDD4F-4746-4E7F-2AC3-2E40125EBB31}"/>
                  </a:ext>
                </a:extLst>
              </p:cNvPr>
              <p:cNvSpPr txBox="1"/>
              <p:nvPr/>
            </p:nvSpPr>
            <p:spPr>
              <a:xfrm>
                <a:off x="-171264" y="3311090"/>
                <a:ext cx="2924070" cy="7866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2=0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9FDD4F-4746-4E7F-2AC3-2E40125EB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1264" y="3311090"/>
                <a:ext cx="2924070" cy="78662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B19D114-789E-F8DB-9F2D-239D350A725A}"/>
                  </a:ext>
                </a:extLst>
              </p:cNvPr>
              <p:cNvSpPr txBox="1"/>
              <p:nvPr/>
            </p:nvSpPr>
            <p:spPr>
              <a:xfrm>
                <a:off x="1633617" y="3245767"/>
                <a:ext cx="2924070" cy="7866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1=0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B19D114-789E-F8DB-9F2D-239D350A7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17" y="3245767"/>
                <a:ext cx="2924070" cy="78662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73188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5749010" cy="5975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3. Modèles électriques associés à des matrices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3.2 Matrice hybride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" name="Group 5">
            <a:extLst>
              <a:ext uri="{FF2B5EF4-FFF2-40B4-BE49-F238E27FC236}">
                <a16:creationId xmlns:a16="http://schemas.microsoft.com/office/drawing/2014/main" id="{4017757C-5A09-DBF4-736D-9C6CC7E51286}"/>
              </a:ext>
            </a:extLst>
          </p:cNvPr>
          <p:cNvGrpSpPr>
            <a:grpSpLocks/>
          </p:cNvGrpSpPr>
          <p:nvPr/>
        </p:nvGrpSpPr>
        <p:grpSpPr bwMode="auto">
          <a:xfrm>
            <a:off x="4038600" y="1330620"/>
            <a:ext cx="5367338" cy="2036763"/>
            <a:chOff x="6604" y="13865"/>
            <a:chExt cx="4581" cy="1439"/>
          </a:xfrm>
        </p:grpSpPr>
        <p:sp>
          <p:nvSpPr>
            <p:cNvPr id="4" name="Text Box 6">
              <a:extLst>
                <a:ext uri="{FF2B5EF4-FFF2-40B4-BE49-F238E27FC236}">
                  <a16:creationId xmlns:a16="http://schemas.microsoft.com/office/drawing/2014/main" id="{C0BC3112-9F30-466C-0A74-B63EF3FE63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32" y="14639"/>
              <a:ext cx="561" cy="40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  <a:defRPr/>
              </a:pPr>
              <a:r>
                <a:rPr lang="fr-FR" sz="1400" b="1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h</a:t>
              </a:r>
              <a:r>
                <a:rPr lang="fr-FR" sz="1400" b="1" baseline="-25000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22</a:t>
              </a:r>
              <a:endParaRPr lang="fr-FR" sz="1400" b="1" dirty="0">
                <a:solidFill>
                  <a:srgbClr val="0000FF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" name="Text Box 7">
              <a:extLst>
                <a:ext uri="{FF2B5EF4-FFF2-40B4-BE49-F238E27FC236}">
                  <a16:creationId xmlns:a16="http://schemas.microsoft.com/office/drawing/2014/main" id="{B6A96B5F-A7BF-376A-C892-490E4DE8CB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50" y="13917"/>
              <a:ext cx="561" cy="40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  <a:defRPr/>
              </a:pPr>
              <a:r>
                <a:rPr lang="fr-FR" sz="1400" b="1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lang="fr-FR" sz="1400" b="1" baseline="-2500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lang="fr-FR" sz="1400" b="1">
                <a:solidFill>
                  <a:srgbClr val="0000FF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1" name="Line 8">
              <a:extLst>
                <a:ext uri="{FF2B5EF4-FFF2-40B4-BE49-F238E27FC236}">
                  <a16:creationId xmlns:a16="http://schemas.microsoft.com/office/drawing/2014/main" id="{117E5D84-65A6-0C7E-760E-32E5FD8106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53" y="14193"/>
              <a:ext cx="0" cy="111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12" name="Line 9">
              <a:extLst>
                <a:ext uri="{FF2B5EF4-FFF2-40B4-BE49-F238E27FC236}">
                  <a16:creationId xmlns:a16="http://schemas.microsoft.com/office/drawing/2014/main" id="{C151C1CD-A85F-B7A9-4F8A-A77D421068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336" y="14215"/>
              <a:ext cx="0" cy="1089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876DC0F5-96C8-D48B-5508-9FE2797E54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33" y="14665"/>
              <a:ext cx="629" cy="40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  <a:defRPr/>
              </a:pPr>
              <a:r>
                <a:rPr lang="fr-FR" sz="1400" b="1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h</a:t>
              </a:r>
              <a:r>
                <a:rPr lang="fr-FR" sz="1400" b="1" baseline="-25000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12</a:t>
              </a:r>
              <a:r>
                <a:rPr lang="fr-FR" sz="1400" b="1" dirty="0"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lang="fr-FR" sz="1400" b="1" baseline="-25000" dirty="0"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lang="fr-FR" sz="1400" b="1" dirty="0"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6" name="Text Box 11">
              <a:extLst>
                <a:ext uri="{FF2B5EF4-FFF2-40B4-BE49-F238E27FC236}">
                  <a16:creationId xmlns:a16="http://schemas.microsoft.com/office/drawing/2014/main" id="{E39B4C7E-D1BF-04F6-0E81-005C0DDB25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49" y="14613"/>
              <a:ext cx="814" cy="40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  <a:defRPr/>
              </a:pPr>
              <a:r>
                <a:rPr lang="fr-FR" sz="1400" b="1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h</a:t>
              </a:r>
              <a:r>
                <a:rPr lang="fr-FR" sz="1400" b="1" baseline="-25000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21</a:t>
              </a:r>
              <a:r>
                <a:rPr lang="fr-FR" sz="1400" b="1" dirty="0"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lang="fr-FR" sz="1400" b="1" baseline="-25000" dirty="0"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lang="fr-FR" sz="1400" b="1" dirty="0"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7" name="Text Box 12">
              <a:extLst>
                <a:ext uri="{FF2B5EF4-FFF2-40B4-BE49-F238E27FC236}">
                  <a16:creationId xmlns:a16="http://schemas.microsoft.com/office/drawing/2014/main" id="{AAAB7177-37C5-2049-73CD-CF98C378D7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39" y="13865"/>
              <a:ext cx="561" cy="40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  <a:defRPr/>
              </a:pPr>
              <a:r>
                <a:rPr lang="fr-FR" sz="1400" b="1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h</a:t>
              </a:r>
              <a:r>
                <a:rPr lang="fr-FR" sz="1400" b="1" baseline="-25000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11</a:t>
              </a:r>
              <a:endParaRPr lang="fr-FR" sz="1400" b="1" dirty="0">
                <a:solidFill>
                  <a:srgbClr val="0000FF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0" name="Text Box 13">
              <a:extLst>
                <a:ext uri="{FF2B5EF4-FFF2-40B4-BE49-F238E27FC236}">
                  <a16:creationId xmlns:a16="http://schemas.microsoft.com/office/drawing/2014/main" id="{02176734-FB9B-8599-E966-61DF52A88C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09" y="13944"/>
              <a:ext cx="561" cy="40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  <a:defRPr/>
              </a:pPr>
              <a:r>
                <a:rPr lang="fr-FR" sz="1400" b="1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lang="fr-FR" sz="1400" b="1" baseline="-25000" dirty="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lang="fr-FR" sz="1400" b="1" dirty="0">
                <a:solidFill>
                  <a:srgbClr val="0000FF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5" name="Text Box 14">
              <a:extLst>
                <a:ext uri="{FF2B5EF4-FFF2-40B4-BE49-F238E27FC236}">
                  <a16:creationId xmlns:a16="http://schemas.microsoft.com/office/drawing/2014/main" id="{0FE09CEC-635A-0087-725E-F5ED10C1D5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04" y="14639"/>
              <a:ext cx="561" cy="40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  <a:defRPr/>
              </a:pPr>
              <a:r>
                <a:rPr lang="fr-FR" sz="1400" b="1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lang="fr-FR" sz="1400" b="1" baseline="-2500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lang="fr-FR" sz="1400" b="1">
                <a:solidFill>
                  <a:srgbClr val="0000FF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2" name="Line 15">
              <a:extLst>
                <a:ext uri="{FF2B5EF4-FFF2-40B4-BE49-F238E27FC236}">
                  <a16:creationId xmlns:a16="http://schemas.microsoft.com/office/drawing/2014/main" id="{76853D5B-D224-8FA3-85A3-B4E663A021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50" y="14216"/>
              <a:ext cx="1386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55" name="Line 16">
              <a:extLst>
                <a:ext uri="{FF2B5EF4-FFF2-40B4-BE49-F238E27FC236}">
                  <a16:creationId xmlns:a16="http://schemas.microsoft.com/office/drawing/2014/main" id="{7F3DC918-6A2F-01D1-9AD8-C06872E5F3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17" y="15303"/>
              <a:ext cx="3597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56" name="Line 17">
              <a:extLst>
                <a:ext uri="{FF2B5EF4-FFF2-40B4-BE49-F238E27FC236}">
                  <a16:creationId xmlns:a16="http://schemas.microsoft.com/office/drawing/2014/main" id="{972E2BAD-8ABE-24DF-CE42-D62024CB52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095" y="14204"/>
              <a:ext cx="1430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57" name="Line 18">
              <a:extLst>
                <a:ext uri="{FF2B5EF4-FFF2-40B4-BE49-F238E27FC236}">
                  <a16:creationId xmlns:a16="http://schemas.microsoft.com/office/drawing/2014/main" id="{336BEB9A-5404-332B-C0BA-C2BD3750F9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095" y="14204"/>
              <a:ext cx="0" cy="110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58" name="Oval 19">
              <a:extLst>
                <a:ext uri="{FF2B5EF4-FFF2-40B4-BE49-F238E27FC236}">
                  <a16:creationId xmlns:a16="http://schemas.microsoft.com/office/drawing/2014/main" id="{824CC377-DF9D-1D73-AA53-5519DC7105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00" y="14600"/>
              <a:ext cx="472" cy="375"/>
            </a:xfrm>
            <a:prstGeom prst="ellipse">
              <a:avLst/>
            </a:prstGeom>
            <a:solidFill>
              <a:srgbClr val="00FFFF"/>
            </a:solidFill>
            <a:ln>
              <a:solidFill>
                <a:schemeClr val="tx1"/>
              </a:solidFill>
              <a:headEnd/>
              <a:tailEnd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59" name="Oval 20">
              <a:extLst>
                <a:ext uri="{FF2B5EF4-FFF2-40B4-BE49-F238E27FC236}">
                  <a16:creationId xmlns:a16="http://schemas.microsoft.com/office/drawing/2014/main" id="{CB39F573-DAAC-0D76-8042-4FE80B992F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86" y="14600"/>
              <a:ext cx="408" cy="375"/>
            </a:xfrm>
            <a:prstGeom prst="ellipse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0" name="Rectangle 21">
              <a:extLst>
                <a:ext uri="{FF2B5EF4-FFF2-40B4-BE49-F238E27FC236}">
                  <a16:creationId xmlns:a16="http://schemas.microsoft.com/office/drawing/2014/main" id="{DC91EF50-72ED-95CF-B328-7AB031C599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79" y="14144"/>
              <a:ext cx="627" cy="154"/>
            </a:xfrm>
            <a:prstGeom prst="rect">
              <a:avLst/>
            </a:prstGeom>
            <a:solidFill>
              <a:srgbClr val="00FF00"/>
            </a:solidFill>
            <a:ln>
              <a:headEnd/>
              <a:tailEnd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1" name="Rectangle 22">
              <a:extLst>
                <a:ext uri="{FF2B5EF4-FFF2-40B4-BE49-F238E27FC236}">
                  <a16:creationId xmlns:a16="http://schemas.microsoft.com/office/drawing/2014/main" id="{C61E141C-47A3-7053-9DE3-53892DECF72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9640" y="14650"/>
              <a:ext cx="627" cy="154"/>
            </a:xfrm>
            <a:prstGeom prst="rect">
              <a:avLst/>
            </a:prstGeom>
            <a:solidFill>
              <a:srgbClr val="00FF00"/>
            </a:solidFill>
            <a:ln>
              <a:headEnd/>
              <a:tailEnd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2" name="Line 23">
              <a:extLst>
                <a:ext uri="{FF2B5EF4-FFF2-40B4-BE49-F238E27FC236}">
                  <a16:creationId xmlns:a16="http://schemas.microsoft.com/office/drawing/2014/main" id="{B585CC62-B8DA-518B-F744-92A2987D90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28" y="14304"/>
              <a:ext cx="0" cy="891"/>
            </a:xfrm>
            <a:prstGeom prst="line">
              <a:avLst/>
            </a:prstGeom>
            <a:ln>
              <a:headEnd/>
              <a:tailEnd type="triangle" w="med" len="med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3" name="Line 24">
              <a:extLst>
                <a:ext uri="{FF2B5EF4-FFF2-40B4-BE49-F238E27FC236}">
                  <a16:creationId xmlns:a16="http://schemas.microsoft.com/office/drawing/2014/main" id="{AAD9EA0E-EA23-3682-BEDB-B8A52E5680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36" y="14216"/>
              <a:ext cx="99" cy="0"/>
            </a:xfrm>
            <a:prstGeom prst="line">
              <a:avLst/>
            </a:prstGeom>
            <a:ln>
              <a:headEnd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4" name="Line 25">
              <a:extLst>
                <a:ext uri="{FF2B5EF4-FFF2-40B4-BE49-F238E27FC236}">
                  <a16:creationId xmlns:a16="http://schemas.microsoft.com/office/drawing/2014/main" id="{F6BFDEC4-122E-079F-5DDB-40071D6D67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0316" y="14203"/>
              <a:ext cx="110" cy="0"/>
            </a:xfrm>
            <a:prstGeom prst="line">
              <a:avLst/>
            </a:prstGeom>
            <a:ln>
              <a:headEnd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5" name="Line 26">
              <a:extLst>
                <a:ext uri="{FF2B5EF4-FFF2-40B4-BE49-F238E27FC236}">
                  <a16:creationId xmlns:a16="http://schemas.microsoft.com/office/drawing/2014/main" id="{98685A06-D59B-95CB-8A35-FF6A09F3F2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336" y="14644"/>
              <a:ext cx="0" cy="27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6" name="Oval 27">
              <a:extLst>
                <a:ext uri="{FF2B5EF4-FFF2-40B4-BE49-F238E27FC236}">
                  <a16:creationId xmlns:a16="http://schemas.microsoft.com/office/drawing/2014/main" id="{DCCE6294-C665-1F07-34BD-BC3E9675B0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86" y="14424"/>
              <a:ext cx="408" cy="375"/>
            </a:xfrm>
            <a:prstGeom prst="ellipse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7" name="Line 28">
              <a:extLst>
                <a:ext uri="{FF2B5EF4-FFF2-40B4-BE49-F238E27FC236}">
                  <a16:creationId xmlns:a16="http://schemas.microsoft.com/office/drawing/2014/main" id="{3921EE04-E6FD-629C-D074-7541E6636F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084" y="14512"/>
              <a:ext cx="0" cy="36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fr-FR" sz="1400">
                <a:latin typeface="Bookman Old Style" panose="02050604050505020204" pitchFamily="18" charset="0"/>
              </a:endParaRPr>
            </a:p>
          </p:txBody>
        </p:sp>
        <p:sp>
          <p:nvSpPr>
            <p:cNvPr id="68" name="Text Box 29">
              <a:extLst>
                <a:ext uri="{FF2B5EF4-FFF2-40B4-BE49-F238E27FC236}">
                  <a16:creationId xmlns:a16="http://schemas.microsoft.com/office/drawing/2014/main" id="{7F93C599-5A5F-43CE-6844-D034A988EF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624" y="14633"/>
              <a:ext cx="561" cy="40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FFFFFF"/>
              </a:solidFill>
              <a:miter lim="800000"/>
              <a:headEnd/>
              <a:tailEnd/>
            </a:ln>
          </p:spPr>
          <p:txBody>
            <a:bodyPr/>
            <a:lstStyle/>
            <a:p>
              <a:pPr>
                <a:spcAft>
                  <a:spcPts val="1000"/>
                </a:spcAft>
                <a:defRPr/>
              </a:pPr>
              <a:r>
                <a:rPr lang="fr-FR" sz="1400" b="1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lang="fr-FR" sz="1400" b="1" baseline="-25000">
                  <a:solidFill>
                    <a:srgbClr val="0000FF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lang="fr-FR" sz="1400" b="1">
                <a:solidFill>
                  <a:srgbClr val="0000FF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9" name="Line 30">
              <a:extLst>
                <a:ext uri="{FF2B5EF4-FFF2-40B4-BE49-F238E27FC236}">
                  <a16:creationId xmlns:a16="http://schemas.microsoft.com/office/drawing/2014/main" id="{76DE764C-C8D0-19F1-27FC-014F69119E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558" y="14282"/>
              <a:ext cx="0" cy="902"/>
            </a:xfrm>
            <a:prstGeom prst="line">
              <a:avLst/>
            </a:prstGeom>
            <a:ln>
              <a:headEnd/>
              <a:tailEnd type="triangle" w="med" len="med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0">
                <a:latin typeface="Bookman Old Style" panose="02050604050505020204" pitchFamily="18" charset="0"/>
              </a:endParaRPr>
            </a:p>
          </p:txBody>
        </p:sp>
      </p:grpSp>
      <p:graphicFrame>
        <p:nvGraphicFramePr>
          <p:cNvPr id="70" name="Object 3">
            <a:extLst>
              <a:ext uri="{FF2B5EF4-FFF2-40B4-BE49-F238E27FC236}">
                <a16:creationId xmlns:a16="http://schemas.microsoft.com/office/drawing/2014/main" id="{DCB688DE-A0AA-1AF3-E111-7FC5B3EC975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7419899"/>
              </p:ext>
            </p:extLst>
          </p:nvPr>
        </p:nvGraphicFramePr>
        <p:xfrm>
          <a:off x="556724" y="1353406"/>
          <a:ext cx="2117725" cy="803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104900" imgH="419100" progId="">
                  <p:embed/>
                </p:oleObj>
              </mc:Choice>
              <mc:Fallback>
                <p:oleObj r:id="rId3" imgW="1104900" imgH="419100" progId="">
                  <p:embed/>
                  <p:pic>
                    <p:nvPicPr>
                      <p:cNvPr id="1024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724" y="1353406"/>
                        <a:ext cx="2117725" cy="803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2B2618FB-621E-771F-5C76-6DA0FDA0740D}"/>
              </a:ext>
            </a:extLst>
          </p:cNvPr>
          <p:cNvSpPr txBox="1"/>
          <p:nvPr/>
        </p:nvSpPr>
        <p:spPr>
          <a:xfrm>
            <a:off x="272321" y="4197198"/>
            <a:ext cx="52971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Bookman Old Style" panose="02050604050505020204" pitchFamily="18" charset="0"/>
              </a:rPr>
              <a:t>Donc la matrice </a:t>
            </a:r>
            <a:r>
              <a:rPr lang="fr-FR" sz="1400" b="1" dirty="0">
                <a:latin typeface="Bookman Old Style" panose="02050604050505020204" pitchFamily="18" charset="0"/>
              </a:rPr>
              <a:t>hybride</a:t>
            </a:r>
            <a:r>
              <a:rPr lang="fr-FR" sz="1400" dirty="0">
                <a:latin typeface="Bookman Old Style" panose="02050604050505020204" pitchFamily="18" charset="0"/>
              </a:rPr>
              <a:t> est la suivante :</a:t>
            </a:r>
          </a:p>
        </p:txBody>
      </p:sp>
      <p:graphicFrame>
        <p:nvGraphicFramePr>
          <p:cNvPr id="73" name="Object 31">
            <a:extLst>
              <a:ext uri="{FF2B5EF4-FFF2-40B4-BE49-F238E27FC236}">
                <a16:creationId xmlns:a16="http://schemas.microsoft.com/office/drawing/2014/main" id="{A9B0C243-3CA4-6F65-B0DA-802DB96140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18269300"/>
              </p:ext>
            </p:extLst>
          </p:nvPr>
        </p:nvGraphicFramePr>
        <p:xfrm>
          <a:off x="4712808" y="4249925"/>
          <a:ext cx="2044700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990600" imgH="419100" progId="">
                  <p:embed/>
                </p:oleObj>
              </mc:Choice>
              <mc:Fallback>
                <p:oleObj r:id="rId5" imgW="990600" imgH="419100" progId="">
                  <p:embed/>
                  <p:pic>
                    <p:nvPicPr>
                      <p:cNvPr id="10244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2808" y="4249925"/>
                        <a:ext cx="2044700" cy="7921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3DA9F741-278D-91D4-1155-F4880A1D72D7}"/>
                  </a:ext>
                </a:extLst>
              </p:cNvPr>
              <p:cNvSpPr txBox="1"/>
              <p:nvPr/>
            </p:nvSpPr>
            <p:spPr>
              <a:xfrm>
                <a:off x="350418" y="2413493"/>
                <a:ext cx="1531380" cy="6942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2=0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3DA9F741-278D-91D4-1155-F4880A1D7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418" y="2413493"/>
                <a:ext cx="1531380" cy="694293"/>
              </a:xfrm>
              <a:prstGeom prst="rect">
                <a:avLst/>
              </a:prstGeom>
              <a:blipFill>
                <a:blip r:embed="rId7"/>
                <a:stretch>
                  <a:fillRect b="-8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BF9C720-8DB6-ABF0-F1A7-05ACAEB6A9A8}"/>
                  </a:ext>
                </a:extLst>
              </p:cNvPr>
              <p:cNvSpPr txBox="1"/>
              <p:nvPr/>
            </p:nvSpPr>
            <p:spPr>
              <a:xfrm>
                <a:off x="2131581" y="2366992"/>
                <a:ext cx="1509003" cy="6942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1=0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BF9C720-8DB6-ABF0-F1A7-05ACAEB6A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1581" y="2366992"/>
                <a:ext cx="1509003" cy="694293"/>
              </a:xfrm>
              <a:prstGeom prst="rect">
                <a:avLst/>
              </a:prstGeom>
              <a:blipFill>
                <a:blip r:embed="rId8"/>
                <a:stretch>
                  <a:fillRect b="-8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E8B3AE9-0D53-31BF-8DA4-E2E5B9122D25}"/>
                  </a:ext>
                </a:extLst>
              </p:cNvPr>
              <p:cNvSpPr txBox="1"/>
              <p:nvPr/>
            </p:nvSpPr>
            <p:spPr>
              <a:xfrm>
                <a:off x="-346002" y="3240375"/>
                <a:ext cx="2924070" cy="7866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2=0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E8B3AE9-0D53-31BF-8DA4-E2E5B9122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46002" y="3240375"/>
                <a:ext cx="2924070" cy="78662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61A943CF-A921-24B4-2B88-BA3AE889BC8E}"/>
                  </a:ext>
                </a:extLst>
              </p:cNvPr>
              <p:cNvSpPr txBox="1"/>
              <p:nvPr/>
            </p:nvSpPr>
            <p:spPr>
              <a:xfrm>
                <a:off x="1458879" y="3175052"/>
                <a:ext cx="2924070" cy="7866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1=0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61A943CF-A921-24B4-2B88-BA3AE889B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879" y="3175052"/>
                <a:ext cx="2924070" cy="78662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ZoneTexte 33">
            <a:extLst>
              <a:ext uri="{FF2B5EF4-FFF2-40B4-BE49-F238E27FC236}">
                <a16:creationId xmlns:a16="http://schemas.microsoft.com/office/drawing/2014/main" id="{8BFF29DD-1380-DBE6-22B5-71EBAC048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5947" y="3460166"/>
            <a:ext cx="301396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fr-FR" sz="1400" b="1" dirty="0">
                <a:latin typeface="Bookman Old Style" panose="02050604050505020204" pitchFamily="18" charset="0"/>
              </a:rPr>
              <a:t>Schéma électrique équivalent</a:t>
            </a:r>
          </a:p>
        </p:txBody>
      </p:sp>
    </p:spTree>
    <p:extLst>
      <p:ext uri="{BB962C8B-B14F-4D97-AF65-F5344CB8AC3E}">
        <p14:creationId xmlns:p14="http://schemas.microsoft.com/office/powerpoint/2010/main" val="6517558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57490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3. Modèles électriques associés à des matrices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A56910F-CDB3-0B3B-E69A-EAEC0B46CB66}"/>
              </a:ext>
            </a:extLst>
          </p:cNvPr>
          <p:cNvSpPr txBox="1"/>
          <p:nvPr/>
        </p:nvSpPr>
        <p:spPr>
          <a:xfrm>
            <a:off x="341873" y="1125072"/>
            <a:ext cx="6934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u="sng" dirty="0">
                <a:latin typeface="Bookman Old Style" panose="02050604050505020204" pitchFamily="18" charset="0"/>
              </a:rPr>
              <a:t>Exemple</a:t>
            </a:r>
            <a:r>
              <a:rPr lang="fr-FR" sz="1800" b="1" dirty="0">
                <a:latin typeface="Bookman Old Style" panose="02050604050505020204" pitchFamily="18" charset="0"/>
              </a:rPr>
              <a:t>: </a:t>
            </a:r>
            <a:r>
              <a:rPr lang="fr-FR" sz="18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</a:rPr>
              <a:t>Circuit</a:t>
            </a:r>
            <a:r>
              <a:rPr lang="fr-FR" sz="1800" b="1" dirty="0">
                <a:latin typeface="Bookman Old Style" panose="02050604050505020204" pitchFamily="18" charset="0"/>
              </a:rPr>
              <a:t>  </a:t>
            </a:r>
            <a:r>
              <a:rPr lang="fr-FR" sz="18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 pitchFamily="18" charset="0"/>
              </a:rPr>
              <a:t>RC</a:t>
            </a:r>
            <a:r>
              <a:rPr lang="fr-FR" sz="1800" b="1" dirty="0">
                <a:latin typeface="Bookman Old Style" panose="02050604050505020204" pitchFamily="18" charset="0"/>
              </a:rPr>
              <a:t>  (</a:t>
            </a:r>
            <a:r>
              <a:rPr lang="fr-FR" sz="18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 passif</a:t>
            </a:r>
            <a:r>
              <a:rPr lang="fr-FR" sz="1800" b="1" dirty="0">
                <a:latin typeface="Bookman Old Style" panose="02050604050505020204" pitchFamily="18" charset="0"/>
              </a:rPr>
              <a:t>)</a:t>
            </a:r>
            <a:endParaRPr lang="fr-FR" dirty="0">
              <a:latin typeface="Bookman Old Style" panose="02050604050505020204" pitchFamily="18" charset="0"/>
            </a:endParaRPr>
          </a:p>
        </p:txBody>
      </p:sp>
      <p:sp>
        <p:nvSpPr>
          <p:cNvPr id="41" name="Text Box 3">
            <a:extLst>
              <a:ext uri="{FF2B5EF4-FFF2-40B4-BE49-F238E27FC236}">
                <a16:creationId xmlns:a16="http://schemas.microsoft.com/office/drawing/2014/main" id="{69E6D47D-A894-00CD-F1FB-CA2AD061CD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3837" y="3019110"/>
            <a:ext cx="646113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v</a:t>
            </a:r>
            <a:r>
              <a:rPr lang="fr-FR" sz="2400" b="1" baseline="-25000">
                <a:latin typeface="Bookman Old Style" panose="02050604050505020204" pitchFamily="18" charset="0"/>
              </a:rPr>
              <a:t>1</a:t>
            </a:r>
            <a:endParaRPr lang="fr-FR" sz="2400" b="1">
              <a:latin typeface="Bookman Old Style" panose="02050604050505020204" pitchFamily="18" charset="0"/>
            </a:endParaRP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FC9919E-6B7E-07EB-7D67-082776A308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1037" y="1693548"/>
            <a:ext cx="549275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i</a:t>
            </a:r>
            <a:r>
              <a:rPr lang="fr-FR" sz="2400" b="1" baseline="-25000">
                <a:latin typeface="Bookman Old Style" panose="02050604050505020204" pitchFamily="18" charset="0"/>
              </a:rPr>
              <a:t>1</a:t>
            </a:r>
            <a:endParaRPr lang="fr-FR" sz="2400" b="1">
              <a:latin typeface="Bookman Old Style" panose="02050604050505020204" pitchFamily="18" charset="0"/>
            </a:endParaRPr>
          </a:p>
        </p:txBody>
      </p:sp>
      <p:sp>
        <p:nvSpPr>
          <p:cNvPr id="43" name="Rectangle 4">
            <a:extLst>
              <a:ext uri="{FF2B5EF4-FFF2-40B4-BE49-F238E27FC236}">
                <a16:creationId xmlns:a16="http://schemas.microsoft.com/office/drawing/2014/main" id="{AA5F7B57-3760-F504-DB32-CEC3958288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2700" y="1961835"/>
            <a:ext cx="2566987" cy="2798763"/>
          </a:xfrm>
          <a:prstGeom prst="rect">
            <a:avLst/>
          </a:prstGeom>
          <a:ln>
            <a:prstDash val="sysDash"/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4" name="Line 5">
            <a:extLst>
              <a:ext uri="{FF2B5EF4-FFF2-40B4-BE49-F238E27FC236}">
                <a16:creationId xmlns:a16="http://schemas.microsoft.com/office/drawing/2014/main" id="{AE71AFA9-F8B4-D810-6FB2-384B333D80C5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2387285"/>
            <a:ext cx="3459162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7" name="Line 6">
            <a:extLst>
              <a:ext uri="{FF2B5EF4-FFF2-40B4-BE49-F238E27FC236}">
                <a16:creationId xmlns:a16="http://schemas.microsoft.com/office/drawing/2014/main" id="{FAFABD61-56C5-7B55-FC0E-F17CB3A2CB60}"/>
              </a:ext>
            </a:extLst>
          </p:cNvPr>
          <p:cNvSpPr>
            <a:spLocks noChangeShapeType="1"/>
          </p:cNvSpPr>
          <p:nvPr/>
        </p:nvSpPr>
        <p:spPr bwMode="auto">
          <a:xfrm>
            <a:off x="7178675" y="2395223"/>
            <a:ext cx="0" cy="871537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8" name="Line 7">
            <a:extLst>
              <a:ext uri="{FF2B5EF4-FFF2-40B4-BE49-F238E27FC236}">
                <a16:creationId xmlns:a16="http://schemas.microsoft.com/office/drawing/2014/main" id="{F94D3C14-5575-2A84-025E-5DB5A2E045E6}"/>
              </a:ext>
            </a:extLst>
          </p:cNvPr>
          <p:cNvSpPr>
            <a:spLocks noChangeShapeType="1"/>
          </p:cNvSpPr>
          <p:nvPr/>
        </p:nvSpPr>
        <p:spPr bwMode="auto">
          <a:xfrm>
            <a:off x="7178675" y="3515998"/>
            <a:ext cx="0" cy="83026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49" name="Line 8">
            <a:extLst>
              <a:ext uri="{FF2B5EF4-FFF2-40B4-BE49-F238E27FC236}">
                <a16:creationId xmlns:a16="http://schemas.microsoft.com/office/drawing/2014/main" id="{B1C6530F-7072-EE8A-9FC6-52D170280FB2}"/>
              </a:ext>
            </a:extLst>
          </p:cNvPr>
          <p:cNvSpPr>
            <a:spLocks noChangeShapeType="1"/>
          </p:cNvSpPr>
          <p:nvPr/>
        </p:nvSpPr>
        <p:spPr bwMode="auto">
          <a:xfrm>
            <a:off x="4518025" y="4358960"/>
            <a:ext cx="3513137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50" name="Line 9">
            <a:extLst>
              <a:ext uri="{FF2B5EF4-FFF2-40B4-BE49-F238E27FC236}">
                <a16:creationId xmlns:a16="http://schemas.microsoft.com/office/drawing/2014/main" id="{317C724A-B09A-C7B2-52E3-E11C7AD9E59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03737" y="2706373"/>
            <a:ext cx="0" cy="1328737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51" name="Line 10">
            <a:extLst>
              <a:ext uri="{FF2B5EF4-FFF2-40B4-BE49-F238E27FC236}">
                <a16:creationId xmlns:a16="http://schemas.microsoft.com/office/drawing/2014/main" id="{94FE071E-72B1-8C97-EC72-52E8DE09B53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84712" y="2387285"/>
            <a:ext cx="206375" cy="0"/>
          </a:xfrm>
          <a:prstGeom prst="line">
            <a:avLst/>
          </a:prstGeom>
          <a:ln>
            <a:solidFill>
              <a:srgbClr val="FF0000"/>
            </a:solidFill>
            <a:headEnd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53" name="Text Box 11">
            <a:extLst>
              <a:ext uri="{FF2B5EF4-FFF2-40B4-BE49-F238E27FC236}">
                <a16:creationId xmlns:a16="http://schemas.microsoft.com/office/drawing/2014/main" id="{7BA7B1CE-165A-477C-841C-11FD1F933A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3912" y="2541273"/>
            <a:ext cx="549275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R</a:t>
            </a:r>
          </a:p>
        </p:txBody>
      </p:sp>
      <p:sp>
        <p:nvSpPr>
          <p:cNvPr id="54" name="Rectangle 12">
            <a:extLst>
              <a:ext uri="{FF2B5EF4-FFF2-40B4-BE49-F238E27FC236}">
                <a16:creationId xmlns:a16="http://schemas.microsoft.com/office/drawing/2014/main" id="{8BAE08CD-497D-813E-B104-5521B2D7D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8812" y="2211073"/>
            <a:ext cx="919163" cy="354012"/>
          </a:xfrm>
          <a:prstGeom prst="rect">
            <a:avLst/>
          </a:prstGeom>
          <a:solidFill>
            <a:srgbClr val="00FF00"/>
          </a:solidFill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71" name="Text Box 13">
            <a:extLst>
              <a:ext uri="{FF2B5EF4-FFF2-40B4-BE49-F238E27FC236}">
                <a16:creationId xmlns:a16="http://schemas.microsoft.com/office/drawing/2014/main" id="{B57E0C0F-279B-56CE-2F69-625EB7A06B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2875" y="3082610"/>
            <a:ext cx="549275" cy="76358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C</a:t>
            </a:r>
          </a:p>
        </p:txBody>
      </p:sp>
      <p:sp>
        <p:nvSpPr>
          <p:cNvPr id="79" name="Line 14">
            <a:extLst>
              <a:ext uri="{FF2B5EF4-FFF2-40B4-BE49-F238E27FC236}">
                <a16:creationId xmlns:a16="http://schemas.microsoft.com/office/drawing/2014/main" id="{9B7F827D-948E-71C7-5F09-102CBC86065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2612" y="3496948"/>
            <a:ext cx="481013" cy="0"/>
          </a:xfrm>
          <a:prstGeom prst="line">
            <a:avLst/>
          </a:prstGeom>
          <a:noFill/>
          <a:ln w="762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80" name="Line 15">
            <a:extLst>
              <a:ext uri="{FF2B5EF4-FFF2-40B4-BE49-F238E27FC236}">
                <a16:creationId xmlns:a16="http://schemas.microsoft.com/office/drawing/2014/main" id="{3F3B8365-579F-9644-C50A-D9FC3AEE5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2612" y="3266760"/>
            <a:ext cx="481013" cy="0"/>
          </a:xfrm>
          <a:prstGeom prst="line">
            <a:avLst/>
          </a:prstGeom>
          <a:noFill/>
          <a:ln w="76200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81" name="Text Box 3">
            <a:extLst>
              <a:ext uri="{FF2B5EF4-FFF2-40B4-BE49-F238E27FC236}">
                <a16:creationId xmlns:a16="http://schemas.microsoft.com/office/drawing/2014/main" id="{B62B57E9-CCFC-948F-1A70-636C98E18C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6262" y="3019110"/>
            <a:ext cx="646113" cy="7683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/>
          <a:p>
            <a:pPr>
              <a:spcAft>
                <a:spcPts val="1000"/>
              </a:spcAft>
            </a:pPr>
            <a:r>
              <a:rPr lang="fr-FR" sz="2400" b="1">
                <a:latin typeface="Bookman Old Style" panose="02050604050505020204" pitchFamily="18" charset="0"/>
              </a:rPr>
              <a:t>v</a:t>
            </a:r>
            <a:r>
              <a:rPr lang="fr-FR" sz="2400" b="1" baseline="-25000">
                <a:latin typeface="Bookman Old Style" panose="02050604050505020204" pitchFamily="18" charset="0"/>
              </a:rPr>
              <a:t>2</a:t>
            </a:r>
            <a:endParaRPr lang="fr-FR" sz="2400" b="1">
              <a:latin typeface="Bookman Old Style" panose="02050604050505020204" pitchFamily="18" charset="0"/>
            </a:endParaRPr>
          </a:p>
        </p:txBody>
      </p:sp>
      <p:sp>
        <p:nvSpPr>
          <p:cNvPr id="82" name="Line 9">
            <a:extLst>
              <a:ext uri="{FF2B5EF4-FFF2-40B4-BE49-F238E27FC236}">
                <a16:creationId xmlns:a16="http://schemas.microsoft.com/office/drawing/2014/main" id="{8E74042D-B9E6-B1F1-398C-CFA0DE369AE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86725" y="2655573"/>
            <a:ext cx="0" cy="1328737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83" name="Line 10">
            <a:extLst>
              <a:ext uri="{FF2B5EF4-FFF2-40B4-BE49-F238E27FC236}">
                <a16:creationId xmlns:a16="http://schemas.microsoft.com/office/drawing/2014/main" id="{6A2FCF10-A9C4-F758-5120-7473DEA00F4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58112" y="2399985"/>
            <a:ext cx="206375" cy="0"/>
          </a:xfrm>
          <a:prstGeom prst="line">
            <a:avLst/>
          </a:prstGeom>
          <a:ln>
            <a:solidFill>
              <a:srgbClr val="FF0000"/>
            </a:solidFill>
            <a:headEnd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fr-FR" b="1">
              <a:latin typeface="Bookman Old Style" panose="02050604050505020204" pitchFamily="18" charset="0"/>
            </a:endParaRPr>
          </a:p>
        </p:txBody>
      </p:sp>
      <p:sp>
        <p:nvSpPr>
          <p:cNvPr id="84" name="ZoneTexte 23">
            <a:extLst>
              <a:ext uri="{FF2B5EF4-FFF2-40B4-BE49-F238E27FC236}">
                <a16:creationId xmlns:a16="http://schemas.microsoft.com/office/drawing/2014/main" id="{E37A2D71-C15C-B2FF-9F5B-F2DB61B2B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350" y="1691961"/>
            <a:ext cx="389885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fr-FR" sz="1400" dirty="0">
                <a:latin typeface="Bookman Old Style" panose="02050604050505020204" pitchFamily="18" charset="0"/>
              </a:rPr>
              <a:t>La sortie du quadripôle est ouverte    </a:t>
            </a:r>
          </a:p>
          <a:p>
            <a:r>
              <a:rPr lang="fr-FR" sz="1400" dirty="0">
                <a:latin typeface="Bookman Old Style" panose="02050604050505020204" pitchFamily="18" charset="0"/>
              </a:rPr>
              <a:t>(</a:t>
            </a:r>
            <a:r>
              <a:rPr lang="fr-FR" sz="1400" b="1" dirty="0">
                <a:solidFill>
                  <a:srgbClr val="C00000"/>
                </a:solidFill>
                <a:latin typeface="Bookman Old Style" panose="02050604050505020204" pitchFamily="18" charset="0"/>
              </a:rPr>
              <a:t>Z</a:t>
            </a:r>
            <a:r>
              <a:rPr lang="fr-FR" sz="1400" b="1" baseline="-25000" dirty="0">
                <a:solidFill>
                  <a:srgbClr val="C00000"/>
                </a:solidFill>
                <a:latin typeface="Bookman Old Style" panose="02050604050505020204" pitchFamily="18" charset="0"/>
              </a:rPr>
              <a:t>L</a:t>
            </a:r>
            <a:r>
              <a:rPr lang="fr-FR" sz="1400" b="1" dirty="0">
                <a:solidFill>
                  <a:srgbClr val="C00000"/>
                </a:solidFill>
                <a:latin typeface="Bookman Old Style" panose="02050604050505020204" pitchFamily="18" charset="0"/>
              </a:rPr>
              <a:t> = +</a:t>
            </a:r>
            <a:r>
              <a:rPr lang="fr-FR" sz="1400" b="1" dirty="0">
                <a:solidFill>
                  <a:srgbClr val="C00000"/>
                </a:solidFill>
                <a:latin typeface="Bookman Old Style" panose="02050604050505020204" pitchFamily="18" charset="0"/>
                <a:sym typeface="Symbol" pitchFamily="18" charset="2"/>
              </a:rPr>
              <a:t></a:t>
            </a:r>
            <a:r>
              <a:rPr lang="fr-FR" sz="1400" dirty="0">
                <a:latin typeface="Bookman Old Style" panose="020506040505050202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29644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57490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3. Modèles électriques associés à des matrices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A56910F-CDB3-0B3B-E69A-EAEC0B46CB66}"/>
              </a:ext>
            </a:extLst>
          </p:cNvPr>
          <p:cNvSpPr txBox="1"/>
          <p:nvPr/>
        </p:nvSpPr>
        <p:spPr>
          <a:xfrm>
            <a:off x="341873" y="1125072"/>
            <a:ext cx="6934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u="sng" dirty="0">
                <a:latin typeface="Bookman Old Style" panose="02050604050505020204" pitchFamily="18" charset="0"/>
              </a:rPr>
              <a:t>Exemple</a:t>
            </a:r>
            <a:r>
              <a:rPr lang="fr-FR" sz="1800" b="1" dirty="0">
                <a:latin typeface="Bookman Old Style" panose="02050604050505020204" pitchFamily="18" charset="0"/>
              </a:rPr>
              <a:t>: </a:t>
            </a:r>
            <a:r>
              <a:rPr lang="fr-FR" sz="18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</a:rPr>
              <a:t>Circuit</a:t>
            </a:r>
            <a:r>
              <a:rPr lang="fr-FR" sz="1800" b="1" dirty="0">
                <a:latin typeface="Bookman Old Style" panose="02050604050505020204" pitchFamily="18" charset="0"/>
              </a:rPr>
              <a:t>  </a:t>
            </a:r>
            <a:r>
              <a:rPr lang="fr-FR" sz="18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 pitchFamily="18" charset="0"/>
              </a:rPr>
              <a:t>RC</a:t>
            </a:r>
            <a:r>
              <a:rPr lang="fr-FR" sz="1800" b="1" dirty="0">
                <a:latin typeface="Bookman Old Style" panose="02050604050505020204" pitchFamily="18" charset="0"/>
              </a:rPr>
              <a:t>  (</a:t>
            </a:r>
            <a:r>
              <a:rPr lang="fr-FR" sz="18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 passif</a:t>
            </a:r>
            <a:r>
              <a:rPr lang="fr-FR" sz="1800" b="1" dirty="0">
                <a:latin typeface="Bookman Old Style" panose="02050604050505020204" pitchFamily="18" charset="0"/>
              </a:rPr>
              <a:t>)</a:t>
            </a:r>
            <a:endParaRPr lang="fr-FR" dirty="0">
              <a:latin typeface="Bookman Old Style" panose="02050604050505020204" pitchFamily="18" charset="0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7A8BF959-3A5B-1A1D-4604-7178B07C89CC}"/>
              </a:ext>
            </a:extLst>
          </p:cNvPr>
          <p:cNvSpPr/>
          <p:nvPr/>
        </p:nvSpPr>
        <p:spPr>
          <a:xfrm>
            <a:off x="336980" y="2050789"/>
            <a:ext cx="506832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b="1" dirty="0">
                <a:latin typeface="Bookman Old Style" panose="02050604050505020204" pitchFamily="18" charset="0"/>
              </a:rPr>
              <a:t>Impédance d'entrée à sortie ouverte du Quadripôle:</a:t>
            </a:r>
          </a:p>
        </p:txBody>
      </p:sp>
      <p:graphicFrame>
        <p:nvGraphicFramePr>
          <p:cNvPr id="86" name="Object 12">
            <a:extLst>
              <a:ext uri="{FF2B5EF4-FFF2-40B4-BE49-F238E27FC236}">
                <a16:creationId xmlns:a16="http://schemas.microsoft.com/office/drawing/2014/main" id="{53659DC5-54A0-3D7D-7E1F-0C2B08C0748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9733162"/>
              </p:ext>
            </p:extLst>
          </p:nvPr>
        </p:nvGraphicFramePr>
        <p:xfrm>
          <a:off x="5257800" y="1898144"/>
          <a:ext cx="294005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282700" imgH="393700" progId="">
                  <p:embed/>
                </p:oleObj>
              </mc:Choice>
              <mc:Fallback>
                <p:oleObj r:id="rId3" imgW="1282700" imgH="393700" progId="">
                  <p:embed/>
                  <p:pic>
                    <p:nvPicPr>
                      <p:cNvPr id="86" name="Object 12">
                        <a:extLst>
                          <a:ext uri="{FF2B5EF4-FFF2-40B4-BE49-F238E27FC236}">
                            <a16:creationId xmlns:a16="http://schemas.microsoft.com/office/drawing/2014/main" id="{53659DC5-54A0-3D7D-7E1F-0C2B08C074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1898144"/>
                        <a:ext cx="2940050" cy="65722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AED463D5-3D78-5119-98FE-99F3981D2C09}"/>
              </a:ext>
            </a:extLst>
          </p:cNvPr>
          <p:cNvSpPr/>
          <p:nvPr/>
        </p:nvSpPr>
        <p:spPr>
          <a:xfrm>
            <a:off x="339776" y="2693024"/>
            <a:ext cx="562300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b="1" dirty="0">
                <a:latin typeface="Bookman Old Style" panose="02050604050505020204" pitchFamily="18" charset="0"/>
              </a:rPr>
              <a:t>V1 = V2 du fait que I1=0  :</a:t>
            </a:r>
          </a:p>
        </p:txBody>
      </p:sp>
      <p:graphicFrame>
        <p:nvGraphicFramePr>
          <p:cNvPr id="4" name="Object 14">
            <a:extLst>
              <a:ext uri="{FF2B5EF4-FFF2-40B4-BE49-F238E27FC236}">
                <a16:creationId xmlns:a16="http://schemas.microsoft.com/office/drawing/2014/main" id="{1989B546-24ED-618D-0B0C-797E15CFCA9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3865468"/>
              </p:ext>
            </p:extLst>
          </p:nvPr>
        </p:nvGraphicFramePr>
        <p:xfrm>
          <a:off x="5325656" y="2588086"/>
          <a:ext cx="1756186" cy="6207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1104900" imgH="393700" progId="">
                  <p:embed/>
                </p:oleObj>
              </mc:Choice>
              <mc:Fallback>
                <p:oleObj r:id="rId5" imgW="1104900" imgH="393700" progId="">
                  <p:embed/>
                  <p:pic>
                    <p:nvPicPr>
                      <p:cNvPr id="27662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25656" y="2588086"/>
                        <a:ext cx="1756186" cy="62072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7621677-78E4-3830-9AAE-53BDE174633F}"/>
              </a:ext>
            </a:extLst>
          </p:cNvPr>
          <p:cNvSpPr/>
          <p:nvPr/>
        </p:nvSpPr>
        <p:spPr>
          <a:xfrm>
            <a:off x="344670" y="3450634"/>
            <a:ext cx="256672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b="1" dirty="0">
                <a:latin typeface="Bookman Old Style" panose="02050604050505020204" pitchFamily="18" charset="0"/>
              </a:rPr>
              <a:t>z21 = z12 du fait que I2=0 :</a:t>
            </a:r>
          </a:p>
        </p:txBody>
      </p:sp>
      <p:graphicFrame>
        <p:nvGraphicFramePr>
          <p:cNvPr id="11" name="Object 16">
            <a:extLst>
              <a:ext uri="{FF2B5EF4-FFF2-40B4-BE49-F238E27FC236}">
                <a16:creationId xmlns:a16="http://schemas.microsoft.com/office/drawing/2014/main" id="{20F10813-F62F-1FB7-FE95-2325945D8A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1767677"/>
              </p:ext>
            </p:extLst>
          </p:nvPr>
        </p:nvGraphicFramePr>
        <p:xfrm>
          <a:off x="5325656" y="3390832"/>
          <a:ext cx="1695628" cy="5842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1130300" imgH="393700" progId="">
                  <p:embed/>
                </p:oleObj>
              </mc:Choice>
              <mc:Fallback>
                <p:oleObj r:id="rId7" imgW="1130300" imgH="393700" progId="">
                  <p:embed/>
                  <p:pic>
                    <p:nvPicPr>
                      <p:cNvPr id="2766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25656" y="3390832"/>
                        <a:ext cx="1695628" cy="58420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0298C8D0-8C5D-5C1F-A479-21920E4309BB}"/>
              </a:ext>
            </a:extLst>
          </p:cNvPr>
          <p:cNvSpPr/>
          <p:nvPr/>
        </p:nvSpPr>
        <p:spPr>
          <a:xfrm>
            <a:off x="339776" y="4216278"/>
            <a:ext cx="624372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b="1" dirty="0">
                <a:latin typeface="Bookman Old Style" panose="02050604050505020204" pitchFamily="18" charset="0"/>
              </a:rPr>
              <a:t>Impédance de sortie à entrée ouverte du Quadripôle :</a:t>
            </a:r>
          </a:p>
        </p:txBody>
      </p:sp>
      <p:graphicFrame>
        <p:nvGraphicFramePr>
          <p:cNvPr id="13" name="Object 18">
            <a:extLst>
              <a:ext uri="{FF2B5EF4-FFF2-40B4-BE49-F238E27FC236}">
                <a16:creationId xmlns:a16="http://schemas.microsoft.com/office/drawing/2014/main" id="{9C5121A9-70E6-AED3-BABF-139098FB88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0579702"/>
              </p:ext>
            </p:extLst>
          </p:nvPr>
        </p:nvGraphicFramePr>
        <p:xfrm>
          <a:off x="5325656" y="4115323"/>
          <a:ext cx="1695628" cy="5842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9" imgW="1130300" imgH="393700" progId="">
                  <p:embed/>
                </p:oleObj>
              </mc:Choice>
              <mc:Fallback>
                <p:oleObj r:id="rId9" imgW="1130300" imgH="393700" progId="">
                  <p:embed/>
                  <p:pic>
                    <p:nvPicPr>
                      <p:cNvPr id="2766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25656" y="4115323"/>
                        <a:ext cx="1695628" cy="58420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1AEECF56-7359-7BBE-D4DF-EFB3D83E1CF7}"/>
              </a:ext>
            </a:extLst>
          </p:cNvPr>
          <p:cNvSpPr txBox="1"/>
          <p:nvPr/>
        </p:nvSpPr>
        <p:spPr>
          <a:xfrm>
            <a:off x="103239" y="158558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sz="1600" b="1" u="sng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</a:rPr>
              <a:t>Avec les paramètres Impédances</a:t>
            </a:r>
            <a:endParaRPr lang="fr-FR" sz="1600" u="sng" dirty="0">
              <a:solidFill>
                <a:schemeClr val="accent6">
                  <a:lumMod val="50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116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57490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3. Modèles électriques associés à des matrices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A56910F-CDB3-0B3B-E69A-EAEC0B46CB66}"/>
              </a:ext>
            </a:extLst>
          </p:cNvPr>
          <p:cNvSpPr txBox="1"/>
          <p:nvPr/>
        </p:nvSpPr>
        <p:spPr>
          <a:xfrm>
            <a:off x="341873" y="1125072"/>
            <a:ext cx="6934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u="sng" dirty="0">
                <a:latin typeface="Bookman Old Style" panose="02050604050505020204" pitchFamily="18" charset="0"/>
              </a:rPr>
              <a:t>Exemple</a:t>
            </a:r>
            <a:r>
              <a:rPr lang="fr-FR" sz="1800" b="1" dirty="0">
                <a:latin typeface="Bookman Old Style" panose="02050604050505020204" pitchFamily="18" charset="0"/>
              </a:rPr>
              <a:t>: </a:t>
            </a:r>
            <a:r>
              <a:rPr lang="fr-FR" sz="18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</a:rPr>
              <a:t>Circuit</a:t>
            </a:r>
            <a:r>
              <a:rPr lang="fr-FR" sz="1800" b="1" dirty="0">
                <a:latin typeface="Bookman Old Style" panose="02050604050505020204" pitchFamily="18" charset="0"/>
              </a:rPr>
              <a:t>  </a:t>
            </a:r>
            <a:r>
              <a:rPr lang="fr-FR" sz="18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 pitchFamily="18" charset="0"/>
              </a:rPr>
              <a:t>RC</a:t>
            </a:r>
            <a:r>
              <a:rPr lang="fr-FR" sz="1800" b="1" dirty="0">
                <a:latin typeface="Bookman Old Style" panose="02050604050505020204" pitchFamily="18" charset="0"/>
              </a:rPr>
              <a:t>  (</a:t>
            </a:r>
            <a:r>
              <a:rPr lang="fr-FR" sz="18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 passif</a:t>
            </a:r>
            <a:r>
              <a:rPr lang="fr-FR" sz="1800" b="1" dirty="0">
                <a:latin typeface="Bookman Old Style" panose="02050604050505020204" pitchFamily="18" charset="0"/>
              </a:rPr>
              <a:t>)</a:t>
            </a:r>
            <a:endParaRPr lang="fr-FR" dirty="0">
              <a:latin typeface="Bookman Old Style" panose="0205060405050502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EECF56-7359-7BBE-D4DF-EFB3D83E1CF7}"/>
              </a:ext>
            </a:extLst>
          </p:cNvPr>
          <p:cNvSpPr txBox="1"/>
          <p:nvPr/>
        </p:nvSpPr>
        <p:spPr>
          <a:xfrm>
            <a:off x="103239" y="158558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sz="1600" b="1" u="sng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</a:rPr>
              <a:t>Avec les paramètres Hybrides</a:t>
            </a:r>
            <a:endParaRPr lang="fr-FR" sz="1600" u="sng" dirty="0">
              <a:solidFill>
                <a:schemeClr val="accent6">
                  <a:lumMod val="50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98D13E-08EB-26C8-0942-378FD291FA6D}"/>
              </a:ext>
            </a:extLst>
          </p:cNvPr>
          <p:cNvSpPr/>
          <p:nvPr/>
        </p:nvSpPr>
        <p:spPr>
          <a:xfrm>
            <a:off x="364943" y="2095059"/>
            <a:ext cx="43116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b="1" dirty="0">
                <a:latin typeface="Bookman Old Style" panose="02050604050505020204" pitchFamily="18" charset="0"/>
              </a:rPr>
              <a:t>Impédance d'entrée à sortie court-circuitée</a:t>
            </a:r>
          </a:p>
        </p:txBody>
      </p:sp>
      <p:graphicFrame>
        <p:nvGraphicFramePr>
          <p:cNvPr id="20" name="Object 1">
            <a:extLst>
              <a:ext uri="{FF2B5EF4-FFF2-40B4-BE49-F238E27FC236}">
                <a16:creationId xmlns:a16="http://schemas.microsoft.com/office/drawing/2014/main" id="{ED85EEB8-14CF-9320-5A03-E407B8F715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6444534"/>
              </p:ext>
            </p:extLst>
          </p:nvPr>
        </p:nvGraphicFramePr>
        <p:xfrm>
          <a:off x="5207268" y="1978293"/>
          <a:ext cx="1574512" cy="6207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990600" imgH="393700" progId="">
                  <p:embed/>
                </p:oleObj>
              </mc:Choice>
              <mc:Fallback>
                <p:oleObj r:id="rId3" imgW="990600" imgH="393700" progId="">
                  <p:embed/>
                  <p:pic>
                    <p:nvPicPr>
                      <p:cNvPr id="29697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07268" y="1978293"/>
                        <a:ext cx="1574512" cy="62072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BAF69BC8-DCD5-67E7-FBD2-24332AACA24A}"/>
              </a:ext>
            </a:extLst>
          </p:cNvPr>
          <p:cNvSpPr/>
          <p:nvPr/>
        </p:nvSpPr>
        <p:spPr>
          <a:xfrm>
            <a:off x="364943" y="2841191"/>
            <a:ext cx="4572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b="1" dirty="0">
                <a:latin typeface="Bookman Old Style" panose="02050604050505020204" pitchFamily="18" charset="0"/>
              </a:rPr>
              <a:t>(Gain en tension)-1  car V1 = V2 si I1=0</a:t>
            </a:r>
          </a:p>
        </p:txBody>
      </p:sp>
      <p:graphicFrame>
        <p:nvGraphicFramePr>
          <p:cNvPr id="23" name="Object 3">
            <a:extLst>
              <a:ext uri="{FF2B5EF4-FFF2-40B4-BE49-F238E27FC236}">
                <a16:creationId xmlns:a16="http://schemas.microsoft.com/office/drawing/2014/main" id="{60268B0F-FB4E-F034-32EB-FDEEA2FDA59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130196"/>
              </p:ext>
            </p:extLst>
          </p:nvPr>
        </p:nvGraphicFramePr>
        <p:xfrm>
          <a:off x="5217055" y="2748116"/>
          <a:ext cx="1498814" cy="6207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940208" imgH="393871" progId="">
                  <p:embed/>
                </p:oleObj>
              </mc:Choice>
              <mc:Fallback>
                <p:oleObj r:id="rId5" imgW="940208" imgH="393871" progId="">
                  <p:embed/>
                  <p:pic>
                    <p:nvPicPr>
                      <p:cNvPr id="2969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17055" y="2748116"/>
                        <a:ext cx="1498814" cy="62072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7B807C53-1EDF-18E7-AD70-C9E8752A0ABC}"/>
              </a:ext>
            </a:extLst>
          </p:cNvPr>
          <p:cNvSpPr/>
          <p:nvPr/>
        </p:nvSpPr>
        <p:spPr>
          <a:xfrm>
            <a:off x="376827" y="3779031"/>
            <a:ext cx="303057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b="1" dirty="0">
                <a:latin typeface="Bookman Old Style" panose="02050604050505020204" pitchFamily="18" charset="0"/>
              </a:rPr>
              <a:t>Gain en courant   (V2 = 0)</a:t>
            </a:r>
          </a:p>
        </p:txBody>
      </p:sp>
      <p:graphicFrame>
        <p:nvGraphicFramePr>
          <p:cNvPr id="25" name="Object 5">
            <a:extLst>
              <a:ext uri="{FF2B5EF4-FFF2-40B4-BE49-F238E27FC236}">
                <a16:creationId xmlns:a16="http://schemas.microsoft.com/office/drawing/2014/main" id="{3EF39D47-81B6-61CB-EA76-F5A96E88675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36983093"/>
              </p:ext>
            </p:extLst>
          </p:nvPr>
        </p:nvGraphicFramePr>
        <p:xfrm>
          <a:off x="5262584" y="3633766"/>
          <a:ext cx="1574513" cy="6207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990600" imgH="393700" progId="">
                  <p:embed/>
                </p:oleObj>
              </mc:Choice>
              <mc:Fallback>
                <p:oleObj r:id="rId7" imgW="990600" imgH="393700" progId="">
                  <p:embed/>
                  <p:pic>
                    <p:nvPicPr>
                      <p:cNvPr id="2970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62584" y="3633766"/>
                        <a:ext cx="1574513" cy="62072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Rectangle 25">
            <a:extLst>
              <a:ext uri="{FF2B5EF4-FFF2-40B4-BE49-F238E27FC236}">
                <a16:creationId xmlns:a16="http://schemas.microsoft.com/office/drawing/2014/main" id="{A66428C7-1924-7E34-376C-3EB6B6B50F88}"/>
              </a:ext>
            </a:extLst>
          </p:cNvPr>
          <p:cNvSpPr/>
          <p:nvPr/>
        </p:nvSpPr>
        <p:spPr>
          <a:xfrm>
            <a:off x="370536" y="4585887"/>
            <a:ext cx="474669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b="1" dirty="0">
                <a:latin typeface="Bookman Old Style" panose="02050604050505020204" pitchFamily="18" charset="0"/>
              </a:rPr>
              <a:t>Admittance de sortie à entrée ouverte</a:t>
            </a:r>
          </a:p>
        </p:txBody>
      </p:sp>
      <p:graphicFrame>
        <p:nvGraphicFramePr>
          <p:cNvPr id="27" name="Object 7">
            <a:extLst>
              <a:ext uri="{FF2B5EF4-FFF2-40B4-BE49-F238E27FC236}">
                <a16:creationId xmlns:a16="http://schemas.microsoft.com/office/drawing/2014/main" id="{1515B3A5-0BDE-24EE-AB33-1120F6F504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082468"/>
              </p:ext>
            </p:extLst>
          </p:nvPr>
        </p:nvGraphicFramePr>
        <p:xfrm>
          <a:off x="5262584" y="4432282"/>
          <a:ext cx="1610134" cy="5842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9" imgW="1079500" imgH="393700" progId="">
                  <p:embed/>
                </p:oleObj>
              </mc:Choice>
              <mc:Fallback>
                <p:oleObj r:id="rId9" imgW="1079500" imgH="393700" progId="">
                  <p:embed/>
                  <p:pic>
                    <p:nvPicPr>
                      <p:cNvPr id="2970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62584" y="4432282"/>
                        <a:ext cx="1610134" cy="58420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58459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57490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3. Modèles électriques associés à des matrices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A56910F-CDB3-0B3B-E69A-EAEC0B46CB66}"/>
              </a:ext>
            </a:extLst>
          </p:cNvPr>
          <p:cNvSpPr txBox="1"/>
          <p:nvPr/>
        </p:nvSpPr>
        <p:spPr>
          <a:xfrm>
            <a:off x="341873" y="1125072"/>
            <a:ext cx="6934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u="sng" dirty="0">
                <a:latin typeface="Bookman Old Style" panose="02050604050505020204" pitchFamily="18" charset="0"/>
              </a:rPr>
              <a:t>Exercice</a:t>
            </a:r>
            <a:r>
              <a:rPr lang="fr-FR" sz="1800" b="1" dirty="0">
                <a:latin typeface="Bookman Old Style" panose="02050604050505020204" pitchFamily="18" charset="0"/>
              </a:rPr>
              <a:t>:</a:t>
            </a:r>
            <a:endParaRPr lang="fr-FR" dirty="0">
              <a:latin typeface="Bookman Old Style" panose="0205060405050502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A813BD-AF69-DC20-48C8-576B121A76D9}"/>
                  </a:ext>
                </a:extLst>
              </p:cNvPr>
              <p:cNvSpPr txBox="1"/>
              <p:nvPr/>
            </p:nvSpPr>
            <p:spPr>
              <a:xfrm>
                <a:off x="228616" y="1530595"/>
                <a:ext cx="8885445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Chercher la 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matrice impédance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 le 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gain en tension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b>
                        <m:r>
                          <a:rPr lang="fr-FR" sz="1600" b="1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𝐯</m:t>
                        </m:r>
                      </m:sub>
                    </m:sSub>
                  </m:oMath>
                </a14:m>
                <a:r>
                  <a:rPr lang="fr-FR" sz="1600" b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, le </a:t>
                </a:r>
                <a:r>
                  <a:rPr lang="fr-FR" sz="1600" b="1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gain en courant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b>
                        <m:r>
                          <a:rPr lang="fr-FR" sz="1600" b="1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</m:oMath>
                </a14:m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 et </a:t>
                </a:r>
                <a:r>
                  <a:rPr lang="fr-FR" sz="1600" b="1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fr-FR" sz="1600" b="1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𝐞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, du quadripôle 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ci-dessous,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0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fr-FR" sz="1600" b="1" i="0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𝐋</m:t>
                        </m:r>
                      </m:sub>
                    </m:sSub>
                  </m:oMath>
                </a14:m>
                <a:r>
                  <a:rPr lang="fr-FR" sz="1600" b="1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est une charge.</a:t>
                </a:r>
                <a:r>
                  <a:rPr lang="fr-FR" sz="1600" dirty="0">
                    <a:latin typeface="Bookman Old Style" panose="02050604050505020204" pitchFamily="18" charset="0"/>
                  </a:rPr>
                  <a:t> </a:t>
                </a:r>
                <a:br>
                  <a:rPr lang="fr-FR" sz="1600" dirty="0">
                    <a:latin typeface="Bookman Old Style" panose="02050604050505020204" pitchFamily="18" charset="0"/>
                  </a:rPr>
                </a:br>
                <a:endParaRPr lang="fr-FR" sz="1600" dirty="0"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A813BD-AF69-DC20-48C8-576B121A7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16" y="1530595"/>
                <a:ext cx="8885445" cy="830997"/>
              </a:xfrm>
              <a:prstGeom prst="rect">
                <a:avLst/>
              </a:prstGeom>
              <a:blipFill>
                <a:blip r:embed="rId3"/>
                <a:stretch>
                  <a:fillRect l="-412" t="-2206" r="-3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E701E8A-2FF2-5FBA-C9BD-23EB33F05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2358985"/>
            <a:ext cx="4671796" cy="264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624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8026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Association de Quadripôles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4.1 En parallèle</a:t>
            </a:r>
            <a:endParaRPr lang="fr-FR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0358B7-D9EC-7727-324A-003BB9B0B67B}"/>
              </a:ext>
            </a:extLst>
          </p:cNvPr>
          <p:cNvSpPr txBox="1"/>
          <p:nvPr/>
        </p:nvSpPr>
        <p:spPr>
          <a:xfrm>
            <a:off x="591681" y="1377303"/>
            <a:ext cx="830668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500" b="1" dirty="0">
                <a:latin typeface="Bookman Old Style" panose="02050604050505020204" pitchFamily="18" charset="0"/>
              </a:rPr>
              <a:t>Q' </a:t>
            </a:r>
            <a:r>
              <a:rPr lang="fr-FR" sz="1500" dirty="0">
                <a:latin typeface="Bookman Old Style" panose="02050604050505020204" pitchFamily="18" charset="0"/>
              </a:rPr>
              <a:t>et </a:t>
            </a:r>
            <a:r>
              <a:rPr lang="fr-FR" sz="1500" b="1" dirty="0">
                <a:latin typeface="Bookman Old Style" panose="02050604050505020204" pitchFamily="18" charset="0"/>
              </a:rPr>
              <a:t>Q"</a:t>
            </a:r>
            <a:r>
              <a:rPr lang="fr-FR" sz="1500" dirty="0">
                <a:latin typeface="Bookman Old Style" panose="02050604050505020204" pitchFamily="18" charset="0"/>
              </a:rPr>
              <a:t> sont soumis aux mêmes tensions d'entrée et de sortie → </a:t>
            </a:r>
            <a:r>
              <a:rPr lang="fr-FR" sz="1500" b="1" dirty="0">
                <a:latin typeface="Bookman Old Style" panose="02050604050505020204" pitchFamily="18" charset="0"/>
              </a:rPr>
              <a:t>utilisation</a:t>
            </a:r>
            <a:r>
              <a:rPr lang="fr-FR" sz="1500" dirty="0">
                <a:latin typeface="Bookman Old Style" panose="02050604050505020204" pitchFamily="18" charset="0"/>
              </a:rPr>
              <a:t> de la matrice </a:t>
            </a:r>
            <a:r>
              <a:rPr lang="fr-FR" sz="1500" b="1" dirty="0">
                <a:latin typeface="Bookman Old Style" panose="02050604050505020204" pitchFamily="18" charset="0"/>
              </a:rPr>
              <a:t>admittance</a:t>
            </a:r>
            <a:r>
              <a:rPr lang="fr-FR" sz="1500" dirty="0">
                <a:latin typeface="Bookman Old Style" panose="02050604050505020204" pitchFamily="18" charset="0"/>
              </a:rPr>
              <a:t> </a:t>
            </a:r>
            <a:r>
              <a:rPr lang="fr-FR" sz="1500" b="1" dirty="0">
                <a:latin typeface="Bookman Old Style" panose="02050604050505020204" pitchFamily="18" charset="0"/>
              </a:rPr>
              <a:t>[y]</a:t>
            </a:r>
            <a:r>
              <a:rPr lang="fr-FR" sz="1500" dirty="0">
                <a:latin typeface="Bookman Old Style" panose="02050604050505020204" pitchFamily="18" charset="0"/>
              </a:rPr>
              <a:t>.</a:t>
            </a:r>
          </a:p>
        </p:txBody>
      </p:sp>
      <p:grpSp>
        <p:nvGrpSpPr>
          <p:cNvPr id="30" name="Group 3">
            <a:extLst>
              <a:ext uri="{FF2B5EF4-FFF2-40B4-BE49-F238E27FC236}">
                <a16:creationId xmlns:a16="http://schemas.microsoft.com/office/drawing/2014/main" id="{F4680200-4F8B-2C30-082F-8862764FC53A}"/>
              </a:ext>
            </a:extLst>
          </p:cNvPr>
          <p:cNvGrpSpPr>
            <a:grpSpLocks/>
          </p:cNvGrpSpPr>
          <p:nvPr/>
        </p:nvGrpSpPr>
        <p:grpSpPr bwMode="auto">
          <a:xfrm>
            <a:off x="822121" y="2438636"/>
            <a:ext cx="7334344" cy="2127502"/>
            <a:chOff x="2480" y="9572"/>
            <a:chExt cx="6673" cy="1555"/>
          </a:xfrm>
        </p:grpSpPr>
        <p:sp>
          <p:nvSpPr>
            <p:cNvPr id="31" name="Text Box 4">
              <a:extLst>
                <a:ext uri="{FF2B5EF4-FFF2-40B4-BE49-F238E27FC236}">
                  <a16:creationId xmlns:a16="http://schemas.microsoft.com/office/drawing/2014/main" id="{09BEE725-6026-1E60-9D18-D2959EB99B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3" y="10426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2" name="Text Box 5">
              <a:extLst>
                <a:ext uri="{FF2B5EF4-FFF2-40B4-BE49-F238E27FC236}">
                  <a16:creationId xmlns:a16="http://schemas.microsoft.com/office/drawing/2014/main" id="{68D51E73-5934-E69A-B387-70B385465A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34" y="10720"/>
              <a:ext cx="684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3" name="Text Box 6">
              <a:extLst>
                <a:ext uri="{FF2B5EF4-FFF2-40B4-BE49-F238E27FC236}">
                  <a16:creationId xmlns:a16="http://schemas.microsoft.com/office/drawing/2014/main" id="{A5BE5617-9710-7C5B-1009-5737DEB56F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0" y="9919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4" name="Text Box 7">
              <a:extLst>
                <a:ext uri="{FF2B5EF4-FFF2-40B4-BE49-F238E27FC236}">
                  <a16:creationId xmlns:a16="http://schemas.microsoft.com/office/drawing/2014/main" id="{B58445D3-71A8-18ED-A4C9-3EBA1BD1FD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0" y="957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5" name="Text Box 8">
              <a:extLst>
                <a:ext uri="{FF2B5EF4-FFF2-40B4-BE49-F238E27FC236}">
                  <a16:creationId xmlns:a16="http://schemas.microsoft.com/office/drawing/2014/main" id="{60EC82FC-6C8F-DC2B-F024-10A759686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71" y="957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6" name="Text Box 9">
              <a:extLst>
                <a:ext uri="{FF2B5EF4-FFF2-40B4-BE49-F238E27FC236}">
                  <a16:creationId xmlns:a16="http://schemas.microsoft.com/office/drawing/2014/main" id="{9C041614-E37B-C7B2-8603-A14A51A772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3" y="9866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7" name="Text Box 10">
              <a:extLst>
                <a:ext uri="{FF2B5EF4-FFF2-40B4-BE49-F238E27FC236}">
                  <a16:creationId xmlns:a16="http://schemas.microsoft.com/office/drawing/2014/main" id="{72201FF3-7E60-D35D-4694-13635A5760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2" y="9599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8" name="Text Box 11">
              <a:extLst>
                <a:ext uri="{FF2B5EF4-FFF2-40B4-BE49-F238E27FC236}">
                  <a16:creationId xmlns:a16="http://schemas.microsoft.com/office/drawing/2014/main" id="{85A1371D-D51C-BDC1-423F-BC8EE12218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1" y="10720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9" name="Text Box 12">
              <a:extLst>
                <a:ext uri="{FF2B5EF4-FFF2-40B4-BE49-F238E27FC236}">
                  <a16:creationId xmlns:a16="http://schemas.microsoft.com/office/drawing/2014/main" id="{BFDD0F6A-9F95-16AA-A6EB-C06FE5990A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6" y="10426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I"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0" name="Text Box 13">
              <a:extLst>
                <a:ext uri="{FF2B5EF4-FFF2-40B4-BE49-F238E27FC236}">
                  <a16:creationId xmlns:a16="http://schemas.microsoft.com/office/drawing/2014/main" id="{6FE6EEB3-A1FC-E6A6-24EF-FFCB1F3B8A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20" y="989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1" name="Text Box 14">
              <a:extLst>
                <a:ext uri="{FF2B5EF4-FFF2-40B4-BE49-F238E27FC236}">
                  <a16:creationId xmlns:a16="http://schemas.microsoft.com/office/drawing/2014/main" id="{FA8A30C5-629C-B65C-32A5-D3D1474099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10" y="957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2" name="Text Box 15">
              <a:extLst>
                <a:ext uri="{FF2B5EF4-FFF2-40B4-BE49-F238E27FC236}">
                  <a16:creationId xmlns:a16="http://schemas.microsoft.com/office/drawing/2014/main" id="{0B378B76-1017-84E8-8956-F49B6197DB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80" y="9839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3" name="Line 16">
              <a:extLst>
                <a:ext uri="{FF2B5EF4-FFF2-40B4-BE49-F238E27FC236}">
                  <a16:creationId xmlns:a16="http://schemas.microsoft.com/office/drawing/2014/main" id="{86BDC6F5-69F5-CDD2-E860-E4F118E126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8" y="10635"/>
              <a:ext cx="171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4" name="Line 17">
              <a:extLst>
                <a:ext uri="{FF2B5EF4-FFF2-40B4-BE49-F238E27FC236}">
                  <a16:creationId xmlns:a16="http://schemas.microsoft.com/office/drawing/2014/main" id="{293EC02F-B8E1-D72C-0D73-12640A588F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84" y="10994"/>
              <a:ext cx="49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5" name="Line 18">
              <a:extLst>
                <a:ext uri="{FF2B5EF4-FFF2-40B4-BE49-F238E27FC236}">
                  <a16:creationId xmlns:a16="http://schemas.microsoft.com/office/drawing/2014/main" id="{83F7BDAD-676C-8198-0627-CDAA8206D4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2" y="10994"/>
              <a:ext cx="49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7" name="Line 19">
              <a:extLst>
                <a:ext uri="{FF2B5EF4-FFF2-40B4-BE49-F238E27FC236}">
                  <a16:creationId xmlns:a16="http://schemas.microsoft.com/office/drawing/2014/main" id="{A2E4263D-E214-5708-E3FD-AB1F67459A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08" y="10155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8" name="Line 20">
              <a:extLst>
                <a:ext uri="{FF2B5EF4-FFF2-40B4-BE49-F238E27FC236}">
                  <a16:creationId xmlns:a16="http://schemas.microsoft.com/office/drawing/2014/main" id="{89C3BDC7-6130-6151-E720-25517A787F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20" y="9795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9" name="Rectangle 21">
              <a:extLst>
                <a:ext uri="{FF2B5EF4-FFF2-40B4-BE49-F238E27FC236}">
                  <a16:creationId xmlns:a16="http://schemas.microsoft.com/office/drawing/2014/main" id="{FDE7A3C6-7B76-E22D-7DCB-DCA6401BC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0" y="9717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0" name="Rectangle 22">
              <a:extLst>
                <a:ext uri="{FF2B5EF4-FFF2-40B4-BE49-F238E27FC236}">
                  <a16:creationId xmlns:a16="http://schemas.microsoft.com/office/drawing/2014/main" id="{39B3398F-9897-F282-CCA6-07F322A3F4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0" y="10557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1" name="Line 23">
              <a:extLst>
                <a:ext uri="{FF2B5EF4-FFF2-40B4-BE49-F238E27FC236}">
                  <a16:creationId xmlns:a16="http://schemas.microsoft.com/office/drawing/2014/main" id="{4359D85D-F920-F4F8-58B0-04A3C6450E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40" y="9795"/>
              <a:ext cx="0" cy="84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2" name="Line 24">
              <a:extLst>
                <a:ext uri="{FF2B5EF4-FFF2-40B4-BE49-F238E27FC236}">
                  <a16:creationId xmlns:a16="http://schemas.microsoft.com/office/drawing/2014/main" id="{539DE5CA-FF0C-49F4-546F-EC9C96978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8" y="10155"/>
              <a:ext cx="0" cy="85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3" name="Line 25">
              <a:extLst>
                <a:ext uri="{FF2B5EF4-FFF2-40B4-BE49-F238E27FC236}">
                  <a16:creationId xmlns:a16="http://schemas.microsoft.com/office/drawing/2014/main" id="{95150EE5-51A1-1F32-6176-12216D4580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34" y="9795"/>
              <a:ext cx="0" cy="84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4" name="Line 26">
              <a:extLst>
                <a:ext uri="{FF2B5EF4-FFF2-40B4-BE49-F238E27FC236}">
                  <a16:creationId xmlns:a16="http://schemas.microsoft.com/office/drawing/2014/main" id="{C56BE3E6-5F5E-1B57-185D-21E09924E4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88" y="10155"/>
              <a:ext cx="0" cy="85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5" name="Line 27">
              <a:extLst>
                <a:ext uri="{FF2B5EF4-FFF2-40B4-BE49-F238E27FC236}">
                  <a16:creationId xmlns:a16="http://schemas.microsoft.com/office/drawing/2014/main" id="{C8531308-A419-6B47-A966-2F8E1AC7AC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8" y="9795"/>
              <a:ext cx="198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6" name="Line 28">
              <a:extLst>
                <a:ext uri="{FF2B5EF4-FFF2-40B4-BE49-F238E27FC236}">
                  <a16:creationId xmlns:a16="http://schemas.microsoft.com/office/drawing/2014/main" id="{7B2DE389-FA4D-8F6F-4068-92A4E029D3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0" y="9793"/>
              <a:ext cx="198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7" name="Line 29">
              <a:extLst>
                <a:ext uri="{FF2B5EF4-FFF2-40B4-BE49-F238E27FC236}">
                  <a16:creationId xmlns:a16="http://schemas.microsoft.com/office/drawing/2014/main" id="{366AD85A-779B-3090-911D-F9DEF4B53C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8" y="10635"/>
              <a:ext cx="198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8" name="Line 30">
              <a:extLst>
                <a:ext uri="{FF2B5EF4-FFF2-40B4-BE49-F238E27FC236}">
                  <a16:creationId xmlns:a16="http://schemas.microsoft.com/office/drawing/2014/main" id="{68ABFF0A-A039-6067-57A8-CF7E180729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46" y="10635"/>
              <a:ext cx="120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9" name="Line 31">
              <a:extLst>
                <a:ext uri="{FF2B5EF4-FFF2-40B4-BE49-F238E27FC236}">
                  <a16:creationId xmlns:a16="http://schemas.microsoft.com/office/drawing/2014/main" id="{9CB33067-570A-4D74-8BF5-45EAE8268F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34" y="9793"/>
              <a:ext cx="198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0" name="Line 32">
              <a:extLst>
                <a:ext uri="{FF2B5EF4-FFF2-40B4-BE49-F238E27FC236}">
                  <a16:creationId xmlns:a16="http://schemas.microsoft.com/office/drawing/2014/main" id="{DD23464E-3C14-4D1B-0AB9-55B0CC7D63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028" y="9795"/>
              <a:ext cx="210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1" name="Line 33">
              <a:extLst>
                <a:ext uri="{FF2B5EF4-FFF2-40B4-BE49-F238E27FC236}">
                  <a16:creationId xmlns:a16="http://schemas.microsoft.com/office/drawing/2014/main" id="{82A5925F-E01C-B4D8-08E8-D3379F242B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18" y="9825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2" name="Line 34">
              <a:extLst>
                <a:ext uri="{FF2B5EF4-FFF2-40B4-BE49-F238E27FC236}">
                  <a16:creationId xmlns:a16="http://schemas.microsoft.com/office/drawing/2014/main" id="{55E2E01B-5608-2377-7EEE-D36D948BE2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46" y="9837"/>
              <a:ext cx="0" cy="288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3" name="Line 35">
              <a:extLst>
                <a:ext uri="{FF2B5EF4-FFF2-40B4-BE49-F238E27FC236}">
                  <a16:creationId xmlns:a16="http://schemas.microsoft.com/office/drawing/2014/main" id="{41B951F3-A439-F279-17FC-3CEE814186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92" y="10677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4" name="Line 36">
              <a:extLst>
                <a:ext uri="{FF2B5EF4-FFF2-40B4-BE49-F238E27FC236}">
                  <a16:creationId xmlns:a16="http://schemas.microsoft.com/office/drawing/2014/main" id="{01929D72-6661-9308-33DC-718E7AC2CA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80" y="10649"/>
              <a:ext cx="0" cy="312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5" name="Line 37">
              <a:extLst>
                <a:ext uri="{FF2B5EF4-FFF2-40B4-BE49-F238E27FC236}">
                  <a16:creationId xmlns:a16="http://schemas.microsoft.com/office/drawing/2014/main" id="{6E14FDB4-DDA8-9073-A8CB-43BC32AB8B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18" y="9837"/>
              <a:ext cx="0" cy="288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6" name="Line 38">
              <a:extLst>
                <a:ext uri="{FF2B5EF4-FFF2-40B4-BE49-F238E27FC236}">
                  <a16:creationId xmlns:a16="http://schemas.microsoft.com/office/drawing/2014/main" id="{B6FF16C0-652E-A3A0-AB67-D0A34D866C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90" y="9837"/>
              <a:ext cx="0" cy="258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7" name="Text Box 39">
              <a:extLst>
                <a:ext uri="{FF2B5EF4-FFF2-40B4-BE49-F238E27FC236}">
                  <a16:creationId xmlns:a16="http://schemas.microsoft.com/office/drawing/2014/main" id="{58B442AA-9DE4-3171-5F87-7791B8F6A0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5" y="10693"/>
              <a:ext cx="328" cy="35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Q"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8" name="Text Box 40">
              <a:extLst>
                <a:ext uri="{FF2B5EF4-FFF2-40B4-BE49-F238E27FC236}">
                  <a16:creationId xmlns:a16="http://schemas.microsoft.com/office/drawing/2014/main" id="{0A226491-5A77-4492-1124-1F2B7E0651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5" y="9893"/>
              <a:ext cx="328" cy="3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Q'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9" name="Text Box 41">
              <a:extLst>
                <a:ext uri="{FF2B5EF4-FFF2-40B4-BE49-F238E27FC236}">
                  <a16:creationId xmlns:a16="http://schemas.microsoft.com/office/drawing/2014/main" id="{22CCE2DE-729A-2898-E2E3-205FD6766D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57" y="997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0" name="Text Box 42">
              <a:extLst>
                <a:ext uri="{FF2B5EF4-FFF2-40B4-BE49-F238E27FC236}">
                  <a16:creationId xmlns:a16="http://schemas.microsoft.com/office/drawing/2014/main" id="{B4BA3D82-CB6A-C16F-0D02-615E0C20F1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92" y="1021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1" name="Text Box 43">
              <a:extLst>
                <a:ext uri="{FF2B5EF4-FFF2-40B4-BE49-F238E27FC236}">
                  <a16:creationId xmlns:a16="http://schemas.microsoft.com/office/drawing/2014/main" id="{F7369198-13BF-FAF5-8182-FA2FB5BE75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61" y="995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2" name="Text Box 44">
              <a:extLst>
                <a:ext uri="{FF2B5EF4-FFF2-40B4-BE49-F238E27FC236}">
                  <a16:creationId xmlns:a16="http://schemas.microsoft.com/office/drawing/2014/main" id="{0C98151F-0A94-1FA4-728A-D7C5DD8C66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16" y="1024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3" name="Line 45">
              <a:extLst>
                <a:ext uri="{FF2B5EF4-FFF2-40B4-BE49-F238E27FC236}">
                  <a16:creationId xmlns:a16="http://schemas.microsoft.com/office/drawing/2014/main" id="{6447D122-CEBC-55F0-80C1-9F008643C0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6" y="10533"/>
              <a:ext cx="16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4" name="Line 46">
              <a:extLst>
                <a:ext uri="{FF2B5EF4-FFF2-40B4-BE49-F238E27FC236}">
                  <a16:creationId xmlns:a16="http://schemas.microsoft.com/office/drawing/2014/main" id="{67A2525E-4043-5F9E-D871-985250E222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8" y="10173"/>
              <a:ext cx="160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5" name="Rectangle 47">
              <a:extLst>
                <a:ext uri="{FF2B5EF4-FFF2-40B4-BE49-F238E27FC236}">
                  <a16:creationId xmlns:a16="http://schemas.microsoft.com/office/drawing/2014/main" id="{392EA118-2A69-6116-09DA-A6CD1DD94F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28" y="10095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6" name="Line 48">
              <a:extLst>
                <a:ext uri="{FF2B5EF4-FFF2-40B4-BE49-F238E27FC236}">
                  <a16:creationId xmlns:a16="http://schemas.microsoft.com/office/drawing/2014/main" id="{E2930985-1782-367E-0ECD-76ED1A79FA6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42" y="10197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7" name="Line 49">
              <a:extLst>
                <a:ext uri="{FF2B5EF4-FFF2-40B4-BE49-F238E27FC236}">
                  <a16:creationId xmlns:a16="http://schemas.microsoft.com/office/drawing/2014/main" id="{01A7D3EE-0EFA-6FCA-AD5F-B25BBC0EA6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580" y="10185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8" name="Line 50">
              <a:extLst>
                <a:ext uri="{FF2B5EF4-FFF2-40B4-BE49-F238E27FC236}">
                  <a16:creationId xmlns:a16="http://schemas.microsoft.com/office/drawing/2014/main" id="{64FBD418-BDA8-9B00-C080-51263C7E3B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20" y="10173"/>
              <a:ext cx="222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9" name="Line 51">
              <a:extLst>
                <a:ext uri="{FF2B5EF4-FFF2-40B4-BE49-F238E27FC236}">
                  <a16:creationId xmlns:a16="http://schemas.microsoft.com/office/drawing/2014/main" id="{4DA5EF99-A02A-7698-539B-E5DA81B91C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220" y="10173"/>
              <a:ext cx="180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0" name="Text Box 52">
              <a:extLst>
                <a:ext uri="{FF2B5EF4-FFF2-40B4-BE49-F238E27FC236}">
                  <a16:creationId xmlns:a16="http://schemas.microsoft.com/office/drawing/2014/main" id="{70D378F3-BBD4-6AD2-EB0F-C15B74A86D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96" y="10266"/>
              <a:ext cx="395" cy="27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</p:grp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AB36693A-74C1-DBE4-0F6A-FDC2376F8C2C}"/>
              </a:ext>
            </a:extLst>
          </p:cNvPr>
          <p:cNvSpPr/>
          <p:nvPr/>
        </p:nvSpPr>
        <p:spPr>
          <a:xfrm>
            <a:off x="4495800" y="3212200"/>
            <a:ext cx="667881" cy="553998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76685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8026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Association de Quadripôles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4.1 En parallèle</a:t>
            </a:r>
            <a:endParaRPr lang="fr-FR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9F042D62-43AC-CF67-4623-A9D76393C3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9575" y="1401697"/>
            <a:ext cx="832485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86CD92CF-1009-DD66-A3B6-279AF0DF4F8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67806450"/>
              </p:ext>
            </p:extLst>
          </p:nvPr>
        </p:nvGraphicFramePr>
        <p:xfrm>
          <a:off x="2971800" y="2539328"/>
          <a:ext cx="4192588" cy="87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2959100" imgH="622300" progId="">
                  <p:embed/>
                </p:oleObj>
              </mc:Choice>
              <mc:Fallback>
                <p:oleObj r:id="rId4" imgW="2959100" imgH="622300" progId="">
                  <p:embed/>
                  <p:pic>
                    <p:nvPicPr>
                      <p:cNvPr id="3174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1800" y="2539328"/>
                        <a:ext cx="4192588" cy="876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493E7949-B64C-F837-0F98-1013858D89C2}"/>
              </a:ext>
            </a:extLst>
          </p:cNvPr>
          <p:cNvSpPr/>
          <p:nvPr/>
        </p:nvSpPr>
        <p:spPr>
          <a:xfrm>
            <a:off x="1894706" y="2426077"/>
            <a:ext cx="7697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>
                <a:latin typeface="Bookman Old Style" panose="02050604050505020204" pitchFamily="18" charset="0"/>
              </a:rPr>
              <a:t>d'où: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592097-19ED-97C2-1D94-E1222D2C7352}"/>
              </a:ext>
            </a:extLst>
          </p:cNvPr>
          <p:cNvSpPr/>
          <p:nvPr/>
        </p:nvSpPr>
        <p:spPr>
          <a:xfrm>
            <a:off x="607373" y="3709071"/>
            <a:ext cx="80010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sz="1600" dirty="0">
                <a:latin typeface="Bookman Old Style" panose="02050604050505020204" pitchFamily="18" charset="0"/>
              </a:rPr>
              <a:t>Lorsque deux </a:t>
            </a:r>
            <a:r>
              <a:rPr lang="fr-FR" sz="1600" b="1" dirty="0">
                <a:latin typeface="Bookman Old Style" panose="02050604050505020204" pitchFamily="18" charset="0"/>
              </a:rPr>
              <a:t>(n) quadripôles</a:t>
            </a:r>
            <a:r>
              <a:rPr lang="fr-FR" sz="1600" dirty="0">
                <a:latin typeface="Bookman Old Style" panose="02050604050505020204" pitchFamily="18" charset="0"/>
              </a:rPr>
              <a:t>  sont montés </a:t>
            </a:r>
            <a:r>
              <a:rPr lang="fr-FR" sz="1600" b="1" dirty="0">
                <a:latin typeface="Bookman Old Style" panose="02050604050505020204" pitchFamily="18" charset="0"/>
              </a:rPr>
              <a:t>en parallèle</a:t>
            </a:r>
            <a:r>
              <a:rPr lang="fr-FR" sz="1600" dirty="0">
                <a:latin typeface="Bookman Old Style" panose="02050604050505020204" pitchFamily="18" charset="0"/>
              </a:rPr>
              <a:t>, leurs matrices </a:t>
            </a:r>
            <a:r>
              <a:rPr lang="fr-FR" sz="1600" b="1" dirty="0">
                <a:latin typeface="Bookman Old Style" panose="02050604050505020204" pitchFamily="18" charset="0"/>
              </a:rPr>
              <a:t>admittances s'ajoutent</a:t>
            </a:r>
            <a:r>
              <a:rPr lang="fr-FR" sz="1600" dirty="0">
                <a:latin typeface="Bookman Old Style" panose="02050604050505020204" pitchFamily="18" charset="0"/>
              </a:rPr>
              <a:t> pour représenter </a:t>
            </a:r>
            <a:r>
              <a:rPr lang="fr-FR" sz="1600" b="1" dirty="0">
                <a:latin typeface="Bookman Old Style" panose="02050604050505020204" pitchFamily="18" charset="0"/>
              </a:rPr>
              <a:t>la matrice admittance du quadripôle</a:t>
            </a:r>
            <a:r>
              <a:rPr lang="fr-FR" sz="16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latin typeface="Bookman Old Style" panose="02050604050505020204" pitchFamily="18" charset="0"/>
              </a:rPr>
              <a:t>équivalent</a:t>
            </a:r>
            <a:r>
              <a:rPr lang="fr-FR" sz="1600" dirty="0">
                <a:latin typeface="Bookman Old Style" panose="02050604050505020204" pitchFamily="18" charset="0"/>
              </a:rPr>
              <a:t> à la mise en parallèle des deux (n) quadripôles élémentaires.</a:t>
            </a:r>
          </a:p>
        </p:txBody>
      </p:sp>
    </p:spTree>
    <p:extLst>
      <p:ext uri="{BB962C8B-B14F-4D97-AF65-F5344CB8AC3E}">
        <p14:creationId xmlns:p14="http://schemas.microsoft.com/office/powerpoint/2010/main" val="2202449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8026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Association de Quadripôles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4.2 En série</a:t>
            </a:r>
            <a:endParaRPr lang="fr-FR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26A75B-393C-0C16-8F62-6D29A96D1059}"/>
              </a:ext>
            </a:extLst>
          </p:cNvPr>
          <p:cNvSpPr txBox="1"/>
          <p:nvPr/>
        </p:nvSpPr>
        <p:spPr>
          <a:xfrm>
            <a:off x="550646" y="1276350"/>
            <a:ext cx="845575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algn="just">
              <a:defRPr sz="1500" b="1">
                <a:latin typeface="Bookman Old Style" panose="02050604050505020204" pitchFamily="18" charset="0"/>
              </a:defRPr>
            </a:lvl1pPr>
          </a:lstStyle>
          <a:p>
            <a:r>
              <a:rPr lang="fr-FR" dirty="0"/>
              <a:t> Q' </a:t>
            </a:r>
            <a:r>
              <a:rPr lang="fr-FR" b="0" dirty="0"/>
              <a:t>et </a:t>
            </a:r>
            <a:r>
              <a:rPr lang="fr-FR" dirty="0"/>
              <a:t>Q"</a:t>
            </a:r>
            <a:r>
              <a:rPr lang="fr-FR" b="0" dirty="0"/>
              <a:t> sont traversés par les mêmes courants d'entrée et de sortie → utilisation de la matrice </a:t>
            </a:r>
            <a:r>
              <a:rPr lang="fr-FR" dirty="0"/>
              <a:t>impédance</a:t>
            </a:r>
            <a:r>
              <a:rPr lang="fr-FR" b="0" dirty="0"/>
              <a:t> </a:t>
            </a:r>
            <a:r>
              <a:rPr lang="fr-FR" dirty="0"/>
              <a:t>[z]</a:t>
            </a:r>
          </a:p>
        </p:txBody>
      </p:sp>
      <p:grpSp>
        <p:nvGrpSpPr>
          <p:cNvPr id="17" name="Group 2">
            <a:extLst>
              <a:ext uri="{FF2B5EF4-FFF2-40B4-BE49-F238E27FC236}">
                <a16:creationId xmlns:a16="http://schemas.microsoft.com/office/drawing/2014/main" id="{04C8984B-4D12-3CE2-3D9D-4BA8D95DEFE5}"/>
              </a:ext>
            </a:extLst>
          </p:cNvPr>
          <p:cNvGrpSpPr>
            <a:grpSpLocks/>
          </p:cNvGrpSpPr>
          <p:nvPr/>
        </p:nvGrpSpPr>
        <p:grpSpPr bwMode="auto">
          <a:xfrm>
            <a:off x="838200" y="2321361"/>
            <a:ext cx="7451517" cy="2095669"/>
            <a:chOff x="2417" y="2608"/>
            <a:chExt cx="7125" cy="1624"/>
          </a:xfrm>
        </p:grpSpPr>
        <p:sp>
          <p:nvSpPr>
            <p:cNvPr id="20" name="Text Box 3">
              <a:extLst>
                <a:ext uri="{FF2B5EF4-FFF2-40B4-BE49-F238E27FC236}">
                  <a16:creationId xmlns:a16="http://schemas.microsoft.com/office/drawing/2014/main" id="{72064CBB-94EB-838E-56EC-83886665E6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60" y="3485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I"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1" name="Text Box 4">
              <a:extLst>
                <a:ext uri="{FF2B5EF4-FFF2-40B4-BE49-F238E27FC236}">
                  <a16:creationId xmlns:a16="http://schemas.microsoft.com/office/drawing/2014/main" id="{21F93239-C9B8-6CDA-6F5A-DE159EC337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17" y="3370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2" name="Text Box 5">
              <a:extLst>
                <a:ext uri="{FF2B5EF4-FFF2-40B4-BE49-F238E27FC236}">
                  <a16:creationId xmlns:a16="http://schemas.microsoft.com/office/drawing/2014/main" id="{923DDB29-7932-9488-33AA-C1FF69C47D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31" y="2665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3" name="Text Box 6">
              <a:extLst>
                <a:ext uri="{FF2B5EF4-FFF2-40B4-BE49-F238E27FC236}">
                  <a16:creationId xmlns:a16="http://schemas.microsoft.com/office/drawing/2014/main" id="{590168A0-4DAD-B5AD-58B5-1CF32609B8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59" y="2608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4" name="Text Box 7">
              <a:extLst>
                <a:ext uri="{FF2B5EF4-FFF2-40B4-BE49-F238E27FC236}">
                  <a16:creationId xmlns:a16="http://schemas.microsoft.com/office/drawing/2014/main" id="{ABA31A4A-903F-F1FF-1726-5745241A75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60" y="2608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5" name="Text Box 8">
              <a:extLst>
                <a:ext uri="{FF2B5EF4-FFF2-40B4-BE49-F238E27FC236}">
                  <a16:creationId xmlns:a16="http://schemas.microsoft.com/office/drawing/2014/main" id="{85394E39-118C-7F9F-89B8-8C64EFDACF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36" y="2637"/>
              <a:ext cx="386" cy="32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6" name="Text Box 9">
              <a:extLst>
                <a:ext uri="{FF2B5EF4-FFF2-40B4-BE49-F238E27FC236}">
                  <a16:creationId xmlns:a16="http://schemas.microsoft.com/office/drawing/2014/main" id="{62740B86-CBA9-8851-8935-F70655E6A9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89" y="3825"/>
              <a:ext cx="639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7" name="Text Box 10">
              <a:extLst>
                <a:ext uri="{FF2B5EF4-FFF2-40B4-BE49-F238E27FC236}">
                  <a16:creationId xmlns:a16="http://schemas.microsoft.com/office/drawing/2014/main" id="{3C77DF96-3CE0-01A9-81BF-625B3CC4F5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41" y="3825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>
                <a:spcAft>
                  <a:spcPts val="1000"/>
                </a:spcAft>
              </a:pPr>
              <a:r>
                <a:rPr lang="fr-FR" sz="1400" b="1" dirty="0">
                  <a:solidFill>
                    <a:srgbClr val="FF0000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V''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8" name="Text Box 11">
              <a:extLst>
                <a:ext uri="{FF2B5EF4-FFF2-40B4-BE49-F238E27FC236}">
                  <a16:creationId xmlns:a16="http://schemas.microsoft.com/office/drawing/2014/main" id="{5CFCBFFB-3161-1E6B-1524-1C3C26B1C3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6" y="2976"/>
              <a:ext cx="462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lang="fr-FR" sz="1400" b="1" dirty="0">
                  <a:solidFill>
                    <a:srgbClr val="FF0000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’</a:t>
              </a:r>
              <a:r>
                <a:rPr lang="fr-FR" sz="1400" b="1" baseline="-25000" dirty="0">
                  <a:solidFill>
                    <a:srgbClr val="FF0000"/>
                  </a:solidFill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9" name="Text Box 12">
              <a:extLst>
                <a:ext uri="{FF2B5EF4-FFF2-40B4-BE49-F238E27FC236}">
                  <a16:creationId xmlns:a16="http://schemas.microsoft.com/office/drawing/2014/main" id="{F5661C17-D5CF-E382-85CF-B4EAA16150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6" y="2976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0" name="Text Box 13">
              <a:extLst>
                <a:ext uri="{FF2B5EF4-FFF2-40B4-BE49-F238E27FC236}">
                  <a16:creationId xmlns:a16="http://schemas.microsoft.com/office/drawing/2014/main" id="{1F93F40A-F9C1-1B30-F86A-0AF48922B6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" y="337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1" name="Text Box 14">
              <a:extLst>
                <a:ext uri="{FF2B5EF4-FFF2-40B4-BE49-F238E27FC236}">
                  <a16:creationId xmlns:a16="http://schemas.microsoft.com/office/drawing/2014/main" id="{B8F111A8-C369-FEF4-409B-658E3E49A9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17" y="3401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2" name="Line 15">
              <a:extLst>
                <a:ext uri="{FF2B5EF4-FFF2-40B4-BE49-F238E27FC236}">
                  <a16:creationId xmlns:a16="http://schemas.microsoft.com/office/drawing/2014/main" id="{6B68349B-ADC9-3D09-7501-402359D572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0" y="4106"/>
              <a:ext cx="253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3" name="Line 16">
              <a:extLst>
                <a:ext uri="{FF2B5EF4-FFF2-40B4-BE49-F238E27FC236}">
                  <a16:creationId xmlns:a16="http://schemas.microsoft.com/office/drawing/2014/main" id="{3D876007-2833-E4A4-8448-58AFAE7BED7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06" y="3740"/>
              <a:ext cx="49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4" name="Line 17">
              <a:extLst>
                <a:ext uri="{FF2B5EF4-FFF2-40B4-BE49-F238E27FC236}">
                  <a16:creationId xmlns:a16="http://schemas.microsoft.com/office/drawing/2014/main" id="{9826E2D6-0FEB-5254-4A2E-FF3C78512F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3740"/>
              <a:ext cx="49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5" name="Line 18">
              <a:extLst>
                <a:ext uri="{FF2B5EF4-FFF2-40B4-BE49-F238E27FC236}">
                  <a16:creationId xmlns:a16="http://schemas.microsoft.com/office/drawing/2014/main" id="{C3DA37DA-221C-6B7D-B367-9B2E009066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" y="3260"/>
              <a:ext cx="142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6" name="Line 19">
              <a:extLst>
                <a:ext uri="{FF2B5EF4-FFF2-40B4-BE49-F238E27FC236}">
                  <a16:creationId xmlns:a16="http://schemas.microsoft.com/office/drawing/2014/main" id="{FD0539A4-4BE6-66E0-D324-0C3D2092FD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2" y="2900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7" name="Rectangle 20">
              <a:extLst>
                <a:ext uri="{FF2B5EF4-FFF2-40B4-BE49-F238E27FC236}">
                  <a16:creationId xmlns:a16="http://schemas.microsoft.com/office/drawing/2014/main" id="{8C0A2664-9B03-498E-A958-93E3ADF1F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2" y="2822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8" name="Rectangle 21">
              <a:extLst>
                <a:ext uri="{FF2B5EF4-FFF2-40B4-BE49-F238E27FC236}">
                  <a16:creationId xmlns:a16="http://schemas.microsoft.com/office/drawing/2014/main" id="{C8593068-A391-8E5E-353B-B06A7FC5C3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2" y="3662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9" name="Line 22">
              <a:extLst>
                <a:ext uri="{FF2B5EF4-FFF2-40B4-BE49-F238E27FC236}">
                  <a16:creationId xmlns:a16="http://schemas.microsoft.com/office/drawing/2014/main" id="{AC0B892B-CC4C-88FB-ED7A-1A82B5152F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3260"/>
              <a:ext cx="0" cy="48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0" name="Line 23">
              <a:extLst>
                <a:ext uri="{FF2B5EF4-FFF2-40B4-BE49-F238E27FC236}">
                  <a16:creationId xmlns:a16="http://schemas.microsoft.com/office/drawing/2014/main" id="{6FF0576F-9D3A-B1BD-29B4-9B9E83473D6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10" y="3260"/>
              <a:ext cx="0" cy="48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1" name="Line 24">
              <a:extLst>
                <a:ext uri="{FF2B5EF4-FFF2-40B4-BE49-F238E27FC236}">
                  <a16:creationId xmlns:a16="http://schemas.microsoft.com/office/drawing/2014/main" id="{0E36DA66-B7B6-A997-FED8-F1486F3557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2" y="2900"/>
              <a:ext cx="198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2" name="Line 25">
              <a:extLst>
                <a:ext uri="{FF2B5EF4-FFF2-40B4-BE49-F238E27FC236}">
                  <a16:creationId xmlns:a16="http://schemas.microsoft.com/office/drawing/2014/main" id="{4A0CF1C7-7655-28E4-84AC-3255FD2A3A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2902"/>
              <a:ext cx="198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3" name="Line 26">
              <a:extLst>
                <a:ext uri="{FF2B5EF4-FFF2-40B4-BE49-F238E27FC236}">
                  <a16:creationId xmlns:a16="http://schemas.microsoft.com/office/drawing/2014/main" id="{ADCC9761-E177-83DC-8CF6-6E7F9A49C7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0" y="3740"/>
              <a:ext cx="198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4" name="Line 27">
              <a:extLst>
                <a:ext uri="{FF2B5EF4-FFF2-40B4-BE49-F238E27FC236}">
                  <a16:creationId xmlns:a16="http://schemas.microsoft.com/office/drawing/2014/main" id="{D5703FEB-790B-EAEB-BB93-984B117F06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70" y="3740"/>
              <a:ext cx="120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5" name="Line 28">
              <a:extLst>
                <a:ext uri="{FF2B5EF4-FFF2-40B4-BE49-F238E27FC236}">
                  <a16:creationId xmlns:a16="http://schemas.microsoft.com/office/drawing/2014/main" id="{01240477-B465-7D7F-8AE9-5B1A213575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50" y="2900"/>
              <a:ext cx="210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7" name="Line 29">
              <a:extLst>
                <a:ext uri="{FF2B5EF4-FFF2-40B4-BE49-F238E27FC236}">
                  <a16:creationId xmlns:a16="http://schemas.microsoft.com/office/drawing/2014/main" id="{8466D7F9-A4BB-5A7F-0ADE-A8B9689FC2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94" y="2954"/>
              <a:ext cx="0" cy="108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8" name="Line 30">
              <a:extLst>
                <a:ext uri="{FF2B5EF4-FFF2-40B4-BE49-F238E27FC236}">
                  <a16:creationId xmlns:a16="http://schemas.microsoft.com/office/drawing/2014/main" id="{E08C3FCF-29C4-03CA-7C37-C1F821C41C9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2" y="2942"/>
              <a:ext cx="0" cy="288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9" name="Line 31">
              <a:extLst>
                <a:ext uri="{FF2B5EF4-FFF2-40B4-BE49-F238E27FC236}">
                  <a16:creationId xmlns:a16="http://schemas.microsoft.com/office/drawing/2014/main" id="{EC130CEA-53D2-3888-BB17-13D11C1B83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06" y="3782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0" name="Line 32">
              <a:extLst>
                <a:ext uri="{FF2B5EF4-FFF2-40B4-BE49-F238E27FC236}">
                  <a16:creationId xmlns:a16="http://schemas.microsoft.com/office/drawing/2014/main" id="{4011B12C-9679-EAF2-199C-B4804ACC5BD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8" y="3770"/>
              <a:ext cx="0" cy="312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1" name="Line 33">
              <a:extLst>
                <a:ext uri="{FF2B5EF4-FFF2-40B4-BE49-F238E27FC236}">
                  <a16:creationId xmlns:a16="http://schemas.microsoft.com/office/drawing/2014/main" id="{A8183471-90BA-73D8-B027-AE626CC4F9F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340" y="2942"/>
              <a:ext cx="0" cy="1116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2" name="Line 34">
              <a:extLst>
                <a:ext uri="{FF2B5EF4-FFF2-40B4-BE49-F238E27FC236}">
                  <a16:creationId xmlns:a16="http://schemas.microsoft.com/office/drawing/2014/main" id="{96018AF0-1EB8-9EB8-07B3-E8489177E9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86" y="2942"/>
              <a:ext cx="0" cy="258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3" name="Text Box 35">
              <a:extLst>
                <a:ext uri="{FF2B5EF4-FFF2-40B4-BE49-F238E27FC236}">
                  <a16:creationId xmlns:a16="http://schemas.microsoft.com/office/drawing/2014/main" id="{F64D138B-CB5C-6EEC-1428-7644450ABD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99" y="303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4" name="Text Box 36">
              <a:extLst>
                <a:ext uri="{FF2B5EF4-FFF2-40B4-BE49-F238E27FC236}">
                  <a16:creationId xmlns:a16="http://schemas.microsoft.com/office/drawing/2014/main" id="{2FA4F983-715E-41EC-59B0-0223C7F7F3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81" y="3344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5" name="Text Box 37">
              <a:extLst>
                <a:ext uri="{FF2B5EF4-FFF2-40B4-BE49-F238E27FC236}">
                  <a16:creationId xmlns:a16="http://schemas.microsoft.com/office/drawing/2014/main" id="{32BA6EE9-0F1B-8A4C-0F7D-7751D6FDFF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45" y="303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6" name="Text Box 38">
              <a:extLst>
                <a:ext uri="{FF2B5EF4-FFF2-40B4-BE49-F238E27FC236}">
                  <a16:creationId xmlns:a16="http://schemas.microsoft.com/office/drawing/2014/main" id="{8313A87A-E2E0-D6D2-3A41-AD26B64C21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61" y="337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7" name="Line 39">
              <a:extLst>
                <a:ext uri="{FF2B5EF4-FFF2-40B4-BE49-F238E27FC236}">
                  <a16:creationId xmlns:a16="http://schemas.microsoft.com/office/drawing/2014/main" id="{C47C4EEB-C7B6-47CD-2F18-B3D8F9D857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56" y="3656"/>
              <a:ext cx="16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8" name="Line 40">
              <a:extLst>
                <a:ext uri="{FF2B5EF4-FFF2-40B4-BE49-F238E27FC236}">
                  <a16:creationId xmlns:a16="http://schemas.microsoft.com/office/drawing/2014/main" id="{14E78428-F41D-B1E2-69F3-CE5E79C20C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68" y="3296"/>
              <a:ext cx="160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9" name="Rectangle 41">
              <a:extLst>
                <a:ext uri="{FF2B5EF4-FFF2-40B4-BE49-F238E27FC236}">
                  <a16:creationId xmlns:a16="http://schemas.microsoft.com/office/drawing/2014/main" id="{89B5D437-430C-7E55-1161-F448D2B8B0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" y="3218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0" name="Line 42">
              <a:extLst>
                <a:ext uri="{FF2B5EF4-FFF2-40B4-BE49-F238E27FC236}">
                  <a16:creationId xmlns:a16="http://schemas.microsoft.com/office/drawing/2014/main" id="{FC340E28-ED84-F8DB-B015-07376F4112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362" y="3320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1" name="Line 43">
              <a:extLst>
                <a:ext uri="{FF2B5EF4-FFF2-40B4-BE49-F238E27FC236}">
                  <a16:creationId xmlns:a16="http://schemas.microsoft.com/office/drawing/2014/main" id="{05122EF6-614C-781B-6A7E-2EC6557D07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000" y="3308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2A8180C2-A1C5-9979-F8ED-C0DB9B709B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40" y="3296"/>
              <a:ext cx="222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3" name="Line 45">
              <a:extLst>
                <a:ext uri="{FF2B5EF4-FFF2-40B4-BE49-F238E27FC236}">
                  <a16:creationId xmlns:a16="http://schemas.microsoft.com/office/drawing/2014/main" id="{52E24DB8-1C8E-E2C0-618B-00AFB17C8A5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640" y="3296"/>
              <a:ext cx="180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4" name="Text Box 46">
              <a:extLst>
                <a:ext uri="{FF2B5EF4-FFF2-40B4-BE49-F238E27FC236}">
                  <a16:creationId xmlns:a16="http://schemas.microsoft.com/office/drawing/2014/main" id="{76EC5B11-BCDB-40CE-5874-DF3B71937E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003" y="3401"/>
              <a:ext cx="317" cy="29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5" name="Text Box 47">
              <a:extLst>
                <a:ext uri="{FF2B5EF4-FFF2-40B4-BE49-F238E27FC236}">
                  <a16:creationId xmlns:a16="http://schemas.microsoft.com/office/drawing/2014/main" id="{0C874DEA-0FCB-A4E1-E72A-6B4E97552C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52" y="2975"/>
              <a:ext cx="383" cy="295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Q'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6" name="Text Box 48">
              <a:extLst>
                <a:ext uri="{FF2B5EF4-FFF2-40B4-BE49-F238E27FC236}">
                  <a16:creationId xmlns:a16="http://schemas.microsoft.com/office/drawing/2014/main" id="{97FEFDA9-D29E-33A2-3A32-7EF67E844F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2" y="3797"/>
              <a:ext cx="444" cy="266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Q"</a:t>
              </a:r>
              <a:endParaRPr kumimoji="0" lang="fr-FR" sz="13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7" name="Line 49">
              <a:extLst>
                <a:ext uri="{FF2B5EF4-FFF2-40B4-BE49-F238E27FC236}">
                  <a16:creationId xmlns:a16="http://schemas.microsoft.com/office/drawing/2014/main" id="{417F472C-3F32-80AE-0DF2-37E84DFE28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70" y="2900"/>
              <a:ext cx="210" cy="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</p:grp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ED596BEE-50CE-B963-7F57-80057BAD5647}"/>
              </a:ext>
            </a:extLst>
          </p:cNvPr>
          <p:cNvSpPr/>
          <p:nvPr/>
        </p:nvSpPr>
        <p:spPr>
          <a:xfrm>
            <a:off x="4495800" y="3212200"/>
            <a:ext cx="667881" cy="553998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1404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8026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Association de Quadripôles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4.2 En série</a:t>
            </a:r>
            <a:endParaRPr lang="fr-FR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0EDEF5DD-E7FC-24E3-1B5B-6F7197EED8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90902" y="1360221"/>
            <a:ext cx="7724775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8A30A7C5-6E25-FCFE-794A-55AEE5D6E34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7402902"/>
              </p:ext>
            </p:extLst>
          </p:nvPr>
        </p:nvGraphicFramePr>
        <p:xfrm>
          <a:off x="2819400" y="2398630"/>
          <a:ext cx="4142821" cy="912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2806700" imgH="622300" progId="">
                  <p:embed/>
                </p:oleObj>
              </mc:Choice>
              <mc:Fallback>
                <p:oleObj r:id="rId4" imgW="2806700" imgH="622300" progId="">
                  <p:embed/>
                  <p:pic>
                    <p:nvPicPr>
                      <p:cNvPr id="3379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9400" y="2398630"/>
                        <a:ext cx="4142821" cy="912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2E3DA5B8-0B80-E42A-4565-0DAB6DDC49DF}"/>
              </a:ext>
            </a:extLst>
          </p:cNvPr>
          <p:cNvSpPr/>
          <p:nvPr/>
        </p:nvSpPr>
        <p:spPr>
          <a:xfrm>
            <a:off x="1760523" y="2617708"/>
            <a:ext cx="6767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>
                <a:latin typeface="Bookman Old Style" panose="02050604050505020204" pitchFamily="18" charset="0"/>
              </a:rPr>
              <a:t>d'où: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4E6831-7AE6-8D0F-8BDC-BBF1549FF822}"/>
              </a:ext>
            </a:extLst>
          </p:cNvPr>
          <p:cNvSpPr txBox="1"/>
          <p:nvPr/>
        </p:nvSpPr>
        <p:spPr>
          <a:xfrm>
            <a:off x="484792" y="3790950"/>
            <a:ext cx="8278207" cy="83099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fr-FR"/>
            </a:defPPr>
            <a:lvl1pPr algn="just">
              <a:defRPr sz="1600">
                <a:latin typeface="Bookman Old Style" panose="02050604050505020204" pitchFamily="18" charset="0"/>
              </a:defRPr>
            </a:lvl1pPr>
          </a:lstStyle>
          <a:p>
            <a:r>
              <a:rPr lang="fr-FR" dirty="0"/>
              <a:t>Pour deux </a:t>
            </a:r>
            <a:r>
              <a:rPr lang="fr-FR" b="1" dirty="0"/>
              <a:t>(n) quadripôles</a:t>
            </a:r>
            <a:r>
              <a:rPr lang="fr-FR" dirty="0"/>
              <a:t> montés </a:t>
            </a:r>
            <a:r>
              <a:rPr lang="fr-FR" b="1" dirty="0"/>
              <a:t>en série</a:t>
            </a:r>
            <a:r>
              <a:rPr lang="fr-FR" dirty="0"/>
              <a:t>, leurs matrices </a:t>
            </a:r>
            <a:r>
              <a:rPr lang="fr-FR" b="1" dirty="0"/>
              <a:t>impédances</a:t>
            </a:r>
            <a:r>
              <a:rPr lang="fr-FR" dirty="0"/>
              <a:t> </a:t>
            </a:r>
            <a:r>
              <a:rPr lang="fr-FR" b="1" dirty="0"/>
              <a:t>s'ajoutent</a:t>
            </a:r>
            <a:r>
              <a:rPr lang="fr-FR" dirty="0"/>
              <a:t> pour représenter la matrice impédance du quadripôle équivalent à la mise en série des deux (n) quadripôles élémentaires</a:t>
            </a:r>
          </a:p>
        </p:txBody>
      </p:sp>
    </p:spTree>
    <p:extLst>
      <p:ext uri="{BB962C8B-B14F-4D97-AF65-F5344CB8AC3E}">
        <p14:creationId xmlns:p14="http://schemas.microsoft.com/office/powerpoint/2010/main" val="31862563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8026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Association de Quadripôles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4.3 En cascade</a:t>
            </a:r>
            <a:endParaRPr lang="fr-FR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D01C9D-EF7C-D012-928E-9C24FEB2F053}"/>
              </a:ext>
            </a:extLst>
          </p:cNvPr>
          <p:cNvSpPr/>
          <p:nvPr/>
        </p:nvSpPr>
        <p:spPr>
          <a:xfrm>
            <a:off x="576301" y="1309756"/>
            <a:ext cx="84168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500" dirty="0">
                <a:latin typeface="Bookman Old Style" panose="02050604050505020204" pitchFamily="18" charset="0"/>
              </a:rPr>
              <a:t>Les grandeurs de </a:t>
            </a:r>
            <a:r>
              <a:rPr lang="fr-FR" sz="1500" b="1" dirty="0">
                <a:latin typeface="Bookman Old Style" panose="02050604050505020204" pitchFamily="18" charset="0"/>
              </a:rPr>
              <a:t>sortie</a:t>
            </a:r>
            <a:r>
              <a:rPr lang="fr-FR" sz="1500" dirty="0">
                <a:latin typeface="Bookman Old Style" panose="02050604050505020204" pitchFamily="18" charset="0"/>
              </a:rPr>
              <a:t> de </a:t>
            </a:r>
            <a:r>
              <a:rPr lang="fr-FR" sz="1500" b="1" dirty="0">
                <a:latin typeface="Bookman Old Style" panose="02050604050505020204" pitchFamily="18" charset="0"/>
              </a:rPr>
              <a:t>Q' </a:t>
            </a:r>
            <a:r>
              <a:rPr lang="fr-FR" sz="1500" dirty="0">
                <a:latin typeface="Bookman Old Style" panose="02050604050505020204" pitchFamily="18" charset="0"/>
              </a:rPr>
              <a:t>sont les grandeurs d'</a:t>
            </a:r>
            <a:r>
              <a:rPr lang="fr-FR" sz="1500" b="1" dirty="0">
                <a:latin typeface="Bookman Old Style" panose="02050604050505020204" pitchFamily="18" charset="0"/>
              </a:rPr>
              <a:t>entrée</a:t>
            </a:r>
            <a:r>
              <a:rPr lang="fr-FR" sz="1500" dirty="0">
                <a:latin typeface="Bookman Old Style" panose="02050604050505020204" pitchFamily="18" charset="0"/>
              </a:rPr>
              <a:t> de </a:t>
            </a:r>
            <a:r>
              <a:rPr lang="fr-FR" sz="1500" b="1" dirty="0">
                <a:latin typeface="Bookman Old Style" panose="02050604050505020204" pitchFamily="18" charset="0"/>
              </a:rPr>
              <a:t>Q"</a:t>
            </a:r>
            <a:r>
              <a:rPr lang="fr-FR" sz="1500" dirty="0">
                <a:latin typeface="Bookman Old Style" panose="02050604050505020204" pitchFamily="18" charset="0"/>
              </a:rPr>
              <a:t> → utilisation de la matrice </a:t>
            </a:r>
            <a:r>
              <a:rPr lang="fr-FR" sz="1500" b="1" dirty="0">
                <a:latin typeface="Bookman Old Style" panose="02050604050505020204" pitchFamily="18" charset="0"/>
              </a:rPr>
              <a:t>transmittance [t].</a:t>
            </a:r>
          </a:p>
        </p:txBody>
      </p:sp>
      <p:grpSp>
        <p:nvGrpSpPr>
          <p:cNvPr id="16" name="Group 2">
            <a:extLst>
              <a:ext uri="{FF2B5EF4-FFF2-40B4-BE49-F238E27FC236}">
                <a16:creationId xmlns:a16="http://schemas.microsoft.com/office/drawing/2014/main" id="{BBAC6A9D-D200-B2EE-9C95-F0F94902F021}"/>
              </a:ext>
            </a:extLst>
          </p:cNvPr>
          <p:cNvGrpSpPr>
            <a:grpSpLocks/>
          </p:cNvGrpSpPr>
          <p:nvPr/>
        </p:nvGrpSpPr>
        <p:grpSpPr bwMode="auto">
          <a:xfrm>
            <a:off x="537815" y="2223491"/>
            <a:ext cx="8250040" cy="1169028"/>
            <a:chOff x="1298" y="8794"/>
            <a:chExt cx="9021" cy="766"/>
          </a:xfrm>
        </p:grpSpPr>
        <p:sp>
          <p:nvSpPr>
            <p:cNvPr id="17" name="Text Box 3">
              <a:extLst>
                <a:ext uri="{FF2B5EF4-FFF2-40B4-BE49-F238E27FC236}">
                  <a16:creationId xmlns:a16="http://schemas.microsoft.com/office/drawing/2014/main" id="{354DE89F-4CFE-B6F1-00F6-84D529C947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90" y="8794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0" name="Text Box 4">
              <a:extLst>
                <a:ext uri="{FF2B5EF4-FFF2-40B4-BE49-F238E27FC236}">
                  <a16:creationId xmlns:a16="http://schemas.microsoft.com/office/drawing/2014/main" id="{CE72061E-98EE-0A53-3221-4A93F73786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1" y="8794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I"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1" name="Text Box 5">
              <a:extLst>
                <a:ext uri="{FF2B5EF4-FFF2-40B4-BE49-F238E27FC236}">
                  <a16:creationId xmlns:a16="http://schemas.microsoft.com/office/drawing/2014/main" id="{3A5ADADB-3DF9-26B2-5843-CA7D9C9F9C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36" y="8794"/>
              <a:ext cx="840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= I"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2" name="Text Box 6">
              <a:extLst>
                <a:ext uri="{FF2B5EF4-FFF2-40B4-BE49-F238E27FC236}">
                  <a16:creationId xmlns:a16="http://schemas.microsoft.com/office/drawing/2014/main" id="{AC05F558-8294-34A2-4907-CC47C221BA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40" y="8818"/>
              <a:ext cx="732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=I'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 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3" name="Text Box 7">
              <a:extLst>
                <a:ext uri="{FF2B5EF4-FFF2-40B4-BE49-F238E27FC236}">
                  <a16:creationId xmlns:a16="http://schemas.microsoft.com/office/drawing/2014/main" id="{298C8DFF-D9A0-EB59-1EAE-E025A1358D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7" y="9129"/>
              <a:ext cx="561" cy="263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V"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4" name="Text Box 8">
              <a:extLst>
                <a:ext uri="{FF2B5EF4-FFF2-40B4-BE49-F238E27FC236}">
                  <a16:creationId xmlns:a16="http://schemas.microsoft.com/office/drawing/2014/main" id="{D42CC44D-4B08-478F-A3AE-BFC49E9DD7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4" y="9129"/>
              <a:ext cx="561" cy="2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5" name="Text Box 9">
              <a:extLst>
                <a:ext uri="{FF2B5EF4-FFF2-40B4-BE49-F238E27FC236}">
                  <a16:creationId xmlns:a16="http://schemas.microsoft.com/office/drawing/2014/main" id="{06E1DF54-E7AF-2E91-29BC-F758798B23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69" y="9129"/>
              <a:ext cx="856" cy="2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=V"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6" name="Text Box 10">
              <a:extLst>
                <a:ext uri="{FF2B5EF4-FFF2-40B4-BE49-F238E27FC236}">
                  <a16:creationId xmlns:a16="http://schemas.microsoft.com/office/drawing/2014/main" id="{EB3CBF9C-B33F-58B8-34DB-2406ECCF09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8" y="9105"/>
              <a:ext cx="876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=V'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7" name="Line 11">
              <a:extLst>
                <a:ext uri="{FF2B5EF4-FFF2-40B4-BE49-F238E27FC236}">
                  <a16:creationId xmlns:a16="http://schemas.microsoft.com/office/drawing/2014/main" id="{64BF6B78-2269-3148-DCAA-3BBE623E87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66" y="9403"/>
              <a:ext cx="423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8" name="Line 12">
              <a:extLst>
                <a:ext uri="{FF2B5EF4-FFF2-40B4-BE49-F238E27FC236}">
                  <a16:creationId xmlns:a16="http://schemas.microsoft.com/office/drawing/2014/main" id="{FBFD6462-1230-EB9E-B49C-AF2920D9AE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78" y="9013"/>
              <a:ext cx="421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9" name="Rectangle 13">
              <a:extLst>
                <a:ext uri="{FF2B5EF4-FFF2-40B4-BE49-F238E27FC236}">
                  <a16:creationId xmlns:a16="http://schemas.microsoft.com/office/drawing/2014/main" id="{F5E92C54-A920-9362-7A4D-B933DE11ED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8" y="8936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0" name="Line 14">
              <a:extLst>
                <a:ext uri="{FF2B5EF4-FFF2-40B4-BE49-F238E27FC236}">
                  <a16:creationId xmlns:a16="http://schemas.microsoft.com/office/drawing/2014/main" id="{E0C49391-31C3-E3CC-0CF7-8C59170114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32" y="9037"/>
              <a:ext cx="0" cy="30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1" name="Line 15">
              <a:extLst>
                <a:ext uri="{FF2B5EF4-FFF2-40B4-BE49-F238E27FC236}">
                  <a16:creationId xmlns:a16="http://schemas.microsoft.com/office/drawing/2014/main" id="{0C918EC2-BC2A-3AB4-DA11-7B51E94C357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08" y="9043"/>
              <a:ext cx="0" cy="30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2" name="Line 16">
              <a:extLst>
                <a:ext uri="{FF2B5EF4-FFF2-40B4-BE49-F238E27FC236}">
                  <a16:creationId xmlns:a16="http://schemas.microsoft.com/office/drawing/2014/main" id="{7A459743-E10A-C9AC-A9C7-4F2F84AC75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08" y="9013"/>
              <a:ext cx="222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3" name="Line 17">
              <a:extLst>
                <a:ext uri="{FF2B5EF4-FFF2-40B4-BE49-F238E27FC236}">
                  <a16:creationId xmlns:a16="http://schemas.microsoft.com/office/drawing/2014/main" id="{1E7B907F-0BE2-5523-D4AB-07CAB2FA13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150" y="9013"/>
              <a:ext cx="18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4" name="Rectangle 18">
              <a:extLst>
                <a:ext uri="{FF2B5EF4-FFF2-40B4-BE49-F238E27FC236}">
                  <a16:creationId xmlns:a16="http://schemas.microsoft.com/office/drawing/2014/main" id="{584898E0-3920-D4BB-8600-C7759BC66E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48" y="8924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5" name="Line 19">
              <a:extLst>
                <a:ext uri="{FF2B5EF4-FFF2-40B4-BE49-F238E27FC236}">
                  <a16:creationId xmlns:a16="http://schemas.microsoft.com/office/drawing/2014/main" id="{C9E256D5-3C0F-69FF-8012-22E70D91C96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62" y="9049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6" name="Line 20">
              <a:extLst>
                <a:ext uri="{FF2B5EF4-FFF2-40B4-BE49-F238E27FC236}">
                  <a16:creationId xmlns:a16="http://schemas.microsoft.com/office/drawing/2014/main" id="{DFB697B7-7590-57C3-6134-8A0FD9738E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08" y="9055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7" name="Line 21">
              <a:extLst>
                <a:ext uri="{FF2B5EF4-FFF2-40B4-BE49-F238E27FC236}">
                  <a16:creationId xmlns:a16="http://schemas.microsoft.com/office/drawing/2014/main" id="{F3F981A0-E4F0-125B-C99C-E4D4C4F671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0" y="9010"/>
              <a:ext cx="192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8" name="Line 22">
              <a:extLst>
                <a:ext uri="{FF2B5EF4-FFF2-40B4-BE49-F238E27FC236}">
                  <a16:creationId xmlns:a16="http://schemas.microsoft.com/office/drawing/2014/main" id="{5D708C2D-4C7B-EEF4-0F45-08198C6207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610" y="9010"/>
              <a:ext cx="222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9" name="Text Box 23">
              <a:extLst>
                <a:ext uri="{FF2B5EF4-FFF2-40B4-BE49-F238E27FC236}">
                  <a16:creationId xmlns:a16="http://schemas.microsoft.com/office/drawing/2014/main" id="{F74395DE-9E51-072E-CFA0-21D0653081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81" y="8794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0" name="Text Box 24">
              <a:extLst>
                <a:ext uri="{FF2B5EF4-FFF2-40B4-BE49-F238E27FC236}">
                  <a16:creationId xmlns:a16="http://schemas.microsoft.com/office/drawing/2014/main" id="{2975C13B-2C31-6A5B-35D4-7BC49C782E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58" y="9058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1" name="Text Box 25">
              <a:extLst>
                <a:ext uri="{FF2B5EF4-FFF2-40B4-BE49-F238E27FC236}">
                  <a16:creationId xmlns:a16="http://schemas.microsoft.com/office/drawing/2014/main" id="{FB97951E-ED71-F393-EF37-1C4B0CFE97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61" y="8794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2" name="Text Box 26">
              <a:extLst>
                <a:ext uri="{FF2B5EF4-FFF2-40B4-BE49-F238E27FC236}">
                  <a16:creationId xmlns:a16="http://schemas.microsoft.com/office/drawing/2014/main" id="{A10B1BE5-DBB1-0C58-268F-883C7C29D3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84" y="9081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3" name="Line 27">
              <a:extLst>
                <a:ext uri="{FF2B5EF4-FFF2-40B4-BE49-F238E27FC236}">
                  <a16:creationId xmlns:a16="http://schemas.microsoft.com/office/drawing/2014/main" id="{44446907-D6A7-6EEE-4A1C-9103459609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88" y="9356"/>
              <a:ext cx="16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4" name="Line 28">
              <a:extLst>
                <a:ext uri="{FF2B5EF4-FFF2-40B4-BE49-F238E27FC236}">
                  <a16:creationId xmlns:a16="http://schemas.microsoft.com/office/drawing/2014/main" id="{DD24636A-7376-1800-A99D-1B2FE1BCE5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0" y="9058"/>
              <a:ext cx="160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5" name="Rectangle 29">
              <a:extLst>
                <a:ext uri="{FF2B5EF4-FFF2-40B4-BE49-F238E27FC236}">
                  <a16:creationId xmlns:a16="http://schemas.microsoft.com/office/drawing/2014/main" id="{A7F7DF45-C27D-5448-D963-7593FCA047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80" y="8990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7" name="Line 30">
              <a:extLst>
                <a:ext uri="{FF2B5EF4-FFF2-40B4-BE49-F238E27FC236}">
                  <a16:creationId xmlns:a16="http://schemas.microsoft.com/office/drawing/2014/main" id="{B45A53E5-49EA-D6D7-AA73-AF86FE1A89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043" y="9069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8" name="Line 31">
              <a:extLst>
                <a:ext uri="{FF2B5EF4-FFF2-40B4-BE49-F238E27FC236}">
                  <a16:creationId xmlns:a16="http://schemas.microsoft.com/office/drawing/2014/main" id="{4745E723-C678-D5E6-6D86-9D9F559DE60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760" y="9058"/>
              <a:ext cx="0" cy="300"/>
            </a:xfrm>
            <a:prstGeom prst="line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9" name="Line 32">
              <a:extLst>
                <a:ext uri="{FF2B5EF4-FFF2-40B4-BE49-F238E27FC236}">
                  <a16:creationId xmlns:a16="http://schemas.microsoft.com/office/drawing/2014/main" id="{EDCF587B-402D-568F-677A-EC38762C2B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72" y="9058"/>
              <a:ext cx="222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0" name="Line 33">
              <a:extLst>
                <a:ext uri="{FF2B5EF4-FFF2-40B4-BE49-F238E27FC236}">
                  <a16:creationId xmlns:a16="http://schemas.microsoft.com/office/drawing/2014/main" id="{D70E9076-DF40-9E5F-CF7A-A06837BC3C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372" y="9058"/>
              <a:ext cx="18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1" name="Text Box 34">
              <a:extLst>
                <a:ext uri="{FF2B5EF4-FFF2-40B4-BE49-F238E27FC236}">
                  <a16:creationId xmlns:a16="http://schemas.microsoft.com/office/drawing/2014/main" id="{CA54B6B4-AF4F-5B81-BBAB-0D84BE381C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20" y="9129"/>
              <a:ext cx="282" cy="2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2" name="Text Box 35">
              <a:extLst>
                <a:ext uri="{FF2B5EF4-FFF2-40B4-BE49-F238E27FC236}">
                  <a16:creationId xmlns:a16="http://schemas.microsoft.com/office/drawing/2014/main" id="{2A9A6CB0-5C4A-AA12-0E3E-A33B39285E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54" y="9104"/>
              <a:ext cx="433" cy="265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Q'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3" name="Text Box 36">
              <a:extLst>
                <a:ext uri="{FF2B5EF4-FFF2-40B4-BE49-F238E27FC236}">
                  <a16:creationId xmlns:a16="http://schemas.microsoft.com/office/drawing/2014/main" id="{401D9212-A704-AC02-9101-3BA8DE9D0D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58" y="9076"/>
              <a:ext cx="450" cy="26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Q"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</p:grp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FEACC53F-1C36-EF41-71BB-6CFFBC221B4A}"/>
              </a:ext>
            </a:extLst>
          </p:cNvPr>
          <p:cNvSpPr/>
          <p:nvPr/>
        </p:nvSpPr>
        <p:spPr>
          <a:xfrm>
            <a:off x="5801892" y="2674288"/>
            <a:ext cx="379936" cy="40137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55" name="Object 37">
            <a:extLst>
              <a:ext uri="{FF2B5EF4-FFF2-40B4-BE49-F238E27FC236}">
                <a16:creationId xmlns:a16="http://schemas.microsoft.com/office/drawing/2014/main" id="{9853E178-BE97-9436-9F36-FF656A7068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1453478"/>
              </p:ext>
            </p:extLst>
          </p:nvPr>
        </p:nvGraphicFramePr>
        <p:xfrm>
          <a:off x="2005028" y="3881539"/>
          <a:ext cx="4856229" cy="9105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2032000" imgH="495300" progId="">
                  <p:embed/>
                </p:oleObj>
              </mc:Choice>
              <mc:Fallback>
                <p:oleObj r:id="rId3" imgW="2032000" imgH="495300" progId="">
                  <p:embed/>
                  <p:pic>
                    <p:nvPicPr>
                      <p:cNvPr id="3792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5028" y="3881539"/>
                        <a:ext cx="4856229" cy="9105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719537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8026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Association de Quadripôles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4.3 En cascade</a:t>
            </a:r>
            <a:endParaRPr lang="fr-FR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3" name="Object 1">
            <a:extLst>
              <a:ext uri="{FF2B5EF4-FFF2-40B4-BE49-F238E27FC236}">
                <a16:creationId xmlns:a16="http://schemas.microsoft.com/office/drawing/2014/main" id="{9575F2DD-0155-81FB-6F97-6082CCEAFC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9648213"/>
              </p:ext>
            </p:extLst>
          </p:nvPr>
        </p:nvGraphicFramePr>
        <p:xfrm>
          <a:off x="2527674" y="1135311"/>
          <a:ext cx="6024645" cy="233370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6248400" imgH="1892300" progId="">
                  <p:embed/>
                </p:oleObj>
              </mc:Choice>
              <mc:Fallback>
                <p:oleObj r:id="rId3" imgW="6248400" imgH="1892300" progId="">
                  <p:embed/>
                  <p:pic>
                    <p:nvPicPr>
                      <p:cNvPr id="38913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27674" y="1135311"/>
                        <a:ext cx="6024645" cy="233370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EDBB455C-D495-E43D-AB0F-86066B2EF98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6596671"/>
              </p:ext>
            </p:extLst>
          </p:nvPr>
        </p:nvGraphicFramePr>
        <p:xfrm>
          <a:off x="3107102" y="3661762"/>
          <a:ext cx="2492375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1993900" imgH="495300" progId="">
                  <p:embed/>
                </p:oleObj>
              </mc:Choice>
              <mc:Fallback>
                <p:oleObj r:id="rId5" imgW="1993900" imgH="495300" progId="">
                  <p:embed/>
                  <p:pic>
                    <p:nvPicPr>
                      <p:cNvPr id="3891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07102" y="3661762"/>
                        <a:ext cx="2492375" cy="62071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2D67C4EC-FFF1-4880-EAE0-1637357AB2B2}"/>
              </a:ext>
            </a:extLst>
          </p:cNvPr>
          <p:cNvSpPr/>
          <p:nvPr/>
        </p:nvSpPr>
        <p:spPr>
          <a:xfrm>
            <a:off x="1600200" y="3707249"/>
            <a:ext cx="69923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>
                <a:latin typeface="Bookman Old Style" panose="02050604050505020204" pitchFamily="18" charset="0"/>
              </a:rPr>
              <a:t>d'où: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76F736-A89C-8473-4D31-1A0ECFE910B3}"/>
              </a:ext>
            </a:extLst>
          </p:cNvPr>
          <p:cNvSpPr/>
          <p:nvPr/>
        </p:nvSpPr>
        <p:spPr>
          <a:xfrm>
            <a:off x="581894" y="4282475"/>
            <a:ext cx="818110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sz="1400" dirty="0">
                <a:latin typeface="Bookman Old Style" panose="02050604050505020204" pitchFamily="18" charset="0"/>
              </a:rPr>
              <a:t>Pour deux </a:t>
            </a:r>
            <a:r>
              <a:rPr lang="fr-FR" sz="1400" b="1" dirty="0">
                <a:latin typeface="Bookman Old Style" panose="02050604050505020204" pitchFamily="18" charset="0"/>
              </a:rPr>
              <a:t>(n) quadripôles</a:t>
            </a:r>
            <a:r>
              <a:rPr lang="fr-FR" sz="1400" dirty="0">
                <a:latin typeface="Bookman Old Style" panose="02050604050505020204" pitchFamily="18" charset="0"/>
              </a:rPr>
              <a:t> montés en </a:t>
            </a:r>
            <a:r>
              <a:rPr lang="fr-FR" sz="1400" b="1" dirty="0">
                <a:latin typeface="Bookman Old Style" panose="02050604050505020204" pitchFamily="18" charset="0"/>
              </a:rPr>
              <a:t>cascade</a:t>
            </a:r>
            <a:r>
              <a:rPr lang="fr-FR" sz="1400" dirty="0">
                <a:latin typeface="Bookman Old Style" panose="02050604050505020204" pitchFamily="18" charset="0"/>
              </a:rPr>
              <a:t>, les matrices </a:t>
            </a:r>
            <a:r>
              <a:rPr lang="fr-FR" sz="1400" b="1" dirty="0">
                <a:latin typeface="Bookman Old Style" panose="02050604050505020204" pitchFamily="18" charset="0"/>
              </a:rPr>
              <a:t>transmittances</a:t>
            </a:r>
            <a:r>
              <a:rPr lang="fr-FR" sz="1400" dirty="0">
                <a:latin typeface="Bookman Old Style" panose="02050604050505020204" pitchFamily="18" charset="0"/>
              </a:rPr>
              <a:t> se </a:t>
            </a:r>
            <a:r>
              <a:rPr lang="fr-FR" sz="1400" b="1" dirty="0">
                <a:latin typeface="Bookman Old Style" panose="02050604050505020204" pitchFamily="18" charset="0"/>
              </a:rPr>
              <a:t>multiplient</a:t>
            </a:r>
            <a:r>
              <a:rPr lang="fr-FR" sz="1400" dirty="0">
                <a:latin typeface="Bookman Old Style" panose="02050604050505020204" pitchFamily="18" charset="0"/>
              </a:rPr>
              <a:t> pour représenter la matrice transmittance du quadripôle équivalent à la mise en cascade des deux (n) quadripôles élémentaires.</a:t>
            </a:r>
          </a:p>
        </p:txBody>
      </p:sp>
    </p:spTree>
    <p:extLst>
      <p:ext uri="{BB962C8B-B14F-4D97-AF65-F5344CB8AC3E}">
        <p14:creationId xmlns:p14="http://schemas.microsoft.com/office/powerpoint/2010/main" val="12230352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8026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Association de Quadripôles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4.4 En série-parallèle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7A6E20-30B7-2E3E-EF00-2E221ECBE311}"/>
              </a:ext>
            </a:extLst>
          </p:cNvPr>
          <p:cNvSpPr/>
          <p:nvPr/>
        </p:nvSpPr>
        <p:spPr>
          <a:xfrm>
            <a:off x="592082" y="1274733"/>
            <a:ext cx="832331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500" b="1" dirty="0">
                <a:latin typeface="Bookman Old Style" panose="02050604050505020204" pitchFamily="18" charset="0"/>
              </a:rPr>
              <a:t>Q' </a:t>
            </a:r>
            <a:r>
              <a:rPr lang="fr-FR" sz="1500" dirty="0">
                <a:latin typeface="Bookman Old Style" panose="02050604050505020204" pitchFamily="18" charset="0"/>
              </a:rPr>
              <a:t>et </a:t>
            </a:r>
            <a:r>
              <a:rPr lang="fr-FR" sz="1500" b="1" dirty="0">
                <a:latin typeface="Bookman Old Style" panose="02050604050505020204" pitchFamily="18" charset="0"/>
              </a:rPr>
              <a:t>Q"</a:t>
            </a:r>
            <a:r>
              <a:rPr lang="fr-FR" sz="1500" dirty="0">
                <a:latin typeface="Bookman Old Style" panose="02050604050505020204" pitchFamily="18" charset="0"/>
              </a:rPr>
              <a:t> sont traversés par le même courant d'</a:t>
            </a:r>
            <a:r>
              <a:rPr lang="fr-FR" sz="1500" b="1" dirty="0">
                <a:latin typeface="Bookman Old Style" panose="02050604050505020204" pitchFamily="18" charset="0"/>
              </a:rPr>
              <a:t>entrée</a:t>
            </a:r>
            <a:r>
              <a:rPr lang="fr-FR" sz="1500" dirty="0">
                <a:latin typeface="Bookman Old Style" panose="02050604050505020204" pitchFamily="18" charset="0"/>
              </a:rPr>
              <a:t> (entrée: série) et sont soumis à la même tension de </a:t>
            </a:r>
            <a:r>
              <a:rPr lang="fr-FR" sz="1500" b="1" dirty="0">
                <a:latin typeface="Bookman Old Style" panose="02050604050505020204" pitchFamily="18" charset="0"/>
              </a:rPr>
              <a:t>sortie</a:t>
            </a:r>
            <a:r>
              <a:rPr lang="fr-FR" sz="1500" dirty="0">
                <a:latin typeface="Bookman Old Style" panose="02050604050505020204" pitchFamily="18" charset="0"/>
              </a:rPr>
              <a:t> (sortie: parallèle) → utilisation de la matrice </a:t>
            </a:r>
            <a:r>
              <a:rPr lang="fr-FR" sz="1500" b="1" dirty="0">
                <a:latin typeface="Bookman Old Style" panose="02050604050505020204" pitchFamily="18" charset="0"/>
              </a:rPr>
              <a:t>hybride</a:t>
            </a:r>
            <a:r>
              <a:rPr lang="fr-FR" sz="1500" dirty="0">
                <a:latin typeface="Bookman Old Style" panose="02050604050505020204" pitchFamily="18" charset="0"/>
              </a:rPr>
              <a:t> </a:t>
            </a:r>
            <a:r>
              <a:rPr lang="fr-FR" sz="1500" b="1" dirty="0">
                <a:latin typeface="Bookman Old Style" panose="02050604050505020204" pitchFamily="18" charset="0"/>
              </a:rPr>
              <a:t>[h]</a:t>
            </a:r>
            <a:r>
              <a:rPr lang="fr-FR" sz="1500" dirty="0">
                <a:latin typeface="Bookman Old Style" panose="02050604050505020204" pitchFamily="18" charset="0"/>
              </a:rPr>
              <a:t>.</a:t>
            </a:r>
          </a:p>
        </p:txBody>
      </p:sp>
      <p:grpSp>
        <p:nvGrpSpPr>
          <p:cNvPr id="16" name="Group 2">
            <a:extLst>
              <a:ext uri="{FF2B5EF4-FFF2-40B4-BE49-F238E27FC236}">
                <a16:creationId xmlns:a16="http://schemas.microsoft.com/office/drawing/2014/main" id="{4238D109-2C07-D7A8-4E37-3AAFCDB24907}"/>
              </a:ext>
            </a:extLst>
          </p:cNvPr>
          <p:cNvGrpSpPr>
            <a:grpSpLocks/>
          </p:cNvGrpSpPr>
          <p:nvPr/>
        </p:nvGrpSpPr>
        <p:grpSpPr bwMode="auto">
          <a:xfrm>
            <a:off x="819325" y="2042413"/>
            <a:ext cx="7266131" cy="1694305"/>
            <a:chOff x="2100" y="2936"/>
            <a:chExt cx="7553" cy="1656"/>
          </a:xfrm>
        </p:grpSpPr>
        <p:sp>
          <p:nvSpPr>
            <p:cNvPr id="17" name="Text Box 3">
              <a:extLst>
                <a:ext uri="{FF2B5EF4-FFF2-40B4-BE49-F238E27FC236}">
                  <a16:creationId xmlns:a16="http://schemas.microsoft.com/office/drawing/2014/main" id="{8FDD4CBC-64AC-04E7-E3C6-06B6E22C1B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04" y="329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0" name="Text Box 4">
              <a:extLst>
                <a:ext uri="{FF2B5EF4-FFF2-40B4-BE49-F238E27FC236}">
                  <a16:creationId xmlns:a16="http://schemas.microsoft.com/office/drawing/2014/main" id="{6EB3B3D7-28D0-D3A9-A02B-33FD1E6344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92" y="3685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1" name="Text Box 5">
              <a:extLst>
                <a:ext uri="{FF2B5EF4-FFF2-40B4-BE49-F238E27FC236}">
                  <a16:creationId xmlns:a16="http://schemas.microsoft.com/office/drawing/2014/main" id="{5EFE74AF-7AFD-AB3D-E707-8784D2CE1D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36" y="329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2" name="Text Box 6">
              <a:extLst>
                <a:ext uri="{FF2B5EF4-FFF2-40B4-BE49-F238E27FC236}">
                  <a16:creationId xmlns:a16="http://schemas.microsoft.com/office/drawing/2014/main" id="{8A322BB7-8B5B-1EE5-3675-905AFE9CB2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56" y="3721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3" name="Line 7">
              <a:extLst>
                <a:ext uri="{FF2B5EF4-FFF2-40B4-BE49-F238E27FC236}">
                  <a16:creationId xmlns:a16="http://schemas.microsoft.com/office/drawing/2014/main" id="{842AD5E1-7A11-39D1-47E0-B8FC775664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64" y="3998"/>
              <a:ext cx="16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4" name="Line 8">
              <a:extLst>
                <a:ext uri="{FF2B5EF4-FFF2-40B4-BE49-F238E27FC236}">
                  <a16:creationId xmlns:a16="http://schemas.microsoft.com/office/drawing/2014/main" id="{7E7E9811-BD61-CA25-D32A-81A6780B84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76" y="3638"/>
              <a:ext cx="160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46299BA8-C862-9825-7F26-BFE9F73C74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6" y="3560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6" name="Line 10">
              <a:extLst>
                <a:ext uri="{FF2B5EF4-FFF2-40B4-BE49-F238E27FC236}">
                  <a16:creationId xmlns:a16="http://schemas.microsoft.com/office/drawing/2014/main" id="{2223A081-FA0D-E52A-4001-124A7CD7F9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70" y="3662"/>
              <a:ext cx="0" cy="30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7" name="Line 11">
              <a:extLst>
                <a:ext uri="{FF2B5EF4-FFF2-40B4-BE49-F238E27FC236}">
                  <a16:creationId xmlns:a16="http://schemas.microsoft.com/office/drawing/2014/main" id="{6BA46FF6-C943-55C4-6BA3-7323DD10E3C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108" y="3650"/>
              <a:ext cx="0" cy="30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8" name="Line 12">
              <a:extLst>
                <a:ext uri="{FF2B5EF4-FFF2-40B4-BE49-F238E27FC236}">
                  <a16:creationId xmlns:a16="http://schemas.microsoft.com/office/drawing/2014/main" id="{9636A5FE-7A31-4542-1BAF-FE9B6247C0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48" y="3638"/>
              <a:ext cx="222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9" name="Line 13">
              <a:extLst>
                <a:ext uri="{FF2B5EF4-FFF2-40B4-BE49-F238E27FC236}">
                  <a16:creationId xmlns:a16="http://schemas.microsoft.com/office/drawing/2014/main" id="{1784427F-BB2F-4EE8-0189-513CA5E3EF3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748" y="3638"/>
              <a:ext cx="18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0" name="Text Box 14">
              <a:extLst>
                <a:ext uri="{FF2B5EF4-FFF2-40B4-BE49-F238E27FC236}">
                  <a16:creationId xmlns:a16="http://schemas.microsoft.com/office/drawing/2014/main" id="{D8CF89B1-D9F6-2D01-E74E-7574A62103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00" y="3675"/>
              <a:ext cx="414" cy="346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1" name="Text Box 15">
              <a:extLst>
                <a:ext uri="{FF2B5EF4-FFF2-40B4-BE49-F238E27FC236}">
                  <a16:creationId xmlns:a16="http://schemas.microsoft.com/office/drawing/2014/main" id="{678A37D3-90D3-094B-7A4E-4754B6474B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47" y="3828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I"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2" name="Text Box 16">
              <a:extLst>
                <a:ext uri="{FF2B5EF4-FFF2-40B4-BE49-F238E27FC236}">
                  <a16:creationId xmlns:a16="http://schemas.microsoft.com/office/drawing/2014/main" id="{9E05F622-2DEB-7E09-BDA3-83F8DE596D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0" y="371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I"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3" name="Text Box 17">
              <a:extLst>
                <a:ext uri="{FF2B5EF4-FFF2-40B4-BE49-F238E27FC236}">
                  <a16:creationId xmlns:a16="http://schemas.microsoft.com/office/drawing/2014/main" id="{A3AC6903-357C-AE95-01B2-FD014CB509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03" y="2936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4" name="Text Box 18">
              <a:extLst>
                <a:ext uri="{FF2B5EF4-FFF2-40B4-BE49-F238E27FC236}">
                  <a16:creationId xmlns:a16="http://schemas.microsoft.com/office/drawing/2014/main" id="{6C8F02EC-9E6F-7BB5-907C-6E82426C2D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31" y="2950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3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3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5" name="Text Box 19">
              <a:extLst>
                <a:ext uri="{FF2B5EF4-FFF2-40B4-BE49-F238E27FC236}">
                  <a16:creationId xmlns:a16="http://schemas.microsoft.com/office/drawing/2014/main" id="{0B339BAA-E43D-44F7-1833-24F438DA14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81" y="4149"/>
              <a:ext cx="642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V"</a:t>
              </a:r>
              <a:r>
                <a:rPr kumimoji="0" lang="fr-FR" sz="13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3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6" name="Text Box 20">
              <a:extLst>
                <a:ext uri="{FF2B5EF4-FFF2-40B4-BE49-F238E27FC236}">
                  <a16:creationId xmlns:a16="http://schemas.microsoft.com/office/drawing/2014/main" id="{7AE85190-EE1A-3B13-4459-5AC51993C6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9" y="3293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7" name="Text Box 21">
              <a:extLst>
                <a:ext uri="{FF2B5EF4-FFF2-40B4-BE49-F238E27FC236}">
                  <a16:creationId xmlns:a16="http://schemas.microsoft.com/office/drawing/2014/main" id="{558B7870-BE11-E189-D7AA-27A0C4E8AD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30" y="4185"/>
              <a:ext cx="612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V"</a:t>
              </a:r>
              <a:r>
                <a:rPr kumimoji="0" lang="fr-FR" sz="13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3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8" name="Text Box 22">
              <a:extLst>
                <a:ext uri="{FF2B5EF4-FFF2-40B4-BE49-F238E27FC236}">
                  <a16:creationId xmlns:a16="http://schemas.microsoft.com/office/drawing/2014/main" id="{FF9105E9-A8FE-9793-8C30-36510E8302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71" y="3220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9" name="Text Box 23">
              <a:extLst>
                <a:ext uri="{FF2B5EF4-FFF2-40B4-BE49-F238E27FC236}">
                  <a16:creationId xmlns:a16="http://schemas.microsoft.com/office/drawing/2014/main" id="{88607827-EB0C-FDD1-D625-B049AD98DF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47" y="297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3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3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0" name="Text Box 24">
              <a:extLst>
                <a:ext uri="{FF2B5EF4-FFF2-40B4-BE49-F238E27FC236}">
                  <a16:creationId xmlns:a16="http://schemas.microsoft.com/office/drawing/2014/main" id="{7B866AC7-1A01-8E07-1A8D-8F70F6D332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2" y="3007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1" name="Text Box 25">
              <a:extLst>
                <a:ext uri="{FF2B5EF4-FFF2-40B4-BE49-F238E27FC236}">
                  <a16:creationId xmlns:a16="http://schemas.microsoft.com/office/drawing/2014/main" id="{70216327-B938-9923-57CB-D409C1F33C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60" y="3256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2" name="Text Box 26">
              <a:extLst>
                <a:ext uri="{FF2B5EF4-FFF2-40B4-BE49-F238E27FC236}">
                  <a16:creationId xmlns:a16="http://schemas.microsoft.com/office/drawing/2014/main" id="{96BF54CF-B0A3-AA37-AC66-BAB55F1498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00" y="3688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3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3" name="Line 27">
              <a:extLst>
                <a:ext uri="{FF2B5EF4-FFF2-40B4-BE49-F238E27FC236}">
                  <a16:creationId xmlns:a16="http://schemas.microsoft.com/office/drawing/2014/main" id="{33C3638B-53EC-822A-BEA2-F2E9844442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8" y="4466"/>
              <a:ext cx="219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4" name="Line 28">
              <a:extLst>
                <a:ext uri="{FF2B5EF4-FFF2-40B4-BE49-F238E27FC236}">
                  <a16:creationId xmlns:a16="http://schemas.microsoft.com/office/drawing/2014/main" id="{A757272C-DD9C-F82B-E384-0E597BF54F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44" y="4100"/>
              <a:ext cx="49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5" name="Line 29">
              <a:extLst>
                <a:ext uri="{FF2B5EF4-FFF2-40B4-BE49-F238E27FC236}">
                  <a16:creationId xmlns:a16="http://schemas.microsoft.com/office/drawing/2014/main" id="{9329CFC3-7D2E-B51C-859D-80F5E18A95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32" y="4100"/>
              <a:ext cx="49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7" name="Line 30">
              <a:extLst>
                <a:ext uri="{FF2B5EF4-FFF2-40B4-BE49-F238E27FC236}">
                  <a16:creationId xmlns:a16="http://schemas.microsoft.com/office/drawing/2014/main" id="{8BDB90E1-65F7-A304-7983-54E15AC07D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6" y="3620"/>
              <a:ext cx="204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8" name="Line 31">
              <a:extLst>
                <a:ext uri="{FF2B5EF4-FFF2-40B4-BE49-F238E27FC236}">
                  <a16:creationId xmlns:a16="http://schemas.microsoft.com/office/drawing/2014/main" id="{C409F8EA-B607-D7CC-6A73-5201486C42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0" y="3260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9" name="Rectangle 32">
              <a:extLst>
                <a:ext uri="{FF2B5EF4-FFF2-40B4-BE49-F238E27FC236}">
                  <a16:creationId xmlns:a16="http://schemas.microsoft.com/office/drawing/2014/main" id="{D0F67527-9CB1-9485-9AF1-814148B8CB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0" y="3182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0" name="Rectangle 33">
              <a:extLst>
                <a:ext uri="{FF2B5EF4-FFF2-40B4-BE49-F238E27FC236}">
                  <a16:creationId xmlns:a16="http://schemas.microsoft.com/office/drawing/2014/main" id="{464C594B-52D7-430F-8834-CB1004E0AB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0" y="4022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1" name="Line 34">
              <a:extLst>
                <a:ext uri="{FF2B5EF4-FFF2-40B4-BE49-F238E27FC236}">
                  <a16:creationId xmlns:a16="http://schemas.microsoft.com/office/drawing/2014/main" id="{F5A127D1-3172-6FFE-8FAA-AC962DBAAB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32" y="3620"/>
              <a:ext cx="0" cy="48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2" name="Line 35">
              <a:extLst>
                <a:ext uri="{FF2B5EF4-FFF2-40B4-BE49-F238E27FC236}">
                  <a16:creationId xmlns:a16="http://schemas.microsoft.com/office/drawing/2014/main" id="{576E485E-EF6B-86D0-3BDC-3F94A97E66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48" y="3260"/>
              <a:ext cx="0" cy="84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3" name="Line 36">
              <a:extLst>
                <a:ext uri="{FF2B5EF4-FFF2-40B4-BE49-F238E27FC236}">
                  <a16:creationId xmlns:a16="http://schemas.microsoft.com/office/drawing/2014/main" id="{A3E9197D-511C-D4C1-D319-3723FC35C9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2" y="3260"/>
              <a:ext cx="198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4" name="Line 37">
              <a:extLst>
                <a:ext uri="{FF2B5EF4-FFF2-40B4-BE49-F238E27FC236}">
                  <a16:creationId xmlns:a16="http://schemas.microsoft.com/office/drawing/2014/main" id="{06C730F6-C422-8F8C-761F-C937E24F12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70" y="3262"/>
              <a:ext cx="198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5" name="Line 38">
              <a:extLst>
                <a:ext uri="{FF2B5EF4-FFF2-40B4-BE49-F238E27FC236}">
                  <a16:creationId xmlns:a16="http://schemas.microsoft.com/office/drawing/2014/main" id="{61AAFE64-91D5-C9AC-1EE7-8150905162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6" y="4100"/>
              <a:ext cx="198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6" name="Line 39">
              <a:extLst>
                <a:ext uri="{FF2B5EF4-FFF2-40B4-BE49-F238E27FC236}">
                  <a16:creationId xmlns:a16="http://schemas.microsoft.com/office/drawing/2014/main" id="{A76CF587-3C18-7868-1125-6A73A99570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36" y="4100"/>
              <a:ext cx="12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7" name="Line 40">
              <a:extLst>
                <a:ext uri="{FF2B5EF4-FFF2-40B4-BE49-F238E27FC236}">
                  <a16:creationId xmlns:a16="http://schemas.microsoft.com/office/drawing/2014/main" id="{97530A2E-E5EE-0682-91D0-9DBA02E3DC4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88" y="3260"/>
              <a:ext cx="21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8" name="Line 41">
              <a:extLst>
                <a:ext uri="{FF2B5EF4-FFF2-40B4-BE49-F238E27FC236}">
                  <a16:creationId xmlns:a16="http://schemas.microsoft.com/office/drawing/2014/main" id="{D6ABDBC3-7360-C0CA-9D67-953C0B64A7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32" y="3314"/>
              <a:ext cx="0" cy="108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9" name="Line 42">
              <a:extLst>
                <a:ext uri="{FF2B5EF4-FFF2-40B4-BE49-F238E27FC236}">
                  <a16:creationId xmlns:a16="http://schemas.microsoft.com/office/drawing/2014/main" id="{BFE82599-D131-4719-1DC6-FD3986B21F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24" y="3292"/>
              <a:ext cx="0" cy="288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0" name="Line 43">
              <a:extLst>
                <a:ext uri="{FF2B5EF4-FFF2-40B4-BE49-F238E27FC236}">
                  <a16:creationId xmlns:a16="http://schemas.microsoft.com/office/drawing/2014/main" id="{02246C5C-44A8-9B5B-7747-241D521134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24" y="4142"/>
              <a:ext cx="0" cy="30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1" name="Line 44">
              <a:extLst>
                <a:ext uri="{FF2B5EF4-FFF2-40B4-BE49-F238E27FC236}">
                  <a16:creationId xmlns:a16="http://schemas.microsoft.com/office/drawing/2014/main" id="{552BDB8A-6061-7901-E3C3-51CA71B19E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184" y="3274"/>
              <a:ext cx="0" cy="312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2" name="Line 45">
              <a:extLst>
                <a:ext uri="{FF2B5EF4-FFF2-40B4-BE49-F238E27FC236}">
                  <a16:creationId xmlns:a16="http://schemas.microsoft.com/office/drawing/2014/main" id="{2996FD80-E599-38E4-5FCF-098D4C932E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82" y="3302"/>
              <a:ext cx="0" cy="258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3" name="Line 46">
              <a:extLst>
                <a:ext uri="{FF2B5EF4-FFF2-40B4-BE49-F238E27FC236}">
                  <a16:creationId xmlns:a16="http://schemas.microsoft.com/office/drawing/2014/main" id="{B1DF713D-65FE-4C86-EC21-67B52F6BC5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58" y="3620"/>
              <a:ext cx="0" cy="84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4" name="Text Box 47">
              <a:extLst>
                <a:ext uri="{FF2B5EF4-FFF2-40B4-BE49-F238E27FC236}">
                  <a16:creationId xmlns:a16="http://schemas.microsoft.com/office/drawing/2014/main" id="{4370F38F-2572-FBEC-C223-5CC286D06D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4" y="3293"/>
              <a:ext cx="447" cy="3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Q'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5" name="Text Box 48">
              <a:extLst>
                <a:ext uri="{FF2B5EF4-FFF2-40B4-BE49-F238E27FC236}">
                  <a16:creationId xmlns:a16="http://schemas.microsoft.com/office/drawing/2014/main" id="{F55A7712-E56B-B645-EF1E-A6A9AB5F80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0" y="4108"/>
              <a:ext cx="472" cy="341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3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Q"</a:t>
              </a:r>
              <a:endParaRPr kumimoji="0" lang="fr-FR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66" name="Line 49">
              <a:extLst>
                <a:ext uri="{FF2B5EF4-FFF2-40B4-BE49-F238E27FC236}">
                  <a16:creationId xmlns:a16="http://schemas.microsoft.com/office/drawing/2014/main" id="{F913414A-3529-0432-6A63-0372C0741D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92" y="4132"/>
              <a:ext cx="0" cy="312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7" name="Line 50">
              <a:extLst>
                <a:ext uri="{FF2B5EF4-FFF2-40B4-BE49-F238E27FC236}">
                  <a16:creationId xmlns:a16="http://schemas.microsoft.com/office/drawing/2014/main" id="{FDEF7CC9-0657-D96C-D00F-74A19CAFD8D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60" y="3265"/>
              <a:ext cx="21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3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</p:grp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9A614B97-3893-7C49-5E39-30A5FA082AD1}"/>
              </a:ext>
            </a:extLst>
          </p:cNvPr>
          <p:cNvSpPr/>
          <p:nvPr/>
        </p:nvSpPr>
        <p:spPr>
          <a:xfrm>
            <a:off x="4521441" y="2615366"/>
            <a:ext cx="733960" cy="62206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69" name="Object 51">
            <a:extLst>
              <a:ext uri="{FF2B5EF4-FFF2-40B4-BE49-F238E27FC236}">
                <a16:creationId xmlns:a16="http://schemas.microsoft.com/office/drawing/2014/main" id="{B9E85DE8-632C-4F82-4076-00574EA9C4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9365732"/>
              </p:ext>
            </p:extLst>
          </p:nvPr>
        </p:nvGraphicFramePr>
        <p:xfrm>
          <a:off x="3891798" y="3868700"/>
          <a:ext cx="1360404" cy="4016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002865" imgH="291973" progId="">
                  <p:embed/>
                </p:oleObj>
              </mc:Choice>
              <mc:Fallback>
                <p:oleObj r:id="rId3" imgW="1002865" imgH="291973" progId="">
                  <p:embed/>
                  <p:pic>
                    <p:nvPicPr>
                      <p:cNvPr id="39987" name="Object 5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91798" y="3868700"/>
                        <a:ext cx="1360404" cy="4016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" name="TextBox 70">
            <a:extLst>
              <a:ext uri="{FF2B5EF4-FFF2-40B4-BE49-F238E27FC236}">
                <a16:creationId xmlns:a16="http://schemas.microsoft.com/office/drawing/2014/main" id="{4813F0FC-2AC6-68BC-B2EE-78EF85C1876C}"/>
              </a:ext>
            </a:extLst>
          </p:cNvPr>
          <p:cNvSpPr txBox="1"/>
          <p:nvPr/>
        </p:nvSpPr>
        <p:spPr>
          <a:xfrm>
            <a:off x="2814594" y="377514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>
                <a:latin typeface="Bookman Old Style" panose="02050604050505020204" pitchFamily="18" charset="0"/>
              </a:rPr>
              <a:t>d'où: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1FA3E1-6ABC-BEDD-33E1-9FAD03548103}"/>
              </a:ext>
            </a:extLst>
          </p:cNvPr>
          <p:cNvSpPr/>
          <p:nvPr/>
        </p:nvSpPr>
        <p:spPr>
          <a:xfrm>
            <a:off x="591682" y="4281496"/>
            <a:ext cx="832371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sz="1400" dirty="0">
                <a:latin typeface="Bookman Old Style" panose="02050604050505020204" pitchFamily="18" charset="0"/>
              </a:rPr>
              <a:t>Pour deux </a:t>
            </a:r>
            <a:r>
              <a:rPr lang="fr-FR" sz="1400" b="1" dirty="0">
                <a:latin typeface="Bookman Old Style" panose="02050604050505020204" pitchFamily="18" charset="0"/>
              </a:rPr>
              <a:t>quadripôles</a:t>
            </a:r>
            <a:r>
              <a:rPr lang="fr-FR" sz="1400" dirty="0">
                <a:latin typeface="Bookman Old Style" panose="02050604050505020204" pitchFamily="18" charset="0"/>
              </a:rPr>
              <a:t> montés </a:t>
            </a:r>
            <a:r>
              <a:rPr lang="fr-FR" sz="1400" b="1" dirty="0">
                <a:latin typeface="Bookman Old Style" panose="02050604050505020204" pitchFamily="18" charset="0"/>
              </a:rPr>
              <a:t>en série-parallèle</a:t>
            </a:r>
            <a:r>
              <a:rPr lang="fr-FR" sz="1400" dirty="0">
                <a:latin typeface="Bookman Old Style" panose="02050604050505020204" pitchFamily="18" charset="0"/>
              </a:rPr>
              <a:t>, les matrices </a:t>
            </a:r>
            <a:r>
              <a:rPr lang="fr-FR" sz="1400" b="1" dirty="0">
                <a:latin typeface="Bookman Old Style" panose="02050604050505020204" pitchFamily="18" charset="0"/>
              </a:rPr>
              <a:t>hybrides</a:t>
            </a:r>
            <a:r>
              <a:rPr lang="fr-FR" sz="1400" dirty="0">
                <a:latin typeface="Bookman Old Style" panose="02050604050505020204" pitchFamily="18" charset="0"/>
              </a:rPr>
              <a:t> s'ajoutent pour représenter la matrice </a:t>
            </a:r>
            <a:r>
              <a:rPr lang="fr-FR" sz="1400" b="1" dirty="0">
                <a:latin typeface="Bookman Old Style" panose="02050604050505020204" pitchFamily="18" charset="0"/>
              </a:rPr>
              <a:t>hybride</a:t>
            </a:r>
            <a:r>
              <a:rPr lang="fr-FR" sz="1400" dirty="0">
                <a:latin typeface="Bookman Old Style" panose="02050604050505020204" pitchFamily="18" charset="0"/>
              </a:rPr>
              <a:t> du quadripôle équivalent à la mise </a:t>
            </a:r>
            <a:r>
              <a:rPr lang="fr-FR" sz="1400" b="1" dirty="0">
                <a:latin typeface="Bookman Old Style" panose="02050604050505020204" pitchFamily="18" charset="0"/>
              </a:rPr>
              <a:t>en série-parallèle </a:t>
            </a:r>
            <a:r>
              <a:rPr lang="fr-FR" sz="1400" dirty="0">
                <a:latin typeface="Bookman Old Style" panose="02050604050505020204" pitchFamily="18" charset="0"/>
              </a:rPr>
              <a:t>des deux quadripôles élémentaires.</a:t>
            </a:r>
          </a:p>
        </p:txBody>
      </p:sp>
    </p:spTree>
    <p:extLst>
      <p:ext uri="{BB962C8B-B14F-4D97-AF65-F5344CB8AC3E}">
        <p14:creationId xmlns:p14="http://schemas.microsoft.com/office/powerpoint/2010/main" val="2177973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8026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Association de Quadripôles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4.5 En parallèle-série</a:t>
            </a:r>
            <a:r>
              <a:rPr lang="fr-FR" sz="16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endParaRPr lang="fr-FR" sz="1600" b="1" spc="-5" dirty="0">
              <a:solidFill>
                <a:schemeClr val="accent5">
                  <a:lumMod val="50000"/>
                </a:schemeClr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E2F7F9-E73E-B60B-049F-EF3705FC4FB8}"/>
              </a:ext>
            </a:extLst>
          </p:cNvPr>
          <p:cNvSpPr/>
          <p:nvPr/>
        </p:nvSpPr>
        <p:spPr>
          <a:xfrm>
            <a:off x="618696" y="1251131"/>
            <a:ext cx="829670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500" b="1" dirty="0">
                <a:latin typeface="Bookman Old Style" panose="02050604050505020204" pitchFamily="18" charset="0"/>
              </a:rPr>
              <a:t>Q' </a:t>
            </a:r>
            <a:r>
              <a:rPr lang="fr-FR" sz="1500" dirty="0">
                <a:latin typeface="Bookman Old Style" panose="02050604050505020204" pitchFamily="18" charset="0"/>
              </a:rPr>
              <a:t>et </a:t>
            </a:r>
            <a:r>
              <a:rPr lang="fr-FR" sz="1500" b="1" dirty="0">
                <a:latin typeface="Bookman Old Style" panose="02050604050505020204" pitchFamily="18" charset="0"/>
              </a:rPr>
              <a:t>Q"</a:t>
            </a:r>
            <a:r>
              <a:rPr lang="fr-FR" sz="1500" dirty="0">
                <a:latin typeface="Bookman Old Style" panose="02050604050505020204" pitchFamily="18" charset="0"/>
              </a:rPr>
              <a:t> sont soumis à la même tension d'</a:t>
            </a:r>
            <a:r>
              <a:rPr lang="fr-FR" sz="1500" b="1" dirty="0">
                <a:latin typeface="Bookman Old Style" panose="02050604050505020204" pitchFamily="18" charset="0"/>
              </a:rPr>
              <a:t>entrée </a:t>
            </a:r>
            <a:r>
              <a:rPr lang="fr-FR" sz="1500" dirty="0">
                <a:latin typeface="Bookman Old Style" panose="02050604050505020204" pitchFamily="18" charset="0"/>
              </a:rPr>
              <a:t>(entrée: parallèle) et sont traversés par le même courant de </a:t>
            </a:r>
            <a:r>
              <a:rPr lang="fr-FR" sz="1500" b="1" dirty="0">
                <a:latin typeface="Bookman Old Style" panose="02050604050505020204" pitchFamily="18" charset="0"/>
              </a:rPr>
              <a:t>sortie</a:t>
            </a:r>
            <a:r>
              <a:rPr lang="fr-FR" sz="1500" dirty="0">
                <a:latin typeface="Bookman Old Style" panose="02050604050505020204" pitchFamily="18" charset="0"/>
              </a:rPr>
              <a:t> (sortie: série) → utilisation de la matrice </a:t>
            </a:r>
            <a:r>
              <a:rPr lang="fr-FR" sz="1500" b="1" dirty="0">
                <a:latin typeface="Bookman Old Style" panose="02050604050505020204" pitchFamily="18" charset="0"/>
              </a:rPr>
              <a:t>hybride inverse [h']</a:t>
            </a:r>
            <a:r>
              <a:rPr lang="fr-FR" sz="1500" dirty="0">
                <a:latin typeface="Bookman Old Style" panose="02050604050505020204" pitchFamily="18" charset="0"/>
              </a:rPr>
              <a:t>.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DC929BA1-D8A3-58A0-B724-107A176D221B}"/>
              </a:ext>
            </a:extLst>
          </p:cNvPr>
          <p:cNvGrpSpPr>
            <a:grpSpLocks/>
          </p:cNvGrpSpPr>
          <p:nvPr/>
        </p:nvGrpSpPr>
        <p:grpSpPr bwMode="auto">
          <a:xfrm>
            <a:off x="848686" y="1963758"/>
            <a:ext cx="7515029" cy="1999278"/>
            <a:chOff x="1962" y="7882"/>
            <a:chExt cx="7801" cy="1620"/>
          </a:xfrm>
        </p:grpSpPr>
        <p:sp>
          <p:nvSpPr>
            <p:cNvPr id="5" name="Text Box 3">
              <a:extLst>
                <a:ext uri="{FF2B5EF4-FFF2-40B4-BE49-F238E27FC236}">
                  <a16:creationId xmlns:a16="http://schemas.microsoft.com/office/drawing/2014/main" id="{93A879CA-C6D9-403E-12D9-EF11C20E97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91" y="791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2" name="Text Box 4">
              <a:extLst>
                <a:ext uri="{FF2B5EF4-FFF2-40B4-BE49-F238E27FC236}">
                  <a16:creationId xmlns:a16="http://schemas.microsoft.com/office/drawing/2014/main" id="{FDF1DADD-81AC-2858-8D02-23B8969D4D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69" y="8644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0" name="Text Box 5">
              <a:extLst>
                <a:ext uri="{FF2B5EF4-FFF2-40B4-BE49-F238E27FC236}">
                  <a16:creationId xmlns:a16="http://schemas.microsoft.com/office/drawing/2014/main" id="{28603DD1-9F01-1DEA-538D-2CAE559E83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5" y="8267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3" name="Text Box 6">
              <a:extLst>
                <a:ext uri="{FF2B5EF4-FFF2-40B4-BE49-F238E27FC236}">
                  <a16:creationId xmlns:a16="http://schemas.microsoft.com/office/drawing/2014/main" id="{9D4ADCEB-0E7B-A6F4-E156-7396B761F0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96" y="9095"/>
              <a:ext cx="65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V"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4" name="Text Box 7">
              <a:extLst>
                <a:ext uri="{FF2B5EF4-FFF2-40B4-BE49-F238E27FC236}">
                  <a16:creationId xmlns:a16="http://schemas.microsoft.com/office/drawing/2014/main" id="{C1905064-8845-3554-96A5-0117761902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4" y="9065"/>
              <a:ext cx="65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5" name="Text Box 8">
              <a:extLst>
                <a:ext uri="{FF2B5EF4-FFF2-40B4-BE49-F238E27FC236}">
                  <a16:creationId xmlns:a16="http://schemas.microsoft.com/office/drawing/2014/main" id="{9CFA5BEB-99E7-F0CF-7B67-351E286081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5" y="788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I"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6" name="Text Box 9">
              <a:extLst>
                <a:ext uri="{FF2B5EF4-FFF2-40B4-BE49-F238E27FC236}">
                  <a16:creationId xmlns:a16="http://schemas.microsoft.com/office/drawing/2014/main" id="{7ECAE8D2-FC0F-0252-7034-4E0BA76799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00" y="791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I'</a:t>
              </a:r>
              <a:r>
                <a:rPr kumimoji="0" lang="fr-FR" sz="1400" b="1" i="0" u="none" strike="noStrike" cap="none" normalizeH="0" baseline="-2500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7" name="Text Box 10">
              <a:extLst>
                <a:ext uri="{FF2B5EF4-FFF2-40B4-BE49-F238E27FC236}">
                  <a16:creationId xmlns:a16="http://schemas.microsoft.com/office/drawing/2014/main" id="{4466D5CC-CCC7-B290-4E91-D38091FC75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7" y="7912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8" name="Text Box 11">
              <a:extLst>
                <a:ext uri="{FF2B5EF4-FFF2-40B4-BE49-F238E27FC236}">
                  <a16:creationId xmlns:a16="http://schemas.microsoft.com/office/drawing/2014/main" id="{694C244C-8EF2-9698-C78E-F06DF7C8C6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08" y="8651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79" name="Text Box 12">
              <a:extLst>
                <a:ext uri="{FF2B5EF4-FFF2-40B4-BE49-F238E27FC236}">
                  <a16:creationId xmlns:a16="http://schemas.microsoft.com/office/drawing/2014/main" id="{2360C2E4-40D8-B5A7-4ABA-C206BBEC63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58" y="8207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V'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80" name="Text Box 13">
              <a:extLst>
                <a:ext uri="{FF2B5EF4-FFF2-40B4-BE49-F238E27FC236}">
                  <a16:creationId xmlns:a16="http://schemas.microsoft.com/office/drawing/2014/main" id="{31271C0C-91C1-A858-191D-9A3A3DD48C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62" y="8237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81" name="Line 14">
              <a:extLst>
                <a:ext uri="{FF2B5EF4-FFF2-40B4-BE49-F238E27FC236}">
                  <a16:creationId xmlns:a16="http://schemas.microsoft.com/office/drawing/2014/main" id="{E36D3195-6523-8CF1-034A-5313EF12A49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44" y="9376"/>
              <a:ext cx="219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2" name="Line 15">
              <a:extLst>
                <a:ext uri="{FF2B5EF4-FFF2-40B4-BE49-F238E27FC236}">
                  <a16:creationId xmlns:a16="http://schemas.microsoft.com/office/drawing/2014/main" id="{45DAC2A2-0E06-BB62-11D5-98C27A73E4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0" y="9010"/>
              <a:ext cx="49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3" name="Line 16">
              <a:extLst>
                <a:ext uri="{FF2B5EF4-FFF2-40B4-BE49-F238E27FC236}">
                  <a16:creationId xmlns:a16="http://schemas.microsoft.com/office/drawing/2014/main" id="{6EABDA9F-5DA3-2B77-9AB4-C50C6B0547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972" y="9010"/>
              <a:ext cx="49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4" name="Line 17">
              <a:extLst>
                <a:ext uri="{FF2B5EF4-FFF2-40B4-BE49-F238E27FC236}">
                  <a16:creationId xmlns:a16="http://schemas.microsoft.com/office/drawing/2014/main" id="{74FB8D97-CFE6-A33C-92A1-5681C7256E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36" y="8530"/>
              <a:ext cx="204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5" name="Line 18">
              <a:extLst>
                <a:ext uri="{FF2B5EF4-FFF2-40B4-BE49-F238E27FC236}">
                  <a16:creationId xmlns:a16="http://schemas.microsoft.com/office/drawing/2014/main" id="{BD909AF0-AC27-A1FF-60EA-08BEB5148F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72" y="8170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6" name="Rectangle 19">
              <a:extLst>
                <a:ext uri="{FF2B5EF4-FFF2-40B4-BE49-F238E27FC236}">
                  <a16:creationId xmlns:a16="http://schemas.microsoft.com/office/drawing/2014/main" id="{EBC9EF73-C018-CE7F-2A01-67672755508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444" y="8092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7" name="Rectangle 20">
              <a:extLst>
                <a:ext uri="{FF2B5EF4-FFF2-40B4-BE49-F238E27FC236}">
                  <a16:creationId xmlns:a16="http://schemas.microsoft.com/office/drawing/2014/main" id="{B479E8A4-783B-6554-005A-4B35CB93C118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444" y="8932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8" name="Line 21">
              <a:extLst>
                <a:ext uri="{FF2B5EF4-FFF2-40B4-BE49-F238E27FC236}">
                  <a16:creationId xmlns:a16="http://schemas.microsoft.com/office/drawing/2014/main" id="{3D5035A2-1B92-EF9D-7610-A62E5F8AE1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70" y="8530"/>
              <a:ext cx="0" cy="48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9" name="Line 22">
              <a:extLst>
                <a:ext uri="{FF2B5EF4-FFF2-40B4-BE49-F238E27FC236}">
                  <a16:creationId xmlns:a16="http://schemas.microsoft.com/office/drawing/2014/main" id="{A190667A-CD55-58F6-4F5D-A1C95E5816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54" y="8170"/>
              <a:ext cx="0" cy="84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0" name="Line 23">
              <a:extLst>
                <a:ext uri="{FF2B5EF4-FFF2-40B4-BE49-F238E27FC236}">
                  <a16:creationId xmlns:a16="http://schemas.microsoft.com/office/drawing/2014/main" id="{9BD8DAB3-EFBA-9E32-C736-17B4FA85668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116" y="8170"/>
              <a:ext cx="198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1" name="Line 24">
              <a:extLst>
                <a:ext uri="{FF2B5EF4-FFF2-40B4-BE49-F238E27FC236}">
                  <a16:creationId xmlns:a16="http://schemas.microsoft.com/office/drawing/2014/main" id="{01ABD5E1-C4FA-AD75-3A4B-16145BAD1B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34" y="8171"/>
              <a:ext cx="198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2" name="Line 25">
              <a:extLst>
                <a:ext uri="{FF2B5EF4-FFF2-40B4-BE49-F238E27FC236}">
                  <a16:creationId xmlns:a16="http://schemas.microsoft.com/office/drawing/2014/main" id="{3FEA7975-B30E-A0CC-C833-C2827ACAD86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152" y="9010"/>
              <a:ext cx="198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3" name="Line 26">
              <a:extLst>
                <a:ext uri="{FF2B5EF4-FFF2-40B4-BE49-F238E27FC236}">
                  <a16:creationId xmlns:a16="http://schemas.microsoft.com/office/drawing/2014/main" id="{B059B9BC-5896-BA8B-F7BA-DDC3BDFEE7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64" y="9010"/>
              <a:ext cx="12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4" name="Line 27">
              <a:extLst>
                <a:ext uri="{FF2B5EF4-FFF2-40B4-BE49-F238E27FC236}">
                  <a16:creationId xmlns:a16="http://schemas.microsoft.com/office/drawing/2014/main" id="{536D23D4-93E8-2A42-ED98-DB0394C0CA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74" y="8171"/>
              <a:ext cx="198" cy="12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5" name="Line 28">
              <a:extLst>
                <a:ext uri="{FF2B5EF4-FFF2-40B4-BE49-F238E27FC236}">
                  <a16:creationId xmlns:a16="http://schemas.microsoft.com/office/drawing/2014/main" id="{DB35E41B-2225-21CD-9A8A-860635271C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4" y="8170"/>
              <a:ext cx="21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6" name="Line 29">
              <a:extLst>
                <a:ext uri="{FF2B5EF4-FFF2-40B4-BE49-F238E27FC236}">
                  <a16:creationId xmlns:a16="http://schemas.microsoft.com/office/drawing/2014/main" id="{338121CF-20DB-3730-DE53-CF4C3710C5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070" y="8224"/>
              <a:ext cx="0" cy="108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7" name="Line 30">
              <a:extLst>
                <a:ext uri="{FF2B5EF4-FFF2-40B4-BE49-F238E27FC236}">
                  <a16:creationId xmlns:a16="http://schemas.microsoft.com/office/drawing/2014/main" id="{AEFE54A9-3FEF-1E82-9EEA-2D47C0F175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2" y="8212"/>
              <a:ext cx="0" cy="288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8" name="Line 31">
              <a:extLst>
                <a:ext uri="{FF2B5EF4-FFF2-40B4-BE49-F238E27FC236}">
                  <a16:creationId xmlns:a16="http://schemas.microsoft.com/office/drawing/2014/main" id="{22F4AD87-2FE4-38EA-CB51-A06A751AA0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8" y="9052"/>
              <a:ext cx="0" cy="30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9" name="Line 32">
              <a:extLst>
                <a:ext uri="{FF2B5EF4-FFF2-40B4-BE49-F238E27FC236}">
                  <a16:creationId xmlns:a16="http://schemas.microsoft.com/office/drawing/2014/main" id="{41A1D728-2685-865D-2133-8F9CF63072D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352" y="8200"/>
              <a:ext cx="0" cy="312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0" name="Line 33">
              <a:extLst>
                <a:ext uri="{FF2B5EF4-FFF2-40B4-BE49-F238E27FC236}">
                  <a16:creationId xmlns:a16="http://schemas.microsoft.com/office/drawing/2014/main" id="{C93AD9F9-D3BE-8755-FCA8-967EB3346D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120" y="8212"/>
              <a:ext cx="0" cy="258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1" name="Line 34">
              <a:extLst>
                <a:ext uri="{FF2B5EF4-FFF2-40B4-BE49-F238E27FC236}">
                  <a16:creationId xmlns:a16="http://schemas.microsoft.com/office/drawing/2014/main" id="{C9FE8C99-D83F-6F88-FF03-233C0571C5A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844" y="8530"/>
              <a:ext cx="0" cy="84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2" name="Text Box 35">
              <a:extLst>
                <a:ext uri="{FF2B5EF4-FFF2-40B4-BE49-F238E27FC236}">
                  <a16:creationId xmlns:a16="http://schemas.microsoft.com/office/drawing/2014/main" id="{037195CF-872D-3F8B-1054-E6DB86E416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23" y="8348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03" name="Text Box 36">
              <a:extLst>
                <a:ext uri="{FF2B5EF4-FFF2-40B4-BE49-F238E27FC236}">
                  <a16:creationId xmlns:a16="http://schemas.microsoft.com/office/drawing/2014/main" id="{9E73DCAF-8DFF-F7E4-8594-87533FD5D9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02" y="8681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2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04" name="Text Box 37">
              <a:extLst>
                <a:ext uri="{FF2B5EF4-FFF2-40B4-BE49-F238E27FC236}">
                  <a16:creationId xmlns:a16="http://schemas.microsoft.com/office/drawing/2014/main" id="{3B5F1CE3-C629-42EE-5CE4-4412795164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10" y="8355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05" name="Text Box 38">
              <a:extLst>
                <a:ext uri="{FF2B5EF4-FFF2-40B4-BE49-F238E27FC236}">
                  <a16:creationId xmlns:a16="http://schemas.microsoft.com/office/drawing/2014/main" id="{F9E29D30-C410-AF8E-69C5-1F720C00C8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52" y="8710"/>
              <a:ext cx="56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r>
                <a:rPr kumimoji="0" lang="fr-FR" sz="14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1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06" name="Line 39">
              <a:extLst>
                <a:ext uri="{FF2B5EF4-FFF2-40B4-BE49-F238E27FC236}">
                  <a16:creationId xmlns:a16="http://schemas.microsoft.com/office/drawing/2014/main" id="{5A064731-3BB9-1BBA-A022-2B4E71AF27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36" y="8990"/>
              <a:ext cx="16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7" name="Line 40">
              <a:extLst>
                <a:ext uri="{FF2B5EF4-FFF2-40B4-BE49-F238E27FC236}">
                  <a16:creationId xmlns:a16="http://schemas.microsoft.com/office/drawing/2014/main" id="{6FFAAAC3-AFB8-7669-EE4C-2D9216C310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48" y="8630"/>
              <a:ext cx="160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8" name="Rectangle 41">
              <a:extLst>
                <a:ext uri="{FF2B5EF4-FFF2-40B4-BE49-F238E27FC236}">
                  <a16:creationId xmlns:a16="http://schemas.microsoft.com/office/drawing/2014/main" id="{544C63DC-D814-EEEF-8910-21DE7F0C2C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28" y="8552"/>
              <a:ext cx="618" cy="57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9" name="Line 42">
              <a:extLst>
                <a:ext uri="{FF2B5EF4-FFF2-40B4-BE49-F238E27FC236}">
                  <a16:creationId xmlns:a16="http://schemas.microsoft.com/office/drawing/2014/main" id="{B042CC66-E081-B352-719A-D2EC43CD5D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42" y="8654"/>
              <a:ext cx="0" cy="30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0" name="Line 43">
              <a:extLst>
                <a:ext uri="{FF2B5EF4-FFF2-40B4-BE49-F238E27FC236}">
                  <a16:creationId xmlns:a16="http://schemas.microsoft.com/office/drawing/2014/main" id="{4C50CEA0-BF6D-18D9-2EB6-94D1B8F223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180" y="8642"/>
              <a:ext cx="0" cy="30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1" name="Line 44">
              <a:extLst>
                <a:ext uri="{FF2B5EF4-FFF2-40B4-BE49-F238E27FC236}">
                  <a16:creationId xmlns:a16="http://schemas.microsoft.com/office/drawing/2014/main" id="{97BD9236-D031-1C25-898E-952AC2B50E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" y="8630"/>
              <a:ext cx="222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2" name="Line 45">
              <a:extLst>
                <a:ext uri="{FF2B5EF4-FFF2-40B4-BE49-F238E27FC236}">
                  <a16:creationId xmlns:a16="http://schemas.microsoft.com/office/drawing/2014/main" id="{7D44D810-824A-ED6D-42BC-B59B109C9A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820" y="8630"/>
              <a:ext cx="180" cy="0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3" name="Text Box 46">
              <a:extLst>
                <a:ext uri="{FF2B5EF4-FFF2-40B4-BE49-F238E27FC236}">
                  <a16:creationId xmlns:a16="http://schemas.microsoft.com/office/drawing/2014/main" id="{792935B0-7D95-57C5-72BC-F5CCBAD46D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72" y="8685"/>
              <a:ext cx="340" cy="285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14" name="Line 47">
              <a:extLst>
                <a:ext uri="{FF2B5EF4-FFF2-40B4-BE49-F238E27FC236}">
                  <a16:creationId xmlns:a16="http://schemas.microsoft.com/office/drawing/2014/main" id="{E67D3C4A-25E5-8C13-67FB-D8E7C39ACD7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144" y="9064"/>
              <a:ext cx="0" cy="258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4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5" name="Text Box 48">
              <a:extLst>
                <a:ext uri="{FF2B5EF4-FFF2-40B4-BE49-F238E27FC236}">
                  <a16:creationId xmlns:a16="http://schemas.microsoft.com/office/drawing/2014/main" id="{67E71FDD-819B-2976-822E-6C0552A09B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4" y="8235"/>
              <a:ext cx="458" cy="32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Q'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16" name="Text Box 49">
              <a:extLst>
                <a:ext uri="{FF2B5EF4-FFF2-40B4-BE49-F238E27FC236}">
                  <a16:creationId xmlns:a16="http://schemas.microsoft.com/office/drawing/2014/main" id="{54278DAB-4DAB-D277-4FBB-75322EF4A8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4" y="9075"/>
              <a:ext cx="370" cy="22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4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Q"</a:t>
              </a:r>
              <a:endParaRPr kumimoji="0" lang="fr-FR" sz="14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</p:grp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AB4F5D3-B839-AC89-5962-51A53C087FCB}"/>
              </a:ext>
            </a:extLst>
          </p:cNvPr>
          <p:cNvSpPr/>
          <p:nvPr/>
        </p:nvSpPr>
        <p:spPr>
          <a:xfrm>
            <a:off x="4587416" y="2738754"/>
            <a:ext cx="733960" cy="62206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18" name="Object 50">
            <a:extLst>
              <a:ext uri="{FF2B5EF4-FFF2-40B4-BE49-F238E27FC236}">
                <a16:creationId xmlns:a16="http://schemas.microsoft.com/office/drawing/2014/main" id="{06A7DC9C-872A-6BD5-66F2-61E385735D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397280"/>
              </p:ext>
            </p:extLst>
          </p:nvPr>
        </p:nvGraphicFramePr>
        <p:xfrm>
          <a:off x="4115231" y="3842419"/>
          <a:ext cx="1714933" cy="5111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990600" imgH="292100" progId="">
                  <p:embed/>
                </p:oleObj>
              </mc:Choice>
              <mc:Fallback>
                <p:oleObj r:id="rId3" imgW="990600" imgH="292100" progId="">
                  <p:embed/>
                  <p:pic>
                    <p:nvPicPr>
                      <p:cNvPr id="41010" name="Object 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5231" y="3842419"/>
                        <a:ext cx="1714933" cy="51118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" name="Rectangle 118">
            <a:extLst>
              <a:ext uri="{FF2B5EF4-FFF2-40B4-BE49-F238E27FC236}">
                <a16:creationId xmlns:a16="http://schemas.microsoft.com/office/drawing/2014/main" id="{3A66BB66-51FC-1D26-9D3C-94807C1FCDF2}"/>
              </a:ext>
            </a:extLst>
          </p:cNvPr>
          <p:cNvSpPr/>
          <p:nvPr/>
        </p:nvSpPr>
        <p:spPr>
          <a:xfrm>
            <a:off x="3250454" y="3907502"/>
            <a:ext cx="69923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>
                <a:latin typeface="Bookman Old Style" panose="02050604050505020204" pitchFamily="18" charset="0"/>
              </a:rPr>
              <a:t>d'où: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24FCC3D-C143-2521-772B-81A1462AD51D}"/>
              </a:ext>
            </a:extLst>
          </p:cNvPr>
          <p:cNvSpPr/>
          <p:nvPr/>
        </p:nvSpPr>
        <p:spPr>
          <a:xfrm>
            <a:off x="513282" y="4280912"/>
            <a:ext cx="850752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sz="1400" dirty="0">
                <a:latin typeface="Bookman Old Style" panose="02050604050505020204" pitchFamily="18" charset="0"/>
              </a:rPr>
              <a:t>Pour deux </a:t>
            </a:r>
            <a:r>
              <a:rPr lang="fr-FR" sz="1400" b="1" dirty="0">
                <a:latin typeface="Bookman Old Style" panose="02050604050505020204" pitchFamily="18" charset="0"/>
              </a:rPr>
              <a:t>quadripôles montés en parallèle-série</a:t>
            </a:r>
            <a:r>
              <a:rPr lang="fr-FR" sz="1400" dirty="0">
                <a:latin typeface="Bookman Old Style" panose="02050604050505020204" pitchFamily="18" charset="0"/>
              </a:rPr>
              <a:t>, les matrices </a:t>
            </a:r>
            <a:r>
              <a:rPr lang="fr-FR" sz="1400" b="1" dirty="0">
                <a:latin typeface="Bookman Old Style" panose="02050604050505020204" pitchFamily="18" charset="0"/>
              </a:rPr>
              <a:t>hybrides inverses </a:t>
            </a:r>
            <a:r>
              <a:rPr lang="fr-FR" sz="1400" dirty="0">
                <a:latin typeface="Bookman Old Style" panose="02050604050505020204" pitchFamily="18" charset="0"/>
              </a:rPr>
              <a:t>s'ajoutent pour représenter la </a:t>
            </a:r>
            <a:r>
              <a:rPr lang="fr-FR" sz="1400" b="1" dirty="0">
                <a:latin typeface="Bookman Old Style" panose="02050604050505020204" pitchFamily="18" charset="0"/>
              </a:rPr>
              <a:t>matrice hybride inverse </a:t>
            </a:r>
            <a:r>
              <a:rPr lang="fr-FR" sz="1400" dirty="0">
                <a:latin typeface="Bookman Old Style" panose="02050604050505020204" pitchFamily="18" charset="0"/>
              </a:rPr>
              <a:t>du quadripôle équivalent à la mise en </a:t>
            </a:r>
            <a:r>
              <a:rPr lang="fr-FR" sz="1400" b="1" dirty="0">
                <a:latin typeface="Bookman Old Style" panose="02050604050505020204" pitchFamily="18" charset="0"/>
              </a:rPr>
              <a:t>parallèle-séri</a:t>
            </a:r>
            <a:r>
              <a:rPr lang="fr-FR" sz="1400" dirty="0">
                <a:latin typeface="Bookman Old Style" panose="02050604050505020204" pitchFamily="18" charset="0"/>
              </a:rPr>
              <a:t>e des deux quadripôles élémentaires.</a:t>
            </a:r>
          </a:p>
        </p:txBody>
      </p:sp>
    </p:spTree>
    <p:extLst>
      <p:ext uri="{BB962C8B-B14F-4D97-AF65-F5344CB8AC3E}">
        <p14:creationId xmlns:p14="http://schemas.microsoft.com/office/powerpoint/2010/main" val="17002685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497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Adaptations d'impédance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C1DF034-2F3E-EB7A-E07E-7410A7F77E32}"/>
              </a:ext>
            </a:extLst>
          </p:cNvPr>
          <p:cNvSpPr txBox="1"/>
          <p:nvPr/>
        </p:nvSpPr>
        <p:spPr>
          <a:xfrm>
            <a:off x="604264" y="1200150"/>
            <a:ext cx="843899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sz="1600" dirty="0">
                <a:latin typeface="Bookman Old Style" panose="02050604050505020204" pitchFamily="18" charset="0"/>
              </a:rPr>
              <a:t>Faire de l'électronique, c'est </a:t>
            </a:r>
            <a:r>
              <a:rPr lang="fr-FR" sz="1600" b="1" dirty="0">
                <a:latin typeface="Bookman Old Style" panose="02050604050505020204" pitchFamily="18" charset="0"/>
              </a:rPr>
              <a:t>interconnecter</a:t>
            </a:r>
            <a:r>
              <a:rPr lang="fr-FR" sz="1600" dirty="0">
                <a:latin typeface="Bookman Old Style" panose="02050604050505020204" pitchFamily="18" charset="0"/>
              </a:rPr>
              <a:t> des composants et des montages. On </a:t>
            </a:r>
            <a:r>
              <a:rPr lang="fr-FR" sz="1600" b="1" dirty="0">
                <a:latin typeface="Bookman Old Style" panose="02050604050505020204" pitchFamily="18" charset="0"/>
              </a:rPr>
              <a:t>ne peut pas </a:t>
            </a:r>
            <a:r>
              <a:rPr lang="fr-FR" sz="1600" dirty="0">
                <a:latin typeface="Bookman Old Style" panose="02050604050505020204" pitchFamily="18" charset="0"/>
              </a:rPr>
              <a:t>les interconnecter sans effectuer certaines vérifications:</a:t>
            </a:r>
          </a:p>
          <a:p>
            <a:pPr algn="just"/>
            <a:endParaRPr lang="fr-FR" sz="1600" dirty="0">
              <a:latin typeface="Bookman Old Style" panose="020506040505050202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sz="1600" dirty="0">
                <a:latin typeface="Bookman Old Style" panose="02050604050505020204" pitchFamily="18" charset="0"/>
              </a:rPr>
              <a:t>On considère en premier lieu une source de tension ou de courant (en amont) et une charge (en aval).</a:t>
            </a:r>
          </a:p>
          <a:p>
            <a:pPr algn="just"/>
            <a:endParaRPr lang="fr-FR" sz="1600" dirty="0">
              <a:latin typeface="Bookman Old Style" panose="02050604050505020204" pitchFamily="18" charset="0"/>
            </a:endParaRPr>
          </a:p>
          <a:p>
            <a:pPr algn="just"/>
            <a:r>
              <a:rPr lang="fr-FR" sz="1600" dirty="0">
                <a:latin typeface="Bookman Old Style" panose="02050604050505020204" pitchFamily="18" charset="0"/>
              </a:rPr>
              <a:t>     Il faut vérifier que les niveaux de tension, de courant et de puissance des deux parties du montage sont compatibles (sans quoi on risque d'endommager un des deux parties).</a:t>
            </a:r>
          </a:p>
          <a:p>
            <a:pPr algn="just">
              <a:buFontTx/>
              <a:buChar char="-"/>
            </a:pPr>
            <a:endParaRPr lang="fr-FR" sz="1600" dirty="0">
              <a:latin typeface="Bookman Old Style" panose="02050604050505020204" pitchFamily="18" charset="0"/>
            </a:endParaRPr>
          </a:p>
          <a:p>
            <a:pPr algn="just"/>
            <a:r>
              <a:rPr lang="fr-FR" sz="1600" dirty="0">
                <a:latin typeface="Bookman Old Style" panose="02050604050505020204" pitchFamily="18" charset="0"/>
              </a:rPr>
              <a:t>     Il faut vérifier si les impédances sont compatibles…</a:t>
            </a:r>
          </a:p>
          <a:p>
            <a:pPr algn="just">
              <a:buFontTx/>
              <a:buChar char="-"/>
            </a:pPr>
            <a:endParaRPr lang="fr-FR" sz="1600" dirty="0">
              <a:latin typeface="Bookman Old Style" panose="02050604050505020204" pitchFamily="18" charset="0"/>
            </a:endParaRPr>
          </a:p>
          <a:p>
            <a:pPr algn="just"/>
            <a:r>
              <a:rPr lang="fr-FR" sz="1600" b="1" dirty="0">
                <a:latin typeface="Bookman Old Style" panose="02050604050505020204" pitchFamily="18" charset="0"/>
              </a:rPr>
              <a:t>→</a:t>
            </a:r>
            <a:r>
              <a:rPr lang="fr-FR" sz="16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latin typeface="Bookman Old Style" panose="02050604050505020204" pitchFamily="18" charset="0"/>
              </a:rPr>
              <a:t>C'est la problématique d'adaptation d'impédance</a:t>
            </a:r>
            <a:r>
              <a:rPr lang="fr-FR" sz="1600" dirty="0">
                <a:latin typeface="Bookman Old Style" panose="02050604050505020204" pitchFamily="18" charset="0"/>
              </a:rPr>
              <a:t>.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E2FD6A04-33CC-CCE2-AFB9-8693727ACC71}"/>
              </a:ext>
            </a:extLst>
          </p:cNvPr>
          <p:cNvSpPr/>
          <p:nvPr/>
        </p:nvSpPr>
        <p:spPr>
          <a:xfrm>
            <a:off x="723900" y="2783741"/>
            <a:ext cx="228600" cy="15240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34BE4080-3826-A560-FE85-3E752638AABB}"/>
              </a:ext>
            </a:extLst>
          </p:cNvPr>
          <p:cNvSpPr/>
          <p:nvPr/>
        </p:nvSpPr>
        <p:spPr>
          <a:xfrm>
            <a:off x="723900" y="3790950"/>
            <a:ext cx="228600" cy="15240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6488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497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Adaptations d'impédance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5.1 Adaptations d'impédance en tension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563B58-D6E7-2F31-E5E9-82241AA6287C}"/>
              </a:ext>
            </a:extLst>
          </p:cNvPr>
          <p:cNvSpPr/>
          <p:nvPr/>
        </p:nvSpPr>
        <p:spPr>
          <a:xfrm>
            <a:off x="452136" y="1310783"/>
            <a:ext cx="844794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sz="1600" dirty="0">
                <a:latin typeface="Bookman Old Style" panose="02050604050505020204" pitchFamily="18" charset="0"/>
              </a:rPr>
              <a:t>Considérons un </a:t>
            </a:r>
            <a:r>
              <a:rPr lang="fr-FR" sz="1600" b="1" dirty="0">
                <a:latin typeface="Bookman Old Style" panose="02050604050505020204" pitchFamily="18" charset="0"/>
              </a:rPr>
              <a:t>quadripôle</a:t>
            </a:r>
            <a:r>
              <a:rPr lang="fr-FR" sz="16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latin typeface="Bookman Old Style" panose="02050604050505020204" pitchFamily="18" charset="0"/>
              </a:rPr>
              <a:t>amont</a:t>
            </a:r>
            <a:r>
              <a:rPr lang="fr-FR" sz="16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latin typeface="Bookman Old Style" panose="02050604050505020204" pitchFamily="18" charset="0"/>
              </a:rPr>
              <a:t>Q' </a:t>
            </a:r>
            <a:r>
              <a:rPr lang="fr-FR" sz="1600" dirty="0">
                <a:latin typeface="Bookman Old Style" panose="02050604050505020204" pitchFamily="18" charset="0"/>
              </a:rPr>
              <a:t>délivrant un signal de tension à un </a:t>
            </a:r>
            <a:r>
              <a:rPr lang="fr-FR" sz="1600" b="1" dirty="0">
                <a:latin typeface="Bookman Old Style" panose="02050604050505020204" pitchFamily="18" charset="0"/>
              </a:rPr>
              <a:t>quadripôle</a:t>
            </a:r>
            <a:r>
              <a:rPr lang="fr-FR" sz="16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latin typeface="Bookman Old Style" panose="02050604050505020204" pitchFamily="18" charset="0"/>
              </a:rPr>
              <a:t>aval</a:t>
            </a:r>
            <a:r>
              <a:rPr lang="fr-FR" sz="1600" dirty="0">
                <a:latin typeface="Bookman Old Style" panose="02050604050505020204" pitchFamily="18" charset="0"/>
              </a:rPr>
              <a:t> </a:t>
            </a:r>
            <a:r>
              <a:rPr lang="fr-FR" sz="1600" b="1" dirty="0">
                <a:latin typeface="Bookman Old Style" panose="02050604050505020204" pitchFamily="18" charset="0"/>
              </a:rPr>
              <a:t>Q"</a:t>
            </a:r>
            <a:r>
              <a:rPr lang="fr-FR" sz="1600" dirty="0">
                <a:latin typeface="Bookman Old Style" panose="02050604050505020204" pitchFamily="18" charset="0"/>
              </a:rPr>
              <a:t>. Chaque quadripôle peut être représenté par son schéma équivalent (de Thévenin).</a:t>
            </a:r>
          </a:p>
          <a:p>
            <a:pPr algn="just"/>
            <a:r>
              <a:rPr lang="fr-FR" sz="1600" dirty="0">
                <a:latin typeface="Bookman Old Style" panose="02050604050505020204" pitchFamily="18" charset="0"/>
              </a:rPr>
              <a:t>La sortie du  quadripôle Q' est représentée par une </a:t>
            </a:r>
            <a:r>
              <a:rPr lang="fr-FR" sz="1600" b="1" dirty="0">
                <a:latin typeface="Bookman Old Style" panose="02050604050505020204" pitchFamily="18" charset="0"/>
              </a:rPr>
              <a:t>f.e.m</a:t>
            </a:r>
            <a:r>
              <a:rPr lang="fr-FR" sz="1600" dirty="0">
                <a:latin typeface="Bookman Old Style" panose="02050604050505020204" pitchFamily="18" charset="0"/>
              </a:rPr>
              <a:t>. </a:t>
            </a:r>
            <a:r>
              <a:rPr lang="fr-FR" sz="1600" b="1" i="1" dirty="0">
                <a:latin typeface="Bookman Old Style" panose="02050604050505020204" pitchFamily="18" charset="0"/>
              </a:rPr>
              <a:t>e</a:t>
            </a:r>
            <a:r>
              <a:rPr lang="fr-FR" sz="1600" b="1" baseline="-25000" dirty="0">
                <a:latin typeface="Bookman Old Style" panose="02050604050505020204" pitchFamily="18" charset="0"/>
              </a:rPr>
              <a:t>g</a:t>
            </a:r>
            <a:r>
              <a:rPr lang="fr-FR" sz="1600" dirty="0">
                <a:latin typeface="Bookman Old Style" panose="02050604050505020204" pitchFamily="18" charset="0"/>
              </a:rPr>
              <a:t> et une </a:t>
            </a:r>
            <a:r>
              <a:rPr lang="fr-FR" sz="1600" b="1" dirty="0">
                <a:latin typeface="Bookman Old Style" panose="02050604050505020204" pitchFamily="18" charset="0"/>
              </a:rPr>
              <a:t>résistance interne Z</a:t>
            </a:r>
            <a:r>
              <a:rPr lang="fr-FR" sz="1600" b="1" baseline="-25000" dirty="0">
                <a:latin typeface="Bookman Old Style" panose="02050604050505020204" pitchFamily="18" charset="0"/>
              </a:rPr>
              <a:t>g</a:t>
            </a:r>
            <a:r>
              <a:rPr lang="fr-FR" sz="1600" dirty="0">
                <a:latin typeface="Bookman Old Style" panose="02050604050505020204" pitchFamily="18" charset="0"/>
              </a:rPr>
              <a:t>.</a:t>
            </a:r>
          </a:p>
          <a:p>
            <a:pPr algn="just"/>
            <a:r>
              <a:rPr lang="fr-FR" sz="1600" dirty="0">
                <a:latin typeface="Bookman Old Style" panose="02050604050505020204" pitchFamily="18" charset="0"/>
              </a:rPr>
              <a:t>L'entrée du quadripôle </a:t>
            </a:r>
            <a:r>
              <a:rPr lang="fr-FR" sz="1600" b="1" dirty="0">
                <a:latin typeface="Bookman Old Style" panose="02050604050505020204" pitchFamily="18" charset="0"/>
              </a:rPr>
              <a:t>Q"</a:t>
            </a:r>
            <a:r>
              <a:rPr lang="fr-FR" sz="1600" dirty="0">
                <a:latin typeface="Bookman Old Style" panose="02050604050505020204" pitchFamily="18" charset="0"/>
              </a:rPr>
              <a:t> est représentée par une </a:t>
            </a:r>
            <a:r>
              <a:rPr lang="fr-FR" sz="1600" b="1" dirty="0">
                <a:latin typeface="Bookman Old Style" panose="02050604050505020204" pitchFamily="18" charset="0"/>
              </a:rPr>
              <a:t>impédance d'entrée Z</a:t>
            </a:r>
            <a:r>
              <a:rPr lang="fr-FR" sz="1600" b="1" baseline="-25000" dirty="0">
                <a:latin typeface="Bookman Old Style" panose="02050604050505020204" pitchFamily="18" charset="0"/>
              </a:rPr>
              <a:t>e</a:t>
            </a:r>
            <a:r>
              <a:rPr lang="fr-FR" sz="1600" dirty="0">
                <a:latin typeface="Bookman Old Style" panose="02050604050505020204" pitchFamily="18" charset="0"/>
              </a:rPr>
              <a:t>.</a:t>
            </a:r>
          </a:p>
        </p:txBody>
      </p:sp>
      <p:grpSp>
        <p:nvGrpSpPr>
          <p:cNvPr id="16" name="Group 2">
            <a:extLst>
              <a:ext uri="{FF2B5EF4-FFF2-40B4-BE49-F238E27FC236}">
                <a16:creationId xmlns:a16="http://schemas.microsoft.com/office/drawing/2014/main" id="{1352953C-ED4E-B15B-7ABC-AFA503494AE3}"/>
              </a:ext>
            </a:extLst>
          </p:cNvPr>
          <p:cNvGrpSpPr>
            <a:grpSpLocks/>
          </p:cNvGrpSpPr>
          <p:nvPr/>
        </p:nvGrpSpPr>
        <p:grpSpPr bwMode="auto">
          <a:xfrm>
            <a:off x="1085008" y="2970550"/>
            <a:ext cx="6973983" cy="1973205"/>
            <a:chOff x="2982" y="2204"/>
            <a:chExt cx="5754" cy="1292"/>
          </a:xfrm>
        </p:grpSpPr>
        <p:sp>
          <p:nvSpPr>
            <p:cNvPr id="17" name="Text Box 25">
              <a:extLst>
                <a:ext uri="{FF2B5EF4-FFF2-40B4-BE49-F238E27FC236}">
                  <a16:creationId xmlns:a16="http://schemas.microsoft.com/office/drawing/2014/main" id="{3EBAFEC3-1A8E-599C-6FE9-47180E5719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0" y="2229"/>
              <a:ext cx="612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Q"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0" name="Text Box 24">
              <a:extLst>
                <a:ext uri="{FF2B5EF4-FFF2-40B4-BE49-F238E27FC236}">
                  <a16:creationId xmlns:a16="http://schemas.microsoft.com/office/drawing/2014/main" id="{B9489538-D3CA-3D81-12DB-D12D31A7D4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3" y="2204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Q'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1" name="Rectangle 3">
              <a:extLst>
                <a:ext uri="{FF2B5EF4-FFF2-40B4-BE49-F238E27FC236}">
                  <a16:creationId xmlns:a16="http://schemas.microsoft.com/office/drawing/2014/main" id="{E716E2AD-3070-59D1-CD0A-B9227BB5C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79" y="2446"/>
              <a:ext cx="1547" cy="10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2" name="Rectangle 4">
              <a:extLst>
                <a:ext uri="{FF2B5EF4-FFF2-40B4-BE49-F238E27FC236}">
                  <a16:creationId xmlns:a16="http://schemas.microsoft.com/office/drawing/2014/main" id="{E0226594-C4AD-339D-F59E-BC52D05B4E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04" y="2448"/>
              <a:ext cx="1547" cy="10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3" name="Text Box 5">
              <a:extLst>
                <a:ext uri="{FF2B5EF4-FFF2-40B4-BE49-F238E27FC236}">
                  <a16:creationId xmlns:a16="http://schemas.microsoft.com/office/drawing/2014/main" id="{390DFC01-3FC2-7CEC-F048-CA3D3EF680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84" y="2826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Z</a:t>
              </a:r>
              <a:r>
                <a:rPr kumimoji="0" lang="fr-FR" sz="16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e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4" name="Text Box 6">
              <a:extLst>
                <a:ext uri="{FF2B5EF4-FFF2-40B4-BE49-F238E27FC236}">
                  <a16:creationId xmlns:a16="http://schemas.microsoft.com/office/drawing/2014/main" id="{04F0BC22-A855-B871-C7DB-D2392E7A55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60" y="2802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endParaRPr kumimoji="0" lang="fr-FR" sz="16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5" name="Text Box 7">
              <a:extLst>
                <a:ext uri="{FF2B5EF4-FFF2-40B4-BE49-F238E27FC236}">
                  <a16:creationId xmlns:a16="http://schemas.microsoft.com/office/drawing/2014/main" id="{0E5BF460-8C0A-19E7-C802-D72E309568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8" y="2344"/>
              <a:ext cx="440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6" name="Line 8">
              <a:extLst>
                <a:ext uri="{FF2B5EF4-FFF2-40B4-BE49-F238E27FC236}">
                  <a16:creationId xmlns:a16="http://schemas.microsoft.com/office/drawing/2014/main" id="{E39A4B8D-E47A-B431-5BD7-EC6B68FED1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82" y="2638"/>
              <a:ext cx="693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7" name="Line 9">
              <a:extLst>
                <a:ext uri="{FF2B5EF4-FFF2-40B4-BE49-F238E27FC236}">
                  <a16:creationId xmlns:a16="http://schemas.microsoft.com/office/drawing/2014/main" id="{23A93081-2437-334E-6D0C-D183BC8FFC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4" y="3268"/>
              <a:ext cx="693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8" name="Line 10">
              <a:extLst>
                <a:ext uri="{FF2B5EF4-FFF2-40B4-BE49-F238E27FC236}">
                  <a16:creationId xmlns:a16="http://schemas.microsoft.com/office/drawing/2014/main" id="{472CDBF6-7E24-E461-523E-44C6B38987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2" y="3268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9" name="Line 11">
              <a:extLst>
                <a:ext uri="{FF2B5EF4-FFF2-40B4-BE49-F238E27FC236}">
                  <a16:creationId xmlns:a16="http://schemas.microsoft.com/office/drawing/2014/main" id="{8CB2C01C-74DA-009B-E068-B477B042EB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2" y="2659"/>
              <a:ext cx="187" cy="0"/>
            </a:xfrm>
            <a:prstGeom prst="line">
              <a:avLst/>
            </a:prstGeom>
            <a:noFill/>
            <a:ln w="28575">
              <a:solidFill>
                <a:schemeClr val="accent6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0" name="Line 12">
              <a:extLst>
                <a:ext uri="{FF2B5EF4-FFF2-40B4-BE49-F238E27FC236}">
                  <a16:creationId xmlns:a16="http://schemas.microsoft.com/office/drawing/2014/main" id="{36741C6B-82C4-1D38-0227-A8196DE380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34" y="2704"/>
              <a:ext cx="0" cy="45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1" name="Line 13">
              <a:extLst>
                <a:ext uri="{FF2B5EF4-FFF2-40B4-BE49-F238E27FC236}">
                  <a16:creationId xmlns:a16="http://schemas.microsoft.com/office/drawing/2014/main" id="{DF159B2C-D979-64F3-EB15-D5C81B81D4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41" y="2656"/>
              <a:ext cx="695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2" name="Line 14">
              <a:extLst>
                <a:ext uri="{FF2B5EF4-FFF2-40B4-BE49-F238E27FC236}">
                  <a16:creationId xmlns:a16="http://schemas.microsoft.com/office/drawing/2014/main" id="{782CC876-4771-BF5F-6002-AE4D8C844B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52" y="3256"/>
              <a:ext cx="67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3" name="Line 15">
              <a:extLst>
                <a:ext uri="{FF2B5EF4-FFF2-40B4-BE49-F238E27FC236}">
                  <a16:creationId xmlns:a16="http://schemas.microsoft.com/office/drawing/2014/main" id="{A7A8EA61-A0BA-C208-22B9-604A576FA8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1" y="2662"/>
              <a:ext cx="0" cy="61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4" name="Rectangle 16">
              <a:extLst>
                <a:ext uri="{FF2B5EF4-FFF2-40B4-BE49-F238E27FC236}">
                  <a16:creationId xmlns:a16="http://schemas.microsoft.com/office/drawing/2014/main" id="{B3A08728-DC84-AF5D-F856-55A633B625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64" y="2728"/>
              <a:ext cx="143" cy="451"/>
            </a:xfrm>
            <a:prstGeom prst="rect">
              <a:avLst/>
            </a:prstGeom>
            <a:solidFill>
              <a:srgbClr val="00FF00"/>
            </a:solidFill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5" name="Text Box 17">
              <a:extLst>
                <a:ext uri="{FF2B5EF4-FFF2-40B4-BE49-F238E27FC236}">
                  <a16:creationId xmlns:a16="http://schemas.microsoft.com/office/drawing/2014/main" id="{C2D85724-D897-B369-CCDC-27342F0041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24" y="2706"/>
              <a:ext cx="396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Z</a:t>
              </a:r>
              <a:r>
                <a:rPr kumimoji="0" lang="fr-FR" sz="16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g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6" name="Text Box 18">
              <a:extLst>
                <a:ext uri="{FF2B5EF4-FFF2-40B4-BE49-F238E27FC236}">
                  <a16:creationId xmlns:a16="http://schemas.microsoft.com/office/drawing/2014/main" id="{8E1993D5-B7A7-A9AB-A785-C20491BC57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41" y="2826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e</a:t>
              </a:r>
              <a:r>
                <a:rPr kumimoji="0" lang="fr-FR" sz="16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g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7" name="Line 19">
              <a:extLst>
                <a:ext uri="{FF2B5EF4-FFF2-40B4-BE49-F238E27FC236}">
                  <a16:creationId xmlns:a16="http://schemas.microsoft.com/office/drawing/2014/main" id="{4940A2E3-5409-D3AE-38C0-996EB84B7F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8" y="2650"/>
              <a:ext cx="0" cy="61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8" name="Oval 20">
              <a:extLst>
                <a:ext uri="{FF2B5EF4-FFF2-40B4-BE49-F238E27FC236}">
                  <a16:creationId xmlns:a16="http://schemas.microsoft.com/office/drawing/2014/main" id="{4F41CED1-59A5-F3B3-D27E-FFCCEBF487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6" y="2830"/>
              <a:ext cx="300" cy="282"/>
            </a:xfrm>
            <a:prstGeom prst="ellipse">
              <a:avLst/>
            </a:prstGeom>
            <a:solidFill>
              <a:srgbClr val="00B0F0"/>
            </a:solidFill>
            <a:ln>
              <a:headEnd/>
              <a:tailEnd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9" name="Line 21">
              <a:extLst>
                <a:ext uri="{FF2B5EF4-FFF2-40B4-BE49-F238E27FC236}">
                  <a16:creationId xmlns:a16="http://schemas.microsoft.com/office/drawing/2014/main" id="{ED1F9A57-6D56-5698-49C2-E378DE104A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80" y="2872"/>
              <a:ext cx="0" cy="18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0" name="Line 22">
              <a:extLst>
                <a:ext uri="{FF2B5EF4-FFF2-40B4-BE49-F238E27FC236}">
                  <a16:creationId xmlns:a16="http://schemas.microsoft.com/office/drawing/2014/main" id="{25212B33-0891-98C5-522C-944220FD8EF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98" y="2659"/>
              <a:ext cx="255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1" name="Rectangle 23">
              <a:extLst>
                <a:ext uri="{FF2B5EF4-FFF2-40B4-BE49-F238E27FC236}">
                  <a16:creationId xmlns:a16="http://schemas.microsoft.com/office/drawing/2014/main" id="{05E6EE27-6049-1415-F5A7-78ECF0F5E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2572"/>
              <a:ext cx="450" cy="156"/>
            </a:xfrm>
            <a:prstGeom prst="rect">
              <a:avLst/>
            </a:prstGeom>
            <a:solidFill>
              <a:srgbClr val="0000FF"/>
            </a:solidFill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389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497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Adaptations d'impédance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5.1 Adaptations d'impédance en 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4042DE-F696-5EC6-0C6B-EC4AB42A3299}"/>
              </a:ext>
            </a:extLst>
          </p:cNvPr>
          <p:cNvSpPr/>
          <p:nvPr/>
        </p:nvSpPr>
        <p:spPr>
          <a:xfrm>
            <a:off x="415622" y="1280589"/>
            <a:ext cx="689957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 dirty="0">
                <a:latin typeface="Bookman Old Style" panose="02050604050505020204" pitchFamily="18" charset="0"/>
              </a:rPr>
              <a:t>En connectant les deux quadripôles, la tension appliquée à Q" est</a:t>
            </a:r>
          </a:p>
        </p:txBody>
      </p:sp>
      <p:graphicFrame>
        <p:nvGraphicFramePr>
          <p:cNvPr id="4" name="Object 1">
            <a:extLst>
              <a:ext uri="{FF2B5EF4-FFF2-40B4-BE49-F238E27FC236}">
                <a16:creationId xmlns:a16="http://schemas.microsoft.com/office/drawing/2014/main" id="{6A2AEA84-D8A7-06D0-BA2E-FB8D68F8782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5718280"/>
              </p:ext>
            </p:extLst>
          </p:nvPr>
        </p:nvGraphicFramePr>
        <p:xfrm>
          <a:off x="7114003" y="1028020"/>
          <a:ext cx="2017414" cy="997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825142" imgH="406224" progId="">
                  <p:embed/>
                </p:oleObj>
              </mc:Choice>
              <mc:Fallback>
                <p:oleObj r:id="rId3" imgW="825142" imgH="406224" progId="">
                  <p:embed/>
                  <p:pic>
                    <p:nvPicPr>
                      <p:cNvPr id="61441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4003" y="1028020"/>
                        <a:ext cx="2017414" cy="99711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8209F2-2748-F8D8-9BE5-A9E5DD75112E}"/>
              </a:ext>
            </a:extLst>
          </p:cNvPr>
          <p:cNvSpPr/>
          <p:nvPr/>
        </p:nvSpPr>
        <p:spPr>
          <a:xfrm>
            <a:off x="415622" y="2072594"/>
            <a:ext cx="8544864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 dirty="0">
                <a:latin typeface="Bookman Old Style" panose="02050604050505020204" pitchFamily="18" charset="0"/>
              </a:rPr>
              <a:t>Cette tension n'est pas égale à la f.e.m e</a:t>
            </a:r>
            <a:r>
              <a:rPr lang="fr-FR" sz="1500" b="1" baseline="-25000" dirty="0">
                <a:latin typeface="Bookman Old Style" panose="02050604050505020204" pitchFamily="18" charset="0"/>
              </a:rPr>
              <a:t>g</a:t>
            </a:r>
            <a:r>
              <a:rPr lang="fr-FR" sz="1500" b="1" dirty="0">
                <a:latin typeface="Bookman Old Style" panose="02050604050505020204" pitchFamily="18" charset="0"/>
              </a:rPr>
              <a:t>  mais elle est atténuée d'un facteur</a:t>
            </a:r>
          </a:p>
        </p:txBody>
      </p:sp>
      <p:graphicFrame>
        <p:nvGraphicFramePr>
          <p:cNvPr id="12" name="Object 3">
            <a:extLst>
              <a:ext uri="{FF2B5EF4-FFF2-40B4-BE49-F238E27FC236}">
                <a16:creationId xmlns:a16="http://schemas.microsoft.com/office/drawing/2014/main" id="{B58445FC-79FB-D491-8CD5-17D13D33220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5681191"/>
              </p:ext>
            </p:extLst>
          </p:nvPr>
        </p:nvGraphicFramePr>
        <p:xfrm>
          <a:off x="8250943" y="1841647"/>
          <a:ext cx="954870" cy="9124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431425" imgH="406048" progId="">
                  <p:embed/>
                </p:oleObj>
              </mc:Choice>
              <mc:Fallback>
                <p:oleObj r:id="rId5" imgW="431425" imgH="406048" progId="">
                  <p:embed/>
                  <p:pic>
                    <p:nvPicPr>
                      <p:cNvPr id="6144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50943" y="1841647"/>
                        <a:ext cx="954870" cy="912432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Rectangle 41">
            <a:extLst>
              <a:ext uri="{FF2B5EF4-FFF2-40B4-BE49-F238E27FC236}">
                <a16:creationId xmlns:a16="http://schemas.microsoft.com/office/drawing/2014/main" id="{A2292CC1-1E00-6EEC-B8A8-533A6E0EE96A}"/>
              </a:ext>
            </a:extLst>
          </p:cNvPr>
          <p:cNvSpPr/>
          <p:nvPr/>
        </p:nvSpPr>
        <p:spPr>
          <a:xfrm>
            <a:off x="415622" y="2864599"/>
            <a:ext cx="7740756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 dirty="0">
                <a:latin typeface="Bookman Old Style" panose="02050604050505020204" pitchFamily="18" charset="0"/>
              </a:rPr>
              <a:t>Cette </a:t>
            </a:r>
            <a:r>
              <a:rPr lang="fr-FR" sz="1500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atténuation</a:t>
            </a:r>
            <a:r>
              <a:rPr lang="fr-FR" sz="1500" b="1" dirty="0">
                <a:latin typeface="Bookman Old Style" panose="02050604050505020204" pitchFamily="18" charset="0"/>
              </a:rPr>
              <a:t> constitue une </a:t>
            </a:r>
            <a:r>
              <a:rPr lang="fr-FR" sz="1500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dégradation du signal</a:t>
            </a:r>
            <a:r>
              <a:rPr lang="fr-FR" sz="1500" b="1" dirty="0">
                <a:latin typeface="Bookman Old Style" panose="02050604050505020204" pitchFamily="18" charset="0"/>
              </a:rPr>
              <a:t>.</a:t>
            </a:r>
          </a:p>
        </p:txBody>
      </p:sp>
      <p:sp>
        <p:nvSpPr>
          <p:cNvPr id="43" name="Rectangle à coins arrondis 10">
            <a:extLst>
              <a:ext uri="{FF2B5EF4-FFF2-40B4-BE49-F238E27FC236}">
                <a16:creationId xmlns:a16="http://schemas.microsoft.com/office/drawing/2014/main" id="{F6130AAB-97CF-104A-241D-27F600B7A38A}"/>
              </a:ext>
            </a:extLst>
          </p:cNvPr>
          <p:cNvSpPr/>
          <p:nvPr/>
        </p:nvSpPr>
        <p:spPr>
          <a:xfrm>
            <a:off x="1340599" y="3562349"/>
            <a:ext cx="6355601" cy="10235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00">
              <a:latin typeface="Bookman Old Style" panose="02050604050505020204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3BB203-2183-F767-6942-795039314B9E}"/>
              </a:ext>
            </a:extLst>
          </p:cNvPr>
          <p:cNvSpPr/>
          <p:nvPr/>
        </p:nvSpPr>
        <p:spPr>
          <a:xfrm>
            <a:off x="1523164" y="3625689"/>
            <a:ext cx="602464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b="1" dirty="0">
                <a:latin typeface="Bookman Old Style" panose="02050604050505020204" pitchFamily="18" charset="0"/>
              </a:rPr>
              <a:t>Lorsqu'on transmet un signal de tension entre deux quadripôles, il faut une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impédance d'entrée élevée</a:t>
            </a:r>
            <a:r>
              <a:rPr lang="fr-FR" b="1" dirty="0">
                <a:latin typeface="Bookman Old Style" panose="02050604050505020204" pitchFamily="18" charset="0"/>
              </a:rPr>
              <a:t> et une </a:t>
            </a:r>
            <a:r>
              <a:rPr lang="fr-FR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impédance de sortie faible</a:t>
            </a:r>
            <a:r>
              <a:rPr lang="fr-FR" b="1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963857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497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Adaptations d'impédance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5.2 Adaptations d'impédance en courant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DA5B05-8DB8-3BCB-C5E0-2C65B162864D}"/>
              </a:ext>
            </a:extLst>
          </p:cNvPr>
          <p:cNvSpPr/>
          <p:nvPr/>
        </p:nvSpPr>
        <p:spPr>
          <a:xfrm>
            <a:off x="489758" y="1292172"/>
            <a:ext cx="8579447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sz="1500" dirty="0">
                <a:latin typeface="Bookman Old Style" panose="02050604050505020204" pitchFamily="18" charset="0"/>
              </a:rPr>
              <a:t>Supposons que le </a:t>
            </a:r>
            <a:r>
              <a:rPr lang="fr-FR" sz="1500" b="1" dirty="0">
                <a:latin typeface="Bookman Old Style" panose="02050604050505020204" pitchFamily="18" charset="0"/>
              </a:rPr>
              <a:t>quadripôle Q'</a:t>
            </a:r>
            <a:r>
              <a:rPr lang="fr-FR" sz="1500" dirty="0">
                <a:latin typeface="Bookman Old Style" panose="02050604050505020204" pitchFamily="18" charset="0"/>
              </a:rPr>
              <a:t> se comporte davantage comme une source de courant. Sa sortie peut être représentée par le schéma équivalent (de Norton).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457C78A2-273E-79EA-EC4E-82B923BC4570}"/>
              </a:ext>
            </a:extLst>
          </p:cNvPr>
          <p:cNvGrpSpPr>
            <a:grpSpLocks/>
          </p:cNvGrpSpPr>
          <p:nvPr/>
        </p:nvGrpSpPr>
        <p:grpSpPr bwMode="auto">
          <a:xfrm>
            <a:off x="1600200" y="2013977"/>
            <a:ext cx="5772194" cy="1694234"/>
            <a:chOff x="2532" y="7482"/>
            <a:chExt cx="5754" cy="1372"/>
          </a:xfrm>
        </p:grpSpPr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EF518246-AF74-17FC-90A9-9F120B52D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23" y="7482"/>
              <a:ext cx="612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500" b="1" i="0" u="none" strike="noStrike" cap="none" normalizeH="0" baseline="0" dirty="0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Q"</a:t>
              </a:r>
              <a:endParaRPr kumimoji="0" lang="fr-FR" sz="1500" b="1" i="0" u="none" strike="noStrike" cap="none" normalizeH="0" baseline="0" dirty="0">
                <a:ln>
                  <a:noFill/>
                </a:ln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2" name="Text Box 21">
              <a:extLst>
                <a:ext uri="{FF2B5EF4-FFF2-40B4-BE49-F238E27FC236}">
                  <a16:creationId xmlns:a16="http://schemas.microsoft.com/office/drawing/2014/main" id="{6D43E3F2-8403-3228-A3CD-166BE4819D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3" y="7482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500" b="1" i="0" u="none" strike="noStrike" cap="none" normalizeH="0" baseline="0" dirty="0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Q'</a:t>
              </a:r>
              <a:endParaRPr kumimoji="0" lang="fr-FR" sz="1500" b="1" i="0" u="none" strike="noStrike" cap="none" normalizeH="0" baseline="0" dirty="0">
                <a:ln>
                  <a:noFill/>
                </a:ln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2" name="Rectangle 3">
              <a:extLst>
                <a:ext uri="{FF2B5EF4-FFF2-40B4-BE49-F238E27FC236}">
                  <a16:creationId xmlns:a16="http://schemas.microsoft.com/office/drawing/2014/main" id="{E80951C7-4007-9BB5-6C27-041D50FAE8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9" y="7804"/>
              <a:ext cx="1547" cy="10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43" name="Rectangle 4">
              <a:extLst>
                <a:ext uri="{FF2B5EF4-FFF2-40B4-BE49-F238E27FC236}">
                  <a16:creationId xmlns:a16="http://schemas.microsoft.com/office/drawing/2014/main" id="{7C0A0562-A0BA-3D04-F248-AF2701A778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54" y="7806"/>
              <a:ext cx="1547" cy="10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44" name="Text Box 5">
              <a:extLst>
                <a:ext uri="{FF2B5EF4-FFF2-40B4-BE49-F238E27FC236}">
                  <a16:creationId xmlns:a16="http://schemas.microsoft.com/office/drawing/2014/main" id="{FF93973B-0AE4-0A70-ECA7-8DF27D1712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" y="8179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500" b="1" i="0" u="none" strike="noStrike" cap="none" normalizeH="0" baseline="0" dirty="0" err="1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Z</a:t>
              </a:r>
              <a:r>
                <a:rPr kumimoji="0" lang="fr-FR" sz="1500" b="1" i="0" u="none" strike="noStrike" cap="none" normalizeH="0" baseline="-25000" dirty="0" err="1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e</a:t>
              </a:r>
              <a:endParaRPr kumimoji="0" lang="fr-FR" sz="1500" b="1" i="0" u="none" strike="noStrike" cap="none" normalizeH="0" baseline="0" dirty="0">
                <a:ln>
                  <a:noFill/>
                </a:ln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5" name="Text Box 6">
              <a:extLst>
                <a:ext uri="{FF2B5EF4-FFF2-40B4-BE49-F238E27FC236}">
                  <a16:creationId xmlns:a16="http://schemas.microsoft.com/office/drawing/2014/main" id="{B35B5CCC-A834-5309-7004-90877FBCDB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6" y="8152"/>
              <a:ext cx="351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500" b="1" i="0" u="none" strike="noStrike" cap="none" normalizeH="0" baseline="0" dirty="0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endParaRPr kumimoji="0" lang="fr-FR" sz="1500" b="1" i="0" u="none" strike="noStrike" cap="none" normalizeH="0" baseline="0" dirty="0">
                <a:ln>
                  <a:noFill/>
                </a:ln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7" name="Text Box 7">
              <a:extLst>
                <a:ext uri="{FF2B5EF4-FFF2-40B4-BE49-F238E27FC236}">
                  <a16:creationId xmlns:a16="http://schemas.microsoft.com/office/drawing/2014/main" id="{ED9482A4-848A-C060-DC1D-4A20CDAA6A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8" y="7702"/>
              <a:ext cx="440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500" b="1" i="0" u="none" strike="noStrike" cap="none" normalizeH="0" baseline="0" dirty="0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endParaRPr kumimoji="0" lang="fr-FR" sz="1500" b="1" i="0" u="none" strike="noStrike" cap="none" normalizeH="0" baseline="0" dirty="0">
                <a:ln>
                  <a:noFill/>
                </a:ln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48" name="Line 8">
              <a:extLst>
                <a:ext uri="{FF2B5EF4-FFF2-40B4-BE49-F238E27FC236}">
                  <a16:creationId xmlns:a16="http://schemas.microsoft.com/office/drawing/2014/main" id="{3C882F62-ED69-E2FC-20D3-ECD3BF0474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2" y="7996"/>
              <a:ext cx="693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49" name="Line 9">
              <a:extLst>
                <a:ext uri="{FF2B5EF4-FFF2-40B4-BE49-F238E27FC236}">
                  <a16:creationId xmlns:a16="http://schemas.microsoft.com/office/drawing/2014/main" id="{D46DEF37-7401-FEC5-2D43-26D8655D74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4" y="8625"/>
              <a:ext cx="693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50" name="Line 10">
              <a:extLst>
                <a:ext uri="{FF2B5EF4-FFF2-40B4-BE49-F238E27FC236}">
                  <a16:creationId xmlns:a16="http://schemas.microsoft.com/office/drawing/2014/main" id="{6DC00BEB-F87A-D666-518E-CA3E663AB8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42" y="8625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51" name="Line 11">
              <a:extLst>
                <a:ext uri="{FF2B5EF4-FFF2-40B4-BE49-F238E27FC236}">
                  <a16:creationId xmlns:a16="http://schemas.microsoft.com/office/drawing/2014/main" id="{085978D5-3DA3-3786-2289-44D51731D3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22" y="8023"/>
              <a:ext cx="187" cy="0"/>
            </a:xfrm>
            <a:prstGeom prst="line">
              <a:avLst/>
            </a:prstGeom>
            <a:noFill/>
            <a:ln w="28575">
              <a:solidFill>
                <a:schemeClr val="accent6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52" name="Line 12">
              <a:extLst>
                <a:ext uri="{FF2B5EF4-FFF2-40B4-BE49-F238E27FC236}">
                  <a16:creationId xmlns:a16="http://schemas.microsoft.com/office/drawing/2014/main" id="{47E8CCB3-24FA-4A71-5974-AD775BE87F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84" y="8062"/>
              <a:ext cx="0" cy="45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53" name="Line 13">
              <a:extLst>
                <a:ext uri="{FF2B5EF4-FFF2-40B4-BE49-F238E27FC236}">
                  <a16:creationId xmlns:a16="http://schemas.microsoft.com/office/drawing/2014/main" id="{C5AA3660-755F-7939-5D03-0EADB911A6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91" y="8014"/>
              <a:ext cx="695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54" name="Line 14">
              <a:extLst>
                <a:ext uri="{FF2B5EF4-FFF2-40B4-BE49-F238E27FC236}">
                  <a16:creationId xmlns:a16="http://schemas.microsoft.com/office/drawing/2014/main" id="{339C4246-A744-7B92-23FB-529B185EDF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02" y="8613"/>
              <a:ext cx="67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55" name="Line 15">
              <a:extLst>
                <a:ext uri="{FF2B5EF4-FFF2-40B4-BE49-F238E27FC236}">
                  <a16:creationId xmlns:a16="http://schemas.microsoft.com/office/drawing/2014/main" id="{BC3E32CB-1703-4D71-A47F-5559C78B7D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80" y="8032"/>
              <a:ext cx="0" cy="6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56" name="Rectangle 16">
              <a:extLst>
                <a:ext uri="{FF2B5EF4-FFF2-40B4-BE49-F238E27FC236}">
                  <a16:creationId xmlns:a16="http://schemas.microsoft.com/office/drawing/2014/main" id="{3CE2C44E-1B14-EDD6-D6E3-5405AC730D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14" y="8086"/>
              <a:ext cx="143" cy="451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solidFill>
                  <a:schemeClr val="tx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57" name="Text Box 17">
              <a:extLst>
                <a:ext uri="{FF2B5EF4-FFF2-40B4-BE49-F238E27FC236}">
                  <a16:creationId xmlns:a16="http://schemas.microsoft.com/office/drawing/2014/main" id="{6944C734-6777-1272-64BC-56A5015897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6" y="8113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500" b="1" i="0" u="none" strike="noStrike" cap="none" normalizeH="0" baseline="0" dirty="0" err="1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Z</a:t>
              </a:r>
              <a:r>
                <a:rPr kumimoji="0" lang="fr-FR" sz="1500" b="1" i="0" u="none" strike="noStrike" cap="none" normalizeH="0" baseline="-25000" dirty="0" err="1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g</a:t>
              </a:r>
              <a:endParaRPr kumimoji="0" lang="fr-FR" sz="1500" b="1" i="0" u="none" strike="noStrike" cap="none" normalizeH="0" baseline="0" dirty="0">
                <a:ln>
                  <a:noFill/>
                </a:ln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8" name="Text Box 18">
              <a:extLst>
                <a:ext uri="{FF2B5EF4-FFF2-40B4-BE49-F238E27FC236}">
                  <a16:creationId xmlns:a16="http://schemas.microsoft.com/office/drawing/2014/main" id="{152203A9-E124-709F-1652-7358FE5BB3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8" y="8134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500" b="1" i="0" u="none" strike="noStrike" cap="none" normalizeH="0" baseline="0" dirty="0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fr-FR" sz="1500" b="1" i="0" u="none" strike="noStrike" cap="none" normalizeH="0" baseline="-25000" dirty="0">
                  <a:ln>
                    <a:noFill/>
                  </a:ln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g</a:t>
              </a:r>
              <a:endParaRPr kumimoji="0" lang="fr-FR" sz="1500" b="1" i="0" u="none" strike="noStrike" cap="none" normalizeH="0" baseline="0" dirty="0">
                <a:ln>
                  <a:noFill/>
                </a:ln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59" name="Line 19">
              <a:extLst>
                <a:ext uri="{FF2B5EF4-FFF2-40B4-BE49-F238E27FC236}">
                  <a16:creationId xmlns:a16="http://schemas.microsoft.com/office/drawing/2014/main" id="{E5518FFF-0AC0-4114-F34B-5833B9CD77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42" y="8019"/>
              <a:ext cx="0" cy="62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60" name="Line 20">
              <a:extLst>
                <a:ext uri="{FF2B5EF4-FFF2-40B4-BE49-F238E27FC236}">
                  <a16:creationId xmlns:a16="http://schemas.microsoft.com/office/drawing/2014/main" id="{49C511A2-A06D-E1D0-DA87-5C0216C3CC0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38" y="8023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61" name="Line 23">
              <a:extLst>
                <a:ext uri="{FF2B5EF4-FFF2-40B4-BE49-F238E27FC236}">
                  <a16:creationId xmlns:a16="http://schemas.microsoft.com/office/drawing/2014/main" id="{57061998-1CD2-3EDA-EB2F-7242D6A1F7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4" y="8014"/>
              <a:ext cx="0" cy="61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62" name="Rectangle 24">
              <a:extLst>
                <a:ext uri="{FF2B5EF4-FFF2-40B4-BE49-F238E27FC236}">
                  <a16:creationId xmlns:a16="http://schemas.microsoft.com/office/drawing/2014/main" id="{D0FB07CD-8901-CB30-F32B-5CFF9890B4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400000">
              <a:off x="4299" y="8239"/>
              <a:ext cx="450" cy="156"/>
            </a:xfrm>
            <a:prstGeom prst="rect">
              <a:avLst/>
            </a:prstGeom>
            <a:solidFill>
              <a:srgbClr val="0000FF"/>
            </a:solidFill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solidFill>
                  <a:schemeClr val="tx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3" name="Oval 25">
              <a:extLst>
                <a:ext uri="{FF2B5EF4-FFF2-40B4-BE49-F238E27FC236}">
                  <a16:creationId xmlns:a16="http://schemas.microsoft.com/office/drawing/2014/main" id="{8DAA6ACC-E1A4-3014-4355-5E326B8579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6" y="8098"/>
              <a:ext cx="300" cy="282"/>
            </a:xfrm>
            <a:prstGeom prst="ellipse">
              <a:avLst/>
            </a:prstGeom>
            <a:solidFill>
              <a:srgbClr val="00FFFF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64" name="Oval 26">
              <a:extLst>
                <a:ext uri="{FF2B5EF4-FFF2-40B4-BE49-F238E27FC236}">
                  <a16:creationId xmlns:a16="http://schemas.microsoft.com/office/drawing/2014/main" id="{E9337BE1-F74C-5688-ACFB-1DB2995E9C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6" y="8224"/>
              <a:ext cx="300" cy="282"/>
            </a:xfrm>
            <a:prstGeom prst="ellipse">
              <a:avLst/>
            </a:prstGeom>
            <a:solidFill>
              <a:srgbClr val="00FFFF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  <p:sp>
          <p:nvSpPr>
            <p:cNvPr id="65" name="Line 27">
              <a:extLst>
                <a:ext uri="{FF2B5EF4-FFF2-40B4-BE49-F238E27FC236}">
                  <a16:creationId xmlns:a16="http://schemas.microsoft.com/office/drawing/2014/main" id="{75FFE308-6CBC-5B8D-3920-92DB617BBC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30" y="8152"/>
              <a:ext cx="0" cy="18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500">
                <a:latin typeface="Bookman Old Style" panose="02050604050505020204" pitchFamily="18" charset="0"/>
              </a:endParaRPr>
            </a:p>
          </p:txBody>
        </p: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05D05BA7-29A0-84E2-A628-A92E29CC7982}"/>
              </a:ext>
            </a:extLst>
          </p:cNvPr>
          <p:cNvSpPr/>
          <p:nvPr/>
        </p:nvSpPr>
        <p:spPr>
          <a:xfrm>
            <a:off x="373004" y="3940182"/>
            <a:ext cx="857944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sz="1500" dirty="0">
                <a:latin typeface="Bookman Old Style" panose="02050604050505020204" pitchFamily="18" charset="0"/>
              </a:rPr>
              <a:t>La sortie du </a:t>
            </a:r>
            <a:r>
              <a:rPr lang="fr-FR" sz="1500" b="1" dirty="0">
                <a:latin typeface="Bookman Old Style" panose="02050604050505020204" pitchFamily="18" charset="0"/>
              </a:rPr>
              <a:t>quadripôle Q'</a:t>
            </a:r>
            <a:r>
              <a:rPr lang="fr-FR" sz="1500" dirty="0">
                <a:latin typeface="Bookman Old Style" panose="02050604050505020204" pitchFamily="18" charset="0"/>
              </a:rPr>
              <a:t> est représentée par </a:t>
            </a:r>
            <a:r>
              <a:rPr lang="fr-FR" sz="1500" b="1" dirty="0">
                <a:latin typeface="Bookman Old Style" panose="02050604050505020204" pitchFamily="18" charset="0"/>
              </a:rPr>
              <a:t>une source de courant i</a:t>
            </a:r>
            <a:r>
              <a:rPr lang="fr-FR" sz="1500" b="1" baseline="-25000" dirty="0">
                <a:latin typeface="Bookman Old Style" panose="02050604050505020204" pitchFamily="18" charset="0"/>
              </a:rPr>
              <a:t>g</a:t>
            </a:r>
            <a:r>
              <a:rPr lang="fr-FR" sz="1500" dirty="0">
                <a:latin typeface="Bookman Old Style" panose="02050604050505020204" pitchFamily="18" charset="0"/>
              </a:rPr>
              <a:t> </a:t>
            </a:r>
            <a:r>
              <a:rPr lang="fr-FR" sz="1500" b="1" dirty="0">
                <a:latin typeface="Bookman Old Style" panose="02050604050505020204" pitchFamily="18" charset="0"/>
              </a:rPr>
              <a:t>et une résistance interne Z</a:t>
            </a:r>
            <a:r>
              <a:rPr lang="fr-FR" sz="1500" b="1" baseline="-25000" dirty="0">
                <a:latin typeface="Bookman Old Style" panose="02050604050505020204" pitchFamily="18" charset="0"/>
              </a:rPr>
              <a:t>g</a:t>
            </a:r>
            <a:r>
              <a:rPr lang="fr-FR" sz="1500" dirty="0">
                <a:latin typeface="Bookman Old Style" panose="02050604050505020204" pitchFamily="18" charset="0"/>
              </a:rPr>
              <a:t>.</a:t>
            </a:r>
          </a:p>
          <a:p>
            <a:pPr algn="just"/>
            <a:r>
              <a:rPr lang="fr-FR" sz="1500" dirty="0">
                <a:latin typeface="Bookman Old Style" panose="02050604050505020204" pitchFamily="18" charset="0"/>
              </a:rPr>
              <a:t>En connectant les deux quadripôles, le courant </a:t>
            </a:r>
            <a:r>
              <a:rPr lang="fr-FR" sz="1500" b="1" dirty="0">
                <a:latin typeface="Bookman Old Style" panose="02050604050505020204" pitchFamily="18" charset="0"/>
              </a:rPr>
              <a:t>i</a:t>
            </a:r>
            <a:r>
              <a:rPr lang="fr-FR" sz="1500" dirty="0">
                <a:latin typeface="Bookman Old Style" panose="02050604050505020204" pitchFamily="18" charset="0"/>
              </a:rPr>
              <a:t> appliqué à </a:t>
            </a:r>
            <a:r>
              <a:rPr lang="fr-FR" sz="1500" b="1" dirty="0">
                <a:latin typeface="Bookman Old Style" panose="02050604050505020204" pitchFamily="18" charset="0"/>
              </a:rPr>
              <a:t>Q"</a:t>
            </a:r>
            <a:r>
              <a:rPr lang="fr-FR" sz="1500" dirty="0">
                <a:latin typeface="Bookman Old Style" panose="02050604050505020204" pitchFamily="18" charset="0"/>
              </a:rPr>
              <a:t> est également </a:t>
            </a:r>
            <a:r>
              <a:rPr lang="fr-FR" sz="1500" b="1" dirty="0">
                <a:latin typeface="Bookman Old Style" panose="02050604050505020204" pitchFamily="18" charset="0"/>
              </a:rPr>
              <a:t>atténué</a:t>
            </a:r>
            <a:r>
              <a:rPr lang="fr-FR" sz="1500" dirty="0">
                <a:latin typeface="Bookman Old Style" panose="02050604050505020204" pitchFamily="18" charset="0"/>
              </a:rPr>
              <a:t> et donc </a:t>
            </a:r>
            <a:r>
              <a:rPr lang="fr-FR" sz="1500" b="1" dirty="0">
                <a:latin typeface="Bookman Old Style" panose="02050604050505020204" pitchFamily="18" charset="0"/>
              </a:rPr>
              <a:t>dégradé</a:t>
            </a:r>
            <a:r>
              <a:rPr lang="fr-FR" sz="1500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92000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497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Adaptations d'impédance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5.1 Adaptations d'impédance en courant</a:t>
            </a:r>
          </a:p>
        </p:txBody>
      </p:sp>
      <p:sp>
        <p:nvSpPr>
          <p:cNvPr id="11" name="Rectangle à coins arrondis 33">
            <a:extLst>
              <a:ext uri="{FF2B5EF4-FFF2-40B4-BE49-F238E27FC236}">
                <a16:creationId xmlns:a16="http://schemas.microsoft.com/office/drawing/2014/main" id="{B9BA8FA4-5559-4F81-1E53-93655F1DB907}"/>
              </a:ext>
            </a:extLst>
          </p:cNvPr>
          <p:cNvSpPr/>
          <p:nvPr/>
        </p:nvSpPr>
        <p:spPr>
          <a:xfrm>
            <a:off x="1600200" y="3023040"/>
            <a:ext cx="6400800" cy="142400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6" name="Object 28">
            <a:extLst>
              <a:ext uri="{FF2B5EF4-FFF2-40B4-BE49-F238E27FC236}">
                <a16:creationId xmlns:a16="http://schemas.microsoft.com/office/drawing/2014/main" id="{755F5986-9BC0-E752-AC4B-0BAEEE330E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2995115"/>
              </p:ext>
            </p:extLst>
          </p:nvPr>
        </p:nvGraphicFramePr>
        <p:xfrm>
          <a:off x="3730322" y="1998719"/>
          <a:ext cx="1847221" cy="9895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800100" imgH="431800" progId="">
                  <p:embed/>
                </p:oleObj>
              </mc:Choice>
              <mc:Fallback>
                <p:oleObj r:id="rId3" imgW="800100" imgH="431800" progId="">
                  <p:embed/>
                  <p:pic>
                    <p:nvPicPr>
                      <p:cNvPr id="6351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0322" y="1998719"/>
                        <a:ext cx="1847221" cy="98958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C6FAC570-F0F1-7D47-5A13-4A76AED05346}"/>
              </a:ext>
            </a:extLst>
          </p:cNvPr>
          <p:cNvSpPr/>
          <p:nvPr/>
        </p:nvSpPr>
        <p:spPr>
          <a:xfrm>
            <a:off x="1828800" y="3134880"/>
            <a:ext cx="605531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b="1" dirty="0">
                <a:latin typeface="Bookman Old Style" panose="02050604050505020204" pitchFamily="18" charset="0"/>
              </a:rPr>
              <a:t>Pour éviter une atténuation du courant transmis entre Q' et Q", il faut une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impédance de sortie élevée </a:t>
            </a:r>
            <a:r>
              <a:rPr lang="fr-FR" b="1" dirty="0">
                <a:latin typeface="Bookman Old Style" panose="02050604050505020204" pitchFamily="18" charset="0"/>
              </a:rPr>
              <a:t>(de Q') et une </a:t>
            </a:r>
            <a:r>
              <a:rPr lang="fr-FR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impédance d'entrée faible</a:t>
            </a:r>
            <a:r>
              <a:rPr lang="fr-FR" b="1" dirty="0">
                <a:latin typeface="Bookman Old Style" panose="02050604050505020204" pitchFamily="18" charset="0"/>
              </a:rPr>
              <a:t> (de Q").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789560-A048-5882-F711-87923B11DDF8}"/>
              </a:ext>
            </a:extLst>
          </p:cNvPr>
          <p:cNvSpPr txBox="1"/>
          <p:nvPr/>
        </p:nvSpPr>
        <p:spPr>
          <a:xfrm>
            <a:off x="446543" y="1336614"/>
            <a:ext cx="84147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800" dirty="0">
                <a:latin typeface="Bookman Old Style" panose="02050604050505020204" pitchFamily="18" charset="0"/>
              </a:rPr>
              <a:t>En connectant les deux quadripôles, le courant </a:t>
            </a:r>
            <a:r>
              <a:rPr lang="fr-FR" sz="1800" b="1" dirty="0">
                <a:latin typeface="Bookman Old Style" panose="02050604050505020204" pitchFamily="18" charset="0"/>
              </a:rPr>
              <a:t>i</a:t>
            </a:r>
            <a:r>
              <a:rPr lang="fr-FR" sz="1800" dirty="0">
                <a:latin typeface="Bookman Old Style" panose="02050604050505020204" pitchFamily="18" charset="0"/>
              </a:rPr>
              <a:t> appliqué à </a:t>
            </a:r>
            <a:r>
              <a:rPr lang="fr-FR" sz="1800" b="1" dirty="0">
                <a:latin typeface="Bookman Old Style" panose="02050604050505020204" pitchFamily="18" charset="0"/>
              </a:rPr>
              <a:t>Q"</a:t>
            </a:r>
            <a:r>
              <a:rPr lang="fr-FR" sz="1800" dirty="0">
                <a:latin typeface="Bookman Old Style" panose="02050604050505020204" pitchFamily="18" charset="0"/>
              </a:rPr>
              <a:t> est également </a:t>
            </a:r>
            <a:r>
              <a:rPr lang="fr-FR" sz="1800" b="1" dirty="0">
                <a:latin typeface="Bookman Old Style" panose="02050604050505020204" pitchFamily="18" charset="0"/>
              </a:rPr>
              <a:t>atténué</a:t>
            </a:r>
            <a:r>
              <a:rPr lang="fr-FR" sz="1800" dirty="0">
                <a:latin typeface="Bookman Old Style" panose="02050604050505020204" pitchFamily="18" charset="0"/>
              </a:rPr>
              <a:t> et donc </a:t>
            </a:r>
            <a:r>
              <a:rPr lang="fr-FR" sz="1800" b="1" dirty="0">
                <a:latin typeface="Bookman Old Style" panose="02050604050505020204" pitchFamily="18" charset="0"/>
              </a:rPr>
              <a:t>dégradé</a:t>
            </a:r>
            <a:r>
              <a:rPr lang="fr-FR" sz="1800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84855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497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Adaptations d'impédance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9858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5.3 Adaptations d'impédance en puissance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C3DD4D-99A6-9CC3-7E6A-77BBD8AC44C7}"/>
              </a:ext>
            </a:extLst>
          </p:cNvPr>
          <p:cNvSpPr/>
          <p:nvPr/>
        </p:nvSpPr>
        <p:spPr>
          <a:xfrm>
            <a:off x="576301" y="1316645"/>
            <a:ext cx="83979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600" dirty="0">
                <a:latin typeface="Bookman Old Style" panose="02050604050505020204" pitchFamily="18" charset="0"/>
              </a:rPr>
              <a:t>Supposons qu'on veut transmettre un signal de puissance élevée entre Q' et Q".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8F2F4B33-F809-220D-E151-D2661808FB45}"/>
              </a:ext>
            </a:extLst>
          </p:cNvPr>
          <p:cNvGrpSpPr>
            <a:grpSpLocks/>
          </p:cNvGrpSpPr>
          <p:nvPr/>
        </p:nvGrpSpPr>
        <p:grpSpPr bwMode="auto">
          <a:xfrm>
            <a:off x="1219200" y="2114550"/>
            <a:ext cx="6973983" cy="1973205"/>
            <a:chOff x="2982" y="2204"/>
            <a:chExt cx="5754" cy="1292"/>
          </a:xfrm>
        </p:grpSpPr>
        <p:sp>
          <p:nvSpPr>
            <p:cNvPr id="5" name="Text Box 25">
              <a:extLst>
                <a:ext uri="{FF2B5EF4-FFF2-40B4-BE49-F238E27FC236}">
                  <a16:creationId xmlns:a16="http://schemas.microsoft.com/office/drawing/2014/main" id="{D502634E-7F02-9A4B-889B-0757C5D2B5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0" y="2229"/>
              <a:ext cx="612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Q"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12" name="Text Box 24">
              <a:extLst>
                <a:ext uri="{FF2B5EF4-FFF2-40B4-BE49-F238E27FC236}">
                  <a16:creationId xmlns:a16="http://schemas.microsoft.com/office/drawing/2014/main" id="{83F2DC6F-74BB-51C5-7DAD-5FCE97A0CE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3" y="2204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Q'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9AC3E52E-B98D-3541-6B5C-35E1076431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79" y="2446"/>
              <a:ext cx="1547" cy="10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2" name="Rectangle 4">
              <a:extLst>
                <a:ext uri="{FF2B5EF4-FFF2-40B4-BE49-F238E27FC236}">
                  <a16:creationId xmlns:a16="http://schemas.microsoft.com/office/drawing/2014/main" id="{C7F0175C-0591-AFB9-6ADB-2EBCF43430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04" y="2448"/>
              <a:ext cx="1547" cy="10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70C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3" name="Text Box 5">
              <a:extLst>
                <a:ext uri="{FF2B5EF4-FFF2-40B4-BE49-F238E27FC236}">
                  <a16:creationId xmlns:a16="http://schemas.microsoft.com/office/drawing/2014/main" id="{CC75A269-5BD3-68E2-D928-8E17576D2C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84" y="2826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Z</a:t>
              </a:r>
              <a:r>
                <a:rPr kumimoji="0" lang="fr-FR" sz="16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e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4" name="Text Box 6">
              <a:extLst>
                <a:ext uri="{FF2B5EF4-FFF2-40B4-BE49-F238E27FC236}">
                  <a16:creationId xmlns:a16="http://schemas.microsoft.com/office/drawing/2014/main" id="{C108AD1E-AF10-4DE3-64BC-45D13548C4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60" y="2802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v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5" name="Text Box 7">
              <a:extLst>
                <a:ext uri="{FF2B5EF4-FFF2-40B4-BE49-F238E27FC236}">
                  <a16:creationId xmlns:a16="http://schemas.microsoft.com/office/drawing/2014/main" id="{E941F701-3917-F08D-6011-0BD3562804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8" y="2344"/>
              <a:ext cx="440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i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26" name="Line 8">
              <a:extLst>
                <a:ext uri="{FF2B5EF4-FFF2-40B4-BE49-F238E27FC236}">
                  <a16:creationId xmlns:a16="http://schemas.microsoft.com/office/drawing/2014/main" id="{75687ED8-F010-C4C1-87F4-D8D45A92F9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82" y="2638"/>
              <a:ext cx="693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7" name="Line 9">
              <a:extLst>
                <a:ext uri="{FF2B5EF4-FFF2-40B4-BE49-F238E27FC236}">
                  <a16:creationId xmlns:a16="http://schemas.microsoft.com/office/drawing/2014/main" id="{F87CFC03-B6C9-3458-324A-9AC08DE9AF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4" y="3268"/>
              <a:ext cx="693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8" name="Line 10">
              <a:extLst>
                <a:ext uri="{FF2B5EF4-FFF2-40B4-BE49-F238E27FC236}">
                  <a16:creationId xmlns:a16="http://schemas.microsoft.com/office/drawing/2014/main" id="{FF10B0DE-A15F-671C-3193-22E3899496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2" y="3268"/>
              <a:ext cx="255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29" name="Line 11">
              <a:extLst>
                <a:ext uri="{FF2B5EF4-FFF2-40B4-BE49-F238E27FC236}">
                  <a16:creationId xmlns:a16="http://schemas.microsoft.com/office/drawing/2014/main" id="{29E6245F-83A8-DDD9-2D93-F682979E99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2" y="2659"/>
              <a:ext cx="187" cy="0"/>
            </a:xfrm>
            <a:prstGeom prst="line">
              <a:avLst/>
            </a:prstGeom>
            <a:noFill/>
            <a:ln w="28575">
              <a:solidFill>
                <a:schemeClr val="accent6">
                  <a:lumMod val="75000"/>
                </a:schemeClr>
              </a:solidFill>
              <a:round/>
              <a:headEnd/>
              <a:tailEnd type="arrow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0" name="Line 12">
              <a:extLst>
                <a:ext uri="{FF2B5EF4-FFF2-40B4-BE49-F238E27FC236}">
                  <a16:creationId xmlns:a16="http://schemas.microsoft.com/office/drawing/2014/main" id="{F14A27C8-81B6-2FDB-99C4-A20D1A7704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34" y="2704"/>
              <a:ext cx="0" cy="45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1" name="Line 13">
              <a:extLst>
                <a:ext uri="{FF2B5EF4-FFF2-40B4-BE49-F238E27FC236}">
                  <a16:creationId xmlns:a16="http://schemas.microsoft.com/office/drawing/2014/main" id="{E1945D09-DE0D-640A-9395-1527C253B8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41" y="2656"/>
              <a:ext cx="695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2" name="Line 14">
              <a:extLst>
                <a:ext uri="{FF2B5EF4-FFF2-40B4-BE49-F238E27FC236}">
                  <a16:creationId xmlns:a16="http://schemas.microsoft.com/office/drawing/2014/main" id="{5F65474F-408E-F58E-4B01-EF25D72BED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52" y="3256"/>
              <a:ext cx="672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3" name="Line 15">
              <a:extLst>
                <a:ext uri="{FF2B5EF4-FFF2-40B4-BE49-F238E27FC236}">
                  <a16:creationId xmlns:a16="http://schemas.microsoft.com/office/drawing/2014/main" id="{343DF7A3-EF01-9239-D9D6-E5F5024317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1" y="2662"/>
              <a:ext cx="0" cy="61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4" name="Rectangle 16">
              <a:extLst>
                <a:ext uri="{FF2B5EF4-FFF2-40B4-BE49-F238E27FC236}">
                  <a16:creationId xmlns:a16="http://schemas.microsoft.com/office/drawing/2014/main" id="{4B6BF6A5-2EFF-45B5-769C-92AD3292A4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64" y="2728"/>
              <a:ext cx="143" cy="451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5" name="Text Box 17">
              <a:extLst>
                <a:ext uri="{FF2B5EF4-FFF2-40B4-BE49-F238E27FC236}">
                  <a16:creationId xmlns:a16="http://schemas.microsoft.com/office/drawing/2014/main" id="{0B83D513-735C-77EA-DC52-85D1758363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24" y="2706"/>
              <a:ext cx="396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Z</a:t>
              </a:r>
              <a:r>
                <a:rPr kumimoji="0" lang="fr-FR" sz="16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g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6" name="Text Box 18">
              <a:extLst>
                <a:ext uri="{FF2B5EF4-FFF2-40B4-BE49-F238E27FC236}">
                  <a16:creationId xmlns:a16="http://schemas.microsoft.com/office/drawing/2014/main" id="{C1E1A8DC-0A70-60FD-2BBE-5250E354F5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41" y="2826"/>
              <a:ext cx="517" cy="407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fr-FR" sz="1600" b="1" i="0" u="none" strike="noStrike" cap="none" normalizeH="0" baseline="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e</a:t>
              </a:r>
              <a:r>
                <a:rPr kumimoji="0" lang="fr-FR" sz="1600" b="1" i="0" u="none" strike="noStrike" cap="none" normalizeH="0" baseline="-25000">
                  <a:ln>
                    <a:noFill/>
                  </a:ln>
                  <a:solidFill>
                    <a:srgbClr val="FF0000"/>
                  </a:solidFill>
                  <a:effectLst/>
                  <a:latin typeface="Bookman Old Style" panose="02050604050505020204" pitchFamily="18" charset="0"/>
                  <a:ea typeface="Arial" pitchFamily="34" charset="0"/>
                  <a:cs typeface="Arial" pitchFamily="34" charset="0"/>
                </a:rPr>
                <a:t>g</a:t>
              </a:r>
              <a:endParaRPr kumimoji="0" lang="fr-FR" sz="16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Bookman Old Style" panose="02050604050505020204" pitchFamily="18" charset="0"/>
                <a:cs typeface="Arial" pitchFamily="34" charset="0"/>
              </a:endParaRPr>
            </a:p>
          </p:txBody>
        </p:sp>
        <p:sp>
          <p:nvSpPr>
            <p:cNvPr id="37" name="Line 19">
              <a:extLst>
                <a:ext uri="{FF2B5EF4-FFF2-40B4-BE49-F238E27FC236}">
                  <a16:creationId xmlns:a16="http://schemas.microsoft.com/office/drawing/2014/main" id="{18789910-F2DD-16D5-83C7-57A5A97353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8" y="2650"/>
              <a:ext cx="0" cy="61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8" name="Oval 20">
              <a:extLst>
                <a:ext uri="{FF2B5EF4-FFF2-40B4-BE49-F238E27FC236}">
                  <a16:creationId xmlns:a16="http://schemas.microsoft.com/office/drawing/2014/main" id="{92D1D811-96F6-1B35-A2A3-C8528B260B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6" y="2830"/>
              <a:ext cx="300" cy="282"/>
            </a:xfrm>
            <a:prstGeom prst="ellipse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39" name="Line 21">
              <a:extLst>
                <a:ext uri="{FF2B5EF4-FFF2-40B4-BE49-F238E27FC236}">
                  <a16:creationId xmlns:a16="http://schemas.microsoft.com/office/drawing/2014/main" id="{3D2FBFF5-04A2-FF13-2F49-5BCDFAFE9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80" y="2872"/>
              <a:ext cx="0" cy="18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0" name="Line 22">
              <a:extLst>
                <a:ext uri="{FF2B5EF4-FFF2-40B4-BE49-F238E27FC236}">
                  <a16:creationId xmlns:a16="http://schemas.microsoft.com/office/drawing/2014/main" id="{622522F5-E6DC-04F4-F83A-55E4EF31D7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98" y="2659"/>
              <a:ext cx="255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41" name="Rectangle 23">
              <a:extLst>
                <a:ext uri="{FF2B5EF4-FFF2-40B4-BE49-F238E27FC236}">
                  <a16:creationId xmlns:a16="http://schemas.microsoft.com/office/drawing/2014/main" id="{4D8A25D1-6CD9-03B1-C27B-48FD6DB5C6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2572"/>
              <a:ext cx="450" cy="156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600" b="1">
                <a:solidFill>
                  <a:srgbClr val="FF0000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3562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497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Adaptations d'impédance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59C25FC-B9A9-FA8A-61A1-DBB9F11A5652}"/>
              </a:ext>
            </a:extLst>
          </p:cNvPr>
          <p:cNvSpPr txBox="1"/>
          <p:nvPr/>
        </p:nvSpPr>
        <p:spPr>
          <a:xfrm>
            <a:off x="591681" y="840508"/>
            <a:ext cx="49858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5" dirty="0">
                <a:solidFill>
                  <a:schemeClr val="accent5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5.3 Adaptations d'impédance en puissance</a:t>
            </a:r>
          </a:p>
        </p:txBody>
      </p:sp>
      <p:sp>
        <p:nvSpPr>
          <p:cNvPr id="11" name="Rectangle à coins arrondis 33">
            <a:extLst>
              <a:ext uri="{FF2B5EF4-FFF2-40B4-BE49-F238E27FC236}">
                <a16:creationId xmlns:a16="http://schemas.microsoft.com/office/drawing/2014/main" id="{B9BA8FA4-5559-4F81-1E53-93655F1DB907}"/>
              </a:ext>
            </a:extLst>
          </p:cNvPr>
          <p:cNvSpPr/>
          <p:nvPr/>
        </p:nvSpPr>
        <p:spPr>
          <a:xfrm>
            <a:off x="1524000" y="2940739"/>
            <a:ext cx="6400800" cy="142400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6FAC570-F0F1-7D47-5A13-4A76AED05346}"/>
              </a:ext>
            </a:extLst>
          </p:cNvPr>
          <p:cNvSpPr/>
          <p:nvPr/>
        </p:nvSpPr>
        <p:spPr>
          <a:xfrm>
            <a:off x="1696742" y="3098477"/>
            <a:ext cx="605531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b="1" dirty="0">
                <a:latin typeface="Bookman Old Style" panose="02050604050505020204" pitchFamily="18" charset="0"/>
              </a:rPr>
              <a:t>On obtient un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maximum de puissance </a:t>
            </a:r>
            <a:r>
              <a:rPr lang="fr-FR" b="1" dirty="0">
                <a:latin typeface="Bookman Old Style" panose="02050604050505020204" pitchFamily="18" charset="0"/>
              </a:rPr>
              <a:t>transmise entre deux quadripôles lorsque l'impédance d'entrée de Q" et l'impédance de sortie de Q' sont égales.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93AA3CF-2ABB-27BC-C5C6-924104E648A0}"/>
              </a:ext>
            </a:extLst>
          </p:cNvPr>
          <p:cNvSpPr/>
          <p:nvPr/>
        </p:nvSpPr>
        <p:spPr>
          <a:xfrm>
            <a:off x="627334" y="1391941"/>
            <a:ext cx="4318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>
                <a:latin typeface="Bookman Old Style" panose="02050604050505020204" pitchFamily="18" charset="0"/>
              </a:rPr>
              <a:t>La puissance reçue par la charge est</a:t>
            </a:r>
          </a:p>
        </p:txBody>
      </p:sp>
      <p:graphicFrame>
        <p:nvGraphicFramePr>
          <p:cNvPr id="50" name="Object 1">
            <a:extLst>
              <a:ext uri="{FF2B5EF4-FFF2-40B4-BE49-F238E27FC236}">
                <a16:creationId xmlns:a16="http://schemas.microsoft.com/office/drawing/2014/main" id="{EA2912F6-5B7A-5181-9C2F-824D2D63C8D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8464192"/>
              </p:ext>
            </p:extLst>
          </p:nvPr>
        </p:nvGraphicFramePr>
        <p:xfrm>
          <a:off x="5181600" y="1342819"/>
          <a:ext cx="2122050" cy="6937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485900" imgH="482600" progId="">
                  <p:embed/>
                </p:oleObj>
              </mc:Choice>
              <mc:Fallback>
                <p:oleObj r:id="rId3" imgW="1485900" imgH="482600" progId="">
                  <p:embed/>
                  <p:pic>
                    <p:nvPicPr>
                      <p:cNvPr id="64513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81600" y="1342819"/>
                        <a:ext cx="2122050" cy="69374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72105C7E-20F1-9944-4FC1-101840DF7119}"/>
              </a:ext>
            </a:extLst>
          </p:cNvPr>
          <p:cNvSpPr/>
          <p:nvPr/>
        </p:nvSpPr>
        <p:spPr>
          <a:xfrm>
            <a:off x="627334" y="2104568"/>
            <a:ext cx="507530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latin typeface="Bookman Old Style" panose="02050604050505020204" pitchFamily="18" charset="0"/>
              </a:rPr>
              <a:t>Cette puissance est maximale pour </a:t>
            </a:r>
            <a:r>
              <a:rPr lang="fr-FR" b="1" dirty="0">
                <a:latin typeface="Bookman Old Style" panose="02050604050505020204" pitchFamily="18" charset="0"/>
              </a:rPr>
              <a:t>Z</a:t>
            </a:r>
            <a:r>
              <a:rPr lang="fr-FR" b="1" baseline="-25000" dirty="0">
                <a:latin typeface="Bookman Old Style" panose="02050604050505020204" pitchFamily="18" charset="0"/>
              </a:rPr>
              <a:t>e</a:t>
            </a:r>
            <a:r>
              <a:rPr lang="fr-FR" b="1" dirty="0">
                <a:latin typeface="Bookman Old Style" panose="02050604050505020204" pitchFamily="18" charset="0"/>
              </a:rPr>
              <a:t> = Z</a:t>
            </a:r>
            <a:r>
              <a:rPr lang="fr-FR" b="1" baseline="-25000" dirty="0">
                <a:latin typeface="Bookman Old Style" panose="02050604050505020204" pitchFamily="18" charset="0"/>
              </a:rPr>
              <a:t>g</a:t>
            </a:r>
            <a:r>
              <a:rPr lang="fr-FR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5652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7" name="object 7"/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98049" y="4824173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5146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6.</a:t>
            </a:r>
            <a:r>
              <a:rPr lang="fr-FR" dirty="0"/>
              <a:t> </a:t>
            </a: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Fonction de transfert d’un quadripôle </a:t>
            </a:r>
          </a:p>
        </p:txBody>
      </p:sp>
      <p:grpSp>
        <p:nvGrpSpPr>
          <p:cNvPr id="14" name="object 4">
            <a:extLst>
              <a:ext uri="{FF2B5EF4-FFF2-40B4-BE49-F238E27FC236}">
                <a16:creationId xmlns:a16="http://schemas.microsoft.com/office/drawing/2014/main" id="{9F31D229-1326-1982-DE5B-C2C40EA42ECF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6CBD8AD3-AA67-BDB2-4038-9B2BAD9D638C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69853ED9-723D-7F01-73F0-EB6722FF3E4E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519346D-7CA6-AD69-30FA-166F3DE7664A}"/>
              </a:ext>
            </a:extLst>
          </p:cNvPr>
          <p:cNvSpPr txBox="1"/>
          <p:nvPr/>
        </p:nvSpPr>
        <p:spPr>
          <a:xfrm>
            <a:off x="459127" y="1145827"/>
            <a:ext cx="83480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dirty="0">
                <a:latin typeface="Bookman Old Style" panose="02050604050505020204" pitchFamily="18" charset="0"/>
              </a:rPr>
              <a:t>une </a:t>
            </a:r>
            <a:r>
              <a:rPr lang="fr-FR" b="1" dirty="0">
                <a:latin typeface="Bookman Old Style" panose="02050604050505020204" pitchFamily="18" charset="0"/>
              </a:rPr>
              <a:t>fonction de transfert d’un quadripôle </a:t>
            </a:r>
            <a:r>
              <a:rPr lang="fr-FR" dirty="0">
                <a:latin typeface="Bookman Old Style" panose="02050604050505020204" pitchFamily="18" charset="0"/>
              </a:rPr>
              <a:t>est le modèle mathématique de la relation entre </a:t>
            </a:r>
            <a:r>
              <a:rPr lang="fr-FR" b="1" dirty="0">
                <a:latin typeface="Bookman Old Style" panose="02050604050505020204" pitchFamily="18" charset="0"/>
              </a:rPr>
              <a:t>l'entrée</a:t>
            </a:r>
            <a:r>
              <a:rPr lang="fr-FR" dirty="0">
                <a:latin typeface="Bookman Old Style" panose="02050604050505020204" pitchFamily="18" charset="0"/>
              </a:rPr>
              <a:t> et la </a:t>
            </a:r>
            <a:r>
              <a:rPr lang="fr-FR" b="1" dirty="0">
                <a:latin typeface="Bookman Old Style" panose="02050604050505020204" pitchFamily="18" charset="0"/>
              </a:rPr>
              <a:t>sortie</a:t>
            </a:r>
            <a:r>
              <a:rPr lang="fr-FR" dirty="0">
                <a:latin typeface="Bookman Old Style" panose="02050604050505020204" pitchFamily="18" charset="0"/>
              </a:rPr>
              <a:t> de ce  </a:t>
            </a:r>
            <a:r>
              <a:rPr lang="fr-FR" b="1" spc="-5" dirty="0">
                <a:latin typeface="Bookman Old Style" panose="02050604050505020204" pitchFamily="18" charset="0"/>
                <a:cs typeface="Arial"/>
              </a:rPr>
              <a:t>quadripôle</a:t>
            </a:r>
            <a:r>
              <a:rPr lang="fr-FR" b="1" dirty="0">
                <a:latin typeface="Bookman Old Style" panose="02050604050505020204" pitchFamily="18" charset="0"/>
              </a:rPr>
              <a:t> linéaire</a:t>
            </a:r>
            <a:r>
              <a:rPr lang="fr-FR" dirty="0">
                <a:latin typeface="Bookman Old Style" panose="02050604050505020204" pitchFamily="18" charset="0"/>
              </a:rPr>
              <a:t>, le plus souvent </a:t>
            </a:r>
            <a:r>
              <a:rPr lang="fr-FR" b="1" dirty="0">
                <a:latin typeface="Bookman Old Style" panose="02050604050505020204" pitchFamily="18" charset="0"/>
              </a:rPr>
              <a:t>invariant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31ABC2-D2DB-2FB8-1209-FF8441293BA7}"/>
              </a:ext>
            </a:extLst>
          </p:cNvPr>
          <p:cNvSpPr txBox="1"/>
          <p:nvPr/>
        </p:nvSpPr>
        <p:spPr>
          <a:xfrm>
            <a:off x="574204" y="3953363"/>
            <a:ext cx="8305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>
                <a:latin typeface="Bookman Old Style" panose="02050604050505020204" pitchFamily="18" charset="0"/>
              </a:defRPr>
            </a:lvl1pPr>
          </a:lstStyle>
          <a:p>
            <a:r>
              <a:rPr lang="fr-FR" dirty="0"/>
              <a:t>La fonction de transfert </a:t>
            </a:r>
            <a:r>
              <a:rPr lang="fr-FR" b="1" dirty="0"/>
              <a:t>H(j</a:t>
            </a:r>
            <a:r>
              <a:rPr lang="el-GR" b="1" dirty="0"/>
              <a:t>ω</a:t>
            </a:r>
            <a:r>
              <a:rPr lang="fr-FR" b="1" dirty="0"/>
              <a:t>) </a:t>
            </a:r>
            <a:r>
              <a:rPr lang="fr-FR" dirty="0"/>
              <a:t>d’un système quelconque est un </a:t>
            </a:r>
            <a:r>
              <a:rPr lang="fr-FR" b="1" dirty="0"/>
              <a:t>nombre complexe</a:t>
            </a:r>
            <a:r>
              <a:rPr lang="fr-FR" dirty="0"/>
              <a:t>. 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8F06D0A-D2C5-FE17-B925-B417267A9FD8}"/>
              </a:ext>
            </a:extLst>
          </p:cNvPr>
          <p:cNvSpPr/>
          <p:nvPr/>
        </p:nvSpPr>
        <p:spPr>
          <a:xfrm>
            <a:off x="3048000" y="2266950"/>
            <a:ext cx="2590800" cy="1371600"/>
          </a:xfrm>
          <a:prstGeom prst="roundRect">
            <a:avLst/>
          </a:prstGeom>
          <a:solidFill>
            <a:srgbClr val="00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ECEDA8-90FC-20FD-3E5F-FF6ACB267DFC}"/>
              </a:ext>
            </a:extLst>
          </p:cNvPr>
          <p:cNvSpPr txBox="1"/>
          <p:nvPr/>
        </p:nvSpPr>
        <p:spPr>
          <a:xfrm>
            <a:off x="3352800" y="2745095"/>
            <a:ext cx="190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spc="-5" dirty="0">
                <a:latin typeface="Bookman Old Style" panose="02050604050505020204" pitchFamily="18" charset="0"/>
                <a:cs typeface="Arial"/>
              </a:rPr>
              <a:t>Quadripôle</a:t>
            </a:r>
            <a:endParaRPr lang="fr-FR" b="1" dirty="0">
              <a:latin typeface="Bookman Old Style" panose="02050604050505020204" pitchFamily="18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249C38-2BBA-C2E8-D869-F28E1CC8DF6B}"/>
              </a:ext>
            </a:extLst>
          </p:cNvPr>
          <p:cNvCxnSpPr/>
          <p:nvPr/>
        </p:nvCxnSpPr>
        <p:spPr>
          <a:xfrm>
            <a:off x="1646445" y="2952750"/>
            <a:ext cx="1401555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AF19A7-F38A-615C-2D4B-6C9F3949F824}"/>
              </a:ext>
            </a:extLst>
          </p:cNvPr>
          <p:cNvCxnSpPr/>
          <p:nvPr/>
        </p:nvCxnSpPr>
        <p:spPr>
          <a:xfrm>
            <a:off x="5638800" y="2952750"/>
            <a:ext cx="1401555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934ED9D-DB71-F2CD-A678-A876B6B5455F}"/>
              </a:ext>
            </a:extLst>
          </p:cNvPr>
          <p:cNvSpPr txBox="1"/>
          <p:nvPr/>
        </p:nvSpPr>
        <p:spPr>
          <a:xfrm>
            <a:off x="1656232" y="25473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Bookman Old Style" panose="02050604050505020204" pitchFamily="18" charset="0"/>
              </a:rPr>
              <a:t>Entrée</a:t>
            </a:r>
            <a:endParaRPr lang="fr-FR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F8A76C-33CD-A2AB-AC14-5802890CFF3B}"/>
              </a:ext>
            </a:extLst>
          </p:cNvPr>
          <p:cNvSpPr txBox="1"/>
          <p:nvPr/>
        </p:nvSpPr>
        <p:spPr>
          <a:xfrm>
            <a:off x="5791200" y="256309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Bookman Old Style" panose="02050604050505020204" pitchFamily="18" charset="0"/>
              </a:rPr>
              <a:t>Sortie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098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46E82C-A78B-4B6B-77D5-103400A5CE5F}"/>
              </a:ext>
            </a:extLst>
          </p:cNvPr>
          <p:cNvSpPr txBox="1"/>
          <p:nvPr/>
        </p:nvSpPr>
        <p:spPr>
          <a:xfrm>
            <a:off x="1524000" y="2168990"/>
            <a:ext cx="6324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fr-FR" sz="5400" b="1" kern="0" dirty="0">
                <a:solidFill>
                  <a:srgbClr val="0000FF"/>
                </a:solidFill>
                <a:latin typeface="Bookman Old Style" panose="02050604050505020204" pitchFamily="18" charset="0"/>
                <a:ea typeface="+mj-ea"/>
                <a:cs typeface="+mj-cs"/>
              </a:rPr>
              <a:t>Fin de Chapitre </a:t>
            </a:r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83276329-07A5-9822-D807-EEF7CF629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12" name="object 6">
            <a:extLst>
              <a:ext uri="{FF2B5EF4-FFF2-40B4-BE49-F238E27FC236}">
                <a16:creationId xmlns:a16="http://schemas.microsoft.com/office/drawing/2014/main" id="{75E852FC-812D-1AF4-0C57-A8E119A5D1C6}"/>
              </a:ext>
            </a:extLst>
          </p:cNvPr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13" name="object 7">
              <a:extLst>
                <a:ext uri="{FF2B5EF4-FFF2-40B4-BE49-F238E27FC236}">
                  <a16:creationId xmlns:a16="http://schemas.microsoft.com/office/drawing/2014/main" id="{93ECCB1D-E626-BBF3-2F44-03893A8689D9}"/>
                </a:ext>
              </a:extLst>
            </p:cNvPr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8">
              <a:extLst>
                <a:ext uri="{FF2B5EF4-FFF2-40B4-BE49-F238E27FC236}">
                  <a16:creationId xmlns:a16="http://schemas.microsoft.com/office/drawing/2014/main" id="{28D5E216-5E13-130A-15B2-0697ABAE7E75}"/>
                </a:ext>
              </a:extLst>
            </p:cNvPr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9">
              <a:extLst>
                <a:ext uri="{FF2B5EF4-FFF2-40B4-BE49-F238E27FC236}">
                  <a16:creationId xmlns:a16="http://schemas.microsoft.com/office/drawing/2014/main" id="{E82C838B-7AAE-2CBE-9E18-EC410D9C2922}"/>
                </a:ext>
              </a:extLst>
            </p:cNvPr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10">
            <a:extLst>
              <a:ext uri="{FF2B5EF4-FFF2-40B4-BE49-F238E27FC236}">
                <a16:creationId xmlns:a16="http://schemas.microsoft.com/office/drawing/2014/main" id="{8D771B4C-214A-5E7C-8DFD-F2F9E872A06E}"/>
              </a:ext>
            </a:extLst>
          </p:cNvPr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21" name="object 4">
            <a:extLst>
              <a:ext uri="{FF2B5EF4-FFF2-40B4-BE49-F238E27FC236}">
                <a16:creationId xmlns:a16="http://schemas.microsoft.com/office/drawing/2014/main" id="{AA16FEA8-8EA3-763A-7A5F-6D7592229BD8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22" name="object 5">
              <a:extLst>
                <a:ext uri="{FF2B5EF4-FFF2-40B4-BE49-F238E27FC236}">
                  <a16:creationId xmlns:a16="http://schemas.microsoft.com/office/drawing/2014/main" id="{E998DC12-15ED-B8EC-4B44-5C20FE6727FB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6F1F0307-16BA-E4FF-A700-00E8E4ED1ED7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668533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83276329-07A5-9822-D807-EEF7CF629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5539"/>
            <a:ext cx="533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800" spc="-5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18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12" name="object 6">
            <a:extLst>
              <a:ext uri="{FF2B5EF4-FFF2-40B4-BE49-F238E27FC236}">
                <a16:creationId xmlns:a16="http://schemas.microsoft.com/office/drawing/2014/main" id="{75E852FC-812D-1AF4-0C57-A8E119A5D1C6}"/>
              </a:ext>
            </a:extLst>
          </p:cNvPr>
          <p:cNvGrpSpPr/>
          <p:nvPr/>
        </p:nvGrpSpPr>
        <p:grpSpPr>
          <a:xfrm>
            <a:off x="98477" y="18677"/>
            <a:ext cx="482600" cy="807085"/>
            <a:chOff x="98477" y="18677"/>
            <a:chExt cx="482600" cy="807085"/>
          </a:xfrm>
          <a:solidFill>
            <a:srgbClr val="0000FF"/>
          </a:solidFill>
        </p:grpSpPr>
        <p:sp>
          <p:nvSpPr>
            <p:cNvPr id="13" name="object 7">
              <a:extLst>
                <a:ext uri="{FF2B5EF4-FFF2-40B4-BE49-F238E27FC236}">
                  <a16:creationId xmlns:a16="http://schemas.microsoft.com/office/drawing/2014/main" id="{93ECCB1D-E626-BBF3-2F44-03893A8689D9}"/>
                </a:ext>
              </a:extLst>
            </p:cNvPr>
            <p:cNvSpPr/>
            <p:nvPr/>
          </p:nvSpPr>
          <p:spPr>
            <a:xfrm>
              <a:off x="107036" y="57698"/>
              <a:ext cx="469265" cy="768350"/>
            </a:xfrm>
            <a:custGeom>
              <a:avLst/>
              <a:gdLst/>
              <a:ahLst/>
              <a:cxnLst/>
              <a:rect l="l" t="t" r="r" b="b"/>
              <a:pathLst>
                <a:path w="469265" h="768350">
                  <a:moveTo>
                    <a:pt x="133160" y="0"/>
                  </a:moveTo>
                  <a:lnTo>
                    <a:pt x="144637" y="30555"/>
                  </a:lnTo>
                  <a:lnTo>
                    <a:pt x="149627" y="65956"/>
                  </a:lnTo>
                  <a:lnTo>
                    <a:pt x="148956" y="105533"/>
                  </a:lnTo>
                  <a:lnTo>
                    <a:pt x="143448" y="148618"/>
                  </a:lnTo>
                  <a:lnTo>
                    <a:pt x="133932" y="194541"/>
                  </a:lnTo>
                  <a:lnTo>
                    <a:pt x="121232" y="242631"/>
                  </a:lnTo>
                  <a:lnTo>
                    <a:pt x="106175" y="292221"/>
                  </a:lnTo>
                  <a:lnTo>
                    <a:pt x="89587" y="342639"/>
                  </a:lnTo>
                  <a:lnTo>
                    <a:pt x="55123" y="443287"/>
                  </a:lnTo>
                  <a:lnTo>
                    <a:pt x="38899" y="492178"/>
                  </a:lnTo>
                  <a:lnTo>
                    <a:pt x="24448" y="539220"/>
                  </a:lnTo>
                  <a:lnTo>
                    <a:pt x="12598" y="583744"/>
                  </a:lnTo>
                  <a:lnTo>
                    <a:pt x="4173" y="625082"/>
                  </a:lnTo>
                  <a:lnTo>
                    <a:pt x="0" y="662562"/>
                  </a:lnTo>
                  <a:lnTo>
                    <a:pt x="904" y="695517"/>
                  </a:lnTo>
                  <a:lnTo>
                    <a:pt x="7714" y="723276"/>
                  </a:lnTo>
                  <a:lnTo>
                    <a:pt x="21253" y="745171"/>
                  </a:lnTo>
                  <a:lnTo>
                    <a:pt x="44251" y="761701"/>
                  </a:lnTo>
                  <a:lnTo>
                    <a:pt x="70693" y="767747"/>
                  </a:lnTo>
                  <a:lnTo>
                    <a:pt x="96974" y="763253"/>
                  </a:lnTo>
                  <a:lnTo>
                    <a:pt x="119492" y="748162"/>
                  </a:lnTo>
                  <a:lnTo>
                    <a:pt x="460053" y="390527"/>
                  </a:lnTo>
                  <a:lnTo>
                    <a:pt x="466940" y="379528"/>
                  </a:lnTo>
                  <a:lnTo>
                    <a:pt x="469236" y="366904"/>
                  </a:lnTo>
                  <a:lnTo>
                    <a:pt x="466940" y="354279"/>
                  </a:lnTo>
                  <a:lnTo>
                    <a:pt x="460053" y="343280"/>
                  </a:lnTo>
                  <a:lnTo>
                    <a:pt x="13316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8">
              <a:extLst>
                <a:ext uri="{FF2B5EF4-FFF2-40B4-BE49-F238E27FC236}">
                  <a16:creationId xmlns:a16="http://schemas.microsoft.com/office/drawing/2014/main" id="{28D5E216-5E13-130A-15B2-0697ABAE7E75}"/>
                </a:ext>
              </a:extLst>
            </p:cNvPr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74718" y="0"/>
                  </a:moveTo>
                  <a:lnTo>
                    <a:pt x="25067" y="22493"/>
                  </a:lnTo>
                  <a:lnTo>
                    <a:pt x="1814" y="73692"/>
                  </a:lnTo>
                  <a:lnTo>
                    <a:pt x="0" y="107124"/>
                  </a:lnTo>
                  <a:lnTo>
                    <a:pt x="3578" y="144912"/>
                  </a:lnTo>
                  <a:lnTo>
                    <a:pt x="11686" y="186405"/>
                  </a:lnTo>
                  <a:lnTo>
                    <a:pt x="23464" y="230954"/>
                  </a:lnTo>
                  <a:lnTo>
                    <a:pt x="38049" y="277910"/>
                  </a:lnTo>
                  <a:lnTo>
                    <a:pt x="54578" y="326621"/>
                  </a:lnTo>
                  <a:lnTo>
                    <a:pt x="90026" y="426714"/>
                  </a:lnTo>
                  <a:lnTo>
                    <a:pt x="107220" y="476795"/>
                  </a:lnTo>
                  <a:lnTo>
                    <a:pt x="122912" y="526034"/>
                  </a:lnTo>
                  <a:lnTo>
                    <a:pt x="136240" y="573780"/>
                  </a:lnTo>
                  <a:lnTo>
                    <a:pt x="146342" y="619384"/>
                  </a:lnTo>
                  <a:lnTo>
                    <a:pt x="152356" y="662195"/>
                  </a:lnTo>
                  <a:lnTo>
                    <a:pt x="153421" y="701564"/>
                  </a:lnTo>
                  <a:lnTo>
                    <a:pt x="148674" y="736841"/>
                  </a:lnTo>
                  <a:lnTo>
                    <a:pt x="137254" y="767377"/>
                  </a:lnTo>
                  <a:lnTo>
                    <a:pt x="463850" y="424527"/>
                  </a:lnTo>
                  <a:lnTo>
                    <a:pt x="470737" y="413481"/>
                  </a:lnTo>
                  <a:lnTo>
                    <a:pt x="473033" y="400726"/>
                  </a:lnTo>
                  <a:lnTo>
                    <a:pt x="470737" y="387915"/>
                  </a:lnTo>
                  <a:lnTo>
                    <a:pt x="463850" y="376701"/>
                  </a:lnTo>
                  <a:lnTo>
                    <a:pt x="123302" y="19205"/>
                  </a:lnTo>
                  <a:lnTo>
                    <a:pt x="100866" y="4250"/>
                  </a:lnTo>
                  <a:lnTo>
                    <a:pt x="74718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9">
              <a:extLst>
                <a:ext uri="{FF2B5EF4-FFF2-40B4-BE49-F238E27FC236}">
                  <a16:creationId xmlns:a16="http://schemas.microsoft.com/office/drawing/2014/main" id="{E82C838B-7AAE-2CBE-9E18-EC410D9C2922}"/>
                </a:ext>
              </a:extLst>
            </p:cNvPr>
            <p:cNvSpPr/>
            <p:nvPr/>
          </p:nvSpPr>
          <p:spPr>
            <a:xfrm>
              <a:off x="103239" y="23440"/>
              <a:ext cx="473075" cy="767715"/>
            </a:xfrm>
            <a:custGeom>
              <a:avLst/>
              <a:gdLst/>
              <a:ahLst/>
              <a:cxnLst/>
              <a:rect l="l" t="t" r="r" b="b"/>
              <a:pathLst>
                <a:path w="473075" h="767715">
                  <a:moveTo>
                    <a:pt x="137254" y="767377"/>
                  </a:moveTo>
                  <a:lnTo>
                    <a:pt x="148674" y="736841"/>
                  </a:lnTo>
                  <a:lnTo>
                    <a:pt x="153421" y="701564"/>
                  </a:lnTo>
                  <a:lnTo>
                    <a:pt x="152356" y="662195"/>
                  </a:lnTo>
                  <a:lnTo>
                    <a:pt x="146342" y="619384"/>
                  </a:lnTo>
                  <a:lnTo>
                    <a:pt x="136240" y="573780"/>
                  </a:lnTo>
                  <a:lnTo>
                    <a:pt x="122912" y="526034"/>
                  </a:lnTo>
                  <a:lnTo>
                    <a:pt x="107220" y="476796"/>
                  </a:lnTo>
                  <a:lnTo>
                    <a:pt x="90026" y="426714"/>
                  </a:lnTo>
                  <a:lnTo>
                    <a:pt x="72191" y="376440"/>
                  </a:lnTo>
                  <a:lnTo>
                    <a:pt x="54578" y="326622"/>
                  </a:lnTo>
                  <a:lnTo>
                    <a:pt x="38049" y="277910"/>
                  </a:lnTo>
                  <a:lnTo>
                    <a:pt x="23464" y="230955"/>
                  </a:lnTo>
                  <a:lnTo>
                    <a:pt x="11687" y="186405"/>
                  </a:lnTo>
                  <a:lnTo>
                    <a:pt x="3578" y="144912"/>
                  </a:lnTo>
                  <a:lnTo>
                    <a:pt x="0" y="107124"/>
                  </a:lnTo>
                  <a:lnTo>
                    <a:pt x="1814" y="73692"/>
                  </a:lnTo>
                  <a:lnTo>
                    <a:pt x="9882" y="45265"/>
                  </a:lnTo>
                  <a:lnTo>
                    <a:pt x="25067" y="22492"/>
                  </a:lnTo>
                  <a:lnTo>
                    <a:pt x="48304" y="6174"/>
                  </a:lnTo>
                  <a:lnTo>
                    <a:pt x="74718" y="0"/>
                  </a:lnTo>
                  <a:lnTo>
                    <a:pt x="100866" y="4250"/>
                  </a:lnTo>
                  <a:lnTo>
                    <a:pt x="123302" y="19204"/>
                  </a:lnTo>
                  <a:lnTo>
                    <a:pt x="463850" y="376701"/>
                  </a:lnTo>
                  <a:lnTo>
                    <a:pt x="470737" y="387915"/>
                  </a:lnTo>
                  <a:lnTo>
                    <a:pt x="473033" y="400726"/>
                  </a:lnTo>
                  <a:lnTo>
                    <a:pt x="470737" y="413481"/>
                  </a:lnTo>
                  <a:lnTo>
                    <a:pt x="463850" y="424527"/>
                  </a:lnTo>
                  <a:lnTo>
                    <a:pt x="137254" y="767377"/>
                  </a:lnTo>
                  <a:close/>
                </a:path>
              </a:pathLst>
            </a:custGeom>
            <a:grpFill/>
            <a:ln w="9525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10">
            <a:extLst>
              <a:ext uri="{FF2B5EF4-FFF2-40B4-BE49-F238E27FC236}">
                <a16:creationId xmlns:a16="http://schemas.microsoft.com/office/drawing/2014/main" id="{8D771B4C-214A-5E7C-8DFD-F2F9E872A06E}"/>
              </a:ext>
            </a:extLst>
          </p:cNvPr>
          <p:cNvSpPr txBox="1"/>
          <p:nvPr/>
        </p:nvSpPr>
        <p:spPr>
          <a:xfrm>
            <a:off x="228616" y="143763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21" name="object 4">
            <a:extLst>
              <a:ext uri="{FF2B5EF4-FFF2-40B4-BE49-F238E27FC236}">
                <a16:creationId xmlns:a16="http://schemas.microsoft.com/office/drawing/2014/main" id="{AA16FEA8-8EA3-763A-7A5F-6D7592229BD8}"/>
              </a:ext>
            </a:extLst>
          </p:cNvPr>
          <p:cNvGrpSpPr/>
          <p:nvPr/>
        </p:nvGrpSpPr>
        <p:grpSpPr>
          <a:xfrm>
            <a:off x="2687511" y="348158"/>
            <a:ext cx="6355745" cy="118277"/>
            <a:chOff x="1881480" y="350569"/>
            <a:chExt cx="7147385" cy="156271"/>
          </a:xfrm>
          <a:solidFill>
            <a:srgbClr val="0000FF"/>
          </a:solidFill>
        </p:grpSpPr>
        <p:sp>
          <p:nvSpPr>
            <p:cNvPr id="22" name="object 5">
              <a:extLst>
                <a:ext uri="{FF2B5EF4-FFF2-40B4-BE49-F238E27FC236}">
                  <a16:creationId xmlns:a16="http://schemas.microsoft.com/office/drawing/2014/main" id="{E998DC12-15ED-B8EC-4B44-5C20FE6727FB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6F1F0307-16BA-E4FF-A700-00E8E4ED1ED7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0EA66BC-31D7-684D-2F9A-D57D1648178A}"/>
              </a:ext>
            </a:extLst>
          </p:cNvPr>
          <p:cNvSpPr/>
          <p:nvPr/>
        </p:nvSpPr>
        <p:spPr>
          <a:xfrm>
            <a:off x="1447800" y="499574"/>
            <a:ext cx="6459754" cy="96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 algn="ctr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800" b="1" spc="-5" dirty="0">
                <a:solidFill>
                  <a:srgbClr val="0000FF"/>
                </a:solidFill>
                <a:latin typeface="Bookman Old Style" panose="02050604050505020204" pitchFamily="18" charset="0"/>
                <a:cs typeface="Arial"/>
              </a:rPr>
              <a:t>Consulter le cours </a:t>
            </a:r>
          </a:p>
          <a:p>
            <a:pPr marL="12065" lvl="1" algn="ctr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800" b="1" spc="-5" dirty="0">
                <a:solidFill>
                  <a:srgbClr val="0000FF"/>
                </a:solidFill>
                <a:latin typeface="Bookman Old Style" panose="02050604050505020204" pitchFamily="18" charset="0"/>
                <a:cs typeface="Arial"/>
              </a:rPr>
              <a:t>ici</a:t>
            </a:r>
          </a:p>
        </p:txBody>
      </p:sp>
      <p:grpSp>
        <p:nvGrpSpPr>
          <p:cNvPr id="3" name="object 4">
            <a:extLst>
              <a:ext uri="{FF2B5EF4-FFF2-40B4-BE49-F238E27FC236}">
                <a16:creationId xmlns:a16="http://schemas.microsoft.com/office/drawing/2014/main" id="{0DD50F83-C05A-F8F3-4451-27286853C299}"/>
              </a:ext>
            </a:extLst>
          </p:cNvPr>
          <p:cNvGrpSpPr/>
          <p:nvPr/>
        </p:nvGrpSpPr>
        <p:grpSpPr>
          <a:xfrm>
            <a:off x="2819400" y="1362597"/>
            <a:ext cx="3709256" cy="104485"/>
            <a:chOff x="1881480" y="350569"/>
            <a:chExt cx="7147385" cy="156271"/>
          </a:xfrm>
          <a:solidFill>
            <a:schemeClr val="bg1"/>
          </a:solidFill>
        </p:grpSpPr>
        <p:sp>
          <p:nvSpPr>
            <p:cNvPr id="4" name="object 5">
              <a:extLst>
                <a:ext uri="{FF2B5EF4-FFF2-40B4-BE49-F238E27FC236}">
                  <a16:creationId xmlns:a16="http://schemas.microsoft.com/office/drawing/2014/main" id="{46147DB4-3826-961B-0788-2C16C11CA0AF}"/>
                </a:ext>
              </a:extLst>
            </p:cNvPr>
            <p:cNvSpPr/>
            <p:nvPr/>
          </p:nvSpPr>
          <p:spPr>
            <a:xfrm>
              <a:off x="1881480" y="362695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7064143" y="0"/>
                  </a:moveTo>
                  <a:lnTo>
                    <a:pt x="72001" y="0"/>
                  </a:lnTo>
                  <a:lnTo>
                    <a:pt x="43975" y="5658"/>
                  </a:lnTo>
                  <a:lnTo>
                    <a:pt x="21088" y="21089"/>
                  </a:lnTo>
                  <a:lnTo>
                    <a:pt x="5658" y="43976"/>
                  </a:lnTo>
                  <a:lnTo>
                    <a:pt x="0" y="71995"/>
                  </a:lnTo>
                  <a:lnTo>
                    <a:pt x="5658" y="100022"/>
                  </a:lnTo>
                  <a:lnTo>
                    <a:pt x="21088" y="122909"/>
                  </a:lnTo>
                  <a:lnTo>
                    <a:pt x="43975" y="138340"/>
                  </a:lnTo>
                  <a:lnTo>
                    <a:pt x="72001" y="143998"/>
                  </a:lnTo>
                  <a:lnTo>
                    <a:pt x="7064136" y="144007"/>
                  </a:lnTo>
                  <a:lnTo>
                    <a:pt x="7092162" y="138349"/>
                  </a:lnTo>
                  <a:lnTo>
                    <a:pt x="7115048" y="122918"/>
                  </a:lnTo>
                  <a:lnTo>
                    <a:pt x="7130479" y="100030"/>
                  </a:lnTo>
                  <a:lnTo>
                    <a:pt x="7136145" y="72003"/>
                  </a:lnTo>
                  <a:lnTo>
                    <a:pt x="7130487" y="43976"/>
                  </a:lnTo>
                  <a:lnTo>
                    <a:pt x="7115056" y="21089"/>
                  </a:lnTo>
                  <a:lnTo>
                    <a:pt x="7092170" y="5658"/>
                  </a:lnTo>
                  <a:lnTo>
                    <a:pt x="7064143" y="0"/>
                  </a:lnTo>
                  <a:close/>
                </a:path>
              </a:pathLst>
            </a:custGeom>
            <a:grpFill/>
            <a:ln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90233716-5C52-3A3D-8A3C-490EB840AA49}"/>
                </a:ext>
              </a:extLst>
            </p:cNvPr>
            <p:cNvSpPr/>
            <p:nvPr/>
          </p:nvSpPr>
          <p:spPr>
            <a:xfrm>
              <a:off x="1892100" y="350569"/>
              <a:ext cx="7136765" cy="144145"/>
            </a:xfrm>
            <a:custGeom>
              <a:avLst/>
              <a:gdLst/>
              <a:ahLst/>
              <a:cxnLst/>
              <a:rect l="l" t="t" r="r" b="b"/>
              <a:pathLst>
                <a:path w="7136765" h="144145">
                  <a:moveTo>
                    <a:pt x="0" y="72003"/>
                  </a:moveTo>
                  <a:lnTo>
                    <a:pt x="5658" y="43976"/>
                  </a:lnTo>
                  <a:lnTo>
                    <a:pt x="21088" y="21089"/>
                  </a:lnTo>
                  <a:lnTo>
                    <a:pt x="43975" y="5658"/>
                  </a:lnTo>
                  <a:lnTo>
                    <a:pt x="72001" y="0"/>
                  </a:lnTo>
                  <a:lnTo>
                    <a:pt x="7064144" y="0"/>
                  </a:lnTo>
                  <a:lnTo>
                    <a:pt x="7092170" y="5658"/>
                  </a:lnTo>
                  <a:lnTo>
                    <a:pt x="7115057" y="21089"/>
                  </a:lnTo>
                  <a:lnTo>
                    <a:pt x="7130487" y="43976"/>
                  </a:lnTo>
                  <a:lnTo>
                    <a:pt x="7136146" y="72003"/>
                  </a:lnTo>
                  <a:lnTo>
                    <a:pt x="7130479" y="100031"/>
                  </a:lnTo>
                  <a:lnTo>
                    <a:pt x="7115049" y="122918"/>
                  </a:lnTo>
                  <a:lnTo>
                    <a:pt x="7092163" y="138349"/>
                  </a:lnTo>
                  <a:lnTo>
                    <a:pt x="7064137" y="144007"/>
                  </a:lnTo>
                  <a:lnTo>
                    <a:pt x="72001" y="144000"/>
                  </a:lnTo>
                  <a:lnTo>
                    <a:pt x="43975" y="138341"/>
                  </a:lnTo>
                  <a:lnTo>
                    <a:pt x="21088" y="122910"/>
                  </a:lnTo>
                  <a:lnTo>
                    <a:pt x="5658" y="100023"/>
                  </a:lnTo>
                  <a:lnTo>
                    <a:pt x="0" y="71996"/>
                  </a:lnTo>
                  <a:close/>
                </a:path>
              </a:pathLst>
            </a:custGeom>
            <a:grpFill/>
            <a:ln w="12700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 dirty="0">
                <a:solidFill>
                  <a:srgbClr val="0000FF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DF258A21-3DB9-0C76-6F9C-5ACF566840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400" y="1537197"/>
            <a:ext cx="3370610" cy="337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072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178196</TotalTime>
  <Words>3129</Words>
  <Application>Microsoft Office PowerPoint</Application>
  <PresentationFormat>On-screen Show (16:9)</PresentationFormat>
  <Paragraphs>793</Paragraphs>
  <Slides>44</Slides>
  <Notes>42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Arial</vt:lpstr>
      <vt:lpstr>Book Antiqua</vt:lpstr>
      <vt:lpstr>Bookman Old Style</vt:lpstr>
      <vt:lpstr>Calibri</vt:lpstr>
      <vt:lpstr>Cambria Math</vt:lpstr>
      <vt:lpstr>Wingdings</vt:lpstr>
      <vt:lpstr>Office Theme</vt:lpstr>
      <vt:lpstr>PowerPoint Presentation</vt:lpstr>
      <vt:lpstr>Plan</vt:lpstr>
      <vt:lpstr>Plan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  <vt:lpstr>Quadripôles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Electrostatique et électrocinétique</dc:title>
  <cp:lastModifiedBy>lhoussain elhajjami</cp:lastModifiedBy>
  <cp:revision>1966</cp:revision>
  <dcterms:created xsi:type="dcterms:W3CDTF">2023-11-13T11:26:33Z</dcterms:created>
  <dcterms:modified xsi:type="dcterms:W3CDTF">2024-12-04T19:02:53Z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2023-02-20T00:00:00Z</vt:filetime>
  </property>
  <property fmtid="{D5CDD505-2E9C-101B-9397-08002B2CF9AE}" pid="3" name="LastSaved">
    <vt:filetime>2023-11-13T00:00:00Z</vt:filetime>
  </property>
</Properties>
</file>